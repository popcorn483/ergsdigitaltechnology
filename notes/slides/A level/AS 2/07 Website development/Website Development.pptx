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8" r:id="rId5"/>
    <p:sldId id="259" r:id="rId6"/>
    <p:sldId id="302" r:id="rId7"/>
    <p:sldId id="303" r:id="rId8"/>
    <p:sldId id="279" r:id="rId9"/>
    <p:sldId id="280" r:id="rId10"/>
    <p:sldId id="282" r:id="rId11"/>
    <p:sldId id="281" r:id="rId12"/>
    <p:sldId id="283" r:id="rId13"/>
    <p:sldId id="284" r:id="rId14"/>
    <p:sldId id="285" r:id="rId15"/>
    <p:sldId id="286" r:id="rId16"/>
    <p:sldId id="287" r:id="rId17"/>
    <p:sldId id="289" r:id="rId18"/>
    <p:sldId id="288" r:id="rId19"/>
    <p:sldId id="304" r:id="rId20"/>
    <p:sldId id="305" r:id="rId21"/>
    <p:sldId id="291" r:id="rId22"/>
    <p:sldId id="301" r:id="rId23"/>
    <p:sldId id="293" r:id="rId24"/>
    <p:sldId id="294" r:id="rId25"/>
    <p:sldId id="295" r:id="rId26"/>
    <p:sldId id="296" r:id="rId27"/>
    <p:sldId id="297" r:id="rId28"/>
    <p:sldId id="298" r:id="rId29"/>
    <p:sldId id="299" r:id="rId30"/>
    <p:sldId id="300" r:id="rId31"/>
    <p:sldId id="306" r:id="rId32"/>
    <p:sldId id="30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1AD32"/>
    <a:srgbClr val="F4B183"/>
    <a:srgbClr val="EE8944"/>
    <a:srgbClr val="DAD8D6"/>
    <a:srgbClr val="F56462"/>
    <a:srgbClr val="FBE0CD"/>
    <a:srgbClr val="3BFFFF"/>
    <a:srgbClr val="00C5C0"/>
    <a:srgbClr val="00E8E8"/>
    <a:srgbClr val="67C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26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D81C7-5AD6-26DB-BE42-32E90AF1E0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44688A6-87F1-E83A-36DB-A84005A68E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04B8D77-D115-5C94-F636-B8F3DC916863}"/>
              </a:ext>
            </a:extLst>
          </p:cNvPr>
          <p:cNvSpPr>
            <a:spLocks noGrp="1"/>
          </p:cNvSpPr>
          <p:nvPr>
            <p:ph type="dt" sz="half" idx="10"/>
          </p:nvPr>
        </p:nvSpPr>
        <p:spPr/>
        <p:txBody>
          <a:bodyPr/>
          <a:lstStyle/>
          <a:p>
            <a:fld id="{E2FAC084-9068-41AB-AFB3-A5B87081ED3B}" type="datetimeFigureOut">
              <a:rPr lang="en-GB" smtClean="0"/>
              <a:t>26/02/2026</a:t>
            </a:fld>
            <a:endParaRPr lang="en-GB"/>
          </a:p>
        </p:txBody>
      </p:sp>
      <p:sp>
        <p:nvSpPr>
          <p:cNvPr id="5" name="Footer Placeholder 4">
            <a:extLst>
              <a:ext uri="{FF2B5EF4-FFF2-40B4-BE49-F238E27FC236}">
                <a16:creationId xmlns:a16="http://schemas.microsoft.com/office/drawing/2014/main" id="{B1D7DE27-DED0-FD87-E168-BDAE8F2B92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9A05D2-E442-4A0A-4472-7D58BDD18644}"/>
              </a:ext>
            </a:extLst>
          </p:cNvPr>
          <p:cNvSpPr>
            <a:spLocks noGrp="1"/>
          </p:cNvSpPr>
          <p:nvPr>
            <p:ph type="sldNum" sz="quarter" idx="12"/>
          </p:nvPr>
        </p:nvSpPr>
        <p:spPr/>
        <p:txBody>
          <a:bodyPr/>
          <a:lstStyle/>
          <a:p>
            <a:fld id="{E3F7930E-7D40-4780-9CA4-252BDE5A4AC6}" type="slidenum">
              <a:rPr lang="en-GB" smtClean="0"/>
              <a:t>‹#›</a:t>
            </a:fld>
            <a:endParaRPr lang="en-GB"/>
          </a:p>
        </p:txBody>
      </p:sp>
    </p:spTree>
    <p:extLst>
      <p:ext uri="{BB962C8B-B14F-4D97-AF65-F5344CB8AC3E}">
        <p14:creationId xmlns:p14="http://schemas.microsoft.com/office/powerpoint/2010/main" val="2171515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DD4A9-F530-BB2D-FB9D-4FD577DEA18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A993814-EB4A-D45C-950E-CD9087A850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A1AD941-8849-F276-216B-3E1632A80F52}"/>
              </a:ext>
            </a:extLst>
          </p:cNvPr>
          <p:cNvSpPr>
            <a:spLocks noGrp="1"/>
          </p:cNvSpPr>
          <p:nvPr>
            <p:ph type="dt" sz="half" idx="10"/>
          </p:nvPr>
        </p:nvSpPr>
        <p:spPr/>
        <p:txBody>
          <a:bodyPr/>
          <a:lstStyle/>
          <a:p>
            <a:fld id="{E2FAC084-9068-41AB-AFB3-A5B87081ED3B}" type="datetimeFigureOut">
              <a:rPr lang="en-GB" smtClean="0"/>
              <a:t>26/02/2026</a:t>
            </a:fld>
            <a:endParaRPr lang="en-GB"/>
          </a:p>
        </p:txBody>
      </p:sp>
      <p:sp>
        <p:nvSpPr>
          <p:cNvPr id="5" name="Footer Placeholder 4">
            <a:extLst>
              <a:ext uri="{FF2B5EF4-FFF2-40B4-BE49-F238E27FC236}">
                <a16:creationId xmlns:a16="http://schemas.microsoft.com/office/drawing/2014/main" id="{97A428D2-5694-ADB5-AFAE-6C77D36F015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DBB2E9A-BF2A-6F90-73F5-BE4E046C0ECF}"/>
              </a:ext>
            </a:extLst>
          </p:cNvPr>
          <p:cNvSpPr>
            <a:spLocks noGrp="1"/>
          </p:cNvSpPr>
          <p:nvPr>
            <p:ph type="sldNum" sz="quarter" idx="12"/>
          </p:nvPr>
        </p:nvSpPr>
        <p:spPr/>
        <p:txBody>
          <a:bodyPr/>
          <a:lstStyle/>
          <a:p>
            <a:fld id="{E3F7930E-7D40-4780-9CA4-252BDE5A4AC6}" type="slidenum">
              <a:rPr lang="en-GB" smtClean="0"/>
              <a:t>‹#›</a:t>
            </a:fld>
            <a:endParaRPr lang="en-GB"/>
          </a:p>
        </p:txBody>
      </p:sp>
    </p:spTree>
    <p:extLst>
      <p:ext uri="{BB962C8B-B14F-4D97-AF65-F5344CB8AC3E}">
        <p14:creationId xmlns:p14="http://schemas.microsoft.com/office/powerpoint/2010/main" val="3362362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A6103-BC10-872A-DACD-A5D0DE75C1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AC7C4D9-BF7D-8A3B-8C05-9432699013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438C4B-B28E-1EC0-736F-BC89831291B9}"/>
              </a:ext>
            </a:extLst>
          </p:cNvPr>
          <p:cNvSpPr>
            <a:spLocks noGrp="1"/>
          </p:cNvSpPr>
          <p:nvPr>
            <p:ph type="dt" sz="half" idx="10"/>
          </p:nvPr>
        </p:nvSpPr>
        <p:spPr/>
        <p:txBody>
          <a:bodyPr/>
          <a:lstStyle/>
          <a:p>
            <a:fld id="{E2FAC084-9068-41AB-AFB3-A5B87081ED3B}" type="datetimeFigureOut">
              <a:rPr lang="en-GB" smtClean="0"/>
              <a:t>26/02/2026</a:t>
            </a:fld>
            <a:endParaRPr lang="en-GB"/>
          </a:p>
        </p:txBody>
      </p:sp>
      <p:sp>
        <p:nvSpPr>
          <p:cNvPr id="5" name="Footer Placeholder 4">
            <a:extLst>
              <a:ext uri="{FF2B5EF4-FFF2-40B4-BE49-F238E27FC236}">
                <a16:creationId xmlns:a16="http://schemas.microsoft.com/office/drawing/2014/main" id="{51272585-3FFE-B83D-9EFD-5A775E1E51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D93C5A-7D7E-EF25-660D-164BD1E67ACF}"/>
              </a:ext>
            </a:extLst>
          </p:cNvPr>
          <p:cNvSpPr>
            <a:spLocks noGrp="1"/>
          </p:cNvSpPr>
          <p:nvPr>
            <p:ph type="sldNum" sz="quarter" idx="12"/>
          </p:nvPr>
        </p:nvSpPr>
        <p:spPr/>
        <p:txBody>
          <a:bodyPr/>
          <a:lstStyle/>
          <a:p>
            <a:fld id="{E3F7930E-7D40-4780-9CA4-252BDE5A4AC6}" type="slidenum">
              <a:rPr lang="en-GB" smtClean="0"/>
              <a:t>‹#›</a:t>
            </a:fld>
            <a:endParaRPr lang="en-GB"/>
          </a:p>
        </p:txBody>
      </p:sp>
    </p:spTree>
    <p:extLst>
      <p:ext uri="{BB962C8B-B14F-4D97-AF65-F5344CB8AC3E}">
        <p14:creationId xmlns:p14="http://schemas.microsoft.com/office/powerpoint/2010/main" val="3020520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E8B27-64E6-AF19-D48B-76779BC9FEF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6E48467-97B9-71CC-1208-5DEBCB4CC9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D623E49-F31D-212E-DFE0-309C766296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4EA94AF-B12D-52D5-1ECB-AE5891178E0C}"/>
              </a:ext>
            </a:extLst>
          </p:cNvPr>
          <p:cNvSpPr>
            <a:spLocks noGrp="1"/>
          </p:cNvSpPr>
          <p:nvPr>
            <p:ph type="dt" sz="half" idx="10"/>
          </p:nvPr>
        </p:nvSpPr>
        <p:spPr/>
        <p:txBody>
          <a:bodyPr/>
          <a:lstStyle/>
          <a:p>
            <a:fld id="{E2FAC084-9068-41AB-AFB3-A5B87081ED3B}" type="datetimeFigureOut">
              <a:rPr lang="en-GB" smtClean="0"/>
              <a:t>26/02/2026</a:t>
            </a:fld>
            <a:endParaRPr lang="en-GB"/>
          </a:p>
        </p:txBody>
      </p:sp>
      <p:sp>
        <p:nvSpPr>
          <p:cNvPr id="6" name="Footer Placeholder 5">
            <a:extLst>
              <a:ext uri="{FF2B5EF4-FFF2-40B4-BE49-F238E27FC236}">
                <a16:creationId xmlns:a16="http://schemas.microsoft.com/office/drawing/2014/main" id="{C81CD97D-60D6-DA22-6A56-8BFF886584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FB2A750-456C-ACF7-B44F-066F2962D68D}"/>
              </a:ext>
            </a:extLst>
          </p:cNvPr>
          <p:cNvSpPr>
            <a:spLocks noGrp="1"/>
          </p:cNvSpPr>
          <p:nvPr>
            <p:ph type="sldNum" sz="quarter" idx="12"/>
          </p:nvPr>
        </p:nvSpPr>
        <p:spPr/>
        <p:txBody>
          <a:bodyPr/>
          <a:lstStyle/>
          <a:p>
            <a:fld id="{E3F7930E-7D40-4780-9CA4-252BDE5A4AC6}" type="slidenum">
              <a:rPr lang="en-GB" smtClean="0"/>
              <a:t>‹#›</a:t>
            </a:fld>
            <a:endParaRPr lang="en-GB"/>
          </a:p>
        </p:txBody>
      </p:sp>
    </p:spTree>
    <p:extLst>
      <p:ext uri="{BB962C8B-B14F-4D97-AF65-F5344CB8AC3E}">
        <p14:creationId xmlns:p14="http://schemas.microsoft.com/office/powerpoint/2010/main" val="786157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4F45E-0103-ADB6-D7B9-3A32809D544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09B14DE-C584-6D02-2B1E-19DEB3DB89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D9201B-F2B8-F3A8-6D88-99551E32CB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4C58514-7E0B-FF96-0E34-B81F0023A5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7D472C-A27D-6393-3396-9C65E7F2EA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1F52D7F-2EFF-68BC-4B73-856F2D94B8DE}"/>
              </a:ext>
            </a:extLst>
          </p:cNvPr>
          <p:cNvSpPr>
            <a:spLocks noGrp="1"/>
          </p:cNvSpPr>
          <p:nvPr>
            <p:ph type="dt" sz="half" idx="10"/>
          </p:nvPr>
        </p:nvSpPr>
        <p:spPr/>
        <p:txBody>
          <a:bodyPr/>
          <a:lstStyle/>
          <a:p>
            <a:fld id="{E2FAC084-9068-41AB-AFB3-A5B87081ED3B}" type="datetimeFigureOut">
              <a:rPr lang="en-GB" smtClean="0"/>
              <a:t>26/02/2026</a:t>
            </a:fld>
            <a:endParaRPr lang="en-GB"/>
          </a:p>
        </p:txBody>
      </p:sp>
      <p:sp>
        <p:nvSpPr>
          <p:cNvPr id="8" name="Footer Placeholder 7">
            <a:extLst>
              <a:ext uri="{FF2B5EF4-FFF2-40B4-BE49-F238E27FC236}">
                <a16:creationId xmlns:a16="http://schemas.microsoft.com/office/drawing/2014/main" id="{600B9871-92FD-7F54-3A4A-DB875D33582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DD16652-A5E6-48AE-8012-1B94BDAA6CD8}"/>
              </a:ext>
            </a:extLst>
          </p:cNvPr>
          <p:cNvSpPr>
            <a:spLocks noGrp="1"/>
          </p:cNvSpPr>
          <p:nvPr>
            <p:ph type="sldNum" sz="quarter" idx="12"/>
          </p:nvPr>
        </p:nvSpPr>
        <p:spPr/>
        <p:txBody>
          <a:bodyPr/>
          <a:lstStyle/>
          <a:p>
            <a:fld id="{E3F7930E-7D40-4780-9CA4-252BDE5A4AC6}" type="slidenum">
              <a:rPr lang="en-GB" smtClean="0"/>
              <a:t>‹#›</a:t>
            </a:fld>
            <a:endParaRPr lang="en-GB"/>
          </a:p>
        </p:txBody>
      </p:sp>
    </p:spTree>
    <p:extLst>
      <p:ext uri="{BB962C8B-B14F-4D97-AF65-F5344CB8AC3E}">
        <p14:creationId xmlns:p14="http://schemas.microsoft.com/office/powerpoint/2010/main" val="4152904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1C13-4C37-4477-7ADC-9DBA686BE8F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0A58FA9-F353-E21D-C9D4-75AD80EB5E88}"/>
              </a:ext>
            </a:extLst>
          </p:cNvPr>
          <p:cNvSpPr>
            <a:spLocks noGrp="1"/>
          </p:cNvSpPr>
          <p:nvPr>
            <p:ph type="dt" sz="half" idx="10"/>
          </p:nvPr>
        </p:nvSpPr>
        <p:spPr/>
        <p:txBody>
          <a:bodyPr/>
          <a:lstStyle/>
          <a:p>
            <a:fld id="{E2FAC084-9068-41AB-AFB3-A5B87081ED3B}" type="datetimeFigureOut">
              <a:rPr lang="en-GB" smtClean="0"/>
              <a:t>26/02/2026</a:t>
            </a:fld>
            <a:endParaRPr lang="en-GB"/>
          </a:p>
        </p:txBody>
      </p:sp>
      <p:sp>
        <p:nvSpPr>
          <p:cNvPr id="4" name="Footer Placeholder 3">
            <a:extLst>
              <a:ext uri="{FF2B5EF4-FFF2-40B4-BE49-F238E27FC236}">
                <a16:creationId xmlns:a16="http://schemas.microsoft.com/office/drawing/2014/main" id="{C13942AB-6B5D-B488-A0B9-450C026CA5F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3F84C2F-C59D-710F-3041-D9CCA67DFA79}"/>
              </a:ext>
            </a:extLst>
          </p:cNvPr>
          <p:cNvSpPr>
            <a:spLocks noGrp="1"/>
          </p:cNvSpPr>
          <p:nvPr>
            <p:ph type="sldNum" sz="quarter" idx="12"/>
          </p:nvPr>
        </p:nvSpPr>
        <p:spPr/>
        <p:txBody>
          <a:bodyPr/>
          <a:lstStyle/>
          <a:p>
            <a:fld id="{E3F7930E-7D40-4780-9CA4-252BDE5A4AC6}" type="slidenum">
              <a:rPr lang="en-GB" smtClean="0"/>
              <a:t>‹#›</a:t>
            </a:fld>
            <a:endParaRPr lang="en-GB"/>
          </a:p>
        </p:txBody>
      </p:sp>
    </p:spTree>
    <p:extLst>
      <p:ext uri="{BB962C8B-B14F-4D97-AF65-F5344CB8AC3E}">
        <p14:creationId xmlns:p14="http://schemas.microsoft.com/office/powerpoint/2010/main" val="3005122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777746-39C6-DE63-2EEE-FC0FEC291912}"/>
              </a:ext>
            </a:extLst>
          </p:cNvPr>
          <p:cNvSpPr>
            <a:spLocks noGrp="1"/>
          </p:cNvSpPr>
          <p:nvPr>
            <p:ph type="dt" sz="half" idx="10"/>
          </p:nvPr>
        </p:nvSpPr>
        <p:spPr/>
        <p:txBody>
          <a:bodyPr/>
          <a:lstStyle/>
          <a:p>
            <a:fld id="{E2FAC084-9068-41AB-AFB3-A5B87081ED3B}" type="datetimeFigureOut">
              <a:rPr lang="en-GB" smtClean="0"/>
              <a:t>26/02/2026</a:t>
            </a:fld>
            <a:endParaRPr lang="en-GB"/>
          </a:p>
        </p:txBody>
      </p:sp>
      <p:sp>
        <p:nvSpPr>
          <p:cNvPr id="3" name="Footer Placeholder 2">
            <a:extLst>
              <a:ext uri="{FF2B5EF4-FFF2-40B4-BE49-F238E27FC236}">
                <a16:creationId xmlns:a16="http://schemas.microsoft.com/office/drawing/2014/main" id="{56950190-EB57-88F5-4C1F-6E5D0DC2E11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54C554E-B8A3-2318-3E4C-E262B1CF7558}"/>
              </a:ext>
            </a:extLst>
          </p:cNvPr>
          <p:cNvSpPr>
            <a:spLocks noGrp="1"/>
          </p:cNvSpPr>
          <p:nvPr>
            <p:ph type="sldNum" sz="quarter" idx="12"/>
          </p:nvPr>
        </p:nvSpPr>
        <p:spPr/>
        <p:txBody>
          <a:bodyPr/>
          <a:lstStyle/>
          <a:p>
            <a:fld id="{E3F7930E-7D40-4780-9CA4-252BDE5A4AC6}" type="slidenum">
              <a:rPr lang="en-GB" smtClean="0"/>
              <a:t>‹#›</a:t>
            </a:fld>
            <a:endParaRPr lang="en-GB"/>
          </a:p>
        </p:txBody>
      </p:sp>
    </p:spTree>
    <p:extLst>
      <p:ext uri="{BB962C8B-B14F-4D97-AF65-F5344CB8AC3E}">
        <p14:creationId xmlns:p14="http://schemas.microsoft.com/office/powerpoint/2010/main" val="4228310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DEE41-A3F0-E931-F21A-0D701D2BBD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795D4E0-ECEB-BD34-443E-D3A29EAC55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631152E-67F0-9929-8174-738C3982C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D0B22E-C751-9662-16F3-FBA9FBF9FFCF}"/>
              </a:ext>
            </a:extLst>
          </p:cNvPr>
          <p:cNvSpPr>
            <a:spLocks noGrp="1"/>
          </p:cNvSpPr>
          <p:nvPr>
            <p:ph type="dt" sz="half" idx="10"/>
          </p:nvPr>
        </p:nvSpPr>
        <p:spPr/>
        <p:txBody>
          <a:bodyPr/>
          <a:lstStyle/>
          <a:p>
            <a:fld id="{E2FAC084-9068-41AB-AFB3-A5B87081ED3B}" type="datetimeFigureOut">
              <a:rPr lang="en-GB" smtClean="0"/>
              <a:t>26/02/2026</a:t>
            </a:fld>
            <a:endParaRPr lang="en-GB"/>
          </a:p>
        </p:txBody>
      </p:sp>
      <p:sp>
        <p:nvSpPr>
          <p:cNvPr id="6" name="Footer Placeholder 5">
            <a:extLst>
              <a:ext uri="{FF2B5EF4-FFF2-40B4-BE49-F238E27FC236}">
                <a16:creationId xmlns:a16="http://schemas.microsoft.com/office/drawing/2014/main" id="{40E470C4-7E52-3193-D2C0-47331E90C6F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BAEF985-EFD3-610D-7B73-446114D23870}"/>
              </a:ext>
            </a:extLst>
          </p:cNvPr>
          <p:cNvSpPr>
            <a:spLocks noGrp="1"/>
          </p:cNvSpPr>
          <p:nvPr>
            <p:ph type="sldNum" sz="quarter" idx="12"/>
          </p:nvPr>
        </p:nvSpPr>
        <p:spPr/>
        <p:txBody>
          <a:bodyPr/>
          <a:lstStyle/>
          <a:p>
            <a:fld id="{E3F7930E-7D40-4780-9CA4-252BDE5A4AC6}" type="slidenum">
              <a:rPr lang="en-GB" smtClean="0"/>
              <a:t>‹#›</a:t>
            </a:fld>
            <a:endParaRPr lang="en-GB"/>
          </a:p>
        </p:txBody>
      </p:sp>
    </p:spTree>
    <p:extLst>
      <p:ext uri="{BB962C8B-B14F-4D97-AF65-F5344CB8AC3E}">
        <p14:creationId xmlns:p14="http://schemas.microsoft.com/office/powerpoint/2010/main" val="3651136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0B41A-D53F-96FC-2C49-65C9790A65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D69B224-742B-6C01-5178-A898D6A659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0D9E0E4-F478-5458-0B9D-467F69054E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21911-FFCA-EBAE-FB7B-CB3D4BB61258}"/>
              </a:ext>
            </a:extLst>
          </p:cNvPr>
          <p:cNvSpPr>
            <a:spLocks noGrp="1"/>
          </p:cNvSpPr>
          <p:nvPr>
            <p:ph type="dt" sz="half" idx="10"/>
          </p:nvPr>
        </p:nvSpPr>
        <p:spPr/>
        <p:txBody>
          <a:bodyPr/>
          <a:lstStyle/>
          <a:p>
            <a:fld id="{E2FAC084-9068-41AB-AFB3-A5B87081ED3B}" type="datetimeFigureOut">
              <a:rPr lang="en-GB" smtClean="0"/>
              <a:t>26/02/2026</a:t>
            </a:fld>
            <a:endParaRPr lang="en-GB"/>
          </a:p>
        </p:txBody>
      </p:sp>
      <p:sp>
        <p:nvSpPr>
          <p:cNvPr id="6" name="Footer Placeholder 5">
            <a:extLst>
              <a:ext uri="{FF2B5EF4-FFF2-40B4-BE49-F238E27FC236}">
                <a16:creationId xmlns:a16="http://schemas.microsoft.com/office/drawing/2014/main" id="{CABB3500-BDCB-6A18-5C14-22AF23869E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4852BCB-D854-6AE9-9F6D-25AC5BB3DA90}"/>
              </a:ext>
            </a:extLst>
          </p:cNvPr>
          <p:cNvSpPr>
            <a:spLocks noGrp="1"/>
          </p:cNvSpPr>
          <p:nvPr>
            <p:ph type="sldNum" sz="quarter" idx="12"/>
          </p:nvPr>
        </p:nvSpPr>
        <p:spPr/>
        <p:txBody>
          <a:bodyPr/>
          <a:lstStyle/>
          <a:p>
            <a:fld id="{E3F7930E-7D40-4780-9CA4-252BDE5A4AC6}" type="slidenum">
              <a:rPr lang="en-GB" smtClean="0"/>
              <a:t>‹#›</a:t>
            </a:fld>
            <a:endParaRPr lang="en-GB"/>
          </a:p>
        </p:txBody>
      </p:sp>
    </p:spTree>
    <p:extLst>
      <p:ext uri="{BB962C8B-B14F-4D97-AF65-F5344CB8AC3E}">
        <p14:creationId xmlns:p14="http://schemas.microsoft.com/office/powerpoint/2010/main" val="1071347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E653B-1840-88E2-1A48-ADCF524A18C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6B1A97E-1963-B00F-9681-3127FC1F35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FA5845E-136D-38CD-6CE0-C0564C65AD35}"/>
              </a:ext>
            </a:extLst>
          </p:cNvPr>
          <p:cNvSpPr>
            <a:spLocks noGrp="1"/>
          </p:cNvSpPr>
          <p:nvPr>
            <p:ph type="dt" sz="half" idx="10"/>
          </p:nvPr>
        </p:nvSpPr>
        <p:spPr/>
        <p:txBody>
          <a:bodyPr/>
          <a:lstStyle/>
          <a:p>
            <a:fld id="{E2FAC084-9068-41AB-AFB3-A5B87081ED3B}" type="datetimeFigureOut">
              <a:rPr lang="en-GB" smtClean="0"/>
              <a:t>26/02/2026</a:t>
            </a:fld>
            <a:endParaRPr lang="en-GB"/>
          </a:p>
        </p:txBody>
      </p:sp>
      <p:sp>
        <p:nvSpPr>
          <p:cNvPr id="5" name="Footer Placeholder 4">
            <a:extLst>
              <a:ext uri="{FF2B5EF4-FFF2-40B4-BE49-F238E27FC236}">
                <a16:creationId xmlns:a16="http://schemas.microsoft.com/office/drawing/2014/main" id="{A25102B4-3DBC-8BB9-6829-97C90F37BE6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8D9EB55-5CAA-73B7-A70C-5A880AB4193A}"/>
              </a:ext>
            </a:extLst>
          </p:cNvPr>
          <p:cNvSpPr>
            <a:spLocks noGrp="1"/>
          </p:cNvSpPr>
          <p:nvPr>
            <p:ph type="sldNum" sz="quarter" idx="12"/>
          </p:nvPr>
        </p:nvSpPr>
        <p:spPr/>
        <p:txBody>
          <a:bodyPr/>
          <a:lstStyle/>
          <a:p>
            <a:fld id="{E3F7930E-7D40-4780-9CA4-252BDE5A4AC6}" type="slidenum">
              <a:rPr lang="en-GB" smtClean="0"/>
              <a:t>‹#›</a:t>
            </a:fld>
            <a:endParaRPr lang="en-GB"/>
          </a:p>
        </p:txBody>
      </p:sp>
    </p:spTree>
    <p:extLst>
      <p:ext uri="{BB962C8B-B14F-4D97-AF65-F5344CB8AC3E}">
        <p14:creationId xmlns:p14="http://schemas.microsoft.com/office/powerpoint/2010/main" val="1904177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413795-5AB9-EB7A-06C4-3ABBD8A11D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1FADE5B-2B16-09E3-29A1-A466522DF6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868028-2433-CF85-4C28-5D350AEB950A}"/>
              </a:ext>
            </a:extLst>
          </p:cNvPr>
          <p:cNvSpPr>
            <a:spLocks noGrp="1"/>
          </p:cNvSpPr>
          <p:nvPr>
            <p:ph type="dt" sz="half" idx="10"/>
          </p:nvPr>
        </p:nvSpPr>
        <p:spPr/>
        <p:txBody>
          <a:bodyPr/>
          <a:lstStyle/>
          <a:p>
            <a:fld id="{E2FAC084-9068-41AB-AFB3-A5B87081ED3B}" type="datetimeFigureOut">
              <a:rPr lang="en-GB" smtClean="0"/>
              <a:t>26/02/2026</a:t>
            </a:fld>
            <a:endParaRPr lang="en-GB"/>
          </a:p>
        </p:txBody>
      </p:sp>
      <p:sp>
        <p:nvSpPr>
          <p:cNvPr id="5" name="Footer Placeholder 4">
            <a:extLst>
              <a:ext uri="{FF2B5EF4-FFF2-40B4-BE49-F238E27FC236}">
                <a16:creationId xmlns:a16="http://schemas.microsoft.com/office/drawing/2014/main" id="{E4257589-EB79-1BA4-8A42-E9A7AF179A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383BF08-8CAB-7CD9-FBFD-1F316E2E395C}"/>
              </a:ext>
            </a:extLst>
          </p:cNvPr>
          <p:cNvSpPr>
            <a:spLocks noGrp="1"/>
          </p:cNvSpPr>
          <p:nvPr>
            <p:ph type="sldNum" sz="quarter" idx="12"/>
          </p:nvPr>
        </p:nvSpPr>
        <p:spPr/>
        <p:txBody>
          <a:bodyPr/>
          <a:lstStyle/>
          <a:p>
            <a:fld id="{E3F7930E-7D40-4780-9CA4-252BDE5A4AC6}" type="slidenum">
              <a:rPr lang="en-GB" smtClean="0"/>
              <a:t>‹#›</a:t>
            </a:fld>
            <a:endParaRPr lang="en-GB"/>
          </a:p>
        </p:txBody>
      </p:sp>
    </p:spTree>
    <p:extLst>
      <p:ext uri="{BB962C8B-B14F-4D97-AF65-F5344CB8AC3E}">
        <p14:creationId xmlns:p14="http://schemas.microsoft.com/office/powerpoint/2010/main" val="3962709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BA835F-F408-955D-6CA3-BA2C3B907A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DED49CF-BC84-B990-F7A4-88AC2E2F5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3C616D2-1058-FCCE-39E5-BADC3932B5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AC084-9068-41AB-AFB3-A5B87081ED3B}" type="datetimeFigureOut">
              <a:rPr lang="en-GB" smtClean="0"/>
              <a:t>26/02/2026</a:t>
            </a:fld>
            <a:endParaRPr lang="en-GB"/>
          </a:p>
        </p:txBody>
      </p:sp>
      <p:sp>
        <p:nvSpPr>
          <p:cNvPr id="5" name="Footer Placeholder 4">
            <a:extLst>
              <a:ext uri="{FF2B5EF4-FFF2-40B4-BE49-F238E27FC236}">
                <a16:creationId xmlns:a16="http://schemas.microsoft.com/office/drawing/2014/main" id="{731D29B9-43C2-40B6-5A6B-AD0E7C0EE2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02294F5-C0B7-05D1-B144-EAE169FF39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F7930E-7D40-4780-9CA4-252BDE5A4AC6}" type="slidenum">
              <a:rPr lang="en-GB" smtClean="0"/>
              <a:t>‹#›</a:t>
            </a:fld>
            <a:endParaRPr lang="en-GB"/>
          </a:p>
        </p:txBody>
      </p:sp>
    </p:spTree>
    <p:extLst>
      <p:ext uri="{BB962C8B-B14F-4D97-AF65-F5344CB8AC3E}">
        <p14:creationId xmlns:p14="http://schemas.microsoft.com/office/powerpoint/2010/main" val="41335736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6.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google.co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EBmr4WCi6iQ" TargetMode="External"/><Relationship Id="rId7" Type="http://schemas.microsoft.com/office/2007/relationships/hdphoto" Target="../media/hdphoto3.wdp"/><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D8ED73-635E-7C03-83C2-EBFE56514546}"/>
              </a:ext>
            </a:extLst>
          </p:cNvPr>
          <p:cNvSpPr/>
          <p:nvPr/>
        </p:nvSpPr>
        <p:spPr>
          <a:xfrm>
            <a:off x="-101600" y="2452914"/>
            <a:ext cx="12293600" cy="165576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01C0A54-68C0-27CB-CC5D-51B6DFF4E2D0}"/>
              </a:ext>
            </a:extLst>
          </p:cNvPr>
          <p:cNvSpPr>
            <a:spLocks noGrp="1"/>
          </p:cNvSpPr>
          <p:nvPr>
            <p:ph type="ctrTitle"/>
          </p:nvPr>
        </p:nvSpPr>
        <p:spPr/>
        <p:txBody>
          <a:bodyPr/>
          <a:lstStyle/>
          <a:p>
            <a:r>
              <a:rPr lang="en-GB" dirty="0"/>
              <a:t>Website Development</a:t>
            </a:r>
          </a:p>
        </p:txBody>
      </p:sp>
      <p:sp>
        <p:nvSpPr>
          <p:cNvPr id="3" name="Subtitle 2">
            <a:extLst>
              <a:ext uri="{FF2B5EF4-FFF2-40B4-BE49-F238E27FC236}">
                <a16:creationId xmlns:a16="http://schemas.microsoft.com/office/drawing/2014/main" id="{6C307914-A962-744B-55C8-32A82F82B423}"/>
              </a:ext>
            </a:extLst>
          </p:cNvPr>
          <p:cNvSpPr>
            <a:spLocks noGrp="1"/>
          </p:cNvSpPr>
          <p:nvPr>
            <p:ph type="subTitle" idx="1"/>
          </p:nvPr>
        </p:nvSpPr>
        <p:spPr/>
        <p:txBody>
          <a:bodyPr/>
          <a:lstStyle/>
          <a:p>
            <a:r>
              <a:rPr lang="en-GB" dirty="0"/>
              <a:t>(The Final Topic in AS2)</a:t>
            </a:r>
          </a:p>
        </p:txBody>
      </p:sp>
    </p:spTree>
    <p:extLst>
      <p:ext uri="{BB962C8B-B14F-4D97-AF65-F5344CB8AC3E}">
        <p14:creationId xmlns:p14="http://schemas.microsoft.com/office/powerpoint/2010/main" val="2935156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AC9FE"/>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BEA397-5C8D-F7BD-CF13-1E9EAD59CC3B}"/>
              </a:ext>
            </a:extLst>
          </p:cNvPr>
          <p:cNvSpPr/>
          <p:nvPr/>
        </p:nvSpPr>
        <p:spPr>
          <a:xfrm>
            <a:off x="267855" y="285135"/>
            <a:ext cx="11085945" cy="6207740"/>
          </a:xfrm>
          <a:prstGeom prst="rect">
            <a:avLst/>
          </a:prstGeom>
          <a:solidFill>
            <a:srgbClr val="FFE177"/>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C1FF3933-2491-2BC2-E8AA-9E8CFA3CFFBB}"/>
              </a:ext>
            </a:extLst>
          </p:cNvPr>
          <p:cNvSpPr>
            <a:spLocks noGrp="1"/>
          </p:cNvSpPr>
          <p:nvPr>
            <p:ph type="title"/>
          </p:nvPr>
        </p:nvSpPr>
        <p:spPr>
          <a:xfrm>
            <a:off x="267855" y="285135"/>
            <a:ext cx="11085945" cy="1405553"/>
          </a:xfrm>
        </p:spPr>
        <p:txBody>
          <a:bodyPr/>
          <a:lstStyle/>
          <a:p>
            <a:r>
              <a:rPr lang="en-GB" dirty="0">
                <a:latin typeface="LEMON MILK" panose="00000500000000000000" pitchFamily="50" charset="0"/>
              </a:rPr>
              <a:t>Requirements</a:t>
            </a:r>
          </a:p>
        </p:txBody>
      </p:sp>
      <p:sp>
        <p:nvSpPr>
          <p:cNvPr id="3" name="Content Placeholder 2">
            <a:extLst>
              <a:ext uri="{FF2B5EF4-FFF2-40B4-BE49-F238E27FC236}">
                <a16:creationId xmlns:a16="http://schemas.microsoft.com/office/drawing/2014/main" id="{34386F3B-28BB-38F7-27BE-A7D23B58EEBE}"/>
              </a:ext>
            </a:extLst>
          </p:cNvPr>
          <p:cNvSpPr>
            <a:spLocks noGrp="1"/>
          </p:cNvSpPr>
          <p:nvPr>
            <p:ph idx="1"/>
          </p:nvPr>
        </p:nvSpPr>
        <p:spPr>
          <a:xfrm>
            <a:off x="351064" y="1551709"/>
            <a:ext cx="10899322" cy="4816434"/>
          </a:xfrm>
        </p:spPr>
        <p:txBody>
          <a:bodyPr>
            <a:normAutofit/>
          </a:bodyPr>
          <a:lstStyle/>
          <a:p>
            <a:r>
              <a:rPr lang="en-GB" sz="1800" dirty="0">
                <a:effectLst/>
                <a:latin typeface="Calibri" panose="020F0502020204030204" pitchFamily="34" charset="0"/>
                <a:ea typeface="Calibri" panose="020F0502020204030204" pitchFamily="34" charset="0"/>
              </a:rPr>
              <a:t>Explain how webpages are created using Hypertext Mark-Up Language (HTML)</a:t>
            </a:r>
          </a:p>
          <a:p>
            <a:r>
              <a:rPr lang="en-GB" sz="1800" dirty="0">
                <a:effectLst/>
                <a:latin typeface="Calibri" panose="020F0502020204030204" pitchFamily="34" charset="0"/>
                <a:ea typeface="Calibri" panose="020F0502020204030204" pitchFamily="34" charset="0"/>
              </a:rPr>
              <a:t>Understand the purpose of a range of HTML tags:  </a:t>
            </a:r>
          </a:p>
          <a:p>
            <a:pPr lvl="1"/>
            <a:r>
              <a:rPr lang="en-GB" sz="1400" dirty="0">
                <a:effectLst/>
                <a:latin typeface="Calibri" panose="020F0502020204030204" pitchFamily="34" charset="0"/>
                <a:ea typeface="Calibri" panose="020F0502020204030204" pitchFamily="34" charset="0"/>
              </a:rPr>
              <a:t>paragraph, </a:t>
            </a:r>
          </a:p>
          <a:p>
            <a:pPr lvl="1"/>
            <a:r>
              <a:rPr lang="en-GB" sz="1400" dirty="0">
                <a:effectLst/>
                <a:latin typeface="Calibri" panose="020F0502020204030204" pitchFamily="34" charset="0"/>
                <a:ea typeface="Calibri" panose="020F0502020204030204" pitchFamily="34" charset="0"/>
              </a:rPr>
              <a:t>image, </a:t>
            </a:r>
          </a:p>
          <a:p>
            <a:pPr lvl="1"/>
            <a:r>
              <a:rPr lang="en-GB" sz="1400" dirty="0">
                <a:effectLst/>
                <a:latin typeface="Calibri" panose="020F0502020204030204" pitchFamily="34" charset="0"/>
                <a:ea typeface="Calibri" panose="020F0502020204030204" pitchFamily="34" charset="0"/>
              </a:rPr>
              <a:t>anchor, </a:t>
            </a:r>
          </a:p>
          <a:p>
            <a:pPr lvl="1"/>
            <a:r>
              <a:rPr lang="en-GB" sz="1400" dirty="0">
                <a:effectLst/>
                <a:latin typeface="Calibri" panose="020F0502020204030204" pitchFamily="34" charset="0"/>
                <a:ea typeface="Calibri" panose="020F0502020204030204" pitchFamily="34" charset="0"/>
              </a:rPr>
              <a:t>ordered list, </a:t>
            </a:r>
          </a:p>
          <a:p>
            <a:pPr lvl="1"/>
            <a:r>
              <a:rPr lang="en-GB" sz="1400" dirty="0">
                <a:effectLst/>
                <a:latin typeface="Calibri" panose="020F0502020204030204" pitchFamily="34" charset="0"/>
                <a:ea typeface="Calibri" panose="020F0502020204030204" pitchFamily="34" charset="0"/>
              </a:rPr>
              <a:t>unordered list </a:t>
            </a:r>
          </a:p>
          <a:p>
            <a:pPr lvl="1"/>
            <a:r>
              <a:rPr lang="en-GB" sz="1400" dirty="0">
                <a:effectLst/>
                <a:latin typeface="Calibri" panose="020F0502020204030204" pitchFamily="34" charset="0"/>
                <a:ea typeface="Calibri" panose="020F0502020204030204" pitchFamily="34" charset="0"/>
              </a:rPr>
              <a:t>hyperlinks</a:t>
            </a:r>
          </a:p>
          <a:p>
            <a:r>
              <a:rPr lang="en-GB" sz="1800" dirty="0">
                <a:effectLst/>
              </a:rPr>
              <a:t>Explain how cascading style sheet (CSS) is used in web development</a:t>
            </a:r>
            <a:endParaRPr lang="en-GB" sz="1800" dirty="0">
              <a:effectLst/>
              <a:latin typeface="Arial" panose="020B0604020202020204" pitchFamily="34" charset="0"/>
              <a:ea typeface="Arial" panose="020B0604020202020204" pitchFamily="34" charset="0"/>
            </a:endParaRPr>
          </a:p>
          <a:p>
            <a:r>
              <a:rPr lang="en-GB" sz="1800" dirty="0">
                <a:effectLst/>
                <a:latin typeface="Calibri" panose="020F0502020204030204" pitchFamily="34" charset="0"/>
                <a:ea typeface="Calibri" panose="020F0502020204030204" pitchFamily="34" charset="0"/>
              </a:rPr>
              <a:t>Distinguish between client-side and server-side processing</a:t>
            </a:r>
          </a:p>
          <a:p>
            <a:r>
              <a:rPr lang="en-GB" sz="1800" dirty="0">
                <a:latin typeface="Calibri" panose="020F0502020204030204" pitchFamily="34" charset="0"/>
                <a:ea typeface="Calibri" panose="020F0502020204030204" pitchFamily="34" charset="0"/>
              </a:rPr>
              <a:t>Evaluate methods of ensuring security over the internet:  </a:t>
            </a:r>
          </a:p>
          <a:p>
            <a:pPr lvl="1"/>
            <a:r>
              <a:rPr lang="en-GB" sz="1400" dirty="0">
                <a:latin typeface="Calibri" panose="020F0502020204030204" pitchFamily="34" charset="0"/>
                <a:ea typeface="Calibri" panose="020F0502020204030204" pitchFamily="34" charset="0"/>
              </a:rPr>
              <a:t>encryption (including public and private keys), </a:t>
            </a:r>
          </a:p>
          <a:p>
            <a:pPr lvl="1"/>
            <a:r>
              <a:rPr lang="en-GB" sz="1400" dirty="0">
                <a:latin typeface="Calibri" panose="020F0502020204030204" pitchFamily="34" charset="0"/>
                <a:ea typeface="Calibri" panose="020F0502020204030204" pitchFamily="34" charset="0"/>
              </a:rPr>
              <a:t>hypertext transfer protocol secure (https), </a:t>
            </a:r>
          </a:p>
          <a:p>
            <a:pPr lvl="1"/>
            <a:r>
              <a:rPr lang="en-GB" sz="1400" dirty="0">
                <a:latin typeface="Calibri" panose="020F0502020204030204" pitchFamily="34" charset="0"/>
                <a:ea typeface="Calibri" panose="020F0502020204030204" pitchFamily="34" charset="0"/>
              </a:rPr>
              <a:t>secure sockets layer (SSL), </a:t>
            </a:r>
          </a:p>
          <a:p>
            <a:pPr lvl="1"/>
            <a:r>
              <a:rPr lang="en-GB" sz="1400" dirty="0">
                <a:latin typeface="Calibri" panose="020F0502020204030204" pitchFamily="34" charset="0"/>
                <a:ea typeface="Calibri" panose="020F0502020204030204" pitchFamily="34" charset="0"/>
              </a:rPr>
              <a:t>digital signature or digital certificate</a:t>
            </a:r>
          </a:p>
          <a:p>
            <a:endParaRPr lang="en-GB" dirty="0"/>
          </a:p>
        </p:txBody>
      </p:sp>
      <p:pic>
        <p:nvPicPr>
          <p:cNvPr id="1026" name="Picture 2" descr="Requirements - Free business icons">
            <a:extLst>
              <a:ext uri="{FF2B5EF4-FFF2-40B4-BE49-F238E27FC236}">
                <a16:creationId xmlns:a16="http://schemas.microsoft.com/office/drawing/2014/main" id="{B9B151CC-D712-835B-8299-2A58B6AA5B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47819">
            <a:off x="7935435" y="2338421"/>
            <a:ext cx="4348173" cy="4348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23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797C8-5CAE-20BC-E496-345B36CC8550}"/>
              </a:ext>
            </a:extLst>
          </p:cNvPr>
          <p:cNvSpPr>
            <a:spLocks noGrp="1"/>
          </p:cNvSpPr>
          <p:nvPr>
            <p:ph type="title"/>
          </p:nvPr>
        </p:nvSpPr>
        <p:spPr>
          <a:xfrm rot="16200000">
            <a:off x="-1273991" y="1113866"/>
            <a:ext cx="3420673" cy="1325563"/>
          </a:xfrm>
        </p:spPr>
        <p:txBody>
          <a:bodyPr>
            <a:normAutofit/>
          </a:bodyPr>
          <a:lstStyle/>
          <a:p>
            <a:r>
              <a:rPr lang="en-GB" sz="3200" dirty="0">
                <a:latin typeface="LEMON MILK" panose="00000500000000000000" pitchFamily="50" charset="0"/>
              </a:rPr>
              <a:t>What is HTML?</a:t>
            </a:r>
          </a:p>
        </p:txBody>
      </p:sp>
      <p:sp>
        <p:nvSpPr>
          <p:cNvPr id="3" name="Content Placeholder 2">
            <a:extLst>
              <a:ext uri="{FF2B5EF4-FFF2-40B4-BE49-F238E27FC236}">
                <a16:creationId xmlns:a16="http://schemas.microsoft.com/office/drawing/2014/main" id="{2D398F3B-DFBA-675C-D266-0C2A83C887E1}"/>
              </a:ext>
            </a:extLst>
          </p:cNvPr>
          <p:cNvSpPr>
            <a:spLocks noGrp="1"/>
          </p:cNvSpPr>
          <p:nvPr>
            <p:ph idx="1"/>
          </p:nvPr>
        </p:nvSpPr>
        <p:spPr>
          <a:xfrm>
            <a:off x="794181" y="410239"/>
            <a:ext cx="10880747" cy="2658178"/>
          </a:xfrm>
        </p:spPr>
        <p:txBody>
          <a:bodyPr>
            <a:normAutofit/>
          </a:bodyPr>
          <a:lstStyle/>
          <a:p>
            <a:r>
              <a:rPr lang="en-GB" sz="2400" dirty="0">
                <a:solidFill>
                  <a:srgbClr val="000000"/>
                </a:solidFill>
                <a:effectLst/>
                <a:latin typeface="Calibri" panose="020F0502020204030204" pitchFamily="34" charset="0"/>
                <a:ea typeface="Calibri" panose="020F0502020204030204" pitchFamily="34" charset="0"/>
              </a:rPr>
              <a:t>Hypertext markup language (HTML) is a markup language used to create webpages and web applications.  A markup language makes use of tags.  </a:t>
            </a:r>
          </a:p>
          <a:p>
            <a:r>
              <a:rPr lang="en-GB" sz="2400" dirty="0">
                <a:solidFill>
                  <a:srgbClr val="000000"/>
                </a:solidFill>
                <a:latin typeface="Calibri" panose="020F0502020204030204" pitchFamily="34" charset="0"/>
                <a:ea typeface="Calibri" panose="020F0502020204030204" pitchFamily="34" charset="0"/>
              </a:rPr>
              <a:t>Tags: </a:t>
            </a:r>
            <a:r>
              <a:rPr lang="en-GB" sz="2400" dirty="0">
                <a:solidFill>
                  <a:srgbClr val="000000"/>
                </a:solidFill>
                <a:effectLst/>
                <a:latin typeface="Calibri" panose="020F0502020204030204" pitchFamily="34" charset="0"/>
                <a:ea typeface="Calibri" panose="020F0502020204030204" pitchFamily="34" charset="0"/>
              </a:rPr>
              <a:t>These are keywords that define the structure of a webpage and how the browser must display the content of the web page.  </a:t>
            </a:r>
          </a:p>
          <a:p>
            <a:pPr lvl="1"/>
            <a:r>
              <a:rPr lang="en-GB" sz="1600" dirty="0">
                <a:solidFill>
                  <a:srgbClr val="000000"/>
                </a:solidFill>
                <a:effectLst/>
                <a:latin typeface="Calibri" panose="020F0502020204030204" pitchFamily="34" charset="0"/>
                <a:ea typeface="Calibri" panose="020F0502020204030204" pitchFamily="34" charset="0"/>
              </a:rPr>
              <a:t>The tags are not displayed.  </a:t>
            </a:r>
          </a:p>
          <a:p>
            <a:pPr lvl="1"/>
            <a:r>
              <a:rPr lang="en-GB" sz="1600" dirty="0">
                <a:solidFill>
                  <a:srgbClr val="000000"/>
                </a:solidFill>
                <a:effectLst/>
                <a:latin typeface="Calibri" panose="020F0502020204030204" pitchFamily="34" charset="0"/>
                <a:ea typeface="Calibri" panose="020F0502020204030204" pitchFamily="34" charset="0"/>
              </a:rPr>
              <a:t>If a browser reads a tag that it does not understand it will ignore it.  </a:t>
            </a:r>
          </a:p>
          <a:p>
            <a:pPr lvl="1"/>
            <a:r>
              <a:rPr lang="en-GB" sz="1600" dirty="0">
                <a:solidFill>
                  <a:srgbClr val="000000"/>
                </a:solidFill>
                <a:effectLst/>
                <a:latin typeface="Calibri" panose="020F0502020204030204" pitchFamily="34" charset="0"/>
                <a:ea typeface="Calibri" panose="020F0502020204030204" pitchFamily="34" charset="0"/>
              </a:rPr>
              <a:t>Without HTML tags a browser could not display text or load images.  </a:t>
            </a:r>
            <a:endParaRPr lang="en-GB" sz="1600" dirty="0">
              <a:effectLst/>
              <a:latin typeface="Arial" panose="020B0604020202020204" pitchFamily="34" charset="0"/>
              <a:ea typeface="Arial" panose="020B0604020202020204" pitchFamily="34" charset="0"/>
            </a:endParaRPr>
          </a:p>
          <a:p>
            <a:endParaRPr lang="en-GB" sz="3200" dirty="0"/>
          </a:p>
        </p:txBody>
      </p:sp>
      <p:sp>
        <p:nvSpPr>
          <p:cNvPr id="4" name="TextBox 3">
            <a:extLst>
              <a:ext uri="{FF2B5EF4-FFF2-40B4-BE49-F238E27FC236}">
                <a16:creationId xmlns:a16="http://schemas.microsoft.com/office/drawing/2014/main" id="{79F38888-A8D1-D749-6EC4-094F1D1834FC}"/>
              </a:ext>
            </a:extLst>
          </p:cNvPr>
          <p:cNvSpPr txBox="1"/>
          <p:nvPr/>
        </p:nvSpPr>
        <p:spPr>
          <a:xfrm>
            <a:off x="1099127" y="4821152"/>
            <a:ext cx="9993746" cy="523220"/>
          </a:xfrm>
          <a:prstGeom prst="rect">
            <a:avLst/>
          </a:prstGeom>
          <a:noFill/>
        </p:spPr>
        <p:txBody>
          <a:bodyPr wrap="square" rtlCol="0">
            <a:spAutoFit/>
          </a:bodyPr>
          <a:lstStyle/>
          <a:p>
            <a:pPr algn="ctr"/>
            <a:r>
              <a:rPr lang="en-GB" sz="2800" b="1" dirty="0"/>
              <a:t>&lt;a </a:t>
            </a:r>
            <a:r>
              <a:rPr lang="en-GB" sz="2800" b="1" dirty="0" err="1"/>
              <a:t>href</a:t>
            </a:r>
            <a:r>
              <a:rPr lang="en-GB" sz="2800" b="1" dirty="0"/>
              <a:t>=“myHobbies.html”&gt;Click Here to go to My Hobbies&lt;/a&gt;</a:t>
            </a:r>
          </a:p>
        </p:txBody>
      </p:sp>
      <p:sp>
        <p:nvSpPr>
          <p:cNvPr id="5" name="Speech Bubble: Rectangle 4">
            <a:extLst>
              <a:ext uri="{FF2B5EF4-FFF2-40B4-BE49-F238E27FC236}">
                <a16:creationId xmlns:a16="http://schemas.microsoft.com/office/drawing/2014/main" id="{74752D22-B1B3-0DAB-28B1-D3A2B7E1BC6B}"/>
              </a:ext>
            </a:extLst>
          </p:cNvPr>
          <p:cNvSpPr/>
          <p:nvPr/>
        </p:nvSpPr>
        <p:spPr>
          <a:xfrm>
            <a:off x="1173018" y="5576097"/>
            <a:ext cx="3131128" cy="1148503"/>
          </a:xfrm>
          <a:prstGeom prst="wedgeRectCallout">
            <a:avLst>
              <a:gd name="adj1" fmla="val -20538"/>
              <a:gd name="adj2" fmla="val -69894"/>
            </a:avLst>
          </a:prstGeom>
          <a:solidFill>
            <a:schemeClr val="accent5">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rPr>
              <a:t>&lt;a </a:t>
            </a:r>
            <a:r>
              <a:rPr lang="en-GB" sz="1800" b="1" dirty="0" err="1">
                <a:solidFill>
                  <a:schemeClr val="tx1"/>
                </a:solidFill>
              </a:rPr>
              <a:t>href</a:t>
            </a:r>
            <a:r>
              <a:rPr lang="en-GB" sz="1800" b="1" dirty="0">
                <a:solidFill>
                  <a:schemeClr val="tx1"/>
                </a:solidFill>
              </a:rPr>
              <a:t>=“myHobbies.html”&gt; </a:t>
            </a:r>
          </a:p>
          <a:p>
            <a:pPr algn="ctr"/>
            <a:endParaRPr lang="en-GB" sz="1000" b="1" dirty="0">
              <a:solidFill>
                <a:schemeClr val="tx1"/>
              </a:solidFill>
            </a:endParaRPr>
          </a:p>
          <a:p>
            <a:pPr algn="ctr"/>
            <a:r>
              <a:rPr lang="en-GB" dirty="0">
                <a:solidFill>
                  <a:schemeClr val="tx1"/>
                </a:solidFill>
              </a:rPr>
              <a:t>This is opening an anchor tag</a:t>
            </a:r>
          </a:p>
        </p:txBody>
      </p:sp>
      <p:sp>
        <p:nvSpPr>
          <p:cNvPr id="6" name="Speech Bubble: Rectangle 5">
            <a:extLst>
              <a:ext uri="{FF2B5EF4-FFF2-40B4-BE49-F238E27FC236}">
                <a16:creationId xmlns:a16="http://schemas.microsoft.com/office/drawing/2014/main" id="{3F47D43B-8DAA-3D9D-73E6-2FAA35F5ACE0}"/>
              </a:ext>
            </a:extLst>
          </p:cNvPr>
          <p:cNvSpPr/>
          <p:nvPr/>
        </p:nvSpPr>
        <p:spPr>
          <a:xfrm>
            <a:off x="8222672" y="5615705"/>
            <a:ext cx="3131128" cy="1148503"/>
          </a:xfrm>
          <a:prstGeom prst="wedgeRectCallout">
            <a:avLst>
              <a:gd name="adj1" fmla="val 20465"/>
              <a:gd name="adj2" fmla="val -74719"/>
            </a:avLst>
          </a:prstGeom>
          <a:solidFill>
            <a:srgbClr val="92D05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rPr>
              <a:t>&lt;/a&gt;</a:t>
            </a:r>
          </a:p>
          <a:p>
            <a:pPr algn="ctr"/>
            <a:endParaRPr lang="en-GB" sz="1000" b="1" dirty="0">
              <a:solidFill>
                <a:schemeClr val="tx1"/>
              </a:solidFill>
            </a:endParaRPr>
          </a:p>
          <a:p>
            <a:pPr algn="ctr"/>
            <a:r>
              <a:rPr lang="en-GB" dirty="0">
                <a:solidFill>
                  <a:schemeClr val="tx1"/>
                </a:solidFill>
              </a:rPr>
              <a:t>This is closing the &lt;a&gt; tag</a:t>
            </a:r>
          </a:p>
        </p:txBody>
      </p:sp>
      <p:sp>
        <p:nvSpPr>
          <p:cNvPr id="7" name="Speech Bubble: Rectangle 6">
            <a:extLst>
              <a:ext uri="{FF2B5EF4-FFF2-40B4-BE49-F238E27FC236}">
                <a16:creationId xmlns:a16="http://schemas.microsoft.com/office/drawing/2014/main" id="{82550FDF-4ED2-AFAF-FFE1-DC4604D7E0A7}"/>
              </a:ext>
            </a:extLst>
          </p:cNvPr>
          <p:cNvSpPr/>
          <p:nvPr/>
        </p:nvSpPr>
        <p:spPr>
          <a:xfrm>
            <a:off x="794182" y="3228051"/>
            <a:ext cx="4662055" cy="1392151"/>
          </a:xfrm>
          <a:prstGeom prst="wedgeRectCallout">
            <a:avLst>
              <a:gd name="adj1" fmla="val 21451"/>
              <a:gd name="adj2" fmla="val 69274"/>
            </a:avLst>
          </a:prstGeom>
          <a:solidFill>
            <a:srgbClr val="FFC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b="1" dirty="0" err="1">
                <a:solidFill>
                  <a:schemeClr val="tx1"/>
                </a:solidFill>
              </a:rPr>
              <a:t>href</a:t>
            </a:r>
            <a:r>
              <a:rPr lang="en-GB" sz="1800" b="1" dirty="0">
                <a:solidFill>
                  <a:schemeClr val="tx1"/>
                </a:solidFill>
              </a:rPr>
              <a:t>=“myHobbies.html”</a:t>
            </a:r>
          </a:p>
          <a:p>
            <a:pPr algn="ctr"/>
            <a:endParaRPr lang="en-GB" sz="1000" b="1" dirty="0">
              <a:solidFill>
                <a:schemeClr val="tx1"/>
              </a:solidFill>
            </a:endParaRPr>
          </a:p>
          <a:p>
            <a:pPr algn="ctr"/>
            <a:r>
              <a:rPr lang="en-GB" dirty="0">
                <a:solidFill>
                  <a:schemeClr val="tx1"/>
                </a:solidFill>
              </a:rPr>
              <a:t>This is called an attribute. An attribute contains further instructions on the behaviour or appearance of the tag.</a:t>
            </a:r>
          </a:p>
        </p:txBody>
      </p:sp>
      <p:sp>
        <p:nvSpPr>
          <p:cNvPr id="8" name="Speech Bubble: Rectangle 7">
            <a:extLst>
              <a:ext uri="{FF2B5EF4-FFF2-40B4-BE49-F238E27FC236}">
                <a16:creationId xmlns:a16="http://schemas.microsoft.com/office/drawing/2014/main" id="{6187D946-6E51-B469-6B24-FF7AD283EB6A}"/>
              </a:ext>
            </a:extLst>
          </p:cNvPr>
          <p:cNvSpPr/>
          <p:nvPr/>
        </p:nvSpPr>
        <p:spPr>
          <a:xfrm>
            <a:off x="5763491" y="3339750"/>
            <a:ext cx="4662055" cy="1168755"/>
          </a:xfrm>
          <a:prstGeom prst="wedgeRectCallout">
            <a:avLst>
              <a:gd name="adj1" fmla="val 20659"/>
              <a:gd name="adj2" fmla="val 76299"/>
            </a:avLst>
          </a:prstGeom>
          <a:solidFill>
            <a:schemeClr val="accent2">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rPr>
              <a:t>Click Here to go to My Hobbies</a:t>
            </a:r>
          </a:p>
          <a:p>
            <a:pPr algn="ctr"/>
            <a:endParaRPr lang="en-GB" sz="1000" b="1" dirty="0">
              <a:solidFill>
                <a:schemeClr val="tx1"/>
              </a:solidFill>
            </a:endParaRPr>
          </a:p>
          <a:p>
            <a:pPr algn="ctr"/>
            <a:r>
              <a:rPr lang="en-GB" dirty="0">
                <a:solidFill>
                  <a:schemeClr val="tx1"/>
                </a:solidFill>
              </a:rPr>
              <a:t>This is the text that is displayed within the tag.</a:t>
            </a:r>
          </a:p>
        </p:txBody>
      </p:sp>
    </p:spTree>
    <p:extLst>
      <p:ext uri="{BB962C8B-B14F-4D97-AF65-F5344CB8AC3E}">
        <p14:creationId xmlns:p14="http://schemas.microsoft.com/office/powerpoint/2010/main" val="994370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69889" y="3702568"/>
            <a:ext cx="11852222" cy="599607"/>
          </a:xfrm>
        </p:spPr>
        <p:txBody>
          <a:bodyPr>
            <a:normAutofit/>
          </a:bodyPr>
          <a:lstStyle/>
          <a:p>
            <a:pPr marL="0" indent="0" algn="ctr">
              <a:buNone/>
            </a:pPr>
            <a:r>
              <a:rPr lang="en-GB" sz="3600" dirty="0">
                <a:solidFill>
                  <a:srgbClr val="FFFF00"/>
                </a:solidFill>
              </a:rPr>
              <a:t>&lt;</a:t>
            </a:r>
            <a:r>
              <a:rPr lang="en-GB" sz="3600" dirty="0" err="1">
                <a:solidFill>
                  <a:srgbClr val="FFFF00"/>
                </a:solidFill>
              </a:rPr>
              <a:t>tagname</a:t>
            </a:r>
            <a:r>
              <a:rPr lang="en-GB" sz="3600" dirty="0">
                <a:solidFill>
                  <a:srgbClr val="FFFF00"/>
                </a:solidFill>
              </a:rPr>
              <a:t>&gt;Content to be displayed can go here…&lt;/</a:t>
            </a:r>
            <a:r>
              <a:rPr lang="en-GB" sz="3600" dirty="0" err="1">
                <a:solidFill>
                  <a:srgbClr val="FFFF00"/>
                </a:solidFill>
              </a:rPr>
              <a:t>tagname</a:t>
            </a:r>
            <a:r>
              <a:rPr lang="en-GB" sz="3600" dirty="0">
                <a:solidFill>
                  <a:srgbClr val="FFFF00"/>
                </a:solidFill>
              </a:rPr>
              <a:t>&gt;</a:t>
            </a:r>
          </a:p>
        </p:txBody>
      </p:sp>
      <p:sp>
        <p:nvSpPr>
          <p:cNvPr id="2" name="Title 1"/>
          <p:cNvSpPr>
            <a:spLocks noGrp="1"/>
          </p:cNvSpPr>
          <p:nvPr>
            <p:ph type="title"/>
          </p:nvPr>
        </p:nvSpPr>
        <p:spPr/>
        <p:txBody>
          <a:bodyPr/>
          <a:lstStyle/>
          <a:p>
            <a:r>
              <a:rPr lang="en-GB" dirty="0">
                <a:solidFill>
                  <a:schemeClr val="bg1"/>
                </a:solidFill>
              </a:rPr>
              <a:t>So, basically:</a:t>
            </a:r>
          </a:p>
        </p:txBody>
      </p:sp>
      <p:sp>
        <p:nvSpPr>
          <p:cNvPr id="4" name="Rectangle 3"/>
          <p:cNvSpPr/>
          <p:nvPr/>
        </p:nvSpPr>
        <p:spPr>
          <a:xfrm>
            <a:off x="374754" y="3702568"/>
            <a:ext cx="2143594"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2518348" y="3702568"/>
            <a:ext cx="6985416"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9503763" y="3702568"/>
            <a:ext cx="2348459"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p:cNvGrpSpPr/>
          <p:nvPr/>
        </p:nvGrpSpPr>
        <p:grpSpPr>
          <a:xfrm>
            <a:off x="169889" y="1690688"/>
            <a:ext cx="4032354" cy="2011880"/>
            <a:chOff x="169889" y="1690688"/>
            <a:chExt cx="4032354" cy="2011880"/>
          </a:xfrm>
          <a:effectLst>
            <a:glow rad="63500">
              <a:schemeClr val="accent4">
                <a:satMod val="175000"/>
                <a:alpha val="40000"/>
              </a:schemeClr>
            </a:glow>
          </a:effectLst>
        </p:grpSpPr>
        <p:sp>
          <p:nvSpPr>
            <p:cNvPr id="7" name="Rectangle 6"/>
            <p:cNvSpPr/>
            <p:nvPr/>
          </p:nvSpPr>
          <p:spPr>
            <a:xfrm>
              <a:off x="169889" y="1690688"/>
              <a:ext cx="4032354" cy="133412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starting tag (AKA opening tag) goes here and is surrounded in angled brackets, &lt; and &gt;</a:t>
              </a:r>
            </a:p>
          </p:txBody>
        </p:sp>
        <p:sp>
          <p:nvSpPr>
            <p:cNvPr id="8" name="Down Arrow 7"/>
            <p:cNvSpPr/>
            <p:nvPr/>
          </p:nvSpPr>
          <p:spPr>
            <a:xfrm>
              <a:off x="1633928" y="3016251"/>
              <a:ext cx="569626" cy="686317"/>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4079823" y="4350376"/>
            <a:ext cx="4032354" cy="2020442"/>
            <a:chOff x="169889" y="1004371"/>
            <a:chExt cx="4032354" cy="2020442"/>
          </a:xfrm>
          <a:effectLst>
            <a:glow rad="63500">
              <a:schemeClr val="accent4">
                <a:satMod val="175000"/>
                <a:alpha val="40000"/>
              </a:schemeClr>
            </a:glow>
          </a:effectLst>
        </p:grpSpPr>
        <p:sp>
          <p:nvSpPr>
            <p:cNvPr id="11" name="Rectangle 10"/>
            <p:cNvSpPr/>
            <p:nvPr/>
          </p:nvSpPr>
          <p:spPr>
            <a:xfrm>
              <a:off x="169889" y="1690688"/>
              <a:ext cx="4032354" cy="133412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Anything you want to actually display on screen goes here, between the opening and closing tags</a:t>
              </a:r>
            </a:p>
          </p:txBody>
        </p:sp>
        <p:sp>
          <p:nvSpPr>
            <p:cNvPr id="12" name="Down Arrow 11"/>
            <p:cNvSpPr/>
            <p:nvPr/>
          </p:nvSpPr>
          <p:spPr>
            <a:xfrm rot="10800000">
              <a:off x="1616440" y="1004371"/>
              <a:ext cx="569626" cy="686317"/>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7819868" y="1660728"/>
            <a:ext cx="4032354" cy="2011880"/>
            <a:chOff x="169889" y="1690688"/>
            <a:chExt cx="4032354" cy="2011880"/>
          </a:xfrm>
          <a:effectLst>
            <a:glow rad="63500">
              <a:schemeClr val="accent4">
                <a:satMod val="175000"/>
                <a:alpha val="40000"/>
              </a:schemeClr>
            </a:glow>
          </a:effectLst>
        </p:grpSpPr>
        <p:sp>
          <p:nvSpPr>
            <p:cNvPr id="14" name="Rectangle 13"/>
            <p:cNvSpPr/>
            <p:nvPr/>
          </p:nvSpPr>
          <p:spPr>
            <a:xfrm>
              <a:off x="169889" y="1690688"/>
              <a:ext cx="4032354" cy="133412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 end a tag, you write it just like the starting tag, but with a </a:t>
              </a:r>
              <a:r>
                <a:rPr lang="en-GB" b="1" dirty="0"/>
                <a:t>forward slash</a:t>
              </a:r>
              <a:r>
                <a:rPr lang="en-GB" dirty="0"/>
                <a:t>, /, inserted before the tag name.</a:t>
              </a:r>
            </a:p>
          </p:txBody>
        </p:sp>
        <p:sp>
          <p:nvSpPr>
            <p:cNvPr id="15" name="Down Arrow 14"/>
            <p:cNvSpPr/>
            <p:nvPr/>
          </p:nvSpPr>
          <p:spPr>
            <a:xfrm>
              <a:off x="3417757" y="3016251"/>
              <a:ext cx="569626" cy="686317"/>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6399AEE8-D697-A1F0-386F-68DD4CBE6761}"/>
              </a:ext>
            </a:extLst>
          </p:cNvPr>
          <p:cNvGrpSpPr/>
          <p:nvPr/>
        </p:nvGrpSpPr>
        <p:grpSpPr>
          <a:xfrm>
            <a:off x="0" y="0"/>
            <a:ext cx="12192000" cy="591671"/>
            <a:chOff x="0" y="0"/>
            <a:chExt cx="12192000" cy="591671"/>
          </a:xfrm>
        </p:grpSpPr>
        <p:grpSp>
          <p:nvGrpSpPr>
            <p:cNvPr id="17" name="Group 16">
              <a:extLst>
                <a:ext uri="{FF2B5EF4-FFF2-40B4-BE49-F238E27FC236}">
                  <a16:creationId xmlns:a16="http://schemas.microsoft.com/office/drawing/2014/main" id="{246D8D63-3FF1-7B49-239B-86789B61FC52}"/>
                </a:ext>
              </a:extLst>
            </p:cNvPr>
            <p:cNvGrpSpPr/>
            <p:nvPr/>
          </p:nvGrpSpPr>
          <p:grpSpPr>
            <a:xfrm>
              <a:off x="0" y="0"/>
              <a:ext cx="12192000" cy="591671"/>
              <a:chOff x="0" y="0"/>
              <a:chExt cx="12192000" cy="591671"/>
            </a:xfrm>
          </p:grpSpPr>
          <p:sp>
            <p:nvSpPr>
              <p:cNvPr id="20" name="Rectangle 19">
                <a:extLst>
                  <a:ext uri="{FF2B5EF4-FFF2-40B4-BE49-F238E27FC236}">
                    <a16:creationId xmlns:a16="http://schemas.microsoft.com/office/drawing/2014/main" id="{343EAA55-59E7-19CB-B03B-080191ED4AFB}"/>
                  </a:ext>
                </a:extLst>
              </p:cNvPr>
              <p:cNvSpPr/>
              <p:nvPr/>
            </p:nvSpPr>
            <p:spPr>
              <a:xfrm>
                <a:off x="0" y="0"/>
                <a:ext cx="12192000" cy="591671"/>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a:extLst>
                  <a:ext uri="{FF2B5EF4-FFF2-40B4-BE49-F238E27FC236}">
                    <a16:creationId xmlns:a16="http://schemas.microsoft.com/office/drawing/2014/main" id="{2803B46C-7242-4696-FD34-48EC353622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17" y="89646"/>
                <a:ext cx="412377" cy="412377"/>
              </a:xfrm>
              <a:prstGeom prst="rect">
                <a:avLst/>
              </a:prstGeom>
            </p:spPr>
          </p:pic>
          <p:sp>
            <p:nvSpPr>
              <p:cNvPr id="22" name="TextBox 21">
                <a:extLst>
                  <a:ext uri="{FF2B5EF4-FFF2-40B4-BE49-F238E27FC236}">
                    <a16:creationId xmlns:a16="http://schemas.microsoft.com/office/drawing/2014/main" id="{9423A997-BBF7-A33D-5A53-DDEF813D560D}"/>
                  </a:ext>
                </a:extLst>
              </p:cNvPr>
              <p:cNvSpPr txBox="1"/>
              <p:nvPr/>
            </p:nvSpPr>
            <p:spPr>
              <a:xfrm>
                <a:off x="555811" y="111168"/>
                <a:ext cx="2895600" cy="369332"/>
              </a:xfrm>
              <a:prstGeom prst="rect">
                <a:avLst/>
              </a:prstGeom>
              <a:noFill/>
            </p:spPr>
            <p:txBody>
              <a:bodyPr wrap="square" rtlCol="0">
                <a:spAutoFit/>
              </a:bodyPr>
              <a:lstStyle/>
              <a:p>
                <a:r>
                  <a:rPr lang="en-GB" dirty="0"/>
                  <a:t>ERGS Website Design</a:t>
                </a:r>
              </a:p>
            </p:txBody>
          </p:sp>
          <p:sp>
            <p:nvSpPr>
              <p:cNvPr id="23" name="TextBox 22">
                <a:extLst>
                  <a:ext uri="{FF2B5EF4-FFF2-40B4-BE49-F238E27FC236}">
                    <a16:creationId xmlns:a16="http://schemas.microsoft.com/office/drawing/2014/main" id="{8AF191F8-2118-3580-485E-13A13CF94008}"/>
                  </a:ext>
                </a:extLst>
              </p:cNvPr>
              <p:cNvSpPr txBox="1"/>
              <p:nvPr/>
            </p:nvSpPr>
            <p:spPr>
              <a:xfrm>
                <a:off x="7173707" y="111168"/>
                <a:ext cx="4919681" cy="369332"/>
              </a:xfrm>
              <a:prstGeom prst="rect">
                <a:avLst/>
              </a:prstGeom>
              <a:noFill/>
            </p:spPr>
            <p:txBody>
              <a:bodyPr wrap="square" rtlCol="0">
                <a:spAutoFit/>
              </a:bodyPr>
              <a:lstStyle/>
              <a:p>
                <a:pPr algn="r"/>
                <a:r>
                  <a:rPr lang="en-GB" dirty="0"/>
                  <a:t>Mr Butler |       My Account |        Logout</a:t>
                </a:r>
              </a:p>
            </p:txBody>
          </p:sp>
        </p:grpSp>
        <p:pic>
          <p:nvPicPr>
            <p:cNvPr id="18" name="Picture 17">
              <a:extLst>
                <a:ext uri="{FF2B5EF4-FFF2-40B4-BE49-F238E27FC236}">
                  <a16:creationId xmlns:a16="http://schemas.microsoft.com/office/drawing/2014/main" id="{7DB0A5AC-F3BB-4502-9609-F9F2C77A510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foregroundMark x1="45504" y1="37017" x2="58311" y2="48619"/>
                          <a14:foregroundMark x1="46866" y1="34254" x2="57766" y2="35635"/>
                          <a14:foregroundMark x1="66757" y1="67680" x2="32698" y2="66298"/>
                        </a14:backgroundRemoval>
                      </a14:imgEffect>
                    </a14:imgLayer>
                  </a14:imgProps>
                </a:ext>
              </a:extLst>
            </a:blip>
            <a:stretch>
              <a:fillRect/>
            </a:stretch>
          </p:blipFill>
          <p:spPr>
            <a:xfrm>
              <a:off x="9350187" y="192244"/>
              <a:ext cx="242047" cy="238750"/>
            </a:xfrm>
            <a:prstGeom prst="rect">
              <a:avLst/>
            </a:prstGeom>
          </p:spPr>
        </p:pic>
        <p:pic>
          <p:nvPicPr>
            <p:cNvPr id="19" name="Picture 18">
              <a:extLst>
                <a:ext uri="{FF2B5EF4-FFF2-40B4-BE49-F238E27FC236}">
                  <a16:creationId xmlns:a16="http://schemas.microsoft.com/office/drawing/2014/main" id="{4C6E78D6-5C99-B24D-AD36-3AE5E1E9161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0" b="100000" l="0" r="100000">
                          <a14:foregroundMark x1="91758" y1="11842" x2="94505" y2="86842"/>
                        </a14:backgroundRemoval>
                      </a14:imgEffect>
                    </a14:imgLayer>
                  </a14:imgProps>
                </a:ext>
              </a:extLst>
            </a:blip>
            <a:stretch>
              <a:fillRect/>
            </a:stretch>
          </p:blipFill>
          <p:spPr>
            <a:xfrm>
              <a:off x="10988091" y="184680"/>
              <a:ext cx="294929" cy="246314"/>
            </a:xfrm>
            <a:prstGeom prst="rect">
              <a:avLst/>
            </a:prstGeom>
          </p:spPr>
        </p:pic>
      </p:grpSp>
    </p:spTree>
    <p:extLst>
      <p:ext uri="{BB962C8B-B14F-4D97-AF65-F5344CB8AC3E}">
        <p14:creationId xmlns:p14="http://schemas.microsoft.com/office/powerpoint/2010/main" val="159117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xit" presetSubtype="0" fill="hold" grpId="1" nodeType="withEffect">
                                  <p:stCondLst>
                                    <p:cond delay="0"/>
                                  </p:stCondLst>
                                  <p:childTnLst>
                                    <p:animEffect transition="out" filter="fade">
                                      <p:cBhvr>
                                        <p:cTn id="17" dur="500"/>
                                        <p:tgtEl>
                                          <p:spTgt spid="4"/>
                                        </p:tgtEl>
                                      </p:cBhvr>
                                    </p:animEffect>
                                    <p:set>
                                      <p:cBhvr>
                                        <p:cTn id="18" dur="1" fill="hold">
                                          <p:stCondLst>
                                            <p:cond delay="499"/>
                                          </p:stCondLst>
                                        </p:cTn>
                                        <p:tgtEl>
                                          <p:spTgt spid="4"/>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20" dur="500"/>
                                        <p:tgtEl>
                                          <p:spTgt spid="9"/>
                                        </p:tgtEl>
                                      </p:cBhvr>
                                    </p:animEffect>
                                    <p:set>
                                      <p:cBhvr>
                                        <p:cTn id="21" dur="1" fill="hold">
                                          <p:stCondLst>
                                            <p:cond delay="499"/>
                                          </p:stCondLst>
                                        </p:cTn>
                                        <p:tgtEl>
                                          <p:spTgt spid="9"/>
                                        </p:tgtEl>
                                        <p:attrNameLst>
                                          <p:attrName>style.visibility</p:attrName>
                                        </p:attrNameLst>
                                      </p:cBhvr>
                                      <p:to>
                                        <p:strVal val="hidden"/>
                                      </p:to>
                                    </p:se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xit" presetSubtype="0" fill="hold" grpId="1" nodeType="withEffect">
                                  <p:stCondLst>
                                    <p:cond delay="0"/>
                                  </p:stCondLst>
                                  <p:childTnLst>
                                    <p:animEffect transition="out" filter="fade">
                                      <p:cBhvr>
                                        <p:cTn id="34" dur="500"/>
                                        <p:tgtEl>
                                          <p:spTgt spid="5"/>
                                        </p:tgtEl>
                                      </p:cBhvr>
                                    </p:animEffect>
                                    <p:set>
                                      <p:cBhvr>
                                        <p:cTn id="35" dur="1" fill="hold">
                                          <p:stCondLst>
                                            <p:cond delay="499"/>
                                          </p:stCondLst>
                                        </p:cTn>
                                        <p:tgtEl>
                                          <p:spTgt spid="5"/>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10"/>
                                        </p:tgtEl>
                                      </p:cBhvr>
                                    </p:animEffect>
                                    <p:set>
                                      <p:cBhvr>
                                        <p:cTn id="38"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CB46-50F2-F615-EBD7-18E1981A9886}"/>
              </a:ext>
            </a:extLst>
          </p:cNvPr>
          <p:cNvSpPr>
            <a:spLocks noGrp="1"/>
          </p:cNvSpPr>
          <p:nvPr>
            <p:ph type="title"/>
          </p:nvPr>
        </p:nvSpPr>
        <p:spPr/>
        <p:txBody>
          <a:bodyPr/>
          <a:lstStyle/>
          <a:p>
            <a:r>
              <a:rPr lang="en-GB" dirty="0">
                <a:solidFill>
                  <a:schemeClr val="bg1"/>
                </a:solidFill>
                <a:latin typeface="LEMON MILK" panose="00000500000000000000" pitchFamily="50" charset="0"/>
              </a:rPr>
              <a:t>HTML Paragraphs</a:t>
            </a:r>
          </a:p>
        </p:txBody>
      </p:sp>
      <p:sp>
        <p:nvSpPr>
          <p:cNvPr id="3" name="Content Placeholder 2">
            <a:extLst>
              <a:ext uri="{FF2B5EF4-FFF2-40B4-BE49-F238E27FC236}">
                <a16:creationId xmlns:a16="http://schemas.microsoft.com/office/drawing/2014/main" id="{44533C33-C83B-1412-EE41-BB71D67576D0}"/>
              </a:ext>
            </a:extLst>
          </p:cNvPr>
          <p:cNvSpPr>
            <a:spLocks noGrp="1"/>
          </p:cNvSpPr>
          <p:nvPr>
            <p:ph idx="1"/>
          </p:nvPr>
        </p:nvSpPr>
        <p:spPr>
          <a:xfrm>
            <a:off x="688157" y="1800520"/>
            <a:ext cx="10665643" cy="4376443"/>
          </a:xfrm>
        </p:spPr>
        <p:txBody>
          <a:bodyPr/>
          <a:lstStyle/>
          <a:p>
            <a:pPr marL="0" indent="0">
              <a:buNone/>
            </a:pPr>
            <a:r>
              <a:rPr lang="en-GB" sz="1800" dirty="0">
                <a:solidFill>
                  <a:srgbClr val="54DDFF"/>
                </a:solidFill>
                <a:effectLst/>
                <a:latin typeface="Arial" panose="020B0604020202020204" pitchFamily="34" charset="0"/>
                <a:ea typeface="Arial" panose="020B0604020202020204" pitchFamily="34" charset="0"/>
              </a:rPr>
              <a:t>The paragraph tag structures the appearance of text into paragraphs.</a:t>
            </a:r>
          </a:p>
          <a:p>
            <a:pPr marL="0" indent="0">
              <a:buNone/>
            </a:pPr>
            <a:r>
              <a:rPr lang="en-GB" sz="1800" dirty="0">
                <a:solidFill>
                  <a:srgbClr val="54DDFF"/>
                </a:solidFill>
                <a:effectLst/>
                <a:latin typeface="Arial" panose="020B0604020202020204" pitchFamily="34" charset="0"/>
                <a:ea typeface="Arial" panose="020B0604020202020204" pitchFamily="34" charset="0"/>
              </a:rPr>
              <a:t>For example:</a:t>
            </a:r>
            <a:endParaRPr lang="en-GB" dirty="0">
              <a:solidFill>
                <a:srgbClr val="54DDFF"/>
              </a:solidFill>
            </a:endParaRPr>
          </a:p>
        </p:txBody>
      </p:sp>
      <p:pic>
        <p:nvPicPr>
          <p:cNvPr id="4" name="Picture 3">
            <a:extLst>
              <a:ext uri="{FF2B5EF4-FFF2-40B4-BE49-F238E27FC236}">
                <a16:creationId xmlns:a16="http://schemas.microsoft.com/office/drawing/2014/main" id="{364BA54F-F3C3-0F4D-0DAE-E1DE401FD85A}"/>
              </a:ext>
            </a:extLst>
          </p:cNvPr>
          <p:cNvPicPr>
            <a:picLocks noChangeAspect="1"/>
          </p:cNvPicPr>
          <p:nvPr/>
        </p:nvPicPr>
        <p:blipFill>
          <a:blip r:embed="rId2"/>
          <a:stretch>
            <a:fillRect/>
          </a:stretch>
        </p:blipFill>
        <p:spPr>
          <a:xfrm>
            <a:off x="688157" y="3429000"/>
            <a:ext cx="4728517" cy="861266"/>
          </a:xfrm>
          <a:prstGeom prst="rect">
            <a:avLst/>
          </a:prstGeom>
        </p:spPr>
      </p:pic>
      <p:pic>
        <p:nvPicPr>
          <p:cNvPr id="2050" name="Picture 2" descr="HTML P Tag Tutorial: Easy Guide for Beginners">
            <a:extLst>
              <a:ext uri="{FF2B5EF4-FFF2-40B4-BE49-F238E27FC236}">
                <a16:creationId xmlns:a16="http://schemas.microsoft.com/office/drawing/2014/main" id="{32566FFA-615A-6715-5C1E-D7C63DC00A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032" t="38853" r="20000" b="20860"/>
          <a:stretch/>
        </p:blipFill>
        <p:spPr bwMode="auto">
          <a:xfrm>
            <a:off x="6991048" y="3056642"/>
            <a:ext cx="5082966" cy="1889303"/>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99605A1B-E0C3-C408-DD8C-B87A34E2BDBA}"/>
              </a:ext>
            </a:extLst>
          </p:cNvPr>
          <p:cNvGrpSpPr/>
          <p:nvPr/>
        </p:nvGrpSpPr>
        <p:grpSpPr>
          <a:xfrm>
            <a:off x="7254832" y="5495925"/>
            <a:ext cx="4555397" cy="1192486"/>
            <a:chOff x="7451723" y="-81236"/>
            <a:chExt cx="4555397" cy="1192486"/>
          </a:xfrm>
        </p:grpSpPr>
        <p:sp>
          <p:nvSpPr>
            <p:cNvPr id="6" name="Rectangle 5">
              <a:extLst>
                <a:ext uri="{FF2B5EF4-FFF2-40B4-BE49-F238E27FC236}">
                  <a16:creationId xmlns:a16="http://schemas.microsoft.com/office/drawing/2014/main" id="{44CB573D-9DE5-9192-51FF-907EA0ABE129}"/>
                </a:ext>
              </a:extLst>
            </p:cNvPr>
            <p:cNvSpPr/>
            <p:nvPr/>
          </p:nvSpPr>
          <p:spPr>
            <a:xfrm>
              <a:off x="7926507" y="-81236"/>
              <a:ext cx="4080613" cy="1192486"/>
            </a:xfrm>
            <a:prstGeom prst="rect">
              <a:avLst/>
            </a:prstGeom>
            <a:solidFill>
              <a:schemeClr val="bg1"/>
            </a:solidFill>
            <a:ln w="38100">
              <a:solidFill>
                <a:srgbClr val="71A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66700"/>
              <a:r>
                <a:rPr lang="en-GB" sz="1600" b="1" u="sng" dirty="0">
                  <a:solidFill>
                    <a:schemeClr val="tx1"/>
                  </a:solidFill>
                  <a:latin typeface="Ink Free" panose="03080402000500000000" pitchFamily="66" charset="0"/>
                </a:rPr>
                <a:t>Paragraph TAG</a:t>
              </a:r>
            </a:p>
            <a:p>
              <a:pPr marL="266700"/>
              <a:r>
                <a:rPr lang="en-GB" sz="1600" dirty="0">
                  <a:solidFill>
                    <a:schemeClr val="tx1"/>
                  </a:solidFill>
                  <a:latin typeface="Ink Free" panose="03080402000500000000" pitchFamily="66" charset="0"/>
                </a:rPr>
                <a:t>Splits the text up into paragraphs, which are often separated by blink lines or start with an indent.</a:t>
              </a:r>
            </a:p>
          </p:txBody>
        </p:sp>
        <p:pic>
          <p:nvPicPr>
            <p:cNvPr id="7" name="Picture 6" descr="A grey and green circle with two pages&#10;&#10;AI-generated content may be incorrect.">
              <a:extLst>
                <a:ext uri="{FF2B5EF4-FFF2-40B4-BE49-F238E27FC236}">
                  <a16:creationId xmlns:a16="http://schemas.microsoft.com/office/drawing/2014/main" id="{896F2F8D-C32C-3266-D08B-38C18EC193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1723" y="108225"/>
              <a:ext cx="751009" cy="751009"/>
            </a:xfrm>
            <a:prstGeom prst="rect">
              <a:avLst/>
            </a:prstGeom>
          </p:spPr>
        </p:pic>
      </p:grpSp>
    </p:spTree>
    <p:extLst>
      <p:ext uri="{BB962C8B-B14F-4D97-AF65-F5344CB8AC3E}">
        <p14:creationId xmlns:p14="http://schemas.microsoft.com/office/powerpoint/2010/main" val="3609974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a:extLst>
            <a:ext uri="{FF2B5EF4-FFF2-40B4-BE49-F238E27FC236}">
              <a16:creationId xmlns:a16="http://schemas.microsoft.com/office/drawing/2014/main" id="{FF95A20E-5D11-15AE-F580-8DC4F2BD2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F3570-F901-7F73-E3FE-C6ACD7014006}"/>
              </a:ext>
            </a:extLst>
          </p:cNvPr>
          <p:cNvSpPr>
            <a:spLocks noGrp="1"/>
          </p:cNvSpPr>
          <p:nvPr>
            <p:ph type="title"/>
          </p:nvPr>
        </p:nvSpPr>
        <p:spPr/>
        <p:txBody>
          <a:bodyPr/>
          <a:lstStyle/>
          <a:p>
            <a:r>
              <a:rPr lang="en-GB" dirty="0">
                <a:solidFill>
                  <a:schemeClr val="bg1"/>
                </a:solidFill>
                <a:latin typeface="LEMON MILK" panose="00000500000000000000" pitchFamily="50" charset="0"/>
              </a:rPr>
              <a:t>BODY TAG</a:t>
            </a:r>
          </a:p>
        </p:txBody>
      </p:sp>
      <p:sp>
        <p:nvSpPr>
          <p:cNvPr id="3" name="Content Placeholder 2">
            <a:extLst>
              <a:ext uri="{FF2B5EF4-FFF2-40B4-BE49-F238E27FC236}">
                <a16:creationId xmlns:a16="http://schemas.microsoft.com/office/drawing/2014/main" id="{A0ACC46F-4B92-4146-8F56-92F2EE11FC03}"/>
              </a:ext>
            </a:extLst>
          </p:cNvPr>
          <p:cNvSpPr>
            <a:spLocks noGrp="1"/>
          </p:cNvSpPr>
          <p:nvPr>
            <p:ph idx="1"/>
          </p:nvPr>
        </p:nvSpPr>
        <p:spPr>
          <a:xfrm>
            <a:off x="688157" y="1800520"/>
            <a:ext cx="10665643" cy="4376443"/>
          </a:xfrm>
        </p:spPr>
        <p:txBody>
          <a:bodyPr/>
          <a:lstStyle/>
          <a:p>
            <a:pPr marL="0" indent="0">
              <a:buNone/>
            </a:pPr>
            <a:endParaRPr lang="en-GB" dirty="0">
              <a:solidFill>
                <a:srgbClr val="54DDFF"/>
              </a:solidFill>
            </a:endParaRPr>
          </a:p>
        </p:txBody>
      </p:sp>
      <p:grpSp>
        <p:nvGrpSpPr>
          <p:cNvPr id="5" name="Group 4">
            <a:extLst>
              <a:ext uri="{FF2B5EF4-FFF2-40B4-BE49-F238E27FC236}">
                <a16:creationId xmlns:a16="http://schemas.microsoft.com/office/drawing/2014/main" id="{70F06283-3BDD-7565-6810-EB27052BA615}"/>
              </a:ext>
            </a:extLst>
          </p:cNvPr>
          <p:cNvGrpSpPr/>
          <p:nvPr/>
        </p:nvGrpSpPr>
        <p:grpSpPr>
          <a:xfrm>
            <a:off x="1327102" y="2505076"/>
            <a:ext cx="8860743" cy="2632162"/>
            <a:chOff x="7451723" y="-161603"/>
            <a:chExt cx="4555397" cy="1353221"/>
          </a:xfrm>
        </p:grpSpPr>
        <p:sp>
          <p:nvSpPr>
            <p:cNvPr id="6" name="Rectangle 5">
              <a:extLst>
                <a:ext uri="{FF2B5EF4-FFF2-40B4-BE49-F238E27FC236}">
                  <a16:creationId xmlns:a16="http://schemas.microsoft.com/office/drawing/2014/main" id="{22D05348-7BE1-3D16-E31B-B857148F61D3}"/>
                </a:ext>
              </a:extLst>
            </p:cNvPr>
            <p:cNvSpPr/>
            <p:nvPr/>
          </p:nvSpPr>
          <p:spPr>
            <a:xfrm>
              <a:off x="7926507" y="-161603"/>
              <a:ext cx="4080613" cy="1353221"/>
            </a:xfrm>
            <a:prstGeom prst="rect">
              <a:avLst/>
            </a:prstGeom>
            <a:solidFill>
              <a:schemeClr val="bg1"/>
            </a:solidFill>
            <a:ln w="38100">
              <a:solidFill>
                <a:srgbClr val="71A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14375"/>
              <a:r>
                <a:rPr lang="en-GB" sz="2400" b="1" u="sng" dirty="0">
                  <a:solidFill>
                    <a:schemeClr val="tx1"/>
                  </a:solidFill>
                  <a:latin typeface="Ink Free" panose="03080402000500000000" pitchFamily="66" charset="0"/>
                </a:rPr>
                <a:t>BODY TAG</a:t>
              </a:r>
            </a:p>
            <a:p>
              <a:pPr marL="714375"/>
              <a:r>
                <a:rPr lang="en-GB" sz="2400" dirty="0">
                  <a:solidFill>
                    <a:schemeClr val="tx1"/>
                  </a:solidFill>
                  <a:latin typeface="Ink Free" panose="03080402000500000000" pitchFamily="66" charset="0"/>
                </a:rPr>
                <a:t>Defines the content of what is displayed on a web page or HTML document. This includes hyperlinks, images, and other displayable tags.</a:t>
              </a:r>
            </a:p>
            <a:p>
              <a:pPr marL="714375"/>
              <a:r>
                <a:rPr lang="en-GB" sz="2400" dirty="0">
                  <a:solidFill>
                    <a:schemeClr val="tx1"/>
                  </a:solidFill>
                  <a:latin typeface="Ink Free" panose="03080402000500000000" pitchFamily="66" charset="0"/>
                </a:rPr>
                <a:t>There should only be one body tag in a single web page.</a:t>
              </a:r>
            </a:p>
          </p:txBody>
        </p:sp>
        <p:pic>
          <p:nvPicPr>
            <p:cNvPr id="7" name="Picture 6" descr="A grey and green circle with two pages&#10;&#10;AI-generated content may be incorrect.">
              <a:extLst>
                <a:ext uri="{FF2B5EF4-FFF2-40B4-BE49-F238E27FC236}">
                  <a16:creationId xmlns:a16="http://schemas.microsoft.com/office/drawing/2014/main" id="{AAB443A6-EEE8-AF5B-2AB9-021C5D4EDD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1723" y="108225"/>
              <a:ext cx="751009" cy="751009"/>
            </a:xfrm>
            <a:prstGeom prst="rect">
              <a:avLst/>
            </a:prstGeom>
          </p:spPr>
        </p:pic>
      </p:grpSp>
    </p:spTree>
    <p:extLst>
      <p:ext uri="{BB962C8B-B14F-4D97-AF65-F5344CB8AC3E}">
        <p14:creationId xmlns:p14="http://schemas.microsoft.com/office/powerpoint/2010/main" val="3185325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a:extLst>
            <a:ext uri="{FF2B5EF4-FFF2-40B4-BE49-F238E27FC236}">
              <a16:creationId xmlns:a16="http://schemas.microsoft.com/office/drawing/2014/main" id="{AB6DC1E1-17C7-FEFD-2BCA-002BF81395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67934-529E-330D-097F-CF9EB1F00EC3}"/>
              </a:ext>
            </a:extLst>
          </p:cNvPr>
          <p:cNvSpPr>
            <a:spLocks noGrp="1"/>
          </p:cNvSpPr>
          <p:nvPr>
            <p:ph type="title"/>
          </p:nvPr>
        </p:nvSpPr>
        <p:spPr/>
        <p:txBody>
          <a:bodyPr/>
          <a:lstStyle/>
          <a:p>
            <a:r>
              <a:rPr lang="en-GB" dirty="0">
                <a:solidFill>
                  <a:schemeClr val="bg1"/>
                </a:solidFill>
                <a:latin typeface="LEMON MILK" panose="00000500000000000000" pitchFamily="50" charset="0"/>
              </a:rPr>
              <a:t>HEADING TAGs</a:t>
            </a:r>
          </a:p>
        </p:txBody>
      </p:sp>
      <p:sp>
        <p:nvSpPr>
          <p:cNvPr id="3" name="Content Placeholder 2">
            <a:extLst>
              <a:ext uri="{FF2B5EF4-FFF2-40B4-BE49-F238E27FC236}">
                <a16:creationId xmlns:a16="http://schemas.microsoft.com/office/drawing/2014/main" id="{9D3779CF-C248-D254-ED7B-AF3A2AFE7476}"/>
              </a:ext>
            </a:extLst>
          </p:cNvPr>
          <p:cNvSpPr>
            <a:spLocks noGrp="1"/>
          </p:cNvSpPr>
          <p:nvPr>
            <p:ph idx="1"/>
          </p:nvPr>
        </p:nvSpPr>
        <p:spPr>
          <a:xfrm>
            <a:off x="688157" y="1800520"/>
            <a:ext cx="10665643" cy="4376443"/>
          </a:xfrm>
        </p:spPr>
        <p:txBody>
          <a:bodyPr/>
          <a:lstStyle/>
          <a:p>
            <a:pPr marL="0" indent="0">
              <a:buNone/>
            </a:pPr>
            <a:endParaRPr lang="en-GB" dirty="0">
              <a:solidFill>
                <a:srgbClr val="54DDFF"/>
              </a:solidFill>
            </a:endParaRPr>
          </a:p>
        </p:txBody>
      </p:sp>
      <p:grpSp>
        <p:nvGrpSpPr>
          <p:cNvPr id="5" name="Group 4">
            <a:extLst>
              <a:ext uri="{FF2B5EF4-FFF2-40B4-BE49-F238E27FC236}">
                <a16:creationId xmlns:a16="http://schemas.microsoft.com/office/drawing/2014/main" id="{E93E5F00-02D5-07EE-8FA3-AB4067425DA7}"/>
              </a:ext>
            </a:extLst>
          </p:cNvPr>
          <p:cNvGrpSpPr/>
          <p:nvPr/>
        </p:nvGrpSpPr>
        <p:grpSpPr>
          <a:xfrm>
            <a:off x="1327102" y="2505076"/>
            <a:ext cx="8860743" cy="2632162"/>
            <a:chOff x="7451723" y="-161603"/>
            <a:chExt cx="4555397" cy="1353221"/>
          </a:xfrm>
        </p:grpSpPr>
        <p:sp>
          <p:nvSpPr>
            <p:cNvPr id="6" name="Rectangle 5">
              <a:extLst>
                <a:ext uri="{FF2B5EF4-FFF2-40B4-BE49-F238E27FC236}">
                  <a16:creationId xmlns:a16="http://schemas.microsoft.com/office/drawing/2014/main" id="{1B42A530-429A-B1CC-1B27-D9485F3E56FA}"/>
                </a:ext>
              </a:extLst>
            </p:cNvPr>
            <p:cNvSpPr/>
            <p:nvPr/>
          </p:nvSpPr>
          <p:spPr>
            <a:xfrm>
              <a:off x="7926507" y="-161603"/>
              <a:ext cx="4080613" cy="1353221"/>
            </a:xfrm>
            <a:prstGeom prst="rect">
              <a:avLst/>
            </a:prstGeom>
            <a:solidFill>
              <a:schemeClr val="bg1"/>
            </a:solidFill>
            <a:ln w="38100">
              <a:solidFill>
                <a:srgbClr val="71A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14375"/>
              <a:r>
                <a:rPr lang="en-GB" sz="2400" b="1" u="sng" dirty="0">
                  <a:solidFill>
                    <a:schemeClr val="tx1"/>
                  </a:solidFill>
                  <a:latin typeface="Ink Free" panose="03080402000500000000" pitchFamily="66" charset="0"/>
                </a:rPr>
                <a:t>Heading Tags</a:t>
              </a:r>
            </a:p>
            <a:p>
              <a:pPr marL="714375"/>
              <a:r>
                <a:rPr lang="en-GB" sz="2400" dirty="0">
                  <a:solidFill>
                    <a:schemeClr val="tx1"/>
                  </a:solidFill>
                  <a:latin typeface="Ink Free" panose="03080402000500000000" pitchFamily="66" charset="0"/>
                </a:rPr>
                <a:t>A heading tag, such as h1, are used to display titles on a web page. h1 is the most important or main heading, with h2 being a subheading, h3 being a sub subheading, etc…</a:t>
              </a:r>
            </a:p>
          </p:txBody>
        </p:sp>
        <p:pic>
          <p:nvPicPr>
            <p:cNvPr id="7" name="Picture 6" descr="A grey and green circle with two pages&#10;&#10;AI-generated content may be incorrect.">
              <a:extLst>
                <a:ext uri="{FF2B5EF4-FFF2-40B4-BE49-F238E27FC236}">
                  <a16:creationId xmlns:a16="http://schemas.microsoft.com/office/drawing/2014/main" id="{9CADEF92-5E4F-0C1F-4B57-C6850AD74F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1723" y="108225"/>
              <a:ext cx="751009" cy="751009"/>
            </a:xfrm>
            <a:prstGeom prst="rect">
              <a:avLst/>
            </a:prstGeom>
          </p:spPr>
        </p:pic>
      </p:grpSp>
    </p:spTree>
    <p:extLst>
      <p:ext uri="{BB962C8B-B14F-4D97-AF65-F5344CB8AC3E}">
        <p14:creationId xmlns:p14="http://schemas.microsoft.com/office/powerpoint/2010/main" val="283913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87AA5-0D9F-EC35-18B5-AC7BE80F5192}"/>
              </a:ext>
            </a:extLst>
          </p:cNvPr>
          <p:cNvSpPr>
            <a:spLocks noGrp="1"/>
          </p:cNvSpPr>
          <p:nvPr>
            <p:ph type="title"/>
          </p:nvPr>
        </p:nvSpPr>
        <p:spPr>
          <a:xfrm>
            <a:off x="0" y="-283729"/>
            <a:ext cx="10515600" cy="1325563"/>
          </a:xfrm>
        </p:spPr>
        <p:txBody>
          <a:bodyPr/>
          <a:lstStyle/>
          <a:p>
            <a:r>
              <a:rPr lang="en-GB" dirty="0">
                <a:latin typeface="LEMON MILK" panose="00000500000000000000" pitchFamily="50" charset="0"/>
              </a:rPr>
              <a:t>HTML Images</a:t>
            </a:r>
          </a:p>
        </p:txBody>
      </p:sp>
      <p:sp>
        <p:nvSpPr>
          <p:cNvPr id="3" name="Content Placeholder 2">
            <a:extLst>
              <a:ext uri="{FF2B5EF4-FFF2-40B4-BE49-F238E27FC236}">
                <a16:creationId xmlns:a16="http://schemas.microsoft.com/office/drawing/2014/main" id="{40F3F219-7AA3-85D0-BEC1-9AA2B85EBE99}"/>
              </a:ext>
            </a:extLst>
          </p:cNvPr>
          <p:cNvSpPr>
            <a:spLocks noGrp="1"/>
          </p:cNvSpPr>
          <p:nvPr>
            <p:ph idx="1"/>
          </p:nvPr>
        </p:nvSpPr>
        <p:spPr>
          <a:xfrm>
            <a:off x="21737" y="956320"/>
            <a:ext cx="11780952" cy="2450675"/>
          </a:xfrm>
        </p:spPr>
        <p:txBody>
          <a:bodyPr>
            <a:normAutofit fontScale="77500" lnSpcReduction="20000"/>
          </a:bodyPr>
          <a:lstStyle/>
          <a:p>
            <a:r>
              <a:rPr lang="en-GB" dirty="0"/>
              <a:t>It’s very important to have images in websites – they are both informative and engaging, ensuring visitors are attracted to the website.</a:t>
            </a:r>
          </a:p>
          <a:p>
            <a:r>
              <a:rPr lang="en-GB" dirty="0"/>
              <a:t>The tag used is &lt;img&gt;</a:t>
            </a:r>
          </a:p>
          <a:p>
            <a:r>
              <a:rPr lang="en-GB" dirty="0"/>
              <a:t>This is one that doesn’t have a closing tag – it is known as a self-closing tag as no text is placed on screen here. Instead, it has a few attributes to tell the browser what to display:</a:t>
            </a:r>
          </a:p>
          <a:p>
            <a:r>
              <a:rPr lang="en-GB" dirty="0"/>
              <a:t>It requires two attributes; src and alt</a:t>
            </a:r>
          </a:p>
          <a:p>
            <a:pPr lvl="1"/>
            <a:r>
              <a:rPr lang="en-GB" dirty="0"/>
              <a:t>src is the URL for the image</a:t>
            </a:r>
          </a:p>
          <a:p>
            <a:pPr lvl="1"/>
            <a:r>
              <a:rPr lang="en-GB" dirty="0"/>
              <a:t>alt is the alternative text for the image</a:t>
            </a:r>
          </a:p>
        </p:txBody>
      </p:sp>
      <p:sp>
        <p:nvSpPr>
          <p:cNvPr id="4" name="Content Placeholder 2">
            <a:extLst>
              <a:ext uri="{FF2B5EF4-FFF2-40B4-BE49-F238E27FC236}">
                <a16:creationId xmlns:a16="http://schemas.microsoft.com/office/drawing/2014/main" id="{AD468AD9-74D9-9347-F482-14EE49A49E37}"/>
              </a:ext>
            </a:extLst>
          </p:cNvPr>
          <p:cNvSpPr txBox="1">
            <a:spLocks/>
          </p:cNvSpPr>
          <p:nvPr/>
        </p:nvSpPr>
        <p:spPr>
          <a:xfrm>
            <a:off x="154898" y="5941972"/>
            <a:ext cx="11852222" cy="599607"/>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FFC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FFC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FC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FFC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FFC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3600" dirty="0">
                <a:solidFill>
                  <a:srgbClr val="7030A0"/>
                </a:solidFill>
              </a:rPr>
              <a:t>&lt;img src=“C:/myimage.jpg” alt=“My Logo” width=“64” height=“32” /&gt;</a:t>
            </a:r>
          </a:p>
        </p:txBody>
      </p:sp>
      <p:grpSp>
        <p:nvGrpSpPr>
          <p:cNvPr id="5" name="Group 4">
            <a:extLst>
              <a:ext uri="{FF2B5EF4-FFF2-40B4-BE49-F238E27FC236}">
                <a16:creationId xmlns:a16="http://schemas.microsoft.com/office/drawing/2014/main" id="{2D461DD6-EE61-F27D-71AD-152F6679E682}"/>
              </a:ext>
            </a:extLst>
          </p:cNvPr>
          <p:cNvGrpSpPr/>
          <p:nvPr/>
        </p:nvGrpSpPr>
        <p:grpSpPr>
          <a:xfrm>
            <a:off x="469419" y="4302907"/>
            <a:ext cx="2273782" cy="1568377"/>
            <a:chOff x="-6999002" y="546141"/>
            <a:chExt cx="2273782" cy="1568377"/>
          </a:xfrm>
          <a:effectLst>
            <a:glow rad="101600">
              <a:schemeClr val="accent1">
                <a:satMod val="175000"/>
                <a:alpha val="40000"/>
              </a:schemeClr>
            </a:glow>
          </a:effectLst>
        </p:grpSpPr>
        <p:sp>
          <p:nvSpPr>
            <p:cNvPr id="6" name="Rectangle 5">
              <a:extLst>
                <a:ext uri="{FF2B5EF4-FFF2-40B4-BE49-F238E27FC236}">
                  <a16:creationId xmlns:a16="http://schemas.microsoft.com/office/drawing/2014/main" id="{DF3FE7E0-6D58-9588-9186-32A38FE9A5FF}"/>
                </a:ext>
              </a:extLst>
            </p:cNvPr>
            <p:cNvSpPr/>
            <p:nvPr/>
          </p:nvSpPr>
          <p:spPr>
            <a:xfrm>
              <a:off x="-6999002" y="546141"/>
              <a:ext cx="2273782" cy="100270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tag is img.</a:t>
              </a:r>
            </a:p>
          </p:txBody>
        </p:sp>
        <p:sp>
          <p:nvSpPr>
            <p:cNvPr id="7" name="Down Arrow 6">
              <a:extLst>
                <a:ext uri="{FF2B5EF4-FFF2-40B4-BE49-F238E27FC236}">
                  <a16:creationId xmlns:a16="http://schemas.microsoft.com/office/drawing/2014/main" id="{8D1D2F68-2ABC-360A-50D3-0C8E5A601A19}"/>
                </a:ext>
              </a:extLst>
            </p:cNvPr>
            <p:cNvSpPr/>
            <p:nvPr/>
          </p:nvSpPr>
          <p:spPr>
            <a:xfrm>
              <a:off x="-6915035" y="1548848"/>
              <a:ext cx="569626" cy="565670"/>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 name="Rectangle 7">
            <a:extLst>
              <a:ext uri="{FF2B5EF4-FFF2-40B4-BE49-F238E27FC236}">
                <a16:creationId xmlns:a16="http://schemas.microsoft.com/office/drawing/2014/main" id="{DD932C4B-713C-A1C6-2401-2FED7AD52C07}"/>
              </a:ext>
            </a:extLst>
          </p:cNvPr>
          <p:cNvSpPr/>
          <p:nvPr/>
        </p:nvSpPr>
        <p:spPr>
          <a:xfrm flipH="1">
            <a:off x="354487" y="5879340"/>
            <a:ext cx="967425"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A3C677D7-C240-4A87-D655-898C4620B197}"/>
              </a:ext>
            </a:extLst>
          </p:cNvPr>
          <p:cNvSpPr/>
          <p:nvPr/>
        </p:nvSpPr>
        <p:spPr>
          <a:xfrm flipH="1">
            <a:off x="11274606" y="5871284"/>
            <a:ext cx="650929"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a:extLst>
              <a:ext uri="{FF2B5EF4-FFF2-40B4-BE49-F238E27FC236}">
                <a16:creationId xmlns:a16="http://schemas.microsoft.com/office/drawing/2014/main" id="{29D6D5FD-8322-F721-7E34-1BFDBAB7A916}"/>
              </a:ext>
            </a:extLst>
          </p:cNvPr>
          <p:cNvGrpSpPr/>
          <p:nvPr/>
        </p:nvGrpSpPr>
        <p:grpSpPr>
          <a:xfrm>
            <a:off x="2930278" y="3311446"/>
            <a:ext cx="4080613" cy="2559838"/>
            <a:chOff x="-6999003" y="546141"/>
            <a:chExt cx="4080613" cy="2559838"/>
          </a:xfrm>
          <a:effectLst>
            <a:glow rad="101600">
              <a:schemeClr val="accent1">
                <a:satMod val="175000"/>
                <a:alpha val="40000"/>
              </a:schemeClr>
            </a:glow>
          </a:effectLst>
        </p:grpSpPr>
        <p:sp>
          <p:nvSpPr>
            <p:cNvPr id="11" name="Rectangle 10">
              <a:extLst>
                <a:ext uri="{FF2B5EF4-FFF2-40B4-BE49-F238E27FC236}">
                  <a16:creationId xmlns:a16="http://schemas.microsoft.com/office/drawing/2014/main" id="{E4AA44C3-C45B-3A2F-5FF2-92EAB22264CB}"/>
                </a:ext>
              </a:extLst>
            </p:cNvPr>
            <p:cNvSpPr/>
            <p:nvPr/>
          </p:nvSpPr>
          <p:spPr>
            <a:xfrm>
              <a:off x="-6999003" y="546141"/>
              <a:ext cx="4080613" cy="100270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a:t>
              </a:r>
              <a:r>
                <a:rPr lang="en-GB" dirty="0" err="1"/>
                <a:t>src</a:t>
              </a:r>
              <a:r>
                <a:rPr lang="en-GB" dirty="0"/>
                <a:t>’ is the source. It’s the where the image is saved. Here I have a jpeg image in the C:/ drive called ‘</a:t>
              </a:r>
              <a:r>
                <a:rPr lang="en-GB" dirty="0" err="1"/>
                <a:t>myimage</a:t>
              </a:r>
              <a:r>
                <a:rPr lang="en-GB" dirty="0"/>
                <a:t>’</a:t>
              </a:r>
            </a:p>
          </p:txBody>
        </p:sp>
        <p:sp>
          <p:nvSpPr>
            <p:cNvPr id="12" name="Down Arrow 14">
              <a:extLst>
                <a:ext uri="{FF2B5EF4-FFF2-40B4-BE49-F238E27FC236}">
                  <a16:creationId xmlns:a16="http://schemas.microsoft.com/office/drawing/2014/main" id="{49257522-2437-4090-3265-2F2E44883E1B}"/>
                </a:ext>
              </a:extLst>
            </p:cNvPr>
            <p:cNvSpPr/>
            <p:nvPr/>
          </p:nvSpPr>
          <p:spPr>
            <a:xfrm>
              <a:off x="-6960339" y="1537602"/>
              <a:ext cx="569626" cy="1568377"/>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Rectangle 12">
            <a:extLst>
              <a:ext uri="{FF2B5EF4-FFF2-40B4-BE49-F238E27FC236}">
                <a16:creationId xmlns:a16="http://schemas.microsoft.com/office/drawing/2014/main" id="{C5928A57-9A69-ED70-E8C1-410AA6C19317}"/>
              </a:ext>
            </a:extLst>
          </p:cNvPr>
          <p:cNvSpPr/>
          <p:nvPr/>
        </p:nvSpPr>
        <p:spPr>
          <a:xfrm flipH="1">
            <a:off x="1321911" y="5887396"/>
            <a:ext cx="3648674"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AC5DC8FF-BDEF-46F3-77D1-D87F32908E51}"/>
              </a:ext>
            </a:extLst>
          </p:cNvPr>
          <p:cNvGrpSpPr/>
          <p:nvPr/>
        </p:nvGrpSpPr>
        <p:grpSpPr>
          <a:xfrm>
            <a:off x="3499338" y="4431974"/>
            <a:ext cx="4290647" cy="1430813"/>
            <a:chOff x="-7087624" y="546141"/>
            <a:chExt cx="4290647" cy="1430813"/>
          </a:xfrm>
          <a:effectLst>
            <a:glow rad="101600">
              <a:schemeClr val="accent1">
                <a:satMod val="175000"/>
                <a:alpha val="40000"/>
              </a:schemeClr>
            </a:glow>
          </a:effectLst>
        </p:grpSpPr>
        <p:sp>
          <p:nvSpPr>
            <p:cNvPr id="15" name="Rectangle 14">
              <a:extLst>
                <a:ext uri="{FF2B5EF4-FFF2-40B4-BE49-F238E27FC236}">
                  <a16:creationId xmlns:a16="http://schemas.microsoft.com/office/drawing/2014/main" id="{977C4284-9469-AD07-886F-C9E3E192EC72}"/>
                </a:ext>
              </a:extLst>
            </p:cNvPr>
            <p:cNvSpPr/>
            <p:nvPr/>
          </p:nvSpPr>
          <p:spPr>
            <a:xfrm>
              <a:off x="-7087624" y="546141"/>
              <a:ext cx="4290647" cy="100270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‘Alt’ attribute is text displayed in the browser if the image cannot be found or is corrupt. It’s also used for screen readers.</a:t>
              </a:r>
            </a:p>
          </p:txBody>
        </p:sp>
        <p:sp>
          <p:nvSpPr>
            <p:cNvPr id="16" name="Down Arrow 18">
              <a:extLst>
                <a:ext uri="{FF2B5EF4-FFF2-40B4-BE49-F238E27FC236}">
                  <a16:creationId xmlns:a16="http://schemas.microsoft.com/office/drawing/2014/main" id="{EC2A4FDD-7A52-F2F2-131F-0923FE269C92}"/>
                </a:ext>
              </a:extLst>
            </p:cNvPr>
            <p:cNvSpPr/>
            <p:nvPr/>
          </p:nvSpPr>
          <p:spPr>
            <a:xfrm>
              <a:off x="-4674749" y="1544380"/>
              <a:ext cx="569626" cy="432574"/>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7" name="Rectangle 16">
            <a:extLst>
              <a:ext uri="{FF2B5EF4-FFF2-40B4-BE49-F238E27FC236}">
                <a16:creationId xmlns:a16="http://schemas.microsoft.com/office/drawing/2014/main" id="{52CD44F6-C1C2-7E12-7145-0ACF6F5479C6}"/>
              </a:ext>
            </a:extLst>
          </p:cNvPr>
          <p:cNvSpPr/>
          <p:nvPr/>
        </p:nvSpPr>
        <p:spPr>
          <a:xfrm flipH="1">
            <a:off x="4922729" y="5895450"/>
            <a:ext cx="2313904"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72D88C80-0757-7999-6504-A8BEF343FCE2}"/>
              </a:ext>
            </a:extLst>
          </p:cNvPr>
          <p:cNvGrpSpPr/>
          <p:nvPr/>
        </p:nvGrpSpPr>
        <p:grpSpPr>
          <a:xfrm>
            <a:off x="7974570" y="3458433"/>
            <a:ext cx="4080613" cy="2404354"/>
            <a:chOff x="-6999003" y="546141"/>
            <a:chExt cx="4080613" cy="2404354"/>
          </a:xfrm>
          <a:effectLst>
            <a:glow rad="101600">
              <a:schemeClr val="accent1">
                <a:satMod val="175000"/>
                <a:alpha val="40000"/>
              </a:schemeClr>
            </a:glow>
          </a:effectLst>
        </p:grpSpPr>
        <p:sp>
          <p:nvSpPr>
            <p:cNvPr id="19" name="Rectangle 18">
              <a:extLst>
                <a:ext uri="{FF2B5EF4-FFF2-40B4-BE49-F238E27FC236}">
                  <a16:creationId xmlns:a16="http://schemas.microsoft.com/office/drawing/2014/main" id="{B06E8F96-6C46-7125-206D-D89EF6FA58F8}"/>
                </a:ext>
              </a:extLst>
            </p:cNvPr>
            <p:cNvSpPr/>
            <p:nvPr/>
          </p:nvSpPr>
          <p:spPr>
            <a:xfrm>
              <a:off x="-6999003" y="546141"/>
              <a:ext cx="4080613" cy="100270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width and height attributes can also be used here to set the size of the image on screen.</a:t>
              </a:r>
            </a:p>
          </p:txBody>
        </p:sp>
        <p:sp>
          <p:nvSpPr>
            <p:cNvPr id="20" name="Down Arrow 22">
              <a:extLst>
                <a:ext uri="{FF2B5EF4-FFF2-40B4-BE49-F238E27FC236}">
                  <a16:creationId xmlns:a16="http://schemas.microsoft.com/office/drawing/2014/main" id="{B3BA41DF-3352-6A07-4769-524C494F6575}"/>
                </a:ext>
              </a:extLst>
            </p:cNvPr>
            <p:cNvSpPr/>
            <p:nvPr/>
          </p:nvSpPr>
          <p:spPr>
            <a:xfrm>
              <a:off x="-6087167" y="1440381"/>
              <a:ext cx="569626" cy="1510114"/>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1" name="Rectangle 20">
            <a:extLst>
              <a:ext uri="{FF2B5EF4-FFF2-40B4-BE49-F238E27FC236}">
                <a16:creationId xmlns:a16="http://schemas.microsoft.com/office/drawing/2014/main" id="{A2FB5E2D-4523-81AA-6355-8BD37AAAD6A2}"/>
              </a:ext>
            </a:extLst>
          </p:cNvPr>
          <p:cNvSpPr/>
          <p:nvPr/>
        </p:nvSpPr>
        <p:spPr>
          <a:xfrm flipH="1">
            <a:off x="7193580" y="5895880"/>
            <a:ext cx="4081025"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2" name="Group 21">
            <a:extLst>
              <a:ext uri="{FF2B5EF4-FFF2-40B4-BE49-F238E27FC236}">
                <a16:creationId xmlns:a16="http://schemas.microsoft.com/office/drawing/2014/main" id="{0AD4637A-DE02-3DD1-3491-F17E47036B84}"/>
              </a:ext>
            </a:extLst>
          </p:cNvPr>
          <p:cNvGrpSpPr/>
          <p:nvPr/>
        </p:nvGrpSpPr>
        <p:grpSpPr>
          <a:xfrm>
            <a:off x="7844922" y="4634630"/>
            <a:ext cx="4080613" cy="1161091"/>
            <a:chOff x="-6999003" y="877864"/>
            <a:chExt cx="4080613" cy="1161091"/>
          </a:xfrm>
          <a:effectLst>
            <a:glow rad="101600">
              <a:schemeClr val="accent1">
                <a:satMod val="175000"/>
                <a:alpha val="40000"/>
              </a:schemeClr>
            </a:glow>
          </a:effectLst>
        </p:grpSpPr>
        <p:sp>
          <p:nvSpPr>
            <p:cNvPr id="23" name="Rectangle 22">
              <a:extLst>
                <a:ext uri="{FF2B5EF4-FFF2-40B4-BE49-F238E27FC236}">
                  <a16:creationId xmlns:a16="http://schemas.microsoft.com/office/drawing/2014/main" id="{2F1265F7-9176-900E-D61B-7E0CB282E349}"/>
                </a:ext>
              </a:extLst>
            </p:cNvPr>
            <p:cNvSpPr/>
            <p:nvPr/>
          </p:nvSpPr>
          <p:spPr>
            <a:xfrm>
              <a:off x="-6999003" y="877864"/>
              <a:ext cx="4080613" cy="670984"/>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how we show it is self-closing. </a:t>
              </a:r>
            </a:p>
          </p:txBody>
        </p:sp>
        <p:sp>
          <p:nvSpPr>
            <p:cNvPr id="24" name="Down Arrow 10">
              <a:extLst>
                <a:ext uri="{FF2B5EF4-FFF2-40B4-BE49-F238E27FC236}">
                  <a16:creationId xmlns:a16="http://schemas.microsoft.com/office/drawing/2014/main" id="{90F80AB9-EC91-DCBC-AE9F-6A5C4C3E0817}"/>
                </a:ext>
              </a:extLst>
            </p:cNvPr>
            <p:cNvSpPr/>
            <p:nvPr/>
          </p:nvSpPr>
          <p:spPr>
            <a:xfrm>
              <a:off x="-3488016" y="1473285"/>
              <a:ext cx="569626" cy="565670"/>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5" name="Group 24">
            <a:extLst>
              <a:ext uri="{FF2B5EF4-FFF2-40B4-BE49-F238E27FC236}">
                <a16:creationId xmlns:a16="http://schemas.microsoft.com/office/drawing/2014/main" id="{6FCF778C-8DC4-CC38-9E4A-99B1C8DFEC7D}"/>
              </a:ext>
            </a:extLst>
          </p:cNvPr>
          <p:cNvGrpSpPr/>
          <p:nvPr/>
        </p:nvGrpSpPr>
        <p:grpSpPr>
          <a:xfrm>
            <a:off x="5840580" y="89920"/>
            <a:ext cx="6214603" cy="807489"/>
            <a:chOff x="7562344" y="108225"/>
            <a:chExt cx="4781589" cy="807489"/>
          </a:xfrm>
        </p:grpSpPr>
        <p:sp>
          <p:nvSpPr>
            <p:cNvPr id="26" name="Rectangle 25">
              <a:extLst>
                <a:ext uri="{FF2B5EF4-FFF2-40B4-BE49-F238E27FC236}">
                  <a16:creationId xmlns:a16="http://schemas.microsoft.com/office/drawing/2014/main" id="{911920FF-8417-A032-CC28-FC92FFB3D5FC}"/>
                </a:ext>
              </a:extLst>
            </p:cNvPr>
            <p:cNvSpPr/>
            <p:nvPr/>
          </p:nvSpPr>
          <p:spPr>
            <a:xfrm>
              <a:off x="7926507" y="114300"/>
              <a:ext cx="4417426" cy="801414"/>
            </a:xfrm>
            <a:prstGeom prst="rect">
              <a:avLst/>
            </a:prstGeom>
            <a:solidFill>
              <a:schemeClr val="bg1"/>
            </a:solidFill>
            <a:ln w="38100">
              <a:solidFill>
                <a:srgbClr val="71A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66700"/>
              <a:r>
                <a:rPr lang="en-GB" sz="1600" b="1" u="sng" dirty="0">
                  <a:solidFill>
                    <a:schemeClr val="tx1"/>
                  </a:solidFill>
                  <a:latin typeface="Ink Free" panose="03080402000500000000" pitchFamily="66" charset="0"/>
                </a:rPr>
                <a:t>IMG TAG</a:t>
              </a:r>
            </a:p>
            <a:p>
              <a:pPr marL="266700"/>
              <a:r>
                <a:rPr lang="en-GB" sz="1600" dirty="0">
                  <a:solidFill>
                    <a:schemeClr val="tx1"/>
                  </a:solidFill>
                  <a:latin typeface="Ink Free" panose="03080402000500000000" pitchFamily="66" charset="0"/>
                </a:rPr>
                <a:t>Inserts an image into a web page [1] The </a:t>
              </a:r>
              <a:r>
                <a:rPr lang="en-GB" sz="1600" dirty="0" err="1">
                  <a:solidFill>
                    <a:schemeClr val="tx1"/>
                  </a:solidFill>
                  <a:latin typeface="Ink Free" panose="03080402000500000000" pitchFamily="66" charset="0"/>
                </a:rPr>
                <a:t>src</a:t>
              </a:r>
              <a:r>
                <a:rPr lang="en-GB" sz="1600" dirty="0">
                  <a:solidFill>
                    <a:schemeClr val="tx1"/>
                  </a:solidFill>
                  <a:latin typeface="Ink Free" panose="03080402000500000000" pitchFamily="66" charset="0"/>
                </a:rPr>
                <a:t> or URL of the image is specified [1] Alternative text can be specified [1]</a:t>
              </a:r>
            </a:p>
          </p:txBody>
        </p:sp>
        <p:pic>
          <p:nvPicPr>
            <p:cNvPr id="27" name="Picture 26" descr="A grey and green circle with two pages&#10;&#10;AI-generated content may be incorrect.">
              <a:extLst>
                <a:ext uri="{FF2B5EF4-FFF2-40B4-BE49-F238E27FC236}">
                  <a16:creationId xmlns:a16="http://schemas.microsoft.com/office/drawing/2014/main" id="{EE1A22FF-A101-898C-7E35-3BEA78823F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2344" y="108225"/>
              <a:ext cx="640387" cy="751009"/>
            </a:xfrm>
            <a:prstGeom prst="rect">
              <a:avLst/>
            </a:prstGeom>
          </p:spPr>
        </p:pic>
      </p:grpSp>
    </p:spTree>
    <p:extLst>
      <p:ext uri="{BB962C8B-B14F-4D97-AF65-F5344CB8AC3E}">
        <p14:creationId xmlns:p14="http://schemas.microsoft.com/office/powerpoint/2010/main" val="181342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xit" presetSubtype="0" fill="hold" grpId="1" nodeType="withEffect">
                                  <p:stCondLst>
                                    <p:cond delay="0"/>
                                  </p:stCondLst>
                                  <p:childTnLst>
                                    <p:animEffect transition="out" filter="fade">
                                      <p:cBhvr>
                                        <p:cTn id="17" dur="500"/>
                                        <p:tgtEl>
                                          <p:spTgt spid="8"/>
                                        </p:tgtEl>
                                      </p:cBhvr>
                                    </p:animEffect>
                                    <p:set>
                                      <p:cBhvr>
                                        <p:cTn id="18" dur="1" fill="hold">
                                          <p:stCondLst>
                                            <p:cond delay="499"/>
                                          </p:stCondLst>
                                        </p:cTn>
                                        <p:tgtEl>
                                          <p:spTgt spid="8"/>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20" dur="500"/>
                                        <p:tgtEl>
                                          <p:spTgt spid="5"/>
                                        </p:tgtEl>
                                      </p:cBhvr>
                                    </p:animEffect>
                                    <p:set>
                                      <p:cBhvr>
                                        <p:cTn id="21" dur="1" fill="hold">
                                          <p:stCondLst>
                                            <p:cond delay="499"/>
                                          </p:stCondLst>
                                        </p:cTn>
                                        <p:tgtEl>
                                          <p:spTgt spid="5"/>
                                        </p:tgtEl>
                                        <p:attrNameLst>
                                          <p:attrName>style.visibility</p:attrName>
                                        </p:attrNameLst>
                                      </p:cBhvr>
                                      <p:to>
                                        <p:strVal val="hidden"/>
                                      </p:to>
                                    </p:se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xit" presetSubtype="0" fill="hold" grpId="1" nodeType="withEffect">
                                  <p:stCondLst>
                                    <p:cond delay="0"/>
                                  </p:stCondLst>
                                  <p:childTnLst>
                                    <p:animEffect transition="out" filter="fade">
                                      <p:cBhvr>
                                        <p:cTn id="31" dur="500"/>
                                        <p:tgtEl>
                                          <p:spTgt spid="9"/>
                                        </p:tgtEl>
                                      </p:cBhvr>
                                    </p:animEffect>
                                    <p:set>
                                      <p:cBhvr>
                                        <p:cTn id="32" dur="1" fill="hold">
                                          <p:stCondLst>
                                            <p:cond delay="499"/>
                                          </p:stCondLst>
                                        </p:cTn>
                                        <p:tgtEl>
                                          <p:spTgt spid="9"/>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500"/>
                                        <p:tgtEl>
                                          <p:spTgt spid="22"/>
                                        </p:tgtEl>
                                      </p:cBhvr>
                                    </p:animEffect>
                                    <p:set>
                                      <p:cBhvr>
                                        <p:cTn id="35" dur="1" fill="hold">
                                          <p:stCondLst>
                                            <p:cond delay="499"/>
                                          </p:stCondLst>
                                        </p:cTn>
                                        <p:tgtEl>
                                          <p:spTgt spid="22"/>
                                        </p:tgtEl>
                                        <p:attrNameLst>
                                          <p:attrName>style.visibility</p:attrName>
                                        </p:attrNameLst>
                                      </p:cBhvr>
                                      <p:to>
                                        <p:strVal val="hidden"/>
                                      </p:to>
                                    </p:se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xit" presetSubtype="0" fill="hold" grpId="1" nodeType="withEffect">
                                  <p:stCondLst>
                                    <p:cond delay="0"/>
                                  </p:stCondLst>
                                  <p:childTnLst>
                                    <p:animEffect transition="out" filter="fade">
                                      <p:cBhvr>
                                        <p:cTn id="45" dur="500"/>
                                        <p:tgtEl>
                                          <p:spTgt spid="13"/>
                                        </p:tgtEl>
                                      </p:cBhvr>
                                    </p:animEffect>
                                    <p:set>
                                      <p:cBhvr>
                                        <p:cTn id="46" dur="1" fill="hold">
                                          <p:stCondLst>
                                            <p:cond delay="499"/>
                                          </p:stCondLst>
                                        </p:cTn>
                                        <p:tgtEl>
                                          <p:spTgt spid="13"/>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10"/>
                                        </p:tgtEl>
                                      </p:cBhvr>
                                    </p:animEffect>
                                    <p:set>
                                      <p:cBhvr>
                                        <p:cTn id="49" dur="1" fill="hold">
                                          <p:stCondLst>
                                            <p:cond delay="499"/>
                                          </p:stCondLst>
                                        </p:cTn>
                                        <p:tgtEl>
                                          <p:spTgt spid="10"/>
                                        </p:tgtEl>
                                        <p:attrNameLst>
                                          <p:attrName>style.visibility</p:attrName>
                                        </p:attrNameLst>
                                      </p:cBhvr>
                                      <p:to>
                                        <p:strVal val="hidden"/>
                                      </p:to>
                                    </p:se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xit" presetSubtype="0" fill="hold" grpId="1" nodeType="withEffect">
                                  <p:stCondLst>
                                    <p:cond delay="0"/>
                                  </p:stCondLst>
                                  <p:childTnLst>
                                    <p:animEffect transition="out" filter="fade">
                                      <p:cBhvr>
                                        <p:cTn id="62" dur="500"/>
                                        <p:tgtEl>
                                          <p:spTgt spid="17"/>
                                        </p:tgtEl>
                                      </p:cBhvr>
                                    </p:animEffect>
                                    <p:set>
                                      <p:cBhvr>
                                        <p:cTn id="63" dur="1" fill="hold">
                                          <p:stCondLst>
                                            <p:cond delay="499"/>
                                          </p:stCondLst>
                                        </p:cTn>
                                        <p:tgtEl>
                                          <p:spTgt spid="17"/>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500"/>
                                        <p:tgtEl>
                                          <p:spTgt spid="14"/>
                                        </p:tgtEl>
                                      </p:cBhvr>
                                    </p:animEffect>
                                    <p:set>
                                      <p:cBhvr>
                                        <p:cTn id="66"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3" grpId="0" animBg="1"/>
      <p:bldP spid="13" grpId="1" animBg="1"/>
      <p:bldP spid="17" grpId="0" animBg="1"/>
      <p:bldP spid="17" grpId="1"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27A24-8798-1259-35E3-89EAD2C0DCAF}"/>
              </a:ext>
            </a:extLst>
          </p:cNvPr>
          <p:cNvSpPr>
            <a:spLocks noGrp="1"/>
          </p:cNvSpPr>
          <p:nvPr>
            <p:ph type="title"/>
          </p:nvPr>
        </p:nvSpPr>
        <p:spPr>
          <a:xfrm>
            <a:off x="0" y="18255"/>
            <a:ext cx="10515600" cy="1325563"/>
          </a:xfrm>
        </p:spPr>
        <p:txBody>
          <a:bodyPr/>
          <a:lstStyle/>
          <a:p>
            <a:br>
              <a:rPr lang="en-GB" dirty="0"/>
            </a:br>
            <a:r>
              <a:rPr lang="en-GB" dirty="0"/>
              <a:t>The Anchor Tag (Hyperlinks)</a:t>
            </a:r>
          </a:p>
        </p:txBody>
      </p:sp>
      <p:sp>
        <p:nvSpPr>
          <p:cNvPr id="3" name="Content Placeholder 2">
            <a:extLst>
              <a:ext uri="{FF2B5EF4-FFF2-40B4-BE49-F238E27FC236}">
                <a16:creationId xmlns:a16="http://schemas.microsoft.com/office/drawing/2014/main" id="{63DCE1F6-A2D0-DADB-2D6F-A1517BF7FF9F}"/>
              </a:ext>
            </a:extLst>
          </p:cNvPr>
          <p:cNvSpPr>
            <a:spLocks noGrp="1"/>
          </p:cNvSpPr>
          <p:nvPr>
            <p:ph idx="1"/>
          </p:nvPr>
        </p:nvSpPr>
        <p:spPr>
          <a:xfrm>
            <a:off x="823209" y="1641855"/>
            <a:ext cx="10515600" cy="1499466"/>
          </a:xfrm>
        </p:spPr>
        <p:txBody>
          <a:bodyPr/>
          <a:lstStyle/>
          <a:p>
            <a:r>
              <a:rPr lang="en-GB" sz="1800" dirty="0">
                <a:solidFill>
                  <a:srgbClr val="000000"/>
                </a:solidFill>
                <a:effectLst/>
                <a:latin typeface="Arial" panose="020B0604020202020204" pitchFamily="34" charset="0"/>
                <a:ea typeface="Arial" panose="020B0604020202020204" pitchFamily="34" charset="0"/>
              </a:rPr>
              <a:t>The anchor tag is used to create hyperlinks which link to other pages.</a:t>
            </a:r>
          </a:p>
          <a:p>
            <a:r>
              <a:rPr lang="en-GB" sz="1800" dirty="0">
                <a:solidFill>
                  <a:srgbClr val="000000"/>
                </a:solidFill>
                <a:latin typeface="Arial" panose="020B0604020202020204" pitchFamily="34" charset="0"/>
                <a:ea typeface="Arial" panose="020B0604020202020204" pitchFamily="34" charset="0"/>
              </a:rPr>
              <a:t>The </a:t>
            </a:r>
            <a:r>
              <a:rPr lang="en-GB" sz="1800" b="1" dirty="0" err="1">
                <a:solidFill>
                  <a:srgbClr val="000000"/>
                </a:solidFill>
                <a:latin typeface="Arial" panose="020B0604020202020204" pitchFamily="34" charset="0"/>
                <a:ea typeface="Arial" panose="020B0604020202020204" pitchFamily="34" charset="0"/>
              </a:rPr>
              <a:t>href</a:t>
            </a:r>
            <a:r>
              <a:rPr lang="en-GB" sz="1800" dirty="0">
                <a:solidFill>
                  <a:srgbClr val="000000"/>
                </a:solidFill>
                <a:latin typeface="Arial" panose="020B0604020202020204" pitchFamily="34" charset="0"/>
                <a:ea typeface="Arial" panose="020B0604020202020204" pitchFamily="34" charset="0"/>
              </a:rPr>
              <a:t> attribute is used for this to state where the user should go to when the anchor tag is clicked. It’s referred to as “Hyperlink reference”.</a:t>
            </a:r>
          </a:p>
          <a:p>
            <a:endParaRPr lang="en-GB" sz="1800" dirty="0">
              <a:effectLst/>
              <a:latin typeface="Arial" panose="020B0604020202020204" pitchFamily="34" charset="0"/>
              <a:ea typeface="Arial" panose="020B0604020202020204" pitchFamily="34" charset="0"/>
            </a:endParaRPr>
          </a:p>
          <a:p>
            <a:endParaRPr lang="en-GB" dirty="0"/>
          </a:p>
        </p:txBody>
      </p:sp>
      <p:sp>
        <p:nvSpPr>
          <p:cNvPr id="4" name="Content Placeholder 2">
            <a:extLst>
              <a:ext uri="{FF2B5EF4-FFF2-40B4-BE49-F238E27FC236}">
                <a16:creationId xmlns:a16="http://schemas.microsoft.com/office/drawing/2014/main" id="{2D119525-9247-A751-CBAA-E897F7712745}"/>
              </a:ext>
            </a:extLst>
          </p:cNvPr>
          <p:cNvSpPr txBox="1">
            <a:spLocks/>
          </p:cNvSpPr>
          <p:nvPr/>
        </p:nvSpPr>
        <p:spPr>
          <a:xfrm>
            <a:off x="154898" y="5879342"/>
            <a:ext cx="11852222" cy="59960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FFC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FFC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FC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FFC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FFC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3600" dirty="0">
                <a:solidFill>
                  <a:srgbClr val="7030A0"/>
                </a:solidFill>
              </a:rPr>
              <a:t>&lt;a href=“https://www.google.com”&gt;Click Here to go to Google&lt;/a&gt;</a:t>
            </a:r>
          </a:p>
        </p:txBody>
      </p:sp>
      <p:grpSp>
        <p:nvGrpSpPr>
          <p:cNvPr id="5" name="Group 4">
            <a:extLst>
              <a:ext uri="{FF2B5EF4-FFF2-40B4-BE49-F238E27FC236}">
                <a16:creationId xmlns:a16="http://schemas.microsoft.com/office/drawing/2014/main" id="{12B74D45-51E1-A634-3B2F-34E29348E9F6}"/>
              </a:ext>
            </a:extLst>
          </p:cNvPr>
          <p:cNvGrpSpPr/>
          <p:nvPr/>
        </p:nvGrpSpPr>
        <p:grpSpPr>
          <a:xfrm>
            <a:off x="154898" y="3867462"/>
            <a:ext cx="2168577" cy="2011878"/>
            <a:chOff x="169889" y="1690688"/>
            <a:chExt cx="2168577" cy="2011878"/>
          </a:xfrm>
          <a:effectLst>
            <a:glow rad="63500">
              <a:schemeClr val="accent4">
                <a:satMod val="175000"/>
                <a:alpha val="40000"/>
              </a:schemeClr>
            </a:glow>
          </a:effectLst>
        </p:grpSpPr>
        <p:sp>
          <p:nvSpPr>
            <p:cNvPr id="6" name="Rectangle 5">
              <a:extLst>
                <a:ext uri="{FF2B5EF4-FFF2-40B4-BE49-F238E27FC236}">
                  <a16:creationId xmlns:a16="http://schemas.microsoft.com/office/drawing/2014/main" id="{76E2AAA0-C96D-8E4D-9FCF-58EE1FB63BD8}"/>
                </a:ext>
              </a:extLst>
            </p:cNvPr>
            <p:cNvSpPr/>
            <p:nvPr/>
          </p:nvSpPr>
          <p:spPr>
            <a:xfrm>
              <a:off x="169889" y="1690688"/>
              <a:ext cx="2168577" cy="133412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still an opening tag. As said, this is an &lt;a&gt; tag.</a:t>
              </a:r>
            </a:p>
          </p:txBody>
        </p:sp>
        <p:sp>
          <p:nvSpPr>
            <p:cNvPr id="7" name="Down Arrow 6">
              <a:extLst>
                <a:ext uri="{FF2B5EF4-FFF2-40B4-BE49-F238E27FC236}">
                  <a16:creationId xmlns:a16="http://schemas.microsoft.com/office/drawing/2014/main" id="{8DC6E2EC-5403-CE07-C576-E032A0D17C5F}"/>
                </a:ext>
              </a:extLst>
            </p:cNvPr>
            <p:cNvSpPr/>
            <p:nvPr/>
          </p:nvSpPr>
          <p:spPr>
            <a:xfrm>
              <a:off x="407233" y="3016249"/>
              <a:ext cx="569626" cy="686317"/>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 name="Rectangle 7">
            <a:extLst>
              <a:ext uri="{FF2B5EF4-FFF2-40B4-BE49-F238E27FC236}">
                <a16:creationId xmlns:a16="http://schemas.microsoft.com/office/drawing/2014/main" id="{6071FBD8-4540-F928-0C55-7073259CECB7}"/>
              </a:ext>
            </a:extLst>
          </p:cNvPr>
          <p:cNvSpPr/>
          <p:nvPr/>
        </p:nvSpPr>
        <p:spPr>
          <a:xfrm>
            <a:off x="392243" y="5879341"/>
            <a:ext cx="445958"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BA5B0A0B-3AAC-933A-3C79-7EAF998E7EF9}"/>
              </a:ext>
            </a:extLst>
          </p:cNvPr>
          <p:cNvGrpSpPr/>
          <p:nvPr/>
        </p:nvGrpSpPr>
        <p:grpSpPr>
          <a:xfrm>
            <a:off x="7926507" y="2456088"/>
            <a:ext cx="4080613" cy="3359499"/>
            <a:chOff x="458086" y="279314"/>
            <a:chExt cx="4080613" cy="3359499"/>
          </a:xfrm>
          <a:effectLst>
            <a:glow rad="63500">
              <a:schemeClr val="accent4">
                <a:satMod val="175000"/>
                <a:alpha val="40000"/>
              </a:schemeClr>
            </a:glow>
          </a:effectLst>
        </p:grpSpPr>
        <p:sp>
          <p:nvSpPr>
            <p:cNvPr id="10" name="Rectangle 9">
              <a:extLst>
                <a:ext uri="{FF2B5EF4-FFF2-40B4-BE49-F238E27FC236}">
                  <a16:creationId xmlns:a16="http://schemas.microsoft.com/office/drawing/2014/main" id="{F11FEFCC-8BEC-E0F8-60FD-062C80EFA871}"/>
                </a:ext>
              </a:extLst>
            </p:cNvPr>
            <p:cNvSpPr/>
            <p:nvPr/>
          </p:nvSpPr>
          <p:spPr>
            <a:xfrm>
              <a:off x="458086" y="279314"/>
              <a:ext cx="4080613" cy="133412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There is still the end tag.</a:t>
              </a:r>
            </a:p>
          </p:txBody>
        </p:sp>
        <p:sp>
          <p:nvSpPr>
            <p:cNvPr id="11" name="Down Arrow 10">
              <a:extLst>
                <a:ext uri="{FF2B5EF4-FFF2-40B4-BE49-F238E27FC236}">
                  <a16:creationId xmlns:a16="http://schemas.microsoft.com/office/drawing/2014/main" id="{7AECE024-D748-990E-F7C9-A5C26C0C9248}"/>
                </a:ext>
              </a:extLst>
            </p:cNvPr>
            <p:cNvSpPr/>
            <p:nvPr/>
          </p:nvSpPr>
          <p:spPr>
            <a:xfrm>
              <a:off x="3684261" y="1506791"/>
              <a:ext cx="569626" cy="2132022"/>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Rectangle 11">
            <a:extLst>
              <a:ext uri="{FF2B5EF4-FFF2-40B4-BE49-F238E27FC236}">
                <a16:creationId xmlns:a16="http://schemas.microsoft.com/office/drawing/2014/main" id="{EF509AD2-E844-14D1-4889-D5BA19AF37C7}"/>
              </a:ext>
            </a:extLst>
          </p:cNvPr>
          <p:cNvSpPr/>
          <p:nvPr/>
        </p:nvSpPr>
        <p:spPr>
          <a:xfrm flipH="1">
            <a:off x="10988841" y="5879341"/>
            <a:ext cx="967425"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3" name="Group 12">
            <a:extLst>
              <a:ext uri="{FF2B5EF4-FFF2-40B4-BE49-F238E27FC236}">
                <a16:creationId xmlns:a16="http://schemas.microsoft.com/office/drawing/2014/main" id="{5565D5F3-888C-99E7-26FA-D6BC19850F34}"/>
              </a:ext>
            </a:extLst>
          </p:cNvPr>
          <p:cNvGrpSpPr/>
          <p:nvPr/>
        </p:nvGrpSpPr>
        <p:grpSpPr>
          <a:xfrm>
            <a:off x="6838081" y="3917298"/>
            <a:ext cx="4354775" cy="1920977"/>
            <a:chOff x="-232049" y="1690688"/>
            <a:chExt cx="4354775" cy="1920977"/>
          </a:xfrm>
          <a:effectLst>
            <a:glow rad="63500">
              <a:schemeClr val="accent4">
                <a:satMod val="175000"/>
                <a:alpha val="40000"/>
              </a:schemeClr>
            </a:glow>
          </a:effectLst>
        </p:grpSpPr>
        <p:sp>
          <p:nvSpPr>
            <p:cNvPr id="14" name="Rectangle 13">
              <a:extLst>
                <a:ext uri="{FF2B5EF4-FFF2-40B4-BE49-F238E27FC236}">
                  <a16:creationId xmlns:a16="http://schemas.microsoft.com/office/drawing/2014/main" id="{F3FAE91C-0A54-FF32-10DA-249F4A0AD431}"/>
                </a:ext>
              </a:extLst>
            </p:cNvPr>
            <p:cNvSpPr/>
            <p:nvPr/>
          </p:nvSpPr>
          <p:spPr>
            <a:xfrm>
              <a:off x="-232049" y="1690688"/>
              <a:ext cx="4354775" cy="133412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text displayed on screen is still placed between the start tag and the end tag, and will actually be displayed in the browser.</a:t>
              </a:r>
            </a:p>
          </p:txBody>
        </p:sp>
        <p:sp>
          <p:nvSpPr>
            <p:cNvPr id="15" name="Down Arrow 17">
              <a:extLst>
                <a:ext uri="{FF2B5EF4-FFF2-40B4-BE49-F238E27FC236}">
                  <a16:creationId xmlns:a16="http://schemas.microsoft.com/office/drawing/2014/main" id="{F77DFCF5-95C2-3ABC-9090-29C2623BEB8B}"/>
                </a:ext>
              </a:extLst>
            </p:cNvPr>
            <p:cNvSpPr/>
            <p:nvPr/>
          </p:nvSpPr>
          <p:spPr>
            <a:xfrm>
              <a:off x="1660525" y="2925348"/>
              <a:ext cx="569626" cy="686317"/>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6" name="Rectangle 15">
            <a:extLst>
              <a:ext uri="{FF2B5EF4-FFF2-40B4-BE49-F238E27FC236}">
                <a16:creationId xmlns:a16="http://schemas.microsoft.com/office/drawing/2014/main" id="{B90B4281-7C4C-428C-3F71-AC8525E2D144}"/>
              </a:ext>
            </a:extLst>
          </p:cNvPr>
          <p:cNvSpPr/>
          <p:nvPr/>
        </p:nvSpPr>
        <p:spPr>
          <a:xfrm flipH="1">
            <a:off x="6513095" y="5879341"/>
            <a:ext cx="4515920"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9E303B9F-B2A4-F827-B7B0-C9CE1BBE5493}"/>
              </a:ext>
            </a:extLst>
          </p:cNvPr>
          <p:cNvSpPr/>
          <p:nvPr/>
        </p:nvSpPr>
        <p:spPr>
          <a:xfrm flipH="1">
            <a:off x="838200" y="5879340"/>
            <a:ext cx="5562600" cy="5996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A81656F4-71DC-FE81-0E0D-D826511CEE80}"/>
              </a:ext>
            </a:extLst>
          </p:cNvPr>
          <p:cNvGrpSpPr/>
          <p:nvPr/>
        </p:nvGrpSpPr>
        <p:grpSpPr>
          <a:xfrm>
            <a:off x="2415058" y="3825664"/>
            <a:ext cx="4354775" cy="2001187"/>
            <a:chOff x="-232049" y="1690688"/>
            <a:chExt cx="4354775" cy="2001187"/>
          </a:xfrm>
          <a:effectLst>
            <a:glow rad="63500">
              <a:schemeClr val="accent4">
                <a:satMod val="175000"/>
                <a:alpha val="40000"/>
              </a:schemeClr>
            </a:glow>
          </a:effectLst>
        </p:grpSpPr>
        <p:sp>
          <p:nvSpPr>
            <p:cNvPr id="19" name="Rectangle 18">
              <a:extLst>
                <a:ext uri="{FF2B5EF4-FFF2-40B4-BE49-F238E27FC236}">
                  <a16:creationId xmlns:a16="http://schemas.microsoft.com/office/drawing/2014/main" id="{B384ED9E-E401-9D60-C7EE-68DA09C73D17}"/>
                </a:ext>
              </a:extLst>
            </p:cNvPr>
            <p:cNvSpPr/>
            <p:nvPr/>
          </p:nvSpPr>
          <p:spPr>
            <a:xfrm>
              <a:off x="-232049" y="1690688"/>
              <a:ext cx="4354775" cy="133412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href attribute is used to say the </a:t>
              </a:r>
              <a:r>
                <a:rPr lang="en-GB" b="1" dirty="0"/>
                <a:t>destination</a:t>
              </a:r>
              <a:r>
                <a:rPr lang="en-GB" dirty="0"/>
                <a:t> i.e. where we will go when we press the link. It is </a:t>
              </a:r>
              <a:r>
                <a:rPr lang="en-GB" b="1" dirty="0"/>
                <a:t>not displayed</a:t>
              </a:r>
              <a:r>
                <a:rPr lang="en-GB" dirty="0"/>
                <a:t> in the browser. It is just the instruction of ‘where to go’</a:t>
              </a:r>
            </a:p>
          </p:txBody>
        </p:sp>
        <p:sp>
          <p:nvSpPr>
            <p:cNvPr id="20" name="Down Arrow 22">
              <a:extLst>
                <a:ext uri="{FF2B5EF4-FFF2-40B4-BE49-F238E27FC236}">
                  <a16:creationId xmlns:a16="http://schemas.microsoft.com/office/drawing/2014/main" id="{4A7D7811-7620-D824-35C6-8D303764443F}"/>
                </a:ext>
              </a:extLst>
            </p:cNvPr>
            <p:cNvSpPr/>
            <p:nvPr/>
          </p:nvSpPr>
          <p:spPr>
            <a:xfrm>
              <a:off x="1660525" y="3005558"/>
              <a:ext cx="569626" cy="686317"/>
            </a:xfrm>
            <a:prstGeom prst="downArrow">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 name="Group 23">
            <a:extLst>
              <a:ext uri="{FF2B5EF4-FFF2-40B4-BE49-F238E27FC236}">
                <a16:creationId xmlns:a16="http://schemas.microsoft.com/office/drawing/2014/main" id="{A07B93DD-9086-4585-F34C-A92767DA0B2C}"/>
              </a:ext>
            </a:extLst>
          </p:cNvPr>
          <p:cNvGrpSpPr/>
          <p:nvPr/>
        </p:nvGrpSpPr>
        <p:grpSpPr>
          <a:xfrm>
            <a:off x="7451723" y="108225"/>
            <a:ext cx="4555397" cy="807489"/>
            <a:chOff x="7451723" y="108225"/>
            <a:chExt cx="4555397" cy="807489"/>
          </a:xfrm>
        </p:grpSpPr>
        <p:sp>
          <p:nvSpPr>
            <p:cNvPr id="23" name="Rectangle 22">
              <a:extLst>
                <a:ext uri="{FF2B5EF4-FFF2-40B4-BE49-F238E27FC236}">
                  <a16:creationId xmlns:a16="http://schemas.microsoft.com/office/drawing/2014/main" id="{22111349-55EC-F167-2BDA-FDBE91B6F16B}"/>
                </a:ext>
              </a:extLst>
            </p:cNvPr>
            <p:cNvSpPr/>
            <p:nvPr/>
          </p:nvSpPr>
          <p:spPr>
            <a:xfrm>
              <a:off x="7926507" y="114300"/>
              <a:ext cx="4080613" cy="801414"/>
            </a:xfrm>
            <a:prstGeom prst="rect">
              <a:avLst/>
            </a:prstGeom>
            <a:solidFill>
              <a:schemeClr val="bg1"/>
            </a:solidFill>
            <a:ln w="38100">
              <a:solidFill>
                <a:srgbClr val="71A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66700"/>
              <a:r>
                <a:rPr lang="en-GB" sz="1600" b="1" u="sng" dirty="0">
                  <a:solidFill>
                    <a:schemeClr val="tx1"/>
                  </a:solidFill>
                  <a:latin typeface="Ink Free" panose="03080402000500000000" pitchFamily="66" charset="0"/>
                </a:rPr>
                <a:t>ANCHOR TAG</a:t>
              </a:r>
            </a:p>
            <a:p>
              <a:pPr marL="266700"/>
              <a:r>
                <a:rPr lang="en-GB" sz="1600" dirty="0">
                  <a:solidFill>
                    <a:schemeClr val="tx1"/>
                  </a:solidFill>
                  <a:latin typeface="Ink Free" panose="03080402000500000000" pitchFamily="66" charset="0"/>
                </a:rPr>
                <a:t>Specifies or identifies a link to another page or part of a webpage.</a:t>
              </a:r>
            </a:p>
          </p:txBody>
        </p:sp>
        <p:pic>
          <p:nvPicPr>
            <p:cNvPr id="22" name="Picture 21" descr="A grey and green circle with two pages&#10;&#10;AI-generated content may be incorrect.">
              <a:extLst>
                <a:ext uri="{FF2B5EF4-FFF2-40B4-BE49-F238E27FC236}">
                  <a16:creationId xmlns:a16="http://schemas.microsoft.com/office/drawing/2014/main" id="{8FA68548-149C-C10F-D9AF-375E61094C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1723" y="108225"/>
              <a:ext cx="751009" cy="751009"/>
            </a:xfrm>
            <a:prstGeom prst="rect">
              <a:avLst/>
            </a:prstGeom>
          </p:spPr>
        </p:pic>
      </p:grpSp>
    </p:spTree>
    <p:extLst>
      <p:ext uri="{BB962C8B-B14F-4D97-AF65-F5344CB8AC3E}">
        <p14:creationId xmlns:p14="http://schemas.microsoft.com/office/powerpoint/2010/main" val="376993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xit" presetSubtype="0" fill="hold" nodeType="withEffect">
                                  <p:stCondLst>
                                    <p:cond delay="0"/>
                                  </p:stCondLst>
                                  <p:childTnLst>
                                    <p:animEffect transition="out" filter="fade">
                                      <p:cBhvr>
                                        <p:cTn id="20" dur="500"/>
                                        <p:tgtEl>
                                          <p:spTgt spid="5"/>
                                        </p:tgtEl>
                                      </p:cBhvr>
                                    </p:animEffect>
                                    <p:set>
                                      <p:cBhvr>
                                        <p:cTn id="21" dur="1" fill="hold">
                                          <p:stCondLst>
                                            <p:cond delay="499"/>
                                          </p:stCondLst>
                                        </p:cTn>
                                        <p:tgtEl>
                                          <p:spTgt spid="5"/>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8"/>
                                        </p:tgtEl>
                                      </p:cBhvr>
                                    </p:animEffect>
                                    <p:set>
                                      <p:cBhvr>
                                        <p:cTn id="24" dur="1" fill="hold">
                                          <p:stCondLst>
                                            <p:cond delay="499"/>
                                          </p:stCondLst>
                                        </p:cTn>
                                        <p:tgtEl>
                                          <p:spTgt spid="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xit" presetSubtype="0" fill="hold" grpId="1" nodeType="withEffect">
                                  <p:stCondLst>
                                    <p:cond delay="0"/>
                                  </p:stCondLst>
                                  <p:childTnLst>
                                    <p:animEffect transition="out" filter="fade">
                                      <p:cBhvr>
                                        <p:cTn id="34" dur="500"/>
                                        <p:tgtEl>
                                          <p:spTgt spid="12"/>
                                        </p:tgtEl>
                                      </p:cBhvr>
                                    </p:animEffect>
                                    <p:set>
                                      <p:cBhvr>
                                        <p:cTn id="35" dur="1" fill="hold">
                                          <p:stCondLst>
                                            <p:cond delay="499"/>
                                          </p:stCondLst>
                                        </p:cTn>
                                        <p:tgtEl>
                                          <p:spTgt spid="12"/>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9"/>
                                        </p:tgtEl>
                                      </p:cBhvr>
                                    </p:animEffect>
                                    <p:set>
                                      <p:cBhvr>
                                        <p:cTn id="38" dur="1" fill="hold">
                                          <p:stCondLst>
                                            <p:cond delay="499"/>
                                          </p:stCondLst>
                                        </p:cTn>
                                        <p:tgtEl>
                                          <p:spTgt spid="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xit" presetSubtype="0" fill="hold" grpId="1" nodeType="withEffect">
                                  <p:stCondLst>
                                    <p:cond delay="0"/>
                                  </p:stCondLst>
                                  <p:childTnLst>
                                    <p:animEffect transition="out" filter="fade">
                                      <p:cBhvr>
                                        <p:cTn id="48" dur="500"/>
                                        <p:tgtEl>
                                          <p:spTgt spid="16"/>
                                        </p:tgtEl>
                                      </p:cBhvr>
                                    </p:animEffect>
                                    <p:set>
                                      <p:cBhvr>
                                        <p:cTn id="49" dur="1" fill="hold">
                                          <p:stCondLst>
                                            <p:cond delay="499"/>
                                          </p:stCondLst>
                                        </p:cTn>
                                        <p:tgtEl>
                                          <p:spTgt spid="16"/>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13"/>
                                        </p:tgtEl>
                                      </p:cBhvr>
                                    </p:animEffect>
                                    <p:set>
                                      <p:cBhvr>
                                        <p:cTn id="5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2" grpId="0" animBg="1"/>
      <p:bldP spid="12" grpId="1" animBg="1"/>
      <p:bldP spid="16" grpId="0" animBg="1"/>
      <p:bldP spid="16" grpId="1"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6667A-2A2D-389E-A079-9B00496C4576}"/>
              </a:ext>
            </a:extLst>
          </p:cNvPr>
          <p:cNvSpPr>
            <a:spLocks noGrp="1"/>
          </p:cNvSpPr>
          <p:nvPr>
            <p:ph type="title"/>
          </p:nvPr>
        </p:nvSpPr>
        <p:spPr>
          <a:xfrm>
            <a:off x="0" y="0"/>
            <a:ext cx="10515600" cy="1325563"/>
          </a:xfrm>
        </p:spPr>
        <p:txBody>
          <a:bodyPr/>
          <a:lstStyle/>
          <a:p>
            <a:r>
              <a:rPr lang="en-GB" dirty="0"/>
              <a:t>Hyperlinks</a:t>
            </a:r>
          </a:p>
        </p:txBody>
      </p:sp>
      <p:sp>
        <p:nvSpPr>
          <p:cNvPr id="3" name="Content Placeholder 2">
            <a:extLst>
              <a:ext uri="{FF2B5EF4-FFF2-40B4-BE49-F238E27FC236}">
                <a16:creationId xmlns:a16="http://schemas.microsoft.com/office/drawing/2014/main" id="{215E9A4B-44D8-2125-8B15-FD2FCA38F78B}"/>
              </a:ext>
            </a:extLst>
          </p:cNvPr>
          <p:cNvSpPr>
            <a:spLocks noGrp="1"/>
          </p:cNvSpPr>
          <p:nvPr>
            <p:ph idx="1"/>
          </p:nvPr>
        </p:nvSpPr>
        <p:spPr>
          <a:xfrm>
            <a:off x="158173" y="1183822"/>
            <a:ext cx="11854582" cy="2771434"/>
          </a:xfrm>
        </p:spPr>
        <p:txBody>
          <a:bodyPr>
            <a:normAutofit/>
          </a:bodyPr>
          <a:lstStyle/>
          <a:p>
            <a:r>
              <a:rPr lang="en-GB" sz="2400" dirty="0">
                <a:solidFill>
                  <a:srgbClr val="000000"/>
                </a:solidFill>
                <a:effectLst/>
                <a:latin typeface="Calibri" panose="020F0502020204030204" pitchFamily="34" charset="0"/>
                <a:ea typeface="Calibri" panose="020F0502020204030204" pitchFamily="34" charset="0"/>
              </a:rPr>
              <a:t>There are other attributes used in anchor tags to get them to achieve specific behaviours:</a:t>
            </a:r>
          </a:p>
          <a:p>
            <a:pPr lvl="1"/>
            <a:r>
              <a:rPr lang="en-GB" sz="1800" dirty="0">
                <a:solidFill>
                  <a:srgbClr val="000000"/>
                </a:solidFill>
                <a:latin typeface="Calibri" panose="020F0502020204030204" pitchFamily="34" charset="0"/>
                <a:ea typeface="Calibri" panose="020F0502020204030204" pitchFamily="34" charset="0"/>
              </a:rPr>
              <a:t>The </a:t>
            </a:r>
            <a:r>
              <a:rPr lang="en-GB" sz="1800" b="1" dirty="0">
                <a:solidFill>
                  <a:srgbClr val="000000"/>
                </a:solidFill>
                <a:latin typeface="Calibri" panose="020F0502020204030204" pitchFamily="34" charset="0"/>
                <a:ea typeface="Calibri" panose="020F0502020204030204" pitchFamily="34" charset="0"/>
              </a:rPr>
              <a:t>target</a:t>
            </a:r>
            <a:r>
              <a:rPr lang="en-GB" sz="1800" dirty="0">
                <a:solidFill>
                  <a:srgbClr val="000000"/>
                </a:solidFill>
                <a:latin typeface="Calibri" panose="020F0502020204030204" pitchFamily="34" charset="0"/>
                <a:ea typeface="Calibri" panose="020F0502020204030204" pitchFamily="34" charset="0"/>
              </a:rPr>
              <a:t> attribute specified where to open the page.</a:t>
            </a:r>
          </a:p>
          <a:p>
            <a:pPr lvl="2"/>
            <a:r>
              <a:rPr lang="en-GB" sz="1100" dirty="0">
                <a:solidFill>
                  <a:srgbClr val="000000"/>
                </a:solidFill>
                <a:effectLst/>
                <a:latin typeface="Calibri" panose="020F0502020204030204" pitchFamily="34" charset="0"/>
                <a:ea typeface="Calibri" panose="020F0502020204030204" pitchFamily="34" charset="0"/>
              </a:rPr>
              <a:t>Target=“_blank” </a:t>
            </a:r>
            <a:r>
              <a:rPr lang="en-GB" sz="1100" dirty="0">
                <a:solidFill>
                  <a:srgbClr val="000000"/>
                </a:solidFill>
                <a:latin typeface="Calibri" panose="020F0502020204030204" pitchFamily="34" charset="0"/>
                <a:ea typeface="Calibri" panose="020F0502020204030204" pitchFamily="34" charset="0"/>
              </a:rPr>
              <a:t>can be added to make the hyperlink open in a new browser window or tab</a:t>
            </a:r>
            <a:r>
              <a:rPr lang="en-GB" sz="1100" dirty="0">
                <a:solidFill>
                  <a:srgbClr val="000000"/>
                </a:solidFill>
                <a:effectLst/>
                <a:latin typeface="Calibri" panose="020F0502020204030204" pitchFamily="34" charset="0"/>
                <a:ea typeface="Calibri" panose="020F0502020204030204" pitchFamily="34" charset="0"/>
              </a:rPr>
              <a:t> </a:t>
            </a:r>
          </a:p>
          <a:p>
            <a:pPr lvl="1"/>
            <a:r>
              <a:rPr lang="en-GB" sz="1800" dirty="0">
                <a:solidFill>
                  <a:srgbClr val="000000"/>
                </a:solidFill>
                <a:latin typeface="Calibri" panose="020F0502020204030204" pitchFamily="34" charset="0"/>
              </a:rPr>
              <a:t>Images can also be used as hyperlinks by wrapping an image tag in an anchor tag.</a:t>
            </a:r>
          </a:p>
        </p:txBody>
      </p:sp>
      <p:sp>
        <p:nvSpPr>
          <p:cNvPr id="5" name="TextBox 4">
            <a:extLst>
              <a:ext uri="{FF2B5EF4-FFF2-40B4-BE49-F238E27FC236}">
                <a16:creationId xmlns:a16="http://schemas.microsoft.com/office/drawing/2014/main" id="{B51B4FC7-75ED-39D7-01A8-38743F12E665}"/>
              </a:ext>
            </a:extLst>
          </p:cNvPr>
          <p:cNvSpPr txBox="1"/>
          <p:nvPr/>
        </p:nvSpPr>
        <p:spPr>
          <a:xfrm>
            <a:off x="158173" y="3493366"/>
            <a:ext cx="8903854" cy="646331"/>
          </a:xfrm>
          <a:prstGeom prst="rect">
            <a:avLst/>
          </a:prstGeom>
          <a:noFill/>
        </p:spPr>
        <p:txBody>
          <a:bodyPr wrap="square" rtlCol="0">
            <a:spAutoFit/>
          </a:bodyPr>
          <a:lstStyle/>
          <a:p>
            <a:r>
              <a:rPr lang="en-GB" sz="1800" dirty="0">
                <a:solidFill>
                  <a:srgbClr val="7030A0"/>
                </a:solidFill>
              </a:rPr>
              <a:t>&lt;a </a:t>
            </a:r>
            <a:r>
              <a:rPr lang="en-GB" sz="1800" dirty="0" err="1">
                <a:solidFill>
                  <a:srgbClr val="7030A0"/>
                </a:solidFill>
              </a:rPr>
              <a:t>href</a:t>
            </a:r>
            <a:r>
              <a:rPr lang="en-GB" sz="1800" dirty="0">
                <a:solidFill>
                  <a:srgbClr val="7030A0"/>
                </a:solidFill>
              </a:rPr>
              <a:t>=“https://www.google.com”&gt;Click here to go to Google&lt;/a&gt;</a:t>
            </a:r>
          </a:p>
          <a:p>
            <a:endParaRPr lang="en-GB" dirty="0"/>
          </a:p>
        </p:txBody>
      </p:sp>
      <p:sp>
        <p:nvSpPr>
          <p:cNvPr id="6" name="TextBox 5">
            <a:extLst>
              <a:ext uri="{FF2B5EF4-FFF2-40B4-BE49-F238E27FC236}">
                <a16:creationId xmlns:a16="http://schemas.microsoft.com/office/drawing/2014/main" id="{D303D453-02F6-7813-8D64-31965482B8B9}"/>
              </a:ext>
            </a:extLst>
          </p:cNvPr>
          <p:cNvSpPr txBox="1"/>
          <p:nvPr/>
        </p:nvSpPr>
        <p:spPr>
          <a:xfrm>
            <a:off x="158173" y="4053069"/>
            <a:ext cx="8903854" cy="646331"/>
          </a:xfrm>
          <a:prstGeom prst="rect">
            <a:avLst/>
          </a:prstGeom>
          <a:noFill/>
        </p:spPr>
        <p:txBody>
          <a:bodyPr wrap="square" rtlCol="0">
            <a:spAutoFit/>
          </a:bodyPr>
          <a:lstStyle/>
          <a:p>
            <a:r>
              <a:rPr lang="en-GB" sz="1800" dirty="0">
                <a:solidFill>
                  <a:srgbClr val="7030A0"/>
                </a:solidFill>
              </a:rPr>
              <a:t>&lt;a </a:t>
            </a:r>
            <a:r>
              <a:rPr lang="en-GB" sz="1800" dirty="0" err="1">
                <a:solidFill>
                  <a:srgbClr val="7030A0"/>
                </a:solidFill>
              </a:rPr>
              <a:t>href</a:t>
            </a:r>
            <a:r>
              <a:rPr lang="en-GB" sz="1800" dirty="0">
                <a:solidFill>
                  <a:srgbClr val="7030A0"/>
                </a:solidFill>
              </a:rPr>
              <a:t>=https://www.google.com target=“_blank”&gt;Click here to go to Google&lt;/a&gt;</a:t>
            </a:r>
          </a:p>
          <a:p>
            <a:endParaRPr lang="en-GB" dirty="0"/>
          </a:p>
        </p:txBody>
      </p:sp>
      <p:sp>
        <p:nvSpPr>
          <p:cNvPr id="7" name="TextBox 6">
            <a:extLst>
              <a:ext uri="{FF2B5EF4-FFF2-40B4-BE49-F238E27FC236}">
                <a16:creationId xmlns:a16="http://schemas.microsoft.com/office/drawing/2014/main" id="{FC98E7F8-71E4-DF43-990F-F508B0610546}"/>
              </a:ext>
            </a:extLst>
          </p:cNvPr>
          <p:cNvSpPr txBox="1"/>
          <p:nvPr/>
        </p:nvSpPr>
        <p:spPr>
          <a:xfrm>
            <a:off x="158173" y="5207180"/>
            <a:ext cx="8903854" cy="1200329"/>
          </a:xfrm>
          <a:prstGeom prst="rect">
            <a:avLst/>
          </a:prstGeom>
          <a:noFill/>
        </p:spPr>
        <p:txBody>
          <a:bodyPr wrap="square" rtlCol="0">
            <a:spAutoFit/>
          </a:bodyPr>
          <a:lstStyle/>
          <a:p>
            <a:r>
              <a:rPr lang="en-GB" sz="1800" dirty="0">
                <a:solidFill>
                  <a:srgbClr val="7030A0"/>
                </a:solidFill>
              </a:rPr>
              <a:t>&lt;a </a:t>
            </a:r>
            <a:r>
              <a:rPr lang="en-GB" sz="1800" dirty="0" err="1">
                <a:solidFill>
                  <a:srgbClr val="7030A0"/>
                </a:solidFill>
              </a:rPr>
              <a:t>href</a:t>
            </a:r>
            <a:r>
              <a:rPr lang="en-GB" sz="1800" dirty="0">
                <a:solidFill>
                  <a:srgbClr val="7030A0"/>
                </a:solidFill>
              </a:rPr>
              <a:t>=https://www.google.com target=“_blank”&gt;</a:t>
            </a:r>
          </a:p>
          <a:p>
            <a:r>
              <a:rPr lang="en-GB" sz="1800" dirty="0">
                <a:solidFill>
                  <a:srgbClr val="7030A0"/>
                </a:solidFill>
              </a:rPr>
              <a:t>	&lt;img src=“C:/Users/</a:t>
            </a:r>
            <a:r>
              <a:rPr lang="en-GB" sz="1800" dirty="0" err="1">
                <a:solidFill>
                  <a:srgbClr val="7030A0"/>
                </a:solidFill>
              </a:rPr>
              <a:t>jb</a:t>
            </a:r>
            <a:r>
              <a:rPr lang="en-GB" sz="1800" dirty="0">
                <a:solidFill>
                  <a:srgbClr val="7030A0"/>
                </a:solidFill>
              </a:rPr>
              <a:t>/oscar.jpeg” alt=“Oscar” height=128 width=64 /&gt;</a:t>
            </a:r>
          </a:p>
          <a:p>
            <a:r>
              <a:rPr lang="en-GB" sz="1800" dirty="0">
                <a:solidFill>
                  <a:srgbClr val="7030A0"/>
                </a:solidFill>
              </a:rPr>
              <a:t>&lt;/a&gt;</a:t>
            </a:r>
          </a:p>
          <a:p>
            <a:endParaRPr lang="en-GB" dirty="0"/>
          </a:p>
        </p:txBody>
      </p:sp>
      <p:pic>
        <p:nvPicPr>
          <p:cNvPr id="9" name="Picture 8" descr="A dog sitting on grass&#10;&#10;Description automatically generated">
            <a:hlinkClick r:id="rId2"/>
            <a:extLst>
              <a:ext uri="{FF2B5EF4-FFF2-40B4-BE49-F238E27FC236}">
                <a16:creationId xmlns:a16="http://schemas.microsoft.com/office/drawing/2014/main" id="{7A9947C0-082F-96CC-4498-2B0D56FB9D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13454" y="3628621"/>
            <a:ext cx="1823603" cy="2431470"/>
          </a:xfrm>
          <a:prstGeom prst="rect">
            <a:avLst/>
          </a:prstGeom>
        </p:spPr>
      </p:pic>
      <p:sp>
        <p:nvSpPr>
          <p:cNvPr id="10" name="TextBox 9">
            <a:extLst>
              <a:ext uri="{FF2B5EF4-FFF2-40B4-BE49-F238E27FC236}">
                <a16:creationId xmlns:a16="http://schemas.microsoft.com/office/drawing/2014/main" id="{82992F57-C456-C67B-C280-247623DFCAB8}"/>
              </a:ext>
            </a:extLst>
          </p:cNvPr>
          <p:cNvSpPr txBox="1"/>
          <p:nvPr/>
        </p:nvSpPr>
        <p:spPr>
          <a:xfrm>
            <a:off x="9241846" y="4641913"/>
            <a:ext cx="2770909" cy="369332"/>
          </a:xfrm>
          <a:prstGeom prst="rect">
            <a:avLst/>
          </a:prstGeom>
          <a:noFill/>
        </p:spPr>
        <p:txBody>
          <a:bodyPr wrap="square" rtlCol="0">
            <a:spAutoFit/>
          </a:bodyPr>
          <a:lstStyle/>
          <a:p>
            <a:r>
              <a:rPr lang="en-GB" dirty="0">
                <a:hlinkClick r:id="rId2"/>
              </a:rPr>
              <a:t>Click here to go to Google</a:t>
            </a:r>
            <a:endParaRPr lang="en-GB" dirty="0"/>
          </a:p>
        </p:txBody>
      </p:sp>
      <p:sp>
        <p:nvSpPr>
          <p:cNvPr id="11" name="Rectangle 10">
            <a:extLst>
              <a:ext uri="{FF2B5EF4-FFF2-40B4-BE49-F238E27FC236}">
                <a16:creationId xmlns:a16="http://schemas.microsoft.com/office/drawing/2014/main" id="{8A29C4D1-7E14-0AE3-42B6-122456145F8F}"/>
              </a:ext>
            </a:extLst>
          </p:cNvPr>
          <p:cNvSpPr/>
          <p:nvPr/>
        </p:nvSpPr>
        <p:spPr>
          <a:xfrm>
            <a:off x="8691418" y="2955635"/>
            <a:ext cx="3342409" cy="3713019"/>
          </a:xfrm>
          <a:prstGeom prst="rect">
            <a:avLst/>
          </a:prstGeom>
          <a:noFill/>
          <a:ln w="762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7661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xit" presetSubtype="0" fill="hold" grpId="1" nodeType="withEffect">
                                  <p:stCondLst>
                                    <p:cond delay="0"/>
                                  </p:stCondLst>
                                  <p:childTnLst>
                                    <p:animEffect transition="out" filter="fade">
                                      <p:cBhvr>
                                        <p:cTn id="25" dur="500"/>
                                        <p:tgtEl>
                                          <p:spTgt spid="5"/>
                                        </p:tgtEl>
                                      </p:cBhvr>
                                    </p:animEffect>
                                    <p:set>
                                      <p:cBhvr>
                                        <p:cTn id="26" dur="1" fill="hold">
                                          <p:stCondLst>
                                            <p:cond delay="499"/>
                                          </p:stCondLst>
                                        </p:cTn>
                                        <p:tgtEl>
                                          <p:spTgt spid="5"/>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par>
                                <p:cTn id="38" presetID="10" presetClass="exit" presetSubtype="0" fill="hold" grpId="1" nodeType="withEffect">
                                  <p:stCondLst>
                                    <p:cond delay="0"/>
                                  </p:stCondLst>
                                  <p:childTnLst>
                                    <p:animEffect transition="out" filter="fade">
                                      <p:cBhvr>
                                        <p:cTn id="39" dur="500"/>
                                        <p:tgtEl>
                                          <p:spTgt spid="6"/>
                                        </p:tgtEl>
                                      </p:cBhvr>
                                    </p:animEffect>
                                    <p:set>
                                      <p:cBhvr>
                                        <p:cTn id="40" dur="1" fill="hold">
                                          <p:stCondLst>
                                            <p:cond delay="499"/>
                                          </p:stCondLst>
                                        </p:cTn>
                                        <p:tgtEl>
                                          <p:spTgt spid="6"/>
                                        </p:tgtEl>
                                        <p:attrNameLst>
                                          <p:attrName>style.visibility</p:attrName>
                                        </p:attrNameLst>
                                      </p:cBhvr>
                                      <p:to>
                                        <p:strVal val="hidden"/>
                                      </p:to>
                                    </p:set>
                                  </p:childTnLst>
                                </p:cTn>
                              </p:par>
                              <p:par>
                                <p:cTn id="41" presetID="10"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par>
                                <p:cTn id="44" presetID="10" presetClass="exit" presetSubtype="0" fill="hold" grpId="1" nodeType="withEffect">
                                  <p:stCondLst>
                                    <p:cond delay="0"/>
                                  </p:stCondLst>
                                  <p:childTnLst>
                                    <p:animEffect transition="out" filter="fade">
                                      <p:cBhvr>
                                        <p:cTn id="45" dur="500"/>
                                        <p:tgtEl>
                                          <p:spTgt spid="10"/>
                                        </p:tgtEl>
                                      </p:cBhvr>
                                    </p:animEffect>
                                    <p:set>
                                      <p:cBhvr>
                                        <p:cTn id="46"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10" grpId="0"/>
      <p:bldP spid="10"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7933A4D-7D30-EE25-167B-F8E2FFA62D4A}"/>
              </a:ext>
            </a:extLst>
          </p:cNvPr>
          <p:cNvGrpSpPr/>
          <p:nvPr/>
        </p:nvGrpSpPr>
        <p:grpSpPr>
          <a:xfrm>
            <a:off x="0" y="0"/>
            <a:ext cx="12192000" cy="6858001"/>
            <a:chOff x="0" y="0"/>
            <a:chExt cx="12192000" cy="6858001"/>
          </a:xfrm>
        </p:grpSpPr>
        <p:sp>
          <p:nvSpPr>
            <p:cNvPr id="8" name="Rectangle 7">
              <a:extLst>
                <a:ext uri="{FF2B5EF4-FFF2-40B4-BE49-F238E27FC236}">
                  <a16:creationId xmlns:a16="http://schemas.microsoft.com/office/drawing/2014/main" id="{EC944DE3-3A09-295B-F199-5D11CEC4ACF1}"/>
                </a:ext>
              </a:extLst>
            </p:cNvPr>
            <p:cNvSpPr/>
            <p:nvPr/>
          </p:nvSpPr>
          <p:spPr>
            <a:xfrm>
              <a:off x="6095999" y="1"/>
              <a:ext cx="6096001"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5C2F7E08-214B-E4D3-7FA9-DC59758A3FC6}"/>
                </a:ext>
              </a:extLst>
            </p:cNvPr>
            <p:cNvSpPr/>
            <p:nvPr/>
          </p:nvSpPr>
          <p:spPr>
            <a:xfrm>
              <a:off x="0" y="0"/>
              <a:ext cx="6096001"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itle 1">
            <a:extLst>
              <a:ext uri="{FF2B5EF4-FFF2-40B4-BE49-F238E27FC236}">
                <a16:creationId xmlns:a16="http://schemas.microsoft.com/office/drawing/2014/main" id="{73CA0CC9-AEB6-77E7-571B-5A3D53F77A57}"/>
              </a:ext>
            </a:extLst>
          </p:cNvPr>
          <p:cNvSpPr>
            <a:spLocks noGrp="1"/>
          </p:cNvSpPr>
          <p:nvPr>
            <p:ph type="title"/>
          </p:nvPr>
        </p:nvSpPr>
        <p:spPr/>
        <p:txBody>
          <a:bodyPr/>
          <a:lstStyle/>
          <a:p>
            <a:r>
              <a:rPr lang="en-GB" dirty="0"/>
              <a:t>HTML Lists</a:t>
            </a:r>
          </a:p>
        </p:txBody>
      </p:sp>
      <p:sp>
        <p:nvSpPr>
          <p:cNvPr id="3" name="Content Placeholder 2">
            <a:extLst>
              <a:ext uri="{FF2B5EF4-FFF2-40B4-BE49-F238E27FC236}">
                <a16:creationId xmlns:a16="http://schemas.microsoft.com/office/drawing/2014/main" id="{D6B14B19-34BD-90D1-FC40-8237DD9E8F43}"/>
              </a:ext>
            </a:extLst>
          </p:cNvPr>
          <p:cNvSpPr>
            <a:spLocks noGrp="1"/>
          </p:cNvSpPr>
          <p:nvPr>
            <p:ph idx="1"/>
          </p:nvPr>
        </p:nvSpPr>
        <p:spPr>
          <a:xfrm>
            <a:off x="-1" y="2863284"/>
            <a:ext cx="12192001" cy="748134"/>
          </a:xfrm>
        </p:spPr>
        <p:txBody>
          <a:bodyPr>
            <a:normAutofit/>
          </a:bodyPr>
          <a:lstStyle/>
          <a:p>
            <a:pPr marL="457200" lvl="1" indent="0">
              <a:buNone/>
            </a:pPr>
            <a:r>
              <a:rPr lang="en-GB" sz="1800" dirty="0">
                <a:latin typeface="LEMON MILK" panose="00000500000000000000" pitchFamily="50" charset="0"/>
              </a:rPr>
              <a:t>Numbered, or </a:t>
            </a:r>
            <a:r>
              <a:rPr lang="en-GB" sz="1800" b="1" dirty="0">
                <a:latin typeface="LEMON MILK" panose="00000500000000000000" pitchFamily="50" charset="0"/>
              </a:rPr>
              <a:t>ordered lists</a:t>
            </a:r>
            <a:r>
              <a:rPr lang="en-GB" sz="1800" dirty="0">
                <a:latin typeface="LEMON MILK" panose="00000500000000000000" pitchFamily="50" charset="0"/>
              </a:rPr>
              <a:t> 	</a:t>
            </a:r>
            <a:r>
              <a:rPr lang="en-GB" sz="1800" dirty="0">
                <a:latin typeface="Abadi" panose="020B0604020104020204" pitchFamily="34" charset="0"/>
              </a:rPr>
              <a:t>&lt;</a:t>
            </a:r>
            <a:r>
              <a:rPr lang="en-GB" sz="1800" dirty="0" err="1">
                <a:latin typeface="Abadi" panose="020B0604020104020204" pitchFamily="34" charset="0"/>
              </a:rPr>
              <a:t>ol</a:t>
            </a:r>
            <a:r>
              <a:rPr lang="en-GB" sz="1800" dirty="0">
                <a:latin typeface="Abadi" panose="020B0604020104020204" pitchFamily="34" charset="0"/>
              </a:rPr>
              <a:t>&gt;</a:t>
            </a:r>
            <a:r>
              <a:rPr lang="en-GB" sz="1800" dirty="0">
                <a:latin typeface="LEMON MILK" panose="00000500000000000000" pitchFamily="50" charset="0"/>
              </a:rPr>
              <a:t>		Bullet points, or </a:t>
            </a:r>
            <a:r>
              <a:rPr lang="en-GB" sz="1800" b="1" dirty="0">
                <a:latin typeface="LEMON MILK" panose="00000500000000000000" pitchFamily="50" charset="0"/>
              </a:rPr>
              <a:t>unordered lists      </a:t>
            </a:r>
            <a:r>
              <a:rPr lang="en-GB" sz="1800" dirty="0">
                <a:latin typeface="Abadi" panose="020B0604020104020204" pitchFamily="34" charset="0"/>
              </a:rPr>
              <a:t>&lt;</a:t>
            </a:r>
            <a:r>
              <a:rPr lang="en-GB" sz="1800" dirty="0" err="1">
                <a:latin typeface="Abadi" panose="020B0604020104020204" pitchFamily="34" charset="0"/>
              </a:rPr>
              <a:t>ul</a:t>
            </a:r>
            <a:r>
              <a:rPr lang="en-GB" sz="1800" dirty="0">
                <a:latin typeface="Abadi" panose="020B0604020104020204" pitchFamily="34" charset="0"/>
              </a:rPr>
              <a:t>&gt;</a:t>
            </a:r>
          </a:p>
        </p:txBody>
      </p:sp>
      <p:sp>
        <p:nvSpPr>
          <p:cNvPr id="4" name="Content Placeholder 2">
            <a:extLst>
              <a:ext uri="{FF2B5EF4-FFF2-40B4-BE49-F238E27FC236}">
                <a16:creationId xmlns:a16="http://schemas.microsoft.com/office/drawing/2014/main" id="{194CD1A9-A37B-E214-5A7F-5D070F626FEF}"/>
              </a:ext>
            </a:extLst>
          </p:cNvPr>
          <p:cNvSpPr txBox="1">
            <a:spLocks/>
          </p:cNvSpPr>
          <p:nvPr/>
        </p:nvSpPr>
        <p:spPr>
          <a:xfrm>
            <a:off x="312108" y="4107450"/>
            <a:ext cx="3583488" cy="250629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FFC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FFC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FC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FFC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FFC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chemeClr val="tx1"/>
                </a:solidFill>
              </a:rPr>
              <a:t>&lt;</a:t>
            </a:r>
            <a:r>
              <a:rPr lang="en-GB" dirty="0" err="1">
                <a:solidFill>
                  <a:schemeClr val="tx1"/>
                </a:solidFill>
              </a:rPr>
              <a:t>ol</a:t>
            </a:r>
            <a:r>
              <a:rPr lang="en-GB" dirty="0">
                <a:solidFill>
                  <a:schemeClr val="tx1"/>
                </a:solidFill>
              </a:rPr>
              <a:t>&gt;</a:t>
            </a:r>
          </a:p>
          <a:p>
            <a:pPr marL="0" indent="0">
              <a:buNone/>
            </a:pPr>
            <a:r>
              <a:rPr lang="en-GB" dirty="0">
                <a:solidFill>
                  <a:schemeClr val="tx1"/>
                </a:solidFill>
              </a:rPr>
              <a:t>	&lt;li&gt;Apples&lt;/li&gt;</a:t>
            </a:r>
          </a:p>
          <a:p>
            <a:pPr marL="0" indent="0">
              <a:buNone/>
            </a:pPr>
            <a:r>
              <a:rPr lang="en-GB" dirty="0">
                <a:solidFill>
                  <a:schemeClr val="tx1"/>
                </a:solidFill>
              </a:rPr>
              <a:t>	&lt;li&gt;Oranges&lt;/li&gt;</a:t>
            </a:r>
          </a:p>
          <a:p>
            <a:pPr marL="0" indent="0">
              <a:buNone/>
            </a:pPr>
            <a:r>
              <a:rPr lang="en-GB" dirty="0">
                <a:solidFill>
                  <a:schemeClr val="tx1"/>
                </a:solidFill>
              </a:rPr>
              <a:t>	&lt;li&gt;Bananas&lt;/li&gt;</a:t>
            </a:r>
          </a:p>
          <a:p>
            <a:pPr marL="0" indent="0">
              <a:buNone/>
            </a:pPr>
            <a:r>
              <a:rPr lang="en-GB" dirty="0">
                <a:solidFill>
                  <a:schemeClr val="tx1"/>
                </a:solidFill>
              </a:rPr>
              <a:t>&lt;/</a:t>
            </a:r>
            <a:r>
              <a:rPr lang="en-GB" dirty="0" err="1">
                <a:solidFill>
                  <a:schemeClr val="tx1"/>
                </a:solidFill>
              </a:rPr>
              <a:t>ol</a:t>
            </a:r>
            <a:r>
              <a:rPr lang="en-GB" dirty="0">
                <a:solidFill>
                  <a:schemeClr val="tx1"/>
                </a:solidFill>
              </a:rPr>
              <a:t>&gt;</a:t>
            </a:r>
          </a:p>
        </p:txBody>
      </p:sp>
      <p:sp>
        <p:nvSpPr>
          <p:cNvPr id="5" name="Content Placeholder 2">
            <a:extLst>
              <a:ext uri="{FF2B5EF4-FFF2-40B4-BE49-F238E27FC236}">
                <a16:creationId xmlns:a16="http://schemas.microsoft.com/office/drawing/2014/main" id="{636A4E2F-C69E-213E-A32B-5176E2BD7DA2}"/>
              </a:ext>
            </a:extLst>
          </p:cNvPr>
          <p:cNvSpPr txBox="1">
            <a:spLocks/>
          </p:cNvSpPr>
          <p:nvPr/>
        </p:nvSpPr>
        <p:spPr>
          <a:xfrm>
            <a:off x="6096000" y="4107450"/>
            <a:ext cx="3496850" cy="250629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FFC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FFC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FC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FFC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FFC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chemeClr val="tx1"/>
                </a:solidFill>
              </a:rPr>
              <a:t>&lt;</a:t>
            </a:r>
            <a:r>
              <a:rPr lang="en-GB" dirty="0" err="1">
                <a:solidFill>
                  <a:schemeClr val="tx1"/>
                </a:solidFill>
              </a:rPr>
              <a:t>ul</a:t>
            </a:r>
            <a:r>
              <a:rPr lang="en-GB" dirty="0">
                <a:solidFill>
                  <a:schemeClr val="tx1"/>
                </a:solidFill>
              </a:rPr>
              <a:t>&gt;</a:t>
            </a:r>
          </a:p>
          <a:p>
            <a:pPr marL="0" indent="0">
              <a:buNone/>
            </a:pPr>
            <a:r>
              <a:rPr lang="en-GB" dirty="0">
                <a:solidFill>
                  <a:schemeClr val="tx1"/>
                </a:solidFill>
              </a:rPr>
              <a:t>	&lt;li&gt;Apples&lt;/li&gt;</a:t>
            </a:r>
          </a:p>
          <a:p>
            <a:pPr marL="0" indent="0">
              <a:buNone/>
            </a:pPr>
            <a:r>
              <a:rPr lang="en-GB" dirty="0">
                <a:solidFill>
                  <a:schemeClr val="tx1"/>
                </a:solidFill>
              </a:rPr>
              <a:t>	&lt;li&gt;Oranges&lt;/li&gt;</a:t>
            </a:r>
          </a:p>
          <a:p>
            <a:pPr marL="0" indent="0">
              <a:buNone/>
            </a:pPr>
            <a:r>
              <a:rPr lang="en-GB" dirty="0">
                <a:solidFill>
                  <a:schemeClr val="tx1"/>
                </a:solidFill>
              </a:rPr>
              <a:t>	&lt;li&gt;Bananas&lt;/li&gt;</a:t>
            </a:r>
          </a:p>
          <a:p>
            <a:pPr marL="0" indent="0">
              <a:buNone/>
            </a:pPr>
            <a:r>
              <a:rPr lang="en-GB" dirty="0">
                <a:solidFill>
                  <a:schemeClr val="tx1"/>
                </a:solidFill>
              </a:rPr>
              <a:t>&lt;/</a:t>
            </a:r>
            <a:r>
              <a:rPr lang="en-GB" dirty="0" err="1">
                <a:solidFill>
                  <a:schemeClr val="tx1"/>
                </a:solidFill>
              </a:rPr>
              <a:t>ul</a:t>
            </a:r>
            <a:r>
              <a:rPr lang="en-GB" dirty="0">
                <a:solidFill>
                  <a:schemeClr val="tx1"/>
                </a:solidFill>
              </a:rPr>
              <a:t>&gt;</a:t>
            </a:r>
          </a:p>
        </p:txBody>
      </p:sp>
      <p:sp>
        <p:nvSpPr>
          <p:cNvPr id="6" name="Rectangle 5">
            <a:extLst>
              <a:ext uri="{FF2B5EF4-FFF2-40B4-BE49-F238E27FC236}">
                <a16:creationId xmlns:a16="http://schemas.microsoft.com/office/drawing/2014/main" id="{098CA37D-BA79-AF8D-4AC7-AAF3AC963B95}"/>
              </a:ext>
            </a:extLst>
          </p:cNvPr>
          <p:cNvSpPr/>
          <p:nvPr/>
        </p:nvSpPr>
        <p:spPr>
          <a:xfrm>
            <a:off x="3895596" y="3994716"/>
            <a:ext cx="1966585" cy="25062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en-GB" sz="2800" dirty="0">
                <a:solidFill>
                  <a:schemeClr val="tx1"/>
                </a:solidFill>
              </a:rPr>
              <a:t>Apples</a:t>
            </a:r>
          </a:p>
          <a:p>
            <a:pPr marL="342900" indent="-342900">
              <a:buFont typeface="+mj-lt"/>
              <a:buAutoNum type="arabicPeriod"/>
            </a:pPr>
            <a:r>
              <a:rPr lang="en-GB" sz="2800" dirty="0">
                <a:solidFill>
                  <a:schemeClr val="tx1"/>
                </a:solidFill>
              </a:rPr>
              <a:t>Oranges</a:t>
            </a:r>
          </a:p>
          <a:p>
            <a:pPr marL="342900" indent="-342900">
              <a:buFont typeface="+mj-lt"/>
              <a:buAutoNum type="arabicPeriod"/>
            </a:pPr>
            <a:r>
              <a:rPr lang="en-GB" sz="2800" dirty="0">
                <a:solidFill>
                  <a:schemeClr val="tx1"/>
                </a:solidFill>
              </a:rPr>
              <a:t>Bananas</a:t>
            </a:r>
          </a:p>
        </p:txBody>
      </p:sp>
      <p:sp>
        <p:nvSpPr>
          <p:cNvPr id="7" name="Rectangle 6">
            <a:extLst>
              <a:ext uri="{FF2B5EF4-FFF2-40B4-BE49-F238E27FC236}">
                <a16:creationId xmlns:a16="http://schemas.microsoft.com/office/drawing/2014/main" id="{0E6B972F-F4E0-1791-7D87-50BBF18C6455}"/>
              </a:ext>
            </a:extLst>
          </p:cNvPr>
          <p:cNvSpPr/>
          <p:nvPr/>
        </p:nvSpPr>
        <p:spPr>
          <a:xfrm>
            <a:off x="9826669" y="3994716"/>
            <a:ext cx="1966585" cy="25062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r>
              <a:rPr lang="en-GB" sz="2800" dirty="0">
                <a:solidFill>
                  <a:schemeClr val="tx1"/>
                </a:solidFill>
              </a:rPr>
              <a:t>Apples</a:t>
            </a:r>
          </a:p>
          <a:p>
            <a:pPr marL="457200" indent="-457200">
              <a:buFont typeface="Arial" panose="020B0604020202020204" pitchFamily="34" charset="0"/>
              <a:buChar char="•"/>
            </a:pPr>
            <a:r>
              <a:rPr lang="en-GB" sz="2800" dirty="0">
                <a:solidFill>
                  <a:schemeClr val="tx1"/>
                </a:solidFill>
              </a:rPr>
              <a:t>Oranges</a:t>
            </a:r>
          </a:p>
          <a:p>
            <a:pPr marL="457200" indent="-457200">
              <a:buFont typeface="Arial" panose="020B0604020202020204" pitchFamily="34" charset="0"/>
              <a:buChar char="•"/>
            </a:pPr>
            <a:r>
              <a:rPr lang="en-GB" sz="2800" dirty="0">
                <a:solidFill>
                  <a:schemeClr val="tx1"/>
                </a:solidFill>
              </a:rPr>
              <a:t>Bananas</a:t>
            </a:r>
          </a:p>
        </p:txBody>
      </p:sp>
      <p:sp>
        <p:nvSpPr>
          <p:cNvPr id="11" name="Content Placeholder 2">
            <a:extLst>
              <a:ext uri="{FF2B5EF4-FFF2-40B4-BE49-F238E27FC236}">
                <a16:creationId xmlns:a16="http://schemas.microsoft.com/office/drawing/2014/main" id="{10F729D0-DA4C-C64C-D751-FF05F430E380}"/>
              </a:ext>
            </a:extLst>
          </p:cNvPr>
          <p:cNvSpPr txBox="1">
            <a:spLocks/>
          </p:cNvSpPr>
          <p:nvPr/>
        </p:nvSpPr>
        <p:spPr>
          <a:xfrm>
            <a:off x="6095998" y="194429"/>
            <a:ext cx="5999020" cy="17857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There are two kinds of lists we can use in html.</a:t>
            </a:r>
          </a:p>
          <a:p>
            <a:r>
              <a:rPr lang="en-GB" dirty="0"/>
              <a:t>Inside these tags, you can then embed the </a:t>
            </a:r>
            <a:r>
              <a:rPr lang="en-GB" b="1" dirty="0"/>
              <a:t>list items</a:t>
            </a:r>
            <a:r>
              <a:rPr lang="en-GB" dirty="0"/>
              <a:t> &lt;li&gt; </a:t>
            </a:r>
          </a:p>
          <a:p>
            <a:endParaRPr lang="en-GB" dirty="0"/>
          </a:p>
        </p:txBody>
      </p:sp>
      <p:cxnSp>
        <p:nvCxnSpPr>
          <p:cNvPr id="13" name="Straight Connector 12">
            <a:extLst>
              <a:ext uri="{FF2B5EF4-FFF2-40B4-BE49-F238E27FC236}">
                <a16:creationId xmlns:a16="http://schemas.microsoft.com/office/drawing/2014/main" id="{ED3E9F7D-9CBF-B9F1-57EE-5C9E78068689}"/>
              </a:ext>
            </a:extLst>
          </p:cNvPr>
          <p:cNvCxnSpPr/>
          <p:nvPr/>
        </p:nvCxnSpPr>
        <p:spPr>
          <a:xfrm>
            <a:off x="930729" y="2743200"/>
            <a:ext cx="398417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3F2C1CD-2DEC-E594-55DB-4B2B6D74A3EB}"/>
              </a:ext>
            </a:extLst>
          </p:cNvPr>
          <p:cNvCxnSpPr/>
          <p:nvPr/>
        </p:nvCxnSpPr>
        <p:spPr>
          <a:xfrm>
            <a:off x="930729" y="3262992"/>
            <a:ext cx="398417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BA2CED4-08C4-DA53-3A8D-FBB18C0E53D6}"/>
              </a:ext>
            </a:extLst>
          </p:cNvPr>
          <p:cNvCxnSpPr/>
          <p:nvPr/>
        </p:nvCxnSpPr>
        <p:spPr>
          <a:xfrm>
            <a:off x="7451272" y="2732314"/>
            <a:ext cx="398417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AE7CCE1-C86A-5741-3525-3E03A41FF42E}"/>
              </a:ext>
            </a:extLst>
          </p:cNvPr>
          <p:cNvCxnSpPr/>
          <p:nvPr/>
        </p:nvCxnSpPr>
        <p:spPr>
          <a:xfrm>
            <a:off x="7451272" y="3252106"/>
            <a:ext cx="398417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270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07EB9-E984-A874-BCC1-0E013D8B7449}"/>
              </a:ext>
            </a:extLst>
          </p:cNvPr>
          <p:cNvSpPr>
            <a:spLocks noGrp="1"/>
          </p:cNvSpPr>
          <p:nvPr>
            <p:ph type="title"/>
          </p:nvPr>
        </p:nvSpPr>
        <p:spPr/>
        <p:txBody>
          <a:bodyPr/>
          <a:lstStyle/>
          <a:p>
            <a:r>
              <a:rPr lang="en-GB" dirty="0"/>
              <a:t>CSS</a:t>
            </a:r>
          </a:p>
        </p:txBody>
      </p:sp>
      <p:sp>
        <p:nvSpPr>
          <p:cNvPr id="3" name="Content Placeholder 2">
            <a:extLst>
              <a:ext uri="{FF2B5EF4-FFF2-40B4-BE49-F238E27FC236}">
                <a16:creationId xmlns:a16="http://schemas.microsoft.com/office/drawing/2014/main" id="{26C448FE-9588-0190-4A27-C1897F4189A5}"/>
              </a:ext>
            </a:extLst>
          </p:cNvPr>
          <p:cNvSpPr>
            <a:spLocks noGrp="1"/>
          </p:cNvSpPr>
          <p:nvPr>
            <p:ph idx="1"/>
          </p:nvPr>
        </p:nvSpPr>
        <p:spPr>
          <a:xfrm>
            <a:off x="237835" y="1758516"/>
            <a:ext cx="6384638" cy="4947083"/>
          </a:xfrm>
        </p:spPr>
        <p:txBody>
          <a:bodyPr>
            <a:normAutofit fontScale="85000" lnSpcReduction="10000"/>
          </a:bodyPr>
          <a:lstStyle/>
          <a:p>
            <a:r>
              <a:rPr lang="en-GB" dirty="0">
                <a:solidFill>
                  <a:srgbClr val="000000"/>
                </a:solidFill>
                <a:effectLst/>
                <a:latin typeface="Calibri" panose="020F0502020204030204" pitchFamily="34" charset="0"/>
                <a:ea typeface="Calibri" panose="020F0502020204030204" pitchFamily="34" charset="0"/>
              </a:rPr>
              <a:t>Cascading stylesheets</a:t>
            </a:r>
          </a:p>
          <a:p>
            <a:pPr>
              <a:tabLst>
                <a:tab pos="4124325" algn="l"/>
              </a:tabLst>
            </a:pPr>
            <a:r>
              <a:rPr lang="en-GB" b="1" dirty="0">
                <a:solidFill>
                  <a:srgbClr val="000000"/>
                </a:solidFill>
                <a:effectLst/>
                <a:latin typeface="Calibri" panose="020F0502020204030204" pitchFamily="34" charset="0"/>
                <a:ea typeface="Calibri" panose="020F0502020204030204" pitchFamily="34" charset="0"/>
              </a:rPr>
              <a:t>CSS defines how the formats and appearances of HTML elements in a web page are displayed. It may be included as part of the web page, or it can be stored as a separate file.</a:t>
            </a:r>
          </a:p>
          <a:p>
            <a:r>
              <a:rPr lang="en-GB" dirty="0">
                <a:solidFill>
                  <a:srgbClr val="000000"/>
                </a:solidFill>
                <a:effectLst/>
                <a:latin typeface="Calibri" panose="020F0502020204030204" pitchFamily="34" charset="0"/>
                <a:ea typeface="Calibri" panose="020F0502020204030204" pitchFamily="34" charset="0"/>
              </a:rPr>
              <a:t>When web pages are to be displayed on different devices such as mobile phones, CSS is used to define any </a:t>
            </a:r>
            <a:r>
              <a:rPr lang="en-GB" dirty="0">
                <a:solidFill>
                  <a:srgbClr val="000000"/>
                </a:solidFill>
                <a:effectLst/>
                <a:highlight>
                  <a:srgbClr val="FFFFFF"/>
                </a:highlight>
                <a:latin typeface="Calibri" panose="020F0502020204030204" pitchFamily="34" charset="0"/>
                <a:ea typeface="Calibri" panose="020F0502020204030204" pitchFamily="34" charset="0"/>
              </a:rPr>
              <a:t>layout differences in display. </a:t>
            </a:r>
          </a:p>
          <a:p>
            <a:r>
              <a:rPr lang="en-GB" dirty="0">
                <a:solidFill>
                  <a:srgbClr val="000000"/>
                </a:solidFill>
                <a:effectLst/>
                <a:highlight>
                  <a:srgbClr val="FFFFFF"/>
                </a:highlight>
                <a:latin typeface="Calibri" panose="020F0502020204030204" pitchFamily="34" charset="0"/>
                <a:ea typeface="Calibri" panose="020F0502020204030204" pitchFamily="34" charset="0"/>
              </a:rPr>
              <a:t>Encourages consistent design by linking one ‘master’ stylesheet to a set of html pages. These can then be overwritten by other stylesheets and potential ambiguities are resolved by the rules for CSS.</a:t>
            </a:r>
          </a:p>
          <a:p>
            <a:pPr lvl="1"/>
            <a:r>
              <a:rPr lang="en-US" sz="1800" dirty="0">
                <a:effectLst/>
                <a:latin typeface="Times New Roman" panose="02020603050405020304" pitchFamily="18" charset="0"/>
                <a:ea typeface="Times New Roman" panose="02020603050405020304" pitchFamily="18" charset="0"/>
              </a:rPr>
              <a:t>These rules specify 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order in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which</a:t>
            </a:r>
            <a:r>
              <a:rPr lang="en-US" sz="1800" spc="10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definitions</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10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one</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place</a:t>
            </a:r>
            <a:r>
              <a:rPr lang="en-US" sz="1800" spc="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take</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precedence</a:t>
            </a:r>
            <a:r>
              <a:rPr lang="en-US" sz="1800" spc="10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over</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those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another,</a:t>
            </a:r>
            <a:r>
              <a:rPr lang="en-US" sz="1800" spc="1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hence</a:t>
            </a:r>
            <a:r>
              <a:rPr lang="en-US" sz="1800" spc="7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17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name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'cascading'.</a:t>
            </a:r>
            <a:endParaRPr lang="en-GB" sz="1800" dirty="0">
              <a:effectLst/>
              <a:latin typeface="Times New Roman" panose="02020603050405020304" pitchFamily="18" charset="0"/>
              <a:ea typeface="Times New Roman" panose="02020603050405020304" pitchFamily="18" charset="0"/>
            </a:endParaRPr>
          </a:p>
          <a:p>
            <a:pPr lvl="1"/>
            <a:endParaRPr lang="en-GB" dirty="0">
              <a:effectLst/>
              <a:latin typeface="Arial" panose="020B0604020202020204" pitchFamily="34" charset="0"/>
              <a:ea typeface="Arial" panose="020B0604020202020204" pitchFamily="34" charset="0"/>
            </a:endParaRPr>
          </a:p>
        </p:txBody>
      </p:sp>
      <p:pic>
        <p:nvPicPr>
          <p:cNvPr id="1026" name="Picture 2" descr="Css And Layout |XolotlP">
            <a:extLst>
              <a:ext uri="{FF2B5EF4-FFF2-40B4-BE49-F238E27FC236}">
                <a16:creationId xmlns:a16="http://schemas.microsoft.com/office/drawing/2014/main" id="{463908C9-4BD9-ED60-5FA4-E08B94EA19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33" t="7822" r="15248" b="31584"/>
          <a:stretch/>
        </p:blipFill>
        <p:spPr bwMode="auto">
          <a:xfrm>
            <a:off x="6622473" y="2282825"/>
            <a:ext cx="5467350" cy="291465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C0C1479F-5540-3C96-B4EF-069B2322C162}"/>
              </a:ext>
            </a:extLst>
          </p:cNvPr>
          <p:cNvGrpSpPr/>
          <p:nvPr/>
        </p:nvGrpSpPr>
        <p:grpSpPr>
          <a:xfrm>
            <a:off x="3153706" y="79721"/>
            <a:ext cx="8936117" cy="1940949"/>
            <a:chOff x="7451723" y="-161603"/>
            <a:chExt cx="6230220" cy="1353221"/>
          </a:xfrm>
        </p:grpSpPr>
        <p:sp>
          <p:nvSpPr>
            <p:cNvPr id="7" name="Rectangle 6">
              <a:extLst>
                <a:ext uri="{FF2B5EF4-FFF2-40B4-BE49-F238E27FC236}">
                  <a16:creationId xmlns:a16="http://schemas.microsoft.com/office/drawing/2014/main" id="{9771635D-E179-5EC0-0F69-E4CEE14B9E93}"/>
                </a:ext>
              </a:extLst>
            </p:cNvPr>
            <p:cNvSpPr/>
            <p:nvPr/>
          </p:nvSpPr>
          <p:spPr>
            <a:xfrm>
              <a:off x="7926507" y="-161603"/>
              <a:ext cx="5755436" cy="1353221"/>
            </a:xfrm>
            <a:prstGeom prst="rect">
              <a:avLst/>
            </a:prstGeom>
            <a:solidFill>
              <a:schemeClr val="bg1"/>
            </a:solidFill>
            <a:ln w="38100">
              <a:solidFill>
                <a:srgbClr val="71A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14375"/>
              <a:r>
                <a:rPr lang="en-GB" sz="2000" b="1" u="sng" dirty="0">
                  <a:solidFill>
                    <a:schemeClr val="tx1"/>
                  </a:solidFill>
                  <a:latin typeface="Ink Free" panose="03080402000500000000" pitchFamily="66" charset="0"/>
                </a:rPr>
                <a:t>CSS (Cascading Style Sheets)</a:t>
              </a:r>
            </a:p>
            <a:p>
              <a:pPr marL="714375"/>
              <a:r>
                <a:rPr lang="en-GB" sz="2000" dirty="0">
                  <a:solidFill>
                    <a:schemeClr val="tx1"/>
                  </a:solidFill>
                  <a:latin typeface="Ink Free" panose="03080402000500000000" pitchFamily="66" charset="0"/>
                </a:rPr>
                <a:t>A CSS defines how the formats and appearances of HTML elements in a web page are displayed. It can be stored as a separate file which is used to control all pages on the website.  Changes made to this single CSS file will affect all pages on the website.</a:t>
              </a:r>
            </a:p>
          </p:txBody>
        </p:sp>
        <p:pic>
          <p:nvPicPr>
            <p:cNvPr id="8" name="Picture 7" descr="A grey and green circle with two pages&#10;&#10;AI-generated content may be incorrect.">
              <a:extLst>
                <a:ext uri="{FF2B5EF4-FFF2-40B4-BE49-F238E27FC236}">
                  <a16:creationId xmlns:a16="http://schemas.microsoft.com/office/drawing/2014/main" id="{2FE6CF5A-B410-AF0C-B4F6-782E1019A6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1723" y="108225"/>
              <a:ext cx="751009" cy="751009"/>
            </a:xfrm>
            <a:prstGeom prst="rect">
              <a:avLst/>
            </a:prstGeom>
          </p:spPr>
        </p:pic>
      </p:grpSp>
    </p:spTree>
    <p:extLst>
      <p:ext uri="{BB962C8B-B14F-4D97-AF65-F5344CB8AC3E}">
        <p14:creationId xmlns:p14="http://schemas.microsoft.com/office/powerpoint/2010/main" val="3860202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5CC9-B978-EDA8-D4E3-A1219CA73DCD}"/>
              </a:ext>
            </a:extLst>
          </p:cNvPr>
          <p:cNvSpPr>
            <a:spLocks noGrp="1"/>
          </p:cNvSpPr>
          <p:nvPr>
            <p:ph type="title"/>
          </p:nvPr>
        </p:nvSpPr>
        <p:spPr/>
        <p:txBody>
          <a:bodyPr/>
          <a:lstStyle/>
          <a:p>
            <a:r>
              <a:rPr lang="en-GB" dirty="0"/>
              <a:t>There are three ways we can add CSS</a:t>
            </a:r>
          </a:p>
        </p:txBody>
      </p:sp>
      <p:grpSp>
        <p:nvGrpSpPr>
          <p:cNvPr id="13" name="Group 12">
            <a:extLst>
              <a:ext uri="{FF2B5EF4-FFF2-40B4-BE49-F238E27FC236}">
                <a16:creationId xmlns:a16="http://schemas.microsoft.com/office/drawing/2014/main" id="{02B84F01-3897-55A5-29EC-C38B4E9319C3}"/>
              </a:ext>
            </a:extLst>
          </p:cNvPr>
          <p:cNvGrpSpPr/>
          <p:nvPr/>
        </p:nvGrpSpPr>
        <p:grpSpPr>
          <a:xfrm>
            <a:off x="75413" y="1693824"/>
            <a:ext cx="3953114" cy="5018059"/>
            <a:chOff x="133926" y="2096655"/>
            <a:chExt cx="3532911" cy="5018059"/>
          </a:xfrm>
          <a:effectLst>
            <a:outerShdw blurRad="50800" dist="38100" dir="2700000" algn="tl" rotWithShape="0">
              <a:prstClr val="black">
                <a:alpha val="40000"/>
              </a:prstClr>
            </a:outerShdw>
          </a:effectLst>
        </p:grpSpPr>
        <p:grpSp>
          <p:nvGrpSpPr>
            <p:cNvPr id="11" name="Group 10">
              <a:extLst>
                <a:ext uri="{FF2B5EF4-FFF2-40B4-BE49-F238E27FC236}">
                  <a16:creationId xmlns:a16="http://schemas.microsoft.com/office/drawing/2014/main" id="{416FDB69-AE68-DDE2-A769-338AAF459F0B}"/>
                </a:ext>
              </a:extLst>
            </p:cNvPr>
            <p:cNvGrpSpPr/>
            <p:nvPr/>
          </p:nvGrpSpPr>
          <p:grpSpPr>
            <a:xfrm>
              <a:off x="133926" y="2096655"/>
              <a:ext cx="3532911" cy="5018059"/>
              <a:chOff x="133926" y="2096655"/>
              <a:chExt cx="3532911" cy="5018059"/>
            </a:xfrm>
          </p:grpSpPr>
          <p:sp>
            <p:nvSpPr>
              <p:cNvPr id="7" name="Rectangle 6">
                <a:extLst>
                  <a:ext uri="{FF2B5EF4-FFF2-40B4-BE49-F238E27FC236}">
                    <a16:creationId xmlns:a16="http://schemas.microsoft.com/office/drawing/2014/main" id="{E4235E96-164C-873E-CF6F-C025DC8D92C1}"/>
                  </a:ext>
                </a:extLst>
              </p:cNvPr>
              <p:cNvSpPr/>
              <p:nvPr/>
            </p:nvSpPr>
            <p:spPr>
              <a:xfrm>
                <a:off x="489528" y="2770909"/>
                <a:ext cx="3177309" cy="434380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GB" dirty="0">
                    <a:solidFill>
                      <a:schemeClr val="tx1"/>
                    </a:solidFill>
                  </a:rPr>
                  <a:t>The styling is declared directly within the opening tag itself using the </a:t>
                </a:r>
                <a:r>
                  <a:rPr lang="en-GB" b="1" dirty="0">
                    <a:solidFill>
                      <a:schemeClr val="tx1"/>
                    </a:solidFill>
                  </a:rPr>
                  <a:t>style</a:t>
                </a:r>
                <a:r>
                  <a:rPr lang="en-GB" dirty="0">
                    <a:solidFill>
                      <a:schemeClr val="tx1"/>
                    </a:solidFill>
                  </a:rPr>
                  <a:t> attribute</a:t>
                </a:r>
              </a:p>
              <a:p>
                <a:pPr marL="285750" indent="-285750">
                  <a:buFont typeface="Arial" panose="020B0604020202020204" pitchFamily="34" charset="0"/>
                  <a:buChar char="•"/>
                </a:pPr>
                <a:r>
                  <a:rPr lang="en-GB" dirty="0">
                    <a:solidFill>
                      <a:schemeClr val="tx1"/>
                    </a:solidFill>
                  </a:rPr>
                  <a:t>Considered bad design as it can make the tags very long and also become difficult to update styles</a:t>
                </a:r>
              </a:p>
              <a:p>
                <a:pPr marL="285750" indent="-285750">
                  <a:buFont typeface="Arial" panose="020B0604020202020204" pitchFamily="34" charset="0"/>
                  <a:buChar char="•"/>
                </a:pPr>
                <a:endParaRPr lang="en-GB" dirty="0">
                  <a:solidFill>
                    <a:schemeClr val="tx1"/>
                  </a:solidFill>
                </a:endParaRPr>
              </a:p>
              <a:p>
                <a:r>
                  <a:rPr lang="en-GB" dirty="0">
                    <a:solidFill>
                      <a:schemeClr val="tx1"/>
                    </a:solidFill>
                  </a:rPr>
                  <a:t>&lt;p </a:t>
                </a:r>
                <a:r>
                  <a:rPr lang="en-GB" b="1" dirty="0">
                    <a:solidFill>
                      <a:schemeClr val="tx1"/>
                    </a:solidFill>
                  </a:rPr>
                  <a:t>style=“background: red;”</a:t>
                </a:r>
                <a:r>
                  <a:rPr lang="en-GB" dirty="0">
                    <a:solidFill>
                      <a:schemeClr val="tx1"/>
                    </a:solidFill>
                  </a:rPr>
                  <a:t>&gt;</a:t>
                </a:r>
              </a:p>
              <a:p>
                <a:r>
                  <a:rPr lang="en-GB" dirty="0">
                    <a:solidFill>
                      <a:schemeClr val="tx1"/>
                    </a:solidFill>
                  </a:rPr>
                  <a:t>This text will have a red background</a:t>
                </a:r>
              </a:p>
              <a:p>
                <a:r>
                  <a:rPr lang="en-GB" dirty="0">
                    <a:solidFill>
                      <a:schemeClr val="tx1"/>
                    </a:solidFill>
                  </a:rPr>
                  <a:t>&lt;p&gt;</a:t>
                </a:r>
              </a:p>
            </p:txBody>
          </p:sp>
          <p:sp>
            <p:nvSpPr>
              <p:cNvPr id="9" name="Freeform: Shape 8">
                <a:extLst>
                  <a:ext uri="{FF2B5EF4-FFF2-40B4-BE49-F238E27FC236}">
                    <a16:creationId xmlns:a16="http://schemas.microsoft.com/office/drawing/2014/main" id="{99D52471-0138-E6FB-ACC4-662ADD03935A}"/>
                  </a:ext>
                </a:extLst>
              </p:cNvPr>
              <p:cNvSpPr/>
              <p:nvPr/>
            </p:nvSpPr>
            <p:spPr>
              <a:xfrm rot="10800000">
                <a:off x="133926" y="2096655"/>
                <a:ext cx="3532910" cy="674254"/>
              </a:xfrm>
              <a:custGeom>
                <a:avLst/>
                <a:gdLst>
                  <a:gd name="connsiteX0" fmla="*/ 3177309 w 3532909"/>
                  <a:gd name="connsiteY0" fmla="*/ 674254 h 674254"/>
                  <a:gd name="connsiteX1" fmla="*/ 0 w 3532909"/>
                  <a:gd name="connsiteY1" fmla="*/ 674254 h 674254"/>
                  <a:gd name="connsiteX2" fmla="*/ 0 w 3532909"/>
                  <a:gd name="connsiteY2" fmla="*/ 0 h 674254"/>
                  <a:gd name="connsiteX3" fmla="*/ 3177309 w 3532909"/>
                  <a:gd name="connsiteY3" fmla="*/ 0 h 674254"/>
                  <a:gd name="connsiteX4" fmla="*/ 3532909 w 3532909"/>
                  <a:gd name="connsiteY4" fmla="*/ 0 h 674254"/>
                  <a:gd name="connsiteX5" fmla="*/ 3532909 w 3532909"/>
                  <a:gd name="connsiteY5" fmla="*/ 337127 h 674254"/>
                  <a:gd name="connsiteX6" fmla="*/ 3177309 w 3532909"/>
                  <a:gd name="connsiteY6" fmla="*/ 674254 h 67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2909" h="674254">
                    <a:moveTo>
                      <a:pt x="3177309" y="674254"/>
                    </a:moveTo>
                    <a:lnTo>
                      <a:pt x="0" y="674254"/>
                    </a:lnTo>
                    <a:lnTo>
                      <a:pt x="0" y="0"/>
                    </a:lnTo>
                    <a:lnTo>
                      <a:pt x="3177309" y="0"/>
                    </a:lnTo>
                    <a:lnTo>
                      <a:pt x="3532909" y="0"/>
                    </a:lnTo>
                    <a:lnTo>
                      <a:pt x="3532909" y="337127"/>
                    </a:lnTo>
                    <a:cubicBezTo>
                      <a:pt x="3532909" y="523317"/>
                      <a:pt x="3373701" y="674254"/>
                      <a:pt x="3177309" y="674254"/>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vert="vert270" wrap="square" rtlCol="0" anchor="ctr">
                <a:noAutofit/>
              </a:bodyPr>
              <a:lstStyle/>
              <a:p>
                <a:pPr algn="ctr"/>
                <a:endParaRPr lang="en-GB" dirty="0"/>
              </a:p>
            </p:txBody>
          </p:sp>
          <p:sp>
            <p:nvSpPr>
              <p:cNvPr id="10" name="Right Triangle 9">
                <a:extLst>
                  <a:ext uri="{FF2B5EF4-FFF2-40B4-BE49-F238E27FC236}">
                    <a16:creationId xmlns:a16="http://schemas.microsoft.com/office/drawing/2014/main" id="{356B9F35-0C4E-9330-023C-5890112F20D9}"/>
                  </a:ext>
                </a:extLst>
              </p:cNvPr>
              <p:cNvSpPr/>
              <p:nvPr/>
            </p:nvSpPr>
            <p:spPr>
              <a:xfrm rot="5400000" flipV="1">
                <a:off x="198582" y="2706255"/>
                <a:ext cx="226291" cy="35560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extBox 11">
              <a:extLst>
                <a:ext uri="{FF2B5EF4-FFF2-40B4-BE49-F238E27FC236}">
                  <a16:creationId xmlns:a16="http://schemas.microsoft.com/office/drawing/2014/main" id="{6E44CAD1-E985-71A5-B12F-6FBBE01D594E}"/>
                </a:ext>
              </a:extLst>
            </p:cNvPr>
            <p:cNvSpPr txBox="1"/>
            <p:nvPr/>
          </p:nvSpPr>
          <p:spPr>
            <a:xfrm>
              <a:off x="489528" y="2253007"/>
              <a:ext cx="3177309" cy="369332"/>
            </a:xfrm>
            <a:prstGeom prst="rect">
              <a:avLst/>
            </a:prstGeom>
            <a:noFill/>
            <a:ln>
              <a:noFill/>
            </a:ln>
          </p:spPr>
          <p:txBody>
            <a:bodyPr wrap="square" rtlCol="0">
              <a:spAutoFit/>
            </a:bodyPr>
            <a:lstStyle/>
            <a:p>
              <a:pPr algn="ctr"/>
              <a:r>
                <a:rPr lang="en-GB" dirty="0">
                  <a:solidFill>
                    <a:schemeClr val="bg1"/>
                  </a:solidFill>
                  <a:latin typeface="LEMON MILK" panose="00000500000000000000" pitchFamily="50" charset="0"/>
                </a:rPr>
                <a:t>INLINE STYLING</a:t>
              </a:r>
            </a:p>
          </p:txBody>
        </p:sp>
      </p:grpSp>
      <p:grpSp>
        <p:nvGrpSpPr>
          <p:cNvPr id="26" name="Group 25">
            <a:extLst>
              <a:ext uri="{FF2B5EF4-FFF2-40B4-BE49-F238E27FC236}">
                <a16:creationId xmlns:a16="http://schemas.microsoft.com/office/drawing/2014/main" id="{B6B173FD-5750-46D8-6BEF-18E3BCF07988}"/>
              </a:ext>
            </a:extLst>
          </p:cNvPr>
          <p:cNvGrpSpPr/>
          <p:nvPr/>
        </p:nvGrpSpPr>
        <p:grpSpPr>
          <a:xfrm>
            <a:off x="4062956" y="1690688"/>
            <a:ext cx="3953114" cy="5018061"/>
            <a:chOff x="133926" y="2096655"/>
            <a:chExt cx="3532911" cy="5018061"/>
          </a:xfrm>
        </p:grpSpPr>
        <p:grpSp>
          <p:nvGrpSpPr>
            <p:cNvPr id="27" name="Group 26">
              <a:extLst>
                <a:ext uri="{FF2B5EF4-FFF2-40B4-BE49-F238E27FC236}">
                  <a16:creationId xmlns:a16="http://schemas.microsoft.com/office/drawing/2014/main" id="{247A870B-BD58-1B92-AB91-2859283760C2}"/>
                </a:ext>
              </a:extLst>
            </p:cNvPr>
            <p:cNvGrpSpPr/>
            <p:nvPr/>
          </p:nvGrpSpPr>
          <p:grpSpPr>
            <a:xfrm>
              <a:off x="133926" y="2096655"/>
              <a:ext cx="3532911" cy="5018061"/>
              <a:chOff x="133926" y="2096655"/>
              <a:chExt cx="3532911" cy="5018061"/>
            </a:xfrm>
          </p:grpSpPr>
          <p:sp>
            <p:nvSpPr>
              <p:cNvPr id="29" name="Rectangle 28">
                <a:extLst>
                  <a:ext uri="{FF2B5EF4-FFF2-40B4-BE49-F238E27FC236}">
                    <a16:creationId xmlns:a16="http://schemas.microsoft.com/office/drawing/2014/main" id="{6E3E0B17-2449-9EFA-89ED-968F578ED3F9}"/>
                  </a:ext>
                </a:extLst>
              </p:cNvPr>
              <p:cNvSpPr/>
              <p:nvPr/>
            </p:nvSpPr>
            <p:spPr>
              <a:xfrm>
                <a:off x="489528" y="2770910"/>
                <a:ext cx="3177309" cy="4343806"/>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GB" dirty="0">
                    <a:solidFill>
                      <a:schemeClr val="tx1"/>
                    </a:solidFill>
                  </a:rPr>
                  <a:t>There is actually a style tag in html</a:t>
                </a:r>
              </a:p>
              <a:p>
                <a:pPr marL="285750" indent="-285750">
                  <a:buFont typeface="Arial" panose="020B0604020202020204" pitchFamily="34" charset="0"/>
                  <a:buChar char="•"/>
                </a:pPr>
                <a:r>
                  <a:rPr lang="en-GB" dirty="0">
                    <a:solidFill>
                      <a:schemeClr val="tx1"/>
                    </a:solidFill>
                  </a:rPr>
                  <a:t>A bit better than inline styling, but this will set every paragraph to this style. We will need to start using other selectors to select specific paragraphs </a:t>
                </a:r>
              </a:p>
              <a:p>
                <a:r>
                  <a:rPr lang="en-GB" b="1" dirty="0">
                    <a:solidFill>
                      <a:schemeClr val="tx1"/>
                    </a:solidFill>
                  </a:rPr>
                  <a:t>&lt;style&gt;</a:t>
                </a:r>
              </a:p>
              <a:p>
                <a:r>
                  <a:rPr lang="en-GB" b="1" dirty="0">
                    <a:solidFill>
                      <a:schemeClr val="tx1"/>
                    </a:solidFill>
                  </a:rPr>
                  <a:t>	p{</a:t>
                </a:r>
              </a:p>
              <a:p>
                <a:r>
                  <a:rPr lang="en-GB" b="1" dirty="0">
                    <a:solidFill>
                      <a:schemeClr val="tx1"/>
                    </a:solidFill>
                  </a:rPr>
                  <a:t>	       background: red;</a:t>
                </a:r>
              </a:p>
              <a:p>
                <a:r>
                  <a:rPr lang="en-GB" b="1" dirty="0">
                    <a:solidFill>
                      <a:schemeClr val="tx1"/>
                    </a:solidFill>
                  </a:rPr>
                  <a:t>	}</a:t>
                </a:r>
              </a:p>
              <a:p>
                <a:r>
                  <a:rPr lang="en-GB" b="1" dirty="0">
                    <a:solidFill>
                      <a:schemeClr val="tx1"/>
                    </a:solidFill>
                  </a:rPr>
                  <a:t>&lt;/style&gt;</a:t>
                </a:r>
              </a:p>
              <a:p>
                <a:r>
                  <a:rPr lang="en-GB" dirty="0">
                    <a:solidFill>
                      <a:schemeClr val="tx1"/>
                    </a:solidFill>
                  </a:rPr>
                  <a:t>&lt;p&gt;</a:t>
                </a:r>
              </a:p>
              <a:p>
                <a:r>
                  <a:rPr lang="en-GB" dirty="0">
                    <a:solidFill>
                      <a:schemeClr val="tx1"/>
                    </a:solidFill>
                  </a:rPr>
                  <a:t>This text will have a red background</a:t>
                </a:r>
              </a:p>
              <a:p>
                <a:r>
                  <a:rPr lang="en-GB" dirty="0">
                    <a:solidFill>
                      <a:schemeClr val="tx1"/>
                    </a:solidFill>
                  </a:rPr>
                  <a:t>&lt;p&gt;</a:t>
                </a:r>
              </a:p>
            </p:txBody>
          </p:sp>
          <p:sp>
            <p:nvSpPr>
              <p:cNvPr id="30" name="Freeform: Shape 29">
                <a:extLst>
                  <a:ext uri="{FF2B5EF4-FFF2-40B4-BE49-F238E27FC236}">
                    <a16:creationId xmlns:a16="http://schemas.microsoft.com/office/drawing/2014/main" id="{E74F3907-BBF8-4D18-FEEC-212A97666545}"/>
                  </a:ext>
                </a:extLst>
              </p:cNvPr>
              <p:cNvSpPr/>
              <p:nvPr/>
            </p:nvSpPr>
            <p:spPr>
              <a:xfrm rot="10800000">
                <a:off x="133926" y="2096655"/>
                <a:ext cx="3532910" cy="674254"/>
              </a:xfrm>
              <a:custGeom>
                <a:avLst/>
                <a:gdLst>
                  <a:gd name="connsiteX0" fmla="*/ 3177309 w 3532909"/>
                  <a:gd name="connsiteY0" fmla="*/ 674254 h 674254"/>
                  <a:gd name="connsiteX1" fmla="*/ 0 w 3532909"/>
                  <a:gd name="connsiteY1" fmla="*/ 674254 h 674254"/>
                  <a:gd name="connsiteX2" fmla="*/ 0 w 3532909"/>
                  <a:gd name="connsiteY2" fmla="*/ 0 h 674254"/>
                  <a:gd name="connsiteX3" fmla="*/ 3177309 w 3532909"/>
                  <a:gd name="connsiteY3" fmla="*/ 0 h 674254"/>
                  <a:gd name="connsiteX4" fmla="*/ 3532909 w 3532909"/>
                  <a:gd name="connsiteY4" fmla="*/ 0 h 674254"/>
                  <a:gd name="connsiteX5" fmla="*/ 3532909 w 3532909"/>
                  <a:gd name="connsiteY5" fmla="*/ 337127 h 674254"/>
                  <a:gd name="connsiteX6" fmla="*/ 3177309 w 3532909"/>
                  <a:gd name="connsiteY6" fmla="*/ 674254 h 67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2909" h="674254">
                    <a:moveTo>
                      <a:pt x="3177309" y="674254"/>
                    </a:moveTo>
                    <a:lnTo>
                      <a:pt x="0" y="674254"/>
                    </a:lnTo>
                    <a:lnTo>
                      <a:pt x="0" y="0"/>
                    </a:lnTo>
                    <a:lnTo>
                      <a:pt x="3177309" y="0"/>
                    </a:lnTo>
                    <a:lnTo>
                      <a:pt x="3532909" y="0"/>
                    </a:lnTo>
                    <a:lnTo>
                      <a:pt x="3532909" y="337127"/>
                    </a:lnTo>
                    <a:cubicBezTo>
                      <a:pt x="3532909" y="523317"/>
                      <a:pt x="3373701" y="674254"/>
                      <a:pt x="3177309" y="674254"/>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wrap="square" rtlCol="0" anchor="ctr">
                <a:noAutofit/>
              </a:bodyPr>
              <a:lstStyle/>
              <a:p>
                <a:pPr algn="ctr"/>
                <a:endParaRPr lang="en-GB" dirty="0"/>
              </a:p>
            </p:txBody>
          </p:sp>
          <p:sp>
            <p:nvSpPr>
              <p:cNvPr id="31" name="Right Triangle 30">
                <a:extLst>
                  <a:ext uri="{FF2B5EF4-FFF2-40B4-BE49-F238E27FC236}">
                    <a16:creationId xmlns:a16="http://schemas.microsoft.com/office/drawing/2014/main" id="{5505C109-B7C3-255F-9548-877A8D9A7152}"/>
                  </a:ext>
                </a:extLst>
              </p:cNvPr>
              <p:cNvSpPr/>
              <p:nvPr/>
            </p:nvSpPr>
            <p:spPr>
              <a:xfrm rot="5400000" flipV="1">
                <a:off x="198582" y="2706255"/>
                <a:ext cx="226291" cy="355601"/>
              </a:xfrm>
              <a:prstGeom prst="rtTriangl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8" name="TextBox 27">
              <a:extLst>
                <a:ext uri="{FF2B5EF4-FFF2-40B4-BE49-F238E27FC236}">
                  <a16:creationId xmlns:a16="http://schemas.microsoft.com/office/drawing/2014/main" id="{8B0786E3-1683-5760-518F-BF83250BAC87}"/>
                </a:ext>
              </a:extLst>
            </p:cNvPr>
            <p:cNvSpPr txBox="1"/>
            <p:nvPr/>
          </p:nvSpPr>
          <p:spPr>
            <a:xfrm>
              <a:off x="489528" y="2253007"/>
              <a:ext cx="3177309" cy="369332"/>
            </a:xfrm>
            <a:prstGeom prst="rect">
              <a:avLst/>
            </a:prstGeom>
            <a:noFill/>
            <a:ln>
              <a:noFill/>
            </a:ln>
          </p:spPr>
          <p:txBody>
            <a:bodyPr wrap="square" rtlCol="0">
              <a:spAutoFit/>
            </a:bodyPr>
            <a:lstStyle/>
            <a:p>
              <a:pPr algn="ctr"/>
              <a:r>
                <a:rPr lang="en-GB" dirty="0">
                  <a:solidFill>
                    <a:schemeClr val="bg1"/>
                  </a:solidFill>
                  <a:latin typeface="LEMON MILK" panose="00000500000000000000" pitchFamily="50" charset="0"/>
                </a:rPr>
                <a:t>The &lt;Style&gt; tag</a:t>
              </a:r>
            </a:p>
          </p:txBody>
        </p:sp>
      </p:grpSp>
      <p:grpSp>
        <p:nvGrpSpPr>
          <p:cNvPr id="32" name="Group 31">
            <a:extLst>
              <a:ext uri="{FF2B5EF4-FFF2-40B4-BE49-F238E27FC236}">
                <a16:creationId xmlns:a16="http://schemas.microsoft.com/office/drawing/2014/main" id="{43F12F31-C633-B7FA-19A6-CF61CD7CA2F0}"/>
              </a:ext>
            </a:extLst>
          </p:cNvPr>
          <p:cNvGrpSpPr/>
          <p:nvPr/>
        </p:nvGrpSpPr>
        <p:grpSpPr>
          <a:xfrm>
            <a:off x="8129044" y="1693823"/>
            <a:ext cx="3953114" cy="5018060"/>
            <a:chOff x="133926" y="2096655"/>
            <a:chExt cx="3532911" cy="5018060"/>
          </a:xfrm>
        </p:grpSpPr>
        <p:grpSp>
          <p:nvGrpSpPr>
            <p:cNvPr id="33" name="Group 32">
              <a:extLst>
                <a:ext uri="{FF2B5EF4-FFF2-40B4-BE49-F238E27FC236}">
                  <a16:creationId xmlns:a16="http://schemas.microsoft.com/office/drawing/2014/main" id="{931D5215-0495-7935-40C9-6EB34D21F142}"/>
                </a:ext>
              </a:extLst>
            </p:cNvPr>
            <p:cNvGrpSpPr/>
            <p:nvPr/>
          </p:nvGrpSpPr>
          <p:grpSpPr>
            <a:xfrm>
              <a:off x="133926" y="2096655"/>
              <a:ext cx="3532911" cy="5018060"/>
              <a:chOff x="133926" y="2096655"/>
              <a:chExt cx="3532911" cy="5018060"/>
            </a:xfrm>
          </p:grpSpPr>
          <p:sp>
            <p:nvSpPr>
              <p:cNvPr id="35" name="Rectangle 34">
                <a:extLst>
                  <a:ext uri="{FF2B5EF4-FFF2-40B4-BE49-F238E27FC236}">
                    <a16:creationId xmlns:a16="http://schemas.microsoft.com/office/drawing/2014/main" id="{F49C002A-FD2A-2E03-E2D0-3AA2BB35207E}"/>
                  </a:ext>
                </a:extLst>
              </p:cNvPr>
              <p:cNvSpPr/>
              <p:nvPr/>
            </p:nvSpPr>
            <p:spPr>
              <a:xfrm>
                <a:off x="489528" y="2770910"/>
                <a:ext cx="3177309" cy="4343805"/>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GB" dirty="0">
                    <a:solidFill>
                      <a:schemeClr val="tx1"/>
                    </a:solidFill>
                  </a:rPr>
                  <a:t>This is the ‘standard’ way to add CSS when working with multiple stylesheets</a:t>
                </a:r>
              </a:p>
              <a:p>
                <a:pPr marL="285750" indent="-285750">
                  <a:buFont typeface="Arial" panose="020B0604020202020204" pitchFamily="34" charset="0"/>
                  <a:buChar char="•"/>
                </a:pPr>
                <a:r>
                  <a:rPr lang="en-GB" dirty="0">
                    <a:solidFill>
                      <a:schemeClr val="tx1"/>
                    </a:solidFill>
                  </a:rPr>
                  <a:t>Allows designer to edit the css in one place, and those changes are automatically reflected across all pages linked to that CSS.</a:t>
                </a:r>
              </a:p>
              <a:p>
                <a:pPr marL="285750" indent="-285750">
                  <a:buFont typeface="Arial" panose="020B0604020202020204" pitchFamily="34" charset="0"/>
                  <a:buChar char="•"/>
                </a:pPr>
                <a:endParaRPr lang="en-GB" dirty="0">
                  <a:solidFill>
                    <a:schemeClr val="tx1"/>
                  </a:solidFill>
                </a:endParaRPr>
              </a:p>
              <a:p>
                <a:r>
                  <a:rPr lang="en-GB" b="1" dirty="0">
                    <a:solidFill>
                      <a:schemeClr val="tx1"/>
                    </a:solidFill>
                  </a:rPr>
                  <a:t>&lt;link </a:t>
                </a:r>
                <a:r>
                  <a:rPr lang="en-GB" b="1" dirty="0" err="1">
                    <a:solidFill>
                      <a:schemeClr val="tx1"/>
                    </a:solidFill>
                  </a:rPr>
                  <a:t>rel</a:t>
                </a:r>
                <a:r>
                  <a:rPr lang="en-GB" b="1" dirty="0">
                    <a:solidFill>
                      <a:schemeClr val="tx1"/>
                    </a:solidFill>
                  </a:rPr>
                  <a:t>="stylesheet" </a:t>
                </a:r>
                <a:r>
                  <a:rPr lang="en-GB" b="1" dirty="0" err="1">
                    <a:solidFill>
                      <a:schemeClr val="tx1"/>
                    </a:solidFill>
                  </a:rPr>
                  <a:t>href</a:t>
                </a:r>
                <a:r>
                  <a:rPr lang="en-GB" b="1" dirty="0">
                    <a:solidFill>
                      <a:schemeClr val="tx1"/>
                    </a:solidFill>
                  </a:rPr>
                  <a:t>="mystyle.css"&gt;</a:t>
                </a:r>
              </a:p>
              <a:p>
                <a:endParaRPr lang="en-GB" b="1" dirty="0">
                  <a:solidFill>
                    <a:schemeClr val="tx1"/>
                  </a:solidFill>
                </a:endParaRPr>
              </a:p>
              <a:p>
                <a:r>
                  <a:rPr lang="en-GB" dirty="0">
                    <a:solidFill>
                      <a:schemeClr val="tx1"/>
                    </a:solidFill>
                  </a:rPr>
                  <a:t>&lt;p&gt;</a:t>
                </a:r>
              </a:p>
              <a:p>
                <a:r>
                  <a:rPr lang="en-GB" dirty="0">
                    <a:solidFill>
                      <a:schemeClr val="tx1"/>
                    </a:solidFill>
                  </a:rPr>
                  <a:t>This text will have a red background</a:t>
                </a:r>
              </a:p>
              <a:p>
                <a:r>
                  <a:rPr lang="en-GB" dirty="0">
                    <a:solidFill>
                      <a:schemeClr val="tx1"/>
                    </a:solidFill>
                  </a:rPr>
                  <a:t>&lt;p&gt;</a:t>
                </a:r>
              </a:p>
            </p:txBody>
          </p:sp>
          <p:sp>
            <p:nvSpPr>
              <p:cNvPr id="36" name="Freeform: Shape 35">
                <a:extLst>
                  <a:ext uri="{FF2B5EF4-FFF2-40B4-BE49-F238E27FC236}">
                    <a16:creationId xmlns:a16="http://schemas.microsoft.com/office/drawing/2014/main" id="{C80D150A-40C7-E09D-F2E6-233ED7808EF0}"/>
                  </a:ext>
                </a:extLst>
              </p:cNvPr>
              <p:cNvSpPr/>
              <p:nvPr/>
            </p:nvSpPr>
            <p:spPr>
              <a:xfrm rot="10800000">
                <a:off x="133926" y="2096655"/>
                <a:ext cx="3532910" cy="674254"/>
              </a:xfrm>
              <a:custGeom>
                <a:avLst/>
                <a:gdLst>
                  <a:gd name="connsiteX0" fmla="*/ 3177309 w 3532909"/>
                  <a:gd name="connsiteY0" fmla="*/ 674254 h 674254"/>
                  <a:gd name="connsiteX1" fmla="*/ 0 w 3532909"/>
                  <a:gd name="connsiteY1" fmla="*/ 674254 h 674254"/>
                  <a:gd name="connsiteX2" fmla="*/ 0 w 3532909"/>
                  <a:gd name="connsiteY2" fmla="*/ 0 h 674254"/>
                  <a:gd name="connsiteX3" fmla="*/ 3177309 w 3532909"/>
                  <a:gd name="connsiteY3" fmla="*/ 0 h 674254"/>
                  <a:gd name="connsiteX4" fmla="*/ 3532909 w 3532909"/>
                  <a:gd name="connsiteY4" fmla="*/ 0 h 674254"/>
                  <a:gd name="connsiteX5" fmla="*/ 3532909 w 3532909"/>
                  <a:gd name="connsiteY5" fmla="*/ 337127 h 674254"/>
                  <a:gd name="connsiteX6" fmla="*/ 3177309 w 3532909"/>
                  <a:gd name="connsiteY6" fmla="*/ 674254 h 67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2909" h="674254">
                    <a:moveTo>
                      <a:pt x="3177309" y="674254"/>
                    </a:moveTo>
                    <a:lnTo>
                      <a:pt x="0" y="674254"/>
                    </a:lnTo>
                    <a:lnTo>
                      <a:pt x="0" y="0"/>
                    </a:lnTo>
                    <a:lnTo>
                      <a:pt x="3177309" y="0"/>
                    </a:lnTo>
                    <a:lnTo>
                      <a:pt x="3532909" y="0"/>
                    </a:lnTo>
                    <a:lnTo>
                      <a:pt x="3532909" y="337127"/>
                    </a:lnTo>
                    <a:cubicBezTo>
                      <a:pt x="3532909" y="523317"/>
                      <a:pt x="3373701" y="674254"/>
                      <a:pt x="3177309" y="67425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wrap="square" rtlCol="0" anchor="ctr">
                <a:noAutofit/>
              </a:bodyPr>
              <a:lstStyle/>
              <a:p>
                <a:pPr algn="ctr"/>
                <a:endParaRPr lang="en-GB" dirty="0"/>
              </a:p>
            </p:txBody>
          </p:sp>
          <p:sp>
            <p:nvSpPr>
              <p:cNvPr id="37" name="Right Triangle 36">
                <a:extLst>
                  <a:ext uri="{FF2B5EF4-FFF2-40B4-BE49-F238E27FC236}">
                    <a16:creationId xmlns:a16="http://schemas.microsoft.com/office/drawing/2014/main" id="{AD9A42CB-E575-2E2B-F1B5-BDEE857EE6B3}"/>
                  </a:ext>
                </a:extLst>
              </p:cNvPr>
              <p:cNvSpPr/>
              <p:nvPr/>
            </p:nvSpPr>
            <p:spPr>
              <a:xfrm rot="5400000" flipV="1">
                <a:off x="198582" y="2706255"/>
                <a:ext cx="226291" cy="355601"/>
              </a:xfrm>
              <a:prstGeom prst="rtTriangl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4" name="TextBox 33">
              <a:extLst>
                <a:ext uri="{FF2B5EF4-FFF2-40B4-BE49-F238E27FC236}">
                  <a16:creationId xmlns:a16="http://schemas.microsoft.com/office/drawing/2014/main" id="{4A71EB17-7456-4002-164F-70D2F2973B2C}"/>
                </a:ext>
              </a:extLst>
            </p:cNvPr>
            <p:cNvSpPr txBox="1"/>
            <p:nvPr/>
          </p:nvSpPr>
          <p:spPr>
            <a:xfrm>
              <a:off x="489528" y="2253007"/>
              <a:ext cx="3177309" cy="369332"/>
            </a:xfrm>
            <a:prstGeom prst="rect">
              <a:avLst/>
            </a:prstGeom>
            <a:noFill/>
            <a:ln>
              <a:noFill/>
            </a:ln>
          </p:spPr>
          <p:txBody>
            <a:bodyPr wrap="square" rtlCol="0">
              <a:spAutoFit/>
            </a:bodyPr>
            <a:lstStyle/>
            <a:p>
              <a:pPr algn="ctr"/>
              <a:r>
                <a:rPr lang="en-GB" dirty="0">
                  <a:solidFill>
                    <a:schemeClr val="bg1"/>
                  </a:solidFill>
                  <a:latin typeface="LEMON MILK" panose="00000500000000000000" pitchFamily="50" charset="0"/>
                </a:rPr>
                <a:t>External Style Sheets</a:t>
              </a:r>
            </a:p>
          </p:txBody>
        </p:sp>
      </p:grpSp>
    </p:spTree>
    <p:extLst>
      <p:ext uri="{BB962C8B-B14F-4D97-AF65-F5344CB8AC3E}">
        <p14:creationId xmlns:p14="http://schemas.microsoft.com/office/powerpoint/2010/main" val="3554378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56FEBE0-78B0-6FC9-BD02-63B848498A75}"/>
              </a:ext>
            </a:extLst>
          </p:cNvPr>
          <p:cNvSpPr>
            <a:spLocks noGrp="1"/>
          </p:cNvSpPr>
          <p:nvPr>
            <p:ph type="title"/>
          </p:nvPr>
        </p:nvSpPr>
        <p:spPr>
          <a:xfrm>
            <a:off x="838200" y="3905833"/>
            <a:ext cx="4215063" cy="2398713"/>
          </a:xfrm>
        </p:spPr>
        <p:txBody>
          <a:bodyPr>
            <a:normAutofit/>
          </a:bodyPr>
          <a:lstStyle/>
          <a:p>
            <a:r>
              <a:rPr lang="en-GB" dirty="0"/>
              <a:t>Selectors</a:t>
            </a:r>
          </a:p>
        </p:txBody>
      </p:sp>
      <p:pic>
        <p:nvPicPr>
          <p:cNvPr id="5" name="Picture 4">
            <a:extLst>
              <a:ext uri="{FF2B5EF4-FFF2-40B4-BE49-F238E27FC236}">
                <a16:creationId xmlns:a16="http://schemas.microsoft.com/office/drawing/2014/main" id="{F34A80F1-BC0C-D5BD-2A29-E99B15D068BC}"/>
              </a:ext>
            </a:extLst>
          </p:cNvPr>
          <p:cNvPicPr>
            <a:picLocks noChangeAspect="1"/>
          </p:cNvPicPr>
          <p:nvPr/>
        </p:nvPicPr>
        <p:blipFill>
          <a:blip r:embed="rId2"/>
          <a:stretch>
            <a:fillRect/>
          </a:stretch>
        </p:blipFill>
        <p:spPr>
          <a:xfrm>
            <a:off x="1158955" y="889668"/>
            <a:ext cx="9875259" cy="1796851"/>
          </a:xfrm>
          <a:prstGeom prst="rect">
            <a:avLst/>
          </a:prstGeom>
        </p:spPr>
      </p:pic>
      <p:sp>
        <p:nvSpPr>
          <p:cNvPr id="3" name="Content Placeholder 2">
            <a:extLst>
              <a:ext uri="{FF2B5EF4-FFF2-40B4-BE49-F238E27FC236}">
                <a16:creationId xmlns:a16="http://schemas.microsoft.com/office/drawing/2014/main" id="{C5BAA340-F2BE-EEA5-4EB1-F56240EC1D04}"/>
              </a:ext>
            </a:extLst>
          </p:cNvPr>
          <p:cNvSpPr>
            <a:spLocks noGrp="1"/>
          </p:cNvSpPr>
          <p:nvPr>
            <p:ph idx="1"/>
          </p:nvPr>
        </p:nvSpPr>
        <p:spPr>
          <a:xfrm>
            <a:off x="4726005" y="3884452"/>
            <a:ext cx="7247822" cy="2776230"/>
          </a:xfrm>
        </p:spPr>
        <p:txBody>
          <a:bodyPr anchor="ctr">
            <a:normAutofit lnSpcReduction="10000"/>
          </a:bodyPr>
          <a:lstStyle/>
          <a:p>
            <a:r>
              <a:rPr lang="en-GB" sz="2000" dirty="0"/>
              <a:t>A CSS statement is made up of a selector and a declaration block.</a:t>
            </a:r>
          </a:p>
          <a:p>
            <a:r>
              <a:rPr lang="en-GB" sz="2000" dirty="0"/>
              <a:t>There are multiple Selectors you can use to ‘select’ different elements or groups of elements at the same time. For example, the above selects every heading 1 on the HTML page. However, you may wish to use a different selector if you didn’t want to select all of them.</a:t>
            </a:r>
          </a:p>
          <a:p>
            <a:r>
              <a:rPr lang="en-GB" sz="2000" dirty="0"/>
              <a:t>Declaration blocks have loads of different properties you can change, and different values you can set these to. Each declaration can be split by a semicolon.</a:t>
            </a:r>
          </a:p>
          <a:p>
            <a:endParaRPr lang="en-GB" sz="2000" dirty="0"/>
          </a:p>
        </p:txBody>
      </p:sp>
    </p:spTree>
    <p:extLst>
      <p:ext uri="{BB962C8B-B14F-4D97-AF65-F5344CB8AC3E}">
        <p14:creationId xmlns:p14="http://schemas.microsoft.com/office/powerpoint/2010/main" val="2101987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9B54A5-B146-09BB-8370-0069B41EB547}"/>
              </a:ext>
            </a:extLst>
          </p:cNvPr>
          <p:cNvSpPr>
            <a:spLocks noGrp="1"/>
          </p:cNvSpPr>
          <p:nvPr>
            <p:ph idx="1"/>
          </p:nvPr>
        </p:nvSpPr>
        <p:spPr>
          <a:xfrm>
            <a:off x="206604" y="207390"/>
            <a:ext cx="6882353" cy="6561055"/>
          </a:xfrm>
        </p:spPr>
        <p:txBody>
          <a:bodyPr>
            <a:normAutofit fontScale="85000" lnSpcReduction="20000"/>
          </a:bodyPr>
          <a:lstStyle/>
          <a:p>
            <a:pPr marL="0" indent="0">
              <a:buNone/>
            </a:pPr>
            <a:r>
              <a:rPr lang="en-GB" dirty="0"/>
              <a:t>&lt;!DOCTYPE html&gt;</a:t>
            </a:r>
          </a:p>
          <a:p>
            <a:pPr marL="0" indent="0">
              <a:buNone/>
            </a:pPr>
            <a:r>
              <a:rPr lang="en-GB" dirty="0"/>
              <a:t>&lt;html&gt;</a:t>
            </a:r>
          </a:p>
          <a:p>
            <a:pPr marL="0" indent="0">
              <a:buNone/>
            </a:pPr>
            <a:r>
              <a:rPr lang="en-GB" dirty="0"/>
              <a:t>	&lt;head&gt;</a:t>
            </a:r>
          </a:p>
          <a:p>
            <a:pPr marL="0" indent="0">
              <a:buNone/>
            </a:pPr>
            <a:r>
              <a:rPr lang="en-GB" dirty="0"/>
              <a:t>		&lt;style&gt;</a:t>
            </a:r>
          </a:p>
          <a:p>
            <a:pPr marL="0" indent="0">
              <a:buNone/>
            </a:pPr>
            <a:r>
              <a:rPr lang="en-GB" dirty="0"/>
              <a:t>		     h1, h2, p {</a:t>
            </a:r>
          </a:p>
          <a:p>
            <a:pPr marL="0" indent="0">
              <a:buNone/>
            </a:pPr>
            <a:r>
              <a:rPr lang="en-GB" dirty="0"/>
              <a:t>		         text-align: </a:t>
            </a:r>
            <a:r>
              <a:rPr lang="en-GB" dirty="0" err="1"/>
              <a:t>center</a:t>
            </a:r>
            <a:r>
              <a:rPr lang="en-GB" dirty="0"/>
              <a:t>;</a:t>
            </a:r>
          </a:p>
          <a:p>
            <a:pPr marL="0" indent="0">
              <a:buNone/>
            </a:pPr>
            <a:r>
              <a:rPr lang="en-GB" dirty="0"/>
              <a:t>		         </a:t>
            </a:r>
            <a:r>
              <a:rPr lang="en-GB" dirty="0" err="1"/>
              <a:t>color</a:t>
            </a:r>
            <a:r>
              <a:rPr lang="en-GB" dirty="0"/>
              <a:t>: red;</a:t>
            </a:r>
          </a:p>
          <a:p>
            <a:pPr marL="0" indent="0">
              <a:buNone/>
            </a:pPr>
            <a:r>
              <a:rPr lang="en-GB" dirty="0"/>
              <a:t>		     }</a:t>
            </a:r>
          </a:p>
          <a:p>
            <a:pPr marL="0" indent="0">
              <a:buNone/>
            </a:pPr>
            <a:r>
              <a:rPr lang="en-GB" dirty="0"/>
              <a:t>		&lt;/style&gt;</a:t>
            </a:r>
          </a:p>
          <a:p>
            <a:pPr marL="0" indent="0">
              <a:buNone/>
            </a:pPr>
            <a:r>
              <a:rPr lang="en-GB" dirty="0"/>
              <a:t>	&lt;/head&gt;</a:t>
            </a:r>
          </a:p>
          <a:p>
            <a:pPr marL="0" indent="0">
              <a:buNone/>
            </a:pPr>
            <a:r>
              <a:rPr lang="en-GB" dirty="0"/>
              <a:t>	&lt;body&gt;</a:t>
            </a:r>
          </a:p>
          <a:p>
            <a:pPr marL="0" indent="0">
              <a:buNone/>
            </a:pPr>
            <a:r>
              <a:rPr lang="en-GB" dirty="0"/>
              <a:t>		&lt;h1&gt;GCE Digital Technology!&lt;/h1&gt;</a:t>
            </a:r>
          </a:p>
          <a:p>
            <a:pPr marL="0" indent="0">
              <a:buNone/>
            </a:pPr>
            <a:r>
              <a:rPr lang="en-GB" dirty="0"/>
              <a:t>		&lt;h2&gt;Website Development&lt;/h2&gt;</a:t>
            </a:r>
          </a:p>
          <a:p>
            <a:pPr marL="0" indent="0">
              <a:buNone/>
            </a:pPr>
            <a:r>
              <a:rPr lang="en-GB" dirty="0"/>
              <a:t>		&lt;p&gt;A CSS statement is made up of a selector and a declaration block.  &lt;/p&gt;</a:t>
            </a:r>
          </a:p>
          <a:p>
            <a:pPr marL="0" indent="0">
              <a:buNone/>
            </a:pPr>
            <a:r>
              <a:rPr lang="en-GB" dirty="0"/>
              <a:t>	&lt;/body&gt;</a:t>
            </a:r>
          </a:p>
          <a:p>
            <a:pPr marL="0" indent="0">
              <a:buNone/>
            </a:pPr>
            <a:r>
              <a:rPr lang="en-GB" dirty="0"/>
              <a:t>&lt;/html&gt;</a:t>
            </a:r>
          </a:p>
          <a:p>
            <a:pPr marL="0" indent="0">
              <a:buNone/>
            </a:pPr>
            <a:endParaRPr lang="en-GB" dirty="0"/>
          </a:p>
        </p:txBody>
      </p:sp>
      <p:pic>
        <p:nvPicPr>
          <p:cNvPr id="8" name="Picture 7">
            <a:extLst>
              <a:ext uri="{FF2B5EF4-FFF2-40B4-BE49-F238E27FC236}">
                <a16:creationId xmlns:a16="http://schemas.microsoft.com/office/drawing/2014/main" id="{69412230-216F-EC6B-742C-CF1BE186828B}"/>
              </a:ext>
            </a:extLst>
          </p:cNvPr>
          <p:cNvPicPr>
            <a:picLocks noChangeAspect="1"/>
          </p:cNvPicPr>
          <p:nvPr/>
        </p:nvPicPr>
        <p:blipFill>
          <a:blip r:embed="rId2"/>
          <a:stretch>
            <a:fillRect/>
          </a:stretch>
        </p:blipFill>
        <p:spPr>
          <a:xfrm>
            <a:off x="7416479" y="2455139"/>
            <a:ext cx="4372585" cy="1457528"/>
          </a:xfrm>
          <a:prstGeom prst="rect">
            <a:avLst/>
          </a:prstGeom>
        </p:spPr>
      </p:pic>
      <p:sp>
        <p:nvSpPr>
          <p:cNvPr id="9" name="Rectangle 8">
            <a:extLst>
              <a:ext uri="{FF2B5EF4-FFF2-40B4-BE49-F238E27FC236}">
                <a16:creationId xmlns:a16="http://schemas.microsoft.com/office/drawing/2014/main" id="{2B47B3C9-14FB-25B0-F506-D43D28DDABAB}"/>
              </a:ext>
            </a:extLst>
          </p:cNvPr>
          <p:cNvSpPr/>
          <p:nvPr/>
        </p:nvSpPr>
        <p:spPr>
          <a:xfrm>
            <a:off x="6901314" y="1"/>
            <a:ext cx="67377" cy="6858000"/>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58809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56995"/>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4D2257B1-07D1-C5BD-697F-886EED458009}"/>
              </a:ext>
            </a:extLst>
          </p:cNvPr>
          <p:cNvGrpSpPr/>
          <p:nvPr/>
        </p:nvGrpSpPr>
        <p:grpSpPr>
          <a:xfrm>
            <a:off x="6846660" y="0"/>
            <a:ext cx="11176907" cy="6858000"/>
            <a:chOff x="0" y="0"/>
            <a:chExt cx="12192000" cy="6858000"/>
          </a:xfrm>
        </p:grpSpPr>
        <p:pic>
          <p:nvPicPr>
            <p:cNvPr id="5" name="Picture 4">
              <a:extLst>
                <a:ext uri="{FF2B5EF4-FFF2-40B4-BE49-F238E27FC236}">
                  <a16:creationId xmlns:a16="http://schemas.microsoft.com/office/drawing/2014/main" id="{1CF10993-75BE-9C51-D3E1-267CD94F574E}"/>
                </a:ext>
              </a:extLst>
            </p:cNvPr>
            <p:cNvPicPr>
              <a:picLocks noChangeAspect="1"/>
            </p:cNvPicPr>
            <p:nvPr/>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CAAF41F4-75A6-9097-59AE-003B9E8CE3D8}"/>
                </a:ext>
              </a:extLst>
            </p:cNvPr>
            <p:cNvPicPr>
              <a:picLocks noChangeAspect="1"/>
            </p:cNvPicPr>
            <p:nvPr/>
          </p:nvPicPr>
          <p:blipFill>
            <a:blip r:embed="rId2"/>
            <a:srcRect l="40000" r="37339" b="67311"/>
            <a:stretch/>
          </p:blipFill>
          <p:spPr>
            <a:xfrm>
              <a:off x="4876800" y="2517060"/>
              <a:ext cx="2762865" cy="2241755"/>
            </a:xfrm>
            <a:prstGeom prst="rect">
              <a:avLst/>
            </a:prstGeom>
          </p:spPr>
        </p:pic>
      </p:grpSp>
      <p:sp>
        <p:nvSpPr>
          <p:cNvPr id="3" name="Content Placeholder 2">
            <a:extLst>
              <a:ext uri="{FF2B5EF4-FFF2-40B4-BE49-F238E27FC236}">
                <a16:creationId xmlns:a16="http://schemas.microsoft.com/office/drawing/2014/main" id="{B5ABE34B-7A63-F49B-5181-9F5C517ACAB8}"/>
              </a:ext>
            </a:extLst>
          </p:cNvPr>
          <p:cNvSpPr>
            <a:spLocks noGrp="1"/>
          </p:cNvSpPr>
          <p:nvPr>
            <p:ph idx="1"/>
          </p:nvPr>
        </p:nvSpPr>
        <p:spPr>
          <a:xfrm>
            <a:off x="188686" y="2202873"/>
            <a:ext cx="7300685" cy="3974090"/>
          </a:xfrm>
        </p:spPr>
        <p:txBody>
          <a:bodyPr>
            <a:normAutofit fontScale="62500" lnSpcReduction="20000"/>
          </a:bodyPr>
          <a:lstStyle/>
          <a:p>
            <a:r>
              <a:rPr lang="en-GB" dirty="0">
                <a:solidFill>
                  <a:schemeClr val="bg1"/>
                </a:solidFill>
              </a:rPr>
              <a:t>The client–server model of networking splits the processing workload between the server computer, which provides resources and services and the client computer which requests services.  Applications are installed on the server and used at the client computer.</a:t>
            </a:r>
          </a:p>
          <a:p>
            <a:endParaRPr lang="en-GB" dirty="0">
              <a:solidFill>
                <a:schemeClr val="bg1"/>
              </a:solidFill>
            </a:endParaRPr>
          </a:p>
          <a:p>
            <a:r>
              <a:rPr lang="en-GB" dirty="0">
                <a:solidFill>
                  <a:schemeClr val="bg1"/>
                </a:solidFill>
              </a:rPr>
              <a:t>Examples of servers are web servers and file servers.  Devices linked to these servers are clients </a:t>
            </a:r>
          </a:p>
          <a:p>
            <a:pPr lvl="1"/>
            <a:r>
              <a:rPr lang="en-GB" dirty="0">
                <a:solidFill>
                  <a:schemeClr val="bg1"/>
                </a:solidFill>
              </a:rPr>
              <a:t>i.e. laptops, smartphones and other mobile devices.</a:t>
            </a:r>
          </a:p>
          <a:p>
            <a:endParaRPr lang="en-GB" dirty="0">
              <a:solidFill>
                <a:schemeClr val="bg1"/>
              </a:solidFill>
            </a:endParaRPr>
          </a:p>
          <a:p>
            <a:r>
              <a:rPr lang="en-GB" dirty="0">
                <a:solidFill>
                  <a:schemeClr val="bg1"/>
                </a:solidFill>
              </a:rPr>
              <a:t>Client-side scripting and processing enables interaction on a webpage. The code needed to handle user-input is downloaded and executed by the browser or a plug-in on the client computer.  </a:t>
            </a:r>
          </a:p>
          <a:p>
            <a:r>
              <a:rPr lang="en-GB" dirty="0">
                <a:solidFill>
                  <a:schemeClr val="bg1"/>
                </a:solidFill>
              </a:rPr>
              <a:t>An example of a client-side interaction is when a user clicks on a button or enters data into a form.  </a:t>
            </a:r>
          </a:p>
          <a:p>
            <a:pPr lvl="1"/>
            <a:r>
              <a:rPr lang="en-GB" dirty="0">
                <a:solidFill>
                  <a:schemeClr val="bg1"/>
                </a:solidFill>
              </a:rPr>
              <a:t>i.e. using </a:t>
            </a:r>
            <a:r>
              <a:rPr lang="en-GB" dirty="0" err="1">
                <a:solidFill>
                  <a:schemeClr val="bg1"/>
                </a:solidFill>
              </a:rPr>
              <a:t>Javascript</a:t>
            </a:r>
            <a:endParaRPr lang="en-GB" dirty="0">
              <a:solidFill>
                <a:schemeClr val="bg1"/>
              </a:solidFill>
            </a:endParaRPr>
          </a:p>
        </p:txBody>
      </p:sp>
      <p:sp>
        <p:nvSpPr>
          <p:cNvPr id="2" name="Title 1">
            <a:extLst>
              <a:ext uri="{FF2B5EF4-FFF2-40B4-BE49-F238E27FC236}">
                <a16:creationId xmlns:a16="http://schemas.microsoft.com/office/drawing/2014/main" id="{6875853E-03D4-C280-0DB6-DC3DF955F736}"/>
              </a:ext>
            </a:extLst>
          </p:cNvPr>
          <p:cNvSpPr>
            <a:spLocks noGrp="1"/>
          </p:cNvSpPr>
          <p:nvPr>
            <p:ph type="title"/>
          </p:nvPr>
        </p:nvSpPr>
        <p:spPr>
          <a:xfrm>
            <a:off x="8225971" y="5950311"/>
            <a:ext cx="3966029" cy="1325563"/>
          </a:xfrm>
        </p:spPr>
        <p:txBody>
          <a:bodyPr>
            <a:normAutofit/>
          </a:bodyPr>
          <a:lstStyle/>
          <a:p>
            <a:r>
              <a:rPr lang="en-GB" sz="3200" dirty="0">
                <a:solidFill>
                  <a:schemeClr val="bg1"/>
                </a:solidFill>
                <a:latin typeface="LEMON MILK" panose="00000500000000000000" pitchFamily="50" charset="0"/>
              </a:rPr>
              <a:t>Processing</a:t>
            </a:r>
          </a:p>
        </p:txBody>
      </p:sp>
      <p:grpSp>
        <p:nvGrpSpPr>
          <p:cNvPr id="4" name="Group 3">
            <a:extLst>
              <a:ext uri="{FF2B5EF4-FFF2-40B4-BE49-F238E27FC236}">
                <a16:creationId xmlns:a16="http://schemas.microsoft.com/office/drawing/2014/main" id="{4E73B37A-7823-C6F9-0798-AE2A0581BCC1}"/>
              </a:ext>
            </a:extLst>
          </p:cNvPr>
          <p:cNvGrpSpPr/>
          <p:nvPr/>
        </p:nvGrpSpPr>
        <p:grpSpPr>
          <a:xfrm>
            <a:off x="3416447" y="63732"/>
            <a:ext cx="8861452" cy="1940949"/>
            <a:chOff x="7451723" y="-161603"/>
            <a:chExt cx="6178164" cy="1353221"/>
          </a:xfrm>
        </p:grpSpPr>
        <p:sp>
          <p:nvSpPr>
            <p:cNvPr id="8" name="Rectangle 7">
              <a:extLst>
                <a:ext uri="{FF2B5EF4-FFF2-40B4-BE49-F238E27FC236}">
                  <a16:creationId xmlns:a16="http://schemas.microsoft.com/office/drawing/2014/main" id="{E930940E-9864-2BD4-5ED0-AC8868C1B3B6}"/>
                </a:ext>
              </a:extLst>
            </p:cNvPr>
            <p:cNvSpPr/>
            <p:nvPr/>
          </p:nvSpPr>
          <p:spPr>
            <a:xfrm>
              <a:off x="7926507" y="-161603"/>
              <a:ext cx="5703380" cy="1353221"/>
            </a:xfrm>
            <a:prstGeom prst="rect">
              <a:avLst/>
            </a:prstGeom>
            <a:solidFill>
              <a:schemeClr val="bg1"/>
            </a:solidFill>
            <a:ln w="38100">
              <a:solidFill>
                <a:srgbClr val="71A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14375"/>
              <a:r>
                <a:rPr lang="en-GB" sz="2400" b="1" u="sng" dirty="0">
                  <a:solidFill>
                    <a:schemeClr val="tx1"/>
                  </a:solidFill>
                  <a:latin typeface="Ink Free" panose="03080402000500000000" pitchFamily="66" charset="0"/>
                </a:rPr>
                <a:t>Client Side Processing</a:t>
              </a:r>
            </a:p>
            <a:p>
              <a:pPr marL="714375"/>
              <a:r>
                <a:rPr lang="en-GB" sz="2400" dirty="0">
                  <a:solidFill>
                    <a:schemeClr val="tx1"/>
                  </a:solidFill>
                  <a:latin typeface="Ink Free" panose="03080402000500000000" pitchFamily="66" charset="0"/>
                </a:rPr>
                <a:t>When a user is carrying out a transaction over the Internet, as much processing as possible will be done on the user’s computer</a:t>
              </a:r>
            </a:p>
          </p:txBody>
        </p:sp>
        <p:pic>
          <p:nvPicPr>
            <p:cNvPr id="9" name="Picture 8" descr="A grey and green circle with two pages&#10;&#10;AI-generated content may be incorrect.">
              <a:extLst>
                <a:ext uri="{FF2B5EF4-FFF2-40B4-BE49-F238E27FC236}">
                  <a16:creationId xmlns:a16="http://schemas.microsoft.com/office/drawing/2014/main" id="{6D296B06-31C3-463B-0D28-AAB586CF4E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1723" y="108225"/>
              <a:ext cx="751009" cy="751009"/>
            </a:xfrm>
            <a:prstGeom prst="rect">
              <a:avLst/>
            </a:prstGeom>
          </p:spPr>
        </p:pic>
      </p:grpSp>
    </p:spTree>
    <p:extLst>
      <p:ext uri="{BB962C8B-B14F-4D97-AF65-F5344CB8AC3E}">
        <p14:creationId xmlns:p14="http://schemas.microsoft.com/office/powerpoint/2010/main" val="3022290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5699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F4EA3-98AB-CB66-BE57-45F3DE75545D}"/>
              </a:ext>
            </a:extLst>
          </p:cNvPr>
          <p:cNvSpPr>
            <a:spLocks noGrp="1"/>
          </p:cNvSpPr>
          <p:nvPr>
            <p:ph type="title"/>
          </p:nvPr>
        </p:nvSpPr>
        <p:spPr/>
        <p:txBody>
          <a:bodyPr/>
          <a:lstStyle/>
          <a:p>
            <a:r>
              <a:rPr lang="en-GB" dirty="0">
                <a:solidFill>
                  <a:schemeClr val="bg1"/>
                </a:solidFill>
                <a:latin typeface="LEMON MILK" panose="00000500000000000000" pitchFamily="50" charset="0"/>
              </a:rPr>
              <a:t>Client-side Processing</a:t>
            </a:r>
          </a:p>
        </p:txBody>
      </p:sp>
      <p:graphicFrame>
        <p:nvGraphicFramePr>
          <p:cNvPr id="4" name="Content Placeholder 3">
            <a:extLst>
              <a:ext uri="{FF2B5EF4-FFF2-40B4-BE49-F238E27FC236}">
                <a16:creationId xmlns:a16="http://schemas.microsoft.com/office/drawing/2014/main" id="{21B8AB11-7B3A-4CBF-BF59-B66AA322FFC7}"/>
              </a:ext>
            </a:extLst>
          </p:cNvPr>
          <p:cNvGraphicFramePr>
            <a:graphicFrameLocks noGrp="1"/>
          </p:cNvGraphicFramePr>
          <p:nvPr>
            <p:ph idx="1"/>
            <p:extLst>
              <p:ext uri="{D42A27DB-BD31-4B8C-83A1-F6EECF244321}">
                <p14:modId xmlns:p14="http://schemas.microsoft.com/office/powerpoint/2010/main" val="1612342374"/>
              </p:ext>
            </p:extLst>
          </p:nvPr>
        </p:nvGraphicFramePr>
        <p:xfrm>
          <a:off x="269420" y="1825625"/>
          <a:ext cx="11632294" cy="4672960"/>
        </p:xfrm>
        <a:graphic>
          <a:graphicData uri="http://schemas.openxmlformats.org/drawingml/2006/table">
            <a:tbl>
              <a:tblPr firstRow="1" bandRow="1">
                <a:tableStyleId>{073A0DAA-6AF3-43AB-8588-CEC1D06C72B9}</a:tableStyleId>
              </a:tblPr>
              <a:tblGrid>
                <a:gridCol w="5816147">
                  <a:extLst>
                    <a:ext uri="{9D8B030D-6E8A-4147-A177-3AD203B41FA5}">
                      <a16:colId xmlns:a16="http://schemas.microsoft.com/office/drawing/2014/main" val="3677131743"/>
                    </a:ext>
                  </a:extLst>
                </a:gridCol>
                <a:gridCol w="5816147">
                  <a:extLst>
                    <a:ext uri="{9D8B030D-6E8A-4147-A177-3AD203B41FA5}">
                      <a16:colId xmlns:a16="http://schemas.microsoft.com/office/drawing/2014/main" val="1305247277"/>
                    </a:ext>
                  </a:extLst>
                </a:gridCol>
              </a:tblGrid>
              <a:tr h="347257">
                <a:tc>
                  <a:txBody>
                    <a:bodyPr/>
                    <a:lstStyle/>
                    <a:p>
                      <a:r>
                        <a:rPr lang="en-GB" dirty="0"/>
                        <a:t>Pros</a:t>
                      </a:r>
                    </a:p>
                  </a:txBody>
                  <a:tcPr/>
                </a:tc>
                <a:tc>
                  <a:txBody>
                    <a:bodyPr/>
                    <a:lstStyle/>
                    <a:p>
                      <a:r>
                        <a:rPr lang="en-GB" dirty="0"/>
                        <a:t>Cons</a:t>
                      </a:r>
                    </a:p>
                  </a:txBody>
                  <a:tcPr/>
                </a:tc>
                <a:extLst>
                  <a:ext uri="{0D108BD9-81ED-4DB2-BD59-A6C34878D82A}">
                    <a16:rowId xmlns:a16="http://schemas.microsoft.com/office/drawing/2014/main" val="3786788442"/>
                  </a:ext>
                </a:extLst>
              </a:tr>
              <a:tr h="715647">
                <a:tc>
                  <a:txBody>
                    <a:bodyPr/>
                    <a:lstStyle/>
                    <a:p>
                      <a:r>
                        <a:rPr lang="en-GB" sz="1800" b="0" kern="1200" dirty="0">
                          <a:solidFill>
                            <a:schemeClr val="dk1"/>
                          </a:solidFill>
                          <a:effectLst/>
                        </a:rPr>
                        <a:t>Web traffic is reduced and so less bandwidth is used.</a:t>
                      </a:r>
                      <a:endParaRPr lang="en-GB" sz="1800" b="0" i="0" kern="1200" dirty="0">
                        <a:solidFill>
                          <a:schemeClr val="dk1"/>
                        </a:solidFill>
                        <a:effectLst/>
                        <a:latin typeface="+mn-lt"/>
                        <a:ea typeface="+mn-ea"/>
                        <a:cs typeface="+mn-cs"/>
                      </a:endParaRPr>
                    </a:p>
                  </a:txBody>
                  <a:tcPr/>
                </a:tc>
                <a:tc>
                  <a:txBody>
                    <a:bodyPr/>
                    <a:lstStyle/>
                    <a:p>
                      <a:pPr algn="l">
                        <a:spcBef>
                          <a:spcPts val="1500"/>
                        </a:spcBef>
                        <a:buFont typeface="Arial" panose="020B0604020202020204" pitchFamily="34" charset="0"/>
                        <a:buNone/>
                      </a:pPr>
                      <a:r>
                        <a:rPr lang="en-GB" b="0" dirty="0">
                          <a:solidFill>
                            <a:srgbClr val="000000"/>
                          </a:solidFill>
                          <a:effectLst/>
                        </a:rPr>
                        <a:t>The browser must support </a:t>
                      </a:r>
                      <a:r>
                        <a:rPr lang="en-GB" b="0" dirty="0" err="1">
                          <a:solidFill>
                            <a:srgbClr val="000000"/>
                          </a:solidFill>
                          <a:effectLst/>
                        </a:rPr>
                        <a:t>Javascript</a:t>
                      </a:r>
                      <a:r>
                        <a:rPr lang="en-GB" b="0" dirty="0">
                          <a:solidFill>
                            <a:srgbClr val="000000"/>
                          </a:solidFill>
                          <a:effectLst/>
                        </a:rPr>
                        <a:t> (most do)</a:t>
                      </a:r>
                      <a:endParaRPr lang="en-GB" b="0" i="0" dirty="0">
                        <a:solidFill>
                          <a:srgbClr val="000000"/>
                        </a:solidFill>
                        <a:effectLst/>
                        <a:latin typeface="OpenSansRegular"/>
                      </a:endParaRPr>
                    </a:p>
                  </a:txBody>
                  <a:tcPr/>
                </a:tc>
                <a:extLst>
                  <a:ext uri="{0D108BD9-81ED-4DB2-BD59-A6C34878D82A}">
                    <a16:rowId xmlns:a16="http://schemas.microsoft.com/office/drawing/2014/main" val="4200169783"/>
                  </a:ext>
                </a:extLst>
              </a:tr>
              <a:tr h="10847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rPr>
                        <a:t>Helps ensure that data sent to the server passes validation rules.</a:t>
                      </a:r>
                    </a:p>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000000"/>
                          </a:solidFill>
                          <a:effectLst/>
                        </a:rPr>
                        <a:t>It needs technical skills to write JavaScript code from scratch, although there are plenty of JavaScript libraries such as </a:t>
                      </a:r>
                      <a:r>
                        <a:rPr lang="en-GB" b="0" dirty="0" err="1">
                          <a:solidFill>
                            <a:srgbClr val="000000"/>
                          </a:solidFill>
                          <a:effectLst/>
                        </a:rPr>
                        <a:t>JQuery</a:t>
                      </a:r>
                      <a:r>
                        <a:rPr lang="en-GB" b="0" dirty="0">
                          <a:solidFill>
                            <a:srgbClr val="000000"/>
                          </a:solidFill>
                          <a:effectLst/>
                        </a:rPr>
                        <a:t> available that reduce this burden.</a:t>
                      </a:r>
                      <a:endParaRPr lang="en-GB" b="0" i="0" dirty="0">
                        <a:solidFill>
                          <a:srgbClr val="000000"/>
                        </a:solidFill>
                        <a:effectLst/>
                        <a:latin typeface="OpenSansRegular"/>
                      </a:endParaRPr>
                    </a:p>
                  </a:txBody>
                  <a:tcPr/>
                </a:tc>
                <a:extLst>
                  <a:ext uri="{0D108BD9-81ED-4DB2-BD59-A6C34878D82A}">
                    <a16:rowId xmlns:a16="http://schemas.microsoft.com/office/drawing/2014/main" val="738081086"/>
                  </a:ext>
                </a:extLst>
              </a:tr>
              <a:tr h="8681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rPr>
                        <a:t>Interactive widgets, such as a pop-up calendar assists the visitor to enter data correctly.</a:t>
                      </a:r>
                    </a:p>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err="1">
                          <a:solidFill>
                            <a:srgbClr val="000000"/>
                          </a:solidFill>
                          <a:effectLst/>
                        </a:rPr>
                        <a:t>Javascript</a:t>
                      </a:r>
                      <a:r>
                        <a:rPr lang="en-GB" b="0" dirty="0">
                          <a:solidFill>
                            <a:srgbClr val="000000"/>
                          </a:solidFill>
                          <a:effectLst/>
                        </a:rPr>
                        <a:t> has to be enabled in order to run (some users and admins turn it off).</a:t>
                      </a:r>
                      <a:endParaRPr lang="en-GB" b="0" i="0" dirty="0">
                        <a:solidFill>
                          <a:srgbClr val="000000"/>
                        </a:solidFill>
                        <a:effectLst/>
                        <a:latin typeface="OpenSansRegular"/>
                      </a:endParaRPr>
                    </a:p>
                  </a:txBody>
                  <a:tcPr/>
                </a:tc>
                <a:extLst>
                  <a:ext uri="{0D108BD9-81ED-4DB2-BD59-A6C34878D82A}">
                    <a16:rowId xmlns:a16="http://schemas.microsoft.com/office/drawing/2014/main" val="1266222799"/>
                  </a:ext>
                </a:extLst>
              </a:tr>
              <a:tr h="6779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rPr>
                        <a:t>No delays in processing local data.</a:t>
                      </a:r>
                    </a:p>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000000"/>
                          </a:solidFill>
                          <a:effectLst/>
                        </a:rPr>
                        <a:t>Page loading is slower as the </a:t>
                      </a:r>
                      <a:r>
                        <a:rPr lang="en-GB" b="0" dirty="0" err="1">
                          <a:solidFill>
                            <a:srgbClr val="000000"/>
                          </a:solidFill>
                          <a:effectLst/>
                        </a:rPr>
                        <a:t>Javascript</a:t>
                      </a:r>
                      <a:r>
                        <a:rPr lang="en-GB" b="0" dirty="0">
                          <a:solidFill>
                            <a:srgbClr val="000000"/>
                          </a:solidFill>
                          <a:effectLst/>
                        </a:rPr>
                        <a:t> script has to be loaded by the browser.</a:t>
                      </a:r>
                      <a:endParaRPr lang="en-GB" b="0" i="0" dirty="0">
                        <a:solidFill>
                          <a:srgbClr val="000000"/>
                        </a:solidFill>
                        <a:effectLst/>
                        <a:latin typeface="OpenSansRegular"/>
                      </a:endParaRPr>
                    </a:p>
                  </a:txBody>
                  <a:tcPr/>
                </a:tc>
                <a:extLst>
                  <a:ext uri="{0D108BD9-81ED-4DB2-BD59-A6C34878D82A}">
                    <a16:rowId xmlns:a16="http://schemas.microsoft.com/office/drawing/2014/main" val="1733906688"/>
                  </a:ext>
                </a:extLst>
              </a:tr>
              <a:tr h="8813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rPr>
                        <a:t>Reduces the load on the server as it does not have to do the processing.</a:t>
                      </a:r>
                    </a:p>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000000"/>
                          </a:solidFill>
                          <a:effectLst/>
                        </a:rPr>
                        <a:t>Search engines will find it difficult to index a JavaScript-heavy page, as much of the content is created as the page loads.</a:t>
                      </a:r>
                      <a:endParaRPr lang="en-GB" b="0" i="0" dirty="0">
                        <a:solidFill>
                          <a:srgbClr val="000000"/>
                        </a:solidFill>
                        <a:effectLst/>
                        <a:latin typeface="OpenSansRegular"/>
                      </a:endParaRPr>
                    </a:p>
                  </a:txBody>
                  <a:tcPr/>
                </a:tc>
                <a:extLst>
                  <a:ext uri="{0D108BD9-81ED-4DB2-BD59-A6C34878D82A}">
                    <a16:rowId xmlns:a16="http://schemas.microsoft.com/office/drawing/2014/main" val="4039414774"/>
                  </a:ext>
                </a:extLst>
              </a:tr>
            </a:tbl>
          </a:graphicData>
        </a:graphic>
      </p:graphicFrame>
    </p:spTree>
    <p:extLst>
      <p:ext uri="{BB962C8B-B14F-4D97-AF65-F5344CB8AC3E}">
        <p14:creationId xmlns:p14="http://schemas.microsoft.com/office/powerpoint/2010/main" val="2386127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55A5EA"/>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80D11B0-8F91-2B6D-BF40-34EC73112154}"/>
              </a:ext>
            </a:extLst>
          </p:cNvPr>
          <p:cNvGrpSpPr/>
          <p:nvPr/>
        </p:nvGrpSpPr>
        <p:grpSpPr>
          <a:xfrm>
            <a:off x="-6183539" y="0"/>
            <a:ext cx="11176907" cy="6858000"/>
            <a:chOff x="0" y="0"/>
            <a:chExt cx="12192000" cy="6858000"/>
          </a:xfrm>
        </p:grpSpPr>
        <p:pic>
          <p:nvPicPr>
            <p:cNvPr id="5" name="Picture 4">
              <a:extLst>
                <a:ext uri="{FF2B5EF4-FFF2-40B4-BE49-F238E27FC236}">
                  <a16:creationId xmlns:a16="http://schemas.microsoft.com/office/drawing/2014/main" id="{C59474E0-AEA7-2A76-EAF0-05BAA330C7AB}"/>
                </a:ext>
              </a:extLst>
            </p:cNvPr>
            <p:cNvPicPr>
              <a:picLocks noChangeAspect="1"/>
            </p:cNvPicPr>
            <p:nvPr/>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252E691B-A930-28C8-A76A-D04F22B17E7E}"/>
                </a:ext>
              </a:extLst>
            </p:cNvPr>
            <p:cNvPicPr>
              <a:picLocks noChangeAspect="1"/>
            </p:cNvPicPr>
            <p:nvPr/>
          </p:nvPicPr>
          <p:blipFill>
            <a:blip r:embed="rId2"/>
            <a:srcRect l="40000" r="37339" b="67311"/>
            <a:stretch/>
          </p:blipFill>
          <p:spPr>
            <a:xfrm>
              <a:off x="4876800" y="2517060"/>
              <a:ext cx="2762865" cy="2241755"/>
            </a:xfrm>
            <a:prstGeom prst="rect">
              <a:avLst/>
            </a:prstGeom>
          </p:spPr>
        </p:pic>
      </p:grpSp>
      <p:sp>
        <p:nvSpPr>
          <p:cNvPr id="3" name="Content Placeholder 2">
            <a:extLst>
              <a:ext uri="{FF2B5EF4-FFF2-40B4-BE49-F238E27FC236}">
                <a16:creationId xmlns:a16="http://schemas.microsoft.com/office/drawing/2014/main" id="{3814EF85-FDFB-E874-FCBC-2FC5E00DC319}"/>
              </a:ext>
            </a:extLst>
          </p:cNvPr>
          <p:cNvSpPr>
            <a:spLocks noGrp="1"/>
          </p:cNvSpPr>
          <p:nvPr>
            <p:ph idx="1"/>
          </p:nvPr>
        </p:nvSpPr>
        <p:spPr>
          <a:xfrm>
            <a:off x="4034970" y="2327564"/>
            <a:ext cx="8157030" cy="4530436"/>
          </a:xfrm>
        </p:spPr>
        <p:txBody>
          <a:bodyPr>
            <a:normAutofit fontScale="77500" lnSpcReduction="20000"/>
          </a:bodyPr>
          <a:lstStyle/>
          <a:p>
            <a:r>
              <a:rPr lang="en-GB" dirty="0"/>
              <a:t>Server-side scripting and processing sends data to the server across the internet. The server then runs an application that processes the information and returns the results, typically a webpage.  </a:t>
            </a:r>
          </a:p>
          <a:p>
            <a:pPr lvl="1"/>
            <a:r>
              <a:rPr lang="en-GB" dirty="0"/>
              <a:t>PHP is a server-side programming language.</a:t>
            </a:r>
          </a:p>
          <a:p>
            <a:endParaRPr lang="en-GB" dirty="0"/>
          </a:p>
          <a:p>
            <a:r>
              <a:rPr lang="en-GB" dirty="0"/>
              <a:t>Webpages can contain interactive elements.  </a:t>
            </a:r>
          </a:p>
          <a:p>
            <a:r>
              <a:rPr lang="en-GB" dirty="0"/>
              <a:t>Processing of the interactions can be server-side or client-side. </a:t>
            </a:r>
          </a:p>
          <a:p>
            <a:pPr lvl="1"/>
            <a:r>
              <a:rPr lang="en-GB" dirty="0"/>
              <a:t>Data transmission can be enhanced by more client-side processing.  </a:t>
            </a:r>
          </a:p>
          <a:p>
            <a:r>
              <a:rPr lang="en-GB" dirty="0"/>
              <a:t>In the case of a travel booking, the booking form is completed and validated at the client computer then sent to the server to complete the booking.  </a:t>
            </a:r>
          </a:p>
          <a:p>
            <a:pPr lvl="1"/>
            <a:r>
              <a:rPr lang="en-GB" dirty="0"/>
              <a:t>This is more effective as the server will receive a correctly completed booking form.  It will not have to be returned due to errors on the form.  </a:t>
            </a:r>
          </a:p>
          <a:p>
            <a:pPr lvl="1"/>
            <a:r>
              <a:rPr lang="en-GB" dirty="0"/>
              <a:t>The server can complete the booking since it has the data on availability.</a:t>
            </a:r>
          </a:p>
          <a:p>
            <a:endParaRPr lang="en-GB" dirty="0"/>
          </a:p>
        </p:txBody>
      </p:sp>
      <p:sp>
        <p:nvSpPr>
          <p:cNvPr id="9" name="Title 1">
            <a:extLst>
              <a:ext uri="{FF2B5EF4-FFF2-40B4-BE49-F238E27FC236}">
                <a16:creationId xmlns:a16="http://schemas.microsoft.com/office/drawing/2014/main" id="{6C21955B-8DA6-E598-8A6D-5CB7135E025A}"/>
              </a:ext>
            </a:extLst>
          </p:cNvPr>
          <p:cNvSpPr txBox="1">
            <a:spLocks/>
          </p:cNvSpPr>
          <p:nvPr/>
        </p:nvSpPr>
        <p:spPr>
          <a:xfrm>
            <a:off x="762002" y="5933961"/>
            <a:ext cx="396602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200" dirty="0">
                <a:solidFill>
                  <a:schemeClr val="bg1"/>
                </a:solidFill>
                <a:latin typeface="LEMON MILK" panose="00000500000000000000" pitchFamily="50" charset="0"/>
              </a:rPr>
              <a:t>Processing</a:t>
            </a:r>
          </a:p>
        </p:txBody>
      </p:sp>
      <p:grpSp>
        <p:nvGrpSpPr>
          <p:cNvPr id="2" name="Group 1">
            <a:extLst>
              <a:ext uri="{FF2B5EF4-FFF2-40B4-BE49-F238E27FC236}">
                <a16:creationId xmlns:a16="http://schemas.microsoft.com/office/drawing/2014/main" id="{1310E67C-86D9-FA65-8E0B-55AFBC6F38CD}"/>
              </a:ext>
            </a:extLst>
          </p:cNvPr>
          <p:cNvGrpSpPr/>
          <p:nvPr/>
        </p:nvGrpSpPr>
        <p:grpSpPr>
          <a:xfrm>
            <a:off x="-446360" y="228380"/>
            <a:ext cx="10063177" cy="1572288"/>
            <a:chOff x="7451723" y="-33088"/>
            <a:chExt cx="7016001" cy="1096192"/>
          </a:xfrm>
        </p:grpSpPr>
        <p:sp>
          <p:nvSpPr>
            <p:cNvPr id="7" name="Rectangle 6">
              <a:extLst>
                <a:ext uri="{FF2B5EF4-FFF2-40B4-BE49-F238E27FC236}">
                  <a16:creationId xmlns:a16="http://schemas.microsoft.com/office/drawing/2014/main" id="{D2D96180-A7A5-7DF9-84AF-B2783E3FA365}"/>
                </a:ext>
              </a:extLst>
            </p:cNvPr>
            <p:cNvSpPr/>
            <p:nvPr/>
          </p:nvSpPr>
          <p:spPr>
            <a:xfrm>
              <a:off x="7926507" y="-33088"/>
              <a:ext cx="6541217" cy="1096192"/>
            </a:xfrm>
            <a:prstGeom prst="rect">
              <a:avLst/>
            </a:prstGeom>
            <a:solidFill>
              <a:schemeClr val="bg1"/>
            </a:solidFill>
            <a:ln w="38100">
              <a:solidFill>
                <a:srgbClr val="71A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14375"/>
              <a:r>
                <a:rPr lang="en-GB" sz="2400" b="1" u="sng" dirty="0">
                  <a:solidFill>
                    <a:schemeClr val="tx1"/>
                  </a:solidFill>
                  <a:latin typeface="Ink Free" panose="03080402000500000000" pitchFamily="66" charset="0"/>
                </a:rPr>
                <a:t>Server-Side Processing</a:t>
              </a:r>
            </a:p>
            <a:p>
              <a:pPr marL="714375"/>
              <a:r>
                <a:rPr lang="en-GB" sz="2400" dirty="0">
                  <a:solidFill>
                    <a:schemeClr val="tx1"/>
                  </a:solidFill>
                  <a:latin typeface="Ink Free" panose="03080402000500000000" pitchFamily="66" charset="0"/>
                </a:rPr>
                <a:t>When the client-side processing is complete, the Internet server completes the processing required to complete </a:t>
              </a:r>
            </a:p>
            <a:p>
              <a:pPr marL="714375"/>
              <a:r>
                <a:rPr lang="en-GB" sz="2400" dirty="0">
                  <a:solidFill>
                    <a:schemeClr val="tx1"/>
                  </a:solidFill>
                  <a:latin typeface="Ink Free" panose="03080402000500000000" pitchFamily="66" charset="0"/>
                </a:rPr>
                <a:t> the transaction</a:t>
              </a:r>
            </a:p>
          </p:txBody>
        </p:sp>
        <p:pic>
          <p:nvPicPr>
            <p:cNvPr id="8" name="Picture 7" descr="A grey and green circle with two pages&#10;&#10;AI-generated content may be incorrect.">
              <a:extLst>
                <a:ext uri="{FF2B5EF4-FFF2-40B4-BE49-F238E27FC236}">
                  <a16:creationId xmlns:a16="http://schemas.microsoft.com/office/drawing/2014/main" id="{F2245BF0-22C6-7E7B-B577-2933D12308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1723" y="108225"/>
              <a:ext cx="751009" cy="751009"/>
            </a:xfrm>
            <a:prstGeom prst="rect">
              <a:avLst/>
            </a:prstGeom>
          </p:spPr>
        </p:pic>
      </p:grpSp>
    </p:spTree>
    <p:extLst>
      <p:ext uri="{BB962C8B-B14F-4D97-AF65-F5344CB8AC3E}">
        <p14:creationId xmlns:p14="http://schemas.microsoft.com/office/powerpoint/2010/main" val="3576749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BD3E5C5-93C8-0DE5-DB20-0C452E137B9A}"/>
              </a:ext>
            </a:extLst>
          </p:cNvPr>
          <p:cNvPicPr>
            <a:picLocks noGrp="1" noChangeAspect="1"/>
          </p:cNvPicPr>
          <p:nvPr>
            <p:ph idx="1"/>
          </p:nvPr>
        </p:nvPicPr>
        <p:blipFill>
          <a:blip r:embed="rId2"/>
          <a:stretch>
            <a:fillRect/>
          </a:stretch>
        </p:blipFill>
        <p:spPr>
          <a:xfrm>
            <a:off x="1194920" y="1276897"/>
            <a:ext cx="9463952" cy="4981027"/>
          </a:xfrm>
        </p:spPr>
      </p:pic>
    </p:spTree>
    <p:extLst>
      <p:ext uri="{BB962C8B-B14F-4D97-AF65-F5344CB8AC3E}">
        <p14:creationId xmlns:p14="http://schemas.microsoft.com/office/powerpoint/2010/main" val="4167982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72B66B1-0934-D4AA-E873-764D597091E1}"/>
              </a:ext>
            </a:extLst>
          </p:cNvPr>
          <p:cNvPicPr>
            <a:picLocks noGrp="1" noChangeAspect="1"/>
          </p:cNvPicPr>
          <p:nvPr>
            <p:ph idx="1"/>
          </p:nvPr>
        </p:nvPicPr>
        <p:blipFill>
          <a:blip r:embed="rId2"/>
          <a:stretch>
            <a:fillRect/>
          </a:stretch>
        </p:blipFill>
        <p:spPr>
          <a:xfrm>
            <a:off x="1575900" y="1880988"/>
            <a:ext cx="9515850" cy="3881637"/>
          </a:xfrm>
        </p:spPr>
      </p:pic>
    </p:spTree>
    <p:extLst>
      <p:ext uri="{BB962C8B-B14F-4D97-AF65-F5344CB8AC3E}">
        <p14:creationId xmlns:p14="http://schemas.microsoft.com/office/powerpoint/2010/main" val="1587585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80B1B-36DF-D14F-CBD8-9B740A534626}"/>
              </a:ext>
            </a:extLst>
          </p:cNvPr>
          <p:cNvSpPr>
            <a:spLocks noGrp="1"/>
          </p:cNvSpPr>
          <p:nvPr>
            <p:ph type="title"/>
          </p:nvPr>
        </p:nvSpPr>
        <p:spPr>
          <a:xfrm>
            <a:off x="106136" y="3640138"/>
            <a:ext cx="10883900" cy="2852737"/>
          </a:xfrm>
        </p:spPr>
        <p:txBody>
          <a:bodyPr/>
          <a:lstStyle/>
          <a:p>
            <a:r>
              <a:rPr lang="en-GB" dirty="0">
                <a:solidFill>
                  <a:srgbClr val="92D050"/>
                </a:solidFill>
              </a:rPr>
              <a:t>Ensuring security over the internet</a:t>
            </a:r>
          </a:p>
        </p:txBody>
      </p:sp>
      <p:sp>
        <p:nvSpPr>
          <p:cNvPr id="3" name="Text Placeholder 2">
            <a:extLst>
              <a:ext uri="{FF2B5EF4-FFF2-40B4-BE49-F238E27FC236}">
                <a16:creationId xmlns:a16="http://schemas.microsoft.com/office/drawing/2014/main" id="{3F980E9F-F303-703B-121E-C540FFA39661}"/>
              </a:ext>
            </a:extLst>
          </p:cNvPr>
          <p:cNvSpPr>
            <a:spLocks noGrp="1"/>
          </p:cNvSpPr>
          <p:nvPr>
            <p:ph type="body" idx="1"/>
          </p:nvPr>
        </p:nvSpPr>
        <p:spPr>
          <a:xfrm>
            <a:off x="106136" y="6315869"/>
            <a:ext cx="10515600" cy="1500187"/>
          </a:xfrm>
        </p:spPr>
        <p:txBody>
          <a:bodyPr/>
          <a:lstStyle/>
          <a:p>
            <a:r>
              <a:rPr lang="en-GB" dirty="0">
                <a:solidFill>
                  <a:schemeClr val="bg1"/>
                </a:solidFill>
              </a:rPr>
              <a:t>Public &amp; Private Keys, HTTPS, SSL, Digital Signatures and Digital Certificates</a:t>
            </a:r>
          </a:p>
        </p:txBody>
      </p:sp>
    </p:spTree>
    <p:extLst>
      <p:ext uri="{BB962C8B-B14F-4D97-AF65-F5344CB8AC3E}">
        <p14:creationId xmlns:p14="http://schemas.microsoft.com/office/powerpoint/2010/main" val="3953633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B6C98E-FEF3-3B52-9586-EB2ED0FBAC84}"/>
              </a:ext>
            </a:extLst>
          </p:cNvPr>
          <p:cNvSpPr>
            <a:spLocks noGrp="1"/>
          </p:cNvSpPr>
          <p:nvPr>
            <p:ph type="title"/>
          </p:nvPr>
        </p:nvSpPr>
        <p:spPr/>
        <p:txBody>
          <a:bodyPr/>
          <a:lstStyle/>
          <a:p>
            <a:r>
              <a:rPr lang="en-GB" dirty="0"/>
              <a:t>Why is data encrypted?</a:t>
            </a:r>
          </a:p>
        </p:txBody>
      </p:sp>
      <p:sp>
        <p:nvSpPr>
          <p:cNvPr id="5" name="Content Placeholder 4">
            <a:extLst>
              <a:ext uri="{FF2B5EF4-FFF2-40B4-BE49-F238E27FC236}">
                <a16:creationId xmlns:a16="http://schemas.microsoft.com/office/drawing/2014/main" id="{61D87904-083B-6AF0-FF36-84364AE1E76E}"/>
              </a:ext>
            </a:extLst>
          </p:cNvPr>
          <p:cNvSpPr>
            <a:spLocks noGrp="1"/>
          </p:cNvSpPr>
          <p:nvPr>
            <p:ph idx="1"/>
          </p:nvPr>
        </p:nvSpPr>
        <p:spPr>
          <a:xfrm>
            <a:off x="838200" y="1825624"/>
            <a:ext cx="10515600" cy="3279775"/>
          </a:xfrm>
        </p:spPr>
        <p:txBody>
          <a:bodyPr>
            <a:normAutofit/>
          </a:bodyPr>
          <a:lstStyle/>
          <a:p>
            <a:r>
              <a:rPr lang="en-GB" dirty="0">
                <a:latin typeface="Ink Free" panose="03080402000500000000" pitchFamily="66" charset="0"/>
              </a:rPr>
              <a:t>Data is encrypted to keep the data secure. This means if it is intercepted it is meaningless without the corresponding key to decrypt it.</a:t>
            </a:r>
          </a:p>
        </p:txBody>
      </p:sp>
      <p:grpSp>
        <p:nvGrpSpPr>
          <p:cNvPr id="2" name="Group 1">
            <a:extLst>
              <a:ext uri="{FF2B5EF4-FFF2-40B4-BE49-F238E27FC236}">
                <a16:creationId xmlns:a16="http://schemas.microsoft.com/office/drawing/2014/main" id="{752C485C-01E6-D373-74C5-240BE2D9DA0E}"/>
              </a:ext>
            </a:extLst>
          </p:cNvPr>
          <p:cNvGrpSpPr/>
          <p:nvPr/>
        </p:nvGrpSpPr>
        <p:grpSpPr>
          <a:xfrm>
            <a:off x="354840" y="3200401"/>
            <a:ext cx="11556853" cy="3523677"/>
            <a:chOff x="7451723" y="-713338"/>
            <a:chExt cx="8057385" cy="2456692"/>
          </a:xfrm>
        </p:grpSpPr>
        <p:sp>
          <p:nvSpPr>
            <p:cNvPr id="3" name="Rectangle 2">
              <a:extLst>
                <a:ext uri="{FF2B5EF4-FFF2-40B4-BE49-F238E27FC236}">
                  <a16:creationId xmlns:a16="http://schemas.microsoft.com/office/drawing/2014/main" id="{B5959318-770E-8A04-C33B-749E9C1CFD46}"/>
                </a:ext>
              </a:extLst>
            </p:cNvPr>
            <p:cNvSpPr/>
            <p:nvPr/>
          </p:nvSpPr>
          <p:spPr>
            <a:xfrm>
              <a:off x="7926507" y="-713338"/>
              <a:ext cx="7582601" cy="2456692"/>
            </a:xfrm>
            <a:prstGeom prst="rect">
              <a:avLst/>
            </a:prstGeom>
            <a:solidFill>
              <a:schemeClr val="bg1"/>
            </a:solidFill>
            <a:ln w="38100">
              <a:solidFill>
                <a:srgbClr val="71A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14375"/>
              <a:r>
                <a:rPr lang="en-GB" sz="2400" b="1" u="sng" dirty="0">
                  <a:solidFill>
                    <a:schemeClr val="tx1"/>
                  </a:solidFill>
                  <a:latin typeface="Ink Free" panose="03080402000500000000" pitchFamily="66" charset="0"/>
                </a:rPr>
                <a:t>Encryption</a:t>
              </a:r>
            </a:p>
            <a:p>
              <a:pPr marL="714375"/>
              <a:r>
                <a:rPr lang="en-GB" sz="2400" dirty="0">
                  <a:solidFill>
                    <a:schemeClr val="tx1"/>
                  </a:solidFill>
                  <a:latin typeface="Ink Free" panose="03080402000500000000" pitchFamily="66" charset="0"/>
                </a:rPr>
                <a:t>Used to keep the data secure. If it is intercepted it is meaningless without the key.</a:t>
              </a:r>
            </a:p>
            <a:p>
              <a:pPr marL="714375"/>
              <a:r>
                <a:rPr lang="en-GB" sz="2400" dirty="0">
                  <a:solidFill>
                    <a:schemeClr val="tx1"/>
                  </a:solidFill>
                  <a:latin typeface="Ink Free" panose="03080402000500000000" pitchFamily="66" charset="0"/>
                </a:rPr>
                <a:t>There is a unique mathematical relationship between a public key and its corresponding private key. Data encrypted with a public key can only be decrypted by its corresponding private key. </a:t>
              </a:r>
            </a:p>
            <a:p>
              <a:pPr marL="1057275" indent="-342900">
                <a:buFont typeface="Arial" panose="020B0604020202020204" pitchFamily="34" charset="0"/>
                <a:buChar char="•"/>
              </a:pPr>
              <a:r>
                <a:rPr lang="en-GB" sz="2000" dirty="0">
                  <a:solidFill>
                    <a:schemeClr val="tx1"/>
                  </a:solidFill>
                  <a:latin typeface="Ink Free" panose="03080402000500000000" pitchFamily="66" charset="0"/>
                </a:rPr>
                <a:t>The public key is made available via a publicly accessible directory</a:t>
              </a:r>
            </a:p>
            <a:p>
              <a:pPr marL="1057275" indent="-342900">
                <a:buFont typeface="Arial" panose="020B0604020202020204" pitchFamily="34" charset="0"/>
                <a:buChar char="•"/>
              </a:pPr>
              <a:r>
                <a:rPr lang="en-GB" sz="2000" dirty="0">
                  <a:solidFill>
                    <a:schemeClr val="tx1"/>
                  </a:solidFill>
                  <a:latin typeface="Ink Free" panose="03080402000500000000" pitchFamily="66" charset="0"/>
                </a:rPr>
                <a:t>The sender encrypts the data using the recipient’s public key</a:t>
              </a:r>
            </a:p>
            <a:p>
              <a:pPr marL="1057275" indent="-342900">
                <a:buFont typeface="Arial" panose="020B0604020202020204" pitchFamily="34" charset="0"/>
                <a:buChar char="•"/>
              </a:pPr>
              <a:r>
                <a:rPr lang="en-GB" sz="2000" dirty="0">
                  <a:solidFill>
                    <a:schemeClr val="tx1"/>
                  </a:solidFill>
                  <a:latin typeface="Ink Free" panose="03080402000500000000" pitchFamily="66" charset="0"/>
                </a:rPr>
                <a:t>The private key remains confidential to its owner (the recipient).</a:t>
              </a:r>
            </a:p>
            <a:p>
              <a:pPr marL="1057275" indent="-342900">
                <a:buFont typeface="Arial" panose="020B0604020202020204" pitchFamily="34" charset="0"/>
                <a:buChar char="•"/>
              </a:pPr>
              <a:r>
                <a:rPr lang="en-GB" sz="2000" dirty="0">
                  <a:solidFill>
                    <a:schemeClr val="tx1"/>
                  </a:solidFill>
                  <a:latin typeface="Ink Free" panose="03080402000500000000" pitchFamily="66" charset="0"/>
                </a:rPr>
                <a:t> Only the recipient has the corresponding private key to decrypt the data</a:t>
              </a:r>
            </a:p>
          </p:txBody>
        </p:sp>
        <p:pic>
          <p:nvPicPr>
            <p:cNvPr id="6" name="Picture 5" descr="A grey and green circle with two pages&#10;&#10;AI-generated content may be incorrect.">
              <a:extLst>
                <a:ext uri="{FF2B5EF4-FFF2-40B4-BE49-F238E27FC236}">
                  <a16:creationId xmlns:a16="http://schemas.microsoft.com/office/drawing/2014/main" id="{65D46B08-CD49-1B99-2F26-CFF62492F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1723" y="108225"/>
              <a:ext cx="751009" cy="751009"/>
            </a:xfrm>
            <a:prstGeom prst="rect">
              <a:avLst/>
            </a:prstGeom>
          </p:spPr>
        </p:pic>
      </p:grpSp>
    </p:spTree>
    <p:extLst>
      <p:ext uri="{BB962C8B-B14F-4D97-AF65-F5344CB8AC3E}">
        <p14:creationId xmlns:p14="http://schemas.microsoft.com/office/powerpoint/2010/main" val="522174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0FD68-E69B-19C1-DF14-FC80590F4C5A}"/>
              </a:ext>
            </a:extLst>
          </p:cNvPr>
          <p:cNvSpPr>
            <a:spLocks noGrp="1"/>
          </p:cNvSpPr>
          <p:nvPr>
            <p:ph type="title"/>
          </p:nvPr>
        </p:nvSpPr>
        <p:spPr>
          <a:xfrm>
            <a:off x="257628" y="365125"/>
            <a:ext cx="11745686" cy="1325563"/>
          </a:xfrm>
        </p:spPr>
        <p:txBody>
          <a:bodyPr>
            <a:normAutofit/>
          </a:bodyPr>
          <a:lstStyle/>
          <a:p>
            <a:r>
              <a:rPr lang="en-GB" b="1" dirty="0"/>
              <a:t>Encryption as a method of security over the Internet</a:t>
            </a:r>
            <a:endParaRPr lang="en-GB" dirty="0"/>
          </a:p>
        </p:txBody>
      </p:sp>
      <p:sp>
        <p:nvSpPr>
          <p:cNvPr id="3" name="Content Placeholder 2">
            <a:extLst>
              <a:ext uri="{FF2B5EF4-FFF2-40B4-BE49-F238E27FC236}">
                <a16:creationId xmlns:a16="http://schemas.microsoft.com/office/drawing/2014/main" id="{E5ABEAC5-9FFF-B5BF-6BBB-23351AFCB632}"/>
              </a:ext>
            </a:extLst>
          </p:cNvPr>
          <p:cNvSpPr>
            <a:spLocks noGrp="1"/>
          </p:cNvSpPr>
          <p:nvPr>
            <p:ph idx="1"/>
          </p:nvPr>
        </p:nvSpPr>
        <p:spPr>
          <a:xfrm>
            <a:off x="257628" y="2141536"/>
            <a:ext cx="10918372" cy="4564063"/>
          </a:xfrm>
        </p:spPr>
        <p:txBody>
          <a:bodyPr>
            <a:normAutofit lnSpcReduction="10000"/>
          </a:bodyPr>
          <a:lstStyle/>
          <a:p>
            <a:r>
              <a:rPr lang="en-GB" b="1" dirty="0"/>
              <a:t>Cryptography is the science of hiding information</a:t>
            </a:r>
            <a:r>
              <a:rPr lang="en-GB" dirty="0"/>
              <a:t>. </a:t>
            </a:r>
          </a:p>
          <a:p>
            <a:pPr lvl="1"/>
            <a:r>
              <a:rPr lang="en-GB" dirty="0"/>
              <a:t>The process of transformation itself is called encryption. </a:t>
            </a:r>
          </a:p>
          <a:p>
            <a:pPr lvl="1"/>
            <a:r>
              <a:rPr lang="en-GB" dirty="0"/>
              <a:t>To encrypt the data an algorithm or </a:t>
            </a:r>
            <a:r>
              <a:rPr lang="en-GB" b="1" dirty="0"/>
              <a:t>cipher</a:t>
            </a:r>
            <a:r>
              <a:rPr lang="en-GB" dirty="0"/>
              <a:t> is used.</a:t>
            </a:r>
          </a:p>
          <a:p>
            <a:pPr marL="0" indent="0">
              <a:buNone/>
            </a:pPr>
            <a:endParaRPr lang="en-GB" dirty="0"/>
          </a:p>
          <a:p>
            <a:r>
              <a:rPr lang="en-GB" dirty="0"/>
              <a:t>Encryption is a method of providing security for data both when it is stored electronically and whilst it is being transmitted. </a:t>
            </a:r>
          </a:p>
          <a:p>
            <a:pPr lvl="1"/>
            <a:r>
              <a:rPr lang="en-GB" dirty="0"/>
              <a:t>The data is ‘scrambled’ using an encryption key. </a:t>
            </a:r>
          </a:p>
          <a:p>
            <a:pPr lvl="1"/>
            <a:r>
              <a:rPr lang="en-GB" dirty="0"/>
              <a:t>meaningless to anyone accessing it. </a:t>
            </a:r>
          </a:p>
          <a:p>
            <a:r>
              <a:rPr lang="en-GB" dirty="0"/>
              <a:t>The data must be decrypted using a key, so that it can be understood. </a:t>
            </a:r>
          </a:p>
          <a:p>
            <a:pPr lvl="1"/>
            <a:r>
              <a:rPr lang="en-GB" dirty="0"/>
              <a:t>Some systems use the same key for encryption and decryption, particularly if the number of users is small.</a:t>
            </a:r>
          </a:p>
          <a:p>
            <a:endParaRPr lang="en-GB" dirty="0"/>
          </a:p>
        </p:txBody>
      </p:sp>
    </p:spTree>
    <p:extLst>
      <p:ext uri="{BB962C8B-B14F-4D97-AF65-F5344CB8AC3E}">
        <p14:creationId xmlns:p14="http://schemas.microsoft.com/office/powerpoint/2010/main" val="3918321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pic>
        <p:nvPicPr>
          <p:cNvPr id="5124" name="Picture 4" descr="Chain Transparent Image Transparent HQ PNG Download | FreePNGimg">
            <a:extLst>
              <a:ext uri="{FF2B5EF4-FFF2-40B4-BE49-F238E27FC236}">
                <a16:creationId xmlns:a16="http://schemas.microsoft.com/office/drawing/2014/main" id="{B5BA5F26-3AAA-A919-CE26-5145EE68A4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3400" y="4863295"/>
            <a:ext cx="6422571" cy="160564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C6E8A34-1C02-54B6-4681-6A77C042720C}"/>
              </a:ext>
            </a:extLst>
          </p:cNvPr>
          <p:cNvSpPr>
            <a:spLocks noGrp="1"/>
          </p:cNvSpPr>
          <p:nvPr>
            <p:ph type="title"/>
          </p:nvPr>
        </p:nvSpPr>
        <p:spPr/>
        <p:txBody>
          <a:bodyPr/>
          <a:lstStyle/>
          <a:p>
            <a:r>
              <a:rPr lang="en-GB" dirty="0"/>
              <a:t>Public and Private Keys</a:t>
            </a:r>
          </a:p>
        </p:txBody>
      </p:sp>
      <p:sp>
        <p:nvSpPr>
          <p:cNvPr id="3" name="Content Placeholder 2">
            <a:extLst>
              <a:ext uri="{FF2B5EF4-FFF2-40B4-BE49-F238E27FC236}">
                <a16:creationId xmlns:a16="http://schemas.microsoft.com/office/drawing/2014/main" id="{5263C699-7BAB-8A7E-FFAA-B4B824F84615}"/>
              </a:ext>
            </a:extLst>
          </p:cNvPr>
          <p:cNvSpPr>
            <a:spLocks noGrp="1"/>
          </p:cNvSpPr>
          <p:nvPr>
            <p:ph idx="1"/>
          </p:nvPr>
        </p:nvSpPr>
        <p:spPr>
          <a:xfrm>
            <a:off x="197755" y="1690689"/>
            <a:ext cx="11791043" cy="1952398"/>
          </a:xfrm>
        </p:spPr>
        <p:txBody>
          <a:bodyPr>
            <a:normAutofit fontScale="92500" lnSpcReduction="10000"/>
          </a:bodyPr>
          <a:lstStyle/>
          <a:p>
            <a:r>
              <a:rPr lang="en-GB" dirty="0"/>
              <a:t>Public key cryptography uses two different keys, </a:t>
            </a:r>
            <a:r>
              <a:rPr lang="en-GB" b="1" dirty="0"/>
              <a:t>one for encrypting the data </a:t>
            </a:r>
            <a:r>
              <a:rPr lang="en-GB" dirty="0"/>
              <a:t>and a </a:t>
            </a:r>
            <a:r>
              <a:rPr lang="en-GB" b="1" dirty="0"/>
              <a:t>different one for decrypting the data</a:t>
            </a:r>
            <a:r>
              <a:rPr lang="en-GB" dirty="0"/>
              <a:t>. </a:t>
            </a:r>
          </a:p>
          <a:p>
            <a:endParaRPr lang="en-GB" dirty="0"/>
          </a:p>
          <a:p>
            <a:r>
              <a:rPr lang="en-GB" dirty="0"/>
              <a:t>This Public and Private key pair are linked, and both keys are needed to encrypt and decrypt data.</a:t>
            </a:r>
          </a:p>
          <a:p>
            <a:endParaRPr lang="en-GB" dirty="0"/>
          </a:p>
          <a:p>
            <a:endParaRPr lang="en-GB" dirty="0"/>
          </a:p>
        </p:txBody>
      </p:sp>
      <p:sp>
        <p:nvSpPr>
          <p:cNvPr id="4" name="TextBox 3">
            <a:extLst>
              <a:ext uri="{FF2B5EF4-FFF2-40B4-BE49-F238E27FC236}">
                <a16:creationId xmlns:a16="http://schemas.microsoft.com/office/drawing/2014/main" id="{F668E048-91D2-A087-0A5A-832B73A84C9D}"/>
              </a:ext>
            </a:extLst>
          </p:cNvPr>
          <p:cNvSpPr txBox="1"/>
          <p:nvPr/>
        </p:nvSpPr>
        <p:spPr>
          <a:xfrm>
            <a:off x="0" y="6468938"/>
            <a:ext cx="6972300" cy="369332"/>
          </a:xfrm>
          <a:prstGeom prst="rect">
            <a:avLst/>
          </a:prstGeom>
          <a:noFill/>
        </p:spPr>
        <p:txBody>
          <a:bodyPr wrap="square" rtlCol="0">
            <a:spAutoFit/>
          </a:bodyPr>
          <a:lstStyle/>
          <a:p>
            <a:r>
              <a:rPr lang="en-GB" dirty="0">
                <a:hlinkClick r:id="rId3"/>
              </a:rPr>
              <a:t>https://www.youtube.com/watch?v=EBmr4WCi6iQ</a:t>
            </a:r>
            <a:r>
              <a:rPr lang="en-GB" dirty="0"/>
              <a:t> </a:t>
            </a:r>
          </a:p>
        </p:txBody>
      </p:sp>
      <p:sp>
        <p:nvSpPr>
          <p:cNvPr id="5" name="Rectangle 4">
            <a:extLst>
              <a:ext uri="{FF2B5EF4-FFF2-40B4-BE49-F238E27FC236}">
                <a16:creationId xmlns:a16="http://schemas.microsoft.com/office/drawing/2014/main" id="{0BF7EC6D-7986-737B-FFD3-522FE14DB31C}"/>
              </a:ext>
            </a:extLst>
          </p:cNvPr>
          <p:cNvSpPr/>
          <p:nvPr/>
        </p:nvSpPr>
        <p:spPr>
          <a:xfrm>
            <a:off x="197756" y="3832678"/>
            <a:ext cx="3497943" cy="2467428"/>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Public Key is available to everyone</a:t>
            </a:r>
          </a:p>
        </p:txBody>
      </p:sp>
      <p:sp>
        <p:nvSpPr>
          <p:cNvPr id="6" name="Rectangle 5">
            <a:extLst>
              <a:ext uri="{FF2B5EF4-FFF2-40B4-BE49-F238E27FC236}">
                <a16:creationId xmlns:a16="http://schemas.microsoft.com/office/drawing/2014/main" id="{D2AB0453-551B-2F6C-BE1E-AC8B95FD3450}"/>
              </a:ext>
            </a:extLst>
          </p:cNvPr>
          <p:cNvSpPr/>
          <p:nvPr/>
        </p:nvSpPr>
        <p:spPr>
          <a:xfrm>
            <a:off x="8490856" y="3827688"/>
            <a:ext cx="3497943" cy="2467428"/>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Private Key is confidential and specific to a particular receiver. </a:t>
            </a:r>
          </a:p>
        </p:txBody>
      </p:sp>
      <p:sp>
        <p:nvSpPr>
          <p:cNvPr id="7" name="Rectangle 6">
            <a:extLst>
              <a:ext uri="{FF2B5EF4-FFF2-40B4-BE49-F238E27FC236}">
                <a16:creationId xmlns:a16="http://schemas.microsoft.com/office/drawing/2014/main" id="{5C0BA834-B532-2D00-3EA7-7F61938E9D70}"/>
              </a:ext>
            </a:extLst>
          </p:cNvPr>
          <p:cNvSpPr/>
          <p:nvPr/>
        </p:nvSpPr>
        <p:spPr>
          <a:xfrm>
            <a:off x="3986090" y="4117969"/>
            <a:ext cx="4272539" cy="24674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The key pair is mathematically related.</a:t>
            </a:r>
          </a:p>
          <a:p>
            <a:pPr algn="ctr"/>
            <a:endParaRPr lang="en-GB" dirty="0">
              <a:solidFill>
                <a:schemeClr val="tx1"/>
              </a:solidFill>
            </a:endParaRPr>
          </a:p>
          <a:p>
            <a:pPr algn="ctr"/>
            <a:endParaRPr lang="en-GB" dirty="0">
              <a:solidFill>
                <a:schemeClr val="tx1"/>
              </a:solidFill>
            </a:endParaRPr>
          </a:p>
          <a:p>
            <a:pPr algn="ctr"/>
            <a:r>
              <a:rPr lang="en-GB" dirty="0">
                <a:solidFill>
                  <a:schemeClr val="tx1"/>
                </a:solidFill>
              </a:rPr>
              <a:t> Whatever is encrypted with a Public Key may only be decrypted by its corresponding Private Key.</a:t>
            </a:r>
          </a:p>
        </p:txBody>
      </p:sp>
      <p:pic>
        <p:nvPicPr>
          <p:cNvPr id="5126" name="Picture 6" descr="private folder icon free search download as png, ico and icns,  IconSeeker.com">
            <a:extLst>
              <a:ext uri="{FF2B5EF4-FFF2-40B4-BE49-F238E27FC236}">
                <a16:creationId xmlns:a16="http://schemas.microsoft.com/office/drawing/2014/main" id="{005A6AA8-3133-4CBC-E415-E4B74A384B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03545" y="2976375"/>
            <a:ext cx="1950255" cy="1950255"/>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Private key - Free security icons">
            <a:extLst>
              <a:ext uri="{FF2B5EF4-FFF2-40B4-BE49-F238E27FC236}">
                <a16:creationId xmlns:a16="http://schemas.microsoft.com/office/drawing/2014/main" id="{3EBAFDAC-B91B-8AA8-B0CC-4647A59367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4623314">
            <a:off x="1229012" y="3290805"/>
            <a:ext cx="1576815" cy="1576815"/>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Cartoon arrow png Images - Free Download on Freepik">
            <a:extLst>
              <a:ext uri="{FF2B5EF4-FFF2-40B4-BE49-F238E27FC236}">
                <a16:creationId xmlns:a16="http://schemas.microsoft.com/office/drawing/2014/main" id="{846EF085-8DD0-7A0F-F8DE-7201D2C7C094}"/>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7120515" flipV="1">
            <a:off x="8215695" y="840999"/>
            <a:ext cx="1240366" cy="82635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Cartoon arrow png Images - Free Download on Freepik">
            <a:extLst>
              <a:ext uri="{FF2B5EF4-FFF2-40B4-BE49-F238E27FC236}">
                <a16:creationId xmlns:a16="http://schemas.microsoft.com/office/drawing/2014/main" id="{0B719460-B75A-DF8D-4B69-F36B274DFE71}"/>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12479658">
            <a:off x="5197051" y="2241600"/>
            <a:ext cx="1240366" cy="787292"/>
          </a:xfrm>
          <a:prstGeom prst="rect">
            <a:avLst/>
          </a:prstGeom>
          <a:noFill/>
          <a:extLst>
            <a:ext uri="{909E8E84-426E-40DD-AFC4-6F175D3DCCD1}">
              <a14:hiddenFill xmlns:a14="http://schemas.microsoft.com/office/drawing/2010/main">
                <a:solidFill>
                  <a:srgbClr val="FFFFFF"/>
                </a:solidFill>
              </a14:hiddenFill>
            </a:ext>
          </a:extLst>
        </p:spPr>
      </p:pic>
      <p:sp>
        <p:nvSpPr>
          <p:cNvPr id="9" name="Thought Bubble: Cloud 8">
            <a:extLst>
              <a:ext uri="{FF2B5EF4-FFF2-40B4-BE49-F238E27FC236}">
                <a16:creationId xmlns:a16="http://schemas.microsoft.com/office/drawing/2014/main" id="{CD90D45C-9767-8569-8540-3FE73CBCF484}"/>
              </a:ext>
            </a:extLst>
          </p:cNvPr>
          <p:cNvSpPr/>
          <p:nvPr/>
        </p:nvSpPr>
        <p:spPr>
          <a:xfrm>
            <a:off x="9403545" y="679335"/>
            <a:ext cx="1656341" cy="837532"/>
          </a:xfrm>
          <a:prstGeom prst="cloudCallout">
            <a:avLst>
              <a:gd name="adj1" fmla="val -6812"/>
              <a:gd name="adj2" fmla="val 11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Public Key</a:t>
            </a:r>
          </a:p>
        </p:txBody>
      </p:sp>
      <p:sp>
        <p:nvSpPr>
          <p:cNvPr id="10" name="Thought Bubble: Cloud 9">
            <a:extLst>
              <a:ext uri="{FF2B5EF4-FFF2-40B4-BE49-F238E27FC236}">
                <a16:creationId xmlns:a16="http://schemas.microsoft.com/office/drawing/2014/main" id="{B3FA990F-F554-4FA2-1F6A-BD37E5DE8B07}"/>
              </a:ext>
            </a:extLst>
          </p:cNvPr>
          <p:cNvSpPr/>
          <p:nvPr/>
        </p:nvSpPr>
        <p:spPr>
          <a:xfrm>
            <a:off x="6417846" y="2046276"/>
            <a:ext cx="1656341" cy="837532"/>
          </a:xfrm>
          <a:prstGeom prst="cloudCallout">
            <a:avLst>
              <a:gd name="adj1" fmla="val -6812"/>
              <a:gd name="adj2" fmla="val 11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Private Key</a:t>
            </a:r>
          </a:p>
        </p:txBody>
      </p:sp>
    </p:spTree>
    <p:extLst>
      <p:ext uri="{BB962C8B-B14F-4D97-AF65-F5344CB8AC3E}">
        <p14:creationId xmlns:p14="http://schemas.microsoft.com/office/powerpoint/2010/main" val="1280791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2" descr="Electronic Signature Online">
            <a:extLst>
              <a:ext uri="{FF2B5EF4-FFF2-40B4-BE49-F238E27FC236}">
                <a16:creationId xmlns:a16="http://schemas.microsoft.com/office/drawing/2014/main" id="{13081406-834F-F829-168E-091EF45017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5331" y="3185498"/>
            <a:ext cx="5274040" cy="3955530"/>
          </a:xfrm>
          <a:prstGeom prst="rect">
            <a:avLst/>
          </a:prstGeom>
          <a:noFill/>
          <a:extLst>
            <a:ext uri="{909E8E84-426E-40DD-AFC4-6F175D3DCCD1}">
              <a14:hiddenFill xmlns:a14="http://schemas.microsoft.com/office/drawing/2010/main">
                <a:solidFill>
                  <a:srgbClr val="FFFFFF"/>
                </a:solidFill>
              </a14:hiddenFill>
            </a:ext>
          </a:extLst>
        </p:spPr>
      </p:pic>
      <p:sp>
        <p:nvSpPr>
          <p:cNvPr id="4" name="Right Triangle 3">
            <a:extLst>
              <a:ext uri="{FF2B5EF4-FFF2-40B4-BE49-F238E27FC236}">
                <a16:creationId xmlns:a16="http://schemas.microsoft.com/office/drawing/2014/main" id="{EA16FAD6-3668-6C9A-B7C6-5382CAA8CE02}"/>
              </a:ext>
            </a:extLst>
          </p:cNvPr>
          <p:cNvSpPr/>
          <p:nvPr/>
        </p:nvSpPr>
        <p:spPr>
          <a:xfrm rot="5400000">
            <a:off x="2555057" y="-2555057"/>
            <a:ext cx="8748074" cy="13858188"/>
          </a:xfrm>
          <a:prstGeom prst="rtTriangle">
            <a:avLst/>
          </a:prstGeom>
          <a:solidFill>
            <a:srgbClr val="C8E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38776D6-3869-235E-AF59-A1DF630D4236}"/>
              </a:ext>
            </a:extLst>
          </p:cNvPr>
          <p:cNvSpPr>
            <a:spLocks noGrp="1"/>
          </p:cNvSpPr>
          <p:nvPr>
            <p:ph type="title"/>
          </p:nvPr>
        </p:nvSpPr>
        <p:spPr>
          <a:xfrm>
            <a:off x="5159326" y="5913013"/>
            <a:ext cx="10515600" cy="1325563"/>
          </a:xfrm>
          <a:noFill/>
        </p:spPr>
        <p:txBody>
          <a:bodyPr/>
          <a:lstStyle/>
          <a:p>
            <a:r>
              <a:rPr lang="en-GB" dirty="0">
                <a:solidFill>
                  <a:srgbClr val="333857"/>
                </a:solidFill>
              </a:rPr>
              <a:t>Digital Signatures</a:t>
            </a:r>
          </a:p>
        </p:txBody>
      </p:sp>
      <p:sp>
        <p:nvSpPr>
          <p:cNvPr id="3" name="Content Placeholder 2">
            <a:extLst>
              <a:ext uri="{FF2B5EF4-FFF2-40B4-BE49-F238E27FC236}">
                <a16:creationId xmlns:a16="http://schemas.microsoft.com/office/drawing/2014/main" id="{2BBB49DA-14D8-B287-FEAA-7A7B93696549}"/>
              </a:ext>
            </a:extLst>
          </p:cNvPr>
          <p:cNvSpPr>
            <a:spLocks noGrp="1"/>
          </p:cNvSpPr>
          <p:nvPr>
            <p:ph idx="1"/>
          </p:nvPr>
        </p:nvSpPr>
        <p:spPr>
          <a:xfrm>
            <a:off x="112336" y="0"/>
            <a:ext cx="9307435" cy="4351338"/>
          </a:xfrm>
        </p:spPr>
        <p:txBody>
          <a:bodyPr/>
          <a:lstStyle/>
          <a:p>
            <a:r>
              <a:rPr lang="en-GB" dirty="0">
                <a:solidFill>
                  <a:srgbClr val="333857"/>
                </a:solidFill>
              </a:rPr>
              <a:t>A digital signature is a part of a message that is encrypted by the sender. </a:t>
            </a:r>
          </a:p>
          <a:p>
            <a:r>
              <a:rPr lang="en-GB" dirty="0">
                <a:solidFill>
                  <a:srgbClr val="333857"/>
                </a:solidFill>
              </a:rPr>
              <a:t>It is </a:t>
            </a:r>
            <a:r>
              <a:rPr lang="en-GB" b="1" dirty="0">
                <a:solidFill>
                  <a:srgbClr val="333857"/>
                </a:solidFill>
              </a:rPr>
              <a:t>used to confirm that the sender is who they say they are</a:t>
            </a:r>
            <a:r>
              <a:rPr lang="en-GB" dirty="0">
                <a:solidFill>
                  <a:srgbClr val="333857"/>
                </a:solidFill>
              </a:rPr>
              <a:t>. </a:t>
            </a:r>
          </a:p>
          <a:p>
            <a:pPr lvl="1"/>
            <a:r>
              <a:rPr lang="en-GB" dirty="0">
                <a:solidFill>
                  <a:srgbClr val="333857"/>
                </a:solidFill>
              </a:rPr>
              <a:t>The receiver first verifies the signature using the sender’s public key. </a:t>
            </a:r>
          </a:p>
          <a:p>
            <a:r>
              <a:rPr lang="en-GB" dirty="0">
                <a:solidFill>
                  <a:srgbClr val="333857"/>
                </a:solidFill>
              </a:rPr>
              <a:t>After </a:t>
            </a:r>
            <a:r>
              <a:rPr lang="en-GB" b="1" dirty="0">
                <a:solidFill>
                  <a:srgbClr val="333857"/>
                </a:solidFill>
              </a:rPr>
              <a:t>ensuring the validity of the signature, the receiver then retrieves the data through decryption using his/her own Private Key.</a:t>
            </a:r>
          </a:p>
          <a:p>
            <a:endParaRPr lang="en-GB" dirty="0">
              <a:solidFill>
                <a:srgbClr val="333857"/>
              </a:solidFill>
            </a:endParaRPr>
          </a:p>
        </p:txBody>
      </p:sp>
    </p:spTree>
    <p:extLst>
      <p:ext uri="{BB962C8B-B14F-4D97-AF65-F5344CB8AC3E}">
        <p14:creationId xmlns:p14="http://schemas.microsoft.com/office/powerpoint/2010/main" val="3143256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52A75"/>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07E9E98-FA16-A525-D48D-E5002D80F870}"/>
              </a:ext>
            </a:extLst>
          </p:cNvPr>
          <p:cNvSpPr/>
          <p:nvPr/>
        </p:nvSpPr>
        <p:spPr>
          <a:xfrm>
            <a:off x="10570029" y="0"/>
            <a:ext cx="1868714" cy="6858000"/>
          </a:xfrm>
          <a:prstGeom prst="rect">
            <a:avLst/>
          </a:prstGeom>
          <a:solidFill>
            <a:srgbClr val="BC9A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797AC9B1-F90E-18E2-8B74-F80252ABEB7E}"/>
              </a:ext>
            </a:extLst>
          </p:cNvPr>
          <p:cNvSpPr>
            <a:spLocks noGrp="1"/>
          </p:cNvSpPr>
          <p:nvPr>
            <p:ph type="title"/>
          </p:nvPr>
        </p:nvSpPr>
        <p:spPr/>
        <p:txBody>
          <a:bodyPr/>
          <a:lstStyle/>
          <a:p>
            <a:r>
              <a:rPr lang="en-GB" dirty="0">
                <a:solidFill>
                  <a:srgbClr val="67CCD1"/>
                </a:solidFill>
              </a:rPr>
              <a:t>Digital Certificates </a:t>
            </a:r>
          </a:p>
        </p:txBody>
      </p:sp>
      <p:sp>
        <p:nvSpPr>
          <p:cNvPr id="3" name="Content Placeholder 2">
            <a:extLst>
              <a:ext uri="{FF2B5EF4-FFF2-40B4-BE49-F238E27FC236}">
                <a16:creationId xmlns:a16="http://schemas.microsoft.com/office/drawing/2014/main" id="{E1D56043-8B86-AB81-E1A0-6A4821DCEBCD}"/>
              </a:ext>
            </a:extLst>
          </p:cNvPr>
          <p:cNvSpPr>
            <a:spLocks noGrp="1"/>
          </p:cNvSpPr>
          <p:nvPr>
            <p:ph idx="1"/>
          </p:nvPr>
        </p:nvSpPr>
        <p:spPr>
          <a:xfrm>
            <a:off x="188686" y="1825624"/>
            <a:ext cx="10145485" cy="4879975"/>
          </a:xfrm>
        </p:spPr>
        <p:txBody>
          <a:bodyPr>
            <a:normAutofit fontScale="92500" lnSpcReduction="20000"/>
          </a:bodyPr>
          <a:lstStyle/>
          <a:p>
            <a:r>
              <a:rPr lang="en-GB" dirty="0">
                <a:solidFill>
                  <a:srgbClr val="FD8F01"/>
                </a:solidFill>
              </a:rPr>
              <a:t>A digital certificate is </a:t>
            </a:r>
            <a:r>
              <a:rPr lang="en-GB" b="1" dirty="0">
                <a:solidFill>
                  <a:srgbClr val="67CCD1"/>
                </a:solidFill>
              </a:rPr>
              <a:t>used to verify a sender’s authenticity and is widely used with websites</a:t>
            </a:r>
            <a:r>
              <a:rPr lang="en-GB" dirty="0">
                <a:solidFill>
                  <a:srgbClr val="FD8F01"/>
                </a:solidFill>
              </a:rPr>
              <a:t>. </a:t>
            </a:r>
          </a:p>
          <a:p>
            <a:r>
              <a:rPr lang="en-GB" dirty="0">
                <a:solidFill>
                  <a:srgbClr val="FD8F01"/>
                </a:solidFill>
              </a:rPr>
              <a:t>Companies or individuals </a:t>
            </a:r>
            <a:r>
              <a:rPr lang="en-GB" b="1" dirty="0">
                <a:solidFill>
                  <a:srgbClr val="67CCD1"/>
                </a:solidFill>
              </a:rPr>
              <a:t>requiring digital certificates apply to a trusted third party called a Certificate Authority </a:t>
            </a:r>
            <a:r>
              <a:rPr lang="en-GB" dirty="0">
                <a:solidFill>
                  <a:srgbClr val="FD8F01"/>
                </a:solidFill>
              </a:rPr>
              <a:t>(CA), a company which provides online certification. </a:t>
            </a:r>
          </a:p>
          <a:p>
            <a:pPr lvl="1"/>
            <a:r>
              <a:rPr lang="en-GB" dirty="0">
                <a:solidFill>
                  <a:srgbClr val="FD8F01"/>
                </a:solidFill>
              </a:rPr>
              <a:t>i.e. Verisign. </a:t>
            </a:r>
          </a:p>
          <a:p>
            <a:pPr lvl="1"/>
            <a:r>
              <a:rPr lang="en-GB" dirty="0">
                <a:solidFill>
                  <a:srgbClr val="FD8F01"/>
                </a:solidFill>
              </a:rPr>
              <a:t>The CA provides an encrypted digital certificate which contains, among other things, the user’s public key. This connects an individual or </a:t>
            </a:r>
            <a:r>
              <a:rPr lang="en-GB" b="1" dirty="0">
                <a:solidFill>
                  <a:srgbClr val="67CCD1"/>
                </a:solidFill>
              </a:rPr>
              <a:t>website with a particular public key therefore the trusted third party verifies their identity</a:t>
            </a:r>
            <a:r>
              <a:rPr lang="en-GB" dirty="0">
                <a:solidFill>
                  <a:srgbClr val="FD8F01"/>
                </a:solidFill>
              </a:rPr>
              <a:t>. </a:t>
            </a:r>
          </a:p>
          <a:p>
            <a:r>
              <a:rPr lang="en-GB" dirty="0">
                <a:solidFill>
                  <a:srgbClr val="FD8F01"/>
                </a:solidFill>
              </a:rPr>
              <a:t>When a company asks for a certificate, they give information about the web server and the location of the company. </a:t>
            </a:r>
          </a:p>
          <a:p>
            <a:r>
              <a:rPr lang="en-GB" dirty="0">
                <a:solidFill>
                  <a:srgbClr val="FD8F01"/>
                </a:solidFill>
              </a:rPr>
              <a:t>CA will authenticate this information. </a:t>
            </a:r>
          </a:p>
          <a:p>
            <a:r>
              <a:rPr lang="en-GB" dirty="0">
                <a:solidFill>
                  <a:srgbClr val="FD8F01"/>
                </a:solidFill>
              </a:rPr>
              <a:t>The CA authority then creates and signs the certificate. This is given back to the company who installs it on the server.</a:t>
            </a:r>
          </a:p>
          <a:p>
            <a:endParaRPr lang="en-GB" dirty="0"/>
          </a:p>
        </p:txBody>
      </p:sp>
      <p:pic>
        <p:nvPicPr>
          <p:cNvPr id="2050" name="Picture 2" descr="Certificate Animated Icon | Free education Animated Icon">
            <a:extLst>
              <a:ext uri="{FF2B5EF4-FFF2-40B4-BE49-F238E27FC236}">
                <a16:creationId xmlns:a16="http://schemas.microsoft.com/office/drawing/2014/main" id="{3D092233-49C8-D6A7-D157-E52E0BEBD2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4543" y="0"/>
            <a:ext cx="1607457" cy="1607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36257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2DFFFC-21D5-E8B1-1728-992362D64200}"/>
              </a:ext>
            </a:extLst>
          </p:cNvPr>
          <p:cNvSpPr/>
          <p:nvPr/>
        </p:nvSpPr>
        <p:spPr>
          <a:xfrm>
            <a:off x="0" y="0"/>
            <a:ext cx="9439275" cy="6858000"/>
          </a:xfrm>
          <a:prstGeom prst="rect">
            <a:avLst/>
          </a:prstGeom>
          <a:solidFill>
            <a:srgbClr val="00E8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0716CCD0-CEA7-1F95-B36E-66B85B456C83}"/>
              </a:ext>
            </a:extLst>
          </p:cNvPr>
          <p:cNvSpPr>
            <a:spLocks noGrp="1"/>
          </p:cNvSpPr>
          <p:nvPr>
            <p:ph idx="1"/>
          </p:nvPr>
        </p:nvSpPr>
        <p:spPr>
          <a:xfrm>
            <a:off x="0" y="234950"/>
            <a:ext cx="9439275" cy="2651126"/>
          </a:xfrm>
        </p:spPr>
        <p:txBody>
          <a:bodyPr>
            <a:normAutofit/>
          </a:bodyPr>
          <a:lstStyle/>
          <a:p>
            <a:r>
              <a:rPr lang="en-GB" dirty="0"/>
              <a:t>Browsers are shipped with information about the certificates. </a:t>
            </a:r>
          </a:p>
          <a:p>
            <a:r>
              <a:rPr lang="en-GB" dirty="0"/>
              <a:t>The Public Key for the certificates and so they can check the authenticity of most certificates. </a:t>
            </a:r>
          </a:p>
          <a:p>
            <a:r>
              <a:rPr lang="en-GB" dirty="0"/>
              <a:t>Digital certificates can be: </a:t>
            </a:r>
          </a:p>
        </p:txBody>
      </p:sp>
      <p:pic>
        <p:nvPicPr>
          <p:cNvPr id="3074" name="Picture 2" descr="Digital Certificates Using Blockchain Technology - Certika">
            <a:extLst>
              <a:ext uri="{FF2B5EF4-FFF2-40B4-BE49-F238E27FC236}">
                <a16:creationId xmlns:a16="http://schemas.microsoft.com/office/drawing/2014/main" id="{CEB8B7AF-102F-0CA9-FA4D-752AF2E1A9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2550" y="3187700"/>
            <a:ext cx="3905250" cy="39052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400D421-B775-2622-19C5-FA489AB3A4D6}"/>
              </a:ext>
            </a:extLst>
          </p:cNvPr>
          <p:cNvSpPr/>
          <p:nvPr/>
        </p:nvSpPr>
        <p:spPr>
          <a:xfrm>
            <a:off x="485775" y="2886076"/>
            <a:ext cx="2381250" cy="1552574"/>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u="sng" dirty="0">
                <a:solidFill>
                  <a:schemeClr val="tx1"/>
                </a:solidFill>
              </a:rPr>
              <a:t>Personal</a:t>
            </a:r>
          </a:p>
          <a:p>
            <a:pPr algn="ctr"/>
            <a:r>
              <a:rPr lang="en-GB" dirty="0">
                <a:solidFill>
                  <a:schemeClr val="tx1"/>
                </a:solidFill>
              </a:rPr>
              <a:t>used by individuals who need secure email</a:t>
            </a:r>
          </a:p>
          <a:p>
            <a:pPr algn="ctr"/>
            <a:endParaRPr lang="en-GB" dirty="0">
              <a:solidFill>
                <a:schemeClr val="tx1"/>
              </a:solidFill>
            </a:endParaRPr>
          </a:p>
        </p:txBody>
      </p:sp>
      <p:sp>
        <p:nvSpPr>
          <p:cNvPr id="6" name="Rectangle 5">
            <a:extLst>
              <a:ext uri="{FF2B5EF4-FFF2-40B4-BE49-F238E27FC236}">
                <a16:creationId xmlns:a16="http://schemas.microsoft.com/office/drawing/2014/main" id="{281868D7-589C-E00D-AFC4-8AA294AED21C}"/>
              </a:ext>
            </a:extLst>
          </p:cNvPr>
          <p:cNvSpPr/>
          <p:nvPr/>
        </p:nvSpPr>
        <p:spPr>
          <a:xfrm>
            <a:off x="3357562" y="2886076"/>
            <a:ext cx="2381250" cy="1552574"/>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u="sng" dirty="0">
                <a:solidFill>
                  <a:schemeClr val="tx1"/>
                </a:solidFill>
              </a:rPr>
              <a:t>Organisation</a:t>
            </a:r>
            <a:r>
              <a:rPr lang="en-GB" dirty="0">
                <a:solidFill>
                  <a:schemeClr val="tx1"/>
                </a:solidFill>
              </a:rPr>
              <a:t> </a:t>
            </a:r>
          </a:p>
          <a:p>
            <a:pPr algn="ctr"/>
            <a:r>
              <a:rPr lang="en-GB" dirty="0">
                <a:solidFill>
                  <a:schemeClr val="tx1"/>
                </a:solidFill>
              </a:rPr>
              <a:t>used by organisations for employees who need secure email and web transactions</a:t>
            </a:r>
          </a:p>
        </p:txBody>
      </p:sp>
      <p:sp>
        <p:nvSpPr>
          <p:cNvPr id="7" name="Rectangle 6">
            <a:extLst>
              <a:ext uri="{FF2B5EF4-FFF2-40B4-BE49-F238E27FC236}">
                <a16:creationId xmlns:a16="http://schemas.microsoft.com/office/drawing/2014/main" id="{5353C9AD-7526-0ABC-9BDA-9F4E51E9841B}"/>
              </a:ext>
            </a:extLst>
          </p:cNvPr>
          <p:cNvSpPr/>
          <p:nvPr/>
        </p:nvSpPr>
        <p:spPr>
          <a:xfrm>
            <a:off x="1581150" y="4895851"/>
            <a:ext cx="2381250" cy="1552574"/>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u="sng" dirty="0">
                <a:solidFill>
                  <a:schemeClr val="tx1"/>
                </a:solidFill>
              </a:rPr>
              <a:t>Server</a:t>
            </a:r>
          </a:p>
          <a:p>
            <a:pPr algn="ctr"/>
            <a:r>
              <a:rPr lang="en-GB" dirty="0">
                <a:solidFill>
                  <a:schemeClr val="tx1"/>
                </a:solidFill>
              </a:rPr>
              <a:t>to prove ownership of a domain name or for use with SSL </a:t>
            </a:r>
          </a:p>
        </p:txBody>
      </p:sp>
      <p:sp>
        <p:nvSpPr>
          <p:cNvPr id="8" name="Rectangle 7">
            <a:extLst>
              <a:ext uri="{FF2B5EF4-FFF2-40B4-BE49-F238E27FC236}">
                <a16:creationId xmlns:a16="http://schemas.microsoft.com/office/drawing/2014/main" id="{6D3ECEFB-E404-0DAB-F8D8-ED015E51E972}"/>
              </a:ext>
            </a:extLst>
          </p:cNvPr>
          <p:cNvSpPr/>
          <p:nvPr/>
        </p:nvSpPr>
        <p:spPr>
          <a:xfrm>
            <a:off x="4419600" y="4895851"/>
            <a:ext cx="2381250" cy="1552574"/>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u="sng" dirty="0">
                <a:solidFill>
                  <a:schemeClr val="tx1"/>
                </a:solidFill>
              </a:rPr>
              <a:t>Developer</a:t>
            </a:r>
          </a:p>
          <a:p>
            <a:pPr algn="ctr"/>
            <a:r>
              <a:rPr lang="en-GB" dirty="0">
                <a:solidFill>
                  <a:schemeClr val="tx1"/>
                </a:solidFill>
              </a:rPr>
              <a:t>to prove ownership of software/programs </a:t>
            </a:r>
          </a:p>
        </p:txBody>
      </p:sp>
      <p:sp>
        <p:nvSpPr>
          <p:cNvPr id="10" name="Hexagon 9">
            <a:extLst>
              <a:ext uri="{FF2B5EF4-FFF2-40B4-BE49-F238E27FC236}">
                <a16:creationId xmlns:a16="http://schemas.microsoft.com/office/drawing/2014/main" id="{1799621D-B16F-0205-E707-6024D9E5C9CD}"/>
              </a:ext>
            </a:extLst>
          </p:cNvPr>
          <p:cNvSpPr/>
          <p:nvPr/>
        </p:nvSpPr>
        <p:spPr>
          <a:xfrm rot="5400000">
            <a:off x="9133161" y="293414"/>
            <a:ext cx="847725" cy="730797"/>
          </a:xfrm>
          <a:prstGeom prst="hexagon">
            <a:avLst/>
          </a:prstGeom>
          <a:solidFill>
            <a:srgbClr val="00E8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Hexagon 10">
            <a:extLst>
              <a:ext uri="{FF2B5EF4-FFF2-40B4-BE49-F238E27FC236}">
                <a16:creationId xmlns:a16="http://schemas.microsoft.com/office/drawing/2014/main" id="{FD866832-EC35-402E-94FE-705433C69EA2}"/>
              </a:ext>
            </a:extLst>
          </p:cNvPr>
          <p:cNvSpPr/>
          <p:nvPr/>
        </p:nvSpPr>
        <p:spPr>
          <a:xfrm rot="5400000">
            <a:off x="9506279" y="1709273"/>
            <a:ext cx="1524000" cy="1313792"/>
          </a:xfrm>
          <a:prstGeom prst="hexagon">
            <a:avLst/>
          </a:prstGeom>
          <a:solidFill>
            <a:srgbClr val="00E8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Hexagon 11">
            <a:extLst>
              <a:ext uri="{FF2B5EF4-FFF2-40B4-BE49-F238E27FC236}">
                <a16:creationId xmlns:a16="http://schemas.microsoft.com/office/drawing/2014/main" id="{DA946DF5-5AB7-6AAC-629F-FC1B1D3D04B6}"/>
              </a:ext>
            </a:extLst>
          </p:cNvPr>
          <p:cNvSpPr/>
          <p:nvPr/>
        </p:nvSpPr>
        <p:spPr>
          <a:xfrm rot="5400000">
            <a:off x="11008191" y="1608467"/>
            <a:ext cx="695325" cy="599418"/>
          </a:xfrm>
          <a:prstGeom prst="hexagon">
            <a:avLst/>
          </a:prstGeom>
          <a:solidFill>
            <a:srgbClr val="00C5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Hexagon 12">
            <a:extLst>
              <a:ext uri="{FF2B5EF4-FFF2-40B4-BE49-F238E27FC236}">
                <a16:creationId xmlns:a16="http://schemas.microsoft.com/office/drawing/2014/main" id="{6E30F8DA-FE18-761D-796C-06D81E51D146}"/>
              </a:ext>
            </a:extLst>
          </p:cNvPr>
          <p:cNvSpPr/>
          <p:nvPr/>
        </p:nvSpPr>
        <p:spPr>
          <a:xfrm rot="5400000">
            <a:off x="9854063" y="1179183"/>
            <a:ext cx="409577" cy="353083"/>
          </a:xfrm>
          <a:prstGeom prst="hexagon">
            <a:avLst/>
          </a:prstGeom>
          <a:solidFill>
            <a:srgbClr val="00E8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Hexagon 14">
            <a:extLst>
              <a:ext uri="{FF2B5EF4-FFF2-40B4-BE49-F238E27FC236}">
                <a16:creationId xmlns:a16="http://schemas.microsoft.com/office/drawing/2014/main" id="{9087CE52-CAFB-980F-5AA5-C69702F33FD7}"/>
              </a:ext>
            </a:extLst>
          </p:cNvPr>
          <p:cNvSpPr/>
          <p:nvPr/>
        </p:nvSpPr>
        <p:spPr>
          <a:xfrm rot="5400000">
            <a:off x="8795023" y="3019754"/>
            <a:ext cx="1524000" cy="1313792"/>
          </a:xfrm>
          <a:prstGeom prst="hexagon">
            <a:avLst/>
          </a:prstGeom>
          <a:solidFill>
            <a:srgbClr val="00E8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Hexagon 15">
            <a:extLst>
              <a:ext uri="{FF2B5EF4-FFF2-40B4-BE49-F238E27FC236}">
                <a16:creationId xmlns:a16="http://schemas.microsoft.com/office/drawing/2014/main" id="{5DF953FB-DEBE-4861-335B-25216946FD6B}"/>
              </a:ext>
            </a:extLst>
          </p:cNvPr>
          <p:cNvSpPr/>
          <p:nvPr/>
        </p:nvSpPr>
        <p:spPr>
          <a:xfrm rot="5400000">
            <a:off x="9458835" y="1501625"/>
            <a:ext cx="312895" cy="269737"/>
          </a:xfrm>
          <a:prstGeom prst="hexagon">
            <a:avLst/>
          </a:prstGeom>
          <a:solidFill>
            <a:srgbClr val="3B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Hexagon 16">
            <a:extLst>
              <a:ext uri="{FF2B5EF4-FFF2-40B4-BE49-F238E27FC236}">
                <a16:creationId xmlns:a16="http://schemas.microsoft.com/office/drawing/2014/main" id="{022458AC-1123-7187-9767-5D08F0C8EB95}"/>
              </a:ext>
            </a:extLst>
          </p:cNvPr>
          <p:cNvSpPr/>
          <p:nvPr/>
        </p:nvSpPr>
        <p:spPr>
          <a:xfrm rot="5400000">
            <a:off x="10504472" y="1049719"/>
            <a:ext cx="572076" cy="493168"/>
          </a:xfrm>
          <a:prstGeom prst="hexagon">
            <a:avLst/>
          </a:prstGeom>
          <a:solidFill>
            <a:srgbClr val="00E8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Hexagon 17">
            <a:extLst>
              <a:ext uri="{FF2B5EF4-FFF2-40B4-BE49-F238E27FC236}">
                <a16:creationId xmlns:a16="http://schemas.microsoft.com/office/drawing/2014/main" id="{76546E02-A201-F97B-64CC-B080D4D73313}"/>
              </a:ext>
            </a:extLst>
          </p:cNvPr>
          <p:cNvSpPr/>
          <p:nvPr/>
        </p:nvSpPr>
        <p:spPr>
          <a:xfrm rot="5400000">
            <a:off x="10097923" y="571953"/>
            <a:ext cx="311546" cy="268574"/>
          </a:xfrm>
          <a:prstGeom prst="hexagon">
            <a:avLst/>
          </a:prstGeom>
          <a:solidFill>
            <a:srgbClr val="00C5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Hexagon 18">
            <a:extLst>
              <a:ext uri="{FF2B5EF4-FFF2-40B4-BE49-F238E27FC236}">
                <a16:creationId xmlns:a16="http://schemas.microsoft.com/office/drawing/2014/main" id="{85103265-4C1C-3DB4-4F6B-2BF28993A0A8}"/>
              </a:ext>
            </a:extLst>
          </p:cNvPr>
          <p:cNvSpPr/>
          <p:nvPr/>
        </p:nvSpPr>
        <p:spPr>
          <a:xfrm rot="5400000">
            <a:off x="11107487" y="1249839"/>
            <a:ext cx="242551" cy="209096"/>
          </a:xfrm>
          <a:prstGeom prst="hexagon">
            <a:avLst/>
          </a:prstGeom>
          <a:solidFill>
            <a:srgbClr val="3B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Hexagon 19">
            <a:extLst>
              <a:ext uri="{FF2B5EF4-FFF2-40B4-BE49-F238E27FC236}">
                <a16:creationId xmlns:a16="http://schemas.microsoft.com/office/drawing/2014/main" id="{BF3A3F2C-2DAC-F973-B783-DACDA212DC72}"/>
              </a:ext>
            </a:extLst>
          </p:cNvPr>
          <p:cNvSpPr/>
          <p:nvPr/>
        </p:nvSpPr>
        <p:spPr>
          <a:xfrm rot="5400000">
            <a:off x="8248979" y="5181136"/>
            <a:ext cx="1524000" cy="1313792"/>
          </a:xfrm>
          <a:prstGeom prst="hexagon">
            <a:avLst/>
          </a:prstGeom>
          <a:solidFill>
            <a:srgbClr val="F4B1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Hexagon 20">
            <a:extLst>
              <a:ext uri="{FF2B5EF4-FFF2-40B4-BE49-F238E27FC236}">
                <a16:creationId xmlns:a16="http://schemas.microsoft.com/office/drawing/2014/main" id="{0ED78393-DC02-ACB5-135D-590FC2CC5D72}"/>
              </a:ext>
            </a:extLst>
          </p:cNvPr>
          <p:cNvSpPr/>
          <p:nvPr/>
        </p:nvSpPr>
        <p:spPr>
          <a:xfrm rot="5400000">
            <a:off x="8050202" y="4163579"/>
            <a:ext cx="805813" cy="694666"/>
          </a:xfrm>
          <a:prstGeom prst="hexagon">
            <a:avLst/>
          </a:prstGeom>
          <a:solidFill>
            <a:srgbClr val="F4B1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Hexagon 21">
            <a:extLst>
              <a:ext uri="{FF2B5EF4-FFF2-40B4-BE49-F238E27FC236}">
                <a16:creationId xmlns:a16="http://schemas.microsoft.com/office/drawing/2014/main" id="{BC5C8F79-03BF-1095-4BAC-F60EE6702D7B}"/>
              </a:ext>
            </a:extLst>
          </p:cNvPr>
          <p:cNvSpPr/>
          <p:nvPr/>
        </p:nvSpPr>
        <p:spPr>
          <a:xfrm rot="5400000">
            <a:off x="7651836" y="6010968"/>
            <a:ext cx="513254" cy="442460"/>
          </a:xfrm>
          <a:prstGeom prst="hexagon">
            <a:avLst/>
          </a:prstGeom>
          <a:solidFill>
            <a:srgbClr val="F4B1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Hexagon 22">
            <a:extLst>
              <a:ext uri="{FF2B5EF4-FFF2-40B4-BE49-F238E27FC236}">
                <a16:creationId xmlns:a16="http://schemas.microsoft.com/office/drawing/2014/main" id="{B5D9D849-7B9D-2D72-C513-32273BE4FD54}"/>
              </a:ext>
            </a:extLst>
          </p:cNvPr>
          <p:cNvSpPr/>
          <p:nvPr/>
        </p:nvSpPr>
        <p:spPr>
          <a:xfrm rot="5400000">
            <a:off x="8025759" y="6524163"/>
            <a:ext cx="656646" cy="566074"/>
          </a:xfrm>
          <a:prstGeom prst="hexagon">
            <a:avLst/>
          </a:prstGeom>
          <a:solidFill>
            <a:srgbClr val="FBE0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Hexagon 23">
            <a:extLst>
              <a:ext uri="{FF2B5EF4-FFF2-40B4-BE49-F238E27FC236}">
                <a16:creationId xmlns:a16="http://schemas.microsoft.com/office/drawing/2014/main" id="{2CD87FA9-1F9E-F0A1-C452-BB312B80A641}"/>
              </a:ext>
            </a:extLst>
          </p:cNvPr>
          <p:cNvSpPr/>
          <p:nvPr/>
        </p:nvSpPr>
        <p:spPr>
          <a:xfrm rot="5400000">
            <a:off x="8872094" y="4557871"/>
            <a:ext cx="356884" cy="307658"/>
          </a:xfrm>
          <a:prstGeom prst="hexagon">
            <a:avLst/>
          </a:prstGeom>
          <a:solidFill>
            <a:srgbClr val="EE89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Hexagon 24">
            <a:extLst>
              <a:ext uri="{FF2B5EF4-FFF2-40B4-BE49-F238E27FC236}">
                <a16:creationId xmlns:a16="http://schemas.microsoft.com/office/drawing/2014/main" id="{52C2BF28-645A-0596-23AC-EEAD3C93D64D}"/>
              </a:ext>
            </a:extLst>
          </p:cNvPr>
          <p:cNvSpPr/>
          <p:nvPr/>
        </p:nvSpPr>
        <p:spPr>
          <a:xfrm rot="5400000">
            <a:off x="9120645" y="6576669"/>
            <a:ext cx="286727" cy="247178"/>
          </a:xfrm>
          <a:prstGeom prst="hexagon">
            <a:avLst/>
          </a:prstGeom>
          <a:solidFill>
            <a:srgbClr val="EE89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Hexagon 25">
            <a:extLst>
              <a:ext uri="{FF2B5EF4-FFF2-40B4-BE49-F238E27FC236}">
                <a16:creationId xmlns:a16="http://schemas.microsoft.com/office/drawing/2014/main" id="{BB9B8093-E377-9145-5CEF-15B123B7F85F}"/>
              </a:ext>
            </a:extLst>
          </p:cNvPr>
          <p:cNvSpPr/>
          <p:nvPr/>
        </p:nvSpPr>
        <p:spPr>
          <a:xfrm rot="5400000">
            <a:off x="7997675" y="4949284"/>
            <a:ext cx="382809" cy="330007"/>
          </a:xfrm>
          <a:prstGeom prst="hexagon">
            <a:avLst/>
          </a:prstGeom>
          <a:solidFill>
            <a:srgbClr val="FBE0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95241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6462"/>
        </a:solidFill>
        <a:effectLst/>
      </p:bgPr>
    </p:bg>
    <p:spTree>
      <p:nvGrpSpPr>
        <p:cNvPr id="1" name=""/>
        <p:cNvGrpSpPr/>
        <p:nvPr/>
      </p:nvGrpSpPr>
      <p:grpSpPr>
        <a:xfrm>
          <a:off x="0" y="0"/>
          <a:ext cx="0" cy="0"/>
          <a:chOff x="0" y="0"/>
          <a:chExt cx="0" cy="0"/>
        </a:xfrm>
      </p:grpSpPr>
      <p:pic>
        <p:nvPicPr>
          <p:cNvPr id="4098" name="Picture 2" descr="Lock Icon Loop">
            <a:extLst>
              <a:ext uri="{FF2B5EF4-FFF2-40B4-BE49-F238E27FC236}">
                <a16:creationId xmlns:a16="http://schemas.microsoft.com/office/drawing/2014/main" id="{21B71610-D803-47F0-4153-26D3D538DF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1143000"/>
            <a:ext cx="7620000" cy="5715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E480707-4F0C-29E0-76BA-F4BBF8528E29}"/>
              </a:ext>
            </a:extLst>
          </p:cNvPr>
          <p:cNvSpPr>
            <a:spLocks noGrp="1"/>
          </p:cNvSpPr>
          <p:nvPr>
            <p:ph type="title"/>
          </p:nvPr>
        </p:nvSpPr>
        <p:spPr/>
        <p:txBody>
          <a:bodyPr/>
          <a:lstStyle/>
          <a:p>
            <a:r>
              <a:rPr lang="en-GB" dirty="0">
                <a:latin typeface="LEMON MILK" panose="00000500000000000000" pitchFamily="50" charset="0"/>
              </a:rPr>
              <a:t>HTTPS</a:t>
            </a:r>
          </a:p>
        </p:txBody>
      </p:sp>
      <p:sp>
        <p:nvSpPr>
          <p:cNvPr id="3" name="Content Placeholder 2">
            <a:extLst>
              <a:ext uri="{FF2B5EF4-FFF2-40B4-BE49-F238E27FC236}">
                <a16:creationId xmlns:a16="http://schemas.microsoft.com/office/drawing/2014/main" id="{199806DD-BB77-1C92-2494-1CBBB273F39B}"/>
              </a:ext>
            </a:extLst>
          </p:cNvPr>
          <p:cNvSpPr>
            <a:spLocks noGrp="1"/>
          </p:cNvSpPr>
          <p:nvPr>
            <p:ph idx="1"/>
          </p:nvPr>
        </p:nvSpPr>
        <p:spPr>
          <a:xfrm>
            <a:off x="3609975" y="733426"/>
            <a:ext cx="8391525" cy="5972174"/>
          </a:xfrm>
        </p:spPr>
        <p:txBody>
          <a:bodyPr>
            <a:normAutofit lnSpcReduction="10000"/>
          </a:bodyPr>
          <a:lstStyle/>
          <a:p>
            <a:r>
              <a:rPr lang="en-GB" dirty="0">
                <a:latin typeface="Eras Light ITC" panose="020B0402030504020804" pitchFamily="34" charset="0"/>
              </a:rPr>
              <a:t>All data transmitted across HTTP connections are in 'plain text' and can be read by any individual who can hack into the connection between a browser and a website. </a:t>
            </a:r>
          </a:p>
          <a:p>
            <a:r>
              <a:rPr lang="en-GB" b="1" dirty="0">
                <a:latin typeface="Eras Light ITC" panose="020B0402030504020804" pitchFamily="34" charset="0"/>
              </a:rPr>
              <a:t>Hypertext Transfer Protocol Secure(https) is used to encrypt data when it is being transferred across the Internet</a:t>
            </a:r>
            <a:r>
              <a:rPr lang="en-GB" dirty="0">
                <a:latin typeface="Eras Light ITC" panose="020B0402030504020804" pitchFamily="34" charset="0"/>
              </a:rPr>
              <a:t>. </a:t>
            </a:r>
          </a:p>
          <a:p>
            <a:pPr lvl="1"/>
            <a:r>
              <a:rPr lang="en-GB" dirty="0">
                <a:latin typeface="Eras Light ITC" panose="020B0402030504020804" pitchFamily="34" charset="0"/>
              </a:rPr>
              <a:t>A page displaying https:// at the beginning of the web address will make use of encryption to secure data transmission. </a:t>
            </a:r>
          </a:p>
          <a:p>
            <a:r>
              <a:rPr lang="en-GB" b="1" dirty="0">
                <a:latin typeface="Eras Light ITC" panose="020B0402030504020804" pitchFamily="34" charset="0"/>
              </a:rPr>
              <a:t>HTTPS web pages use SSL (or TLS –Transport Layer Security). </a:t>
            </a:r>
          </a:p>
          <a:p>
            <a:pPr lvl="1"/>
            <a:r>
              <a:rPr lang="en-GB" dirty="0">
                <a:latin typeface="Eras Light ITC" panose="020B0402030504020804" pitchFamily="34" charset="0"/>
              </a:rPr>
              <a:t>During this process, a Public and Private Key are utilised together with a digital certificate. </a:t>
            </a:r>
          </a:p>
          <a:p>
            <a:pPr lvl="1"/>
            <a:r>
              <a:rPr lang="en-GB" dirty="0">
                <a:latin typeface="Eras Light ITC" panose="020B0402030504020804" pitchFamily="34" charset="0"/>
              </a:rPr>
              <a:t>Ensures that if a hacker did break into the connection, they could not decrypt any of the data. </a:t>
            </a:r>
          </a:p>
          <a:p>
            <a:endParaRPr lang="en-GB" dirty="0">
              <a:latin typeface="Eras Light ITC" panose="020B0402030504020804" pitchFamily="34" charset="0"/>
            </a:endParaRPr>
          </a:p>
        </p:txBody>
      </p:sp>
    </p:spTree>
    <p:extLst>
      <p:ext uri="{BB962C8B-B14F-4D97-AF65-F5344CB8AC3E}">
        <p14:creationId xmlns:p14="http://schemas.microsoft.com/office/powerpoint/2010/main" val="30529784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71AD32"/>
        </a:solidFill>
        <a:effectLst/>
      </p:bgPr>
    </p:bg>
    <p:spTree>
      <p:nvGrpSpPr>
        <p:cNvPr id="1" name=""/>
        <p:cNvGrpSpPr/>
        <p:nvPr/>
      </p:nvGrpSpPr>
      <p:grpSpPr>
        <a:xfrm>
          <a:off x="0" y="0"/>
          <a:ext cx="0" cy="0"/>
          <a:chOff x="0" y="0"/>
          <a:chExt cx="0" cy="0"/>
        </a:xfrm>
      </p:grpSpPr>
      <p:pic>
        <p:nvPicPr>
          <p:cNvPr id="5122" name="Picture 2" descr="SSL example by saponya on Dribbble">
            <a:extLst>
              <a:ext uri="{FF2B5EF4-FFF2-40B4-BE49-F238E27FC236}">
                <a16:creationId xmlns:a16="http://schemas.microsoft.com/office/drawing/2014/main" id="{F43B3CEB-69F9-E1DF-786B-3CBF0EB1AC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6975" y="957262"/>
            <a:ext cx="6591300" cy="49434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DE77AB7-5FD4-2B97-9322-91160EA21B8C}"/>
              </a:ext>
            </a:extLst>
          </p:cNvPr>
          <p:cNvSpPr>
            <a:spLocks noGrp="1"/>
          </p:cNvSpPr>
          <p:nvPr>
            <p:ph type="title"/>
          </p:nvPr>
        </p:nvSpPr>
        <p:spPr>
          <a:xfrm>
            <a:off x="8029575" y="365125"/>
            <a:ext cx="3324224" cy="1325563"/>
          </a:xfrm>
        </p:spPr>
        <p:txBody>
          <a:bodyPr/>
          <a:lstStyle/>
          <a:p>
            <a:r>
              <a:rPr lang="en-GB" dirty="0"/>
              <a:t>SSL</a:t>
            </a:r>
          </a:p>
        </p:txBody>
      </p:sp>
      <p:sp>
        <p:nvSpPr>
          <p:cNvPr id="3" name="Content Placeholder 2">
            <a:extLst>
              <a:ext uri="{FF2B5EF4-FFF2-40B4-BE49-F238E27FC236}">
                <a16:creationId xmlns:a16="http://schemas.microsoft.com/office/drawing/2014/main" id="{5CCE89A2-4ECC-F80E-9AEF-B68B66E5DDAC}"/>
              </a:ext>
            </a:extLst>
          </p:cNvPr>
          <p:cNvSpPr>
            <a:spLocks noGrp="1"/>
          </p:cNvSpPr>
          <p:nvPr>
            <p:ph idx="1"/>
          </p:nvPr>
        </p:nvSpPr>
        <p:spPr>
          <a:xfrm>
            <a:off x="133349" y="200025"/>
            <a:ext cx="7343775" cy="6496050"/>
          </a:xfrm>
        </p:spPr>
        <p:txBody>
          <a:bodyPr>
            <a:normAutofit fontScale="92500" lnSpcReduction="20000"/>
          </a:bodyPr>
          <a:lstStyle/>
          <a:p>
            <a:r>
              <a:rPr lang="en-GB" b="1" dirty="0">
                <a:solidFill>
                  <a:srgbClr val="7030A0"/>
                </a:solidFill>
              </a:rPr>
              <a:t>SSL is a protocol used to open a secure channel or encrypted link between two computers online. </a:t>
            </a:r>
          </a:p>
          <a:p>
            <a:pPr lvl="1"/>
            <a:r>
              <a:rPr lang="en-GB" dirty="0"/>
              <a:t>It is used when a web browser needs to connect securely to a web server. SSL certificates exist to encrypt data and identify websites. </a:t>
            </a:r>
          </a:p>
          <a:p>
            <a:pPr lvl="1"/>
            <a:r>
              <a:rPr lang="en-GB" dirty="0"/>
              <a:t>This allows a web browser to trust a website so that sensitive data can be transmitted safely. The goal is end to end trusted communication. </a:t>
            </a:r>
          </a:p>
          <a:p>
            <a:pPr marL="0" indent="0">
              <a:buNone/>
            </a:pPr>
            <a:r>
              <a:rPr lang="en-GB" dirty="0"/>
              <a:t> </a:t>
            </a:r>
          </a:p>
          <a:p>
            <a:r>
              <a:rPr lang="en-GB" dirty="0">
                <a:solidFill>
                  <a:srgbClr val="7030A0"/>
                </a:solidFill>
              </a:rPr>
              <a:t>SSL instantly encrypts plain text like credit card numbers into data that only the user and website can decrypt. </a:t>
            </a:r>
          </a:p>
          <a:p>
            <a:r>
              <a:rPr lang="en-GB" dirty="0"/>
              <a:t>SSL ensures that the data is not modified, and it authenticates websites. </a:t>
            </a:r>
          </a:p>
          <a:p>
            <a:pPr lvl="1"/>
            <a:r>
              <a:rPr lang="en-GB" dirty="0"/>
              <a:t>To verify that SSL is protecting a page, look for a web address beginning </a:t>
            </a:r>
            <a:r>
              <a:rPr lang="en-GB" dirty="0">
                <a:solidFill>
                  <a:srgbClr val="7030A0"/>
                </a:solidFill>
              </a:rPr>
              <a:t>https:// and a closed padlock icon</a:t>
            </a:r>
            <a:r>
              <a:rPr lang="en-GB" dirty="0"/>
              <a:t>. </a:t>
            </a:r>
          </a:p>
          <a:p>
            <a:pPr lvl="1"/>
            <a:r>
              <a:rPr lang="en-GB" dirty="0"/>
              <a:t>Companies using an extended validation display the data in a green address bar. </a:t>
            </a:r>
          </a:p>
          <a:p>
            <a:pPr lvl="1"/>
            <a:r>
              <a:rPr lang="en-GB" dirty="0"/>
              <a:t>An SSL digital certificate shows that the website is secure, and visitors can be re-assured that their data will be protected whilst using it. </a:t>
            </a:r>
          </a:p>
          <a:p>
            <a:endParaRPr lang="en-GB" dirty="0"/>
          </a:p>
        </p:txBody>
      </p:sp>
    </p:spTree>
    <p:extLst>
      <p:ext uri="{BB962C8B-B14F-4D97-AF65-F5344CB8AC3E}">
        <p14:creationId xmlns:p14="http://schemas.microsoft.com/office/powerpoint/2010/main" val="1161962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8AC9FE"/>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54CACC-E175-3466-2600-D09E52AA21B7}"/>
              </a:ext>
            </a:extLst>
          </p:cNvPr>
          <p:cNvSpPr>
            <a:spLocks noGrp="1"/>
          </p:cNvSpPr>
          <p:nvPr>
            <p:ph idx="1"/>
          </p:nvPr>
        </p:nvSpPr>
        <p:spPr>
          <a:xfrm>
            <a:off x="238125" y="466725"/>
            <a:ext cx="11772900" cy="5710238"/>
          </a:xfrm>
        </p:spPr>
        <p:txBody>
          <a:bodyPr>
            <a:normAutofit/>
          </a:bodyPr>
          <a:lstStyle/>
          <a:p>
            <a:r>
              <a:rPr lang="en-GB" dirty="0"/>
              <a:t>If a website is not using SSL, any data being transmitted can be accessed by any computer on the network. When doing online banking we are using SSL and HTTPS. </a:t>
            </a:r>
          </a:p>
          <a:p>
            <a:r>
              <a:rPr lang="en-GB" dirty="0"/>
              <a:t>The following steps occur: </a:t>
            </a:r>
          </a:p>
          <a:p>
            <a:pPr marL="457200" lvl="1" indent="0">
              <a:buNone/>
            </a:pPr>
            <a:r>
              <a:rPr lang="en-GB" dirty="0"/>
              <a:t>		The client computer requests an SSL connection </a:t>
            </a:r>
          </a:p>
          <a:p>
            <a:pPr marL="457200" lvl="1" indent="0">
              <a:buNone/>
            </a:pPr>
            <a:endParaRPr lang="en-GB" dirty="0"/>
          </a:p>
          <a:p>
            <a:pPr marL="457200" lvl="1" indent="0">
              <a:buNone/>
            </a:pPr>
            <a:r>
              <a:rPr lang="en-GB" dirty="0"/>
              <a:t>		The server answers and provides an SSL certificate which contains a public key</a:t>
            </a:r>
          </a:p>
          <a:p>
            <a:pPr marL="457200" lvl="1" indent="0">
              <a:buNone/>
            </a:pPr>
            <a:r>
              <a:rPr lang="en-GB" dirty="0"/>
              <a:t> </a:t>
            </a:r>
          </a:p>
          <a:p>
            <a:pPr marL="457200" lvl="1" indent="0">
              <a:buNone/>
            </a:pPr>
            <a:r>
              <a:rPr lang="en-GB" dirty="0"/>
              <a:t>		The client computer validates the certificate and public key </a:t>
            </a:r>
          </a:p>
          <a:p>
            <a:pPr marL="457200" lvl="1" indent="0">
              <a:buNone/>
            </a:pPr>
            <a:endParaRPr lang="en-GB" dirty="0"/>
          </a:p>
          <a:p>
            <a:pPr marL="457200" lvl="1" indent="0">
              <a:buNone/>
            </a:pPr>
            <a:r>
              <a:rPr lang="en-GB" dirty="0"/>
              <a:t>		The client computer generates a session key and submits it to the server </a:t>
            </a:r>
          </a:p>
          <a:p>
            <a:pPr marL="457200" lvl="1" indent="0">
              <a:buNone/>
            </a:pPr>
            <a:endParaRPr lang="en-GB" dirty="0"/>
          </a:p>
          <a:p>
            <a:pPr marL="457200" lvl="1" indent="0">
              <a:buNone/>
            </a:pPr>
            <a:r>
              <a:rPr lang="en-GB" dirty="0"/>
              <a:t>		The SSL connection is established </a:t>
            </a:r>
          </a:p>
          <a:p>
            <a:endParaRPr lang="en-GB" dirty="0"/>
          </a:p>
        </p:txBody>
      </p:sp>
      <p:grpSp>
        <p:nvGrpSpPr>
          <p:cNvPr id="6" name="Group 5">
            <a:extLst>
              <a:ext uri="{FF2B5EF4-FFF2-40B4-BE49-F238E27FC236}">
                <a16:creationId xmlns:a16="http://schemas.microsoft.com/office/drawing/2014/main" id="{5C74FD1A-733B-0010-E716-0FC72000FA44}"/>
              </a:ext>
            </a:extLst>
          </p:cNvPr>
          <p:cNvGrpSpPr/>
          <p:nvPr/>
        </p:nvGrpSpPr>
        <p:grpSpPr>
          <a:xfrm>
            <a:off x="104774" y="2171700"/>
            <a:ext cx="1907381" cy="523875"/>
            <a:chOff x="2571749" y="5172075"/>
            <a:chExt cx="1907381" cy="523875"/>
          </a:xfrm>
          <a:solidFill>
            <a:schemeClr val="accent4"/>
          </a:solidFill>
          <a:effectLst>
            <a:outerShdw blurRad="50800" dist="38100" dir="2700000" algn="tl" rotWithShape="0">
              <a:prstClr val="black">
                <a:alpha val="40000"/>
              </a:prstClr>
            </a:outerShdw>
          </a:effectLst>
        </p:grpSpPr>
        <p:sp>
          <p:nvSpPr>
            <p:cNvPr id="4" name="Flowchart: Stored Data 3">
              <a:extLst>
                <a:ext uri="{FF2B5EF4-FFF2-40B4-BE49-F238E27FC236}">
                  <a16:creationId xmlns:a16="http://schemas.microsoft.com/office/drawing/2014/main" id="{99BA1612-3982-56CF-B853-949AF563B29B}"/>
                </a:ext>
              </a:extLst>
            </p:cNvPr>
            <p:cNvSpPr/>
            <p:nvPr/>
          </p:nvSpPr>
          <p:spPr>
            <a:xfrm>
              <a:off x="2571749" y="5172075"/>
              <a:ext cx="1724025" cy="523875"/>
            </a:xfrm>
            <a:prstGeom prst="flowChartOnlineStorag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latin typeface="LEMON MILK" panose="00000500000000000000" pitchFamily="50" charset="0"/>
                </a:rPr>
                <a:t>STEP</a:t>
              </a:r>
            </a:p>
          </p:txBody>
        </p:sp>
        <p:sp>
          <p:nvSpPr>
            <p:cNvPr id="5" name="Oval 4">
              <a:extLst>
                <a:ext uri="{FF2B5EF4-FFF2-40B4-BE49-F238E27FC236}">
                  <a16:creationId xmlns:a16="http://schemas.microsoft.com/office/drawing/2014/main" id="{9DCB83C4-9D98-011A-6ABD-D3B88136B8FA}"/>
                </a:ext>
              </a:extLst>
            </p:cNvPr>
            <p:cNvSpPr/>
            <p:nvPr/>
          </p:nvSpPr>
          <p:spPr>
            <a:xfrm>
              <a:off x="4055267" y="5222080"/>
              <a:ext cx="423863" cy="42386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Aharoni" panose="02010803020104030203" pitchFamily="2" charset="-79"/>
                  <a:cs typeface="Aharoni" panose="02010803020104030203" pitchFamily="2" charset="-79"/>
                </a:rPr>
                <a:t>1</a:t>
              </a:r>
            </a:p>
          </p:txBody>
        </p:sp>
      </p:grpSp>
      <p:grpSp>
        <p:nvGrpSpPr>
          <p:cNvPr id="7" name="Group 6">
            <a:extLst>
              <a:ext uri="{FF2B5EF4-FFF2-40B4-BE49-F238E27FC236}">
                <a16:creationId xmlns:a16="http://schemas.microsoft.com/office/drawing/2014/main" id="{EE4935D2-7034-12B6-7B3E-D1534E4D2677}"/>
              </a:ext>
            </a:extLst>
          </p:cNvPr>
          <p:cNvGrpSpPr/>
          <p:nvPr/>
        </p:nvGrpSpPr>
        <p:grpSpPr>
          <a:xfrm>
            <a:off x="104774" y="2905125"/>
            <a:ext cx="1907381" cy="523875"/>
            <a:chOff x="2571749" y="5172075"/>
            <a:chExt cx="1907381" cy="523875"/>
          </a:xfrm>
          <a:solidFill>
            <a:schemeClr val="accent5"/>
          </a:solidFill>
          <a:effectLst>
            <a:outerShdw blurRad="50800" dist="38100" dir="2700000" algn="tl" rotWithShape="0">
              <a:prstClr val="black">
                <a:alpha val="40000"/>
              </a:prstClr>
            </a:outerShdw>
          </a:effectLst>
        </p:grpSpPr>
        <p:sp>
          <p:nvSpPr>
            <p:cNvPr id="8" name="Flowchart: Stored Data 7">
              <a:extLst>
                <a:ext uri="{FF2B5EF4-FFF2-40B4-BE49-F238E27FC236}">
                  <a16:creationId xmlns:a16="http://schemas.microsoft.com/office/drawing/2014/main" id="{89605E86-D5A2-00C1-9465-B864A0FFA225}"/>
                </a:ext>
              </a:extLst>
            </p:cNvPr>
            <p:cNvSpPr/>
            <p:nvPr/>
          </p:nvSpPr>
          <p:spPr>
            <a:xfrm>
              <a:off x="2571749" y="5172075"/>
              <a:ext cx="1724025" cy="523875"/>
            </a:xfrm>
            <a:prstGeom prst="flowChartOnlineStorag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latin typeface="LEMON MILK" panose="00000500000000000000" pitchFamily="50" charset="0"/>
                </a:rPr>
                <a:t>STEP</a:t>
              </a:r>
            </a:p>
          </p:txBody>
        </p:sp>
        <p:sp>
          <p:nvSpPr>
            <p:cNvPr id="9" name="Oval 8">
              <a:extLst>
                <a:ext uri="{FF2B5EF4-FFF2-40B4-BE49-F238E27FC236}">
                  <a16:creationId xmlns:a16="http://schemas.microsoft.com/office/drawing/2014/main" id="{DD2AE7BB-D67C-8C76-D1DB-878AB283AB19}"/>
                </a:ext>
              </a:extLst>
            </p:cNvPr>
            <p:cNvSpPr/>
            <p:nvPr/>
          </p:nvSpPr>
          <p:spPr>
            <a:xfrm>
              <a:off x="4055267" y="5222080"/>
              <a:ext cx="423863" cy="423863"/>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Aharoni" panose="02010803020104030203" pitchFamily="2" charset="-79"/>
                  <a:cs typeface="Aharoni" panose="02010803020104030203" pitchFamily="2" charset="-79"/>
                </a:rPr>
                <a:t>2</a:t>
              </a:r>
            </a:p>
          </p:txBody>
        </p:sp>
      </p:grpSp>
      <p:grpSp>
        <p:nvGrpSpPr>
          <p:cNvPr id="10" name="Group 9">
            <a:extLst>
              <a:ext uri="{FF2B5EF4-FFF2-40B4-BE49-F238E27FC236}">
                <a16:creationId xmlns:a16="http://schemas.microsoft.com/office/drawing/2014/main" id="{E79BC49E-7FBF-A431-66E5-6CD4C956C45A}"/>
              </a:ext>
            </a:extLst>
          </p:cNvPr>
          <p:cNvGrpSpPr/>
          <p:nvPr/>
        </p:nvGrpSpPr>
        <p:grpSpPr>
          <a:xfrm>
            <a:off x="104774" y="3688558"/>
            <a:ext cx="1907381" cy="523875"/>
            <a:chOff x="2571749" y="5172075"/>
            <a:chExt cx="1907381" cy="523875"/>
          </a:xfrm>
          <a:solidFill>
            <a:schemeClr val="accent4"/>
          </a:solidFill>
          <a:effectLst>
            <a:outerShdw blurRad="50800" dist="38100" dir="2700000" algn="tl" rotWithShape="0">
              <a:prstClr val="black">
                <a:alpha val="40000"/>
              </a:prstClr>
            </a:outerShdw>
          </a:effectLst>
        </p:grpSpPr>
        <p:sp>
          <p:nvSpPr>
            <p:cNvPr id="11" name="Flowchart: Stored Data 10">
              <a:extLst>
                <a:ext uri="{FF2B5EF4-FFF2-40B4-BE49-F238E27FC236}">
                  <a16:creationId xmlns:a16="http://schemas.microsoft.com/office/drawing/2014/main" id="{12BF5A54-F5ED-8FA5-459B-BCE3734F4FF9}"/>
                </a:ext>
              </a:extLst>
            </p:cNvPr>
            <p:cNvSpPr/>
            <p:nvPr/>
          </p:nvSpPr>
          <p:spPr>
            <a:xfrm>
              <a:off x="2571749" y="5172075"/>
              <a:ext cx="1724025" cy="523875"/>
            </a:xfrm>
            <a:prstGeom prst="flowChartOnlineStorag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latin typeface="LEMON MILK" panose="00000500000000000000" pitchFamily="50" charset="0"/>
                </a:rPr>
                <a:t>STEP</a:t>
              </a:r>
            </a:p>
          </p:txBody>
        </p:sp>
        <p:sp>
          <p:nvSpPr>
            <p:cNvPr id="12" name="Oval 11">
              <a:extLst>
                <a:ext uri="{FF2B5EF4-FFF2-40B4-BE49-F238E27FC236}">
                  <a16:creationId xmlns:a16="http://schemas.microsoft.com/office/drawing/2014/main" id="{ABAD1A5E-C837-BD62-0A5A-5D54B56D8BA4}"/>
                </a:ext>
              </a:extLst>
            </p:cNvPr>
            <p:cNvSpPr/>
            <p:nvPr/>
          </p:nvSpPr>
          <p:spPr>
            <a:xfrm>
              <a:off x="4055267" y="5222080"/>
              <a:ext cx="423863" cy="423863"/>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Aharoni" panose="02010803020104030203" pitchFamily="2" charset="-79"/>
                  <a:cs typeface="Aharoni" panose="02010803020104030203" pitchFamily="2" charset="-79"/>
                </a:rPr>
                <a:t>3</a:t>
              </a:r>
            </a:p>
          </p:txBody>
        </p:sp>
      </p:grpSp>
      <p:grpSp>
        <p:nvGrpSpPr>
          <p:cNvPr id="13" name="Group 12">
            <a:extLst>
              <a:ext uri="{FF2B5EF4-FFF2-40B4-BE49-F238E27FC236}">
                <a16:creationId xmlns:a16="http://schemas.microsoft.com/office/drawing/2014/main" id="{D6F855D2-08A5-C60E-1538-71D8B41386AC}"/>
              </a:ext>
            </a:extLst>
          </p:cNvPr>
          <p:cNvGrpSpPr/>
          <p:nvPr/>
        </p:nvGrpSpPr>
        <p:grpSpPr>
          <a:xfrm>
            <a:off x="150016" y="4476751"/>
            <a:ext cx="1907381" cy="523875"/>
            <a:chOff x="2571749" y="5172075"/>
            <a:chExt cx="1907381" cy="523875"/>
          </a:xfrm>
          <a:solidFill>
            <a:schemeClr val="accent4"/>
          </a:solidFill>
          <a:effectLst>
            <a:outerShdw blurRad="50800" dist="38100" dir="2700000" algn="tl" rotWithShape="0">
              <a:prstClr val="black">
                <a:alpha val="40000"/>
              </a:prstClr>
            </a:outerShdw>
          </a:effectLst>
        </p:grpSpPr>
        <p:sp>
          <p:nvSpPr>
            <p:cNvPr id="14" name="Flowchart: Stored Data 13">
              <a:extLst>
                <a:ext uri="{FF2B5EF4-FFF2-40B4-BE49-F238E27FC236}">
                  <a16:creationId xmlns:a16="http://schemas.microsoft.com/office/drawing/2014/main" id="{8B1A667F-4AAF-5229-D958-307DAE6F3E7A}"/>
                </a:ext>
              </a:extLst>
            </p:cNvPr>
            <p:cNvSpPr/>
            <p:nvPr/>
          </p:nvSpPr>
          <p:spPr>
            <a:xfrm>
              <a:off x="2571749" y="5172075"/>
              <a:ext cx="1724025" cy="523875"/>
            </a:xfrm>
            <a:prstGeom prst="flowChartOnlineStorag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latin typeface="LEMON MILK" panose="00000500000000000000" pitchFamily="50" charset="0"/>
                </a:rPr>
                <a:t>STEP</a:t>
              </a:r>
            </a:p>
          </p:txBody>
        </p:sp>
        <p:sp>
          <p:nvSpPr>
            <p:cNvPr id="15" name="Oval 14">
              <a:extLst>
                <a:ext uri="{FF2B5EF4-FFF2-40B4-BE49-F238E27FC236}">
                  <a16:creationId xmlns:a16="http://schemas.microsoft.com/office/drawing/2014/main" id="{E2E65AF0-6349-7DDE-675D-6861ED37223E}"/>
                </a:ext>
              </a:extLst>
            </p:cNvPr>
            <p:cNvSpPr/>
            <p:nvPr/>
          </p:nvSpPr>
          <p:spPr>
            <a:xfrm>
              <a:off x="4055267" y="5222080"/>
              <a:ext cx="423863" cy="42386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Aharoni" panose="02010803020104030203" pitchFamily="2" charset="-79"/>
                  <a:cs typeface="Aharoni" panose="02010803020104030203" pitchFamily="2" charset="-79"/>
                </a:rPr>
                <a:t>4</a:t>
              </a:r>
            </a:p>
          </p:txBody>
        </p:sp>
      </p:grpSp>
      <p:grpSp>
        <p:nvGrpSpPr>
          <p:cNvPr id="16" name="Group 15">
            <a:extLst>
              <a:ext uri="{FF2B5EF4-FFF2-40B4-BE49-F238E27FC236}">
                <a16:creationId xmlns:a16="http://schemas.microsoft.com/office/drawing/2014/main" id="{C4A08E85-F6F8-7751-180C-BA55F3C5687E}"/>
              </a:ext>
            </a:extLst>
          </p:cNvPr>
          <p:cNvGrpSpPr/>
          <p:nvPr/>
        </p:nvGrpSpPr>
        <p:grpSpPr>
          <a:xfrm>
            <a:off x="180975" y="5266133"/>
            <a:ext cx="1907381" cy="523875"/>
            <a:chOff x="2571749" y="5172075"/>
            <a:chExt cx="1907381" cy="523875"/>
          </a:xfrm>
          <a:solidFill>
            <a:schemeClr val="accent4"/>
          </a:solidFill>
          <a:effectLst>
            <a:outerShdw blurRad="50800" dist="38100" dir="2700000" algn="tl" rotWithShape="0">
              <a:prstClr val="black">
                <a:alpha val="40000"/>
              </a:prstClr>
            </a:outerShdw>
          </a:effectLst>
        </p:grpSpPr>
        <p:sp>
          <p:nvSpPr>
            <p:cNvPr id="17" name="Flowchart: Stored Data 16">
              <a:extLst>
                <a:ext uri="{FF2B5EF4-FFF2-40B4-BE49-F238E27FC236}">
                  <a16:creationId xmlns:a16="http://schemas.microsoft.com/office/drawing/2014/main" id="{0979DBAB-0BA3-DA70-0DC7-A159518F3E59}"/>
                </a:ext>
              </a:extLst>
            </p:cNvPr>
            <p:cNvSpPr/>
            <p:nvPr/>
          </p:nvSpPr>
          <p:spPr>
            <a:xfrm>
              <a:off x="2571749" y="5172075"/>
              <a:ext cx="1724025" cy="523875"/>
            </a:xfrm>
            <a:prstGeom prst="flowChartOnlineStorage">
              <a:avLst/>
            </a:prstGeom>
            <a:solidFill>
              <a:srgbClr val="EE89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latin typeface="LEMON MILK" panose="00000500000000000000" pitchFamily="50" charset="0"/>
                </a:rPr>
                <a:t>STEP</a:t>
              </a:r>
            </a:p>
          </p:txBody>
        </p:sp>
        <p:sp>
          <p:nvSpPr>
            <p:cNvPr id="18" name="Oval 17">
              <a:extLst>
                <a:ext uri="{FF2B5EF4-FFF2-40B4-BE49-F238E27FC236}">
                  <a16:creationId xmlns:a16="http://schemas.microsoft.com/office/drawing/2014/main" id="{A7A6106F-E311-4A9C-EB3C-FEAEE5576211}"/>
                </a:ext>
              </a:extLst>
            </p:cNvPr>
            <p:cNvSpPr/>
            <p:nvPr/>
          </p:nvSpPr>
          <p:spPr>
            <a:xfrm>
              <a:off x="4055267" y="5222080"/>
              <a:ext cx="423863" cy="423863"/>
            </a:xfrm>
            <a:prstGeom prst="ellipse">
              <a:avLst/>
            </a:prstGeom>
            <a:solidFill>
              <a:srgbClr val="F4B1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Aharoni" panose="02010803020104030203" pitchFamily="2" charset="-79"/>
                  <a:cs typeface="Aharoni" panose="02010803020104030203" pitchFamily="2" charset="-79"/>
                </a:rPr>
                <a:t>5</a:t>
              </a:r>
            </a:p>
          </p:txBody>
        </p:sp>
      </p:grpSp>
    </p:spTree>
    <p:extLst>
      <p:ext uri="{BB962C8B-B14F-4D97-AF65-F5344CB8AC3E}">
        <p14:creationId xmlns:p14="http://schemas.microsoft.com/office/powerpoint/2010/main" val="3122968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72CA0-3E51-CBF0-1953-F74852F285CA}"/>
              </a:ext>
            </a:extLst>
          </p:cNvPr>
          <p:cNvSpPr>
            <a:spLocks noGrp="1"/>
          </p:cNvSpPr>
          <p:nvPr>
            <p:ph type="title"/>
          </p:nvPr>
        </p:nvSpPr>
        <p:spPr/>
        <p:txBody>
          <a:bodyPr>
            <a:normAutofit/>
          </a:bodyPr>
          <a:lstStyle/>
          <a:p>
            <a:r>
              <a:rPr lang="en-GB" b="1" dirty="0"/>
              <a:t>A supermarkets web page contains the following text.</a:t>
            </a:r>
            <a:endParaRPr lang="en-GB" dirty="0"/>
          </a:p>
        </p:txBody>
      </p:sp>
      <p:sp>
        <p:nvSpPr>
          <p:cNvPr id="3" name="Content Placeholder 2">
            <a:extLst>
              <a:ext uri="{FF2B5EF4-FFF2-40B4-BE49-F238E27FC236}">
                <a16:creationId xmlns:a16="http://schemas.microsoft.com/office/drawing/2014/main" id="{1B07D51A-ABA5-427C-7638-7E8238A587F1}"/>
              </a:ext>
            </a:extLst>
          </p:cNvPr>
          <p:cNvSpPr>
            <a:spLocks noGrp="1"/>
          </p:cNvSpPr>
          <p:nvPr>
            <p:ph idx="1"/>
          </p:nvPr>
        </p:nvSpPr>
        <p:spPr>
          <a:xfrm>
            <a:off x="838200" y="1825624"/>
            <a:ext cx="10515600" cy="5032375"/>
          </a:xfrm>
        </p:spPr>
        <p:txBody>
          <a:bodyPr>
            <a:normAutofit fontScale="92500" lnSpcReduction="10000"/>
          </a:bodyPr>
          <a:lstStyle/>
          <a:p>
            <a:pPr marL="0" indent="0">
              <a:buNone/>
            </a:pPr>
            <a:r>
              <a:rPr lang="en-GB" dirty="0"/>
              <a:t>Produce the HTML code that will display this section of the webpage.</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pPr marL="0" indent="0" algn="r">
              <a:buNone/>
            </a:pPr>
            <a:r>
              <a:rPr lang="en-GB" dirty="0"/>
              <a:t>[6]</a:t>
            </a:r>
          </a:p>
        </p:txBody>
      </p:sp>
      <p:pic>
        <p:nvPicPr>
          <p:cNvPr id="5" name="Picture 4">
            <a:extLst>
              <a:ext uri="{FF2B5EF4-FFF2-40B4-BE49-F238E27FC236}">
                <a16:creationId xmlns:a16="http://schemas.microsoft.com/office/drawing/2014/main" id="{548810A4-0819-096C-AAE7-4A0CBD12029C}"/>
              </a:ext>
            </a:extLst>
          </p:cNvPr>
          <p:cNvPicPr>
            <a:picLocks noChangeAspect="1"/>
          </p:cNvPicPr>
          <p:nvPr/>
        </p:nvPicPr>
        <p:blipFill>
          <a:blip r:embed="rId2"/>
          <a:stretch>
            <a:fillRect/>
          </a:stretch>
        </p:blipFill>
        <p:spPr>
          <a:xfrm>
            <a:off x="2032448" y="2377686"/>
            <a:ext cx="7866534" cy="3413514"/>
          </a:xfrm>
          <a:prstGeom prst="rect">
            <a:avLst/>
          </a:prstGeom>
        </p:spPr>
      </p:pic>
    </p:spTree>
    <p:extLst>
      <p:ext uri="{BB962C8B-B14F-4D97-AF65-F5344CB8AC3E}">
        <p14:creationId xmlns:p14="http://schemas.microsoft.com/office/powerpoint/2010/main" val="41456883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743A9-5649-54A6-0121-F2F5F0A480D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45693FC-2699-7DA1-C873-E5751634D267}"/>
              </a:ext>
            </a:extLst>
          </p:cNvPr>
          <p:cNvSpPr>
            <a:spLocks noGrp="1"/>
          </p:cNvSpPr>
          <p:nvPr>
            <p:ph idx="1"/>
          </p:nvPr>
        </p:nvSpPr>
        <p:spPr>
          <a:xfrm>
            <a:off x="367393" y="1825625"/>
            <a:ext cx="11723913" cy="4351338"/>
          </a:xfrm>
        </p:spPr>
        <p:txBody>
          <a:bodyPr>
            <a:normAutofit fontScale="70000" lnSpcReduction="20000"/>
          </a:bodyPr>
          <a:lstStyle/>
          <a:p>
            <a:pPr marL="0" indent="0">
              <a:buNone/>
            </a:pPr>
            <a:r>
              <a:rPr lang="en-GB" dirty="0"/>
              <a:t>&lt;body&gt;</a:t>
            </a:r>
          </a:p>
          <a:p>
            <a:pPr marL="0" indent="0">
              <a:buNone/>
            </a:pPr>
            <a:r>
              <a:rPr lang="en-GB" dirty="0"/>
              <a:t>	&lt;p style= “font-weight: bold;”&gt;Special offers:&lt;/p&gt;</a:t>
            </a:r>
          </a:p>
          <a:p>
            <a:pPr marL="0" indent="0">
              <a:buNone/>
            </a:pPr>
            <a:r>
              <a:rPr lang="en-GB" dirty="0"/>
              <a:t>	&lt;</a:t>
            </a:r>
            <a:r>
              <a:rPr lang="en-GB" dirty="0" err="1"/>
              <a:t>br</a:t>
            </a:r>
            <a:r>
              <a:rPr lang="en-GB" dirty="0"/>
              <a:t>&gt;</a:t>
            </a:r>
          </a:p>
          <a:p>
            <a:pPr marL="0" indent="0">
              <a:buNone/>
            </a:pPr>
            <a:r>
              <a:rPr lang="en-GB" dirty="0"/>
              <a:t>	&lt;</a:t>
            </a:r>
            <a:r>
              <a:rPr lang="en-GB" dirty="0" err="1"/>
              <a:t>ul</a:t>
            </a:r>
            <a:r>
              <a:rPr lang="en-GB" dirty="0"/>
              <a:t>&gt;</a:t>
            </a:r>
          </a:p>
          <a:p>
            <a:pPr marL="0" indent="0">
              <a:buNone/>
            </a:pPr>
            <a:r>
              <a:rPr lang="en-GB" dirty="0"/>
              <a:t>		&lt;li&gt;Buy one get one free all school stationary&lt;/li&gt;</a:t>
            </a:r>
          </a:p>
          <a:p>
            <a:pPr marL="0" indent="0">
              <a:buNone/>
            </a:pPr>
            <a:r>
              <a:rPr lang="en-GB" dirty="0"/>
              <a:t>		&lt;li&gt;10% off if you spend over £50&lt;/li&gt;</a:t>
            </a:r>
          </a:p>
          <a:p>
            <a:pPr marL="0" indent="0">
              <a:buNone/>
            </a:pPr>
            <a:r>
              <a:rPr lang="en-GB" dirty="0"/>
              <a:t>		&lt;li&gt;Discounts on marked items in clothing&lt;/li&gt;</a:t>
            </a:r>
          </a:p>
          <a:p>
            <a:pPr marL="0" indent="0">
              <a:buNone/>
            </a:pPr>
            <a:r>
              <a:rPr lang="en-GB" dirty="0"/>
              <a:t>	&lt;/</a:t>
            </a:r>
            <a:r>
              <a:rPr lang="en-GB" dirty="0" err="1"/>
              <a:t>ul</a:t>
            </a:r>
            <a:r>
              <a:rPr lang="en-GB" dirty="0"/>
              <a:t>&gt;</a:t>
            </a:r>
          </a:p>
          <a:p>
            <a:pPr marL="0" indent="0">
              <a:buNone/>
            </a:pPr>
            <a:r>
              <a:rPr lang="en-GB" dirty="0"/>
              <a:t>	&lt;p&gt;</a:t>
            </a:r>
          </a:p>
          <a:p>
            <a:pPr marL="0" indent="0">
              <a:buNone/>
            </a:pPr>
            <a:r>
              <a:rPr lang="en-GB" dirty="0"/>
              <a:t>		&lt;a </a:t>
            </a:r>
            <a:r>
              <a:rPr lang="en-GB" dirty="0" err="1"/>
              <a:t>href</a:t>
            </a:r>
            <a:r>
              <a:rPr lang="en-GB" dirty="0"/>
              <a:t>= “http://cceasupermarket.com”&gt; Click here to continue to CCEAsupermarket.com&lt;/a&gt;</a:t>
            </a:r>
          </a:p>
          <a:p>
            <a:pPr marL="0" indent="0">
              <a:buNone/>
            </a:pPr>
            <a:r>
              <a:rPr lang="en-GB" dirty="0"/>
              <a:t>	&lt;/p&gt;</a:t>
            </a:r>
          </a:p>
          <a:p>
            <a:pPr marL="0" indent="0">
              <a:buNone/>
            </a:pPr>
            <a:r>
              <a:rPr lang="en-GB" dirty="0"/>
              <a:t>&lt;/body&gt;</a:t>
            </a:r>
          </a:p>
          <a:p>
            <a:endParaRPr lang="en-GB" dirty="0"/>
          </a:p>
        </p:txBody>
      </p:sp>
      <p:sp>
        <p:nvSpPr>
          <p:cNvPr id="4" name="TextBox 3">
            <a:extLst>
              <a:ext uri="{FF2B5EF4-FFF2-40B4-BE49-F238E27FC236}">
                <a16:creationId xmlns:a16="http://schemas.microsoft.com/office/drawing/2014/main" id="{7E7430C1-D29D-FEE8-159C-A604FD687407}"/>
              </a:ext>
            </a:extLst>
          </p:cNvPr>
          <p:cNvSpPr txBox="1"/>
          <p:nvPr/>
        </p:nvSpPr>
        <p:spPr>
          <a:xfrm>
            <a:off x="2841171" y="1894115"/>
            <a:ext cx="481693" cy="369332"/>
          </a:xfrm>
          <a:prstGeom prst="rect">
            <a:avLst/>
          </a:prstGeom>
          <a:noFill/>
        </p:spPr>
        <p:txBody>
          <a:bodyPr wrap="square" rtlCol="0">
            <a:spAutoFit/>
          </a:bodyPr>
          <a:lstStyle/>
          <a:p>
            <a:r>
              <a:rPr lang="en-GB" b="1" dirty="0">
                <a:solidFill>
                  <a:srgbClr val="FF0000"/>
                </a:solidFill>
              </a:rPr>
              <a:t>[1]</a:t>
            </a:r>
          </a:p>
        </p:txBody>
      </p:sp>
      <p:sp>
        <p:nvSpPr>
          <p:cNvPr id="6" name="TextBox 5">
            <a:extLst>
              <a:ext uri="{FF2B5EF4-FFF2-40B4-BE49-F238E27FC236}">
                <a16:creationId xmlns:a16="http://schemas.microsoft.com/office/drawing/2014/main" id="{B57958D4-ED88-ED89-3E8E-CD9A84602C00}"/>
              </a:ext>
            </a:extLst>
          </p:cNvPr>
          <p:cNvSpPr txBox="1"/>
          <p:nvPr/>
        </p:nvSpPr>
        <p:spPr>
          <a:xfrm>
            <a:off x="7467600" y="3107896"/>
            <a:ext cx="481693" cy="369332"/>
          </a:xfrm>
          <a:prstGeom prst="rect">
            <a:avLst/>
          </a:prstGeom>
          <a:noFill/>
        </p:spPr>
        <p:txBody>
          <a:bodyPr wrap="square" rtlCol="0">
            <a:spAutoFit/>
          </a:bodyPr>
          <a:lstStyle/>
          <a:p>
            <a:r>
              <a:rPr lang="en-GB" b="1" dirty="0">
                <a:solidFill>
                  <a:srgbClr val="FF0000"/>
                </a:solidFill>
              </a:rPr>
              <a:t>[1]</a:t>
            </a:r>
          </a:p>
        </p:txBody>
      </p:sp>
      <p:sp>
        <p:nvSpPr>
          <p:cNvPr id="7" name="TextBox 6">
            <a:extLst>
              <a:ext uri="{FF2B5EF4-FFF2-40B4-BE49-F238E27FC236}">
                <a16:creationId xmlns:a16="http://schemas.microsoft.com/office/drawing/2014/main" id="{1DE7FC29-4AD0-EC0D-A6A8-DAE94C2FA06B}"/>
              </a:ext>
            </a:extLst>
          </p:cNvPr>
          <p:cNvSpPr txBox="1"/>
          <p:nvPr/>
        </p:nvSpPr>
        <p:spPr>
          <a:xfrm>
            <a:off x="4193721" y="4626429"/>
            <a:ext cx="481693" cy="369332"/>
          </a:xfrm>
          <a:prstGeom prst="rect">
            <a:avLst/>
          </a:prstGeom>
          <a:noFill/>
        </p:spPr>
        <p:txBody>
          <a:bodyPr wrap="square" rtlCol="0">
            <a:spAutoFit/>
          </a:bodyPr>
          <a:lstStyle/>
          <a:p>
            <a:r>
              <a:rPr lang="en-GB" b="1" dirty="0">
                <a:solidFill>
                  <a:srgbClr val="FF0000"/>
                </a:solidFill>
              </a:rPr>
              <a:t>[1]</a:t>
            </a:r>
          </a:p>
        </p:txBody>
      </p:sp>
      <p:sp>
        <p:nvSpPr>
          <p:cNvPr id="8" name="TextBox 7">
            <a:extLst>
              <a:ext uri="{FF2B5EF4-FFF2-40B4-BE49-F238E27FC236}">
                <a16:creationId xmlns:a16="http://schemas.microsoft.com/office/drawing/2014/main" id="{47E9F3FB-8731-998A-C2E1-0A4032F70420}"/>
              </a:ext>
            </a:extLst>
          </p:cNvPr>
          <p:cNvSpPr txBox="1"/>
          <p:nvPr/>
        </p:nvSpPr>
        <p:spPr>
          <a:xfrm>
            <a:off x="8569778" y="4626429"/>
            <a:ext cx="481693" cy="369332"/>
          </a:xfrm>
          <a:prstGeom prst="rect">
            <a:avLst/>
          </a:prstGeom>
          <a:noFill/>
        </p:spPr>
        <p:txBody>
          <a:bodyPr wrap="square" rtlCol="0">
            <a:spAutoFit/>
          </a:bodyPr>
          <a:lstStyle/>
          <a:p>
            <a:r>
              <a:rPr lang="en-GB" b="1" dirty="0">
                <a:solidFill>
                  <a:srgbClr val="FF0000"/>
                </a:solidFill>
              </a:rPr>
              <a:t>[1]</a:t>
            </a:r>
          </a:p>
        </p:txBody>
      </p:sp>
      <p:sp>
        <p:nvSpPr>
          <p:cNvPr id="9" name="TextBox 8">
            <a:extLst>
              <a:ext uri="{FF2B5EF4-FFF2-40B4-BE49-F238E27FC236}">
                <a16:creationId xmlns:a16="http://schemas.microsoft.com/office/drawing/2014/main" id="{71B13F68-4938-C857-70AB-9CE0C3A9B480}"/>
              </a:ext>
            </a:extLst>
          </p:cNvPr>
          <p:cNvSpPr txBox="1"/>
          <p:nvPr/>
        </p:nvSpPr>
        <p:spPr>
          <a:xfrm>
            <a:off x="1809749" y="2738564"/>
            <a:ext cx="3995057" cy="369332"/>
          </a:xfrm>
          <a:prstGeom prst="rect">
            <a:avLst/>
          </a:prstGeom>
          <a:noFill/>
        </p:spPr>
        <p:txBody>
          <a:bodyPr wrap="square" rtlCol="0">
            <a:spAutoFit/>
          </a:bodyPr>
          <a:lstStyle/>
          <a:p>
            <a:r>
              <a:rPr lang="en-GB" b="1" dirty="0">
                <a:solidFill>
                  <a:srgbClr val="FF0000"/>
                </a:solidFill>
              </a:rPr>
              <a:t>Use of list [1] Correct </a:t>
            </a:r>
            <a:r>
              <a:rPr lang="en-GB" b="1" dirty="0" err="1">
                <a:solidFill>
                  <a:srgbClr val="FF0000"/>
                </a:solidFill>
              </a:rPr>
              <a:t>ul</a:t>
            </a:r>
            <a:r>
              <a:rPr lang="en-GB" b="1" dirty="0">
                <a:solidFill>
                  <a:srgbClr val="FF0000"/>
                </a:solidFill>
              </a:rPr>
              <a:t> tag [1]</a:t>
            </a:r>
          </a:p>
        </p:txBody>
      </p:sp>
    </p:spTree>
    <p:extLst>
      <p:ext uri="{BB962C8B-B14F-4D97-AF65-F5344CB8AC3E}">
        <p14:creationId xmlns:p14="http://schemas.microsoft.com/office/powerpoint/2010/main" val="3129003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357</TotalTime>
  <Words>3471</Words>
  <Application>Microsoft Office PowerPoint</Application>
  <PresentationFormat>Widescreen</PresentationFormat>
  <Paragraphs>330</Paragraphs>
  <Slides>32</Slides>
  <Notes>0</Notes>
  <HiddenSlides>0</HiddenSlides>
  <MMClips>5</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Abadi</vt:lpstr>
      <vt:lpstr>Aharoni</vt:lpstr>
      <vt:lpstr>Arial</vt:lpstr>
      <vt:lpstr>Calibri</vt:lpstr>
      <vt:lpstr>Calibri Light</vt:lpstr>
      <vt:lpstr>Eras Light ITC</vt:lpstr>
      <vt:lpstr>Ink Free</vt:lpstr>
      <vt:lpstr>LEMON MILK</vt:lpstr>
      <vt:lpstr>OpenSansRegular</vt:lpstr>
      <vt:lpstr>Times New Roman</vt:lpstr>
      <vt:lpstr>Office Theme</vt:lpstr>
      <vt:lpstr>Website Development</vt:lpstr>
      <vt:lpstr>Requirements</vt:lpstr>
      <vt:lpstr>What is HTML?</vt:lpstr>
      <vt:lpstr>So, basically:</vt:lpstr>
      <vt:lpstr>HTML Paragraphs</vt:lpstr>
      <vt:lpstr>BODY TAG</vt:lpstr>
      <vt:lpstr>HEADING TAGs</vt:lpstr>
      <vt:lpstr>HTML Images</vt:lpstr>
      <vt:lpstr> The Anchor Tag (Hyperlinks)</vt:lpstr>
      <vt:lpstr>Hyperlinks</vt:lpstr>
      <vt:lpstr>HTML Lists</vt:lpstr>
      <vt:lpstr>CSS</vt:lpstr>
      <vt:lpstr>There are three ways we can add CSS</vt:lpstr>
      <vt:lpstr>Selectors</vt:lpstr>
      <vt:lpstr>PowerPoint Presentation</vt:lpstr>
      <vt:lpstr>Processing</vt:lpstr>
      <vt:lpstr>Client-side Processing</vt:lpstr>
      <vt:lpstr>PowerPoint Presentation</vt:lpstr>
      <vt:lpstr>PowerPoint Presentation</vt:lpstr>
      <vt:lpstr>PowerPoint Presentation</vt:lpstr>
      <vt:lpstr>Ensuring security over the internet</vt:lpstr>
      <vt:lpstr>Why is data encrypted?</vt:lpstr>
      <vt:lpstr>Encryption as a method of security over the Internet</vt:lpstr>
      <vt:lpstr>Public and Private Keys</vt:lpstr>
      <vt:lpstr>Digital Signatures</vt:lpstr>
      <vt:lpstr>Digital Certificates </vt:lpstr>
      <vt:lpstr>PowerPoint Presentation</vt:lpstr>
      <vt:lpstr>HTTPS</vt:lpstr>
      <vt:lpstr>SSL</vt:lpstr>
      <vt:lpstr>PowerPoint Presentation</vt:lpstr>
      <vt:lpstr>A supermarkets web page contains the following text.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Development</dc:title>
  <dc:creator>J Butler</dc:creator>
  <cp:lastModifiedBy>J Butler</cp:lastModifiedBy>
  <cp:revision>10</cp:revision>
  <dcterms:created xsi:type="dcterms:W3CDTF">2025-02-28T15:59:05Z</dcterms:created>
  <dcterms:modified xsi:type="dcterms:W3CDTF">2026-02-26T08:12:33Z</dcterms:modified>
</cp:coreProperties>
</file>