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258" r:id="rId4"/>
    <p:sldId id="259" r:id="rId5"/>
    <p:sldId id="260" r:id="rId6"/>
    <p:sldId id="261" r:id="rId7"/>
    <p:sldId id="300" r:id="rId8"/>
    <p:sldId id="262" r:id="rId9"/>
    <p:sldId id="263" r:id="rId10"/>
    <p:sldId id="264" r:id="rId11"/>
    <p:sldId id="265" r:id="rId12"/>
    <p:sldId id="266" r:id="rId13"/>
    <p:sldId id="267" r:id="rId14"/>
    <p:sldId id="268" r:id="rId15"/>
    <p:sldId id="269" r:id="rId16"/>
    <p:sldId id="270" r:id="rId17"/>
    <p:sldId id="271" r:id="rId18"/>
    <p:sldId id="301" r:id="rId19"/>
    <p:sldId id="302"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303" r:id="rId37"/>
    <p:sldId id="288" r:id="rId38"/>
    <p:sldId id="289" r:id="rId39"/>
    <p:sldId id="290" r:id="rId40"/>
    <p:sldId id="291" r:id="rId41"/>
    <p:sldId id="292" r:id="rId42"/>
    <p:sldId id="293" r:id="rId43"/>
    <p:sldId id="294" r:id="rId44"/>
    <p:sldId id="295" r:id="rId45"/>
    <p:sldId id="306" r:id="rId46"/>
    <p:sldId id="296" r:id="rId47"/>
    <p:sldId id="297" r:id="rId48"/>
    <p:sldId id="298" r:id="rId49"/>
    <p:sldId id="304" r:id="rId50"/>
    <p:sldId id="305" r:id="rId51"/>
    <p:sldId id="299"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B683"/>
    <a:srgbClr val="DA362C"/>
    <a:srgbClr val="312D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246"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6FAF61-116D-4C6A-AB4C-B5110BB51280}" type="doc">
      <dgm:prSet loTypeId="urn:microsoft.com/office/officeart/2005/8/layout/radial1" loCatId="relationship" qsTypeId="urn:microsoft.com/office/officeart/2005/8/quickstyle/simple1" qsCatId="simple" csTypeId="urn:microsoft.com/office/officeart/2005/8/colors/accent1_2" csCatId="accent1" phldr="1"/>
      <dgm:spPr/>
    </dgm:pt>
    <dgm:pt modelId="{751F6D69-CD75-4382-BDC0-E723F5E912FE}">
      <dgm:prSet/>
      <dgm:spPr/>
      <dgm:t>
        <a:bodyPr/>
        <a:lstStyle/>
        <a:p>
          <a:pPr marR="0" algn="ctr" rtl="0"/>
          <a:r>
            <a:rPr lang="en-GB" b="1" i="0" u="none" strike="noStrike" baseline="0">
              <a:latin typeface="Calibri"/>
            </a:rPr>
            <a:t>Quality </a:t>
          </a:r>
        </a:p>
        <a:p>
          <a:pPr marR="0" algn="ctr" rtl="0"/>
          <a:r>
            <a:rPr lang="en-GB" b="1" i="0" u="none" strike="noStrike" baseline="0">
              <a:latin typeface="Calibri"/>
            </a:rPr>
            <a:t>Of Information</a:t>
          </a:r>
        </a:p>
        <a:p>
          <a:pPr marR="0" algn="ctr" rtl="0"/>
          <a:r>
            <a:rPr lang="en-GB" b="1" i="0" u="none" strike="noStrike" baseline="0">
              <a:latin typeface="Calibri"/>
            </a:rPr>
            <a:t>depends on ?</a:t>
          </a:r>
          <a:endParaRPr lang="en-GB"/>
        </a:p>
      </dgm:t>
    </dgm:pt>
    <dgm:pt modelId="{5FB28F6A-2DDD-4D2D-884D-A418043DF3DF}" type="parTrans" cxnId="{5CB29146-A631-48DC-979E-329CE96B4C82}">
      <dgm:prSet/>
      <dgm:spPr/>
      <dgm:t>
        <a:bodyPr/>
        <a:lstStyle/>
        <a:p>
          <a:pPr algn="ctr"/>
          <a:endParaRPr lang="en-GB"/>
        </a:p>
      </dgm:t>
    </dgm:pt>
    <dgm:pt modelId="{7C493BA8-7987-4C9D-8005-AD85784AB4F2}" type="sibTrans" cxnId="{5CB29146-A631-48DC-979E-329CE96B4C82}">
      <dgm:prSet/>
      <dgm:spPr/>
      <dgm:t>
        <a:bodyPr/>
        <a:lstStyle/>
        <a:p>
          <a:pPr algn="ctr"/>
          <a:endParaRPr lang="en-GB"/>
        </a:p>
      </dgm:t>
    </dgm:pt>
    <dgm:pt modelId="{24C4AC8E-A77F-4F45-9366-EBFD10669311}">
      <dgm:prSet/>
      <dgm:spPr/>
      <dgm:t>
        <a:bodyPr/>
        <a:lstStyle/>
        <a:p>
          <a:pPr marR="0" algn="ctr" rtl="0"/>
          <a:r>
            <a:rPr lang="en-GB" b="1" i="0" u="none" strike="noStrike" baseline="0" dirty="0">
              <a:latin typeface="Calibri"/>
            </a:rPr>
            <a:t>Is it</a:t>
          </a:r>
        </a:p>
        <a:p>
          <a:pPr marR="0" algn="ctr" rtl="0"/>
          <a:r>
            <a:rPr lang="en-GB" b="1" i="0" u="none" strike="noStrike" baseline="0" dirty="0">
              <a:latin typeface="Calibri"/>
            </a:rPr>
            <a:t>Accurate ?</a:t>
          </a:r>
          <a:endParaRPr lang="en-GB" dirty="0"/>
        </a:p>
      </dgm:t>
    </dgm:pt>
    <dgm:pt modelId="{23827FCF-054F-4340-AF15-59A4F44DCDB1}" type="parTrans" cxnId="{B68990F6-04AA-43B6-9891-11D5B0D0D9BD}">
      <dgm:prSet/>
      <dgm:spPr/>
      <dgm:t>
        <a:bodyPr/>
        <a:lstStyle/>
        <a:p>
          <a:pPr algn="ctr"/>
          <a:endParaRPr lang="en-GB"/>
        </a:p>
      </dgm:t>
    </dgm:pt>
    <dgm:pt modelId="{6558A3F2-EBC8-40A7-AD46-D151ECD6878D}" type="sibTrans" cxnId="{B68990F6-04AA-43B6-9891-11D5B0D0D9BD}">
      <dgm:prSet/>
      <dgm:spPr/>
      <dgm:t>
        <a:bodyPr/>
        <a:lstStyle/>
        <a:p>
          <a:pPr algn="ctr"/>
          <a:endParaRPr lang="en-GB"/>
        </a:p>
      </dgm:t>
    </dgm:pt>
    <dgm:pt modelId="{E89A6E1A-09D8-4688-A2BD-4609C995A442}">
      <dgm:prSet/>
      <dgm:spPr/>
      <dgm:t>
        <a:bodyPr/>
        <a:lstStyle/>
        <a:p>
          <a:pPr marR="0" algn="ctr" rtl="0"/>
          <a:r>
            <a:rPr lang="en-GB" b="1" i="0" u="none" strike="noStrike" baseline="0" dirty="0">
              <a:latin typeface="Calibri"/>
            </a:rPr>
            <a:t>Is it</a:t>
          </a:r>
        </a:p>
        <a:p>
          <a:pPr marR="0" algn="ctr" rtl="0"/>
          <a:r>
            <a:rPr lang="en-GB" b="1" i="0" u="none" strike="noStrike" baseline="0" dirty="0">
              <a:latin typeface="Calibri"/>
            </a:rPr>
            <a:t>Relevant ?</a:t>
          </a:r>
          <a:endParaRPr lang="en-GB" dirty="0"/>
        </a:p>
      </dgm:t>
    </dgm:pt>
    <dgm:pt modelId="{A2203604-3983-4548-BA90-42FD0C6E540B}" type="parTrans" cxnId="{8AA2466D-F6DF-422C-AEFE-6A95BB95DAA4}">
      <dgm:prSet/>
      <dgm:spPr/>
      <dgm:t>
        <a:bodyPr/>
        <a:lstStyle/>
        <a:p>
          <a:pPr algn="ctr"/>
          <a:endParaRPr lang="en-GB"/>
        </a:p>
      </dgm:t>
    </dgm:pt>
    <dgm:pt modelId="{1A106554-C3A0-4F4C-8F66-6CB836E67752}" type="sibTrans" cxnId="{8AA2466D-F6DF-422C-AEFE-6A95BB95DAA4}">
      <dgm:prSet/>
      <dgm:spPr/>
      <dgm:t>
        <a:bodyPr/>
        <a:lstStyle/>
        <a:p>
          <a:pPr algn="ctr"/>
          <a:endParaRPr lang="en-GB"/>
        </a:p>
      </dgm:t>
    </dgm:pt>
    <dgm:pt modelId="{8C1DBBE4-D0AE-487E-84D5-B53566237095}">
      <dgm:prSet/>
      <dgm:spPr/>
      <dgm:t>
        <a:bodyPr/>
        <a:lstStyle/>
        <a:p>
          <a:pPr marR="0" algn="ctr" rtl="0"/>
          <a:r>
            <a:rPr lang="en-GB" b="1" i="0" u="none" strike="noStrike" baseline="0" dirty="0">
              <a:latin typeface="Calibri"/>
            </a:rPr>
            <a:t>Is it</a:t>
          </a:r>
        </a:p>
        <a:p>
          <a:pPr marR="0" algn="ctr" rtl="0"/>
          <a:r>
            <a:rPr lang="en-GB" b="1" i="0" u="none" strike="noStrike" baseline="0" dirty="0">
              <a:latin typeface="Calibri"/>
            </a:rPr>
            <a:t>Presented effectively ?</a:t>
          </a:r>
          <a:endParaRPr lang="en-GB" dirty="0"/>
        </a:p>
      </dgm:t>
    </dgm:pt>
    <dgm:pt modelId="{7DB7B989-292F-4C5D-99BF-40B87458C994}" type="parTrans" cxnId="{95CAFC5B-F6E3-4858-A2D6-CE66BE6D6793}">
      <dgm:prSet/>
      <dgm:spPr/>
      <dgm:t>
        <a:bodyPr/>
        <a:lstStyle/>
        <a:p>
          <a:pPr algn="ctr"/>
          <a:endParaRPr lang="en-GB"/>
        </a:p>
      </dgm:t>
    </dgm:pt>
    <dgm:pt modelId="{84E52841-3CF4-4A70-BD22-BBD1409B5069}" type="sibTrans" cxnId="{95CAFC5B-F6E3-4858-A2D6-CE66BE6D6793}">
      <dgm:prSet/>
      <dgm:spPr/>
      <dgm:t>
        <a:bodyPr/>
        <a:lstStyle/>
        <a:p>
          <a:pPr algn="ctr"/>
          <a:endParaRPr lang="en-GB"/>
        </a:p>
      </dgm:t>
    </dgm:pt>
    <dgm:pt modelId="{8595C6B8-0794-4B4A-8AA2-0A4329114AB3}">
      <dgm:prSet/>
      <dgm:spPr/>
      <dgm:t>
        <a:bodyPr/>
        <a:lstStyle/>
        <a:p>
          <a:pPr marR="0" algn="ctr" rtl="0"/>
          <a:r>
            <a:rPr lang="en-GB" b="1" i="0" u="none" strike="noStrike" baseline="0" dirty="0">
              <a:latin typeface="Calibri"/>
            </a:rPr>
            <a:t>Is it</a:t>
          </a:r>
        </a:p>
        <a:p>
          <a:pPr marR="0" algn="ctr" rtl="0"/>
          <a:r>
            <a:rPr lang="en-GB" b="1" i="0" u="none" strike="noStrike" baseline="0" dirty="0">
              <a:latin typeface="Calibri"/>
            </a:rPr>
            <a:t>Complete ?</a:t>
          </a:r>
          <a:endParaRPr lang="en-GB" dirty="0"/>
        </a:p>
      </dgm:t>
    </dgm:pt>
    <dgm:pt modelId="{1B00C1B7-D607-4A35-9FC5-F4141191CF29}" type="parTrans" cxnId="{422F2256-BCA8-414F-A39F-5882168EB009}">
      <dgm:prSet/>
      <dgm:spPr/>
      <dgm:t>
        <a:bodyPr/>
        <a:lstStyle/>
        <a:p>
          <a:pPr algn="ctr"/>
          <a:endParaRPr lang="en-GB"/>
        </a:p>
      </dgm:t>
    </dgm:pt>
    <dgm:pt modelId="{C2217B65-1788-48A6-A21D-40330F558F19}" type="sibTrans" cxnId="{422F2256-BCA8-414F-A39F-5882168EB009}">
      <dgm:prSet/>
      <dgm:spPr/>
      <dgm:t>
        <a:bodyPr/>
        <a:lstStyle/>
        <a:p>
          <a:pPr algn="ctr"/>
          <a:endParaRPr lang="en-GB"/>
        </a:p>
      </dgm:t>
    </dgm:pt>
    <dgm:pt modelId="{AD243214-6699-4222-8304-1167AAAB68B9}">
      <dgm:prSet/>
      <dgm:spPr/>
      <dgm:t>
        <a:bodyPr/>
        <a:lstStyle/>
        <a:p>
          <a:pPr marR="0" algn="ctr" rtl="0"/>
          <a:r>
            <a:rPr lang="en-GB" b="1" i="0" u="none" strike="noStrike" baseline="0" dirty="0">
              <a:latin typeface="Calibri"/>
            </a:rPr>
            <a:t>Is it </a:t>
          </a:r>
        </a:p>
        <a:p>
          <a:pPr marR="0" algn="ctr" rtl="0"/>
          <a:r>
            <a:rPr lang="en-GB" b="1" i="0" u="none" strike="noStrike" baseline="0" dirty="0">
              <a:latin typeface="Calibri"/>
            </a:rPr>
            <a:t>Up to date ?</a:t>
          </a:r>
          <a:endParaRPr lang="en-GB" dirty="0"/>
        </a:p>
      </dgm:t>
    </dgm:pt>
    <dgm:pt modelId="{1120BE05-CDA8-4B0D-B990-08379E695A6D}" type="parTrans" cxnId="{6304FB99-D31A-408A-A70A-C4BAB0E7C7AB}">
      <dgm:prSet/>
      <dgm:spPr/>
      <dgm:t>
        <a:bodyPr/>
        <a:lstStyle/>
        <a:p>
          <a:pPr algn="ctr"/>
          <a:endParaRPr lang="en-GB"/>
        </a:p>
      </dgm:t>
    </dgm:pt>
    <dgm:pt modelId="{0830BA4E-8122-4D33-87F9-27B868A651A0}" type="sibTrans" cxnId="{6304FB99-D31A-408A-A70A-C4BAB0E7C7AB}">
      <dgm:prSet/>
      <dgm:spPr/>
      <dgm:t>
        <a:bodyPr/>
        <a:lstStyle/>
        <a:p>
          <a:pPr algn="ctr"/>
          <a:endParaRPr lang="en-GB"/>
        </a:p>
      </dgm:t>
    </dgm:pt>
    <dgm:pt modelId="{2C3DA053-E757-4066-8E8E-D39FEAE9B267}">
      <dgm:prSet/>
      <dgm:spPr/>
      <dgm:t>
        <a:bodyPr/>
        <a:lstStyle/>
        <a:p>
          <a:pPr marR="0" algn="ctr" rtl="0"/>
          <a:r>
            <a:rPr lang="en-GB" b="1" i="0" u="none" strike="noStrike" baseline="0" dirty="0">
              <a:latin typeface="Calibri"/>
            </a:rPr>
            <a:t>Is it </a:t>
          </a:r>
          <a:endParaRPr lang="en-GB" b="1" i="0" u="none" strike="noStrike" baseline="0" dirty="0">
            <a:latin typeface="Times New Roman"/>
          </a:endParaRPr>
        </a:p>
        <a:p>
          <a:pPr marR="0" algn="ctr" rtl="0"/>
          <a:r>
            <a:rPr lang="en-GB" b="1" i="0" u="none" strike="noStrike" baseline="0" dirty="0">
              <a:latin typeface="Calibri"/>
            </a:rPr>
            <a:t>Reliable ?</a:t>
          </a:r>
          <a:endParaRPr lang="en-GB" dirty="0"/>
        </a:p>
      </dgm:t>
    </dgm:pt>
    <dgm:pt modelId="{240398D6-AD5F-43AF-A908-3D6E11D25566}" type="parTrans" cxnId="{00DB1351-4CE4-4461-81EF-11FD842B542E}">
      <dgm:prSet/>
      <dgm:spPr/>
      <dgm:t>
        <a:bodyPr/>
        <a:lstStyle/>
        <a:p>
          <a:pPr algn="ctr"/>
          <a:endParaRPr lang="en-GB"/>
        </a:p>
      </dgm:t>
    </dgm:pt>
    <dgm:pt modelId="{40BEF2F4-FA5C-46B3-876C-86FB870F92B3}" type="sibTrans" cxnId="{00DB1351-4CE4-4461-81EF-11FD842B542E}">
      <dgm:prSet/>
      <dgm:spPr/>
      <dgm:t>
        <a:bodyPr/>
        <a:lstStyle/>
        <a:p>
          <a:pPr algn="ctr"/>
          <a:endParaRPr lang="en-GB"/>
        </a:p>
      </dgm:t>
    </dgm:pt>
    <dgm:pt modelId="{FED25435-7908-4057-AD3E-04F8715B947F}" type="pres">
      <dgm:prSet presAssocID="{CA6FAF61-116D-4C6A-AB4C-B5110BB51280}" presName="cycle" presStyleCnt="0">
        <dgm:presLayoutVars>
          <dgm:chMax val="1"/>
          <dgm:dir/>
          <dgm:animLvl val="ctr"/>
          <dgm:resizeHandles val="exact"/>
        </dgm:presLayoutVars>
      </dgm:prSet>
      <dgm:spPr/>
    </dgm:pt>
    <dgm:pt modelId="{E8AD4DE3-D4D6-478F-BE58-2A6E02379D0A}" type="pres">
      <dgm:prSet presAssocID="{751F6D69-CD75-4382-BDC0-E723F5E912FE}" presName="centerShape" presStyleLbl="node0" presStyleIdx="0" presStyleCnt="1"/>
      <dgm:spPr/>
    </dgm:pt>
    <dgm:pt modelId="{9456057A-E478-4306-B8FC-499C75B7FF3D}" type="pres">
      <dgm:prSet presAssocID="{23827FCF-054F-4340-AF15-59A4F44DCDB1}" presName="Name9" presStyleLbl="parChTrans1D2" presStyleIdx="0" presStyleCnt="6"/>
      <dgm:spPr/>
    </dgm:pt>
    <dgm:pt modelId="{74FB9B1B-F3DD-4341-B7AC-4D44D9206194}" type="pres">
      <dgm:prSet presAssocID="{23827FCF-054F-4340-AF15-59A4F44DCDB1}" presName="connTx" presStyleLbl="parChTrans1D2" presStyleIdx="0" presStyleCnt="6"/>
      <dgm:spPr/>
    </dgm:pt>
    <dgm:pt modelId="{C43E16CE-DDC3-41BA-B5FA-953C6502B0AF}" type="pres">
      <dgm:prSet presAssocID="{24C4AC8E-A77F-4F45-9366-EBFD10669311}" presName="node" presStyleLbl="node1" presStyleIdx="0" presStyleCnt="6">
        <dgm:presLayoutVars>
          <dgm:bulletEnabled val="1"/>
        </dgm:presLayoutVars>
      </dgm:prSet>
      <dgm:spPr/>
    </dgm:pt>
    <dgm:pt modelId="{1BD94D95-601C-47A6-B5E0-E66E8EC0C79E}" type="pres">
      <dgm:prSet presAssocID="{A2203604-3983-4548-BA90-42FD0C6E540B}" presName="Name9" presStyleLbl="parChTrans1D2" presStyleIdx="1" presStyleCnt="6"/>
      <dgm:spPr/>
    </dgm:pt>
    <dgm:pt modelId="{052C01EB-35EE-488F-B6FA-0922DB05567A}" type="pres">
      <dgm:prSet presAssocID="{A2203604-3983-4548-BA90-42FD0C6E540B}" presName="connTx" presStyleLbl="parChTrans1D2" presStyleIdx="1" presStyleCnt="6"/>
      <dgm:spPr/>
    </dgm:pt>
    <dgm:pt modelId="{25315A9F-DD33-4B77-B7EA-BE917E50DB55}" type="pres">
      <dgm:prSet presAssocID="{E89A6E1A-09D8-4688-A2BD-4609C995A442}" presName="node" presStyleLbl="node1" presStyleIdx="1" presStyleCnt="6">
        <dgm:presLayoutVars>
          <dgm:bulletEnabled val="1"/>
        </dgm:presLayoutVars>
      </dgm:prSet>
      <dgm:spPr/>
    </dgm:pt>
    <dgm:pt modelId="{D8FBDD5F-4DBA-4D75-842A-216DD189F1A7}" type="pres">
      <dgm:prSet presAssocID="{7DB7B989-292F-4C5D-99BF-40B87458C994}" presName="Name9" presStyleLbl="parChTrans1D2" presStyleIdx="2" presStyleCnt="6"/>
      <dgm:spPr/>
    </dgm:pt>
    <dgm:pt modelId="{ACCE6512-7A2B-47B8-ADCC-31B82A42D363}" type="pres">
      <dgm:prSet presAssocID="{7DB7B989-292F-4C5D-99BF-40B87458C994}" presName="connTx" presStyleLbl="parChTrans1D2" presStyleIdx="2" presStyleCnt="6"/>
      <dgm:spPr/>
    </dgm:pt>
    <dgm:pt modelId="{405D77B0-D4E7-420E-87DC-C914FE336D50}" type="pres">
      <dgm:prSet presAssocID="{8C1DBBE4-D0AE-487E-84D5-B53566237095}" presName="node" presStyleLbl="node1" presStyleIdx="2" presStyleCnt="6">
        <dgm:presLayoutVars>
          <dgm:bulletEnabled val="1"/>
        </dgm:presLayoutVars>
      </dgm:prSet>
      <dgm:spPr/>
    </dgm:pt>
    <dgm:pt modelId="{48BD87F4-30F1-4378-A5FA-4260D7FB3D1B}" type="pres">
      <dgm:prSet presAssocID="{1B00C1B7-D607-4A35-9FC5-F4141191CF29}" presName="Name9" presStyleLbl="parChTrans1D2" presStyleIdx="3" presStyleCnt="6"/>
      <dgm:spPr/>
    </dgm:pt>
    <dgm:pt modelId="{10BEB866-F305-4B7C-8281-F9F59EE2BC73}" type="pres">
      <dgm:prSet presAssocID="{1B00C1B7-D607-4A35-9FC5-F4141191CF29}" presName="connTx" presStyleLbl="parChTrans1D2" presStyleIdx="3" presStyleCnt="6"/>
      <dgm:spPr/>
    </dgm:pt>
    <dgm:pt modelId="{6421D639-2262-4E8F-B762-3F84183BA1B6}" type="pres">
      <dgm:prSet presAssocID="{8595C6B8-0794-4B4A-8AA2-0A4329114AB3}" presName="node" presStyleLbl="node1" presStyleIdx="3" presStyleCnt="6">
        <dgm:presLayoutVars>
          <dgm:bulletEnabled val="1"/>
        </dgm:presLayoutVars>
      </dgm:prSet>
      <dgm:spPr/>
    </dgm:pt>
    <dgm:pt modelId="{C3B049FB-EC55-4C73-8DBA-D92AC909DC98}" type="pres">
      <dgm:prSet presAssocID="{1120BE05-CDA8-4B0D-B990-08379E695A6D}" presName="Name9" presStyleLbl="parChTrans1D2" presStyleIdx="4" presStyleCnt="6"/>
      <dgm:spPr/>
    </dgm:pt>
    <dgm:pt modelId="{6794A158-6FFB-492A-891B-24DFA9961E0B}" type="pres">
      <dgm:prSet presAssocID="{1120BE05-CDA8-4B0D-B990-08379E695A6D}" presName="connTx" presStyleLbl="parChTrans1D2" presStyleIdx="4" presStyleCnt="6"/>
      <dgm:spPr/>
    </dgm:pt>
    <dgm:pt modelId="{472E9016-E7D7-41B7-955B-64C4BD7CF04E}" type="pres">
      <dgm:prSet presAssocID="{AD243214-6699-4222-8304-1167AAAB68B9}" presName="node" presStyleLbl="node1" presStyleIdx="4" presStyleCnt="6">
        <dgm:presLayoutVars>
          <dgm:bulletEnabled val="1"/>
        </dgm:presLayoutVars>
      </dgm:prSet>
      <dgm:spPr/>
    </dgm:pt>
    <dgm:pt modelId="{2269224F-0B1D-47B4-9552-87FF3F97DD5D}" type="pres">
      <dgm:prSet presAssocID="{240398D6-AD5F-43AF-A908-3D6E11D25566}" presName="Name9" presStyleLbl="parChTrans1D2" presStyleIdx="5" presStyleCnt="6"/>
      <dgm:spPr/>
    </dgm:pt>
    <dgm:pt modelId="{596007E6-E1C0-440D-89FA-88FA13A398C0}" type="pres">
      <dgm:prSet presAssocID="{240398D6-AD5F-43AF-A908-3D6E11D25566}" presName="connTx" presStyleLbl="parChTrans1D2" presStyleIdx="5" presStyleCnt="6"/>
      <dgm:spPr/>
    </dgm:pt>
    <dgm:pt modelId="{0FCDDF8A-F290-485D-84BC-4D748B795AE8}" type="pres">
      <dgm:prSet presAssocID="{2C3DA053-E757-4066-8E8E-D39FEAE9B267}" presName="node" presStyleLbl="node1" presStyleIdx="5" presStyleCnt="6">
        <dgm:presLayoutVars>
          <dgm:bulletEnabled val="1"/>
        </dgm:presLayoutVars>
      </dgm:prSet>
      <dgm:spPr/>
    </dgm:pt>
  </dgm:ptLst>
  <dgm:cxnLst>
    <dgm:cxn modelId="{AD10A807-60AF-554F-BFC8-A4402C49BF03}" type="presOf" srcId="{8595C6B8-0794-4B4A-8AA2-0A4329114AB3}" destId="{6421D639-2262-4E8F-B762-3F84183BA1B6}" srcOrd="0" destOrd="0" presId="urn:microsoft.com/office/officeart/2005/8/layout/radial1"/>
    <dgm:cxn modelId="{88A3F611-B2F6-2247-812A-94B7CC6695A9}" type="presOf" srcId="{1120BE05-CDA8-4B0D-B990-08379E695A6D}" destId="{6794A158-6FFB-492A-891B-24DFA9961E0B}" srcOrd="1" destOrd="0" presId="urn:microsoft.com/office/officeart/2005/8/layout/radial1"/>
    <dgm:cxn modelId="{98789B13-029A-1747-8D7D-0551A0F8DD25}" type="presOf" srcId="{A2203604-3983-4548-BA90-42FD0C6E540B}" destId="{052C01EB-35EE-488F-B6FA-0922DB05567A}" srcOrd="1" destOrd="0" presId="urn:microsoft.com/office/officeart/2005/8/layout/radial1"/>
    <dgm:cxn modelId="{7C0D2220-DF73-BE47-8801-0D47333F9125}" type="presOf" srcId="{23827FCF-054F-4340-AF15-59A4F44DCDB1}" destId="{74FB9B1B-F3DD-4341-B7AC-4D44D9206194}" srcOrd="1" destOrd="0" presId="urn:microsoft.com/office/officeart/2005/8/layout/radial1"/>
    <dgm:cxn modelId="{83BC6740-C8CE-744B-A46A-A8527A906684}" type="presOf" srcId="{A2203604-3983-4548-BA90-42FD0C6E540B}" destId="{1BD94D95-601C-47A6-B5E0-E66E8EC0C79E}" srcOrd="0" destOrd="0" presId="urn:microsoft.com/office/officeart/2005/8/layout/radial1"/>
    <dgm:cxn modelId="{34FA3E5B-20B2-3748-989F-4F318A723A72}" type="presOf" srcId="{24C4AC8E-A77F-4F45-9366-EBFD10669311}" destId="{C43E16CE-DDC3-41BA-B5FA-953C6502B0AF}" srcOrd="0" destOrd="0" presId="urn:microsoft.com/office/officeart/2005/8/layout/radial1"/>
    <dgm:cxn modelId="{95CAFC5B-F6E3-4858-A2D6-CE66BE6D6793}" srcId="{751F6D69-CD75-4382-BDC0-E723F5E912FE}" destId="{8C1DBBE4-D0AE-487E-84D5-B53566237095}" srcOrd="2" destOrd="0" parTransId="{7DB7B989-292F-4C5D-99BF-40B87458C994}" sibTransId="{84E52841-3CF4-4A70-BD22-BBD1409B5069}"/>
    <dgm:cxn modelId="{4895CA5F-E761-004F-8610-9E7D3426448C}" type="presOf" srcId="{E89A6E1A-09D8-4688-A2BD-4609C995A442}" destId="{25315A9F-DD33-4B77-B7EA-BE917E50DB55}" srcOrd="0" destOrd="0" presId="urn:microsoft.com/office/officeart/2005/8/layout/radial1"/>
    <dgm:cxn modelId="{82056B44-7C70-024C-902E-A03DA51FE6AD}" type="presOf" srcId="{240398D6-AD5F-43AF-A908-3D6E11D25566}" destId="{2269224F-0B1D-47B4-9552-87FF3F97DD5D}" srcOrd="0" destOrd="0" presId="urn:microsoft.com/office/officeart/2005/8/layout/radial1"/>
    <dgm:cxn modelId="{5CB29146-A631-48DC-979E-329CE96B4C82}" srcId="{CA6FAF61-116D-4C6A-AB4C-B5110BB51280}" destId="{751F6D69-CD75-4382-BDC0-E723F5E912FE}" srcOrd="0" destOrd="0" parTransId="{5FB28F6A-2DDD-4D2D-884D-A418043DF3DF}" sibTransId="{7C493BA8-7987-4C9D-8005-AD85784AB4F2}"/>
    <dgm:cxn modelId="{73006149-5DB0-7A46-954A-476B3B81823D}" type="presOf" srcId="{1B00C1B7-D607-4A35-9FC5-F4141191CF29}" destId="{10BEB866-F305-4B7C-8281-F9F59EE2BC73}" srcOrd="1" destOrd="0" presId="urn:microsoft.com/office/officeart/2005/8/layout/radial1"/>
    <dgm:cxn modelId="{6830446A-5744-3F4C-8104-4CC3947BCA31}" type="presOf" srcId="{1B00C1B7-D607-4A35-9FC5-F4141191CF29}" destId="{48BD87F4-30F1-4378-A5FA-4260D7FB3D1B}" srcOrd="0" destOrd="0" presId="urn:microsoft.com/office/officeart/2005/8/layout/radial1"/>
    <dgm:cxn modelId="{80184E6A-DDD5-B445-8796-41CE54D85D7D}" type="presOf" srcId="{7DB7B989-292F-4C5D-99BF-40B87458C994}" destId="{ACCE6512-7A2B-47B8-ADCC-31B82A42D363}" srcOrd="1" destOrd="0" presId="urn:microsoft.com/office/officeart/2005/8/layout/radial1"/>
    <dgm:cxn modelId="{1A69BA4B-99C9-4E41-BD6F-4E5BFE155AA1}" type="presOf" srcId="{AD243214-6699-4222-8304-1167AAAB68B9}" destId="{472E9016-E7D7-41B7-955B-64C4BD7CF04E}" srcOrd="0" destOrd="0" presId="urn:microsoft.com/office/officeart/2005/8/layout/radial1"/>
    <dgm:cxn modelId="{8AA2466D-F6DF-422C-AEFE-6A95BB95DAA4}" srcId="{751F6D69-CD75-4382-BDC0-E723F5E912FE}" destId="{E89A6E1A-09D8-4688-A2BD-4609C995A442}" srcOrd="1" destOrd="0" parTransId="{A2203604-3983-4548-BA90-42FD0C6E540B}" sibTransId="{1A106554-C3A0-4F4C-8F66-6CB836E67752}"/>
    <dgm:cxn modelId="{00DB1351-4CE4-4461-81EF-11FD842B542E}" srcId="{751F6D69-CD75-4382-BDC0-E723F5E912FE}" destId="{2C3DA053-E757-4066-8E8E-D39FEAE9B267}" srcOrd="5" destOrd="0" parTransId="{240398D6-AD5F-43AF-A908-3D6E11D25566}" sibTransId="{40BEF2F4-FA5C-46B3-876C-86FB870F92B3}"/>
    <dgm:cxn modelId="{06F28371-38D9-714E-9420-A21F1C1C8A11}" type="presOf" srcId="{751F6D69-CD75-4382-BDC0-E723F5E912FE}" destId="{E8AD4DE3-D4D6-478F-BE58-2A6E02379D0A}" srcOrd="0" destOrd="0" presId="urn:microsoft.com/office/officeart/2005/8/layout/radial1"/>
    <dgm:cxn modelId="{422F2256-BCA8-414F-A39F-5882168EB009}" srcId="{751F6D69-CD75-4382-BDC0-E723F5E912FE}" destId="{8595C6B8-0794-4B4A-8AA2-0A4329114AB3}" srcOrd="3" destOrd="0" parTransId="{1B00C1B7-D607-4A35-9FC5-F4141191CF29}" sibTransId="{C2217B65-1788-48A6-A21D-40330F558F19}"/>
    <dgm:cxn modelId="{72EB2C79-FEA9-4D48-8561-1BC6B5009874}" type="presOf" srcId="{1120BE05-CDA8-4B0D-B990-08379E695A6D}" destId="{C3B049FB-EC55-4C73-8DBA-D92AC909DC98}" srcOrd="0" destOrd="0" presId="urn:microsoft.com/office/officeart/2005/8/layout/radial1"/>
    <dgm:cxn modelId="{71D2105A-7811-A942-B5EA-3797BA5708D9}" type="presOf" srcId="{CA6FAF61-116D-4C6A-AB4C-B5110BB51280}" destId="{FED25435-7908-4057-AD3E-04F8715B947F}" srcOrd="0" destOrd="0" presId="urn:microsoft.com/office/officeart/2005/8/layout/radial1"/>
    <dgm:cxn modelId="{8636347B-EB80-414D-8AED-FCB1D922FA3F}" type="presOf" srcId="{240398D6-AD5F-43AF-A908-3D6E11D25566}" destId="{596007E6-E1C0-440D-89FA-88FA13A398C0}" srcOrd="1" destOrd="0" presId="urn:microsoft.com/office/officeart/2005/8/layout/radial1"/>
    <dgm:cxn modelId="{E2CDAE8D-4CFA-1E4C-B71B-22EC2373E449}" type="presOf" srcId="{23827FCF-054F-4340-AF15-59A4F44DCDB1}" destId="{9456057A-E478-4306-B8FC-499C75B7FF3D}" srcOrd="0" destOrd="0" presId="urn:microsoft.com/office/officeart/2005/8/layout/radial1"/>
    <dgm:cxn modelId="{6304FB99-D31A-408A-A70A-C4BAB0E7C7AB}" srcId="{751F6D69-CD75-4382-BDC0-E723F5E912FE}" destId="{AD243214-6699-4222-8304-1167AAAB68B9}" srcOrd="4" destOrd="0" parTransId="{1120BE05-CDA8-4B0D-B990-08379E695A6D}" sibTransId="{0830BA4E-8122-4D33-87F9-27B868A651A0}"/>
    <dgm:cxn modelId="{174575C8-2B0A-B245-B807-7E21D69C316A}" type="presOf" srcId="{7DB7B989-292F-4C5D-99BF-40B87458C994}" destId="{D8FBDD5F-4DBA-4D75-842A-216DD189F1A7}" srcOrd="0" destOrd="0" presId="urn:microsoft.com/office/officeart/2005/8/layout/radial1"/>
    <dgm:cxn modelId="{A5B3FADD-DEE8-394E-80D8-0E69262D73CC}" type="presOf" srcId="{2C3DA053-E757-4066-8E8E-D39FEAE9B267}" destId="{0FCDDF8A-F290-485D-84BC-4D748B795AE8}" srcOrd="0" destOrd="0" presId="urn:microsoft.com/office/officeart/2005/8/layout/radial1"/>
    <dgm:cxn modelId="{AB6FC6EC-902F-4C4F-BFC1-DD1535CEF4C7}" type="presOf" srcId="{8C1DBBE4-D0AE-487E-84D5-B53566237095}" destId="{405D77B0-D4E7-420E-87DC-C914FE336D50}" srcOrd="0" destOrd="0" presId="urn:microsoft.com/office/officeart/2005/8/layout/radial1"/>
    <dgm:cxn modelId="{B68990F6-04AA-43B6-9891-11D5B0D0D9BD}" srcId="{751F6D69-CD75-4382-BDC0-E723F5E912FE}" destId="{24C4AC8E-A77F-4F45-9366-EBFD10669311}" srcOrd="0" destOrd="0" parTransId="{23827FCF-054F-4340-AF15-59A4F44DCDB1}" sibTransId="{6558A3F2-EBC8-40A7-AD46-D151ECD6878D}"/>
    <dgm:cxn modelId="{2314A2EA-F5A5-C34C-8E2D-07517E6FE8CC}" type="presParOf" srcId="{FED25435-7908-4057-AD3E-04F8715B947F}" destId="{E8AD4DE3-D4D6-478F-BE58-2A6E02379D0A}" srcOrd="0" destOrd="0" presId="urn:microsoft.com/office/officeart/2005/8/layout/radial1"/>
    <dgm:cxn modelId="{D09EF2F3-6CFD-BB48-81DA-67AC413E71C4}" type="presParOf" srcId="{FED25435-7908-4057-AD3E-04F8715B947F}" destId="{9456057A-E478-4306-B8FC-499C75B7FF3D}" srcOrd="1" destOrd="0" presId="urn:microsoft.com/office/officeart/2005/8/layout/radial1"/>
    <dgm:cxn modelId="{3A426792-4162-7544-A63B-2CD35E419286}" type="presParOf" srcId="{9456057A-E478-4306-B8FC-499C75B7FF3D}" destId="{74FB9B1B-F3DD-4341-B7AC-4D44D9206194}" srcOrd="0" destOrd="0" presId="urn:microsoft.com/office/officeart/2005/8/layout/radial1"/>
    <dgm:cxn modelId="{8290D917-2920-BD4A-AD35-CC9A19F7CF71}" type="presParOf" srcId="{FED25435-7908-4057-AD3E-04F8715B947F}" destId="{C43E16CE-DDC3-41BA-B5FA-953C6502B0AF}" srcOrd="2" destOrd="0" presId="urn:microsoft.com/office/officeart/2005/8/layout/radial1"/>
    <dgm:cxn modelId="{8103798E-B1D8-4E49-8FC6-77165D90B1F4}" type="presParOf" srcId="{FED25435-7908-4057-AD3E-04F8715B947F}" destId="{1BD94D95-601C-47A6-B5E0-E66E8EC0C79E}" srcOrd="3" destOrd="0" presId="urn:microsoft.com/office/officeart/2005/8/layout/radial1"/>
    <dgm:cxn modelId="{C7D08678-E796-6242-BE57-9922862C2FD0}" type="presParOf" srcId="{1BD94D95-601C-47A6-B5E0-E66E8EC0C79E}" destId="{052C01EB-35EE-488F-B6FA-0922DB05567A}" srcOrd="0" destOrd="0" presId="urn:microsoft.com/office/officeart/2005/8/layout/radial1"/>
    <dgm:cxn modelId="{B205B503-975C-4D42-83FF-D31ADC259007}" type="presParOf" srcId="{FED25435-7908-4057-AD3E-04F8715B947F}" destId="{25315A9F-DD33-4B77-B7EA-BE917E50DB55}" srcOrd="4" destOrd="0" presId="urn:microsoft.com/office/officeart/2005/8/layout/radial1"/>
    <dgm:cxn modelId="{45242B3E-B947-CE49-B893-31651264781E}" type="presParOf" srcId="{FED25435-7908-4057-AD3E-04F8715B947F}" destId="{D8FBDD5F-4DBA-4D75-842A-216DD189F1A7}" srcOrd="5" destOrd="0" presId="urn:microsoft.com/office/officeart/2005/8/layout/radial1"/>
    <dgm:cxn modelId="{7821D0C0-3A41-FB45-9501-F10A3C01A291}" type="presParOf" srcId="{D8FBDD5F-4DBA-4D75-842A-216DD189F1A7}" destId="{ACCE6512-7A2B-47B8-ADCC-31B82A42D363}" srcOrd="0" destOrd="0" presId="urn:microsoft.com/office/officeart/2005/8/layout/radial1"/>
    <dgm:cxn modelId="{A6B3EE81-9C26-1E48-8D4B-533BB35626B8}" type="presParOf" srcId="{FED25435-7908-4057-AD3E-04F8715B947F}" destId="{405D77B0-D4E7-420E-87DC-C914FE336D50}" srcOrd="6" destOrd="0" presId="urn:microsoft.com/office/officeart/2005/8/layout/radial1"/>
    <dgm:cxn modelId="{7CB3E1E3-A75D-C44D-9E5D-089050339BA4}" type="presParOf" srcId="{FED25435-7908-4057-AD3E-04F8715B947F}" destId="{48BD87F4-30F1-4378-A5FA-4260D7FB3D1B}" srcOrd="7" destOrd="0" presId="urn:microsoft.com/office/officeart/2005/8/layout/radial1"/>
    <dgm:cxn modelId="{650BB0ED-D317-4547-9380-E27073E95506}" type="presParOf" srcId="{48BD87F4-30F1-4378-A5FA-4260D7FB3D1B}" destId="{10BEB866-F305-4B7C-8281-F9F59EE2BC73}" srcOrd="0" destOrd="0" presId="urn:microsoft.com/office/officeart/2005/8/layout/radial1"/>
    <dgm:cxn modelId="{9A189564-B2EA-864A-B508-8E1EE841FB95}" type="presParOf" srcId="{FED25435-7908-4057-AD3E-04F8715B947F}" destId="{6421D639-2262-4E8F-B762-3F84183BA1B6}" srcOrd="8" destOrd="0" presId="urn:microsoft.com/office/officeart/2005/8/layout/radial1"/>
    <dgm:cxn modelId="{5CAB0FD5-7330-5A4E-A1E4-D047A4322B69}" type="presParOf" srcId="{FED25435-7908-4057-AD3E-04F8715B947F}" destId="{C3B049FB-EC55-4C73-8DBA-D92AC909DC98}" srcOrd="9" destOrd="0" presId="urn:microsoft.com/office/officeart/2005/8/layout/radial1"/>
    <dgm:cxn modelId="{E41FA948-5CA4-BB4D-A211-334D45602EA4}" type="presParOf" srcId="{C3B049FB-EC55-4C73-8DBA-D92AC909DC98}" destId="{6794A158-6FFB-492A-891B-24DFA9961E0B}" srcOrd="0" destOrd="0" presId="urn:microsoft.com/office/officeart/2005/8/layout/radial1"/>
    <dgm:cxn modelId="{679B2D65-DD29-C246-9FFC-776C9997DCC0}" type="presParOf" srcId="{FED25435-7908-4057-AD3E-04F8715B947F}" destId="{472E9016-E7D7-41B7-955B-64C4BD7CF04E}" srcOrd="10" destOrd="0" presId="urn:microsoft.com/office/officeart/2005/8/layout/radial1"/>
    <dgm:cxn modelId="{3EC176CD-D6C5-A54E-BA90-08B49B8A34D6}" type="presParOf" srcId="{FED25435-7908-4057-AD3E-04F8715B947F}" destId="{2269224F-0B1D-47B4-9552-87FF3F97DD5D}" srcOrd="11" destOrd="0" presId="urn:microsoft.com/office/officeart/2005/8/layout/radial1"/>
    <dgm:cxn modelId="{39BC1F6F-D22F-DB49-8765-431A5AD5D350}" type="presParOf" srcId="{2269224F-0B1D-47B4-9552-87FF3F97DD5D}" destId="{596007E6-E1C0-440D-89FA-88FA13A398C0}" srcOrd="0" destOrd="0" presId="urn:microsoft.com/office/officeart/2005/8/layout/radial1"/>
    <dgm:cxn modelId="{21484631-44DF-854F-A4A7-EC85F15790E7}" type="presParOf" srcId="{FED25435-7908-4057-AD3E-04F8715B947F}" destId="{0FCDDF8A-F290-485D-84BC-4D748B795AE8}" srcOrd="12"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D4DE3-D4D6-478F-BE58-2A6E02379D0A}">
      <dsp:nvSpPr>
        <dsp:cNvPr id="0" name=""/>
        <dsp:cNvSpPr/>
      </dsp:nvSpPr>
      <dsp:spPr>
        <a:xfrm>
          <a:off x="1596575" y="1576870"/>
          <a:ext cx="1197597" cy="119759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marR="0" lvl="0" indent="0" algn="ctr" defTabSz="488950" rtl="0">
            <a:lnSpc>
              <a:spcPct val="90000"/>
            </a:lnSpc>
            <a:spcBef>
              <a:spcPct val="0"/>
            </a:spcBef>
            <a:spcAft>
              <a:spcPct val="35000"/>
            </a:spcAft>
            <a:buNone/>
          </a:pPr>
          <a:r>
            <a:rPr lang="en-GB" sz="1100" b="1" i="0" u="none" strike="noStrike" kern="1200" baseline="0">
              <a:latin typeface="Calibri"/>
            </a:rPr>
            <a:t>Quality </a:t>
          </a:r>
        </a:p>
        <a:p>
          <a:pPr marL="0" marR="0" lvl="0" indent="0" algn="ctr" defTabSz="488950" rtl="0">
            <a:lnSpc>
              <a:spcPct val="90000"/>
            </a:lnSpc>
            <a:spcBef>
              <a:spcPct val="0"/>
            </a:spcBef>
            <a:spcAft>
              <a:spcPct val="35000"/>
            </a:spcAft>
            <a:buNone/>
          </a:pPr>
          <a:r>
            <a:rPr lang="en-GB" sz="1100" b="1" i="0" u="none" strike="noStrike" kern="1200" baseline="0">
              <a:latin typeface="Calibri"/>
            </a:rPr>
            <a:t>Of Information</a:t>
          </a:r>
        </a:p>
        <a:p>
          <a:pPr marL="0" marR="0" lvl="0" indent="0" algn="ctr" defTabSz="488950" rtl="0">
            <a:lnSpc>
              <a:spcPct val="90000"/>
            </a:lnSpc>
            <a:spcBef>
              <a:spcPct val="0"/>
            </a:spcBef>
            <a:spcAft>
              <a:spcPct val="35000"/>
            </a:spcAft>
            <a:buNone/>
          </a:pPr>
          <a:r>
            <a:rPr lang="en-GB" sz="1100" b="1" i="0" u="none" strike="noStrike" kern="1200" baseline="0">
              <a:latin typeface="Calibri"/>
            </a:rPr>
            <a:t>depends on ?</a:t>
          </a:r>
          <a:endParaRPr lang="en-GB" sz="1100" kern="1200"/>
        </a:p>
      </dsp:txBody>
      <dsp:txXfrm>
        <a:off x="1771959" y="1752254"/>
        <a:ext cx="846829" cy="846829"/>
      </dsp:txXfrm>
    </dsp:sp>
    <dsp:sp modelId="{9456057A-E478-4306-B8FC-499C75B7FF3D}">
      <dsp:nvSpPr>
        <dsp:cNvPr id="0" name=""/>
        <dsp:cNvSpPr/>
      </dsp:nvSpPr>
      <dsp:spPr>
        <a:xfrm rot="16200000">
          <a:off x="2014358" y="1371306"/>
          <a:ext cx="362031" cy="49095"/>
        </a:xfrm>
        <a:custGeom>
          <a:avLst/>
          <a:gdLst/>
          <a:ahLst/>
          <a:cxnLst/>
          <a:rect l="0" t="0" r="0" b="0"/>
          <a:pathLst>
            <a:path>
              <a:moveTo>
                <a:pt x="0" y="24547"/>
              </a:moveTo>
              <a:lnTo>
                <a:pt x="362031" y="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186323" y="1386804"/>
        <a:ext cx="18101" cy="18101"/>
      </dsp:txXfrm>
    </dsp:sp>
    <dsp:sp modelId="{C43E16CE-DDC3-41BA-B5FA-953C6502B0AF}">
      <dsp:nvSpPr>
        <dsp:cNvPr id="0" name=""/>
        <dsp:cNvSpPr/>
      </dsp:nvSpPr>
      <dsp:spPr>
        <a:xfrm>
          <a:off x="1596575" y="17242"/>
          <a:ext cx="1197597" cy="119759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marR="0" lvl="0" indent="0" algn="ctr" defTabSz="577850" rtl="0">
            <a:lnSpc>
              <a:spcPct val="90000"/>
            </a:lnSpc>
            <a:spcBef>
              <a:spcPct val="0"/>
            </a:spcBef>
            <a:spcAft>
              <a:spcPct val="35000"/>
            </a:spcAft>
            <a:buNone/>
          </a:pPr>
          <a:r>
            <a:rPr lang="en-GB" sz="1300" b="1" i="0" u="none" strike="noStrike" kern="1200" baseline="0" dirty="0">
              <a:latin typeface="Calibri"/>
            </a:rPr>
            <a:t>Is it</a:t>
          </a:r>
        </a:p>
        <a:p>
          <a:pPr marL="0" marR="0" lvl="0" indent="0" algn="ctr" defTabSz="577850" rtl="0">
            <a:lnSpc>
              <a:spcPct val="90000"/>
            </a:lnSpc>
            <a:spcBef>
              <a:spcPct val="0"/>
            </a:spcBef>
            <a:spcAft>
              <a:spcPct val="35000"/>
            </a:spcAft>
            <a:buNone/>
          </a:pPr>
          <a:r>
            <a:rPr lang="en-GB" sz="1300" b="1" i="0" u="none" strike="noStrike" kern="1200" baseline="0" dirty="0">
              <a:latin typeface="Calibri"/>
            </a:rPr>
            <a:t>Accurate ?</a:t>
          </a:r>
          <a:endParaRPr lang="en-GB" sz="1300" kern="1200" dirty="0"/>
        </a:p>
      </dsp:txBody>
      <dsp:txXfrm>
        <a:off x="1771959" y="192626"/>
        <a:ext cx="846829" cy="846829"/>
      </dsp:txXfrm>
    </dsp:sp>
    <dsp:sp modelId="{1BD94D95-601C-47A6-B5E0-E66E8EC0C79E}">
      <dsp:nvSpPr>
        <dsp:cNvPr id="0" name=""/>
        <dsp:cNvSpPr/>
      </dsp:nvSpPr>
      <dsp:spPr>
        <a:xfrm rot="19800000">
          <a:off x="2689697" y="1761213"/>
          <a:ext cx="362031" cy="49095"/>
        </a:xfrm>
        <a:custGeom>
          <a:avLst/>
          <a:gdLst/>
          <a:ahLst/>
          <a:cxnLst/>
          <a:rect l="0" t="0" r="0" b="0"/>
          <a:pathLst>
            <a:path>
              <a:moveTo>
                <a:pt x="0" y="24547"/>
              </a:moveTo>
              <a:lnTo>
                <a:pt x="362031" y="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861662" y="1776711"/>
        <a:ext cx="18101" cy="18101"/>
      </dsp:txXfrm>
    </dsp:sp>
    <dsp:sp modelId="{25315A9F-DD33-4B77-B7EA-BE917E50DB55}">
      <dsp:nvSpPr>
        <dsp:cNvPr id="0" name=""/>
        <dsp:cNvSpPr/>
      </dsp:nvSpPr>
      <dsp:spPr>
        <a:xfrm>
          <a:off x="2947253" y="797056"/>
          <a:ext cx="1197597" cy="119759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marR="0" lvl="0" indent="0" algn="ctr" defTabSz="577850" rtl="0">
            <a:lnSpc>
              <a:spcPct val="90000"/>
            </a:lnSpc>
            <a:spcBef>
              <a:spcPct val="0"/>
            </a:spcBef>
            <a:spcAft>
              <a:spcPct val="35000"/>
            </a:spcAft>
            <a:buNone/>
          </a:pPr>
          <a:r>
            <a:rPr lang="en-GB" sz="1300" b="1" i="0" u="none" strike="noStrike" kern="1200" baseline="0" dirty="0">
              <a:latin typeface="Calibri"/>
            </a:rPr>
            <a:t>Is it</a:t>
          </a:r>
        </a:p>
        <a:p>
          <a:pPr marL="0" marR="0" lvl="0" indent="0" algn="ctr" defTabSz="577850" rtl="0">
            <a:lnSpc>
              <a:spcPct val="90000"/>
            </a:lnSpc>
            <a:spcBef>
              <a:spcPct val="0"/>
            </a:spcBef>
            <a:spcAft>
              <a:spcPct val="35000"/>
            </a:spcAft>
            <a:buNone/>
          </a:pPr>
          <a:r>
            <a:rPr lang="en-GB" sz="1300" b="1" i="0" u="none" strike="noStrike" kern="1200" baseline="0" dirty="0">
              <a:latin typeface="Calibri"/>
            </a:rPr>
            <a:t>Relevant ?</a:t>
          </a:r>
          <a:endParaRPr lang="en-GB" sz="1300" kern="1200" dirty="0"/>
        </a:p>
      </dsp:txBody>
      <dsp:txXfrm>
        <a:off x="3122637" y="972440"/>
        <a:ext cx="846829" cy="846829"/>
      </dsp:txXfrm>
    </dsp:sp>
    <dsp:sp modelId="{D8FBDD5F-4DBA-4D75-842A-216DD189F1A7}">
      <dsp:nvSpPr>
        <dsp:cNvPr id="0" name=""/>
        <dsp:cNvSpPr/>
      </dsp:nvSpPr>
      <dsp:spPr>
        <a:xfrm rot="1800000">
          <a:off x="2689697" y="2541028"/>
          <a:ext cx="362031" cy="49095"/>
        </a:xfrm>
        <a:custGeom>
          <a:avLst/>
          <a:gdLst/>
          <a:ahLst/>
          <a:cxnLst/>
          <a:rect l="0" t="0" r="0" b="0"/>
          <a:pathLst>
            <a:path>
              <a:moveTo>
                <a:pt x="0" y="24547"/>
              </a:moveTo>
              <a:lnTo>
                <a:pt x="362031" y="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861662" y="2556525"/>
        <a:ext cx="18101" cy="18101"/>
      </dsp:txXfrm>
    </dsp:sp>
    <dsp:sp modelId="{405D77B0-D4E7-420E-87DC-C914FE336D50}">
      <dsp:nvSpPr>
        <dsp:cNvPr id="0" name=""/>
        <dsp:cNvSpPr/>
      </dsp:nvSpPr>
      <dsp:spPr>
        <a:xfrm>
          <a:off x="2947253" y="2356684"/>
          <a:ext cx="1197597" cy="119759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marR="0" lvl="0" indent="0" algn="ctr" defTabSz="577850" rtl="0">
            <a:lnSpc>
              <a:spcPct val="90000"/>
            </a:lnSpc>
            <a:spcBef>
              <a:spcPct val="0"/>
            </a:spcBef>
            <a:spcAft>
              <a:spcPct val="35000"/>
            </a:spcAft>
            <a:buNone/>
          </a:pPr>
          <a:r>
            <a:rPr lang="en-GB" sz="1300" b="1" i="0" u="none" strike="noStrike" kern="1200" baseline="0" dirty="0">
              <a:latin typeface="Calibri"/>
            </a:rPr>
            <a:t>Is it</a:t>
          </a:r>
        </a:p>
        <a:p>
          <a:pPr marL="0" marR="0" lvl="0" indent="0" algn="ctr" defTabSz="577850" rtl="0">
            <a:lnSpc>
              <a:spcPct val="90000"/>
            </a:lnSpc>
            <a:spcBef>
              <a:spcPct val="0"/>
            </a:spcBef>
            <a:spcAft>
              <a:spcPct val="35000"/>
            </a:spcAft>
            <a:buNone/>
          </a:pPr>
          <a:r>
            <a:rPr lang="en-GB" sz="1300" b="1" i="0" u="none" strike="noStrike" kern="1200" baseline="0" dirty="0">
              <a:latin typeface="Calibri"/>
            </a:rPr>
            <a:t>Presented effectively ?</a:t>
          </a:r>
          <a:endParaRPr lang="en-GB" sz="1300" kern="1200" dirty="0"/>
        </a:p>
      </dsp:txBody>
      <dsp:txXfrm>
        <a:off x="3122637" y="2532068"/>
        <a:ext cx="846829" cy="846829"/>
      </dsp:txXfrm>
    </dsp:sp>
    <dsp:sp modelId="{48BD87F4-30F1-4378-A5FA-4260D7FB3D1B}">
      <dsp:nvSpPr>
        <dsp:cNvPr id="0" name=""/>
        <dsp:cNvSpPr/>
      </dsp:nvSpPr>
      <dsp:spPr>
        <a:xfrm rot="5400000">
          <a:off x="2014358" y="2930935"/>
          <a:ext cx="362031" cy="49095"/>
        </a:xfrm>
        <a:custGeom>
          <a:avLst/>
          <a:gdLst/>
          <a:ahLst/>
          <a:cxnLst/>
          <a:rect l="0" t="0" r="0" b="0"/>
          <a:pathLst>
            <a:path>
              <a:moveTo>
                <a:pt x="0" y="24547"/>
              </a:moveTo>
              <a:lnTo>
                <a:pt x="362031" y="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186323" y="2946432"/>
        <a:ext cx="18101" cy="18101"/>
      </dsp:txXfrm>
    </dsp:sp>
    <dsp:sp modelId="{6421D639-2262-4E8F-B762-3F84183BA1B6}">
      <dsp:nvSpPr>
        <dsp:cNvPr id="0" name=""/>
        <dsp:cNvSpPr/>
      </dsp:nvSpPr>
      <dsp:spPr>
        <a:xfrm>
          <a:off x="1596575" y="3136498"/>
          <a:ext cx="1197597" cy="119759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marR="0" lvl="0" indent="0" algn="ctr" defTabSz="577850" rtl="0">
            <a:lnSpc>
              <a:spcPct val="90000"/>
            </a:lnSpc>
            <a:spcBef>
              <a:spcPct val="0"/>
            </a:spcBef>
            <a:spcAft>
              <a:spcPct val="35000"/>
            </a:spcAft>
            <a:buNone/>
          </a:pPr>
          <a:r>
            <a:rPr lang="en-GB" sz="1300" b="1" i="0" u="none" strike="noStrike" kern="1200" baseline="0" dirty="0">
              <a:latin typeface="Calibri"/>
            </a:rPr>
            <a:t>Is it</a:t>
          </a:r>
        </a:p>
        <a:p>
          <a:pPr marL="0" marR="0" lvl="0" indent="0" algn="ctr" defTabSz="577850" rtl="0">
            <a:lnSpc>
              <a:spcPct val="90000"/>
            </a:lnSpc>
            <a:spcBef>
              <a:spcPct val="0"/>
            </a:spcBef>
            <a:spcAft>
              <a:spcPct val="35000"/>
            </a:spcAft>
            <a:buNone/>
          </a:pPr>
          <a:r>
            <a:rPr lang="en-GB" sz="1300" b="1" i="0" u="none" strike="noStrike" kern="1200" baseline="0" dirty="0">
              <a:latin typeface="Calibri"/>
            </a:rPr>
            <a:t>Complete ?</a:t>
          </a:r>
          <a:endParaRPr lang="en-GB" sz="1300" kern="1200" dirty="0"/>
        </a:p>
      </dsp:txBody>
      <dsp:txXfrm>
        <a:off x="1771959" y="3311882"/>
        <a:ext cx="846829" cy="846829"/>
      </dsp:txXfrm>
    </dsp:sp>
    <dsp:sp modelId="{C3B049FB-EC55-4C73-8DBA-D92AC909DC98}">
      <dsp:nvSpPr>
        <dsp:cNvPr id="0" name=""/>
        <dsp:cNvSpPr/>
      </dsp:nvSpPr>
      <dsp:spPr>
        <a:xfrm rot="9000000">
          <a:off x="1339019" y="2541028"/>
          <a:ext cx="362031" cy="49095"/>
        </a:xfrm>
        <a:custGeom>
          <a:avLst/>
          <a:gdLst/>
          <a:ahLst/>
          <a:cxnLst/>
          <a:rect l="0" t="0" r="0" b="0"/>
          <a:pathLst>
            <a:path>
              <a:moveTo>
                <a:pt x="0" y="24547"/>
              </a:moveTo>
              <a:lnTo>
                <a:pt x="362031" y="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rot="10800000">
        <a:off x="1510984" y="2556525"/>
        <a:ext cx="18101" cy="18101"/>
      </dsp:txXfrm>
    </dsp:sp>
    <dsp:sp modelId="{472E9016-E7D7-41B7-955B-64C4BD7CF04E}">
      <dsp:nvSpPr>
        <dsp:cNvPr id="0" name=""/>
        <dsp:cNvSpPr/>
      </dsp:nvSpPr>
      <dsp:spPr>
        <a:xfrm>
          <a:off x="245897" y="2356684"/>
          <a:ext cx="1197597" cy="119759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marR="0" lvl="0" indent="0" algn="ctr" defTabSz="577850" rtl="0">
            <a:lnSpc>
              <a:spcPct val="90000"/>
            </a:lnSpc>
            <a:spcBef>
              <a:spcPct val="0"/>
            </a:spcBef>
            <a:spcAft>
              <a:spcPct val="35000"/>
            </a:spcAft>
            <a:buNone/>
          </a:pPr>
          <a:r>
            <a:rPr lang="en-GB" sz="1300" b="1" i="0" u="none" strike="noStrike" kern="1200" baseline="0" dirty="0">
              <a:latin typeface="Calibri"/>
            </a:rPr>
            <a:t>Is it </a:t>
          </a:r>
        </a:p>
        <a:p>
          <a:pPr marL="0" marR="0" lvl="0" indent="0" algn="ctr" defTabSz="577850" rtl="0">
            <a:lnSpc>
              <a:spcPct val="90000"/>
            </a:lnSpc>
            <a:spcBef>
              <a:spcPct val="0"/>
            </a:spcBef>
            <a:spcAft>
              <a:spcPct val="35000"/>
            </a:spcAft>
            <a:buNone/>
          </a:pPr>
          <a:r>
            <a:rPr lang="en-GB" sz="1300" b="1" i="0" u="none" strike="noStrike" kern="1200" baseline="0" dirty="0">
              <a:latin typeface="Calibri"/>
            </a:rPr>
            <a:t>Up to date ?</a:t>
          </a:r>
          <a:endParaRPr lang="en-GB" sz="1300" kern="1200" dirty="0"/>
        </a:p>
      </dsp:txBody>
      <dsp:txXfrm>
        <a:off x="421281" y="2532068"/>
        <a:ext cx="846829" cy="846829"/>
      </dsp:txXfrm>
    </dsp:sp>
    <dsp:sp modelId="{2269224F-0B1D-47B4-9552-87FF3F97DD5D}">
      <dsp:nvSpPr>
        <dsp:cNvPr id="0" name=""/>
        <dsp:cNvSpPr/>
      </dsp:nvSpPr>
      <dsp:spPr>
        <a:xfrm rot="12600000">
          <a:off x="1339019" y="1761213"/>
          <a:ext cx="362031" cy="49095"/>
        </a:xfrm>
        <a:custGeom>
          <a:avLst/>
          <a:gdLst/>
          <a:ahLst/>
          <a:cxnLst/>
          <a:rect l="0" t="0" r="0" b="0"/>
          <a:pathLst>
            <a:path>
              <a:moveTo>
                <a:pt x="0" y="24547"/>
              </a:moveTo>
              <a:lnTo>
                <a:pt x="362031" y="24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rot="10800000">
        <a:off x="1510984" y="1776711"/>
        <a:ext cx="18101" cy="18101"/>
      </dsp:txXfrm>
    </dsp:sp>
    <dsp:sp modelId="{0FCDDF8A-F290-485D-84BC-4D748B795AE8}">
      <dsp:nvSpPr>
        <dsp:cNvPr id="0" name=""/>
        <dsp:cNvSpPr/>
      </dsp:nvSpPr>
      <dsp:spPr>
        <a:xfrm>
          <a:off x="245897" y="797056"/>
          <a:ext cx="1197597" cy="119759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marR="0" lvl="0" indent="0" algn="ctr" defTabSz="577850" rtl="0">
            <a:lnSpc>
              <a:spcPct val="90000"/>
            </a:lnSpc>
            <a:spcBef>
              <a:spcPct val="0"/>
            </a:spcBef>
            <a:spcAft>
              <a:spcPct val="35000"/>
            </a:spcAft>
            <a:buNone/>
          </a:pPr>
          <a:r>
            <a:rPr lang="en-GB" sz="1300" b="1" i="0" u="none" strike="noStrike" kern="1200" baseline="0" dirty="0">
              <a:latin typeface="Calibri"/>
            </a:rPr>
            <a:t>Is it </a:t>
          </a:r>
          <a:endParaRPr lang="en-GB" sz="1300" b="1" i="0" u="none" strike="noStrike" kern="1200" baseline="0" dirty="0">
            <a:latin typeface="Times New Roman"/>
          </a:endParaRPr>
        </a:p>
        <a:p>
          <a:pPr marL="0" marR="0" lvl="0" indent="0" algn="ctr" defTabSz="577850" rtl="0">
            <a:lnSpc>
              <a:spcPct val="90000"/>
            </a:lnSpc>
            <a:spcBef>
              <a:spcPct val="0"/>
            </a:spcBef>
            <a:spcAft>
              <a:spcPct val="35000"/>
            </a:spcAft>
            <a:buNone/>
          </a:pPr>
          <a:r>
            <a:rPr lang="en-GB" sz="1300" b="1" i="0" u="none" strike="noStrike" kern="1200" baseline="0" dirty="0">
              <a:latin typeface="Calibri"/>
            </a:rPr>
            <a:t>Reliable ?</a:t>
          </a:r>
          <a:endParaRPr lang="en-GB" sz="1300" kern="1200" dirty="0"/>
        </a:p>
      </dsp:txBody>
      <dsp:txXfrm>
        <a:off x="421281" y="972440"/>
        <a:ext cx="846829" cy="846829"/>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357AE6-32BB-4968-9CB2-B881A83A6F75}" type="datetimeFigureOut">
              <a:rPr lang="en-GB" smtClean="0"/>
              <a:t>23/09/2026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9C19B-172C-47C3-BF41-2F06F6A9B53A}" type="slidenum">
              <a:rPr lang="en-GB" smtClean="0"/>
              <a:t>‹#›</a:t>
            </a:fld>
            <a:endParaRPr lang="en-GB"/>
          </a:p>
        </p:txBody>
      </p:sp>
    </p:spTree>
    <p:extLst>
      <p:ext uri="{BB962C8B-B14F-4D97-AF65-F5344CB8AC3E}">
        <p14:creationId xmlns:p14="http://schemas.microsoft.com/office/powerpoint/2010/main" val="1530513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9C19B-172C-47C3-BF41-2F06F6A9B53A}" type="slidenum">
              <a:rPr lang="en-GB" smtClean="0"/>
              <a:t>21</a:t>
            </a:fld>
            <a:endParaRPr lang="en-GB"/>
          </a:p>
        </p:txBody>
      </p:sp>
    </p:spTree>
    <p:extLst>
      <p:ext uri="{BB962C8B-B14F-4D97-AF65-F5344CB8AC3E}">
        <p14:creationId xmlns:p14="http://schemas.microsoft.com/office/powerpoint/2010/main" val="2699431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9C19B-172C-47C3-BF41-2F06F6A9B53A}" type="slidenum">
              <a:rPr lang="en-GB" smtClean="0"/>
              <a:t>22</a:t>
            </a:fld>
            <a:endParaRPr lang="en-GB"/>
          </a:p>
        </p:txBody>
      </p:sp>
    </p:spTree>
    <p:extLst>
      <p:ext uri="{BB962C8B-B14F-4D97-AF65-F5344CB8AC3E}">
        <p14:creationId xmlns:p14="http://schemas.microsoft.com/office/powerpoint/2010/main" val="2920568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this question is in notes booklet</a:t>
            </a:r>
          </a:p>
        </p:txBody>
      </p:sp>
      <p:sp>
        <p:nvSpPr>
          <p:cNvPr id="4" name="Slide Number Placeholder 3"/>
          <p:cNvSpPr>
            <a:spLocks noGrp="1"/>
          </p:cNvSpPr>
          <p:nvPr>
            <p:ph type="sldNum" sz="quarter" idx="5"/>
          </p:nvPr>
        </p:nvSpPr>
        <p:spPr/>
        <p:txBody>
          <a:bodyPr/>
          <a:lstStyle/>
          <a:p>
            <a:fld id="{ABB9C19B-172C-47C3-BF41-2F06F6A9B53A}" type="slidenum">
              <a:rPr lang="en-GB" smtClean="0"/>
              <a:t>44</a:t>
            </a:fld>
            <a:endParaRPr lang="en-GB"/>
          </a:p>
        </p:txBody>
      </p:sp>
    </p:spTree>
    <p:extLst>
      <p:ext uri="{BB962C8B-B14F-4D97-AF65-F5344CB8AC3E}">
        <p14:creationId xmlns:p14="http://schemas.microsoft.com/office/powerpoint/2010/main" val="223742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1DB1-9771-4D74-B06D-29C152F86D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D8DC5B6-E9CD-4BE3-9B77-14FD00D2D1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37B4140-4C3D-476E-872D-37B5C8AF648C}"/>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5" name="Footer Placeholder 4">
            <a:extLst>
              <a:ext uri="{FF2B5EF4-FFF2-40B4-BE49-F238E27FC236}">
                <a16:creationId xmlns:a16="http://schemas.microsoft.com/office/drawing/2014/main" id="{AC52EB92-0891-4ACB-AFE0-8A0A5C3B22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E19241-E94F-4883-BBBE-EC89D67B8A3E}"/>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1406887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CE27-98AA-4799-A1D5-EAD5EE7ED9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9E77220-9FEC-4F49-94D0-C87BC98D22C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F1D23BD-930B-4306-B085-DD0B0D8592E6}"/>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5" name="Footer Placeholder 4">
            <a:extLst>
              <a:ext uri="{FF2B5EF4-FFF2-40B4-BE49-F238E27FC236}">
                <a16:creationId xmlns:a16="http://schemas.microsoft.com/office/drawing/2014/main" id="{40AC11B8-64BF-4A7D-B582-A73D8747F9E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4EEA22-DB9B-42CF-9BC2-E81EEFC2BBAA}"/>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413778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1F17F-42B2-4B30-A1AC-2BE32F1102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CD0C366-1DDD-4402-ACEF-74EA33742F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C90BE97-7849-4C6B-83FF-BC04CBFBF08E}"/>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5" name="Footer Placeholder 4">
            <a:extLst>
              <a:ext uri="{FF2B5EF4-FFF2-40B4-BE49-F238E27FC236}">
                <a16:creationId xmlns:a16="http://schemas.microsoft.com/office/drawing/2014/main" id="{E3D1A896-23BF-45A9-9D3D-6F8068ABAC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336212-E1C5-4EC2-BAE8-1E887F01F2FD}"/>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363472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5789-2A58-4245-9715-97AC80D80C3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6E7C024-A6DF-435C-88DE-DCE6BB062A4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232DAB1-6F55-449D-8D56-185FDA88A9B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867FB97-4D48-4E2E-A1AE-BAFBBDB1C779}"/>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6" name="Footer Placeholder 5">
            <a:extLst>
              <a:ext uri="{FF2B5EF4-FFF2-40B4-BE49-F238E27FC236}">
                <a16:creationId xmlns:a16="http://schemas.microsoft.com/office/drawing/2014/main" id="{077EE3A3-90C4-4ED0-8B8C-F649448000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00B2525-CCC4-4E0D-AD26-F81AA09D44A8}"/>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2566352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4AF55-54FB-4254-85C7-C5676731FD9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F6BF79B-9300-4417-A9AF-303E6B4D64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7198FD5-3172-459B-A5F4-5DEB8503B48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52897F2-8073-4014-8C24-F2D0BE7DE9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D2B312B-398B-4F94-B143-82FF4E1DEAC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54C5A83-300A-4C8A-9687-D93D5A821588}"/>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8" name="Footer Placeholder 7">
            <a:extLst>
              <a:ext uri="{FF2B5EF4-FFF2-40B4-BE49-F238E27FC236}">
                <a16:creationId xmlns:a16="http://schemas.microsoft.com/office/drawing/2014/main" id="{E2EDB89B-800C-4016-8DC1-BB183CB8AB5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E2C8C7D-EB1C-4A50-894F-1FFC808ADB50}"/>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533753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89715-6EFA-4B7F-9F40-21B8455D812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1032407-B25D-4509-A004-0387BE705773}"/>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4" name="Footer Placeholder 3">
            <a:extLst>
              <a:ext uri="{FF2B5EF4-FFF2-40B4-BE49-F238E27FC236}">
                <a16:creationId xmlns:a16="http://schemas.microsoft.com/office/drawing/2014/main" id="{A37CD5A1-01DC-4CBF-B5D7-0D29F55DACA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E325C46-6CCF-4C28-B76F-299147447C06}"/>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459914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67DBE5-99D9-44F9-92B1-F5451000458D}"/>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3" name="Footer Placeholder 2">
            <a:extLst>
              <a:ext uri="{FF2B5EF4-FFF2-40B4-BE49-F238E27FC236}">
                <a16:creationId xmlns:a16="http://schemas.microsoft.com/office/drawing/2014/main" id="{27A4ABC7-A40A-4DB1-8C3C-CFF01F207A7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716E845-8104-481C-B229-C9D81E3DB2DC}"/>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596198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10AE0-7BF8-431A-96E3-E01B13E13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1F8D103-E891-4E71-B205-161C323B9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130A51B-6351-4DFB-A86E-873030E116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81BE74D-EE62-445F-A4B8-FCF3A9827ED8}"/>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6" name="Footer Placeholder 5">
            <a:extLst>
              <a:ext uri="{FF2B5EF4-FFF2-40B4-BE49-F238E27FC236}">
                <a16:creationId xmlns:a16="http://schemas.microsoft.com/office/drawing/2014/main" id="{066A3417-4816-4424-8409-2821354FBD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CA51F67-106B-4FE4-9FCE-1BB55D917279}"/>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2329736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A05E8-E00A-4D21-8964-43C1F879F5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B3ED6EC-03AB-4E6C-91EF-F9CF8D7903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C65DE54-2CFF-4529-B07B-6A283D1ACD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97132CD-A912-42FE-89F0-000C9F0B6B01}"/>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6" name="Footer Placeholder 5">
            <a:extLst>
              <a:ext uri="{FF2B5EF4-FFF2-40B4-BE49-F238E27FC236}">
                <a16:creationId xmlns:a16="http://schemas.microsoft.com/office/drawing/2014/main" id="{6C81D3B0-6ED9-4C04-BA1B-501EFF2922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E0A7DA9-2002-47E7-83B4-FBB0AD43D6F3}"/>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1707994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7D7FF-BC73-4113-ADF9-8DB552CB3C7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EA02C91-BF11-43E0-B1E4-22A1F6A4C9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4FDA44-48C8-4CFA-B482-E080E7AC7C00}"/>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5" name="Footer Placeholder 4">
            <a:extLst>
              <a:ext uri="{FF2B5EF4-FFF2-40B4-BE49-F238E27FC236}">
                <a16:creationId xmlns:a16="http://schemas.microsoft.com/office/drawing/2014/main" id="{627561C0-935D-4C35-8301-4B78AC3FFE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001C9F-FAE2-48AC-A7F9-8B178B863556}"/>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3085021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05E123-5ED2-4527-859B-155B10AB14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253F8BB-6252-4B1D-9916-24BF1E1A32A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A2614C-3AA2-44F9-A12F-A5F755B6E931}"/>
              </a:ext>
            </a:extLst>
          </p:cNvPr>
          <p:cNvSpPr>
            <a:spLocks noGrp="1"/>
          </p:cNvSpPr>
          <p:nvPr>
            <p:ph type="dt" sz="half" idx="10"/>
          </p:nvPr>
        </p:nvSpPr>
        <p:spPr/>
        <p:txBody>
          <a:bodyPr/>
          <a:lstStyle/>
          <a:p>
            <a:fld id="{562032C3-8D5D-4034-ADA7-19310BA8B7B6}" type="datetimeFigureOut">
              <a:rPr lang="en-GB" smtClean="0"/>
              <a:t>23/09/2026</a:t>
            </a:fld>
            <a:endParaRPr lang="en-GB"/>
          </a:p>
        </p:txBody>
      </p:sp>
      <p:sp>
        <p:nvSpPr>
          <p:cNvPr id="5" name="Footer Placeholder 4">
            <a:extLst>
              <a:ext uri="{FF2B5EF4-FFF2-40B4-BE49-F238E27FC236}">
                <a16:creationId xmlns:a16="http://schemas.microsoft.com/office/drawing/2014/main" id="{7FFD994D-BE69-4708-B72B-5A6C664E4D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6C10A8-6139-4CAF-8513-B59F7E100735}"/>
              </a:ext>
            </a:extLst>
          </p:cNvPr>
          <p:cNvSpPr>
            <a:spLocks noGrp="1"/>
          </p:cNvSpPr>
          <p:nvPr>
            <p:ph type="sldNum" sz="quarter" idx="12"/>
          </p:nvPr>
        </p:nvSpPr>
        <p:spPr/>
        <p:txBody>
          <a:bodyPr/>
          <a:lstStyle/>
          <a:p>
            <a:fld id="{1CBF9BB7-832E-4D80-865E-625C5C45384B}" type="slidenum">
              <a:rPr lang="en-GB" smtClean="0"/>
              <a:t>‹#›</a:t>
            </a:fld>
            <a:endParaRPr lang="en-GB"/>
          </a:p>
        </p:txBody>
      </p:sp>
    </p:spTree>
    <p:extLst>
      <p:ext uri="{BB962C8B-B14F-4D97-AF65-F5344CB8AC3E}">
        <p14:creationId xmlns:p14="http://schemas.microsoft.com/office/powerpoint/2010/main" val="2305623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12D3B"/>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7C70D7-3690-4F1C-8B94-37E2328587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FFCD0DB7-2FB6-4586-875F-A9F159F3D3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3693FB7E-2748-4019-A6DE-0A5BFA7A0C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2032C3-8D5D-4034-ADA7-19310BA8B7B6}" type="datetimeFigureOut">
              <a:rPr lang="en-GB" smtClean="0"/>
              <a:t>23/09/2026</a:t>
            </a:fld>
            <a:endParaRPr lang="en-GB"/>
          </a:p>
        </p:txBody>
      </p:sp>
      <p:sp>
        <p:nvSpPr>
          <p:cNvPr id="5" name="Footer Placeholder 4">
            <a:extLst>
              <a:ext uri="{FF2B5EF4-FFF2-40B4-BE49-F238E27FC236}">
                <a16:creationId xmlns:a16="http://schemas.microsoft.com/office/drawing/2014/main" id="{3DBD9936-C69F-4265-BC61-2728146C71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CBCEA2C-60E8-48DC-A42F-2AE08F3FBB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BF9BB7-832E-4D80-865E-625C5C45384B}" type="slidenum">
              <a:rPr lang="en-GB" smtClean="0"/>
              <a:t>‹#›</a:t>
            </a:fld>
            <a:endParaRPr lang="en-GB"/>
          </a:p>
        </p:txBody>
      </p:sp>
      <p:pic>
        <p:nvPicPr>
          <p:cNvPr id="7" name="Picture 6"/>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223970" y="5652162"/>
            <a:ext cx="1228989" cy="1228989"/>
          </a:xfrm>
          <a:prstGeom prst="rect">
            <a:avLst/>
          </a:prstGeom>
        </p:spPr>
      </p:pic>
      <p:sp>
        <p:nvSpPr>
          <p:cNvPr id="8" name="Rectangle 7"/>
          <p:cNvSpPr/>
          <p:nvPr userDrawn="1"/>
        </p:nvSpPr>
        <p:spPr>
          <a:xfrm>
            <a:off x="419100" y="0"/>
            <a:ext cx="333375" cy="5711828"/>
          </a:xfrm>
          <a:prstGeom prst="rect">
            <a:avLst/>
          </a:prstGeom>
          <a:solidFill>
            <a:srgbClr val="DA3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38100" y="0"/>
            <a:ext cx="333375" cy="5711828"/>
          </a:xfrm>
          <a:prstGeom prst="rect">
            <a:avLst/>
          </a:prstGeom>
          <a:solidFill>
            <a:srgbClr val="D8B6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p:cNvGrpSpPr/>
          <p:nvPr userDrawn="1"/>
        </p:nvGrpSpPr>
        <p:grpSpPr>
          <a:xfrm>
            <a:off x="38100" y="5711827"/>
            <a:ext cx="714375" cy="298447"/>
            <a:chOff x="38100" y="5711827"/>
            <a:chExt cx="714375" cy="298447"/>
          </a:xfrm>
        </p:grpSpPr>
        <p:sp>
          <p:nvSpPr>
            <p:cNvPr id="11" name="Right Triangle 10"/>
            <p:cNvSpPr/>
            <p:nvPr userDrawn="1"/>
          </p:nvSpPr>
          <p:spPr>
            <a:xfrm flipV="1">
              <a:off x="38100" y="5711828"/>
              <a:ext cx="333374" cy="298446"/>
            </a:xfrm>
            <a:prstGeom prst="rtTriangle">
              <a:avLst/>
            </a:prstGeom>
            <a:solidFill>
              <a:srgbClr val="D8B6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ight Triangle 11"/>
            <p:cNvSpPr/>
            <p:nvPr userDrawn="1"/>
          </p:nvSpPr>
          <p:spPr>
            <a:xfrm flipH="1" flipV="1">
              <a:off x="419099" y="5711827"/>
              <a:ext cx="333376" cy="298447"/>
            </a:xfrm>
            <a:prstGeom prst="rtTriangle">
              <a:avLst/>
            </a:prstGeom>
            <a:solidFill>
              <a:srgbClr val="DA3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userDrawn="1"/>
        </p:nvGrpSpPr>
        <p:grpSpPr>
          <a:xfrm rot="10800000">
            <a:off x="38100" y="6538912"/>
            <a:ext cx="714375" cy="298447"/>
            <a:chOff x="38100" y="5711827"/>
            <a:chExt cx="714375" cy="298447"/>
          </a:xfrm>
        </p:grpSpPr>
        <p:sp>
          <p:nvSpPr>
            <p:cNvPr id="14" name="Right Triangle 13"/>
            <p:cNvSpPr/>
            <p:nvPr userDrawn="1"/>
          </p:nvSpPr>
          <p:spPr>
            <a:xfrm flipV="1">
              <a:off x="38100" y="5711828"/>
              <a:ext cx="333374" cy="298446"/>
            </a:xfrm>
            <a:prstGeom prst="rtTriangle">
              <a:avLst/>
            </a:prstGeom>
            <a:solidFill>
              <a:srgbClr val="D8B6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ight Triangle 14"/>
            <p:cNvSpPr/>
            <p:nvPr userDrawn="1"/>
          </p:nvSpPr>
          <p:spPr>
            <a:xfrm flipH="1" flipV="1">
              <a:off x="419099" y="5711827"/>
              <a:ext cx="333376" cy="298447"/>
            </a:xfrm>
            <a:prstGeom prst="rtTriangle">
              <a:avLst/>
            </a:prstGeom>
            <a:solidFill>
              <a:srgbClr val="DA3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4152112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txStyles>
    <p:titleStyle>
      <a:lvl1pPr algn="l" defTabSz="914400" rtl="0" eaLnBrk="1" latinLnBrk="0" hangingPunct="1">
        <a:lnSpc>
          <a:spcPct val="90000"/>
        </a:lnSpc>
        <a:spcBef>
          <a:spcPct val="0"/>
        </a:spcBef>
        <a:buNone/>
        <a:defRPr sz="4400" kern="1200">
          <a:solidFill>
            <a:srgbClr val="DA362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D8B68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D8B68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D8B68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D8B68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D8B68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7515-025F-4E8E-B17D-E70358AAB441}"/>
              </a:ext>
            </a:extLst>
          </p:cNvPr>
          <p:cNvSpPr>
            <a:spLocks noGrp="1"/>
          </p:cNvSpPr>
          <p:nvPr>
            <p:ph type="ctrTitle"/>
          </p:nvPr>
        </p:nvSpPr>
        <p:spPr/>
        <p:txBody>
          <a:bodyPr/>
          <a:lstStyle/>
          <a:p>
            <a:r>
              <a:rPr lang="en-GB" dirty="0"/>
              <a:t>Data and Information</a:t>
            </a:r>
          </a:p>
        </p:txBody>
      </p:sp>
      <p:sp>
        <p:nvSpPr>
          <p:cNvPr id="3" name="Subtitle 2">
            <a:extLst>
              <a:ext uri="{FF2B5EF4-FFF2-40B4-BE49-F238E27FC236}">
                <a16:creationId xmlns:a16="http://schemas.microsoft.com/office/drawing/2014/main" id="{5C5D27D1-66F6-4B0F-B5BB-2F375C7210E8}"/>
              </a:ext>
            </a:extLst>
          </p:cNvPr>
          <p:cNvSpPr>
            <a:spLocks noGrp="1"/>
          </p:cNvSpPr>
          <p:nvPr>
            <p:ph type="subTitle" idx="1"/>
          </p:nvPr>
        </p:nvSpPr>
        <p:spPr/>
        <p:txBody>
          <a:bodyPr/>
          <a:lstStyle/>
          <a:p>
            <a:r>
              <a:rPr lang="en-GB" dirty="0"/>
              <a:t>Mr Butler</a:t>
            </a:r>
          </a:p>
        </p:txBody>
      </p:sp>
    </p:spTree>
    <p:extLst>
      <p:ext uri="{BB962C8B-B14F-4D97-AF65-F5344CB8AC3E}">
        <p14:creationId xmlns:p14="http://schemas.microsoft.com/office/powerpoint/2010/main" val="3817192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4D71E-472D-4FA8-8E1D-5D49C696C9FE}"/>
              </a:ext>
            </a:extLst>
          </p:cNvPr>
          <p:cNvSpPr>
            <a:spLocks noGrp="1"/>
          </p:cNvSpPr>
          <p:nvPr>
            <p:ph type="title"/>
          </p:nvPr>
        </p:nvSpPr>
        <p:spPr/>
        <p:txBody>
          <a:bodyPr/>
          <a:lstStyle/>
          <a:p>
            <a:r>
              <a:rPr lang="en-GB" dirty="0"/>
              <a:t>The Specification</a:t>
            </a:r>
          </a:p>
        </p:txBody>
      </p:sp>
      <p:sp>
        <p:nvSpPr>
          <p:cNvPr id="3" name="Content Placeholder 2">
            <a:extLst>
              <a:ext uri="{FF2B5EF4-FFF2-40B4-BE49-F238E27FC236}">
                <a16:creationId xmlns:a16="http://schemas.microsoft.com/office/drawing/2014/main" id="{1D349704-AE57-4B35-BA1C-2E593922074D}"/>
              </a:ext>
            </a:extLst>
          </p:cNvPr>
          <p:cNvSpPr>
            <a:spLocks noGrp="1"/>
          </p:cNvSpPr>
          <p:nvPr>
            <p:ph idx="1"/>
          </p:nvPr>
        </p:nvSpPr>
        <p:spPr/>
        <p:txBody>
          <a:bodyPr>
            <a:normAutofit fontScale="92500" lnSpcReduction="10000"/>
          </a:bodyPr>
          <a:lstStyle/>
          <a:p>
            <a:pPr lvl="0"/>
            <a:r>
              <a:rPr lang="en-GB" dirty="0"/>
              <a:t>distinguish between data, information and knowledge by using examples;</a:t>
            </a:r>
          </a:p>
          <a:p>
            <a:pPr lvl="0"/>
            <a:r>
              <a:rPr lang="en-GB" dirty="0"/>
              <a:t>describe how the quality of the information produced can be affected by the following factors: accuracy, relevance, up to date/currency, completeness, presentation and reliability ;</a:t>
            </a:r>
          </a:p>
          <a:p>
            <a:pPr lvl="0"/>
            <a:r>
              <a:rPr lang="en-GB" dirty="0"/>
              <a:t>describe and apply the following data validation methods: range, type, length, format, presence, Modulus 11 check digit and lookup;</a:t>
            </a:r>
          </a:p>
          <a:p>
            <a:pPr lvl="0"/>
            <a:r>
              <a:rPr lang="en-GB" dirty="0"/>
              <a:t>understand the purpose of the following data validation methods: check digits; and batch totals (hash and control);</a:t>
            </a:r>
          </a:p>
          <a:p>
            <a:pPr lvl="0"/>
            <a:r>
              <a:rPr lang="en-GB" dirty="0"/>
              <a:t>understand the purpose of data verification methods: double entry, proofreading;</a:t>
            </a:r>
          </a:p>
          <a:p>
            <a:pPr lvl="0"/>
            <a:r>
              <a:rPr lang="en-GB" dirty="0"/>
              <a:t>explain the limitations of data validation and data verification.</a:t>
            </a:r>
          </a:p>
          <a:p>
            <a:endParaRPr lang="en-GB" dirty="0"/>
          </a:p>
        </p:txBody>
      </p:sp>
    </p:spTree>
    <p:extLst>
      <p:ext uri="{BB962C8B-B14F-4D97-AF65-F5344CB8AC3E}">
        <p14:creationId xmlns:p14="http://schemas.microsoft.com/office/powerpoint/2010/main" val="2573855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D406C-A87C-4857-BBC2-9E205F95B051}"/>
              </a:ext>
            </a:extLst>
          </p:cNvPr>
          <p:cNvSpPr>
            <a:spLocks noGrp="1"/>
          </p:cNvSpPr>
          <p:nvPr>
            <p:ph type="title"/>
          </p:nvPr>
        </p:nvSpPr>
        <p:spPr/>
        <p:txBody>
          <a:bodyPr/>
          <a:lstStyle/>
          <a:p>
            <a:r>
              <a:rPr lang="en-GB" dirty="0"/>
              <a:t>Is there a difference between data and information?</a:t>
            </a:r>
          </a:p>
        </p:txBody>
      </p:sp>
      <p:sp>
        <p:nvSpPr>
          <p:cNvPr id="3" name="Content Placeholder 2">
            <a:extLst>
              <a:ext uri="{FF2B5EF4-FFF2-40B4-BE49-F238E27FC236}">
                <a16:creationId xmlns:a16="http://schemas.microsoft.com/office/drawing/2014/main" id="{0CF4B89B-12E1-493D-9095-1445CF997BB9}"/>
              </a:ext>
            </a:extLst>
          </p:cNvPr>
          <p:cNvSpPr>
            <a:spLocks noGrp="1"/>
          </p:cNvSpPr>
          <p:nvPr>
            <p:ph idx="1"/>
          </p:nvPr>
        </p:nvSpPr>
        <p:spPr/>
        <p:txBody>
          <a:bodyPr/>
          <a:lstStyle/>
          <a:p>
            <a:r>
              <a:rPr lang="en-GB" b="1" dirty="0"/>
              <a:t>Data</a:t>
            </a:r>
            <a:r>
              <a:rPr lang="en-GB" dirty="0"/>
              <a:t> consists of </a:t>
            </a:r>
            <a:r>
              <a:rPr lang="en-GB" b="1" dirty="0"/>
              <a:t>raw or unprocessed facts and figures which are not set in a particular context</a:t>
            </a:r>
            <a:r>
              <a:rPr lang="en-GB" dirty="0"/>
              <a:t>. Therefore it </a:t>
            </a:r>
            <a:r>
              <a:rPr lang="en-GB" b="1" dirty="0"/>
              <a:t>does not have any meaning until it is processed</a:t>
            </a:r>
            <a:r>
              <a:rPr lang="en-GB" dirty="0"/>
              <a:t>. </a:t>
            </a:r>
          </a:p>
          <a:p>
            <a:r>
              <a:rPr lang="en-GB" dirty="0"/>
              <a:t>When data is </a:t>
            </a:r>
            <a:r>
              <a:rPr lang="en-GB" b="1" dirty="0"/>
              <a:t>processed</a:t>
            </a:r>
            <a:r>
              <a:rPr lang="en-GB" dirty="0"/>
              <a:t> the result is information which means that it has a context. Information could be summarised as “data with meaning”. </a:t>
            </a:r>
          </a:p>
          <a:p>
            <a:r>
              <a:rPr lang="en-GB" dirty="0"/>
              <a:t>To help understand the difference between data and information we will consider a large clothing shop which consists of a number of departments. </a:t>
            </a:r>
          </a:p>
        </p:txBody>
      </p:sp>
    </p:spTree>
    <p:extLst>
      <p:ext uri="{BB962C8B-B14F-4D97-AF65-F5344CB8AC3E}">
        <p14:creationId xmlns:p14="http://schemas.microsoft.com/office/powerpoint/2010/main" val="3568887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6CB3-ABBD-4219-A3F2-16979B7E015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5787A7C-BB31-4178-BD10-81B63C1D68B9}"/>
              </a:ext>
            </a:extLst>
          </p:cNvPr>
          <p:cNvSpPr>
            <a:spLocks noGrp="1"/>
          </p:cNvSpPr>
          <p:nvPr>
            <p:ph idx="1"/>
          </p:nvPr>
        </p:nvSpPr>
        <p:spPr/>
        <p:txBody>
          <a:bodyPr/>
          <a:lstStyle/>
          <a:p>
            <a:r>
              <a:rPr lang="en-GB" dirty="0"/>
              <a:t>The target sales and the actual sales for each department are shown below.</a:t>
            </a:r>
          </a:p>
          <a:p>
            <a:endParaRPr lang="en-GB" dirty="0"/>
          </a:p>
          <a:p>
            <a:endParaRPr lang="en-GB" dirty="0"/>
          </a:p>
          <a:p>
            <a:endParaRPr lang="en-GB" dirty="0"/>
          </a:p>
          <a:p>
            <a:r>
              <a:rPr lang="en-US" dirty="0"/>
              <a:t>In the above table 15000 on its own which means it does not have a context is just a sequence of digits, this is what is meant by data. </a:t>
            </a:r>
          </a:p>
          <a:p>
            <a:r>
              <a:rPr lang="en-US" dirty="0"/>
              <a:t>When we give 15000 a context which in this case would be </a:t>
            </a:r>
            <a:r>
              <a:rPr lang="en-US" b="1" dirty="0"/>
              <a:t>£15000 is the Target Sales for the Men’s Department </a:t>
            </a:r>
            <a:r>
              <a:rPr lang="en-US" dirty="0"/>
              <a:t>it becomes </a:t>
            </a:r>
            <a:r>
              <a:rPr lang="en-US" b="1" dirty="0"/>
              <a:t>information</a:t>
            </a:r>
            <a:r>
              <a:rPr lang="en-US" dirty="0"/>
              <a:t>.</a:t>
            </a:r>
            <a:endParaRPr lang="en-GB" dirty="0"/>
          </a:p>
          <a:p>
            <a:endParaRPr lang="en-GB" dirty="0"/>
          </a:p>
          <a:p>
            <a:endParaRPr lang="en-GB" dirty="0"/>
          </a:p>
        </p:txBody>
      </p:sp>
      <p:pic>
        <p:nvPicPr>
          <p:cNvPr id="4" name="Picture 3">
            <a:extLst>
              <a:ext uri="{FF2B5EF4-FFF2-40B4-BE49-F238E27FC236}">
                <a16:creationId xmlns:a16="http://schemas.microsoft.com/office/drawing/2014/main" id="{B344BB93-CACE-49F4-B9B8-87759A1463A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14836" y="2597075"/>
            <a:ext cx="5731510" cy="1344295"/>
          </a:xfrm>
          <a:prstGeom prst="rect">
            <a:avLst/>
          </a:prstGeom>
          <a:noFill/>
          <a:ln>
            <a:noFill/>
          </a:ln>
        </p:spPr>
      </p:pic>
    </p:spTree>
    <p:extLst>
      <p:ext uri="{BB962C8B-B14F-4D97-AF65-F5344CB8AC3E}">
        <p14:creationId xmlns:p14="http://schemas.microsoft.com/office/powerpoint/2010/main" val="2486265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285D3-8DA8-45AA-A8E5-076CD9FD0F89}"/>
              </a:ext>
            </a:extLst>
          </p:cNvPr>
          <p:cNvSpPr>
            <a:spLocks noGrp="1"/>
          </p:cNvSpPr>
          <p:nvPr>
            <p:ph type="title"/>
          </p:nvPr>
        </p:nvSpPr>
        <p:spPr/>
        <p:txBody>
          <a:bodyPr/>
          <a:lstStyle/>
          <a:p>
            <a:r>
              <a:rPr lang="en-GB" dirty="0"/>
              <a:t>So what’s knowledge then?</a:t>
            </a:r>
          </a:p>
        </p:txBody>
      </p:sp>
      <p:sp>
        <p:nvSpPr>
          <p:cNvPr id="3" name="Content Placeholder 2">
            <a:extLst>
              <a:ext uri="{FF2B5EF4-FFF2-40B4-BE49-F238E27FC236}">
                <a16:creationId xmlns:a16="http://schemas.microsoft.com/office/drawing/2014/main" id="{95767A85-2DBB-4914-BCD6-23BE4994DA6D}"/>
              </a:ext>
            </a:extLst>
          </p:cNvPr>
          <p:cNvSpPr>
            <a:spLocks noGrp="1"/>
          </p:cNvSpPr>
          <p:nvPr>
            <p:ph idx="1"/>
          </p:nvPr>
        </p:nvSpPr>
        <p:spPr/>
        <p:txBody>
          <a:bodyPr/>
          <a:lstStyle/>
          <a:p>
            <a:r>
              <a:rPr lang="en-GB" b="1" dirty="0"/>
              <a:t>Knowledge</a:t>
            </a:r>
            <a:r>
              <a:rPr lang="en-GB" dirty="0"/>
              <a:t> is the </a:t>
            </a:r>
            <a:r>
              <a:rPr lang="en-GB" b="1" dirty="0"/>
              <a:t>result of applying rules to information to allow decisions to be made or to allow you to interpret the information</a:t>
            </a:r>
            <a:r>
              <a:rPr lang="en-GB" dirty="0"/>
              <a:t>. </a:t>
            </a:r>
          </a:p>
          <a:p>
            <a:r>
              <a:rPr lang="en-GB" dirty="0"/>
              <a:t>In the example previous, knowledge could be making a decision to plan for further advertising of Men’s clothing due to the sales target not being met as it is below the actual sales whereas the other departments are above Sales Target.</a:t>
            </a:r>
          </a:p>
          <a:p>
            <a:endParaRPr lang="en-GB" dirty="0"/>
          </a:p>
        </p:txBody>
      </p:sp>
    </p:spTree>
    <p:extLst>
      <p:ext uri="{BB962C8B-B14F-4D97-AF65-F5344CB8AC3E}">
        <p14:creationId xmlns:p14="http://schemas.microsoft.com/office/powerpoint/2010/main" val="4008920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14DF7-F7E0-42D0-A2F0-E8750826DAB1}"/>
              </a:ext>
            </a:extLst>
          </p:cNvPr>
          <p:cNvSpPr>
            <a:spLocks noGrp="1"/>
          </p:cNvSpPr>
          <p:nvPr>
            <p:ph type="title"/>
          </p:nvPr>
        </p:nvSpPr>
        <p:spPr/>
        <p:txBody>
          <a:bodyPr/>
          <a:lstStyle/>
          <a:p>
            <a:r>
              <a:rPr lang="en-GB" dirty="0"/>
              <a:t>In Summary</a:t>
            </a:r>
          </a:p>
        </p:txBody>
      </p:sp>
      <p:sp>
        <p:nvSpPr>
          <p:cNvPr id="3" name="Content Placeholder 2">
            <a:extLst>
              <a:ext uri="{FF2B5EF4-FFF2-40B4-BE49-F238E27FC236}">
                <a16:creationId xmlns:a16="http://schemas.microsoft.com/office/drawing/2014/main" id="{80E84280-8FCB-4C76-A52F-6600F15768CF}"/>
              </a:ext>
            </a:extLst>
          </p:cNvPr>
          <p:cNvSpPr>
            <a:spLocks noGrp="1"/>
          </p:cNvSpPr>
          <p:nvPr>
            <p:ph idx="1"/>
          </p:nvPr>
        </p:nvSpPr>
        <p:spPr>
          <a:xfrm>
            <a:off x="838199" y="1825625"/>
            <a:ext cx="11244309" cy="1325563"/>
          </a:xfrm>
        </p:spPr>
        <p:txBody>
          <a:bodyPr>
            <a:normAutofit fontScale="77500" lnSpcReduction="20000"/>
          </a:bodyPr>
          <a:lstStyle/>
          <a:p>
            <a:r>
              <a:rPr lang="en-GB" dirty="0"/>
              <a:t>Data - 		</a:t>
            </a:r>
            <a:r>
              <a:rPr lang="en-GB" b="1" dirty="0">
                <a:solidFill>
                  <a:schemeClr val="accent4">
                    <a:lumMod val="20000"/>
                    <a:lumOff val="80000"/>
                  </a:schemeClr>
                </a:solidFill>
              </a:rPr>
              <a:t>Raw facts and figures</a:t>
            </a:r>
          </a:p>
          <a:p>
            <a:pPr marL="2776538" indent="-2776538">
              <a:buNone/>
            </a:pPr>
            <a:r>
              <a:rPr lang="en-GB" dirty="0"/>
              <a:t>	On their own have </a:t>
            </a:r>
            <a:r>
              <a:rPr lang="en-GB" b="1" dirty="0">
                <a:solidFill>
                  <a:schemeClr val="accent4">
                    <a:lumMod val="20000"/>
                    <a:lumOff val="80000"/>
                  </a:schemeClr>
                </a:solidFill>
              </a:rPr>
              <a:t>no meaning </a:t>
            </a:r>
            <a:r>
              <a:rPr lang="en-GB" dirty="0"/>
              <a:t>until they are processed as they have </a:t>
            </a:r>
            <a:r>
              <a:rPr lang="en-GB" b="1" dirty="0">
                <a:solidFill>
                  <a:schemeClr val="accent4">
                    <a:lumMod val="20000"/>
                    <a:lumOff val="80000"/>
                  </a:schemeClr>
                </a:solidFill>
              </a:rPr>
              <a:t>no context</a:t>
            </a:r>
          </a:p>
          <a:p>
            <a:pPr marL="0" indent="0">
              <a:buNone/>
            </a:pPr>
            <a:r>
              <a:rPr lang="en-GB" dirty="0"/>
              <a:t>			E.G. 45, 68, 87</a:t>
            </a:r>
          </a:p>
        </p:txBody>
      </p:sp>
      <p:sp>
        <p:nvSpPr>
          <p:cNvPr id="4" name="Content Placeholder 2">
            <a:extLst>
              <a:ext uri="{FF2B5EF4-FFF2-40B4-BE49-F238E27FC236}">
                <a16:creationId xmlns:a16="http://schemas.microsoft.com/office/drawing/2014/main" id="{8A2DE81D-0F34-4162-A0D7-A1A8D17D7B25}"/>
              </a:ext>
            </a:extLst>
          </p:cNvPr>
          <p:cNvSpPr txBox="1">
            <a:spLocks/>
          </p:cNvSpPr>
          <p:nvPr/>
        </p:nvSpPr>
        <p:spPr>
          <a:xfrm>
            <a:off x="838198" y="3278634"/>
            <a:ext cx="11244309" cy="13255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D8B683"/>
                </a:solidFill>
              </a:rPr>
              <a:t>Information - 	</a:t>
            </a:r>
            <a:r>
              <a:rPr lang="en-GB" b="1" dirty="0">
                <a:solidFill>
                  <a:schemeClr val="accent4">
                    <a:lumMod val="20000"/>
                    <a:lumOff val="80000"/>
                  </a:schemeClr>
                </a:solidFill>
              </a:rPr>
              <a:t>Data</a:t>
            </a:r>
            <a:r>
              <a:rPr lang="en-GB" dirty="0">
                <a:solidFill>
                  <a:srgbClr val="D8B683"/>
                </a:solidFill>
              </a:rPr>
              <a:t> that has </a:t>
            </a:r>
            <a:r>
              <a:rPr lang="en-GB" b="1" dirty="0">
                <a:solidFill>
                  <a:schemeClr val="accent4">
                    <a:lumMod val="20000"/>
                    <a:lumOff val="80000"/>
                  </a:schemeClr>
                </a:solidFill>
              </a:rPr>
              <a:t>been processed </a:t>
            </a:r>
          </a:p>
          <a:p>
            <a:pPr marL="0" indent="0">
              <a:buNone/>
            </a:pPr>
            <a:r>
              <a:rPr lang="en-GB" dirty="0">
                <a:solidFill>
                  <a:srgbClr val="D8B683"/>
                </a:solidFill>
              </a:rPr>
              <a:t>			In a context in order to </a:t>
            </a:r>
            <a:r>
              <a:rPr lang="en-GB" b="1" dirty="0">
                <a:solidFill>
                  <a:schemeClr val="accent4">
                    <a:lumMod val="20000"/>
                    <a:lumOff val="80000"/>
                  </a:schemeClr>
                </a:solidFill>
              </a:rPr>
              <a:t>give it meaning </a:t>
            </a:r>
            <a:r>
              <a:rPr lang="en-GB" dirty="0" err="1">
                <a:solidFill>
                  <a:srgbClr val="D8B683"/>
                </a:solidFill>
              </a:rPr>
              <a:t>ie</a:t>
            </a:r>
            <a:r>
              <a:rPr lang="en-GB" dirty="0">
                <a:solidFill>
                  <a:srgbClr val="D8B683"/>
                </a:solidFill>
              </a:rPr>
              <a:t> data with meaning.</a:t>
            </a:r>
          </a:p>
          <a:p>
            <a:pPr marL="0" indent="0">
              <a:buNone/>
            </a:pPr>
            <a:r>
              <a:rPr lang="en-GB" dirty="0">
                <a:solidFill>
                  <a:srgbClr val="D8B683"/>
                </a:solidFill>
              </a:rPr>
              <a:t>			E.G. 45, 68, 87 – are the results of Jane’s ICT tests.</a:t>
            </a:r>
          </a:p>
        </p:txBody>
      </p:sp>
      <p:sp>
        <p:nvSpPr>
          <p:cNvPr id="5" name="Content Placeholder 2">
            <a:extLst>
              <a:ext uri="{FF2B5EF4-FFF2-40B4-BE49-F238E27FC236}">
                <a16:creationId xmlns:a16="http://schemas.microsoft.com/office/drawing/2014/main" id="{6DBD2E43-2767-4A44-9232-80B9CB5E4BC7}"/>
              </a:ext>
            </a:extLst>
          </p:cNvPr>
          <p:cNvSpPr txBox="1">
            <a:spLocks/>
          </p:cNvSpPr>
          <p:nvPr/>
        </p:nvSpPr>
        <p:spPr>
          <a:xfrm>
            <a:off x="838197" y="4685712"/>
            <a:ext cx="11244309" cy="192815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D8B683"/>
                </a:solidFill>
              </a:rPr>
              <a:t>Knowledge - 	Is using information to </a:t>
            </a:r>
            <a:r>
              <a:rPr lang="en-GB" b="1" dirty="0">
                <a:solidFill>
                  <a:schemeClr val="accent4">
                    <a:lumMod val="20000"/>
                    <a:lumOff val="80000"/>
                  </a:schemeClr>
                </a:solidFill>
              </a:rPr>
              <a:t>make decisions</a:t>
            </a:r>
            <a:r>
              <a:rPr lang="en-GB" dirty="0">
                <a:solidFill>
                  <a:srgbClr val="D8B683"/>
                </a:solidFill>
              </a:rPr>
              <a:t>. </a:t>
            </a:r>
          </a:p>
          <a:p>
            <a:pPr marL="0" indent="0">
              <a:buNone/>
            </a:pPr>
            <a:r>
              <a:rPr lang="en-GB" dirty="0">
                <a:solidFill>
                  <a:srgbClr val="D8B683"/>
                </a:solidFill>
              </a:rPr>
              <a:t>			It is the </a:t>
            </a:r>
            <a:r>
              <a:rPr lang="en-GB" b="1" dirty="0">
                <a:solidFill>
                  <a:schemeClr val="accent4">
                    <a:lumMod val="20000"/>
                    <a:lumOff val="80000"/>
                  </a:schemeClr>
                </a:solidFill>
              </a:rPr>
              <a:t>application of rules to information</a:t>
            </a:r>
            <a:r>
              <a:rPr lang="en-GB" dirty="0">
                <a:solidFill>
                  <a:srgbClr val="D8B683"/>
                </a:solidFill>
              </a:rPr>
              <a:t>.</a:t>
            </a:r>
          </a:p>
          <a:p>
            <a:pPr marL="0" indent="0">
              <a:buNone/>
            </a:pPr>
            <a:r>
              <a:rPr lang="en-GB" dirty="0">
                <a:solidFill>
                  <a:srgbClr val="D8B683"/>
                </a:solidFill>
              </a:rPr>
              <a:t>			E.G. the ICT teacher can see that Jane is struggling with 				the content on the first test and needs further help/practice 				in this area.</a:t>
            </a:r>
          </a:p>
        </p:txBody>
      </p:sp>
    </p:spTree>
    <p:extLst>
      <p:ext uri="{BB962C8B-B14F-4D97-AF65-F5344CB8AC3E}">
        <p14:creationId xmlns:p14="http://schemas.microsoft.com/office/powerpoint/2010/main" val="3569250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745B4-7B0C-4034-90A6-F84BB01DFA01}"/>
              </a:ext>
            </a:extLst>
          </p:cNvPr>
          <p:cNvSpPr>
            <a:spLocks noGrp="1"/>
          </p:cNvSpPr>
          <p:nvPr>
            <p:ph type="title"/>
          </p:nvPr>
        </p:nvSpPr>
        <p:spPr/>
        <p:txBody>
          <a:bodyPr/>
          <a:lstStyle/>
          <a:p>
            <a:r>
              <a:rPr lang="en-GB" dirty="0"/>
              <a:t>In Summary</a:t>
            </a:r>
          </a:p>
        </p:txBody>
      </p:sp>
      <p:pic>
        <p:nvPicPr>
          <p:cNvPr id="4" name="Content Placeholder 3">
            <a:extLst>
              <a:ext uri="{FF2B5EF4-FFF2-40B4-BE49-F238E27FC236}">
                <a16:creationId xmlns:a16="http://schemas.microsoft.com/office/drawing/2014/main" id="{42EEFA16-BE90-4AF5-B3F8-6083F37CD4C0}"/>
              </a:ext>
            </a:extLst>
          </p:cNvPr>
          <p:cNvPicPr>
            <a:picLocks noGrp="1" noChangeAspect="1"/>
          </p:cNvPicPr>
          <p:nvPr>
            <p:ph idx="1"/>
          </p:nvPr>
        </p:nvPicPr>
        <p:blipFill>
          <a:blip r:embed="rId2"/>
          <a:stretch>
            <a:fillRect/>
          </a:stretch>
        </p:blipFill>
        <p:spPr>
          <a:xfrm>
            <a:off x="838200" y="1878403"/>
            <a:ext cx="10602774" cy="4202800"/>
          </a:xfrm>
          <a:prstGeom prst="rect">
            <a:avLst/>
          </a:prstGeom>
        </p:spPr>
      </p:pic>
    </p:spTree>
    <p:extLst>
      <p:ext uri="{BB962C8B-B14F-4D97-AF65-F5344CB8AC3E}">
        <p14:creationId xmlns:p14="http://schemas.microsoft.com/office/powerpoint/2010/main" val="323412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45D1-3239-4AC5-AE6D-F524C4461C50}"/>
              </a:ext>
            </a:extLst>
          </p:cNvPr>
          <p:cNvSpPr>
            <a:spLocks noGrp="1"/>
          </p:cNvSpPr>
          <p:nvPr>
            <p:ph type="title"/>
          </p:nvPr>
        </p:nvSpPr>
        <p:spPr/>
        <p:txBody>
          <a:bodyPr/>
          <a:lstStyle/>
          <a:p>
            <a:r>
              <a:rPr lang="en-GB" dirty="0"/>
              <a:t>Question Break</a:t>
            </a:r>
          </a:p>
        </p:txBody>
      </p:sp>
      <p:sp>
        <p:nvSpPr>
          <p:cNvPr id="3" name="Content Placeholder 2">
            <a:extLst>
              <a:ext uri="{FF2B5EF4-FFF2-40B4-BE49-F238E27FC236}">
                <a16:creationId xmlns:a16="http://schemas.microsoft.com/office/drawing/2014/main" id="{4254F69A-0778-4CAF-8CA5-538AF136BE9C}"/>
              </a:ext>
            </a:extLst>
          </p:cNvPr>
          <p:cNvSpPr>
            <a:spLocks noGrp="1"/>
          </p:cNvSpPr>
          <p:nvPr>
            <p:ph idx="1"/>
          </p:nvPr>
        </p:nvSpPr>
        <p:spPr>
          <a:xfrm>
            <a:off x="689171" y="1499917"/>
            <a:ext cx="10515600" cy="4351338"/>
          </a:xfrm>
        </p:spPr>
        <p:txBody>
          <a:bodyPr>
            <a:normAutofit fontScale="92500"/>
          </a:bodyPr>
          <a:lstStyle/>
          <a:p>
            <a:pPr marL="0" indent="0">
              <a:buNone/>
            </a:pPr>
            <a:r>
              <a:rPr lang="en-GB" dirty="0"/>
              <a:t>Q1) A health centre stores each patient’s medical history in a database. A report of each doctor’s appointments is produced at the start of each day.</a:t>
            </a:r>
          </a:p>
          <a:p>
            <a:pPr marL="0" indent="0">
              <a:buNone/>
            </a:pPr>
            <a:r>
              <a:rPr lang="en-GB" dirty="0"/>
              <a:t>(a)By referring to the shaded cell, explain what is meant by: </a:t>
            </a:r>
          </a:p>
          <a:p>
            <a:pPr marL="0" indent="0">
              <a:buNone/>
            </a:pPr>
            <a:r>
              <a:rPr lang="en-GB" dirty="0"/>
              <a:t>	(</a:t>
            </a:r>
            <a:r>
              <a:rPr lang="en-GB" dirty="0" err="1"/>
              <a:t>i</a:t>
            </a:r>
            <a:r>
              <a:rPr lang="en-GB" dirty="0"/>
              <a:t>) Data _______________________[2]</a:t>
            </a:r>
          </a:p>
          <a:p>
            <a:endParaRPr lang="en-GB" dirty="0"/>
          </a:p>
          <a:p>
            <a:pPr marL="0" indent="0">
              <a:buNone/>
            </a:pPr>
            <a:r>
              <a:rPr lang="en-GB" dirty="0"/>
              <a:t>	(ii) Information  _______________   [2]</a:t>
            </a:r>
          </a:p>
          <a:p>
            <a:endParaRPr lang="en-GB" dirty="0"/>
          </a:p>
          <a:p>
            <a:pPr marL="0" indent="0">
              <a:buNone/>
            </a:pPr>
            <a:r>
              <a:rPr lang="en-GB" dirty="0"/>
              <a:t>(b)By referring to the report, explain what is meant by knowledge.</a:t>
            </a:r>
          </a:p>
          <a:p>
            <a:pPr marL="0" indent="0">
              <a:buNone/>
            </a:pPr>
            <a:r>
              <a:rPr lang="en-GB" dirty="0"/>
              <a:t>___________________________________________________________ [2]</a:t>
            </a:r>
          </a:p>
          <a:p>
            <a:endParaRPr lang="en-GB" dirty="0"/>
          </a:p>
          <a:p>
            <a:endParaRPr lang="en-GB" dirty="0"/>
          </a:p>
        </p:txBody>
      </p:sp>
      <p:pic>
        <p:nvPicPr>
          <p:cNvPr id="4" name="Picture 3">
            <a:extLst>
              <a:ext uri="{FF2B5EF4-FFF2-40B4-BE49-F238E27FC236}">
                <a16:creationId xmlns:a16="http://schemas.microsoft.com/office/drawing/2014/main" id="{89DCA573-299B-4CD1-99DF-12F2FDBCA48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978329" y="2825480"/>
            <a:ext cx="5183691" cy="1615610"/>
          </a:xfrm>
          <a:prstGeom prst="rect">
            <a:avLst/>
          </a:prstGeom>
          <a:noFill/>
          <a:ln>
            <a:noFill/>
          </a:ln>
        </p:spPr>
      </p:pic>
    </p:spTree>
    <p:extLst>
      <p:ext uri="{BB962C8B-B14F-4D97-AF65-F5344CB8AC3E}">
        <p14:creationId xmlns:p14="http://schemas.microsoft.com/office/powerpoint/2010/main" val="941949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29BC8-8C60-4BC2-92FC-3D64863C85B1}"/>
              </a:ext>
            </a:extLst>
          </p:cNvPr>
          <p:cNvSpPr>
            <a:spLocks noGrp="1"/>
          </p:cNvSpPr>
          <p:nvPr>
            <p:ph type="title"/>
          </p:nvPr>
        </p:nvSpPr>
        <p:spPr/>
        <p:txBody>
          <a:bodyPr/>
          <a:lstStyle/>
          <a:p>
            <a:r>
              <a:rPr lang="en-GB" dirty="0"/>
              <a:t>Question Break</a:t>
            </a:r>
          </a:p>
        </p:txBody>
      </p:sp>
      <p:pic>
        <p:nvPicPr>
          <p:cNvPr id="4" name="Content Placeholder 3">
            <a:extLst>
              <a:ext uri="{FF2B5EF4-FFF2-40B4-BE49-F238E27FC236}">
                <a16:creationId xmlns:a16="http://schemas.microsoft.com/office/drawing/2014/main" id="{482BF63E-8B00-4DA9-A3FC-83AFAB5319DD}"/>
              </a:ext>
            </a:extLst>
          </p:cNvPr>
          <p:cNvPicPr>
            <a:picLocks noGrp="1"/>
          </p:cNvPicPr>
          <p:nvPr>
            <p:ph idx="1"/>
          </p:nvPr>
        </p:nvPicPr>
        <p:blipFill rotWithShape="1">
          <a:blip r:embed="rId2">
            <a:extLst>
              <a:ext uri="{28A0092B-C50C-407E-A947-70E740481C1C}">
                <a14:useLocalDpi xmlns:a14="http://schemas.microsoft.com/office/drawing/2010/main" val="0"/>
              </a:ext>
            </a:extLst>
          </a:blip>
          <a:srcRect l="13586" t="8512" b="13114"/>
          <a:stretch/>
        </p:blipFill>
        <p:spPr bwMode="auto">
          <a:xfrm>
            <a:off x="5592932" y="85601"/>
            <a:ext cx="6300885" cy="656873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75491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89E0-9091-4792-BA4E-5AA511E3F21C}"/>
              </a:ext>
            </a:extLst>
          </p:cNvPr>
          <p:cNvSpPr>
            <a:spLocks noGrp="1"/>
          </p:cNvSpPr>
          <p:nvPr>
            <p:ph type="title"/>
          </p:nvPr>
        </p:nvSpPr>
        <p:spPr/>
        <p:txBody>
          <a:bodyPr/>
          <a:lstStyle/>
          <a:p>
            <a:r>
              <a:rPr lang="en-GB" dirty="0"/>
              <a:t>Factors that Affect the Quality of Information</a:t>
            </a:r>
          </a:p>
        </p:txBody>
      </p:sp>
      <p:graphicFrame>
        <p:nvGraphicFramePr>
          <p:cNvPr id="4" name="Content Placeholder 3">
            <a:extLst>
              <a:ext uri="{FF2B5EF4-FFF2-40B4-BE49-F238E27FC236}">
                <a16:creationId xmlns:a16="http://schemas.microsoft.com/office/drawing/2014/main" id="{F96408BB-8C13-416C-969D-938A5E619682}"/>
              </a:ext>
            </a:extLst>
          </p:cNvPr>
          <p:cNvGraphicFramePr>
            <a:graphicFrameLocks noGrp="1"/>
          </p:cNvGraphicFramePr>
          <p:nvPr>
            <p:ph idx="1"/>
            <p:extLst>
              <p:ext uri="{D42A27DB-BD31-4B8C-83A1-F6EECF244321}">
                <p14:modId xmlns:p14="http://schemas.microsoft.com/office/powerpoint/2010/main" val="2641664367"/>
              </p:ext>
            </p:extLst>
          </p:nvPr>
        </p:nvGraphicFramePr>
        <p:xfrm>
          <a:off x="838200" y="1825625"/>
          <a:ext cx="4390748"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E05FC98B-79EA-4354-97C0-32FE4142C23D}"/>
              </a:ext>
            </a:extLst>
          </p:cNvPr>
          <p:cNvSpPr/>
          <p:nvPr/>
        </p:nvSpPr>
        <p:spPr>
          <a:xfrm>
            <a:off x="5228948" y="2146299"/>
            <a:ext cx="6312023" cy="3391441"/>
          </a:xfrm>
          <a:prstGeom prst="rect">
            <a:avLst/>
          </a:prstGeom>
        </p:spPr>
        <p:txBody>
          <a:bodyPr wrap="square">
            <a:spAutoFit/>
          </a:bodyPr>
          <a:lstStyle/>
          <a:p>
            <a:pPr>
              <a:lnSpc>
                <a:spcPct val="115000"/>
              </a:lnSpc>
              <a:spcAft>
                <a:spcPts val="1000"/>
              </a:spcAft>
            </a:pPr>
            <a:r>
              <a:rPr lang="en-GB" b="1" dirty="0">
                <a:solidFill>
                  <a:srgbClr val="D8B683"/>
                </a:solidFill>
                <a:latin typeface="Calibri" panose="020F0502020204030204" pitchFamily="34" charset="0"/>
                <a:ea typeface="Calibri" panose="020F0502020204030204" pitchFamily="34" charset="0"/>
                <a:cs typeface="Times New Roman" panose="02020603050405020304" pitchFamily="18" charset="0"/>
              </a:rPr>
              <a:t>Create an anagram to help you remember the 6 factors which affect the quality of information</a:t>
            </a:r>
            <a:endParaRPr lang="en-GB" dirty="0">
              <a:solidFill>
                <a:srgbClr val="D8B683"/>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GB" b="1" dirty="0">
                <a:solidFill>
                  <a:srgbClr val="D8B683"/>
                </a:solidFill>
                <a:latin typeface="Calibri" panose="020F0502020204030204" pitchFamily="34" charset="0"/>
                <a:ea typeface="Calibri" panose="020F0502020204030204" pitchFamily="34" charset="0"/>
                <a:cs typeface="Times New Roman" panose="02020603050405020304" pitchFamily="18" charset="0"/>
              </a:rPr>
              <a:t>R 	Reliable		_________________________</a:t>
            </a:r>
            <a:endParaRPr lang="en-GB" dirty="0">
              <a:solidFill>
                <a:srgbClr val="D8B683"/>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GB" b="1" dirty="0">
                <a:solidFill>
                  <a:srgbClr val="D8B683"/>
                </a:solidFill>
                <a:latin typeface="Calibri" panose="020F0502020204030204" pitchFamily="34" charset="0"/>
                <a:ea typeface="Calibri" panose="020F0502020204030204" pitchFamily="34" charset="0"/>
                <a:cs typeface="Times New Roman" panose="02020603050405020304" pitchFamily="18" charset="0"/>
              </a:rPr>
              <a:t>U 	Up to Date	_________________________</a:t>
            </a:r>
            <a:endParaRPr lang="en-GB" dirty="0">
              <a:solidFill>
                <a:srgbClr val="D8B683"/>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GB" b="1" dirty="0">
                <a:solidFill>
                  <a:srgbClr val="D8B683"/>
                </a:solidFill>
                <a:latin typeface="Calibri" panose="020F0502020204030204" pitchFamily="34" charset="0"/>
                <a:ea typeface="Calibri" panose="020F0502020204030204" pitchFamily="34" charset="0"/>
                <a:cs typeface="Times New Roman" panose="02020603050405020304" pitchFamily="18" charset="0"/>
              </a:rPr>
              <a:t>P 	Presented well	_________________________</a:t>
            </a:r>
            <a:endParaRPr lang="en-GB" dirty="0">
              <a:solidFill>
                <a:srgbClr val="D8B683"/>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GB" b="1" dirty="0">
                <a:solidFill>
                  <a:srgbClr val="D8B683"/>
                </a:solidFill>
                <a:latin typeface="Calibri" panose="020F0502020204030204" pitchFamily="34" charset="0"/>
                <a:ea typeface="Calibri" panose="020F0502020204030204" pitchFamily="34" charset="0"/>
                <a:cs typeface="Times New Roman" panose="02020603050405020304" pitchFamily="18" charset="0"/>
              </a:rPr>
              <a:t>C 	Complete		_________________________</a:t>
            </a:r>
            <a:endParaRPr lang="en-GB" dirty="0">
              <a:solidFill>
                <a:srgbClr val="D8B683"/>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GB" b="1" dirty="0">
                <a:solidFill>
                  <a:srgbClr val="D8B683"/>
                </a:solidFill>
                <a:latin typeface="Calibri" panose="020F0502020204030204" pitchFamily="34" charset="0"/>
                <a:ea typeface="Calibri" panose="020F0502020204030204" pitchFamily="34" charset="0"/>
                <a:cs typeface="Times New Roman" panose="02020603050405020304" pitchFamily="18" charset="0"/>
              </a:rPr>
              <a:t>A 	Accurate		_________________________</a:t>
            </a:r>
            <a:endParaRPr lang="en-GB" dirty="0">
              <a:solidFill>
                <a:srgbClr val="D8B683"/>
              </a:solidFill>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GB" b="1" dirty="0">
                <a:solidFill>
                  <a:srgbClr val="D8B683"/>
                </a:solidFill>
                <a:latin typeface="Calibri" panose="020F0502020204030204" pitchFamily="34" charset="0"/>
                <a:ea typeface="Calibri" panose="020F0502020204030204" pitchFamily="34" charset="0"/>
                <a:cs typeface="Times New Roman" panose="02020603050405020304" pitchFamily="18" charset="0"/>
              </a:rPr>
              <a:t>R 	Relevant		_________________________</a:t>
            </a:r>
            <a:endParaRPr lang="en-GB" dirty="0">
              <a:solidFill>
                <a:srgbClr val="D8B683"/>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67400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4A6E3-8C69-447A-965D-D037EBAD2102}"/>
              </a:ext>
            </a:extLst>
          </p:cNvPr>
          <p:cNvSpPr>
            <a:spLocks noGrp="1"/>
          </p:cNvSpPr>
          <p:nvPr>
            <p:ph type="title"/>
          </p:nvPr>
        </p:nvSpPr>
        <p:spPr/>
        <p:txBody>
          <a:bodyPr/>
          <a:lstStyle/>
          <a:p>
            <a:r>
              <a:rPr lang="en-GB" dirty="0"/>
              <a:t>Information should be </a:t>
            </a:r>
            <a:r>
              <a:rPr lang="en-GB" b="1" dirty="0"/>
              <a:t>Accurate</a:t>
            </a:r>
            <a:endParaRPr lang="en-GB" dirty="0"/>
          </a:p>
        </p:txBody>
      </p:sp>
      <p:sp>
        <p:nvSpPr>
          <p:cNvPr id="3" name="Content Placeholder 2">
            <a:extLst>
              <a:ext uri="{FF2B5EF4-FFF2-40B4-BE49-F238E27FC236}">
                <a16:creationId xmlns:a16="http://schemas.microsoft.com/office/drawing/2014/main" id="{B9ECF177-F605-44D6-91A4-2966DC79BEF9}"/>
              </a:ext>
            </a:extLst>
          </p:cNvPr>
          <p:cNvSpPr>
            <a:spLocks noGrp="1"/>
          </p:cNvSpPr>
          <p:nvPr>
            <p:ph idx="1"/>
          </p:nvPr>
        </p:nvSpPr>
        <p:spPr/>
        <p:txBody>
          <a:bodyPr>
            <a:normAutofit lnSpcReduction="10000"/>
          </a:bodyPr>
          <a:lstStyle/>
          <a:p>
            <a:r>
              <a:rPr lang="en-GB" dirty="0"/>
              <a:t>The accuracy depends on the use made of the information by a person or organisation. For example the information on a bank statement must be exact to the nearest penny otherwise a customer may complain whereas the weather forecast could be given to the nearest one degree. To ensure information stays accurate thorough error checking must take place and regular updates must be made.</a:t>
            </a:r>
          </a:p>
          <a:p>
            <a:r>
              <a:rPr lang="en-GB" dirty="0"/>
              <a:t>Information should be error free and a true reflection of what it represents. Minor inaccuracies can lead to poor quality decisions being made. </a:t>
            </a:r>
          </a:p>
          <a:p>
            <a:r>
              <a:rPr lang="en-GB" dirty="0"/>
              <a:t>Example - No guarantee the questions will be answered truthfully/correctly.</a:t>
            </a:r>
          </a:p>
          <a:p>
            <a:endParaRPr lang="en-GB" dirty="0"/>
          </a:p>
        </p:txBody>
      </p:sp>
    </p:spTree>
    <p:extLst>
      <p:ext uri="{BB962C8B-B14F-4D97-AF65-F5344CB8AC3E}">
        <p14:creationId xmlns:p14="http://schemas.microsoft.com/office/powerpoint/2010/main" val="758051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9AD37-D8ED-4749-BCD9-4EEB61A43327}"/>
              </a:ext>
            </a:extLst>
          </p:cNvPr>
          <p:cNvSpPr>
            <a:spLocks noGrp="1"/>
          </p:cNvSpPr>
          <p:nvPr>
            <p:ph type="title"/>
          </p:nvPr>
        </p:nvSpPr>
        <p:spPr/>
        <p:txBody>
          <a:bodyPr/>
          <a:lstStyle/>
          <a:p>
            <a:r>
              <a:rPr lang="en-GB" dirty="0"/>
              <a:t>Information should be </a:t>
            </a:r>
            <a:r>
              <a:rPr lang="en-GB" b="1" dirty="0"/>
              <a:t>Up to date</a:t>
            </a:r>
            <a:endParaRPr lang="en-GB" dirty="0"/>
          </a:p>
        </p:txBody>
      </p:sp>
      <p:sp>
        <p:nvSpPr>
          <p:cNvPr id="3" name="Content Placeholder 2">
            <a:extLst>
              <a:ext uri="{FF2B5EF4-FFF2-40B4-BE49-F238E27FC236}">
                <a16:creationId xmlns:a16="http://schemas.microsoft.com/office/drawing/2014/main" id="{DF50673C-6072-4791-AC40-A37844FC52DD}"/>
              </a:ext>
            </a:extLst>
          </p:cNvPr>
          <p:cNvSpPr>
            <a:spLocks noGrp="1"/>
          </p:cNvSpPr>
          <p:nvPr>
            <p:ph idx="1"/>
          </p:nvPr>
        </p:nvSpPr>
        <p:spPr/>
        <p:txBody>
          <a:bodyPr>
            <a:normAutofit fontScale="92500"/>
          </a:bodyPr>
          <a:lstStyle/>
          <a:p>
            <a:r>
              <a:rPr lang="en-GB" dirty="0"/>
              <a:t>If information is out of date then it can reduce the quality of information. For example if a school does not update pupil addresses for 5 years then some pupils may not get their school report if they have recently moved house. Real time processing needs data inputted to be processed immediately otherwise it is not up to date. For example when you purchase a flight ticket the bookings file must be updated before the next transaction takes place.</a:t>
            </a:r>
          </a:p>
          <a:p>
            <a:r>
              <a:rPr lang="en-GB" dirty="0"/>
              <a:t>If the information is not processed at the time it was collected, it can be out-dated, which leads to bad decisions if the information has changed. </a:t>
            </a:r>
          </a:p>
          <a:p>
            <a:r>
              <a:rPr lang="en-GB" dirty="0"/>
              <a:t>Example – a report on stock levels will not be up-to-date if it is used to re-order stock two weeks later. </a:t>
            </a:r>
          </a:p>
          <a:p>
            <a:endParaRPr lang="en-GB" dirty="0"/>
          </a:p>
        </p:txBody>
      </p:sp>
    </p:spTree>
    <p:extLst>
      <p:ext uri="{BB962C8B-B14F-4D97-AF65-F5344CB8AC3E}">
        <p14:creationId xmlns:p14="http://schemas.microsoft.com/office/powerpoint/2010/main" val="452657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0ADAB-7F01-462A-9EF1-8BD918B1D574}"/>
              </a:ext>
            </a:extLst>
          </p:cNvPr>
          <p:cNvSpPr>
            <a:spLocks noGrp="1"/>
          </p:cNvSpPr>
          <p:nvPr>
            <p:ph type="title"/>
          </p:nvPr>
        </p:nvSpPr>
        <p:spPr/>
        <p:txBody>
          <a:bodyPr/>
          <a:lstStyle/>
          <a:p>
            <a:r>
              <a:rPr lang="en-GB" dirty="0"/>
              <a:t>Information should be </a:t>
            </a:r>
            <a:r>
              <a:rPr lang="en-GB" b="1" dirty="0"/>
              <a:t>Complete</a:t>
            </a:r>
            <a:endParaRPr lang="en-GB" dirty="0"/>
          </a:p>
        </p:txBody>
      </p:sp>
      <p:sp>
        <p:nvSpPr>
          <p:cNvPr id="3" name="Content Placeholder 2">
            <a:extLst>
              <a:ext uri="{FF2B5EF4-FFF2-40B4-BE49-F238E27FC236}">
                <a16:creationId xmlns:a16="http://schemas.microsoft.com/office/drawing/2014/main" id="{44D82D58-AF46-4E07-9E24-952E3FA26FB2}"/>
              </a:ext>
            </a:extLst>
          </p:cNvPr>
          <p:cNvSpPr>
            <a:spLocks noGrp="1"/>
          </p:cNvSpPr>
          <p:nvPr>
            <p:ph idx="1"/>
          </p:nvPr>
        </p:nvSpPr>
        <p:spPr/>
        <p:txBody>
          <a:bodyPr>
            <a:normAutofit lnSpcReduction="10000"/>
          </a:bodyPr>
          <a:lstStyle/>
          <a:p>
            <a:r>
              <a:rPr lang="en-GB" dirty="0"/>
              <a:t>This would refer to situations whereby information is missing. For example a school may ask students leaving school to complete a questionnaire with details of their third level course and their student address so as information about the past pupils reunion can be sent next year. If the questionnaires are incomplete such as a missing e-mail address then the student maybe not receive an invitation.</a:t>
            </a:r>
          </a:p>
          <a:p>
            <a:r>
              <a:rPr lang="en-GB" dirty="0"/>
              <a:t>Information should include </a:t>
            </a:r>
            <a:r>
              <a:rPr lang="en-GB" b="1" dirty="0"/>
              <a:t>all</a:t>
            </a:r>
            <a:r>
              <a:rPr lang="en-GB" dirty="0"/>
              <a:t> the data which the user needs to make their decision. </a:t>
            </a:r>
          </a:p>
          <a:p>
            <a:r>
              <a:rPr lang="en-GB" dirty="0"/>
              <a:t>Example – an answer to a question may have been omitted, this would mean that something would be missing from the information produced. Therefore, it will be difficult to analyse or make a decision.</a:t>
            </a:r>
          </a:p>
          <a:p>
            <a:endParaRPr lang="en-GB" dirty="0"/>
          </a:p>
        </p:txBody>
      </p:sp>
    </p:spTree>
    <p:extLst>
      <p:ext uri="{BB962C8B-B14F-4D97-AF65-F5344CB8AC3E}">
        <p14:creationId xmlns:p14="http://schemas.microsoft.com/office/powerpoint/2010/main" val="2997201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E2322-0514-4D18-AE86-24157AF0DAB4}"/>
              </a:ext>
            </a:extLst>
          </p:cNvPr>
          <p:cNvSpPr>
            <a:spLocks noGrp="1"/>
          </p:cNvSpPr>
          <p:nvPr>
            <p:ph type="title"/>
          </p:nvPr>
        </p:nvSpPr>
        <p:spPr/>
        <p:txBody>
          <a:bodyPr/>
          <a:lstStyle/>
          <a:p>
            <a:r>
              <a:rPr lang="en-GB" dirty="0"/>
              <a:t>Information should be </a:t>
            </a:r>
            <a:r>
              <a:rPr lang="en-GB" b="1" dirty="0"/>
              <a:t>Relevant</a:t>
            </a:r>
            <a:endParaRPr lang="en-GB" dirty="0"/>
          </a:p>
        </p:txBody>
      </p:sp>
      <p:sp>
        <p:nvSpPr>
          <p:cNvPr id="3" name="Content Placeholder 2">
            <a:extLst>
              <a:ext uri="{FF2B5EF4-FFF2-40B4-BE49-F238E27FC236}">
                <a16:creationId xmlns:a16="http://schemas.microsoft.com/office/drawing/2014/main" id="{0596DD93-751A-448F-8236-8D5E36F4BA44}"/>
              </a:ext>
            </a:extLst>
          </p:cNvPr>
          <p:cNvSpPr>
            <a:spLocks noGrp="1"/>
          </p:cNvSpPr>
          <p:nvPr>
            <p:ph idx="1"/>
          </p:nvPr>
        </p:nvSpPr>
        <p:spPr/>
        <p:txBody>
          <a:bodyPr/>
          <a:lstStyle/>
          <a:p>
            <a:r>
              <a:rPr lang="en-GB" dirty="0"/>
              <a:t>Having information that is not relevant can be a disadvantage as it adds to the volume which can increase the time taken to find relevant information.  Information that is essential in one situation may have no use in another. For example Key Stage three grades may not be relevant for a University application form.</a:t>
            </a:r>
          </a:p>
          <a:p>
            <a:r>
              <a:rPr lang="en-GB" dirty="0"/>
              <a:t>Information should not include data that has no bearing on the user’s informational needs. Too much information could lead to “information overload”</a:t>
            </a:r>
          </a:p>
          <a:p>
            <a:r>
              <a:rPr lang="en-GB" dirty="0"/>
              <a:t>Example – a manager asks for details of one client’s account and receives a report with all clients’ details on it. </a:t>
            </a:r>
          </a:p>
          <a:p>
            <a:endParaRPr lang="en-GB" dirty="0"/>
          </a:p>
        </p:txBody>
      </p:sp>
    </p:spTree>
    <p:extLst>
      <p:ext uri="{BB962C8B-B14F-4D97-AF65-F5344CB8AC3E}">
        <p14:creationId xmlns:p14="http://schemas.microsoft.com/office/powerpoint/2010/main" val="2244590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C34CB-A4B1-4DBB-AB5E-443C6D7D826A}"/>
              </a:ext>
            </a:extLst>
          </p:cNvPr>
          <p:cNvSpPr>
            <a:spLocks noGrp="1"/>
          </p:cNvSpPr>
          <p:nvPr>
            <p:ph type="title"/>
          </p:nvPr>
        </p:nvSpPr>
        <p:spPr/>
        <p:txBody>
          <a:bodyPr/>
          <a:lstStyle/>
          <a:p>
            <a:r>
              <a:rPr lang="en-GB" dirty="0"/>
              <a:t>Information should be </a:t>
            </a:r>
            <a:r>
              <a:rPr lang="en-GB" b="1" dirty="0"/>
              <a:t>Presented effectively</a:t>
            </a:r>
            <a:endParaRPr lang="en-GB" dirty="0"/>
          </a:p>
        </p:txBody>
      </p:sp>
      <p:sp>
        <p:nvSpPr>
          <p:cNvPr id="3" name="Content Placeholder 2">
            <a:extLst>
              <a:ext uri="{FF2B5EF4-FFF2-40B4-BE49-F238E27FC236}">
                <a16:creationId xmlns:a16="http://schemas.microsoft.com/office/drawing/2014/main" id="{5A0720D1-6CC7-4C7F-91A9-6EE03A422C11}"/>
              </a:ext>
            </a:extLst>
          </p:cNvPr>
          <p:cNvSpPr>
            <a:spLocks noGrp="1"/>
          </p:cNvSpPr>
          <p:nvPr>
            <p:ph idx="1"/>
          </p:nvPr>
        </p:nvSpPr>
        <p:spPr/>
        <p:txBody>
          <a:bodyPr/>
          <a:lstStyle/>
          <a:p>
            <a:r>
              <a:rPr lang="en-GB" dirty="0"/>
              <a:t>If Information is not presented in such a way that is difficult to understand then it loses its value. For example information about sales trends in a business would be more effective if a graph is used rather than a text document.</a:t>
            </a:r>
          </a:p>
          <a:p>
            <a:r>
              <a:rPr lang="en-GB" dirty="0"/>
              <a:t>Information should be set out in a clear, accessible format and communicated in a manner that is appropriate for the user.</a:t>
            </a:r>
          </a:p>
          <a:p>
            <a:r>
              <a:rPr lang="en-GB" dirty="0"/>
              <a:t>Example – Terminology on report must be understandable.</a:t>
            </a:r>
          </a:p>
          <a:p>
            <a:r>
              <a:rPr lang="en-GB" dirty="0"/>
              <a:t>Example - Handwriting could be illegible.</a:t>
            </a:r>
          </a:p>
        </p:txBody>
      </p:sp>
    </p:spTree>
    <p:extLst>
      <p:ext uri="{BB962C8B-B14F-4D97-AF65-F5344CB8AC3E}">
        <p14:creationId xmlns:p14="http://schemas.microsoft.com/office/powerpoint/2010/main" val="3125191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EFAD6-5D15-4DDC-AAC6-304568659AE0}"/>
              </a:ext>
            </a:extLst>
          </p:cNvPr>
          <p:cNvSpPr>
            <a:spLocks noGrp="1"/>
          </p:cNvSpPr>
          <p:nvPr>
            <p:ph type="title"/>
          </p:nvPr>
        </p:nvSpPr>
        <p:spPr/>
        <p:txBody>
          <a:bodyPr/>
          <a:lstStyle/>
          <a:p>
            <a:r>
              <a:rPr lang="en-GB" dirty="0"/>
              <a:t>Information should be </a:t>
            </a:r>
            <a:r>
              <a:rPr lang="en-GB" b="1" dirty="0"/>
              <a:t>Reliable</a:t>
            </a:r>
            <a:endParaRPr lang="en-GB" dirty="0"/>
          </a:p>
        </p:txBody>
      </p:sp>
      <p:sp>
        <p:nvSpPr>
          <p:cNvPr id="3" name="Content Placeholder 2">
            <a:extLst>
              <a:ext uri="{FF2B5EF4-FFF2-40B4-BE49-F238E27FC236}">
                <a16:creationId xmlns:a16="http://schemas.microsoft.com/office/drawing/2014/main" id="{5BD7298B-4A54-4B7A-A218-F35AF91B634B}"/>
              </a:ext>
            </a:extLst>
          </p:cNvPr>
          <p:cNvSpPr>
            <a:spLocks noGrp="1"/>
          </p:cNvSpPr>
          <p:nvPr>
            <p:ph idx="1"/>
          </p:nvPr>
        </p:nvSpPr>
        <p:spPr/>
        <p:txBody>
          <a:bodyPr/>
          <a:lstStyle/>
          <a:p>
            <a:r>
              <a:rPr lang="en-GB" dirty="0"/>
              <a:t>The information has been verified and deemed trustworthy. If information comes from a direct source it is more likely to be reliable than information from an indirect source.  </a:t>
            </a:r>
          </a:p>
          <a:p>
            <a:r>
              <a:rPr lang="en-GB" dirty="0"/>
              <a:t>For example if information is used for a specific purpose it could be more reliable than if it is used for a different purpose or than originally intended.</a:t>
            </a:r>
          </a:p>
          <a:p>
            <a:endParaRPr lang="en-GB" dirty="0"/>
          </a:p>
        </p:txBody>
      </p:sp>
    </p:spTree>
    <p:extLst>
      <p:ext uri="{BB962C8B-B14F-4D97-AF65-F5344CB8AC3E}">
        <p14:creationId xmlns:p14="http://schemas.microsoft.com/office/powerpoint/2010/main" val="1175134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80E2-72BE-47C3-8306-73ED8BD0AB1D}"/>
              </a:ext>
            </a:extLst>
          </p:cNvPr>
          <p:cNvSpPr>
            <a:spLocks noGrp="1"/>
          </p:cNvSpPr>
          <p:nvPr>
            <p:ph type="title"/>
          </p:nvPr>
        </p:nvSpPr>
        <p:spPr/>
        <p:txBody>
          <a:bodyPr/>
          <a:lstStyle/>
          <a:p>
            <a:r>
              <a:rPr lang="en-GB" dirty="0"/>
              <a:t>Case Study: Car Navigation</a:t>
            </a:r>
          </a:p>
        </p:txBody>
      </p:sp>
      <p:sp>
        <p:nvSpPr>
          <p:cNvPr id="4" name="Rectangular Callout 15">
            <a:extLst>
              <a:ext uri="{FF2B5EF4-FFF2-40B4-BE49-F238E27FC236}">
                <a16:creationId xmlns:a16="http://schemas.microsoft.com/office/drawing/2014/main" id="{8FAD8F27-3EAC-44CE-A186-347FDAAF03A4}"/>
              </a:ext>
            </a:extLst>
          </p:cNvPr>
          <p:cNvSpPr>
            <a:spLocks noChangeArrowheads="1"/>
          </p:cNvSpPr>
          <p:nvPr/>
        </p:nvSpPr>
        <p:spPr bwMode="auto">
          <a:xfrm>
            <a:off x="1367161" y="2676593"/>
            <a:ext cx="4199138" cy="1579413"/>
          </a:xfrm>
          <a:prstGeom prst="wedgeRectCallout">
            <a:avLst>
              <a:gd name="adj1" fmla="val 16158"/>
              <a:gd name="adj2" fmla="val 33918"/>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nSpc>
                <a:spcPct val="115000"/>
              </a:lnSpc>
              <a:spcAft>
                <a:spcPts val="1000"/>
              </a:spcAft>
            </a:pPr>
            <a:r>
              <a:rPr lang="en-GB">
                <a:effectLst/>
                <a:latin typeface="Calibri" panose="020F0502020204030204" pitchFamily="34" charset="0"/>
                <a:ea typeface="Calibri" panose="020F0502020204030204" pitchFamily="34" charset="0"/>
                <a:cs typeface="Arial" panose="020B0604020202020204" pitchFamily="34" charset="0"/>
              </a:rPr>
              <a:t>Satellite Navigation Systems provide motorists with </a:t>
            </a:r>
            <a:r>
              <a:rPr lang="en-GB" b="1" i="1">
                <a:effectLst/>
                <a:latin typeface="Calibri" panose="020F0502020204030204" pitchFamily="34" charset="0"/>
                <a:ea typeface="Calibri" panose="020F0502020204030204" pitchFamily="34" charset="0"/>
                <a:cs typeface="Arial" panose="020B0604020202020204" pitchFamily="34" charset="0"/>
              </a:rPr>
              <a:t>Accurate, up to date and relevant information </a:t>
            </a:r>
            <a:r>
              <a:rPr lang="en-GB">
                <a:effectLst/>
                <a:latin typeface="Calibri" panose="020F0502020204030204" pitchFamily="34" charset="0"/>
                <a:ea typeface="Calibri" panose="020F0502020204030204" pitchFamily="34" charset="0"/>
                <a:cs typeface="Arial" panose="020B0604020202020204" pitchFamily="34" charset="0"/>
              </a:rPr>
              <a:t>about roads based on data received from satellites.</a:t>
            </a:r>
            <a:endParaRPr lang="en-GB">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rc_mi" descr="http://www.satnavdebate.co.uk/wp-content/uploads/2014/09/71UrW-F-9L._SL1397_.jpg">
            <a:extLst>
              <a:ext uri="{FF2B5EF4-FFF2-40B4-BE49-F238E27FC236}">
                <a16:creationId xmlns:a16="http://schemas.microsoft.com/office/drawing/2014/main" id="{D64F1DC4-3C2E-49DA-9579-DA79610174F9}"/>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560598" y="2015117"/>
            <a:ext cx="5277095" cy="3971186"/>
          </a:xfrm>
          <a:prstGeom prst="rect">
            <a:avLst/>
          </a:prstGeom>
          <a:noFill/>
          <a:ln>
            <a:noFill/>
          </a:ln>
        </p:spPr>
      </p:pic>
    </p:spTree>
    <p:extLst>
      <p:ext uri="{BB962C8B-B14F-4D97-AF65-F5344CB8AC3E}">
        <p14:creationId xmlns:p14="http://schemas.microsoft.com/office/powerpoint/2010/main" val="259160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Break</a:t>
            </a:r>
          </a:p>
        </p:txBody>
      </p:sp>
      <p:sp>
        <p:nvSpPr>
          <p:cNvPr id="3" name="Content Placeholder 2"/>
          <p:cNvSpPr>
            <a:spLocks noGrp="1"/>
          </p:cNvSpPr>
          <p:nvPr>
            <p:ph idx="1"/>
          </p:nvPr>
        </p:nvSpPr>
        <p:spPr/>
        <p:txBody>
          <a:bodyPr/>
          <a:lstStyle/>
          <a:p>
            <a:r>
              <a:rPr lang="en-GB" dirty="0"/>
              <a:t>Explain each of the following terms:</a:t>
            </a:r>
          </a:p>
          <a:p>
            <a:pPr lvl="1"/>
            <a:r>
              <a:rPr lang="en-GB" dirty="0"/>
              <a:t>Data</a:t>
            </a:r>
          </a:p>
          <a:p>
            <a:pPr lvl="1"/>
            <a:r>
              <a:rPr lang="en-GB" dirty="0"/>
              <a:t>Information</a:t>
            </a:r>
          </a:p>
          <a:p>
            <a:pPr lvl="1"/>
            <a:r>
              <a:rPr lang="en-GB" dirty="0"/>
              <a:t>Knowledge								[3]</a:t>
            </a:r>
          </a:p>
          <a:p>
            <a:endParaRPr lang="en-GB" dirty="0"/>
          </a:p>
          <a:p>
            <a:r>
              <a:rPr lang="en-GB" dirty="0"/>
              <a:t>List three factors, apart from accuracy, which can affect the quality of information.</a:t>
            </a:r>
          </a:p>
          <a:p>
            <a:pPr marL="914400" lvl="1" indent="-457200">
              <a:buFont typeface="+mj-lt"/>
              <a:buAutoNum type="arabicPeriod"/>
            </a:pPr>
            <a:r>
              <a:rPr lang="en-GB" dirty="0"/>
              <a:t> </a:t>
            </a:r>
          </a:p>
          <a:p>
            <a:pPr marL="914400" lvl="1" indent="-457200">
              <a:buFont typeface="+mj-lt"/>
              <a:buAutoNum type="arabicPeriod"/>
            </a:pPr>
            <a:r>
              <a:rPr lang="en-GB" dirty="0"/>
              <a:t> </a:t>
            </a:r>
          </a:p>
          <a:p>
            <a:pPr marL="914400" lvl="1" indent="-457200">
              <a:buFont typeface="+mj-lt"/>
              <a:buAutoNum type="arabicPeriod"/>
            </a:pPr>
            <a:r>
              <a:rPr lang="en-GB" dirty="0"/>
              <a:t> 									[3]</a:t>
            </a:r>
          </a:p>
        </p:txBody>
      </p:sp>
    </p:spTree>
    <p:extLst>
      <p:ext uri="{BB962C8B-B14F-4D97-AF65-F5344CB8AC3E}">
        <p14:creationId xmlns:p14="http://schemas.microsoft.com/office/powerpoint/2010/main" val="588729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Break</a:t>
            </a:r>
          </a:p>
        </p:txBody>
      </p:sp>
      <p:sp>
        <p:nvSpPr>
          <p:cNvPr id="3" name="Content Placeholder 2"/>
          <p:cNvSpPr>
            <a:spLocks noGrp="1"/>
          </p:cNvSpPr>
          <p:nvPr>
            <p:ph idx="1"/>
          </p:nvPr>
        </p:nvSpPr>
        <p:spPr>
          <a:xfrm>
            <a:off x="838199" y="1825625"/>
            <a:ext cx="10714149" cy="4351338"/>
          </a:xfrm>
        </p:spPr>
        <p:txBody>
          <a:bodyPr>
            <a:normAutofit/>
          </a:bodyPr>
          <a:lstStyle/>
          <a:p>
            <a:r>
              <a:rPr lang="en-GB" dirty="0"/>
              <a:t>Explain each of the following terms: [3]</a:t>
            </a:r>
          </a:p>
          <a:p>
            <a:r>
              <a:rPr lang="en-GB" dirty="0">
                <a:solidFill>
                  <a:schemeClr val="bg1"/>
                </a:solidFill>
              </a:rPr>
              <a:t>Data is raw facts and figures with no meaning or context attached</a:t>
            </a:r>
          </a:p>
          <a:p>
            <a:r>
              <a:rPr lang="en-GB" dirty="0">
                <a:solidFill>
                  <a:schemeClr val="bg1"/>
                </a:solidFill>
              </a:rPr>
              <a:t>Information is where data is given a context/or meaning/processed</a:t>
            </a:r>
          </a:p>
          <a:p>
            <a:r>
              <a:rPr lang="en-GB" dirty="0">
                <a:solidFill>
                  <a:schemeClr val="bg1"/>
                </a:solidFill>
              </a:rPr>
              <a:t>Knowledge is the application of rules to information to make a decision</a:t>
            </a:r>
          </a:p>
          <a:p>
            <a:endParaRPr lang="en-GB" dirty="0"/>
          </a:p>
          <a:p>
            <a:r>
              <a:rPr lang="en-GB" dirty="0"/>
              <a:t>List three factors, apart from accuracy, which can affect the quality of information. [3]</a:t>
            </a:r>
          </a:p>
          <a:p>
            <a:pPr marL="457200" lvl="1" indent="0">
              <a:buNone/>
            </a:pPr>
            <a:r>
              <a:rPr lang="en-GB" dirty="0">
                <a:solidFill>
                  <a:schemeClr val="bg1"/>
                </a:solidFill>
              </a:rPr>
              <a:t>How up to date it is / Completeness / Relevance / Effective presentation / reliability</a:t>
            </a:r>
          </a:p>
        </p:txBody>
      </p:sp>
    </p:spTree>
    <p:extLst>
      <p:ext uri="{BB962C8B-B14F-4D97-AF65-F5344CB8AC3E}">
        <p14:creationId xmlns:p14="http://schemas.microsoft.com/office/powerpoint/2010/main" val="2748426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68A58-EF1B-4A75-B0DA-326DD7540B60}"/>
              </a:ext>
            </a:extLst>
          </p:cNvPr>
          <p:cNvSpPr>
            <a:spLocks noGrp="1"/>
          </p:cNvSpPr>
          <p:nvPr>
            <p:ph type="title"/>
          </p:nvPr>
        </p:nvSpPr>
        <p:spPr/>
        <p:txBody>
          <a:bodyPr/>
          <a:lstStyle/>
          <a:p>
            <a:r>
              <a:rPr lang="en-GB" b="1" dirty="0"/>
              <a:t>Direct and Indirect Data Sources</a:t>
            </a:r>
            <a:endParaRPr lang="en-GB" dirty="0"/>
          </a:p>
        </p:txBody>
      </p:sp>
      <p:sp>
        <p:nvSpPr>
          <p:cNvPr id="3" name="Content Placeholder 2">
            <a:extLst>
              <a:ext uri="{FF2B5EF4-FFF2-40B4-BE49-F238E27FC236}">
                <a16:creationId xmlns:a16="http://schemas.microsoft.com/office/drawing/2014/main" id="{6DB72E22-3E53-46A9-A1D3-2B85A9BCC634}"/>
              </a:ext>
            </a:extLst>
          </p:cNvPr>
          <p:cNvSpPr>
            <a:spLocks noGrp="1"/>
          </p:cNvSpPr>
          <p:nvPr>
            <p:ph idx="1"/>
          </p:nvPr>
        </p:nvSpPr>
        <p:spPr/>
        <p:txBody>
          <a:bodyPr>
            <a:normAutofit fontScale="92500" lnSpcReduction="10000"/>
          </a:bodyPr>
          <a:lstStyle/>
          <a:p>
            <a:r>
              <a:rPr lang="en-GB" dirty="0"/>
              <a:t>A </a:t>
            </a:r>
            <a:r>
              <a:rPr lang="en-GB" b="1" dirty="0"/>
              <a:t>Direct Data Source </a:t>
            </a:r>
            <a:r>
              <a:rPr lang="en-GB" dirty="0"/>
              <a:t>refers to data that has been collected from a source document for a specific purpose, for immediate processing</a:t>
            </a:r>
          </a:p>
          <a:p>
            <a:pPr lvl="1"/>
            <a:r>
              <a:rPr lang="en-GB" dirty="0"/>
              <a:t>E.g.  An application form for a store card – this was designed to capture relevant data about the shopper to see if they can be issued with a store card.</a:t>
            </a:r>
          </a:p>
          <a:p>
            <a:r>
              <a:rPr lang="en-GB" dirty="0"/>
              <a:t>An </a:t>
            </a:r>
            <a:r>
              <a:rPr lang="en-GB" b="1" dirty="0"/>
              <a:t>indirect data source </a:t>
            </a:r>
            <a:r>
              <a:rPr lang="en-GB" dirty="0"/>
              <a:t>is used to create information not directly related to the original purpose of the data collection. </a:t>
            </a:r>
          </a:p>
          <a:p>
            <a:pPr lvl="1"/>
            <a:r>
              <a:rPr lang="en-GB" dirty="0"/>
              <a:t>It involves the storage of the data on some medium or storage device for subsequent processing. If this was an indirect data source, this involves using data for a purpose other than was originally intended. There can be legal restrictions – data subjects have to give their consent for the secondary usage. </a:t>
            </a:r>
          </a:p>
          <a:p>
            <a:pPr lvl="1"/>
            <a:r>
              <a:rPr lang="en-GB" dirty="0"/>
              <a:t>E.g. The Application Form for store card could be used as an indirect data source to compile a list of names and addresses for mailing out details about a particular product/service].</a:t>
            </a:r>
          </a:p>
          <a:p>
            <a:endParaRPr lang="en-GB" dirty="0"/>
          </a:p>
        </p:txBody>
      </p:sp>
    </p:spTree>
    <p:extLst>
      <p:ext uri="{BB962C8B-B14F-4D97-AF65-F5344CB8AC3E}">
        <p14:creationId xmlns:p14="http://schemas.microsoft.com/office/powerpoint/2010/main" val="2520799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0922E-C2B2-4747-8F6D-3D350E6223D7}"/>
              </a:ext>
            </a:extLst>
          </p:cNvPr>
          <p:cNvSpPr>
            <a:spLocks noGrp="1"/>
          </p:cNvSpPr>
          <p:nvPr>
            <p:ph type="title"/>
          </p:nvPr>
        </p:nvSpPr>
        <p:spPr/>
        <p:txBody>
          <a:bodyPr/>
          <a:lstStyle/>
          <a:p>
            <a:endParaRPr lang="en-GB"/>
          </a:p>
        </p:txBody>
      </p:sp>
      <p:sp>
        <p:nvSpPr>
          <p:cNvPr id="4" name="Content Placeholder 3">
            <a:extLst>
              <a:ext uri="{FF2B5EF4-FFF2-40B4-BE49-F238E27FC236}">
                <a16:creationId xmlns:a16="http://schemas.microsoft.com/office/drawing/2014/main" id="{D9D0CB14-9CD6-4112-A842-A039A6170C59}"/>
              </a:ext>
            </a:extLst>
          </p:cNvPr>
          <p:cNvSpPr>
            <a:spLocks noGrp="1"/>
          </p:cNvSpPr>
          <p:nvPr>
            <p:ph idx="1"/>
          </p:nvPr>
        </p:nvSpPr>
        <p:spPr>
          <a:xfrm>
            <a:off x="928007" y="1768475"/>
            <a:ext cx="10515600" cy="435133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indent="0">
              <a:buNone/>
            </a:pPr>
            <a:r>
              <a:rPr lang="en-GB" dirty="0">
                <a:solidFill>
                  <a:schemeClr val="tx1"/>
                </a:solidFill>
              </a:rPr>
              <a:t>Q. The quality of information can be influenced by how up-to-date it is. By referring to a typical invoice, describe two other factors which can influence the quality of information.  [4]</a:t>
            </a:r>
          </a:p>
          <a:p>
            <a:endParaRPr lang="en-GB" dirty="0">
              <a:solidFill>
                <a:schemeClr val="tx1"/>
              </a:solidFill>
            </a:endParaRPr>
          </a:p>
        </p:txBody>
      </p:sp>
    </p:spTree>
    <p:extLst>
      <p:ext uri="{BB962C8B-B14F-4D97-AF65-F5344CB8AC3E}">
        <p14:creationId xmlns:p14="http://schemas.microsoft.com/office/powerpoint/2010/main" val="2367056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560A7-08F2-41B9-A3A0-82A00EFA5E14}"/>
              </a:ext>
            </a:extLst>
          </p:cNvPr>
          <p:cNvSpPr>
            <a:spLocks noGrp="1"/>
          </p:cNvSpPr>
          <p:nvPr>
            <p:ph type="title"/>
          </p:nvPr>
        </p:nvSpPr>
        <p:spPr/>
        <p:txBody>
          <a:bodyPr/>
          <a:lstStyle/>
          <a:p>
            <a:r>
              <a:rPr lang="en-GB" dirty="0"/>
              <a:t>Data Validation</a:t>
            </a:r>
          </a:p>
        </p:txBody>
      </p:sp>
      <p:sp>
        <p:nvSpPr>
          <p:cNvPr id="3" name="Content Placeholder 2">
            <a:extLst>
              <a:ext uri="{FF2B5EF4-FFF2-40B4-BE49-F238E27FC236}">
                <a16:creationId xmlns:a16="http://schemas.microsoft.com/office/drawing/2014/main" id="{70AB78DD-2725-46F9-BB0A-93387138A9C9}"/>
              </a:ext>
            </a:extLst>
          </p:cNvPr>
          <p:cNvSpPr>
            <a:spLocks noGrp="1"/>
          </p:cNvSpPr>
          <p:nvPr>
            <p:ph idx="1"/>
          </p:nvPr>
        </p:nvSpPr>
        <p:spPr>
          <a:xfrm>
            <a:off x="838200" y="1500326"/>
            <a:ext cx="10515600" cy="5116836"/>
          </a:xfrm>
        </p:spPr>
        <p:txBody>
          <a:bodyPr>
            <a:normAutofit/>
          </a:bodyPr>
          <a:lstStyle/>
          <a:p>
            <a:r>
              <a:rPr lang="en-GB" dirty="0"/>
              <a:t>Data validation is a </a:t>
            </a:r>
            <a:r>
              <a:rPr lang="en-GB" dirty="0">
                <a:solidFill>
                  <a:schemeClr val="bg1"/>
                </a:solidFill>
              </a:rPr>
              <a:t>check performed by computer software on data as it enters a computer system at the input stage for processing</a:t>
            </a:r>
            <a:r>
              <a:rPr lang="en-GB" dirty="0"/>
              <a:t>. Its purpose is to trap any data that does not conform to certain rules. </a:t>
            </a:r>
          </a:p>
          <a:p>
            <a:r>
              <a:rPr lang="en-GB" dirty="0"/>
              <a:t>It </a:t>
            </a:r>
            <a:r>
              <a:rPr lang="en-GB" dirty="0">
                <a:solidFill>
                  <a:schemeClr val="bg1"/>
                </a:solidFill>
              </a:rPr>
              <a:t>cannot prove that the data entered is the actual value the user intended</a:t>
            </a:r>
            <a:r>
              <a:rPr lang="en-GB" dirty="0"/>
              <a:t>. </a:t>
            </a:r>
          </a:p>
          <a:p>
            <a:r>
              <a:rPr lang="en-GB" dirty="0"/>
              <a:t>However it does allow the computer to use a number of techniques to </a:t>
            </a:r>
            <a:r>
              <a:rPr lang="en-GB" dirty="0">
                <a:solidFill>
                  <a:schemeClr val="bg1"/>
                </a:solidFill>
              </a:rPr>
              <a:t>ensure that the data entered will be:</a:t>
            </a:r>
          </a:p>
          <a:p>
            <a:pPr lvl="1"/>
            <a:r>
              <a:rPr lang="en-GB" b="1" dirty="0">
                <a:solidFill>
                  <a:schemeClr val="bg1"/>
                </a:solidFill>
              </a:rPr>
              <a:t>Sensible</a:t>
            </a:r>
            <a:endParaRPr lang="en-GB" dirty="0">
              <a:solidFill>
                <a:schemeClr val="bg1"/>
              </a:solidFill>
            </a:endParaRPr>
          </a:p>
          <a:p>
            <a:pPr lvl="1"/>
            <a:r>
              <a:rPr lang="en-GB" b="1" dirty="0">
                <a:solidFill>
                  <a:schemeClr val="bg1"/>
                </a:solidFill>
              </a:rPr>
              <a:t>Reasonable</a:t>
            </a:r>
            <a:endParaRPr lang="en-GB" dirty="0">
              <a:solidFill>
                <a:schemeClr val="bg1"/>
              </a:solidFill>
            </a:endParaRPr>
          </a:p>
          <a:p>
            <a:pPr lvl="1"/>
            <a:r>
              <a:rPr lang="en-GB" b="1" dirty="0">
                <a:solidFill>
                  <a:schemeClr val="bg1"/>
                </a:solidFill>
              </a:rPr>
              <a:t>Within acceptable boundaries</a:t>
            </a:r>
            <a:endParaRPr lang="en-GB" dirty="0">
              <a:solidFill>
                <a:schemeClr val="bg1"/>
              </a:solidFill>
            </a:endParaRPr>
          </a:p>
          <a:p>
            <a:pPr lvl="1"/>
            <a:r>
              <a:rPr lang="en-GB" b="1" dirty="0">
                <a:solidFill>
                  <a:schemeClr val="bg1"/>
                </a:solidFill>
              </a:rPr>
              <a:t>Complete</a:t>
            </a:r>
            <a:endParaRPr lang="en-GB" dirty="0">
              <a:solidFill>
                <a:schemeClr val="bg1"/>
              </a:solidFill>
            </a:endParaRPr>
          </a:p>
          <a:p>
            <a:r>
              <a:rPr lang="en-GB" dirty="0"/>
              <a:t>Data is not processed until the validation check has been successful.</a:t>
            </a:r>
          </a:p>
          <a:p>
            <a:pPr marL="0" indent="0">
              <a:buNone/>
            </a:pPr>
            <a:endParaRPr lang="en-GB" dirty="0"/>
          </a:p>
          <a:p>
            <a:endParaRPr lang="en-GB" dirty="0"/>
          </a:p>
        </p:txBody>
      </p:sp>
    </p:spTree>
    <p:extLst>
      <p:ext uri="{BB962C8B-B14F-4D97-AF65-F5344CB8AC3E}">
        <p14:creationId xmlns:p14="http://schemas.microsoft.com/office/powerpoint/2010/main" val="1463284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807F8-F710-4D9B-8616-5D307CA894C7}"/>
              </a:ext>
            </a:extLst>
          </p:cNvPr>
          <p:cNvSpPr>
            <a:spLocks noGrp="1"/>
          </p:cNvSpPr>
          <p:nvPr>
            <p:ph type="title"/>
          </p:nvPr>
        </p:nvSpPr>
        <p:spPr>
          <a:xfrm rot="16200000">
            <a:off x="-2216454" y="2766218"/>
            <a:ext cx="6858001" cy="1325563"/>
          </a:xfrm>
        </p:spPr>
        <p:txBody>
          <a:bodyPr/>
          <a:lstStyle/>
          <a:p>
            <a:r>
              <a:rPr lang="en-GB" dirty="0"/>
              <a:t>Range Check</a:t>
            </a:r>
          </a:p>
        </p:txBody>
      </p:sp>
      <p:sp>
        <p:nvSpPr>
          <p:cNvPr id="3" name="Content Placeholder 2">
            <a:extLst>
              <a:ext uri="{FF2B5EF4-FFF2-40B4-BE49-F238E27FC236}">
                <a16:creationId xmlns:a16="http://schemas.microsoft.com/office/drawing/2014/main" id="{99EB9B0C-5851-404F-8CCE-EEF29FE1FE67}"/>
              </a:ext>
            </a:extLst>
          </p:cNvPr>
          <p:cNvSpPr>
            <a:spLocks noGrp="1"/>
          </p:cNvSpPr>
          <p:nvPr>
            <p:ph idx="1"/>
          </p:nvPr>
        </p:nvSpPr>
        <p:spPr>
          <a:xfrm>
            <a:off x="1486270" y="449586"/>
            <a:ext cx="10515600" cy="4351338"/>
          </a:xfrm>
        </p:spPr>
        <p:txBody>
          <a:bodyPr>
            <a:normAutofit fontScale="85000" lnSpcReduction="10000"/>
          </a:bodyPr>
          <a:lstStyle/>
          <a:p>
            <a:r>
              <a:rPr lang="en-GB" dirty="0"/>
              <a:t>This will check an input value against an </a:t>
            </a:r>
            <a:r>
              <a:rPr lang="en-GB" dirty="0">
                <a:solidFill>
                  <a:srgbClr val="FFFF00"/>
                </a:solidFill>
              </a:rPr>
              <a:t>upper limit boundary and a lower limit boundary</a:t>
            </a:r>
            <a:r>
              <a:rPr lang="en-GB" dirty="0"/>
              <a:t>. If the value falls outside the limits then it is invalid. An example could be month of the year whereby the data entered must be an integer between 1 and 12.</a:t>
            </a:r>
          </a:p>
          <a:p>
            <a:r>
              <a:rPr lang="en-GB" dirty="0"/>
              <a:t>Range checks are therefore used on data made up of numbers or dates which must fall into a particular range. A lower and upper boundary for sensible values is specified. </a:t>
            </a:r>
            <a:r>
              <a:rPr lang="en-GB" dirty="0">
                <a:solidFill>
                  <a:srgbClr val="FFFF00"/>
                </a:solidFill>
              </a:rPr>
              <a:t>Any values which fall outside of this range will be rejected</a:t>
            </a:r>
            <a:r>
              <a:rPr lang="en-GB" dirty="0"/>
              <a:t>.</a:t>
            </a:r>
          </a:p>
          <a:p>
            <a:endParaRPr lang="en-GB" dirty="0"/>
          </a:p>
          <a:p>
            <a:r>
              <a:rPr lang="en-GB" dirty="0"/>
              <a:t>Sometimes there is only one boundary required for a particular field. For example the minimum volume of a cube would be zero cubic centimetres, but there is no maximum volume. </a:t>
            </a:r>
            <a:r>
              <a:rPr lang="en-GB" dirty="0">
                <a:solidFill>
                  <a:srgbClr val="FFFF00"/>
                </a:solidFill>
              </a:rPr>
              <a:t>When there is only one boundary to check the type of check used is known as a </a:t>
            </a:r>
            <a:r>
              <a:rPr lang="en-GB" b="1" dirty="0">
                <a:solidFill>
                  <a:srgbClr val="FFFF00"/>
                </a:solidFill>
              </a:rPr>
              <a:t>limit check</a:t>
            </a:r>
            <a:r>
              <a:rPr lang="en-GB" dirty="0">
                <a:solidFill>
                  <a:srgbClr val="FFFF00"/>
                </a:solidFill>
              </a:rPr>
              <a:t> </a:t>
            </a:r>
            <a:r>
              <a:rPr lang="en-GB" dirty="0"/>
              <a:t>rather than a range check.</a:t>
            </a:r>
          </a:p>
          <a:p>
            <a:endParaRPr lang="en-GB" dirty="0"/>
          </a:p>
        </p:txBody>
      </p:sp>
      <p:graphicFrame>
        <p:nvGraphicFramePr>
          <p:cNvPr id="5" name="Table 4">
            <a:extLst>
              <a:ext uri="{FF2B5EF4-FFF2-40B4-BE49-F238E27FC236}">
                <a16:creationId xmlns:a16="http://schemas.microsoft.com/office/drawing/2014/main" id="{C0243AA8-584B-469D-9059-ABBFB61A7F77}"/>
              </a:ext>
            </a:extLst>
          </p:cNvPr>
          <p:cNvGraphicFramePr>
            <a:graphicFrameLocks noGrp="1"/>
          </p:cNvGraphicFramePr>
          <p:nvPr>
            <p:extLst>
              <p:ext uri="{D42A27DB-BD31-4B8C-83A1-F6EECF244321}">
                <p14:modId xmlns:p14="http://schemas.microsoft.com/office/powerpoint/2010/main" val="1060093238"/>
              </p:ext>
            </p:extLst>
          </p:nvPr>
        </p:nvGraphicFramePr>
        <p:xfrm>
          <a:off x="3589948" y="4667759"/>
          <a:ext cx="5012103" cy="1856347"/>
        </p:xfrm>
        <a:graphic>
          <a:graphicData uri="http://schemas.openxmlformats.org/drawingml/2006/table">
            <a:tbl>
              <a:tblPr>
                <a:tableStyleId>{5C22544A-7EE6-4342-B048-85BDC9FD1C3A}</a:tableStyleId>
              </a:tblPr>
              <a:tblGrid>
                <a:gridCol w="1670701">
                  <a:extLst>
                    <a:ext uri="{9D8B030D-6E8A-4147-A177-3AD203B41FA5}">
                      <a16:colId xmlns:a16="http://schemas.microsoft.com/office/drawing/2014/main" val="1073138599"/>
                    </a:ext>
                  </a:extLst>
                </a:gridCol>
                <a:gridCol w="1670701">
                  <a:extLst>
                    <a:ext uri="{9D8B030D-6E8A-4147-A177-3AD203B41FA5}">
                      <a16:colId xmlns:a16="http://schemas.microsoft.com/office/drawing/2014/main" val="3739177373"/>
                    </a:ext>
                  </a:extLst>
                </a:gridCol>
                <a:gridCol w="1670701">
                  <a:extLst>
                    <a:ext uri="{9D8B030D-6E8A-4147-A177-3AD203B41FA5}">
                      <a16:colId xmlns:a16="http://schemas.microsoft.com/office/drawing/2014/main" val="2869859988"/>
                    </a:ext>
                  </a:extLst>
                </a:gridCol>
              </a:tblGrid>
              <a:tr h="273733">
                <a:tc>
                  <a:txBody>
                    <a:bodyPr/>
                    <a:lstStyle/>
                    <a:p>
                      <a:pPr algn="just">
                        <a:lnSpc>
                          <a:spcPct val="115000"/>
                        </a:lnSpc>
                        <a:spcAft>
                          <a:spcPts val="1000"/>
                        </a:spcAft>
                      </a:pPr>
                      <a:r>
                        <a:rPr lang="en-GB" sz="1200" b="1">
                          <a:effectLst/>
                        </a:rPr>
                        <a:t>Field Name</a:t>
                      </a:r>
                      <a:endParaRPr lang="en-GB" sz="1100" b="1">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a:effectLst/>
                        </a:rPr>
                        <a:t>Lower Boundary</a:t>
                      </a:r>
                      <a:endParaRPr lang="en-GB" sz="1100" b="1">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dirty="0">
                          <a:effectLst/>
                        </a:rPr>
                        <a:t>Upper Boundary</a:t>
                      </a:r>
                      <a:endParaRPr lang="en-GB"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val="2656941014"/>
                  </a:ext>
                </a:extLst>
              </a:tr>
              <a:tr h="273733">
                <a:tc>
                  <a:txBody>
                    <a:bodyPr/>
                    <a:lstStyle/>
                    <a:p>
                      <a:pPr algn="just">
                        <a:lnSpc>
                          <a:spcPct val="115000"/>
                        </a:lnSpc>
                        <a:spcAft>
                          <a:spcPts val="1000"/>
                        </a:spcAft>
                      </a:pPr>
                      <a:r>
                        <a:rPr lang="en-GB" sz="1200">
                          <a:effectLst/>
                        </a:rPr>
                        <a:t>Age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130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val="2238399365"/>
                  </a:ext>
                </a:extLst>
              </a:tr>
              <a:tr h="517574">
                <a:tc>
                  <a:txBody>
                    <a:bodyPr/>
                    <a:lstStyle/>
                    <a:p>
                      <a:pPr algn="just">
                        <a:lnSpc>
                          <a:spcPct val="115000"/>
                        </a:lnSpc>
                        <a:spcAft>
                          <a:spcPts val="1000"/>
                        </a:spcAft>
                      </a:pPr>
                      <a:r>
                        <a:rPr lang="en-GB" sz="1200">
                          <a:effectLst/>
                        </a:rPr>
                        <a:t>Car Engine Size (L)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0.5</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8.0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val="1407363757"/>
                  </a:ext>
                </a:extLst>
              </a:tr>
              <a:tr h="273733">
                <a:tc>
                  <a:txBody>
                    <a:bodyPr/>
                    <a:lstStyle/>
                    <a:p>
                      <a:pPr algn="just">
                        <a:lnSpc>
                          <a:spcPct val="115000"/>
                        </a:lnSpc>
                        <a:spcAft>
                          <a:spcPts val="1000"/>
                        </a:spcAft>
                      </a:pPr>
                      <a:r>
                        <a:rPr lang="en-GB" sz="1200" dirty="0">
                          <a:effectLst/>
                        </a:rPr>
                        <a:t>Month</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12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val="481179395"/>
                  </a:ext>
                </a:extLst>
              </a:tr>
              <a:tr h="517574">
                <a:tc>
                  <a:txBody>
                    <a:bodyPr/>
                    <a:lstStyle/>
                    <a:p>
                      <a:pPr algn="just">
                        <a:lnSpc>
                          <a:spcPct val="115000"/>
                        </a:lnSpc>
                        <a:spcAft>
                          <a:spcPts val="1000"/>
                        </a:spcAft>
                      </a:pPr>
                      <a:r>
                        <a:rPr lang="en-GB" sz="1200">
                          <a:effectLst/>
                        </a:rPr>
                        <a:t>Temperature in UK (C)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-20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dirty="0">
                          <a:effectLst/>
                        </a:rPr>
                        <a:t>40</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extLst>
                  <a:ext uri="{0D108BD9-81ED-4DB2-BD59-A6C34878D82A}">
                    <a16:rowId xmlns:a16="http://schemas.microsoft.com/office/drawing/2014/main" val="4184120598"/>
                  </a:ext>
                </a:extLst>
              </a:tr>
            </a:tbl>
          </a:graphicData>
        </a:graphic>
      </p:graphicFrame>
    </p:spTree>
    <p:extLst>
      <p:ext uri="{BB962C8B-B14F-4D97-AF65-F5344CB8AC3E}">
        <p14:creationId xmlns:p14="http://schemas.microsoft.com/office/powerpoint/2010/main" val="853787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3745E-1DAB-4783-A485-4A6793EE2B23}"/>
              </a:ext>
            </a:extLst>
          </p:cNvPr>
          <p:cNvSpPr>
            <a:spLocks noGrp="1"/>
          </p:cNvSpPr>
          <p:nvPr>
            <p:ph type="title"/>
          </p:nvPr>
        </p:nvSpPr>
        <p:spPr>
          <a:xfrm rot="16200000">
            <a:off x="-2301524" y="2766218"/>
            <a:ext cx="6858002" cy="1325563"/>
          </a:xfrm>
        </p:spPr>
        <p:txBody>
          <a:bodyPr/>
          <a:lstStyle/>
          <a:p>
            <a:r>
              <a:rPr lang="en-GB" dirty="0"/>
              <a:t>Type Check</a:t>
            </a:r>
          </a:p>
        </p:txBody>
      </p:sp>
      <p:sp>
        <p:nvSpPr>
          <p:cNvPr id="3" name="Content Placeholder 2">
            <a:extLst>
              <a:ext uri="{FF2B5EF4-FFF2-40B4-BE49-F238E27FC236}">
                <a16:creationId xmlns:a16="http://schemas.microsoft.com/office/drawing/2014/main" id="{8E882D31-CB66-4E93-B086-D6475803D3C0}"/>
              </a:ext>
            </a:extLst>
          </p:cNvPr>
          <p:cNvSpPr>
            <a:spLocks noGrp="1"/>
          </p:cNvSpPr>
          <p:nvPr>
            <p:ph idx="1"/>
          </p:nvPr>
        </p:nvSpPr>
        <p:spPr>
          <a:xfrm>
            <a:off x="1592802" y="147746"/>
            <a:ext cx="10515600" cy="6710254"/>
          </a:xfrm>
        </p:spPr>
        <p:txBody>
          <a:bodyPr>
            <a:normAutofit/>
          </a:bodyPr>
          <a:lstStyle/>
          <a:p>
            <a:r>
              <a:rPr lang="en-GB" dirty="0"/>
              <a:t>This ensures that the data item is of a particular data type. </a:t>
            </a:r>
          </a:p>
          <a:p>
            <a:pPr lvl="1"/>
            <a:r>
              <a:rPr lang="en-GB" dirty="0"/>
              <a:t>For example the item price in a stock file is of currency type.</a:t>
            </a:r>
          </a:p>
          <a:p>
            <a:r>
              <a:rPr lang="en-GB" dirty="0"/>
              <a:t>Databases perform type checks automatically on all entered data. When a database is created each field in the database is given a type. </a:t>
            </a:r>
          </a:p>
          <a:p>
            <a:pPr lvl="1"/>
            <a:r>
              <a:rPr lang="en-GB" dirty="0"/>
              <a:t>Whenever data is entered into a field the database will check that it is of the correct type, e.g. alphabetic or numeric. </a:t>
            </a:r>
          </a:p>
          <a:p>
            <a:pPr lvl="1"/>
            <a:r>
              <a:rPr lang="en-GB" dirty="0"/>
              <a:t>If it is not then an error message will be displayed and the data will have to be re-entered. Here are some example field names and appropriate types.</a:t>
            </a:r>
          </a:p>
          <a:p>
            <a:pPr marL="457200" lvl="1" indent="0">
              <a:buNone/>
            </a:pPr>
            <a:endParaRPr lang="en-GB" dirty="0"/>
          </a:p>
          <a:p>
            <a:pPr marL="457200" lvl="1" indent="0">
              <a:buNone/>
            </a:pPr>
            <a:endParaRPr lang="en-GB" dirty="0"/>
          </a:p>
          <a:p>
            <a:pPr marL="457200" lvl="1" indent="0">
              <a:buNone/>
            </a:pPr>
            <a:endParaRPr lang="en-GB" dirty="0"/>
          </a:p>
          <a:p>
            <a:pPr marL="457200" lvl="1" indent="0">
              <a:buNone/>
            </a:pPr>
            <a:endParaRPr lang="en-GB" dirty="0"/>
          </a:p>
          <a:p>
            <a:pPr marL="457200" lvl="1" indent="0">
              <a:buNone/>
            </a:pPr>
            <a:endParaRPr lang="en-GB" dirty="0"/>
          </a:p>
          <a:p>
            <a:pPr marL="457200" lvl="1" indent="0">
              <a:buNone/>
            </a:pPr>
            <a:endParaRPr lang="en-GB" dirty="0"/>
          </a:p>
          <a:p>
            <a:pPr marL="457200" lvl="1" indent="0">
              <a:buNone/>
            </a:pPr>
            <a:endParaRPr lang="en-GB" dirty="0"/>
          </a:p>
          <a:p>
            <a:pPr marL="457200" lvl="1" indent="0">
              <a:buNone/>
            </a:pPr>
            <a:r>
              <a:rPr lang="en-GB" sz="2000" dirty="0"/>
              <a:t>Notice that a type check is not a very good validation check. Many of the entries in the Valid Data column in the table pass the type check but are clearly incorrect.</a:t>
            </a:r>
          </a:p>
          <a:p>
            <a:pPr lvl="1"/>
            <a:endParaRPr lang="en-GB" dirty="0"/>
          </a:p>
          <a:p>
            <a:endParaRPr lang="en-GB" dirty="0"/>
          </a:p>
        </p:txBody>
      </p:sp>
      <p:graphicFrame>
        <p:nvGraphicFramePr>
          <p:cNvPr id="4" name="Table 3">
            <a:extLst>
              <a:ext uri="{FF2B5EF4-FFF2-40B4-BE49-F238E27FC236}">
                <a16:creationId xmlns:a16="http://schemas.microsoft.com/office/drawing/2014/main" id="{FDDEB399-D3A0-4527-86A7-E5A779F5CD03}"/>
              </a:ext>
            </a:extLst>
          </p:cNvPr>
          <p:cNvGraphicFramePr>
            <a:graphicFrameLocks noGrp="1"/>
          </p:cNvGraphicFramePr>
          <p:nvPr>
            <p:extLst>
              <p:ext uri="{D42A27DB-BD31-4B8C-83A1-F6EECF244321}">
                <p14:modId xmlns:p14="http://schemas.microsoft.com/office/powerpoint/2010/main" val="2092538067"/>
              </p:ext>
            </p:extLst>
          </p:nvPr>
        </p:nvGraphicFramePr>
        <p:xfrm>
          <a:off x="2698812" y="3429000"/>
          <a:ext cx="8282865" cy="2412508"/>
        </p:xfrm>
        <a:graphic>
          <a:graphicData uri="http://schemas.openxmlformats.org/drawingml/2006/table">
            <a:tbl>
              <a:tblPr>
                <a:tableStyleId>{5C22544A-7EE6-4342-B048-85BDC9FD1C3A}</a:tableStyleId>
              </a:tblPr>
              <a:tblGrid>
                <a:gridCol w="1656573">
                  <a:extLst>
                    <a:ext uri="{9D8B030D-6E8A-4147-A177-3AD203B41FA5}">
                      <a16:colId xmlns:a16="http://schemas.microsoft.com/office/drawing/2014/main" val="1883722147"/>
                    </a:ext>
                  </a:extLst>
                </a:gridCol>
                <a:gridCol w="1656573">
                  <a:extLst>
                    <a:ext uri="{9D8B030D-6E8A-4147-A177-3AD203B41FA5}">
                      <a16:colId xmlns:a16="http://schemas.microsoft.com/office/drawing/2014/main" val="768171489"/>
                    </a:ext>
                  </a:extLst>
                </a:gridCol>
                <a:gridCol w="1656573">
                  <a:extLst>
                    <a:ext uri="{9D8B030D-6E8A-4147-A177-3AD203B41FA5}">
                      <a16:colId xmlns:a16="http://schemas.microsoft.com/office/drawing/2014/main" val="2613582027"/>
                    </a:ext>
                  </a:extLst>
                </a:gridCol>
                <a:gridCol w="1656573">
                  <a:extLst>
                    <a:ext uri="{9D8B030D-6E8A-4147-A177-3AD203B41FA5}">
                      <a16:colId xmlns:a16="http://schemas.microsoft.com/office/drawing/2014/main" val="3879599414"/>
                    </a:ext>
                  </a:extLst>
                </a:gridCol>
                <a:gridCol w="1656573">
                  <a:extLst>
                    <a:ext uri="{9D8B030D-6E8A-4147-A177-3AD203B41FA5}">
                      <a16:colId xmlns:a16="http://schemas.microsoft.com/office/drawing/2014/main" val="3231883473"/>
                    </a:ext>
                  </a:extLst>
                </a:gridCol>
              </a:tblGrid>
              <a:tr h="261767">
                <a:tc>
                  <a:txBody>
                    <a:bodyPr/>
                    <a:lstStyle/>
                    <a:p>
                      <a:pPr algn="just">
                        <a:lnSpc>
                          <a:spcPct val="115000"/>
                        </a:lnSpc>
                        <a:spcAft>
                          <a:spcPts val="1000"/>
                        </a:spcAft>
                      </a:pPr>
                      <a:r>
                        <a:rPr lang="en-GB" sz="1200" b="1">
                          <a:effectLst/>
                        </a:rPr>
                        <a:t>Field Name</a:t>
                      </a:r>
                      <a:endParaRPr lang="en-GB" sz="1100" b="1">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a:effectLst/>
                        </a:rPr>
                        <a:t>Type</a:t>
                      </a:r>
                      <a:endParaRPr lang="en-GB" sz="1100" b="1">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Bef>
                          <a:spcPts val="1000"/>
                        </a:spcBef>
                        <a:spcAft>
                          <a:spcPts val="0"/>
                        </a:spcAft>
                      </a:pPr>
                      <a:r>
                        <a:rPr lang="en-GB" sz="1200" b="1">
                          <a:effectLst/>
                        </a:rPr>
                        <a:t>Valid Data</a:t>
                      </a:r>
                      <a:endParaRPr lang="en-GB" sz="1100" b="1">
                        <a:solidFill>
                          <a:srgbClr val="243F60"/>
                        </a:solidFill>
                        <a:effectLst/>
                        <a:latin typeface="Calibri" panose="020F0502020204030204" pitchFamily="34" charset="0"/>
                        <a:ea typeface="MS Gothic" panose="020B0609070205080204" pitchFamily="49" charset="-128"/>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a:effectLst/>
                        </a:rPr>
                        <a:t>Invalid Data</a:t>
                      </a:r>
                      <a:endParaRPr lang="en-GB" sz="1100" b="1">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dirty="0">
                          <a:effectLst/>
                        </a:rPr>
                        <a:t>Explanation why invalid</a:t>
                      </a:r>
                      <a:endParaRPr lang="en-GB"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189174541"/>
                  </a:ext>
                </a:extLst>
              </a:tr>
              <a:tr h="635760">
                <a:tc>
                  <a:txBody>
                    <a:bodyPr/>
                    <a:lstStyle/>
                    <a:p>
                      <a:pPr algn="just">
                        <a:lnSpc>
                          <a:spcPct val="115000"/>
                        </a:lnSpc>
                        <a:spcAft>
                          <a:spcPts val="1000"/>
                        </a:spcAft>
                      </a:pPr>
                      <a:r>
                        <a:rPr lang="en-GB" sz="1200">
                          <a:effectLst/>
                        </a:rPr>
                        <a:t>Date of Birth</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Date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11/03/96</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30/02/76 </a:t>
                      </a:r>
                      <a:endParaRPr lang="en-GB" sz="1100">
                        <a:effectLst/>
                      </a:endParaRPr>
                    </a:p>
                    <a:p>
                      <a:pPr algn="just">
                        <a:lnSpc>
                          <a:spcPct val="115000"/>
                        </a:lnSpc>
                        <a:spcAft>
                          <a:spcPts val="1000"/>
                        </a:spcAft>
                      </a:pPr>
                      <a:r>
                        <a:rPr lang="en-GB" sz="1200">
                          <a:effectLst/>
                        </a:rPr>
                        <a:t>fred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2178463624"/>
                  </a:ext>
                </a:extLst>
              </a:tr>
              <a:tr h="635760">
                <a:tc>
                  <a:txBody>
                    <a:bodyPr/>
                    <a:lstStyle/>
                    <a:p>
                      <a:pPr algn="just">
                        <a:lnSpc>
                          <a:spcPct val="115000"/>
                        </a:lnSpc>
                        <a:spcAft>
                          <a:spcPts val="1000"/>
                        </a:spcAft>
                      </a:pPr>
                      <a:r>
                        <a:rPr lang="en-GB" sz="1200">
                          <a:effectLst/>
                        </a:rPr>
                        <a:t>Gender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Alphabetic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Male, Female, Albert</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123</a:t>
                      </a:r>
                      <a:endParaRPr lang="en-GB" sz="1100">
                        <a:effectLst/>
                      </a:endParaRPr>
                    </a:p>
                    <a:p>
                      <a:pPr algn="just">
                        <a:lnSpc>
                          <a:spcPct val="115000"/>
                        </a:lnSpc>
                        <a:spcAft>
                          <a:spcPts val="1000"/>
                        </a:spcAft>
                      </a:pPr>
                      <a:r>
                        <a:rPr lang="en-GB" sz="1200">
                          <a:effectLst/>
                        </a:rPr>
                        <a:t> WA2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3955715994"/>
                  </a:ext>
                </a:extLst>
              </a:tr>
              <a:tr h="635760">
                <a:tc>
                  <a:txBody>
                    <a:bodyPr/>
                    <a:lstStyle/>
                    <a:p>
                      <a:pPr algn="just">
                        <a:lnSpc>
                          <a:spcPct val="115000"/>
                        </a:lnSpc>
                        <a:spcAft>
                          <a:spcPts val="1000"/>
                        </a:spcAft>
                      </a:pPr>
                      <a:r>
                        <a:rPr lang="en-GB" sz="1200">
                          <a:effectLst/>
                        </a:rPr>
                        <a:t>Shoe Size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dirty="0">
                          <a:effectLst/>
                        </a:rPr>
                        <a:t>Numeric</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12, 2.3, 12323</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6G</a:t>
                      </a:r>
                      <a:endParaRPr lang="en-GB" sz="1100">
                        <a:effectLst/>
                      </a:endParaRPr>
                    </a:p>
                    <a:p>
                      <a:pPr algn="just">
                        <a:lnSpc>
                          <a:spcPct val="115000"/>
                        </a:lnSpc>
                        <a:spcAft>
                          <a:spcPts val="1000"/>
                        </a:spcAft>
                      </a:pPr>
                      <a:r>
                        <a:rPr lang="en-GB" sz="1200">
                          <a:effectLst/>
                        </a:rPr>
                        <a:t>house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488602841"/>
                  </a:ext>
                </a:extLst>
              </a:tr>
              <a:tr h="243461">
                <a:tc>
                  <a:txBody>
                    <a:bodyPr/>
                    <a:lstStyle/>
                    <a:p>
                      <a:pPr algn="just">
                        <a:lnSpc>
                          <a:spcPct val="115000"/>
                        </a:lnSpc>
                        <a:spcAft>
                          <a:spcPts val="1000"/>
                        </a:spcAft>
                      </a:pPr>
                      <a:r>
                        <a:rPr lang="en-GB" sz="1100">
                          <a:effectLst/>
                        </a:rPr>
                        <a:t>Postcode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100">
                          <a:effectLst/>
                        </a:rPr>
                        <a:t>Alphanumeric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100">
                          <a:effectLst/>
                        </a:rPr>
                        <a:t>W12 6BD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902015287"/>
                  </a:ext>
                </a:extLst>
              </a:tr>
            </a:tbl>
          </a:graphicData>
        </a:graphic>
      </p:graphicFrame>
    </p:spTree>
    <p:extLst>
      <p:ext uri="{BB962C8B-B14F-4D97-AF65-F5344CB8AC3E}">
        <p14:creationId xmlns:p14="http://schemas.microsoft.com/office/powerpoint/2010/main" val="602015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D0F4B-71A7-41B9-A228-4D457BFEEBCF}"/>
              </a:ext>
            </a:extLst>
          </p:cNvPr>
          <p:cNvSpPr>
            <a:spLocks noGrp="1"/>
          </p:cNvSpPr>
          <p:nvPr>
            <p:ph type="title"/>
          </p:nvPr>
        </p:nvSpPr>
        <p:spPr>
          <a:xfrm rot="16200000">
            <a:off x="-2286533" y="2766219"/>
            <a:ext cx="6858001" cy="1325563"/>
          </a:xfrm>
        </p:spPr>
        <p:txBody>
          <a:bodyPr/>
          <a:lstStyle/>
          <a:p>
            <a:r>
              <a:rPr lang="en-GB" dirty="0"/>
              <a:t>Length Check</a:t>
            </a:r>
          </a:p>
        </p:txBody>
      </p:sp>
      <p:sp>
        <p:nvSpPr>
          <p:cNvPr id="3" name="Content Placeholder 2">
            <a:extLst>
              <a:ext uri="{FF2B5EF4-FFF2-40B4-BE49-F238E27FC236}">
                <a16:creationId xmlns:a16="http://schemas.microsoft.com/office/drawing/2014/main" id="{71052C55-13DD-465B-8050-105CF6027001}"/>
              </a:ext>
            </a:extLst>
          </p:cNvPr>
          <p:cNvSpPr>
            <a:spLocks noGrp="1"/>
          </p:cNvSpPr>
          <p:nvPr>
            <p:ph idx="1"/>
          </p:nvPr>
        </p:nvSpPr>
        <p:spPr>
          <a:xfrm>
            <a:off x="1606858" y="1825625"/>
            <a:ext cx="9746942" cy="4351338"/>
          </a:xfrm>
        </p:spPr>
        <p:txBody>
          <a:bodyPr/>
          <a:lstStyle/>
          <a:p>
            <a:r>
              <a:rPr lang="en-GB" dirty="0"/>
              <a:t>This is used to check that the data entered contains a certain number of characters.</a:t>
            </a:r>
          </a:p>
          <a:p>
            <a:r>
              <a:rPr lang="en-GB" dirty="0"/>
              <a:t>For example, a mobile telephone number contains 11 digits.</a:t>
            </a:r>
          </a:p>
          <a:p>
            <a:endParaRPr lang="en-GB" dirty="0"/>
          </a:p>
        </p:txBody>
      </p:sp>
    </p:spTree>
    <p:extLst>
      <p:ext uri="{BB962C8B-B14F-4D97-AF65-F5344CB8AC3E}">
        <p14:creationId xmlns:p14="http://schemas.microsoft.com/office/powerpoint/2010/main" val="3078261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F01A2-4BFE-43AC-A29B-000B5C0C9D2A}"/>
              </a:ext>
            </a:extLst>
          </p:cNvPr>
          <p:cNvSpPr>
            <a:spLocks noGrp="1"/>
          </p:cNvSpPr>
          <p:nvPr>
            <p:ph type="title"/>
          </p:nvPr>
        </p:nvSpPr>
        <p:spPr>
          <a:xfrm rot="16200000">
            <a:off x="-2091661" y="2766220"/>
            <a:ext cx="6858000" cy="1325563"/>
          </a:xfrm>
        </p:spPr>
        <p:txBody>
          <a:bodyPr>
            <a:normAutofit fontScale="90000"/>
          </a:bodyPr>
          <a:lstStyle/>
          <a:p>
            <a:r>
              <a:rPr lang="en-GB" b="1" dirty="0"/>
              <a:t>Format Check </a:t>
            </a:r>
            <a:r>
              <a:rPr lang="en-GB" sz="2400" dirty="0"/>
              <a:t>(AKA picture or layout checks)</a:t>
            </a:r>
            <a:br>
              <a:rPr lang="en-GB" dirty="0"/>
            </a:br>
            <a:endParaRPr lang="en-GB" dirty="0"/>
          </a:p>
        </p:txBody>
      </p:sp>
      <p:sp>
        <p:nvSpPr>
          <p:cNvPr id="3" name="Content Placeholder 2">
            <a:extLst>
              <a:ext uri="{FF2B5EF4-FFF2-40B4-BE49-F238E27FC236}">
                <a16:creationId xmlns:a16="http://schemas.microsoft.com/office/drawing/2014/main" id="{D7CF4233-B047-44F1-A57B-EB29B4BF08A6}"/>
              </a:ext>
            </a:extLst>
          </p:cNvPr>
          <p:cNvSpPr>
            <a:spLocks noGrp="1"/>
          </p:cNvSpPr>
          <p:nvPr>
            <p:ph idx="1"/>
          </p:nvPr>
        </p:nvSpPr>
        <p:spPr>
          <a:xfrm>
            <a:off x="1828800" y="458463"/>
            <a:ext cx="9311936" cy="4351338"/>
          </a:xfrm>
        </p:spPr>
        <p:txBody>
          <a:bodyPr>
            <a:normAutofit fontScale="70000" lnSpcReduction="20000"/>
          </a:bodyPr>
          <a:lstStyle/>
          <a:p>
            <a:r>
              <a:rPr lang="en-GB" dirty="0"/>
              <a:t>This is used to </a:t>
            </a:r>
            <a:r>
              <a:rPr lang="en-GB" b="1" dirty="0">
                <a:solidFill>
                  <a:srgbClr val="FFC000"/>
                </a:solidFill>
              </a:rPr>
              <a:t>ensure a data item matches a previously determined pattern </a:t>
            </a:r>
            <a:r>
              <a:rPr lang="en-GB" dirty="0"/>
              <a:t>and that particular characters have particular values such as letters or digits. For example a date of birth field maybe required to be entered in a predefined format using the pattern DDMMYY.</a:t>
            </a:r>
          </a:p>
          <a:p>
            <a:r>
              <a:rPr lang="en-GB" dirty="0"/>
              <a:t>Format checks can be performed on data entered into a database field. </a:t>
            </a:r>
            <a:r>
              <a:rPr lang="en-GB" b="1" dirty="0">
                <a:solidFill>
                  <a:srgbClr val="FFC000"/>
                </a:solidFill>
              </a:rPr>
              <a:t>The format that data entered into a field must be in is specified using an input mask</a:t>
            </a:r>
            <a:r>
              <a:rPr lang="en-GB" dirty="0"/>
              <a:t>. </a:t>
            </a:r>
            <a:r>
              <a:rPr lang="en-GB" dirty="0">
                <a:solidFill>
                  <a:srgbClr val="FFC000"/>
                </a:solidFill>
              </a:rPr>
              <a:t>The input mask is made up of special characters which indicate what characters may be typed. </a:t>
            </a:r>
          </a:p>
          <a:p>
            <a:r>
              <a:rPr lang="en-GB" dirty="0"/>
              <a:t>In a particular database the following special characters can be used to define an input mask:</a:t>
            </a:r>
          </a:p>
          <a:p>
            <a:pPr lvl="1"/>
            <a:r>
              <a:rPr lang="en-GB" dirty="0"/>
              <a:t>0 - A number must be typed in this position. </a:t>
            </a:r>
          </a:p>
          <a:p>
            <a:pPr lvl="1"/>
            <a:r>
              <a:rPr lang="en-GB" dirty="0"/>
              <a:t>9 - A number may be typed in this position or it may be left blank. </a:t>
            </a:r>
          </a:p>
          <a:p>
            <a:pPr lvl="1"/>
            <a:r>
              <a:rPr lang="en-GB" dirty="0"/>
              <a:t>L - A letter must be typed in this position. </a:t>
            </a:r>
          </a:p>
          <a:p>
            <a:pPr lvl="1"/>
            <a:r>
              <a:rPr lang="en-GB" dirty="0"/>
              <a:t>l - A letter may be typed in this position or it may be left blank. </a:t>
            </a:r>
          </a:p>
          <a:p>
            <a:pPr lvl="1"/>
            <a:r>
              <a:rPr lang="en-GB" dirty="0"/>
              <a:t>A - A letter or number must be typed in this position. </a:t>
            </a:r>
          </a:p>
          <a:p>
            <a:pPr lvl="1"/>
            <a:r>
              <a:rPr lang="en-GB" dirty="0"/>
              <a:t>a - A letter or number may be typed in this position or it may be left blank. </a:t>
            </a:r>
          </a:p>
          <a:p>
            <a:r>
              <a:rPr lang="en-GB" dirty="0"/>
              <a:t>Here are some input masks that could be used to validate three letter codes, car registration numbers and postcodes.</a:t>
            </a:r>
          </a:p>
          <a:p>
            <a:endParaRPr lang="en-GB" dirty="0"/>
          </a:p>
        </p:txBody>
      </p:sp>
      <p:graphicFrame>
        <p:nvGraphicFramePr>
          <p:cNvPr id="4" name="Table 3">
            <a:extLst>
              <a:ext uri="{FF2B5EF4-FFF2-40B4-BE49-F238E27FC236}">
                <a16:creationId xmlns:a16="http://schemas.microsoft.com/office/drawing/2014/main" id="{337D553D-F1BE-4650-ACE1-83ECF37D5DE0}"/>
              </a:ext>
            </a:extLst>
          </p:cNvPr>
          <p:cNvGraphicFramePr>
            <a:graphicFrameLocks noGrp="1"/>
          </p:cNvGraphicFramePr>
          <p:nvPr>
            <p:extLst>
              <p:ext uri="{D42A27DB-BD31-4B8C-83A1-F6EECF244321}">
                <p14:modId xmlns:p14="http://schemas.microsoft.com/office/powerpoint/2010/main" val="394183394"/>
              </p:ext>
            </p:extLst>
          </p:nvPr>
        </p:nvGraphicFramePr>
        <p:xfrm>
          <a:off x="2743200" y="4809801"/>
          <a:ext cx="7483136" cy="1976234"/>
        </p:xfrm>
        <a:graphic>
          <a:graphicData uri="http://schemas.openxmlformats.org/drawingml/2006/table">
            <a:tbl>
              <a:tblPr>
                <a:tableStyleId>{5C22544A-7EE6-4342-B048-85BDC9FD1C3A}</a:tableStyleId>
              </a:tblPr>
              <a:tblGrid>
                <a:gridCol w="967668">
                  <a:extLst>
                    <a:ext uri="{9D8B030D-6E8A-4147-A177-3AD203B41FA5}">
                      <a16:colId xmlns:a16="http://schemas.microsoft.com/office/drawing/2014/main" val="129973203"/>
                    </a:ext>
                  </a:extLst>
                </a:gridCol>
                <a:gridCol w="1580225">
                  <a:extLst>
                    <a:ext uri="{9D8B030D-6E8A-4147-A177-3AD203B41FA5}">
                      <a16:colId xmlns:a16="http://schemas.microsoft.com/office/drawing/2014/main" val="3886604482"/>
                    </a:ext>
                  </a:extLst>
                </a:gridCol>
                <a:gridCol w="1504264">
                  <a:extLst>
                    <a:ext uri="{9D8B030D-6E8A-4147-A177-3AD203B41FA5}">
                      <a16:colId xmlns:a16="http://schemas.microsoft.com/office/drawing/2014/main" val="4230654915"/>
                    </a:ext>
                  </a:extLst>
                </a:gridCol>
                <a:gridCol w="1531899">
                  <a:extLst>
                    <a:ext uri="{9D8B030D-6E8A-4147-A177-3AD203B41FA5}">
                      <a16:colId xmlns:a16="http://schemas.microsoft.com/office/drawing/2014/main" val="616571201"/>
                    </a:ext>
                  </a:extLst>
                </a:gridCol>
                <a:gridCol w="1899080">
                  <a:extLst>
                    <a:ext uri="{9D8B030D-6E8A-4147-A177-3AD203B41FA5}">
                      <a16:colId xmlns:a16="http://schemas.microsoft.com/office/drawing/2014/main" val="1699962610"/>
                    </a:ext>
                  </a:extLst>
                </a:gridCol>
              </a:tblGrid>
              <a:tr h="174887">
                <a:tc>
                  <a:txBody>
                    <a:bodyPr/>
                    <a:lstStyle/>
                    <a:p>
                      <a:pPr algn="just">
                        <a:lnSpc>
                          <a:spcPct val="115000"/>
                        </a:lnSpc>
                        <a:spcAft>
                          <a:spcPts val="1000"/>
                        </a:spcAft>
                      </a:pPr>
                      <a:r>
                        <a:rPr lang="en-GB" sz="1200" b="1" dirty="0">
                          <a:effectLst/>
                        </a:rPr>
                        <a:t>Input Mask</a:t>
                      </a:r>
                      <a:endParaRPr lang="en-GB"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a:effectLst/>
                        </a:rPr>
                        <a:t>Purpose</a:t>
                      </a:r>
                      <a:endParaRPr lang="en-GB" sz="1100" b="1">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a:effectLst/>
                        </a:rPr>
                        <a:t>Valid Data</a:t>
                      </a:r>
                      <a:endParaRPr lang="en-GB" sz="1100" b="1">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a:effectLst/>
                        </a:rPr>
                        <a:t>Invalid Data</a:t>
                      </a:r>
                      <a:endParaRPr lang="en-GB" sz="1100" b="1">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b="1" dirty="0">
                          <a:effectLst/>
                        </a:rPr>
                        <a:t>Explanation why invalid</a:t>
                      </a:r>
                      <a:endParaRPr lang="en-GB"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2012656822"/>
                  </a:ext>
                </a:extLst>
              </a:tr>
              <a:tr h="486467">
                <a:tc>
                  <a:txBody>
                    <a:bodyPr/>
                    <a:lstStyle/>
                    <a:p>
                      <a:pPr algn="just">
                        <a:lnSpc>
                          <a:spcPct val="115000"/>
                        </a:lnSpc>
                        <a:spcAft>
                          <a:spcPts val="1000"/>
                        </a:spcAft>
                      </a:pPr>
                      <a:r>
                        <a:rPr lang="en-GB" sz="1200">
                          <a:effectLst/>
                        </a:rPr>
                        <a:t>LLL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Three Letter Code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ctr">
                        <a:lnSpc>
                          <a:spcPct val="115000"/>
                        </a:lnSpc>
                        <a:spcAft>
                          <a:spcPts val="1000"/>
                        </a:spcAft>
                      </a:pPr>
                      <a:r>
                        <a:rPr lang="en-GB" sz="1200" dirty="0">
                          <a:effectLst/>
                        </a:rPr>
                        <a:t>ABC</a:t>
                      </a:r>
                      <a:br>
                        <a:rPr lang="en-GB" sz="1200" dirty="0">
                          <a:effectLst/>
                        </a:rPr>
                      </a:br>
                      <a:r>
                        <a:rPr lang="en-GB" sz="1200" dirty="0">
                          <a:effectLst/>
                        </a:rPr>
                        <a:t>AND</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ctr">
                        <a:lnSpc>
                          <a:spcPct val="115000"/>
                        </a:lnSpc>
                        <a:spcAft>
                          <a:spcPts val="1000"/>
                        </a:spcAft>
                      </a:pPr>
                      <a:r>
                        <a:rPr lang="en-GB" sz="1200" dirty="0">
                          <a:effectLst/>
                        </a:rPr>
                        <a:t>AB</a:t>
                      </a:r>
                      <a:br>
                        <a:rPr lang="en-GB" sz="1200" dirty="0">
                          <a:effectLst/>
                        </a:rPr>
                      </a:br>
                      <a:r>
                        <a:rPr lang="en-GB" sz="1200" dirty="0">
                          <a:effectLst/>
                        </a:rPr>
                        <a:t>B2H</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837380289"/>
                  </a:ext>
                </a:extLst>
              </a:tr>
              <a:tr h="724103">
                <a:tc>
                  <a:txBody>
                    <a:bodyPr/>
                    <a:lstStyle/>
                    <a:p>
                      <a:pPr algn="just">
                        <a:lnSpc>
                          <a:spcPct val="115000"/>
                        </a:lnSpc>
                        <a:spcAft>
                          <a:spcPts val="1000"/>
                        </a:spcAft>
                      </a:pPr>
                      <a:r>
                        <a:rPr lang="en-GB" sz="1200">
                          <a:effectLst/>
                        </a:rPr>
                        <a:t>L990LLL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Car Reg. Number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ctr">
                        <a:lnSpc>
                          <a:spcPct val="115000"/>
                        </a:lnSpc>
                        <a:spcAft>
                          <a:spcPts val="1000"/>
                        </a:spcAft>
                      </a:pPr>
                      <a:r>
                        <a:rPr lang="en-GB" sz="1200" dirty="0">
                          <a:effectLst/>
                        </a:rPr>
                        <a:t>N912CHG</a:t>
                      </a:r>
                      <a:br>
                        <a:rPr lang="en-GB" sz="1200" dirty="0">
                          <a:effectLst/>
                        </a:rPr>
                      </a:br>
                      <a:r>
                        <a:rPr lang="en-GB" sz="1200" dirty="0">
                          <a:effectLst/>
                        </a:rPr>
                        <a:t>A3HAM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ctr">
                        <a:lnSpc>
                          <a:spcPct val="115000"/>
                        </a:lnSpc>
                        <a:spcAft>
                          <a:spcPts val="1000"/>
                        </a:spcAft>
                      </a:pPr>
                      <a:r>
                        <a:rPr lang="en-GB" sz="1200" dirty="0">
                          <a:effectLst/>
                        </a:rPr>
                        <a:t>N1234HG</a:t>
                      </a:r>
                      <a:br>
                        <a:rPr lang="en-GB" sz="1200" dirty="0">
                          <a:effectLst/>
                        </a:rPr>
                      </a:br>
                      <a:r>
                        <a:rPr lang="en-GB" sz="1200" dirty="0">
                          <a:effectLst/>
                        </a:rPr>
                        <a:t>N212BT</a:t>
                      </a:r>
                      <a:endParaRPr lang="en-GB" sz="1100" dirty="0">
                        <a:effectLst/>
                      </a:endParaRPr>
                    </a:p>
                    <a:p>
                      <a:pPr algn="ctr">
                        <a:lnSpc>
                          <a:spcPct val="115000"/>
                        </a:lnSpc>
                      </a:pPr>
                      <a:r>
                        <a:rPr lang="en-GB" sz="1100" dirty="0">
                          <a:effectLst/>
                        </a:rPr>
                        <a:t>  </a:t>
                      </a:r>
                      <a:endParaRPr lang="en-GB"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2114994604"/>
                  </a:ext>
                </a:extLst>
              </a:tr>
              <a:tr h="486467">
                <a:tc>
                  <a:txBody>
                    <a:bodyPr/>
                    <a:lstStyle/>
                    <a:p>
                      <a:pPr algn="just">
                        <a:lnSpc>
                          <a:spcPct val="115000"/>
                        </a:lnSpc>
                        <a:spcAft>
                          <a:spcPts val="1000"/>
                        </a:spcAft>
                      </a:pPr>
                      <a:r>
                        <a:rPr lang="en-GB" sz="1200">
                          <a:effectLst/>
                        </a:rPr>
                        <a:t>Ll90 0LL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dirty="0">
                          <a:effectLst/>
                        </a:rPr>
                        <a:t>Postcode</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ctr">
                        <a:lnSpc>
                          <a:spcPct val="115000"/>
                        </a:lnSpc>
                        <a:spcAft>
                          <a:spcPts val="1000"/>
                        </a:spcAft>
                      </a:pPr>
                      <a:r>
                        <a:rPr lang="en-GB" sz="1200" dirty="0">
                          <a:effectLst/>
                        </a:rPr>
                        <a:t>WA149JD</a:t>
                      </a:r>
                      <a:br>
                        <a:rPr lang="en-GB" sz="1200" dirty="0">
                          <a:effectLst/>
                        </a:rPr>
                      </a:br>
                      <a:r>
                        <a:rPr lang="en-GB" sz="1200" dirty="0">
                          <a:effectLst/>
                        </a:rPr>
                        <a:t>M904SJ</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ctr">
                        <a:lnSpc>
                          <a:spcPct val="115000"/>
                        </a:lnSpc>
                        <a:spcAft>
                          <a:spcPts val="1000"/>
                        </a:spcAft>
                      </a:pPr>
                      <a:r>
                        <a:rPr lang="en-GB" sz="1200" dirty="0">
                          <a:effectLst/>
                        </a:rPr>
                        <a:t>WAM49PM</a:t>
                      </a:r>
                      <a:br>
                        <a:rPr lang="en-GB" sz="1200" dirty="0">
                          <a:effectLst/>
                        </a:rPr>
                      </a:br>
                      <a:r>
                        <a:rPr lang="en-GB" sz="1200" dirty="0">
                          <a:effectLst/>
                        </a:rPr>
                        <a:t>WA613H</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nchor="ctr"/>
                </a:tc>
                <a:tc>
                  <a:txBody>
                    <a:bodyPr/>
                    <a:lstStyle/>
                    <a:p>
                      <a:pPr algn="just">
                        <a:lnSpc>
                          <a:spcPct val="115000"/>
                        </a:lnSpc>
                        <a:spcAft>
                          <a:spcPts val="1000"/>
                        </a:spcAft>
                      </a:pPr>
                      <a:r>
                        <a:rPr lang="en-GB" sz="12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9050" marR="19050" marT="19050" marB="19050"/>
                </a:tc>
                <a:extLst>
                  <a:ext uri="{0D108BD9-81ED-4DB2-BD59-A6C34878D82A}">
                    <a16:rowId xmlns:a16="http://schemas.microsoft.com/office/drawing/2014/main" val="440742597"/>
                  </a:ext>
                </a:extLst>
              </a:tr>
            </a:tbl>
          </a:graphicData>
        </a:graphic>
      </p:graphicFrame>
    </p:spTree>
    <p:extLst>
      <p:ext uri="{BB962C8B-B14F-4D97-AF65-F5344CB8AC3E}">
        <p14:creationId xmlns:p14="http://schemas.microsoft.com/office/powerpoint/2010/main" val="1753246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085C0-DA17-43E1-B1A1-2841AA7E8A49}"/>
              </a:ext>
            </a:extLst>
          </p:cNvPr>
          <p:cNvSpPr>
            <a:spLocks noGrp="1"/>
          </p:cNvSpPr>
          <p:nvPr>
            <p:ph type="title"/>
          </p:nvPr>
        </p:nvSpPr>
        <p:spPr>
          <a:xfrm rot="16200000">
            <a:off x="-2301522" y="2766221"/>
            <a:ext cx="6858002" cy="1325563"/>
          </a:xfrm>
        </p:spPr>
        <p:txBody>
          <a:bodyPr/>
          <a:lstStyle/>
          <a:p>
            <a:r>
              <a:rPr lang="en-GB" dirty="0"/>
              <a:t>Presence Check</a:t>
            </a:r>
          </a:p>
        </p:txBody>
      </p:sp>
      <p:sp>
        <p:nvSpPr>
          <p:cNvPr id="3" name="Content Placeholder 2">
            <a:extLst>
              <a:ext uri="{FF2B5EF4-FFF2-40B4-BE49-F238E27FC236}">
                <a16:creationId xmlns:a16="http://schemas.microsoft.com/office/drawing/2014/main" id="{B7CD8984-ECCE-47E7-8FBC-44F5D4924F15}"/>
              </a:ext>
            </a:extLst>
          </p:cNvPr>
          <p:cNvSpPr>
            <a:spLocks noGrp="1"/>
          </p:cNvSpPr>
          <p:nvPr>
            <p:ph idx="1"/>
          </p:nvPr>
        </p:nvSpPr>
        <p:spPr>
          <a:xfrm>
            <a:off x="1917576" y="1825625"/>
            <a:ext cx="9436223" cy="4351338"/>
          </a:xfrm>
        </p:spPr>
        <p:txBody>
          <a:bodyPr>
            <a:normAutofit lnSpcReduction="10000"/>
          </a:bodyPr>
          <a:lstStyle/>
          <a:p>
            <a:r>
              <a:rPr lang="en-GB" dirty="0">
                <a:solidFill>
                  <a:srgbClr val="FFC000"/>
                </a:solidFill>
              </a:rPr>
              <a:t>When entering data into a database some fields maybe optional. This check will not allow certain fields to remain blank. </a:t>
            </a:r>
          </a:p>
          <a:p>
            <a:r>
              <a:rPr lang="en-GB" dirty="0"/>
              <a:t>For example a mobile telephone number may be optional as the person may not own one whereas National Insurance number is required (must be present) on each record in an employee file.</a:t>
            </a:r>
          </a:p>
          <a:p>
            <a:r>
              <a:rPr lang="en-GB" dirty="0"/>
              <a:t>A presence check ensures that data has been entered into a field and that it has not been left blank. e.g. check that a surname is always entered into each record in a database of addresses. This is implemented using a ‘required’ field.</a:t>
            </a:r>
          </a:p>
          <a:p>
            <a:endParaRPr lang="en-GB" dirty="0"/>
          </a:p>
        </p:txBody>
      </p:sp>
    </p:spTree>
    <p:extLst>
      <p:ext uri="{BB962C8B-B14F-4D97-AF65-F5344CB8AC3E}">
        <p14:creationId xmlns:p14="http://schemas.microsoft.com/office/powerpoint/2010/main" val="3896337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65153-E3F3-406D-A55A-F57A9F2A35FB}"/>
              </a:ext>
            </a:extLst>
          </p:cNvPr>
          <p:cNvSpPr>
            <a:spLocks noGrp="1"/>
          </p:cNvSpPr>
          <p:nvPr>
            <p:ph type="title"/>
          </p:nvPr>
        </p:nvSpPr>
        <p:spPr/>
        <p:txBody>
          <a:bodyPr/>
          <a:lstStyle/>
          <a:p>
            <a:r>
              <a:rPr lang="en-GB" dirty="0"/>
              <a:t>Check Digit</a:t>
            </a:r>
          </a:p>
        </p:txBody>
      </p:sp>
      <p:sp>
        <p:nvSpPr>
          <p:cNvPr id="3" name="Content Placeholder 2">
            <a:extLst>
              <a:ext uri="{FF2B5EF4-FFF2-40B4-BE49-F238E27FC236}">
                <a16:creationId xmlns:a16="http://schemas.microsoft.com/office/drawing/2014/main" id="{E5014216-D9F7-4F03-979D-3E1D02835298}"/>
              </a:ext>
            </a:extLst>
          </p:cNvPr>
          <p:cNvSpPr>
            <a:spLocks noGrp="1"/>
          </p:cNvSpPr>
          <p:nvPr>
            <p:ph idx="1"/>
          </p:nvPr>
        </p:nvSpPr>
        <p:spPr/>
        <p:txBody>
          <a:bodyPr>
            <a:normAutofit lnSpcReduction="10000"/>
          </a:bodyPr>
          <a:lstStyle/>
          <a:p>
            <a:r>
              <a:rPr lang="en-GB" dirty="0">
                <a:solidFill>
                  <a:srgbClr val="FFC000"/>
                </a:solidFill>
              </a:rPr>
              <a:t>This involves using an extra digit which is added/appended to the numeric data item. </a:t>
            </a:r>
          </a:p>
          <a:p>
            <a:r>
              <a:rPr lang="en-GB" dirty="0"/>
              <a:t>These are used on bar codes placed on products in a typical supermarket or ISBN numbers placed on books. </a:t>
            </a:r>
          </a:p>
          <a:p>
            <a:pPr lvl="1"/>
            <a:r>
              <a:rPr lang="en-GB" dirty="0">
                <a:solidFill>
                  <a:srgbClr val="FFC000"/>
                </a:solidFill>
              </a:rPr>
              <a:t>It is calculated using the digits from the number and then added to the end of the number. </a:t>
            </a:r>
          </a:p>
          <a:p>
            <a:pPr lvl="1"/>
            <a:r>
              <a:rPr lang="en-GB" dirty="0">
                <a:solidFill>
                  <a:srgbClr val="FFC000"/>
                </a:solidFill>
              </a:rPr>
              <a:t>When the number is inputted the same calculation takes place and the result is compared to the check digit.  </a:t>
            </a:r>
          </a:p>
          <a:p>
            <a:pPr lvl="1"/>
            <a:r>
              <a:rPr lang="en-GB" dirty="0"/>
              <a:t>If the results are the same processing continues. </a:t>
            </a:r>
          </a:p>
          <a:p>
            <a:pPr lvl="1"/>
            <a:r>
              <a:rPr lang="en-GB" dirty="0"/>
              <a:t>If they are not the same, an error has occurred and the numerical value needs to be re-entered. The main way of calculating a check digit is by using </a:t>
            </a:r>
            <a:r>
              <a:rPr lang="en-GB" b="1" dirty="0">
                <a:solidFill>
                  <a:srgbClr val="FFC000"/>
                </a:solidFill>
              </a:rPr>
              <a:t>Modulus-11 arithmetic</a:t>
            </a:r>
            <a:r>
              <a:rPr lang="en-GB" dirty="0"/>
              <a:t>.</a:t>
            </a:r>
          </a:p>
          <a:p>
            <a:endParaRPr lang="en-GB" dirty="0"/>
          </a:p>
        </p:txBody>
      </p:sp>
    </p:spTree>
    <p:extLst>
      <p:ext uri="{BB962C8B-B14F-4D97-AF65-F5344CB8AC3E}">
        <p14:creationId xmlns:p14="http://schemas.microsoft.com/office/powerpoint/2010/main" val="1461464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D0DB-1DDB-45DB-B2A9-0E00DDFD231E}"/>
              </a:ext>
            </a:extLst>
          </p:cNvPr>
          <p:cNvSpPr>
            <a:spLocks noGrp="1"/>
          </p:cNvSpPr>
          <p:nvPr>
            <p:ph type="title"/>
          </p:nvPr>
        </p:nvSpPr>
        <p:spPr/>
        <p:txBody>
          <a:bodyPr/>
          <a:lstStyle/>
          <a:p>
            <a:r>
              <a:rPr lang="en-GB" dirty="0"/>
              <a:t>How to Complete a Modulus 11 Check</a:t>
            </a:r>
          </a:p>
        </p:txBody>
      </p:sp>
      <p:sp>
        <p:nvSpPr>
          <p:cNvPr id="3" name="Content Placeholder 2">
            <a:extLst>
              <a:ext uri="{FF2B5EF4-FFF2-40B4-BE49-F238E27FC236}">
                <a16:creationId xmlns:a16="http://schemas.microsoft.com/office/drawing/2014/main" id="{EE6C0F3D-E262-4723-8E82-C66D421DD2C0}"/>
              </a:ext>
            </a:extLst>
          </p:cNvPr>
          <p:cNvSpPr>
            <a:spLocks noGrp="1"/>
          </p:cNvSpPr>
          <p:nvPr>
            <p:ph idx="1"/>
          </p:nvPr>
        </p:nvSpPr>
        <p:spPr>
          <a:xfrm>
            <a:off x="838200" y="1825625"/>
            <a:ext cx="11198902" cy="500325"/>
          </a:xfrm>
          <a:ln>
            <a:noFill/>
          </a:ln>
        </p:spPr>
        <p:txBody>
          <a:bodyPr>
            <a:normAutofit/>
          </a:bodyPr>
          <a:lstStyle/>
          <a:p>
            <a:pPr marL="0" indent="0">
              <a:buNone/>
            </a:pPr>
            <a:r>
              <a:rPr lang="en-GB" dirty="0"/>
              <a:t>Consider the following product number 91167 and calculate the check digit.</a:t>
            </a:r>
          </a:p>
          <a:p>
            <a:pPr marL="0" indent="0">
              <a:buNone/>
            </a:pPr>
            <a:endParaRPr lang="en-GB" dirty="0"/>
          </a:p>
          <a:p>
            <a:pPr marL="0" indent="0">
              <a:buNone/>
            </a:pPr>
            <a:endParaRPr lang="en-GB" dirty="0"/>
          </a:p>
          <a:p>
            <a:pPr marL="0" indent="0">
              <a:buNone/>
            </a:pPr>
            <a:endParaRPr lang="en-GB" dirty="0"/>
          </a:p>
          <a:p>
            <a:pPr marL="0" indent="0">
              <a:buNone/>
            </a:pPr>
            <a:endParaRPr lang="en-GB" dirty="0"/>
          </a:p>
          <a:p>
            <a:endParaRPr lang="en-GB" dirty="0"/>
          </a:p>
        </p:txBody>
      </p:sp>
      <p:grpSp>
        <p:nvGrpSpPr>
          <p:cNvPr id="15" name="Group 14">
            <a:extLst>
              <a:ext uri="{FF2B5EF4-FFF2-40B4-BE49-F238E27FC236}">
                <a16:creationId xmlns:a16="http://schemas.microsoft.com/office/drawing/2014/main" id="{F06395BE-1938-48A1-A741-9C23DE4F0F4F}"/>
              </a:ext>
            </a:extLst>
          </p:cNvPr>
          <p:cNvGrpSpPr/>
          <p:nvPr/>
        </p:nvGrpSpPr>
        <p:grpSpPr>
          <a:xfrm>
            <a:off x="-19232" y="3045039"/>
            <a:ext cx="12211232" cy="4421080"/>
            <a:chOff x="-19232" y="3045039"/>
            <a:chExt cx="12211232" cy="4421080"/>
          </a:xfrm>
        </p:grpSpPr>
        <p:grpSp>
          <p:nvGrpSpPr>
            <p:cNvPr id="11" name="Group 10">
              <a:extLst>
                <a:ext uri="{FF2B5EF4-FFF2-40B4-BE49-F238E27FC236}">
                  <a16:creationId xmlns:a16="http://schemas.microsoft.com/office/drawing/2014/main" id="{1E53BE35-BDE7-4FCC-ACEB-9B42B82B64D2}"/>
                </a:ext>
              </a:extLst>
            </p:cNvPr>
            <p:cNvGrpSpPr/>
            <p:nvPr/>
          </p:nvGrpSpPr>
          <p:grpSpPr>
            <a:xfrm>
              <a:off x="-19232" y="3045039"/>
              <a:ext cx="5045468" cy="4421080"/>
              <a:chOff x="-19232" y="3045039"/>
              <a:chExt cx="5045468" cy="4421080"/>
            </a:xfrm>
          </p:grpSpPr>
          <p:grpSp>
            <p:nvGrpSpPr>
              <p:cNvPr id="9" name="Group 8">
                <a:extLst>
                  <a:ext uri="{FF2B5EF4-FFF2-40B4-BE49-F238E27FC236}">
                    <a16:creationId xmlns:a16="http://schemas.microsoft.com/office/drawing/2014/main" id="{D9BC28F3-85DA-4F06-BBF9-55E740E441D8}"/>
                  </a:ext>
                </a:extLst>
              </p:cNvPr>
              <p:cNvGrpSpPr/>
              <p:nvPr/>
            </p:nvGrpSpPr>
            <p:grpSpPr>
              <a:xfrm>
                <a:off x="-19232" y="3045039"/>
                <a:ext cx="5045468" cy="4421080"/>
                <a:chOff x="-19232" y="3045039"/>
                <a:chExt cx="5045468" cy="4421080"/>
              </a:xfrm>
            </p:grpSpPr>
            <p:sp>
              <p:nvSpPr>
                <p:cNvPr id="6" name="Right Triangle 5">
                  <a:extLst>
                    <a:ext uri="{FF2B5EF4-FFF2-40B4-BE49-F238E27FC236}">
                      <a16:creationId xmlns:a16="http://schemas.microsoft.com/office/drawing/2014/main" id="{31AAA57A-CFF8-4FAA-9C39-CCF674893661}"/>
                    </a:ext>
                  </a:extLst>
                </p:cNvPr>
                <p:cNvSpPr/>
                <p:nvPr/>
              </p:nvSpPr>
              <p:spPr>
                <a:xfrm flipV="1">
                  <a:off x="-19232" y="3045039"/>
                  <a:ext cx="4617866" cy="4421080"/>
                </a:xfrm>
                <a:prstGeom prst="rtTriangle">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 name="Right Triangle 6">
                  <a:extLst>
                    <a:ext uri="{FF2B5EF4-FFF2-40B4-BE49-F238E27FC236}">
                      <a16:creationId xmlns:a16="http://schemas.microsoft.com/office/drawing/2014/main" id="{A761C188-2607-4E1C-A1EA-9DA3760B9F39}"/>
                    </a:ext>
                  </a:extLst>
                </p:cNvPr>
                <p:cNvSpPr/>
                <p:nvPr/>
              </p:nvSpPr>
              <p:spPr>
                <a:xfrm flipV="1">
                  <a:off x="-1" y="3045039"/>
                  <a:ext cx="5026237" cy="2466514"/>
                </a:xfrm>
                <a:prstGeom prst="rtTriangle">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05A57D30-0264-495C-95D9-34FB36354D5D}"/>
                    </a:ext>
                  </a:extLst>
                </p:cNvPr>
                <p:cNvGrpSpPr/>
                <p:nvPr/>
              </p:nvGrpSpPr>
              <p:grpSpPr>
                <a:xfrm>
                  <a:off x="1" y="3045041"/>
                  <a:ext cx="5007003" cy="665826"/>
                  <a:chOff x="1" y="3045041"/>
                  <a:chExt cx="5007003" cy="665826"/>
                </a:xfrm>
              </p:grpSpPr>
              <p:sp>
                <p:nvSpPr>
                  <p:cNvPr id="4" name="Rectangle 3">
                    <a:extLst>
                      <a:ext uri="{FF2B5EF4-FFF2-40B4-BE49-F238E27FC236}">
                        <a16:creationId xmlns:a16="http://schemas.microsoft.com/office/drawing/2014/main" id="{F6283A50-B31C-4C16-9480-F3351D4A9BA4}"/>
                      </a:ext>
                    </a:extLst>
                  </p:cNvPr>
                  <p:cNvSpPr/>
                  <p:nvPr/>
                </p:nvSpPr>
                <p:spPr>
                  <a:xfrm>
                    <a:off x="1" y="3045041"/>
                    <a:ext cx="4092606" cy="665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STEP 1</a:t>
                    </a:r>
                  </a:p>
                </p:txBody>
              </p:sp>
              <p:sp>
                <p:nvSpPr>
                  <p:cNvPr id="5" name="Right Triangle 4">
                    <a:extLst>
                      <a:ext uri="{FF2B5EF4-FFF2-40B4-BE49-F238E27FC236}">
                        <a16:creationId xmlns:a16="http://schemas.microsoft.com/office/drawing/2014/main" id="{503D170D-1BFD-42AC-A6DA-6342DEA18D62}"/>
                      </a:ext>
                    </a:extLst>
                  </p:cNvPr>
                  <p:cNvSpPr/>
                  <p:nvPr/>
                </p:nvSpPr>
                <p:spPr>
                  <a:xfrm flipV="1">
                    <a:off x="4092606" y="3045041"/>
                    <a:ext cx="914398" cy="665826"/>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 name="TextBox 9">
                <a:extLst>
                  <a:ext uri="{FF2B5EF4-FFF2-40B4-BE49-F238E27FC236}">
                    <a16:creationId xmlns:a16="http://schemas.microsoft.com/office/drawing/2014/main" id="{4E853A86-5065-4BA6-9EB0-8256E76148A3}"/>
                  </a:ext>
                </a:extLst>
              </p:cNvPr>
              <p:cNvSpPr txBox="1"/>
              <p:nvPr/>
            </p:nvSpPr>
            <p:spPr>
              <a:xfrm>
                <a:off x="124287" y="3835153"/>
                <a:ext cx="2512381" cy="523220"/>
              </a:xfrm>
              <a:prstGeom prst="rect">
                <a:avLst/>
              </a:prstGeom>
              <a:noFill/>
            </p:spPr>
            <p:txBody>
              <a:bodyPr wrap="square" rtlCol="0">
                <a:spAutoFit/>
              </a:bodyPr>
              <a:lstStyle/>
              <a:p>
                <a:r>
                  <a:rPr lang="en-GB" sz="2800" b="1" dirty="0"/>
                  <a:t>Apply Weights</a:t>
                </a:r>
              </a:p>
            </p:txBody>
          </p:sp>
        </p:grpSp>
        <p:sp>
          <p:nvSpPr>
            <p:cNvPr id="13" name="Right Triangle 12">
              <a:extLst>
                <a:ext uri="{FF2B5EF4-FFF2-40B4-BE49-F238E27FC236}">
                  <a16:creationId xmlns:a16="http://schemas.microsoft.com/office/drawing/2014/main" id="{2DA7C61A-6C11-4BB4-9A72-16881BD06FCE}"/>
                </a:ext>
              </a:extLst>
            </p:cNvPr>
            <p:cNvSpPr/>
            <p:nvPr/>
          </p:nvSpPr>
          <p:spPr>
            <a:xfrm flipH="1">
              <a:off x="8309499" y="3835152"/>
              <a:ext cx="3882501" cy="3022847"/>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ight Triangle 13">
              <a:extLst>
                <a:ext uri="{FF2B5EF4-FFF2-40B4-BE49-F238E27FC236}">
                  <a16:creationId xmlns:a16="http://schemas.microsoft.com/office/drawing/2014/main" id="{2F94C4FA-72D1-4F36-9E1F-42C09C5C4120}"/>
                </a:ext>
              </a:extLst>
            </p:cNvPr>
            <p:cNvSpPr/>
            <p:nvPr/>
          </p:nvSpPr>
          <p:spPr>
            <a:xfrm flipH="1">
              <a:off x="9090733" y="3515557"/>
              <a:ext cx="3101266" cy="3342443"/>
            </a:xfrm>
            <a:prstGeom prst="r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AD90B06F-6BEF-42BA-8DFF-FB184DF5C9C3}"/>
                </a:ext>
              </a:extLst>
            </p:cNvPr>
            <p:cNvSpPr txBox="1"/>
            <p:nvPr/>
          </p:nvSpPr>
          <p:spPr>
            <a:xfrm>
              <a:off x="2743200" y="4408272"/>
              <a:ext cx="8966446" cy="1822369"/>
            </a:xfrm>
            <a:prstGeom prst="rect">
              <a:avLst/>
            </a:prstGeom>
            <a:solidFill>
              <a:schemeClr val="bg1"/>
            </a:solidFill>
            <a:ln w="76200">
              <a:solidFill>
                <a:srgbClr val="00B0F0"/>
              </a:solidFill>
            </a:ln>
          </p:spPr>
          <p:txBody>
            <a:bodyPr wrap="square" rtlCol="0">
              <a:spAutoFit/>
            </a:bodyPr>
            <a:lstStyle/>
            <a:p>
              <a:endParaRPr lang="en-GB" dirty="0"/>
            </a:p>
          </p:txBody>
        </p:sp>
      </p:grpSp>
      <p:sp>
        <p:nvSpPr>
          <p:cNvPr id="16" name="TextBox 15">
            <a:extLst>
              <a:ext uri="{FF2B5EF4-FFF2-40B4-BE49-F238E27FC236}">
                <a16:creationId xmlns:a16="http://schemas.microsoft.com/office/drawing/2014/main" id="{585DB960-B451-417C-97BB-F337B7E49DA3}"/>
              </a:ext>
            </a:extLst>
          </p:cNvPr>
          <p:cNvSpPr txBox="1"/>
          <p:nvPr/>
        </p:nvSpPr>
        <p:spPr>
          <a:xfrm>
            <a:off x="2911876" y="4545367"/>
            <a:ext cx="8673483" cy="646331"/>
          </a:xfrm>
          <a:prstGeom prst="rect">
            <a:avLst/>
          </a:prstGeom>
          <a:noFill/>
        </p:spPr>
        <p:txBody>
          <a:bodyPr wrap="square" rtlCol="0">
            <a:spAutoFit/>
          </a:bodyPr>
          <a:lstStyle/>
          <a:p>
            <a:r>
              <a:rPr lang="en-GB" dirty="0"/>
              <a:t>beginning at the right hand digit apply weights. The Check digit has a weighting of 1 and will go at the end </a:t>
            </a:r>
          </a:p>
        </p:txBody>
      </p:sp>
      <p:graphicFrame>
        <p:nvGraphicFramePr>
          <p:cNvPr id="17" name="Table 16">
            <a:extLst>
              <a:ext uri="{FF2B5EF4-FFF2-40B4-BE49-F238E27FC236}">
                <a16:creationId xmlns:a16="http://schemas.microsoft.com/office/drawing/2014/main" id="{82B6BB9D-B19B-45C7-852B-8BA70CF2F1D3}"/>
              </a:ext>
            </a:extLst>
          </p:cNvPr>
          <p:cNvGraphicFramePr>
            <a:graphicFrameLocks noGrp="1"/>
          </p:cNvGraphicFramePr>
          <p:nvPr>
            <p:extLst>
              <p:ext uri="{D42A27DB-BD31-4B8C-83A1-F6EECF244321}">
                <p14:modId xmlns:p14="http://schemas.microsoft.com/office/powerpoint/2010/main" val="692402569"/>
              </p:ext>
            </p:extLst>
          </p:nvPr>
        </p:nvGraphicFramePr>
        <p:xfrm>
          <a:off x="4298531" y="5175805"/>
          <a:ext cx="5626444" cy="734982"/>
        </p:xfrm>
        <a:graphic>
          <a:graphicData uri="http://schemas.openxmlformats.org/drawingml/2006/table">
            <a:tbl>
              <a:tblPr firstRow="1" firstCol="1" lastRow="1" lastCol="1" bandRow="1" bandCol="1">
                <a:tableStyleId>{5C22544A-7EE6-4342-B048-85BDC9FD1C3A}</a:tableStyleId>
              </a:tblPr>
              <a:tblGrid>
                <a:gridCol w="946129">
                  <a:extLst>
                    <a:ext uri="{9D8B030D-6E8A-4147-A177-3AD203B41FA5}">
                      <a16:colId xmlns:a16="http://schemas.microsoft.com/office/drawing/2014/main" val="2425371613"/>
                    </a:ext>
                  </a:extLst>
                </a:gridCol>
                <a:gridCol w="779595">
                  <a:extLst>
                    <a:ext uri="{9D8B030D-6E8A-4147-A177-3AD203B41FA5}">
                      <a16:colId xmlns:a16="http://schemas.microsoft.com/office/drawing/2014/main" val="2153337985"/>
                    </a:ext>
                  </a:extLst>
                </a:gridCol>
                <a:gridCol w="779595">
                  <a:extLst>
                    <a:ext uri="{9D8B030D-6E8A-4147-A177-3AD203B41FA5}">
                      <a16:colId xmlns:a16="http://schemas.microsoft.com/office/drawing/2014/main" val="3981312308"/>
                    </a:ext>
                  </a:extLst>
                </a:gridCol>
                <a:gridCol w="779595">
                  <a:extLst>
                    <a:ext uri="{9D8B030D-6E8A-4147-A177-3AD203B41FA5}">
                      <a16:colId xmlns:a16="http://schemas.microsoft.com/office/drawing/2014/main" val="2784303635"/>
                    </a:ext>
                  </a:extLst>
                </a:gridCol>
                <a:gridCol w="780510">
                  <a:extLst>
                    <a:ext uri="{9D8B030D-6E8A-4147-A177-3AD203B41FA5}">
                      <a16:colId xmlns:a16="http://schemas.microsoft.com/office/drawing/2014/main" val="1070383991"/>
                    </a:ext>
                  </a:extLst>
                </a:gridCol>
                <a:gridCol w="780510">
                  <a:extLst>
                    <a:ext uri="{9D8B030D-6E8A-4147-A177-3AD203B41FA5}">
                      <a16:colId xmlns:a16="http://schemas.microsoft.com/office/drawing/2014/main" val="1251842734"/>
                    </a:ext>
                  </a:extLst>
                </a:gridCol>
                <a:gridCol w="780510">
                  <a:extLst>
                    <a:ext uri="{9D8B030D-6E8A-4147-A177-3AD203B41FA5}">
                      <a16:colId xmlns:a16="http://schemas.microsoft.com/office/drawing/2014/main" val="3437157024"/>
                    </a:ext>
                  </a:extLst>
                </a:gridCol>
              </a:tblGrid>
              <a:tr h="330495">
                <a:tc>
                  <a:txBody>
                    <a:bodyPr/>
                    <a:lstStyle/>
                    <a:p>
                      <a:pPr>
                        <a:lnSpc>
                          <a:spcPct val="115000"/>
                        </a:lnSpc>
                        <a:spcAft>
                          <a:spcPts val="0"/>
                        </a:spcAft>
                      </a:pPr>
                      <a:r>
                        <a:rPr lang="en-GB" sz="1600" dirty="0">
                          <a:effectLst/>
                        </a:rPr>
                        <a:t>Weight</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6</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5</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4</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3</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2</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extLst>
                  <a:ext uri="{0D108BD9-81ED-4DB2-BD59-A6C34878D82A}">
                    <a16:rowId xmlns:a16="http://schemas.microsoft.com/office/drawing/2014/main" val="1659030254"/>
                  </a:ext>
                </a:extLst>
              </a:tr>
              <a:tr h="404487">
                <a:tc>
                  <a:txBody>
                    <a:bodyPr/>
                    <a:lstStyle/>
                    <a:p>
                      <a:pP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Number</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rPr>
                        <a:t>9</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chor="ctr"/>
                </a:tc>
                <a:tc>
                  <a:txBody>
                    <a:bodyPr/>
                    <a:lstStyle/>
                    <a:p>
                      <a:pPr algn="ctr">
                        <a:lnSpc>
                          <a:spcPct val="115000"/>
                        </a:lnSpc>
                        <a:spcAft>
                          <a:spcPts val="0"/>
                        </a:spcAft>
                      </a:pPr>
                      <a:r>
                        <a:rPr lang="en-GB" sz="1600" dirty="0">
                          <a:effectLst/>
                        </a:rPr>
                        <a:t>7</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nchor="ctr"/>
                </a:tc>
                <a:extLst>
                  <a:ext uri="{0D108BD9-81ED-4DB2-BD59-A6C34878D82A}">
                    <a16:rowId xmlns:a16="http://schemas.microsoft.com/office/drawing/2014/main" val="2847034875"/>
                  </a:ext>
                </a:extLst>
              </a:tr>
            </a:tbl>
          </a:graphicData>
        </a:graphic>
      </p:graphicFrame>
    </p:spTree>
    <p:extLst>
      <p:ext uri="{BB962C8B-B14F-4D97-AF65-F5344CB8AC3E}">
        <p14:creationId xmlns:p14="http://schemas.microsoft.com/office/powerpoint/2010/main" val="2089243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D0DB-1DDB-45DB-B2A9-0E00DDFD231E}"/>
              </a:ext>
            </a:extLst>
          </p:cNvPr>
          <p:cNvSpPr>
            <a:spLocks noGrp="1"/>
          </p:cNvSpPr>
          <p:nvPr>
            <p:ph type="title"/>
          </p:nvPr>
        </p:nvSpPr>
        <p:spPr/>
        <p:txBody>
          <a:bodyPr/>
          <a:lstStyle/>
          <a:p>
            <a:r>
              <a:rPr lang="en-GB" dirty="0"/>
              <a:t>How to Complete a Modulus 11 Check</a:t>
            </a:r>
          </a:p>
        </p:txBody>
      </p:sp>
      <p:sp>
        <p:nvSpPr>
          <p:cNvPr id="3" name="Content Placeholder 2">
            <a:extLst>
              <a:ext uri="{FF2B5EF4-FFF2-40B4-BE49-F238E27FC236}">
                <a16:creationId xmlns:a16="http://schemas.microsoft.com/office/drawing/2014/main" id="{EE6C0F3D-E262-4723-8E82-C66D421DD2C0}"/>
              </a:ext>
            </a:extLst>
          </p:cNvPr>
          <p:cNvSpPr>
            <a:spLocks noGrp="1"/>
          </p:cNvSpPr>
          <p:nvPr>
            <p:ph idx="1"/>
          </p:nvPr>
        </p:nvSpPr>
        <p:spPr>
          <a:xfrm>
            <a:off x="838199" y="1825625"/>
            <a:ext cx="11353799" cy="500325"/>
          </a:xfrm>
          <a:ln>
            <a:noFill/>
          </a:ln>
        </p:spPr>
        <p:txBody>
          <a:bodyPr>
            <a:normAutofit/>
          </a:bodyPr>
          <a:lstStyle/>
          <a:p>
            <a:pPr marL="0" indent="0">
              <a:buNone/>
            </a:pPr>
            <a:r>
              <a:rPr lang="en-GB" dirty="0"/>
              <a:t>Consider the following product number 91167 and calculate the check digit.</a:t>
            </a:r>
          </a:p>
          <a:p>
            <a:pPr marL="0" indent="0">
              <a:buNone/>
            </a:pPr>
            <a:endParaRPr lang="en-GB" dirty="0"/>
          </a:p>
          <a:p>
            <a:pPr marL="0" indent="0">
              <a:buNone/>
            </a:pPr>
            <a:endParaRPr lang="en-GB" dirty="0"/>
          </a:p>
          <a:p>
            <a:pPr marL="0" indent="0">
              <a:buNone/>
            </a:pPr>
            <a:endParaRPr lang="en-GB" dirty="0"/>
          </a:p>
          <a:p>
            <a:pPr marL="0" indent="0">
              <a:buNone/>
            </a:pPr>
            <a:endParaRPr lang="en-GB" dirty="0"/>
          </a:p>
          <a:p>
            <a:endParaRPr lang="en-GB" dirty="0"/>
          </a:p>
        </p:txBody>
      </p:sp>
      <p:grpSp>
        <p:nvGrpSpPr>
          <p:cNvPr id="15" name="Group 14">
            <a:extLst>
              <a:ext uri="{FF2B5EF4-FFF2-40B4-BE49-F238E27FC236}">
                <a16:creationId xmlns:a16="http://schemas.microsoft.com/office/drawing/2014/main" id="{F06395BE-1938-48A1-A741-9C23DE4F0F4F}"/>
              </a:ext>
            </a:extLst>
          </p:cNvPr>
          <p:cNvGrpSpPr/>
          <p:nvPr/>
        </p:nvGrpSpPr>
        <p:grpSpPr>
          <a:xfrm>
            <a:off x="-19232" y="3045039"/>
            <a:ext cx="12211232" cy="4421080"/>
            <a:chOff x="-19232" y="3045039"/>
            <a:chExt cx="12211232" cy="4421080"/>
          </a:xfrm>
        </p:grpSpPr>
        <p:grpSp>
          <p:nvGrpSpPr>
            <p:cNvPr id="11" name="Group 10">
              <a:extLst>
                <a:ext uri="{FF2B5EF4-FFF2-40B4-BE49-F238E27FC236}">
                  <a16:creationId xmlns:a16="http://schemas.microsoft.com/office/drawing/2014/main" id="{1E53BE35-BDE7-4FCC-ACEB-9B42B82B64D2}"/>
                </a:ext>
              </a:extLst>
            </p:cNvPr>
            <p:cNvGrpSpPr/>
            <p:nvPr/>
          </p:nvGrpSpPr>
          <p:grpSpPr>
            <a:xfrm>
              <a:off x="-19232" y="3045039"/>
              <a:ext cx="5045468" cy="4421080"/>
              <a:chOff x="-19232" y="3045039"/>
              <a:chExt cx="5045468" cy="4421080"/>
            </a:xfrm>
          </p:grpSpPr>
          <p:grpSp>
            <p:nvGrpSpPr>
              <p:cNvPr id="9" name="Group 8">
                <a:extLst>
                  <a:ext uri="{FF2B5EF4-FFF2-40B4-BE49-F238E27FC236}">
                    <a16:creationId xmlns:a16="http://schemas.microsoft.com/office/drawing/2014/main" id="{D9BC28F3-85DA-4F06-BBF9-55E740E441D8}"/>
                  </a:ext>
                </a:extLst>
              </p:cNvPr>
              <p:cNvGrpSpPr/>
              <p:nvPr/>
            </p:nvGrpSpPr>
            <p:grpSpPr>
              <a:xfrm>
                <a:off x="-19232" y="3045039"/>
                <a:ext cx="5045468" cy="4421080"/>
                <a:chOff x="-19232" y="3045039"/>
                <a:chExt cx="5045468" cy="4421080"/>
              </a:xfrm>
            </p:grpSpPr>
            <p:sp>
              <p:nvSpPr>
                <p:cNvPr id="6" name="Right Triangle 5">
                  <a:extLst>
                    <a:ext uri="{FF2B5EF4-FFF2-40B4-BE49-F238E27FC236}">
                      <a16:creationId xmlns:a16="http://schemas.microsoft.com/office/drawing/2014/main" id="{31AAA57A-CFF8-4FAA-9C39-CCF674893661}"/>
                    </a:ext>
                  </a:extLst>
                </p:cNvPr>
                <p:cNvSpPr/>
                <p:nvPr/>
              </p:nvSpPr>
              <p:spPr>
                <a:xfrm flipV="1">
                  <a:off x="-19232" y="3045039"/>
                  <a:ext cx="4617866" cy="4421080"/>
                </a:xfrm>
                <a:prstGeom prst="rtTriangle">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 name="Right Triangle 6">
                  <a:extLst>
                    <a:ext uri="{FF2B5EF4-FFF2-40B4-BE49-F238E27FC236}">
                      <a16:creationId xmlns:a16="http://schemas.microsoft.com/office/drawing/2014/main" id="{A761C188-2607-4E1C-A1EA-9DA3760B9F39}"/>
                    </a:ext>
                  </a:extLst>
                </p:cNvPr>
                <p:cNvSpPr/>
                <p:nvPr/>
              </p:nvSpPr>
              <p:spPr>
                <a:xfrm flipV="1">
                  <a:off x="-1" y="3045039"/>
                  <a:ext cx="5026237" cy="2466514"/>
                </a:xfrm>
                <a:prstGeom prst="rtTriangle">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05A57D30-0264-495C-95D9-34FB36354D5D}"/>
                    </a:ext>
                  </a:extLst>
                </p:cNvPr>
                <p:cNvGrpSpPr/>
                <p:nvPr/>
              </p:nvGrpSpPr>
              <p:grpSpPr>
                <a:xfrm>
                  <a:off x="1" y="3045041"/>
                  <a:ext cx="5007003" cy="665826"/>
                  <a:chOff x="1" y="3045041"/>
                  <a:chExt cx="5007003" cy="665826"/>
                </a:xfrm>
              </p:grpSpPr>
              <p:sp>
                <p:nvSpPr>
                  <p:cNvPr id="4" name="Rectangle 3">
                    <a:extLst>
                      <a:ext uri="{FF2B5EF4-FFF2-40B4-BE49-F238E27FC236}">
                        <a16:creationId xmlns:a16="http://schemas.microsoft.com/office/drawing/2014/main" id="{F6283A50-B31C-4C16-9480-F3351D4A9BA4}"/>
                      </a:ext>
                    </a:extLst>
                  </p:cNvPr>
                  <p:cNvSpPr/>
                  <p:nvPr/>
                </p:nvSpPr>
                <p:spPr>
                  <a:xfrm>
                    <a:off x="1" y="3045041"/>
                    <a:ext cx="4092606" cy="665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STEP 2</a:t>
                    </a:r>
                  </a:p>
                </p:txBody>
              </p:sp>
              <p:sp>
                <p:nvSpPr>
                  <p:cNvPr id="5" name="Right Triangle 4">
                    <a:extLst>
                      <a:ext uri="{FF2B5EF4-FFF2-40B4-BE49-F238E27FC236}">
                        <a16:creationId xmlns:a16="http://schemas.microsoft.com/office/drawing/2014/main" id="{503D170D-1BFD-42AC-A6DA-6342DEA18D62}"/>
                      </a:ext>
                    </a:extLst>
                  </p:cNvPr>
                  <p:cNvSpPr/>
                  <p:nvPr/>
                </p:nvSpPr>
                <p:spPr>
                  <a:xfrm flipV="1">
                    <a:off x="4092606" y="3045041"/>
                    <a:ext cx="914398" cy="665826"/>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 name="TextBox 9">
                <a:extLst>
                  <a:ext uri="{FF2B5EF4-FFF2-40B4-BE49-F238E27FC236}">
                    <a16:creationId xmlns:a16="http://schemas.microsoft.com/office/drawing/2014/main" id="{4E853A86-5065-4BA6-9EB0-8256E76148A3}"/>
                  </a:ext>
                </a:extLst>
              </p:cNvPr>
              <p:cNvSpPr txBox="1"/>
              <p:nvPr/>
            </p:nvSpPr>
            <p:spPr>
              <a:xfrm>
                <a:off x="124287" y="3835153"/>
                <a:ext cx="2512381" cy="954107"/>
              </a:xfrm>
              <a:prstGeom prst="rect">
                <a:avLst/>
              </a:prstGeom>
              <a:noFill/>
            </p:spPr>
            <p:txBody>
              <a:bodyPr wrap="square" rtlCol="0">
                <a:spAutoFit/>
              </a:bodyPr>
              <a:lstStyle/>
              <a:p>
                <a:r>
                  <a:rPr lang="en-GB" sz="2800" b="1" dirty="0"/>
                  <a:t>Calculate Products</a:t>
                </a:r>
              </a:p>
            </p:txBody>
          </p:sp>
        </p:grpSp>
        <p:sp>
          <p:nvSpPr>
            <p:cNvPr id="13" name="Right Triangle 12">
              <a:extLst>
                <a:ext uri="{FF2B5EF4-FFF2-40B4-BE49-F238E27FC236}">
                  <a16:creationId xmlns:a16="http://schemas.microsoft.com/office/drawing/2014/main" id="{2DA7C61A-6C11-4BB4-9A72-16881BD06FCE}"/>
                </a:ext>
              </a:extLst>
            </p:cNvPr>
            <p:cNvSpPr/>
            <p:nvPr/>
          </p:nvSpPr>
          <p:spPr>
            <a:xfrm flipH="1">
              <a:off x="8309499" y="3835152"/>
              <a:ext cx="3882501" cy="3022847"/>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ight Triangle 13">
              <a:extLst>
                <a:ext uri="{FF2B5EF4-FFF2-40B4-BE49-F238E27FC236}">
                  <a16:creationId xmlns:a16="http://schemas.microsoft.com/office/drawing/2014/main" id="{2F94C4FA-72D1-4F36-9E1F-42C09C5C4120}"/>
                </a:ext>
              </a:extLst>
            </p:cNvPr>
            <p:cNvSpPr/>
            <p:nvPr/>
          </p:nvSpPr>
          <p:spPr>
            <a:xfrm flipH="1">
              <a:off x="9090733" y="3515557"/>
              <a:ext cx="3101266" cy="3342443"/>
            </a:xfrm>
            <a:prstGeom prst="r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AD90B06F-6BEF-42BA-8DFF-FB184DF5C9C3}"/>
                </a:ext>
              </a:extLst>
            </p:cNvPr>
            <p:cNvSpPr txBox="1"/>
            <p:nvPr/>
          </p:nvSpPr>
          <p:spPr>
            <a:xfrm>
              <a:off x="2743200" y="4408272"/>
              <a:ext cx="8966446" cy="1822369"/>
            </a:xfrm>
            <a:prstGeom prst="rect">
              <a:avLst/>
            </a:prstGeom>
            <a:solidFill>
              <a:schemeClr val="bg1"/>
            </a:solidFill>
            <a:ln w="76200">
              <a:solidFill>
                <a:srgbClr val="00B0F0"/>
              </a:solidFill>
            </a:ln>
          </p:spPr>
          <p:txBody>
            <a:bodyPr wrap="square" rtlCol="0">
              <a:spAutoFit/>
            </a:bodyPr>
            <a:lstStyle/>
            <a:p>
              <a:endParaRPr lang="en-GB" dirty="0"/>
            </a:p>
          </p:txBody>
        </p:sp>
      </p:grpSp>
      <p:sp>
        <p:nvSpPr>
          <p:cNvPr id="16" name="TextBox 15">
            <a:extLst>
              <a:ext uri="{FF2B5EF4-FFF2-40B4-BE49-F238E27FC236}">
                <a16:creationId xmlns:a16="http://schemas.microsoft.com/office/drawing/2014/main" id="{585DB960-B451-417C-97BB-F337B7E49DA3}"/>
              </a:ext>
            </a:extLst>
          </p:cNvPr>
          <p:cNvSpPr txBox="1"/>
          <p:nvPr/>
        </p:nvSpPr>
        <p:spPr>
          <a:xfrm>
            <a:off x="2911876" y="4545367"/>
            <a:ext cx="8673483" cy="369332"/>
          </a:xfrm>
          <a:prstGeom prst="rect">
            <a:avLst/>
          </a:prstGeom>
          <a:noFill/>
        </p:spPr>
        <p:txBody>
          <a:bodyPr wrap="square" rtlCol="0">
            <a:spAutoFit/>
          </a:bodyPr>
          <a:lstStyle/>
          <a:p>
            <a:r>
              <a:rPr lang="en-GB" dirty="0"/>
              <a:t>Multiply the weight by the number</a:t>
            </a:r>
          </a:p>
        </p:txBody>
      </p:sp>
      <p:graphicFrame>
        <p:nvGraphicFramePr>
          <p:cNvPr id="17" name="Table 16">
            <a:extLst>
              <a:ext uri="{FF2B5EF4-FFF2-40B4-BE49-F238E27FC236}">
                <a16:creationId xmlns:a16="http://schemas.microsoft.com/office/drawing/2014/main" id="{82B6BB9D-B19B-45C7-852B-8BA70CF2F1D3}"/>
              </a:ext>
            </a:extLst>
          </p:cNvPr>
          <p:cNvGraphicFramePr>
            <a:graphicFrameLocks noGrp="1"/>
          </p:cNvGraphicFramePr>
          <p:nvPr>
            <p:extLst>
              <p:ext uri="{D42A27DB-BD31-4B8C-83A1-F6EECF244321}">
                <p14:modId xmlns:p14="http://schemas.microsoft.com/office/powerpoint/2010/main" val="3063738741"/>
              </p:ext>
            </p:extLst>
          </p:nvPr>
        </p:nvGraphicFramePr>
        <p:xfrm>
          <a:off x="5849909" y="4922547"/>
          <a:ext cx="5626444" cy="1139469"/>
        </p:xfrm>
        <a:graphic>
          <a:graphicData uri="http://schemas.openxmlformats.org/drawingml/2006/table">
            <a:tbl>
              <a:tblPr firstRow="1" firstCol="1" lastRow="1" lastCol="1" bandRow="1" bandCol="1">
                <a:tableStyleId>{5C22544A-7EE6-4342-B048-85BDC9FD1C3A}</a:tableStyleId>
              </a:tblPr>
              <a:tblGrid>
                <a:gridCol w="946129">
                  <a:extLst>
                    <a:ext uri="{9D8B030D-6E8A-4147-A177-3AD203B41FA5}">
                      <a16:colId xmlns:a16="http://schemas.microsoft.com/office/drawing/2014/main" val="2425371613"/>
                    </a:ext>
                  </a:extLst>
                </a:gridCol>
                <a:gridCol w="779595">
                  <a:extLst>
                    <a:ext uri="{9D8B030D-6E8A-4147-A177-3AD203B41FA5}">
                      <a16:colId xmlns:a16="http://schemas.microsoft.com/office/drawing/2014/main" val="2153337985"/>
                    </a:ext>
                  </a:extLst>
                </a:gridCol>
                <a:gridCol w="779595">
                  <a:extLst>
                    <a:ext uri="{9D8B030D-6E8A-4147-A177-3AD203B41FA5}">
                      <a16:colId xmlns:a16="http://schemas.microsoft.com/office/drawing/2014/main" val="3981312308"/>
                    </a:ext>
                  </a:extLst>
                </a:gridCol>
                <a:gridCol w="779595">
                  <a:extLst>
                    <a:ext uri="{9D8B030D-6E8A-4147-A177-3AD203B41FA5}">
                      <a16:colId xmlns:a16="http://schemas.microsoft.com/office/drawing/2014/main" val="2784303635"/>
                    </a:ext>
                  </a:extLst>
                </a:gridCol>
                <a:gridCol w="780510">
                  <a:extLst>
                    <a:ext uri="{9D8B030D-6E8A-4147-A177-3AD203B41FA5}">
                      <a16:colId xmlns:a16="http://schemas.microsoft.com/office/drawing/2014/main" val="1070383991"/>
                    </a:ext>
                  </a:extLst>
                </a:gridCol>
                <a:gridCol w="780510">
                  <a:extLst>
                    <a:ext uri="{9D8B030D-6E8A-4147-A177-3AD203B41FA5}">
                      <a16:colId xmlns:a16="http://schemas.microsoft.com/office/drawing/2014/main" val="1251842734"/>
                    </a:ext>
                  </a:extLst>
                </a:gridCol>
                <a:gridCol w="780510">
                  <a:extLst>
                    <a:ext uri="{9D8B030D-6E8A-4147-A177-3AD203B41FA5}">
                      <a16:colId xmlns:a16="http://schemas.microsoft.com/office/drawing/2014/main" val="3437157024"/>
                    </a:ext>
                  </a:extLst>
                </a:gridCol>
              </a:tblGrid>
              <a:tr h="330495">
                <a:tc>
                  <a:txBody>
                    <a:bodyPr/>
                    <a:lstStyle/>
                    <a:p>
                      <a:pPr>
                        <a:lnSpc>
                          <a:spcPct val="115000"/>
                        </a:lnSpc>
                        <a:spcAft>
                          <a:spcPts val="0"/>
                        </a:spcAft>
                      </a:pPr>
                      <a:r>
                        <a:rPr lang="en-GB" sz="1600" dirty="0">
                          <a:effectLst/>
                        </a:rPr>
                        <a:t>Weight</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6</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5</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4</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3</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2</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extLst>
                  <a:ext uri="{0D108BD9-81ED-4DB2-BD59-A6C34878D82A}">
                    <a16:rowId xmlns:a16="http://schemas.microsoft.com/office/drawing/2014/main" val="1659030254"/>
                  </a:ext>
                </a:extLst>
              </a:tr>
              <a:tr h="404487">
                <a:tc>
                  <a:txBody>
                    <a:bodyPr/>
                    <a:lstStyle/>
                    <a:p>
                      <a:pP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Number</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rPr>
                        <a:t>9</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chor="ctr"/>
                </a:tc>
                <a:tc>
                  <a:txBody>
                    <a:bodyPr/>
                    <a:lstStyle/>
                    <a:p>
                      <a:pPr algn="ctr">
                        <a:lnSpc>
                          <a:spcPct val="115000"/>
                        </a:lnSpc>
                        <a:spcAft>
                          <a:spcPts val="0"/>
                        </a:spcAft>
                      </a:pPr>
                      <a:r>
                        <a:rPr lang="en-GB" sz="1600" dirty="0">
                          <a:effectLst/>
                        </a:rPr>
                        <a:t>7</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nchor="ctr"/>
                </a:tc>
                <a:extLst>
                  <a:ext uri="{0D108BD9-81ED-4DB2-BD59-A6C34878D82A}">
                    <a16:rowId xmlns:a16="http://schemas.microsoft.com/office/drawing/2014/main" val="2847034875"/>
                  </a:ext>
                </a:extLst>
              </a:tr>
              <a:tr h="404487">
                <a:tc>
                  <a:txBody>
                    <a:bodyPr/>
                    <a:lstStyle/>
                    <a:p>
                      <a:pP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Product</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54</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nchor="ctr"/>
                </a:tc>
                <a:tc>
                  <a:txBody>
                    <a:bodyPr/>
                    <a:lstStyle/>
                    <a:p>
                      <a:pPr algn="ctr">
                        <a:lnSpc>
                          <a:spcPct val="115000"/>
                        </a:lnSpc>
                        <a:spcAft>
                          <a:spcPts val="0"/>
                        </a:spcAft>
                      </a:pP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62035384"/>
                  </a:ext>
                </a:extLst>
              </a:tr>
            </a:tbl>
          </a:graphicData>
        </a:graphic>
      </p:graphicFrame>
    </p:spTree>
    <p:extLst>
      <p:ext uri="{BB962C8B-B14F-4D97-AF65-F5344CB8AC3E}">
        <p14:creationId xmlns:p14="http://schemas.microsoft.com/office/powerpoint/2010/main" val="4023951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D0DB-1DDB-45DB-B2A9-0E00DDFD231E}"/>
              </a:ext>
            </a:extLst>
          </p:cNvPr>
          <p:cNvSpPr>
            <a:spLocks noGrp="1"/>
          </p:cNvSpPr>
          <p:nvPr>
            <p:ph type="title"/>
          </p:nvPr>
        </p:nvSpPr>
        <p:spPr/>
        <p:txBody>
          <a:bodyPr/>
          <a:lstStyle/>
          <a:p>
            <a:r>
              <a:rPr lang="en-GB" dirty="0"/>
              <a:t>How to Complete a Modulus 11 Check</a:t>
            </a:r>
          </a:p>
        </p:txBody>
      </p:sp>
      <p:sp>
        <p:nvSpPr>
          <p:cNvPr id="3" name="Content Placeholder 2">
            <a:extLst>
              <a:ext uri="{FF2B5EF4-FFF2-40B4-BE49-F238E27FC236}">
                <a16:creationId xmlns:a16="http://schemas.microsoft.com/office/drawing/2014/main" id="{EE6C0F3D-E262-4723-8E82-C66D421DD2C0}"/>
              </a:ext>
            </a:extLst>
          </p:cNvPr>
          <p:cNvSpPr>
            <a:spLocks noGrp="1"/>
          </p:cNvSpPr>
          <p:nvPr>
            <p:ph idx="1"/>
          </p:nvPr>
        </p:nvSpPr>
        <p:spPr>
          <a:xfrm>
            <a:off x="838200" y="1810635"/>
            <a:ext cx="11243872" cy="500325"/>
          </a:xfrm>
          <a:ln>
            <a:noFill/>
          </a:ln>
        </p:spPr>
        <p:txBody>
          <a:bodyPr>
            <a:normAutofit/>
          </a:bodyPr>
          <a:lstStyle/>
          <a:p>
            <a:pPr marL="0" indent="0">
              <a:buNone/>
            </a:pPr>
            <a:r>
              <a:rPr lang="en-GB" dirty="0"/>
              <a:t>Consider the following product number 91167 and calculate the check digit.</a:t>
            </a:r>
          </a:p>
          <a:p>
            <a:pPr marL="0" indent="0">
              <a:buNone/>
            </a:pPr>
            <a:endParaRPr lang="en-GB" dirty="0"/>
          </a:p>
          <a:p>
            <a:pPr marL="0" indent="0">
              <a:buNone/>
            </a:pPr>
            <a:endParaRPr lang="en-GB" dirty="0"/>
          </a:p>
          <a:p>
            <a:pPr marL="0" indent="0">
              <a:buNone/>
            </a:pPr>
            <a:endParaRPr lang="en-GB" dirty="0"/>
          </a:p>
          <a:p>
            <a:pPr marL="0" indent="0">
              <a:buNone/>
            </a:pPr>
            <a:endParaRPr lang="en-GB" dirty="0"/>
          </a:p>
          <a:p>
            <a:endParaRPr lang="en-GB" dirty="0"/>
          </a:p>
        </p:txBody>
      </p:sp>
      <p:grpSp>
        <p:nvGrpSpPr>
          <p:cNvPr id="15" name="Group 14">
            <a:extLst>
              <a:ext uri="{FF2B5EF4-FFF2-40B4-BE49-F238E27FC236}">
                <a16:creationId xmlns:a16="http://schemas.microsoft.com/office/drawing/2014/main" id="{F06395BE-1938-48A1-A741-9C23DE4F0F4F}"/>
              </a:ext>
            </a:extLst>
          </p:cNvPr>
          <p:cNvGrpSpPr/>
          <p:nvPr/>
        </p:nvGrpSpPr>
        <p:grpSpPr>
          <a:xfrm>
            <a:off x="-19232" y="3045039"/>
            <a:ext cx="12211232" cy="4421080"/>
            <a:chOff x="-19232" y="3045039"/>
            <a:chExt cx="12211232" cy="4421080"/>
          </a:xfrm>
        </p:grpSpPr>
        <p:grpSp>
          <p:nvGrpSpPr>
            <p:cNvPr id="11" name="Group 10">
              <a:extLst>
                <a:ext uri="{FF2B5EF4-FFF2-40B4-BE49-F238E27FC236}">
                  <a16:creationId xmlns:a16="http://schemas.microsoft.com/office/drawing/2014/main" id="{1E53BE35-BDE7-4FCC-ACEB-9B42B82B64D2}"/>
                </a:ext>
              </a:extLst>
            </p:cNvPr>
            <p:cNvGrpSpPr/>
            <p:nvPr/>
          </p:nvGrpSpPr>
          <p:grpSpPr>
            <a:xfrm>
              <a:off x="-19232" y="3045039"/>
              <a:ext cx="5045468" cy="4421080"/>
              <a:chOff x="-19232" y="3045039"/>
              <a:chExt cx="5045468" cy="4421080"/>
            </a:xfrm>
          </p:grpSpPr>
          <p:grpSp>
            <p:nvGrpSpPr>
              <p:cNvPr id="9" name="Group 8">
                <a:extLst>
                  <a:ext uri="{FF2B5EF4-FFF2-40B4-BE49-F238E27FC236}">
                    <a16:creationId xmlns:a16="http://schemas.microsoft.com/office/drawing/2014/main" id="{D9BC28F3-85DA-4F06-BBF9-55E740E441D8}"/>
                  </a:ext>
                </a:extLst>
              </p:cNvPr>
              <p:cNvGrpSpPr/>
              <p:nvPr/>
            </p:nvGrpSpPr>
            <p:grpSpPr>
              <a:xfrm>
                <a:off x="-19232" y="3045039"/>
                <a:ext cx="5045468" cy="4421080"/>
                <a:chOff x="-19232" y="3045039"/>
                <a:chExt cx="5045468" cy="4421080"/>
              </a:xfrm>
            </p:grpSpPr>
            <p:sp>
              <p:nvSpPr>
                <p:cNvPr id="6" name="Right Triangle 5">
                  <a:extLst>
                    <a:ext uri="{FF2B5EF4-FFF2-40B4-BE49-F238E27FC236}">
                      <a16:creationId xmlns:a16="http://schemas.microsoft.com/office/drawing/2014/main" id="{31AAA57A-CFF8-4FAA-9C39-CCF674893661}"/>
                    </a:ext>
                  </a:extLst>
                </p:cNvPr>
                <p:cNvSpPr/>
                <p:nvPr/>
              </p:nvSpPr>
              <p:spPr>
                <a:xfrm flipV="1">
                  <a:off x="-19232" y="3045039"/>
                  <a:ext cx="4617866" cy="4421080"/>
                </a:xfrm>
                <a:prstGeom prst="rtTriangle">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 name="Right Triangle 6">
                  <a:extLst>
                    <a:ext uri="{FF2B5EF4-FFF2-40B4-BE49-F238E27FC236}">
                      <a16:creationId xmlns:a16="http://schemas.microsoft.com/office/drawing/2014/main" id="{A761C188-2607-4E1C-A1EA-9DA3760B9F39}"/>
                    </a:ext>
                  </a:extLst>
                </p:cNvPr>
                <p:cNvSpPr/>
                <p:nvPr/>
              </p:nvSpPr>
              <p:spPr>
                <a:xfrm flipV="1">
                  <a:off x="-1" y="3045039"/>
                  <a:ext cx="5026237" cy="2466514"/>
                </a:xfrm>
                <a:prstGeom prst="rtTriangle">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05A57D30-0264-495C-95D9-34FB36354D5D}"/>
                    </a:ext>
                  </a:extLst>
                </p:cNvPr>
                <p:cNvGrpSpPr/>
                <p:nvPr/>
              </p:nvGrpSpPr>
              <p:grpSpPr>
                <a:xfrm>
                  <a:off x="1" y="3045041"/>
                  <a:ext cx="5007003" cy="665826"/>
                  <a:chOff x="1" y="3045041"/>
                  <a:chExt cx="5007003" cy="665826"/>
                </a:xfrm>
              </p:grpSpPr>
              <p:sp>
                <p:nvSpPr>
                  <p:cNvPr id="4" name="Rectangle 3">
                    <a:extLst>
                      <a:ext uri="{FF2B5EF4-FFF2-40B4-BE49-F238E27FC236}">
                        <a16:creationId xmlns:a16="http://schemas.microsoft.com/office/drawing/2014/main" id="{F6283A50-B31C-4C16-9480-F3351D4A9BA4}"/>
                      </a:ext>
                    </a:extLst>
                  </p:cNvPr>
                  <p:cNvSpPr/>
                  <p:nvPr/>
                </p:nvSpPr>
                <p:spPr>
                  <a:xfrm>
                    <a:off x="1" y="3045041"/>
                    <a:ext cx="4092606" cy="665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STEP 3</a:t>
                    </a:r>
                  </a:p>
                </p:txBody>
              </p:sp>
              <p:sp>
                <p:nvSpPr>
                  <p:cNvPr id="5" name="Right Triangle 4">
                    <a:extLst>
                      <a:ext uri="{FF2B5EF4-FFF2-40B4-BE49-F238E27FC236}">
                        <a16:creationId xmlns:a16="http://schemas.microsoft.com/office/drawing/2014/main" id="{503D170D-1BFD-42AC-A6DA-6342DEA18D62}"/>
                      </a:ext>
                    </a:extLst>
                  </p:cNvPr>
                  <p:cNvSpPr/>
                  <p:nvPr/>
                </p:nvSpPr>
                <p:spPr>
                  <a:xfrm flipV="1">
                    <a:off x="4092606" y="3045041"/>
                    <a:ext cx="914398" cy="665826"/>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 name="TextBox 9">
                <a:extLst>
                  <a:ext uri="{FF2B5EF4-FFF2-40B4-BE49-F238E27FC236}">
                    <a16:creationId xmlns:a16="http://schemas.microsoft.com/office/drawing/2014/main" id="{4E853A86-5065-4BA6-9EB0-8256E76148A3}"/>
                  </a:ext>
                </a:extLst>
              </p:cNvPr>
              <p:cNvSpPr txBox="1"/>
              <p:nvPr/>
            </p:nvSpPr>
            <p:spPr>
              <a:xfrm>
                <a:off x="124287" y="3835153"/>
                <a:ext cx="2512381" cy="954107"/>
              </a:xfrm>
              <a:prstGeom prst="rect">
                <a:avLst/>
              </a:prstGeom>
              <a:noFill/>
            </p:spPr>
            <p:txBody>
              <a:bodyPr wrap="square" rtlCol="0">
                <a:spAutoFit/>
              </a:bodyPr>
              <a:lstStyle/>
              <a:p>
                <a:r>
                  <a:rPr lang="en-GB" sz="2800" b="1" dirty="0"/>
                  <a:t>Sum the Products</a:t>
                </a:r>
              </a:p>
            </p:txBody>
          </p:sp>
        </p:grpSp>
        <p:sp>
          <p:nvSpPr>
            <p:cNvPr id="13" name="Right Triangle 12">
              <a:extLst>
                <a:ext uri="{FF2B5EF4-FFF2-40B4-BE49-F238E27FC236}">
                  <a16:creationId xmlns:a16="http://schemas.microsoft.com/office/drawing/2014/main" id="{2DA7C61A-6C11-4BB4-9A72-16881BD06FCE}"/>
                </a:ext>
              </a:extLst>
            </p:cNvPr>
            <p:cNvSpPr/>
            <p:nvPr/>
          </p:nvSpPr>
          <p:spPr>
            <a:xfrm flipH="1">
              <a:off x="8309499" y="3835152"/>
              <a:ext cx="3882501" cy="3022847"/>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ight Triangle 13">
              <a:extLst>
                <a:ext uri="{FF2B5EF4-FFF2-40B4-BE49-F238E27FC236}">
                  <a16:creationId xmlns:a16="http://schemas.microsoft.com/office/drawing/2014/main" id="{2F94C4FA-72D1-4F36-9E1F-42C09C5C4120}"/>
                </a:ext>
              </a:extLst>
            </p:cNvPr>
            <p:cNvSpPr/>
            <p:nvPr/>
          </p:nvSpPr>
          <p:spPr>
            <a:xfrm flipH="1">
              <a:off x="9090733" y="3515557"/>
              <a:ext cx="3101266" cy="3342443"/>
            </a:xfrm>
            <a:prstGeom prst="r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AD90B06F-6BEF-42BA-8DFF-FB184DF5C9C3}"/>
                </a:ext>
              </a:extLst>
            </p:cNvPr>
            <p:cNvSpPr txBox="1"/>
            <p:nvPr/>
          </p:nvSpPr>
          <p:spPr>
            <a:xfrm>
              <a:off x="2743200" y="4408272"/>
              <a:ext cx="8966446" cy="1822369"/>
            </a:xfrm>
            <a:prstGeom prst="rect">
              <a:avLst/>
            </a:prstGeom>
            <a:solidFill>
              <a:schemeClr val="bg1"/>
            </a:solidFill>
            <a:ln w="76200">
              <a:solidFill>
                <a:srgbClr val="00B0F0"/>
              </a:solidFill>
            </a:ln>
          </p:spPr>
          <p:txBody>
            <a:bodyPr wrap="square" rtlCol="0">
              <a:spAutoFit/>
            </a:bodyPr>
            <a:lstStyle/>
            <a:p>
              <a:endParaRPr lang="en-GB" dirty="0"/>
            </a:p>
          </p:txBody>
        </p:sp>
      </p:grpSp>
      <p:sp>
        <p:nvSpPr>
          <p:cNvPr id="16" name="TextBox 15">
            <a:extLst>
              <a:ext uri="{FF2B5EF4-FFF2-40B4-BE49-F238E27FC236}">
                <a16:creationId xmlns:a16="http://schemas.microsoft.com/office/drawing/2014/main" id="{585DB960-B451-417C-97BB-F337B7E49DA3}"/>
              </a:ext>
            </a:extLst>
          </p:cNvPr>
          <p:cNvSpPr txBox="1"/>
          <p:nvPr/>
        </p:nvSpPr>
        <p:spPr>
          <a:xfrm>
            <a:off x="2911876" y="4545367"/>
            <a:ext cx="8673483" cy="1477328"/>
          </a:xfrm>
          <a:prstGeom prst="rect">
            <a:avLst/>
          </a:prstGeom>
          <a:noFill/>
        </p:spPr>
        <p:txBody>
          <a:bodyPr wrap="square" rtlCol="0">
            <a:spAutoFit/>
          </a:bodyPr>
          <a:lstStyle/>
          <a:p>
            <a:r>
              <a:rPr lang="en-GB" dirty="0"/>
              <a:t>Add the Products together</a:t>
            </a:r>
          </a:p>
          <a:p>
            <a:endParaRPr lang="en-GB" dirty="0"/>
          </a:p>
          <a:p>
            <a:endParaRPr lang="en-GB" dirty="0"/>
          </a:p>
          <a:p>
            <a:endParaRPr lang="en-GB" dirty="0"/>
          </a:p>
          <a:p>
            <a:r>
              <a:rPr lang="en-GB" dirty="0"/>
              <a:t>54 + 5 + 4 + 18 + 14 = 95</a:t>
            </a:r>
          </a:p>
        </p:txBody>
      </p:sp>
      <p:graphicFrame>
        <p:nvGraphicFramePr>
          <p:cNvPr id="17" name="Table 16">
            <a:extLst>
              <a:ext uri="{FF2B5EF4-FFF2-40B4-BE49-F238E27FC236}">
                <a16:creationId xmlns:a16="http://schemas.microsoft.com/office/drawing/2014/main" id="{82B6BB9D-B19B-45C7-852B-8BA70CF2F1D3}"/>
              </a:ext>
            </a:extLst>
          </p:cNvPr>
          <p:cNvGraphicFramePr>
            <a:graphicFrameLocks noGrp="1"/>
          </p:cNvGraphicFramePr>
          <p:nvPr>
            <p:extLst>
              <p:ext uri="{D42A27DB-BD31-4B8C-83A1-F6EECF244321}">
                <p14:modId xmlns:p14="http://schemas.microsoft.com/office/powerpoint/2010/main" val="955820407"/>
              </p:ext>
            </p:extLst>
          </p:nvPr>
        </p:nvGraphicFramePr>
        <p:xfrm>
          <a:off x="5886894" y="4749721"/>
          <a:ext cx="5626444" cy="1139469"/>
        </p:xfrm>
        <a:graphic>
          <a:graphicData uri="http://schemas.openxmlformats.org/drawingml/2006/table">
            <a:tbl>
              <a:tblPr firstRow="1" firstCol="1" lastRow="1" lastCol="1" bandRow="1" bandCol="1">
                <a:tableStyleId>{5C22544A-7EE6-4342-B048-85BDC9FD1C3A}</a:tableStyleId>
              </a:tblPr>
              <a:tblGrid>
                <a:gridCol w="946129">
                  <a:extLst>
                    <a:ext uri="{9D8B030D-6E8A-4147-A177-3AD203B41FA5}">
                      <a16:colId xmlns:a16="http://schemas.microsoft.com/office/drawing/2014/main" val="2425371613"/>
                    </a:ext>
                  </a:extLst>
                </a:gridCol>
                <a:gridCol w="779595">
                  <a:extLst>
                    <a:ext uri="{9D8B030D-6E8A-4147-A177-3AD203B41FA5}">
                      <a16:colId xmlns:a16="http://schemas.microsoft.com/office/drawing/2014/main" val="2153337985"/>
                    </a:ext>
                  </a:extLst>
                </a:gridCol>
                <a:gridCol w="779595">
                  <a:extLst>
                    <a:ext uri="{9D8B030D-6E8A-4147-A177-3AD203B41FA5}">
                      <a16:colId xmlns:a16="http://schemas.microsoft.com/office/drawing/2014/main" val="3981312308"/>
                    </a:ext>
                  </a:extLst>
                </a:gridCol>
                <a:gridCol w="779595">
                  <a:extLst>
                    <a:ext uri="{9D8B030D-6E8A-4147-A177-3AD203B41FA5}">
                      <a16:colId xmlns:a16="http://schemas.microsoft.com/office/drawing/2014/main" val="2784303635"/>
                    </a:ext>
                  </a:extLst>
                </a:gridCol>
                <a:gridCol w="780510">
                  <a:extLst>
                    <a:ext uri="{9D8B030D-6E8A-4147-A177-3AD203B41FA5}">
                      <a16:colId xmlns:a16="http://schemas.microsoft.com/office/drawing/2014/main" val="1070383991"/>
                    </a:ext>
                  </a:extLst>
                </a:gridCol>
                <a:gridCol w="780510">
                  <a:extLst>
                    <a:ext uri="{9D8B030D-6E8A-4147-A177-3AD203B41FA5}">
                      <a16:colId xmlns:a16="http://schemas.microsoft.com/office/drawing/2014/main" val="1251842734"/>
                    </a:ext>
                  </a:extLst>
                </a:gridCol>
                <a:gridCol w="780510">
                  <a:extLst>
                    <a:ext uri="{9D8B030D-6E8A-4147-A177-3AD203B41FA5}">
                      <a16:colId xmlns:a16="http://schemas.microsoft.com/office/drawing/2014/main" val="3437157024"/>
                    </a:ext>
                  </a:extLst>
                </a:gridCol>
              </a:tblGrid>
              <a:tr h="330495">
                <a:tc>
                  <a:txBody>
                    <a:bodyPr/>
                    <a:lstStyle/>
                    <a:p>
                      <a:pPr>
                        <a:lnSpc>
                          <a:spcPct val="115000"/>
                        </a:lnSpc>
                        <a:spcAft>
                          <a:spcPts val="0"/>
                        </a:spcAft>
                      </a:pPr>
                      <a:r>
                        <a:rPr lang="en-GB" sz="1600" dirty="0">
                          <a:effectLst/>
                        </a:rPr>
                        <a:t>Weight</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6</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5</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4</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3</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2</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extLst>
                  <a:ext uri="{0D108BD9-81ED-4DB2-BD59-A6C34878D82A}">
                    <a16:rowId xmlns:a16="http://schemas.microsoft.com/office/drawing/2014/main" val="1659030254"/>
                  </a:ext>
                </a:extLst>
              </a:tr>
              <a:tr h="404487">
                <a:tc>
                  <a:txBody>
                    <a:bodyPr/>
                    <a:lstStyle/>
                    <a:p>
                      <a:pP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Number</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rPr>
                        <a:t>9</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chor="ctr"/>
                </a:tc>
                <a:tc>
                  <a:txBody>
                    <a:bodyPr/>
                    <a:lstStyle/>
                    <a:p>
                      <a:pPr algn="ctr">
                        <a:lnSpc>
                          <a:spcPct val="115000"/>
                        </a:lnSpc>
                        <a:spcAft>
                          <a:spcPts val="0"/>
                        </a:spcAft>
                      </a:pPr>
                      <a:r>
                        <a:rPr lang="en-GB" sz="1600" dirty="0">
                          <a:effectLst/>
                        </a:rPr>
                        <a:t>7</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nchor="ctr"/>
                </a:tc>
                <a:extLst>
                  <a:ext uri="{0D108BD9-81ED-4DB2-BD59-A6C34878D82A}">
                    <a16:rowId xmlns:a16="http://schemas.microsoft.com/office/drawing/2014/main" val="2847034875"/>
                  </a:ext>
                </a:extLst>
              </a:tr>
              <a:tr h="404487">
                <a:tc>
                  <a:txBody>
                    <a:bodyPr/>
                    <a:lstStyle/>
                    <a:p>
                      <a:pP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Product</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54</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nchor="ctr"/>
                </a:tc>
                <a:tc>
                  <a:txBody>
                    <a:bodyPr/>
                    <a:lstStyle/>
                    <a:p>
                      <a:pPr algn="ctr">
                        <a:lnSpc>
                          <a:spcPct val="115000"/>
                        </a:lnSpc>
                        <a:spcAft>
                          <a:spcPts val="0"/>
                        </a:spcAft>
                      </a:pP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62035384"/>
                  </a:ext>
                </a:extLst>
              </a:tr>
            </a:tbl>
          </a:graphicData>
        </a:graphic>
      </p:graphicFrame>
    </p:spTree>
    <p:extLst>
      <p:ext uri="{BB962C8B-B14F-4D97-AF65-F5344CB8AC3E}">
        <p14:creationId xmlns:p14="http://schemas.microsoft.com/office/powerpoint/2010/main" val="2677415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D0DB-1DDB-45DB-B2A9-0E00DDFD231E}"/>
              </a:ext>
            </a:extLst>
          </p:cNvPr>
          <p:cNvSpPr>
            <a:spLocks noGrp="1"/>
          </p:cNvSpPr>
          <p:nvPr>
            <p:ph type="title"/>
          </p:nvPr>
        </p:nvSpPr>
        <p:spPr/>
        <p:txBody>
          <a:bodyPr/>
          <a:lstStyle/>
          <a:p>
            <a:r>
              <a:rPr lang="en-GB" dirty="0"/>
              <a:t>How to Complete a Modulus 11 Check</a:t>
            </a:r>
          </a:p>
        </p:txBody>
      </p:sp>
      <p:sp>
        <p:nvSpPr>
          <p:cNvPr id="3" name="Content Placeholder 2">
            <a:extLst>
              <a:ext uri="{FF2B5EF4-FFF2-40B4-BE49-F238E27FC236}">
                <a16:creationId xmlns:a16="http://schemas.microsoft.com/office/drawing/2014/main" id="{EE6C0F3D-E262-4723-8E82-C66D421DD2C0}"/>
              </a:ext>
            </a:extLst>
          </p:cNvPr>
          <p:cNvSpPr>
            <a:spLocks noGrp="1"/>
          </p:cNvSpPr>
          <p:nvPr>
            <p:ph idx="1"/>
          </p:nvPr>
        </p:nvSpPr>
        <p:spPr>
          <a:xfrm>
            <a:off x="838200" y="1825625"/>
            <a:ext cx="11228882" cy="500325"/>
          </a:xfrm>
          <a:ln>
            <a:noFill/>
          </a:ln>
        </p:spPr>
        <p:txBody>
          <a:bodyPr>
            <a:normAutofit/>
          </a:bodyPr>
          <a:lstStyle/>
          <a:p>
            <a:pPr marL="0" indent="0">
              <a:buNone/>
            </a:pPr>
            <a:r>
              <a:rPr lang="en-GB" dirty="0"/>
              <a:t>Consider the following product number 91167 and calculate the check digit.</a:t>
            </a:r>
          </a:p>
          <a:p>
            <a:pPr marL="0" indent="0">
              <a:buNone/>
            </a:pPr>
            <a:endParaRPr lang="en-GB" dirty="0"/>
          </a:p>
          <a:p>
            <a:pPr marL="0" indent="0">
              <a:buNone/>
            </a:pPr>
            <a:endParaRPr lang="en-GB" dirty="0"/>
          </a:p>
          <a:p>
            <a:pPr marL="0" indent="0">
              <a:buNone/>
            </a:pPr>
            <a:endParaRPr lang="en-GB" dirty="0"/>
          </a:p>
          <a:p>
            <a:pPr marL="0" indent="0">
              <a:buNone/>
            </a:pPr>
            <a:endParaRPr lang="en-GB" dirty="0"/>
          </a:p>
          <a:p>
            <a:endParaRPr lang="en-GB" dirty="0"/>
          </a:p>
        </p:txBody>
      </p:sp>
      <p:grpSp>
        <p:nvGrpSpPr>
          <p:cNvPr id="15" name="Group 14">
            <a:extLst>
              <a:ext uri="{FF2B5EF4-FFF2-40B4-BE49-F238E27FC236}">
                <a16:creationId xmlns:a16="http://schemas.microsoft.com/office/drawing/2014/main" id="{F06395BE-1938-48A1-A741-9C23DE4F0F4F}"/>
              </a:ext>
            </a:extLst>
          </p:cNvPr>
          <p:cNvGrpSpPr/>
          <p:nvPr/>
        </p:nvGrpSpPr>
        <p:grpSpPr>
          <a:xfrm>
            <a:off x="-19232" y="3045039"/>
            <a:ext cx="12211232" cy="4421080"/>
            <a:chOff x="-19232" y="3045039"/>
            <a:chExt cx="12211232" cy="4421080"/>
          </a:xfrm>
        </p:grpSpPr>
        <p:grpSp>
          <p:nvGrpSpPr>
            <p:cNvPr id="11" name="Group 10">
              <a:extLst>
                <a:ext uri="{FF2B5EF4-FFF2-40B4-BE49-F238E27FC236}">
                  <a16:creationId xmlns:a16="http://schemas.microsoft.com/office/drawing/2014/main" id="{1E53BE35-BDE7-4FCC-ACEB-9B42B82B64D2}"/>
                </a:ext>
              </a:extLst>
            </p:cNvPr>
            <p:cNvGrpSpPr/>
            <p:nvPr/>
          </p:nvGrpSpPr>
          <p:grpSpPr>
            <a:xfrm>
              <a:off x="-19232" y="3045039"/>
              <a:ext cx="5045468" cy="4421080"/>
              <a:chOff x="-19232" y="3045039"/>
              <a:chExt cx="5045468" cy="4421080"/>
            </a:xfrm>
          </p:grpSpPr>
          <p:grpSp>
            <p:nvGrpSpPr>
              <p:cNvPr id="9" name="Group 8">
                <a:extLst>
                  <a:ext uri="{FF2B5EF4-FFF2-40B4-BE49-F238E27FC236}">
                    <a16:creationId xmlns:a16="http://schemas.microsoft.com/office/drawing/2014/main" id="{D9BC28F3-85DA-4F06-BBF9-55E740E441D8}"/>
                  </a:ext>
                </a:extLst>
              </p:cNvPr>
              <p:cNvGrpSpPr/>
              <p:nvPr/>
            </p:nvGrpSpPr>
            <p:grpSpPr>
              <a:xfrm>
                <a:off x="-19232" y="3045039"/>
                <a:ext cx="5045468" cy="4421080"/>
                <a:chOff x="-19232" y="3045039"/>
                <a:chExt cx="5045468" cy="4421080"/>
              </a:xfrm>
            </p:grpSpPr>
            <p:sp>
              <p:nvSpPr>
                <p:cNvPr id="6" name="Right Triangle 5">
                  <a:extLst>
                    <a:ext uri="{FF2B5EF4-FFF2-40B4-BE49-F238E27FC236}">
                      <a16:creationId xmlns:a16="http://schemas.microsoft.com/office/drawing/2014/main" id="{31AAA57A-CFF8-4FAA-9C39-CCF674893661}"/>
                    </a:ext>
                  </a:extLst>
                </p:cNvPr>
                <p:cNvSpPr/>
                <p:nvPr/>
              </p:nvSpPr>
              <p:spPr>
                <a:xfrm flipV="1">
                  <a:off x="-19232" y="3045039"/>
                  <a:ext cx="4617866" cy="4421080"/>
                </a:xfrm>
                <a:prstGeom prst="rtTriangle">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 name="Right Triangle 6">
                  <a:extLst>
                    <a:ext uri="{FF2B5EF4-FFF2-40B4-BE49-F238E27FC236}">
                      <a16:creationId xmlns:a16="http://schemas.microsoft.com/office/drawing/2014/main" id="{A761C188-2607-4E1C-A1EA-9DA3760B9F39}"/>
                    </a:ext>
                  </a:extLst>
                </p:cNvPr>
                <p:cNvSpPr/>
                <p:nvPr/>
              </p:nvSpPr>
              <p:spPr>
                <a:xfrm flipV="1">
                  <a:off x="-1" y="3045039"/>
                  <a:ext cx="5026237" cy="2466514"/>
                </a:xfrm>
                <a:prstGeom prst="rtTriangle">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05A57D30-0264-495C-95D9-34FB36354D5D}"/>
                    </a:ext>
                  </a:extLst>
                </p:cNvPr>
                <p:cNvGrpSpPr/>
                <p:nvPr/>
              </p:nvGrpSpPr>
              <p:grpSpPr>
                <a:xfrm>
                  <a:off x="1" y="3045041"/>
                  <a:ext cx="5007003" cy="665826"/>
                  <a:chOff x="1" y="3045041"/>
                  <a:chExt cx="5007003" cy="665826"/>
                </a:xfrm>
              </p:grpSpPr>
              <p:sp>
                <p:nvSpPr>
                  <p:cNvPr id="4" name="Rectangle 3">
                    <a:extLst>
                      <a:ext uri="{FF2B5EF4-FFF2-40B4-BE49-F238E27FC236}">
                        <a16:creationId xmlns:a16="http://schemas.microsoft.com/office/drawing/2014/main" id="{F6283A50-B31C-4C16-9480-F3351D4A9BA4}"/>
                      </a:ext>
                    </a:extLst>
                  </p:cNvPr>
                  <p:cNvSpPr/>
                  <p:nvPr/>
                </p:nvSpPr>
                <p:spPr>
                  <a:xfrm>
                    <a:off x="1" y="3045041"/>
                    <a:ext cx="4092606" cy="665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STEP 4</a:t>
                    </a:r>
                  </a:p>
                </p:txBody>
              </p:sp>
              <p:sp>
                <p:nvSpPr>
                  <p:cNvPr id="5" name="Right Triangle 4">
                    <a:extLst>
                      <a:ext uri="{FF2B5EF4-FFF2-40B4-BE49-F238E27FC236}">
                        <a16:creationId xmlns:a16="http://schemas.microsoft.com/office/drawing/2014/main" id="{503D170D-1BFD-42AC-A6DA-6342DEA18D62}"/>
                      </a:ext>
                    </a:extLst>
                  </p:cNvPr>
                  <p:cNvSpPr/>
                  <p:nvPr/>
                </p:nvSpPr>
                <p:spPr>
                  <a:xfrm flipV="1">
                    <a:off x="4092606" y="3045041"/>
                    <a:ext cx="914398" cy="665826"/>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 name="TextBox 9">
                <a:extLst>
                  <a:ext uri="{FF2B5EF4-FFF2-40B4-BE49-F238E27FC236}">
                    <a16:creationId xmlns:a16="http://schemas.microsoft.com/office/drawing/2014/main" id="{4E853A86-5065-4BA6-9EB0-8256E76148A3}"/>
                  </a:ext>
                </a:extLst>
              </p:cNvPr>
              <p:cNvSpPr txBox="1"/>
              <p:nvPr/>
            </p:nvSpPr>
            <p:spPr>
              <a:xfrm>
                <a:off x="124287" y="3835153"/>
                <a:ext cx="2512381" cy="954107"/>
              </a:xfrm>
              <a:prstGeom prst="rect">
                <a:avLst/>
              </a:prstGeom>
              <a:noFill/>
            </p:spPr>
            <p:txBody>
              <a:bodyPr wrap="square" rtlCol="0">
                <a:spAutoFit/>
              </a:bodyPr>
              <a:lstStyle/>
              <a:p>
                <a:r>
                  <a:rPr lang="en-GB" sz="2800" b="1" dirty="0"/>
                  <a:t>Divide the Total by 11</a:t>
                </a:r>
              </a:p>
            </p:txBody>
          </p:sp>
        </p:grpSp>
        <p:sp>
          <p:nvSpPr>
            <p:cNvPr id="13" name="Right Triangle 12">
              <a:extLst>
                <a:ext uri="{FF2B5EF4-FFF2-40B4-BE49-F238E27FC236}">
                  <a16:creationId xmlns:a16="http://schemas.microsoft.com/office/drawing/2014/main" id="{2DA7C61A-6C11-4BB4-9A72-16881BD06FCE}"/>
                </a:ext>
              </a:extLst>
            </p:cNvPr>
            <p:cNvSpPr/>
            <p:nvPr/>
          </p:nvSpPr>
          <p:spPr>
            <a:xfrm flipH="1">
              <a:off x="8309499" y="3835152"/>
              <a:ext cx="3882501" cy="3022847"/>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ight Triangle 13">
              <a:extLst>
                <a:ext uri="{FF2B5EF4-FFF2-40B4-BE49-F238E27FC236}">
                  <a16:creationId xmlns:a16="http://schemas.microsoft.com/office/drawing/2014/main" id="{2F94C4FA-72D1-4F36-9E1F-42C09C5C4120}"/>
                </a:ext>
              </a:extLst>
            </p:cNvPr>
            <p:cNvSpPr/>
            <p:nvPr/>
          </p:nvSpPr>
          <p:spPr>
            <a:xfrm flipH="1">
              <a:off x="9090733" y="3515557"/>
              <a:ext cx="3101266" cy="3342443"/>
            </a:xfrm>
            <a:prstGeom prst="r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AD90B06F-6BEF-42BA-8DFF-FB184DF5C9C3}"/>
                </a:ext>
              </a:extLst>
            </p:cNvPr>
            <p:cNvSpPr txBox="1"/>
            <p:nvPr/>
          </p:nvSpPr>
          <p:spPr>
            <a:xfrm>
              <a:off x="2743200" y="4408272"/>
              <a:ext cx="8966446" cy="1822369"/>
            </a:xfrm>
            <a:prstGeom prst="rect">
              <a:avLst/>
            </a:prstGeom>
            <a:solidFill>
              <a:schemeClr val="bg1"/>
            </a:solidFill>
            <a:ln w="76200">
              <a:solidFill>
                <a:srgbClr val="00B0F0"/>
              </a:solidFill>
            </a:ln>
          </p:spPr>
          <p:txBody>
            <a:bodyPr wrap="square" rtlCol="0">
              <a:spAutoFit/>
            </a:bodyPr>
            <a:lstStyle/>
            <a:p>
              <a:endParaRPr lang="en-GB" dirty="0"/>
            </a:p>
          </p:txBody>
        </p:sp>
      </p:grpSp>
      <p:sp>
        <p:nvSpPr>
          <p:cNvPr id="16" name="TextBox 15">
            <a:extLst>
              <a:ext uri="{FF2B5EF4-FFF2-40B4-BE49-F238E27FC236}">
                <a16:creationId xmlns:a16="http://schemas.microsoft.com/office/drawing/2014/main" id="{585DB960-B451-417C-97BB-F337B7E49DA3}"/>
              </a:ext>
            </a:extLst>
          </p:cNvPr>
          <p:cNvSpPr txBox="1"/>
          <p:nvPr/>
        </p:nvSpPr>
        <p:spPr>
          <a:xfrm>
            <a:off x="2911876" y="4545367"/>
            <a:ext cx="8673483" cy="1200329"/>
          </a:xfrm>
          <a:prstGeom prst="rect">
            <a:avLst/>
          </a:prstGeom>
          <a:noFill/>
        </p:spPr>
        <p:txBody>
          <a:bodyPr wrap="square" rtlCol="0">
            <a:spAutoFit/>
          </a:bodyPr>
          <a:lstStyle/>
          <a:p>
            <a:r>
              <a:rPr lang="en-GB" dirty="0"/>
              <a:t>Divide this total by 11 and write down the remainder</a:t>
            </a:r>
          </a:p>
          <a:p>
            <a:r>
              <a:rPr lang="en-GB" dirty="0"/>
              <a:t>54 + 5 + 4 + 18 + 14 = 95</a:t>
            </a:r>
          </a:p>
          <a:p>
            <a:endParaRPr lang="en-GB" dirty="0"/>
          </a:p>
          <a:p>
            <a:r>
              <a:rPr lang="en-GB" dirty="0"/>
              <a:t>95 / 11 = 8 remainder 7</a:t>
            </a:r>
          </a:p>
        </p:txBody>
      </p:sp>
      <p:graphicFrame>
        <p:nvGraphicFramePr>
          <p:cNvPr id="17" name="Table 16">
            <a:extLst>
              <a:ext uri="{FF2B5EF4-FFF2-40B4-BE49-F238E27FC236}">
                <a16:creationId xmlns:a16="http://schemas.microsoft.com/office/drawing/2014/main" id="{82B6BB9D-B19B-45C7-852B-8BA70CF2F1D3}"/>
              </a:ext>
            </a:extLst>
          </p:cNvPr>
          <p:cNvGraphicFramePr>
            <a:graphicFrameLocks noGrp="1"/>
          </p:cNvGraphicFramePr>
          <p:nvPr>
            <p:extLst>
              <p:ext uri="{D42A27DB-BD31-4B8C-83A1-F6EECF244321}">
                <p14:modId xmlns:p14="http://schemas.microsoft.com/office/powerpoint/2010/main" val="294252400"/>
              </p:ext>
            </p:extLst>
          </p:nvPr>
        </p:nvGraphicFramePr>
        <p:xfrm>
          <a:off x="5799368" y="4941818"/>
          <a:ext cx="5626444" cy="1139469"/>
        </p:xfrm>
        <a:graphic>
          <a:graphicData uri="http://schemas.openxmlformats.org/drawingml/2006/table">
            <a:tbl>
              <a:tblPr firstRow="1" firstCol="1" lastRow="1" lastCol="1" bandRow="1" bandCol="1">
                <a:tableStyleId>{5C22544A-7EE6-4342-B048-85BDC9FD1C3A}</a:tableStyleId>
              </a:tblPr>
              <a:tblGrid>
                <a:gridCol w="946129">
                  <a:extLst>
                    <a:ext uri="{9D8B030D-6E8A-4147-A177-3AD203B41FA5}">
                      <a16:colId xmlns:a16="http://schemas.microsoft.com/office/drawing/2014/main" val="2425371613"/>
                    </a:ext>
                  </a:extLst>
                </a:gridCol>
                <a:gridCol w="779595">
                  <a:extLst>
                    <a:ext uri="{9D8B030D-6E8A-4147-A177-3AD203B41FA5}">
                      <a16:colId xmlns:a16="http://schemas.microsoft.com/office/drawing/2014/main" val="2153337985"/>
                    </a:ext>
                  </a:extLst>
                </a:gridCol>
                <a:gridCol w="779595">
                  <a:extLst>
                    <a:ext uri="{9D8B030D-6E8A-4147-A177-3AD203B41FA5}">
                      <a16:colId xmlns:a16="http://schemas.microsoft.com/office/drawing/2014/main" val="3981312308"/>
                    </a:ext>
                  </a:extLst>
                </a:gridCol>
                <a:gridCol w="779595">
                  <a:extLst>
                    <a:ext uri="{9D8B030D-6E8A-4147-A177-3AD203B41FA5}">
                      <a16:colId xmlns:a16="http://schemas.microsoft.com/office/drawing/2014/main" val="2784303635"/>
                    </a:ext>
                  </a:extLst>
                </a:gridCol>
                <a:gridCol w="780510">
                  <a:extLst>
                    <a:ext uri="{9D8B030D-6E8A-4147-A177-3AD203B41FA5}">
                      <a16:colId xmlns:a16="http://schemas.microsoft.com/office/drawing/2014/main" val="1070383991"/>
                    </a:ext>
                  </a:extLst>
                </a:gridCol>
                <a:gridCol w="780510">
                  <a:extLst>
                    <a:ext uri="{9D8B030D-6E8A-4147-A177-3AD203B41FA5}">
                      <a16:colId xmlns:a16="http://schemas.microsoft.com/office/drawing/2014/main" val="1251842734"/>
                    </a:ext>
                  </a:extLst>
                </a:gridCol>
                <a:gridCol w="780510">
                  <a:extLst>
                    <a:ext uri="{9D8B030D-6E8A-4147-A177-3AD203B41FA5}">
                      <a16:colId xmlns:a16="http://schemas.microsoft.com/office/drawing/2014/main" val="3437157024"/>
                    </a:ext>
                  </a:extLst>
                </a:gridCol>
              </a:tblGrid>
              <a:tr h="330495">
                <a:tc>
                  <a:txBody>
                    <a:bodyPr/>
                    <a:lstStyle/>
                    <a:p>
                      <a:pPr>
                        <a:lnSpc>
                          <a:spcPct val="115000"/>
                        </a:lnSpc>
                        <a:spcAft>
                          <a:spcPts val="0"/>
                        </a:spcAft>
                      </a:pPr>
                      <a:r>
                        <a:rPr lang="en-GB" sz="1600" dirty="0">
                          <a:effectLst/>
                        </a:rPr>
                        <a:t>Weight</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6</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5</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4</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3</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2</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extLst>
                  <a:ext uri="{0D108BD9-81ED-4DB2-BD59-A6C34878D82A}">
                    <a16:rowId xmlns:a16="http://schemas.microsoft.com/office/drawing/2014/main" val="1659030254"/>
                  </a:ext>
                </a:extLst>
              </a:tr>
              <a:tr h="404487">
                <a:tc>
                  <a:txBody>
                    <a:bodyPr/>
                    <a:lstStyle/>
                    <a:p>
                      <a:pP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Number</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rPr>
                        <a:t>9</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chor="ctr"/>
                </a:tc>
                <a:tc>
                  <a:txBody>
                    <a:bodyPr/>
                    <a:lstStyle/>
                    <a:p>
                      <a:pPr algn="ctr">
                        <a:lnSpc>
                          <a:spcPct val="115000"/>
                        </a:lnSpc>
                        <a:spcAft>
                          <a:spcPts val="0"/>
                        </a:spcAft>
                      </a:pPr>
                      <a:r>
                        <a:rPr lang="en-GB" sz="1600" dirty="0">
                          <a:effectLst/>
                        </a:rPr>
                        <a:t>7</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nchor="ctr"/>
                </a:tc>
                <a:extLst>
                  <a:ext uri="{0D108BD9-81ED-4DB2-BD59-A6C34878D82A}">
                    <a16:rowId xmlns:a16="http://schemas.microsoft.com/office/drawing/2014/main" val="2847034875"/>
                  </a:ext>
                </a:extLst>
              </a:tr>
              <a:tr h="404487">
                <a:tc>
                  <a:txBody>
                    <a:bodyPr/>
                    <a:lstStyle/>
                    <a:p>
                      <a:pP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Product</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54</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nchor="ctr"/>
                </a:tc>
                <a:tc>
                  <a:txBody>
                    <a:bodyPr/>
                    <a:lstStyle/>
                    <a:p>
                      <a:pPr algn="ctr">
                        <a:lnSpc>
                          <a:spcPct val="115000"/>
                        </a:lnSpc>
                        <a:spcAft>
                          <a:spcPts val="0"/>
                        </a:spcAft>
                      </a:pP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62035384"/>
                  </a:ext>
                </a:extLst>
              </a:tr>
            </a:tbl>
          </a:graphicData>
        </a:graphic>
      </p:graphicFrame>
    </p:spTree>
    <p:extLst>
      <p:ext uri="{BB962C8B-B14F-4D97-AF65-F5344CB8AC3E}">
        <p14:creationId xmlns:p14="http://schemas.microsoft.com/office/powerpoint/2010/main" val="1555771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BD0DB-1DDB-45DB-B2A9-0E00DDFD231E}"/>
              </a:ext>
            </a:extLst>
          </p:cNvPr>
          <p:cNvSpPr>
            <a:spLocks noGrp="1"/>
          </p:cNvSpPr>
          <p:nvPr>
            <p:ph type="title"/>
          </p:nvPr>
        </p:nvSpPr>
        <p:spPr/>
        <p:txBody>
          <a:bodyPr/>
          <a:lstStyle/>
          <a:p>
            <a:r>
              <a:rPr lang="en-GB" dirty="0"/>
              <a:t>How to Complete a Modulus 11 Check</a:t>
            </a:r>
          </a:p>
        </p:txBody>
      </p:sp>
      <p:sp>
        <p:nvSpPr>
          <p:cNvPr id="3" name="Content Placeholder 2">
            <a:extLst>
              <a:ext uri="{FF2B5EF4-FFF2-40B4-BE49-F238E27FC236}">
                <a16:creationId xmlns:a16="http://schemas.microsoft.com/office/drawing/2014/main" id="{EE6C0F3D-E262-4723-8E82-C66D421DD2C0}"/>
              </a:ext>
            </a:extLst>
          </p:cNvPr>
          <p:cNvSpPr>
            <a:spLocks noGrp="1"/>
          </p:cNvSpPr>
          <p:nvPr>
            <p:ph idx="1"/>
          </p:nvPr>
        </p:nvSpPr>
        <p:spPr>
          <a:xfrm>
            <a:off x="838199" y="1825625"/>
            <a:ext cx="11353799" cy="500325"/>
          </a:xfrm>
          <a:ln>
            <a:noFill/>
          </a:ln>
        </p:spPr>
        <p:txBody>
          <a:bodyPr>
            <a:normAutofit/>
          </a:bodyPr>
          <a:lstStyle/>
          <a:p>
            <a:pPr marL="0" indent="0">
              <a:buNone/>
            </a:pPr>
            <a:r>
              <a:rPr lang="en-GB" dirty="0"/>
              <a:t>Consider the following product number 91167 and calculate the check digit.</a:t>
            </a:r>
          </a:p>
          <a:p>
            <a:pPr marL="0" indent="0">
              <a:buNone/>
            </a:pPr>
            <a:endParaRPr lang="en-GB" dirty="0"/>
          </a:p>
          <a:p>
            <a:pPr marL="0" indent="0">
              <a:buNone/>
            </a:pPr>
            <a:endParaRPr lang="en-GB" dirty="0"/>
          </a:p>
          <a:p>
            <a:pPr marL="0" indent="0">
              <a:buNone/>
            </a:pPr>
            <a:endParaRPr lang="en-GB" dirty="0"/>
          </a:p>
          <a:p>
            <a:pPr marL="0" indent="0">
              <a:buNone/>
            </a:pPr>
            <a:endParaRPr lang="en-GB" dirty="0"/>
          </a:p>
          <a:p>
            <a:endParaRPr lang="en-GB" dirty="0"/>
          </a:p>
        </p:txBody>
      </p:sp>
      <p:grpSp>
        <p:nvGrpSpPr>
          <p:cNvPr id="15" name="Group 14">
            <a:extLst>
              <a:ext uri="{FF2B5EF4-FFF2-40B4-BE49-F238E27FC236}">
                <a16:creationId xmlns:a16="http://schemas.microsoft.com/office/drawing/2014/main" id="{F06395BE-1938-48A1-A741-9C23DE4F0F4F}"/>
              </a:ext>
            </a:extLst>
          </p:cNvPr>
          <p:cNvGrpSpPr/>
          <p:nvPr/>
        </p:nvGrpSpPr>
        <p:grpSpPr>
          <a:xfrm>
            <a:off x="-19232" y="3045039"/>
            <a:ext cx="12211232" cy="4421080"/>
            <a:chOff x="-19232" y="3045039"/>
            <a:chExt cx="12211232" cy="4421080"/>
          </a:xfrm>
        </p:grpSpPr>
        <p:grpSp>
          <p:nvGrpSpPr>
            <p:cNvPr id="11" name="Group 10">
              <a:extLst>
                <a:ext uri="{FF2B5EF4-FFF2-40B4-BE49-F238E27FC236}">
                  <a16:creationId xmlns:a16="http://schemas.microsoft.com/office/drawing/2014/main" id="{1E53BE35-BDE7-4FCC-ACEB-9B42B82B64D2}"/>
                </a:ext>
              </a:extLst>
            </p:cNvPr>
            <p:cNvGrpSpPr/>
            <p:nvPr/>
          </p:nvGrpSpPr>
          <p:grpSpPr>
            <a:xfrm>
              <a:off x="-19232" y="3045039"/>
              <a:ext cx="5045468" cy="4421080"/>
              <a:chOff x="-19232" y="3045039"/>
              <a:chExt cx="5045468" cy="4421080"/>
            </a:xfrm>
          </p:grpSpPr>
          <p:grpSp>
            <p:nvGrpSpPr>
              <p:cNvPr id="9" name="Group 8">
                <a:extLst>
                  <a:ext uri="{FF2B5EF4-FFF2-40B4-BE49-F238E27FC236}">
                    <a16:creationId xmlns:a16="http://schemas.microsoft.com/office/drawing/2014/main" id="{D9BC28F3-85DA-4F06-BBF9-55E740E441D8}"/>
                  </a:ext>
                </a:extLst>
              </p:cNvPr>
              <p:cNvGrpSpPr/>
              <p:nvPr/>
            </p:nvGrpSpPr>
            <p:grpSpPr>
              <a:xfrm>
                <a:off x="-19232" y="3045039"/>
                <a:ext cx="5045468" cy="4421080"/>
                <a:chOff x="-19232" y="3045039"/>
                <a:chExt cx="5045468" cy="4421080"/>
              </a:xfrm>
            </p:grpSpPr>
            <p:sp>
              <p:nvSpPr>
                <p:cNvPr id="6" name="Right Triangle 5">
                  <a:extLst>
                    <a:ext uri="{FF2B5EF4-FFF2-40B4-BE49-F238E27FC236}">
                      <a16:creationId xmlns:a16="http://schemas.microsoft.com/office/drawing/2014/main" id="{31AAA57A-CFF8-4FAA-9C39-CCF674893661}"/>
                    </a:ext>
                  </a:extLst>
                </p:cNvPr>
                <p:cNvSpPr/>
                <p:nvPr/>
              </p:nvSpPr>
              <p:spPr>
                <a:xfrm flipV="1">
                  <a:off x="-19232" y="3045039"/>
                  <a:ext cx="4617866" cy="4421080"/>
                </a:xfrm>
                <a:prstGeom prst="rtTriangle">
                  <a:avLst/>
                </a:prstGeom>
                <a:solidFill>
                  <a:srgbClr val="00206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7" name="Right Triangle 6">
                  <a:extLst>
                    <a:ext uri="{FF2B5EF4-FFF2-40B4-BE49-F238E27FC236}">
                      <a16:creationId xmlns:a16="http://schemas.microsoft.com/office/drawing/2014/main" id="{A761C188-2607-4E1C-A1EA-9DA3760B9F39}"/>
                    </a:ext>
                  </a:extLst>
                </p:cNvPr>
                <p:cNvSpPr/>
                <p:nvPr/>
              </p:nvSpPr>
              <p:spPr>
                <a:xfrm flipV="1">
                  <a:off x="-1" y="3045039"/>
                  <a:ext cx="5026237" cy="2466514"/>
                </a:xfrm>
                <a:prstGeom prst="rtTriangle">
                  <a:avLst/>
                </a:prstGeom>
                <a:solidFill>
                  <a:srgbClr val="00B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05A57D30-0264-495C-95D9-34FB36354D5D}"/>
                    </a:ext>
                  </a:extLst>
                </p:cNvPr>
                <p:cNvGrpSpPr/>
                <p:nvPr/>
              </p:nvGrpSpPr>
              <p:grpSpPr>
                <a:xfrm>
                  <a:off x="1" y="3045041"/>
                  <a:ext cx="5007003" cy="665826"/>
                  <a:chOff x="1" y="3045041"/>
                  <a:chExt cx="5007003" cy="665826"/>
                </a:xfrm>
              </p:grpSpPr>
              <p:sp>
                <p:nvSpPr>
                  <p:cNvPr id="4" name="Rectangle 3">
                    <a:extLst>
                      <a:ext uri="{FF2B5EF4-FFF2-40B4-BE49-F238E27FC236}">
                        <a16:creationId xmlns:a16="http://schemas.microsoft.com/office/drawing/2014/main" id="{F6283A50-B31C-4C16-9480-F3351D4A9BA4}"/>
                      </a:ext>
                    </a:extLst>
                  </p:cNvPr>
                  <p:cNvSpPr/>
                  <p:nvPr/>
                </p:nvSpPr>
                <p:spPr>
                  <a:xfrm>
                    <a:off x="1" y="3045041"/>
                    <a:ext cx="4092606" cy="665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t>STEP 5</a:t>
                    </a:r>
                  </a:p>
                </p:txBody>
              </p:sp>
              <p:sp>
                <p:nvSpPr>
                  <p:cNvPr id="5" name="Right Triangle 4">
                    <a:extLst>
                      <a:ext uri="{FF2B5EF4-FFF2-40B4-BE49-F238E27FC236}">
                        <a16:creationId xmlns:a16="http://schemas.microsoft.com/office/drawing/2014/main" id="{503D170D-1BFD-42AC-A6DA-6342DEA18D62}"/>
                      </a:ext>
                    </a:extLst>
                  </p:cNvPr>
                  <p:cNvSpPr/>
                  <p:nvPr/>
                </p:nvSpPr>
                <p:spPr>
                  <a:xfrm flipV="1">
                    <a:off x="4092606" y="3045041"/>
                    <a:ext cx="914398" cy="665826"/>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 name="TextBox 9">
                <a:extLst>
                  <a:ext uri="{FF2B5EF4-FFF2-40B4-BE49-F238E27FC236}">
                    <a16:creationId xmlns:a16="http://schemas.microsoft.com/office/drawing/2014/main" id="{4E853A86-5065-4BA6-9EB0-8256E76148A3}"/>
                  </a:ext>
                </a:extLst>
              </p:cNvPr>
              <p:cNvSpPr txBox="1"/>
              <p:nvPr/>
            </p:nvSpPr>
            <p:spPr>
              <a:xfrm>
                <a:off x="124287" y="3835153"/>
                <a:ext cx="2512381" cy="954107"/>
              </a:xfrm>
              <a:prstGeom prst="rect">
                <a:avLst/>
              </a:prstGeom>
              <a:noFill/>
            </p:spPr>
            <p:txBody>
              <a:bodyPr wrap="square" rtlCol="0">
                <a:spAutoFit/>
              </a:bodyPr>
              <a:lstStyle/>
              <a:p>
                <a:r>
                  <a:rPr lang="en-GB" sz="2800" b="1" dirty="0"/>
                  <a:t>11 minus remainder</a:t>
                </a:r>
              </a:p>
            </p:txBody>
          </p:sp>
        </p:grpSp>
        <p:sp>
          <p:nvSpPr>
            <p:cNvPr id="13" name="Right Triangle 12">
              <a:extLst>
                <a:ext uri="{FF2B5EF4-FFF2-40B4-BE49-F238E27FC236}">
                  <a16:creationId xmlns:a16="http://schemas.microsoft.com/office/drawing/2014/main" id="{2DA7C61A-6C11-4BB4-9A72-16881BD06FCE}"/>
                </a:ext>
              </a:extLst>
            </p:cNvPr>
            <p:cNvSpPr/>
            <p:nvPr/>
          </p:nvSpPr>
          <p:spPr>
            <a:xfrm flipH="1">
              <a:off x="8309499" y="3835152"/>
              <a:ext cx="3882501" cy="3022847"/>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ight Triangle 13">
              <a:extLst>
                <a:ext uri="{FF2B5EF4-FFF2-40B4-BE49-F238E27FC236}">
                  <a16:creationId xmlns:a16="http://schemas.microsoft.com/office/drawing/2014/main" id="{2F94C4FA-72D1-4F36-9E1F-42C09C5C4120}"/>
                </a:ext>
              </a:extLst>
            </p:cNvPr>
            <p:cNvSpPr/>
            <p:nvPr/>
          </p:nvSpPr>
          <p:spPr>
            <a:xfrm flipH="1">
              <a:off x="9090733" y="3515557"/>
              <a:ext cx="3101266" cy="3342443"/>
            </a:xfrm>
            <a:prstGeom prst="rtTriangl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AD90B06F-6BEF-42BA-8DFF-FB184DF5C9C3}"/>
                </a:ext>
              </a:extLst>
            </p:cNvPr>
            <p:cNvSpPr txBox="1"/>
            <p:nvPr/>
          </p:nvSpPr>
          <p:spPr>
            <a:xfrm>
              <a:off x="2743200" y="4408272"/>
              <a:ext cx="8966446" cy="1822369"/>
            </a:xfrm>
            <a:prstGeom prst="rect">
              <a:avLst/>
            </a:prstGeom>
            <a:solidFill>
              <a:schemeClr val="bg1"/>
            </a:solidFill>
            <a:ln w="76200">
              <a:solidFill>
                <a:srgbClr val="00B0F0"/>
              </a:solidFill>
            </a:ln>
          </p:spPr>
          <p:txBody>
            <a:bodyPr wrap="square" rtlCol="0">
              <a:spAutoFit/>
            </a:bodyPr>
            <a:lstStyle/>
            <a:p>
              <a:endParaRPr lang="en-GB" dirty="0"/>
            </a:p>
          </p:txBody>
        </p:sp>
      </p:grpSp>
      <p:sp>
        <p:nvSpPr>
          <p:cNvPr id="16" name="TextBox 15">
            <a:extLst>
              <a:ext uri="{FF2B5EF4-FFF2-40B4-BE49-F238E27FC236}">
                <a16:creationId xmlns:a16="http://schemas.microsoft.com/office/drawing/2014/main" id="{585DB960-B451-417C-97BB-F337B7E49DA3}"/>
              </a:ext>
            </a:extLst>
          </p:cNvPr>
          <p:cNvSpPr txBox="1"/>
          <p:nvPr/>
        </p:nvSpPr>
        <p:spPr>
          <a:xfrm>
            <a:off x="2911876" y="4545367"/>
            <a:ext cx="8673483" cy="1477328"/>
          </a:xfrm>
          <a:prstGeom prst="rect">
            <a:avLst/>
          </a:prstGeom>
          <a:noFill/>
        </p:spPr>
        <p:txBody>
          <a:bodyPr wrap="square" rtlCol="0">
            <a:spAutoFit/>
          </a:bodyPr>
          <a:lstStyle/>
          <a:p>
            <a:r>
              <a:rPr lang="en-GB" dirty="0"/>
              <a:t>95 / 11 = 8 remainder 7</a:t>
            </a:r>
          </a:p>
          <a:p>
            <a:endParaRPr lang="en-GB" dirty="0"/>
          </a:p>
          <a:p>
            <a:r>
              <a:rPr lang="en-GB" dirty="0"/>
              <a:t>11 – 7 = 4</a:t>
            </a:r>
          </a:p>
          <a:p>
            <a:endParaRPr lang="en-GB" dirty="0"/>
          </a:p>
          <a:p>
            <a:r>
              <a:rPr lang="en-GB" dirty="0"/>
              <a:t>This means the check digit is 4</a:t>
            </a:r>
          </a:p>
        </p:txBody>
      </p:sp>
      <p:graphicFrame>
        <p:nvGraphicFramePr>
          <p:cNvPr id="17" name="Table 16">
            <a:extLst>
              <a:ext uri="{FF2B5EF4-FFF2-40B4-BE49-F238E27FC236}">
                <a16:creationId xmlns:a16="http://schemas.microsoft.com/office/drawing/2014/main" id="{82B6BB9D-B19B-45C7-852B-8BA70CF2F1D3}"/>
              </a:ext>
            </a:extLst>
          </p:cNvPr>
          <p:cNvGraphicFramePr>
            <a:graphicFrameLocks noGrp="1"/>
          </p:cNvGraphicFramePr>
          <p:nvPr/>
        </p:nvGraphicFramePr>
        <p:xfrm>
          <a:off x="5788238" y="3023355"/>
          <a:ext cx="5626444" cy="1139469"/>
        </p:xfrm>
        <a:graphic>
          <a:graphicData uri="http://schemas.openxmlformats.org/drawingml/2006/table">
            <a:tbl>
              <a:tblPr firstRow="1" firstCol="1" lastRow="1" lastCol="1" bandRow="1" bandCol="1">
                <a:tableStyleId>{5C22544A-7EE6-4342-B048-85BDC9FD1C3A}</a:tableStyleId>
              </a:tblPr>
              <a:tblGrid>
                <a:gridCol w="946129">
                  <a:extLst>
                    <a:ext uri="{9D8B030D-6E8A-4147-A177-3AD203B41FA5}">
                      <a16:colId xmlns:a16="http://schemas.microsoft.com/office/drawing/2014/main" val="2425371613"/>
                    </a:ext>
                  </a:extLst>
                </a:gridCol>
                <a:gridCol w="779595">
                  <a:extLst>
                    <a:ext uri="{9D8B030D-6E8A-4147-A177-3AD203B41FA5}">
                      <a16:colId xmlns:a16="http://schemas.microsoft.com/office/drawing/2014/main" val="2153337985"/>
                    </a:ext>
                  </a:extLst>
                </a:gridCol>
                <a:gridCol w="779595">
                  <a:extLst>
                    <a:ext uri="{9D8B030D-6E8A-4147-A177-3AD203B41FA5}">
                      <a16:colId xmlns:a16="http://schemas.microsoft.com/office/drawing/2014/main" val="3981312308"/>
                    </a:ext>
                  </a:extLst>
                </a:gridCol>
                <a:gridCol w="779595">
                  <a:extLst>
                    <a:ext uri="{9D8B030D-6E8A-4147-A177-3AD203B41FA5}">
                      <a16:colId xmlns:a16="http://schemas.microsoft.com/office/drawing/2014/main" val="2784303635"/>
                    </a:ext>
                  </a:extLst>
                </a:gridCol>
                <a:gridCol w="780510">
                  <a:extLst>
                    <a:ext uri="{9D8B030D-6E8A-4147-A177-3AD203B41FA5}">
                      <a16:colId xmlns:a16="http://schemas.microsoft.com/office/drawing/2014/main" val="1070383991"/>
                    </a:ext>
                  </a:extLst>
                </a:gridCol>
                <a:gridCol w="780510">
                  <a:extLst>
                    <a:ext uri="{9D8B030D-6E8A-4147-A177-3AD203B41FA5}">
                      <a16:colId xmlns:a16="http://schemas.microsoft.com/office/drawing/2014/main" val="1251842734"/>
                    </a:ext>
                  </a:extLst>
                </a:gridCol>
                <a:gridCol w="780510">
                  <a:extLst>
                    <a:ext uri="{9D8B030D-6E8A-4147-A177-3AD203B41FA5}">
                      <a16:colId xmlns:a16="http://schemas.microsoft.com/office/drawing/2014/main" val="3437157024"/>
                    </a:ext>
                  </a:extLst>
                </a:gridCol>
              </a:tblGrid>
              <a:tr h="330495">
                <a:tc>
                  <a:txBody>
                    <a:bodyPr/>
                    <a:lstStyle/>
                    <a:p>
                      <a:pPr>
                        <a:lnSpc>
                          <a:spcPct val="115000"/>
                        </a:lnSpc>
                        <a:spcAft>
                          <a:spcPts val="0"/>
                        </a:spcAft>
                      </a:pPr>
                      <a:r>
                        <a:rPr lang="en-GB" sz="1600" dirty="0">
                          <a:effectLst/>
                        </a:rPr>
                        <a:t>Weight</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6</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5</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4</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3</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2</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extLst>
                  <a:ext uri="{0D108BD9-81ED-4DB2-BD59-A6C34878D82A}">
                    <a16:rowId xmlns:a16="http://schemas.microsoft.com/office/drawing/2014/main" val="1659030254"/>
                  </a:ext>
                </a:extLst>
              </a:tr>
              <a:tr h="404487">
                <a:tc>
                  <a:txBody>
                    <a:bodyPr/>
                    <a:lstStyle/>
                    <a:p>
                      <a:pPr>
                        <a:lnSpc>
                          <a:spcPct val="115000"/>
                        </a:lnSpc>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Number</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600" dirty="0">
                          <a:effectLst/>
                        </a:rPr>
                        <a:t>9</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nchor="ctr"/>
                </a:tc>
                <a:tc>
                  <a:txBody>
                    <a:bodyPr/>
                    <a:lstStyle/>
                    <a:p>
                      <a:pPr algn="ctr">
                        <a:lnSpc>
                          <a:spcPct val="115000"/>
                        </a:lnSpc>
                        <a:spcAft>
                          <a:spcPts val="0"/>
                        </a:spcAft>
                      </a:pPr>
                      <a:r>
                        <a:rPr lang="en-GB" sz="1600" dirty="0">
                          <a:effectLst/>
                        </a:rPr>
                        <a:t>7</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X</a:t>
                      </a:r>
                    </a:p>
                  </a:txBody>
                  <a:tcPr marL="68580" marR="68580" marT="0" marB="0" anchor="ctr"/>
                </a:tc>
                <a:extLst>
                  <a:ext uri="{0D108BD9-81ED-4DB2-BD59-A6C34878D82A}">
                    <a16:rowId xmlns:a16="http://schemas.microsoft.com/office/drawing/2014/main" val="2847034875"/>
                  </a:ext>
                </a:extLst>
              </a:tr>
              <a:tr h="404487">
                <a:tc>
                  <a:txBody>
                    <a:bodyPr/>
                    <a:lstStyle/>
                    <a:p>
                      <a:pP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Product</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54</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18</a:t>
                      </a:r>
                    </a:p>
                  </a:txBody>
                  <a:tcPr marL="68580" marR="68580" marT="0" marB="0" anchor="ctr"/>
                </a:tc>
                <a:tc>
                  <a:txBody>
                    <a:bodyPr/>
                    <a:lstStyle/>
                    <a:p>
                      <a:pPr algn="ctr">
                        <a:lnSpc>
                          <a:spcPct val="115000"/>
                        </a:lnSpc>
                        <a:spcAft>
                          <a:spcPts val="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14</a:t>
                      </a:r>
                    </a:p>
                  </a:txBody>
                  <a:tcPr marL="68580" marR="68580" marT="0" marB="0" anchor="ctr"/>
                </a:tc>
                <a:tc>
                  <a:txBody>
                    <a:bodyPr/>
                    <a:lstStyle/>
                    <a:p>
                      <a:pPr algn="ctr">
                        <a:lnSpc>
                          <a:spcPct val="115000"/>
                        </a:lnSpc>
                        <a:spcAft>
                          <a:spcPts val="0"/>
                        </a:spcAft>
                      </a:pP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62035384"/>
                  </a:ext>
                </a:extLst>
              </a:tr>
            </a:tbl>
          </a:graphicData>
        </a:graphic>
      </p:graphicFrame>
    </p:spTree>
    <p:extLst>
      <p:ext uri="{BB962C8B-B14F-4D97-AF65-F5344CB8AC3E}">
        <p14:creationId xmlns:p14="http://schemas.microsoft.com/office/powerpoint/2010/main" val="19183938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E4EBD-4661-4ED5-827C-750259FAFCBC}"/>
              </a:ext>
            </a:extLst>
          </p:cNvPr>
          <p:cNvSpPr>
            <a:spLocks noGrp="1"/>
          </p:cNvSpPr>
          <p:nvPr>
            <p:ph type="title"/>
          </p:nvPr>
        </p:nvSpPr>
        <p:spPr/>
        <p:txBody>
          <a:bodyPr/>
          <a:lstStyle/>
          <a:p>
            <a:r>
              <a:rPr lang="en-GB" dirty="0"/>
              <a:t>Special Cases</a:t>
            </a:r>
          </a:p>
        </p:txBody>
      </p:sp>
      <p:sp>
        <p:nvSpPr>
          <p:cNvPr id="3" name="Content Placeholder 2">
            <a:extLst>
              <a:ext uri="{FF2B5EF4-FFF2-40B4-BE49-F238E27FC236}">
                <a16:creationId xmlns:a16="http://schemas.microsoft.com/office/drawing/2014/main" id="{4E340055-DB76-421C-A5E2-2820A603EA07}"/>
              </a:ext>
            </a:extLst>
          </p:cNvPr>
          <p:cNvSpPr>
            <a:spLocks noGrp="1"/>
          </p:cNvSpPr>
          <p:nvPr>
            <p:ph idx="1"/>
          </p:nvPr>
        </p:nvSpPr>
        <p:spPr/>
        <p:txBody>
          <a:bodyPr/>
          <a:lstStyle/>
          <a:p>
            <a:r>
              <a:rPr lang="en-GB" dirty="0"/>
              <a:t>It is important to note that there are special cases to the rule Check digit = 11-R. </a:t>
            </a:r>
          </a:p>
          <a:p>
            <a:pPr lvl="1"/>
            <a:r>
              <a:rPr lang="en-GB" dirty="0"/>
              <a:t>If </a:t>
            </a:r>
            <a:r>
              <a:rPr lang="en-GB" b="1" dirty="0"/>
              <a:t>R=1 </a:t>
            </a:r>
            <a:r>
              <a:rPr lang="en-GB" dirty="0"/>
              <a:t>then check digit = </a:t>
            </a:r>
            <a:r>
              <a:rPr lang="en-GB" b="1" dirty="0">
                <a:solidFill>
                  <a:srgbClr val="FFC000"/>
                </a:solidFill>
              </a:rPr>
              <a:t>x</a:t>
            </a:r>
            <a:r>
              <a:rPr lang="en-GB" dirty="0"/>
              <a:t> (when the check digit is 10)</a:t>
            </a:r>
          </a:p>
          <a:p>
            <a:pPr lvl="1"/>
            <a:r>
              <a:rPr lang="en-GB" dirty="0"/>
              <a:t>If </a:t>
            </a:r>
            <a:r>
              <a:rPr lang="en-GB" b="1" dirty="0"/>
              <a:t>R=0 </a:t>
            </a:r>
            <a:r>
              <a:rPr lang="en-GB" dirty="0"/>
              <a:t>then check digit = </a:t>
            </a:r>
            <a:r>
              <a:rPr lang="en-GB" b="1" dirty="0">
                <a:solidFill>
                  <a:srgbClr val="FFC000"/>
                </a:solidFill>
              </a:rPr>
              <a:t>0</a:t>
            </a:r>
            <a:r>
              <a:rPr lang="en-GB" b="1" dirty="0"/>
              <a:t> </a:t>
            </a:r>
            <a:r>
              <a:rPr lang="en-GB" dirty="0"/>
              <a:t>(when the check digit is 11)</a:t>
            </a:r>
          </a:p>
          <a:p>
            <a:r>
              <a:rPr lang="en-GB" dirty="0"/>
              <a:t>A check digit system is very good at detecting </a:t>
            </a:r>
            <a:r>
              <a:rPr lang="en-GB" dirty="0">
                <a:solidFill>
                  <a:srgbClr val="FFC000"/>
                </a:solidFill>
              </a:rPr>
              <a:t>transposition errors </a:t>
            </a:r>
            <a:r>
              <a:rPr lang="en-GB" dirty="0"/>
              <a:t>because if you interchange 2 digits then they will have different weights and the sum of the products will be incorrect leading to a data entry error.</a:t>
            </a:r>
          </a:p>
          <a:p>
            <a:endParaRPr lang="en-GB" dirty="0"/>
          </a:p>
        </p:txBody>
      </p:sp>
      <p:grpSp>
        <p:nvGrpSpPr>
          <p:cNvPr id="10" name="Group 9">
            <a:extLst>
              <a:ext uri="{FF2B5EF4-FFF2-40B4-BE49-F238E27FC236}">
                <a16:creationId xmlns:a16="http://schemas.microsoft.com/office/drawing/2014/main" id="{C186CB13-8002-5D89-CAD3-68D9A1DC8FBA}"/>
              </a:ext>
            </a:extLst>
          </p:cNvPr>
          <p:cNvGrpSpPr/>
          <p:nvPr/>
        </p:nvGrpSpPr>
        <p:grpSpPr>
          <a:xfrm>
            <a:off x="8506691" y="3749962"/>
            <a:ext cx="3491345" cy="3001820"/>
            <a:chOff x="8506691" y="3749962"/>
            <a:chExt cx="3491345" cy="3001820"/>
          </a:xfrm>
        </p:grpSpPr>
        <p:cxnSp>
          <p:nvCxnSpPr>
            <p:cNvPr id="5" name="Connector: Elbow 4">
              <a:extLst>
                <a:ext uri="{FF2B5EF4-FFF2-40B4-BE49-F238E27FC236}">
                  <a16:creationId xmlns:a16="http://schemas.microsoft.com/office/drawing/2014/main" id="{373F6D64-8CBE-FEFC-BDDC-2053645FED67}"/>
                </a:ext>
              </a:extLst>
            </p:cNvPr>
            <p:cNvCxnSpPr>
              <a:cxnSpLocks/>
            </p:cNvCxnSpPr>
            <p:nvPr/>
          </p:nvCxnSpPr>
          <p:spPr>
            <a:xfrm rot="16200000" flipH="1">
              <a:off x="10118436" y="4336471"/>
              <a:ext cx="1690255" cy="517238"/>
            </a:xfrm>
            <a:prstGeom prst="bentConnector3">
              <a:avLst>
                <a:gd name="adj1" fmla="val -273"/>
              </a:avLst>
            </a:prstGeom>
            <a:ln w="38100">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747F2E0-D430-1951-0AE6-F849587BC611}"/>
                </a:ext>
              </a:extLst>
            </p:cNvPr>
            <p:cNvSpPr/>
            <p:nvPr/>
          </p:nvSpPr>
          <p:spPr>
            <a:xfrm>
              <a:off x="8506691" y="5347855"/>
              <a:ext cx="3491345" cy="1403927"/>
            </a:xfrm>
            <a:prstGeom prst="rect">
              <a:avLst/>
            </a:prstGeom>
            <a:solidFill>
              <a:srgbClr val="002060"/>
            </a:solidFill>
            <a:ln w="381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GB" sz="1800" b="0" i="0" u="none" strike="noStrike" baseline="0" dirty="0">
                  <a:solidFill>
                    <a:schemeClr val="bg1"/>
                  </a:solidFill>
                  <a:latin typeface="ArialMT"/>
                </a:rPr>
                <a:t>Two adjacent characters</a:t>
              </a:r>
            </a:p>
            <a:p>
              <a:pPr algn="l"/>
              <a:r>
                <a:rPr lang="en-GB" sz="1800" b="0" i="0" u="none" strike="noStrike" baseline="0" dirty="0">
                  <a:solidFill>
                    <a:schemeClr val="bg1"/>
                  </a:solidFill>
                  <a:latin typeface="ArialMT"/>
                </a:rPr>
                <a:t>are switched/reversed/swapped</a:t>
              </a:r>
              <a:endParaRPr lang="en-GB" dirty="0">
                <a:solidFill>
                  <a:schemeClr val="bg1"/>
                </a:solidFill>
              </a:endParaRPr>
            </a:p>
          </p:txBody>
        </p:sp>
      </p:grpSp>
    </p:spTree>
    <p:extLst>
      <p:ext uri="{BB962C8B-B14F-4D97-AF65-F5344CB8AC3E}">
        <p14:creationId xmlns:p14="http://schemas.microsoft.com/office/powerpoint/2010/main" val="3886641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6623A-DAEC-4969-A658-65114B9F52FB}"/>
              </a:ext>
            </a:extLst>
          </p:cNvPr>
          <p:cNvSpPr>
            <a:spLocks noGrp="1"/>
          </p:cNvSpPr>
          <p:nvPr>
            <p:ph type="title"/>
          </p:nvPr>
        </p:nvSpPr>
        <p:spPr/>
        <p:txBody>
          <a:bodyPr/>
          <a:lstStyle/>
          <a:p>
            <a:r>
              <a:rPr lang="en-GB" dirty="0"/>
              <a:t>Checking the Check Digit</a:t>
            </a:r>
          </a:p>
        </p:txBody>
      </p:sp>
      <p:sp>
        <p:nvSpPr>
          <p:cNvPr id="3" name="Content Placeholder 2">
            <a:extLst>
              <a:ext uri="{FF2B5EF4-FFF2-40B4-BE49-F238E27FC236}">
                <a16:creationId xmlns:a16="http://schemas.microsoft.com/office/drawing/2014/main" id="{94105523-4497-4B21-BD5E-86A6544B050A}"/>
              </a:ext>
            </a:extLst>
          </p:cNvPr>
          <p:cNvSpPr>
            <a:spLocks noGrp="1"/>
          </p:cNvSpPr>
          <p:nvPr>
            <p:ph idx="1"/>
          </p:nvPr>
        </p:nvSpPr>
        <p:spPr/>
        <p:txBody>
          <a:bodyPr/>
          <a:lstStyle/>
          <a:p>
            <a:r>
              <a:rPr lang="en-GB" dirty="0"/>
              <a:t>In this case the least significant digit (the Check digit) is given a weighting of 1 and the Sum of the products is calculated as before. This should give an answer which is evenly divisible by 11 (Remainder 0). If the total is not evenly divisible by 11 the number has been input incorrectly. </a:t>
            </a:r>
          </a:p>
          <a:p>
            <a:r>
              <a:rPr lang="en-GB" dirty="0"/>
              <a:t> Alternatively ignore the Check Digit in the number and recalculate it to see if what you get matches the Check Digit in the Question.  If they match the Check is Correct, if not it is wrong. </a:t>
            </a:r>
          </a:p>
          <a:p>
            <a:endParaRPr lang="en-GB" dirty="0"/>
          </a:p>
        </p:txBody>
      </p:sp>
    </p:spTree>
    <p:extLst>
      <p:ext uri="{BB962C8B-B14F-4D97-AF65-F5344CB8AC3E}">
        <p14:creationId xmlns:p14="http://schemas.microsoft.com/office/powerpoint/2010/main" val="3350633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 Modulus 11 Step by Step</a:t>
            </a:r>
          </a:p>
        </p:txBody>
      </p:sp>
      <p:sp>
        <p:nvSpPr>
          <p:cNvPr id="3" name="Content Placeholder 2"/>
          <p:cNvSpPr>
            <a:spLocks noGrp="1"/>
          </p:cNvSpPr>
          <p:nvPr>
            <p:ph idx="1"/>
          </p:nvPr>
        </p:nvSpPr>
        <p:spPr>
          <a:xfrm>
            <a:off x="682907" y="1825625"/>
            <a:ext cx="11285316" cy="4351338"/>
          </a:xfrm>
        </p:spPr>
        <p:txBody>
          <a:bodyPr/>
          <a:lstStyle/>
          <a:p>
            <a:r>
              <a:rPr lang="en-GB" dirty="0"/>
              <a:t>Create a tutorial on a </a:t>
            </a:r>
            <a:r>
              <a:rPr lang="en-GB" u="sng" dirty="0"/>
              <a:t>single</a:t>
            </a:r>
            <a:r>
              <a:rPr lang="en-GB" dirty="0"/>
              <a:t> A4 page on how to complete the Modulus 11 check.</a:t>
            </a:r>
          </a:p>
          <a:p>
            <a:endParaRPr lang="en-GB" dirty="0"/>
          </a:p>
          <a:p>
            <a:r>
              <a:rPr lang="en-GB" dirty="0"/>
              <a:t>You tutorial should include:</a:t>
            </a:r>
          </a:p>
          <a:p>
            <a:pPr lvl="1"/>
            <a:r>
              <a:rPr lang="en-GB" dirty="0"/>
              <a:t>all steps needed to complete the check</a:t>
            </a:r>
          </a:p>
          <a:p>
            <a:pPr lvl="1"/>
            <a:r>
              <a:rPr lang="en-GB" dirty="0"/>
              <a:t>A worked example question (either check the check digit or find out the check digit)</a:t>
            </a:r>
          </a:p>
          <a:p>
            <a:pPr lvl="1"/>
            <a:r>
              <a:rPr lang="en-GB" dirty="0"/>
              <a:t>Any special cases needed</a:t>
            </a:r>
          </a:p>
          <a:p>
            <a:pPr lvl="1"/>
            <a:r>
              <a:rPr lang="en-GB" dirty="0"/>
              <a:t>The back page needs to be </a:t>
            </a:r>
            <a:r>
              <a:rPr lang="en-GB" u="sng" dirty="0"/>
              <a:t>blank</a:t>
            </a:r>
            <a:r>
              <a:rPr lang="en-GB" dirty="0"/>
              <a:t> as we are going to use this for notes on batch totals and look up checks!</a:t>
            </a:r>
          </a:p>
        </p:txBody>
      </p:sp>
    </p:spTree>
    <p:extLst>
      <p:ext uri="{BB962C8B-B14F-4D97-AF65-F5344CB8AC3E}">
        <p14:creationId xmlns:p14="http://schemas.microsoft.com/office/powerpoint/2010/main" val="1698876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050BE-32C8-4E5B-AF9D-C13BC7E6BE8B}"/>
              </a:ext>
            </a:extLst>
          </p:cNvPr>
          <p:cNvSpPr>
            <a:spLocks noGrp="1"/>
          </p:cNvSpPr>
          <p:nvPr>
            <p:ph type="title"/>
          </p:nvPr>
        </p:nvSpPr>
        <p:spPr/>
        <p:txBody>
          <a:bodyPr>
            <a:normAutofit/>
          </a:bodyPr>
          <a:lstStyle/>
          <a:p>
            <a:r>
              <a:rPr lang="en-GB" b="1" dirty="0"/>
              <a:t>Questions: </a:t>
            </a:r>
            <a:endParaRPr lang="en-GB" dirty="0"/>
          </a:p>
        </p:txBody>
      </p:sp>
      <p:sp>
        <p:nvSpPr>
          <p:cNvPr id="3" name="Content Placeholder 2">
            <a:extLst>
              <a:ext uri="{FF2B5EF4-FFF2-40B4-BE49-F238E27FC236}">
                <a16:creationId xmlns:a16="http://schemas.microsoft.com/office/drawing/2014/main" id="{B478D1AF-51CA-435A-BE84-1A195D142EBA}"/>
              </a:ext>
            </a:extLst>
          </p:cNvPr>
          <p:cNvSpPr>
            <a:spLocks noGrp="1"/>
          </p:cNvSpPr>
          <p:nvPr>
            <p:ph idx="1"/>
          </p:nvPr>
        </p:nvSpPr>
        <p:spPr>
          <a:xfrm>
            <a:off x="838200" y="1825625"/>
            <a:ext cx="10515600" cy="4667250"/>
          </a:xfrm>
        </p:spPr>
        <p:txBody>
          <a:bodyPr>
            <a:normAutofit fontScale="92500"/>
          </a:bodyPr>
          <a:lstStyle/>
          <a:p>
            <a:pPr marL="0" indent="0">
              <a:buNone/>
            </a:pPr>
            <a:r>
              <a:rPr lang="en-GB" b="1" dirty="0"/>
              <a:t>1: Calculate the check digits for the following numbers</a:t>
            </a:r>
            <a:endParaRPr lang="en-GB" dirty="0"/>
          </a:p>
          <a:p>
            <a:pPr marL="514350" indent="-514350">
              <a:buAutoNum type="alphaUcParenR"/>
            </a:pPr>
            <a:r>
              <a:rPr lang="en-GB" dirty="0"/>
              <a:t>6 7 3 6 9</a:t>
            </a:r>
          </a:p>
          <a:p>
            <a:pPr marL="514350" indent="-514350">
              <a:buAutoNum type="alphaUcParenR"/>
            </a:pPr>
            <a:r>
              <a:rPr lang="en-GB" dirty="0"/>
              <a:t>7 2 9 5 1</a:t>
            </a:r>
          </a:p>
          <a:p>
            <a:pPr marL="514350" indent="-514350">
              <a:buAutoNum type="alphaUcParenR"/>
            </a:pPr>
            <a:r>
              <a:rPr lang="en-GB" dirty="0"/>
              <a:t>8 6 4 2 3</a:t>
            </a:r>
          </a:p>
          <a:p>
            <a:pPr marL="514350" indent="-514350">
              <a:buAutoNum type="alphaUcParenR"/>
            </a:pPr>
            <a:r>
              <a:rPr lang="en-GB" dirty="0"/>
              <a:t>1 5 2 7 8</a:t>
            </a:r>
          </a:p>
          <a:p>
            <a:pPr marL="514350" indent="-514350">
              <a:buAutoNum type="alphaUcParenR"/>
            </a:pPr>
            <a:r>
              <a:rPr lang="en-GB" dirty="0"/>
              <a:t>6 5 4 3 2</a:t>
            </a:r>
          </a:p>
          <a:p>
            <a:pPr marL="0" indent="0">
              <a:buNone/>
            </a:pPr>
            <a:r>
              <a:rPr lang="en-GB" b="1" dirty="0"/>
              <a:t>2: The following customer account number has been entered into an ordering system. The last digit is a Check Digit. State whether the Check Digit is correct or not and show how you reached this conclusion.</a:t>
            </a:r>
            <a:endParaRPr lang="en-GB" dirty="0"/>
          </a:p>
          <a:p>
            <a:pPr marL="0" indent="0">
              <a:buNone/>
            </a:pPr>
            <a:r>
              <a:rPr lang="en-GB" b="1" dirty="0"/>
              <a:t>	Account Number:  0901369</a:t>
            </a:r>
            <a:endParaRPr lang="en-GB" dirty="0"/>
          </a:p>
          <a:p>
            <a:pPr marL="0" indent="0">
              <a:buNone/>
            </a:pPr>
            <a:endParaRPr lang="en-GB" dirty="0"/>
          </a:p>
        </p:txBody>
      </p:sp>
    </p:spTree>
    <p:extLst>
      <p:ext uri="{BB962C8B-B14F-4D97-AF65-F5344CB8AC3E}">
        <p14:creationId xmlns:p14="http://schemas.microsoft.com/office/powerpoint/2010/main" val="1119173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60D7-0C9F-4183-B29B-4734751CE05B}"/>
              </a:ext>
            </a:extLst>
          </p:cNvPr>
          <p:cNvSpPr>
            <a:spLocks noGrp="1"/>
          </p:cNvSpPr>
          <p:nvPr>
            <p:ph type="title"/>
          </p:nvPr>
        </p:nvSpPr>
        <p:spPr/>
        <p:txBody>
          <a:bodyPr/>
          <a:lstStyle/>
          <a:p>
            <a:r>
              <a:rPr lang="en-GB" dirty="0"/>
              <a:t>Past Paper Questions</a:t>
            </a:r>
          </a:p>
        </p:txBody>
      </p:sp>
      <p:sp>
        <p:nvSpPr>
          <p:cNvPr id="3" name="Content Placeholder 2">
            <a:extLst>
              <a:ext uri="{FF2B5EF4-FFF2-40B4-BE49-F238E27FC236}">
                <a16:creationId xmlns:a16="http://schemas.microsoft.com/office/drawing/2014/main" id="{6DE8F207-1241-44C9-AC92-A80026D7310F}"/>
              </a:ext>
            </a:extLst>
          </p:cNvPr>
          <p:cNvSpPr>
            <a:spLocks noGrp="1"/>
          </p:cNvSpPr>
          <p:nvPr>
            <p:ph idx="1"/>
          </p:nvPr>
        </p:nvSpPr>
        <p:spPr>
          <a:xfrm>
            <a:off x="838200" y="1412111"/>
            <a:ext cx="10515600" cy="5359079"/>
          </a:xfrm>
        </p:spPr>
        <p:txBody>
          <a:bodyPr>
            <a:normAutofit fontScale="55000" lnSpcReduction="20000"/>
          </a:bodyPr>
          <a:lstStyle/>
          <a:p>
            <a:pPr marL="0" indent="0">
              <a:buNone/>
            </a:pPr>
            <a:r>
              <a:rPr lang="en-GB" sz="4400" dirty="0"/>
              <a:t>A Product Code includes a modulus-11 check digit. </a:t>
            </a:r>
          </a:p>
          <a:p>
            <a:pPr marL="0" lvl="0" indent="0">
              <a:buNone/>
            </a:pPr>
            <a:r>
              <a:rPr lang="en-GB" sz="4400" dirty="0"/>
              <a:t>Q. Explain how a check digit can be used to detect a transposition error.</a:t>
            </a:r>
          </a:p>
          <a:p>
            <a:pPr marL="0" indent="0">
              <a:lnSpc>
                <a:spcPct val="170000"/>
              </a:lnSpc>
              <a:buNone/>
            </a:pPr>
            <a:r>
              <a:rPr lang="en-GB" dirty="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 [4]</a:t>
            </a:r>
          </a:p>
          <a:p>
            <a:pPr marL="0" indent="0">
              <a:buNone/>
            </a:pPr>
            <a:r>
              <a:rPr lang="en-GB" dirty="0"/>
              <a:t> </a:t>
            </a:r>
          </a:p>
          <a:p>
            <a:pPr marL="0" lvl="0" indent="0">
              <a:buNone/>
            </a:pPr>
            <a:r>
              <a:rPr lang="en-GB" sz="4400" dirty="0"/>
              <a:t>Q. Show that 13217 is an invalid Product Code</a:t>
            </a:r>
          </a:p>
          <a:p>
            <a:pPr marL="0" indent="0">
              <a:lnSpc>
                <a:spcPct val="170000"/>
              </a:lnSpc>
              <a:buNone/>
            </a:pPr>
            <a:r>
              <a:rPr lang="en-GB" dirty="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 [4]</a:t>
            </a:r>
          </a:p>
          <a:p>
            <a:endParaRPr lang="en-GB" dirty="0"/>
          </a:p>
        </p:txBody>
      </p:sp>
    </p:spTree>
    <p:extLst>
      <p:ext uri="{BB962C8B-B14F-4D97-AF65-F5344CB8AC3E}">
        <p14:creationId xmlns:p14="http://schemas.microsoft.com/office/powerpoint/2010/main" val="27866467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3CB9-40E4-4ACF-8E38-D1F97A32DC47}"/>
              </a:ext>
            </a:extLst>
          </p:cNvPr>
          <p:cNvSpPr>
            <a:spLocks noGrp="1"/>
          </p:cNvSpPr>
          <p:nvPr>
            <p:ph type="title"/>
          </p:nvPr>
        </p:nvSpPr>
        <p:spPr/>
        <p:txBody>
          <a:bodyPr/>
          <a:lstStyle/>
          <a:p>
            <a:r>
              <a:rPr lang="en-GB" dirty="0"/>
              <a:t>Look up Check</a:t>
            </a:r>
          </a:p>
        </p:txBody>
      </p:sp>
      <p:sp>
        <p:nvSpPr>
          <p:cNvPr id="3" name="Content Placeholder 2">
            <a:extLst>
              <a:ext uri="{FF2B5EF4-FFF2-40B4-BE49-F238E27FC236}">
                <a16:creationId xmlns:a16="http://schemas.microsoft.com/office/drawing/2014/main" id="{B6DC750E-C34C-4806-9E5C-A5A2A8004CC5}"/>
              </a:ext>
            </a:extLst>
          </p:cNvPr>
          <p:cNvSpPr>
            <a:spLocks noGrp="1"/>
          </p:cNvSpPr>
          <p:nvPr>
            <p:ph idx="1"/>
          </p:nvPr>
        </p:nvSpPr>
        <p:spPr/>
        <p:txBody>
          <a:bodyPr/>
          <a:lstStyle/>
          <a:p>
            <a:r>
              <a:rPr lang="en-GB" dirty="0"/>
              <a:t>This method uses a lookup table. The data value entered is compared against a stored list of data values looking for a match. If a match is found the data value is valid otherwise it is invalid. </a:t>
            </a:r>
          </a:p>
          <a:p>
            <a:r>
              <a:rPr lang="en-GB" dirty="0"/>
              <a:t>For example when a product code is looked up in a stock file to confirm such an item exists.</a:t>
            </a:r>
          </a:p>
          <a:p>
            <a:endParaRPr lang="en-GB" dirty="0"/>
          </a:p>
        </p:txBody>
      </p:sp>
    </p:spTree>
    <p:extLst>
      <p:ext uri="{BB962C8B-B14F-4D97-AF65-F5344CB8AC3E}">
        <p14:creationId xmlns:p14="http://schemas.microsoft.com/office/powerpoint/2010/main" val="18458066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AAE1B-72F8-4929-83FD-6F0EB4EDA95C}"/>
              </a:ext>
            </a:extLst>
          </p:cNvPr>
          <p:cNvSpPr>
            <a:spLocks noGrp="1"/>
          </p:cNvSpPr>
          <p:nvPr>
            <p:ph type="title"/>
          </p:nvPr>
        </p:nvSpPr>
        <p:spPr/>
        <p:txBody>
          <a:bodyPr/>
          <a:lstStyle/>
          <a:p>
            <a:r>
              <a:rPr lang="en-GB" dirty="0"/>
              <a:t>Batch Totals</a:t>
            </a:r>
          </a:p>
        </p:txBody>
      </p:sp>
      <p:sp>
        <p:nvSpPr>
          <p:cNvPr id="3" name="Content Placeholder 2">
            <a:extLst>
              <a:ext uri="{FF2B5EF4-FFF2-40B4-BE49-F238E27FC236}">
                <a16:creationId xmlns:a16="http://schemas.microsoft.com/office/drawing/2014/main" id="{07F85083-9916-4491-B750-CD3A058C4536}"/>
              </a:ext>
            </a:extLst>
          </p:cNvPr>
          <p:cNvSpPr>
            <a:spLocks noGrp="1"/>
          </p:cNvSpPr>
          <p:nvPr>
            <p:ph idx="1"/>
          </p:nvPr>
        </p:nvSpPr>
        <p:spPr/>
        <p:txBody>
          <a:bodyPr>
            <a:normAutofit lnSpcReduction="10000"/>
          </a:bodyPr>
          <a:lstStyle/>
          <a:p>
            <a:r>
              <a:rPr lang="en-GB" dirty="0"/>
              <a:t>Some information systems process data that is entered into them in batches from documents. These systems typically use batch processing. When data is entered in batches there are two extra types of error that may occur:</a:t>
            </a:r>
          </a:p>
          <a:p>
            <a:pPr lvl="1"/>
            <a:r>
              <a:rPr lang="en-GB" dirty="0"/>
              <a:t>A document may be accidentally missed out.</a:t>
            </a:r>
          </a:p>
          <a:p>
            <a:pPr lvl="1"/>
            <a:r>
              <a:rPr lang="en-GB" dirty="0"/>
              <a:t>The data on a document is entered twice.</a:t>
            </a:r>
          </a:p>
          <a:p>
            <a:r>
              <a:rPr lang="en-GB" dirty="0"/>
              <a:t>Batch totals are used when data is entered in batches to identify if one of these types of error occurs. These can be hash totals or control totals.</a:t>
            </a:r>
          </a:p>
          <a:p>
            <a:r>
              <a:rPr lang="en-GB" dirty="0"/>
              <a:t>Before the information on the documents is entered the user counts how many documents there are. This is the batch total.</a:t>
            </a:r>
          </a:p>
          <a:p>
            <a:endParaRPr lang="en-GB" dirty="0"/>
          </a:p>
        </p:txBody>
      </p:sp>
    </p:spTree>
    <p:extLst>
      <p:ext uri="{BB962C8B-B14F-4D97-AF65-F5344CB8AC3E}">
        <p14:creationId xmlns:p14="http://schemas.microsoft.com/office/powerpoint/2010/main" val="19997130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071C2-592C-42A1-A168-46257610CD61}"/>
              </a:ext>
            </a:extLst>
          </p:cNvPr>
          <p:cNvSpPr>
            <a:spLocks noGrp="1"/>
          </p:cNvSpPr>
          <p:nvPr>
            <p:ph type="title"/>
          </p:nvPr>
        </p:nvSpPr>
        <p:spPr/>
        <p:txBody>
          <a:bodyPr/>
          <a:lstStyle/>
          <a:p>
            <a:r>
              <a:rPr lang="en-GB" dirty="0"/>
              <a:t>Batch Totals</a:t>
            </a:r>
          </a:p>
        </p:txBody>
      </p:sp>
      <p:sp>
        <p:nvSpPr>
          <p:cNvPr id="3" name="Content Placeholder 2">
            <a:extLst>
              <a:ext uri="{FF2B5EF4-FFF2-40B4-BE49-F238E27FC236}">
                <a16:creationId xmlns:a16="http://schemas.microsoft.com/office/drawing/2014/main" id="{4940F998-8250-4F5E-97AC-705042A0CFCB}"/>
              </a:ext>
            </a:extLst>
          </p:cNvPr>
          <p:cNvSpPr>
            <a:spLocks noGrp="1"/>
          </p:cNvSpPr>
          <p:nvPr>
            <p:ph idx="1"/>
          </p:nvPr>
        </p:nvSpPr>
        <p:spPr/>
        <p:txBody>
          <a:bodyPr>
            <a:normAutofit fontScale="77500" lnSpcReduction="20000"/>
          </a:bodyPr>
          <a:lstStyle/>
          <a:p>
            <a:r>
              <a:rPr lang="en-GB" dirty="0"/>
              <a:t>As the data is entered the computer counts how many documents the data is typed from. After the data has been entered the total that was manually calculated is compared to the computer generated total. If the two differ then a document has been missed or some data has been entered twice.</a:t>
            </a:r>
          </a:p>
          <a:p>
            <a:r>
              <a:rPr lang="en-GB" dirty="0"/>
              <a:t>Hash totals are more sophisticated than batch totals. They can be used to spot missed out or doubly entered documents and can also spot more complex errors such as one document being entered twice at the same time as another is missed out. </a:t>
            </a:r>
            <a:r>
              <a:rPr lang="en-GB" dirty="0">
                <a:solidFill>
                  <a:srgbClr val="FFFF00"/>
                </a:solidFill>
              </a:rPr>
              <a:t>A particular item on the batch of documents that must be entered is chosen. e.g. Hours Worked. The values of this item for each document that is to be input will be added up manually by the user. The total that is calculated is known as the hash total.</a:t>
            </a:r>
          </a:p>
          <a:p>
            <a:r>
              <a:rPr lang="en-GB" dirty="0"/>
              <a:t>The data on the documents will then be entered. The computer will calculate the same total automatically on the chosen item. If the computer calculated total and the manually calculated total differ then a mistake has occurred during data entry.</a:t>
            </a:r>
          </a:p>
          <a:p>
            <a:r>
              <a:rPr lang="en-GB" dirty="0"/>
              <a:t>If a batch hash or control total identifies an error then the user will have to go back through all of the documents, checking which have been entered and which have not.</a:t>
            </a:r>
          </a:p>
          <a:p>
            <a:endParaRPr lang="en-GB" dirty="0"/>
          </a:p>
        </p:txBody>
      </p:sp>
    </p:spTree>
    <p:extLst>
      <p:ext uri="{BB962C8B-B14F-4D97-AF65-F5344CB8AC3E}">
        <p14:creationId xmlns:p14="http://schemas.microsoft.com/office/powerpoint/2010/main" val="3747081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E67BB-CA5E-40A8-A991-CA38E1FB3754}"/>
              </a:ext>
            </a:extLst>
          </p:cNvPr>
          <p:cNvSpPr>
            <a:spLocks noGrp="1"/>
          </p:cNvSpPr>
          <p:nvPr>
            <p:ph type="title"/>
          </p:nvPr>
        </p:nvSpPr>
        <p:spPr/>
        <p:txBody>
          <a:bodyPr/>
          <a:lstStyle/>
          <a:p>
            <a:r>
              <a:rPr lang="en-GB" dirty="0"/>
              <a:t>Batch Totals</a:t>
            </a:r>
          </a:p>
        </p:txBody>
      </p:sp>
      <p:sp>
        <p:nvSpPr>
          <p:cNvPr id="3" name="Content Placeholder 2">
            <a:extLst>
              <a:ext uri="{FF2B5EF4-FFF2-40B4-BE49-F238E27FC236}">
                <a16:creationId xmlns:a16="http://schemas.microsoft.com/office/drawing/2014/main" id="{F0C5EE22-E7F1-4A44-B9F5-B143496B0721}"/>
              </a:ext>
            </a:extLst>
          </p:cNvPr>
          <p:cNvSpPr>
            <a:spLocks noGrp="1"/>
          </p:cNvSpPr>
          <p:nvPr>
            <p:ph idx="1"/>
          </p:nvPr>
        </p:nvSpPr>
        <p:spPr>
          <a:xfrm>
            <a:off x="838200" y="1825624"/>
            <a:ext cx="11165114" cy="5032375"/>
          </a:xfrm>
        </p:spPr>
        <p:txBody>
          <a:bodyPr>
            <a:normAutofit fontScale="62500" lnSpcReduction="20000"/>
          </a:bodyPr>
          <a:lstStyle/>
          <a:p>
            <a:r>
              <a:rPr lang="en-GB" dirty="0"/>
              <a:t>Example : These three documents recording the number of hours worked by the employees at a firm are to be entered in a batch (note that in a real system the number of documents would be larger than this):</a:t>
            </a:r>
          </a:p>
          <a:p>
            <a:pPr lvl="1"/>
            <a:r>
              <a:rPr lang="en-GB" dirty="0">
                <a:solidFill>
                  <a:srgbClr val="FFFF00"/>
                </a:solidFill>
              </a:rPr>
              <a:t>The batch total would be 3 as there are three documents</a:t>
            </a:r>
            <a:r>
              <a:rPr lang="en-GB" dirty="0"/>
              <a:t>. </a:t>
            </a:r>
          </a:p>
          <a:p>
            <a:pPr lvl="1"/>
            <a:r>
              <a:rPr lang="en-GB" dirty="0"/>
              <a:t>If the field Hours Worked was chosen to calculate a </a:t>
            </a:r>
            <a:r>
              <a:rPr lang="en-GB" dirty="0">
                <a:solidFill>
                  <a:srgbClr val="FFFF00"/>
                </a:solidFill>
              </a:rPr>
              <a:t>control total </a:t>
            </a:r>
            <a:r>
              <a:rPr lang="en-GB" dirty="0"/>
              <a:t>then the control total would be 102.5 as 43+22.5+37=102.5</a:t>
            </a:r>
          </a:p>
          <a:p>
            <a:pPr lvl="1"/>
            <a:r>
              <a:rPr lang="en-GB" dirty="0"/>
              <a:t>If the field Worker ID was chosen to calculate </a:t>
            </a:r>
            <a:r>
              <a:rPr lang="en-GB" dirty="0">
                <a:solidFill>
                  <a:srgbClr val="FFFF00"/>
                </a:solidFill>
              </a:rPr>
              <a:t>a hash total </a:t>
            </a:r>
            <a:r>
              <a:rPr lang="en-GB" dirty="0"/>
              <a:t>then the hash total would be 11847 as 0172+9023+2652=11847</a:t>
            </a:r>
          </a:p>
          <a:p>
            <a:r>
              <a:rPr lang="en-GB" dirty="0"/>
              <a:t>The chosen totals would be calculated manually by the user before the data was entered. Probably only one total would be used. Now suppose that the data was entered but by mistake the user missed out the middle document.</a:t>
            </a:r>
          </a:p>
          <a:p>
            <a:pPr lvl="1"/>
            <a:r>
              <a:rPr lang="en-GB" dirty="0"/>
              <a:t>The computer calculated batch total would be 2.</a:t>
            </a:r>
          </a:p>
          <a:p>
            <a:pPr lvl="1"/>
            <a:r>
              <a:rPr lang="en-GB" dirty="0"/>
              <a:t>If the field Hours Worked was chosen to calculate a control total then the computer calculated control total would be 80 as 43+37=80</a:t>
            </a:r>
          </a:p>
          <a:p>
            <a:pPr lvl="1"/>
            <a:r>
              <a:rPr lang="en-GB" dirty="0"/>
              <a:t>If the field Worker ID was chosen to calculate a hash total then the computer calculated hash total would be 2824 as 0172+2652=2824</a:t>
            </a:r>
          </a:p>
          <a:p>
            <a:r>
              <a:rPr lang="en-GB" dirty="0"/>
              <a:t>All of the different methods would spot the mistake as the user calculated and computer calculated totals differ. Suppose instead that the user missed out the middle document but entered the last document twice. The computer calculated totals would then be:</a:t>
            </a:r>
          </a:p>
          <a:p>
            <a:pPr lvl="1"/>
            <a:r>
              <a:rPr lang="en-GB" dirty="0"/>
              <a:t>Computer batch total is 3.</a:t>
            </a:r>
          </a:p>
          <a:p>
            <a:pPr lvl="1"/>
            <a:r>
              <a:rPr lang="en-GB" dirty="0"/>
              <a:t>Computer control total on Hours Worked is 117 as 43+37+37=117.</a:t>
            </a:r>
          </a:p>
          <a:p>
            <a:pPr lvl="1"/>
            <a:r>
              <a:rPr lang="en-GB" dirty="0"/>
              <a:t>Computer hash total on Worker ID is 5476 as 0172+2652+2652=5476.</a:t>
            </a:r>
          </a:p>
          <a:p>
            <a:r>
              <a:rPr lang="en-GB" dirty="0"/>
              <a:t>The batch total would not spot the mistake as the number of documents entered is correct (3). The hash totals would however spot it as they differ from the user calculated ones.</a:t>
            </a:r>
          </a:p>
        </p:txBody>
      </p:sp>
      <p:pic>
        <p:nvPicPr>
          <p:cNvPr id="6" name="Picture 5">
            <a:extLst>
              <a:ext uri="{FF2B5EF4-FFF2-40B4-BE49-F238E27FC236}">
                <a16:creationId xmlns:a16="http://schemas.microsoft.com/office/drawing/2014/main" id="{0E2F7DDB-4492-4C52-9183-F913928553B1}"/>
              </a:ext>
            </a:extLst>
          </p:cNvPr>
          <p:cNvPicPr>
            <a:picLocks noChangeAspect="1"/>
          </p:cNvPicPr>
          <p:nvPr/>
        </p:nvPicPr>
        <p:blipFill>
          <a:blip r:embed="rId2"/>
          <a:stretch>
            <a:fillRect/>
          </a:stretch>
        </p:blipFill>
        <p:spPr>
          <a:xfrm>
            <a:off x="5486968" y="614213"/>
            <a:ext cx="5763429" cy="1076475"/>
          </a:xfrm>
          <a:prstGeom prst="rect">
            <a:avLst/>
          </a:prstGeom>
        </p:spPr>
      </p:pic>
    </p:spTree>
    <p:extLst>
      <p:ext uri="{BB962C8B-B14F-4D97-AF65-F5344CB8AC3E}">
        <p14:creationId xmlns:p14="http://schemas.microsoft.com/office/powerpoint/2010/main" val="1233937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0AE37-FAAC-4EA3-8B19-3F51903730ED}"/>
              </a:ext>
            </a:extLst>
          </p:cNvPr>
          <p:cNvSpPr>
            <a:spLocks noGrp="1"/>
          </p:cNvSpPr>
          <p:nvPr>
            <p:ph type="title"/>
          </p:nvPr>
        </p:nvSpPr>
        <p:spPr/>
        <p:txBody>
          <a:bodyPr/>
          <a:lstStyle/>
          <a:p>
            <a:r>
              <a:rPr lang="en-GB" dirty="0"/>
              <a:t>Batch Totals: Summary</a:t>
            </a:r>
          </a:p>
        </p:txBody>
      </p:sp>
      <p:sp>
        <p:nvSpPr>
          <p:cNvPr id="3" name="Content Placeholder 2">
            <a:extLst>
              <a:ext uri="{FF2B5EF4-FFF2-40B4-BE49-F238E27FC236}">
                <a16:creationId xmlns:a16="http://schemas.microsoft.com/office/drawing/2014/main" id="{17B2F862-89CB-4E7D-938C-061DF7D799D6}"/>
              </a:ext>
            </a:extLst>
          </p:cNvPr>
          <p:cNvSpPr>
            <a:spLocks noGrp="1"/>
          </p:cNvSpPr>
          <p:nvPr>
            <p:ph idx="1"/>
          </p:nvPr>
        </p:nvSpPr>
        <p:spPr/>
        <p:txBody>
          <a:bodyPr/>
          <a:lstStyle/>
          <a:p>
            <a:r>
              <a:rPr lang="en-GB" dirty="0"/>
              <a:t>Batch totals therefore refer to the total value of one or more fields in a batch of data. They are calculated in advance, normally by humans, and then compared with the total as calculated by the computer. We referred to a batch total as either a control total or a hash total. </a:t>
            </a:r>
          </a:p>
          <a:p>
            <a:r>
              <a:rPr lang="en-GB" b="1" dirty="0">
                <a:solidFill>
                  <a:srgbClr val="FFFF00"/>
                </a:solidFill>
              </a:rPr>
              <a:t>If the batch total calculated is meaningful such as the total monetary value of all orders during a transaction period then it is referred to as a </a:t>
            </a:r>
            <a:r>
              <a:rPr lang="en-GB" b="1" u="sng" dirty="0">
                <a:solidFill>
                  <a:srgbClr val="FFFF00"/>
                </a:solidFill>
              </a:rPr>
              <a:t>control total</a:t>
            </a:r>
            <a:r>
              <a:rPr lang="en-GB" b="1" dirty="0">
                <a:solidFill>
                  <a:srgbClr val="FFFF00"/>
                </a:solidFill>
              </a:rPr>
              <a:t>. If the batch total calculated has no clear meaning such adding all the dates of orders together to produce a total of dates this is referred to a </a:t>
            </a:r>
            <a:r>
              <a:rPr lang="en-GB" b="1" u="sng" dirty="0">
                <a:solidFill>
                  <a:srgbClr val="FFFF00"/>
                </a:solidFill>
              </a:rPr>
              <a:t>hash total</a:t>
            </a:r>
            <a:r>
              <a:rPr lang="en-GB" b="1" dirty="0">
                <a:solidFill>
                  <a:srgbClr val="FFFF00"/>
                </a:solidFill>
              </a:rPr>
              <a:t>.</a:t>
            </a:r>
            <a:endParaRPr lang="en-GB" dirty="0">
              <a:solidFill>
                <a:srgbClr val="FFFF00"/>
              </a:solidFill>
            </a:endParaRPr>
          </a:p>
          <a:p>
            <a:endParaRPr lang="en-GB" dirty="0"/>
          </a:p>
        </p:txBody>
      </p:sp>
    </p:spTree>
    <p:extLst>
      <p:ext uri="{BB962C8B-B14F-4D97-AF65-F5344CB8AC3E}">
        <p14:creationId xmlns:p14="http://schemas.microsoft.com/office/powerpoint/2010/main" val="1388255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37DB2-4B49-48C6-AD37-27F2CEA06B10}"/>
              </a:ext>
            </a:extLst>
          </p:cNvPr>
          <p:cNvSpPr>
            <a:spLocks noGrp="1"/>
          </p:cNvSpPr>
          <p:nvPr>
            <p:ph type="title"/>
          </p:nvPr>
        </p:nvSpPr>
        <p:spPr/>
        <p:txBody>
          <a:bodyPr/>
          <a:lstStyle/>
          <a:p>
            <a:r>
              <a:rPr lang="en-GB" dirty="0"/>
              <a:t>Questions: Batch Totals</a:t>
            </a:r>
          </a:p>
        </p:txBody>
      </p:sp>
      <p:sp>
        <p:nvSpPr>
          <p:cNvPr id="5" name="Content Placeholder 4">
            <a:extLst>
              <a:ext uri="{FF2B5EF4-FFF2-40B4-BE49-F238E27FC236}">
                <a16:creationId xmlns:a16="http://schemas.microsoft.com/office/drawing/2014/main" id="{B9F991A9-4047-CFF0-59A8-F92877238F74}"/>
              </a:ext>
            </a:extLst>
          </p:cNvPr>
          <p:cNvSpPr>
            <a:spLocks noGrp="1"/>
          </p:cNvSpPr>
          <p:nvPr>
            <p:ph idx="1"/>
          </p:nvPr>
        </p:nvSpPr>
        <p:spPr/>
        <p:txBody>
          <a:bodyPr/>
          <a:lstStyle/>
          <a:p>
            <a:endParaRPr lang="en-GB"/>
          </a:p>
        </p:txBody>
      </p:sp>
      <p:pic>
        <p:nvPicPr>
          <p:cNvPr id="7" name="Picture 6">
            <a:extLst>
              <a:ext uri="{FF2B5EF4-FFF2-40B4-BE49-F238E27FC236}">
                <a16:creationId xmlns:a16="http://schemas.microsoft.com/office/drawing/2014/main" id="{85B1F8A9-CCE9-00EA-BA67-20911FC2DECD}"/>
              </a:ext>
            </a:extLst>
          </p:cNvPr>
          <p:cNvPicPr>
            <a:picLocks noChangeAspect="1"/>
          </p:cNvPicPr>
          <p:nvPr/>
        </p:nvPicPr>
        <p:blipFill>
          <a:blip r:embed="rId3"/>
          <a:stretch>
            <a:fillRect/>
          </a:stretch>
        </p:blipFill>
        <p:spPr>
          <a:xfrm>
            <a:off x="6619875" y="0"/>
            <a:ext cx="5572125" cy="6858000"/>
          </a:xfrm>
          <a:prstGeom prst="rect">
            <a:avLst/>
          </a:prstGeom>
        </p:spPr>
      </p:pic>
    </p:spTree>
    <p:extLst>
      <p:ext uri="{BB962C8B-B14F-4D97-AF65-F5344CB8AC3E}">
        <p14:creationId xmlns:p14="http://schemas.microsoft.com/office/powerpoint/2010/main" val="28638846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F14EC-0E3A-E436-5C3D-9010F649D172}"/>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59BA8A50-D83A-A3F1-8175-B9576F5FF14C}"/>
              </a:ext>
            </a:extLst>
          </p:cNvPr>
          <p:cNvPicPr>
            <a:picLocks noGrp="1" noChangeAspect="1"/>
          </p:cNvPicPr>
          <p:nvPr>
            <p:ph idx="1"/>
          </p:nvPr>
        </p:nvPicPr>
        <p:blipFill>
          <a:blip r:embed="rId2"/>
          <a:stretch>
            <a:fillRect/>
          </a:stretch>
        </p:blipFill>
        <p:spPr>
          <a:xfrm>
            <a:off x="2563467" y="2027150"/>
            <a:ext cx="7809258" cy="3611217"/>
          </a:xfrm>
        </p:spPr>
      </p:pic>
    </p:spTree>
    <p:extLst>
      <p:ext uri="{BB962C8B-B14F-4D97-AF65-F5344CB8AC3E}">
        <p14:creationId xmlns:p14="http://schemas.microsoft.com/office/powerpoint/2010/main" val="16537204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706F5-4F2F-4E66-8DFA-4A62F56006A8}"/>
              </a:ext>
            </a:extLst>
          </p:cNvPr>
          <p:cNvSpPr>
            <a:spLocks noGrp="1"/>
          </p:cNvSpPr>
          <p:nvPr>
            <p:ph type="title"/>
          </p:nvPr>
        </p:nvSpPr>
        <p:spPr/>
        <p:txBody>
          <a:bodyPr/>
          <a:lstStyle/>
          <a:p>
            <a:r>
              <a:rPr lang="en-GB"/>
              <a:t>Data Verification</a:t>
            </a:r>
          </a:p>
        </p:txBody>
      </p:sp>
      <p:sp>
        <p:nvSpPr>
          <p:cNvPr id="3" name="Content Placeholder 2">
            <a:extLst>
              <a:ext uri="{FF2B5EF4-FFF2-40B4-BE49-F238E27FC236}">
                <a16:creationId xmlns:a16="http://schemas.microsoft.com/office/drawing/2014/main" id="{826730CC-386C-4B55-979E-BCC04EC1FA01}"/>
              </a:ext>
            </a:extLst>
          </p:cNvPr>
          <p:cNvSpPr>
            <a:spLocks noGrp="1"/>
          </p:cNvSpPr>
          <p:nvPr>
            <p:ph idx="1"/>
          </p:nvPr>
        </p:nvSpPr>
        <p:spPr/>
        <p:txBody>
          <a:bodyPr/>
          <a:lstStyle/>
          <a:p>
            <a:r>
              <a:rPr lang="en-GB" dirty="0"/>
              <a:t>Data verification is used to confirm the integrity of data entered into the system. It ensures the data is consistent and that it has not been corrupted. Its purpose is to check that data being input has been accurately transferred from the source document to the computer.</a:t>
            </a:r>
          </a:p>
          <a:p>
            <a:r>
              <a:rPr lang="en-GB" dirty="0"/>
              <a:t>The following methods are used:</a:t>
            </a:r>
          </a:p>
          <a:p>
            <a:pPr lvl="1"/>
            <a:r>
              <a:rPr lang="en-GB" dirty="0"/>
              <a:t>Double Entry</a:t>
            </a:r>
          </a:p>
          <a:p>
            <a:pPr lvl="1"/>
            <a:r>
              <a:rPr lang="en-GB" dirty="0"/>
              <a:t>Proof Reading</a:t>
            </a:r>
          </a:p>
        </p:txBody>
      </p:sp>
    </p:spTree>
    <p:extLst>
      <p:ext uri="{BB962C8B-B14F-4D97-AF65-F5344CB8AC3E}">
        <p14:creationId xmlns:p14="http://schemas.microsoft.com/office/powerpoint/2010/main" val="1827590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AD48E-C23E-4D49-9255-CF2D6F91C475}"/>
              </a:ext>
            </a:extLst>
          </p:cNvPr>
          <p:cNvSpPr>
            <a:spLocks noGrp="1"/>
          </p:cNvSpPr>
          <p:nvPr>
            <p:ph type="title"/>
          </p:nvPr>
        </p:nvSpPr>
        <p:spPr/>
        <p:txBody>
          <a:bodyPr/>
          <a:lstStyle/>
          <a:p>
            <a:r>
              <a:rPr lang="en-GB" dirty="0"/>
              <a:t>Double Entry</a:t>
            </a:r>
          </a:p>
        </p:txBody>
      </p:sp>
      <p:sp>
        <p:nvSpPr>
          <p:cNvPr id="3" name="Content Placeholder 2">
            <a:extLst>
              <a:ext uri="{FF2B5EF4-FFF2-40B4-BE49-F238E27FC236}">
                <a16:creationId xmlns:a16="http://schemas.microsoft.com/office/drawing/2014/main" id="{174FD3D0-AE5A-4EC2-B1E2-4D29D21EA9E9}"/>
              </a:ext>
            </a:extLst>
          </p:cNvPr>
          <p:cNvSpPr>
            <a:spLocks noGrp="1"/>
          </p:cNvSpPr>
          <p:nvPr>
            <p:ph idx="1"/>
          </p:nvPr>
        </p:nvSpPr>
        <p:spPr/>
        <p:txBody>
          <a:bodyPr/>
          <a:lstStyle/>
          <a:p>
            <a:r>
              <a:rPr lang="en-GB" dirty="0"/>
              <a:t>This involves entering the data twice into the computer system and the computer will check both copies to ensure there are no differences. Any differences will be manually corrected.</a:t>
            </a:r>
          </a:p>
          <a:p>
            <a:endParaRPr lang="en-GB" dirty="0"/>
          </a:p>
        </p:txBody>
      </p:sp>
    </p:spTree>
    <p:extLst>
      <p:ext uri="{BB962C8B-B14F-4D97-AF65-F5344CB8AC3E}">
        <p14:creationId xmlns:p14="http://schemas.microsoft.com/office/powerpoint/2010/main" val="12521636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88F7F-F312-43F5-A37C-FD1F771068C8}"/>
              </a:ext>
            </a:extLst>
          </p:cNvPr>
          <p:cNvSpPr>
            <a:spLocks noGrp="1"/>
          </p:cNvSpPr>
          <p:nvPr>
            <p:ph type="title"/>
          </p:nvPr>
        </p:nvSpPr>
        <p:spPr/>
        <p:txBody>
          <a:bodyPr/>
          <a:lstStyle/>
          <a:p>
            <a:r>
              <a:rPr lang="en-GB" dirty="0"/>
              <a:t>Proof Reading</a:t>
            </a:r>
          </a:p>
        </p:txBody>
      </p:sp>
      <p:sp>
        <p:nvSpPr>
          <p:cNvPr id="3" name="Content Placeholder 2">
            <a:extLst>
              <a:ext uri="{FF2B5EF4-FFF2-40B4-BE49-F238E27FC236}">
                <a16:creationId xmlns:a16="http://schemas.microsoft.com/office/drawing/2014/main" id="{E43DDC08-844D-4E3E-BEEB-0273890FF78F}"/>
              </a:ext>
            </a:extLst>
          </p:cNvPr>
          <p:cNvSpPr>
            <a:spLocks noGrp="1"/>
          </p:cNvSpPr>
          <p:nvPr>
            <p:ph idx="1"/>
          </p:nvPr>
        </p:nvSpPr>
        <p:spPr/>
        <p:txBody>
          <a:bodyPr/>
          <a:lstStyle/>
          <a:p>
            <a:r>
              <a:rPr lang="en-GB" dirty="0"/>
              <a:t>This is also known as visual checking. This involves the user checking data entered into the computer system perfectly matches the source of the data. </a:t>
            </a:r>
          </a:p>
          <a:p>
            <a:r>
              <a:rPr lang="en-GB" dirty="0"/>
              <a:t>If the user sees that the data is correct then they confirm this to the computer. </a:t>
            </a:r>
          </a:p>
          <a:p>
            <a:endParaRPr lang="en-GB" dirty="0"/>
          </a:p>
        </p:txBody>
      </p:sp>
    </p:spTree>
    <p:extLst>
      <p:ext uri="{BB962C8B-B14F-4D97-AF65-F5344CB8AC3E}">
        <p14:creationId xmlns:p14="http://schemas.microsoft.com/office/powerpoint/2010/main" val="27233668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 Question: Mark Scheme</a:t>
            </a:r>
          </a:p>
        </p:txBody>
      </p:sp>
      <p:sp>
        <p:nvSpPr>
          <p:cNvPr id="3" name="Content Placeholder 2"/>
          <p:cNvSpPr>
            <a:spLocks noGrp="1"/>
          </p:cNvSpPr>
          <p:nvPr>
            <p:ph idx="1"/>
          </p:nvPr>
        </p:nvSpPr>
        <p:spPr/>
        <p:txBody>
          <a:bodyPr/>
          <a:lstStyle/>
          <a:p>
            <a:r>
              <a:rPr lang="en-GB" dirty="0"/>
              <a:t>A book can be reserved at a library by completing a form. The librarian keys the data from these forms into a database.</a:t>
            </a:r>
          </a:p>
          <a:p>
            <a:endParaRPr lang="en-GB" dirty="0"/>
          </a:p>
          <a:p>
            <a:pPr marL="0" indent="0">
              <a:buNone/>
            </a:pPr>
            <a:r>
              <a:rPr lang="en-GB" dirty="0"/>
              <a:t>Explain how double entry can be used to detect errors in this case.</a:t>
            </a:r>
          </a:p>
          <a:p>
            <a:pPr marL="0" indent="0">
              <a:buNone/>
            </a:pPr>
            <a:r>
              <a:rPr lang="en-GB" dirty="0">
                <a:solidFill>
                  <a:srgbClr val="FF0000"/>
                </a:solidFill>
              </a:rPr>
              <a:t>The data is keyed in twice</a:t>
            </a:r>
          </a:p>
          <a:p>
            <a:pPr marL="0" indent="0">
              <a:buNone/>
            </a:pPr>
            <a:r>
              <a:rPr lang="en-GB" dirty="0">
                <a:solidFill>
                  <a:srgbClr val="FF0000"/>
                </a:solidFill>
              </a:rPr>
              <a:t>The computer/system</a:t>
            </a:r>
          </a:p>
          <a:p>
            <a:pPr marL="0" indent="0">
              <a:buNone/>
            </a:pPr>
            <a:r>
              <a:rPr lang="en-GB" dirty="0">
                <a:solidFill>
                  <a:srgbClr val="FF0000"/>
                </a:solidFill>
              </a:rPr>
              <a:t>… checks that both versions match/ae the same</a:t>
            </a:r>
          </a:p>
          <a:p>
            <a:pPr marL="0" indent="0">
              <a:buNone/>
            </a:pPr>
            <a:r>
              <a:rPr lang="en-GB" dirty="0"/>
              <a:t>										[3]</a:t>
            </a:r>
          </a:p>
        </p:txBody>
      </p:sp>
    </p:spTree>
    <p:extLst>
      <p:ext uri="{BB962C8B-B14F-4D97-AF65-F5344CB8AC3E}">
        <p14:creationId xmlns:p14="http://schemas.microsoft.com/office/powerpoint/2010/main" val="195332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Class Question:</a:t>
            </a:r>
          </a:p>
        </p:txBody>
      </p:sp>
      <p:sp>
        <p:nvSpPr>
          <p:cNvPr id="3" name="Content Placeholder 2"/>
          <p:cNvSpPr>
            <a:spLocks noGrp="1"/>
          </p:cNvSpPr>
          <p:nvPr>
            <p:ph idx="1"/>
          </p:nvPr>
        </p:nvSpPr>
        <p:spPr/>
        <p:txBody>
          <a:bodyPr/>
          <a:lstStyle/>
          <a:p>
            <a:r>
              <a:rPr lang="en-GB" dirty="0"/>
              <a:t>A book can be reserved at a library by completing a form. The librarian keys the data from these forms into a database.</a:t>
            </a:r>
          </a:p>
          <a:p>
            <a:endParaRPr lang="en-GB" dirty="0"/>
          </a:p>
          <a:p>
            <a:pPr marL="0" indent="0">
              <a:buNone/>
            </a:pPr>
            <a:r>
              <a:rPr lang="en-GB" dirty="0"/>
              <a:t>Explain how double entry can be used to detect errors in this case.</a:t>
            </a:r>
          </a:p>
          <a:p>
            <a:pPr marL="0" indent="0">
              <a:buNone/>
            </a:pPr>
            <a:endParaRPr lang="en-GB" dirty="0"/>
          </a:p>
          <a:p>
            <a:pPr marL="0" indent="0">
              <a:buNone/>
            </a:pPr>
            <a:endParaRPr lang="en-GB" dirty="0"/>
          </a:p>
          <a:p>
            <a:pPr marL="0" indent="0">
              <a:buNone/>
            </a:pPr>
            <a:endParaRPr lang="en-GB" dirty="0"/>
          </a:p>
          <a:p>
            <a:pPr marL="0" indent="0">
              <a:buNone/>
            </a:pPr>
            <a:r>
              <a:rPr lang="en-GB" dirty="0"/>
              <a:t>										[3]</a:t>
            </a:r>
          </a:p>
        </p:txBody>
      </p:sp>
    </p:spTree>
    <p:extLst>
      <p:ext uri="{BB962C8B-B14F-4D97-AF65-F5344CB8AC3E}">
        <p14:creationId xmlns:p14="http://schemas.microsoft.com/office/powerpoint/2010/main" val="24143709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8F751-5855-4B80-8681-CBC8FA008801}"/>
              </a:ext>
            </a:extLst>
          </p:cNvPr>
          <p:cNvSpPr>
            <a:spLocks noGrp="1"/>
          </p:cNvSpPr>
          <p:nvPr>
            <p:ph type="title"/>
          </p:nvPr>
        </p:nvSpPr>
        <p:spPr/>
        <p:txBody>
          <a:bodyPr/>
          <a:lstStyle/>
          <a:p>
            <a:r>
              <a:rPr lang="en-GB" b="1" dirty="0"/>
              <a:t>Limitations of Data Validation and Verification</a:t>
            </a:r>
            <a:endParaRPr lang="en-GB" dirty="0"/>
          </a:p>
        </p:txBody>
      </p:sp>
      <p:sp>
        <p:nvSpPr>
          <p:cNvPr id="3" name="Content Placeholder 2">
            <a:extLst>
              <a:ext uri="{FF2B5EF4-FFF2-40B4-BE49-F238E27FC236}">
                <a16:creationId xmlns:a16="http://schemas.microsoft.com/office/drawing/2014/main" id="{A86B7045-C68C-416C-828C-181D5CD49231}"/>
              </a:ext>
            </a:extLst>
          </p:cNvPr>
          <p:cNvSpPr>
            <a:spLocks noGrp="1"/>
          </p:cNvSpPr>
          <p:nvPr>
            <p:ph idx="1"/>
          </p:nvPr>
        </p:nvSpPr>
        <p:spPr/>
        <p:txBody>
          <a:bodyPr>
            <a:normAutofit fontScale="85000" lnSpcReduction="20000"/>
          </a:bodyPr>
          <a:lstStyle/>
          <a:p>
            <a:r>
              <a:rPr lang="en-GB" dirty="0"/>
              <a:t>Data validation and verification do not guarantee that all data entered will be correct and error free. There are limitations in using either of these methods.</a:t>
            </a:r>
          </a:p>
          <a:p>
            <a:pPr lvl="1"/>
            <a:r>
              <a:rPr lang="en-GB" dirty="0"/>
              <a:t>When using a range check for the day of a typical month, it is possible that the day is valid but incorrect such as the day was entered as 13 and should be 31. </a:t>
            </a:r>
          </a:p>
          <a:p>
            <a:pPr lvl="1"/>
            <a:r>
              <a:rPr lang="en-GB" dirty="0"/>
              <a:t>This is referred to as a </a:t>
            </a:r>
            <a:r>
              <a:rPr lang="en-GB" b="1" dirty="0"/>
              <a:t>transposition error</a:t>
            </a:r>
            <a:r>
              <a:rPr lang="en-GB" dirty="0"/>
              <a:t>. When using a presence check if data exists in the given field it will be valid but the actual data could be incorrect such as a forename rather than a surname. </a:t>
            </a:r>
          </a:p>
          <a:p>
            <a:pPr lvl="1"/>
            <a:r>
              <a:rPr lang="en-GB" dirty="0"/>
              <a:t>In using a lookup table a data value may be valid but is not stored in the lookup table and therefore it will be classified as invalid by the computer. This will require the lookup values stored in the table being updated regularly to ensure the data validation check is not limited.</a:t>
            </a:r>
          </a:p>
          <a:p>
            <a:r>
              <a:rPr lang="en-GB" dirty="0"/>
              <a:t>When using data verification a limitation could be the data source. If the data source is unreliable and the data entered is checked against this source it will cause a problem. </a:t>
            </a:r>
          </a:p>
          <a:p>
            <a:pPr lvl="1"/>
            <a:r>
              <a:rPr lang="en-GB" dirty="0"/>
              <a:t>The user may </a:t>
            </a:r>
            <a:r>
              <a:rPr lang="en-GB" b="1" dirty="0"/>
              <a:t>proofread</a:t>
            </a:r>
            <a:r>
              <a:rPr lang="en-GB" dirty="0"/>
              <a:t> and seeing a match with what is on the source document with what is displayed on the screen and then they will confirm this to the computer as being correct when the actual source is incorrect.</a:t>
            </a:r>
          </a:p>
          <a:p>
            <a:endParaRPr lang="en-GB" dirty="0"/>
          </a:p>
        </p:txBody>
      </p:sp>
    </p:spTree>
    <p:extLst>
      <p:ext uri="{BB962C8B-B14F-4D97-AF65-F5344CB8AC3E}">
        <p14:creationId xmlns:p14="http://schemas.microsoft.com/office/powerpoint/2010/main" val="2500642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1271</TotalTime>
  <Words>4775</Words>
  <Application>Microsoft Office PowerPoint</Application>
  <PresentationFormat>Widescreen</PresentationFormat>
  <Paragraphs>482</Paragraphs>
  <Slides>51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ArialMT</vt:lpstr>
      <vt:lpstr>Calibri</vt:lpstr>
      <vt:lpstr>Calibri Light</vt:lpstr>
      <vt:lpstr>Times New Roman</vt:lpstr>
      <vt:lpstr>Office Theme</vt:lpstr>
      <vt:lpstr>Data and Information</vt:lpstr>
      <vt:lpstr>The Specification</vt:lpstr>
      <vt:lpstr>Is there a difference between data and information?</vt:lpstr>
      <vt:lpstr>PowerPoint Presentation</vt:lpstr>
      <vt:lpstr>So what’s knowledge then?</vt:lpstr>
      <vt:lpstr>In Summary</vt:lpstr>
      <vt:lpstr>In Summary</vt:lpstr>
      <vt:lpstr>Question Break</vt:lpstr>
      <vt:lpstr>Question Break</vt:lpstr>
      <vt:lpstr>Factors that Affect the Quality of Information</vt:lpstr>
      <vt:lpstr>Information should be Accurate</vt:lpstr>
      <vt:lpstr>Information should be Up to date</vt:lpstr>
      <vt:lpstr>Information should be Complete</vt:lpstr>
      <vt:lpstr>Information should be Relevant</vt:lpstr>
      <vt:lpstr>Information should be Presented effectively</vt:lpstr>
      <vt:lpstr>Information should be Reliable</vt:lpstr>
      <vt:lpstr>Case Study: Car Navigation</vt:lpstr>
      <vt:lpstr>Question Break</vt:lpstr>
      <vt:lpstr>Question Break</vt:lpstr>
      <vt:lpstr>Direct and Indirect Data Sources</vt:lpstr>
      <vt:lpstr>PowerPoint Presentation</vt:lpstr>
      <vt:lpstr>Data Validation</vt:lpstr>
      <vt:lpstr>Range Check</vt:lpstr>
      <vt:lpstr>Type Check</vt:lpstr>
      <vt:lpstr>Length Check</vt:lpstr>
      <vt:lpstr>Format Check (AKA picture or layout checks) </vt:lpstr>
      <vt:lpstr>Presence Check</vt:lpstr>
      <vt:lpstr>Check Digit</vt:lpstr>
      <vt:lpstr>How to Complete a Modulus 11 Check</vt:lpstr>
      <vt:lpstr>How to Complete a Modulus 11 Check</vt:lpstr>
      <vt:lpstr>How to Complete a Modulus 11 Check</vt:lpstr>
      <vt:lpstr>How to Complete a Modulus 11 Check</vt:lpstr>
      <vt:lpstr>How to Complete a Modulus 11 Check</vt:lpstr>
      <vt:lpstr>Special Cases</vt:lpstr>
      <vt:lpstr>Checking the Check Digit</vt:lpstr>
      <vt:lpstr>TASK: Modulus 11 Step by Step</vt:lpstr>
      <vt:lpstr>Questions: </vt:lpstr>
      <vt:lpstr>Past Paper Questions</vt:lpstr>
      <vt:lpstr>Look up Check</vt:lpstr>
      <vt:lpstr>Batch Totals</vt:lpstr>
      <vt:lpstr>Batch Totals</vt:lpstr>
      <vt:lpstr>Batch Totals</vt:lpstr>
      <vt:lpstr>Batch Totals: Summary</vt:lpstr>
      <vt:lpstr>Questions: Batch Totals</vt:lpstr>
      <vt:lpstr>PowerPoint Presentation</vt:lpstr>
      <vt:lpstr>Data Verification</vt:lpstr>
      <vt:lpstr>Double Entry</vt:lpstr>
      <vt:lpstr>Proof Reading</vt:lpstr>
      <vt:lpstr>Class Question: Mark Scheme</vt:lpstr>
      <vt:lpstr>Class Question:</vt:lpstr>
      <vt:lpstr>Limitations of Data Validation and Verification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and Information</dc:title>
  <dc:creator>Mr Butler</dc:creator>
  <cp:lastModifiedBy>J Butler</cp:lastModifiedBy>
  <cp:revision>34</cp:revision>
  <dcterms:created xsi:type="dcterms:W3CDTF">2021-07-28T19:41:51Z</dcterms:created>
  <dcterms:modified xsi:type="dcterms:W3CDTF">2026-09-23T10:46:16Z</dcterms:modified>
</cp:coreProperties>
</file>