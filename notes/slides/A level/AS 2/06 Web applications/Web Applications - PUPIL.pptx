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747"/>
    <a:srgbClr val="C2202B"/>
    <a:srgbClr val="E12534"/>
    <a:srgbClr val="FFFFFF"/>
    <a:srgbClr val="FC4645"/>
    <a:srgbClr val="0D0BD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201" autoAdjust="0"/>
  </p:normalViewPr>
  <p:slideViewPr>
    <p:cSldViewPr snapToGrid="0">
      <p:cViewPr varScale="1">
        <p:scale>
          <a:sx n="86" d="100"/>
          <a:sy n="86" d="100"/>
        </p:scale>
        <p:origin x="14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FFC83-1973-4AB1-B511-D84699A0DF5E}" type="datetimeFigureOut">
              <a:rPr lang="en-GB" smtClean="0"/>
              <a:t>26/02/2025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DFFFA3-B7F3-4A40-8C12-E90C353EF55B}" type="slidenum">
              <a:rPr lang="en-GB" smtClean="0"/>
              <a:t>‹#›</a:t>
            </a:fld>
            <a:endParaRPr lang="en-GB"/>
          </a:p>
        </p:txBody>
      </p:sp>
    </p:spTree>
    <p:extLst>
      <p:ext uri="{BB962C8B-B14F-4D97-AF65-F5344CB8AC3E}">
        <p14:creationId xmlns:p14="http://schemas.microsoft.com/office/powerpoint/2010/main" val="2653951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1DFFFA3-B7F3-4A40-8C12-E90C353EF55B}" type="slidenum">
              <a:rPr lang="en-GB" smtClean="0"/>
              <a:t>23</a:t>
            </a:fld>
            <a:endParaRPr lang="en-GB"/>
          </a:p>
        </p:txBody>
      </p:sp>
    </p:spTree>
    <p:extLst>
      <p:ext uri="{BB962C8B-B14F-4D97-AF65-F5344CB8AC3E}">
        <p14:creationId xmlns:p14="http://schemas.microsoft.com/office/powerpoint/2010/main" val="3019979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C4CB0-6FCB-AFF6-9CC5-CF449BD2B8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1C1F90D-22D8-582C-A083-00CBC3D1E3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40B8B1E-C64B-4D9B-E4E2-B29C648BD8FC}"/>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5" name="Footer Placeholder 4">
            <a:extLst>
              <a:ext uri="{FF2B5EF4-FFF2-40B4-BE49-F238E27FC236}">
                <a16:creationId xmlns:a16="http://schemas.microsoft.com/office/drawing/2014/main" id="{55DF8B51-74D4-2A00-A743-43529277171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3190443-9A54-F1B4-223F-5EF538A8C5D1}"/>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3747264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E027A-E1B6-E3D0-7507-F85E41E7EEA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31B22D-4697-8679-365B-3A61EFD680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31DFF60-43E9-AC11-000F-3ACA4278DD36}"/>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5" name="Footer Placeholder 4">
            <a:extLst>
              <a:ext uri="{FF2B5EF4-FFF2-40B4-BE49-F238E27FC236}">
                <a16:creationId xmlns:a16="http://schemas.microsoft.com/office/drawing/2014/main" id="{BCFC1BA1-5DEC-EAA9-1C9C-0721B88A19E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7178D7-86B4-55B6-81B4-FA18F686A957}"/>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1143376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4CF0-D923-9EC8-BE06-A680201340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ED8AC3D-7481-7846-3B0F-D7A41A3543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B06842-BF4C-1A44-CFBE-19558B20CB96}"/>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5" name="Footer Placeholder 4">
            <a:extLst>
              <a:ext uri="{FF2B5EF4-FFF2-40B4-BE49-F238E27FC236}">
                <a16:creationId xmlns:a16="http://schemas.microsoft.com/office/drawing/2014/main" id="{6B6D24DC-95C0-9F37-E951-8EEDE127EE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3DA66D-AC6B-420A-8E1A-9E7CBC709AA2}"/>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4095021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6601C-AF00-09CF-00F9-8091FB76381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5E7F3D7-0574-C3B2-AC3D-C52435095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2E91CAF-35D8-9029-E635-1DE6000A7B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A9DDD85-D61F-96FF-0FB1-631E78B3D676}"/>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6" name="Footer Placeholder 5">
            <a:extLst>
              <a:ext uri="{FF2B5EF4-FFF2-40B4-BE49-F238E27FC236}">
                <a16:creationId xmlns:a16="http://schemas.microsoft.com/office/drawing/2014/main" id="{C4323EB2-3460-29FD-8443-F12B05F01B1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07B01B-15CF-0127-66A2-7BD1ADF18409}"/>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2649659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B4C96-1B69-9898-AD64-C80C1DE67FB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C10FD4B-3114-8532-742B-CB17CA67FD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9B501F-429B-95B6-F2FE-8B2AB89260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D463BC-732D-906A-349A-381C346BCB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FF95C0-671A-03F0-9D1B-EF4A8467E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E4A04CC-E36A-634E-EEEF-1C3B89725B48}"/>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8" name="Footer Placeholder 7">
            <a:extLst>
              <a:ext uri="{FF2B5EF4-FFF2-40B4-BE49-F238E27FC236}">
                <a16:creationId xmlns:a16="http://schemas.microsoft.com/office/drawing/2014/main" id="{550074B0-1910-A9C9-D2B1-7EB38C38C07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C011C7D-1CD0-6879-33A4-5D418E127014}"/>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2382652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ADD1-016C-0E8B-35CB-7AEB0DC1E62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F9E9FE6-9FCC-933D-F7E6-A0EF63F9295A}"/>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4" name="Footer Placeholder 3">
            <a:extLst>
              <a:ext uri="{FF2B5EF4-FFF2-40B4-BE49-F238E27FC236}">
                <a16:creationId xmlns:a16="http://schemas.microsoft.com/office/drawing/2014/main" id="{240F9379-8421-A842-CDFD-CB46B990C48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5424057-C556-4CC7-B677-ED451B291699}"/>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3019808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CBB343-47D5-9554-30EF-21485B15BA0E}"/>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3" name="Footer Placeholder 2">
            <a:extLst>
              <a:ext uri="{FF2B5EF4-FFF2-40B4-BE49-F238E27FC236}">
                <a16:creationId xmlns:a16="http://schemas.microsoft.com/office/drawing/2014/main" id="{ADFB6D8E-F864-D0F3-9F03-35B308F6908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8EF5CEA-3B1F-7775-7A32-F66CC9303141}"/>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2192404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37EBC-15C5-1BB0-AB34-2DA8678E0B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255F3AA-2BCF-1BF2-09B5-7180808F44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19703F2-20E3-7912-8260-BDD8DA875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ACBEF2-9F6F-01CB-1A40-3E3E93733A0F}"/>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6" name="Footer Placeholder 5">
            <a:extLst>
              <a:ext uri="{FF2B5EF4-FFF2-40B4-BE49-F238E27FC236}">
                <a16:creationId xmlns:a16="http://schemas.microsoft.com/office/drawing/2014/main" id="{F957B57E-1787-211E-AD1D-3CF6C19E8E1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A9A6315-A706-D4AC-EA8E-2E8DBC0F5CDB}"/>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344829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0C093-1344-335B-B8DC-0C8D7B036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12AAECA-008D-CC2B-994B-9118BF878E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42F3DD8-3B55-466B-2963-B89596276C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A58F1B-2B45-CEE9-6B8E-FEE746F47737}"/>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6" name="Footer Placeholder 5">
            <a:extLst>
              <a:ext uri="{FF2B5EF4-FFF2-40B4-BE49-F238E27FC236}">
                <a16:creationId xmlns:a16="http://schemas.microsoft.com/office/drawing/2014/main" id="{83A9DABF-C735-DFBA-A2A1-B20176291A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EBD8A55-E3D8-F359-23C0-AEF8A3FA31F2}"/>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148637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5A66-7FFE-615F-ED5D-8EAFC3000E2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3D77C95-9318-A24D-1C9D-5052F126CE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1E21F1-60D8-12C7-880F-EF3DB860DDB8}"/>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5" name="Footer Placeholder 4">
            <a:extLst>
              <a:ext uri="{FF2B5EF4-FFF2-40B4-BE49-F238E27FC236}">
                <a16:creationId xmlns:a16="http://schemas.microsoft.com/office/drawing/2014/main" id="{B52738FB-3FF3-C7FB-3DB1-43C186A501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B6D5FDB-343C-A0BF-7EE8-A5411B7169E7}"/>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391408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C54573-6D39-4146-BD01-D71A41AFC9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802F4A8-E2A3-9E77-426A-338B3BB828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DFC8F08-CE0E-C8B8-A70F-EE95BDD53D01}"/>
              </a:ext>
            </a:extLst>
          </p:cNvPr>
          <p:cNvSpPr>
            <a:spLocks noGrp="1"/>
          </p:cNvSpPr>
          <p:nvPr>
            <p:ph type="dt" sz="half" idx="10"/>
          </p:nvPr>
        </p:nvSpPr>
        <p:spPr/>
        <p:txBody>
          <a:bodyPr/>
          <a:lstStyle/>
          <a:p>
            <a:fld id="{45F28D00-625F-4530-B4EB-AC6D6A75A0FD}" type="datetimeFigureOut">
              <a:rPr lang="en-GB" smtClean="0"/>
              <a:t>26/02/2025</a:t>
            </a:fld>
            <a:endParaRPr lang="en-GB"/>
          </a:p>
        </p:txBody>
      </p:sp>
      <p:sp>
        <p:nvSpPr>
          <p:cNvPr id="5" name="Footer Placeholder 4">
            <a:extLst>
              <a:ext uri="{FF2B5EF4-FFF2-40B4-BE49-F238E27FC236}">
                <a16:creationId xmlns:a16="http://schemas.microsoft.com/office/drawing/2014/main" id="{E81AC36B-D330-7835-141F-F76E161277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46E5E8-62F1-B388-5D4E-0B3BE15FE470}"/>
              </a:ext>
            </a:extLst>
          </p:cNvPr>
          <p:cNvSpPr>
            <a:spLocks noGrp="1"/>
          </p:cNvSpPr>
          <p:nvPr>
            <p:ph type="sldNum" sz="quarter" idx="12"/>
          </p:nvPr>
        </p:nvSpPr>
        <p:spPr/>
        <p:txBody>
          <a:bodyPr/>
          <a:lstStyle/>
          <a:p>
            <a:fld id="{ABF5A80B-5E11-49C3-A250-C673280BAD45}" type="slidenum">
              <a:rPr lang="en-GB" smtClean="0"/>
              <a:t>‹#›</a:t>
            </a:fld>
            <a:endParaRPr lang="en-GB"/>
          </a:p>
        </p:txBody>
      </p:sp>
    </p:spTree>
    <p:extLst>
      <p:ext uri="{BB962C8B-B14F-4D97-AF65-F5344CB8AC3E}">
        <p14:creationId xmlns:p14="http://schemas.microsoft.com/office/powerpoint/2010/main" val="207023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6D3D04-11FF-D89B-B012-535FDFC205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AFE8E0E-3CB6-9C7E-8E06-34A97F87B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650CA5-E235-1A36-C016-245300B426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F28D00-625F-4530-B4EB-AC6D6A75A0FD}" type="datetimeFigureOut">
              <a:rPr lang="en-GB" smtClean="0"/>
              <a:t>26/02/2025</a:t>
            </a:fld>
            <a:endParaRPr lang="en-GB"/>
          </a:p>
        </p:txBody>
      </p:sp>
      <p:sp>
        <p:nvSpPr>
          <p:cNvPr id="5" name="Footer Placeholder 4">
            <a:extLst>
              <a:ext uri="{FF2B5EF4-FFF2-40B4-BE49-F238E27FC236}">
                <a16:creationId xmlns:a16="http://schemas.microsoft.com/office/drawing/2014/main" id="{F21EE608-42CA-BADC-BFA0-61B0C47C93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E60AE40-765B-8D88-839D-EFEAEA60D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F5A80B-5E11-49C3-A250-C673280BAD45}" type="slidenum">
              <a:rPr lang="en-GB" smtClean="0"/>
              <a:t>‹#›</a:t>
            </a:fld>
            <a:endParaRPr lang="en-GB"/>
          </a:p>
        </p:txBody>
      </p:sp>
    </p:spTree>
    <p:extLst>
      <p:ext uri="{BB962C8B-B14F-4D97-AF65-F5344CB8AC3E}">
        <p14:creationId xmlns:p14="http://schemas.microsoft.com/office/powerpoint/2010/main" val="848853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1026" name="Picture 2" descr="A comprehensive guide on web application architecture">
            <a:extLst>
              <a:ext uri="{FF2B5EF4-FFF2-40B4-BE49-F238E27FC236}">
                <a16:creationId xmlns:a16="http://schemas.microsoft.com/office/drawing/2014/main" id="{66829CAA-AAE4-415F-B490-3D64577E16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7800"/>
            <a:ext cx="12192000" cy="6502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08E90A9-BEB1-39B8-25C2-7D6DF9AE2D20}"/>
              </a:ext>
            </a:extLst>
          </p:cNvPr>
          <p:cNvSpPr>
            <a:spLocks noGrp="1"/>
          </p:cNvSpPr>
          <p:nvPr>
            <p:ph type="ctrTitle"/>
          </p:nvPr>
        </p:nvSpPr>
        <p:spPr>
          <a:xfrm>
            <a:off x="0" y="177800"/>
            <a:ext cx="5923175" cy="2133599"/>
          </a:xfrm>
        </p:spPr>
        <p:txBody>
          <a:bodyPr>
            <a:normAutofit fontScale="90000"/>
          </a:bodyPr>
          <a:lstStyle/>
          <a:p>
            <a:r>
              <a:rPr lang="en-GB" dirty="0">
                <a:solidFill>
                  <a:schemeClr val="bg1"/>
                </a:solidFill>
                <a:latin typeface="LEMON MILK" panose="00000500000000000000" pitchFamily="50" charset="0"/>
              </a:rPr>
              <a:t>Web Applications</a:t>
            </a:r>
          </a:p>
        </p:txBody>
      </p:sp>
      <p:sp>
        <p:nvSpPr>
          <p:cNvPr id="3" name="Subtitle 2">
            <a:extLst>
              <a:ext uri="{FF2B5EF4-FFF2-40B4-BE49-F238E27FC236}">
                <a16:creationId xmlns:a16="http://schemas.microsoft.com/office/drawing/2014/main" id="{E12D0A68-618E-244A-54C7-997E20DBFFF7}"/>
              </a:ext>
            </a:extLst>
          </p:cNvPr>
          <p:cNvSpPr>
            <a:spLocks noGrp="1"/>
          </p:cNvSpPr>
          <p:nvPr>
            <p:ph type="subTitle" idx="1"/>
          </p:nvPr>
        </p:nvSpPr>
        <p:spPr>
          <a:xfrm>
            <a:off x="487052" y="1244599"/>
            <a:ext cx="1869650" cy="1655762"/>
          </a:xfrm>
        </p:spPr>
        <p:txBody>
          <a:bodyPr>
            <a:normAutofit/>
          </a:bodyPr>
          <a:lstStyle/>
          <a:p>
            <a:r>
              <a:rPr lang="en-GB" sz="1400" dirty="0">
                <a:solidFill>
                  <a:srgbClr val="FFFF00"/>
                </a:solidFill>
                <a:latin typeface="LEMON MILK" panose="00000500000000000000" pitchFamily="50" charset="0"/>
              </a:rPr>
              <a:t>AS2 | Mr Butler</a:t>
            </a:r>
          </a:p>
        </p:txBody>
      </p:sp>
    </p:spTree>
    <p:extLst>
      <p:ext uri="{BB962C8B-B14F-4D97-AF65-F5344CB8AC3E}">
        <p14:creationId xmlns:p14="http://schemas.microsoft.com/office/powerpoint/2010/main" val="374393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8EB13-B3B6-A3D6-A136-880EDA37A72F}"/>
              </a:ext>
            </a:extLst>
          </p:cNvPr>
          <p:cNvSpPr>
            <a:spLocks noGrp="1"/>
          </p:cNvSpPr>
          <p:nvPr>
            <p:ph type="title"/>
          </p:nvPr>
        </p:nvSpPr>
        <p:spPr/>
        <p:txBody>
          <a:bodyPr/>
          <a:lstStyle/>
          <a:p>
            <a:r>
              <a:rPr lang="en-GB" dirty="0"/>
              <a:t>A Few Terms we need to know include:</a:t>
            </a:r>
          </a:p>
        </p:txBody>
      </p:sp>
      <p:sp>
        <p:nvSpPr>
          <p:cNvPr id="3" name="Content Placeholder 2">
            <a:extLst>
              <a:ext uri="{FF2B5EF4-FFF2-40B4-BE49-F238E27FC236}">
                <a16:creationId xmlns:a16="http://schemas.microsoft.com/office/drawing/2014/main" id="{5FB93D61-ACC6-726E-1DE4-787505E74635}"/>
              </a:ext>
            </a:extLst>
          </p:cNvPr>
          <p:cNvSpPr>
            <a:spLocks noGrp="1"/>
          </p:cNvSpPr>
          <p:nvPr>
            <p:ph idx="1"/>
          </p:nvPr>
        </p:nvSpPr>
        <p:spPr/>
        <p:txBody>
          <a:bodyPr>
            <a:normAutofit/>
          </a:bodyPr>
          <a:lstStyle/>
          <a:p>
            <a:pPr marL="0" indent="0" algn="l">
              <a:buNone/>
            </a:pPr>
            <a:r>
              <a:rPr lang="en-GB" sz="1800" b="0" i="0" u="none" strike="noStrike" baseline="0" dirty="0">
                <a:latin typeface="FSLola"/>
              </a:rPr>
              <a:t>WWW					The Internet</a:t>
            </a:r>
          </a:p>
          <a:p>
            <a:pPr marL="0" indent="0" algn="l">
              <a:buNone/>
            </a:pPr>
            <a:r>
              <a:rPr lang="en-GB" sz="1800" b="0" i="0" u="none" strike="noStrike" baseline="0" dirty="0">
                <a:latin typeface="FSLola"/>
              </a:rPr>
              <a:t>URL					HTTP</a:t>
            </a:r>
          </a:p>
          <a:p>
            <a:pPr marL="0" indent="0" algn="l">
              <a:buNone/>
            </a:pPr>
            <a:r>
              <a:rPr lang="en-GB" sz="1800" b="0" i="0" u="none" strike="noStrike" baseline="0" dirty="0">
                <a:latin typeface="FSLola"/>
              </a:rPr>
              <a:t>IP address				Web browser</a:t>
            </a:r>
          </a:p>
          <a:p>
            <a:pPr marL="0" indent="0" algn="l">
              <a:buNone/>
            </a:pPr>
            <a:r>
              <a:rPr lang="en-GB" sz="1800" b="0" i="0" u="none" strike="noStrike" baseline="0" dirty="0">
                <a:latin typeface="FSLola"/>
              </a:rPr>
              <a:t>Web server				Web hosting</a:t>
            </a:r>
          </a:p>
          <a:p>
            <a:pPr marL="0" indent="0" algn="l">
              <a:buNone/>
            </a:pPr>
            <a:r>
              <a:rPr lang="en-GB" sz="1800" b="0" i="0" u="none" strike="noStrike" baseline="0" dirty="0">
                <a:latin typeface="FSLola"/>
              </a:rPr>
              <a:t>FTP					ISP</a:t>
            </a:r>
          </a:p>
          <a:p>
            <a:pPr marL="0" indent="0" algn="l">
              <a:buNone/>
            </a:pPr>
            <a:r>
              <a:rPr lang="en-GB" sz="1800" b="0" i="0" u="none" strike="noStrike" baseline="0" dirty="0">
                <a:latin typeface="FSLola"/>
              </a:rPr>
              <a:t>Search engine				Cache</a:t>
            </a:r>
          </a:p>
          <a:p>
            <a:pPr marL="0" indent="0" algn="l">
              <a:buNone/>
            </a:pPr>
            <a:r>
              <a:rPr lang="en-GB" sz="1800" b="0" i="0" u="none" strike="noStrike" baseline="0" dirty="0">
                <a:latin typeface="FSLola"/>
              </a:rPr>
              <a:t>Cookies					Portal</a:t>
            </a:r>
          </a:p>
          <a:p>
            <a:pPr marL="0" indent="0" algn="l">
              <a:buNone/>
            </a:pPr>
            <a:r>
              <a:rPr lang="en-GB" sz="1800" b="0" i="0" u="none" strike="noStrike" baseline="0" dirty="0">
                <a:latin typeface="FSLola"/>
              </a:rPr>
              <a:t>Website					Web page</a:t>
            </a:r>
          </a:p>
          <a:p>
            <a:pPr marL="0" indent="0" algn="l">
              <a:buNone/>
            </a:pPr>
            <a:endParaRPr lang="en-GB" sz="1800" dirty="0">
              <a:latin typeface="FSLola"/>
            </a:endParaRPr>
          </a:p>
          <a:p>
            <a:pPr marL="285750" indent="-285750"/>
            <a:r>
              <a:rPr lang="en-GB" sz="1800" dirty="0">
                <a:latin typeface="FSLola"/>
              </a:rPr>
              <a:t>Describe the role of the International Telecommunications Union (ITU) and World Wide Web Consortium(W3C) in agreeing web standards.</a:t>
            </a:r>
          </a:p>
          <a:p>
            <a:pPr marL="285750" indent="-285750"/>
            <a:r>
              <a:rPr lang="en-GB" sz="1800" dirty="0">
                <a:latin typeface="FSLola"/>
              </a:rPr>
              <a:t>Evaluate the use of an Intranet by an organisation.</a:t>
            </a:r>
            <a:endParaRPr lang="en-GB" sz="1800" dirty="0"/>
          </a:p>
          <a:p>
            <a:pPr marL="0" indent="0" algn="l">
              <a:buNone/>
            </a:pPr>
            <a:endParaRPr lang="en-GB" sz="1800" b="0" i="0" u="none" strike="noStrike" baseline="0" dirty="0">
              <a:latin typeface="FSLola"/>
            </a:endParaRPr>
          </a:p>
        </p:txBody>
      </p:sp>
    </p:spTree>
    <p:extLst>
      <p:ext uri="{BB962C8B-B14F-4D97-AF65-F5344CB8AC3E}">
        <p14:creationId xmlns:p14="http://schemas.microsoft.com/office/powerpoint/2010/main" val="224839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AE76-E6BF-EC75-AB17-4B058E486238}"/>
              </a:ext>
            </a:extLst>
          </p:cNvPr>
          <p:cNvSpPr>
            <a:spLocks noGrp="1"/>
          </p:cNvSpPr>
          <p:nvPr>
            <p:ph type="title"/>
          </p:nvPr>
        </p:nvSpPr>
        <p:spPr>
          <a:xfrm>
            <a:off x="-1" y="1"/>
            <a:ext cx="12191999" cy="752558"/>
          </a:xfrm>
          <a:solidFill>
            <a:srgbClr val="0D0BDB">
              <a:alpha val="60000"/>
            </a:srgbClr>
          </a:solidFill>
        </p:spPr>
        <p:txBody>
          <a:bodyPr/>
          <a:lstStyle/>
          <a:p>
            <a:r>
              <a:rPr lang="en-GB" dirty="0">
                <a:solidFill>
                  <a:schemeClr val="bg1"/>
                </a:solidFill>
                <a:latin typeface="LEMON MILK" panose="00000500000000000000" pitchFamily="50" charset="0"/>
              </a:rPr>
              <a:t>WWW</a:t>
            </a:r>
          </a:p>
        </p:txBody>
      </p:sp>
      <p:sp>
        <p:nvSpPr>
          <p:cNvPr id="3" name="Content Placeholder 2">
            <a:extLst>
              <a:ext uri="{FF2B5EF4-FFF2-40B4-BE49-F238E27FC236}">
                <a16:creationId xmlns:a16="http://schemas.microsoft.com/office/drawing/2014/main" id="{C81C1BA8-84CC-7A88-14D6-62395DE175BE}"/>
              </a:ext>
            </a:extLst>
          </p:cNvPr>
          <p:cNvSpPr>
            <a:spLocks noGrp="1"/>
          </p:cNvSpPr>
          <p:nvPr>
            <p:ph idx="1"/>
          </p:nvPr>
        </p:nvSpPr>
        <p:spPr>
          <a:xfrm>
            <a:off x="0" y="1112364"/>
            <a:ext cx="8295588" cy="5742576"/>
          </a:xfrm>
          <a:noFill/>
        </p:spPr>
        <p:txBody>
          <a:bodyPr>
            <a:normAutofit lnSpcReduction="10000"/>
          </a:bodyPr>
          <a:lstStyle/>
          <a:p>
            <a:pPr algn="l"/>
            <a:r>
              <a:rPr lang="en-GB" sz="2400" b="1" i="0" u="none" strike="noStrike" baseline="0" dirty="0">
                <a:solidFill>
                  <a:srgbClr val="FFFF00"/>
                </a:solidFill>
                <a:latin typeface="FSLola-Bold"/>
              </a:rPr>
              <a:t>World Wide Web i</a:t>
            </a:r>
            <a:r>
              <a:rPr lang="en-GB" sz="2400" b="1" i="0" u="none" strike="noStrike" baseline="0" dirty="0">
                <a:solidFill>
                  <a:srgbClr val="FFFF00"/>
                </a:solidFill>
                <a:latin typeface="FSLola"/>
              </a:rPr>
              <a:t>s the name given to the collection of information that has grown up on computers connected to the Internet and which is made available for anyone to access. The information is made up of webpages and hypertext documents.</a:t>
            </a:r>
          </a:p>
          <a:p>
            <a:pPr algn="l"/>
            <a:r>
              <a:rPr lang="en-GB" sz="2400" b="1" dirty="0">
                <a:solidFill>
                  <a:srgbClr val="FFFF00"/>
                </a:solidFill>
                <a:latin typeface="FSLola"/>
              </a:rPr>
              <a:t>It is an application which runs on the internet, commonly using http</a:t>
            </a:r>
            <a:endParaRPr lang="en-GB" sz="2400" b="1" i="0" u="none" strike="noStrike" baseline="0" dirty="0">
              <a:solidFill>
                <a:srgbClr val="FFFF00"/>
              </a:solidFill>
              <a:latin typeface="FSLola"/>
            </a:endParaRPr>
          </a:p>
          <a:p>
            <a:pPr algn="l"/>
            <a:r>
              <a:rPr lang="en-GB" sz="2400" b="0" i="0" u="none" strike="noStrike" baseline="0" dirty="0">
                <a:solidFill>
                  <a:schemeClr val="bg1"/>
                </a:solidFill>
                <a:latin typeface="FSLola"/>
              </a:rPr>
              <a:t>Features of Pages on the World Wide Web</a:t>
            </a:r>
          </a:p>
          <a:p>
            <a:pPr lvl="1"/>
            <a:r>
              <a:rPr lang="en-GB" sz="1800" b="0" i="0" u="none" strike="noStrike" baseline="0" dirty="0">
                <a:solidFill>
                  <a:schemeClr val="bg1"/>
                </a:solidFill>
                <a:latin typeface="FSLola"/>
              </a:rPr>
              <a:t>written using HTML and viewed using a web browser</a:t>
            </a:r>
          </a:p>
          <a:p>
            <a:pPr lvl="1"/>
            <a:r>
              <a:rPr lang="en-GB" sz="1800" b="0" i="0" u="none" strike="noStrike" baseline="0" dirty="0">
                <a:solidFill>
                  <a:schemeClr val="bg1"/>
                </a:solidFill>
                <a:latin typeface="FSLola"/>
              </a:rPr>
              <a:t>contain hypertext which provides the user with clickable links to other pages on the web.</a:t>
            </a:r>
            <a:endParaRPr lang="en-GB" b="0" i="0" u="none" strike="noStrike" baseline="0" dirty="0">
              <a:solidFill>
                <a:schemeClr val="bg1"/>
              </a:solidFill>
              <a:latin typeface="FSLola"/>
            </a:endParaRPr>
          </a:p>
          <a:p>
            <a:pPr lvl="1"/>
            <a:r>
              <a:rPr lang="en-GB" sz="1800" b="0" i="0" u="none" strike="noStrike" baseline="0" dirty="0">
                <a:solidFill>
                  <a:schemeClr val="bg1"/>
                </a:solidFill>
                <a:latin typeface="FSLola"/>
              </a:rPr>
              <a:t>can contain sound, video, animation, graphics and hypertext as well as text</a:t>
            </a:r>
          </a:p>
          <a:p>
            <a:pPr lvl="1"/>
            <a:r>
              <a:rPr lang="en-GB" sz="1800" b="0" i="0" u="none" strike="noStrike" baseline="0" dirty="0">
                <a:solidFill>
                  <a:schemeClr val="bg1"/>
                </a:solidFill>
                <a:latin typeface="FSLola"/>
              </a:rPr>
              <a:t>Use </a:t>
            </a:r>
            <a:r>
              <a:rPr lang="en-GB" sz="1800" i="0" u="none" strike="noStrike" baseline="0" dirty="0">
                <a:solidFill>
                  <a:srgbClr val="FFFF00"/>
                </a:solidFill>
                <a:latin typeface="FSLola"/>
              </a:rPr>
              <a:t>Hyper Text Transfer Protocol </a:t>
            </a:r>
            <a:r>
              <a:rPr lang="en-GB" sz="1800" b="0" i="0" u="none" strike="noStrike" baseline="0" dirty="0">
                <a:solidFill>
                  <a:schemeClr val="bg1"/>
                </a:solidFill>
                <a:latin typeface="FSLola"/>
              </a:rPr>
              <a:t>to send pages across the internet.</a:t>
            </a:r>
          </a:p>
          <a:p>
            <a:pPr algn="l"/>
            <a:r>
              <a:rPr lang="en-GB" sz="2400" b="0" i="0" u="none" strike="noStrike" baseline="0" dirty="0">
                <a:solidFill>
                  <a:schemeClr val="bg1"/>
                </a:solidFill>
                <a:latin typeface="FSLola"/>
              </a:rPr>
              <a:t>The WWW could be described as a multimedia service on the internet. The URL of pages on the WWW usually begins with http://, indicating that the page uses the Hypertext Transfer Protocol.</a:t>
            </a:r>
            <a:endParaRPr lang="en-GB" sz="3600" dirty="0">
              <a:solidFill>
                <a:schemeClr val="bg1"/>
              </a:solidFill>
            </a:endParaRPr>
          </a:p>
        </p:txBody>
      </p:sp>
    </p:spTree>
    <p:extLst>
      <p:ext uri="{BB962C8B-B14F-4D97-AF65-F5344CB8AC3E}">
        <p14:creationId xmlns:p14="http://schemas.microsoft.com/office/powerpoint/2010/main" val="129568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7179-CE76-22E4-A397-15FC116552E0}"/>
              </a:ext>
            </a:extLst>
          </p:cNvPr>
          <p:cNvSpPr>
            <a:spLocks noGrp="1"/>
          </p:cNvSpPr>
          <p:nvPr>
            <p:ph type="title"/>
          </p:nvPr>
        </p:nvSpPr>
        <p:spPr>
          <a:xfrm>
            <a:off x="0" y="1"/>
            <a:ext cx="12192000" cy="886119"/>
          </a:xfrm>
          <a:solidFill>
            <a:srgbClr val="FFFFFF">
              <a:alpha val="80000"/>
            </a:srgbClr>
          </a:solidFill>
        </p:spPr>
        <p:txBody>
          <a:bodyPr/>
          <a:lstStyle/>
          <a:p>
            <a:r>
              <a:rPr lang="en-GB" dirty="0">
                <a:latin typeface="LEMON MILK" panose="00000500000000000000" pitchFamily="50" charset="0"/>
              </a:rPr>
              <a:t>The Internet</a:t>
            </a:r>
          </a:p>
        </p:txBody>
      </p:sp>
      <p:sp>
        <p:nvSpPr>
          <p:cNvPr id="3" name="Content Placeholder 2">
            <a:extLst>
              <a:ext uri="{FF2B5EF4-FFF2-40B4-BE49-F238E27FC236}">
                <a16:creationId xmlns:a16="http://schemas.microsoft.com/office/drawing/2014/main" id="{E4DF4AA5-C48A-8128-93C9-1E36BF3AFC57}"/>
              </a:ext>
            </a:extLst>
          </p:cNvPr>
          <p:cNvSpPr>
            <a:spLocks noGrp="1"/>
          </p:cNvSpPr>
          <p:nvPr>
            <p:ph idx="1"/>
          </p:nvPr>
        </p:nvSpPr>
        <p:spPr>
          <a:xfrm>
            <a:off x="197177" y="3095625"/>
            <a:ext cx="10515600" cy="5277784"/>
          </a:xfrm>
        </p:spPr>
        <p:txBody>
          <a:bodyPr>
            <a:normAutofit/>
          </a:bodyPr>
          <a:lstStyle/>
          <a:p>
            <a:pPr algn="l"/>
            <a:r>
              <a:rPr lang="en-GB" b="0" i="0" u="none" strike="noStrike" baseline="0" dirty="0">
                <a:solidFill>
                  <a:schemeClr val="bg1"/>
                </a:solidFill>
                <a:latin typeface="FSLola"/>
              </a:rPr>
              <a:t>Also known as ‘the net’. </a:t>
            </a:r>
          </a:p>
          <a:p>
            <a:pPr algn="l"/>
            <a:r>
              <a:rPr lang="en-GB" b="0" i="0" u="none" strike="noStrike" baseline="0" dirty="0">
                <a:solidFill>
                  <a:schemeClr val="bg1"/>
                </a:solidFill>
                <a:latin typeface="FSLola"/>
              </a:rPr>
              <a:t>It is </a:t>
            </a:r>
            <a:r>
              <a:rPr lang="en-GB" b="0" i="0" u="none" strike="noStrike" baseline="0" dirty="0">
                <a:solidFill>
                  <a:srgbClr val="FFFF00"/>
                </a:solidFill>
                <a:latin typeface="FSLola"/>
              </a:rPr>
              <a:t>a</a:t>
            </a:r>
            <a:r>
              <a:rPr lang="en-GB" b="0" i="0" u="none" strike="noStrike" baseline="0" dirty="0">
                <a:solidFill>
                  <a:schemeClr val="bg1"/>
                </a:solidFill>
                <a:latin typeface="FSLola"/>
              </a:rPr>
              <a:t> </a:t>
            </a:r>
            <a:r>
              <a:rPr lang="en-GB" b="0" i="0" u="none" strike="noStrike" baseline="0" dirty="0">
                <a:solidFill>
                  <a:srgbClr val="FFFF00"/>
                </a:solidFill>
                <a:latin typeface="FSLola"/>
              </a:rPr>
              <a:t>global</a:t>
            </a:r>
            <a:r>
              <a:rPr lang="en-GB" b="0" i="0" u="none" strike="noStrike" baseline="0" dirty="0">
                <a:solidFill>
                  <a:schemeClr val="bg1"/>
                </a:solidFill>
                <a:latin typeface="FSLola"/>
              </a:rPr>
              <a:t> </a:t>
            </a:r>
            <a:r>
              <a:rPr lang="en-GB" b="0" i="0" u="none" strike="noStrike" baseline="0" dirty="0">
                <a:solidFill>
                  <a:srgbClr val="FFFF00"/>
                </a:solidFill>
                <a:latin typeface="FSLola"/>
              </a:rPr>
              <a:t>network of computers</a:t>
            </a:r>
            <a:r>
              <a:rPr lang="en-GB" b="0" i="0" u="none" strike="noStrike" baseline="0" dirty="0">
                <a:solidFill>
                  <a:schemeClr val="bg1"/>
                </a:solidFill>
                <a:latin typeface="FSLola"/>
              </a:rPr>
              <a:t>, each communicating with several other computers in the network, but not with all of them. In short, it is the global network of networks.</a:t>
            </a:r>
          </a:p>
          <a:p>
            <a:pPr algn="l"/>
            <a:r>
              <a:rPr lang="en-GB" dirty="0">
                <a:solidFill>
                  <a:schemeClr val="bg1"/>
                </a:solidFill>
                <a:latin typeface="FSLola"/>
              </a:rPr>
              <a:t>Uses </a:t>
            </a:r>
            <a:r>
              <a:rPr lang="en-GB" dirty="0">
                <a:solidFill>
                  <a:srgbClr val="FFFF00"/>
                </a:solidFill>
                <a:latin typeface="FSLola"/>
              </a:rPr>
              <a:t>communication protocols </a:t>
            </a:r>
            <a:r>
              <a:rPr lang="en-GB" dirty="0">
                <a:solidFill>
                  <a:schemeClr val="bg1"/>
                </a:solidFill>
                <a:latin typeface="FSLola"/>
              </a:rPr>
              <a:t>to create interconnected networks</a:t>
            </a:r>
            <a:endParaRPr lang="en-GB" b="0" i="0" u="none" strike="noStrike" baseline="0" dirty="0">
              <a:solidFill>
                <a:schemeClr val="bg1"/>
              </a:solidFill>
              <a:latin typeface="FSLola"/>
            </a:endParaRPr>
          </a:p>
          <a:p>
            <a:pPr algn="l"/>
            <a:r>
              <a:rPr lang="en-GB" b="0" i="0" u="none" strike="noStrike" baseline="0" dirty="0">
                <a:solidFill>
                  <a:schemeClr val="bg1"/>
                </a:solidFill>
                <a:latin typeface="FSLola"/>
              </a:rPr>
              <a:t>It is a </a:t>
            </a:r>
            <a:r>
              <a:rPr lang="en-GB" b="0" i="0" u="none" strike="noStrike" baseline="0" dirty="0">
                <a:solidFill>
                  <a:srgbClr val="FFFF00"/>
                </a:solidFill>
                <a:latin typeface="FSLola"/>
              </a:rPr>
              <a:t>world-wide communication system linking computers in geographically separate locations </a:t>
            </a:r>
            <a:r>
              <a:rPr lang="en-GB" b="0" i="0" u="none" strike="noStrike" baseline="0" dirty="0">
                <a:solidFill>
                  <a:schemeClr val="bg1"/>
                </a:solidFill>
                <a:latin typeface="FSLola"/>
              </a:rPr>
              <a:t>through the use of a variety of telecommunication links such as </a:t>
            </a:r>
            <a:r>
              <a:rPr lang="en-GB" b="0" i="0" u="none" strike="noStrike" baseline="0" dirty="0">
                <a:solidFill>
                  <a:srgbClr val="FFFF00"/>
                </a:solidFill>
                <a:latin typeface="FSLola"/>
              </a:rPr>
              <a:t>telephone lines and satellites</a:t>
            </a:r>
            <a:r>
              <a:rPr lang="en-GB" b="0" i="0" u="none" strike="noStrike" baseline="0" dirty="0">
                <a:solidFill>
                  <a:schemeClr val="bg1"/>
                </a:solidFill>
                <a:latin typeface="FSLola"/>
              </a:rPr>
              <a:t>.</a:t>
            </a:r>
            <a:endParaRPr lang="en-GB" sz="4000" dirty="0">
              <a:solidFill>
                <a:schemeClr val="bg1"/>
              </a:solidFill>
            </a:endParaRPr>
          </a:p>
        </p:txBody>
      </p:sp>
    </p:spTree>
    <p:extLst>
      <p:ext uri="{BB962C8B-B14F-4D97-AF65-F5344CB8AC3E}">
        <p14:creationId xmlns:p14="http://schemas.microsoft.com/office/powerpoint/2010/main" val="254684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8F82-EEF7-52D6-A462-90716FDB2A40}"/>
              </a:ext>
            </a:extLst>
          </p:cNvPr>
          <p:cNvSpPr>
            <a:spLocks noGrp="1"/>
          </p:cNvSpPr>
          <p:nvPr>
            <p:ph type="title"/>
          </p:nvPr>
        </p:nvSpPr>
        <p:spPr>
          <a:xfrm>
            <a:off x="0" y="1"/>
            <a:ext cx="12192000" cy="886120"/>
          </a:xfrm>
          <a:solidFill>
            <a:srgbClr val="FC4645">
              <a:alpha val="60000"/>
            </a:srgbClr>
          </a:solidFill>
        </p:spPr>
        <p:txBody>
          <a:bodyPr/>
          <a:lstStyle/>
          <a:p>
            <a:r>
              <a:rPr lang="en-GB" dirty="0">
                <a:solidFill>
                  <a:schemeClr val="bg1"/>
                </a:solidFill>
                <a:latin typeface="LEMON MILK" panose="00000500000000000000" pitchFamily="50" charset="0"/>
              </a:rPr>
              <a:t>URL</a:t>
            </a:r>
          </a:p>
        </p:txBody>
      </p:sp>
      <p:sp>
        <p:nvSpPr>
          <p:cNvPr id="3" name="Content Placeholder 2">
            <a:extLst>
              <a:ext uri="{FF2B5EF4-FFF2-40B4-BE49-F238E27FC236}">
                <a16:creationId xmlns:a16="http://schemas.microsoft.com/office/drawing/2014/main" id="{ED6C29D2-1B1B-0FAC-DBE4-32BB3954E35B}"/>
              </a:ext>
            </a:extLst>
          </p:cNvPr>
          <p:cNvSpPr>
            <a:spLocks noGrp="1"/>
          </p:cNvSpPr>
          <p:nvPr>
            <p:ph idx="1"/>
          </p:nvPr>
        </p:nvSpPr>
        <p:spPr>
          <a:xfrm>
            <a:off x="168896" y="2336980"/>
            <a:ext cx="4016603" cy="2348142"/>
          </a:xfrm>
        </p:spPr>
        <p:txBody>
          <a:bodyPr>
            <a:normAutofit lnSpcReduction="10000"/>
          </a:bodyPr>
          <a:lstStyle/>
          <a:p>
            <a:pPr algn="l"/>
            <a:r>
              <a:rPr lang="en-GB" sz="1800" b="0" i="0" u="none" strike="noStrike" baseline="0" dirty="0">
                <a:solidFill>
                  <a:srgbClr val="FFFF00"/>
                </a:solidFill>
                <a:latin typeface="FSLola"/>
              </a:rPr>
              <a:t>Uniform Resource Locator – a URL is a reference to the address of a resource on the Internet. </a:t>
            </a:r>
          </a:p>
          <a:p>
            <a:pPr algn="l"/>
            <a:r>
              <a:rPr lang="en-GB" sz="1800" b="0" i="0" u="none" strike="noStrike" baseline="0" dirty="0">
                <a:solidFill>
                  <a:srgbClr val="FFFF00"/>
                </a:solidFill>
                <a:latin typeface="FSLola"/>
              </a:rPr>
              <a:t>Every resource on the internet has a unique address assigned to it to identify it</a:t>
            </a:r>
          </a:p>
          <a:p>
            <a:pPr algn="l"/>
            <a:r>
              <a:rPr lang="en-GB" sz="1800" b="0" i="0" u="none" strike="noStrike" baseline="0" dirty="0">
                <a:solidFill>
                  <a:schemeClr val="bg1"/>
                </a:solidFill>
                <a:latin typeface="FSLola"/>
              </a:rPr>
              <a:t>An example of a URL which addresses the CCEA website is:</a:t>
            </a:r>
          </a:p>
          <a:p>
            <a:pPr lvl="1"/>
            <a:r>
              <a:rPr lang="en-GB" sz="1400" b="0" i="0" u="none" strike="noStrike" baseline="0" dirty="0">
                <a:solidFill>
                  <a:schemeClr val="bg1"/>
                </a:solidFill>
                <a:latin typeface="FSLola"/>
              </a:rPr>
              <a:t>http://www.ccea.org.uk.</a:t>
            </a:r>
            <a:endParaRPr lang="en-GB" dirty="0">
              <a:solidFill>
                <a:schemeClr val="bg1"/>
              </a:solidFill>
            </a:endParaRPr>
          </a:p>
        </p:txBody>
      </p:sp>
    </p:spTree>
    <p:extLst>
      <p:ext uri="{BB962C8B-B14F-4D97-AF65-F5344CB8AC3E}">
        <p14:creationId xmlns:p14="http://schemas.microsoft.com/office/powerpoint/2010/main" val="55536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B37C0-04CF-5AE3-678B-F9355219A1A1}"/>
              </a:ext>
            </a:extLst>
          </p:cNvPr>
          <p:cNvSpPr>
            <a:spLocks noGrp="1"/>
          </p:cNvSpPr>
          <p:nvPr>
            <p:ph type="title"/>
          </p:nvPr>
        </p:nvSpPr>
        <p:spPr>
          <a:xfrm>
            <a:off x="0" y="0"/>
            <a:ext cx="10515600" cy="1325563"/>
          </a:xfrm>
        </p:spPr>
        <p:txBody>
          <a:bodyPr/>
          <a:lstStyle/>
          <a:p>
            <a:r>
              <a:rPr lang="en-GB" dirty="0">
                <a:solidFill>
                  <a:schemeClr val="bg1"/>
                </a:solidFill>
                <a:latin typeface="LEMON MILK" panose="00000500000000000000" pitchFamily="50" charset="0"/>
              </a:rPr>
              <a:t>HTTP</a:t>
            </a:r>
          </a:p>
        </p:txBody>
      </p:sp>
      <p:sp>
        <p:nvSpPr>
          <p:cNvPr id="3" name="Content Placeholder 2">
            <a:extLst>
              <a:ext uri="{FF2B5EF4-FFF2-40B4-BE49-F238E27FC236}">
                <a16:creationId xmlns:a16="http://schemas.microsoft.com/office/drawing/2014/main" id="{0BFB0EBE-6CCE-EE4E-136B-11A8527BA368}"/>
              </a:ext>
            </a:extLst>
          </p:cNvPr>
          <p:cNvSpPr>
            <a:spLocks noGrp="1"/>
          </p:cNvSpPr>
          <p:nvPr>
            <p:ph idx="1"/>
          </p:nvPr>
        </p:nvSpPr>
        <p:spPr>
          <a:xfrm>
            <a:off x="311085" y="1913641"/>
            <a:ext cx="11042715" cy="4263322"/>
          </a:xfrm>
        </p:spPr>
        <p:txBody>
          <a:bodyPr>
            <a:normAutofit/>
          </a:bodyPr>
          <a:lstStyle/>
          <a:p>
            <a:pPr algn="l"/>
            <a:r>
              <a:rPr lang="en-GB" b="0" i="0" u="none" strike="noStrike" baseline="0" dirty="0">
                <a:solidFill>
                  <a:schemeClr val="bg1"/>
                </a:solidFill>
                <a:latin typeface="FSLola"/>
              </a:rPr>
              <a:t>Hypertext Transfer Protocol is an application </a:t>
            </a:r>
            <a:r>
              <a:rPr lang="en-GB" b="0" i="0" u="none" strike="noStrike" baseline="0" dirty="0">
                <a:solidFill>
                  <a:srgbClr val="FFFF00"/>
                </a:solidFill>
                <a:latin typeface="FSLola"/>
              </a:rPr>
              <a:t>protocol</a:t>
            </a:r>
            <a:r>
              <a:rPr lang="en-GB" b="0" i="0" u="none" strike="noStrike" baseline="0" dirty="0">
                <a:solidFill>
                  <a:schemeClr val="bg1"/>
                </a:solidFill>
                <a:latin typeface="FSLola"/>
              </a:rPr>
              <a:t> used on the world wide web. </a:t>
            </a:r>
          </a:p>
          <a:p>
            <a:pPr algn="l"/>
            <a:r>
              <a:rPr lang="en-GB" b="0" i="0" u="none" strike="noStrike" baseline="0" dirty="0">
                <a:solidFill>
                  <a:srgbClr val="FFFF00"/>
                </a:solidFill>
                <a:latin typeface="FSLola"/>
              </a:rPr>
              <a:t>It defines how data is structured and transmitted and specifies how browsers and web servers should act in response to requests.</a:t>
            </a:r>
            <a:endParaRPr lang="en-GB" sz="4000" dirty="0">
              <a:solidFill>
                <a:srgbClr val="FFFF00"/>
              </a:solidFill>
            </a:endParaRPr>
          </a:p>
        </p:txBody>
      </p:sp>
    </p:spTree>
    <p:extLst>
      <p:ext uri="{BB962C8B-B14F-4D97-AF65-F5344CB8AC3E}">
        <p14:creationId xmlns:p14="http://schemas.microsoft.com/office/powerpoint/2010/main" val="190265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754B-6BFB-167C-DC77-D26642B64B8B}"/>
              </a:ext>
            </a:extLst>
          </p:cNvPr>
          <p:cNvSpPr>
            <a:spLocks noGrp="1"/>
          </p:cNvSpPr>
          <p:nvPr>
            <p:ph type="title"/>
          </p:nvPr>
        </p:nvSpPr>
        <p:spPr>
          <a:xfrm>
            <a:off x="234885" y="18255"/>
            <a:ext cx="10515600" cy="1325563"/>
          </a:xfrm>
        </p:spPr>
        <p:txBody>
          <a:bodyPr/>
          <a:lstStyle/>
          <a:p>
            <a:r>
              <a:rPr lang="en-GB" dirty="0">
                <a:solidFill>
                  <a:schemeClr val="bg1"/>
                </a:solidFill>
                <a:latin typeface="LEMON MILK" panose="00000500000000000000" pitchFamily="50" charset="0"/>
              </a:rPr>
              <a:t>IP Address</a:t>
            </a:r>
          </a:p>
        </p:txBody>
      </p:sp>
      <p:sp>
        <p:nvSpPr>
          <p:cNvPr id="3" name="Content Placeholder 2">
            <a:extLst>
              <a:ext uri="{FF2B5EF4-FFF2-40B4-BE49-F238E27FC236}">
                <a16:creationId xmlns:a16="http://schemas.microsoft.com/office/drawing/2014/main" id="{CBF1A9A6-E19E-39DD-BB80-90F18C23D029}"/>
              </a:ext>
            </a:extLst>
          </p:cNvPr>
          <p:cNvSpPr>
            <a:spLocks noGrp="1"/>
          </p:cNvSpPr>
          <p:nvPr>
            <p:ph idx="1"/>
          </p:nvPr>
        </p:nvSpPr>
        <p:spPr/>
        <p:txBody>
          <a:bodyPr>
            <a:normAutofit/>
          </a:bodyPr>
          <a:lstStyle/>
          <a:p>
            <a:pPr algn="l"/>
            <a:r>
              <a:rPr lang="en-GB" sz="1800" b="0" i="0" u="none" strike="noStrike" baseline="0" dirty="0">
                <a:solidFill>
                  <a:srgbClr val="FFFF00"/>
                </a:solidFill>
                <a:latin typeface="FSLola"/>
              </a:rPr>
              <a:t>Internet Protocol address</a:t>
            </a:r>
            <a:r>
              <a:rPr lang="en-GB" sz="1800" b="0" i="0" u="none" strike="noStrike" baseline="0" dirty="0">
                <a:solidFill>
                  <a:schemeClr val="bg1"/>
                </a:solidFill>
                <a:latin typeface="FSLola"/>
              </a:rPr>
              <a:t>. </a:t>
            </a:r>
          </a:p>
          <a:p>
            <a:pPr algn="l"/>
            <a:r>
              <a:rPr lang="en-GB" sz="1800" b="0" i="0" u="none" strike="noStrike" baseline="0" dirty="0">
                <a:solidFill>
                  <a:schemeClr val="bg1"/>
                </a:solidFill>
                <a:latin typeface="FSLola"/>
              </a:rPr>
              <a:t>This represents a standard </a:t>
            </a:r>
            <a:r>
              <a:rPr lang="en-GB" sz="1800" b="0" i="0" u="none" strike="noStrike" baseline="0" dirty="0">
                <a:solidFill>
                  <a:srgbClr val="FFFF00"/>
                </a:solidFill>
                <a:latin typeface="FSLola"/>
              </a:rPr>
              <a:t>set of rules used to ensure the proper transfer of information between computers on the Internet</a:t>
            </a:r>
            <a:r>
              <a:rPr lang="en-GB" sz="1800" b="0" i="0" u="none" strike="noStrike" baseline="0" dirty="0">
                <a:solidFill>
                  <a:schemeClr val="bg1"/>
                </a:solidFill>
                <a:latin typeface="FSLola"/>
              </a:rPr>
              <a:t>. They define </a:t>
            </a:r>
            <a:r>
              <a:rPr lang="en-GB" sz="1800" b="0" i="0" u="none" strike="noStrike" baseline="0" dirty="0">
                <a:solidFill>
                  <a:srgbClr val="FFFF00"/>
                </a:solidFill>
                <a:latin typeface="FSLola"/>
              </a:rPr>
              <a:t>how data is to be structured </a:t>
            </a:r>
            <a:r>
              <a:rPr lang="en-GB" sz="1800" b="0" i="0" u="none" strike="noStrike" baseline="0" dirty="0">
                <a:solidFill>
                  <a:schemeClr val="bg1"/>
                </a:solidFill>
                <a:latin typeface="FSLola"/>
              </a:rPr>
              <a:t>and what </a:t>
            </a:r>
            <a:r>
              <a:rPr lang="en-GB" sz="1800" b="0" i="0" u="none" strike="noStrike" baseline="0" dirty="0">
                <a:solidFill>
                  <a:srgbClr val="FFFF00"/>
                </a:solidFill>
                <a:latin typeface="FSLola"/>
              </a:rPr>
              <a:t>control signals </a:t>
            </a:r>
            <a:r>
              <a:rPr lang="en-GB" sz="1800" b="0" i="0" u="none" strike="noStrike" baseline="0" dirty="0">
                <a:solidFill>
                  <a:schemeClr val="bg1"/>
                </a:solidFill>
                <a:latin typeface="FSLola"/>
              </a:rPr>
              <a:t>are used. </a:t>
            </a:r>
          </a:p>
          <a:p>
            <a:pPr algn="l"/>
            <a:r>
              <a:rPr lang="en-GB" sz="1800" b="0" i="0" u="none" strike="noStrike" baseline="0" dirty="0">
                <a:solidFill>
                  <a:schemeClr val="bg1"/>
                </a:solidFill>
                <a:latin typeface="FSLola"/>
              </a:rPr>
              <a:t>Every device linked to a network using the TCP/IP protocol is identified by a unique IP address. The IP address allows messages and data to be routed to the correct address on the network.</a:t>
            </a:r>
          </a:p>
          <a:p>
            <a:pPr algn="l"/>
            <a:r>
              <a:rPr lang="en-GB" sz="1800" b="0" i="0" u="none" strike="noStrike" baseline="0" dirty="0">
                <a:solidFill>
                  <a:schemeClr val="bg1"/>
                </a:solidFill>
                <a:latin typeface="FSLola"/>
              </a:rPr>
              <a:t>IPv4 addresses consist of four numbers separated with a dot(.). </a:t>
            </a:r>
          </a:p>
          <a:p>
            <a:pPr lvl="1"/>
            <a:r>
              <a:rPr lang="en-GB" sz="1400" b="0" i="0" u="none" strike="noStrike" baseline="0" dirty="0">
                <a:solidFill>
                  <a:schemeClr val="bg1"/>
                </a:solidFill>
                <a:latin typeface="FSLola"/>
              </a:rPr>
              <a:t>Each number can be in the range 0 to 255 for example 123.0.0.215. </a:t>
            </a:r>
          </a:p>
          <a:p>
            <a:pPr lvl="1"/>
            <a:r>
              <a:rPr lang="en-GB" sz="1400" b="0" i="0" u="none" strike="noStrike" baseline="0" dirty="0">
                <a:solidFill>
                  <a:schemeClr val="bg1"/>
                </a:solidFill>
                <a:latin typeface="FSLola"/>
              </a:rPr>
              <a:t>This number allows a device or computer to be located on the network.</a:t>
            </a:r>
          </a:p>
          <a:p>
            <a:pPr algn="l"/>
            <a:r>
              <a:rPr lang="en-GB" sz="1800" b="0" i="0" u="none" strike="noStrike" baseline="0" dirty="0">
                <a:solidFill>
                  <a:schemeClr val="bg1"/>
                </a:solidFill>
                <a:latin typeface="FSLola"/>
              </a:rPr>
              <a:t>IP addresses can be:</a:t>
            </a:r>
          </a:p>
          <a:p>
            <a:pPr lvl="1"/>
            <a:r>
              <a:rPr lang="en-GB" sz="1400" b="0" i="0" u="none" strike="noStrike" baseline="0" dirty="0">
                <a:solidFill>
                  <a:srgbClr val="FFFF00"/>
                </a:solidFill>
                <a:latin typeface="FSLola"/>
              </a:rPr>
              <a:t>Static – a permanent IP address that does not change.</a:t>
            </a:r>
          </a:p>
          <a:p>
            <a:pPr lvl="1"/>
            <a:r>
              <a:rPr lang="en-GB" sz="1400" b="0" i="0" u="none" strike="noStrike" baseline="0" dirty="0">
                <a:solidFill>
                  <a:srgbClr val="FFFF00"/>
                </a:solidFill>
                <a:latin typeface="FSLola"/>
              </a:rPr>
              <a:t>Dynamic – temporary addresses that are assigned each time a computer accesses the Internet.</a:t>
            </a:r>
          </a:p>
          <a:p>
            <a:pPr algn="l"/>
            <a:r>
              <a:rPr lang="en-GB" sz="1800" b="0" i="0" u="none" strike="noStrike" baseline="0" dirty="0">
                <a:solidFill>
                  <a:schemeClr val="bg1"/>
                </a:solidFill>
                <a:latin typeface="FSLola"/>
              </a:rPr>
              <a:t>Computers identify websites by their IP address. Most URLs are translate into IP addresses and located on web server using this information.</a:t>
            </a:r>
            <a:endParaRPr lang="en-GB" dirty="0">
              <a:solidFill>
                <a:schemeClr val="bg1"/>
              </a:solidFill>
            </a:endParaRPr>
          </a:p>
        </p:txBody>
      </p:sp>
    </p:spTree>
    <p:extLst>
      <p:ext uri="{BB962C8B-B14F-4D97-AF65-F5344CB8AC3E}">
        <p14:creationId xmlns:p14="http://schemas.microsoft.com/office/powerpoint/2010/main" val="3646108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FA45-E81B-C6D6-A213-758332987636}"/>
              </a:ext>
            </a:extLst>
          </p:cNvPr>
          <p:cNvSpPr>
            <a:spLocks noGrp="1"/>
          </p:cNvSpPr>
          <p:nvPr>
            <p:ph type="title"/>
          </p:nvPr>
        </p:nvSpPr>
        <p:spPr>
          <a:xfrm>
            <a:off x="0" y="0"/>
            <a:ext cx="12192000" cy="904973"/>
          </a:xfrm>
          <a:solidFill>
            <a:srgbClr val="FFFFFF">
              <a:alpha val="69804"/>
            </a:srgbClr>
          </a:solidFill>
        </p:spPr>
        <p:txBody>
          <a:bodyPr/>
          <a:lstStyle/>
          <a:p>
            <a:r>
              <a:rPr lang="en-GB" dirty="0">
                <a:latin typeface="LEMON MILK" panose="00000500000000000000" pitchFamily="50" charset="0"/>
              </a:rPr>
              <a:t>Web Browser</a:t>
            </a:r>
          </a:p>
        </p:txBody>
      </p:sp>
      <p:sp>
        <p:nvSpPr>
          <p:cNvPr id="3" name="Content Placeholder 2">
            <a:extLst>
              <a:ext uri="{FF2B5EF4-FFF2-40B4-BE49-F238E27FC236}">
                <a16:creationId xmlns:a16="http://schemas.microsoft.com/office/drawing/2014/main" id="{3D43B081-4F49-7724-BE58-7F4B90D035BD}"/>
              </a:ext>
            </a:extLst>
          </p:cNvPr>
          <p:cNvSpPr>
            <a:spLocks noGrp="1"/>
          </p:cNvSpPr>
          <p:nvPr>
            <p:ph idx="1"/>
          </p:nvPr>
        </p:nvSpPr>
        <p:spPr>
          <a:xfrm>
            <a:off x="2091965" y="1970202"/>
            <a:ext cx="5883111" cy="4404724"/>
          </a:xfrm>
        </p:spPr>
        <p:txBody>
          <a:bodyPr>
            <a:normAutofit/>
          </a:bodyPr>
          <a:lstStyle/>
          <a:p>
            <a:pPr algn="l"/>
            <a:r>
              <a:rPr lang="en-GB" sz="2400" b="0" i="0" u="none" strike="noStrike" baseline="0" dirty="0">
                <a:latin typeface="FSLola"/>
              </a:rPr>
              <a:t>This </a:t>
            </a:r>
            <a:r>
              <a:rPr lang="en-GB" sz="2400" b="1" i="0" u="none" strike="noStrike" baseline="0" dirty="0">
                <a:latin typeface="FSLola"/>
              </a:rPr>
              <a:t>software allows users to view and use the web pages on the Internet</a:t>
            </a:r>
            <a:r>
              <a:rPr lang="en-GB" sz="2400" b="0" i="0" u="none" strike="noStrike" baseline="0" dirty="0">
                <a:latin typeface="FSLola"/>
              </a:rPr>
              <a:t>. </a:t>
            </a:r>
          </a:p>
          <a:p>
            <a:pPr algn="l"/>
            <a:r>
              <a:rPr lang="en-GB" sz="2400" b="0" i="0" u="none" strike="noStrike" baseline="0" dirty="0">
                <a:latin typeface="FSLola"/>
              </a:rPr>
              <a:t>It is </a:t>
            </a:r>
            <a:r>
              <a:rPr lang="en-GB" sz="2400" b="1" i="0" u="none" strike="noStrike" baseline="0" dirty="0">
                <a:latin typeface="FSLola"/>
              </a:rPr>
              <a:t>responsible for requesting the text and graphics of webpages from servers </a:t>
            </a:r>
            <a:r>
              <a:rPr lang="en-GB" sz="2400" b="0" i="0" u="none" strike="noStrike" baseline="0" dirty="0">
                <a:latin typeface="FSLola"/>
              </a:rPr>
              <a:t>on the Internet and assembling them for display. </a:t>
            </a:r>
          </a:p>
          <a:p>
            <a:pPr algn="l"/>
            <a:r>
              <a:rPr lang="en-GB" sz="2400" b="0" i="0" u="none" strike="noStrike" baseline="0" dirty="0">
                <a:latin typeface="FSLola"/>
              </a:rPr>
              <a:t>These are usually in </a:t>
            </a:r>
            <a:r>
              <a:rPr lang="en-GB" sz="2400" b="1" i="0" u="none" strike="noStrike" baseline="0" dirty="0">
                <a:latin typeface="FSLola"/>
              </a:rPr>
              <a:t>HTML format</a:t>
            </a:r>
            <a:r>
              <a:rPr lang="en-GB" sz="2400" b="0" i="0" u="none" strike="noStrike" baseline="0" dirty="0">
                <a:latin typeface="FSLola"/>
              </a:rPr>
              <a:t>. </a:t>
            </a:r>
          </a:p>
          <a:p>
            <a:pPr algn="l"/>
            <a:r>
              <a:rPr lang="en-GB" sz="2400" b="0" i="0" u="none" strike="noStrike" baseline="0" dirty="0">
                <a:latin typeface="FSLola"/>
              </a:rPr>
              <a:t>Web browsers can be used to view any HTML pages whether users are online or offline.</a:t>
            </a:r>
          </a:p>
          <a:p>
            <a:pPr algn="l"/>
            <a:r>
              <a:rPr lang="en-GB" sz="2400" dirty="0">
                <a:latin typeface="FSLola"/>
              </a:rPr>
              <a:t>Provides navigation, search  engine, favourites, history and bookmarks</a:t>
            </a:r>
          </a:p>
        </p:txBody>
      </p:sp>
    </p:spTree>
    <p:extLst>
      <p:ext uri="{BB962C8B-B14F-4D97-AF65-F5344CB8AC3E}">
        <p14:creationId xmlns:p14="http://schemas.microsoft.com/office/powerpoint/2010/main" val="359887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AF564-22A8-015B-386F-444A63EFEB50}"/>
              </a:ext>
            </a:extLst>
          </p:cNvPr>
          <p:cNvSpPr>
            <a:spLocks noGrp="1"/>
          </p:cNvSpPr>
          <p:nvPr>
            <p:ph type="title"/>
          </p:nvPr>
        </p:nvSpPr>
        <p:spPr>
          <a:xfrm>
            <a:off x="0" y="1"/>
            <a:ext cx="12192000" cy="1036948"/>
          </a:xfrm>
          <a:solidFill>
            <a:schemeClr val="tx1"/>
          </a:solidFill>
        </p:spPr>
        <p:txBody>
          <a:bodyPr/>
          <a:lstStyle/>
          <a:p>
            <a:r>
              <a:rPr lang="en-GB" dirty="0">
                <a:solidFill>
                  <a:schemeClr val="bg1"/>
                </a:solidFill>
                <a:latin typeface="LEMON MILK" panose="00000500000000000000" pitchFamily="50" charset="0"/>
              </a:rPr>
              <a:t>Web Server</a:t>
            </a:r>
          </a:p>
        </p:txBody>
      </p:sp>
      <p:sp>
        <p:nvSpPr>
          <p:cNvPr id="3" name="Content Placeholder 2">
            <a:extLst>
              <a:ext uri="{FF2B5EF4-FFF2-40B4-BE49-F238E27FC236}">
                <a16:creationId xmlns:a16="http://schemas.microsoft.com/office/drawing/2014/main" id="{622F7B4C-1079-BD2C-E9D0-928F4C924E6D}"/>
              </a:ext>
            </a:extLst>
          </p:cNvPr>
          <p:cNvSpPr>
            <a:spLocks noGrp="1"/>
          </p:cNvSpPr>
          <p:nvPr>
            <p:ph idx="1"/>
          </p:nvPr>
        </p:nvSpPr>
        <p:spPr>
          <a:xfrm>
            <a:off x="168896" y="1253331"/>
            <a:ext cx="11812571" cy="3978545"/>
          </a:xfrm>
        </p:spPr>
        <p:txBody>
          <a:bodyPr/>
          <a:lstStyle/>
          <a:p>
            <a:pPr algn="l"/>
            <a:r>
              <a:rPr lang="en-GB" sz="1800" b="1" i="0" u="none" strike="noStrike" baseline="0" dirty="0">
                <a:latin typeface="FSLola"/>
              </a:rPr>
              <a:t>A computer designed to deliver Internet webpages across the Internet or within an Intranet. </a:t>
            </a:r>
          </a:p>
          <a:p>
            <a:pPr algn="l"/>
            <a:r>
              <a:rPr lang="en-GB" sz="1800" dirty="0">
                <a:latin typeface="FSLola"/>
              </a:rPr>
              <a:t>P</a:t>
            </a:r>
            <a:r>
              <a:rPr lang="en-GB" sz="1800" b="0" i="0" u="none" strike="noStrike" baseline="0" dirty="0">
                <a:latin typeface="FSLola"/>
              </a:rPr>
              <a:t>rocesses requests for information that comes from the Internet infrastructure. </a:t>
            </a:r>
          </a:p>
          <a:p>
            <a:pPr algn="l"/>
            <a:r>
              <a:rPr lang="en-GB" sz="1800" b="0" i="0" u="none" strike="noStrike" baseline="0" dirty="0">
                <a:latin typeface="FSLola"/>
              </a:rPr>
              <a:t>Contains </a:t>
            </a:r>
            <a:r>
              <a:rPr lang="en-GB" sz="1800" b="1" i="0" u="none" strike="noStrike" baseline="0" dirty="0">
                <a:latin typeface="FSLola"/>
              </a:rPr>
              <a:t>application software </a:t>
            </a:r>
            <a:r>
              <a:rPr lang="en-GB" sz="1800" b="0" i="0" u="none" strike="noStrike" baseline="0" dirty="0">
                <a:latin typeface="FSLola"/>
              </a:rPr>
              <a:t>to enable the transmission of content and </a:t>
            </a:r>
            <a:r>
              <a:rPr lang="en-GB" sz="1800" b="1" i="0" u="none" strike="noStrike" baseline="0" dirty="0">
                <a:latin typeface="FSLola"/>
              </a:rPr>
              <a:t>makes use of client-server technology</a:t>
            </a:r>
            <a:r>
              <a:rPr lang="en-GB" sz="1800" b="0" i="0" u="none" strike="noStrike" baseline="0" dirty="0">
                <a:latin typeface="FSLola"/>
              </a:rPr>
              <a:t>.</a:t>
            </a:r>
          </a:p>
          <a:p>
            <a:pPr algn="l"/>
            <a:r>
              <a:rPr lang="en-GB" sz="1800" b="0" i="0" u="none" strike="noStrike" baseline="0" dirty="0">
                <a:latin typeface="FSLola"/>
              </a:rPr>
              <a:t>It processes requests for information.</a:t>
            </a:r>
          </a:p>
          <a:p>
            <a:pPr algn="l"/>
            <a:r>
              <a:rPr lang="en-GB" sz="1800" b="0" i="0" u="none" strike="noStrike" baseline="0" dirty="0">
                <a:latin typeface="FSLola"/>
              </a:rPr>
              <a:t>It returns a cache of web pages which are stored on the client for faster access</a:t>
            </a:r>
          </a:p>
          <a:p>
            <a:pPr algn="l"/>
            <a:r>
              <a:rPr lang="en-GB" sz="1800" b="0" i="0" u="none" strike="noStrike" baseline="0" dirty="0">
                <a:latin typeface="FSLola"/>
              </a:rPr>
              <a:t>In client-server technology, the program that accesses the application is called the </a:t>
            </a:r>
            <a:r>
              <a:rPr lang="en-GB" sz="1800" b="1" i="0" u="none" strike="noStrike" baseline="0" dirty="0">
                <a:latin typeface="FSLola"/>
              </a:rPr>
              <a:t>client</a:t>
            </a:r>
            <a:r>
              <a:rPr lang="en-GB" sz="1800" b="0" i="0" u="none" strike="noStrike" baseline="0" dirty="0">
                <a:latin typeface="FSLola"/>
              </a:rPr>
              <a:t>. This could be the browser. </a:t>
            </a:r>
          </a:p>
          <a:p>
            <a:pPr algn="l"/>
            <a:r>
              <a:rPr lang="en-GB" sz="1800" b="0" i="0" u="none" strike="noStrike" baseline="0" dirty="0">
                <a:latin typeface="FSLola"/>
              </a:rPr>
              <a:t>The program that provides the application is called the </a:t>
            </a:r>
            <a:r>
              <a:rPr lang="en-GB" sz="1800" b="1" i="0" u="none" strike="noStrike" baseline="0" dirty="0">
                <a:latin typeface="FSLola"/>
              </a:rPr>
              <a:t>server</a:t>
            </a:r>
            <a:r>
              <a:rPr lang="en-GB" sz="1800" b="0" i="0" u="none" strike="noStrike" baseline="0" dirty="0">
                <a:latin typeface="FSLola"/>
              </a:rPr>
              <a:t>.</a:t>
            </a:r>
            <a:endParaRPr lang="en-GB" dirty="0"/>
          </a:p>
        </p:txBody>
      </p:sp>
    </p:spTree>
    <p:extLst>
      <p:ext uri="{BB962C8B-B14F-4D97-AF65-F5344CB8AC3E}">
        <p14:creationId xmlns:p14="http://schemas.microsoft.com/office/powerpoint/2010/main" val="331217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FAD42-BAFB-40A9-556C-D03D89BCBE5D}"/>
              </a:ext>
            </a:extLst>
          </p:cNvPr>
          <p:cNvSpPr>
            <a:spLocks noGrp="1"/>
          </p:cNvSpPr>
          <p:nvPr>
            <p:ph type="title"/>
          </p:nvPr>
        </p:nvSpPr>
        <p:spPr>
          <a:xfrm>
            <a:off x="0" y="1"/>
            <a:ext cx="10067827" cy="886120"/>
          </a:xfrm>
          <a:solidFill>
            <a:srgbClr val="E12534"/>
          </a:solidFill>
          <a:ln>
            <a:noFill/>
          </a:ln>
        </p:spPr>
        <p:txBody>
          <a:bodyPr/>
          <a:lstStyle/>
          <a:p>
            <a:r>
              <a:rPr lang="en-GB" dirty="0">
                <a:latin typeface="LEMON MILK" panose="00000500000000000000" pitchFamily="50" charset="0"/>
              </a:rPr>
              <a:t>Web Hosting</a:t>
            </a:r>
          </a:p>
        </p:txBody>
      </p:sp>
      <p:sp>
        <p:nvSpPr>
          <p:cNvPr id="3" name="Content Placeholder 2">
            <a:extLst>
              <a:ext uri="{FF2B5EF4-FFF2-40B4-BE49-F238E27FC236}">
                <a16:creationId xmlns:a16="http://schemas.microsoft.com/office/drawing/2014/main" id="{66DDCAAF-FA6E-3172-5CAA-EACB9C795D2D}"/>
              </a:ext>
            </a:extLst>
          </p:cNvPr>
          <p:cNvSpPr>
            <a:spLocks noGrp="1"/>
          </p:cNvSpPr>
          <p:nvPr>
            <p:ph idx="1"/>
          </p:nvPr>
        </p:nvSpPr>
        <p:spPr>
          <a:xfrm>
            <a:off x="197178" y="1951348"/>
            <a:ext cx="8871408" cy="3487917"/>
          </a:xfrm>
        </p:spPr>
        <p:txBody>
          <a:bodyPr>
            <a:normAutofit/>
          </a:bodyPr>
          <a:lstStyle/>
          <a:p>
            <a:pPr algn="l"/>
            <a:r>
              <a:rPr lang="en-GB" sz="2000" b="0" i="0" u="none" strike="noStrike" baseline="0" dirty="0">
                <a:latin typeface="FSLola"/>
              </a:rPr>
              <a:t>In order to have an Internet presence a web hosting service is required. </a:t>
            </a:r>
          </a:p>
          <a:p>
            <a:pPr algn="l"/>
            <a:r>
              <a:rPr lang="en-GB" sz="2000" b="0" i="0" u="none" strike="noStrike" baseline="0" dirty="0">
                <a:latin typeface="FSLola"/>
              </a:rPr>
              <a:t>This service </a:t>
            </a:r>
            <a:r>
              <a:rPr lang="en-GB" sz="2000" b="1" i="0" u="none" strike="noStrike" baseline="0" dirty="0">
                <a:latin typeface="FSLola"/>
              </a:rPr>
              <a:t>provides individuals and organisations with access to a web server and web space to store a website or webpages. </a:t>
            </a:r>
          </a:p>
          <a:p>
            <a:pPr algn="l"/>
            <a:r>
              <a:rPr lang="en-GB" sz="2000" b="0" i="0" u="none" strike="noStrike" baseline="0" dirty="0">
                <a:latin typeface="FSLola"/>
              </a:rPr>
              <a:t>The web host company will ensure that the website is available online and the service may include: </a:t>
            </a:r>
          </a:p>
          <a:p>
            <a:pPr lvl="1"/>
            <a:r>
              <a:rPr lang="en-GB" sz="1600" b="0" i="0" u="none" strike="noStrike" baseline="0" dirty="0">
                <a:latin typeface="FSLola"/>
              </a:rPr>
              <a:t>web space to store the website, </a:t>
            </a:r>
          </a:p>
          <a:p>
            <a:pPr lvl="1"/>
            <a:r>
              <a:rPr lang="en-GB" sz="1600" b="0" i="0" u="none" strike="noStrike" baseline="0" dirty="0">
                <a:latin typeface="FSLola"/>
              </a:rPr>
              <a:t>an e-mail feature, </a:t>
            </a:r>
          </a:p>
          <a:p>
            <a:pPr lvl="1"/>
            <a:r>
              <a:rPr lang="en-GB" sz="1600" b="0" i="0" u="none" strike="noStrike" baseline="0" dirty="0">
                <a:latin typeface="FSLola"/>
              </a:rPr>
              <a:t>an interface for managing the website online, </a:t>
            </a:r>
          </a:p>
          <a:p>
            <a:pPr lvl="1"/>
            <a:r>
              <a:rPr lang="en-GB" sz="1600" b="0" i="0" u="none" strike="noStrike" baseline="0" dirty="0">
                <a:latin typeface="FSLola"/>
              </a:rPr>
              <a:t>customer support</a:t>
            </a:r>
            <a:endParaRPr lang="en-GB" sz="2800" dirty="0"/>
          </a:p>
        </p:txBody>
      </p:sp>
    </p:spTree>
    <p:extLst>
      <p:ext uri="{BB962C8B-B14F-4D97-AF65-F5344CB8AC3E}">
        <p14:creationId xmlns:p14="http://schemas.microsoft.com/office/powerpoint/2010/main" val="397919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E0DAB-59F0-0E62-B9D3-E6778A8CB7C1}"/>
              </a:ext>
            </a:extLst>
          </p:cNvPr>
          <p:cNvSpPr>
            <a:spLocks noGrp="1"/>
          </p:cNvSpPr>
          <p:nvPr>
            <p:ph type="title"/>
          </p:nvPr>
        </p:nvSpPr>
        <p:spPr>
          <a:xfrm>
            <a:off x="5373278" y="374552"/>
            <a:ext cx="1445444" cy="1325563"/>
          </a:xfrm>
        </p:spPr>
        <p:txBody>
          <a:bodyPr/>
          <a:lstStyle/>
          <a:p>
            <a:pPr algn="ctr"/>
            <a:r>
              <a:rPr lang="en-GB" dirty="0">
                <a:latin typeface="LEMON MILK" panose="00000500000000000000" pitchFamily="50" charset="0"/>
              </a:rPr>
              <a:t>FTP</a:t>
            </a:r>
          </a:p>
        </p:txBody>
      </p:sp>
      <p:sp>
        <p:nvSpPr>
          <p:cNvPr id="3" name="Content Placeholder 2">
            <a:extLst>
              <a:ext uri="{FF2B5EF4-FFF2-40B4-BE49-F238E27FC236}">
                <a16:creationId xmlns:a16="http://schemas.microsoft.com/office/drawing/2014/main" id="{28078200-FA0A-8951-1CD2-176207FE86F3}"/>
              </a:ext>
            </a:extLst>
          </p:cNvPr>
          <p:cNvSpPr>
            <a:spLocks noGrp="1"/>
          </p:cNvSpPr>
          <p:nvPr>
            <p:ph idx="1"/>
          </p:nvPr>
        </p:nvSpPr>
        <p:spPr>
          <a:xfrm>
            <a:off x="3908981" y="1785282"/>
            <a:ext cx="4374037" cy="1018095"/>
          </a:xfrm>
        </p:spPr>
        <p:txBody>
          <a:bodyPr>
            <a:normAutofit fontScale="92500" lnSpcReduction="20000"/>
          </a:bodyPr>
          <a:lstStyle/>
          <a:p>
            <a:pPr marL="0" indent="0" algn="ctr">
              <a:buNone/>
            </a:pPr>
            <a:r>
              <a:rPr lang="en-GB" sz="1800" b="0" i="0" u="none" strike="noStrike" baseline="0" dirty="0">
                <a:latin typeface="FSLola"/>
              </a:rPr>
              <a:t>File transfer protocol</a:t>
            </a:r>
          </a:p>
          <a:p>
            <a:pPr marL="0" indent="0" algn="ctr">
              <a:buNone/>
            </a:pPr>
            <a:r>
              <a:rPr lang="en-GB" sz="1800" b="1" i="0" u="none" strike="noStrike" baseline="0" dirty="0">
                <a:latin typeface="FSLola"/>
              </a:rPr>
              <a:t>is the most common protocol used to transfer files across the Internet between client and server devices</a:t>
            </a:r>
            <a:endParaRPr lang="en-GB" b="1" dirty="0"/>
          </a:p>
        </p:txBody>
      </p:sp>
    </p:spTree>
    <p:extLst>
      <p:ext uri="{BB962C8B-B14F-4D97-AF65-F5344CB8AC3E}">
        <p14:creationId xmlns:p14="http://schemas.microsoft.com/office/powerpoint/2010/main" val="3259953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9000" b="-1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C63D-81CE-6E14-D285-3C85B51FC7DF}"/>
              </a:ext>
            </a:extLst>
          </p:cNvPr>
          <p:cNvSpPr>
            <a:spLocks noGrp="1"/>
          </p:cNvSpPr>
          <p:nvPr>
            <p:ph type="title"/>
          </p:nvPr>
        </p:nvSpPr>
        <p:spPr>
          <a:xfrm>
            <a:off x="4577890" y="817611"/>
            <a:ext cx="3036217" cy="1325563"/>
          </a:xfrm>
        </p:spPr>
        <p:txBody>
          <a:bodyPr/>
          <a:lstStyle/>
          <a:p>
            <a:pPr algn="ctr"/>
            <a:r>
              <a:rPr lang="en-GB" dirty="0">
                <a:latin typeface="LEMON MILK" panose="00000500000000000000" pitchFamily="50" charset="0"/>
              </a:rPr>
              <a:t>ISP</a:t>
            </a:r>
          </a:p>
        </p:txBody>
      </p:sp>
      <p:sp>
        <p:nvSpPr>
          <p:cNvPr id="3" name="Content Placeholder 2">
            <a:extLst>
              <a:ext uri="{FF2B5EF4-FFF2-40B4-BE49-F238E27FC236}">
                <a16:creationId xmlns:a16="http://schemas.microsoft.com/office/drawing/2014/main" id="{47C35D51-F126-3525-7049-C3445DE47DCB}"/>
              </a:ext>
            </a:extLst>
          </p:cNvPr>
          <p:cNvSpPr>
            <a:spLocks noGrp="1"/>
          </p:cNvSpPr>
          <p:nvPr>
            <p:ph idx="1"/>
          </p:nvPr>
        </p:nvSpPr>
        <p:spPr>
          <a:xfrm>
            <a:off x="1745529" y="2262433"/>
            <a:ext cx="8700941" cy="3942810"/>
          </a:xfrm>
        </p:spPr>
        <p:txBody>
          <a:bodyPr>
            <a:normAutofit/>
          </a:bodyPr>
          <a:lstStyle/>
          <a:p>
            <a:pPr algn="l"/>
            <a:r>
              <a:rPr lang="en-GB" sz="1800" b="0" i="0" u="none" strike="noStrike" baseline="0" dirty="0">
                <a:latin typeface="FSLola"/>
              </a:rPr>
              <a:t>Internet Service Provider </a:t>
            </a:r>
            <a:endParaRPr lang="en-GB" sz="1800" dirty="0">
              <a:latin typeface="FSLola"/>
            </a:endParaRPr>
          </a:p>
          <a:p>
            <a:pPr algn="l"/>
            <a:r>
              <a:rPr lang="en-GB" sz="1800" b="1" i="0" u="none" strike="noStrike" baseline="0" dirty="0">
                <a:latin typeface="FSLola"/>
              </a:rPr>
              <a:t>has direct links to the Internet and accepts transmission from users over communication lines and passes these onto the Internet</a:t>
            </a:r>
            <a:r>
              <a:rPr lang="en-GB" sz="1800" b="0" i="0" u="none" strike="noStrike" baseline="0" dirty="0">
                <a:latin typeface="FSLola"/>
              </a:rPr>
              <a:t>. </a:t>
            </a:r>
          </a:p>
          <a:p>
            <a:r>
              <a:rPr lang="en-GB" sz="1800" b="0" i="0" u="none" strike="noStrike" baseline="0" dirty="0">
                <a:latin typeface="FSLola"/>
              </a:rPr>
              <a:t>The ISP </a:t>
            </a:r>
            <a:r>
              <a:rPr lang="en-GB" sz="1800" b="1" i="0" u="none" strike="noStrike" baseline="0" dirty="0">
                <a:latin typeface="FSLola"/>
              </a:rPr>
              <a:t>sells Internet access to companies or individuals</a:t>
            </a:r>
            <a:r>
              <a:rPr lang="en-GB" sz="1800" b="0" i="0" u="none" strike="noStrike" baseline="0" dirty="0">
                <a:latin typeface="FSLola"/>
              </a:rPr>
              <a:t> and provides access to </a:t>
            </a:r>
            <a:r>
              <a:rPr lang="en-GB" sz="1800" b="1" i="0" u="none" strike="noStrike" baseline="0" dirty="0">
                <a:latin typeface="FSLola"/>
              </a:rPr>
              <a:t>web servers </a:t>
            </a:r>
            <a:r>
              <a:rPr lang="en-GB" sz="1800" b="0" i="0" u="none" strike="noStrike" baseline="0" dirty="0">
                <a:latin typeface="FSLola"/>
              </a:rPr>
              <a:t>which </a:t>
            </a:r>
            <a:r>
              <a:rPr lang="en-GB" sz="1800" b="1" i="0" u="none" strike="noStrike" baseline="0" dirty="0">
                <a:latin typeface="FSLola"/>
              </a:rPr>
              <a:t>connect to the </a:t>
            </a:r>
            <a:r>
              <a:rPr lang="en-GB" sz="1800" b="1" dirty="0">
                <a:latin typeface="FSLola"/>
              </a:rPr>
              <a:t>internet </a:t>
            </a:r>
            <a:r>
              <a:rPr lang="en-GB" sz="1800" b="1" i="0" u="none" strike="noStrike" baseline="0" dirty="0">
                <a:latin typeface="FSLola"/>
              </a:rPr>
              <a:t>search engines</a:t>
            </a:r>
            <a:r>
              <a:rPr lang="en-GB" sz="1800" b="0" i="0" u="none" strike="noStrike" baseline="0" dirty="0">
                <a:latin typeface="FSLola"/>
              </a:rPr>
              <a:t>. </a:t>
            </a:r>
          </a:p>
          <a:p>
            <a:r>
              <a:rPr lang="en-GB" sz="1800" b="0" i="0" u="none" strike="noStrike" baseline="0" dirty="0">
                <a:latin typeface="FSLola"/>
              </a:rPr>
              <a:t>An ISP will provide the user with a range of services, including:</a:t>
            </a:r>
          </a:p>
          <a:p>
            <a:pPr lvl="1"/>
            <a:r>
              <a:rPr lang="en-GB" sz="1400" dirty="0">
                <a:latin typeface="FSLola"/>
              </a:rPr>
              <a:t>A variety of bandwidth options</a:t>
            </a:r>
          </a:p>
          <a:p>
            <a:pPr lvl="1"/>
            <a:r>
              <a:rPr lang="en-GB" sz="1400" dirty="0">
                <a:latin typeface="FSLola"/>
              </a:rPr>
              <a:t>An </a:t>
            </a:r>
            <a:r>
              <a:rPr lang="en-GB" sz="1400" b="1" dirty="0">
                <a:latin typeface="FSLola"/>
              </a:rPr>
              <a:t>email</a:t>
            </a:r>
            <a:r>
              <a:rPr lang="en-GB" sz="1400" dirty="0">
                <a:latin typeface="FSLola"/>
              </a:rPr>
              <a:t> service</a:t>
            </a:r>
          </a:p>
          <a:p>
            <a:pPr lvl="1"/>
            <a:r>
              <a:rPr lang="en-GB" sz="1400" dirty="0">
                <a:latin typeface="FSLola"/>
              </a:rPr>
              <a:t>A security features such as anti-virus, protection against hacking, viruses, spyware and identity theft.	</a:t>
            </a:r>
          </a:p>
          <a:p>
            <a:pPr lvl="1"/>
            <a:r>
              <a:rPr lang="en-GB" sz="1400" b="1" dirty="0">
                <a:latin typeface="FSLola"/>
              </a:rPr>
              <a:t>Web hosting </a:t>
            </a:r>
            <a:r>
              <a:rPr lang="en-GB" sz="1400" dirty="0">
                <a:latin typeface="FSLola"/>
              </a:rPr>
              <a:t>service which allows users to upload their own webpages</a:t>
            </a:r>
          </a:p>
          <a:p>
            <a:pPr lvl="1"/>
            <a:r>
              <a:rPr lang="en-GB" sz="1400" dirty="0">
                <a:latin typeface="FSLola"/>
              </a:rPr>
              <a:t>Customer support</a:t>
            </a:r>
          </a:p>
          <a:p>
            <a:pPr lvl="1"/>
            <a:r>
              <a:rPr lang="en-GB" sz="1400" dirty="0">
                <a:latin typeface="FSLola"/>
              </a:rPr>
              <a:t>Website </a:t>
            </a:r>
            <a:r>
              <a:rPr lang="en-GB" sz="1400" b="1" dirty="0">
                <a:latin typeface="FSLola"/>
              </a:rPr>
              <a:t>filtering</a:t>
            </a:r>
            <a:r>
              <a:rPr lang="en-GB" sz="1400" dirty="0">
                <a:latin typeface="FSLola"/>
              </a:rPr>
              <a:t> which will filter out unsuitable content</a:t>
            </a:r>
          </a:p>
          <a:p>
            <a:pPr lvl="1"/>
            <a:r>
              <a:rPr lang="en-GB" sz="1400" b="1" dirty="0">
                <a:latin typeface="FSLola"/>
              </a:rPr>
              <a:t>Digital Telephone or Digital TV </a:t>
            </a:r>
            <a:r>
              <a:rPr lang="en-GB" sz="1400" dirty="0">
                <a:latin typeface="FSLola"/>
              </a:rPr>
              <a:t>package</a:t>
            </a:r>
          </a:p>
        </p:txBody>
      </p:sp>
    </p:spTree>
    <p:extLst>
      <p:ext uri="{BB962C8B-B14F-4D97-AF65-F5344CB8AC3E}">
        <p14:creationId xmlns:p14="http://schemas.microsoft.com/office/powerpoint/2010/main" val="82582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4000" b="-1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D573-1B2E-8065-B3D9-78E11C1D4495}"/>
              </a:ext>
            </a:extLst>
          </p:cNvPr>
          <p:cNvSpPr>
            <a:spLocks noGrp="1"/>
          </p:cNvSpPr>
          <p:nvPr>
            <p:ph type="title"/>
          </p:nvPr>
        </p:nvSpPr>
        <p:spPr/>
        <p:txBody>
          <a:bodyPr/>
          <a:lstStyle/>
          <a:p>
            <a:r>
              <a:rPr lang="en-GB" dirty="0">
                <a:latin typeface="LEMON MILK" panose="00000500000000000000" pitchFamily="50" charset="0"/>
              </a:rPr>
              <a:t>Search Engine</a:t>
            </a:r>
          </a:p>
        </p:txBody>
      </p:sp>
      <p:sp>
        <p:nvSpPr>
          <p:cNvPr id="3" name="Content Placeholder 2">
            <a:extLst>
              <a:ext uri="{FF2B5EF4-FFF2-40B4-BE49-F238E27FC236}">
                <a16:creationId xmlns:a16="http://schemas.microsoft.com/office/drawing/2014/main" id="{498C1507-107C-4BF3-B8D5-836C10C37133}"/>
              </a:ext>
            </a:extLst>
          </p:cNvPr>
          <p:cNvSpPr>
            <a:spLocks noGrp="1"/>
          </p:cNvSpPr>
          <p:nvPr>
            <p:ph idx="1"/>
          </p:nvPr>
        </p:nvSpPr>
        <p:spPr/>
        <p:txBody>
          <a:bodyPr/>
          <a:lstStyle/>
          <a:p>
            <a:pPr algn="l"/>
            <a:r>
              <a:rPr lang="en-GB" sz="1800" b="0" i="0" u="none" strike="noStrike" baseline="0" dirty="0">
                <a:latin typeface="FSLola"/>
              </a:rPr>
              <a:t>A search engine is a web-based tool that searches for information using keywords or criteria. The search engine will return results as website links based on the criteria provided. Some search engines use a spider or webcrawler. </a:t>
            </a:r>
          </a:p>
          <a:p>
            <a:pPr algn="l"/>
            <a:r>
              <a:rPr lang="en-GB" sz="1800" b="0" i="0" u="none" strike="noStrike" baseline="0" dirty="0">
                <a:latin typeface="FSLola"/>
              </a:rPr>
              <a:t>This programme ‘crawls’ through the web and constructs an index of pages. When a user wants to search for a topic using the Internet, the index of topics, made by the webcrawler, is used. The webcrawler ensures that the index is up to date. Different search engines will search different servers to construct the index. This is why a search on Google may give different results to a search on Firefox.</a:t>
            </a:r>
          </a:p>
          <a:p>
            <a:pPr algn="l"/>
            <a:r>
              <a:rPr lang="en-GB" sz="1800" b="1" i="0" u="none" strike="noStrike" baseline="0" dirty="0">
                <a:latin typeface="FSLola"/>
              </a:rPr>
              <a:t>Meta tags </a:t>
            </a:r>
            <a:r>
              <a:rPr lang="en-GB" sz="1800" b="0" i="0" u="none" strike="noStrike" baseline="0" dirty="0">
                <a:latin typeface="FSLola"/>
              </a:rPr>
              <a:t>can be used to specify key words in the heading of the HTML page. These words help search engines to categorise pages and decide whether or not to include them in the results for a particular search.</a:t>
            </a:r>
            <a:endParaRPr lang="en-GB" dirty="0"/>
          </a:p>
        </p:txBody>
      </p:sp>
    </p:spTree>
    <p:extLst>
      <p:ext uri="{BB962C8B-B14F-4D97-AF65-F5344CB8AC3E}">
        <p14:creationId xmlns:p14="http://schemas.microsoft.com/office/powerpoint/2010/main" val="1458612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DA08-824E-9157-8296-6C2C2BDFB4F8}"/>
              </a:ext>
            </a:extLst>
          </p:cNvPr>
          <p:cNvSpPr>
            <a:spLocks noGrp="1"/>
          </p:cNvSpPr>
          <p:nvPr>
            <p:ph type="title"/>
          </p:nvPr>
        </p:nvSpPr>
        <p:spPr/>
        <p:txBody>
          <a:bodyPr/>
          <a:lstStyle/>
          <a:p>
            <a:r>
              <a:rPr lang="en-GB" dirty="0">
                <a:latin typeface="LEMON MILK" panose="00000500000000000000" pitchFamily="50" charset="0"/>
              </a:rPr>
              <a:t>Cache</a:t>
            </a:r>
          </a:p>
        </p:txBody>
      </p:sp>
      <p:sp>
        <p:nvSpPr>
          <p:cNvPr id="3" name="Content Placeholder 2">
            <a:extLst>
              <a:ext uri="{FF2B5EF4-FFF2-40B4-BE49-F238E27FC236}">
                <a16:creationId xmlns:a16="http://schemas.microsoft.com/office/drawing/2014/main" id="{130E71D2-F053-343C-FB68-B250CC8CC07B}"/>
              </a:ext>
            </a:extLst>
          </p:cNvPr>
          <p:cNvSpPr>
            <a:spLocks noGrp="1"/>
          </p:cNvSpPr>
          <p:nvPr>
            <p:ph idx="1"/>
          </p:nvPr>
        </p:nvSpPr>
        <p:spPr/>
        <p:txBody>
          <a:bodyPr/>
          <a:lstStyle/>
          <a:p>
            <a:pPr algn="l"/>
            <a:r>
              <a:rPr lang="en-GB" sz="1800" b="0" i="0" u="none" strike="noStrike" baseline="0" dirty="0">
                <a:latin typeface="FSLola"/>
              </a:rPr>
              <a:t>In the context of web applications, cache or temporary internet files allow browsers to download website images, data and documents for faster viewing in the future. </a:t>
            </a:r>
          </a:p>
          <a:p>
            <a:pPr algn="l"/>
            <a:r>
              <a:rPr lang="en-GB" sz="1800" b="0" i="0" u="none" strike="noStrike" baseline="0" dirty="0">
                <a:latin typeface="FSLola"/>
              </a:rPr>
              <a:t>A local copy of the information is kept. </a:t>
            </a:r>
          </a:p>
          <a:p>
            <a:pPr algn="l"/>
            <a:r>
              <a:rPr lang="en-GB" sz="1800" b="0" i="0" u="none" strike="noStrike" baseline="0" dirty="0">
                <a:latin typeface="FSLola"/>
              </a:rPr>
              <a:t>This means that the browser will be able to load at least some information from each page you have visited without downloading that information again from the server. </a:t>
            </a:r>
          </a:p>
          <a:p>
            <a:pPr algn="l"/>
            <a:r>
              <a:rPr lang="en-GB" sz="1800" b="0" i="0" u="none" strike="noStrike" baseline="0" dirty="0">
                <a:latin typeface="FSLola"/>
              </a:rPr>
              <a:t>This can decrease the time it takes to load a webpage</a:t>
            </a:r>
            <a:endParaRPr lang="en-GB" dirty="0"/>
          </a:p>
        </p:txBody>
      </p:sp>
    </p:spTree>
    <p:extLst>
      <p:ext uri="{BB962C8B-B14F-4D97-AF65-F5344CB8AC3E}">
        <p14:creationId xmlns:p14="http://schemas.microsoft.com/office/powerpoint/2010/main" val="303361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0782-BEC9-D0A2-8736-229F79480EEC}"/>
              </a:ext>
            </a:extLst>
          </p:cNvPr>
          <p:cNvSpPr>
            <a:spLocks noGrp="1"/>
          </p:cNvSpPr>
          <p:nvPr>
            <p:ph type="title"/>
          </p:nvPr>
        </p:nvSpPr>
        <p:spPr/>
        <p:txBody>
          <a:bodyPr/>
          <a:lstStyle/>
          <a:p>
            <a:r>
              <a:rPr lang="en-GB" dirty="0">
                <a:latin typeface="LEMON MILK" panose="00000500000000000000" pitchFamily="50" charset="0"/>
              </a:rPr>
              <a:t>Cookies</a:t>
            </a:r>
          </a:p>
        </p:txBody>
      </p:sp>
      <p:sp>
        <p:nvSpPr>
          <p:cNvPr id="3" name="Content Placeholder 2">
            <a:extLst>
              <a:ext uri="{FF2B5EF4-FFF2-40B4-BE49-F238E27FC236}">
                <a16:creationId xmlns:a16="http://schemas.microsoft.com/office/drawing/2014/main" id="{802C4683-D08E-6C62-1E42-2CD16EE1E3EC}"/>
              </a:ext>
            </a:extLst>
          </p:cNvPr>
          <p:cNvSpPr>
            <a:spLocks noGrp="1"/>
          </p:cNvSpPr>
          <p:nvPr>
            <p:ph idx="1"/>
          </p:nvPr>
        </p:nvSpPr>
        <p:spPr>
          <a:xfrm>
            <a:off x="838200" y="1825625"/>
            <a:ext cx="7598790" cy="1963950"/>
          </a:xfrm>
        </p:spPr>
        <p:txBody>
          <a:bodyPr/>
          <a:lstStyle/>
          <a:p>
            <a:pPr algn="l"/>
            <a:r>
              <a:rPr lang="en-GB" sz="1800" b="0" i="0" u="none" strike="noStrike" baseline="0" dirty="0">
                <a:latin typeface="FSLola"/>
              </a:rPr>
              <a:t>Small files downloaded to a computer when visiting a website. They can store previous activity on that site and user preferences. This information can be used when a user visits the site again. </a:t>
            </a:r>
          </a:p>
          <a:p>
            <a:pPr algn="l"/>
            <a:r>
              <a:rPr lang="en-GB" sz="1800" b="0" i="0" u="none" strike="noStrike" baseline="0" dirty="0">
                <a:latin typeface="FSLola"/>
              </a:rPr>
              <a:t>Cookies can be also used to track a user’s browser history over a period of time which can be considered a privacy concern. </a:t>
            </a:r>
          </a:p>
          <a:p>
            <a:pPr algn="l"/>
            <a:r>
              <a:rPr lang="en-GB" sz="1800" b="0" i="0" u="none" strike="noStrike" baseline="0" dirty="0">
                <a:latin typeface="FSLola"/>
              </a:rPr>
              <a:t>Users are generally asked to accept the cookies associated with a website.</a:t>
            </a:r>
            <a:endParaRPr lang="en-GB" dirty="0"/>
          </a:p>
        </p:txBody>
      </p:sp>
    </p:spTree>
    <p:extLst>
      <p:ext uri="{BB962C8B-B14F-4D97-AF65-F5344CB8AC3E}">
        <p14:creationId xmlns:p14="http://schemas.microsoft.com/office/powerpoint/2010/main" val="81260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8AA30395-248A-0976-EC7B-458C73A5DF9D}"/>
              </a:ext>
            </a:extLst>
          </p:cNvPr>
          <p:cNvSpPr/>
          <p:nvPr/>
        </p:nvSpPr>
        <p:spPr>
          <a:xfrm>
            <a:off x="5687124" y="0"/>
            <a:ext cx="6520235" cy="6891452"/>
          </a:xfrm>
          <a:custGeom>
            <a:avLst/>
            <a:gdLst>
              <a:gd name="connsiteX0" fmla="*/ 1 w 1126273"/>
              <a:gd name="connsiteY0" fmla="*/ 370566 h 970156"/>
              <a:gd name="connsiteX1" fmla="*/ 563137 w 1126273"/>
              <a:gd name="connsiteY1" fmla="*/ 0 h 970156"/>
              <a:gd name="connsiteX2" fmla="*/ 1126272 w 1126273"/>
              <a:gd name="connsiteY2" fmla="*/ 370566 h 970156"/>
              <a:gd name="connsiteX3" fmla="*/ 911173 w 1126273"/>
              <a:gd name="connsiteY3" fmla="*/ 970154 h 970156"/>
              <a:gd name="connsiteX4" fmla="*/ 215100 w 1126273"/>
              <a:gd name="connsiteY4" fmla="*/ 970154 h 970156"/>
              <a:gd name="connsiteX5" fmla="*/ 1 w 1126273"/>
              <a:gd name="connsiteY5" fmla="*/ 370566 h 970156"/>
              <a:gd name="connsiteX0" fmla="*/ 0 w 4828475"/>
              <a:gd name="connsiteY0" fmla="*/ 2511601 h 2511601"/>
              <a:gd name="connsiteX1" fmla="*/ 4265340 w 4828475"/>
              <a:gd name="connsiteY1" fmla="*/ 0 h 2511601"/>
              <a:gd name="connsiteX2" fmla="*/ 4828475 w 4828475"/>
              <a:gd name="connsiteY2" fmla="*/ 370566 h 2511601"/>
              <a:gd name="connsiteX3" fmla="*/ 4613376 w 4828475"/>
              <a:gd name="connsiteY3" fmla="*/ 970154 h 2511601"/>
              <a:gd name="connsiteX4" fmla="*/ 3917303 w 4828475"/>
              <a:gd name="connsiteY4" fmla="*/ 970154 h 2511601"/>
              <a:gd name="connsiteX5" fmla="*/ 0 w 4828475"/>
              <a:gd name="connsiteY5" fmla="*/ 2511601 h 2511601"/>
              <a:gd name="connsiteX0" fmla="*/ 0 w 5391614"/>
              <a:gd name="connsiteY0" fmla="*/ 5444372 h 5444372"/>
              <a:gd name="connsiteX1" fmla="*/ 5391614 w 5391614"/>
              <a:gd name="connsiteY1" fmla="*/ 0 h 5444372"/>
              <a:gd name="connsiteX2" fmla="*/ 4828475 w 5391614"/>
              <a:gd name="connsiteY2" fmla="*/ 3303337 h 5444372"/>
              <a:gd name="connsiteX3" fmla="*/ 4613376 w 5391614"/>
              <a:gd name="connsiteY3" fmla="*/ 3902925 h 5444372"/>
              <a:gd name="connsiteX4" fmla="*/ 3917303 w 5391614"/>
              <a:gd name="connsiteY4" fmla="*/ 3902925 h 5444372"/>
              <a:gd name="connsiteX5" fmla="*/ 0 w 5391614"/>
              <a:gd name="connsiteY5" fmla="*/ 5444372 h 5444372"/>
              <a:gd name="connsiteX0" fmla="*/ 0 w 6501158"/>
              <a:gd name="connsiteY0" fmla="*/ 5444372 h 5444372"/>
              <a:gd name="connsiteX1" fmla="*/ 5391614 w 6501158"/>
              <a:gd name="connsiteY1" fmla="*/ 0 h 5444372"/>
              <a:gd name="connsiteX2" fmla="*/ 6501158 w 6501158"/>
              <a:gd name="connsiteY2" fmla="*/ 2576 h 5444372"/>
              <a:gd name="connsiteX3" fmla="*/ 4613376 w 6501158"/>
              <a:gd name="connsiteY3" fmla="*/ 3902925 h 5444372"/>
              <a:gd name="connsiteX4" fmla="*/ 3917303 w 6501158"/>
              <a:gd name="connsiteY4" fmla="*/ 3902925 h 5444372"/>
              <a:gd name="connsiteX5" fmla="*/ 0 w 6501158"/>
              <a:gd name="connsiteY5" fmla="*/ 5444372 h 5444372"/>
              <a:gd name="connsiteX0" fmla="*/ 0 w 6520235"/>
              <a:gd name="connsiteY0" fmla="*/ 5444372 h 6891452"/>
              <a:gd name="connsiteX1" fmla="*/ 5391614 w 6520235"/>
              <a:gd name="connsiteY1" fmla="*/ 0 h 6891452"/>
              <a:gd name="connsiteX2" fmla="*/ 6501158 w 6520235"/>
              <a:gd name="connsiteY2" fmla="*/ 2576 h 6891452"/>
              <a:gd name="connsiteX3" fmla="*/ 6520235 w 6520235"/>
              <a:gd name="connsiteY3" fmla="*/ 6891452 h 6891452"/>
              <a:gd name="connsiteX4" fmla="*/ 3917303 w 6520235"/>
              <a:gd name="connsiteY4" fmla="*/ 3902925 h 6891452"/>
              <a:gd name="connsiteX5" fmla="*/ 0 w 6520235"/>
              <a:gd name="connsiteY5" fmla="*/ 5444372 h 6891452"/>
              <a:gd name="connsiteX0" fmla="*/ 0 w 6520235"/>
              <a:gd name="connsiteY0" fmla="*/ 5444372 h 6891452"/>
              <a:gd name="connsiteX1" fmla="*/ 5391614 w 6520235"/>
              <a:gd name="connsiteY1" fmla="*/ 0 h 6891452"/>
              <a:gd name="connsiteX2" fmla="*/ 6501158 w 6520235"/>
              <a:gd name="connsiteY2" fmla="*/ 2576 h 6891452"/>
              <a:gd name="connsiteX3" fmla="*/ 6520235 w 6520235"/>
              <a:gd name="connsiteY3" fmla="*/ 6891452 h 6891452"/>
              <a:gd name="connsiteX4" fmla="*/ 1464035 w 6520235"/>
              <a:gd name="connsiteY4" fmla="*/ 6891451 h 6891452"/>
              <a:gd name="connsiteX5" fmla="*/ 0 w 6520235"/>
              <a:gd name="connsiteY5" fmla="*/ 5444372 h 68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0235" h="6891452">
                <a:moveTo>
                  <a:pt x="0" y="5444372"/>
                </a:moveTo>
                <a:lnTo>
                  <a:pt x="5391614" y="0"/>
                </a:lnTo>
                <a:lnTo>
                  <a:pt x="6501158" y="2576"/>
                </a:lnTo>
                <a:lnTo>
                  <a:pt x="6520235" y="6891452"/>
                </a:lnTo>
                <a:lnTo>
                  <a:pt x="1464035" y="6891451"/>
                </a:lnTo>
                <a:lnTo>
                  <a:pt x="0" y="5444372"/>
                </a:lnTo>
                <a:close/>
              </a:path>
            </a:pathLst>
          </a:custGeom>
          <a:solidFill>
            <a:srgbClr val="4747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Portal, Vera Khoreva">
            <a:extLst>
              <a:ext uri="{FF2B5EF4-FFF2-40B4-BE49-F238E27FC236}">
                <a16:creationId xmlns:a16="http://schemas.microsoft.com/office/drawing/2014/main" id="{1B9C5466-75FA-297C-C739-A0DF72BD13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5070" y="3646449"/>
            <a:ext cx="4364631" cy="438011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BEBEE46-E974-84FC-FB97-6E6118FAF3F3}"/>
              </a:ext>
            </a:extLst>
          </p:cNvPr>
          <p:cNvSpPr>
            <a:spLocks noGrp="1"/>
          </p:cNvSpPr>
          <p:nvPr>
            <p:ph type="title"/>
          </p:nvPr>
        </p:nvSpPr>
        <p:spPr>
          <a:xfrm>
            <a:off x="0" y="18255"/>
            <a:ext cx="10515600" cy="1325563"/>
          </a:xfrm>
        </p:spPr>
        <p:txBody>
          <a:bodyPr/>
          <a:lstStyle/>
          <a:p>
            <a:r>
              <a:rPr lang="en-GB" dirty="0">
                <a:latin typeface="LEMON MILK" panose="00000500000000000000" pitchFamily="50" charset="0"/>
              </a:rPr>
              <a:t>Portal</a:t>
            </a:r>
          </a:p>
        </p:txBody>
      </p:sp>
      <p:sp>
        <p:nvSpPr>
          <p:cNvPr id="3" name="Content Placeholder 2">
            <a:extLst>
              <a:ext uri="{FF2B5EF4-FFF2-40B4-BE49-F238E27FC236}">
                <a16:creationId xmlns:a16="http://schemas.microsoft.com/office/drawing/2014/main" id="{AFDD8DE3-657F-C4C2-F013-732AC8237945}"/>
              </a:ext>
            </a:extLst>
          </p:cNvPr>
          <p:cNvSpPr>
            <a:spLocks noGrp="1"/>
          </p:cNvSpPr>
          <p:nvPr>
            <p:ph idx="1"/>
          </p:nvPr>
        </p:nvSpPr>
        <p:spPr>
          <a:xfrm>
            <a:off x="7297802" y="3749509"/>
            <a:ext cx="4330831" cy="1963182"/>
          </a:xfrm>
        </p:spPr>
        <p:txBody>
          <a:bodyPr/>
          <a:lstStyle/>
          <a:p>
            <a:pPr algn="ctr"/>
            <a:r>
              <a:rPr lang="en-GB" sz="1800" b="0" i="0" u="none" strike="noStrike" baseline="0" dirty="0">
                <a:solidFill>
                  <a:srgbClr val="FFFF00"/>
                </a:solidFill>
                <a:latin typeface="FSLola"/>
              </a:rPr>
              <a:t>A website that acts as a main entry point to a group of web services</a:t>
            </a:r>
            <a:r>
              <a:rPr lang="en-GB" sz="1800" b="0" i="0" u="none" strike="noStrike" baseline="0" dirty="0">
                <a:solidFill>
                  <a:schemeClr val="bg1"/>
                </a:solidFill>
                <a:latin typeface="FSLola"/>
              </a:rPr>
              <a:t>. </a:t>
            </a:r>
          </a:p>
          <a:p>
            <a:pPr algn="ctr"/>
            <a:r>
              <a:rPr lang="en-GB" sz="1800" b="0" i="0" u="none" strike="noStrike" baseline="0" dirty="0">
                <a:solidFill>
                  <a:schemeClr val="bg1"/>
                </a:solidFill>
                <a:latin typeface="FSLola"/>
              </a:rPr>
              <a:t>Portals can require the user to logon and provide a range of services such as: email, links to other websites and search engines. Yahoo.com could be described as a portal.</a:t>
            </a:r>
            <a:endParaRPr lang="en-GB" dirty="0">
              <a:solidFill>
                <a:schemeClr val="bg1"/>
              </a:solidFill>
            </a:endParaRPr>
          </a:p>
        </p:txBody>
      </p:sp>
    </p:spTree>
    <p:extLst>
      <p:ext uri="{BB962C8B-B14F-4D97-AF65-F5344CB8AC3E}">
        <p14:creationId xmlns:p14="http://schemas.microsoft.com/office/powerpoint/2010/main" val="113156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outVertical)">
                                      <p:cBhvr>
                                        <p:cTn id="7" dur="500"/>
                                        <p:tgtEl>
                                          <p:spTgt spid="1026"/>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250"/>
                                        <p:tgtEl>
                                          <p:spTgt spid="3">
                                            <p:txEl>
                                              <p:pRg st="1" end="1"/>
                                            </p:txEl>
                                          </p:spTgt>
                                        </p:tgtEl>
                                      </p:cBhvr>
                                    </p:animEffect>
                                    <p:anim calcmode="lin" valueType="num">
                                      <p:cBhvr>
                                        <p:cTn id="18" dur="2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25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0" fill="hold">
                            <p:stCondLst>
                              <p:cond delay="1750"/>
                            </p:stCondLst>
                            <p:childTnLst>
                              <p:par>
                                <p:cTn id="21" presetID="16" presetClass="exit" presetSubtype="21" fill="hold" nodeType="afterEffect">
                                  <p:stCondLst>
                                    <p:cond delay="500"/>
                                  </p:stCondLst>
                                  <p:childTnLst>
                                    <p:animEffect transition="out" filter="barn(inVertical)">
                                      <p:cBhvr>
                                        <p:cTn id="22" dur="500"/>
                                        <p:tgtEl>
                                          <p:spTgt spid="1026"/>
                                        </p:tgtEl>
                                      </p:cBhvr>
                                    </p:animEffect>
                                    <p:set>
                                      <p:cBhvr>
                                        <p:cTn id="23" dur="1" fill="hold">
                                          <p:stCondLst>
                                            <p:cond delay="499"/>
                                          </p:stCondLst>
                                        </p:cTn>
                                        <p:tgtEl>
                                          <p:spTgt spid="1026"/>
                                        </p:tgtEl>
                                        <p:attrNameLst>
                                          <p:attrName>style.visibility</p:attrName>
                                        </p:attrNameLst>
                                      </p:cBhvr>
                                      <p:to>
                                        <p:strVal val="hidden"/>
                                      </p:to>
                                    </p:set>
                                  </p:childTnLst>
                                </p:cTn>
                              </p:par>
                              <p:par>
                                <p:cTn id="24" presetID="10" presetClass="exit" presetSubtype="0" fill="hold" nodeType="withEffect">
                                  <p:stCondLst>
                                    <p:cond delay="500"/>
                                  </p:stCondLst>
                                  <p:childTnLst>
                                    <p:animEffect transition="out" filter="fade">
                                      <p:cBhvr>
                                        <p:cTn id="25" dur="500"/>
                                        <p:tgtEl>
                                          <p:spTgt spid="1026"/>
                                        </p:tgtEl>
                                      </p:cBhvr>
                                    </p:animEffect>
                                    <p:set>
                                      <p:cBhvr>
                                        <p:cTn id="26" dur="1" fill="hold">
                                          <p:stCondLst>
                                            <p:cond delay="499"/>
                                          </p:stCondLst>
                                        </p:cTn>
                                        <p:tgtEl>
                                          <p:spTgt spid="10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A5C3-1538-0B36-D0A8-27F43F6A636B}"/>
              </a:ext>
            </a:extLst>
          </p:cNvPr>
          <p:cNvSpPr>
            <a:spLocks noGrp="1"/>
          </p:cNvSpPr>
          <p:nvPr>
            <p:ph type="title"/>
          </p:nvPr>
        </p:nvSpPr>
        <p:spPr>
          <a:xfrm>
            <a:off x="838200" y="1684878"/>
            <a:ext cx="10515600" cy="1325563"/>
          </a:xfrm>
        </p:spPr>
        <p:txBody>
          <a:bodyPr/>
          <a:lstStyle/>
          <a:p>
            <a:pPr algn="ctr"/>
            <a:r>
              <a:rPr lang="en-GB" dirty="0"/>
              <a:t>Website</a:t>
            </a:r>
          </a:p>
        </p:txBody>
      </p:sp>
      <p:sp>
        <p:nvSpPr>
          <p:cNvPr id="3" name="Content Placeholder 2">
            <a:extLst>
              <a:ext uri="{FF2B5EF4-FFF2-40B4-BE49-F238E27FC236}">
                <a16:creationId xmlns:a16="http://schemas.microsoft.com/office/drawing/2014/main" id="{B38C628D-2318-C1F7-170C-264FF1505C05}"/>
              </a:ext>
            </a:extLst>
          </p:cNvPr>
          <p:cNvSpPr>
            <a:spLocks noGrp="1"/>
          </p:cNvSpPr>
          <p:nvPr>
            <p:ph idx="1"/>
          </p:nvPr>
        </p:nvSpPr>
        <p:spPr>
          <a:xfrm>
            <a:off x="3654458" y="3205114"/>
            <a:ext cx="4883084" cy="1325563"/>
          </a:xfrm>
        </p:spPr>
        <p:txBody>
          <a:bodyPr>
            <a:normAutofit/>
          </a:bodyPr>
          <a:lstStyle/>
          <a:p>
            <a:pPr marL="0" indent="0" algn="ctr">
              <a:buNone/>
            </a:pPr>
            <a:r>
              <a:rPr lang="en-GB" sz="2400" b="0" i="0" u="none" strike="noStrike" baseline="0" dirty="0">
                <a:latin typeface="FSLola"/>
              </a:rPr>
              <a:t>A website is a collection of HTML pages linked together on the world wide web.</a:t>
            </a:r>
            <a:endParaRPr lang="en-GB" sz="3600" dirty="0"/>
          </a:p>
        </p:txBody>
      </p:sp>
    </p:spTree>
    <p:extLst>
      <p:ext uri="{BB962C8B-B14F-4D97-AF65-F5344CB8AC3E}">
        <p14:creationId xmlns:p14="http://schemas.microsoft.com/office/powerpoint/2010/main" val="288012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F100-9C71-19A4-1CE7-1842A3C92427}"/>
              </a:ext>
            </a:extLst>
          </p:cNvPr>
          <p:cNvSpPr>
            <a:spLocks noGrp="1"/>
          </p:cNvSpPr>
          <p:nvPr>
            <p:ph type="title"/>
          </p:nvPr>
        </p:nvSpPr>
        <p:spPr>
          <a:xfrm>
            <a:off x="8191892" y="204870"/>
            <a:ext cx="3840637" cy="1325563"/>
          </a:xfrm>
        </p:spPr>
        <p:txBody>
          <a:bodyPr/>
          <a:lstStyle/>
          <a:p>
            <a:pPr algn="r"/>
            <a:r>
              <a:rPr lang="en-GB" dirty="0">
                <a:solidFill>
                  <a:srgbClr val="C2202B"/>
                </a:solidFill>
                <a:latin typeface="LEMON MILK" panose="00000500000000000000" pitchFamily="50" charset="0"/>
              </a:rPr>
              <a:t>Web Page</a:t>
            </a:r>
          </a:p>
        </p:txBody>
      </p:sp>
      <p:sp>
        <p:nvSpPr>
          <p:cNvPr id="3" name="Content Placeholder 2">
            <a:extLst>
              <a:ext uri="{FF2B5EF4-FFF2-40B4-BE49-F238E27FC236}">
                <a16:creationId xmlns:a16="http://schemas.microsoft.com/office/drawing/2014/main" id="{6594A9F5-5452-E18B-8135-87459505C508}"/>
              </a:ext>
            </a:extLst>
          </p:cNvPr>
          <p:cNvSpPr>
            <a:spLocks noGrp="1"/>
          </p:cNvSpPr>
          <p:nvPr>
            <p:ph idx="1"/>
          </p:nvPr>
        </p:nvSpPr>
        <p:spPr>
          <a:xfrm>
            <a:off x="3936381" y="3033132"/>
            <a:ext cx="7317058" cy="3043470"/>
          </a:xfrm>
        </p:spPr>
        <p:txBody>
          <a:bodyPr>
            <a:normAutofit/>
          </a:bodyPr>
          <a:lstStyle/>
          <a:p>
            <a:pPr algn="l"/>
            <a:r>
              <a:rPr lang="en-GB" sz="2000" b="1" i="0" u="none" strike="noStrike" baseline="0" dirty="0">
                <a:latin typeface="FSLola"/>
              </a:rPr>
              <a:t>A page of information stored on the world wide web</a:t>
            </a:r>
            <a:r>
              <a:rPr lang="en-GB" sz="2000" b="0" i="0" u="none" strike="noStrike" baseline="0" dirty="0">
                <a:latin typeface="FSLola"/>
              </a:rPr>
              <a:t>. </a:t>
            </a:r>
          </a:p>
          <a:p>
            <a:pPr algn="l"/>
            <a:r>
              <a:rPr lang="en-GB" sz="2000" b="0" i="0" u="none" strike="noStrike" baseline="0" dirty="0">
                <a:latin typeface="FSLola"/>
              </a:rPr>
              <a:t>Features of these pages are:</a:t>
            </a:r>
          </a:p>
          <a:p>
            <a:pPr lvl="1"/>
            <a:r>
              <a:rPr lang="en-GB" sz="1600" b="0" i="0" u="none" strike="noStrike" baseline="0" dirty="0">
                <a:latin typeface="FSLola"/>
              </a:rPr>
              <a:t>written using the programming language HTML</a:t>
            </a:r>
          </a:p>
          <a:p>
            <a:pPr lvl="1"/>
            <a:r>
              <a:rPr lang="en-GB" sz="1600" b="0" i="0" u="none" strike="noStrike" baseline="0" dirty="0">
                <a:latin typeface="FSLola"/>
              </a:rPr>
              <a:t>viewed using a web browser</a:t>
            </a:r>
          </a:p>
          <a:p>
            <a:pPr lvl="1"/>
            <a:r>
              <a:rPr lang="en-GB" sz="1600" b="0" i="0" u="none" strike="noStrike" baseline="0" dirty="0">
                <a:latin typeface="FSLola"/>
              </a:rPr>
              <a:t>contain HYPERTEXT which provides the user with clickable links to other pages on the web.</a:t>
            </a:r>
            <a:endParaRPr lang="en-GB" sz="2000" b="0" i="0" u="none" strike="noStrike" baseline="0" dirty="0">
              <a:latin typeface="FSLola"/>
            </a:endParaRPr>
          </a:p>
          <a:p>
            <a:pPr lvl="1"/>
            <a:r>
              <a:rPr lang="en-GB" sz="1600" b="0" i="0" u="none" strike="noStrike" baseline="0" dirty="0">
                <a:latin typeface="FSLola"/>
              </a:rPr>
              <a:t>can contain sound, video, animation, graphics and hypertext as well as simple text</a:t>
            </a:r>
            <a:endParaRPr lang="en-GB" sz="2800" dirty="0"/>
          </a:p>
        </p:txBody>
      </p:sp>
    </p:spTree>
    <p:extLst>
      <p:ext uri="{BB962C8B-B14F-4D97-AF65-F5344CB8AC3E}">
        <p14:creationId xmlns:p14="http://schemas.microsoft.com/office/powerpoint/2010/main" val="65473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0BE0-3C69-AE94-0469-BEDDA286F19D}"/>
              </a:ext>
            </a:extLst>
          </p:cNvPr>
          <p:cNvSpPr>
            <a:spLocks noGrp="1"/>
          </p:cNvSpPr>
          <p:nvPr>
            <p:ph type="title"/>
          </p:nvPr>
        </p:nvSpPr>
        <p:spPr/>
        <p:txBody>
          <a:bodyPr/>
          <a:lstStyle/>
          <a:p>
            <a:r>
              <a:rPr lang="en-GB" dirty="0"/>
              <a:t>Domain Names</a:t>
            </a:r>
          </a:p>
        </p:txBody>
      </p:sp>
      <p:sp>
        <p:nvSpPr>
          <p:cNvPr id="3" name="Content Placeholder 2">
            <a:extLst>
              <a:ext uri="{FF2B5EF4-FFF2-40B4-BE49-F238E27FC236}">
                <a16:creationId xmlns:a16="http://schemas.microsoft.com/office/drawing/2014/main" id="{35C179CF-7F73-22E6-187D-364FE69229FF}"/>
              </a:ext>
            </a:extLst>
          </p:cNvPr>
          <p:cNvSpPr>
            <a:spLocks noGrp="1"/>
          </p:cNvSpPr>
          <p:nvPr>
            <p:ph idx="1"/>
          </p:nvPr>
        </p:nvSpPr>
        <p:spPr>
          <a:xfrm>
            <a:off x="838200" y="1825625"/>
            <a:ext cx="10515600" cy="4876258"/>
          </a:xfrm>
        </p:spPr>
        <p:txBody>
          <a:bodyPr>
            <a:normAutofit lnSpcReduction="10000"/>
          </a:bodyPr>
          <a:lstStyle/>
          <a:p>
            <a:pPr algn="l"/>
            <a:r>
              <a:rPr lang="en-GB" sz="1800" b="0" i="0" u="none" strike="noStrike" baseline="0" dirty="0">
                <a:latin typeface="FSLola"/>
              </a:rPr>
              <a:t>Domain names provide a human readable version of a location on the Internet infrastructure. In reality the domain name represents an IP address.</a:t>
            </a:r>
          </a:p>
          <a:p>
            <a:pPr algn="l"/>
            <a:r>
              <a:rPr lang="en-GB" sz="1800" b="0" i="0" u="none" strike="noStrike" baseline="0" dirty="0">
                <a:latin typeface="FSLola"/>
              </a:rPr>
              <a:t>Consider </a:t>
            </a:r>
          </a:p>
          <a:p>
            <a:pPr algn="l"/>
            <a:endParaRPr lang="en-GB" sz="1800" b="0" i="0" u="none" strike="noStrike" baseline="0" dirty="0">
              <a:latin typeface="FSLola"/>
            </a:endParaRPr>
          </a:p>
          <a:p>
            <a:pPr marL="0" indent="0" algn="l">
              <a:buNone/>
            </a:pPr>
            <a:r>
              <a:rPr lang="en-GB" sz="1800" dirty="0">
                <a:latin typeface="FSLola"/>
              </a:rPr>
              <a:t>	</a:t>
            </a:r>
            <a:r>
              <a:rPr lang="en-GB" sz="6600" b="0" i="0" u="none" strike="noStrike" baseline="0" dirty="0">
                <a:latin typeface="FSLola"/>
              </a:rPr>
              <a:t>http://www.ccea.org.uk</a:t>
            </a:r>
          </a:p>
          <a:p>
            <a:pPr marL="0" indent="0" algn="l">
              <a:buNone/>
            </a:pPr>
            <a:endParaRPr lang="en-GB" sz="6000" b="0" i="0" u="none" strike="noStrike" baseline="0" dirty="0">
              <a:latin typeface="FSLola"/>
            </a:endParaRPr>
          </a:p>
          <a:p>
            <a:pPr marL="0" indent="0" algn="l">
              <a:buNone/>
            </a:pPr>
            <a:r>
              <a:rPr lang="en-GB" sz="1800" b="0" i="0" u="none" strike="noStrike" baseline="0" dirty="0">
                <a:latin typeface="FSLola"/>
              </a:rPr>
              <a:t>www.ccea.org 		is the Domain name which includes the name of the host server.</a:t>
            </a:r>
          </a:p>
          <a:p>
            <a:pPr marL="0" indent="0" algn="l">
              <a:buNone/>
            </a:pPr>
            <a:r>
              <a:rPr lang="en-GB" sz="1800" b="0" i="0" u="none" strike="noStrike" baseline="0" dirty="0">
                <a:latin typeface="FSLola"/>
              </a:rPr>
              <a:t>.org 			is the Top Level Domain name (TLD). This indicates the general purpose of the 				service behind the domain name. Other TLDs include: .com, .org and </a:t>
            </a:r>
            <a:r>
              <a:rPr lang="en-GB" sz="1800" b="0" i="0" u="none" strike="noStrike" baseline="0" dirty="0" err="1">
                <a:latin typeface="FSLola"/>
              </a:rPr>
              <a:t>.net</a:t>
            </a:r>
            <a:r>
              <a:rPr lang="en-GB" sz="1800" b="0" i="0" u="none" strike="noStrike" baseline="0" dirty="0">
                <a:latin typeface="FSLola"/>
              </a:rPr>
              <a:t>.</a:t>
            </a:r>
          </a:p>
          <a:p>
            <a:pPr marL="0" indent="0" algn="l">
              <a:buNone/>
            </a:pPr>
            <a:r>
              <a:rPr lang="en-GB" sz="1800" b="0" i="0" u="none" strike="noStrike" baseline="0" dirty="0">
                <a:latin typeface="FSLola"/>
              </a:rPr>
              <a:t>ccea.org 			is the Second Level Domain name(SLD) it must be unique on the internet. This 				indicates the owner associated with the IP address.</a:t>
            </a:r>
          </a:p>
          <a:p>
            <a:pPr marL="0" indent="0" algn="l">
              <a:buNone/>
            </a:pPr>
            <a:r>
              <a:rPr lang="en-GB" sz="1800" b="0" i="0" u="none" strike="noStrike" baseline="0" dirty="0" err="1">
                <a:latin typeface="FSLola"/>
              </a:rPr>
              <a:t>uk</a:t>
            </a:r>
            <a:r>
              <a:rPr lang="en-GB" sz="1800" b="0" i="0" u="none" strike="noStrike" baseline="0" dirty="0">
                <a:latin typeface="FSLola"/>
              </a:rPr>
              <a:t> 			is the country level domain name in this case United Kingdom</a:t>
            </a:r>
          </a:p>
        </p:txBody>
      </p:sp>
    </p:spTree>
    <p:extLst>
      <p:ext uri="{BB962C8B-B14F-4D97-AF65-F5344CB8AC3E}">
        <p14:creationId xmlns:p14="http://schemas.microsoft.com/office/powerpoint/2010/main" val="1031172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24A84-7C95-4D46-3F05-103C331C13F7}"/>
              </a:ext>
            </a:extLst>
          </p:cNvPr>
          <p:cNvSpPr>
            <a:spLocks noGrp="1"/>
          </p:cNvSpPr>
          <p:nvPr>
            <p:ph type="title"/>
          </p:nvPr>
        </p:nvSpPr>
        <p:spPr>
          <a:xfrm>
            <a:off x="0" y="0"/>
            <a:ext cx="10515600" cy="1325563"/>
          </a:xfrm>
        </p:spPr>
        <p:txBody>
          <a:bodyPr/>
          <a:lstStyle/>
          <a:p>
            <a:r>
              <a:rPr lang="en-GB" dirty="0">
                <a:latin typeface="LEMON MILK" panose="00000500000000000000" pitchFamily="50" charset="0"/>
              </a:rPr>
              <a:t>The ITU</a:t>
            </a:r>
          </a:p>
        </p:txBody>
      </p:sp>
      <p:sp>
        <p:nvSpPr>
          <p:cNvPr id="3" name="Content Placeholder 2">
            <a:extLst>
              <a:ext uri="{FF2B5EF4-FFF2-40B4-BE49-F238E27FC236}">
                <a16:creationId xmlns:a16="http://schemas.microsoft.com/office/drawing/2014/main" id="{F9B2DA91-AABE-4F7E-7B71-7BC6B3FD2FD7}"/>
              </a:ext>
            </a:extLst>
          </p:cNvPr>
          <p:cNvSpPr>
            <a:spLocks noGrp="1"/>
          </p:cNvSpPr>
          <p:nvPr>
            <p:ph idx="1"/>
          </p:nvPr>
        </p:nvSpPr>
        <p:spPr>
          <a:xfrm>
            <a:off x="2179782" y="3104243"/>
            <a:ext cx="10298545" cy="4351338"/>
          </a:xfrm>
        </p:spPr>
        <p:txBody>
          <a:bodyPr>
            <a:normAutofit/>
          </a:bodyPr>
          <a:lstStyle/>
          <a:p>
            <a:r>
              <a:rPr lang="en-GB" sz="2600" dirty="0"/>
              <a:t>Stands for “International Telecommunications Union”</a:t>
            </a:r>
          </a:p>
          <a:p>
            <a:r>
              <a:rPr lang="en-GB" sz="2600" dirty="0"/>
              <a:t>The </a:t>
            </a:r>
            <a:r>
              <a:rPr lang="en-GB" sz="2600" b="1" dirty="0"/>
              <a:t>United Nations Agency </a:t>
            </a:r>
            <a:r>
              <a:rPr lang="en-GB" sz="2600" dirty="0"/>
              <a:t>consists of 193 member countries within hundreds of organisations globally.</a:t>
            </a:r>
          </a:p>
          <a:p>
            <a:r>
              <a:rPr lang="en-GB" sz="2600" dirty="0"/>
              <a:t>Focuses on </a:t>
            </a:r>
            <a:r>
              <a:rPr lang="en-GB" sz="2600" b="1" dirty="0"/>
              <a:t>allocating radio spectrum and satellite orbits</a:t>
            </a:r>
          </a:p>
          <a:p>
            <a:r>
              <a:rPr lang="en-GB" sz="2600" b="1" dirty="0"/>
              <a:t>Develops web telecommunications standards </a:t>
            </a:r>
            <a:r>
              <a:rPr lang="en-GB" sz="2600" dirty="0"/>
              <a:t>related to network technology, connecting countries’ internet together</a:t>
            </a:r>
          </a:p>
          <a:p>
            <a:r>
              <a:rPr lang="en-GB" sz="2600" b="1" dirty="0"/>
              <a:t>Aims to improve global interconnectivity between countries</a:t>
            </a:r>
          </a:p>
        </p:txBody>
      </p:sp>
    </p:spTree>
    <p:extLst>
      <p:ext uri="{BB962C8B-B14F-4D97-AF65-F5344CB8AC3E}">
        <p14:creationId xmlns:p14="http://schemas.microsoft.com/office/powerpoint/2010/main" val="419439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CE96C-94D9-ECB4-5C3B-4A3E68C0420C}"/>
              </a:ext>
            </a:extLst>
          </p:cNvPr>
          <p:cNvSpPr>
            <a:spLocks noGrp="1"/>
          </p:cNvSpPr>
          <p:nvPr>
            <p:ph type="title"/>
          </p:nvPr>
        </p:nvSpPr>
        <p:spPr>
          <a:xfrm>
            <a:off x="0" y="53465"/>
            <a:ext cx="2479249" cy="883810"/>
          </a:xfrm>
        </p:spPr>
        <p:txBody>
          <a:bodyPr/>
          <a:lstStyle/>
          <a:p>
            <a:r>
              <a:rPr lang="en-GB" dirty="0">
                <a:latin typeface="LEMON MILK" panose="00000500000000000000" pitchFamily="50" charset="0"/>
              </a:rPr>
              <a:t>The ITU</a:t>
            </a:r>
          </a:p>
        </p:txBody>
      </p:sp>
      <p:grpSp>
        <p:nvGrpSpPr>
          <p:cNvPr id="6" name="Group 5">
            <a:extLst>
              <a:ext uri="{FF2B5EF4-FFF2-40B4-BE49-F238E27FC236}">
                <a16:creationId xmlns:a16="http://schemas.microsoft.com/office/drawing/2014/main" id="{5DE3A874-AA6A-5649-E184-CB7C14F75379}"/>
              </a:ext>
            </a:extLst>
          </p:cNvPr>
          <p:cNvGrpSpPr/>
          <p:nvPr/>
        </p:nvGrpSpPr>
        <p:grpSpPr>
          <a:xfrm>
            <a:off x="119270" y="1948873"/>
            <a:ext cx="2208294" cy="2098341"/>
            <a:chOff x="415636" y="1948873"/>
            <a:chExt cx="2789382" cy="3214255"/>
          </a:xfrm>
        </p:grpSpPr>
        <p:sp>
          <p:nvSpPr>
            <p:cNvPr id="4" name="Rectangle 3">
              <a:extLst>
                <a:ext uri="{FF2B5EF4-FFF2-40B4-BE49-F238E27FC236}">
                  <a16:creationId xmlns:a16="http://schemas.microsoft.com/office/drawing/2014/main" id="{BB03AAAD-6663-8B1F-3D0D-D7167B67A17B}"/>
                </a:ext>
              </a:extLst>
            </p:cNvPr>
            <p:cNvSpPr/>
            <p:nvPr/>
          </p:nvSpPr>
          <p:spPr>
            <a:xfrm>
              <a:off x="415636" y="1948873"/>
              <a:ext cx="2789382" cy="572654"/>
            </a:xfrm>
            <a:prstGeom prst="rect">
              <a:avLst/>
            </a:prstGeom>
            <a:solidFill>
              <a:schemeClr val="accent6">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The Radio Communication Sector</a:t>
              </a:r>
            </a:p>
          </p:txBody>
        </p:sp>
        <p:sp>
          <p:nvSpPr>
            <p:cNvPr id="5" name="Rectangle 4">
              <a:extLst>
                <a:ext uri="{FF2B5EF4-FFF2-40B4-BE49-F238E27FC236}">
                  <a16:creationId xmlns:a16="http://schemas.microsoft.com/office/drawing/2014/main" id="{FA833175-E6CB-75EB-468A-089B3DF227B4}"/>
                </a:ext>
              </a:extLst>
            </p:cNvPr>
            <p:cNvSpPr/>
            <p:nvPr/>
          </p:nvSpPr>
          <p:spPr>
            <a:xfrm>
              <a:off x="415636" y="2512292"/>
              <a:ext cx="2789382" cy="265083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GB" sz="1100" dirty="0">
                  <a:solidFill>
                    <a:schemeClr val="tx1"/>
                  </a:solidFill>
                </a:rPr>
                <a:t>ITU-R</a:t>
              </a:r>
            </a:p>
            <a:p>
              <a:pPr marL="285750" indent="-285750">
                <a:buFont typeface="Arial" panose="020B0604020202020204" pitchFamily="34" charset="0"/>
                <a:buChar char="•"/>
              </a:pPr>
              <a:r>
                <a:rPr lang="en-GB" sz="1100" dirty="0">
                  <a:solidFill>
                    <a:schemeClr val="tx1"/>
                  </a:solidFill>
                </a:rPr>
                <a:t>Manages global radio spectrum</a:t>
              </a:r>
            </a:p>
            <a:p>
              <a:pPr marL="285750" indent="-285750">
                <a:buFont typeface="Arial" panose="020B0604020202020204" pitchFamily="34" charset="0"/>
                <a:buChar char="•"/>
              </a:pPr>
              <a:r>
                <a:rPr lang="en-GB" sz="1100" dirty="0">
                  <a:solidFill>
                    <a:schemeClr val="tx1"/>
                  </a:solidFill>
                </a:rPr>
                <a:t>Manages Satellite Orbits</a:t>
              </a:r>
            </a:p>
            <a:p>
              <a:pPr marL="285750" indent="-285750">
                <a:buFont typeface="Arial" panose="020B0604020202020204" pitchFamily="34" charset="0"/>
                <a:buChar char="•"/>
              </a:pPr>
              <a:r>
                <a:rPr lang="en-GB" sz="1100" dirty="0">
                  <a:solidFill>
                    <a:schemeClr val="tx1"/>
                  </a:solidFill>
                  <a:latin typeface="FSLola"/>
                </a:rPr>
                <a:t>ITU-T standards provide standards for cloud computing and machine to machine communications on the Internet of things.</a:t>
              </a:r>
              <a:endParaRPr lang="en-GB" sz="1100" dirty="0">
                <a:solidFill>
                  <a:schemeClr val="tx1"/>
                </a:solidFill>
              </a:endParaRPr>
            </a:p>
            <a:p>
              <a:pPr marL="285750" indent="-285750">
                <a:buFont typeface="Arial" panose="020B0604020202020204" pitchFamily="34" charset="0"/>
                <a:buChar char="•"/>
              </a:pPr>
              <a:endParaRPr lang="en-GB" sz="1100" dirty="0">
                <a:solidFill>
                  <a:schemeClr val="tx1"/>
                </a:solidFill>
              </a:endParaRPr>
            </a:p>
            <a:p>
              <a:pPr algn="ctr"/>
              <a:endParaRPr lang="en-GB" sz="1100" dirty="0"/>
            </a:p>
          </p:txBody>
        </p:sp>
      </p:grpSp>
      <p:grpSp>
        <p:nvGrpSpPr>
          <p:cNvPr id="7" name="Group 6">
            <a:extLst>
              <a:ext uri="{FF2B5EF4-FFF2-40B4-BE49-F238E27FC236}">
                <a16:creationId xmlns:a16="http://schemas.microsoft.com/office/drawing/2014/main" id="{25F1C10E-5377-91B8-6A89-B5ECC3CC3EA9}"/>
              </a:ext>
            </a:extLst>
          </p:cNvPr>
          <p:cNvGrpSpPr/>
          <p:nvPr/>
        </p:nvGrpSpPr>
        <p:grpSpPr>
          <a:xfrm>
            <a:off x="2595418" y="1948875"/>
            <a:ext cx="6040582" cy="4618181"/>
            <a:chOff x="415636" y="1948874"/>
            <a:chExt cx="2789382" cy="3214254"/>
          </a:xfrm>
        </p:grpSpPr>
        <p:sp>
          <p:nvSpPr>
            <p:cNvPr id="8" name="Rectangle 7">
              <a:extLst>
                <a:ext uri="{FF2B5EF4-FFF2-40B4-BE49-F238E27FC236}">
                  <a16:creationId xmlns:a16="http://schemas.microsoft.com/office/drawing/2014/main" id="{F79DE21E-ACBC-336E-0190-0CC15482BD7C}"/>
                </a:ext>
              </a:extLst>
            </p:cNvPr>
            <p:cNvSpPr/>
            <p:nvPr/>
          </p:nvSpPr>
          <p:spPr>
            <a:xfrm>
              <a:off x="415636" y="1948874"/>
              <a:ext cx="2789382" cy="234382"/>
            </a:xfrm>
            <a:prstGeom prst="rect">
              <a:avLst/>
            </a:prstGeom>
            <a:solidFill>
              <a:schemeClr val="accent4">
                <a:lumMod val="60000"/>
                <a:lumOff val="4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The Standardisation Sector</a:t>
              </a:r>
            </a:p>
          </p:txBody>
        </p:sp>
        <p:sp>
          <p:nvSpPr>
            <p:cNvPr id="9" name="Rectangle 8">
              <a:extLst>
                <a:ext uri="{FF2B5EF4-FFF2-40B4-BE49-F238E27FC236}">
                  <a16:creationId xmlns:a16="http://schemas.microsoft.com/office/drawing/2014/main" id="{9961A124-0F1D-9D8B-154A-BE0390432EEC}"/>
                </a:ext>
              </a:extLst>
            </p:cNvPr>
            <p:cNvSpPr/>
            <p:nvPr/>
          </p:nvSpPr>
          <p:spPr>
            <a:xfrm>
              <a:off x="415636" y="2183255"/>
              <a:ext cx="2789382" cy="2979873"/>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GB" dirty="0">
                  <a:solidFill>
                    <a:schemeClr val="tx1"/>
                  </a:solidFill>
                </a:rPr>
                <a:t>ITU-T</a:t>
              </a:r>
            </a:p>
            <a:p>
              <a:pPr marL="285750" indent="-285750">
                <a:buFont typeface="Arial" panose="020B0604020202020204" pitchFamily="34" charset="0"/>
                <a:buChar char="•"/>
              </a:pPr>
              <a:r>
                <a:rPr lang="en-GB" dirty="0">
                  <a:solidFill>
                    <a:schemeClr val="tx1"/>
                  </a:solidFill>
                </a:rPr>
                <a:t>Contributes to web standards</a:t>
              </a:r>
            </a:p>
            <a:p>
              <a:pPr marL="285750" indent="-285750">
                <a:buFont typeface="Arial" panose="020B0604020202020204" pitchFamily="34" charset="0"/>
                <a:buChar char="•"/>
              </a:pPr>
              <a:r>
                <a:rPr lang="en-GB" sz="1800" b="0" i="0" u="none" strike="noStrike" baseline="0" dirty="0">
                  <a:solidFill>
                    <a:schemeClr val="tx1"/>
                  </a:solidFill>
                  <a:latin typeface="FSLola"/>
                </a:rPr>
                <a:t>95% of international Internet traffic is carried on submarine fibre cables built using ITU standards;</a:t>
              </a:r>
            </a:p>
            <a:p>
              <a:pPr marL="285750" indent="-285750">
                <a:buFont typeface="Arial" panose="020B0604020202020204" pitchFamily="34" charset="0"/>
                <a:buChar char="•"/>
              </a:pPr>
              <a:r>
                <a:rPr lang="en-GB" sz="1800" b="0" i="0" u="none" strike="noStrike" baseline="0" dirty="0">
                  <a:solidFill>
                    <a:schemeClr val="tx1"/>
                  </a:solidFill>
                  <a:latin typeface="FSLola"/>
                </a:rPr>
                <a:t>ITU-T standards are used for fixed broadband subscriptions;</a:t>
              </a:r>
            </a:p>
            <a:p>
              <a:pPr marL="285750" indent="-285750">
                <a:buFont typeface="Arial" panose="020B0604020202020204" pitchFamily="34" charset="0"/>
                <a:buChar char="•"/>
              </a:pPr>
              <a:r>
                <a:rPr lang="en-GB" sz="1800" b="0" i="0" u="none" strike="noStrike" baseline="0" dirty="0">
                  <a:solidFill>
                    <a:schemeClr val="tx1"/>
                  </a:solidFill>
                  <a:latin typeface="FSLola"/>
                </a:rPr>
                <a:t>The Cyber Security Information Exchange provides a standardised way for organisations to exchange warnings about cyber threats;</a:t>
              </a:r>
            </a:p>
            <a:p>
              <a:pPr marL="285750" indent="-285750">
                <a:buFont typeface="Arial" panose="020B0604020202020204" pitchFamily="34" charset="0"/>
                <a:buChar char="•"/>
              </a:pPr>
              <a:r>
                <a:rPr lang="en-GB" sz="1800" b="0" i="0" u="none" strike="noStrike" baseline="0" dirty="0">
                  <a:solidFill>
                    <a:schemeClr val="tx1"/>
                  </a:solidFill>
                  <a:latin typeface="FSLola"/>
                </a:rPr>
                <a:t>ITU-T X.509 is a standard for digital certificates used in e-commerce;</a:t>
              </a:r>
            </a:p>
            <a:p>
              <a:pPr marL="285750" indent="-285750">
                <a:buFont typeface="Arial" panose="020B0604020202020204" pitchFamily="34" charset="0"/>
                <a:buChar char="•"/>
              </a:pPr>
              <a:r>
                <a:rPr lang="en-GB" sz="1800" b="0" i="0" u="none" strike="noStrike" baseline="0" dirty="0">
                  <a:solidFill>
                    <a:schemeClr val="tx1"/>
                  </a:solidFill>
                  <a:latin typeface="FSLola"/>
                </a:rPr>
                <a:t>ITU studies the cost of Internet connectivity and its impact on the economy;</a:t>
              </a:r>
            </a:p>
          </p:txBody>
        </p:sp>
      </p:grpSp>
      <p:pic>
        <p:nvPicPr>
          <p:cNvPr id="17" name="Graphic 16" descr="Arrow: Slight curve with solid fill">
            <a:extLst>
              <a:ext uri="{FF2B5EF4-FFF2-40B4-BE49-F238E27FC236}">
                <a16:creationId xmlns:a16="http://schemas.microsoft.com/office/drawing/2014/main" id="{5AB83504-AE39-B214-4806-645B1B4E34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6163867">
            <a:off x="6000750" y="944957"/>
            <a:ext cx="914400" cy="914400"/>
          </a:xfrm>
          <a:prstGeom prst="rect">
            <a:avLst/>
          </a:prstGeom>
        </p:spPr>
      </p:pic>
      <p:sp>
        <p:nvSpPr>
          <p:cNvPr id="18" name="TextBox 17">
            <a:extLst>
              <a:ext uri="{FF2B5EF4-FFF2-40B4-BE49-F238E27FC236}">
                <a16:creationId xmlns:a16="http://schemas.microsoft.com/office/drawing/2014/main" id="{927D8867-73EE-AE42-4BB5-433AB0DF2011}"/>
              </a:ext>
            </a:extLst>
          </p:cNvPr>
          <p:cNvSpPr txBox="1"/>
          <p:nvPr/>
        </p:nvSpPr>
        <p:spPr>
          <a:xfrm>
            <a:off x="6591300" y="290944"/>
            <a:ext cx="4352925" cy="646331"/>
          </a:xfrm>
          <a:prstGeom prst="rect">
            <a:avLst/>
          </a:prstGeom>
          <a:noFill/>
        </p:spPr>
        <p:txBody>
          <a:bodyPr wrap="square" rtlCol="0">
            <a:spAutoFit/>
          </a:bodyPr>
          <a:lstStyle/>
          <a:p>
            <a:r>
              <a:rPr lang="en-GB" dirty="0"/>
              <a:t>This is the sector that really works on web standards </a:t>
            </a:r>
          </a:p>
        </p:txBody>
      </p:sp>
      <p:grpSp>
        <p:nvGrpSpPr>
          <p:cNvPr id="16" name="Group 15">
            <a:extLst>
              <a:ext uri="{FF2B5EF4-FFF2-40B4-BE49-F238E27FC236}">
                <a16:creationId xmlns:a16="http://schemas.microsoft.com/office/drawing/2014/main" id="{012B5414-617C-43E3-BA87-24C99B2A7B97}"/>
              </a:ext>
            </a:extLst>
          </p:cNvPr>
          <p:cNvGrpSpPr/>
          <p:nvPr/>
        </p:nvGrpSpPr>
        <p:grpSpPr>
          <a:xfrm>
            <a:off x="8903854" y="1948873"/>
            <a:ext cx="2208294" cy="2098341"/>
            <a:chOff x="415636" y="1948873"/>
            <a:chExt cx="2789382" cy="3214255"/>
          </a:xfrm>
        </p:grpSpPr>
        <p:sp>
          <p:nvSpPr>
            <p:cNvPr id="19" name="Rectangle 18">
              <a:extLst>
                <a:ext uri="{FF2B5EF4-FFF2-40B4-BE49-F238E27FC236}">
                  <a16:creationId xmlns:a16="http://schemas.microsoft.com/office/drawing/2014/main" id="{1C995053-9DCF-4B01-8CAA-7E699D0D0060}"/>
                </a:ext>
              </a:extLst>
            </p:cNvPr>
            <p:cNvSpPr/>
            <p:nvPr/>
          </p:nvSpPr>
          <p:spPr>
            <a:xfrm>
              <a:off x="415636" y="1948873"/>
              <a:ext cx="2789382" cy="572654"/>
            </a:xfrm>
            <a:prstGeom prst="rect">
              <a:avLst/>
            </a:prstGeom>
            <a:solidFill>
              <a:schemeClr val="accent5">
                <a:lumMod val="20000"/>
                <a:lumOff val="80000"/>
              </a:schemeClr>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solidFill>
                    <a:schemeClr val="tx1"/>
                  </a:solidFill>
                </a:rPr>
                <a:t>The Development Sector</a:t>
              </a:r>
            </a:p>
          </p:txBody>
        </p:sp>
        <p:sp>
          <p:nvSpPr>
            <p:cNvPr id="20" name="Rectangle 19">
              <a:extLst>
                <a:ext uri="{FF2B5EF4-FFF2-40B4-BE49-F238E27FC236}">
                  <a16:creationId xmlns:a16="http://schemas.microsoft.com/office/drawing/2014/main" id="{F5EC4878-7CBF-47F7-975E-8619F3458AB0}"/>
                </a:ext>
              </a:extLst>
            </p:cNvPr>
            <p:cNvSpPr/>
            <p:nvPr/>
          </p:nvSpPr>
          <p:spPr>
            <a:xfrm>
              <a:off x="415636" y="2512292"/>
              <a:ext cx="2789382" cy="2650836"/>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GB" sz="1100" dirty="0">
                  <a:solidFill>
                    <a:schemeClr val="tx1"/>
                  </a:solidFill>
                </a:rPr>
                <a:t>ITU-D</a:t>
              </a:r>
            </a:p>
            <a:p>
              <a:pPr marL="285750" indent="-285750">
                <a:buFont typeface="Arial" panose="020B0604020202020204" pitchFamily="34" charset="0"/>
                <a:buChar char="•"/>
              </a:pPr>
              <a:r>
                <a:rPr lang="en-GB" sz="1100" dirty="0">
                  <a:solidFill>
                    <a:schemeClr val="tx1"/>
                  </a:solidFill>
                </a:rPr>
                <a:t>promotes digital inclusion, skills, innovation, and sustainable development globally</a:t>
              </a:r>
            </a:p>
            <a:p>
              <a:pPr algn="ctr"/>
              <a:endParaRPr lang="en-GB" sz="1100" dirty="0"/>
            </a:p>
          </p:txBody>
        </p:sp>
      </p:grpSp>
      <p:pic>
        <p:nvPicPr>
          <p:cNvPr id="21" name="Graphic 20" descr="Arrow: Slight curve with solid fill">
            <a:extLst>
              <a:ext uri="{FF2B5EF4-FFF2-40B4-BE49-F238E27FC236}">
                <a16:creationId xmlns:a16="http://schemas.microsoft.com/office/drawing/2014/main" id="{1C46C374-90EA-4D94-A8CC-9AC9C138C1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5896810">
            <a:off x="1281372" y="4097966"/>
            <a:ext cx="914400" cy="914400"/>
          </a:xfrm>
          <a:prstGeom prst="rect">
            <a:avLst/>
          </a:prstGeom>
        </p:spPr>
      </p:pic>
      <p:sp>
        <p:nvSpPr>
          <p:cNvPr id="22" name="TextBox 21">
            <a:extLst>
              <a:ext uri="{FF2B5EF4-FFF2-40B4-BE49-F238E27FC236}">
                <a16:creationId xmlns:a16="http://schemas.microsoft.com/office/drawing/2014/main" id="{B10CDB5E-AF97-4AC1-B754-4EEF7A24CCEB}"/>
              </a:ext>
            </a:extLst>
          </p:cNvPr>
          <p:cNvSpPr txBox="1"/>
          <p:nvPr/>
        </p:nvSpPr>
        <p:spPr>
          <a:xfrm>
            <a:off x="238381" y="5050860"/>
            <a:ext cx="1995886" cy="923330"/>
          </a:xfrm>
          <a:prstGeom prst="rect">
            <a:avLst/>
          </a:prstGeom>
          <a:noFill/>
        </p:spPr>
        <p:txBody>
          <a:bodyPr wrap="square" rtlCol="0">
            <a:spAutoFit/>
          </a:bodyPr>
          <a:lstStyle/>
          <a:p>
            <a:r>
              <a:rPr lang="en-GB" dirty="0"/>
              <a:t>This focus’ on radio spectrums and satellites</a:t>
            </a:r>
          </a:p>
        </p:txBody>
      </p:sp>
      <p:pic>
        <p:nvPicPr>
          <p:cNvPr id="23" name="Graphic 22" descr="Arrow: Slight curve with solid fill">
            <a:extLst>
              <a:ext uri="{FF2B5EF4-FFF2-40B4-BE49-F238E27FC236}">
                <a16:creationId xmlns:a16="http://schemas.microsoft.com/office/drawing/2014/main" id="{76A5E4EA-5093-4C89-91E4-AACE65F282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5896810" flipV="1">
            <a:off x="8932531" y="4094694"/>
            <a:ext cx="914400" cy="894690"/>
          </a:xfrm>
          <a:prstGeom prst="rect">
            <a:avLst/>
          </a:prstGeom>
        </p:spPr>
      </p:pic>
      <p:sp>
        <p:nvSpPr>
          <p:cNvPr id="24" name="TextBox 23">
            <a:extLst>
              <a:ext uri="{FF2B5EF4-FFF2-40B4-BE49-F238E27FC236}">
                <a16:creationId xmlns:a16="http://schemas.microsoft.com/office/drawing/2014/main" id="{9A72FC1F-D18C-48DE-AF00-49CC43D3B993}"/>
              </a:ext>
            </a:extLst>
          </p:cNvPr>
          <p:cNvSpPr txBox="1"/>
          <p:nvPr/>
        </p:nvSpPr>
        <p:spPr>
          <a:xfrm>
            <a:off x="9596295" y="4426342"/>
            <a:ext cx="2595705" cy="1200329"/>
          </a:xfrm>
          <a:prstGeom prst="rect">
            <a:avLst/>
          </a:prstGeom>
          <a:noFill/>
        </p:spPr>
        <p:txBody>
          <a:bodyPr wrap="square" rtlCol="0">
            <a:spAutoFit/>
          </a:bodyPr>
          <a:lstStyle/>
          <a:p>
            <a:r>
              <a:rPr lang="en-GB" dirty="0"/>
              <a:t>This is the sector that looks at growing the internet, looking at new and merging technologies</a:t>
            </a:r>
          </a:p>
        </p:txBody>
      </p:sp>
    </p:spTree>
    <p:extLst>
      <p:ext uri="{BB962C8B-B14F-4D97-AF65-F5344CB8AC3E}">
        <p14:creationId xmlns:p14="http://schemas.microsoft.com/office/powerpoint/2010/main" val="198411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9E4D6-2C41-48BD-A382-F0400402E0CA}"/>
              </a:ext>
            </a:extLst>
          </p:cNvPr>
          <p:cNvSpPr>
            <a:spLocks noGrp="1"/>
          </p:cNvSpPr>
          <p:nvPr>
            <p:ph type="title"/>
          </p:nvPr>
        </p:nvSpPr>
        <p:spPr>
          <a:xfrm>
            <a:off x="0" y="1"/>
            <a:ext cx="7474226" cy="744718"/>
          </a:xfrm>
        </p:spPr>
        <p:txBody>
          <a:bodyPr/>
          <a:lstStyle/>
          <a:p>
            <a:r>
              <a:rPr lang="en-GB" dirty="0">
                <a:solidFill>
                  <a:schemeClr val="bg1"/>
                </a:solidFill>
                <a:latin typeface="LEMON MILK" panose="00000500000000000000" pitchFamily="50" charset="0"/>
              </a:rPr>
              <a:t>The W3C</a:t>
            </a:r>
          </a:p>
        </p:txBody>
      </p:sp>
      <p:sp>
        <p:nvSpPr>
          <p:cNvPr id="3" name="Content Placeholder 2">
            <a:extLst>
              <a:ext uri="{FF2B5EF4-FFF2-40B4-BE49-F238E27FC236}">
                <a16:creationId xmlns:a16="http://schemas.microsoft.com/office/drawing/2014/main" id="{2C7FCCA1-DB0A-41A9-A180-F4DE047D9ABA}"/>
              </a:ext>
            </a:extLst>
          </p:cNvPr>
          <p:cNvSpPr>
            <a:spLocks noGrp="1"/>
          </p:cNvSpPr>
          <p:nvPr>
            <p:ph idx="1"/>
          </p:nvPr>
        </p:nvSpPr>
        <p:spPr>
          <a:xfrm>
            <a:off x="84841" y="1825625"/>
            <a:ext cx="7389385" cy="4839126"/>
          </a:xfrm>
        </p:spPr>
        <p:txBody>
          <a:bodyPr>
            <a:normAutofit fontScale="92500" lnSpcReduction="20000"/>
          </a:bodyPr>
          <a:lstStyle/>
          <a:p>
            <a:r>
              <a:rPr lang="en-GB" dirty="0">
                <a:solidFill>
                  <a:schemeClr val="bg1"/>
                </a:solidFill>
              </a:rPr>
              <a:t>World Wide Web Consortium</a:t>
            </a:r>
          </a:p>
          <a:p>
            <a:r>
              <a:rPr lang="en-US" b="1" dirty="0">
                <a:solidFill>
                  <a:srgbClr val="002060"/>
                </a:solidFill>
              </a:rPr>
              <a:t>The W3C is a global organisation </a:t>
            </a:r>
          </a:p>
          <a:p>
            <a:r>
              <a:rPr lang="en-US" b="1" dirty="0">
                <a:solidFill>
                  <a:srgbClr val="002060"/>
                </a:solidFill>
              </a:rPr>
              <a:t>Regulates and develops open standards to ensure the growth of the web.</a:t>
            </a:r>
            <a:r>
              <a:rPr lang="en-US" dirty="0">
                <a:solidFill>
                  <a:srgbClr val="002060"/>
                </a:solidFill>
              </a:rPr>
              <a:t> </a:t>
            </a:r>
          </a:p>
          <a:p>
            <a:r>
              <a:rPr lang="en-US" dirty="0">
                <a:solidFill>
                  <a:schemeClr val="bg1"/>
                </a:solidFill>
              </a:rPr>
              <a:t>Founded by Tim Berners-Lee with </a:t>
            </a:r>
            <a:r>
              <a:rPr lang="en-US" b="1" dirty="0">
                <a:solidFill>
                  <a:srgbClr val="002060"/>
                </a:solidFill>
              </a:rPr>
              <a:t>423 members</a:t>
            </a:r>
          </a:p>
          <a:p>
            <a:r>
              <a:rPr lang="en-US" dirty="0">
                <a:solidFill>
                  <a:schemeClr val="bg1"/>
                </a:solidFill>
              </a:rPr>
              <a:t>provides a forum for discussion and education about the web. The ITU works with W3C.</a:t>
            </a:r>
          </a:p>
          <a:p>
            <a:r>
              <a:rPr lang="en-US" b="1" dirty="0">
                <a:solidFill>
                  <a:srgbClr val="002060"/>
                </a:solidFill>
              </a:rPr>
              <a:t>Promotes compatibility of languages such as HTML and CSS by different vendors</a:t>
            </a:r>
            <a:r>
              <a:rPr lang="en-US" dirty="0">
                <a:solidFill>
                  <a:srgbClr val="002060"/>
                </a:solidFill>
              </a:rPr>
              <a:t>. </a:t>
            </a:r>
          </a:p>
          <a:p>
            <a:r>
              <a:rPr lang="en-US" dirty="0">
                <a:solidFill>
                  <a:schemeClr val="bg1"/>
                </a:solidFill>
              </a:rPr>
              <a:t>The aim of this is to ensure that all webpages can be viewed using a variety of web browser and that the page will look the same within different browsers</a:t>
            </a:r>
          </a:p>
          <a:p>
            <a:endParaRPr lang="en-US" dirty="0"/>
          </a:p>
          <a:p>
            <a:endParaRPr lang="en-GB" dirty="0"/>
          </a:p>
        </p:txBody>
      </p:sp>
      <p:sp>
        <p:nvSpPr>
          <p:cNvPr id="4" name="Rectangle 3">
            <a:extLst>
              <a:ext uri="{FF2B5EF4-FFF2-40B4-BE49-F238E27FC236}">
                <a16:creationId xmlns:a16="http://schemas.microsoft.com/office/drawing/2014/main" id="{83BBAD65-3CCA-4D96-9BE3-07FD7583A5E3}"/>
              </a:ext>
            </a:extLst>
          </p:cNvPr>
          <p:cNvSpPr/>
          <p:nvPr/>
        </p:nvSpPr>
        <p:spPr>
          <a:xfrm>
            <a:off x="7474227" y="0"/>
            <a:ext cx="4717774"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dirty="0"/>
              <a:t>A significant set of standards for programming has been developed through W3C and are in use globally. Standards set by the organisation include:</a:t>
            </a:r>
            <a:endParaRPr lang="en-GB" sz="2400" dirty="0"/>
          </a:p>
          <a:p>
            <a:pPr marL="742950" lvl="1" indent="-285750">
              <a:buFont typeface="Arial" panose="020B0604020202020204" pitchFamily="34" charset="0"/>
              <a:buChar char="•"/>
            </a:pPr>
            <a:r>
              <a:rPr lang="en-US" dirty="0">
                <a:solidFill>
                  <a:srgbClr val="FFFF00"/>
                </a:solidFill>
              </a:rPr>
              <a:t>CGI</a:t>
            </a:r>
            <a:r>
              <a:rPr lang="en-US" dirty="0"/>
              <a:t> – Common Gateway Interface, a protocol for web servers to interface with CGI scripts;</a:t>
            </a:r>
            <a:endParaRPr lang="en-GB" sz="2400" dirty="0"/>
          </a:p>
          <a:p>
            <a:pPr marL="742950" lvl="1" indent="-285750">
              <a:buFont typeface="Arial" panose="020B0604020202020204" pitchFamily="34" charset="0"/>
              <a:buChar char="•"/>
            </a:pPr>
            <a:r>
              <a:rPr lang="en-US" dirty="0">
                <a:solidFill>
                  <a:srgbClr val="FFFF00"/>
                </a:solidFill>
              </a:rPr>
              <a:t>CSS</a:t>
            </a:r>
            <a:r>
              <a:rPr lang="en-US" dirty="0"/>
              <a:t> – Cascading Style Sheets a standard for describing how HTML elements are to be displayed onscreen;</a:t>
            </a:r>
          </a:p>
          <a:p>
            <a:pPr marL="742950" lvl="1" indent="-285750">
              <a:buFont typeface="Arial" panose="020B0604020202020204" pitchFamily="34" charset="0"/>
              <a:buChar char="•"/>
            </a:pPr>
            <a:r>
              <a:rPr lang="en-US" dirty="0">
                <a:solidFill>
                  <a:srgbClr val="FFFF00"/>
                </a:solidFill>
              </a:rPr>
              <a:t>HTML</a:t>
            </a:r>
            <a:r>
              <a:rPr lang="en-US" dirty="0"/>
              <a:t> – Hypertext Mark-up Language is the standard mark-up language for creating web pages;</a:t>
            </a:r>
          </a:p>
          <a:p>
            <a:pPr marL="742950" lvl="1" indent="-285750">
              <a:buFont typeface="Arial" panose="020B0604020202020204" pitchFamily="34" charset="0"/>
              <a:buChar char="•"/>
            </a:pPr>
            <a:r>
              <a:rPr lang="en-US" dirty="0">
                <a:solidFill>
                  <a:srgbClr val="FFFF00"/>
                </a:solidFill>
              </a:rPr>
              <a:t>XML</a:t>
            </a:r>
            <a:r>
              <a:rPr lang="en-US" dirty="0"/>
              <a:t> – Extensible Mark-up Language a software and hardware independent tool for storing and transporting data.</a:t>
            </a:r>
            <a:endParaRPr lang="en-GB" sz="2400" dirty="0"/>
          </a:p>
          <a:p>
            <a:pPr marL="285750" indent="-285750">
              <a:buFont typeface="Arial" panose="020B0604020202020204" pitchFamily="34" charset="0"/>
              <a:buChar char="•"/>
            </a:pPr>
            <a:endParaRPr lang="en-GB" dirty="0"/>
          </a:p>
          <a:p>
            <a:pPr lvl="0"/>
            <a:endParaRPr lang="en-GB" dirty="0"/>
          </a:p>
        </p:txBody>
      </p:sp>
    </p:spTree>
    <p:extLst>
      <p:ext uri="{BB962C8B-B14F-4D97-AF65-F5344CB8AC3E}">
        <p14:creationId xmlns:p14="http://schemas.microsoft.com/office/powerpoint/2010/main" val="34637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fade">
                                      <p:cBhvr>
                                        <p:cTn id="42" dur="500"/>
                                        <p:tgtEl>
                                          <p:spTgt spid="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fade">
                                      <p:cBhvr>
                                        <p:cTn id="47" dur="500"/>
                                        <p:tgtEl>
                                          <p:spTgt spid="4">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Effect transition="in" filter="fade">
                                      <p:cBhvr>
                                        <p:cTn id="52" dur="500"/>
                                        <p:tgtEl>
                                          <p:spTgt spid="4">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3" end="3"/>
                                            </p:txEl>
                                          </p:spTgt>
                                        </p:tgtEl>
                                        <p:attrNameLst>
                                          <p:attrName>style.visibility</p:attrName>
                                        </p:attrNameLst>
                                      </p:cBhvr>
                                      <p:to>
                                        <p:strVal val="visible"/>
                                      </p:to>
                                    </p:set>
                                    <p:animEffect transition="in" filter="fade">
                                      <p:cBhvr>
                                        <p:cTn id="57" dur="500"/>
                                        <p:tgtEl>
                                          <p:spTgt spid="4">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fade">
                                      <p:cBhvr>
                                        <p:cTn id="6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1DB8-F74A-45EE-B93C-52E2D9F58B68}"/>
              </a:ext>
            </a:extLst>
          </p:cNvPr>
          <p:cNvSpPr>
            <a:spLocks noGrp="1"/>
          </p:cNvSpPr>
          <p:nvPr>
            <p:ph type="title"/>
          </p:nvPr>
        </p:nvSpPr>
        <p:spPr>
          <a:xfrm>
            <a:off x="0" y="1"/>
            <a:ext cx="7474227" cy="867266"/>
          </a:xfrm>
        </p:spPr>
        <p:txBody>
          <a:bodyPr/>
          <a:lstStyle/>
          <a:p>
            <a:r>
              <a:rPr lang="en-GB" dirty="0">
                <a:solidFill>
                  <a:schemeClr val="bg1"/>
                </a:solidFill>
                <a:latin typeface="LEMON MILK" panose="00000500000000000000" pitchFamily="50" charset="0"/>
              </a:rPr>
              <a:t>Intranets</a:t>
            </a:r>
          </a:p>
        </p:txBody>
      </p:sp>
      <p:sp>
        <p:nvSpPr>
          <p:cNvPr id="3" name="Content Placeholder 2">
            <a:extLst>
              <a:ext uri="{FF2B5EF4-FFF2-40B4-BE49-F238E27FC236}">
                <a16:creationId xmlns:a16="http://schemas.microsoft.com/office/drawing/2014/main" id="{EF1B2392-2345-4C08-AFBC-1543F53C8713}"/>
              </a:ext>
            </a:extLst>
          </p:cNvPr>
          <p:cNvSpPr>
            <a:spLocks noGrp="1"/>
          </p:cNvSpPr>
          <p:nvPr>
            <p:ph idx="1"/>
          </p:nvPr>
        </p:nvSpPr>
        <p:spPr>
          <a:xfrm>
            <a:off x="131976" y="1825625"/>
            <a:ext cx="6768446" cy="4886260"/>
          </a:xfrm>
        </p:spPr>
        <p:txBody>
          <a:bodyPr>
            <a:normAutofit lnSpcReduction="10000"/>
          </a:bodyPr>
          <a:lstStyle/>
          <a:p>
            <a:r>
              <a:rPr lang="en-US" dirty="0">
                <a:solidFill>
                  <a:schemeClr val="bg1"/>
                </a:solidFill>
              </a:rPr>
              <a:t>An intranet is a network communication system based on TCP/IP protocol which can only be accessed by authorised members of an organisation or company. </a:t>
            </a:r>
          </a:p>
          <a:p>
            <a:r>
              <a:rPr lang="en-GB" dirty="0">
                <a:solidFill>
                  <a:schemeClr val="bg1"/>
                </a:solidFill>
              </a:rPr>
              <a:t>It can operate within a local area network (LAN) or be accessed remotely over the Internet via a virtual private network (VPN) with required login credentials.</a:t>
            </a:r>
          </a:p>
          <a:p>
            <a:r>
              <a:rPr lang="en-GB" dirty="0">
                <a:solidFill>
                  <a:schemeClr val="bg1"/>
                </a:solidFill>
              </a:rPr>
              <a:t>Intranets have evolved from simple content delivery to integral collaboration and workflow tools, integrating online applications for daily employee use.</a:t>
            </a:r>
          </a:p>
          <a:p>
            <a:endParaRPr lang="en-GB" dirty="0"/>
          </a:p>
        </p:txBody>
      </p:sp>
      <p:sp>
        <p:nvSpPr>
          <p:cNvPr id="4" name="Rectangle 3">
            <a:extLst>
              <a:ext uri="{FF2B5EF4-FFF2-40B4-BE49-F238E27FC236}">
                <a16:creationId xmlns:a16="http://schemas.microsoft.com/office/drawing/2014/main" id="{01CE5613-3544-4767-A960-1AD982C2D2D6}"/>
              </a:ext>
            </a:extLst>
          </p:cNvPr>
          <p:cNvSpPr/>
          <p:nvPr/>
        </p:nvSpPr>
        <p:spPr>
          <a:xfrm>
            <a:off x="7474227" y="0"/>
            <a:ext cx="4717774"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rgbClr val="FFFF00"/>
                </a:solidFill>
              </a:rPr>
              <a:t>Communication</a:t>
            </a:r>
          </a:p>
          <a:p>
            <a:r>
              <a:rPr lang="en-GB" dirty="0"/>
              <a:t>provides communication channels between employees such as email and multimedia messaging services</a:t>
            </a:r>
          </a:p>
          <a:p>
            <a:r>
              <a:rPr lang="en-GB" dirty="0">
                <a:solidFill>
                  <a:srgbClr val="FFFF00"/>
                </a:solidFill>
              </a:rPr>
              <a:t>Collaboration</a:t>
            </a:r>
          </a:p>
          <a:p>
            <a:r>
              <a:rPr lang="en-GB" dirty="0"/>
              <a:t>provides tools to facilitate collaboration between employees such as project management software, calendars and timelines</a:t>
            </a:r>
          </a:p>
          <a:p>
            <a:r>
              <a:rPr lang="en-GB" dirty="0">
                <a:solidFill>
                  <a:srgbClr val="FFFF00"/>
                </a:solidFill>
              </a:rPr>
              <a:t>Information/data sharing</a:t>
            </a:r>
          </a:p>
          <a:p>
            <a:r>
              <a:rPr lang="en-GB" dirty="0"/>
              <a:t>provides file access for employees so that they have relevant and the most up-to-date information for decision making</a:t>
            </a:r>
          </a:p>
          <a:p>
            <a:r>
              <a:rPr lang="en-GB" dirty="0">
                <a:solidFill>
                  <a:srgbClr val="FFFF00"/>
                </a:solidFill>
              </a:rPr>
              <a:t>Employee engagement</a:t>
            </a:r>
          </a:p>
          <a:p>
            <a:r>
              <a:rPr lang="en-GB" dirty="0"/>
              <a:t>provides information and learning opportunities for employees to keep employees informed, enhancing employee engagement</a:t>
            </a:r>
          </a:p>
          <a:p>
            <a:pPr lvl="0"/>
            <a:endParaRPr lang="en-GB" dirty="0"/>
          </a:p>
        </p:txBody>
      </p:sp>
    </p:spTree>
    <p:extLst>
      <p:ext uri="{BB962C8B-B14F-4D97-AF65-F5344CB8AC3E}">
        <p14:creationId xmlns:p14="http://schemas.microsoft.com/office/powerpoint/2010/main" val="1882841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fade">
                                      <p:cBhvr>
                                        <p:cTn id="27" dur="5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fade">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5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500"/>
                                        <p:tgtEl>
                                          <p:spTgt spid="4">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fade">
                                      <p:cBhvr>
                                        <p:cTn id="47" dur="500"/>
                                        <p:tgtEl>
                                          <p:spTgt spid="4">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6" end="6"/>
                                            </p:txEl>
                                          </p:spTgt>
                                        </p:tgtEl>
                                        <p:attrNameLst>
                                          <p:attrName>style.visibility</p:attrName>
                                        </p:attrNameLst>
                                      </p:cBhvr>
                                      <p:to>
                                        <p:strVal val="visible"/>
                                      </p:to>
                                    </p:set>
                                    <p:animEffect transition="in" filter="fade">
                                      <p:cBhvr>
                                        <p:cTn id="52" dur="500"/>
                                        <p:tgtEl>
                                          <p:spTgt spid="4">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7" end="7"/>
                                            </p:txEl>
                                          </p:spTgt>
                                        </p:tgtEl>
                                        <p:attrNameLst>
                                          <p:attrName>style.visibility</p:attrName>
                                        </p:attrNameLst>
                                      </p:cBhvr>
                                      <p:to>
                                        <p:strVal val="visible"/>
                                      </p:to>
                                    </p:set>
                                    <p:animEffect transition="in" filter="fade">
                                      <p:cBhvr>
                                        <p:cTn id="5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TotalTime>
  <Words>2149</Words>
  <Application>Microsoft Office PowerPoint</Application>
  <PresentationFormat>Widescreen</PresentationFormat>
  <Paragraphs>171</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FSLola</vt:lpstr>
      <vt:lpstr>FSLola-Bold</vt:lpstr>
      <vt:lpstr>LEMON MILK</vt:lpstr>
      <vt:lpstr>Office Theme</vt:lpstr>
      <vt:lpstr>Web Applications</vt:lpstr>
      <vt:lpstr>A Few Terms we need to know include:</vt:lpstr>
      <vt:lpstr>WWW</vt:lpstr>
      <vt:lpstr>The Internet</vt:lpstr>
      <vt:lpstr>URL</vt:lpstr>
      <vt:lpstr>HTTP</vt:lpstr>
      <vt:lpstr>IP Address</vt:lpstr>
      <vt:lpstr>Web Browser</vt:lpstr>
      <vt:lpstr>Web Server</vt:lpstr>
      <vt:lpstr>Web Hosting</vt:lpstr>
      <vt:lpstr>FTP</vt:lpstr>
      <vt:lpstr>ISP</vt:lpstr>
      <vt:lpstr>Search Engine</vt:lpstr>
      <vt:lpstr>Cache</vt:lpstr>
      <vt:lpstr>Cookies</vt:lpstr>
      <vt:lpstr>Portal</vt:lpstr>
      <vt:lpstr>Website</vt:lpstr>
      <vt:lpstr>Web Page</vt:lpstr>
      <vt:lpstr>Domain Names</vt:lpstr>
      <vt:lpstr>The ITU</vt:lpstr>
      <vt:lpstr>The ITU</vt:lpstr>
      <vt:lpstr>The W3C</vt:lpstr>
      <vt:lpstr>Intranets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Applications</dc:title>
  <dc:creator>J Butler</dc:creator>
  <cp:lastModifiedBy>J Butler</cp:lastModifiedBy>
  <cp:revision>13</cp:revision>
  <dcterms:created xsi:type="dcterms:W3CDTF">2025-02-24T11:49:22Z</dcterms:created>
  <dcterms:modified xsi:type="dcterms:W3CDTF">2025-02-26T08:21:44Z</dcterms:modified>
</cp:coreProperties>
</file>