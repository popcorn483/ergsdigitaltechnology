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89" r:id="rId19"/>
    <p:sldId id="290" r:id="rId20"/>
    <p:sldId id="273" r:id="rId21"/>
    <p:sldId id="274" r:id="rId22"/>
    <p:sldId id="275" r:id="rId23"/>
    <p:sldId id="276" r:id="rId24"/>
    <p:sldId id="277" r:id="rId25"/>
    <p:sldId id="278" r:id="rId26"/>
    <p:sldId id="279" r:id="rId27"/>
    <p:sldId id="280" r:id="rId28"/>
    <p:sldId id="281" r:id="rId29"/>
    <p:sldId id="283" r:id="rId30"/>
    <p:sldId id="288" r:id="rId31"/>
    <p:sldId id="284" r:id="rId32"/>
    <p:sldId id="282" r:id="rId33"/>
    <p:sldId id="285" r:id="rId34"/>
    <p:sldId id="286" r:id="rId35"/>
    <p:sldId id="28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B683"/>
    <a:srgbClr val="DA362C"/>
    <a:srgbClr val="312D3B"/>
    <a:srgbClr val="3BB5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246" y="108"/>
      </p:cViewPr>
      <p:guideLst/>
    </p:cSldViewPr>
  </p:slideViewPr>
  <p:notesTextViewPr>
    <p:cViewPr>
      <p:scale>
        <a:sx n="3" d="2"/>
        <a:sy n="3" d="2"/>
      </p:scale>
      <p:origin x="0" y="0"/>
    </p:cViewPr>
  </p:notesTextViewPr>
  <p:notesViewPr>
    <p:cSldViewPr snapToGrid="0">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8D3AC8-3184-4C5B-843F-6EE15804C080}" type="datetimeFigureOut">
              <a:rPr lang="en-GB" smtClean="0"/>
              <a:t>02/09/2026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0CBED-93C2-46B6-8ACA-4901D02E58C5}" type="slidenum">
              <a:rPr lang="en-GB" smtClean="0"/>
              <a:t>‹#›</a:t>
            </a:fld>
            <a:endParaRPr lang="en-GB"/>
          </a:p>
        </p:txBody>
      </p:sp>
    </p:spTree>
    <p:extLst>
      <p:ext uri="{BB962C8B-B14F-4D97-AF65-F5344CB8AC3E}">
        <p14:creationId xmlns:p14="http://schemas.microsoft.com/office/powerpoint/2010/main" val="4042204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teach-ict.com/gcse_new/computer%20systems/storage_units/miniweb/index.ht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teach-ict.com/gcse_computing/ocr/214_representing_data/number/miniweb/pg2.php"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sng" strike="noStrike" kern="1200" dirty="0">
                <a:solidFill>
                  <a:schemeClr val="tx1"/>
                </a:solidFill>
                <a:effectLst/>
                <a:latin typeface="+mn-lt"/>
                <a:ea typeface="+mn-ea"/>
                <a:cs typeface="+mn-cs"/>
                <a:hlinkClick r:id="rId3"/>
              </a:rPr>
              <a:t>http://www.teach-ict.com/gcse_new/computer%20systems/storage_units/miniweb/index.htm</a:t>
            </a:r>
            <a:r>
              <a:rPr lang="en-GB" sz="1200" b="0" i="0" u="none" strike="noStrike" kern="1200" dirty="0">
                <a:solidFill>
                  <a:schemeClr val="tx1"/>
                </a:solidFill>
                <a:effectLst/>
                <a:latin typeface="+mn-lt"/>
                <a:ea typeface="+mn-ea"/>
                <a:cs typeface="+mn-cs"/>
              </a:rPr>
              <a:t>  </a:t>
            </a:r>
            <a:endParaRPr lang="en-GB" dirty="0"/>
          </a:p>
        </p:txBody>
      </p:sp>
      <p:sp>
        <p:nvSpPr>
          <p:cNvPr id="4" name="Slide Number Placeholder 3"/>
          <p:cNvSpPr>
            <a:spLocks noGrp="1"/>
          </p:cNvSpPr>
          <p:nvPr>
            <p:ph type="sldNum" sz="quarter" idx="10"/>
          </p:nvPr>
        </p:nvSpPr>
        <p:spPr/>
        <p:txBody>
          <a:bodyPr/>
          <a:lstStyle/>
          <a:p>
            <a:fld id="{04E0CBED-93C2-46B6-8ACA-4901D02E58C5}" type="slidenum">
              <a:rPr lang="en-GB" smtClean="0"/>
              <a:t>5</a:t>
            </a:fld>
            <a:endParaRPr lang="en-GB"/>
          </a:p>
        </p:txBody>
      </p:sp>
    </p:spTree>
    <p:extLst>
      <p:ext uri="{BB962C8B-B14F-4D97-AF65-F5344CB8AC3E}">
        <p14:creationId xmlns:p14="http://schemas.microsoft.com/office/powerpoint/2010/main" val="118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Binary and Data Video</a:t>
            </a:r>
          </a:p>
        </p:txBody>
      </p:sp>
      <p:sp>
        <p:nvSpPr>
          <p:cNvPr id="4" name="Slide Number Placeholder 3"/>
          <p:cNvSpPr>
            <a:spLocks noGrp="1"/>
          </p:cNvSpPr>
          <p:nvPr>
            <p:ph type="sldNum" sz="quarter" idx="10"/>
          </p:nvPr>
        </p:nvSpPr>
        <p:spPr/>
        <p:txBody>
          <a:bodyPr/>
          <a:lstStyle/>
          <a:p>
            <a:fld id="{04E0CBED-93C2-46B6-8ACA-4901D02E58C5}" type="slidenum">
              <a:rPr lang="en-GB" smtClean="0"/>
              <a:t>8</a:t>
            </a:fld>
            <a:endParaRPr lang="en-GB"/>
          </a:p>
        </p:txBody>
      </p:sp>
    </p:spTree>
    <p:extLst>
      <p:ext uri="{BB962C8B-B14F-4D97-AF65-F5344CB8AC3E}">
        <p14:creationId xmlns:p14="http://schemas.microsoft.com/office/powerpoint/2010/main" val="3590278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4E0CBED-93C2-46B6-8ACA-4901D02E58C5}" type="slidenum">
              <a:rPr lang="en-GB" smtClean="0"/>
              <a:t>9</a:t>
            </a:fld>
            <a:endParaRPr lang="en-GB"/>
          </a:p>
        </p:txBody>
      </p:sp>
    </p:spTree>
    <p:extLst>
      <p:ext uri="{BB962C8B-B14F-4D97-AF65-F5344CB8AC3E}">
        <p14:creationId xmlns:p14="http://schemas.microsoft.com/office/powerpoint/2010/main" val="127160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sng" strike="noStrike" kern="1200" dirty="0">
                <a:solidFill>
                  <a:schemeClr val="tx1"/>
                </a:solidFill>
                <a:effectLst/>
                <a:latin typeface="+mn-lt"/>
                <a:ea typeface="+mn-ea"/>
                <a:cs typeface="+mn-cs"/>
                <a:hlinkClick r:id="rId3"/>
              </a:rPr>
              <a:t>http://www.teach-ict.com/gcse_computing/ocr/214_representing_data/number/miniweb/pg2.php</a:t>
            </a:r>
            <a:endParaRPr lang="en-GB" dirty="0"/>
          </a:p>
        </p:txBody>
      </p:sp>
      <p:sp>
        <p:nvSpPr>
          <p:cNvPr id="4" name="Slide Number Placeholder 3"/>
          <p:cNvSpPr>
            <a:spLocks noGrp="1"/>
          </p:cNvSpPr>
          <p:nvPr>
            <p:ph type="sldNum" sz="quarter" idx="10"/>
          </p:nvPr>
        </p:nvSpPr>
        <p:spPr/>
        <p:txBody>
          <a:bodyPr/>
          <a:lstStyle/>
          <a:p>
            <a:fld id="{04E0CBED-93C2-46B6-8ACA-4901D02E58C5}" type="slidenum">
              <a:rPr lang="en-GB" smtClean="0"/>
              <a:t>10</a:t>
            </a:fld>
            <a:endParaRPr lang="en-GB"/>
          </a:p>
        </p:txBody>
      </p:sp>
    </p:spTree>
    <p:extLst>
      <p:ext uri="{BB962C8B-B14F-4D97-AF65-F5344CB8AC3E}">
        <p14:creationId xmlns:p14="http://schemas.microsoft.com/office/powerpoint/2010/main" val="2623823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0D0D547-74F2-4519-ACAE-60A467296DA9}" type="datetimeFigureOut">
              <a:rPr lang="en-GB" smtClean="0"/>
              <a:t>02/09/2026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552633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F0D0D547-74F2-4519-ACAE-60A467296DA9}" type="datetimeFigureOut">
              <a:rPr lang="en-GB" smtClean="0"/>
              <a:t>02/09/2026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122423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0D547-74F2-4519-ACAE-60A467296DA9}" type="datetimeFigureOut">
              <a:rPr lang="en-GB" smtClean="0"/>
              <a:t>02/09/2026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414233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F0D0D547-74F2-4519-ACAE-60A467296DA9}" type="datetimeFigureOut">
              <a:rPr lang="en-GB" smtClean="0"/>
              <a:t>02/09/2026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51360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F0D0D547-74F2-4519-ACAE-60A467296DA9}" type="datetimeFigureOut">
              <a:rPr lang="en-GB" smtClean="0"/>
              <a:t>02/09/2026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153390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0D0D547-74F2-4519-ACAE-60A467296DA9}" type="datetimeFigureOut">
              <a:rPr lang="en-GB" smtClean="0"/>
              <a:t>02/09/2026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32515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0D547-74F2-4519-ACAE-60A467296DA9}" type="datetimeFigureOut">
              <a:rPr lang="en-GB" smtClean="0"/>
              <a:t>02/09/2026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325983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D0D547-74F2-4519-ACAE-60A467296DA9}" type="datetimeFigureOut">
              <a:rPr lang="en-GB" smtClean="0"/>
              <a:t>02/09/2026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3129150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D0D547-74F2-4519-ACAE-60A467296DA9}" type="datetimeFigureOut">
              <a:rPr lang="en-GB" smtClean="0"/>
              <a:t>02/09/2026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7606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0D0D547-74F2-4519-ACAE-60A467296DA9}" type="datetimeFigureOut">
              <a:rPr lang="en-GB" smtClean="0"/>
              <a:t>02/09/2026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173746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0D0D547-74F2-4519-ACAE-60A467296DA9}" type="datetimeFigureOut">
              <a:rPr lang="en-GB" smtClean="0"/>
              <a:t>02/09/2026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98E237A-5335-4428-A907-C58D9C36EF1C}" type="slidenum">
              <a:rPr lang="en-GB" smtClean="0"/>
              <a:t>‹#›</a:t>
            </a:fld>
            <a:endParaRPr lang="en-GB"/>
          </a:p>
        </p:txBody>
      </p:sp>
    </p:spTree>
    <p:extLst>
      <p:ext uri="{BB962C8B-B14F-4D97-AF65-F5344CB8AC3E}">
        <p14:creationId xmlns:p14="http://schemas.microsoft.com/office/powerpoint/2010/main" val="2994862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12D3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D0D547-74F2-4519-ACAE-60A467296DA9}" type="datetimeFigureOut">
              <a:rPr lang="en-GB" smtClean="0"/>
              <a:t>02/09/2026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8E237A-5335-4428-A907-C58D9C36EF1C}" type="slidenum">
              <a:rPr lang="en-GB" smtClean="0"/>
              <a:t>‹#›</a:t>
            </a:fld>
            <a:endParaRPr lang="en-GB"/>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23970" y="5652162"/>
            <a:ext cx="1228989" cy="1228989"/>
          </a:xfrm>
          <a:prstGeom prst="rect">
            <a:avLst/>
          </a:prstGeom>
        </p:spPr>
      </p:pic>
      <p:sp>
        <p:nvSpPr>
          <p:cNvPr id="8" name="Rectangle 7"/>
          <p:cNvSpPr/>
          <p:nvPr userDrawn="1"/>
        </p:nvSpPr>
        <p:spPr>
          <a:xfrm>
            <a:off x="419100" y="0"/>
            <a:ext cx="333375" cy="5711828"/>
          </a:xfrm>
          <a:prstGeom prst="rect">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38100" y="0"/>
            <a:ext cx="333375" cy="5711828"/>
          </a:xfrm>
          <a:prstGeom prst="rect">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p:cNvGrpSpPr/>
          <p:nvPr userDrawn="1"/>
        </p:nvGrpSpPr>
        <p:grpSpPr>
          <a:xfrm>
            <a:off x="38100" y="5711827"/>
            <a:ext cx="714375" cy="298447"/>
            <a:chOff x="38100" y="5711827"/>
            <a:chExt cx="714375" cy="298447"/>
          </a:xfrm>
        </p:grpSpPr>
        <p:sp>
          <p:nvSpPr>
            <p:cNvPr id="10" name="Right Triangle 9"/>
            <p:cNvSpPr/>
            <p:nvPr userDrawn="1"/>
          </p:nvSpPr>
          <p:spPr>
            <a:xfrm flipV="1">
              <a:off x="38100" y="5711828"/>
              <a:ext cx="333374" cy="298446"/>
            </a:xfrm>
            <a:prstGeom prst="rtTriangle">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ight Triangle 10"/>
            <p:cNvSpPr/>
            <p:nvPr userDrawn="1"/>
          </p:nvSpPr>
          <p:spPr>
            <a:xfrm flipH="1" flipV="1">
              <a:off x="419099" y="5711827"/>
              <a:ext cx="333376" cy="298447"/>
            </a:xfrm>
            <a:prstGeom prst="rtTriangle">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p:cNvGrpSpPr/>
          <p:nvPr userDrawn="1"/>
        </p:nvGrpSpPr>
        <p:grpSpPr>
          <a:xfrm rot="10800000">
            <a:off x="38100" y="6538912"/>
            <a:ext cx="714375" cy="298447"/>
            <a:chOff x="38100" y="5711827"/>
            <a:chExt cx="714375" cy="298447"/>
          </a:xfrm>
        </p:grpSpPr>
        <p:sp>
          <p:nvSpPr>
            <p:cNvPr id="14" name="Right Triangle 13"/>
            <p:cNvSpPr/>
            <p:nvPr userDrawn="1"/>
          </p:nvSpPr>
          <p:spPr>
            <a:xfrm flipV="1">
              <a:off x="38100" y="5711828"/>
              <a:ext cx="333374" cy="298446"/>
            </a:xfrm>
            <a:prstGeom prst="rtTriangle">
              <a:avLst/>
            </a:prstGeom>
            <a:solidFill>
              <a:srgbClr val="D8B6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ight Triangle 14"/>
            <p:cNvSpPr/>
            <p:nvPr userDrawn="1"/>
          </p:nvSpPr>
          <p:spPr>
            <a:xfrm flipH="1" flipV="1">
              <a:off x="419099" y="5711827"/>
              <a:ext cx="333376" cy="298447"/>
            </a:xfrm>
            <a:prstGeom prst="rtTriangle">
              <a:avLst/>
            </a:prstGeom>
            <a:solidFill>
              <a:srgbClr val="DA36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895950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D8B68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8B68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8B683"/>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8B683"/>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8B683"/>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8B68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www.bbc.com/education/clips/zprj2hv" TargetMode="Externa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Data Representation</a:t>
            </a:r>
          </a:p>
        </p:txBody>
      </p:sp>
      <p:sp>
        <p:nvSpPr>
          <p:cNvPr id="3" name="Subtitle 2"/>
          <p:cNvSpPr>
            <a:spLocks noGrp="1"/>
          </p:cNvSpPr>
          <p:nvPr>
            <p:ph type="subTitle" idx="1"/>
          </p:nvPr>
        </p:nvSpPr>
        <p:spPr/>
        <p:txBody>
          <a:bodyPr/>
          <a:lstStyle/>
          <a:p>
            <a:r>
              <a:rPr lang="en-GB" dirty="0"/>
              <a:t>Mr Butler</a:t>
            </a:r>
          </a:p>
        </p:txBody>
      </p:sp>
    </p:spTree>
    <p:extLst>
      <p:ext uri="{BB962C8B-B14F-4D97-AF65-F5344CB8AC3E}">
        <p14:creationId xmlns:p14="http://schemas.microsoft.com/office/powerpoint/2010/main" val="44354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Specification</a:t>
            </a:r>
          </a:p>
        </p:txBody>
      </p:sp>
      <p:pic>
        <p:nvPicPr>
          <p:cNvPr id="4" name="Content Placeholder 3"/>
          <p:cNvPicPr>
            <a:picLocks noGrp="1" noChangeAspect="1"/>
          </p:cNvPicPr>
          <p:nvPr>
            <p:ph idx="1"/>
          </p:nvPr>
        </p:nvPicPr>
        <p:blipFill>
          <a:blip r:embed="rId2"/>
          <a:stretch>
            <a:fillRect/>
          </a:stretch>
        </p:blipFill>
        <p:spPr>
          <a:xfrm>
            <a:off x="1006718" y="1607466"/>
            <a:ext cx="11055527" cy="3978522"/>
          </a:xfrm>
          <a:prstGeom prst="rect">
            <a:avLst/>
          </a:prstGeom>
        </p:spPr>
      </p:pic>
    </p:spTree>
    <p:extLst>
      <p:ext uri="{BB962C8B-B14F-4D97-AF65-F5344CB8AC3E}">
        <p14:creationId xmlns:p14="http://schemas.microsoft.com/office/powerpoint/2010/main" val="211852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Units of Storage</a:t>
            </a:r>
          </a:p>
        </p:txBody>
      </p:sp>
      <p:sp>
        <p:nvSpPr>
          <p:cNvPr id="3" name="Content Placeholder 2"/>
          <p:cNvSpPr>
            <a:spLocks noGrp="1"/>
          </p:cNvSpPr>
          <p:nvPr>
            <p:ph idx="1"/>
          </p:nvPr>
        </p:nvSpPr>
        <p:spPr/>
        <p:txBody>
          <a:bodyPr/>
          <a:lstStyle/>
          <a:p>
            <a:r>
              <a:rPr lang="en-GB" dirty="0"/>
              <a:t>Computers use a variety of memory techniques to store data. All data is stored in digital format using a number system known as binary. A </a:t>
            </a:r>
            <a:r>
              <a:rPr lang="en-GB" b="1" dirty="0"/>
              <a:t>B</a:t>
            </a:r>
            <a:r>
              <a:rPr lang="en-GB" dirty="0"/>
              <a:t>inary </a:t>
            </a:r>
            <a:r>
              <a:rPr lang="en-GB" dirty="0" err="1"/>
              <a:t>dig</a:t>
            </a:r>
            <a:r>
              <a:rPr lang="en-GB" b="1" dirty="0" err="1"/>
              <a:t>IT</a:t>
            </a:r>
            <a:r>
              <a:rPr lang="en-GB" dirty="0"/>
              <a:t> (known as a BIT) is either a 0 or a 1. </a:t>
            </a:r>
          </a:p>
          <a:p>
            <a:r>
              <a:rPr lang="en-GB" dirty="0"/>
              <a:t>It is the smallest unit of storage. </a:t>
            </a:r>
          </a:p>
          <a:p>
            <a:r>
              <a:rPr lang="en-GB" dirty="0"/>
              <a:t>When bits are grouped together, typically eight, it is referred to as a byte. </a:t>
            </a:r>
          </a:p>
          <a:p>
            <a:r>
              <a:rPr lang="en-GB" dirty="0"/>
              <a:t>A single character (such as a letter or digit) is typically represented by a byte. The capacity of storage in a typical computer or peripheral is measure in bytes. </a:t>
            </a:r>
          </a:p>
        </p:txBody>
      </p:sp>
    </p:spTree>
    <p:extLst>
      <p:ext uri="{BB962C8B-B14F-4D97-AF65-F5344CB8AC3E}">
        <p14:creationId xmlns:p14="http://schemas.microsoft.com/office/powerpoint/2010/main" val="2580282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8" name="Picture 4" descr="Online Data Size Convert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9375" y="686714"/>
            <a:ext cx="9284561" cy="578919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838200" y="365125"/>
            <a:ext cx="4380411" cy="17939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These terms are usually used to describe disk capacity, or data storage capacity, and system memory.  Today, Terabyte is the common term being used to describe the capacity of a hard drive.  </a:t>
            </a:r>
          </a:p>
        </p:txBody>
      </p:sp>
    </p:spTree>
    <p:extLst>
      <p:ext uri="{BB962C8B-B14F-4D97-AF65-F5344CB8AC3E}">
        <p14:creationId xmlns:p14="http://schemas.microsoft.com/office/powerpoint/2010/main" val="3147944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Mini Web Questions</a:t>
            </a:r>
          </a:p>
        </p:txBody>
      </p:sp>
      <p:sp>
        <p:nvSpPr>
          <p:cNvPr id="3" name="Content Placeholder 2"/>
          <p:cNvSpPr>
            <a:spLocks noGrp="1"/>
          </p:cNvSpPr>
          <p:nvPr>
            <p:ph idx="1"/>
          </p:nvPr>
        </p:nvSpPr>
        <p:spPr>
          <a:xfrm>
            <a:off x="513806" y="1555658"/>
            <a:ext cx="10909663" cy="5032375"/>
          </a:xfrm>
        </p:spPr>
        <p:txBody>
          <a:bodyPr>
            <a:normAutofit fontScale="55000" lnSpcReduction="20000"/>
          </a:bodyPr>
          <a:lstStyle/>
          <a:p>
            <a:pPr marL="514350" indent="-514350" fontAlgn="base">
              <a:lnSpc>
                <a:spcPct val="160000"/>
              </a:lnSpc>
              <a:buFont typeface="+mj-lt"/>
              <a:buAutoNum type="arabicPeriod"/>
            </a:pPr>
            <a:r>
              <a:rPr lang="en-GB" dirty="0"/>
              <a:t>Explain what is meant by the term, ‘bit’ </a:t>
            </a:r>
          </a:p>
          <a:p>
            <a:pPr marL="514350" indent="-514350" fontAlgn="base">
              <a:lnSpc>
                <a:spcPct val="160000"/>
              </a:lnSpc>
              <a:buFont typeface="+mj-lt"/>
              <a:buAutoNum type="arabicPeriod"/>
            </a:pPr>
            <a:r>
              <a:rPr lang="en-GB" dirty="0"/>
              <a:t>Explain what is meant by the term, ‘byte’ </a:t>
            </a:r>
          </a:p>
          <a:p>
            <a:pPr marL="514350" indent="-514350" fontAlgn="base">
              <a:lnSpc>
                <a:spcPct val="160000"/>
              </a:lnSpc>
              <a:buFont typeface="+mj-lt"/>
              <a:buAutoNum type="arabicPeriod"/>
            </a:pPr>
            <a:r>
              <a:rPr lang="en-GB" dirty="0"/>
              <a:t>Explain why the letter A would take up one byte of storage space </a:t>
            </a:r>
          </a:p>
          <a:p>
            <a:pPr marL="514350" indent="-514350" fontAlgn="base">
              <a:lnSpc>
                <a:spcPct val="160000"/>
              </a:lnSpc>
              <a:buFont typeface="+mj-lt"/>
              <a:buAutoNum type="arabicPeriod"/>
            </a:pPr>
            <a:r>
              <a:rPr lang="en-GB" dirty="0"/>
              <a:t>Explain what is meant by the term, ‘kilobyte’ </a:t>
            </a:r>
          </a:p>
          <a:p>
            <a:pPr marL="514350" indent="-514350" fontAlgn="base">
              <a:lnSpc>
                <a:spcPct val="160000"/>
              </a:lnSpc>
              <a:buFont typeface="+mj-lt"/>
              <a:buAutoNum type="arabicPeriod"/>
            </a:pPr>
            <a:r>
              <a:rPr lang="en-GB" dirty="0"/>
              <a:t>In your own words, give an example to explain how much information can be stored in a kilobyte </a:t>
            </a:r>
          </a:p>
          <a:p>
            <a:pPr marL="514350" indent="-514350" fontAlgn="base">
              <a:lnSpc>
                <a:spcPct val="160000"/>
              </a:lnSpc>
              <a:buFont typeface="+mj-lt"/>
              <a:buAutoNum type="arabicPeriod"/>
            </a:pPr>
            <a:r>
              <a:rPr lang="en-GB" dirty="0"/>
              <a:t>Explain what is meant by the term, ‘megabyte’</a:t>
            </a:r>
          </a:p>
          <a:p>
            <a:pPr marL="514350" indent="-514350" fontAlgn="base">
              <a:lnSpc>
                <a:spcPct val="160000"/>
              </a:lnSpc>
              <a:buFont typeface="+mj-lt"/>
              <a:buAutoNum type="arabicPeriod"/>
            </a:pPr>
            <a:r>
              <a:rPr lang="en-GB" dirty="0"/>
              <a:t>In your own words, give an example to explain how much information can be stored in a megabyte </a:t>
            </a:r>
          </a:p>
          <a:p>
            <a:pPr marL="514350" indent="-514350" fontAlgn="base">
              <a:lnSpc>
                <a:spcPct val="160000"/>
              </a:lnSpc>
              <a:buFont typeface="+mj-lt"/>
              <a:buAutoNum type="arabicPeriod"/>
            </a:pPr>
            <a:r>
              <a:rPr lang="en-GB" dirty="0"/>
              <a:t>Explain what is meant by the term, ‘gigabyte’</a:t>
            </a:r>
          </a:p>
          <a:p>
            <a:pPr marL="514350" indent="-514350" fontAlgn="base">
              <a:lnSpc>
                <a:spcPct val="160000"/>
              </a:lnSpc>
              <a:buFont typeface="+mj-lt"/>
              <a:buAutoNum type="arabicPeriod"/>
            </a:pPr>
            <a:r>
              <a:rPr lang="en-GB" dirty="0"/>
              <a:t>In your own words, give an example to explain how much information can be stored in a gigabyte</a:t>
            </a:r>
          </a:p>
          <a:p>
            <a:pPr marL="514350" indent="-514350" fontAlgn="base">
              <a:lnSpc>
                <a:spcPct val="160000"/>
              </a:lnSpc>
              <a:buFont typeface="+mj-lt"/>
              <a:buAutoNum type="arabicPeriod"/>
            </a:pPr>
            <a:r>
              <a:rPr lang="en-GB" dirty="0"/>
              <a:t>Explain what is meant by the term, ‘terabyte’</a:t>
            </a:r>
          </a:p>
          <a:p>
            <a:pPr marL="514350" indent="-514350" fontAlgn="base">
              <a:lnSpc>
                <a:spcPct val="160000"/>
              </a:lnSpc>
              <a:buFont typeface="+mj-lt"/>
              <a:buAutoNum type="arabicPeriod"/>
            </a:pPr>
            <a:r>
              <a:rPr lang="en-GB" dirty="0"/>
              <a:t>In your own words, give an example to explain how much information can be stored in a terabyte</a:t>
            </a:r>
          </a:p>
          <a:p>
            <a:pPr marL="514350" indent="-514350" fontAlgn="base">
              <a:lnSpc>
                <a:spcPct val="160000"/>
              </a:lnSpc>
              <a:buFont typeface="+mj-lt"/>
              <a:buAutoNum type="arabicPeriod"/>
            </a:pP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2503562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Challenge </a:t>
            </a:r>
            <a:r>
              <a:rPr lang="en-GB" dirty="0"/>
              <a:t>Questions</a:t>
            </a:r>
          </a:p>
        </p:txBody>
      </p:sp>
      <p:sp>
        <p:nvSpPr>
          <p:cNvPr id="3" name="Content Placeholder 2"/>
          <p:cNvSpPr>
            <a:spLocks noGrp="1"/>
          </p:cNvSpPr>
          <p:nvPr>
            <p:ph idx="1"/>
          </p:nvPr>
        </p:nvSpPr>
        <p:spPr/>
        <p:txBody>
          <a:bodyPr/>
          <a:lstStyle/>
          <a:p>
            <a:pPr marL="0" indent="0" fontAlgn="base">
              <a:buNone/>
            </a:pPr>
            <a:r>
              <a:rPr lang="en-GB" dirty="0"/>
              <a:t>Calculate the number of bytes in a 2 Gigabyte USB memory pen?</a:t>
            </a:r>
          </a:p>
          <a:p>
            <a:pPr marL="0" indent="0" fontAlgn="base">
              <a:buNone/>
            </a:pPr>
            <a:br>
              <a:rPr lang="en-GB" b="0" dirty="0">
                <a:effectLst/>
              </a:rPr>
            </a:br>
            <a:br>
              <a:rPr lang="en-GB" b="0" dirty="0">
                <a:effectLst/>
              </a:rPr>
            </a:br>
            <a:r>
              <a:rPr lang="en-GB" dirty="0"/>
              <a:t>Calculate the number of Megabytes on a 1 Terabyte hard drive?</a:t>
            </a:r>
          </a:p>
          <a:p>
            <a:pPr marL="0" indent="0" fontAlgn="base">
              <a:buNone/>
            </a:pPr>
            <a:endParaRPr lang="en-GB" b="0" dirty="0">
              <a:effectLst/>
            </a:endParaRPr>
          </a:p>
          <a:p>
            <a:pPr marL="0" indent="0" fontAlgn="base">
              <a:buNone/>
            </a:pPr>
            <a:br>
              <a:rPr lang="en-GB" b="0" dirty="0">
                <a:effectLst/>
              </a:rPr>
            </a:br>
            <a:r>
              <a:rPr lang="en-GB" dirty="0"/>
              <a:t>How many bits are in a 5MB sound file?</a:t>
            </a:r>
          </a:p>
          <a:p>
            <a:endParaRPr lang="en-GB" dirty="0"/>
          </a:p>
        </p:txBody>
      </p:sp>
    </p:spTree>
    <p:extLst>
      <p:ext uri="{BB962C8B-B14F-4D97-AF65-F5344CB8AC3E}">
        <p14:creationId xmlns:p14="http://schemas.microsoft.com/office/powerpoint/2010/main" val="406423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The range of values that can be represented using n bits</a:t>
            </a:r>
            <a:br>
              <a:rPr lang="en-GB" b="0" dirty="0">
                <a:effectLst/>
              </a:rPr>
            </a:br>
            <a:endParaRPr lang="en-GB" dirty="0"/>
          </a:p>
        </p:txBody>
      </p:sp>
      <p:sp>
        <p:nvSpPr>
          <p:cNvPr id="3" name="Content Placeholder 2"/>
          <p:cNvSpPr>
            <a:spLocks noGrp="1"/>
          </p:cNvSpPr>
          <p:nvPr>
            <p:ph idx="1"/>
          </p:nvPr>
        </p:nvSpPr>
        <p:spPr/>
        <p:txBody>
          <a:bodyPr/>
          <a:lstStyle/>
          <a:p>
            <a:r>
              <a:rPr lang="en-GB" dirty="0"/>
              <a:t>The number of bits used will determine the number of different values that can be represented. The greater the number of bits the greater the number of values. </a:t>
            </a:r>
          </a:p>
          <a:p>
            <a:r>
              <a:rPr lang="en-GB" dirty="0"/>
              <a:t>For example, if we use 3 bits, this will allow eight different values as shown below.</a:t>
            </a:r>
            <a:endParaRPr lang="en-GB" b="0" dirty="0">
              <a:effectLst/>
            </a:endParaRPr>
          </a:p>
          <a:p>
            <a:pPr marL="0" indent="0">
              <a:buNone/>
            </a:pPr>
            <a:br>
              <a:rPr lang="en-GB" dirty="0"/>
            </a:br>
            <a:endParaRPr lang="en-GB" dirty="0"/>
          </a:p>
        </p:txBody>
      </p:sp>
      <p:pic>
        <p:nvPicPr>
          <p:cNvPr id="4" name="Picture 3"/>
          <p:cNvPicPr>
            <a:picLocks noChangeAspect="1"/>
          </p:cNvPicPr>
          <p:nvPr/>
        </p:nvPicPr>
        <p:blipFill>
          <a:blip r:embed="rId2"/>
          <a:stretch>
            <a:fillRect/>
          </a:stretch>
        </p:blipFill>
        <p:spPr>
          <a:xfrm>
            <a:off x="4446670" y="3640921"/>
            <a:ext cx="5963482" cy="3077004"/>
          </a:xfrm>
          <a:prstGeom prst="rect">
            <a:avLst/>
          </a:prstGeom>
        </p:spPr>
      </p:pic>
    </p:spTree>
    <p:extLst>
      <p:ext uri="{BB962C8B-B14F-4D97-AF65-F5344CB8AC3E}">
        <p14:creationId xmlns:p14="http://schemas.microsoft.com/office/powerpoint/2010/main" val="240566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Tree>
    <p:extLst>
      <p:ext uri="{BB962C8B-B14F-4D97-AF65-F5344CB8AC3E}">
        <p14:creationId xmlns:p14="http://schemas.microsoft.com/office/powerpoint/2010/main" val="405304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If we consider 8 bits the lowest value will be 0 and the highest value will be 255 as shown below. The bit position on the right hand side is referred to as the least significant bit (LSB) whereas the bit position on the left hand side is referred to as the most significant bit (MSB)</a:t>
            </a:r>
          </a:p>
          <a:p>
            <a:pPr marL="0" indent="0">
              <a:buNone/>
            </a:pPr>
            <a:endParaRPr lang="en-GB" dirty="0"/>
          </a:p>
        </p:txBody>
      </p:sp>
      <p:pic>
        <p:nvPicPr>
          <p:cNvPr id="4" name="Picture 3"/>
          <p:cNvPicPr>
            <a:picLocks noChangeAspect="1"/>
          </p:cNvPicPr>
          <p:nvPr/>
        </p:nvPicPr>
        <p:blipFill>
          <a:blip r:embed="rId3"/>
          <a:stretch>
            <a:fillRect/>
          </a:stretch>
        </p:blipFill>
        <p:spPr>
          <a:xfrm>
            <a:off x="1245044" y="3692434"/>
            <a:ext cx="5992061" cy="1333686"/>
          </a:xfrm>
          <a:prstGeom prst="rect">
            <a:avLst/>
          </a:prstGeom>
        </p:spPr>
      </p:pic>
      <p:sp>
        <p:nvSpPr>
          <p:cNvPr id="5" name="Rectangular Callout 4"/>
          <p:cNvSpPr/>
          <p:nvPr/>
        </p:nvSpPr>
        <p:spPr>
          <a:xfrm>
            <a:off x="966652" y="5425780"/>
            <a:ext cx="2142308" cy="651329"/>
          </a:xfrm>
          <a:prstGeom prst="wedgeRectCallout">
            <a:avLst>
              <a:gd name="adj1" fmla="val -20427"/>
              <a:gd name="adj2" fmla="val -1006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Most Significant Bit</a:t>
            </a:r>
          </a:p>
        </p:txBody>
      </p:sp>
      <p:sp>
        <p:nvSpPr>
          <p:cNvPr id="6" name="Rectangular Callout 5"/>
          <p:cNvSpPr/>
          <p:nvPr/>
        </p:nvSpPr>
        <p:spPr>
          <a:xfrm>
            <a:off x="5595258" y="5425779"/>
            <a:ext cx="2142308" cy="651329"/>
          </a:xfrm>
          <a:prstGeom prst="wedgeRectCallout">
            <a:avLst>
              <a:gd name="adj1" fmla="val -20427"/>
              <a:gd name="adj2" fmla="val -1006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Least Significant Bit</a:t>
            </a:r>
          </a:p>
        </p:txBody>
      </p:sp>
      <p:sp>
        <p:nvSpPr>
          <p:cNvPr id="7" name="Rectangle 6"/>
          <p:cNvSpPr/>
          <p:nvPr/>
        </p:nvSpPr>
        <p:spPr>
          <a:xfrm>
            <a:off x="8011887" y="3692434"/>
            <a:ext cx="4093028" cy="3021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Therefore, in general terms 2</a:t>
            </a:r>
            <a:r>
              <a:rPr lang="en-GB" baseline="30000" dirty="0"/>
              <a:t>n</a:t>
            </a:r>
            <a:r>
              <a:rPr lang="en-GB" dirty="0"/>
              <a:t> different values can be represented with n bits.</a:t>
            </a:r>
          </a:p>
          <a:p>
            <a:pPr algn="ctr"/>
            <a:r>
              <a:rPr lang="en-GB" dirty="0"/>
              <a:t> </a:t>
            </a:r>
          </a:p>
          <a:p>
            <a:pPr algn="ctr"/>
            <a:r>
              <a:rPr lang="en-GB" dirty="0"/>
              <a:t>Although 2</a:t>
            </a:r>
            <a:r>
              <a:rPr lang="en-GB" baseline="30000" dirty="0"/>
              <a:t>8</a:t>
            </a:r>
            <a:r>
              <a:rPr lang="en-GB" dirty="0"/>
              <a:t> has a value of 256, the highest value is 255 because we include zero in the range of combinations of an 8 bit pattern. </a:t>
            </a:r>
          </a:p>
          <a:p>
            <a:pPr algn="ctr"/>
            <a:endParaRPr lang="en-GB" dirty="0"/>
          </a:p>
          <a:p>
            <a:pPr algn="ctr"/>
            <a:r>
              <a:rPr lang="en-GB" dirty="0"/>
              <a:t>To calculate the range of values for n bits we can apply the following rule 0 – (2</a:t>
            </a:r>
            <a:r>
              <a:rPr lang="en-GB" baseline="30000" dirty="0"/>
              <a:t>n</a:t>
            </a:r>
            <a:r>
              <a:rPr lang="en-GB" dirty="0"/>
              <a:t>-1).</a:t>
            </a:r>
          </a:p>
        </p:txBody>
      </p:sp>
    </p:spTree>
    <p:extLst>
      <p:ext uri="{BB962C8B-B14F-4D97-AF65-F5344CB8AC3E}">
        <p14:creationId xmlns:p14="http://schemas.microsoft.com/office/powerpoint/2010/main" val="207486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Read and Complete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83103248"/>
              </p:ext>
            </p:extLst>
          </p:nvPr>
        </p:nvGraphicFramePr>
        <p:xfrm>
          <a:off x="1653309" y="1690688"/>
          <a:ext cx="8512321" cy="4720244"/>
        </p:xfrm>
        <a:graphic>
          <a:graphicData uri="http://schemas.openxmlformats.org/drawingml/2006/table">
            <a:tbl>
              <a:tblPr/>
              <a:tblGrid>
                <a:gridCol w="1127021">
                  <a:extLst>
                    <a:ext uri="{9D8B030D-6E8A-4147-A177-3AD203B41FA5}">
                      <a16:colId xmlns:a16="http://schemas.microsoft.com/office/drawing/2014/main" val="20000"/>
                    </a:ext>
                  </a:extLst>
                </a:gridCol>
                <a:gridCol w="7385300">
                  <a:extLst>
                    <a:ext uri="{9D8B030D-6E8A-4147-A177-3AD203B41FA5}">
                      <a16:colId xmlns:a16="http://schemas.microsoft.com/office/drawing/2014/main" val="20001"/>
                    </a:ext>
                  </a:extLst>
                </a:gridCol>
              </a:tblGrid>
              <a:tr h="271959">
                <a:tc>
                  <a:txBody>
                    <a:bodyPr/>
                    <a:lstStyle/>
                    <a:p>
                      <a:pPr rtl="0" fontAlgn="t">
                        <a:spcBef>
                          <a:spcPts val="0"/>
                        </a:spcBef>
                        <a:spcAft>
                          <a:spcPts val="0"/>
                        </a:spcAft>
                      </a:pPr>
                      <a:r>
                        <a:rPr lang="en-GB" sz="2400" b="0" i="0" u="none" strike="noStrike" dirty="0">
                          <a:solidFill>
                            <a:srgbClr val="FF0000"/>
                          </a:solidFill>
                          <a:effectLst/>
                          <a:latin typeface="Calibri" panose="020F0502020204030204" pitchFamily="34" charset="0"/>
                        </a:rPr>
                        <a:t>1 bit =</a:t>
                      </a:r>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t">
                        <a:spcBef>
                          <a:spcPts val="0"/>
                        </a:spcBef>
                        <a:spcAft>
                          <a:spcPts val="0"/>
                        </a:spcAft>
                      </a:pPr>
                      <a:r>
                        <a:rPr lang="en-GB" sz="2400" b="0" i="0" u="none" strike="noStrike" dirty="0">
                          <a:solidFill>
                            <a:srgbClr val="FF0000"/>
                          </a:solidFill>
                          <a:effectLst/>
                          <a:latin typeface="Calibri" panose="020F0502020204030204" pitchFamily="34" charset="0"/>
                        </a:rPr>
                        <a:t>2</a:t>
                      </a:r>
                      <a:r>
                        <a:rPr lang="en-GB" sz="2400" b="0" i="0" u="none" strike="noStrike" baseline="30000" dirty="0">
                          <a:solidFill>
                            <a:srgbClr val="FF0000"/>
                          </a:solidFill>
                          <a:effectLst/>
                          <a:latin typeface="Calibri" panose="020F0502020204030204" pitchFamily="34" charset="0"/>
                        </a:rPr>
                        <a:t>1</a:t>
                      </a:r>
                      <a:r>
                        <a:rPr lang="en-GB" sz="2400" b="0" i="0" u="none" strike="noStrike" dirty="0">
                          <a:solidFill>
                            <a:srgbClr val="FF0000"/>
                          </a:solidFill>
                          <a:effectLst/>
                          <a:latin typeface="Calibri" panose="020F0502020204030204" pitchFamily="34" charset="0"/>
                        </a:rPr>
                        <a:t>= 2 numbers can be represented (0-1)</a:t>
                      </a: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71959">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2 bits =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rtl="0" fontAlgn="t">
                        <a:spcBef>
                          <a:spcPts val="0"/>
                        </a:spcBef>
                        <a:spcAft>
                          <a:spcPts val="0"/>
                        </a:spcAft>
                      </a:pPr>
                      <a:r>
                        <a:rPr lang="en-GB" sz="2400" b="0" i="0" u="none" strike="noStrike" dirty="0">
                          <a:solidFill>
                            <a:srgbClr val="FF0000"/>
                          </a:solidFill>
                          <a:effectLst/>
                          <a:latin typeface="Calibri" panose="020F0502020204030204" pitchFamily="34" charset="0"/>
                        </a:rPr>
                        <a:t>2</a:t>
                      </a:r>
                      <a:r>
                        <a:rPr lang="en-GB" sz="2400" b="0" i="0" u="none" strike="noStrike" baseline="30000" dirty="0">
                          <a:solidFill>
                            <a:srgbClr val="FF0000"/>
                          </a:solidFill>
                          <a:effectLst/>
                          <a:latin typeface="Calibri" panose="020F0502020204030204" pitchFamily="34" charset="0"/>
                        </a:rPr>
                        <a:t>2</a:t>
                      </a:r>
                      <a:r>
                        <a:rPr lang="en-GB" sz="2400" b="0" i="0" u="none" strike="noStrike" dirty="0">
                          <a:solidFill>
                            <a:srgbClr val="FF0000"/>
                          </a:solidFill>
                          <a:effectLst/>
                          <a:latin typeface="Calibri" panose="020F0502020204030204" pitchFamily="34" charset="0"/>
                        </a:rPr>
                        <a:t>= 4 numbers can be represented (0-11)</a:t>
                      </a: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34570">
                <a:tc>
                  <a:txBody>
                    <a:bodyPr/>
                    <a:lstStyle/>
                    <a:p>
                      <a:pPr rtl="0" fontAlgn="t">
                        <a:spcBef>
                          <a:spcPts val="0"/>
                        </a:spcBef>
                        <a:spcAft>
                          <a:spcPts val="0"/>
                        </a:spcAft>
                      </a:pPr>
                      <a:r>
                        <a:rPr lang="en-GB" sz="2400" b="0" i="0" u="none" strike="noStrike" dirty="0">
                          <a:solidFill>
                            <a:srgbClr val="FF0000"/>
                          </a:solidFill>
                          <a:effectLst/>
                          <a:latin typeface="Calibri" panose="020F0502020204030204" pitchFamily="34" charset="0"/>
                        </a:rPr>
                        <a:t>3 bits = </a:t>
                      </a:r>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34570">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4 bits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634570">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5 bits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34570">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6 bits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634570">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7 bits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634570">
                <a:tc>
                  <a:txBody>
                    <a:bodyPr/>
                    <a:lstStyle/>
                    <a:p>
                      <a:pPr rtl="0" fontAlgn="t">
                        <a:spcBef>
                          <a:spcPts val="0"/>
                        </a:spcBef>
                        <a:spcAft>
                          <a:spcPts val="0"/>
                        </a:spcAft>
                      </a:pPr>
                      <a:r>
                        <a:rPr lang="en-GB" sz="2400" b="0" i="0" u="none" strike="noStrike">
                          <a:solidFill>
                            <a:srgbClr val="FF0000"/>
                          </a:solidFill>
                          <a:effectLst/>
                          <a:latin typeface="Calibri" panose="020F0502020204030204" pitchFamily="34" charset="0"/>
                        </a:rPr>
                        <a:t>8 bits =</a:t>
                      </a:r>
                      <a:endParaRPr lang="en-GB" sz="240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fontAlgn="t"/>
                      <a:endParaRPr lang="en-GB" sz="2400" dirty="0">
                        <a:solidFill>
                          <a:srgbClr val="FF0000"/>
                        </a:solidFill>
                        <a:effectLst/>
                      </a:endParaRPr>
                    </a:p>
                  </a:txBody>
                  <a:tcPr marL="67990" marR="67990" marT="45326" marB="45326">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
        <p:nvSpPr>
          <p:cNvPr id="5" name="Rectangle 1"/>
          <p:cNvSpPr>
            <a:spLocks noChangeArrowheads="1"/>
          </p:cNvSpPr>
          <p:nvPr/>
        </p:nvSpPr>
        <p:spPr bwMode="auto">
          <a:xfrm>
            <a:off x="-3615049" y="265146"/>
            <a:ext cx="157285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26683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Perform conversions from decimal to binary and from binary to decimal for a maximum of 8 bits</a:t>
            </a:r>
            <a:endParaRPr lang="en-GB" dirty="0"/>
          </a:p>
        </p:txBody>
      </p:sp>
      <p:sp>
        <p:nvSpPr>
          <p:cNvPr id="3" name="Content Placeholder 2"/>
          <p:cNvSpPr>
            <a:spLocks noGrp="1"/>
          </p:cNvSpPr>
          <p:nvPr>
            <p:ph idx="1"/>
          </p:nvPr>
        </p:nvSpPr>
        <p:spPr/>
        <p:txBody>
          <a:bodyPr/>
          <a:lstStyle/>
          <a:p>
            <a:r>
              <a:rPr lang="en-GB" dirty="0"/>
              <a:t>In the decimal (sometimes referred to as denary) numbering system, each integer number column has values of units, tens, hundreds, thousands, etc. as we move along the number from right to left. </a:t>
            </a:r>
          </a:p>
          <a:p>
            <a:r>
              <a:rPr lang="en-GB" dirty="0"/>
              <a:t>Mathematically these values are written as index numbers starting from the right-hand side 10</a:t>
            </a:r>
            <a:r>
              <a:rPr lang="en-GB" baseline="30000" dirty="0"/>
              <a:t>0</a:t>
            </a:r>
            <a:r>
              <a:rPr lang="en-GB" dirty="0"/>
              <a:t>, 10</a:t>
            </a:r>
            <a:r>
              <a:rPr lang="en-GB" baseline="30000" dirty="0"/>
              <a:t>1</a:t>
            </a:r>
            <a:r>
              <a:rPr lang="en-GB" dirty="0"/>
              <a:t>, 10</a:t>
            </a:r>
            <a:r>
              <a:rPr lang="en-GB" baseline="30000" dirty="0"/>
              <a:t>2</a:t>
            </a:r>
            <a:r>
              <a:rPr lang="en-GB" dirty="0"/>
              <a:t>, 10</a:t>
            </a:r>
            <a:r>
              <a:rPr lang="en-GB" baseline="30000" dirty="0"/>
              <a:t>3</a:t>
            </a:r>
            <a:r>
              <a:rPr lang="en-GB" dirty="0"/>
              <a:t> etc. </a:t>
            </a:r>
          </a:p>
          <a:p>
            <a:r>
              <a:rPr lang="en-GB" dirty="0"/>
              <a:t>Then each position to the left of the decimal point indicates an increased positive power of 10.</a:t>
            </a:r>
            <a:endParaRPr lang="en-GB" b="0" dirty="0">
              <a:effectLst/>
            </a:endParaRPr>
          </a:p>
          <a:p>
            <a:pPr marL="0" indent="0">
              <a:buNone/>
            </a:pPr>
            <a:br>
              <a:rPr lang="en-GB" dirty="0"/>
            </a:br>
            <a:endParaRPr lang="en-GB" dirty="0"/>
          </a:p>
        </p:txBody>
      </p:sp>
      <p:pic>
        <p:nvPicPr>
          <p:cNvPr id="4" name="Picture 3"/>
          <p:cNvPicPr>
            <a:picLocks noChangeAspect="1"/>
          </p:cNvPicPr>
          <p:nvPr/>
        </p:nvPicPr>
        <p:blipFill>
          <a:blip r:embed="rId2"/>
          <a:stretch>
            <a:fillRect/>
          </a:stretch>
        </p:blipFill>
        <p:spPr>
          <a:xfrm>
            <a:off x="3550265" y="5217178"/>
            <a:ext cx="4431660" cy="785613"/>
          </a:xfrm>
          <a:prstGeom prst="rect">
            <a:avLst/>
          </a:prstGeom>
        </p:spPr>
      </p:pic>
    </p:spTree>
    <p:extLst>
      <p:ext uri="{BB962C8B-B14F-4D97-AF65-F5344CB8AC3E}">
        <p14:creationId xmlns:p14="http://schemas.microsoft.com/office/powerpoint/2010/main" val="2959543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The </a:t>
            </a:r>
            <a:r>
              <a:rPr lang="en-GB" b="1" dirty="0"/>
              <a:t>Binary Numbering System</a:t>
            </a:r>
            <a:r>
              <a:rPr lang="en-GB" dirty="0"/>
              <a:t> is used in all digital and computer based systems. </a:t>
            </a:r>
          </a:p>
          <a:p>
            <a:r>
              <a:rPr lang="en-GB" dirty="0"/>
              <a:t>Binary numbers follow the same set of rules as the decimal numbering system. </a:t>
            </a:r>
          </a:p>
          <a:p>
            <a:r>
              <a:rPr lang="en-GB" dirty="0"/>
              <a:t>The main difference is the decimal system uses powers of ten whereas the binary numbering system works on powers of two. Each binary place value can be converted to an equivalent decimal number</a:t>
            </a:r>
            <a:endParaRPr lang="en-GB" b="0" dirty="0">
              <a:effectLst/>
            </a:endParaRPr>
          </a:p>
          <a:p>
            <a:pPr marL="0" indent="0">
              <a:buNone/>
            </a:pPr>
            <a:br>
              <a:rPr lang="en-GB" dirty="0"/>
            </a:b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314289252"/>
              </p:ext>
            </p:extLst>
          </p:nvPr>
        </p:nvGraphicFramePr>
        <p:xfrm>
          <a:off x="1285874" y="5203244"/>
          <a:ext cx="10372727" cy="1275150"/>
        </p:xfrm>
        <a:graphic>
          <a:graphicData uri="http://schemas.openxmlformats.org/drawingml/2006/table">
            <a:tbl>
              <a:tblPr/>
              <a:tblGrid>
                <a:gridCol w="1210431">
                  <a:extLst>
                    <a:ext uri="{9D8B030D-6E8A-4147-A177-3AD203B41FA5}">
                      <a16:colId xmlns:a16="http://schemas.microsoft.com/office/drawing/2014/main" val="20000"/>
                    </a:ext>
                  </a:extLst>
                </a:gridCol>
                <a:gridCol w="1176809">
                  <a:extLst>
                    <a:ext uri="{9D8B030D-6E8A-4147-A177-3AD203B41FA5}">
                      <a16:colId xmlns:a16="http://schemas.microsoft.com/office/drawing/2014/main" val="20001"/>
                    </a:ext>
                  </a:extLst>
                </a:gridCol>
                <a:gridCol w="1143186">
                  <a:extLst>
                    <a:ext uri="{9D8B030D-6E8A-4147-A177-3AD203B41FA5}">
                      <a16:colId xmlns:a16="http://schemas.microsoft.com/office/drawing/2014/main" val="20002"/>
                    </a:ext>
                  </a:extLst>
                </a:gridCol>
                <a:gridCol w="1210431">
                  <a:extLst>
                    <a:ext uri="{9D8B030D-6E8A-4147-A177-3AD203B41FA5}">
                      <a16:colId xmlns:a16="http://schemas.microsoft.com/office/drawing/2014/main" val="20003"/>
                    </a:ext>
                  </a:extLst>
                </a:gridCol>
                <a:gridCol w="1126374">
                  <a:extLst>
                    <a:ext uri="{9D8B030D-6E8A-4147-A177-3AD203B41FA5}">
                      <a16:colId xmlns:a16="http://schemas.microsoft.com/office/drawing/2014/main" val="20004"/>
                    </a:ext>
                  </a:extLst>
                </a:gridCol>
                <a:gridCol w="1126374">
                  <a:extLst>
                    <a:ext uri="{9D8B030D-6E8A-4147-A177-3AD203B41FA5}">
                      <a16:colId xmlns:a16="http://schemas.microsoft.com/office/drawing/2014/main" val="20005"/>
                    </a:ext>
                  </a:extLst>
                </a:gridCol>
                <a:gridCol w="1126374">
                  <a:extLst>
                    <a:ext uri="{9D8B030D-6E8A-4147-A177-3AD203B41FA5}">
                      <a16:colId xmlns:a16="http://schemas.microsoft.com/office/drawing/2014/main" val="20006"/>
                    </a:ext>
                  </a:extLst>
                </a:gridCol>
                <a:gridCol w="1126374">
                  <a:extLst>
                    <a:ext uri="{9D8B030D-6E8A-4147-A177-3AD203B41FA5}">
                      <a16:colId xmlns:a16="http://schemas.microsoft.com/office/drawing/2014/main" val="20007"/>
                    </a:ext>
                  </a:extLst>
                </a:gridCol>
                <a:gridCol w="1126374">
                  <a:extLst>
                    <a:ext uri="{9D8B030D-6E8A-4147-A177-3AD203B41FA5}">
                      <a16:colId xmlns:a16="http://schemas.microsoft.com/office/drawing/2014/main" val="20008"/>
                    </a:ext>
                  </a:extLst>
                </a:gridCol>
              </a:tblGrid>
              <a:tr h="637575">
                <a:tc>
                  <a:txBody>
                    <a:bodyPr/>
                    <a:lstStyle/>
                    <a:p>
                      <a:pPr rtl="0" fontAlgn="t">
                        <a:spcBef>
                          <a:spcPts val="0"/>
                        </a:spcBef>
                        <a:spcAft>
                          <a:spcPts val="0"/>
                        </a:spcAft>
                      </a:pPr>
                      <a:r>
                        <a:rPr lang="en-GB" sz="2400" b="1" i="0" u="none" strike="noStrike" dirty="0">
                          <a:solidFill>
                            <a:srgbClr val="FF0000"/>
                          </a:solidFill>
                          <a:effectLst/>
                          <a:latin typeface="Calibri" panose="020F0502020204030204" pitchFamily="34" charset="0"/>
                        </a:rPr>
                        <a:t>Binary</a:t>
                      </a:r>
                      <a:endParaRPr lang="en-GB" sz="3600" dirty="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7</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6</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marL="228600"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5</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4</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3</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2</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1</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1" i="0" u="none" strike="noStrike">
                          <a:solidFill>
                            <a:srgbClr val="FF0000"/>
                          </a:solidFill>
                          <a:effectLst/>
                          <a:latin typeface="Calibri" panose="020F0502020204030204" pitchFamily="34" charset="0"/>
                        </a:rPr>
                        <a:t>2</a:t>
                      </a:r>
                      <a:r>
                        <a:rPr lang="en-GB" sz="2400" b="1" i="0" u="none" strike="noStrike" baseline="30000">
                          <a:solidFill>
                            <a:srgbClr val="FF0000"/>
                          </a:solidFill>
                          <a:effectLst/>
                          <a:latin typeface="Calibri" panose="020F0502020204030204" pitchFamily="34" charset="0"/>
                        </a:rPr>
                        <a:t>0</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637575">
                <a:tc>
                  <a:txBody>
                    <a:bodyPr/>
                    <a:lstStyle/>
                    <a:p>
                      <a:pPr rtl="0" fontAlgn="t">
                        <a:spcBef>
                          <a:spcPts val="0"/>
                        </a:spcBef>
                        <a:spcAft>
                          <a:spcPts val="0"/>
                        </a:spcAft>
                      </a:pPr>
                      <a:r>
                        <a:rPr lang="en-GB" sz="2400" b="0" i="0" u="none" strike="noStrike" dirty="0">
                          <a:solidFill>
                            <a:srgbClr val="FF0000"/>
                          </a:solidFill>
                          <a:effectLst/>
                          <a:latin typeface="Calibri" panose="020F0502020204030204" pitchFamily="34" charset="0"/>
                        </a:rPr>
                        <a:t>Decimal</a:t>
                      </a:r>
                      <a:endParaRPr lang="en-GB" sz="3600" dirty="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a:solidFill>
                            <a:srgbClr val="FF0000"/>
                          </a:solidFill>
                          <a:effectLst/>
                          <a:latin typeface="Calibri" panose="020F0502020204030204" pitchFamily="34" charset="0"/>
                        </a:rPr>
                        <a:t>128</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a:solidFill>
                            <a:srgbClr val="FF0000"/>
                          </a:solidFill>
                          <a:effectLst/>
                          <a:latin typeface="Calibri" panose="020F0502020204030204" pitchFamily="34" charset="0"/>
                        </a:rPr>
                        <a:t>64</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a:solidFill>
                            <a:srgbClr val="FF0000"/>
                          </a:solidFill>
                          <a:effectLst/>
                          <a:latin typeface="Calibri" panose="020F0502020204030204" pitchFamily="34" charset="0"/>
                        </a:rPr>
                        <a:t>32</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dirty="0">
                          <a:solidFill>
                            <a:srgbClr val="FF0000"/>
                          </a:solidFill>
                          <a:effectLst/>
                          <a:latin typeface="Calibri" panose="020F0502020204030204" pitchFamily="34" charset="0"/>
                        </a:rPr>
                        <a:t>16</a:t>
                      </a:r>
                      <a:endParaRPr lang="en-GB" sz="3600" dirty="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a:solidFill>
                            <a:srgbClr val="FF0000"/>
                          </a:solidFill>
                          <a:effectLst/>
                          <a:latin typeface="Calibri" panose="020F0502020204030204" pitchFamily="34" charset="0"/>
                        </a:rPr>
                        <a:t>8</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a:solidFill>
                            <a:srgbClr val="FF0000"/>
                          </a:solidFill>
                          <a:effectLst/>
                          <a:latin typeface="Calibri" panose="020F0502020204030204" pitchFamily="34" charset="0"/>
                        </a:rPr>
                        <a:t>4</a:t>
                      </a:r>
                      <a:endParaRPr lang="en-GB" sz="360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dirty="0">
                          <a:solidFill>
                            <a:srgbClr val="FF0000"/>
                          </a:solidFill>
                          <a:effectLst/>
                          <a:latin typeface="Calibri" panose="020F0502020204030204" pitchFamily="34" charset="0"/>
                        </a:rPr>
                        <a:t>2</a:t>
                      </a:r>
                      <a:endParaRPr lang="en-GB" sz="3600" dirty="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t">
                        <a:spcBef>
                          <a:spcPts val="0"/>
                        </a:spcBef>
                        <a:spcAft>
                          <a:spcPts val="0"/>
                        </a:spcAft>
                      </a:pPr>
                      <a:r>
                        <a:rPr lang="en-GB" sz="2400" b="0" i="0" u="none" strike="noStrike" dirty="0">
                          <a:solidFill>
                            <a:srgbClr val="FF0000"/>
                          </a:solidFill>
                          <a:effectLst/>
                          <a:latin typeface="Calibri" panose="020F0502020204030204" pitchFamily="34" charset="0"/>
                        </a:rPr>
                        <a:t>1</a:t>
                      </a:r>
                      <a:endParaRPr lang="en-GB" sz="3600" dirty="0">
                        <a:solidFill>
                          <a:srgbClr val="FF0000"/>
                        </a:solidFill>
                        <a:effectLst/>
                      </a:endParaRPr>
                    </a:p>
                  </a:txBody>
                  <a:tcPr marL="68580" marR="68580">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Rectangle 1"/>
          <p:cNvSpPr>
            <a:spLocks noChangeArrowheads="1"/>
          </p:cNvSpPr>
          <p:nvPr/>
        </p:nvSpPr>
        <p:spPr bwMode="auto">
          <a:xfrm>
            <a:off x="3157538" y="37274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2062838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Convert the following decimal number to binary using 8 bits</a:t>
            </a:r>
          </a:p>
        </p:txBody>
      </p:sp>
      <p:sp>
        <p:nvSpPr>
          <p:cNvPr id="3" name="Content Placeholder 2"/>
          <p:cNvSpPr>
            <a:spLocks noGrp="1"/>
          </p:cNvSpPr>
          <p:nvPr>
            <p:ph idx="1"/>
          </p:nvPr>
        </p:nvSpPr>
        <p:spPr/>
        <p:txBody>
          <a:bodyPr>
            <a:normAutofit fontScale="92500" lnSpcReduction="10000"/>
          </a:bodyPr>
          <a:lstStyle/>
          <a:p>
            <a:pPr marL="0" indent="0">
              <a:buNone/>
            </a:pPr>
            <a:r>
              <a:rPr lang="en-GB" dirty="0"/>
              <a:t>(1) 51 </a:t>
            </a:r>
            <a:endParaRPr lang="en-GB" b="0" dirty="0">
              <a:effectLst/>
            </a:endParaRPr>
          </a:p>
          <a:p>
            <a:pPr marL="0" indent="0">
              <a:buNone/>
            </a:pPr>
            <a:br>
              <a:rPr lang="en-GB" b="0" dirty="0">
                <a:effectLst/>
              </a:rPr>
            </a:br>
            <a:r>
              <a:rPr lang="en-GB" dirty="0"/>
              <a:t>(2) 101 </a:t>
            </a:r>
            <a:endParaRPr lang="en-GB" b="0" dirty="0">
              <a:effectLst/>
            </a:endParaRPr>
          </a:p>
          <a:p>
            <a:pPr marL="0" indent="0">
              <a:buNone/>
            </a:pPr>
            <a:br>
              <a:rPr lang="en-GB" b="0" dirty="0">
                <a:effectLst/>
              </a:rPr>
            </a:br>
            <a:r>
              <a:rPr lang="en-GB" dirty="0"/>
              <a:t>(3) 83</a:t>
            </a:r>
            <a:endParaRPr lang="en-GB" b="0" dirty="0">
              <a:effectLst/>
            </a:endParaRPr>
          </a:p>
          <a:p>
            <a:pPr marL="0" indent="0">
              <a:buNone/>
            </a:pPr>
            <a:br>
              <a:rPr lang="en-GB" b="0" dirty="0">
                <a:effectLst/>
              </a:rPr>
            </a:br>
            <a:r>
              <a:rPr lang="en-GB" dirty="0"/>
              <a:t>(4) 164</a:t>
            </a:r>
            <a:endParaRPr lang="en-GB" b="0" dirty="0">
              <a:effectLst/>
            </a:endParaRPr>
          </a:p>
          <a:p>
            <a:pPr marL="0" indent="0">
              <a:buNone/>
            </a:pPr>
            <a:br>
              <a:rPr lang="en-GB" b="0" dirty="0">
                <a:effectLst/>
              </a:rPr>
            </a:br>
            <a:r>
              <a:rPr lang="en-GB" dirty="0"/>
              <a:t>(5) 11</a:t>
            </a:r>
            <a:endParaRPr lang="en-GB" b="0" dirty="0">
              <a:effectLst/>
            </a:endParaRPr>
          </a:p>
          <a:p>
            <a:pPr marL="0" indent="0">
              <a:buNone/>
            </a:pPr>
            <a:br>
              <a:rPr lang="en-GB" b="0" dirty="0">
                <a:effectLst/>
              </a:rPr>
            </a:br>
            <a:r>
              <a:rPr lang="en-GB" dirty="0"/>
              <a:t>(6) 256</a:t>
            </a:r>
            <a:endParaRPr lang="en-GB" b="0" dirty="0">
              <a:effectLst/>
            </a:endParaRPr>
          </a:p>
          <a:p>
            <a:pPr marL="0" indent="0">
              <a:buNone/>
            </a:pPr>
            <a:endParaRPr lang="en-GB" dirty="0"/>
          </a:p>
        </p:txBody>
      </p:sp>
    </p:spTree>
    <p:extLst>
      <p:ext uri="{BB962C8B-B14F-4D97-AF65-F5344CB8AC3E}">
        <p14:creationId xmlns:p14="http://schemas.microsoft.com/office/powerpoint/2010/main" val="3889294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Convert the following binary numbers to decimal:</a:t>
            </a:r>
          </a:p>
        </p:txBody>
      </p:sp>
      <p:sp>
        <p:nvSpPr>
          <p:cNvPr id="3" name="Content Placeholder 2"/>
          <p:cNvSpPr>
            <a:spLocks noGrp="1"/>
          </p:cNvSpPr>
          <p:nvPr>
            <p:ph idx="1"/>
          </p:nvPr>
        </p:nvSpPr>
        <p:spPr/>
        <p:txBody>
          <a:bodyPr>
            <a:normAutofit fontScale="92500" lnSpcReduction="10000"/>
          </a:bodyPr>
          <a:lstStyle/>
          <a:p>
            <a:pPr marL="0" indent="0">
              <a:buNone/>
            </a:pPr>
            <a:r>
              <a:rPr lang="en-GB" dirty="0"/>
              <a:t>(1) 1011 0011</a:t>
            </a:r>
            <a:r>
              <a:rPr lang="en-GB" baseline="-25000" dirty="0"/>
              <a:t>2</a:t>
            </a:r>
            <a:endParaRPr lang="en-GB" b="0" dirty="0">
              <a:effectLst/>
            </a:endParaRPr>
          </a:p>
          <a:p>
            <a:pPr marL="0" indent="0">
              <a:buNone/>
            </a:pPr>
            <a:br>
              <a:rPr lang="en-GB" b="0" dirty="0">
                <a:effectLst/>
              </a:rPr>
            </a:br>
            <a:r>
              <a:rPr lang="en-GB" dirty="0"/>
              <a:t>(2) 0101 0101</a:t>
            </a:r>
            <a:r>
              <a:rPr lang="en-GB" baseline="-25000" dirty="0"/>
              <a:t>2</a:t>
            </a:r>
            <a:endParaRPr lang="en-GB" b="0" dirty="0">
              <a:effectLst/>
            </a:endParaRPr>
          </a:p>
          <a:p>
            <a:pPr marL="0" indent="0">
              <a:buNone/>
            </a:pPr>
            <a:br>
              <a:rPr lang="en-GB" b="0" dirty="0">
                <a:effectLst/>
              </a:rPr>
            </a:br>
            <a:r>
              <a:rPr lang="en-GB" dirty="0"/>
              <a:t>(3) 0011 0011</a:t>
            </a:r>
            <a:r>
              <a:rPr lang="en-GB" baseline="-25000" dirty="0"/>
              <a:t>2</a:t>
            </a:r>
            <a:endParaRPr lang="en-GB" b="0" dirty="0">
              <a:effectLst/>
            </a:endParaRPr>
          </a:p>
          <a:p>
            <a:pPr marL="0" indent="0">
              <a:buNone/>
            </a:pPr>
            <a:br>
              <a:rPr lang="en-GB" b="0" dirty="0">
                <a:effectLst/>
              </a:rPr>
            </a:br>
            <a:r>
              <a:rPr lang="en-GB" dirty="0"/>
              <a:t>(4) 1111 1111</a:t>
            </a:r>
            <a:r>
              <a:rPr lang="en-GB" baseline="-25000" dirty="0"/>
              <a:t>2</a:t>
            </a:r>
            <a:endParaRPr lang="en-GB" b="0" dirty="0">
              <a:effectLst/>
            </a:endParaRPr>
          </a:p>
          <a:p>
            <a:pPr marL="0" indent="0">
              <a:buNone/>
            </a:pPr>
            <a:br>
              <a:rPr lang="en-GB" b="0" dirty="0">
                <a:effectLst/>
              </a:rPr>
            </a:br>
            <a:r>
              <a:rPr lang="en-GB" dirty="0"/>
              <a:t>(5) 0111 1011</a:t>
            </a:r>
            <a:r>
              <a:rPr lang="en-GB" baseline="-25000" dirty="0"/>
              <a:t>2</a:t>
            </a:r>
            <a:endParaRPr lang="en-GB" b="0" dirty="0">
              <a:effectLst/>
            </a:endParaRPr>
          </a:p>
          <a:p>
            <a:pPr marL="0" indent="0">
              <a:buNone/>
            </a:pPr>
            <a:br>
              <a:rPr lang="en-GB" b="0" dirty="0">
                <a:effectLst/>
              </a:rPr>
            </a:br>
            <a:r>
              <a:rPr lang="en-GB" dirty="0"/>
              <a:t>(6) 1110 0001</a:t>
            </a:r>
            <a:r>
              <a:rPr lang="en-GB" baseline="-25000" dirty="0"/>
              <a:t>2 </a:t>
            </a:r>
            <a:endParaRPr lang="en-GB" b="0" dirty="0">
              <a:effectLst/>
            </a:endParaRPr>
          </a:p>
          <a:p>
            <a:pPr marL="0" indent="0">
              <a:buNone/>
            </a:pPr>
            <a:endParaRPr lang="en-GB" dirty="0"/>
          </a:p>
        </p:txBody>
      </p:sp>
    </p:spTree>
    <p:extLst>
      <p:ext uri="{BB962C8B-B14F-4D97-AF65-F5344CB8AC3E}">
        <p14:creationId xmlns:p14="http://schemas.microsoft.com/office/powerpoint/2010/main" val="3268769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Worksheet: Binary to Decimal</a:t>
            </a:r>
          </a:p>
        </p:txBody>
      </p:sp>
      <p:sp>
        <p:nvSpPr>
          <p:cNvPr id="3" name="Content Placeholder 2"/>
          <p:cNvSpPr>
            <a:spLocks noGrp="1"/>
          </p:cNvSpPr>
          <p:nvPr>
            <p:ph idx="1"/>
          </p:nvPr>
        </p:nvSpPr>
        <p:spPr/>
        <p:txBody>
          <a:bodyPr/>
          <a:lstStyle/>
          <a:p>
            <a:endParaRPr lang="en-GB"/>
          </a:p>
        </p:txBody>
      </p:sp>
      <p:graphicFrame>
        <p:nvGraphicFramePr>
          <p:cNvPr id="4" name="Object 3"/>
          <p:cNvGraphicFramePr>
            <a:graphicFrameLocks noChangeAspect="1"/>
          </p:cNvGraphicFramePr>
          <p:nvPr>
            <p:extLst>
              <p:ext uri="{D42A27DB-BD31-4B8C-83A1-F6EECF244321}">
                <p14:modId xmlns:p14="http://schemas.microsoft.com/office/powerpoint/2010/main" val="4187921398"/>
              </p:ext>
            </p:extLst>
          </p:nvPr>
        </p:nvGraphicFramePr>
        <p:xfrm>
          <a:off x="7727270" y="1027906"/>
          <a:ext cx="4186237" cy="5418137"/>
        </p:xfrm>
        <a:graphic>
          <a:graphicData uri="http://schemas.openxmlformats.org/presentationml/2006/ole">
            <mc:AlternateContent xmlns:mc="http://schemas.openxmlformats.org/markup-compatibility/2006">
              <mc:Choice xmlns:v="urn:schemas-microsoft-com:vml" Requires="v">
                <p:oleObj name="Acrobat Document" r:id="rId2" imgW="5829156" imgH="7543672" progId="Acrobat.Document.DC">
                  <p:embed/>
                </p:oleObj>
              </mc:Choice>
              <mc:Fallback>
                <p:oleObj name="Acrobat Document" r:id="rId2" imgW="5829156" imgH="7543672" progId="Acrobat.Document.DC">
                  <p:embed/>
                  <p:pic>
                    <p:nvPicPr>
                      <p:cNvPr id="0" name=""/>
                      <p:cNvPicPr/>
                      <p:nvPr/>
                    </p:nvPicPr>
                    <p:blipFill>
                      <a:blip r:embed="rId3"/>
                      <a:stretch>
                        <a:fillRect/>
                      </a:stretch>
                    </p:blipFill>
                    <p:spPr>
                      <a:xfrm>
                        <a:off x="7727270" y="1027906"/>
                        <a:ext cx="4186237" cy="5418137"/>
                      </a:xfrm>
                      <a:prstGeom prst="rect">
                        <a:avLst/>
                      </a:prstGeom>
                    </p:spPr>
                  </p:pic>
                </p:oleObj>
              </mc:Fallback>
            </mc:AlternateContent>
          </a:graphicData>
        </a:graphic>
      </p:graphicFrame>
    </p:spTree>
    <p:extLst>
      <p:ext uri="{BB962C8B-B14F-4D97-AF65-F5344CB8AC3E}">
        <p14:creationId xmlns:p14="http://schemas.microsoft.com/office/powerpoint/2010/main" val="3000564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inary Code Background Vector Art, Icons, and Graphics for Free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724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72457"/>
            <a:ext cx="10515600" cy="1325563"/>
          </a:xfrm>
        </p:spPr>
        <p:txBody>
          <a:bodyPr/>
          <a:lstStyle/>
          <a:p>
            <a:r>
              <a:rPr lang="en-GB" dirty="0">
                <a:solidFill>
                  <a:srgbClr val="FFFF00"/>
                </a:solidFill>
              </a:rPr>
              <a:t>2s Complement</a:t>
            </a:r>
          </a:p>
        </p:txBody>
      </p:sp>
      <p:sp>
        <p:nvSpPr>
          <p:cNvPr id="3" name="Content Placeholder 2"/>
          <p:cNvSpPr>
            <a:spLocks noGrp="1"/>
          </p:cNvSpPr>
          <p:nvPr>
            <p:ph idx="1"/>
          </p:nvPr>
        </p:nvSpPr>
        <p:spPr>
          <a:xfrm>
            <a:off x="-224790" y="6445250"/>
            <a:ext cx="7184208" cy="573314"/>
          </a:xfrm>
        </p:spPr>
        <p:txBody>
          <a:bodyPr>
            <a:normAutofit fontScale="62500" lnSpcReduction="20000"/>
          </a:bodyPr>
          <a:lstStyle/>
          <a:p>
            <a:r>
              <a:rPr lang="en-GB" sz="4400" u="sng" dirty="0">
                <a:ln>
                  <a:solidFill>
                    <a:srgbClr val="FFFF00"/>
                  </a:solidFill>
                </a:ln>
                <a:solidFill>
                  <a:srgbClr val="FFFF00"/>
                </a:solidFill>
                <a:hlinkClick r:id="rId5"/>
              </a:rPr>
              <a:t>https://www.bbc.com/education/clips/zprj2hv</a:t>
            </a:r>
            <a:endParaRPr lang="en-GB" sz="4400" dirty="0">
              <a:ln>
                <a:solidFill>
                  <a:srgbClr val="FFFF00"/>
                </a:solidFill>
              </a:ln>
              <a:solidFill>
                <a:srgbClr val="FFFF00"/>
              </a:solidFill>
            </a:endParaRPr>
          </a:p>
        </p:txBody>
      </p:sp>
    </p:spTree>
    <p:extLst>
      <p:ext uri="{BB962C8B-B14F-4D97-AF65-F5344CB8AC3E}">
        <p14:creationId xmlns:p14="http://schemas.microsoft.com/office/powerpoint/2010/main" val="2366529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Consider the problem of representing both positive and negative integers over a given range in terms of only using ones and zeroes. This would mean we have to build in the sign as part of the binary representation. </a:t>
            </a:r>
            <a:endParaRPr lang="en-GB" b="0" dirty="0">
              <a:effectLst/>
            </a:endParaRPr>
          </a:p>
          <a:p>
            <a:r>
              <a:rPr lang="en-GB" dirty="0"/>
              <a:t>We can represent a negative number in binary by making the most significant bit (MSB) a </a:t>
            </a:r>
            <a:r>
              <a:rPr lang="en-GB" b="1" dirty="0"/>
              <a:t>sign bit</a:t>
            </a:r>
            <a:r>
              <a:rPr lang="en-GB" dirty="0"/>
              <a:t>, which will tell us whether the number is positive or negative. In two’s complement if the MSB has a value of 1 then the number will have a negative value and if the MSB is 0 then the number will have a positive value. </a:t>
            </a:r>
          </a:p>
        </p:txBody>
      </p:sp>
    </p:spTree>
    <p:extLst>
      <p:ext uri="{BB962C8B-B14F-4D97-AF65-F5344CB8AC3E}">
        <p14:creationId xmlns:p14="http://schemas.microsoft.com/office/powerpoint/2010/main" val="39643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Break</a:t>
            </a:r>
          </a:p>
        </p:txBody>
      </p:sp>
      <p:sp>
        <p:nvSpPr>
          <p:cNvPr id="3" name="Content Placeholder 2"/>
          <p:cNvSpPr>
            <a:spLocks noGrp="1"/>
          </p:cNvSpPr>
          <p:nvPr>
            <p:ph idx="1"/>
          </p:nvPr>
        </p:nvSpPr>
        <p:spPr>
          <a:xfrm>
            <a:off x="838200" y="1442434"/>
            <a:ext cx="10515600" cy="5112911"/>
          </a:xfrm>
        </p:spPr>
        <p:txBody>
          <a:bodyPr>
            <a:normAutofit/>
          </a:bodyPr>
          <a:lstStyle/>
          <a:p>
            <a:pPr marL="0" indent="0">
              <a:buNone/>
            </a:pPr>
            <a:r>
              <a:rPr lang="en-GB" dirty="0"/>
              <a:t>Q. Convert each of the following two’s complement binary numbers into decimal.</a:t>
            </a:r>
          </a:p>
          <a:p>
            <a:pPr marL="0" indent="0">
              <a:buNone/>
            </a:pPr>
            <a:r>
              <a:rPr lang="en-GB" dirty="0"/>
              <a:t>Show your working out.</a:t>
            </a:r>
          </a:p>
          <a:p>
            <a:pPr marL="0" indent="0">
              <a:buNone/>
            </a:pPr>
            <a:endParaRPr lang="en-GB" dirty="0"/>
          </a:p>
          <a:p>
            <a:pPr marL="0" indent="0">
              <a:buNone/>
            </a:pPr>
            <a:r>
              <a:rPr lang="en-GB" b="1" dirty="0"/>
              <a:t>00001111₂</a:t>
            </a:r>
          </a:p>
          <a:p>
            <a:pPr marL="0" indent="0">
              <a:buNone/>
            </a:pPr>
            <a:endParaRPr lang="en-GB" b="1" dirty="0"/>
          </a:p>
          <a:p>
            <a:pPr marL="0" indent="0">
              <a:buNone/>
            </a:pPr>
            <a:r>
              <a:rPr lang="en-GB" b="1" dirty="0"/>
              <a:t>										</a:t>
            </a:r>
          </a:p>
          <a:p>
            <a:pPr marL="0" indent="0">
              <a:buNone/>
            </a:pPr>
            <a:r>
              <a:rPr lang="en-GB" b="1" dirty="0"/>
              <a:t>11100001₂</a:t>
            </a:r>
          </a:p>
          <a:p>
            <a:pPr marL="0" indent="0">
              <a:buNone/>
            </a:pPr>
            <a:endParaRPr lang="en-GB" b="1" dirty="0"/>
          </a:p>
          <a:p>
            <a:pPr marL="0" indent="0">
              <a:buNone/>
            </a:pPr>
            <a:r>
              <a:rPr lang="en-GB" b="1" dirty="0"/>
              <a:t>										[4]</a:t>
            </a:r>
          </a:p>
        </p:txBody>
      </p:sp>
    </p:spTree>
    <p:extLst>
      <p:ext uri="{BB962C8B-B14F-4D97-AF65-F5344CB8AC3E}">
        <p14:creationId xmlns:p14="http://schemas.microsoft.com/office/powerpoint/2010/main" val="1524289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Break – Mark Scheme</a:t>
            </a:r>
          </a:p>
        </p:txBody>
      </p:sp>
      <p:sp>
        <p:nvSpPr>
          <p:cNvPr id="3" name="Content Placeholder 2"/>
          <p:cNvSpPr>
            <a:spLocks noGrp="1"/>
          </p:cNvSpPr>
          <p:nvPr>
            <p:ph idx="1"/>
          </p:nvPr>
        </p:nvSpPr>
        <p:spPr>
          <a:xfrm>
            <a:off x="992747" y="1690688"/>
            <a:ext cx="10515600" cy="4351338"/>
          </a:xfrm>
        </p:spPr>
        <p:txBody>
          <a:bodyPr/>
          <a:lstStyle/>
          <a:p>
            <a:pPr marL="0" indent="0">
              <a:buNone/>
            </a:pPr>
            <a:r>
              <a:rPr lang="en-GB" b="1" dirty="0"/>
              <a:t>00001111₂</a:t>
            </a:r>
          </a:p>
          <a:p>
            <a:pPr marL="0" indent="0">
              <a:buNone/>
            </a:pPr>
            <a:r>
              <a:rPr lang="en-GB" dirty="0"/>
              <a:t>	most significant bit is 0, so is positive.</a:t>
            </a:r>
          </a:p>
          <a:p>
            <a:pPr marL="0" indent="0">
              <a:buNone/>
            </a:pPr>
            <a:r>
              <a:rPr lang="en-GB" dirty="0"/>
              <a:t>	</a:t>
            </a:r>
          </a:p>
          <a:p>
            <a:endParaRPr lang="en-GB" dirty="0"/>
          </a:p>
          <a:p>
            <a:r>
              <a:rPr lang="en-GB" dirty="0"/>
              <a:t>+15</a:t>
            </a:r>
          </a:p>
          <a:p>
            <a:pPr marL="0" indent="0">
              <a:buNone/>
            </a:pPr>
            <a:r>
              <a:rPr lang="en-GB" b="1" dirty="0"/>
              <a:t>11100001₂</a:t>
            </a:r>
          </a:p>
          <a:p>
            <a:endParaRPr lang="en-GB" dirty="0"/>
          </a:p>
          <a:p>
            <a:r>
              <a:rPr lang="en-GB" dirty="0"/>
              <a:t>-31</a:t>
            </a:r>
          </a:p>
        </p:txBody>
      </p:sp>
      <p:graphicFrame>
        <p:nvGraphicFramePr>
          <p:cNvPr id="4" name="Table 3"/>
          <p:cNvGraphicFramePr>
            <a:graphicFrameLocks noGrp="1"/>
          </p:cNvGraphicFramePr>
          <p:nvPr>
            <p:extLst>
              <p:ext uri="{D42A27DB-BD31-4B8C-83A1-F6EECF244321}">
                <p14:modId xmlns:p14="http://schemas.microsoft.com/office/powerpoint/2010/main" val="2277548505"/>
              </p:ext>
            </p:extLst>
          </p:nvPr>
        </p:nvGraphicFramePr>
        <p:xfrm>
          <a:off x="2287432" y="2751595"/>
          <a:ext cx="8128000" cy="1112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523827765"/>
                    </a:ext>
                  </a:extLst>
                </a:gridCol>
                <a:gridCol w="1016000">
                  <a:extLst>
                    <a:ext uri="{9D8B030D-6E8A-4147-A177-3AD203B41FA5}">
                      <a16:colId xmlns:a16="http://schemas.microsoft.com/office/drawing/2014/main" val="414452153"/>
                    </a:ext>
                  </a:extLst>
                </a:gridCol>
                <a:gridCol w="1016000">
                  <a:extLst>
                    <a:ext uri="{9D8B030D-6E8A-4147-A177-3AD203B41FA5}">
                      <a16:colId xmlns:a16="http://schemas.microsoft.com/office/drawing/2014/main" val="2498662280"/>
                    </a:ext>
                  </a:extLst>
                </a:gridCol>
                <a:gridCol w="1016000">
                  <a:extLst>
                    <a:ext uri="{9D8B030D-6E8A-4147-A177-3AD203B41FA5}">
                      <a16:colId xmlns:a16="http://schemas.microsoft.com/office/drawing/2014/main" val="79029209"/>
                    </a:ext>
                  </a:extLst>
                </a:gridCol>
                <a:gridCol w="1016000">
                  <a:extLst>
                    <a:ext uri="{9D8B030D-6E8A-4147-A177-3AD203B41FA5}">
                      <a16:colId xmlns:a16="http://schemas.microsoft.com/office/drawing/2014/main" val="498917993"/>
                    </a:ext>
                  </a:extLst>
                </a:gridCol>
                <a:gridCol w="1016000">
                  <a:extLst>
                    <a:ext uri="{9D8B030D-6E8A-4147-A177-3AD203B41FA5}">
                      <a16:colId xmlns:a16="http://schemas.microsoft.com/office/drawing/2014/main" val="1940775442"/>
                    </a:ext>
                  </a:extLst>
                </a:gridCol>
                <a:gridCol w="1016000">
                  <a:extLst>
                    <a:ext uri="{9D8B030D-6E8A-4147-A177-3AD203B41FA5}">
                      <a16:colId xmlns:a16="http://schemas.microsoft.com/office/drawing/2014/main" val="2240581381"/>
                    </a:ext>
                  </a:extLst>
                </a:gridCol>
                <a:gridCol w="1016000">
                  <a:extLst>
                    <a:ext uri="{9D8B030D-6E8A-4147-A177-3AD203B41FA5}">
                      <a16:colId xmlns:a16="http://schemas.microsoft.com/office/drawing/2014/main" val="980235546"/>
                    </a:ext>
                  </a:extLst>
                </a:gridCol>
              </a:tblGrid>
              <a:tr h="370840">
                <a:tc>
                  <a:txBody>
                    <a:bodyPr/>
                    <a:lstStyle/>
                    <a:p>
                      <a:r>
                        <a:rPr lang="en-GB" dirty="0"/>
                        <a:t>-128</a:t>
                      </a:r>
                    </a:p>
                  </a:txBody>
                  <a:tcPr/>
                </a:tc>
                <a:tc>
                  <a:txBody>
                    <a:bodyPr/>
                    <a:lstStyle/>
                    <a:p>
                      <a:r>
                        <a:rPr lang="en-GB" dirty="0"/>
                        <a:t>64</a:t>
                      </a:r>
                    </a:p>
                  </a:txBody>
                  <a:tcPr/>
                </a:tc>
                <a:tc>
                  <a:txBody>
                    <a:bodyPr/>
                    <a:lstStyle/>
                    <a:p>
                      <a:r>
                        <a:rPr lang="en-GB" dirty="0"/>
                        <a:t>32</a:t>
                      </a:r>
                    </a:p>
                  </a:txBody>
                  <a:tcPr/>
                </a:tc>
                <a:tc>
                  <a:txBody>
                    <a:bodyPr/>
                    <a:lstStyle/>
                    <a:p>
                      <a:r>
                        <a:rPr lang="en-GB" dirty="0"/>
                        <a:t>16</a:t>
                      </a:r>
                    </a:p>
                  </a:txBody>
                  <a:tcPr/>
                </a:tc>
                <a:tc>
                  <a:txBody>
                    <a:bodyPr/>
                    <a:lstStyle/>
                    <a:p>
                      <a:r>
                        <a:rPr lang="en-GB" dirty="0"/>
                        <a:t>8</a:t>
                      </a:r>
                    </a:p>
                  </a:txBody>
                  <a:tcPr/>
                </a:tc>
                <a:tc>
                  <a:txBody>
                    <a:bodyPr/>
                    <a:lstStyle/>
                    <a:p>
                      <a:r>
                        <a:rPr lang="en-GB" dirty="0"/>
                        <a:t>4</a:t>
                      </a:r>
                    </a:p>
                  </a:txBody>
                  <a:tcPr/>
                </a:tc>
                <a:tc>
                  <a:txBody>
                    <a:bodyPr/>
                    <a:lstStyle/>
                    <a:p>
                      <a:r>
                        <a:rPr lang="en-GB" dirty="0"/>
                        <a:t>2</a:t>
                      </a:r>
                    </a:p>
                  </a:txBody>
                  <a:tcPr/>
                </a:tc>
                <a:tc>
                  <a:txBody>
                    <a:bodyPr/>
                    <a:lstStyle/>
                    <a:p>
                      <a:r>
                        <a:rPr lang="en-GB" dirty="0"/>
                        <a:t>1</a:t>
                      </a:r>
                    </a:p>
                  </a:txBody>
                  <a:tcPr/>
                </a:tc>
                <a:extLst>
                  <a:ext uri="{0D108BD9-81ED-4DB2-BD59-A6C34878D82A}">
                    <a16:rowId xmlns:a16="http://schemas.microsoft.com/office/drawing/2014/main" val="684014226"/>
                  </a:ext>
                </a:extLst>
              </a:tr>
              <a:tr h="370840">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tc>
                  <a:txBody>
                    <a:bodyPr/>
                    <a:lstStyle/>
                    <a:p>
                      <a:r>
                        <a:rPr lang="en-GB" dirty="0"/>
                        <a:t>1</a:t>
                      </a:r>
                    </a:p>
                  </a:txBody>
                  <a:tcPr/>
                </a:tc>
                <a:tc>
                  <a:txBody>
                    <a:bodyPr/>
                    <a:lstStyle/>
                    <a:p>
                      <a:r>
                        <a:rPr lang="en-GB" dirty="0"/>
                        <a:t>1</a:t>
                      </a:r>
                    </a:p>
                  </a:txBody>
                  <a:tcPr/>
                </a:tc>
                <a:tc>
                  <a:txBody>
                    <a:bodyPr/>
                    <a:lstStyle/>
                    <a:p>
                      <a:r>
                        <a:rPr lang="en-GB" dirty="0"/>
                        <a:t>1</a:t>
                      </a:r>
                    </a:p>
                  </a:txBody>
                  <a:tcPr/>
                </a:tc>
                <a:extLst>
                  <a:ext uri="{0D108BD9-81ED-4DB2-BD59-A6C34878D82A}">
                    <a16:rowId xmlns:a16="http://schemas.microsoft.com/office/drawing/2014/main" val="1934838209"/>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r>
                        <a:rPr lang="en-GB" dirty="0"/>
                        <a:t>8          +</a:t>
                      </a:r>
                    </a:p>
                  </a:txBody>
                  <a:tcPr/>
                </a:tc>
                <a:tc>
                  <a:txBody>
                    <a:bodyPr/>
                    <a:lstStyle/>
                    <a:p>
                      <a:r>
                        <a:rPr lang="en-GB" dirty="0"/>
                        <a:t>4          +</a:t>
                      </a:r>
                    </a:p>
                  </a:txBody>
                  <a:tcPr/>
                </a:tc>
                <a:tc>
                  <a:txBody>
                    <a:bodyPr/>
                    <a:lstStyle/>
                    <a:p>
                      <a:r>
                        <a:rPr lang="en-GB" dirty="0"/>
                        <a:t>2        +</a:t>
                      </a:r>
                    </a:p>
                  </a:txBody>
                  <a:tcPr/>
                </a:tc>
                <a:tc>
                  <a:txBody>
                    <a:bodyPr/>
                    <a:lstStyle/>
                    <a:p>
                      <a:r>
                        <a:rPr lang="en-GB" dirty="0"/>
                        <a:t>1     = 15</a:t>
                      </a:r>
                    </a:p>
                  </a:txBody>
                  <a:tcPr/>
                </a:tc>
                <a:extLst>
                  <a:ext uri="{0D108BD9-81ED-4DB2-BD59-A6C34878D82A}">
                    <a16:rowId xmlns:a16="http://schemas.microsoft.com/office/drawing/2014/main" val="94566159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331003811"/>
              </p:ext>
            </p:extLst>
          </p:nvPr>
        </p:nvGraphicFramePr>
        <p:xfrm>
          <a:off x="2287434" y="4929506"/>
          <a:ext cx="8376272" cy="1112520"/>
        </p:xfrm>
        <a:graphic>
          <a:graphicData uri="http://schemas.openxmlformats.org/drawingml/2006/table">
            <a:tbl>
              <a:tblPr firstRow="1" bandRow="1">
                <a:tableStyleId>{5C22544A-7EE6-4342-B048-85BDC9FD1C3A}</a:tableStyleId>
              </a:tblPr>
              <a:tblGrid>
                <a:gridCol w="1047034">
                  <a:extLst>
                    <a:ext uri="{9D8B030D-6E8A-4147-A177-3AD203B41FA5}">
                      <a16:colId xmlns:a16="http://schemas.microsoft.com/office/drawing/2014/main" val="2523827765"/>
                    </a:ext>
                  </a:extLst>
                </a:gridCol>
                <a:gridCol w="1047034">
                  <a:extLst>
                    <a:ext uri="{9D8B030D-6E8A-4147-A177-3AD203B41FA5}">
                      <a16:colId xmlns:a16="http://schemas.microsoft.com/office/drawing/2014/main" val="414452153"/>
                    </a:ext>
                  </a:extLst>
                </a:gridCol>
                <a:gridCol w="1047034">
                  <a:extLst>
                    <a:ext uri="{9D8B030D-6E8A-4147-A177-3AD203B41FA5}">
                      <a16:colId xmlns:a16="http://schemas.microsoft.com/office/drawing/2014/main" val="2498662280"/>
                    </a:ext>
                  </a:extLst>
                </a:gridCol>
                <a:gridCol w="1047034">
                  <a:extLst>
                    <a:ext uri="{9D8B030D-6E8A-4147-A177-3AD203B41FA5}">
                      <a16:colId xmlns:a16="http://schemas.microsoft.com/office/drawing/2014/main" val="79029209"/>
                    </a:ext>
                  </a:extLst>
                </a:gridCol>
                <a:gridCol w="1047034">
                  <a:extLst>
                    <a:ext uri="{9D8B030D-6E8A-4147-A177-3AD203B41FA5}">
                      <a16:colId xmlns:a16="http://schemas.microsoft.com/office/drawing/2014/main" val="498917993"/>
                    </a:ext>
                  </a:extLst>
                </a:gridCol>
                <a:gridCol w="1047034">
                  <a:extLst>
                    <a:ext uri="{9D8B030D-6E8A-4147-A177-3AD203B41FA5}">
                      <a16:colId xmlns:a16="http://schemas.microsoft.com/office/drawing/2014/main" val="1940775442"/>
                    </a:ext>
                  </a:extLst>
                </a:gridCol>
                <a:gridCol w="1047034">
                  <a:extLst>
                    <a:ext uri="{9D8B030D-6E8A-4147-A177-3AD203B41FA5}">
                      <a16:colId xmlns:a16="http://schemas.microsoft.com/office/drawing/2014/main" val="2240581381"/>
                    </a:ext>
                  </a:extLst>
                </a:gridCol>
                <a:gridCol w="1047034">
                  <a:extLst>
                    <a:ext uri="{9D8B030D-6E8A-4147-A177-3AD203B41FA5}">
                      <a16:colId xmlns:a16="http://schemas.microsoft.com/office/drawing/2014/main" val="980235546"/>
                    </a:ext>
                  </a:extLst>
                </a:gridCol>
              </a:tblGrid>
              <a:tr h="370840">
                <a:tc>
                  <a:txBody>
                    <a:bodyPr/>
                    <a:lstStyle/>
                    <a:p>
                      <a:r>
                        <a:rPr lang="en-GB" dirty="0"/>
                        <a:t>-128</a:t>
                      </a:r>
                    </a:p>
                  </a:txBody>
                  <a:tcPr/>
                </a:tc>
                <a:tc>
                  <a:txBody>
                    <a:bodyPr/>
                    <a:lstStyle/>
                    <a:p>
                      <a:r>
                        <a:rPr lang="en-GB" dirty="0"/>
                        <a:t>64</a:t>
                      </a:r>
                    </a:p>
                  </a:txBody>
                  <a:tcPr/>
                </a:tc>
                <a:tc>
                  <a:txBody>
                    <a:bodyPr/>
                    <a:lstStyle/>
                    <a:p>
                      <a:r>
                        <a:rPr lang="en-GB" dirty="0"/>
                        <a:t>32</a:t>
                      </a:r>
                    </a:p>
                  </a:txBody>
                  <a:tcPr/>
                </a:tc>
                <a:tc>
                  <a:txBody>
                    <a:bodyPr/>
                    <a:lstStyle/>
                    <a:p>
                      <a:r>
                        <a:rPr lang="en-GB" dirty="0"/>
                        <a:t>16</a:t>
                      </a:r>
                    </a:p>
                  </a:txBody>
                  <a:tcPr/>
                </a:tc>
                <a:tc>
                  <a:txBody>
                    <a:bodyPr/>
                    <a:lstStyle/>
                    <a:p>
                      <a:r>
                        <a:rPr lang="en-GB" dirty="0"/>
                        <a:t>8</a:t>
                      </a:r>
                    </a:p>
                  </a:txBody>
                  <a:tcPr/>
                </a:tc>
                <a:tc>
                  <a:txBody>
                    <a:bodyPr/>
                    <a:lstStyle/>
                    <a:p>
                      <a:r>
                        <a:rPr lang="en-GB" dirty="0"/>
                        <a:t>4</a:t>
                      </a:r>
                    </a:p>
                  </a:txBody>
                  <a:tcPr/>
                </a:tc>
                <a:tc>
                  <a:txBody>
                    <a:bodyPr/>
                    <a:lstStyle/>
                    <a:p>
                      <a:r>
                        <a:rPr lang="en-GB" dirty="0"/>
                        <a:t>2</a:t>
                      </a:r>
                    </a:p>
                  </a:txBody>
                  <a:tcPr/>
                </a:tc>
                <a:tc>
                  <a:txBody>
                    <a:bodyPr/>
                    <a:lstStyle/>
                    <a:p>
                      <a:r>
                        <a:rPr lang="en-GB" dirty="0"/>
                        <a:t>1</a:t>
                      </a:r>
                    </a:p>
                  </a:txBody>
                  <a:tcPr/>
                </a:tc>
                <a:extLst>
                  <a:ext uri="{0D108BD9-81ED-4DB2-BD59-A6C34878D82A}">
                    <a16:rowId xmlns:a16="http://schemas.microsoft.com/office/drawing/2014/main" val="684014226"/>
                  </a:ext>
                </a:extLst>
              </a:tr>
              <a:tr h="370840">
                <a:tc>
                  <a:txBody>
                    <a:bodyPr/>
                    <a:lstStyle/>
                    <a:p>
                      <a:r>
                        <a:rPr lang="en-GB" dirty="0"/>
                        <a:t>1</a:t>
                      </a:r>
                    </a:p>
                  </a:txBody>
                  <a:tcPr/>
                </a:tc>
                <a:tc>
                  <a:txBody>
                    <a:bodyPr/>
                    <a:lstStyle/>
                    <a:p>
                      <a:r>
                        <a:rPr lang="en-GB" dirty="0"/>
                        <a:t>1</a:t>
                      </a:r>
                    </a:p>
                  </a:txBody>
                  <a:tcPr/>
                </a:tc>
                <a:tc>
                  <a:txBody>
                    <a:bodyPr/>
                    <a:lstStyle/>
                    <a:p>
                      <a:r>
                        <a:rPr lang="en-GB" dirty="0"/>
                        <a:t>1</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0</a:t>
                      </a:r>
                    </a:p>
                  </a:txBody>
                  <a:tcPr/>
                </a:tc>
                <a:tc>
                  <a:txBody>
                    <a:bodyPr/>
                    <a:lstStyle/>
                    <a:p>
                      <a:r>
                        <a:rPr lang="en-GB" dirty="0"/>
                        <a:t>1</a:t>
                      </a:r>
                    </a:p>
                  </a:txBody>
                  <a:tcPr/>
                </a:tc>
                <a:extLst>
                  <a:ext uri="{0D108BD9-81ED-4DB2-BD59-A6C34878D82A}">
                    <a16:rowId xmlns:a16="http://schemas.microsoft.com/office/drawing/2014/main" val="1934838209"/>
                  </a:ext>
                </a:extLst>
              </a:tr>
              <a:tr h="370840">
                <a:tc>
                  <a:txBody>
                    <a:bodyPr/>
                    <a:lstStyle/>
                    <a:p>
                      <a:r>
                        <a:rPr lang="en-GB" dirty="0"/>
                        <a:t>-128     +</a:t>
                      </a:r>
                    </a:p>
                  </a:txBody>
                  <a:tcPr/>
                </a:tc>
                <a:tc>
                  <a:txBody>
                    <a:bodyPr/>
                    <a:lstStyle/>
                    <a:p>
                      <a:r>
                        <a:rPr lang="en-GB" dirty="0"/>
                        <a:t>64        +</a:t>
                      </a:r>
                    </a:p>
                  </a:txBody>
                  <a:tcPr/>
                </a:tc>
                <a:tc>
                  <a:txBody>
                    <a:bodyPr/>
                    <a:lstStyle/>
                    <a:p>
                      <a:r>
                        <a:rPr lang="en-GB" dirty="0"/>
                        <a:t>32         +</a:t>
                      </a:r>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r>
                        <a:rPr lang="en-GB" dirty="0"/>
                        <a:t>1     = -31</a:t>
                      </a:r>
                    </a:p>
                  </a:txBody>
                  <a:tcPr/>
                </a:tc>
                <a:extLst>
                  <a:ext uri="{0D108BD9-81ED-4DB2-BD59-A6C34878D82A}">
                    <a16:rowId xmlns:a16="http://schemas.microsoft.com/office/drawing/2014/main" val="945661592"/>
                  </a:ext>
                </a:extLst>
              </a:tr>
            </a:tbl>
          </a:graphicData>
        </a:graphic>
      </p:graphicFrame>
    </p:spTree>
    <p:extLst>
      <p:ext uri="{BB962C8B-B14F-4D97-AF65-F5344CB8AC3E}">
        <p14:creationId xmlns:p14="http://schemas.microsoft.com/office/powerpoint/2010/main" val="1435326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The column headings for an 8 bit two’s complement number will look like this:</a:t>
            </a:r>
          </a:p>
          <a:p>
            <a:endParaRPr lang="en-GB" dirty="0"/>
          </a:p>
          <a:p>
            <a:endParaRPr lang="en-GB" dirty="0"/>
          </a:p>
          <a:p>
            <a:endParaRPr lang="en-GB" dirty="0"/>
          </a:p>
          <a:p>
            <a:endParaRPr lang="en-GB" dirty="0"/>
          </a:p>
          <a:p>
            <a:r>
              <a:rPr lang="en-GB" dirty="0"/>
              <a:t>The range of decimal values using 8 bits twos complement is -128 to +127. In general terms the range for n bits is (-2</a:t>
            </a:r>
            <a:r>
              <a:rPr lang="en-GB" baseline="30000" dirty="0"/>
              <a:t>n-1) </a:t>
            </a:r>
            <a:r>
              <a:rPr lang="en-GB" dirty="0"/>
              <a:t>to</a:t>
            </a:r>
            <a:r>
              <a:rPr lang="en-GB" baseline="30000" dirty="0"/>
              <a:t> </a:t>
            </a:r>
            <a:r>
              <a:rPr lang="en-GB" dirty="0"/>
              <a:t>(2</a:t>
            </a:r>
            <a:r>
              <a:rPr lang="en-GB" baseline="30000" dirty="0"/>
              <a:t>n-1</a:t>
            </a:r>
            <a:r>
              <a:rPr lang="en-GB" dirty="0"/>
              <a:t>-1).</a:t>
            </a:r>
          </a:p>
        </p:txBody>
      </p:sp>
      <p:graphicFrame>
        <p:nvGraphicFramePr>
          <p:cNvPr id="6" name="Table 5"/>
          <p:cNvGraphicFramePr>
            <a:graphicFrameLocks noGrp="1"/>
          </p:cNvGraphicFramePr>
          <p:nvPr>
            <p:extLst>
              <p:ext uri="{D42A27DB-BD31-4B8C-83A1-F6EECF244321}">
                <p14:modId xmlns:p14="http://schemas.microsoft.com/office/powerpoint/2010/main" val="2735392676"/>
              </p:ext>
            </p:extLst>
          </p:nvPr>
        </p:nvGraphicFramePr>
        <p:xfrm>
          <a:off x="3241964" y="2833597"/>
          <a:ext cx="6540663" cy="1512261"/>
        </p:xfrm>
        <a:graphic>
          <a:graphicData uri="http://schemas.openxmlformats.org/drawingml/2006/table">
            <a:tbl>
              <a:tblPr/>
              <a:tblGrid>
                <a:gridCol w="1344247">
                  <a:extLst>
                    <a:ext uri="{9D8B030D-6E8A-4147-A177-3AD203B41FA5}">
                      <a16:colId xmlns:a16="http://schemas.microsoft.com/office/drawing/2014/main" val="20000"/>
                    </a:ext>
                  </a:extLst>
                </a:gridCol>
                <a:gridCol w="782472">
                  <a:extLst>
                    <a:ext uri="{9D8B030D-6E8A-4147-A177-3AD203B41FA5}">
                      <a16:colId xmlns:a16="http://schemas.microsoft.com/office/drawing/2014/main" val="20001"/>
                    </a:ext>
                  </a:extLst>
                </a:gridCol>
                <a:gridCol w="782472">
                  <a:extLst>
                    <a:ext uri="{9D8B030D-6E8A-4147-A177-3AD203B41FA5}">
                      <a16:colId xmlns:a16="http://schemas.microsoft.com/office/drawing/2014/main" val="20002"/>
                    </a:ext>
                  </a:extLst>
                </a:gridCol>
                <a:gridCol w="782472">
                  <a:extLst>
                    <a:ext uri="{9D8B030D-6E8A-4147-A177-3AD203B41FA5}">
                      <a16:colId xmlns:a16="http://schemas.microsoft.com/office/drawing/2014/main" val="20003"/>
                    </a:ext>
                  </a:extLst>
                </a:gridCol>
                <a:gridCol w="601901">
                  <a:extLst>
                    <a:ext uri="{9D8B030D-6E8A-4147-A177-3AD203B41FA5}">
                      <a16:colId xmlns:a16="http://schemas.microsoft.com/office/drawing/2014/main" val="20004"/>
                    </a:ext>
                  </a:extLst>
                </a:gridCol>
                <a:gridCol w="601901">
                  <a:extLst>
                    <a:ext uri="{9D8B030D-6E8A-4147-A177-3AD203B41FA5}">
                      <a16:colId xmlns:a16="http://schemas.microsoft.com/office/drawing/2014/main" val="20005"/>
                    </a:ext>
                  </a:extLst>
                </a:gridCol>
                <a:gridCol w="653580">
                  <a:extLst>
                    <a:ext uri="{9D8B030D-6E8A-4147-A177-3AD203B41FA5}">
                      <a16:colId xmlns:a16="http://schemas.microsoft.com/office/drawing/2014/main" val="20006"/>
                    </a:ext>
                  </a:extLst>
                </a:gridCol>
                <a:gridCol w="991618">
                  <a:extLst>
                    <a:ext uri="{9D8B030D-6E8A-4147-A177-3AD203B41FA5}">
                      <a16:colId xmlns:a16="http://schemas.microsoft.com/office/drawing/2014/main" val="20007"/>
                    </a:ext>
                  </a:extLst>
                </a:gridCol>
              </a:tblGrid>
              <a:tr h="412947">
                <a:tc>
                  <a:txBody>
                    <a:bodyPr/>
                    <a:lstStyle/>
                    <a:p>
                      <a:pPr algn="ctr" rtl="0" fontAlgn="ctr">
                        <a:spcBef>
                          <a:spcPts val="0"/>
                        </a:spcBef>
                        <a:spcAft>
                          <a:spcPts val="0"/>
                        </a:spcAft>
                      </a:pPr>
                      <a:r>
                        <a:rPr lang="en-GB" sz="2400" b="1" i="0" u="none" strike="noStrike" dirty="0">
                          <a:solidFill>
                            <a:srgbClr val="DA362C"/>
                          </a:solidFill>
                          <a:effectLst/>
                          <a:latin typeface="Calibri" panose="020F0502020204030204" pitchFamily="34" charset="0"/>
                        </a:rPr>
                        <a:t>+/-128</a:t>
                      </a: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64</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32</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dirty="0">
                          <a:solidFill>
                            <a:srgbClr val="DA362C"/>
                          </a:solidFill>
                          <a:effectLst/>
                          <a:latin typeface="Calibri" panose="020F0502020204030204" pitchFamily="34" charset="0"/>
                        </a:rPr>
                        <a:t>16</a:t>
                      </a: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8</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4</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2</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rtl="0" fontAlgn="ctr">
                        <a:spcBef>
                          <a:spcPts val="0"/>
                        </a:spcBef>
                        <a:spcAft>
                          <a:spcPts val="0"/>
                        </a:spcAft>
                      </a:pPr>
                      <a:r>
                        <a:rPr lang="en-GB" sz="2400" b="1" i="0" u="none" strike="noStrike">
                          <a:solidFill>
                            <a:srgbClr val="DA362C"/>
                          </a:solidFill>
                          <a:effectLst/>
                          <a:latin typeface="Calibri" panose="020F0502020204030204" pitchFamily="34" charset="0"/>
                        </a:rPr>
                        <a:t>1</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0"/>
                  </a:ext>
                </a:extLst>
              </a:tr>
              <a:tr h="956001">
                <a:tc>
                  <a:txBody>
                    <a:bodyPr/>
                    <a:lstStyle/>
                    <a:p>
                      <a:pPr rtl="0" fontAlgn="ctr">
                        <a:spcBef>
                          <a:spcPts val="0"/>
                        </a:spcBef>
                        <a:spcAft>
                          <a:spcPts val="0"/>
                        </a:spcAft>
                      </a:pPr>
                      <a:r>
                        <a:rPr lang="en-GB" sz="2400" b="0" i="0" u="none" strike="noStrike">
                          <a:solidFill>
                            <a:srgbClr val="DA362C"/>
                          </a:solidFill>
                          <a:effectLst/>
                          <a:latin typeface="Calibri" panose="020F0502020204030204" pitchFamily="34" charset="0"/>
                        </a:rPr>
                        <a:t>MSB</a:t>
                      </a:r>
                      <a:endParaRPr lang="en-GB" sz="360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fontAlgn="ct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rtl="0" fontAlgn="ctr">
                        <a:spcBef>
                          <a:spcPts val="0"/>
                        </a:spcBef>
                        <a:spcAft>
                          <a:spcPts val="0"/>
                        </a:spcAft>
                      </a:pPr>
                      <a:r>
                        <a:rPr lang="en-GB" sz="2400" b="0" i="0" u="none" strike="noStrike" dirty="0">
                          <a:solidFill>
                            <a:srgbClr val="DA362C"/>
                          </a:solidFill>
                          <a:effectLst/>
                          <a:latin typeface="Calibri" panose="020F0502020204030204" pitchFamily="34" charset="0"/>
                        </a:rPr>
                        <a:t>LSB</a:t>
                      </a:r>
                      <a:endParaRPr lang="en-GB" sz="3600" dirty="0">
                        <a:solidFill>
                          <a:srgbClr val="DA362C"/>
                        </a:solidFill>
                        <a:effectLst/>
                      </a:endParaRPr>
                    </a:p>
                  </a:txBody>
                  <a:tcPr marL="95250" marR="95250" marT="95250" marB="9525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Rectangle 2"/>
          <p:cNvSpPr>
            <a:spLocks noChangeArrowheads="1"/>
          </p:cNvSpPr>
          <p:nvPr/>
        </p:nvSpPr>
        <p:spPr bwMode="auto">
          <a:xfrm>
            <a:off x="4543425" y="3444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153957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One’s Complement</a:t>
            </a:r>
            <a:endParaRPr lang="en-GB" dirty="0"/>
          </a:p>
        </p:txBody>
      </p:sp>
      <p:sp>
        <p:nvSpPr>
          <p:cNvPr id="3" name="Content Placeholder 2"/>
          <p:cNvSpPr>
            <a:spLocks noGrp="1"/>
          </p:cNvSpPr>
          <p:nvPr>
            <p:ph idx="1"/>
          </p:nvPr>
        </p:nvSpPr>
        <p:spPr/>
        <p:txBody>
          <a:bodyPr/>
          <a:lstStyle/>
          <a:p>
            <a:r>
              <a:rPr lang="en-GB" b="1" dirty="0"/>
              <a:t>1's complement</a:t>
            </a:r>
            <a:r>
              <a:rPr lang="en-GB" dirty="0"/>
              <a:t> is a very easy method for representing negative numbers in binary number system. </a:t>
            </a:r>
          </a:p>
          <a:p>
            <a:r>
              <a:rPr lang="en-GB" dirty="0"/>
              <a:t>To represent any number which is negative first we have to consider the binary value of its positive magnitude in binary system, then we have to simply convert the 1’s with 0 and the 0s with 1 and we will get the 1's complement of that number which is also the negative value of that number. </a:t>
            </a:r>
          </a:p>
        </p:txBody>
      </p:sp>
    </p:spTree>
    <p:extLst>
      <p:ext uri="{BB962C8B-B14F-4D97-AF65-F5344CB8AC3E}">
        <p14:creationId xmlns:p14="http://schemas.microsoft.com/office/powerpoint/2010/main" val="2015184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7170" name="Picture 2" descr="https://lh3.googleusercontent.com/AEsyZIvY6spOT7PZ3FIJwyOVLPbazWGQlgdVA8K4hTGeyM3uYsVamEgFh6JRdHU5FnjGrDRhrZqnMDRg8jVt_I_A1r9MEJsSYXsBElugh9Tbl7dfrKS0gH9DgF9OyWC7_6blKXsh"/>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548" t="26752" r="17091" b="17313"/>
          <a:stretch/>
        </p:blipFill>
        <p:spPr bwMode="auto">
          <a:xfrm>
            <a:off x="4833256" y="130628"/>
            <a:ext cx="7358744" cy="6538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352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“Sir, so why not just use One’s Complement?”</a:t>
            </a:r>
            <a:endParaRPr lang="en-GB" dirty="0"/>
          </a:p>
        </p:txBody>
      </p:sp>
      <p:sp>
        <p:nvSpPr>
          <p:cNvPr id="3" name="Content Placeholder 2"/>
          <p:cNvSpPr>
            <a:spLocks noGrp="1"/>
          </p:cNvSpPr>
          <p:nvPr>
            <p:ph idx="1"/>
          </p:nvPr>
        </p:nvSpPr>
        <p:spPr/>
        <p:txBody>
          <a:bodyPr>
            <a:normAutofit lnSpcReduction="10000"/>
          </a:bodyPr>
          <a:lstStyle/>
          <a:p>
            <a:r>
              <a:rPr lang="en-GB" dirty="0"/>
              <a:t>Two's-complement has the advantage that there is only one bit representation for zero. </a:t>
            </a:r>
            <a:endParaRPr lang="en-GB" b="0" dirty="0">
              <a:effectLst/>
            </a:endParaRPr>
          </a:p>
          <a:p>
            <a:r>
              <a:rPr lang="en-GB" dirty="0"/>
              <a:t>e.g. </a:t>
            </a:r>
            <a:r>
              <a:rPr lang="en-GB"/>
              <a:t>1000 </a:t>
            </a:r>
            <a:r>
              <a:rPr lang="en-GB" dirty="0"/>
              <a:t>and 0000 in 1’s complement are both zero!</a:t>
            </a:r>
            <a:endParaRPr lang="en-GB" b="0" dirty="0">
              <a:effectLst/>
            </a:endParaRPr>
          </a:p>
          <a:p>
            <a:pPr marL="0" indent="0">
              <a:buNone/>
            </a:pPr>
            <a:br>
              <a:rPr lang="en-GB" b="0" dirty="0">
                <a:effectLst/>
              </a:rPr>
            </a:br>
            <a:r>
              <a:rPr lang="en-GB" dirty="0"/>
              <a:t>Two representations of zero would lead to problems in many programs.  </a:t>
            </a:r>
            <a:r>
              <a:rPr lang="en-GB" i="1" dirty="0"/>
              <a:t>(Think: if a == 0)</a:t>
            </a:r>
            <a:endParaRPr lang="en-GB" b="0" dirty="0">
              <a:effectLst/>
            </a:endParaRPr>
          </a:p>
          <a:p>
            <a:pPr marL="0" indent="0">
              <a:buNone/>
            </a:pPr>
            <a:endParaRPr lang="en-GB" dirty="0"/>
          </a:p>
          <a:p>
            <a:r>
              <a:rPr lang="en-GB" dirty="0"/>
              <a:t>Adding and subtracting is also more straightforward in 2's complement. It works the same on two integers, whether positive or negative.</a:t>
            </a:r>
            <a:endParaRPr lang="en-GB" b="0" dirty="0">
              <a:effectLst/>
            </a:endParaRPr>
          </a:p>
          <a:p>
            <a:pPr marL="0" indent="0">
              <a:buNone/>
            </a:pPr>
            <a:endParaRPr lang="en-GB" dirty="0"/>
          </a:p>
        </p:txBody>
      </p:sp>
    </p:spTree>
    <p:extLst>
      <p:ext uri="{BB962C8B-B14F-4D97-AF65-F5344CB8AC3E}">
        <p14:creationId xmlns:p14="http://schemas.microsoft.com/office/powerpoint/2010/main" val="509046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838200" y="1825625"/>
            <a:ext cx="10515600" cy="4351338"/>
          </a:xfrm>
        </p:spPr>
        <p:txBody>
          <a:bodyPr anchor="ctr">
            <a:normAutofit/>
          </a:bodyPr>
          <a:lstStyle/>
          <a:p>
            <a:pPr marL="0" indent="0">
              <a:buNone/>
            </a:pPr>
            <a:r>
              <a:rPr lang="en-GB" sz="6000" dirty="0"/>
              <a:t>https://www.bbc.co.uk/bitesize/guides/zwsbwmn/test </a:t>
            </a:r>
          </a:p>
        </p:txBody>
      </p:sp>
    </p:spTree>
    <p:extLst>
      <p:ext uri="{BB962C8B-B14F-4D97-AF65-F5344CB8AC3E}">
        <p14:creationId xmlns:p14="http://schemas.microsoft.com/office/powerpoint/2010/main" val="1010582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Demonstrate how ASCII and Unicode are used to represent characters</a:t>
            </a:r>
            <a:endParaRPr lang="en-GB" dirty="0"/>
          </a:p>
        </p:txBody>
      </p:sp>
      <p:sp>
        <p:nvSpPr>
          <p:cNvPr id="3" name="Content Placeholder 2"/>
          <p:cNvSpPr>
            <a:spLocks noGrp="1"/>
          </p:cNvSpPr>
          <p:nvPr>
            <p:ph idx="1"/>
          </p:nvPr>
        </p:nvSpPr>
        <p:spPr/>
        <p:txBody>
          <a:bodyPr>
            <a:normAutofit fontScale="92500"/>
          </a:bodyPr>
          <a:lstStyle/>
          <a:p>
            <a:r>
              <a:rPr lang="en-GB" dirty="0"/>
              <a:t>A character set is a set of symbols that may be represented in a computer at a particular time. </a:t>
            </a:r>
          </a:p>
          <a:p>
            <a:r>
              <a:rPr lang="en-GB" dirty="0"/>
              <a:t>These symbols, called characters, can be classified as letters, digits and punctuation marks. </a:t>
            </a:r>
          </a:p>
          <a:p>
            <a:r>
              <a:rPr lang="en-GB" dirty="0"/>
              <a:t>A character set also contains “control” characters which are non-printing and are used for special purposes such as an end of file marker. </a:t>
            </a:r>
          </a:p>
          <a:p>
            <a:r>
              <a:rPr lang="en-GB" dirty="0"/>
              <a:t>Two examples of character sets are ASCII and Unicode.</a:t>
            </a:r>
            <a:endParaRPr lang="en-GB" b="0" dirty="0">
              <a:effectLst/>
            </a:endParaRPr>
          </a:p>
          <a:p>
            <a:r>
              <a:rPr lang="en-GB" b="1" dirty="0"/>
              <a:t>ASCII (American Standard Code for Information Interchange)</a:t>
            </a:r>
            <a:endParaRPr lang="en-GB" b="0" dirty="0">
              <a:effectLst/>
            </a:endParaRPr>
          </a:p>
          <a:p>
            <a:pPr marL="0" indent="0">
              <a:buNone/>
            </a:pPr>
            <a:br>
              <a:rPr lang="en-GB" dirty="0"/>
            </a:br>
            <a:endParaRPr lang="en-GB" dirty="0"/>
          </a:p>
        </p:txBody>
      </p:sp>
    </p:spTree>
    <p:extLst>
      <p:ext uri="{BB962C8B-B14F-4D97-AF65-F5344CB8AC3E}">
        <p14:creationId xmlns:p14="http://schemas.microsoft.com/office/powerpoint/2010/main" val="4373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ASCII</a:t>
            </a:r>
          </a:p>
        </p:txBody>
      </p:sp>
      <p:sp>
        <p:nvSpPr>
          <p:cNvPr id="3" name="Content Placeholder 2"/>
          <p:cNvSpPr>
            <a:spLocks noGrp="1"/>
          </p:cNvSpPr>
          <p:nvPr>
            <p:ph idx="1"/>
          </p:nvPr>
        </p:nvSpPr>
        <p:spPr/>
        <p:txBody>
          <a:bodyPr/>
          <a:lstStyle/>
          <a:p>
            <a:r>
              <a:rPr lang="en-GB" dirty="0"/>
              <a:t>ASCII uses a 7 bit code and represents 128 characters including control characters. The characters are coded as consecutive numbers from 0 to 127. </a:t>
            </a:r>
          </a:p>
          <a:p>
            <a:r>
              <a:rPr lang="en-GB" dirty="0"/>
              <a:t>These characters and control codes are encoded as simple, unsigned, binary integers.</a:t>
            </a:r>
          </a:p>
        </p:txBody>
      </p:sp>
    </p:spTree>
    <p:extLst>
      <p:ext uri="{BB962C8B-B14F-4D97-AF65-F5344CB8AC3E}">
        <p14:creationId xmlns:p14="http://schemas.microsoft.com/office/powerpoint/2010/main" val="355328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36096"/>
            <a:ext cx="5019675" cy="2203904"/>
          </a:xfrm>
        </p:spPr>
        <p:txBody>
          <a:bodyPr/>
          <a:lstStyle/>
          <a:p>
            <a:r>
              <a:rPr lang="en-GB" dirty="0"/>
              <a:t>Every character has a unique binary pattern</a:t>
            </a:r>
          </a:p>
        </p:txBody>
      </p:sp>
      <p:pic>
        <p:nvPicPr>
          <p:cNvPr id="5" name="Content Placeholder 4"/>
          <p:cNvPicPr>
            <a:picLocks noGrp="1" noChangeAspect="1"/>
          </p:cNvPicPr>
          <p:nvPr>
            <p:ph idx="1"/>
          </p:nvPr>
        </p:nvPicPr>
        <p:blipFill>
          <a:blip r:embed="rId2"/>
          <a:stretch>
            <a:fillRect/>
          </a:stretch>
        </p:blipFill>
        <p:spPr>
          <a:xfrm>
            <a:off x="5994398" y="110995"/>
            <a:ext cx="6125029" cy="6659921"/>
          </a:xfrm>
          <a:prstGeom prst="rect">
            <a:avLst/>
          </a:prstGeom>
        </p:spPr>
      </p:pic>
    </p:spTree>
    <p:extLst>
      <p:ext uri="{BB962C8B-B14F-4D97-AF65-F5344CB8AC3E}">
        <p14:creationId xmlns:p14="http://schemas.microsoft.com/office/powerpoint/2010/main" val="3635273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ASCII</a:t>
            </a:r>
          </a:p>
        </p:txBody>
      </p:sp>
      <p:sp>
        <p:nvSpPr>
          <p:cNvPr id="3" name="Content Placeholder 2"/>
          <p:cNvSpPr>
            <a:spLocks noGrp="1"/>
          </p:cNvSpPr>
          <p:nvPr>
            <p:ph idx="1"/>
          </p:nvPr>
        </p:nvSpPr>
        <p:spPr/>
        <p:txBody>
          <a:bodyPr/>
          <a:lstStyle/>
          <a:p>
            <a:r>
              <a:rPr lang="en-GB" dirty="0"/>
              <a:t>ASCII was designed to represent English-language text for an American user base, and is therefore insufficient for representing text in almost any language other than American English. </a:t>
            </a:r>
          </a:p>
          <a:p>
            <a:r>
              <a:rPr lang="en-GB" dirty="0"/>
              <a:t>The 8th bit can be used for error checking. </a:t>
            </a:r>
          </a:p>
          <a:p>
            <a:r>
              <a:rPr lang="en-GB" dirty="0"/>
              <a:t>Alternatively, ASCII can represent 28 characters/ASCII uses 8 bits to represent 256 characters.</a:t>
            </a:r>
          </a:p>
        </p:txBody>
      </p:sp>
    </p:spTree>
    <p:extLst>
      <p:ext uri="{BB962C8B-B14F-4D97-AF65-F5344CB8AC3E}">
        <p14:creationId xmlns:p14="http://schemas.microsoft.com/office/powerpoint/2010/main" val="2200591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ACSII</a:t>
            </a:r>
          </a:p>
        </p:txBody>
      </p:sp>
      <p:sp>
        <p:nvSpPr>
          <p:cNvPr id="3" name="Content Placeholder 2"/>
          <p:cNvSpPr>
            <a:spLocks noGrp="1"/>
          </p:cNvSpPr>
          <p:nvPr>
            <p:ph idx="1"/>
          </p:nvPr>
        </p:nvSpPr>
        <p:spPr/>
        <p:txBody>
          <a:bodyPr/>
          <a:lstStyle/>
          <a:p>
            <a:r>
              <a:rPr lang="en-GB" dirty="0"/>
              <a:t>ASCII uses </a:t>
            </a:r>
            <a:r>
              <a:rPr lang="en-GB" b="1" dirty="0"/>
              <a:t>8 bits</a:t>
            </a:r>
            <a:r>
              <a:rPr lang="en-GB" dirty="0"/>
              <a:t> to represent a character.</a:t>
            </a:r>
          </a:p>
          <a:p>
            <a:r>
              <a:rPr lang="en-GB" dirty="0"/>
              <a:t>However, one of the bits is a </a:t>
            </a:r>
            <a:r>
              <a:rPr lang="en-GB" b="1" dirty="0"/>
              <a:t>parity bit</a:t>
            </a:r>
            <a:r>
              <a:rPr lang="en-GB" dirty="0"/>
              <a:t>. This is used to perform a parity check (a form of error checking). This uses up one bit, so ASCII represents 128 characters (the equivalent of 7 bits) with 8 bits rather than 256.</a:t>
            </a:r>
          </a:p>
          <a:p>
            <a:r>
              <a:rPr lang="en-GB" dirty="0"/>
              <a:t>For example, the ASCII code for lower case z is 122 and is shown below:</a:t>
            </a:r>
          </a:p>
          <a:p>
            <a:endParaRPr lang="en-GB" dirty="0"/>
          </a:p>
        </p:txBody>
      </p:sp>
      <p:pic>
        <p:nvPicPr>
          <p:cNvPr id="6" name="Picture 5"/>
          <p:cNvPicPr>
            <a:picLocks noChangeAspect="1"/>
          </p:cNvPicPr>
          <p:nvPr/>
        </p:nvPicPr>
        <p:blipFill>
          <a:blip r:embed="rId2"/>
          <a:stretch>
            <a:fillRect/>
          </a:stretch>
        </p:blipFill>
        <p:spPr>
          <a:xfrm>
            <a:off x="1227822" y="5203328"/>
            <a:ext cx="9736356" cy="973635"/>
          </a:xfrm>
          <a:prstGeom prst="rect">
            <a:avLst/>
          </a:prstGeom>
        </p:spPr>
      </p:pic>
    </p:spTree>
    <p:extLst>
      <p:ext uri="{BB962C8B-B14F-4D97-AF65-F5344CB8AC3E}">
        <p14:creationId xmlns:p14="http://schemas.microsoft.com/office/powerpoint/2010/main" val="2713190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4D06-E08E-4A5F-82F9-68DE8D09F7C4}"/>
              </a:ext>
            </a:extLst>
          </p:cNvPr>
          <p:cNvSpPr>
            <a:spLocks noGrp="1"/>
          </p:cNvSpPr>
          <p:nvPr>
            <p:ph type="title"/>
          </p:nvPr>
        </p:nvSpPr>
        <p:spPr/>
        <p:txBody>
          <a:bodyPr/>
          <a:lstStyle/>
          <a:p>
            <a:r>
              <a:rPr lang="en-GB" dirty="0"/>
              <a:t>Parity Bits</a:t>
            </a:r>
          </a:p>
        </p:txBody>
      </p:sp>
      <p:sp>
        <p:nvSpPr>
          <p:cNvPr id="3" name="Content Placeholder 2">
            <a:extLst>
              <a:ext uri="{FF2B5EF4-FFF2-40B4-BE49-F238E27FC236}">
                <a16:creationId xmlns:a16="http://schemas.microsoft.com/office/drawing/2014/main" id="{FD6B9BF0-5C10-461F-94DE-34A308AC8D2B}"/>
              </a:ext>
            </a:extLst>
          </p:cNvPr>
          <p:cNvSpPr>
            <a:spLocks noGrp="1"/>
          </p:cNvSpPr>
          <p:nvPr>
            <p:ph idx="1"/>
          </p:nvPr>
        </p:nvSpPr>
        <p:spPr/>
        <p:txBody>
          <a:bodyPr>
            <a:normAutofit lnSpcReduction="10000"/>
          </a:bodyPr>
          <a:lstStyle/>
          <a:p>
            <a:r>
              <a:rPr lang="en-GB" dirty="0"/>
              <a:t>A particular data communications system represents characters using ASCII with odd parity.</a:t>
            </a:r>
          </a:p>
          <a:p>
            <a:r>
              <a:rPr lang="en-GB" dirty="0"/>
              <a:t>This means each 7-bit ASCII character is followed by a parity (check)  bit</a:t>
            </a:r>
          </a:p>
          <a:p>
            <a:r>
              <a:rPr lang="en-GB" dirty="0"/>
              <a:t>The ASCII code for ‘J’ is 74, which is represented in binary as 1001010</a:t>
            </a:r>
          </a:p>
          <a:p>
            <a:pPr lvl="1"/>
            <a:r>
              <a:rPr lang="en-GB" dirty="0"/>
              <a:t>As there are three 1s in this number, the digit 0 is added at the end </a:t>
            </a:r>
          </a:p>
          <a:p>
            <a:pPr lvl="1"/>
            <a:r>
              <a:rPr lang="en-GB" dirty="0"/>
              <a:t>So 10010100 is actually transmitted.</a:t>
            </a:r>
          </a:p>
          <a:p>
            <a:pPr lvl="1"/>
            <a:r>
              <a:rPr lang="en-GB" dirty="0"/>
              <a:t>If during transmission there is any interference/corruption/error and one of the bits is changed – for example 11010100 – the computer recalculates and determines the parity bit should be 1 (as there is an even number of 1s), then the computer knows an error has occurred and can request to be retransmitted.</a:t>
            </a:r>
          </a:p>
          <a:p>
            <a:endParaRPr lang="en-GB" dirty="0"/>
          </a:p>
        </p:txBody>
      </p:sp>
    </p:spTree>
    <p:extLst>
      <p:ext uri="{BB962C8B-B14F-4D97-AF65-F5344CB8AC3E}">
        <p14:creationId xmlns:p14="http://schemas.microsoft.com/office/powerpoint/2010/main" val="4185448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973" y="0"/>
            <a:ext cx="9931256" cy="1325563"/>
          </a:xfrm>
        </p:spPr>
        <p:txBody>
          <a:bodyPr/>
          <a:lstStyle/>
          <a:p>
            <a:r>
              <a:rPr lang="en-GB" dirty="0"/>
              <a:t>Extended ASCII</a:t>
            </a:r>
          </a:p>
        </p:txBody>
      </p:sp>
      <p:sp>
        <p:nvSpPr>
          <p:cNvPr id="3" name="Content Placeholder 2"/>
          <p:cNvSpPr>
            <a:spLocks noGrp="1"/>
          </p:cNvSpPr>
          <p:nvPr>
            <p:ph idx="1"/>
          </p:nvPr>
        </p:nvSpPr>
        <p:spPr>
          <a:xfrm>
            <a:off x="841973" y="1011811"/>
            <a:ext cx="10515600" cy="4351338"/>
          </a:xfrm>
        </p:spPr>
        <p:txBody>
          <a:bodyPr/>
          <a:lstStyle/>
          <a:p>
            <a:r>
              <a:rPr lang="en-GB" dirty="0"/>
              <a:t>It is possible to disregard the use of a parity bit to allow ASCII to represent 256 characters. This is known as </a:t>
            </a:r>
            <a:r>
              <a:rPr lang="en-GB" b="1" dirty="0"/>
              <a:t>extended ASCII</a:t>
            </a:r>
            <a:r>
              <a:rPr lang="en-GB" dirty="0"/>
              <a:t>. </a:t>
            </a:r>
          </a:p>
          <a:p>
            <a:r>
              <a:rPr lang="en-GB" dirty="0"/>
              <a:t>There are different versions of extended ASCII in use.</a:t>
            </a:r>
          </a:p>
          <a:p>
            <a:endParaRPr lang="en-GB" dirty="0"/>
          </a:p>
          <a:p>
            <a:r>
              <a:rPr lang="en-GB" dirty="0"/>
              <a:t>The 128 or 256 character limits of ASCII and Extended ASCII limits the number of character sets that can be held. </a:t>
            </a:r>
          </a:p>
          <a:p>
            <a:r>
              <a:rPr lang="en-GB" dirty="0"/>
              <a:t>Representing the character sets for several different language structures is not possible in ASCII, there are just not enough available characters.</a:t>
            </a:r>
          </a:p>
        </p:txBody>
      </p:sp>
      <p:pic>
        <p:nvPicPr>
          <p:cNvPr id="4" name="Picture 3"/>
          <p:cNvPicPr>
            <a:picLocks noChangeAspect="1"/>
          </p:cNvPicPr>
          <p:nvPr/>
        </p:nvPicPr>
        <p:blipFill>
          <a:blip r:embed="rId2"/>
          <a:stretch>
            <a:fillRect/>
          </a:stretch>
        </p:blipFill>
        <p:spPr>
          <a:xfrm>
            <a:off x="6778171" y="4823455"/>
            <a:ext cx="5020376" cy="1991003"/>
          </a:xfrm>
          <a:prstGeom prst="rect">
            <a:avLst/>
          </a:prstGeom>
        </p:spPr>
      </p:pic>
    </p:spTree>
    <p:extLst>
      <p:ext uri="{BB962C8B-B14F-4D97-AF65-F5344CB8AC3E}">
        <p14:creationId xmlns:p14="http://schemas.microsoft.com/office/powerpoint/2010/main" val="4040504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850" y="365125"/>
            <a:ext cx="2444750" cy="6354989"/>
          </a:xfrm>
        </p:spPr>
        <p:txBody>
          <a:bodyPr/>
          <a:lstStyle/>
          <a:p>
            <a:r>
              <a:rPr lang="en-GB" dirty="0"/>
              <a:t>ASCII: Extended Version</a:t>
            </a:r>
          </a:p>
        </p:txBody>
      </p:sp>
      <p:pic>
        <p:nvPicPr>
          <p:cNvPr id="4" name="Content Placeholder 3"/>
          <p:cNvPicPr>
            <a:picLocks noGrp="1" noChangeAspect="1"/>
          </p:cNvPicPr>
          <p:nvPr>
            <p:ph idx="1"/>
          </p:nvPr>
        </p:nvPicPr>
        <p:blipFill>
          <a:blip r:embed="rId2"/>
          <a:stretch>
            <a:fillRect/>
          </a:stretch>
        </p:blipFill>
        <p:spPr>
          <a:xfrm>
            <a:off x="3260083" y="133145"/>
            <a:ext cx="8931917" cy="6550682"/>
          </a:xfrm>
          <a:prstGeom prst="rect">
            <a:avLst/>
          </a:prstGeom>
        </p:spPr>
      </p:pic>
      <p:sp>
        <p:nvSpPr>
          <p:cNvPr id="5" name="Rectangle 4"/>
          <p:cNvSpPr/>
          <p:nvPr/>
        </p:nvSpPr>
        <p:spPr>
          <a:xfrm>
            <a:off x="9187543" y="162178"/>
            <a:ext cx="2917371" cy="647810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0018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Unicode</a:t>
            </a:r>
          </a:p>
        </p:txBody>
      </p:sp>
      <p:sp>
        <p:nvSpPr>
          <p:cNvPr id="3" name="Content Placeholder 2"/>
          <p:cNvSpPr>
            <a:spLocks noGrp="1"/>
          </p:cNvSpPr>
          <p:nvPr>
            <p:ph idx="1"/>
          </p:nvPr>
        </p:nvSpPr>
        <p:spPr/>
        <p:txBody>
          <a:bodyPr>
            <a:normAutofit/>
          </a:bodyPr>
          <a:lstStyle/>
          <a:p>
            <a:r>
              <a:rPr lang="en-GB" dirty="0"/>
              <a:t>Unicode is a worldwide character standard. It allows for the interchange, processing, and display of the written texts of the majority of the diverse languages of the modern world. Whereas ASCII was limited to American English characters</a:t>
            </a:r>
          </a:p>
          <a:p>
            <a:r>
              <a:rPr lang="en-GB" dirty="0"/>
              <a:t>Therefore, it is a single-coded character set that incorporates characters from almost all the worlds’ languages. </a:t>
            </a:r>
          </a:p>
          <a:p>
            <a:r>
              <a:rPr lang="en-GB" dirty="0"/>
              <a:t>To allow for the increase in representing characters Unicode is a 16 bit extension (to represent 65536 characters) of ASCII code.</a:t>
            </a:r>
            <a:endParaRPr lang="en-GB" b="0" dirty="0">
              <a:effectLst/>
            </a:endParaRPr>
          </a:p>
          <a:p>
            <a:pPr marL="0" indent="0">
              <a:buNone/>
            </a:pPr>
            <a:br>
              <a:rPr lang="en-GB" dirty="0"/>
            </a:br>
            <a:endParaRPr lang="en-GB" dirty="0"/>
          </a:p>
        </p:txBody>
      </p:sp>
    </p:spTree>
    <p:extLst>
      <p:ext uri="{BB962C8B-B14F-4D97-AF65-F5344CB8AC3E}">
        <p14:creationId xmlns:p14="http://schemas.microsoft.com/office/powerpoint/2010/main" val="2746766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Questions</a:t>
            </a:r>
          </a:p>
        </p:txBody>
      </p:sp>
      <p:sp>
        <p:nvSpPr>
          <p:cNvPr id="3" name="Content Placeholder 2"/>
          <p:cNvSpPr>
            <a:spLocks noGrp="1"/>
          </p:cNvSpPr>
          <p:nvPr>
            <p:ph idx="1"/>
          </p:nvPr>
        </p:nvSpPr>
        <p:spPr/>
        <p:txBody>
          <a:bodyPr/>
          <a:lstStyle/>
          <a:p>
            <a:pPr fontAlgn="base"/>
            <a:r>
              <a:rPr lang="en-GB" dirty="0"/>
              <a:t>How many possible characters can be represented using the ASCII character set?</a:t>
            </a:r>
          </a:p>
          <a:p>
            <a:pPr fontAlgn="base"/>
            <a:r>
              <a:rPr lang="en-GB" dirty="0"/>
              <a:t>How many possible characters can be represented using the Unicode character set?</a:t>
            </a:r>
          </a:p>
          <a:p>
            <a:pPr fontAlgn="base"/>
            <a:r>
              <a:rPr lang="en-GB" dirty="0"/>
              <a:t>Using ASCII, write </a:t>
            </a:r>
            <a:r>
              <a:rPr lang="en-GB" b="1" dirty="0"/>
              <a:t>Enniskillen Royal Grammar School</a:t>
            </a:r>
            <a:r>
              <a:rPr lang="en-GB" dirty="0"/>
              <a:t> in binary.</a:t>
            </a:r>
          </a:p>
          <a:p>
            <a:endParaRPr lang="en-GB" dirty="0"/>
          </a:p>
        </p:txBody>
      </p:sp>
    </p:spTree>
    <p:extLst>
      <p:ext uri="{BB962C8B-B14F-4D97-AF65-F5344CB8AC3E}">
        <p14:creationId xmlns:p14="http://schemas.microsoft.com/office/powerpoint/2010/main" val="1742238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Revision Worksheet</a:t>
            </a:r>
          </a:p>
        </p:txBody>
      </p:sp>
      <p:sp>
        <p:nvSpPr>
          <p:cNvPr id="3" name="Content Placeholder 2"/>
          <p:cNvSpPr>
            <a:spLocks noGrp="1"/>
          </p:cNvSpPr>
          <p:nvPr>
            <p:ph idx="1"/>
          </p:nvPr>
        </p:nvSpPr>
        <p:spPr/>
        <p:txBody>
          <a:bodyPr/>
          <a:lstStyle/>
          <a:p>
            <a:pPr marL="0" indent="0">
              <a:buNone/>
            </a:pPr>
            <a:r>
              <a:rPr lang="en-GB" dirty="0"/>
              <a:t>WORKSHEET - Binary, denary and two's complement</a:t>
            </a:r>
          </a:p>
        </p:txBody>
      </p:sp>
    </p:spTree>
    <p:extLst>
      <p:ext uri="{BB962C8B-B14F-4D97-AF65-F5344CB8AC3E}">
        <p14:creationId xmlns:p14="http://schemas.microsoft.com/office/powerpoint/2010/main" val="3810363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984</TotalTime>
  <Words>2029</Words>
  <Application>Microsoft Office PowerPoint</Application>
  <PresentationFormat>Widescreen</PresentationFormat>
  <Paragraphs>231</Paragraphs>
  <Slides>35</Slides>
  <Notes>4</Notes>
  <HiddenSlides>0</HiddenSlides>
  <MMClips>2</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0" baseType="lpstr">
      <vt:lpstr>Arial</vt:lpstr>
      <vt:lpstr>Calibri</vt:lpstr>
      <vt:lpstr>Calibri Light</vt:lpstr>
      <vt:lpstr>Office Theme</vt:lpstr>
      <vt:lpstr>Acrobat Document</vt:lpstr>
      <vt:lpstr>Data Representation</vt:lpstr>
      <vt:lpstr>The Specification</vt:lpstr>
      <vt:lpstr>Units of Storage</vt:lpstr>
      <vt:lpstr>PowerPoint Presentation</vt:lpstr>
      <vt:lpstr>Activity: Mini Web Questions</vt:lpstr>
      <vt:lpstr>Challenge Questions</vt:lpstr>
      <vt:lpstr>The range of values that can be represented using n bits </vt:lpstr>
      <vt:lpstr>PowerPoint Presentation</vt:lpstr>
      <vt:lpstr>PowerPoint Presentation</vt:lpstr>
      <vt:lpstr>Activity: Read and Complete</vt:lpstr>
      <vt:lpstr>Perform conversions from decimal to binary and from binary to decimal for a maximum of 8 bits</vt:lpstr>
      <vt:lpstr>PowerPoint Presentation</vt:lpstr>
      <vt:lpstr>Convert the following decimal number to binary using 8 bits</vt:lpstr>
      <vt:lpstr>Convert the following binary numbers to decimal:</vt:lpstr>
      <vt:lpstr>Worksheet: Binary to Decimal</vt:lpstr>
      <vt:lpstr>2s Complement</vt:lpstr>
      <vt:lpstr>PowerPoint Presentation</vt:lpstr>
      <vt:lpstr>Question Break</vt:lpstr>
      <vt:lpstr>Question Break – Mark Scheme</vt:lpstr>
      <vt:lpstr>PowerPoint Presentation</vt:lpstr>
      <vt:lpstr>One’s Complement</vt:lpstr>
      <vt:lpstr>PowerPoint Presentation</vt:lpstr>
      <vt:lpstr>“Sir, so why not just use One’s Complement?”</vt:lpstr>
      <vt:lpstr>PowerPoint Presentation</vt:lpstr>
      <vt:lpstr>Demonstrate how ASCII and Unicode are used to represent characters</vt:lpstr>
      <vt:lpstr>ASCII</vt:lpstr>
      <vt:lpstr>Every character has a unique binary pattern</vt:lpstr>
      <vt:lpstr>ASCII</vt:lpstr>
      <vt:lpstr>ACSII</vt:lpstr>
      <vt:lpstr>Parity Bits</vt:lpstr>
      <vt:lpstr>Extended ASCII</vt:lpstr>
      <vt:lpstr>ASCII: Extended Version</vt:lpstr>
      <vt:lpstr>Unicode</vt:lpstr>
      <vt:lpstr>Question Questions</vt:lpstr>
      <vt:lpstr>Revision Worksheet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Representation</dc:title>
  <dc:creator>Mr Butler</dc:creator>
  <cp:lastModifiedBy>J Butler</cp:lastModifiedBy>
  <cp:revision>26</cp:revision>
  <dcterms:created xsi:type="dcterms:W3CDTF">2021-07-26T11:09:10Z</dcterms:created>
  <dcterms:modified xsi:type="dcterms:W3CDTF">2026-09-02T07:42:32Z</dcterms:modified>
</cp:coreProperties>
</file>