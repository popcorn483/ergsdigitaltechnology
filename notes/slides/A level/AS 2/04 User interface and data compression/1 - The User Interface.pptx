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6" r:id="rId3"/>
    <p:sldId id="267" r:id="rId4"/>
    <p:sldId id="268" r:id="rId5"/>
    <p:sldId id="269" r:id="rId6"/>
    <p:sldId id="270" r:id="rId7"/>
    <p:sldId id="271" r:id="rId8"/>
    <p:sldId id="272" r:id="rId9"/>
    <p:sldId id="273" r:id="rId10"/>
    <p:sldId id="274" r:id="rId11"/>
    <p:sldId id="275" r:id="rId12"/>
    <p:sldId id="276" r:id="rId13"/>
    <p:sldId id="277" r:id="rId14"/>
    <p:sldId id="261" r:id="rId15"/>
    <p:sldId id="262" r:id="rId16"/>
    <p:sldId id="263" r:id="rId17"/>
    <p:sldId id="264" r:id="rId18"/>
    <p:sldId id="265" r:id="rId19"/>
    <p:sldId id="257" r:id="rId20"/>
    <p:sldId id="258" r:id="rId21"/>
    <p:sldId id="259" r:id="rId22"/>
    <p:sldId id="278" r:id="rId23"/>
    <p:sldId id="279" r:id="rId24"/>
    <p:sldId id="280" r:id="rId25"/>
    <p:sldId id="28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a:srgbClr val="FA071D"/>
    <a:srgbClr val="8EC63F"/>
    <a:srgbClr val="68727B"/>
    <a:srgbClr val="000000"/>
    <a:srgbClr val="2537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7" d="100"/>
          <a:sy n="117" d="100"/>
        </p:scale>
        <p:origin x="234" y="10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8EC09E94-8CB4-4529-99B4-D64E6F3A0395}" type="datetimeFigureOut">
              <a:rPr lang="en-GB" smtClean="0"/>
              <a:t>17/11/2025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D644DE-0BDB-4087-9CBF-EA139B3D7003}" type="slidenum">
              <a:rPr lang="en-GB" smtClean="0"/>
              <a:t>‹#›</a:t>
            </a:fld>
            <a:endParaRPr lang="en-GB"/>
          </a:p>
        </p:txBody>
      </p:sp>
    </p:spTree>
    <p:extLst>
      <p:ext uri="{BB962C8B-B14F-4D97-AF65-F5344CB8AC3E}">
        <p14:creationId xmlns:p14="http://schemas.microsoft.com/office/powerpoint/2010/main" val="3825492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EC09E94-8CB4-4529-99B4-D64E6F3A0395}" type="datetimeFigureOut">
              <a:rPr lang="en-GB" smtClean="0"/>
              <a:t>17/11/2025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D644DE-0BDB-4087-9CBF-EA139B3D7003}" type="slidenum">
              <a:rPr lang="en-GB" smtClean="0"/>
              <a:t>‹#›</a:t>
            </a:fld>
            <a:endParaRPr lang="en-GB"/>
          </a:p>
        </p:txBody>
      </p:sp>
    </p:spTree>
    <p:extLst>
      <p:ext uri="{BB962C8B-B14F-4D97-AF65-F5344CB8AC3E}">
        <p14:creationId xmlns:p14="http://schemas.microsoft.com/office/powerpoint/2010/main" val="346579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EC09E94-8CB4-4529-99B4-D64E6F3A0395}" type="datetimeFigureOut">
              <a:rPr lang="en-GB" smtClean="0"/>
              <a:t>17/11/2025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D644DE-0BDB-4087-9CBF-EA139B3D7003}" type="slidenum">
              <a:rPr lang="en-GB" smtClean="0"/>
              <a:t>‹#›</a:t>
            </a:fld>
            <a:endParaRPr lang="en-GB"/>
          </a:p>
        </p:txBody>
      </p:sp>
    </p:spTree>
    <p:extLst>
      <p:ext uri="{BB962C8B-B14F-4D97-AF65-F5344CB8AC3E}">
        <p14:creationId xmlns:p14="http://schemas.microsoft.com/office/powerpoint/2010/main" val="30373373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8EC09E94-8CB4-4529-99B4-D64E6F3A0395}" type="datetimeFigureOut">
              <a:rPr lang="en-GB" smtClean="0"/>
              <a:t>17/11/2025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DD644DE-0BDB-4087-9CBF-EA139B3D7003}" type="slidenum">
              <a:rPr lang="en-GB" smtClean="0"/>
              <a:t>‹#›</a:t>
            </a:fld>
            <a:endParaRPr lang="en-GB"/>
          </a:p>
        </p:txBody>
      </p:sp>
    </p:spTree>
    <p:extLst>
      <p:ext uri="{BB962C8B-B14F-4D97-AF65-F5344CB8AC3E}">
        <p14:creationId xmlns:p14="http://schemas.microsoft.com/office/powerpoint/2010/main" val="926972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8EC09E94-8CB4-4529-99B4-D64E6F3A0395}" type="datetimeFigureOut">
              <a:rPr lang="en-GB" smtClean="0"/>
              <a:t>17/11/2025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DD644DE-0BDB-4087-9CBF-EA139B3D7003}" type="slidenum">
              <a:rPr lang="en-GB" smtClean="0"/>
              <a:t>‹#›</a:t>
            </a:fld>
            <a:endParaRPr lang="en-GB"/>
          </a:p>
        </p:txBody>
      </p:sp>
    </p:spTree>
    <p:extLst>
      <p:ext uri="{BB962C8B-B14F-4D97-AF65-F5344CB8AC3E}">
        <p14:creationId xmlns:p14="http://schemas.microsoft.com/office/powerpoint/2010/main" val="1408288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8EC09E94-8CB4-4529-99B4-D64E6F3A0395}" type="datetimeFigureOut">
              <a:rPr lang="en-GB" smtClean="0"/>
              <a:t>17/11/2025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DD644DE-0BDB-4087-9CBF-EA139B3D7003}" type="slidenum">
              <a:rPr lang="en-GB" smtClean="0"/>
              <a:t>‹#›</a:t>
            </a:fld>
            <a:endParaRPr lang="en-GB"/>
          </a:p>
        </p:txBody>
      </p:sp>
    </p:spTree>
    <p:extLst>
      <p:ext uri="{BB962C8B-B14F-4D97-AF65-F5344CB8AC3E}">
        <p14:creationId xmlns:p14="http://schemas.microsoft.com/office/powerpoint/2010/main" val="2813582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C09E94-8CB4-4529-99B4-D64E6F3A0395}" type="datetimeFigureOut">
              <a:rPr lang="en-GB" smtClean="0"/>
              <a:t>17/11/2025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DD644DE-0BDB-4087-9CBF-EA139B3D7003}" type="slidenum">
              <a:rPr lang="en-GB" smtClean="0"/>
              <a:t>‹#›</a:t>
            </a:fld>
            <a:endParaRPr lang="en-GB"/>
          </a:p>
        </p:txBody>
      </p:sp>
    </p:spTree>
    <p:extLst>
      <p:ext uri="{BB962C8B-B14F-4D97-AF65-F5344CB8AC3E}">
        <p14:creationId xmlns:p14="http://schemas.microsoft.com/office/powerpoint/2010/main" val="1426974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EC09E94-8CB4-4529-99B4-D64E6F3A0395}" type="datetimeFigureOut">
              <a:rPr lang="en-GB" smtClean="0"/>
              <a:t>17/11/2025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DD644DE-0BDB-4087-9CBF-EA139B3D7003}" type="slidenum">
              <a:rPr lang="en-GB" smtClean="0"/>
              <a:t>‹#›</a:t>
            </a:fld>
            <a:endParaRPr lang="en-GB"/>
          </a:p>
        </p:txBody>
      </p:sp>
    </p:spTree>
    <p:extLst>
      <p:ext uri="{BB962C8B-B14F-4D97-AF65-F5344CB8AC3E}">
        <p14:creationId xmlns:p14="http://schemas.microsoft.com/office/powerpoint/2010/main" val="1216711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EC09E94-8CB4-4529-99B4-D64E6F3A0395}" type="datetimeFigureOut">
              <a:rPr lang="en-GB" smtClean="0"/>
              <a:t>17/11/2025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DD644DE-0BDB-4087-9CBF-EA139B3D7003}" type="slidenum">
              <a:rPr lang="en-GB" smtClean="0"/>
              <a:t>‹#›</a:t>
            </a:fld>
            <a:endParaRPr lang="en-GB"/>
          </a:p>
        </p:txBody>
      </p:sp>
    </p:spTree>
    <p:extLst>
      <p:ext uri="{BB962C8B-B14F-4D97-AF65-F5344CB8AC3E}">
        <p14:creationId xmlns:p14="http://schemas.microsoft.com/office/powerpoint/2010/main" val="2151048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EC09E94-8CB4-4529-99B4-D64E6F3A0395}" type="datetimeFigureOut">
              <a:rPr lang="en-GB" smtClean="0"/>
              <a:t>17/11/2025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D644DE-0BDB-4087-9CBF-EA139B3D7003}" type="slidenum">
              <a:rPr lang="en-GB" smtClean="0"/>
              <a:t>‹#›</a:t>
            </a:fld>
            <a:endParaRPr lang="en-GB"/>
          </a:p>
        </p:txBody>
      </p:sp>
    </p:spTree>
    <p:extLst>
      <p:ext uri="{BB962C8B-B14F-4D97-AF65-F5344CB8AC3E}">
        <p14:creationId xmlns:p14="http://schemas.microsoft.com/office/powerpoint/2010/main" val="2402231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EC09E94-8CB4-4529-99B4-D64E6F3A0395}" type="datetimeFigureOut">
              <a:rPr lang="en-GB" smtClean="0"/>
              <a:t>17/11/2025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D644DE-0BDB-4087-9CBF-EA139B3D7003}" type="slidenum">
              <a:rPr lang="en-GB" smtClean="0"/>
              <a:t>‹#›</a:t>
            </a:fld>
            <a:endParaRPr lang="en-GB"/>
          </a:p>
        </p:txBody>
      </p:sp>
    </p:spTree>
    <p:extLst>
      <p:ext uri="{BB962C8B-B14F-4D97-AF65-F5344CB8AC3E}">
        <p14:creationId xmlns:p14="http://schemas.microsoft.com/office/powerpoint/2010/main" val="13268071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C09E94-8CB4-4529-99B4-D64E6F3A0395}" type="datetimeFigureOut">
              <a:rPr lang="en-GB" smtClean="0"/>
              <a:t>17/11/2025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D644DE-0BDB-4087-9CBF-EA139B3D7003}" type="slidenum">
              <a:rPr lang="en-GB" smtClean="0"/>
              <a:t>‹#›</a:t>
            </a:fld>
            <a:endParaRPr lang="en-GB"/>
          </a:p>
        </p:txBody>
      </p:sp>
    </p:spTree>
    <p:extLst>
      <p:ext uri="{BB962C8B-B14F-4D97-AF65-F5344CB8AC3E}">
        <p14:creationId xmlns:p14="http://schemas.microsoft.com/office/powerpoint/2010/main" val="4986118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8752" b="8472"/>
          <a:stretch/>
        </p:blipFill>
        <p:spPr>
          <a:xfrm>
            <a:off x="2655395" y="193964"/>
            <a:ext cx="6494145" cy="537556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 name="Title 1"/>
          <p:cNvSpPr>
            <a:spLocks noGrp="1"/>
          </p:cNvSpPr>
          <p:nvPr>
            <p:ph type="ctrTitle"/>
          </p:nvPr>
        </p:nvSpPr>
        <p:spPr>
          <a:xfrm>
            <a:off x="1330467" y="494145"/>
            <a:ext cx="9144000" cy="2387600"/>
          </a:xfrm>
        </p:spPr>
        <p:txBody>
          <a:bodyPr/>
          <a:lstStyle/>
          <a:p>
            <a:r>
              <a:rPr lang="en-GB" dirty="0"/>
              <a:t>The User Interface</a:t>
            </a:r>
          </a:p>
        </p:txBody>
      </p:sp>
    </p:spTree>
    <p:extLst>
      <p:ext uri="{BB962C8B-B14F-4D97-AF65-F5344CB8AC3E}">
        <p14:creationId xmlns:p14="http://schemas.microsoft.com/office/powerpoint/2010/main" val="1134477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 are Learning to: </a:t>
            </a:r>
            <a:endParaRPr lang="en-GB" dirty="0"/>
          </a:p>
        </p:txBody>
      </p:sp>
      <p:sp>
        <p:nvSpPr>
          <p:cNvPr id="3" name="Content Placeholder 2"/>
          <p:cNvSpPr>
            <a:spLocks noGrp="1"/>
          </p:cNvSpPr>
          <p:nvPr>
            <p:ph idx="1"/>
          </p:nvPr>
        </p:nvSpPr>
        <p:spPr>
          <a:xfrm>
            <a:off x="1251678" y="1408387"/>
            <a:ext cx="10178322" cy="4471206"/>
          </a:xfrm>
        </p:spPr>
        <p:txBody>
          <a:bodyPr/>
          <a:lstStyle/>
          <a:p>
            <a:pPr lvl="0"/>
            <a:r>
              <a:rPr lang="en-GB" sz="3200" dirty="0"/>
              <a:t>describe the main features of different types of user interface: WIMP, command line and forms dialogue;</a:t>
            </a:r>
          </a:p>
          <a:p>
            <a:pPr lvl="0"/>
            <a:r>
              <a:rPr lang="en-GB" sz="3200" dirty="0"/>
              <a:t>evaluate different types of user interface: WIMP, command line and forms dialogue;</a:t>
            </a:r>
          </a:p>
          <a:p>
            <a:pPr marL="0" indent="0">
              <a:buNone/>
            </a:pPr>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19697" y="3450021"/>
            <a:ext cx="2998076" cy="2998076"/>
          </a:xfrm>
          <a:prstGeom prst="rect">
            <a:avLst/>
          </a:prstGeom>
        </p:spPr>
      </p:pic>
    </p:spTree>
    <p:extLst>
      <p:ext uri="{BB962C8B-B14F-4D97-AF65-F5344CB8AC3E}">
        <p14:creationId xmlns:p14="http://schemas.microsoft.com/office/powerpoint/2010/main" val="3950923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endParaRPr lang="en-GB" dirty="0"/>
          </a:p>
        </p:txBody>
      </p:sp>
      <p:sp>
        <p:nvSpPr>
          <p:cNvPr id="3" name="Content Placeholder 2"/>
          <p:cNvSpPr>
            <a:spLocks noGrp="1"/>
          </p:cNvSpPr>
          <p:nvPr>
            <p:ph idx="1"/>
          </p:nvPr>
        </p:nvSpPr>
        <p:spPr>
          <a:xfrm>
            <a:off x="1251678" y="1481959"/>
            <a:ext cx="10178322" cy="4397633"/>
          </a:xfrm>
        </p:spPr>
        <p:txBody>
          <a:bodyPr>
            <a:normAutofit fontScale="85000" lnSpcReduction="10000"/>
          </a:bodyPr>
          <a:lstStyle/>
          <a:p>
            <a:pPr marL="0" indent="0">
              <a:buNone/>
            </a:pPr>
            <a:r>
              <a:rPr lang="en-GB" dirty="0"/>
              <a:t>In order for an application to be successful, developers always try to make their product easy to use and attractive to the user.  They spend a lot of time working on how the interface looks and feels to the user and they will take into consideration things such as how the end user interacts with the software.  The end user wants an application that will complete a task quickly and easily.</a:t>
            </a:r>
          </a:p>
          <a:p>
            <a:pPr marL="0" indent="0">
              <a:buNone/>
            </a:pPr>
            <a:r>
              <a:rPr lang="en-GB" dirty="0"/>
              <a:t>There are a variety of approaches taken to the development of a user interface and the interface type chosen will often depend on a variety of factors such as:-</a:t>
            </a:r>
          </a:p>
          <a:p>
            <a:pPr marL="0" indent="0">
              <a:buNone/>
            </a:pPr>
            <a:endParaRPr lang="en-GB" dirty="0"/>
          </a:p>
          <a:p>
            <a:pPr lvl="0"/>
            <a:r>
              <a:rPr lang="en-GB" dirty="0"/>
              <a:t>User ability</a:t>
            </a:r>
          </a:p>
          <a:p>
            <a:pPr lvl="0"/>
            <a:r>
              <a:rPr lang="en-GB" dirty="0"/>
              <a:t>Range of input and output devices available</a:t>
            </a:r>
          </a:p>
          <a:p>
            <a:pPr lvl="0"/>
            <a:r>
              <a:rPr lang="en-GB" dirty="0"/>
              <a:t>Processor capability</a:t>
            </a:r>
          </a:p>
          <a:p>
            <a:pPr lvl="0"/>
            <a:r>
              <a:rPr lang="en-GB" dirty="0"/>
              <a:t>Memory capacity</a:t>
            </a:r>
          </a:p>
          <a:p>
            <a:endParaRPr lang="en-GB" dirty="0"/>
          </a:p>
        </p:txBody>
      </p:sp>
    </p:spTree>
    <p:extLst>
      <p:ext uri="{BB962C8B-B14F-4D97-AF65-F5344CB8AC3E}">
        <p14:creationId xmlns:p14="http://schemas.microsoft.com/office/powerpoint/2010/main" val="1630900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WIMP Interface</a:t>
            </a:r>
            <a:endParaRPr lang="en-GB" dirty="0"/>
          </a:p>
        </p:txBody>
      </p:sp>
      <p:sp>
        <p:nvSpPr>
          <p:cNvPr id="5" name="TextBox 4"/>
          <p:cNvSpPr txBox="1"/>
          <p:nvPr/>
        </p:nvSpPr>
        <p:spPr>
          <a:xfrm>
            <a:off x="1251678" y="1128451"/>
            <a:ext cx="10178322" cy="646331"/>
          </a:xfrm>
          <a:prstGeom prst="rect">
            <a:avLst/>
          </a:prstGeom>
          <a:noFill/>
        </p:spPr>
        <p:txBody>
          <a:bodyPr wrap="square" rtlCol="0">
            <a:spAutoFit/>
          </a:bodyPr>
          <a:lstStyle/>
          <a:p>
            <a:r>
              <a:rPr lang="en-GB" dirty="0"/>
              <a:t>The WIMP interface will allow the user to communicate with the computer using:-</a:t>
            </a:r>
          </a:p>
          <a:p>
            <a:endParaRPr lang="en-GB" dirty="0"/>
          </a:p>
        </p:txBody>
      </p:sp>
      <p:pic>
        <p:nvPicPr>
          <p:cNvPr id="6" name="Picture 5"/>
          <p:cNvPicPr>
            <a:picLocks noChangeAspect="1"/>
          </p:cNvPicPr>
          <p:nvPr/>
        </p:nvPicPr>
        <p:blipFill>
          <a:blip r:embed="rId2"/>
          <a:stretch>
            <a:fillRect/>
          </a:stretch>
        </p:blipFill>
        <p:spPr>
          <a:xfrm>
            <a:off x="1138415" y="1627637"/>
            <a:ext cx="8898967" cy="5005669"/>
          </a:xfrm>
          <a:prstGeom prst="rect">
            <a:avLst/>
          </a:prstGeom>
        </p:spPr>
      </p:pic>
      <p:sp>
        <p:nvSpPr>
          <p:cNvPr id="8" name="Rectangle 7"/>
          <p:cNvSpPr/>
          <p:nvPr/>
        </p:nvSpPr>
        <p:spPr>
          <a:xfrm>
            <a:off x="5202620" y="1774782"/>
            <a:ext cx="3510456" cy="707886"/>
          </a:xfrm>
          <a:prstGeom prst="rect">
            <a:avLst/>
          </a:prstGeom>
          <a:noFill/>
        </p:spPr>
        <p:txBody>
          <a:bodyPr wrap="square" lIns="91440" tIns="45720" rIns="91440" bIns="45720">
            <a:spAutoFit/>
          </a:bodyPr>
          <a:lstStyle/>
          <a:p>
            <a:pPr algn="ctr"/>
            <a:r>
              <a:rPr lang="en-US" sz="40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WINDOWS</a:t>
            </a:r>
            <a:endParaRPr lang="en-US" sz="40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11" name="Down Arrow 10"/>
          <p:cNvSpPr/>
          <p:nvPr/>
        </p:nvSpPr>
        <p:spPr>
          <a:xfrm>
            <a:off x="6873766" y="2396359"/>
            <a:ext cx="283779" cy="40990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p:cNvSpPr/>
          <p:nvPr/>
        </p:nvSpPr>
        <p:spPr>
          <a:xfrm>
            <a:off x="3844581" y="6011010"/>
            <a:ext cx="2117887" cy="769441"/>
          </a:xfrm>
          <a:prstGeom prst="rect">
            <a:avLst/>
          </a:prstGeom>
          <a:noFill/>
        </p:spPr>
        <p:txBody>
          <a:bodyPr wrap="none" lIns="91440" tIns="45720" rIns="91440" bIns="45720">
            <a:spAutoFit/>
          </a:bodyPr>
          <a:lstStyle/>
          <a:p>
            <a:pPr algn="ctr"/>
            <a:r>
              <a:rPr lang="en-US" sz="44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ICONS</a:t>
            </a:r>
          </a:p>
        </p:txBody>
      </p:sp>
      <p:sp>
        <p:nvSpPr>
          <p:cNvPr id="13" name="Up Arrow 12"/>
          <p:cNvSpPr/>
          <p:nvPr/>
        </p:nvSpPr>
        <p:spPr>
          <a:xfrm rot="18471564">
            <a:off x="3617434" y="5622240"/>
            <a:ext cx="325820" cy="578069"/>
          </a:xfrm>
          <a:prstGeom prst="up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14" name="Rectangle 13"/>
          <p:cNvSpPr/>
          <p:nvPr/>
        </p:nvSpPr>
        <p:spPr>
          <a:xfrm>
            <a:off x="7551540" y="5742066"/>
            <a:ext cx="2323072" cy="769441"/>
          </a:xfrm>
          <a:prstGeom prst="rect">
            <a:avLst/>
          </a:prstGeom>
          <a:noFill/>
        </p:spPr>
        <p:txBody>
          <a:bodyPr wrap="none" lIns="91440" tIns="45720" rIns="91440" bIns="45720">
            <a:spAutoFit/>
          </a:bodyPr>
          <a:lstStyle/>
          <a:p>
            <a:pPr algn="ctr"/>
            <a:r>
              <a:rPr lang="en-US" sz="4400" b="1" cap="none" spc="0" dirty="0">
                <a:ln w="6600">
                  <a:solidFill>
                    <a:schemeClr val="accent2"/>
                  </a:solidFill>
                  <a:prstDash val="solid"/>
                </a:ln>
                <a:solidFill>
                  <a:srgbClr val="FFFFFF"/>
                </a:solidFill>
                <a:effectLst>
                  <a:outerShdw dist="38100" dir="2700000" algn="tl" rotWithShape="0">
                    <a:schemeClr val="accent2"/>
                  </a:outerShdw>
                </a:effectLst>
              </a:rPr>
              <a:t>MENUS</a:t>
            </a:r>
          </a:p>
        </p:txBody>
      </p:sp>
      <p:sp>
        <p:nvSpPr>
          <p:cNvPr id="15" name="Up Arrow 14"/>
          <p:cNvSpPr/>
          <p:nvPr/>
        </p:nvSpPr>
        <p:spPr>
          <a:xfrm>
            <a:off x="8282152" y="4950372"/>
            <a:ext cx="430924" cy="83031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6" name="Rectangle 15"/>
          <p:cNvSpPr/>
          <p:nvPr/>
        </p:nvSpPr>
        <p:spPr>
          <a:xfrm>
            <a:off x="9655174" y="3053582"/>
            <a:ext cx="2398769" cy="1200329"/>
          </a:xfrm>
          <a:prstGeom prst="rect">
            <a:avLst/>
          </a:prstGeom>
          <a:noFill/>
        </p:spPr>
        <p:txBody>
          <a:bodyPr wrap="squar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600" b="1" dirty="0">
                <a:ln/>
                <a:solidFill>
                  <a:schemeClr val="accent4"/>
                </a:solidFill>
              </a:rPr>
              <a:t>POINTER (Cursor)</a:t>
            </a:r>
            <a:endParaRPr lang="en-US" sz="3600" b="1" cap="none" spc="0" dirty="0">
              <a:ln/>
              <a:solidFill>
                <a:schemeClr val="accent4"/>
              </a:solidFill>
              <a:effectLst/>
            </a:endParaRPr>
          </a:p>
        </p:txBody>
      </p:sp>
    </p:spTree>
    <p:extLst>
      <p:ext uri="{BB962C8B-B14F-4D97-AF65-F5344CB8AC3E}">
        <p14:creationId xmlns:p14="http://schemas.microsoft.com/office/powerpoint/2010/main" val="3986950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WIMP Interface</a:t>
            </a:r>
            <a:endParaRPr lang="en-GB" dirty="0"/>
          </a:p>
        </p:txBody>
      </p:sp>
      <p:sp>
        <p:nvSpPr>
          <p:cNvPr id="3" name="Content Placeholder 2"/>
          <p:cNvSpPr>
            <a:spLocks noGrp="1"/>
          </p:cNvSpPr>
          <p:nvPr>
            <p:ph idx="1"/>
          </p:nvPr>
        </p:nvSpPr>
        <p:spPr>
          <a:xfrm>
            <a:off x="1251678" y="1240221"/>
            <a:ext cx="10178322" cy="5360276"/>
          </a:xfrm>
        </p:spPr>
        <p:txBody>
          <a:bodyPr>
            <a:normAutofit fontScale="92500" lnSpcReduction="20000"/>
          </a:bodyPr>
          <a:lstStyle/>
          <a:p>
            <a:pPr lvl="0"/>
            <a:r>
              <a:rPr lang="en-GB" b="1" dirty="0">
                <a:solidFill>
                  <a:srgbClr val="00B0F0"/>
                </a:solidFill>
              </a:rPr>
              <a:t>Windows </a:t>
            </a:r>
            <a:r>
              <a:rPr lang="en-GB" dirty="0"/>
              <a:t>– These represent an active area of the computer screen which is opened up to display some form of activity; perhaps in the form of processing in a program or perhaps presenting a range of files and folders.   More than one window can be open on screen at any one time and it can be moved around or closed down.  </a:t>
            </a:r>
          </a:p>
          <a:p>
            <a:pPr lvl="0"/>
            <a:r>
              <a:rPr lang="en-GB" b="1" dirty="0">
                <a:solidFill>
                  <a:srgbClr val="92D050"/>
                </a:solidFill>
              </a:rPr>
              <a:t>Icons</a:t>
            </a:r>
            <a:r>
              <a:rPr lang="en-GB" b="1" dirty="0"/>
              <a:t> </a:t>
            </a:r>
            <a:r>
              <a:rPr lang="en-GB" dirty="0"/>
              <a:t>– These are small pictures used to provide a graphical representation of an application or activity.  An icon can be selected by moving a selection tool over the top of the icon and an activity can be started through double clicking on the icon.</a:t>
            </a:r>
          </a:p>
          <a:p>
            <a:pPr lvl="0"/>
            <a:r>
              <a:rPr lang="en-GB" b="1" dirty="0">
                <a:solidFill>
                  <a:schemeClr val="tx1"/>
                </a:solidFill>
              </a:rPr>
              <a:t>Menus</a:t>
            </a:r>
            <a:r>
              <a:rPr lang="en-GB" b="1" dirty="0"/>
              <a:t> </a:t>
            </a:r>
            <a:r>
              <a:rPr lang="en-GB" dirty="0"/>
              <a:t>– A menu is used to present an end user with a range of options.  The menu system is used to group related options / actions together.  A variety of menu types may be presented to the end user including pop-up menus (often used to present a series of shortcuts to the user when they right click on the computer screen) and pull-down menus (normally used to present a range of options / items in a submenu, linked to a menu title presented across the top of a screen).</a:t>
            </a:r>
          </a:p>
          <a:p>
            <a:endParaRPr lang="en-GB" dirty="0"/>
          </a:p>
        </p:txBody>
      </p:sp>
    </p:spTree>
    <p:extLst>
      <p:ext uri="{BB962C8B-B14F-4D97-AF65-F5344CB8AC3E}">
        <p14:creationId xmlns:p14="http://schemas.microsoft.com/office/powerpoint/2010/main" val="18344463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Who uses a wimp interface</a:t>
            </a:r>
            <a:endParaRPr lang="en-GB" dirty="0"/>
          </a:p>
        </p:txBody>
      </p:sp>
      <p:sp>
        <p:nvSpPr>
          <p:cNvPr id="4" name="Rectangle 3"/>
          <p:cNvSpPr/>
          <p:nvPr/>
        </p:nvSpPr>
        <p:spPr>
          <a:xfrm>
            <a:off x="1251678" y="1372814"/>
            <a:ext cx="10257150" cy="3231654"/>
          </a:xfrm>
          <a:prstGeom prst="rect">
            <a:avLst/>
          </a:prstGeom>
        </p:spPr>
        <p:txBody>
          <a:bodyPr wrap="square">
            <a:spAutoFit/>
          </a:bodyPr>
          <a:lstStyle/>
          <a:p>
            <a:pPr lvl="0"/>
            <a:r>
              <a:rPr lang="en-GB" b="1" dirty="0">
                <a:solidFill>
                  <a:schemeClr val="accent4">
                    <a:lumMod val="75000"/>
                  </a:schemeClr>
                </a:solidFill>
              </a:rPr>
              <a:t>Pointers</a:t>
            </a:r>
            <a:r>
              <a:rPr lang="en-GB" b="1" dirty="0"/>
              <a:t> </a:t>
            </a:r>
            <a:r>
              <a:rPr lang="en-GB" dirty="0"/>
              <a:t>– A pointer will move around a computer screen based on the movements instigated by the end users manipulation of a peripheral device such as a tracker pad or a mouse.  The pointer can be used to select an item on screen, (for example an icon or a menu option) it may change shape.  The user can then initiate further action to indicate their desire to select said item; perhaps a left button click or double click.</a:t>
            </a:r>
          </a:p>
          <a:p>
            <a:pPr lvl="0"/>
            <a:endParaRPr lang="en-GB" dirty="0"/>
          </a:p>
          <a:p>
            <a:pPr lvl="0"/>
            <a:r>
              <a:rPr lang="en-GB" sz="2400" dirty="0"/>
              <a:t>WYSIWYG</a:t>
            </a:r>
            <a:endParaRPr lang="en-GB" dirty="0"/>
          </a:p>
          <a:p>
            <a:pPr lvl="0"/>
            <a:endParaRPr lang="en-US" dirty="0"/>
          </a:p>
          <a:p>
            <a:pPr lvl="0"/>
            <a:r>
              <a:rPr lang="en-US" sz="2400" dirty="0"/>
              <a:t>WHO USES A WIMP INTERFACE?</a:t>
            </a:r>
          </a:p>
          <a:p>
            <a:pPr lvl="0"/>
            <a:endParaRPr lang="en-US" sz="2400" dirty="0"/>
          </a:p>
          <a:p>
            <a:pPr lvl="0"/>
            <a:endParaRPr lang="en-GB" sz="2400" dirty="0"/>
          </a:p>
        </p:txBody>
      </p:sp>
      <p:sp>
        <p:nvSpPr>
          <p:cNvPr id="5" name="Rectangle 4"/>
          <p:cNvSpPr/>
          <p:nvPr/>
        </p:nvSpPr>
        <p:spPr>
          <a:xfrm>
            <a:off x="2508860" y="4671567"/>
            <a:ext cx="7663958" cy="923330"/>
          </a:xfrm>
          <a:prstGeom prst="rect">
            <a:avLst/>
          </a:prstGeom>
          <a:noFill/>
        </p:spPr>
        <p:txBody>
          <a:bodyPr wrap="non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An Inexperienced User</a:t>
            </a:r>
          </a:p>
        </p:txBody>
      </p:sp>
    </p:spTree>
    <p:extLst>
      <p:ext uri="{BB962C8B-B14F-4D97-AF65-F5344CB8AC3E}">
        <p14:creationId xmlns:p14="http://schemas.microsoft.com/office/powerpoint/2010/main" val="2017163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500"/>
                                        <p:tgtEl>
                                          <p:spTgt spid="4">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Command Line Interface</a:t>
            </a:r>
            <a:endParaRPr lang="en-GB" dirty="0"/>
          </a:p>
        </p:txBody>
      </p:sp>
      <p:pic>
        <p:nvPicPr>
          <p:cNvPr id="4" name="Content Placeholder 3" descr="http://igcseict.info/theory/1/uis/files/stacks_image_6056_1.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98478" y="1545349"/>
            <a:ext cx="5433246" cy="3436554"/>
          </a:xfrm>
          <a:prstGeom prst="rect">
            <a:avLst/>
          </a:prstGeom>
          <a:noFill/>
          <a:ln>
            <a:noFill/>
          </a:ln>
        </p:spPr>
      </p:pic>
      <p:sp>
        <p:nvSpPr>
          <p:cNvPr id="5" name="Rectangle 4"/>
          <p:cNvSpPr/>
          <p:nvPr/>
        </p:nvSpPr>
        <p:spPr>
          <a:xfrm>
            <a:off x="6978524" y="1545349"/>
            <a:ext cx="3868152" cy="33629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GB" b="1" u="sng" dirty="0">
                <a:solidFill>
                  <a:srgbClr val="002060"/>
                </a:solidFill>
                <a:effectLst/>
                <a:ea typeface="Calibri" panose="020F0502020204030204" pitchFamily="34" charset="0"/>
                <a:cs typeface="Times New Roman" panose="02020603050405020304" pitchFamily="18" charset="0"/>
              </a:rPr>
              <a:t>Features of a Command Line Interface</a:t>
            </a:r>
            <a:endParaRPr lang="en-GB" dirty="0">
              <a:solidFill>
                <a:srgbClr val="002060"/>
              </a:solidFill>
              <a:effectLst/>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en-GB" dirty="0">
                <a:solidFill>
                  <a:srgbClr val="002060"/>
                </a:solidFill>
                <a:effectLst/>
                <a:ea typeface="Calibri" panose="020F0502020204030204" pitchFamily="34" charset="0"/>
                <a:cs typeface="Times New Roman" panose="02020603050405020304" pitchFamily="18" charset="0"/>
              </a:rPr>
              <a:t>User input consists of </a:t>
            </a:r>
            <a:r>
              <a:rPr lang="en-GB" b="1" dirty="0">
                <a:solidFill>
                  <a:srgbClr val="002060"/>
                </a:solidFill>
                <a:effectLst/>
                <a:ea typeface="Calibri" panose="020F0502020204030204" pitchFamily="34" charset="0"/>
                <a:cs typeface="Times New Roman" panose="02020603050405020304" pitchFamily="18" charset="0"/>
              </a:rPr>
              <a:t>single characters/words </a:t>
            </a:r>
          </a:p>
          <a:p>
            <a:pPr marL="342900" lvl="0" indent="-342900">
              <a:lnSpc>
                <a:spcPct val="115000"/>
              </a:lnSpc>
              <a:spcAft>
                <a:spcPts val="0"/>
              </a:spcAft>
              <a:buFont typeface="Symbol" panose="05050102010706020507" pitchFamily="18" charset="2"/>
              <a:buChar char=""/>
            </a:pPr>
            <a:r>
              <a:rPr lang="en-GB" dirty="0">
                <a:solidFill>
                  <a:srgbClr val="002060"/>
                </a:solidFill>
                <a:effectLst/>
                <a:ea typeface="Calibri" panose="020F0502020204030204" pitchFamily="34" charset="0"/>
                <a:cs typeface="Times New Roman" panose="02020603050405020304" pitchFamily="18" charset="0"/>
              </a:rPr>
              <a:t>Commands are </a:t>
            </a:r>
            <a:r>
              <a:rPr lang="en-GB" b="1" dirty="0">
                <a:solidFill>
                  <a:srgbClr val="002060"/>
                </a:solidFill>
                <a:effectLst/>
                <a:ea typeface="Calibri" panose="020F0502020204030204" pitchFamily="34" charset="0"/>
                <a:cs typeface="Times New Roman" panose="02020603050405020304" pitchFamily="18" charset="0"/>
              </a:rPr>
              <a:t>entered at a prompt </a:t>
            </a:r>
          </a:p>
          <a:p>
            <a:pPr marL="342900" lvl="0" indent="-342900">
              <a:lnSpc>
                <a:spcPct val="115000"/>
              </a:lnSpc>
              <a:spcAft>
                <a:spcPts val="0"/>
              </a:spcAft>
              <a:buFont typeface="Symbol" panose="05050102010706020507" pitchFamily="18" charset="2"/>
              <a:buChar char=""/>
            </a:pPr>
            <a:r>
              <a:rPr lang="en-GB" dirty="0">
                <a:solidFill>
                  <a:srgbClr val="002060"/>
                </a:solidFill>
                <a:effectLst/>
                <a:ea typeface="Calibri" panose="020F0502020204030204" pitchFamily="34" charset="0"/>
                <a:cs typeface="Times New Roman" panose="02020603050405020304" pitchFamily="18" charset="0"/>
              </a:rPr>
              <a:t>With possible </a:t>
            </a:r>
            <a:r>
              <a:rPr lang="en-GB" b="1" dirty="0">
                <a:solidFill>
                  <a:srgbClr val="002060"/>
                </a:solidFill>
                <a:effectLst/>
                <a:ea typeface="Calibri" panose="020F0502020204030204" pitchFamily="34" charset="0"/>
                <a:cs typeface="Times New Roman" panose="02020603050405020304" pitchFamily="18" charset="0"/>
              </a:rPr>
              <a:t>parameters </a:t>
            </a:r>
          </a:p>
          <a:p>
            <a:pPr marL="342900" lvl="0" indent="-342900">
              <a:lnSpc>
                <a:spcPct val="115000"/>
              </a:lnSpc>
              <a:spcAft>
                <a:spcPts val="1000"/>
              </a:spcAft>
              <a:buFont typeface="Symbol" panose="05050102010706020507" pitchFamily="18" charset="2"/>
              <a:buChar char=""/>
            </a:pPr>
            <a:r>
              <a:rPr lang="en-GB" dirty="0">
                <a:solidFill>
                  <a:srgbClr val="002060"/>
                </a:solidFill>
                <a:effectLst/>
                <a:ea typeface="Calibri" panose="020F0502020204030204" pitchFamily="34" charset="0"/>
                <a:cs typeface="Times New Roman" panose="02020603050405020304" pitchFamily="18" charset="0"/>
              </a:rPr>
              <a:t>Help can be obtained using an appropriate command</a:t>
            </a:r>
          </a:p>
        </p:txBody>
      </p:sp>
    </p:spTree>
    <p:extLst>
      <p:ext uri="{BB962C8B-B14F-4D97-AF65-F5344CB8AC3E}">
        <p14:creationId xmlns:p14="http://schemas.microsoft.com/office/powerpoint/2010/main" val="865611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Command Line Interface</a:t>
            </a:r>
            <a:endParaRPr lang="en-GB" dirty="0"/>
          </a:p>
        </p:txBody>
      </p:sp>
      <p:sp>
        <p:nvSpPr>
          <p:cNvPr id="3" name="Content Placeholder 2"/>
          <p:cNvSpPr>
            <a:spLocks noGrp="1"/>
          </p:cNvSpPr>
          <p:nvPr>
            <p:ph idx="1"/>
          </p:nvPr>
        </p:nvSpPr>
        <p:spPr>
          <a:xfrm>
            <a:off x="1251678" y="1502979"/>
            <a:ext cx="10178322" cy="4376613"/>
          </a:xfrm>
        </p:spPr>
        <p:txBody>
          <a:bodyPr>
            <a:normAutofit fontScale="92500" lnSpcReduction="10000"/>
          </a:bodyPr>
          <a:lstStyle/>
          <a:p>
            <a:r>
              <a:rPr lang="en-GB" dirty="0"/>
              <a:t>A command line interface, such as the one shown in the previous slide, allows the user to type commands which the computer will execute.  </a:t>
            </a:r>
          </a:p>
          <a:p>
            <a:r>
              <a:rPr lang="en-GB" dirty="0">
                <a:highlight>
                  <a:srgbClr val="FFFF00"/>
                </a:highlight>
              </a:rPr>
              <a:t>Commands are usually fixed in structure (syntax) and limited to one line.  </a:t>
            </a:r>
            <a:r>
              <a:rPr lang="en-GB" dirty="0"/>
              <a:t>Users </a:t>
            </a:r>
            <a:r>
              <a:rPr lang="en-GB" dirty="0">
                <a:highlight>
                  <a:srgbClr val="FFFF00"/>
                </a:highlight>
              </a:rPr>
              <a:t>require an intricate knowledge </a:t>
            </a:r>
            <a:r>
              <a:rPr lang="en-GB" dirty="0"/>
              <a:t>of the internal operation of the computer in order to use a command line interface sufficiently and they </a:t>
            </a:r>
            <a:r>
              <a:rPr lang="en-GB" dirty="0">
                <a:highlight>
                  <a:srgbClr val="FFFF00"/>
                </a:highlight>
              </a:rPr>
              <a:t>must be well versed in the range of acceptable commands</a:t>
            </a:r>
            <a:r>
              <a:rPr lang="en-GB" dirty="0"/>
              <a:t> made available to them using the interface.  </a:t>
            </a:r>
          </a:p>
          <a:p>
            <a:r>
              <a:rPr lang="en-GB" dirty="0">
                <a:highlight>
                  <a:srgbClr val="FFFF00"/>
                </a:highlight>
              </a:rPr>
              <a:t>Instructions can be combined to carry out more complex tasks</a:t>
            </a:r>
            <a:r>
              <a:rPr lang="en-GB" dirty="0"/>
              <a:t>. </a:t>
            </a:r>
          </a:p>
          <a:p>
            <a:endParaRPr lang="en-GB" b="1" dirty="0"/>
          </a:p>
          <a:p>
            <a:r>
              <a:rPr lang="en-GB" b="1" dirty="0"/>
              <a:t>WHO USES A COMMAND LINE INTERFACE?</a:t>
            </a:r>
          </a:p>
          <a:p>
            <a:pPr marL="0" indent="0">
              <a:buNone/>
            </a:pPr>
            <a:r>
              <a:rPr lang="en-GB" dirty="0"/>
              <a:t> </a:t>
            </a:r>
          </a:p>
          <a:p>
            <a:endParaRPr lang="en-GB" dirty="0"/>
          </a:p>
        </p:txBody>
      </p:sp>
      <p:sp>
        <p:nvSpPr>
          <p:cNvPr id="4" name="Rectangle 3"/>
          <p:cNvSpPr/>
          <p:nvPr/>
        </p:nvSpPr>
        <p:spPr>
          <a:xfrm>
            <a:off x="2549195" y="5417927"/>
            <a:ext cx="7093609" cy="923330"/>
          </a:xfrm>
          <a:prstGeom prst="rect">
            <a:avLst/>
          </a:prstGeom>
          <a:noFill/>
        </p:spPr>
        <p:txBody>
          <a:bodyPr wrap="non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An Experienced User</a:t>
            </a:r>
          </a:p>
        </p:txBody>
      </p:sp>
    </p:spTree>
    <p:extLst>
      <p:ext uri="{BB962C8B-B14F-4D97-AF65-F5344CB8AC3E}">
        <p14:creationId xmlns:p14="http://schemas.microsoft.com/office/powerpoint/2010/main" val="3857081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FORMS DIALOGUE</a:t>
            </a:r>
            <a:endParaRPr lang="en-GB" dirty="0"/>
          </a:p>
        </p:txBody>
      </p:sp>
      <p:sp>
        <p:nvSpPr>
          <p:cNvPr id="3" name="Content Placeholder 2"/>
          <p:cNvSpPr>
            <a:spLocks noGrp="1"/>
          </p:cNvSpPr>
          <p:nvPr>
            <p:ph idx="1"/>
          </p:nvPr>
        </p:nvSpPr>
        <p:spPr>
          <a:xfrm>
            <a:off x="1251678" y="1608083"/>
            <a:ext cx="10178322" cy="4271509"/>
          </a:xfrm>
        </p:spPr>
        <p:txBody>
          <a:bodyPr/>
          <a:lstStyle/>
          <a:p>
            <a:pPr marL="0" indent="0">
              <a:buNone/>
            </a:pPr>
            <a:r>
              <a:rPr lang="en-GB" dirty="0"/>
              <a:t>Examples of a forms dialogue interface are shown below</a:t>
            </a:r>
          </a:p>
          <a:p>
            <a:endParaRPr lang="en-GB" dirty="0"/>
          </a:p>
        </p:txBody>
      </p:sp>
      <p:pic>
        <p:nvPicPr>
          <p:cNvPr id="4" name="Picture 3" descr="http://www.teach-ict.com/images/stk/form1.jpg"/>
          <p:cNvPicPr/>
          <p:nvPr/>
        </p:nvPicPr>
        <p:blipFill>
          <a:blip r:embed="rId2">
            <a:extLst>
              <a:ext uri="{28A0092B-C50C-407E-A947-70E740481C1C}">
                <a14:useLocalDpi xmlns:a14="http://schemas.microsoft.com/office/drawing/2010/main" val="0"/>
              </a:ext>
            </a:extLst>
          </a:blip>
          <a:srcRect/>
          <a:stretch>
            <a:fillRect/>
          </a:stretch>
        </p:blipFill>
        <p:spPr bwMode="auto">
          <a:xfrm>
            <a:off x="189827" y="2376999"/>
            <a:ext cx="4286250" cy="2733675"/>
          </a:xfrm>
          <a:prstGeom prst="rect">
            <a:avLst/>
          </a:prstGeom>
          <a:noFill/>
          <a:ln>
            <a:noFill/>
          </a:ln>
        </p:spPr>
      </p:pic>
      <p:sp>
        <p:nvSpPr>
          <p:cNvPr id="6" name="Rectangle 5"/>
          <p:cNvSpPr/>
          <p:nvPr/>
        </p:nvSpPr>
        <p:spPr>
          <a:xfrm>
            <a:off x="2332952" y="5216654"/>
            <a:ext cx="2481128" cy="1323439"/>
          </a:xfrm>
          <a:prstGeom prst="rect">
            <a:avLst/>
          </a:prstGeom>
          <a:noFill/>
        </p:spPr>
        <p:txBody>
          <a:bodyPr wrap="none" lIns="91440" tIns="45720" rIns="91440" bIns="45720">
            <a:spAutoFit/>
          </a:bodyPr>
          <a:lstStyle/>
          <a:p>
            <a:pPr algn="ctr"/>
            <a:r>
              <a:rPr lang="en-US" sz="40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Software </a:t>
            </a:r>
          </a:p>
          <a:p>
            <a:pPr algn="ctr"/>
            <a:r>
              <a:rPr lang="en-US" sz="40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Windows</a:t>
            </a:r>
          </a:p>
        </p:txBody>
      </p:sp>
      <p:sp>
        <p:nvSpPr>
          <p:cNvPr id="8" name="Rectangle 7"/>
          <p:cNvSpPr/>
          <p:nvPr/>
        </p:nvSpPr>
        <p:spPr>
          <a:xfrm>
            <a:off x="5438166" y="2293927"/>
            <a:ext cx="6301252" cy="42461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lvl="0" indent="-342900">
              <a:lnSpc>
                <a:spcPct val="115000"/>
              </a:lnSpc>
              <a:spcAft>
                <a:spcPts val="0"/>
              </a:spcAft>
              <a:buFont typeface="Symbol" panose="05050102010706020507" pitchFamily="18" charset="2"/>
              <a:buChar char=""/>
            </a:pPr>
            <a:r>
              <a:rPr lang="en-GB" sz="2400" dirty="0">
                <a:solidFill>
                  <a:srgbClr val="002060"/>
                </a:solidFill>
                <a:effectLst/>
                <a:ea typeface="Calibri" panose="020F0502020204030204" pitchFamily="34" charset="0"/>
                <a:cs typeface="Times New Roman" panose="02020603050405020304" pitchFamily="18" charset="0"/>
              </a:rPr>
              <a:t>The screen is designed as a data entry form </a:t>
            </a:r>
          </a:p>
          <a:p>
            <a:pPr marL="342900" lvl="0" indent="-342900">
              <a:lnSpc>
                <a:spcPct val="115000"/>
              </a:lnSpc>
              <a:spcAft>
                <a:spcPts val="0"/>
              </a:spcAft>
              <a:buFont typeface="Symbol" panose="05050102010706020507" pitchFamily="18" charset="2"/>
              <a:buChar char=""/>
            </a:pPr>
            <a:r>
              <a:rPr lang="en-GB" sz="2400" dirty="0">
                <a:solidFill>
                  <a:srgbClr val="002060"/>
                </a:solidFill>
                <a:effectLst/>
                <a:ea typeface="Calibri" panose="020F0502020204030204" pitchFamily="34" charset="0"/>
                <a:cs typeface="Times New Roman" panose="02020603050405020304" pitchFamily="18" charset="0"/>
              </a:rPr>
              <a:t>The user enters the data into an appropriate part of the form </a:t>
            </a:r>
          </a:p>
          <a:p>
            <a:pPr marL="342900" lvl="0" indent="-342900">
              <a:lnSpc>
                <a:spcPct val="115000"/>
              </a:lnSpc>
              <a:spcAft>
                <a:spcPts val="0"/>
              </a:spcAft>
              <a:buFont typeface="Symbol" panose="05050102010706020507" pitchFamily="18" charset="2"/>
              <a:buChar char=""/>
            </a:pPr>
            <a:r>
              <a:rPr lang="en-GB" sz="2400" dirty="0">
                <a:solidFill>
                  <a:srgbClr val="002060"/>
                </a:solidFill>
                <a:effectLst/>
                <a:ea typeface="Calibri" panose="020F0502020204030204" pitchFamily="34" charset="0"/>
                <a:cs typeface="Times New Roman" panose="02020603050405020304" pitchFamily="18" charset="0"/>
              </a:rPr>
              <a:t>Data may be entered as text in text boxes </a:t>
            </a:r>
          </a:p>
          <a:p>
            <a:pPr marL="342900" lvl="0" indent="-342900">
              <a:lnSpc>
                <a:spcPct val="115000"/>
              </a:lnSpc>
              <a:spcAft>
                <a:spcPts val="0"/>
              </a:spcAft>
              <a:buFont typeface="Symbol" panose="05050102010706020507" pitchFamily="18" charset="2"/>
              <a:buChar char=""/>
            </a:pPr>
            <a:r>
              <a:rPr lang="en-GB" sz="2400" dirty="0">
                <a:solidFill>
                  <a:srgbClr val="002060"/>
                </a:solidFill>
                <a:effectLst/>
                <a:ea typeface="Calibri" panose="020F0502020204030204" pitchFamily="34" charset="0"/>
                <a:cs typeface="Times New Roman" panose="02020603050405020304" pitchFamily="18" charset="0"/>
              </a:rPr>
              <a:t>Or from selecting from a drop down menu </a:t>
            </a:r>
          </a:p>
          <a:p>
            <a:pPr marL="342900" lvl="0" indent="-342900">
              <a:lnSpc>
                <a:spcPct val="115000"/>
              </a:lnSpc>
              <a:spcAft>
                <a:spcPts val="0"/>
              </a:spcAft>
              <a:buFont typeface="Symbol" panose="05050102010706020507" pitchFamily="18" charset="2"/>
              <a:buChar char=""/>
            </a:pPr>
            <a:r>
              <a:rPr lang="en-GB" sz="2400" dirty="0">
                <a:solidFill>
                  <a:srgbClr val="002060"/>
                </a:solidFill>
                <a:effectLst/>
                <a:ea typeface="Calibri" panose="020F0502020204030204" pitchFamily="34" charset="0"/>
                <a:cs typeface="Times New Roman" panose="02020603050405020304" pitchFamily="18" charset="0"/>
              </a:rPr>
              <a:t>Or by ticking checkboxes/radio Buttons </a:t>
            </a:r>
          </a:p>
          <a:p>
            <a:pPr marL="342900" lvl="0" indent="-342900">
              <a:lnSpc>
                <a:spcPct val="115000"/>
              </a:lnSpc>
              <a:spcAft>
                <a:spcPts val="0"/>
              </a:spcAft>
              <a:buFont typeface="Symbol" panose="05050102010706020507" pitchFamily="18" charset="2"/>
              <a:buChar char=""/>
            </a:pPr>
            <a:r>
              <a:rPr lang="en-GB" sz="2400" dirty="0">
                <a:solidFill>
                  <a:srgbClr val="002060"/>
                </a:solidFill>
                <a:effectLst/>
                <a:ea typeface="Calibri" panose="020F0502020204030204" pitchFamily="34" charset="0"/>
                <a:cs typeface="Times New Roman" panose="02020603050405020304" pitchFamily="18" charset="0"/>
              </a:rPr>
              <a:t>The user is taken through in a predetermined order </a:t>
            </a:r>
          </a:p>
          <a:p>
            <a:pPr marL="342900" lvl="0" indent="-342900">
              <a:lnSpc>
                <a:spcPct val="115000"/>
              </a:lnSpc>
              <a:spcAft>
                <a:spcPts val="1000"/>
              </a:spcAft>
              <a:buFont typeface="Symbol" panose="05050102010706020507" pitchFamily="18" charset="2"/>
              <a:buChar char=""/>
            </a:pPr>
            <a:r>
              <a:rPr lang="en-GB" sz="2400" dirty="0">
                <a:solidFill>
                  <a:srgbClr val="002060"/>
                </a:solidFill>
                <a:effectLst/>
                <a:ea typeface="Calibri" panose="020F0502020204030204" pitchFamily="34" charset="0"/>
                <a:cs typeface="Times New Roman" panose="02020603050405020304" pitchFamily="18" charset="0"/>
              </a:rPr>
              <a:t>Validation may be performed </a:t>
            </a:r>
          </a:p>
          <a:p>
            <a:pPr algn="ctr">
              <a:lnSpc>
                <a:spcPct val="115000"/>
              </a:lnSpc>
              <a:spcAft>
                <a:spcPts val="1000"/>
              </a:spcAft>
            </a:pPr>
            <a:r>
              <a:rPr lang="en-GB" sz="1600" dirty="0">
                <a:effectLst/>
                <a:ea typeface="Calibri" panose="020F0502020204030204" pitchFamily="34" charset="0"/>
                <a:cs typeface="Times New Roman" panose="02020603050405020304" pitchFamily="18" charset="0"/>
              </a:rPr>
              <a:t> </a:t>
            </a:r>
          </a:p>
        </p:txBody>
      </p:sp>
      <p:sp>
        <p:nvSpPr>
          <p:cNvPr id="9" name="Left Arrow 8"/>
          <p:cNvSpPr/>
          <p:nvPr/>
        </p:nvSpPr>
        <p:spPr>
          <a:xfrm>
            <a:off x="4704740" y="3737709"/>
            <a:ext cx="733425" cy="323850"/>
          </a:xfrm>
          <a:prstGeom prst="lef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Tree>
    <p:extLst>
      <p:ext uri="{BB962C8B-B14F-4D97-AF65-F5344CB8AC3E}">
        <p14:creationId xmlns:p14="http://schemas.microsoft.com/office/powerpoint/2010/main" val="590407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fade">
                                      <p:cBhvr>
                                        <p:cTn id="27" dur="500"/>
                                        <p:tgtEl>
                                          <p:spTgt spid="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fade">
                                      <p:cBhvr>
                                        <p:cTn id="32" dur="500"/>
                                        <p:tgtEl>
                                          <p:spTgt spid="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Effect transition="in" filter="fade">
                                      <p:cBhvr>
                                        <p:cTn id="37"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http://www.databasedev.co.uk/image/ui_contact_details_small.jpg"/>
          <p:cNvPicPr/>
          <p:nvPr/>
        </p:nvPicPr>
        <p:blipFill>
          <a:blip r:embed="rId2">
            <a:extLst>
              <a:ext uri="{28A0092B-C50C-407E-A947-70E740481C1C}">
                <a14:useLocalDpi xmlns:a14="http://schemas.microsoft.com/office/drawing/2010/main" val="0"/>
              </a:ext>
            </a:extLst>
          </a:blip>
          <a:srcRect/>
          <a:stretch>
            <a:fillRect/>
          </a:stretch>
        </p:blipFill>
        <p:spPr bwMode="auto">
          <a:xfrm>
            <a:off x="472176" y="1574623"/>
            <a:ext cx="4665646" cy="2835956"/>
          </a:xfrm>
          <a:prstGeom prst="rect">
            <a:avLst/>
          </a:prstGeom>
          <a:noFill/>
          <a:ln>
            <a:noFill/>
          </a:ln>
        </p:spPr>
      </p:pic>
      <p:sp>
        <p:nvSpPr>
          <p:cNvPr id="2" name="Title 1"/>
          <p:cNvSpPr>
            <a:spLocks noGrp="1"/>
          </p:cNvSpPr>
          <p:nvPr>
            <p:ph type="title"/>
          </p:nvPr>
        </p:nvSpPr>
        <p:spPr/>
        <p:txBody>
          <a:bodyPr/>
          <a:lstStyle/>
          <a:p>
            <a:r>
              <a:rPr lang="en-US" dirty="0"/>
              <a:t>FORMS DIALOGUE</a:t>
            </a:r>
            <a:endParaRPr lang="en-GB" dirty="0"/>
          </a:p>
        </p:txBody>
      </p:sp>
      <p:sp>
        <p:nvSpPr>
          <p:cNvPr id="7" name="Rectangle 6"/>
          <p:cNvSpPr/>
          <p:nvPr/>
        </p:nvSpPr>
        <p:spPr>
          <a:xfrm>
            <a:off x="472175" y="4410579"/>
            <a:ext cx="4665645" cy="1446550"/>
          </a:xfrm>
          <a:prstGeom prst="rect">
            <a:avLst/>
          </a:prstGeom>
          <a:noFill/>
        </p:spPr>
        <p:txBody>
          <a:bodyPr wrap="square" lIns="91440" tIns="45720" rIns="91440" bIns="45720">
            <a:spAutoFit/>
          </a:bodyPr>
          <a:lstStyle/>
          <a:p>
            <a:pPr algn="ctr"/>
            <a:r>
              <a:rPr lang="en-US" sz="4400" b="1" cap="none" spc="0" dirty="0">
                <a:ln w="22225">
                  <a:solidFill>
                    <a:schemeClr val="accent2"/>
                  </a:solidFill>
                  <a:prstDash val="solid"/>
                </a:ln>
                <a:solidFill>
                  <a:schemeClr val="accent2">
                    <a:lumMod val="40000"/>
                    <a:lumOff val="60000"/>
                  </a:schemeClr>
                </a:solidFill>
                <a:effectLst/>
              </a:rPr>
              <a:t>Forms in a </a:t>
            </a:r>
          </a:p>
          <a:p>
            <a:pPr algn="ctr"/>
            <a:r>
              <a:rPr lang="en-US" sz="4400" b="1" cap="none" spc="0" dirty="0">
                <a:ln w="22225">
                  <a:solidFill>
                    <a:schemeClr val="accent2"/>
                  </a:solidFill>
                  <a:prstDash val="solid"/>
                </a:ln>
                <a:solidFill>
                  <a:schemeClr val="accent2">
                    <a:lumMod val="40000"/>
                    <a:lumOff val="60000"/>
                  </a:schemeClr>
                </a:solidFill>
                <a:effectLst/>
              </a:rPr>
              <a:t>Database</a:t>
            </a:r>
          </a:p>
        </p:txBody>
      </p:sp>
      <p:sp>
        <p:nvSpPr>
          <p:cNvPr id="8" name="TextBox 7"/>
          <p:cNvSpPr txBox="1"/>
          <p:nvPr/>
        </p:nvSpPr>
        <p:spPr>
          <a:xfrm>
            <a:off x="5282293" y="382385"/>
            <a:ext cx="6817178" cy="6801862"/>
          </a:xfrm>
          <a:prstGeom prst="rect">
            <a:avLst/>
          </a:prstGeom>
          <a:noFill/>
        </p:spPr>
        <p:txBody>
          <a:bodyPr wrap="square" rtlCol="0">
            <a:spAutoFit/>
          </a:bodyPr>
          <a:lstStyle/>
          <a:p>
            <a:r>
              <a:rPr lang="en-GB" sz="2000" dirty="0"/>
              <a:t>As can be seen above, a form dialogue interface will output prompts and response fields to the user on screen.  The user must then provide input via each of the empty fields, which must be completed.</a:t>
            </a:r>
          </a:p>
          <a:p>
            <a:endParaRPr lang="en-US" sz="2000" dirty="0"/>
          </a:p>
          <a:p>
            <a:r>
              <a:rPr lang="en-GB" sz="2000" dirty="0"/>
              <a:t>A forms dialogue interface will use the following methods to secure the required input from the end user:-</a:t>
            </a:r>
          </a:p>
          <a:p>
            <a:pPr lvl="0"/>
            <a:r>
              <a:rPr lang="en-GB" sz="2000" b="1" dirty="0"/>
              <a:t>Response field</a:t>
            </a:r>
            <a:r>
              <a:rPr lang="en-GB" sz="2000" dirty="0"/>
              <a:t> – a position on the forms dialogue box where the end user will enter a response.  They may move the cursor from field to field, e.g. with a mouse click or perhaps using the tab key on a keyboard.</a:t>
            </a:r>
          </a:p>
          <a:p>
            <a:pPr lvl="0"/>
            <a:endParaRPr lang="en-GB" sz="2000" dirty="0"/>
          </a:p>
          <a:p>
            <a:pPr lvl="0"/>
            <a:r>
              <a:rPr lang="en-GB" sz="2000" b="1" dirty="0"/>
              <a:t>Prompt </a:t>
            </a:r>
            <a:r>
              <a:rPr lang="en-GB" sz="2000" dirty="0"/>
              <a:t>– a prompt may appear for the end user at the position where data entry is required.  The prompt may be in the form of a flashing cursor in a response field.</a:t>
            </a:r>
          </a:p>
          <a:p>
            <a:pPr lvl="0"/>
            <a:endParaRPr lang="en-GB" sz="2000" dirty="0"/>
          </a:p>
          <a:p>
            <a:pPr lvl="0"/>
            <a:r>
              <a:rPr lang="en-GB" sz="2000" b="1" dirty="0"/>
              <a:t>Error messages</a:t>
            </a:r>
            <a:r>
              <a:rPr lang="en-GB" sz="2000" dirty="0"/>
              <a:t> – used to inform the end user there has been an error in the data entry process.  The most user friendly error messages will include some form of diagnostic information for the end user.</a:t>
            </a:r>
          </a:p>
          <a:p>
            <a:endParaRPr lang="en-GB" sz="2000" dirty="0"/>
          </a:p>
          <a:p>
            <a:endParaRPr lang="en-GB" sz="2000" dirty="0"/>
          </a:p>
        </p:txBody>
      </p:sp>
    </p:spTree>
    <p:extLst>
      <p:ext uri="{BB962C8B-B14F-4D97-AF65-F5344CB8AC3E}">
        <p14:creationId xmlns:p14="http://schemas.microsoft.com/office/powerpoint/2010/main" val="2491026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Evaluating User Interfaces</a:t>
            </a:r>
            <a:endParaRPr lang="en-GB" dirty="0"/>
          </a:p>
        </p:txBody>
      </p:sp>
      <p:graphicFrame>
        <p:nvGraphicFramePr>
          <p:cNvPr id="5" name="Table 4"/>
          <p:cNvGraphicFramePr>
            <a:graphicFrameLocks noGrp="1"/>
          </p:cNvGraphicFramePr>
          <p:nvPr/>
        </p:nvGraphicFramePr>
        <p:xfrm>
          <a:off x="1555532" y="1429407"/>
          <a:ext cx="8204700" cy="5617368"/>
        </p:xfrm>
        <a:graphic>
          <a:graphicData uri="http://schemas.openxmlformats.org/drawingml/2006/table">
            <a:tbl>
              <a:tblPr firstRow="1" firstCol="1" bandRow="1">
                <a:tableStyleId>{5C22544A-7EE6-4342-B048-85BDC9FD1C3A}</a:tableStyleId>
              </a:tblPr>
              <a:tblGrid>
                <a:gridCol w="1175884">
                  <a:extLst>
                    <a:ext uri="{9D8B030D-6E8A-4147-A177-3AD203B41FA5}">
                      <a16:colId xmlns:a16="http://schemas.microsoft.com/office/drawing/2014/main" val="229830436"/>
                    </a:ext>
                  </a:extLst>
                </a:gridCol>
                <a:gridCol w="1581433">
                  <a:extLst>
                    <a:ext uri="{9D8B030D-6E8A-4147-A177-3AD203B41FA5}">
                      <a16:colId xmlns:a16="http://schemas.microsoft.com/office/drawing/2014/main" val="3119111263"/>
                    </a:ext>
                  </a:extLst>
                </a:gridCol>
                <a:gridCol w="2728786">
                  <a:extLst>
                    <a:ext uri="{9D8B030D-6E8A-4147-A177-3AD203B41FA5}">
                      <a16:colId xmlns:a16="http://schemas.microsoft.com/office/drawing/2014/main" val="2694123518"/>
                    </a:ext>
                  </a:extLst>
                </a:gridCol>
                <a:gridCol w="2718597">
                  <a:extLst>
                    <a:ext uri="{9D8B030D-6E8A-4147-A177-3AD203B41FA5}">
                      <a16:colId xmlns:a16="http://schemas.microsoft.com/office/drawing/2014/main" val="645489616"/>
                    </a:ext>
                  </a:extLst>
                </a:gridCol>
              </a:tblGrid>
              <a:tr h="903890">
                <a:tc>
                  <a:txBody>
                    <a:bodyPr/>
                    <a:lstStyle/>
                    <a:p>
                      <a:pPr algn="ctr">
                        <a:lnSpc>
                          <a:spcPct val="115000"/>
                        </a:lnSpc>
                        <a:spcAft>
                          <a:spcPts val="0"/>
                        </a:spcAft>
                      </a:pPr>
                      <a:r>
                        <a:rPr lang="en-GB" sz="1400" dirty="0">
                          <a:effectLst/>
                        </a:rPr>
                        <a:t> </a:t>
                      </a:r>
                    </a:p>
                    <a:p>
                      <a:pPr algn="ctr">
                        <a:lnSpc>
                          <a:spcPct val="115000"/>
                        </a:lnSpc>
                        <a:spcAft>
                          <a:spcPts val="0"/>
                        </a:spcAft>
                      </a:pPr>
                      <a:r>
                        <a:rPr lang="en-GB" sz="1400" dirty="0">
                          <a:effectLst/>
                        </a:rPr>
                        <a:t>Interface Type</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291" marR="67291" marT="0" marB="0"/>
                </a:tc>
                <a:tc>
                  <a:txBody>
                    <a:bodyPr/>
                    <a:lstStyle/>
                    <a:p>
                      <a:pPr algn="ctr">
                        <a:lnSpc>
                          <a:spcPct val="115000"/>
                        </a:lnSpc>
                        <a:spcAft>
                          <a:spcPts val="0"/>
                        </a:spcAft>
                      </a:pPr>
                      <a:r>
                        <a:rPr lang="en-GB" sz="1400" dirty="0">
                          <a:effectLst/>
                        </a:rPr>
                        <a:t> </a:t>
                      </a:r>
                    </a:p>
                    <a:p>
                      <a:pPr algn="ctr">
                        <a:lnSpc>
                          <a:spcPct val="115000"/>
                        </a:lnSpc>
                        <a:spcAft>
                          <a:spcPts val="0"/>
                        </a:spcAft>
                      </a:pPr>
                      <a:r>
                        <a:rPr lang="en-GB" sz="1400" dirty="0">
                          <a:effectLst/>
                        </a:rPr>
                        <a:t>Applications</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291" marR="67291" marT="0" marB="0"/>
                </a:tc>
                <a:tc>
                  <a:txBody>
                    <a:bodyPr/>
                    <a:lstStyle/>
                    <a:p>
                      <a:pPr algn="ctr">
                        <a:lnSpc>
                          <a:spcPct val="115000"/>
                        </a:lnSpc>
                        <a:spcAft>
                          <a:spcPts val="0"/>
                        </a:spcAft>
                      </a:pPr>
                      <a:r>
                        <a:rPr lang="en-GB" sz="1400" dirty="0">
                          <a:effectLst/>
                        </a:rPr>
                        <a:t> </a:t>
                      </a:r>
                    </a:p>
                    <a:p>
                      <a:pPr algn="ctr">
                        <a:lnSpc>
                          <a:spcPct val="115000"/>
                        </a:lnSpc>
                        <a:spcAft>
                          <a:spcPts val="0"/>
                        </a:spcAft>
                      </a:pPr>
                      <a:r>
                        <a:rPr lang="en-GB" sz="1400" dirty="0">
                          <a:effectLst/>
                        </a:rPr>
                        <a:t>Advantages </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291" marR="67291" marT="0" marB="0"/>
                </a:tc>
                <a:tc>
                  <a:txBody>
                    <a:bodyPr/>
                    <a:lstStyle/>
                    <a:p>
                      <a:pPr algn="ctr">
                        <a:lnSpc>
                          <a:spcPct val="115000"/>
                        </a:lnSpc>
                        <a:spcAft>
                          <a:spcPts val="0"/>
                        </a:spcAft>
                      </a:pPr>
                      <a:r>
                        <a:rPr lang="en-GB" sz="1400" dirty="0">
                          <a:effectLst/>
                        </a:rPr>
                        <a:t> </a:t>
                      </a:r>
                    </a:p>
                    <a:p>
                      <a:pPr algn="ctr">
                        <a:lnSpc>
                          <a:spcPct val="115000"/>
                        </a:lnSpc>
                        <a:spcAft>
                          <a:spcPts val="0"/>
                        </a:spcAft>
                      </a:pPr>
                      <a:r>
                        <a:rPr lang="en-GB" sz="1400" dirty="0">
                          <a:effectLst/>
                        </a:rPr>
                        <a:t>Disadvantages</a:t>
                      </a:r>
                    </a:p>
                    <a:p>
                      <a:pPr algn="ctr">
                        <a:lnSpc>
                          <a:spcPct val="115000"/>
                        </a:lnSpc>
                        <a:spcAft>
                          <a:spcPts val="0"/>
                        </a:spcAft>
                      </a:pPr>
                      <a:r>
                        <a:rPr lang="en-GB" sz="1400" dirty="0">
                          <a:effectLst/>
                        </a:rPr>
                        <a:t> </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291" marR="67291" marT="0" marB="0"/>
                </a:tc>
                <a:extLst>
                  <a:ext uri="{0D108BD9-81ED-4DB2-BD59-A6C34878D82A}">
                    <a16:rowId xmlns:a16="http://schemas.microsoft.com/office/drawing/2014/main" val="3102534052"/>
                  </a:ext>
                </a:extLst>
              </a:tr>
              <a:tr h="4190548">
                <a:tc>
                  <a:txBody>
                    <a:bodyPr/>
                    <a:lstStyle/>
                    <a:p>
                      <a:pPr>
                        <a:lnSpc>
                          <a:spcPct val="115000"/>
                        </a:lnSpc>
                        <a:spcAft>
                          <a:spcPts val="0"/>
                        </a:spcAft>
                      </a:pPr>
                      <a:r>
                        <a:rPr lang="en-GB" sz="1600" dirty="0">
                          <a:effectLst/>
                        </a:rPr>
                        <a:t>WIMP</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7291" marR="67291" marT="0" marB="0"/>
                </a:tc>
                <a:tc>
                  <a:txBody>
                    <a:bodyPr/>
                    <a:lstStyle/>
                    <a:p>
                      <a:pPr>
                        <a:lnSpc>
                          <a:spcPct val="115000"/>
                        </a:lnSpc>
                        <a:spcAft>
                          <a:spcPts val="0"/>
                        </a:spcAft>
                      </a:pPr>
                      <a:r>
                        <a:rPr lang="en-GB" sz="1800" dirty="0">
                          <a:effectLst/>
                        </a:rPr>
                        <a:t>Suitable for less experienced user.</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7291" marR="67291" marT="0" marB="0"/>
                </a:tc>
                <a:tc>
                  <a:txBody>
                    <a:bodyPr/>
                    <a:lstStyle/>
                    <a:p>
                      <a:pPr marL="342900" lvl="0" indent="-342900">
                        <a:lnSpc>
                          <a:spcPct val="115000"/>
                        </a:lnSpc>
                        <a:spcAft>
                          <a:spcPts val="0"/>
                        </a:spcAft>
                        <a:buFont typeface="Symbol" panose="05050102010706020507" pitchFamily="18" charset="2"/>
                        <a:buChar char=""/>
                      </a:pPr>
                      <a:r>
                        <a:rPr lang="en-GB" sz="1800" dirty="0">
                          <a:effectLst/>
                        </a:rPr>
                        <a:t>Intuitive for the user.</a:t>
                      </a:r>
                    </a:p>
                    <a:p>
                      <a:pPr marL="342900" lvl="0" indent="-342900">
                        <a:lnSpc>
                          <a:spcPct val="115000"/>
                        </a:lnSpc>
                        <a:spcAft>
                          <a:spcPts val="0"/>
                        </a:spcAft>
                        <a:buFont typeface="Symbol" panose="05050102010706020507" pitchFamily="18" charset="2"/>
                        <a:buChar char=""/>
                      </a:pPr>
                      <a:r>
                        <a:rPr lang="en-GB" sz="1800" dirty="0">
                          <a:effectLst/>
                        </a:rPr>
                        <a:t>Provides user with simple approach to carrying out complicated tasks.</a:t>
                      </a:r>
                    </a:p>
                    <a:p>
                      <a:pPr marL="342900" lvl="0" indent="-342900">
                        <a:lnSpc>
                          <a:spcPct val="115000"/>
                        </a:lnSpc>
                        <a:spcAft>
                          <a:spcPts val="0"/>
                        </a:spcAft>
                        <a:buFont typeface="Symbol" panose="05050102010706020507" pitchFamily="18" charset="2"/>
                        <a:buChar char=""/>
                      </a:pPr>
                      <a:r>
                        <a:rPr lang="en-GB" sz="1800" dirty="0">
                          <a:effectLst/>
                        </a:rPr>
                        <a:t>You do not have to learn complicated commands</a:t>
                      </a:r>
                    </a:p>
                    <a:p>
                      <a:pPr marL="342900" lvl="0" indent="-342900">
                        <a:lnSpc>
                          <a:spcPct val="115000"/>
                        </a:lnSpc>
                        <a:spcAft>
                          <a:spcPts val="0"/>
                        </a:spcAft>
                        <a:buFont typeface="Symbol" panose="05050102010706020507" pitchFamily="18" charset="2"/>
                        <a:buChar char=""/>
                      </a:pPr>
                      <a:r>
                        <a:rPr lang="en-GB" sz="1800" dirty="0">
                          <a:effectLst/>
                        </a:rPr>
                        <a:t>Usually good help facilities with a WIMP Interface</a:t>
                      </a:r>
                    </a:p>
                    <a:p>
                      <a:pPr marL="342900" lvl="0" indent="-342900">
                        <a:lnSpc>
                          <a:spcPct val="115000"/>
                        </a:lnSpc>
                        <a:spcAft>
                          <a:spcPts val="0"/>
                        </a:spcAft>
                        <a:buFont typeface="Symbol" panose="05050102010706020507" pitchFamily="18" charset="2"/>
                        <a:buChar char=""/>
                      </a:pPr>
                      <a:r>
                        <a:rPr lang="en-GB" sz="1800" dirty="0">
                          <a:effectLst/>
                        </a:rPr>
                        <a:t>They let you exchange data between software programmes</a:t>
                      </a:r>
                    </a:p>
                    <a:p>
                      <a:pPr>
                        <a:lnSpc>
                          <a:spcPct val="115000"/>
                        </a:lnSpc>
                        <a:spcAft>
                          <a:spcPts val="0"/>
                        </a:spcAft>
                      </a:pPr>
                      <a:r>
                        <a:rPr lang="en-GB" sz="1800" dirty="0">
                          <a:effectLst/>
                        </a:rPr>
                        <a:t>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7291" marR="67291" marT="0" marB="0"/>
                </a:tc>
                <a:tc>
                  <a:txBody>
                    <a:bodyPr/>
                    <a:lstStyle/>
                    <a:p>
                      <a:pPr marL="342900" lvl="0" indent="-342900">
                        <a:lnSpc>
                          <a:spcPct val="115000"/>
                        </a:lnSpc>
                        <a:spcAft>
                          <a:spcPts val="0"/>
                        </a:spcAft>
                        <a:buFont typeface="Symbol" panose="05050102010706020507" pitchFamily="18" charset="2"/>
                        <a:buChar char=""/>
                      </a:pPr>
                      <a:r>
                        <a:rPr lang="en-GB" sz="1800" dirty="0">
                          <a:effectLst/>
                        </a:rPr>
                        <a:t>Complex interfaces of this nature require extensive resources for effective operation.</a:t>
                      </a:r>
                    </a:p>
                    <a:p>
                      <a:pPr marL="342900" lvl="0" indent="-342900">
                        <a:lnSpc>
                          <a:spcPct val="115000"/>
                        </a:lnSpc>
                        <a:spcAft>
                          <a:spcPts val="0"/>
                        </a:spcAft>
                        <a:buFont typeface="Symbol" panose="05050102010706020507" pitchFamily="18" charset="2"/>
                        <a:buChar char=""/>
                      </a:pPr>
                      <a:r>
                        <a:rPr lang="en-GB" sz="1800" dirty="0">
                          <a:effectLst/>
                        </a:rPr>
                        <a:t>GUIs take up a much larger amount of hard disk space / RAM / Processing Power than other interfaces</a:t>
                      </a:r>
                    </a:p>
                    <a:p>
                      <a:pPr marL="342900" lvl="0" indent="-342900">
                        <a:lnSpc>
                          <a:spcPct val="115000"/>
                        </a:lnSpc>
                        <a:spcAft>
                          <a:spcPts val="0"/>
                        </a:spcAft>
                        <a:buFont typeface="Symbol" panose="05050102010706020507" pitchFamily="18" charset="2"/>
                        <a:buChar char=""/>
                      </a:pPr>
                      <a:r>
                        <a:rPr lang="en-GB" sz="1800" dirty="0">
                          <a:effectLst/>
                        </a:rPr>
                        <a:t>Slow for experienced users to use compared to CLI</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7291" marR="67291" marT="0" marB="0"/>
                </a:tc>
                <a:extLst>
                  <a:ext uri="{0D108BD9-81ED-4DB2-BD59-A6C34878D82A}">
                    <a16:rowId xmlns:a16="http://schemas.microsoft.com/office/drawing/2014/main" val="3769166579"/>
                  </a:ext>
                </a:extLst>
              </a:tr>
            </a:tbl>
          </a:graphicData>
        </a:graphic>
      </p:graphicFrame>
      <p:sp>
        <p:nvSpPr>
          <p:cNvPr id="3" name="Rectangle 2"/>
          <p:cNvSpPr/>
          <p:nvPr/>
        </p:nvSpPr>
        <p:spPr>
          <a:xfrm>
            <a:off x="4362450" y="2343150"/>
            <a:ext cx="2628900" cy="4514850"/>
          </a:xfrm>
          <a:prstGeom prst="rect">
            <a:avLst/>
          </a:prstGeom>
          <a:solidFill>
            <a:srgbClr val="D3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p:cNvSpPr/>
          <p:nvPr/>
        </p:nvSpPr>
        <p:spPr>
          <a:xfrm>
            <a:off x="7074182" y="2343150"/>
            <a:ext cx="2628900" cy="4514850"/>
          </a:xfrm>
          <a:prstGeom prst="rect">
            <a:avLst/>
          </a:prstGeom>
          <a:solidFill>
            <a:srgbClr val="D3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40944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1713186" y="620111"/>
          <a:ext cx="8342056" cy="5791199"/>
        </p:xfrm>
        <a:graphic>
          <a:graphicData uri="http://schemas.openxmlformats.org/drawingml/2006/table">
            <a:tbl>
              <a:tblPr firstRow="1" firstCol="1" bandRow="1">
                <a:tableStyleId>{5C22544A-7EE6-4342-B048-85BDC9FD1C3A}</a:tableStyleId>
              </a:tblPr>
              <a:tblGrid>
                <a:gridCol w="1195570">
                  <a:extLst>
                    <a:ext uri="{9D8B030D-6E8A-4147-A177-3AD203B41FA5}">
                      <a16:colId xmlns:a16="http://schemas.microsoft.com/office/drawing/2014/main" val="2546127441"/>
                    </a:ext>
                  </a:extLst>
                </a:gridCol>
                <a:gridCol w="1607907">
                  <a:extLst>
                    <a:ext uri="{9D8B030D-6E8A-4147-A177-3AD203B41FA5}">
                      <a16:colId xmlns:a16="http://schemas.microsoft.com/office/drawing/2014/main" val="692454549"/>
                    </a:ext>
                  </a:extLst>
                </a:gridCol>
                <a:gridCol w="2774469">
                  <a:extLst>
                    <a:ext uri="{9D8B030D-6E8A-4147-A177-3AD203B41FA5}">
                      <a16:colId xmlns:a16="http://schemas.microsoft.com/office/drawing/2014/main" val="4126319989"/>
                    </a:ext>
                  </a:extLst>
                </a:gridCol>
                <a:gridCol w="2764110">
                  <a:extLst>
                    <a:ext uri="{9D8B030D-6E8A-4147-A177-3AD203B41FA5}">
                      <a16:colId xmlns:a16="http://schemas.microsoft.com/office/drawing/2014/main" val="488924065"/>
                    </a:ext>
                  </a:extLst>
                </a:gridCol>
              </a:tblGrid>
              <a:tr h="935420">
                <a:tc>
                  <a:txBody>
                    <a:bodyPr/>
                    <a:lstStyle/>
                    <a:p>
                      <a:pPr algn="ctr">
                        <a:lnSpc>
                          <a:spcPct val="115000"/>
                        </a:lnSpc>
                        <a:spcAft>
                          <a:spcPts val="0"/>
                        </a:spcAft>
                      </a:pPr>
                      <a:r>
                        <a:rPr lang="en-GB" sz="1400" dirty="0">
                          <a:effectLst/>
                        </a:rPr>
                        <a:t> </a:t>
                      </a:r>
                    </a:p>
                    <a:p>
                      <a:pPr algn="ctr">
                        <a:lnSpc>
                          <a:spcPct val="115000"/>
                        </a:lnSpc>
                        <a:spcAft>
                          <a:spcPts val="0"/>
                        </a:spcAft>
                      </a:pPr>
                      <a:r>
                        <a:rPr lang="en-GB" sz="1400" dirty="0">
                          <a:effectLst/>
                        </a:rPr>
                        <a:t>Interface Type</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291" marR="67291" marT="0" marB="0"/>
                </a:tc>
                <a:tc>
                  <a:txBody>
                    <a:bodyPr/>
                    <a:lstStyle/>
                    <a:p>
                      <a:pPr algn="ctr">
                        <a:lnSpc>
                          <a:spcPct val="115000"/>
                        </a:lnSpc>
                        <a:spcAft>
                          <a:spcPts val="0"/>
                        </a:spcAft>
                      </a:pPr>
                      <a:r>
                        <a:rPr lang="en-GB" sz="1400" dirty="0">
                          <a:effectLst/>
                        </a:rPr>
                        <a:t> </a:t>
                      </a:r>
                    </a:p>
                    <a:p>
                      <a:pPr algn="ctr">
                        <a:lnSpc>
                          <a:spcPct val="115000"/>
                        </a:lnSpc>
                        <a:spcAft>
                          <a:spcPts val="0"/>
                        </a:spcAft>
                      </a:pPr>
                      <a:r>
                        <a:rPr lang="en-GB" sz="1400" dirty="0">
                          <a:effectLst/>
                        </a:rPr>
                        <a:t>Applications</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291" marR="67291" marT="0" marB="0">
                    <a:solidFill>
                      <a:schemeClr val="accent1"/>
                    </a:solidFill>
                  </a:tcPr>
                </a:tc>
                <a:tc>
                  <a:txBody>
                    <a:bodyPr/>
                    <a:lstStyle/>
                    <a:p>
                      <a:pPr algn="ctr">
                        <a:lnSpc>
                          <a:spcPct val="115000"/>
                        </a:lnSpc>
                        <a:spcAft>
                          <a:spcPts val="0"/>
                        </a:spcAft>
                      </a:pPr>
                      <a:r>
                        <a:rPr lang="en-GB" sz="1400" dirty="0">
                          <a:effectLst/>
                        </a:rPr>
                        <a:t> </a:t>
                      </a:r>
                    </a:p>
                    <a:p>
                      <a:pPr algn="ctr">
                        <a:lnSpc>
                          <a:spcPct val="115000"/>
                        </a:lnSpc>
                        <a:spcAft>
                          <a:spcPts val="0"/>
                        </a:spcAft>
                      </a:pPr>
                      <a:r>
                        <a:rPr lang="en-GB" sz="1400" dirty="0">
                          <a:effectLst/>
                        </a:rPr>
                        <a:t>Advantages </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291" marR="67291" marT="0" marB="0">
                    <a:solidFill>
                      <a:schemeClr val="accent1"/>
                    </a:solidFill>
                  </a:tcPr>
                </a:tc>
                <a:tc>
                  <a:txBody>
                    <a:bodyPr/>
                    <a:lstStyle/>
                    <a:p>
                      <a:pPr algn="ctr">
                        <a:lnSpc>
                          <a:spcPct val="115000"/>
                        </a:lnSpc>
                        <a:spcAft>
                          <a:spcPts val="0"/>
                        </a:spcAft>
                      </a:pPr>
                      <a:r>
                        <a:rPr lang="en-GB" sz="1400" dirty="0">
                          <a:effectLst/>
                        </a:rPr>
                        <a:t> </a:t>
                      </a:r>
                    </a:p>
                    <a:p>
                      <a:pPr algn="ctr">
                        <a:lnSpc>
                          <a:spcPct val="115000"/>
                        </a:lnSpc>
                        <a:spcAft>
                          <a:spcPts val="0"/>
                        </a:spcAft>
                      </a:pPr>
                      <a:r>
                        <a:rPr lang="en-GB" sz="1400" dirty="0">
                          <a:effectLst/>
                        </a:rPr>
                        <a:t>Disadvantages</a:t>
                      </a:r>
                    </a:p>
                    <a:p>
                      <a:pPr algn="ctr">
                        <a:lnSpc>
                          <a:spcPct val="115000"/>
                        </a:lnSpc>
                        <a:spcAft>
                          <a:spcPts val="0"/>
                        </a:spcAft>
                      </a:pPr>
                      <a:r>
                        <a:rPr lang="en-GB" sz="1400" dirty="0">
                          <a:effectLst/>
                        </a:rPr>
                        <a:t> </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291" marR="67291" marT="0" marB="0">
                    <a:solidFill>
                      <a:schemeClr val="accent1"/>
                    </a:solidFill>
                  </a:tcPr>
                </a:tc>
                <a:extLst>
                  <a:ext uri="{0D108BD9-81ED-4DB2-BD59-A6C34878D82A}">
                    <a16:rowId xmlns:a16="http://schemas.microsoft.com/office/drawing/2014/main" val="4266581854"/>
                  </a:ext>
                </a:extLst>
              </a:tr>
              <a:tr h="4855779">
                <a:tc>
                  <a:txBody>
                    <a:bodyPr/>
                    <a:lstStyle/>
                    <a:p>
                      <a:pPr>
                        <a:lnSpc>
                          <a:spcPct val="115000"/>
                        </a:lnSpc>
                        <a:spcAft>
                          <a:spcPts val="0"/>
                        </a:spcAft>
                      </a:pPr>
                      <a:r>
                        <a:rPr lang="en-GB" sz="1600" dirty="0">
                          <a:effectLst/>
                        </a:rPr>
                        <a:t>Command Line</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GB" sz="1800" b="0" dirty="0">
                          <a:solidFill>
                            <a:schemeClr val="tx1"/>
                          </a:solidFill>
                          <a:effectLst/>
                        </a:rPr>
                        <a:t>Suitable for </a:t>
                      </a:r>
                      <a:r>
                        <a:rPr lang="en-GB" sz="1800" b="1" dirty="0">
                          <a:solidFill>
                            <a:schemeClr val="tx1"/>
                          </a:solidFill>
                          <a:effectLst/>
                        </a:rPr>
                        <a:t>experienced users </a:t>
                      </a:r>
                      <a:r>
                        <a:rPr lang="en-GB" sz="1800" b="0" dirty="0">
                          <a:solidFill>
                            <a:schemeClr val="tx1"/>
                          </a:solidFill>
                          <a:effectLst/>
                        </a:rPr>
                        <a:t>who need to maximise processing capabilities of the computer.</a:t>
                      </a:r>
                      <a:endParaRPr lang="en-GB"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40000"/>
                        <a:lumOff val="60000"/>
                      </a:schemeClr>
                    </a:solidFill>
                  </a:tcPr>
                </a:tc>
                <a:tc>
                  <a:txBody>
                    <a:bodyPr/>
                    <a:lstStyle/>
                    <a:p>
                      <a:pPr marL="342900" lvl="0" indent="-342900">
                        <a:lnSpc>
                          <a:spcPct val="115000"/>
                        </a:lnSpc>
                        <a:spcAft>
                          <a:spcPts val="0"/>
                        </a:spcAft>
                        <a:buFont typeface="Symbol" panose="05050102010706020507" pitchFamily="18" charset="2"/>
                        <a:buChar char=""/>
                      </a:pPr>
                      <a:r>
                        <a:rPr lang="en-GB" sz="1800" b="0" dirty="0">
                          <a:solidFill>
                            <a:schemeClr val="tx1"/>
                          </a:solidFill>
                          <a:effectLst/>
                        </a:rPr>
                        <a:t>Minimum resources required to display interface to end user.</a:t>
                      </a:r>
                    </a:p>
                    <a:p>
                      <a:pPr marL="342900" lvl="0" indent="-342900">
                        <a:lnSpc>
                          <a:spcPct val="115000"/>
                        </a:lnSpc>
                        <a:spcAft>
                          <a:spcPts val="0"/>
                        </a:spcAft>
                        <a:buFont typeface="Symbol" panose="05050102010706020507" pitchFamily="18" charset="2"/>
                        <a:buChar char=""/>
                      </a:pPr>
                      <a:r>
                        <a:rPr lang="en-GB" sz="1800" b="0" dirty="0">
                          <a:solidFill>
                            <a:schemeClr val="tx1"/>
                          </a:solidFill>
                          <a:effectLst/>
                        </a:rPr>
                        <a:t>If the user knows the commands it can be much faster to use. </a:t>
                      </a:r>
                    </a:p>
                    <a:p>
                      <a:pPr marL="342900" lvl="0" indent="-342900">
                        <a:lnSpc>
                          <a:spcPct val="115000"/>
                        </a:lnSpc>
                        <a:spcAft>
                          <a:spcPts val="0"/>
                        </a:spcAft>
                        <a:buFont typeface="Symbol" panose="05050102010706020507" pitchFamily="18" charset="2"/>
                        <a:buChar char=""/>
                      </a:pPr>
                      <a:r>
                        <a:rPr lang="en-GB" sz="1800" b="0" dirty="0">
                          <a:solidFill>
                            <a:schemeClr val="tx1"/>
                          </a:solidFill>
                          <a:effectLst/>
                        </a:rPr>
                        <a:t>A CLI does not require Windows  to run</a:t>
                      </a:r>
                      <a:endParaRPr lang="en-GB"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40000"/>
                        <a:lumOff val="60000"/>
                      </a:schemeClr>
                    </a:solidFill>
                  </a:tcPr>
                </a:tc>
                <a:tc>
                  <a:txBody>
                    <a:bodyPr/>
                    <a:lstStyle/>
                    <a:p>
                      <a:pPr marL="342900" lvl="0" indent="-342900">
                        <a:lnSpc>
                          <a:spcPct val="115000"/>
                        </a:lnSpc>
                        <a:spcAft>
                          <a:spcPts val="0"/>
                        </a:spcAft>
                        <a:buFont typeface="Symbol" panose="05050102010706020507" pitchFamily="18" charset="2"/>
                        <a:buChar char=""/>
                      </a:pPr>
                      <a:r>
                        <a:rPr lang="en-GB" sz="1800" b="0" dirty="0">
                          <a:solidFill>
                            <a:schemeClr val="tx1"/>
                          </a:solidFill>
                          <a:effectLst/>
                        </a:rPr>
                        <a:t>User must be familiar with syntax.</a:t>
                      </a:r>
                    </a:p>
                    <a:p>
                      <a:pPr marL="342900" lvl="0" indent="-342900">
                        <a:lnSpc>
                          <a:spcPct val="115000"/>
                        </a:lnSpc>
                        <a:spcAft>
                          <a:spcPts val="0"/>
                        </a:spcAft>
                        <a:buFont typeface="Symbol" panose="05050102010706020507" pitchFamily="18" charset="2"/>
                        <a:buChar char=""/>
                      </a:pPr>
                      <a:r>
                        <a:rPr lang="en-GB" sz="1800" b="0" dirty="0">
                          <a:solidFill>
                            <a:schemeClr val="tx1"/>
                          </a:solidFill>
                          <a:effectLst/>
                        </a:rPr>
                        <a:t>Complex command sequences are required for more complicated tasks.</a:t>
                      </a:r>
                    </a:p>
                    <a:p>
                      <a:pPr marL="342900" lvl="0" indent="-342900">
                        <a:lnSpc>
                          <a:spcPct val="115000"/>
                        </a:lnSpc>
                        <a:spcAft>
                          <a:spcPts val="0"/>
                        </a:spcAft>
                        <a:buFont typeface="Symbol" panose="05050102010706020507" pitchFamily="18" charset="2"/>
                        <a:buChar char=""/>
                      </a:pPr>
                      <a:r>
                        <a:rPr lang="en-GB" sz="1800" b="0" dirty="0">
                          <a:solidFill>
                            <a:schemeClr val="tx1"/>
                          </a:solidFill>
                          <a:effectLst/>
                        </a:rPr>
                        <a:t>Commands need to be inserted precisely – If a spelling error is made the command will fail. </a:t>
                      </a:r>
                    </a:p>
                    <a:p>
                      <a:pPr marL="342900" lvl="0" indent="-342900">
                        <a:lnSpc>
                          <a:spcPct val="115000"/>
                        </a:lnSpc>
                        <a:spcAft>
                          <a:spcPts val="0"/>
                        </a:spcAft>
                        <a:buFont typeface="Symbol" panose="05050102010706020507" pitchFamily="18" charset="2"/>
                        <a:buChar char=""/>
                      </a:pPr>
                      <a:r>
                        <a:rPr lang="en-GB" sz="1800" b="0" dirty="0">
                          <a:solidFill>
                            <a:schemeClr val="tx1"/>
                          </a:solidFill>
                          <a:effectLst/>
                        </a:rPr>
                        <a:t>If you </a:t>
                      </a:r>
                      <a:r>
                        <a:rPr lang="en-GB" sz="1800" b="0" dirty="0" err="1">
                          <a:solidFill>
                            <a:schemeClr val="tx1"/>
                          </a:solidFill>
                          <a:effectLst/>
                        </a:rPr>
                        <a:t>mis</a:t>
                      </a:r>
                      <a:r>
                        <a:rPr lang="en-GB" sz="1800" b="0" dirty="0">
                          <a:solidFill>
                            <a:schemeClr val="tx1"/>
                          </a:solidFill>
                          <a:effectLst/>
                        </a:rPr>
                        <a:t>-type an instruction, it is often necessary to start again. </a:t>
                      </a:r>
                    </a:p>
                    <a:p>
                      <a:pPr marL="342900" lvl="0" indent="-342900">
                        <a:lnSpc>
                          <a:spcPct val="115000"/>
                        </a:lnSpc>
                        <a:spcAft>
                          <a:spcPts val="0"/>
                        </a:spcAft>
                        <a:buFont typeface="Symbol" panose="05050102010706020507" pitchFamily="18" charset="2"/>
                        <a:buChar char=""/>
                      </a:pPr>
                      <a:r>
                        <a:rPr lang="en-GB" sz="1800" b="0" dirty="0">
                          <a:solidFill>
                            <a:schemeClr val="tx1"/>
                          </a:solidFill>
                          <a:effectLst/>
                        </a:rPr>
                        <a:t>Hundreds of commands need to be learned. </a:t>
                      </a:r>
                      <a:endParaRPr lang="en-GB"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2273820223"/>
                  </a:ext>
                </a:extLst>
              </a:tr>
            </a:tbl>
          </a:graphicData>
        </a:graphic>
      </p:graphicFrame>
      <p:sp>
        <p:nvSpPr>
          <p:cNvPr id="3" name="Rectangle 2"/>
          <p:cNvSpPr/>
          <p:nvPr/>
        </p:nvSpPr>
        <p:spPr>
          <a:xfrm>
            <a:off x="4569764" y="1600200"/>
            <a:ext cx="2628900" cy="4514850"/>
          </a:xfrm>
          <a:prstGeom prst="rect">
            <a:avLst/>
          </a:prstGeom>
          <a:solidFill>
            <a:srgbClr val="D3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7312503" y="1600200"/>
            <a:ext cx="2628900" cy="4648200"/>
          </a:xfrm>
          <a:prstGeom prst="rect">
            <a:avLst/>
          </a:prstGeom>
          <a:solidFill>
            <a:srgbClr val="D3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13786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2039225" y="446689"/>
          <a:ext cx="8342056" cy="6279834"/>
        </p:xfrm>
        <a:graphic>
          <a:graphicData uri="http://schemas.openxmlformats.org/drawingml/2006/table">
            <a:tbl>
              <a:tblPr firstRow="1" firstCol="1" bandRow="1">
                <a:tableStyleId>{5C22544A-7EE6-4342-B048-85BDC9FD1C3A}</a:tableStyleId>
              </a:tblPr>
              <a:tblGrid>
                <a:gridCol w="1195570">
                  <a:extLst>
                    <a:ext uri="{9D8B030D-6E8A-4147-A177-3AD203B41FA5}">
                      <a16:colId xmlns:a16="http://schemas.microsoft.com/office/drawing/2014/main" val="3218873748"/>
                    </a:ext>
                  </a:extLst>
                </a:gridCol>
                <a:gridCol w="1607907">
                  <a:extLst>
                    <a:ext uri="{9D8B030D-6E8A-4147-A177-3AD203B41FA5}">
                      <a16:colId xmlns:a16="http://schemas.microsoft.com/office/drawing/2014/main" val="1543201142"/>
                    </a:ext>
                  </a:extLst>
                </a:gridCol>
                <a:gridCol w="2774469">
                  <a:extLst>
                    <a:ext uri="{9D8B030D-6E8A-4147-A177-3AD203B41FA5}">
                      <a16:colId xmlns:a16="http://schemas.microsoft.com/office/drawing/2014/main" val="542195047"/>
                    </a:ext>
                  </a:extLst>
                </a:gridCol>
                <a:gridCol w="2764110">
                  <a:extLst>
                    <a:ext uri="{9D8B030D-6E8A-4147-A177-3AD203B41FA5}">
                      <a16:colId xmlns:a16="http://schemas.microsoft.com/office/drawing/2014/main" val="2433556855"/>
                    </a:ext>
                  </a:extLst>
                </a:gridCol>
              </a:tblGrid>
              <a:tr h="935420">
                <a:tc>
                  <a:txBody>
                    <a:bodyPr/>
                    <a:lstStyle/>
                    <a:p>
                      <a:pPr algn="ctr">
                        <a:lnSpc>
                          <a:spcPct val="115000"/>
                        </a:lnSpc>
                        <a:spcAft>
                          <a:spcPts val="0"/>
                        </a:spcAft>
                      </a:pPr>
                      <a:r>
                        <a:rPr lang="en-GB" sz="1400" dirty="0">
                          <a:effectLst/>
                        </a:rPr>
                        <a:t> </a:t>
                      </a:r>
                    </a:p>
                    <a:p>
                      <a:pPr algn="ctr">
                        <a:lnSpc>
                          <a:spcPct val="115000"/>
                        </a:lnSpc>
                        <a:spcAft>
                          <a:spcPts val="0"/>
                        </a:spcAft>
                      </a:pPr>
                      <a:r>
                        <a:rPr lang="en-GB" sz="1400" dirty="0">
                          <a:effectLst/>
                        </a:rPr>
                        <a:t>Interface Type</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291" marR="67291" marT="0" marB="0"/>
                </a:tc>
                <a:tc>
                  <a:txBody>
                    <a:bodyPr/>
                    <a:lstStyle/>
                    <a:p>
                      <a:pPr algn="ctr">
                        <a:lnSpc>
                          <a:spcPct val="115000"/>
                        </a:lnSpc>
                        <a:spcAft>
                          <a:spcPts val="0"/>
                        </a:spcAft>
                      </a:pPr>
                      <a:r>
                        <a:rPr lang="en-GB" sz="1400" dirty="0">
                          <a:effectLst/>
                        </a:rPr>
                        <a:t> </a:t>
                      </a:r>
                    </a:p>
                    <a:p>
                      <a:pPr algn="ctr">
                        <a:lnSpc>
                          <a:spcPct val="115000"/>
                        </a:lnSpc>
                        <a:spcAft>
                          <a:spcPts val="0"/>
                        </a:spcAft>
                      </a:pPr>
                      <a:r>
                        <a:rPr lang="en-GB" sz="1400" dirty="0">
                          <a:effectLst/>
                        </a:rPr>
                        <a:t>Applications</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291" marR="67291" marT="0" marB="0">
                    <a:solidFill>
                      <a:schemeClr val="accent1"/>
                    </a:solidFill>
                  </a:tcPr>
                </a:tc>
                <a:tc>
                  <a:txBody>
                    <a:bodyPr/>
                    <a:lstStyle/>
                    <a:p>
                      <a:pPr algn="ctr">
                        <a:lnSpc>
                          <a:spcPct val="115000"/>
                        </a:lnSpc>
                        <a:spcAft>
                          <a:spcPts val="0"/>
                        </a:spcAft>
                      </a:pPr>
                      <a:r>
                        <a:rPr lang="en-GB" sz="1400" dirty="0">
                          <a:effectLst/>
                        </a:rPr>
                        <a:t> </a:t>
                      </a:r>
                    </a:p>
                    <a:p>
                      <a:pPr algn="ctr">
                        <a:lnSpc>
                          <a:spcPct val="115000"/>
                        </a:lnSpc>
                        <a:spcAft>
                          <a:spcPts val="0"/>
                        </a:spcAft>
                      </a:pPr>
                      <a:r>
                        <a:rPr lang="en-GB" sz="1400" dirty="0">
                          <a:effectLst/>
                        </a:rPr>
                        <a:t>Advantages </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291" marR="67291" marT="0" marB="0">
                    <a:solidFill>
                      <a:schemeClr val="accent1"/>
                    </a:solidFill>
                  </a:tcPr>
                </a:tc>
                <a:tc>
                  <a:txBody>
                    <a:bodyPr/>
                    <a:lstStyle/>
                    <a:p>
                      <a:pPr algn="ctr">
                        <a:lnSpc>
                          <a:spcPct val="115000"/>
                        </a:lnSpc>
                        <a:spcAft>
                          <a:spcPts val="0"/>
                        </a:spcAft>
                      </a:pPr>
                      <a:r>
                        <a:rPr lang="en-GB" sz="1400" dirty="0">
                          <a:effectLst/>
                        </a:rPr>
                        <a:t> </a:t>
                      </a:r>
                    </a:p>
                    <a:p>
                      <a:pPr algn="ctr">
                        <a:lnSpc>
                          <a:spcPct val="115000"/>
                        </a:lnSpc>
                        <a:spcAft>
                          <a:spcPts val="0"/>
                        </a:spcAft>
                      </a:pPr>
                      <a:r>
                        <a:rPr lang="en-GB" sz="1400" dirty="0">
                          <a:effectLst/>
                        </a:rPr>
                        <a:t>Disadvantages</a:t>
                      </a:r>
                    </a:p>
                    <a:p>
                      <a:pPr algn="ctr">
                        <a:lnSpc>
                          <a:spcPct val="115000"/>
                        </a:lnSpc>
                        <a:spcAft>
                          <a:spcPts val="0"/>
                        </a:spcAft>
                      </a:pPr>
                      <a:r>
                        <a:rPr lang="en-GB" sz="1400" dirty="0">
                          <a:effectLst/>
                        </a:rPr>
                        <a:t> </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291" marR="67291" marT="0" marB="0">
                    <a:solidFill>
                      <a:schemeClr val="accent1"/>
                    </a:solidFill>
                  </a:tcPr>
                </a:tc>
                <a:extLst>
                  <a:ext uri="{0D108BD9-81ED-4DB2-BD59-A6C34878D82A}">
                    <a16:rowId xmlns:a16="http://schemas.microsoft.com/office/drawing/2014/main" val="926142456"/>
                  </a:ext>
                </a:extLst>
              </a:tr>
              <a:tr h="4855779">
                <a:tc>
                  <a:txBody>
                    <a:bodyPr/>
                    <a:lstStyle/>
                    <a:p>
                      <a:pPr>
                        <a:lnSpc>
                          <a:spcPct val="115000"/>
                        </a:lnSpc>
                        <a:spcAft>
                          <a:spcPts val="0"/>
                        </a:spcAft>
                      </a:pPr>
                      <a:r>
                        <a:rPr lang="en-GB" sz="1600" b="1" dirty="0">
                          <a:effectLst/>
                        </a:rPr>
                        <a:t>Forms </a:t>
                      </a:r>
                    </a:p>
                    <a:p>
                      <a:pPr>
                        <a:lnSpc>
                          <a:spcPct val="115000"/>
                        </a:lnSpc>
                        <a:spcAft>
                          <a:spcPts val="0"/>
                        </a:spcAft>
                      </a:pPr>
                      <a:r>
                        <a:rPr lang="en-US" sz="1600" b="1" dirty="0">
                          <a:effectLst/>
                          <a:latin typeface="Calibri" panose="020F0502020204030204" pitchFamily="34" charset="0"/>
                          <a:ea typeface="Calibri" panose="020F0502020204030204" pitchFamily="34" charset="0"/>
                          <a:cs typeface="Times New Roman" panose="02020603050405020304" pitchFamily="18" charset="0"/>
                        </a:rPr>
                        <a:t>Dialogue</a:t>
                      </a:r>
                    </a:p>
                    <a:p>
                      <a:pPr>
                        <a:lnSpc>
                          <a:spcPct val="115000"/>
                        </a:lnSpc>
                        <a:spcAft>
                          <a:spcPts val="0"/>
                        </a:spcAft>
                      </a:pPr>
                      <a:r>
                        <a:rPr lang="en-US" sz="1600" b="1" dirty="0">
                          <a:effectLst/>
                          <a:latin typeface="Calibri" panose="020F0502020204030204" pitchFamily="34" charset="0"/>
                          <a:ea typeface="Calibri" panose="020F0502020204030204" pitchFamily="34" charset="0"/>
                          <a:cs typeface="Times New Roman" panose="02020603050405020304" pitchFamily="18" charset="0"/>
                        </a:rPr>
                        <a:t>(Menu Driven)</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GB" sz="1800" b="1" dirty="0">
                          <a:effectLst/>
                          <a:latin typeface="Calibri" panose="020F0502020204030204" pitchFamily="34" charset="0"/>
                          <a:ea typeface="Calibri" panose="020F0502020204030204" pitchFamily="34" charset="0"/>
                          <a:cs typeface="Times New Roman" panose="02020603050405020304" pitchFamily="18" charset="0"/>
                        </a:rPr>
                        <a:t>Suitable for use when entering data into a database or when completing a task using a wizard application.</a:t>
                      </a:r>
                    </a:p>
                  </a:txBody>
                  <a:tcPr marL="68580" marR="68580" marT="0" marB="0">
                    <a:solidFill>
                      <a:schemeClr val="accent1">
                        <a:lumMod val="40000"/>
                        <a:lumOff val="60000"/>
                      </a:schemeClr>
                    </a:solidFill>
                  </a:tcPr>
                </a:tc>
                <a:tc>
                  <a:txBody>
                    <a:bodyPr/>
                    <a:lstStyle/>
                    <a:p>
                      <a:pPr marL="342900" lvl="0" indent="-342900">
                        <a:lnSpc>
                          <a:spcPct val="115000"/>
                        </a:lnSpc>
                        <a:spcAft>
                          <a:spcPts val="0"/>
                        </a:spcAft>
                        <a:buFont typeface="Symbol" panose="05050102010706020507" pitchFamily="18" charset="2"/>
                        <a:buChar char=""/>
                      </a:pPr>
                      <a:r>
                        <a:rPr lang="en-GB" sz="1800" dirty="0">
                          <a:effectLst/>
                          <a:latin typeface="Calibri" panose="020F0502020204030204" pitchFamily="34" charset="0"/>
                          <a:ea typeface="Calibri" panose="020F0502020204030204" pitchFamily="34" charset="0"/>
                          <a:cs typeface="Times New Roman" panose="02020603050405020304" pitchFamily="18" charset="0"/>
                        </a:rPr>
                        <a:t>Supports the user through the data entry process.</a:t>
                      </a:r>
                    </a:p>
                    <a:p>
                      <a:pPr marL="342900" lvl="0" indent="-342900">
                        <a:lnSpc>
                          <a:spcPct val="115000"/>
                        </a:lnSpc>
                        <a:spcAft>
                          <a:spcPts val="0"/>
                        </a:spcAft>
                        <a:buFont typeface="Symbol" panose="05050102010706020507" pitchFamily="18" charset="2"/>
                        <a:buChar char=""/>
                      </a:pPr>
                      <a:r>
                        <a:rPr lang="en-GB" sz="1800" dirty="0">
                          <a:effectLst/>
                          <a:latin typeface="Calibri" panose="020F0502020204030204" pitchFamily="34" charset="0"/>
                          <a:ea typeface="Calibri" panose="020F0502020204030204" pitchFamily="34" charset="0"/>
                          <a:cs typeface="Times New Roman" panose="02020603050405020304" pitchFamily="18" charset="0"/>
                        </a:rPr>
                        <a:t>Ensures the end user is presented with an opportunity to enter all data required to complete the current task.</a:t>
                      </a:r>
                    </a:p>
                    <a:p>
                      <a:pPr marL="342900" lvl="0" indent="-342900">
                        <a:lnSpc>
                          <a:spcPct val="115000"/>
                        </a:lnSpc>
                        <a:spcAft>
                          <a:spcPts val="0"/>
                        </a:spcAft>
                        <a:buFont typeface="Symbol" panose="05050102010706020507" pitchFamily="18" charset="2"/>
                        <a:buChar char=""/>
                      </a:pPr>
                      <a:r>
                        <a:rPr lang="en-GB" sz="1800" dirty="0">
                          <a:effectLst/>
                          <a:latin typeface="Calibri" panose="020F0502020204030204" pitchFamily="34" charset="0"/>
                          <a:ea typeface="Calibri" panose="020F0502020204030204" pitchFamily="34" charset="0"/>
                          <a:cs typeface="Times New Roman" panose="02020603050405020304" pitchFamily="18" charset="0"/>
                        </a:rPr>
                        <a:t>Data Validation can be used on data entry forms </a:t>
                      </a:r>
                    </a:p>
                    <a:p>
                      <a:pPr marL="342900" lvl="0" indent="-342900">
                        <a:lnSpc>
                          <a:spcPct val="115000"/>
                        </a:lnSpc>
                        <a:spcAft>
                          <a:spcPts val="0"/>
                        </a:spcAft>
                        <a:buFont typeface="Symbol" panose="05050102010706020507" pitchFamily="18" charset="2"/>
                        <a:buChar char=""/>
                      </a:pPr>
                      <a:r>
                        <a:rPr lang="en-GB" sz="1800" dirty="0">
                          <a:effectLst/>
                          <a:latin typeface="Calibri" panose="020F0502020204030204" pitchFamily="34" charset="0"/>
                          <a:ea typeface="Calibri" panose="020F0502020204030204" pitchFamily="34" charset="0"/>
                          <a:cs typeface="Times New Roman" panose="02020603050405020304" pitchFamily="18" charset="0"/>
                        </a:rPr>
                        <a:t>Little or no training required</a:t>
                      </a:r>
                    </a:p>
                    <a:p>
                      <a:pPr marL="342900" lvl="0" indent="-342900">
                        <a:lnSpc>
                          <a:spcPct val="115000"/>
                        </a:lnSpc>
                        <a:spcAft>
                          <a:spcPts val="0"/>
                        </a:spcAft>
                        <a:buFont typeface="Symbol" panose="05050102010706020507" pitchFamily="18" charset="2"/>
                        <a:buChar char=""/>
                      </a:pPr>
                      <a:r>
                        <a:rPr lang="en-GB" sz="1800" dirty="0">
                          <a:effectLst/>
                          <a:latin typeface="Calibri" panose="020F0502020204030204" pitchFamily="34" charset="0"/>
                          <a:ea typeface="Calibri" panose="020F0502020204030204" pitchFamily="34" charset="0"/>
                          <a:cs typeface="Times New Roman" panose="02020603050405020304" pitchFamily="18" charset="0"/>
                        </a:rPr>
                        <a:t>Doesn’t require large amounts of processing power or memory</a:t>
                      </a:r>
                    </a:p>
                  </a:txBody>
                  <a:tcPr marL="68580" marR="68580" marT="0" marB="0">
                    <a:solidFill>
                      <a:schemeClr val="accent1">
                        <a:lumMod val="40000"/>
                        <a:lumOff val="60000"/>
                      </a:schemeClr>
                    </a:solidFill>
                  </a:tcPr>
                </a:tc>
                <a:tc>
                  <a:txBody>
                    <a:bodyPr/>
                    <a:lstStyle/>
                    <a:p>
                      <a:pPr marL="342900" lvl="0" indent="-342900">
                        <a:lnSpc>
                          <a:spcPct val="115000"/>
                        </a:lnSpc>
                        <a:spcAft>
                          <a:spcPts val="0"/>
                        </a:spcAft>
                        <a:buFont typeface="Symbol" panose="05050102010706020507" pitchFamily="18" charset="2"/>
                        <a:buChar char=""/>
                      </a:pPr>
                      <a:r>
                        <a:rPr lang="en-GB" sz="1800" dirty="0">
                          <a:effectLst/>
                          <a:latin typeface="Calibri" panose="020F0502020204030204" pitchFamily="34" charset="0"/>
                          <a:ea typeface="Calibri" panose="020F0502020204030204" pitchFamily="34" charset="0"/>
                          <a:cs typeface="Times New Roman" panose="02020603050405020304" pitchFamily="18" charset="0"/>
                        </a:rPr>
                        <a:t>Limits the data entry options available to the end user.</a:t>
                      </a:r>
                    </a:p>
                    <a:p>
                      <a:pPr marL="342900" lvl="0" indent="-342900">
                        <a:lnSpc>
                          <a:spcPct val="115000"/>
                        </a:lnSpc>
                        <a:spcAft>
                          <a:spcPts val="0"/>
                        </a:spcAft>
                        <a:buFont typeface="Symbol" panose="05050102010706020507" pitchFamily="18" charset="2"/>
                        <a:buChar char=""/>
                      </a:pPr>
                      <a:r>
                        <a:rPr lang="en-GB" sz="1800" dirty="0">
                          <a:effectLst/>
                          <a:latin typeface="Calibri" panose="020F0502020204030204" pitchFamily="34" charset="0"/>
                          <a:ea typeface="Calibri" panose="020F0502020204030204" pitchFamily="34" charset="0"/>
                          <a:cs typeface="Times New Roman" panose="02020603050405020304" pitchFamily="18" charset="0"/>
                        </a:rPr>
                        <a:t>Visually Impaired might have bother seeing the text or options</a:t>
                      </a:r>
                    </a:p>
                    <a:p>
                      <a:pPr marL="342900" lvl="0" indent="-342900">
                        <a:lnSpc>
                          <a:spcPct val="115000"/>
                        </a:lnSpc>
                        <a:spcAft>
                          <a:spcPts val="0"/>
                        </a:spcAft>
                        <a:buFont typeface="Symbol" panose="05050102010706020507" pitchFamily="18" charset="2"/>
                        <a:buChar char=""/>
                      </a:pPr>
                      <a:r>
                        <a:rPr lang="en-GB" sz="1800" dirty="0">
                          <a:effectLst/>
                          <a:latin typeface="Calibri" panose="020F0502020204030204" pitchFamily="34" charset="0"/>
                          <a:ea typeface="Calibri" panose="020F0502020204030204" pitchFamily="34" charset="0"/>
                          <a:cs typeface="Times New Roman" panose="02020603050405020304" pitchFamily="18" charset="0"/>
                        </a:rPr>
                        <a:t>Not good for highly complex applications. A tax form might have 20 pages that needs completed. </a:t>
                      </a:r>
                    </a:p>
                  </a:txBody>
                  <a:tcPr marL="68580" marR="68580" marT="0" marB="0">
                    <a:solidFill>
                      <a:schemeClr val="accent1">
                        <a:lumMod val="40000"/>
                        <a:lumOff val="60000"/>
                      </a:schemeClr>
                    </a:solidFill>
                  </a:tcPr>
                </a:tc>
                <a:extLst>
                  <a:ext uri="{0D108BD9-81ED-4DB2-BD59-A6C34878D82A}">
                    <a16:rowId xmlns:a16="http://schemas.microsoft.com/office/drawing/2014/main" val="2303393108"/>
                  </a:ext>
                </a:extLst>
              </a:tr>
            </a:tbl>
          </a:graphicData>
        </a:graphic>
      </p:graphicFrame>
      <p:sp>
        <p:nvSpPr>
          <p:cNvPr id="3" name="Rectangle 2"/>
          <p:cNvSpPr/>
          <p:nvPr/>
        </p:nvSpPr>
        <p:spPr>
          <a:xfrm>
            <a:off x="4895803" y="1376551"/>
            <a:ext cx="2628900" cy="5368513"/>
          </a:xfrm>
          <a:prstGeom prst="rect">
            <a:avLst/>
          </a:prstGeom>
          <a:solidFill>
            <a:srgbClr val="D3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7638542" y="1376551"/>
            <a:ext cx="2628900" cy="5368513"/>
          </a:xfrm>
          <a:prstGeom prst="rect">
            <a:avLst/>
          </a:prstGeom>
          <a:solidFill>
            <a:srgbClr val="D3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244331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53747"/>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r="13496" b="12727"/>
          <a:stretch/>
        </p:blipFill>
        <p:spPr>
          <a:xfrm>
            <a:off x="6310859" y="2407920"/>
            <a:ext cx="5881142" cy="4450080"/>
          </a:xfrm>
          <a:prstGeom prst="rect">
            <a:avLst/>
          </a:prstGeom>
        </p:spPr>
      </p:pic>
      <p:sp>
        <p:nvSpPr>
          <p:cNvPr id="2" name="Title 1"/>
          <p:cNvSpPr>
            <a:spLocks noGrp="1"/>
          </p:cNvSpPr>
          <p:nvPr>
            <p:ph type="title"/>
          </p:nvPr>
        </p:nvSpPr>
        <p:spPr/>
        <p:txBody>
          <a:bodyPr/>
          <a:lstStyle/>
          <a:p>
            <a:r>
              <a:rPr lang="en-GB" dirty="0">
                <a:solidFill>
                  <a:schemeClr val="bg1"/>
                </a:solidFill>
              </a:rPr>
              <a:t>The Importance of an Interface</a:t>
            </a:r>
          </a:p>
        </p:txBody>
      </p:sp>
      <p:sp>
        <p:nvSpPr>
          <p:cNvPr id="3" name="Content Placeholder 2"/>
          <p:cNvSpPr>
            <a:spLocks noGrp="1"/>
          </p:cNvSpPr>
          <p:nvPr>
            <p:ph idx="1"/>
          </p:nvPr>
        </p:nvSpPr>
        <p:spPr/>
        <p:txBody>
          <a:bodyPr/>
          <a:lstStyle/>
          <a:p>
            <a:r>
              <a:rPr lang="en-GB" dirty="0">
                <a:solidFill>
                  <a:schemeClr val="bg1"/>
                </a:solidFill>
              </a:rPr>
              <a:t>What is an interface?</a:t>
            </a:r>
          </a:p>
          <a:p>
            <a:r>
              <a:rPr lang="en-GB" dirty="0">
                <a:solidFill>
                  <a:schemeClr val="bg1"/>
                </a:solidFill>
              </a:rPr>
              <a:t>What makes a good interface?</a:t>
            </a:r>
          </a:p>
          <a:p>
            <a:r>
              <a:rPr lang="en-GB" dirty="0">
                <a:solidFill>
                  <a:schemeClr val="bg1"/>
                </a:solidFill>
              </a:rPr>
              <a:t>Why would we need different interfaces?</a:t>
            </a:r>
          </a:p>
          <a:p>
            <a:endParaRPr lang="en-GB" dirty="0"/>
          </a:p>
        </p:txBody>
      </p:sp>
    </p:spTree>
    <p:extLst>
      <p:ext uri="{BB962C8B-B14F-4D97-AF65-F5344CB8AC3E}">
        <p14:creationId xmlns:p14="http://schemas.microsoft.com/office/powerpoint/2010/main" val="2566214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2D050"/>
                </a:solidFill>
              </a:rPr>
              <a:t>&gt; What is a WIMP?</a:t>
            </a:r>
          </a:p>
        </p:txBody>
      </p:sp>
      <p:sp>
        <p:nvSpPr>
          <p:cNvPr id="3" name="Content Placeholder 2"/>
          <p:cNvSpPr>
            <a:spLocks noGrp="1"/>
          </p:cNvSpPr>
          <p:nvPr>
            <p:ph idx="1"/>
          </p:nvPr>
        </p:nvSpPr>
        <p:spPr/>
        <p:txBody>
          <a:bodyPr/>
          <a:lstStyle/>
          <a:p>
            <a:pPr marL="0" indent="0">
              <a:buNone/>
            </a:pPr>
            <a:r>
              <a:rPr lang="en-GB" b="1" dirty="0">
                <a:solidFill>
                  <a:srgbClr val="92D050"/>
                </a:solidFill>
              </a:rPr>
              <a:t>&gt; WYSIWYG</a:t>
            </a:r>
          </a:p>
          <a:p>
            <a:endParaRPr lang="en-GB" b="1" dirty="0">
              <a:solidFill>
                <a:srgbClr val="92D050"/>
              </a:solidFill>
            </a:endParaRPr>
          </a:p>
          <a:p>
            <a:endParaRPr lang="en-GB" b="1" dirty="0">
              <a:solidFill>
                <a:srgbClr val="92D050"/>
              </a:solidFill>
            </a:endParaRPr>
          </a:p>
          <a:p>
            <a:pPr marL="0" indent="0">
              <a:buNone/>
            </a:pPr>
            <a:r>
              <a:rPr lang="en-GB" b="1" dirty="0">
                <a:solidFill>
                  <a:srgbClr val="92D050"/>
                </a:solidFill>
              </a:rPr>
              <a:t>&gt; W</a:t>
            </a:r>
            <a:r>
              <a:rPr lang="en-GB" dirty="0">
                <a:solidFill>
                  <a:srgbClr val="92D050"/>
                </a:solidFill>
              </a:rPr>
              <a:t>indows</a:t>
            </a:r>
          </a:p>
          <a:p>
            <a:pPr marL="0" indent="0">
              <a:buNone/>
            </a:pPr>
            <a:r>
              <a:rPr lang="en-GB" b="1" dirty="0">
                <a:solidFill>
                  <a:srgbClr val="92D050"/>
                </a:solidFill>
              </a:rPr>
              <a:t>&gt; I</a:t>
            </a:r>
            <a:r>
              <a:rPr lang="en-GB" dirty="0">
                <a:solidFill>
                  <a:srgbClr val="92D050"/>
                </a:solidFill>
              </a:rPr>
              <a:t>cons</a:t>
            </a:r>
          </a:p>
          <a:p>
            <a:pPr marL="0" indent="0">
              <a:buNone/>
            </a:pPr>
            <a:r>
              <a:rPr lang="en-GB" b="1" dirty="0">
                <a:solidFill>
                  <a:srgbClr val="92D050"/>
                </a:solidFill>
              </a:rPr>
              <a:t>&gt; M</a:t>
            </a:r>
            <a:r>
              <a:rPr lang="en-GB" dirty="0">
                <a:solidFill>
                  <a:srgbClr val="92D050"/>
                </a:solidFill>
              </a:rPr>
              <a:t>enus</a:t>
            </a:r>
          </a:p>
          <a:p>
            <a:pPr marL="0" indent="0">
              <a:buNone/>
            </a:pPr>
            <a:r>
              <a:rPr lang="en-GB" b="1" dirty="0">
                <a:solidFill>
                  <a:srgbClr val="92D050"/>
                </a:solidFill>
              </a:rPr>
              <a:t>&gt; P</a:t>
            </a:r>
            <a:r>
              <a:rPr lang="en-GB" dirty="0">
                <a:solidFill>
                  <a:srgbClr val="92D050"/>
                </a:solidFill>
              </a:rPr>
              <a:t>ointers</a:t>
            </a:r>
          </a:p>
          <a:p>
            <a:endParaRPr lang="en-GB" b="1" dirty="0"/>
          </a:p>
        </p:txBody>
      </p:sp>
    </p:spTree>
    <p:extLst>
      <p:ext uri="{BB962C8B-B14F-4D97-AF65-F5344CB8AC3E}">
        <p14:creationId xmlns:p14="http://schemas.microsoft.com/office/powerpoint/2010/main" val="4192577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left)">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left)">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left)">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wipe(left)">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Command Line</a:t>
            </a:r>
          </a:p>
        </p:txBody>
      </p:sp>
      <p:sp>
        <p:nvSpPr>
          <p:cNvPr id="3" name="Content Placeholder 2"/>
          <p:cNvSpPr>
            <a:spLocks noGrp="1"/>
          </p:cNvSpPr>
          <p:nvPr>
            <p:ph idx="1"/>
          </p:nvPr>
        </p:nvSpPr>
        <p:spPr>
          <a:xfrm>
            <a:off x="0" y="2413328"/>
            <a:ext cx="10515600" cy="4351338"/>
          </a:xfrm>
        </p:spPr>
        <p:txBody>
          <a:bodyPr/>
          <a:lstStyle/>
          <a:p>
            <a:r>
              <a:rPr lang="en-GB" dirty="0"/>
              <a:t>Limited visual aesthetics </a:t>
            </a:r>
          </a:p>
          <a:p>
            <a:r>
              <a:rPr lang="en-GB" dirty="0"/>
              <a:t>Allows commands to be manually typed</a:t>
            </a:r>
          </a:p>
          <a:p>
            <a:r>
              <a:rPr lang="en-GB" dirty="0"/>
              <a:t>User must be well versed as limited range of commands</a:t>
            </a:r>
          </a:p>
          <a:p>
            <a:r>
              <a:rPr lang="en-GB" dirty="0"/>
              <a:t>Combining instructions can lead to more complex tasks.</a:t>
            </a:r>
          </a:p>
          <a:p>
            <a:r>
              <a:rPr lang="en-GB" dirty="0"/>
              <a:t>No use for a mouse, all keyboard interaction</a:t>
            </a:r>
          </a:p>
          <a:p>
            <a:r>
              <a:rPr lang="en-GB" dirty="0"/>
              <a:t>No room for typos/spelling mistakes as this will not run</a:t>
            </a:r>
          </a:p>
          <a:p>
            <a:r>
              <a:rPr lang="en-GB" dirty="0"/>
              <a:t>Over 270 commands available, including run, open, delete </a:t>
            </a:r>
            <a:r>
              <a:rPr lang="en-GB" dirty="0" err="1"/>
              <a:t>etc</a:t>
            </a:r>
            <a:endParaRPr lang="en-GB" dirty="0"/>
          </a:p>
          <a:p>
            <a:r>
              <a:rPr lang="en-GB" dirty="0"/>
              <a:t>Considered more difficult over other interfaces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72856" y="39250"/>
            <a:ext cx="4403834" cy="3302876"/>
          </a:xfrm>
          <a:prstGeom prst="rect">
            <a:avLst/>
          </a:prstGeom>
        </p:spPr>
      </p:pic>
    </p:spTree>
    <p:extLst>
      <p:ext uri="{BB962C8B-B14F-4D97-AF65-F5344CB8AC3E}">
        <p14:creationId xmlns:p14="http://schemas.microsoft.com/office/powerpoint/2010/main" val="1099945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Forms Interface</a:t>
            </a:r>
          </a:p>
        </p:txBody>
      </p:sp>
      <p:sp>
        <p:nvSpPr>
          <p:cNvPr id="3" name="Content Placeholder 2"/>
          <p:cNvSpPr>
            <a:spLocks noGrp="1"/>
          </p:cNvSpPr>
          <p:nvPr>
            <p:ph idx="1"/>
          </p:nvPr>
        </p:nvSpPr>
        <p:spPr/>
        <p:txBody>
          <a:bodyPr/>
          <a:lstStyle/>
          <a:p>
            <a:r>
              <a:rPr lang="en-GB" dirty="0"/>
              <a:t>Very ‘functional’ and efficient</a:t>
            </a:r>
          </a:p>
          <a:p>
            <a:r>
              <a:rPr lang="en-GB" dirty="0"/>
              <a:t>Can incorporate textboxes, dropdowns, radio buttons, </a:t>
            </a:r>
            <a:r>
              <a:rPr lang="en-GB" dirty="0" err="1"/>
              <a:t>etc</a:t>
            </a:r>
            <a:endParaRPr lang="en-GB" dirty="0"/>
          </a:p>
          <a:p>
            <a:r>
              <a:rPr lang="en-GB" dirty="0"/>
              <a:t>Very linear as user is taken through step by step</a:t>
            </a:r>
          </a:p>
          <a:p>
            <a:r>
              <a:rPr lang="en-GB" dirty="0"/>
              <a:t>Validation is easy to implicate</a:t>
            </a:r>
          </a:p>
          <a:p>
            <a:endParaRPr lang="en-GB" dirty="0"/>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5057" t="21149" r="5632" b="5747"/>
          <a:stretch/>
        </p:blipFill>
        <p:spPr>
          <a:xfrm>
            <a:off x="6463862" y="3341499"/>
            <a:ext cx="5728138" cy="3516501"/>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001294"/>
            <a:ext cx="4377447" cy="2791838"/>
          </a:xfrm>
          <a:prstGeom prst="rect">
            <a:avLst/>
          </a:prstGeom>
        </p:spPr>
      </p:pic>
    </p:spTree>
    <p:extLst>
      <p:ext uri="{BB962C8B-B14F-4D97-AF65-F5344CB8AC3E}">
        <p14:creationId xmlns:p14="http://schemas.microsoft.com/office/powerpoint/2010/main" val="7942579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071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7383" y="365125"/>
            <a:ext cx="10515600" cy="1325563"/>
          </a:xfrm>
        </p:spPr>
        <p:txBody>
          <a:bodyPr/>
          <a:lstStyle/>
          <a:p>
            <a:r>
              <a:rPr lang="en-GB" u="sng" dirty="0"/>
              <a:t>	Activity: Pick Me! Pick Me!				</a:t>
            </a:r>
          </a:p>
        </p:txBody>
      </p:sp>
      <p:sp>
        <p:nvSpPr>
          <p:cNvPr id="3" name="Content Placeholder 2"/>
          <p:cNvSpPr>
            <a:spLocks noGrp="1"/>
          </p:cNvSpPr>
          <p:nvPr>
            <p:ph idx="1"/>
          </p:nvPr>
        </p:nvSpPr>
        <p:spPr>
          <a:xfrm>
            <a:off x="52692" y="1783048"/>
            <a:ext cx="12191999" cy="5032376"/>
          </a:xfrm>
        </p:spPr>
        <p:txBody>
          <a:bodyPr>
            <a:normAutofit fontScale="92500"/>
          </a:bodyPr>
          <a:lstStyle/>
          <a:p>
            <a:pPr marL="0" indent="0">
              <a:buNone/>
            </a:pPr>
            <a:r>
              <a:rPr lang="en-GB" dirty="0">
                <a:solidFill>
                  <a:schemeClr val="bg1"/>
                </a:solidFill>
                <a:effectLst/>
                <a:latin typeface="Century Gothic" panose="020B0502020202020204" pitchFamily="34" charset="0"/>
              </a:rPr>
              <a:t>In your teams, design an interface for the following tasks:</a:t>
            </a:r>
          </a:p>
          <a:p>
            <a:endParaRPr lang="en-GB" dirty="0">
              <a:solidFill>
                <a:schemeClr val="bg1"/>
              </a:solidFill>
              <a:effectLst/>
              <a:latin typeface="Century Gothic" panose="020B0502020202020204" pitchFamily="34" charset="0"/>
            </a:endParaRPr>
          </a:p>
          <a:p>
            <a:pPr lvl="1"/>
            <a:r>
              <a:rPr lang="en-GB" dirty="0">
                <a:solidFill>
                  <a:schemeClr val="bg1"/>
                </a:solidFill>
                <a:effectLst/>
                <a:latin typeface="Century Gothic" panose="020B0502020202020204" pitchFamily="34" charset="0"/>
              </a:rPr>
              <a:t>Allow a customer to book a ticket at a cinema</a:t>
            </a:r>
          </a:p>
          <a:p>
            <a:pPr lvl="1"/>
            <a:r>
              <a:rPr lang="en-GB" dirty="0">
                <a:solidFill>
                  <a:schemeClr val="bg1"/>
                </a:solidFill>
                <a:effectLst/>
                <a:latin typeface="Century Gothic" panose="020B0502020202020204" pitchFamily="34" charset="0"/>
              </a:rPr>
              <a:t>Allow a programmer to find files/reports and perform CRUD elements to these files</a:t>
            </a:r>
          </a:p>
          <a:p>
            <a:pPr lvl="1"/>
            <a:r>
              <a:rPr lang="en-GB" dirty="0">
                <a:solidFill>
                  <a:schemeClr val="bg1"/>
                </a:solidFill>
                <a:effectLst/>
                <a:latin typeface="Century Gothic" panose="020B0502020202020204" pitchFamily="34" charset="0"/>
              </a:rPr>
              <a:t>Allow a student to create flash cards for synopsis for films (with dates/times/etc)</a:t>
            </a:r>
          </a:p>
          <a:p>
            <a:pPr lvl="1"/>
            <a:r>
              <a:rPr lang="en-GB" dirty="0">
                <a:solidFill>
                  <a:schemeClr val="bg1"/>
                </a:solidFill>
                <a:effectLst/>
                <a:latin typeface="Century Gothic" panose="020B0502020202020204" pitchFamily="34" charset="0"/>
              </a:rPr>
              <a:t>Allow a staff member to search for a customer’s details</a:t>
            </a:r>
          </a:p>
          <a:p>
            <a:endParaRPr lang="en-GB" dirty="0">
              <a:solidFill>
                <a:schemeClr val="bg1"/>
              </a:solidFill>
              <a:effectLst/>
              <a:latin typeface="Century Gothic" panose="020B0502020202020204" pitchFamily="34" charset="0"/>
            </a:endParaRPr>
          </a:p>
          <a:p>
            <a:pPr marL="0" indent="0">
              <a:buNone/>
            </a:pPr>
            <a:r>
              <a:rPr lang="en-GB" dirty="0">
                <a:solidFill>
                  <a:schemeClr val="bg1"/>
                </a:solidFill>
                <a:effectLst/>
                <a:latin typeface="Century Gothic" panose="020B0502020202020204" pitchFamily="34" charset="0"/>
              </a:rPr>
              <a:t>You will then be asked to relay your designs to the rest of the class and justify your use of using your named interface.  </a:t>
            </a:r>
          </a:p>
          <a:p>
            <a:pPr marL="0" indent="0">
              <a:buNone/>
            </a:pPr>
            <a:endParaRPr lang="en-GB" dirty="0">
              <a:solidFill>
                <a:schemeClr val="bg1"/>
              </a:solidFill>
              <a:latin typeface="Century Gothic" panose="020B0502020202020204" pitchFamily="34" charset="0"/>
            </a:endParaRPr>
          </a:p>
          <a:p>
            <a:pPr marL="0" indent="0">
              <a:buNone/>
            </a:pPr>
            <a:r>
              <a:rPr lang="en-GB" dirty="0">
                <a:solidFill>
                  <a:schemeClr val="bg1"/>
                </a:solidFill>
                <a:effectLst/>
                <a:latin typeface="Century Gothic" panose="020B0502020202020204" pitchFamily="34" charset="0"/>
              </a:rPr>
              <a:t>You need to annotate your designs in full – link these to your UI notes!</a:t>
            </a:r>
          </a:p>
        </p:txBody>
      </p:sp>
      <p:sp>
        <p:nvSpPr>
          <p:cNvPr id="5" name="Rectangle 4"/>
          <p:cNvSpPr/>
          <p:nvPr/>
        </p:nvSpPr>
        <p:spPr>
          <a:xfrm>
            <a:off x="41564" y="0"/>
            <a:ext cx="12108872" cy="6858000"/>
          </a:xfrm>
          <a:prstGeom prst="rect">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l="11504" t="12477" r="13399"/>
          <a:stretch/>
        </p:blipFill>
        <p:spPr>
          <a:xfrm>
            <a:off x="10077864" y="134936"/>
            <a:ext cx="1936753" cy="2257282"/>
          </a:xfrm>
          <a:prstGeom prst="rect">
            <a:avLst/>
          </a:prstGeom>
        </p:spPr>
      </p:pic>
      <p:cxnSp>
        <p:nvCxnSpPr>
          <p:cNvPr id="7" name="Straight Connector 6">
            <a:extLst>
              <a:ext uri="{FF2B5EF4-FFF2-40B4-BE49-F238E27FC236}">
                <a16:creationId xmlns:a16="http://schemas.microsoft.com/office/drawing/2014/main" id="{68EA4F95-D19A-CB58-64E1-7BCB953B8595}"/>
              </a:ext>
            </a:extLst>
          </p:cNvPr>
          <p:cNvCxnSpPr/>
          <p:nvPr/>
        </p:nvCxnSpPr>
        <p:spPr>
          <a:xfrm>
            <a:off x="10058397" y="212437"/>
            <a:ext cx="0" cy="194887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33223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430" y="190083"/>
            <a:ext cx="11994642" cy="6590806"/>
          </a:xfrm>
          <a:prstGeom prst="rect">
            <a:avLst/>
          </a:prstGeom>
        </p:spPr>
      </p:pic>
      <p:sp>
        <p:nvSpPr>
          <p:cNvPr id="2" name="Title 1"/>
          <p:cNvSpPr>
            <a:spLocks noGrp="1"/>
          </p:cNvSpPr>
          <p:nvPr>
            <p:ph type="title"/>
          </p:nvPr>
        </p:nvSpPr>
        <p:spPr>
          <a:xfrm>
            <a:off x="1566472" y="0"/>
            <a:ext cx="10515600" cy="1325563"/>
          </a:xfrm>
        </p:spPr>
        <p:txBody>
          <a:bodyPr/>
          <a:lstStyle/>
          <a:p>
            <a:pPr algn="r"/>
            <a:r>
              <a:rPr lang="en-GB" dirty="0">
                <a:solidFill>
                  <a:schemeClr val="bg1"/>
                </a:solidFill>
              </a:rPr>
              <a:t>Applications for WIMP interfaces</a:t>
            </a:r>
          </a:p>
        </p:txBody>
      </p:sp>
      <p:sp>
        <p:nvSpPr>
          <p:cNvPr id="3" name="Content Placeholder 2"/>
          <p:cNvSpPr>
            <a:spLocks noGrp="1"/>
          </p:cNvSpPr>
          <p:nvPr>
            <p:ph idx="1"/>
          </p:nvPr>
        </p:nvSpPr>
        <p:spPr>
          <a:xfrm>
            <a:off x="826951" y="1750674"/>
            <a:ext cx="10515600" cy="4351338"/>
          </a:xfrm>
          <a:solidFill>
            <a:srgbClr val="000000">
              <a:alpha val="63137"/>
            </a:srgb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GB" dirty="0">
                <a:solidFill>
                  <a:schemeClr val="bg1"/>
                </a:solidFill>
                <a:effectLst>
                  <a:outerShdw blurRad="38100" dist="38100" dir="2700000" algn="tl">
                    <a:srgbClr val="000000">
                      <a:alpha val="43137"/>
                    </a:srgbClr>
                  </a:outerShdw>
                </a:effectLst>
              </a:rPr>
              <a:t>Suited for less experienced users – why?</a:t>
            </a:r>
          </a:p>
          <a:p>
            <a:pPr lvl="1"/>
            <a:r>
              <a:rPr lang="en-GB" dirty="0">
                <a:solidFill>
                  <a:schemeClr val="bg1"/>
                </a:solidFill>
                <a:effectLst>
                  <a:outerShdw blurRad="38100" dist="38100" dir="2700000" algn="tl">
                    <a:srgbClr val="000000">
                      <a:alpha val="43137"/>
                    </a:srgbClr>
                  </a:outerShdw>
                </a:effectLst>
              </a:rPr>
              <a:t>Intuitive for the user</a:t>
            </a:r>
          </a:p>
          <a:p>
            <a:pPr lvl="1"/>
            <a:r>
              <a:rPr lang="en-GB" dirty="0">
                <a:solidFill>
                  <a:schemeClr val="bg1"/>
                </a:solidFill>
                <a:effectLst>
                  <a:outerShdw blurRad="38100" dist="38100" dir="2700000" algn="tl">
                    <a:srgbClr val="000000">
                      <a:alpha val="43137"/>
                    </a:srgbClr>
                  </a:outerShdw>
                </a:effectLst>
              </a:rPr>
              <a:t>Simple approach to carrying out tasks</a:t>
            </a:r>
          </a:p>
          <a:p>
            <a:pPr lvl="1"/>
            <a:r>
              <a:rPr lang="en-GB" dirty="0">
                <a:solidFill>
                  <a:schemeClr val="bg1"/>
                </a:solidFill>
                <a:effectLst>
                  <a:outerShdw blurRad="38100" dist="38100" dir="2700000" algn="tl">
                    <a:srgbClr val="000000">
                      <a:alpha val="43137"/>
                    </a:srgbClr>
                  </a:outerShdw>
                </a:effectLst>
              </a:rPr>
              <a:t>No complicated commands</a:t>
            </a:r>
          </a:p>
          <a:p>
            <a:pPr lvl="1"/>
            <a:r>
              <a:rPr lang="en-GB" dirty="0">
                <a:solidFill>
                  <a:schemeClr val="bg1"/>
                </a:solidFill>
                <a:effectLst>
                  <a:outerShdw blurRad="38100" dist="38100" dir="2700000" algn="tl">
                    <a:srgbClr val="000000">
                      <a:alpha val="43137"/>
                    </a:srgbClr>
                  </a:outerShdw>
                </a:effectLst>
              </a:rPr>
              <a:t>Extensive help options</a:t>
            </a:r>
          </a:p>
          <a:p>
            <a:pPr lvl="1"/>
            <a:r>
              <a:rPr lang="en-GB" dirty="0">
                <a:solidFill>
                  <a:schemeClr val="bg1"/>
                </a:solidFill>
                <a:effectLst>
                  <a:outerShdw blurRad="38100" dist="38100" dir="2700000" algn="tl">
                    <a:srgbClr val="000000">
                      <a:alpha val="43137"/>
                    </a:srgbClr>
                  </a:outerShdw>
                </a:effectLst>
              </a:rPr>
              <a:t>Exchange data between software programmes</a:t>
            </a:r>
          </a:p>
          <a:p>
            <a:r>
              <a:rPr lang="en-GB" dirty="0">
                <a:solidFill>
                  <a:schemeClr val="bg1"/>
                </a:solidFill>
                <a:effectLst>
                  <a:outerShdw blurRad="38100" dist="38100" dir="2700000" algn="tl">
                    <a:srgbClr val="000000">
                      <a:alpha val="43137"/>
                    </a:srgbClr>
                  </a:outerShdw>
                </a:effectLst>
              </a:rPr>
              <a:t>Why would we not use a WIMP interface?</a:t>
            </a:r>
          </a:p>
          <a:p>
            <a:pPr lvl="1"/>
            <a:r>
              <a:rPr lang="en-GB" dirty="0">
                <a:solidFill>
                  <a:schemeClr val="bg1"/>
                </a:solidFill>
                <a:effectLst>
                  <a:outerShdw blurRad="38100" dist="38100" dir="2700000" algn="tl">
                    <a:srgbClr val="000000">
                      <a:alpha val="43137"/>
                    </a:srgbClr>
                  </a:outerShdw>
                </a:effectLst>
              </a:rPr>
              <a:t>Requires much more hardware/processing power (HDD space, RAM, </a:t>
            </a:r>
            <a:r>
              <a:rPr lang="en-GB" dirty="0" err="1">
                <a:solidFill>
                  <a:schemeClr val="bg1"/>
                </a:solidFill>
                <a:effectLst>
                  <a:outerShdw blurRad="38100" dist="38100" dir="2700000" algn="tl">
                    <a:srgbClr val="000000">
                      <a:alpha val="43137"/>
                    </a:srgbClr>
                  </a:outerShdw>
                </a:effectLst>
              </a:rPr>
              <a:t>etc</a:t>
            </a:r>
            <a:r>
              <a:rPr lang="en-GB" dirty="0">
                <a:solidFill>
                  <a:schemeClr val="bg1"/>
                </a:solidFill>
                <a:effectLst>
                  <a:outerShdw blurRad="38100" dist="38100" dir="2700000" algn="tl">
                    <a:srgbClr val="000000">
                      <a:alpha val="43137"/>
                    </a:srgbClr>
                  </a:outerShdw>
                </a:effectLst>
              </a:rPr>
              <a:t>)</a:t>
            </a:r>
          </a:p>
          <a:p>
            <a:pPr lvl="1"/>
            <a:r>
              <a:rPr lang="en-GB" dirty="0">
                <a:solidFill>
                  <a:schemeClr val="bg1"/>
                </a:solidFill>
                <a:effectLst>
                  <a:outerShdw blurRad="38100" dist="38100" dir="2700000" algn="tl">
                    <a:srgbClr val="000000">
                      <a:alpha val="43137"/>
                    </a:srgbClr>
                  </a:outerShdw>
                </a:effectLst>
              </a:rPr>
              <a:t>Slow for experienced users (compared to CL interfaces)</a:t>
            </a:r>
          </a:p>
          <a:p>
            <a:pPr lvl="1"/>
            <a:endParaRPr lang="en-GB" dirty="0">
              <a:solidFill>
                <a:schemeClr val="bg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65875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5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fade">
                                      <p:cBhvr>
                                        <p:cTn id="5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2">
            <a:extLst>
              <a:ext uri="{28A0092B-C50C-407E-A947-70E740481C1C}">
                <a14:useLocalDpi xmlns:a14="http://schemas.microsoft.com/office/drawing/2010/main" val="0"/>
              </a:ext>
            </a:extLst>
          </a:blip>
          <a:srcRect l="1718" t="9282" r="4376" b="3942"/>
          <a:stretch/>
        </p:blipFill>
        <p:spPr>
          <a:xfrm>
            <a:off x="209550" y="533400"/>
            <a:ext cx="11449050" cy="6191250"/>
          </a:xfrm>
          <a:prstGeom prst="rect">
            <a:avLst/>
          </a:prstGeom>
        </p:spPr>
      </p:pic>
      <p:sp>
        <p:nvSpPr>
          <p:cNvPr id="2" name="Title 1"/>
          <p:cNvSpPr>
            <a:spLocks noGrp="1"/>
          </p:cNvSpPr>
          <p:nvPr>
            <p:ph type="title"/>
          </p:nvPr>
        </p:nvSpPr>
        <p:spPr/>
        <p:txBody>
          <a:bodyPr/>
          <a:lstStyle/>
          <a:p>
            <a:r>
              <a:rPr lang="en-GB" dirty="0">
                <a:solidFill>
                  <a:schemeClr val="bg1"/>
                </a:solidFill>
              </a:rPr>
              <a:t>Applications for Command Line Interfaces</a:t>
            </a:r>
          </a:p>
        </p:txBody>
      </p:sp>
      <p:sp>
        <p:nvSpPr>
          <p:cNvPr id="3" name="Content Placeholder 2"/>
          <p:cNvSpPr>
            <a:spLocks noGrp="1"/>
          </p:cNvSpPr>
          <p:nvPr>
            <p:ph idx="1"/>
          </p:nvPr>
        </p:nvSpPr>
        <p:spPr/>
        <p:txBody>
          <a:bodyPr/>
          <a:lstStyle/>
          <a:p>
            <a:pPr marL="0" indent="0">
              <a:buNone/>
            </a:pPr>
            <a:r>
              <a:rPr lang="en-GB" dirty="0">
                <a:solidFill>
                  <a:schemeClr val="bg1"/>
                </a:solidFill>
              </a:rPr>
              <a:t>&gt; Suitable for very experienced users – why?</a:t>
            </a:r>
          </a:p>
          <a:p>
            <a:pPr marL="457200" lvl="1" indent="0">
              <a:buNone/>
            </a:pPr>
            <a:r>
              <a:rPr lang="en-GB" dirty="0">
                <a:solidFill>
                  <a:schemeClr val="bg1"/>
                </a:solidFill>
              </a:rPr>
              <a:t>&gt; Maximises processing power</a:t>
            </a:r>
          </a:p>
          <a:p>
            <a:pPr marL="457200" lvl="1" indent="0">
              <a:buNone/>
            </a:pPr>
            <a:r>
              <a:rPr lang="en-GB" dirty="0">
                <a:solidFill>
                  <a:schemeClr val="bg1"/>
                </a:solidFill>
              </a:rPr>
              <a:t>&gt; Minimum resources required</a:t>
            </a:r>
          </a:p>
          <a:p>
            <a:pPr marL="457200" lvl="1" indent="0">
              <a:buNone/>
            </a:pPr>
            <a:r>
              <a:rPr lang="en-GB" dirty="0">
                <a:solidFill>
                  <a:schemeClr val="bg1"/>
                </a:solidFill>
              </a:rPr>
              <a:t>&gt; Doesn’t require windows</a:t>
            </a:r>
          </a:p>
          <a:p>
            <a:pPr marL="0" indent="0">
              <a:buNone/>
            </a:pPr>
            <a:r>
              <a:rPr lang="en-GB" dirty="0">
                <a:solidFill>
                  <a:schemeClr val="bg1"/>
                </a:solidFill>
              </a:rPr>
              <a:t>&gt; Limitations?</a:t>
            </a:r>
          </a:p>
          <a:p>
            <a:pPr marL="457200" lvl="1" indent="0">
              <a:buNone/>
            </a:pPr>
            <a:r>
              <a:rPr lang="en-GB" dirty="0">
                <a:solidFill>
                  <a:schemeClr val="bg1"/>
                </a:solidFill>
              </a:rPr>
              <a:t>&gt; User must know syntax</a:t>
            </a:r>
          </a:p>
          <a:p>
            <a:pPr marL="457200" lvl="1" indent="0">
              <a:buNone/>
            </a:pPr>
            <a:r>
              <a:rPr lang="en-GB" dirty="0">
                <a:solidFill>
                  <a:schemeClr val="bg1"/>
                </a:solidFill>
              </a:rPr>
              <a:t>&gt; Must be precise / cannot mistype instructions</a:t>
            </a:r>
          </a:p>
          <a:p>
            <a:pPr marL="457200" lvl="1" indent="0">
              <a:buNone/>
            </a:pPr>
            <a:r>
              <a:rPr lang="en-GB" dirty="0">
                <a:solidFill>
                  <a:schemeClr val="bg1"/>
                </a:solidFill>
              </a:rPr>
              <a:t>&gt; Hundreds of commands need to be remembered/learnt</a:t>
            </a:r>
          </a:p>
          <a:p>
            <a:pPr lvl="1"/>
            <a:endParaRPr lang="en-GB" dirty="0">
              <a:solidFill>
                <a:schemeClr val="bg1"/>
              </a:solidFill>
            </a:endParaRPr>
          </a:p>
        </p:txBody>
      </p:sp>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t="9612" r="98438"/>
          <a:stretch/>
        </p:blipFill>
        <p:spPr>
          <a:xfrm>
            <a:off x="0" y="685800"/>
            <a:ext cx="190500" cy="6448931"/>
          </a:xfrm>
          <a:prstGeom prst="rect">
            <a:avLst/>
          </a:prstGeom>
        </p:spPr>
      </p:pic>
      <p:pic>
        <p:nvPicPr>
          <p:cNvPr id="8" name="Picture 7"/>
          <p:cNvPicPr>
            <a:picLocks noChangeAspect="1"/>
          </p:cNvPicPr>
          <p:nvPr/>
        </p:nvPicPr>
        <p:blipFill rotWithShape="1">
          <a:blip r:embed="rId2">
            <a:extLst>
              <a:ext uri="{28A0092B-C50C-407E-A947-70E740481C1C}">
                <a14:useLocalDpi xmlns:a14="http://schemas.microsoft.com/office/drawing/2010/main" val="0"/>
              </a:ext>
            </a:extLst>
          </a:blip>
          <a:srcRect t="96388"/>
          <a:stretch/>
        </p:blipFill>
        <p:spPr>
          <a:xfrm>
            <a:off x="0" y="6877050"/>
            <a:ext cx="12192000" cy="257681"/>
          </a:xfrm>
          <a:prstGeom prst="rect">
            <a:avLst/>
          </a:prstGeom>
        </p:spPr>
      </p:pic>
      <p:grpSp>
        <p:nvGrpSpPr>
          <p:cNvPr id="6" name="Group 5"/>
          <p:cNvGrpSpPr/>
          <p:nvPr/>
        </p:nvGrpSpPr>
        <p:grpSpPr>
          <a:xfrm>
            <a:off x="0" y="-1"/>
            <a:ext cx="12192000" cy="7134733"/>
            <a:chOff x="0" y="-1"/>
            <a:chExt cx="12192000" cy="7134733"/>
          </a:xfrm>
        </p:grpSpPr>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b="90388"/>
            <a:stretch/>
          </p:blipFill>
          <p:spPr>
            <a:xfrm>
              <a:off x="0" y="-1"/>
              <a:ext cx="12192000" cy="685801"/>
            </a:xfrm>
            <a:prstGeom prst="rect">
              <a:avLst/>
            </a:prstGeom>
          </p:spPr>
        </p:pic>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95469"/>
            <a:stretch/>
          </p:blipFill>
          <p:spPr>
            <a:xfrm>
              <a:off x="11639550" y="-1"/>
              <a:ext cx="552450" cy="7134733"/>
            </a:xfrm>
            <a:prstGeom prst="rect">
              <a:avLst/>
            </a:prstGeom>
          </p:spPr>
        </p:pic>
      </p:grpSp>
    </p:spTree>
    <p:extLst>
      <p:ext uri="{BB962C8B-B14F-4D97-AF65-F5344CB8AC3E}">
        <p14:creationId xmlns:p14="http://schemas.microsoft.com/office/powerpoint/2010/main" val="254906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1" fill="hold" nodeType="clickEffect">
                                  <p:stCondLst>
                                    <p:cond delay="0"/>
                                  </p:stCondLst>
                                  <p:childTnLst>
                                    <p:anim calcmode="lin" valueType="num">
                                      <p:cBhvr additive="base">
                                        <p:cTn id="6" dur="500"/>
                                        <p:tgtEl>
                                          <p:spTgt spid="9"/>
                                        </p:tgtEl>
                                        <p:attrNameLst>
                                          <p:attrName>ppt_x</p:attrName>
                                        </p:attrNameLst>
                                      </p:cBhvr>
                                      <p:tavLst>
                                        <p:tav tm="0">
                                          <p:val>
                                            <p:strVal val="ppt_x"/>
                                          </p:val>
                                        </p:tav>
                                        <p:tav tm="100000">
                                          <p:val>
                                            <p:strVal val="ppt_x"/>
                                          </p:val>
                                        </p:tav>
                                      </p:tavLst>
                                    </p:anim>
                                    <p:anim calcmode="lin" valueType="num">
                                      <p:cBhvr additive="base">
                                        <p:cTn id="7" dur="500"/>
                                        <p:tgtEl>
                                          <p:spTgt spid="9"/>
                                        </p:tgtEl>
                                        <p:attrNameLst>
                                          <p:attrName>ppt_y</p:attrName>
                                        </p:attrNameLst>
                                      </p:cBhvr>
                                      <p:tavLst>
                                        <p:tav tm="0">
                                          <p:val>
                                            <p:strVal val="ppt_y"/>
                                          </p:val>
                                        </p:tav>
                                        <p:tav tm="100000">
                                          <p:val>
                                            <p:strVal val="0-ppt_h/2"/>
                                          </p:val>
                                        </p:tav>
                                      </p:tavLst>
                                    </p:anim>
                                    <p:set>
                                      <p:cBhvr>
                                        <p:cTn id="8" dur="1" fill="hold">
                                          <p:stCondLst>
                                            <p:cond delay="499"/>
                                          </p:stCondLst>
                                        </p:cTn>
                                        <p:tgtEl>
                                          <p:spTgt spid="9"/>
                                        </p:tgtEl>
                                        <p:attrNameLst>
                                          <p:attrName>style.visibility</p:attrName>
                                        </p:attrNameLst>
                                      </p:cBhvr>
                                      <p:to>
                                        <p:strVal val="hidden"/>
                                      </p:to>
                                    </p:set>
                                  </p:childTnLst>
                                </p:cTn>
                              </p:par>
                              <p:par>
                                <p:cTn id="9" presetID="2" presetClass="entr" presetSubtype="4"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wipe(left)">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wipe(left)">
                                      <p:cBhvr>
                                        <p:cTn id="22" dur="5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wipe(left)">
                                      <p:cBhvr>
                                        <p:cTn id="27" dur="50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wipe(left)">
                                      <p:cBhvr>
                                        <p:cTn id="32" dur="500"/>
                                        <p:tgtEl>
                                          <p:spTgt spid="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wipe(left)">
                                      <p:cBhvr>
                                        <p:cTn id="37" dur="5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wipe(left)">
                                      <p:cBhvr>
                                        <p:cTn id="42" dur="500"/>
                                        <p:tgtEl>
                                          <p:spTgt spid="3">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wipe(left)">
                                      <p:cBhvr>
                                        <p:cTn id="47" dur="500"/>
                                        <p:tgtEl>
                                          <p:spTgt spid="3">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
                                            <p:txEl>
                                              <p:pRg st="7" end="7"/>
                                            </p:txEl>
                                          </p:spTgt>
                                        </p:tgtEl>
                                        <p:attrNameLst>
                                          <p:attrName>style.visibility</p:attrName>
                                        </p:attrNameLst>
                                      </p:cBhvr>
                                      <p:to>
                                        <p:strVal val="visible"/>
                                      </p:to>
                                    </p:set>
                                    <p:animEffect transition="in" filter="wipe(left)">
                                      <p:cBhvr>
                                        <p:cTn id="5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68727B"/>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48100" y="0"/>
            <a:ext cx="10001250" cy="7500938"/>
          </a:xfrm>
          <a:prstGeom prst="rect">
            <a:avLst/>
          </a:prstGeom>
        </p:spPr>
      </p:pic>
      <p:sp>
        <p:nvSpPr>
          <p:cNvPr id="2" name="Title 1"/>
          <p:cNvSpPr>
            <a:spLocks noGrp="1"/>
          </p:cNvSpPr>
          <p:nvPr>
            <p:ph type="title"/>
          </p:nvPr>
        </p:nvSpPr>
        <p:spPr>
          <a:xfrm>
            <a:off x="3848100" y="-95908"/>
            <a:ext cx="10515600" cy="1325563"/>
          </a:xfrm>
        </p:spPr>
        <p:txBody>
          <a:bodyPr/>
          <a:lstStyle/>
          <a:p>
            <a:r>
              <a:rPr lang="en-GB" dirty="0">
                <a:solidFill>
                  <a:srgbClr val="8EC63F"/>
                </a:solidFill>
              </a:rPr>
              <a:t>Applications of Forms Interfaces</a:t>
            </a:r>
          </a:p>
        </p:txBody>
      </p:sp>
      <p:sp>
        <p:nvSpPr>
          <p:cNvPr id="3" name="Content Placeholder 2"/>
          <p:cNvSpPr>
            <a:spLocks noGrp="1"/>
          </p:cNvSpPr>
          <p:nvPr>
            <p:ph idx="1"/>
          </p:nvPr>
        </p:nvSpPr>
        <p:spPr>
          <a:xfrm>
            <a:off x="0" y="1047750"/>
            <a:ext cx="6305550" cy="5657850"/>
          </a:xfrm>
        </p:spPr>
        <p:txBody>
          <a:bodyPr>
            <a:normAutofit/>
          </a:bodyPr>
          <a:lstStyle/>
          <a:p>
            <a:r>
              <a:rPr lang="en-GB" dirty="0">
                <a:solidFill>
                  <a:srgbClr val="8EC63F"/>
                </a:solidFill>
                <a:effectLst>
                  <a:outerShdw blurRad="38100" dist="38100" dir="2700000" algn="tl">
                    <a:srgbClr val="000000">
                      <a:alpha val="43137"/>
                    </a:srgbClr>
                  </a:outerShdw>
                </a:effectLst>
              </a:rPr>
              <a:t>When do we use forms on the computer?</a:t>
            </a:r>
          </a:p>
          <a:p>
            <a:pPr lvl="1"/>
            <a:r>
              <a:rPr lang="en-GB" dirty="0">
                <a:solidFill>
                  <a:srgbClr val="8EC63F"/>
                </a:solidFill>
                <a:effectLst>
                  <a:outerShdw blurRad="38100" dist="38100" dir="2700000" algn="tl">
                    <a:srgbClr val="000000">
                      <a:alpha val="43137"/>
                    </a:srgbClr>
                  </a:outerShdw>
                </a:effectLst>
              </a:rPr>
              <a:t>Entering data for a database</a:t>
            </a:r>
          </a:p>
          <a:p>
            <a:pPr lvl="1"/>
            <a:r>
              <a:rPr lang="en-GB" dirty="0">
                <a:solidFill>
                  <a:srgbClr val="8EC63F"/>
                </a:solidFill>
                <a:effectLst>
                  <a:outerShdw blurRad="38100" dist="38100" dir="2700000" algn="tl">
                    <a:srgbClr val="000000">
                      <a:alpha val="43137"/>
                    </a:srgbClr>
                  </a:outerShdw>
                </a:effectLst>
              </a:rPr>
              <a:t>Used for completing a task using a wizard</a:t>
            </a:r>
          </a:p>
          <a:p>
            <a:pPr lvl="1"/>
            <a:r>
              <a:rPr lang="en-GB" dirty="0">
                <a:solidFill>
                  <a:srgbClr val="8EC63F"/>
                </a:solidFill>
                <a:effectLst>
                  <a:outerShdw blurRad="38100" dist="38100" dir="2700000" algn="tl">
                    <a:srgbClr val="000000">
                      <a:alpha val="43137"/>
                    </a:srgbClr>
                  </a:outerShdw>
                </a:effectLst>
              </a:rPr>
              <a:t>Collects all information in one place</a:t>
            </a:r>
          </a:p>
          <a:p>
            <a:pPr lvl="1"/>
            <a:r>
              <a:rPr lang="en-GB" dirty="0">
                <a:solidFill>
                  <a:srgbClr val="8EC63F"/>
                </a:solidFill>
                <a:effectLst>
                  <a:outerShdw blurRad="38100" dist="38100" dir="2700000" algn="tl">
                    <a:srgbClr val="000000">
                      <a:alpha val="43137"/>
                    </a:srgbClr>
                  </a:outerShdw>
                </a:effectLst>
              </a:rPr>
              <a:t>Data validation</a:t>
            </a:r>
          </a:p>
          <a:p>
            <a:pPr lvl="1"/>
            <a:r>
              <a:rPr lang="en-GB" dirty="0">
                <a:solidFill>
                  <a:srgbClr val="8EC63F"/>
                </a:solidFill>
                <a:effectLst>
                  <a:outerShdw blurRad="38100" dist="38100" dir="2700000" algn="tl">
                    <a:srgbClr val="000000">
                      <a:alpha val="43137"/>
                    </a:srgbClr>
                  </a:outerShdw>
                </a:effectLst>
              </a:rPr>
              <a:t>Little-no training required</a:t>
            </a:r>
          </a:p>
          <a:p>
            <a:pPr lvl="1"/>
            <a:r>
              <a:rPr lang="en-GB" dirty="0">
                <a:solidFill>
                  <a:srgbClr val="8EC63F"/>
                </a:solidFill>
                <a:effectLst>
                  <a:outerShdw blurRad="38100" dist="38100" dir="2700000" algn="tl">
                    <a:srgbClr val="000000">
                      <a:alpha val="43137"/>
                    </a:srgbClr>
                  </a:outerShdw>
                </a:effectLst>
              </a:rPr>
              <a:t>Does not need a lot of processing power</a:t>
            </a:r>
          </a:p>
          <a:p>
            <a:r>
              <a:rPr lang="en-GB" dirty="0">
                <a:solidFill>
                  <a:srgbClr val="8EC63F"/>
                </a:solidFill>
                <a:effectLst>
                  <a:outerShdw blurRad="38100" dist="38100" dir="2700000" algn="tl">
                    <a:srgbClr val="000000">
                      <a:alpha val="43137"/>
                    </a:srgbClr>
                  </a:outerShdw>
                </a:effectLst>
              </a:rPr>
              <a:t>Any limitations?</a:t>
            </a:r>
          </a:p>
          <a:p>
            <a:pPr lvl="1"/>
            <a:r>
              <a:rPr lang="en-GB" dirty="0">
                <a:solidFill>
                  <a:srgbClr val="8EC63F"/>
                </a:solidFill>
                <a:effectLst>
                  <a:outerShdw blurRad="38100" dist="38100" dir="2700000" algn="tl">
                    <a:srgbClr val="000000">
                      <a:alpha val="43137"/>
                    </a:srgbClr>
                  </a:outerShdw>
                </a:effectLst>
              </a:rPr>
              <a:t>Data entry is very limited</a:t>
            </a:r>
          </a:p>
          <a:p>
            <a:pPr lvl="1"/>
            <a:r>
              <a:rPr lang="en-GB" dirty="0">
                <a:solidFill>
                  <a:srgbClr val="8EC63F"/>
                </a:solidFill>
                <a:effectLst>
                  <a:outerShdw blurRad="38100" dist="38100" dir="2700000" algn="tl">
                    <a:srgbClr val="000000">
                      <a:alpha val="43137"/>
                    </a:srgbClr>
                  </a:outerShdw>
                </a:effectLst>
              </a:rPr>
              <a:t>May not suitable for visually impaired</a:t>
            </a:r>
          </a:p>
          <a:p>
            <a:pPr lvl="1"/>
            <a:r>
              <a:rPr lang="en-GB" dirty="0">
                <a:solidFill>
                  <a:srgbClr val="8EC63F"/>
                </a:solidFill>
                <a:effectLst>
                  <a:outerShdw blurRad="38100" dist="38100" dir="2700000" algn="tl">
                    <a:srgbClr val="000000">
                      <a:alpha val="43137"/>
                    </a:srgbClr>
                  </a:outerShdw>
                </a:effectLst>
              </a:rPr>
              <a:t>Not suitable for highly complex applications.</a:t>
            </a:r>
          </a:p>
        </p:txBody>
      </p:sp>
    </p:spTree>
    <p:extLst>
      <p:ext uri="{BB962C8B-B14F-4D97-AF65-F5344CB8AC3E}">
        <p14:creationId xmlns:p14="http://schemas.microsoft.com/office/powerpoint/2010/main" val="2102983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US" dirty="0"/>
              <a:t>Past Paper Question</a:t>
            </a:r>
            <a:endParaRPr lang="en-GB" dirty="0"/>
          </a:p>
        </p:txBody>
      </p:sp>
      <p:sp>
        <p:nvSpPr>
          <p:cNvPr id="3" name="Content Placeholder 2"/>
          <p:cNvSpPr>
            <a:spLocks noGrp="1"/>
          </p:cNvSpPr>
          <p:nvPr>
            <p:ph idx="1"/>
          </p:nvPr>
        </p:nvSpPr>
        <p:spPr>
          <a:xfrm>
            <a:off x="395416" y="1271753"/>
            <a:ext cx="11516498" cy="4607840"/>
          </a:xfrm>
        </p:spPr>
        <p:txBody>
          <a:bodyPr>
            <a:normAutofit lnSpcReduction="10000"/>
          </a:bodyPr>
          <a:lstStyle/>
          <a:p>
            <a:pPr marL="0" lvl="0" indent="0">
              <a:buNone/>
            </a:pPr>
            <a:r>
              <a:rPr lang="en-US" b="1" dirty="0"/>
              <a:t>2017 Digital Technology</a:t>
            </a:r>
            <a:endParaRPr lang="en-GB" b="1" dirty="0"/>
          </a:p>
          <a:p>
            <a:pPr marL="0" lvl="0" indent="0">
              <a:buNone/>
            </a:pPr>
            <a:r>
              <a:rPr lang="en-GB" dirty="0"/>
              <a:t>Command line and WIMP are two types of user interface.</a:t>
            </a:r>
          </a:p>
          <a:p>
            <a:pPr marL="0" indent="0">
              <a:buNone/>
            </a:pPr>
            <a:r>
              <a:rPr lang="en-GB" dirty="0"/>
              <a:t>Evaluate these interfaces from the point of view of an experienced computer user.</a:t>
            </a:r>
          </a:p>
          <a:p>
            <a:pPr marL="0" indent="0">
              <a:buNone/>
            </a:pPr>
            <a:r>
              <a:rPr lang="en-GB" dirty="0"/>
              <a:t> 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[4]</a:t>
            </a:r>
          </a:p>
          <a:p>
            <a:endParaRPr lang="en-GB" dirty="0"/>
          </a:p>
        </p:txBody>
      </p:sp>
    </p:spTree>
    <p:extLst>
      <p:ext uri="{BB962C8B-B14F-4D97-AF65-F5344CB8AC3E}">
        <p14:creationId xmlns:p14="http://schemas.microsoft.com/office/powerpoint/2010/main" val="14602981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 Scheme</a:t>
            </a:r>
            <a:endParaRPr lang="en-GB" dirty="0"/>
          </a:p>
        </p:txBody>
      </p:sp>
      <p:sp>
        <p:nvSpPr>
          <p:cNvPr id="3" name="Content Placeholder 2"/>
          <p:cNvSpPr>
            <a:spLocks noGrp="1"/>
          </p:cNvSpPr>
          <p:nvPr>
            <p:ph idx="1"/>
          </p:nvPr>
        </p:nvSpPr>
        <p:spPr>
          <a:xfrm>
            <a:off x="128337" y="1450429"/>
            <a:ext cx="11112475" cy="4429164"/>
          </a:xfrm>
        </p:spPr>
        <p:txBody>
          <a:bodyPr>
            <a:normAutofit fontScale="55000" lnSpcReduction="20000"/>
          </a:bodyPr>
          <a:lstStyle/>
          <a:p>
            <a:pPr marL="0" indent="0">
              <a:buNone/>
            </a:pPr>
            <a:r>
              <a:rPr lang="en-GB" b="1" dirty="0"/>
              <a:t>Command line interface</a:t>
            </a:r>
            <a:endParaRPr lang="en-GB" dirty="0"/>
          </a:p>
          <a:p>
            <a:r>
              <a:rPr lang="en-GB" dirty="0"/>
              <a:t>There is a pre-set list commands</a:t>
            </a:r>
          </a:p>
          <a:p>
            <a:r>
              <a:rPr lang="en-GB" dirty="0"/>
              <a:t>Each command is entered at a prompt and usually includes parameters</a:t>
            </a:r>
          </a:p>
          <a:p>
            <a:r>
              <a:rPr lang="en-GB" dirty="0"/>
              <a:t>and/or switches</a:t>
            </a:r>
          </a:p>
          <a:p>
            <a:pPr marL="0" indent="0">
              <a:buNone/>
            </a:pPr>
            <a:endParaRPr lang="en-GB" dirty="0"/>
          </a:p>
          <a:p>
            <a:pPr marL="0" indent="0">
              <a:buNone/>
            </a:pPr>
            <a:r>
              <a:rPr lang="en-GB" b="1" dirty="0"/>
              <a:t>WIMP</a:t>
            </a:r>
            <a:endParaRPr lang="en-GB" dirty="0"/>
          </a:p>
          <a:p>
            <a:r>
              <a:rPr lang="en-GB" dirty="0"/>
              <a:t>This is a GUI</a:t>
            </a:r>
          </a:p>
          <a:p>
            <a:r>
              <a:rPr lang="en-GB" dirty="0"/>
              <a:t>Each task/process has its own window containing icons and/or menus</a:t>
            </a:r>
          </a:p>
          <a:p>
            <a:r>
              <a:rPr lang="en-GB" dirty="0"/>
              <a:t>A pointer and mouse/touchpad are used to navigate and to select icons</a:t>
            </a:r>
          </a:p>
          <a:p>
            <a:r>
              <a:rPr lang="en-GB" dirty="0"/>
              <a:t>and/or menu options</a:t>
            </a:r>
          </a:p>
          <a:p>
            <a:pPr marL="0" indent="0">
              <a:buNone/>
            </a:pPr>
            <a:r>
              <a:rPr lang="en-GB" b="1" dirty="0"/>
              <a:t> </a:t>
            </a:r>
            <a:endParaRPr lang="en-GB" dirty="0"/>
          </a:p>
          <a:p>
            <a:pPr marL="0" indent="0">
              <a:buNone/>
            </a:pPr>
            <a:r>
              <a:rPr lang="en-GB" b="1" dirty="0"/>
              <a:t>The experienced user</a:t>
            </a:r>
            <a:endParaRPr lang="en-GB" dirty="0"/>
          </a:p>
          <a:p>
            <a:r>
              <a:rPr lang="en-GB" dirty="0"/>
              <a:t>An experienced user may prefer a CLI as a single command may perform</a:t>
            </a:r>
          </a:p>
          <a:p>
            <a:r>
              <a:rPr lang="en-GB" dirty="0"/>
              <a:t>a task which would require a long sequence of mouse clicks and menu</a:t>
            </a:r>
          </a:p>
          <a:p>
            <a:r>
              <a:rPr lang="en-GB" dirty="0"/>
              <a:t>selections in a WIMP</a:t>
            </a:r>
          </a:p>
          <a:p>
            <a:endParaRPr lang="en-GB" dirty="0"/>
          </a:p>
        </p:txBody>
      </p:sp>
      <p:pic>
        <p:nvPicPr>
          <p:cNvPr id="4" name="Picture 3"/>
          <p:cNvPicPr/>
          <p:nvPr/>
        </p:nvPicPr>
        <p:blipFill rotWithShape="1">
          <a:blip r:embed="rId2"/>
          <a:srcRect l="15122" t="19208" r="40113" b="8066"/>
          <a:stretch/>
        </p:blipFill>
        <p:spPr bwMode="auto">
          <a:xfrm>
            <a:off x="6706815" y="438949"/>
            <a:ext cx="5042535" cy="614489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4080556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l="19103" t="27335" r="15809" b="12463"/>
          <a:stretch/>
        </p:blipFill>
        <p:spPr>
          <a:xfrm>
            <a:off x="321273" y="383059"/>
            <a:ext cx="11667115" cy="6474941"/>
          </a:xfrm>
          <a:prstGeom prst="rect">
            <a:avLst/>
          </a:prstGeom>
        </p:spPr>
      </p:pic>
    </p:spTree>
    <p:extLst>
      <p:ext uri="{BB962C8B-B14F-4D97-AF65-F5344CB8AC3E}">
        <p14:creationId xmlns:p14="http://schemas.microsoft.com/office/powerpoint/2010/main" val="1361038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l="18421" t="41532" r="27056" b="22686"/>
          <a:stretch/>
        </p:blipFill>
        <p:spPr>
          <a:xfrm>
            <a:off x="0" y="1408669"/>
            <a:ext cx="12192000" cy="4819136"/>
          </a:xfrm>
          <a:prstGeom prst="rect">
            <a:avLst/>
          </a:prstGeom>
        </p:spPr>
      </p:pic>
    </p:spTree>
    <p:extLst>
      <p:ext uri="{BB962C8B-B14F-4D97-AF65-F5344CB8AC3E}">
        <p14:creationId xmlns:p14="http://schemas.microsoft.com/office/powerpoint/2010/main" val="37128302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577</TotalTime>
  <Words>1814</Words>
  <Application>Microsoft Office PowerPoint</Application>
  <PresentationFormat>Widescreen</PresentationFormat>
  <Paragraphs>216</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Calibri Light</vt:lpstr>
      <vt:lpstr>Century Gothic</vt:lpstr>
      <vt:lpstr>Symbol</vt:lpstr>
      <vt:lpstr>Office Theme</vt:lpstr>
      <vt:lpstr>The User Interface</vt:lpstr>
      <vt:lpstr>We are Learning to: </vt:lpstr>
      <vt:lpstr>Introduction</vt:lpstr>
      <vt:lpstr>WIMP Interface</vt:lpstr>
      <vt:lpstr>WIMP Interface</vt:lpstr>
      <vt:lpstr>Who uses a wimp interface</vt:lpstr>
      <vt:lpstr>Command Line Interface</vt:lpstr>
      <vt:lpstr>Command Line Interface</vt:lpstr>
      <vt:lpstr>FORMS DIALOGUE</vt:lpstr>
      <vt:lpstr>FORMS DIALOGUE</vt:lpstr>
      <vt:lpstr>Evaluating User Interfaces</vt:lpstr>
      <vt:lpstr>PowerPoint Presentation</vt:lpstr>
      <vt:lpstr>PowerPoint Presentation</vt:lpstr>
      <vt:lpstr>The Importance of an Interface</vt:lpstr>
      <vt:lpstr>&gt; What is a WIMP?</vt:lpstr>
      <vt:lpstr>Command Line</vt:lpstr>
      <vt:lpstr>Forms Interface</vt:lpstr>
      <vt:lpstr> Activity: Pick Me! Pick Me!    </vt:lpstr>
      <vt:lpstr>Applications for WIMP interfaces</vt:lpstr>
      <vt:lpstr>Applications for Command Line Interfaces</vt:lpstr>
      <vt:lpstr>Applications of Forms Interfaces</vt:lpstr>
      <vt:lpstr>Past Paper Question</vt:lpstr>
      <vt:lpstr>Mark Scheme</vt:lpstr>
      <vt:lpstr>PowerPoint Presentation</vt:lpstr>
      <vt:lpstr>PowerPoint Presentation</vt:lpstr>
    </vt:vector>
  </TitlesOfParts>
  <Company>C2k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James Butler</dc:creator>
  <cp:lastModifiedBy>J Butler</cp:lastModifiedBy>
  <cp:revision>27</cp:revision>
  <dcterms:created xsi:type="dcterms:W3CDTF">2018-11-09T10:59:55Z</dcterms:created>
  <dcterms:modified xsi:type="dcterms:W3CDTF">2025-11-17T10:46:23Z</dcterms:modified>
</cp:coreProperties>
</file>