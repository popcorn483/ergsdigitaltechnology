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63" r:id="rId3"/>
    <p:sldId id="293" r:id="rId4"/>
    <p:sldId id="257" r:id="rId5"/>
    <p:sldId id="258" r:id="rId6"/>
    <p:sldId id="259" r:id="rId7"/>
    <p:sldId id="260" r:id="rId8"/>
    <p:sldId id="261" r:id="rId9"/>
    <p:sldId id="266" r:id="rId10"/>
    <p:sldId id="267" r:id="rId11"/>
    <p:sldId id="268" r:id="rId12"/>
    <p:sldId id="264"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C9B0"/>
    <a:srgbClr val="F69B6E"/>
    <a:srgbClr val="C84C0C"/>
    <a:srgbClr val="3EC9FF"/>
    <a:srgbClr val="666666"/>
    <a:srgbClr val="64C7FE"/>
    <a:srgbClr val="FFFFFF"/>
    <a:srgbClr val="22401B"/>
    <a:srgbClr val="70AD47"/>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17" d="100"/>
          <a:sy n="117" d="100"/>
        </p:scale>
        <p:origin x="27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521DB7-D98E-4E30-B149-520E7A4EE84D}" type="datetimeFigureOut">
              <a:rPr lang="en-GB" smtClean="0"/>
              <a:t>20/04/2026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0EEF13-9D85-410D-8755-597EA18B22A6}" type="slidenum">
              <a:rPr lang="en-GB" smtClean="0"/>
              <a:t>‹#›</a:t>
            </a:fld>
            <a:endParaRPr lang="en-GB"/>
          </a:p>
        </p:txBody>
      </p:sp>
    </p:spTree>
    <p:extLst>
      <p:ext uri="{BB962C8B-B14F-4D97-AF65-F5344CB8AC3E}">
        <p14:creationId xmlns:p14="http://schemas.microsoft.com/office/powerpoint/2010/main" val="2789353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https://www.youtube.com/watch?v=IdWXT391FJE</a:t>
            </a:r>
          </a:p>
        </p:txBody>
      </p:sp>
      <p:sp>
        <p:nvSpPr>
          <p:cNvPr id="4" name="Slide Number Placeholder 3"/>
          <p:cNvSpPr>
            <a:spLocks noGrp="1"/>
          </p:cNvSpPr>
          <p:nvPr>
            <p:ph type="sldNum" sz="quarter" idx="5"/>
          </p:nvPr>
        </p:nvSpPr>
        <p:spPr/>
        <p:txBody>
          <a:bodyPr/>
          <a:lstStyle/>
          <a:p>
            <a:fld id="{B00EEF13-9D85-410D-8755-597EA18B22A6}" type="slidenum">
              <a:rPr lang="en-GB" smtClean="0"/>
              <a:t>24</a:t>
            </a:fld>
            <a:endParaRPr lang="en-GB"/>
          </a:p>
        </p:txBody>
      </p:sp>
    </p:spTree>
    <p:extLst>
      <p:ext uri="{BB962C8B-B14F-4D97-AF65-F5344CB8AC3E}">
        <p14:creationId xmlns:p14="http://schemas.microsoft.com/office/powerpoint/2010/main" val="3101375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2D422C2-5573-4A95-BC61-C0AD1533AD4C}"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1044062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2D422C2-5573-4A95-BC61-C0AD1533AD4C}"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570635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2D422C2-5573-4A95-BC61-C0AD1533AD4C}"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899440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2D422C2-5573-4A95-BC61-C0AD1533AD4C}" type="datetimeFigureOut">
              <a:rPr lang="en-GB" smtClean="0"/>
              <a:t>20/04/2026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269129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2D422C2-5573-4A95-BC61-C0AD1533AD4C}" type="datetimeFigureOut">
              <a:rPr lang="en-GB" smtClean="0"/>
              <a:t>20/04/2026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2711729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2D422C2-5573-4A95-BC61-C0AD1533AD4C}" type="datetimeFigureOut">
              <a:rPr lang="en-GB" smtClean="0"/>
              <a:t>20/04/2026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1106072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422C2-5573-4A95-BC61-C0AD1533AD4C}" type="datetimeFigureOut">
              <a:rPr lang="en-GB" smtClean="0"/>
              <a:t>20/04/2026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2393620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2D422C2-5573-4A95-BC61-C0AD1533AD4C}" type="datetimeFigureOut">
              <a:rPr lang="en-GB" smtClean="0"/>
              <a:t>20/04/2026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4012446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2D422C2-5573-4A95-BC61-C0AD1533AD4C}" type="datetimeFigureOut">
              <a:rPr lang="en-GB" smtClean="0"/>
              <a:t>20/04/2026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189421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2D422C2-5573-4A95-BC61-C0AD1533AD4C}"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214358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2D422C2-5573-4A95-BC61-C0AD1533AD4C}"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65E6C-605F-441A-9939-FC724834453B}" type="slidenum">
              <a:rPr lang="en-GB" smtClean="0"/>
              <a:t>‹#›</a:t>
            </a:fld>
            <a:endParaRPr lang="en-GB"/>
          </a:p>
        </p:txBody>
      </p:sp>
    </p:spTree>
    <p:extLst>
      <p:ext uri="{BB962C8B-B14F-4D97-AF65-F5344CB8AC3E}">
        <p14:creationId xmlns:p14="http://schemas.microsoft.com/office/powerpoint/2010/main" val="3756474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FF0EB"/>
            </a:gs>
            <a:gs pos="100000">
              <a:srgbClr val="D6D2C7"/>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422C2-5573-4A95-BC61-C0AD1533AD4C}" type="datetimeFigureOut">
              <a:rPr lang="en-GB" smtClean="0"/>
              <a:t>20/04/2026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565E6C-605F-441A-9939-FC724834453B}" type="slidenum">
              <a:rPr lang="en-GB" smtClean="0"/>
              <a:t>‹#›</a:t>
            </a:fld>
            <a:endParaRPr lang="en-GB"/>
          </a:p>
        </p:txBody>
      </p:sp>
    </p:spTree>
    <p:extLst>
      <p:ext uri="{BB962C8B-B14F-4D97-AF65-F5344CB8AC3E}">
        <p14:creationId xmlns:p14="http://schemas.microsoft.com/office/powerpoint/2010/main" val="2511637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guo8if4Yxhw&amp;feature=youtu.be&amp;list=PL1HhLdihIWo-EnZkn9v1NzaNXOMbxQEUy"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1stwebdesigner.com/image-file-type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5" name="Picture 4" descr="Hacking Super Mario Bros. with Python | Pythonic Perambulations">
            <a:extLst>
              <a:ext uri="{FF2B5EF4-FFF2-40B4-BE49-F238E27FC236}">
                <a16:creationId xmlns:a16="http://schemas.microsoft.com/office/drawing/2014/main" id="{B1613DB8-E10D-4D68-FBCD-CC9928BF83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144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2778034" y="2045298"/>
            <a:ext cx="9144000" cy="1054146"/>
          </a:xfrm>
        </p:spPr>
        <p:txBody>
          <a:bodyPr/>
          <a:lstStyle/>
          <a:p>
            <a:pPr algn="r"/>
            <a:r>
              <a:rPr lang="en-GB" dirty="0">
                <a:latin typeface="Agency FB" panose="020B0503020202020204" pitchFamily="34" charset="0"/>
              </a:rPr>
              <a:t>DATA COMPRESSION</a:t>
            </a:r>
          </a:p>
        </p:txBody>
      </p:sp>
      <p:sp>
        <p:nvSpPr>
          <p:cNvPr id="3" name="Subtitle 2"/>
          <p:cNvSpPr>
            <a:spLocks noGrp="1"/>
          </p:cNvSpPr>
          <p:nvPr>
            <p:ph type="subTitle" idx="1"/>
          </p:nvPr>
        </p:nvSpPr>
        <p:spPr>
          <a:xfrm>
            <a:off x="7350034" y="-458753"/>
            <a:ext cx="4781972" cy="1655762"/>
          </a:xfrm>
        </p:spPr>
        <p:txBody>
          <a:bodyPr/>
          <a:lstStyle/>
          <a:p>
            <a:pPr algn="r"/>
            <a:r>
              <a:rPr lang="en-GB" dirty="0"/>
              <a:t>Digital Technology | AS1 |Mr Butler</a:t>
            </a:r>
          </a:p>
        </p:txBody>
      </p:sp>
    </p:spTree>
    <p:extLst>
      <p:ext uri="{BB962C8B-B14F-4D97-AF65-F5344CB8AC3E}">
        <p14:creationId xmlns:p14="http://schemas.microsoft.com/office/powerpoint/2010/main" val="188175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4C7F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28988" y="98474"/>
            <a:ext cx="7424811" cy="1325563"/>
          </a:xfrm>
        </p:spPr>
        <p:txBody>
          <a:bodyPr/>
          <a:lstStyle/>
          <a:p>
            <a:r>
              <a:rPr lang="en-GB" dirty="0"/>
              <a:t>What Is Data Compression?</a:t>
            </a:r>
          </a:p>
        </p:txBody>
      </p:sp>
      <p:sp>
        <p:nvSpPr>
          <p:cNvPr id="3" name="Content Placeholder 2"/>
          <p:cNvSpPr>
            <a:spLocks noGrp="1"/>
          </p:cNvSpPr>
          <p:nvPr>
            <p:ph idx="1"/>
          </p:nvPr>
        </p:nvSpPr>
        <p:spPr>
          <a:xfrm>
            <a:off x="3467637" y="1502762"/>
            <a:ext cx="8164588" cy="3575675"/>
          </a:xfrm>
        </p:spPr>
        <p:txBody>
          <a:bodyPr>
            <a:normAutofit lnSpcReduction="10000"/>
          </a:bodyPr>
          <a:lstStyle/>
          <a:p>
            <a:pPr algn="just"/>
            <a:r>
              <a:rPr lang="en-GB" dirty="0"/>
              <a:t>Data compression is the process </a:t>
            </a:r>
            <a:r>
              <a:rPr lang="en-GB" b="1" dirty="0"/>
              <a:t>associated with reducing the memory or storage required by large files</a:t>
            </a:r>
            <a:r>
              <a:rPr lang="en-GB" dirty="0"/>
              <a:t>. </a:t>
            </a:r>
          </a:p>
          <a:p>
            <a:pPr algn="just"/>
            <a:r>
              <a:rPr lang="en-GB" dirty="0"/>
              <a:t>This is often important when it comes to data transmission and storage on backing storage devices or transferring data from one place to another. </a:t>
            </a:r>
          </a:p>
          <a:p>
            <a:pPr algn="just"/>
            <a:r>
              <a:rPr lang="en-GB" dirty="0"/>
              <a:t>Data compression uses a series of algorithms to reduce the amount of real space taken up by data on a storage medium.</a:t>
            </a:r>
          </a:p>
        </p:txBody>
      </p:sp>
      <p:sp>
        <p:nvSpPr>
          <p:cNvPr id="4" name="Rectangle 3"/>
          <p:cNvSpPr/>
          <p:nvPr/>
        </p:nvSpPr>
        <p:spPr>
          <a:xfrm>
            <a:off x="3362177" y="5434149"/>
            <a:ext cx="8270047" cy="54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pic>
        <p:nvPicPr>
          <p:cNvPr id="2050" name="Picture 2" descr="Super Mario World, &quot;HD&quot; Mario Sprite i made : r/Mario">
            <a:extLst>
              <a:ext uri="{FF2B5EF4-FFF2-40B4-BE49-F238E27FC236}">
                <a16:creationId xmlns:a16="http://schemas.microsoft.com/office/drawing/2014/main" id="{44C36E5B-7FB1-B413-3C3F-F14509CB7D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385"/>
          <a:stretch/>
        </p:blipFill>
        <p:spPr bwMode="auto">
          <a:xfrm>
            <a:off x="368672" y="471879"/>
            <a:ext cx="3552093" cy="5715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uper Mario World, &quot;HD&quot; Mario Sprite i made : r/Mario">
            <a:extLst>
              <a:ext uri="{FF2B5EF4-FFF2-40B4-BE49-F238E27FC236}">
                <a16:creationId xmlns:a16="http://schemas.microsoft.com/office/drawing/2014/main" id="{B4468903-DB5F-5784-0760-B314F6E1AB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3385"/>
          <a:stretch/>
        </p:blipFill>
        <p:spPr bwMode="auto">
          <a:xfrm>
            <a:off x="171697" y="433099"/>
            <a:ext cx="3552092" cy="571500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oup 56">
            <a:extLst>
              <a:ext uri="{FF2B5EF4-FFF2-40B4-BE49-F238E27FC236}">
                <a16:creationId xmlns:a16="http://schemas.microsoft.com/office/drawing/2014/main" id="{FB855197-08CD-5487-2565-BEAB8EB5B75A}"/>
              </a:ext>
            </a:extLst>
          </p:cNvPr>
          <p:cNvGrpSpPr/>
          <p:nvPr/>
        </p:nvGrpSpPr>
        <p:grpSpPr>
          <a:xfrm>
            <a:off x="-24623" y="6021569"/>
            <a:ext cx="13805168" cy="879973"/>
            <a:chOff x="-24623" y="6021569"/>
            <a:chExt cx="13805168" cy="879973"/>
          </a:xfrm>
        </p:grpSpPr>
        <p:grpSp>
          <p:nvGrpSpPr>
            <p:cNvPr id="25" name="Group 24">
              <a:extLst>
                <a:ext uri="{FF2B5EF4-FFF2-40B4-BE49-F238E27FC236}">
                  <a16:creationId xmlns:a16="http://schemas.microsoft.com/office/drawing/2014/main" id="{641EC42C-687C-B0F3-4D46-42734D2A4CD7}"/>
                </a:ext>
              </a:extLst>
            </p:cNvPr>
            <p:cNvGrpSpPr/>
            <p:nvPr/>
          </p:nvGrpSpPr>
          <p:grpSpPr>
            <a:xfrm>
              <a:off x="-24623" y="6021569"/>
              <a:ext cx="6902584" cy="870969"/>
              <a:chOff x="-24623" y="6007055"/>
              <a:chExt cx="6902584" cy="870969"/>
            </a:xfrm>
          </p:grpSpPr>
          <p:grpSp>
            <p:nvGrpSpPr>
              <p:cNvPr id="17" name="Group 16">
                <a:extLst>
                  <a:ext uri="{FF2B5EF4-FFF2-40B4-BE49-F238E27FC236}">
                    <a16:creationId xmlns:a16="http://schemas.microsoft.com/office/drawing/2014/main" id="{48ACDDD9-326F-ECA4-4D5B-4B41C81CCCA5}"/>
                  </a:ext>
                </a:extLst>
              </p:cNvPr>
              <p:cNvGrpSpPr/>
              <p:nvPr/>
            </p:nvGrpSpPr>
            <p:grpSpPr>
              <a:xfrm>
                <a:off x="-24623" y="6007055"/>
                <a:ext cx="3451292" cy="865459"/>
                <a:chOff x="-24623" y="6007055"/>
                <a:chExt cx="3451292" cy="865459"/>
              </a:xfrm>
            </p:grpSpPr>
            <p:grpSp>
              <p:nvGrpSpPr>
                <p:cNvPr id="13" name="Group 12">
                  <a:extLst>
                    <a:ext uri="{FF2B5EF4-FFF2-40B4-BE49-F238E27FC236}">
                      <a16:creationId xmlns:a16="http://schemas.microsoft.com/office/drawing/2014/main" id="{A61BDC2C-0608-4336-2A6E-4ED3A672F803}"/>
                    </a:ext>
                  </a:extLst>
                </p:cNvPr>
                <p:cNvGrpSpPr/>
                <p:nvPr/>
              </p:nvGrpSpPr>
              <p:grpSpPr>
                <a:xfrm>
                  <a:off x="-24623" y="6007055"/>
                  <a:ext cx="1725646" cy="865459"/>
                  <a:chOff x="-24623" y="6007055"/>
                  <a:chExt cx="1725646" cy="865459"/>
                </a:xfrm>
              </p:grpSpPr>
              <p:pic>
                <p:nvPicPr>
                  <p:cNvPr id="6" name="Picture 4" descr="Mario Bros Floor">
                    <a:extLst>
                      <a:ext uri="{FF2B5EF4-FFF2-40B4-BE49-F238E27FC236}">
                        <a16:creationId xmlns:a16="http://schemas.microsoft.com/office/drawing/2014/main" id="{E11AA138-2823-6BFB-B3B6-52324C9E6D7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07055"/>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Mario Bros Floor">
                    <a:extLst>
                      <a:ext uri="{FF2B5EF4-FFF2-40B4-BE49-F238E27FC236}">
                        <a16:creationId xmlns:a16="http://schemas.microsoft.com/office/drawing/2014/main" id="{A9CFE612-1484-216B-667D-55D2CE15623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07055"/>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1C456E35-E7AE-C9EA-36AD-2BF98969245D}"/>
                    </a:ext>
                  </a:extLst>
                </p:cNvPr>
                <p:cNvGrpSpPr/>
                <p:nvPr/>
              </p:nvGrpSpPr>
              <p:grpSpPr>
                <a:xfrm>
                  <a:off x="1701023" y="6007055"/>
                  <a:ext cx="1725646" cy="865459"/>
                  <a:chOff x="-24623" y="6007055"/>
                  <a:chExt cx="1725646" cy="865459"/>
                </a:xfrm>
              </p:grpSpPr>
              <p:pic>
                <p:nvPicPr>
                  <p:cNvPr id="15" name="Picture 4" descr="Mario Bros Floor">
                    <a:extLst>
                      <a:ext uri="{FF2B5EF4-FFF2-40B4-BE49-F238E27FC236}">
                        <a16:creationId xmlns:a16="http://schemas.microsoft.com/office/drawing/2014/main" id="{9B6E673D-1FBE-DF8E-4FC8-04BA34699B0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07055"/>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Mario Bros Floor">
                    <a:extLst>
                      <a:ext uri="{FF2B5EF4-FFF2-40B4-BE49-F238E27FC236}">
                        <a16:creationId xmlns:a16="http://schemas.microsoft.com/office/drawing/2014/main" id="{6B230B0B-CFE0-A563-6C2A-92F0BD52973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07055"/>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8" name="Group 17">
                <a:extLst>
                  <a:ext uri="{FF2B5EF4-FFF2-40B4-BE49-F238E27FC236}">
                    <a16:creationId xmlns:a16="http://schemas.microsoft.com/office/drawing/2014/main" id="{6318A957-9DBD-C6C7-AAE8-D144324C5C3A}"/>
                  </a:ext>
                </a:extLst>
              </p:cNvPr>
              <p:cNvGrpSpPr/>
              <p:nvPr/>
            </p:nvGrpSpPr>
            <p:grpSpPr>
              <a:xfrm>
                <a:off x="3426669" y="6012565"/>
                <a:ext cx="3451292" cy="865459"/>
                <a:chOff x="-24623" y="6021569"/>
                <a:chExt cx="3451292" cy="865459"/>
              </a:xfrm>
            </p:grpSpPr>
            <p:grpSp>
              <p:nvGrpSpPr>
                <p:cNvPr id="19" name="Group 18">
                  <a:extLst>
                    <a:ext uri="{FF2B5EF4-FFF2-40B4-BE49-F238E27FC236}">
                      <a16:creationId xmlns:a16="http://schemas.microsoft.com/office/drawing/2014/main" id="{583EB07E-CD2C-11AA-BDBE-D86B22F6C715}"/>
                    </a:ext>
                  </a:extLst>
                </p:cNvPr>
                <p:cNvGrpSpPr/>
                <p:nvPr/>
              </p:nvGrpSpPr>
              <p:grpSpPr>
                <a:xfrm>
                  <a:off x="-24623" y="6021569"/>
                  <a:ext cx="1725646" cy="865459"/>
                  <a:chOff x="-24623" y="6021569"/>
                  <a:chExt cx="1725646" cy="865459"/>
                </a:xfrm>
              </p:grpSpPr>
              <p:pic>
                <p:nvPicPr>
                  <p:cNvPr id="23" name="Picture 4" descr="Mario Bros Floor">
                    <a:extLst>
                      <a:ext uri="{FF2B5EF4-FFF2-40B4-BE49-F238E27FC236}">
                        <a16:creationId xmlns:a16="http://schemas.microsoft.com/office/drawing/2014/main" id="{031216B2-06A9-6B56-9035-C08B4A0BDB1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21569"/>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Mario Bros Floor">
                    <a:extLst>
                      <a:ext uri="{FF2B5EF4-FFF2-40B4-BE49-F238E27FC236}">
                        <a16:creationId xmlns:a16="http://schemas.microsoft.com/office/drawing/2014/main" id="{4C4CB7E6-2F6A-6014-1B2F-58B8B6DEF9D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21569"/>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139B0583-94A1-12DD-046E-6FDAC86C8E48}"/>
                    </a:ext>
                  </a:extLst>
                </p:cNvPr>
                <p:cNvGrpSpPr/>
                <p:nvPr/>
              </p:nvGrpSpPr>
              <p:grpSpPr>
                <a:xfrm>
                  <a:off x="1701023" y="6021569"/>
                  <a:ext cx="1725646" cy="865459"/>
                  <a:chOff x="-24623" y="6021569"/>
                  <a:chExt cx="1725646" cy="865459"/>
                </a:xfrm>
              </p:grpSpPr>
              <p:pic>
                <p:nvPicPr>
                  <p:cNvPr id="21" name="Picture 4" descr="Mario Bros Floor">
                    <a:extLst>
                      <a:ext uri="{FF2B5EF4-FFF2-40B4-BE49-F238E27FC236}">
                        <a16:creationId xmlns:a16="http://schemas.microsoft.com/office/drawing/2014/main" id="{48582CF8-888C-F270-7297-2A5BB4EB696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21569"/>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Mario Bros Floor">
                    <a:extLst>
                      <a:ext uri="{FF2B5EF4-FFF2-40B4-BE49-F238E27FC236}">
                        <a16:creationId xmlns:a16="http://schemas.microsoft.com/office/drawing/2014/main" id="{C7E81429-E99C-2AA7-989C-5F823AC0BB4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21569"/>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42" name="Group 41">
              <a:extLst>
                <a:ext uri="{FF2B5EF4-FFF2-40B4-BE49-F238E27FC236}">
                  <a16:creationId xmlns:a16="http://schemas.microsoft.com/office/drawing/2014/main" id="{88E58A93-AE73-714E-3283-23CEDCE20C60}"/>
                </a:ext>
              </a:extLst>
            </p:cNvPr>
            <p:cNvGrpSpPr/>
            <p:nvPr/>
          </p:nvGrpSpPr>
          <p:grpSpPr>
            <a:xfrm>
              <a:off x="6877961" y="6030573"/>
              <a:ext cx="6902584" cy="870969"/>
              <a:chOff x="-24623" y="6007055"/>
              <a:chExt cx="6902584" cy="870969"/>
            </a:xfrm>
          </p:grpSpPr>
          <p:grpSp>
            <p:nvGrpSpPr>
              <p:cNvPr id="43" name="Group 42">
                <a:extLst>
                  <a:ext uri="{FF2B5EF4-FFF2-40B4-BE49-F238E27FC236}">
                    <a16:creationId xmlns:a16="http://schemas.microsoft.com/office/drawing/2014/main" id="{A63890EA-6B8B-BC56-FD70-21C4C4770A44}"/>
                  </a:ext>
                </a:extLst>
              </p:cNvPr>
              <p:cNvGrpSpPr/>
              <p:nvPr/>
            </p:nvGrpSpPr>
            <p:grpSpPr>
              <a:xfrm>
                <a:off x="-24623" y="6007055"/>
                <a:ext cx="3451292" cy="865459"/>
                <a:chOff x="-24623" y="6007055"/>
                <a:chExt cx="3451292" cy="865459"/>
              </a:xfrm>
            </p:grpSpPr>
            <p:grpSp>
              <p:nvGrpSpPr>
                <p:cNvPr id="51" name="Group 50">
                  <a:extLst>
                    <a:ext uri="{FF2B5EF4-FFF2-40B4-BE49-F238E27FC236}">
                      <a16:creationId xmlns:a16="http://schemas.microsoft.com/office/drawing/2014/main" id="{B3A2CA9B-08F3-B539-CED9-B7CB7EE48FFD}"/>
                    </a:ext>
                  </a:extLst>
                </p:cNvPr>
                <p:cNvGrpSpPr/>
                <p:nvPr/>
              </p:nvGrpSpPr>
              <p:grpSpPr>
                <a:xfrm>
                  <a:off x="-24623" y="6007055"/>
                  <a:ext cx="1725646" cy="865459"/>
                  <a:chOff x="-24623" y="6007055"/>
                  <a:chExt cx="1725646" cy="865459"/>
                </a:xfrm>
              </p:grpSpPr>
              <p:pic>
                <p:nvPicPr>
                  <p:cNvPr id="55" name="Picture 4" descr="Mario Bros Floor">
                    <a:extLst>
                      <a:ext uri="{FF2B5EF4-FFF2-40B4-BE49-F238E27FC236}">
                        <a16:creationId xmlns:a16="http://schemas.microsoft.com/office/drawing/2014/main" id="{ABB2EDB9-FDB7-C91A-55FE-6CB5CF2F64E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07055"/>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descr="Mario Bros Floor">
                    <a:extLst>
                      <a:ext uri="{FF2B5EF4-FFF2-40B4-BE49-F238E27FC236}">
                        <a16:creationId xmlns:a16="http://schemas.microsoft.com/office/drawing/2014/main" id="{757AA2B9-10B1-E405-8596-1217F0D1F4B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07055"/>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Group 51">
                  <a:extLst>
                    <a:ext uri="{FF2B5EF4-FFF2-40B4-BE49-F238E27FC236}">
                      <a16:creationId xmlns:a16="http://schemas.microsoft.com/office/drawing/2014/main" id="{778D57A1-0A2E-64D9-E5F0-C3AE09D21834}"/>
                    </a:ext>
                  </a:extLst>
                </p:cNvPr>
                <p:cNvGrpSpPr/>
                <p:nvPr/>
              </p:nvGrpSpPr>
              <p:grpSpPr>
                <a:xfrm>
                  <a:off x="1701023" y="6007055"/>
                  <a:ext cx="1725646" cy="865459"/>
                  <a:chOff x="-24623" y="6007055"/>
                  <a:chExt cx="1725646" cy="865459"/>
                </a:xfrm>
              </p:grpSpPr>
              <p:pic>
                <p:nvPicPr>
                  <p:cNvPr id="53" name="Picture 4" descr="Mario Bros Floor">
                    <a:extLst>
                      <a:ext uri="{FF2B5EF4-FFF2-40B4-BE49-F238E27FC236}">
                        <a16:creationId xmlns:a16="http://schemas.microsoft.com/office/drawing/2014/main" id="{59289364-1674-B98D-CD86-2AB76AB594C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07055"/>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Mario Bros Floor">
                    <a:extLst>
                      <a:ext uri="{FF2B5EF4-FFF2-40B4-BE49-F238E27FC236}">
                        <a16:creationId xmlns:a16="http://schemas.microsoft.com/office/drawing/2014/main" id="{926D05F5-6D27-89AE-F432-61F03D66E0E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07055"/>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44" name="Group 43">
                <a:extLst>
                  <a:ext uri="{FF2B5EF4-FFF2-40B4-BE49-F238E27FC236}">
                    <a16:creationId xmlns:a16="http://schemas.microsoft.com/office/drawing/2014/main" id="{F7235F40-F3D9-C65E-C9AF-E9A3FAC4F23B}"/>
                  </a:ext>
                </a:extLst>
              </p:cNvPr>
              <p:cNvGrpSpPr/>
              <p:nvPr/>
            </p:nvGrpSpPr>
            <p:grpSpPr>
              <a:xfrm>
                <a:off x="3426669" y="6012565"/>
                <a:ext cx="3451292" cy="865459"/>
                <a:chOff x="-24623" y="6021569"/>
                <a:chExt cx="3451292" cy="865459"/>
              </a:xfrm>
            </p:grpSpPr>
            <p:grpSp>
              <p:nvGrpSpPr>
                <p:cNvPr id="45" name="Group 44">
                  <a:extLst>
                    <a:ext uri="{FF2B5EF4-FFF2-40B4-BE49-F238E27FC236}">
                      <a16:creationId xmlns:a16="http://schemas.microsoft.com/office/drawing/2014/main" id="{C2621388-5CC1-6CB0-18C4-505382F4AAF2}"/>
                    </a:ext>
                  </a:extLst>
                </p:cNvPr>
                <p:cNvGrpSpPr/>
                <p:nvPr/>
              </p:nvGrpSpPr>
              <p:grpSpPr>
                <a:xfrm>
                  <a:off x="-24623" y="6021569"/>
                  <a:ext cx="1725646" cy="865459"/>
                  <a:chOff x="-24623" y="6021569"/>
                  <a:chExt cx="1725646" cy="865459"/>
                </a:xfrm>
              </p:grpSpPr>
              <p:pic>
                <p:nvPicPr>
                  <p:cNvPr id="49" name="Picture 4" descr="Mario Bros Floor">
                    <a:extLst>
                      <a:ext uri="{FF2B5EF4-FFF2-40B4-BE49-F238E27FC236}">
                        <a16:creationId xmlns:a16="http://schemas.microsoft.com/office/drawing/2014/main" id="{D1852AB3-A9EA-0770-D1F8-798A9E8E4F5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21569"/>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Mario Bros Floor">
                    <a:extLst>
                      <a:ext uri="{FF2B5EF4-FFF2-40B4-BE49-F238E27FC236}">
                        <a16:creationId xmlns:a16="http://schemas.microsoft.com/office/drawing/2014/main" id="{69736D62-53F0-7E0A-465A-8054DBD5438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21569"/>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6" name="Group 45">
                  <a:extLst>
                    <a:ext uri="{FF2B5EF4-FFF2-40B4-BE49-F238E27FC236}">
                      <a16:creationId xmlns:a16="http://schemas.microsoft.com/office/drawing/2014/main" id="{BF8C65EF-7EBF-5A69-0FFC-72FED2485BC7}"/>
                    </a:ext>
                  </a:extLst>
                </p:cNvPr>
                <p:cNvGrpSpPr/>
                <p:nvPr/>
              </p:nvGrpSpPr>
              <p:grpSpPr>
                <a:xfrm>
                  <a:off x="1701023" y="6021569"/>
                  <a:ext cx="1725646" cy="865459"/>
                  <a:chOff x="-24623" y="6021569"/>
                  <a:chExt cx="1725646" cy="865459"/>
                </a:xfrm>
              </p:grpSpPr>
              <p:pic>
                <p:nvPicPr>
                  <p:cNvPr id="47" name="Picture 4" descr="Mario Bros Floor">
                    <a:extLst>
                      <a:ext uri="{FF2B5EF4-FFF2-40B4-BE49-F238E27FC236}">
                        <a16:creationId xmlns:a16="http://schemas.microsoft.com/office/drawing/2014/main" id="{ECC3C520-7016-DBDF-B9E5-C0EECE3CE66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24623" y="6021569"/>
                    <a:ext cx="8628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descr="Mario Bros Floor">
                    <a:extLst>
                      <a:ext uri="{FF2B5EF4-FFF2-40B4-BE49-F238E27FC236}">
                        <a16:creationId xmlns:a16="http://schemas.microsoft.com/office/drawing/2014/main" id="{07629277-B20B-628F-CFAE-435DA436A83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52"/>
                  <a:stretch/>
                </p:blipFill>
                <p:spPr bwMode="auto">
                  <a:xfrm>
                    <a:off x="838200" y="6021569"/>
                    <a:ext cx="862823" cy="865459"/>
                  </a:xfrm>
                  <a:prstGeom prst="rect">
                    <a:avLst/>
                  </a:prstGeom>
                  <a:noFill/>
                  <a:extLst>
                    <a:ext uri="{909E8E84-426E-40DD-AFC4-6F175D3DCCD1}">
                      <a14:hiddenFill xmlns:a14="http://schemas.microsoft.com/office/drawing/2010/main">
                        <a:solidFill>
                          <a:srgbClr val="FFFFFF"/>
                        </a:solidFill>
                      </a14:hiddenFill>
                    </a:ext>
                  </a:extLst>
                </p:spPr>
              </p:pic>
            </p:grpSp>
          </p:grpSp>
        </p:grpSp>
      </p:grpSp>
      <p:grpSp>
        <p:nvGrpSpPr>
          <p:cNvPr id="2073" name="Group 2072">
            <a:extLst>
              <a:ext uri="{FF2B5EF4-FFF2-40B4-BE49-F238E27FC236}">
                <a16:creationId xmlns:a16="http://schemas.microsoft.com/office/drawing/2014/main" id="{93FCAEB3-CF44-341F-4EE8-756E35031A80}"/>
              </a:ext>
            </a:extLst>
          </p:cNvPr>
          <p:cNvGrpSpPr/>
          <p:nvPr/>
        </p:nvGrpSpPr>
        <p:grpSpPr>
          <a:xfrm>
            <a:off x="0" y="6030573"/>
            <a:ext cx="13870658" cy="867544"/>
            <a:chOff x="0" y="5117330"/>
            <a:chExt cx="13870658" cy="867544"/>
          </a:xfrm>
        </p:grpSpPr>
        <p:grpSp>
          <p:nvGrpSpPr>
            <p:cNvPr id="2057" name="Group 2056">
              <a:extLst>
                <a:ext uri="{FF2B5EF4-FFF2-40B4-BE49-F238E27FC236}">
                  <a16:creationId xmlns:a16="http://schemas.microsoft.com/office/drawing/2014/main" id="{0BF61FB1-3CAD-06E5-B4E2-E8C315C1AB6D}"/>
                </a:ext>
              </a:extLst>
            </p:cNvPr>
            <p:cNvGrpSpPr/>
            <p:nvPr/>
          </p:nvGrpSpPr>
          <p:grpSpPr>
            <a:xfrm>
              <a:off x="0" y="5117330"/>
              <a:ext cx="6935329" cy="865459"/>
              <a:chOff x="0" y="5117330"/>
              <a:chExt cx="6935329" cy="865459"/>
            </a:xfrm>
          </p:grpSpPr>
          <p:grpSp>
            <p:nvGrpSpPr>
              <p:cNvPr id="63" name="Group 62">
                <a:extLst>
                  <a:ext uri="{FF2B5EF4-FFF2-40B4-BE49-F238E27FC236}">
                    <a16:creationId xmlns:a16="http://schemas.microsoft.com/office/drawing/2014/main" id="{95018105-A2F9-AF93-6A7B-87F9EC98143F}"/>
                  </a:ext>
                </a:extLst>
              </p:cNvPr>
              <p:cNvGrpSpPr/>
              <p:nvPr/>
            </p:nvGrpSpPr>
            <p:grpSpPr>
              <a:xfrm>
                <a:off x="0" y="5117330"/>
                <a:ext cx="3467692" cy="865459"/>
                <a:chOff x="0" y="5117330"/>
                <a:chExt cx="3467692" cy="865459"/>
              </a:xfrm>
            </p:grpSpPr>
            <p:grpSp>
              <p:nvGrpSpPr>
                <p:cNvPr id="59" name="Group 58">
                  <a:extLst>
                    <a:ext uri="{FF2B5EF4-FFF2-40B4-BE49-F238E27FC236}">
                      <a16:creationId xmlns:a16="http://schemas.microsoft.com/office/drawing/2014/main" id="{FB71410E-E816-8689-BE58-62127E87A2D7}"/>
                    </a:ext>
                  </a:extLst>
                </p:cNvPr>
                <p:cNvGrpSpPr/>
                <p:nvPr/>
              </p:nvGrpSpPr>
              <p:grpSpPr>
                <a:xfrm>
                  <a:off x="0" y="5117330"/>
                  <a:ext cx="1733846" cy="865459"/>
                  <a:chOff x="0" y="5117330"/>
                  <a:chExt cx="1733846" cy="865459"/>
                </a:xfrm>
              </p:grpSpPr>
              <p:pic>
                <p:nvPicPr>
                  <p:cNvPr id="2052" name="Picture 4" descr="Mario Bros Floor">
                    <a:extLst>
                      <a:ext uri="{FF2B5EF4-FFF2-40B4-BE49-F238E27FC236}">
                        <a16:creationId xmlns:a16="http://schemas.microsoft.com/office/drawing/2014/main" id="{7F2156A1-8A29-9983-6F81-13DBE39FCAC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 descr="Mario Bros Floor">
                    <a:extLst>
                      <a:ext uri="{FF2B5EF4-FFF2-40B4-BE49-F238E27FC236}">
                        <a16:creationId xmlns:a16="http://schemas.microsoft.com/office/drawing/2014/main" id="{555D47C5-22E5-3AD0-8470-D9C33F914F5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Group 59">
                  <a:extLst>
                    <a:ext uri="{FF2B5EF4-FFF2-40B4-BE49-F238E27FC236}">
                      <a16:creationId xmlns:a16="http://schemas.microsoft.com/office/drawing/2014/main" id="{199AC8F7-1B81-85F1-EFB7-7D99D60E5C3F}"/>
                    </a:ext>
                  </a:extLst>
                </p:cNvPr>
                <p:cNvGrpSpPr/>
                <p:nvPr/>
              </p:nvGrpSpPr>
              <p:grpSpPr>
                <a:xfrm>
                  <a:off x="1733846" y="5117330"/>
                  <a:ext cx="1733846" cy="865459"/>
                  <a:chOff x="0" y="5117330"/>
                  <a:chExt cx="1733846" cy="865459"/>
                </a:xfrm>
              </p:grpSpPr>
              <p:pic>
                <p:nvPicPr>
                  <p:cNvPr id="61" name="Picture 4" descr="Mario Bros Floor">
                    <a:extLst>
                      <a:ext uri="{FF2B5EF4-FFF2-40B4-BE49-F238E27FC236}">
                        <a16:creationId xmlns:a16="http://schemas.microsoft.com/office/drawing/2014/main" id="{1894FB4E-A7F1-56AA-011E-2DBBA486033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Mario Bros Floor">
                    <a:extLst>
                      <a:ext uri="{FF2B5EF4-FFF2-40B4-BE49-F238E27FC236}">
                        <a16:creationId xmlns:a16="http://schemas.microsoft.com/office/drawing/2014/main" id="{7ADEDCA9-8C3E-EA0D-4F3F-813511CAA72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048" name="Group 2047">
                <a:extLst>
                  <a:ext uri="{FF2B5EF4-FFF2-40B4-BE49-F238E27FC236}">
                    <a16:creationId xmlns:a16="http://schemas.microsoft.com/office/drawing/2014/main" id="{324E6313-9A46-CA11-22F0-CEC4D267AEF4}"/>
                  </a:ext>
                </a:extLst>
              </p:cNvPr>
              <p:cNvGrpSpPr/>
              <p:nvPr/>
            </p:nvGrpSpPr>
            <p:grpSpPr>
              <a:xfrm>
                <a:off x="3467637" y="5117330"/>
                <a:ext cx="3467692" cy="865459"/>
                <a:chOff x="0" y="5117330"/>
                <a:chExt cx="3467692" cy="865459"/>
              </a:xfrm>
            </p:grpSpPr>
            <p:grpSp>
              <p:nvGrpSpPr>
                <p:cNvPr id="2049" name="Group 2048">
                  <a:extLst>
                    <a:ext uri="{FF2B5EF4-FFF2-40B4-BE49-F238E27FC236}">
                      <a16:creationId xmlns:a16="http://schemas.microsoft.com/office/drawing/2014/main" id="{5667A642-7035-C952-80DB-4DFDBE3C547E}"/>
                    </a:ext>
                  </a:extLst>
                </p:cNvPr>
                <p:cNvGrpSpPr/>
                <p:nvPr/>
              </p:nvGrpSpPr>
              <p:grpSpPr>
                <a:xfrm>
                  <a:off x="0" y="5117330"/>
                  <a:ext cx="1733846" cy="865459"/>
                  <a:chOff x="0" y="5117330"/>
                  <a:chExt cx="1733846" cy="865459"/>
                </a:xfrm>
              </p:grpSpPr>
              <p:pic>
                <p:nvPicPr>
                  <p:cNvPr id="2055" name="Picture 4" descr="Mario Bros Floor">
                    <a:extLst>
                      <a:ext uri="{FF2B5EF4-FFF2-40B4-BE49-F238E27FC236}">
                        <a16:creationId xmlns:a16="http://schemas.microsoft.com/office/drawing/2014/main" id="{708597B9-CDB8-BC2F-AA8B-62EBD6DB84B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4" descr="Mario Bros Floor">
                    <a:extLst>
                      <a:ext uri="{FF2B5EF4-FFF2-40B4-BE49-F238E27FC236}">
                        <a16:creationId xmlns:a16="http://schemas.microsoft.com/office/drawing/2014/main" id="{F4E9A8D5-EFFE-5F2A-4D1D-195D2D71869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51" name="Group 2050">
                  <a:extLst>
                    <a:ext uri="{FF2B5EF4-FFF2-40B4-BE49-F238E27FC236}">
                      <a16:creationId xmlns:a16="http://schemas.microsoft.com/office/drawing/2014/main" id="{59576667-C02F-D985-8E48-AEA5DA7228E0}"/>
                    </a:ext>
                  </a:extLst>
                </p:cNvPr>
                <p:cNvGrpSpPr/>
                <p:nvPr/>
              </p:nvGrpSpPr>
              <p:grpSpPr>
                <a:xfrm>
                  <a:off x="1733846" y="5117330"/>
                  <a:ext cx="1733846" cy="865459"/>
                  <a:chOff x="0" y="5117330"/>
                  <a:chExt cx="1733846" cy="865459"/>
                </a:xfrm>
              </p:grpSpPr>
              <p:pic>
                <p:nvPicPr>
                  <p:cNvPr id="2053" name="Picture 4" descr="Mario Bros Floor">
                    <a:extLst>
                      <a:ext uri="{FF2B5EF4-FFF2-40B4-BE49-F238E27FC236}">
                        <a16:creationId xmlns:a16="http://schemas.microsoft.com/office/drawing/2014/main" id="{EFB9F260-C382-3E4F-6C7A-B96D59F284E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4" descr="Mario Bros Floor">
                    <a:extLst>
                      <a:ext uri="{FF2B5EF4-FFF2-40B4-BE49-F238E27FC236}">
                        <a16:creationId xmlns:a16="http://schemas.microsoft.com/office/drawing/2014/main" id="{2039151F-A9F0-329D-3EF1-C71234997B9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2058" name="Group 2057">
              <a:extLst>
                <a:ext uri="{FF2B5EF4-FFF2-40B4-BE49-F238E27FC236}">
                  <a16:creationId xmlns:a16="http://schemas.microsoft.com/office/drawing/2014/main" id="{2033FE3A-6CB8-FF4E-868B-98E902FD027F}"/>
                </a:ext>
              </a:extLst>
            </p:cNvPr>
            <p:cNvGrpSpPr/>
            <p:nvPr/>
          </p:nvGrpSpPr>
          <p:grpSpPr>
            <a:xfrm>
              <a:off x="6935329" y="5119415"/>
              <a:ext cx="6935329" cy="865459"/>
              <a:chOff x="0" y="5117330"/>
              <a:chExt cx="6935329" cy="865459"/>
            </a:xfrm>
          </p:grpSpPr>
          <p:grpSp>
            <p:nvGrpSpPr>
              <p:cNvPr id="2059" name="Group 2058">
                <a:extLst>
                  <a:ext uri="{FF2B5EF4-FFF2-40B4-BE49-F238E27FC236}">
                    <a16:creationId xmlns:a16="http://schemas.microsoft.com/office/drawing/2014/main" id="{D126C571-FFA1-84BD-42EC-1884B5D0784C}"/>
                  </a:ext>
                </a:extLst>
              </p:cNvPr>
              <p:cNvGrpSpPr/>
              <p:nvPr/>
            </p:nvGrpSpPr>
            <p:grpSpPr>
              <a:xfrm>
                <a:off x="0" y="5117330"/>
                <a:ext cx="3467692" cy="865459"/>
                <a:chOff x="0" y="5117330"/>
                <a:chExt cx="3467692" cy="865459"/>
              </a:xfrm>
            </p:grpSpPr>
            <p:grpSp>
              <p:nvGrpSpPr>
                <p:cNvPr id="2067" name="Group 2066">
                  <a:extLst>
                    <a:ext uri="{FF2B5EF4-FFF2-40B4-BE49-F238E27FC236}">
                      <a16:creationId xmlns:a16="http://schemas.microsoft.com/office/drawing/2014/main" id="{A7097457-42D8-2B76-2724-79F289AA4B26}"/>
                    </a:ext>
                  </a:extLst>
                </p:cNvPr>
                <p:cNvGrpSpPr/>
                <p:nvPr/>
              </p:nvGrpSpPr>
              <p:grpSpPr>
                <a:xfrm>
                  <a:off x="0" y="5117330"/>
                  <a:ext cx="1733846" cy="865459"/>
                  <a:chOff x="0" y="5117330"/>
                  <a:chExt cx="1733846" cy="865459"/>
                </a:xfrm>
              </p:grpSpPr>
              <p:pic>
                <p:nvPicPr>
                  <p:cNvPr id="2071" name="Picture 4" descr="Mario Bros Floor">
                    <a:extLst>
                      <a:ext uri="{FF2B5EF4-FFF2-40B4-BE49-F238E27FC236}">
                        <a16:creationId xmlns:a16="http://schemas.microsoft.com/office/drawing/2014/main" id="{4E1A4864-1F6B-0C94-F149-8BFB5DFFEC3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4" descr="Mario Bros Floor">
                    <a:extLst>
                      <a:ext uri="{FF2B5EF4-FFF2-40B4-BE49-F238E27FC236}">
                        <a16:creationId xmlns:a16="http://schemas.microsoft.com/office/drawing/2014/main" id="{68E85B56-D0B5-3DAA-E12F-7EABF940917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68" name="Group 2067">
                  <a:extLst>
                    <a:ext uri="{FF2B5EF4-FFF2-40B4-BE49-F238E27FC236}">
                      <a16:creationId xmlns:a16="http://schemas.microsoft.com/office/drawing/2014/main" id="{474AF27F-E81D-E21F-EA40-136AE66D12DA}"/>
                    </a:ext>
                  </a:extLst>
                </p:cNvPr>
                <p:cNvGrpSpPr/>
                <p:nvPr/>
              </p:nvGrpSpPr>
              <p:grpSpPr>
                <a:xfrm>
                  <a:off x="1733846" y="5117330"/>
                  <a:ext cx="1733846" cy="865459"/>
                  <a:chOff x="0" y="5117330"/>
                  <a:chExt cx="1733846" cy="865459"/>
                </a:xfrm>
              </p:grpSpPr>
              <p:pic>
                <p:nvPicPr>
                  <p:cNvPr id="2069" name="Picture 4" descr="Mario Bros Floor">
                    <a:extLst>
                      <a:ext uri="{FF2B5EF4-FFF2-40B4-BE49-F238E27FC236}">
                        <a16:creationId xmlns:a16="http://schemas.microsoft.com/office/drawing/2014/main" id="{C3FA2D54-28F8-E7B5-24D7-F3217C549F6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4" descr="Mario Bros Floor">
                    <a:extLst>
                      <a:ext uri="{FF2B5EF4-FFF2-40B4-BE49-F238E27FC236}">
                        <a16:creationId xmlns:a16="http://schemas.microsoft.com/office/drawing/2014/main" id="{0B5EFCD9-09AD-09D2-D92C-6C9BE5D2448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060" name="Group 2059">
                <a:extLst>
                  <a:ext uri="{FF2B5EF4-FFF2-40B4-BE49-F238E27FC236}">
                    <a16:creationId xmlns:a16="http://schemas.microsoft.com/office/drawing/2014/main" id="{699E4C61-CE7B-A548-7762-F2A4A7BC3D81}"/>
                  </a:ext>
                </a:extLst>
              </p:cNvPr>
              <p:cNvGrpSpPr/>
              <p:nvPr/>
            </p:nvGrpSpPr>
            <p:grpSpPr>
              <a:xfrm>
                <a:off x="3467637" y="5117330"/>
                <a:ext cx="3467692" cy="865459"/>
                <a:chOff x="0" y="5117330"/>
                <a:chExt cx="3467692" cy="865459"/>
              </a:xfrm>
            </p:grpSpPr>
            <p:grpSp>
              <p:nvGrpSpPr>
                <p:cNvPr id="2061" name="Group 2060">
                  <a:extLst>
                    <a:ext uri="{FF2B5EF4-FFF2-40B4-BE49-F238E27FC236}">
                      <a16:creationId xmlns:a16="http://schemas.microsoft.com/office/drawing/2014/main" id="{2064B202-908D-31AC-97CA-1BDA265CEE4C}"/>
                    </a:ext>
                  </a:extLst>
                </p:cNvPr>
                <p:cNvGrpSpPr/>
                <p:nvPr/>
              </p:nvGrpSpPr>
              <p:grpSpPr>
                <a:xfrm>
                  <a:off x="0" y="5117330"/>
                  <a:ext cx="1733846" cy="865459"/>
                  <a:chOff x="0" y="5117330"/>
                  <a:chExt cx="1733846" cy="865459"/>
                </a:xfrm>
              </p:grpSpPr>
              <p:pic>
                <p:nvPicPr>
                  <p:cNvPr id="2065" name="Picture 4" descr="Mario Bros Floor">
                    <a:extLst>
                      <a:ext uri="{FF2B5EF4-FFF2-40B4-BE49-F238E27FC236}">
                        <a16:creationId xmlns:a16="http://schemas.microsoft.com/office/drawing/2014/main" id="{7D101319-B53D-6581-A03F-1350BBEA598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4" descr="Mario Bros Floor">
                    <a:extLst>
                      <a:ext uri="{FF2B5EF4-FFF2-40B4-BE49-F238E27FC236}">
                        <a16:creationId xmlns:a16="http://schemas.microsoft.com/office/drawing/2014/main" id="{8DFA7B96-EC09-54E2-CFBF-26764C4BDE9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62" name="Group 2061">
                  <a:extLst>
                    <a:ext uri="{FF2B5EF4-FFF2-40B4-BE49-F238E27FC236}">
                      <a16:creationId xmlns:a16="http://schemas.microsoft.com/office/drawing/2014/main" id="{5F564984-3002-C8BA-3E7E-692548F9E96A}"/>
                    </a:ext>
                  </a:extLst>
                </p:cNvPr>
                <p:cNvGrpSpPr/>
                <p:nvPr/>
              </p:nvGrpSpPr>
              <p:grpSpPr>
                <a:xfrm>
                  <a:off x="1733846" y="5117330"/>
                  <a:ext cx="1733846" cy="865459"/>
                  <a:chOff x="0" y="5117330"/>
                  <a:chExt cx="1733846" cy="865459"/>
                </a:xfrm>
              </p:grpSpPr>
              <p:pic>
                <p:nvPicPr>
                  <p:cNvPr id="2063" name="Picture 4" descr="Mario Bros Floor">
                    <a:extLst>
                      <a:ext uri="{FF2B5EF4-FFF2-40B4-BE49-F238E27FC236}">
                        <a16:creationId xmlns:a16="http://schemas.microsoft.com/office/drawing/2014/main" id="{477B2E9E-4414-F866-FFE0-9409ED2CD77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0" y="5117330"/>
                    <a:ext cx="866923" cy="865459"/>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4" descr="Mario Bros Floor">
                    <a:extLst>
                      <a:ext uri="{FF2B5EF4-FFF2-40B4-BE49-F238E27FC236}">
                        <a16:creationId xmlns:a16="http://schemas.microsoft.com/office/drawing/2014/main" id="{71028DCD-DFE5-FA96-2E2C-3346644EEFE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915"/>
                  <a:stretch/>
                </p:blipFill>
                <p:spPr bwMode="auto">
                  <a:xfrm>
                    <a:off x="866923" y="5117330"/>
                    <a:ext cx="866923" cy="865459"/>
                  </a:xfrm>
                  <a:prstGeom prst="rect">
                    <a:avLst/>
                  </a:prstGeom>
                  <a:noFill/>
                  <a:extLst>
                    <a:ext uri="{909E8E84-426E-40DD-AFC4-6F175D3DCCD1}">
                      <a14:hiddenFill xmlns:a14="http://schemas.microsoft.com/office/drawing/2010/main">
                        <a:solidFill>
                          <a:srgbClr val="FFFFFF"/>
                        </a:solidFill>
                      </a14:hiddenFill>
                    </a:ext>
                  </a:extLst>
                </p:spPr>
              </p:pic>
            </p:grpSp>
          </p:grpSp>
        </p:grpSp>
      </p:grpSp>
    </p:spTree>
    <p:extLst>
      <p:ext uri="{BB962C8B-B14F-4D97-AF65-F5344CB8AC3E}">
        <p14:creationId xmlns:p14="http://schemas.microsoft.com/office/powerpoint/2010/main" val="346878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mph" presetSubtype="0" fill="hold" grpId="0" nodeType="clickEffect">
                                  <p:stCondLst>
                                    <p:cond delay="0"/>
                                  </p:stCondLst>
                                  <p:childTnLst>
                                    <p:animScale>
                                      <p:cBhvr>
                                        <p:cTn id="17" dur="2000" fill="hold"/>
                                        <p:tgtEl>
                                          <p:spTgt spid="4"/>
                                        </p:tgtEl>
                                      </p:cBhvr>
                                      <p:by x="25000" y="100000"/>
                                    </p:animScale>
                                  </p:childTnLst>
                                </p:cTn>
                              </p:par>
                              <p:par>
                                <p:cTn id="18" presetID="10" presetClass="exit" presetSubtype="0" fill="hold" nodeType="withEffect">
                                  <p:stCondLst>
                                    <p:cond delay="0"/>
                                  </p:stCondLst>
                                  <p:childTnLst>
                                    <p:animEffect transition="out" filter="fade">
                                      <p:cBhvr>
                                        <p:cTn id="19" dur="2000"/>
                                        <p:tgtEl>
                                          <p:spTgt spid="5"/>
                                        </p:tgtEl>
                                      </p:cBhvr>
                                    </p:animEffect>
                                    <p:set>
                                      <p:cBhvr>
                                        <p:cTn id="20" dur="1" fill="hold">
                                          <p:stCondLst>
                                            <p:cond delay="1999"/>
                                          </p:stCondLst>
                                        </p:cTn>
                                        <p:tgtEl>
                                          <p:spTgt spid="5"/>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fade">
                                      <p:cBhvr>
                                        <p:cTn id="23" dur="2000"/>
                                        <p:tgtEl>
                                          <p:spTgt spid="2050"/>
                                        </p:tgtEl>
                                      </p:cBhvr>
                                    </p:animEffect>
                                  </p:childTnLst>
                                </p:cTn>
                              </p:par>
                              <p:par>
                                <p:cTn id="24" presetID="10" presetClass="exit" presetSubtype="0" fill="hold" nodeType="withEffect">
                                  <p:stCondLst>
                                    <p:cond delay="0"/>
                                  </p:stCondLst>
                                  <p:childTnLst>
                                    <p:animEffect transition="out" filter="fade">
                                      <p:cBhvr>
                                        <p:cTn id="25" dur="2000"/>
                                        <p:tgtEl>
                                          <p:spTgt spid="57"/>
                                        </p:tgtEl>
                                      </p:cBhvr>
                                    </p:animEffect>
                                    <p:set>
                                      <p:cBhvr>
                                        <p:cTn id="26" dur="1" fill="hold">
                                          <p:stCondLst>
                                            <p:cond delay="1999"/>
                                          </p:stCondLst>
                                        </p:cTn>
                                        <p:tgtEl>
                                          <p:spTgt spid="57"/>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2073"/>
                                        </p:tgtEl>
                                        <p:attrNameLst>
                                          <p:attrName>style.visibility</p:attrName>
                                        </p:attrNameLst>
                                      </p:cBhvr>
                                      <p:to>
                                        <p:strVal val="visible"/>
                                      </p:to>
                                    </p:set>
                                    <p:animEffect transition="in" filter="fade">
                                      <p:cBhvr>
                                        <p:cTn id="29" dur="2000"/>
                                        <p:tgtEl>
                                          <p:spTgt spid="2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DEEEE-1733-EBB3-0622-57576199057F}"/>
              </a:ext>
            </a:extLst>
          </p:cNvPr>
          <p:cNvSpPr>
            <a:spLocks noGrp="1"/>
          </p:cNvSpPr>
          <p:nvPr>
            <p:ph idx="1"/>
          </p:nvPr>
        </p:nvSpPr>
        <p:spPr>
          <a:xfrm>
            <a:off x="407963" y="784615"/>
            <a:ext cx="5570805" cy="4667250"/>
          </a:xfrm>
          <a:solidFill>
            <a:srgbClr val="70AD47">
              <a:alpha val="69804"/>
            </a:srgbClr>
          </a:solidFill>
          <a:ln w="76200">
            <a:solidFill>
              <a:schemeClr val="tx1"/>
            </a:solidFill>
          </a:ln>
        </p:spPr>
        <p:txBody>
          <a:bodyPr/>
          <a:lstStyle/>
          <a:p>
            <a:endParaRPr lang="en-GB" dirty="0"/>
          </a:p>
          <a:p>
            <a:endParaRPr lang="en-GB" dirty="0"/>
          </a:p>
          <a:p>
            <a:r>
              <a:rPr lang="en-GB" dirty="0"/>
              <a:t>By reducing the size of the file, the amount of storage required is reduced</a:t>
            </a:r>
          </a:p>
          <a:p>
            <a:endParaRPr lang="en-GB" dirty="0"/>
          </a:p>
          <a:p>
            <a:r>
              <a:rPr lang="en-GB" dirty="0"/>
              <a:t>As compression reduces the size of the file, transmission and download/upload times are also reduced</a:t>
            </a:r>
          </a:p>
        </p:txBody>
      </p:sp>
      <p:sp>
        <p:nvSpPr>
          <p:cNvPr id="4" name="Oval 3">
            <a:extLst>
              <a:ext uri="{FF2B5EF4-FFF2-40B4-BE49-F238E27FC236}">
                <a16:creationId xmlns:a16="http://schemas.microsoft.com/office/drawing/2014/main" id="{D9EA0420-3EDE-1382-C490-B0FB0CE1A92F}"/>
              </a:ext>
            </a:extLst>
          </p:cNvPr>
          <p:cNvSpPr/>
          <p:nvPr/>
        </p:nvSpPr>
        <p:spPr>
          <a:xfrm>
            <a:off x="2604573" y="119270"/>
            <a:ext cx="1177583" cy="1195754"/>
          </a:xfrm>
          <a:prstGeom prst="ellipse">
            <a:avLst/>
          </a:prstGeom>
          <a:solidFill>
            <a:schemeClr val="accent6"/>
          </a:solidFill>
          <a:ln w="76200">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5400" dirty="0">
                <a:solidFill>
                  <a:schemeClr val="tx1"/>
                </a:solidFill>
              </a:rPr>
              <a:t>+</a:t>
            </a:r>
            <a:endParaRPr lang="en-GB" dirty="0">
              <a:solidFill>
                <a:schemeClr val="tx1"/>
              </a:solidFill>
            </a:endParaRPr>
          </a:p>
        </p:txBody>
      </p:sp>
      <p:sp>
        <p:nvSpPr>
          <p:cNvPr id="5" name="Content Placeholder 2">
            <a:extLst>
              <a:ext uri="{FF2B5EF4-FFF2-40B4-BE49-F238E27FC236}">
                <a16:creationId xmlns:a16="http://schemas.microsoft.com/office/drawing/2014/main" id="{E31075B5-D405-C947-5EB4-98EAACE782AC}"/>
              </a:ext>
            </a:extLst>
          </p:cNvPr>
          <p:cNvSpPr txBox="1">
            <a:spLocks/>
          </p:cNvSpPr>
          <p:nvPr/>
        </p:nvSpPr>
        <p:spPr>
          <a:xfrm>
            <a:off x="6117101" y="784615"/>
            <a:ext cx="5570805" cy="4667250"/>
          </a:xfrm>
          <a:prstGeom prst="rect">
            <a:avLst/>
          </a:prstGeom>
          <a:solidFill>
            <a:srgbClr val="FF0000">
              <a:alpha val="69804"/>
            </a:srgbClr>
          </a:solidFill>
          <a:ln w="76200">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endParaRPr lang="en-GB" dirty="0"/>
          </a:p>
          <a:p>
            <a:r>
              <a:rPr lang="en-GB" dirty="0"/>
              <a:t>Some compression techniques reduce the quality of images as there may be some reduction in details</a:t>
            </a:r>
          </a:p>
          <a:p>
            <a:endParaRPr lang="en-GB" dirty="0"/>
          </a:p>
          <a:p>
            <a:r>
              <a:rPr lang="en-GB" dirty="0"/>
              <a:t>Other compression techniques require specialist software (such as </a:t>
            </a:r>
            <a:r>
              <a:rPr lang="en-GB" dirty="0" err="1"/>
              <a:t>winzip</a:t>
            </a:r>
            <a:r>
              <a:rPr lang="en-GB" dirty="0"/>
              <a:t>) to uncompress the file to view the file again.</a:t>
            </a:r>
          </a:p>
        </p:txBody>
      </p:sp>
      <p:sp>
        <p:nvSpPr>
          <p:cNvPr id="6" name="Oval 5">
            <a:extLst>
              <a:ext uri="{FF2B5EF4-FFF2-40B4-BE49-F238E27FC236}">
                <a16:creationId xmlns:a16="http://schemas.microsoft.com/office/drawing/2014/main" id="{36478397-3592-5B4B-2DC9-1EAC685D640B}"/>
              </a:ext>
            </a:extLst>
          </p:cNvPr>
          <p:cNvSpPr/>
          <p:nvPr/>
        </p:nvSpPr>
        <p:spPr>
          <a:xfrm>
            <a:off x="8313711" y="119270"/>
            <a:ext cx="1177583" cy="1195754"/>
          </a:xfrm>
          <a:prstGeom prst="ellipse">
            <a:avLst/>
          </a:prstGeom>
          <a:solidFill>
            <a:srgbClr val="FF0000"/>
          </a:solidFill>
          <a:ln w="76200">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5400" dirty="0">
                <a:solidFill>
                  <a:schemeClr val="tx1"/>
                </a:solidFill>
              </a:rPr>
              <a:t>-</a:t>
            </a:r>
            <a:endParaRPr lang="en-GB" dirty="0">
              <a:solidFill>
                <a:schemeClr val="tx1"/>
              </a:solidFill>
            </a:endParaRPr>
          </a:p>
        </p:txBody>
      </p:sp>
    </p:spTree>
    <p:extLst>
      <p:ext uri="{BB962C8B-B14F-4D97-AF65-F5344CB8AC3E}">
        <p14:creationId xmlns:p14="http://schemas.microsoft.com/office/powerpoint/2010/main" val="282720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r>
              <a:rPr lang="en-GB" dirty="0">
                <a:hlinkClick r:id="rId3"/>
              </a:rPr>
              <a:t>https://www.youtube.com/watch?v=guo8if4Yxhw&amp;feature=youtu.be&amp;list=PL1HhLdihIWo-EnZkn9v1NzaNXOMbxQEUy</a:t>
            </a:r>
            <a:r>
              <a:rPr lang="en-GB" dirty="0"/>
              <a:t> </a:t>
            </a:r>
          </a:p>
        </p:txBody>
      </p:sp>
      <p:pic>
        <p:nvPicPr>
          <p:cNvPr id="3074" name="Picture 2" descr="Whyyyyyyy? : r/LinusTechTips">
            <a:extLst>
              <a:ext uri="{FF2B5EF4-FFF2-40B4-BE49-F238E27FC236}">
                <a16:creationId xmlns:a16="http://schemas.microsoft.com/office/drawing/2014/main" id="{3128F474-2FDE-B848-8B02-A7F732ADC30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633" t="47222" r="3785"/>
          <a:stretch/>
        </p:blipFill>
        <p:spPr bwMode="auto">
          <a:xfrm>
            <a:off x="8705851" y="3867150"/>
            <a:ext cx="2228094" cy="1219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424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01500" cy="2873829"/>
          </a:xfrm>
          <a:solidFill>
            <a:srgbClr val="3EC9FF"/>
          </a:solidFill>
        </p:spPr>
        <p:txBody>
          <a:bodyPr>
            <a:normAutofit/>
          </a:bodyPr>
          <a:lstStyle/>
          <a:p>
            <a:r>
              <a:rPr lang="en-GB" dirty="0"/>
              <a:t>Compression is used to reduce file sizes and change various attributes of an image file. These attributes include:</a:t>
            </a:r>
          </a:p>
          <a:p>
            <a:pPr lvl="1"/>
            <a:r>
              <a:rPr lang="en-GB" b="1" dirty="0"/>
              <a:t>file type </a:t>
            </a:r>
            <a:r>
              <a:rPr lang="en-GB" dirty="0"/>
              <a:t>– different file formats store the data differently than one another</a:t>
            </a:r>
          </a:p>
          <a:p>
            <a:pPr lvl="1"/>
            <a:r>
              <a:rPr lang="en-GB" b="1" dirty="0"/>
              <a:t>Resolution</a:t>
            </a:r>
            <a:r>
              <a:rPr lang="en-GB" dirty="0"/>
              <a:t> – the amount of pixels </a:t>
            </a:r>
          </a:p>
          <a:p>
            <a:pPr lvl="1"/>
            <a:r>
              <a:rPr lang="en-GB" b="1" dirty="0"/>
              <a:t>Dimensions</a:t>
            </a:r>
            <a:r>
              <a:rPr lang="en-GB" dirty="0"/>
              <a:t> – the height and width of the image</a:t>
            </a:r>
          </a:p>
          <a:p>
            <a:pPr lvl="1"/>
            <a:r>
              <a:rPr lang="en-GB" b="1" dirty="0"/>
              <a:t>bit depth </a:t>
            </a:r>
            <a:r>
              <a:rPr lang="en-GB" dirty="0"/>
              <a:t>- Number of bits used in representing the smallest unit of information (such as a byte or pixel) in an audio/video or graphic data file</a:t>
            </a:r>
          </a:p>
          <a:p>
            <a:endParaRPr lang="en-GB" dirty="0"/>
          </a:p>
        </p:txBody>
      </p:sp>
    </p:spTree>
    <p:extLst>
      <p:ext uri="{BB962C8B-B14F-4D97-AF65-F5344CB8AC3E}">
        <p14:creationId xmlns:p14="http://schemas.microsoft.com/office/powerpoint/2010/main" val="984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28800" y="-244475"/>
            <a:ext cx="10515600" cy="1325563"/>
          </a:xfrm>
        </p:spPr>
        <p:txBody>
          <a:bodyPr/>
          <a:lstStyle/>
          <a:p>
            <a:r>
              <a:rPr lang="en-GB" dirty="0"/>
              <a:t>Types of Compression</a:t>
            </a:r>
          </a:p>
        </p:txBody>
      </p:sp>
      <p:sp>
        <p:nvSpPr>
          <p:cNvPr id="3" name="Content Placeholder 2"/>
          <p:cNvSpPr>
            <a:spLocks noGrp="1"/>
          </p:cNvSpPr>
          <p:nvPr>
            <p:ph idx="1"/>
          </p:nvPr>
        </p:nvSpPr>
        <p:spPr>
          <a:xfrm>
            <a:off x="0" y="1690688"/>
            <a:ext cx="12192000" cy="3739441"/>
          </a:xfrm>
          <a:solidFill>
            <a:srgbClr val="22401B">
              <a:alpha val="80000"/>
            </a:srgbClr>
          </a:solidFill>
        </p:spPr>
        <p:txBody>
          <a:bodyPr/>
          <a:lstStyle/>
          <a:p>
            <a:r>
              <a:rPr lang="en-GB" dirty="0">
                <a:solidFill>
                  <a:schemeClr val="bg1"/>
                </a:solidFill>
              </a:rPr>
              <a:t>Compression can be </a:t>
            </a:r>
            <a:r>
              <a:rPr lang="en-GB" dirty="0" err="1">
                <a:solidFill>
                  <a:schemeClr val="bg1"/>
                </a:solidFill>
              </a:rPr>
              <a:t>lossy</a:t>
            </a:r>
            <a:r>
              <a:rPr lang="en-GB" dirty="0">
                <a:solidFill>
                  <a:schemeClr val="bg1"/>
                </a:solidFill>
              </a:rPr>
              <a:t> or lossless. Lossless compression means that as the file size is compressed, the picture quality remains the same - it does not get worse. </a:t>
            </a:r>
          </a:p>
          <a:p>
            <a:r>
              <a:rPr lang="en-GB" dirty="0">
                <a:solidFill>
                  <a:schemeClr val="bg1"/>
                </a:solidFill>
              </a:rPr>
              <a:t>Also, the file can be decompressed to its original quality. </a:t>
            </a:r>
          </a:p>
          <a:p>
            <a:r>
              <a:rPr lang="en-GB" dirty="0" err="1">
                <a:solidFill>
                  <a:schemeClr val="bg1"/>
                </a:solidFill>
              </a:rPr>
              <a:t>Lossy</a:t>
            </a:r>
            <a:r>
              <a:rPr lang="en-GB" dirty="0">
                <a:solidFill>
                  <a:schemeClr val="bg1"/>
                </a:solidFill>
              </a:rPr>
              <a:t> compression </a:t>
            </a:r>
            <a:r>
              <a:rPr lang="en-GB" b="1" dirty="0">
                <a:solidFill>
                  <a:schemeClr val="bg1"/>
                </a:solidFill>
              </a:rPr>
              <a:t>permanently</a:t>
            </a:r>
            <a:r>
              <a:rPr lang="en-GB" dirty="0">
                <a:solidFill>
                  <a:schemeClr val="bg1"/>
                </a:solidFill>
              </a:rPr>
              <a:t> </a:t>
            </a:r>
            <a:r>
              <a:rPr lang="en-GB" b="1" dirty="0">
                <a:solidFill>
                  <a:schemeClr val="bg1"/>
                </a:solidFill>
              </a:rPr>
              <a:t>removes</a:t>
            </a:r>
            <a:r>
              <a:rPr lang="en-GB" dirty="0">
                <a:solidFill>
                  <a:schemeClr val="bg1"/>
                </a:solidFill>
              </a:rPr>
              <a:t> data</a:t>
            </a:r>
          </a:p>
        </p:txBody>
      </p:sp>
    </p:spTree>
    <p:extLst>
      <p:ext uri="{BB962C8B-B14F-4D97-AF65-F5344CB8AC3E}">
        <p14:creationId xmlns:p14="http://schemas.microsoft.com/office/powerpoint/2010/main" val="404489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l="6936" t="34803" r="66480" b="7983"/>
          <a:stretch/>
        </p:blipFill>
        <p:spPr>
          <a:xfrm>
            <a:off x="3154503" y="895473"/>
            <a:ext cx="8621486" cy="5962527"/>
          </a:xfrm>
          <a:prstGeom prst="rect">
            <a:avLst/>
          </a:prstGeom>
        </p:spPr>
      </p:pic>
      <p:sp>
        <p:nvSpPr>
          <p:cNvPr id="2" name="Title 1"/>
          <p:cNvSpPr>
            <a:spLocks noGrp="1"/>
          </p:cNvSpPr>
          <p:nvPr>
            <p:ph type="title"/>
          </p:nvPr>
        </p:nvSpPr>
        <p:spPr>
          <a:xfrm>
            <a:off x="416011" y="-215907"/>
            <a:ext cx="10515600" cy="1325563"/>
          </a:xfrm>
        </p:spPr>
        <p:txBody>
          <a:bodyPr/>
          <a:lstStyle/>
          <a:p>
            <a:r>
              <a:rPr lang="en-GB" dirty="0" err="1"/>
              <a:t>Lossy</a:t>
            </a:r>
            <a:r>
              <a:rPr lang="en-GB" dirty="0"/>
              <a:t> Compression</a:t>
            </a:r>
          </a:p>
        </p:txBody>
      </p:sp>
      <p:pic>
        <p:nvPicPr>
          <p:cNvPr id="4098" name="Picture 2" descr="My Custom Princess Peach Sprite by dmcmusiclover on DeviantArt">
            <a:extLst>
              <a:ext uri="{FF2B5EF4-FFF2-40B4-BE49-F238E27FC236}">
                <a16:creationId xmlns:a16="http://schemas.microsoft.com/office/drawing/2014/main" id="{4CCF2465-74EE-ACA2-FA6C-C26E3B1CF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592" y="2405408"/>
            <a:ext cx="4762500" cy="47625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Unused Princess Peach running sprite : r/papermario">
            <a:extLst>
              <a:ext uri="{FF2B5EF4-FFF2-40B4-BE49-F238E27FC236}">
                <a16:creationId xmlns:a16="http://schemas.microsoft.com/office/drawing/2014/main" id="{9D167ED4-1E20-8796-92BB-874619FD92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366525" y="2515176"/>
            <a:ext cx="5719266" cy="4542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54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100"/>
                                        </p:tgtEl>
                                      </p:cBhvr>
                                    </p:animEffect>
                                    <p:set>
                                      <p:cBhvr>
                                        <p:cTn id="7" dur="1" fill="hold">
                                          <p:stCondLst>
                                            <p:cond delay="499"/>
                                          </p:stCondLst>
                                        </p:cTn>
                                        <p:tgtEl>
                                          <p:spTgt spid="4100"/>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098"/>
                                        </p:tgtEl>
                                        <p:attrNameLst>
                                          <p:attrName>style.visibility</p:attrName>
                                        </p:attrNameLst>
                                      </p:cBhvr>
                                      <p:to>
                                        <p:strVal val="visible"/>
                                      </p:to>
                                    </p:set>
                                    <p:animEffect transition="in" filter="fade">
                                      <p:cBhvr>
                                        <p:cTn id="11"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371603"/>
          </a:xfrm>
          <a:solidFill>
            <a:srgbClr val="64C7FE"/>
          </a:solidFill>
        </p:spPr>
        <p:txBody>
          <a:bodyPr/>
          <a:lstStyle/>
          <a:p>
            <a:pPr algn="ctr"/>
            <a:r>
              <a:rPr lang="en-GB" dirty="0"/>
              <a:t>Compress or Uncompressed file type?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5303548"/>
              </p:ext>
            </p:extLst>
          </p:nvPr>
        </p:nvGraphicFramePr>
        <p:xfrm>
          <a:off x="838200" y="1580607"/>
          <a:ext cx="10515600" cy="4114799"/>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638076060"/>
                    </a:ext>
                  </a:extLst>
                </a:gridCol>
                <a:gridCol w="5257800">
                  <a:extLst>
                    <a:ext uri="{9D8B030D-6E8A-4147-A177-3AD203B41FA5}">
                      <a16:colId xmlns:a16="http://schemas.microsoft.com/office/drawing/2014/main" val="2982564556"/>
                    </a:ext>
                  </a:extLst>
                </a:gridCol>
              </a:tblGrid>
              <a:tr h="729779">
                <a:tc>
                  <a:txBody>
                    <a:bodyPr/>
                    <a:lstStyle/>
                    <a:p>
                      <a:pPr algn="ctr"/>
                      <a:r>
                        <a:rPr lang="en-GB" sz="3200" dirty="0" err="1"/>
                        <a:t>Lossy</a:t>
                      </a:r>
                      <a:r>
                        <a:rPr lang="en-GB" sz="3200" dirty="0"/>
                        <a:t> Compression</a:t>
                      </a:r>
                    </a:p>
                  </a:txBody>
                  <a:tcPr/>
                </a:tc>
                <a:tc>
                  <a:txBody>
                    <a:bodyPr/>
                    <a:lstStyle/>
                    <a:p>
                      <a:pPr algn="ctr"/>
                      <a:r>
                        <a:rPr lang="en-GB" sz="3200" dirty="0"/>
                        <a:t>Lossless Compression</a:t>
                      </a:r>
                    </a:p>
                  </a:txBody>
                  <a:tcPr/>
                </a:tc>
                <a:extLst>
                  <a:ext uri="{0D108BD9-81ED-4DB2-BD59-A6C34878D82A}">
                    <a16:rowId xmlns:a16="http://schemas.microsoft.com/office/drawing/2014/main" val="2859697679"/>
                  </a:ext>
                </a:extLst>
              </a:tr>
              <a:tr h="338502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455001458"/>
                  </a:ext>
                </a:extLst>
              </a:tr>
            </a:tbl>
          </a:graphicData>
        </a:graphic>
      </p:graphicFrame>
      <p:sp>
        <p:nvSpPr>
          <p:cNvPr id="6" name="TextBox 5"/>
          <p:cNvSpPr txBox="1"/>
          <p:nvPr/>
        </p:nvSpPr>
        <p:spPr>
          <a:xfrm>
            <a:off x="1308792" y="5769765"/>
            <a:ext cx="2067951" cy="1015663"/>
          </a:xfrm>
          <a:prstGeom prst="rect">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6000" dirty="0"/>
              <a:t>JPEG</a:t>
            </a:r>
          </a:p>
        </p:txBody>
      </p:sp>
      <p:sp>
        <p:nvSpPr>
          <p:cNvPr id="7" name="TextBox 6"/>
          <p:cNvSpPr txBox="1"/>
          <p:nvPr/>
        </p:nvSpPr>
        <p:spPr>
          <a:xfrm>
            <a:off x="3840811" y="5769765"/>
            <a:ext cx="2067951" cy="1015663"/>
          </a:xfrm>
          <a:prstGeom prst="rect">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6000" dirty="0"/>
              <a:t>PNG</a:t>
            </a:r>
          </a:p>
        </p:txBody>
      </p:sp>
      <p:sp>
        <p:nvSpPr>
          <p:cNvPr id="8" name="TextBox 7"/>
          <p:cNvSpPr txBox="1"/>
          <p:nvPr/>
        </p:nvSpPr>
        <p:spPr>
          <a:xfrm>
            <a:off x="6372830" y="5769764"/>
            <a:ext cx="2067951" cy="1015663"/>
          </a:xfrm>
          <a:prstGeom prst="rect">
            <a:avLst/>
          </a:prstGeom>
          <a:solidFill>
            <a:srgbClr val="0070C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6000" dirty="0"/>
              <a:t>GIF</a:t>
            </a:r>
          </a:p>
        </p:txBody>
      </p:sp>
      <p:sp>
        <p:nvSpPr>
          <p:cNvPr id="9" name="TextBox 8"/>
          <p:cNvSpPr txBox="1"/>
          <p:nvPr/>
        </p:nvSpPr>
        <p:spPr>
          <a:xfrm>
            <a:off x="8904849" y="5795889"/>
            <a:ext cx="2067951" cy="1015663"/>
          </a:xfrm>
          <a:prstGeom prst="rect">
            <a:avLst/>
          </a:prstGeom>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6000" dirty="0"/>
              <a:t>SVG</a:t>
            </a:r>
          </a:p>
        </p:txBody>
      </p:sp>
    </p:spTree>
    <p:extLst>
      <p:ext uri="{BB962C8B-B14F-4D97-AF65-F5344CB8AC3E}">
        <p14:creationId xmlns:p14="http://schemas.microsoft.com/office/powerpoint/2010/main" val="4789903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56" presetClass="path" presetSubtype="0" accel="50000" decel="50000" fill="hold" grpId="0" nodeType="clickEffect">
                                  <p:stCondLst>
                                    <p:cond delay="0"/>
                                  </p:stCondLst>
                                  <p:childTnLst>
                                    <p:animMotion origin="layout" path="M 2.70833E-6 2.22222E-6 L 0.2125 -0.46389 " pathEditMode="relative" rAng="0" ptsTypes="AA">
                                      <p:cBhvr>
                                        <p:cTn id="6" dur="2000" fill="hold"/>
                                        <p:tgtEl>
                                          <p:spTgt spid="6"/>
                                        </p:tgtEl>
                                        <p:attrNameLst>
                                          <p:attrName>ppt_x</p:attrName>
                                          <p:attrName>ppt_y</p:attrName>
                                        </p:attrNameLst>
                                      </p:cBhvr>
                                      <p:rCtr x="10625" y="-23194"/>
                                    </p:animMotion>
                                  </p:childTnLst>
                                </p:cTn>
                              </p:par>
                            </p:childTnLst>
                          </p:cTn>
                        </p:par>
                      </p:childTnLst>
                    </p:cTn>
                  </p:par>
                </p:childTnLst>
              </p:cTn>
              <p:nextCondLst>
                <p:cond evt="onClick" delay="0">
                  <p:tgtEl>
                    <p:spTgt spid="6"/>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56" presetClass="path" presetSubtype="0" accel="50000" decel="50000" fill="hold" grpId="0" nodeType="clickEffect">
                                  <p:stCondLst>
                                    <p:cond delay="0"/>
                                  </p:stCondLst>
                                  <p:childTnLst>
                                    <p:animMotion origin="layout" path="M 4.16667E-7 2.22222E-6 L 0.45013 -0.48866 " pathEditMode="relative" rAng="0" ptsTypes="AA">
                                      <p:cBhvr>
                                        <p:cTn id="11" dur="2000" fill="hold"/>
                                        <p:tgtEl>
                                          <p:spTgt spid="7"/>
                                        </p:tgtEl>
                                        <p:attrNameLst>
                                          <p:attrName>ppt_x</p:attrName>
                                          <p:attrName>ppt_y</p:attrName>
                                        </p:attrNameLst>
                                      </p:cBhvr>
                                      <p:rCtr x="22500" y="-24444"/>
                                    </p:animMotion>
                                  </p:childTnLst>
                                </p:cTn>
                              </p:par>
                            </p:childTnLst>
                          </p:cTn>
                        </p:par>
                      </p:childTnLst>
                    </p:cTn>
                  </p:par>
                </p:childTnLst>
              </p:cTn>
              <p:nextCondLst>
                <p:cond evt="onClick" delay="0">
                  <p:tgtEl>
                    <p:spTgt spid="7"/>
                  </p:tgtEl>
                </p:cond>
              </p:nextCondLst>
            </p:seq>
            <p:seq concurrent="1" nextAc="seek">
              <p:cTn id="12" restart="whenNotActive" fill="hold" evtFilter="cancelBubble" nodeType="interactiveSeq">
                <p:stCondLst>
                  <p:cond evt="onClick" delay="0">
                    <p:tgtEl>
                      <p:spTgt spid="8"/>
                    </p:tgtEl>
                  </p:cond>
                </p:stCondLst>
                <p:endSync evt="end" delay="0">
                  <p:rtn val="all"/>
                </p:endSync>
                <p:childTnLst>
                  <p:par>
                    <p:cTn id="13" fill="hold">
                      <p:stCondLst>
                        <p:cond delay="0"/>
                      </p:stCondLst>
                      <p:childTnLst>
                        <p:par>
                          <p:cTn id="14" fill="hold">
                            <p:stCondLst>
                              <p:cond delay="0"/>
                            </p:stCondLst>
                            <p:childTnLst>
                              <p:par>
                                <p:cTn id="15" presetID="56" presetClass="path" presetSubtype="0" accel="50000" decel="50000" fill="hold" grpId="0" nodeType="clickEffect">
                                  <p:stCondLst>
                                    <p:cond delay="0"/>
                                  </p:stCondLst>
                                  <p:childTnLst>
                                    <p:animMotion origin="layout" path="M -1.875E-6 2.22222E-6 L -0.41406 -0.2794 " pathEditMode="relative" rAng="0" ptsTypes="AA">
                                      <p:cBhvr>
                                        <p:cTn id="16" dur="2000" fill="hold"/>
                                        <p:tgtEl>
                                          <p:spTgt spid="8"/>
                                        </p:tgtEl>
                                        <p:attrNameLst>
                                          <p:attrName>ppt_x</p:attrName>
                                          <p:attrName>ppt_y</p:attrName>
                                        </p:attrNameLst>
                                      </p:cBhvr>
                                      <p:rCtr x="-20703" y="-13981"/>
                                    </p:animMotion>
                                  </p:childTnLst>
                                </p:cTn>
                              </p:par>
                            </p:childTnLst>
                          </p:cTn>
                        </p:par>
                      </p:childTnLst>
                    </p:cTn>
                  </p:par>
                </p:childTnLst>
              </p:cTn>
              <p:nextCondLst>
                <p:cond evt="onClick" delay="0">
                  <p:tgtEl>
                    <p:spTgt spid="8"/>
                  </p:tgtEl>
                </p:cond>
              </p:nextCondLst>
            </p:seq>
            <p:seq concurrent="1" nextAc="seek">
              <p:cTn id="17" restart="whenNotActive" fill="hold" evtFilter="cancelBubble" nodeType="interactiveSeq">
                <p:stCondLst>
                  <p:cond evt="onClick" delay="0">
                    <p:tgtEl>
                      <p:spTgt spid="9"/>
                    </p:tgtEl>
                  </p:cond>
                </p:stCondLst>
                <p:endSync evt="end" delay="0">
                  <p:rtn val="all"/>
                </p:endSync>
                <p:childTnLst>
                  <p:par>
                    <p:cTn id="18" fill="hold">
                      <p:stCondLst>
                        <p:cond delay="0"/>
                      </p:stCondLst>
                      <p:childTnLst>
                        <p:par>
                          <p:cTn id="19" fill="hold">
                            <p:stCondLst>
                              <p:cond delay="0"/>
                            </p:stCondLst>
                            <p:childTnLst>
                              <p:par>
                                <p:cTn id="20" presetID="56" presetClass="path" presetSubtype="0" accel="50000" decel="50000" fill="hold" grpId="0" nodeType="clickEffect">
                                  <p:stCondLst>
                                    <p:cond delay="0"/>
                                  </p:stCondLst>
                                  <p:childTnLst>
                                    <p:animMotion origin="layout" path="M -4.16667E-6 -2.96296E-6 L -0.1983 -0.24004 " pathEditMode="relative" rAng="0" ptsTypes="AA">
                                      <p:cBhvr>
                                        <p:cTn id="21" dur="2000" fill="hold"/>
                                        <p:tgtEl>
                                          <p:spTgt spid="9"/>
                                        </p:tgtEl>
                                        <p:attrNameLst>
                                          <p:attrName>ppt_x</p:attrName>
                                          <p:attrName>ppt_y</p:attrName>
                                        </p:attrNameLst>
                                      </p:cBhvr>
                                      <p:rCtr x="-9922" y="-12014"/>
                                    </p:animMotion>
                                  </p:childTnLst>
                                </p:cTn>
                              </p:par>
                            </p:childTnLst>
                          </p:cTn>
                        </p:par>
                      </p:childTnLst>
                    </p:cTn>
                  </p:par>
                </p:childTnLst>
              </p:cTn>
              <p:nextCondLst>
                <p:cond evt="onClick" delay="0">
                  <p:tgtEl>
                    <p:spTgt spid="9"/>
                  </p:tgtEl>
                </p:cond>
              </p:nextCondLst>
            </p:seq>
          </p:childTnLst>
        </p:cTn>
      </p:par>
    </p:tnLst>
    <p:bldLst>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B6B3C-A407-4A44-B12D-E2527C5BDC2D}"/>
              </a:ext>
            </a:extLst>
          </p:cNvPr>
          <p:cNvSpPr>
            <a:spLocks noGrp="1"/>
          </p:cNvSpPr>
          <p:nvPr>
            <p:ph type="title"/>
          </p:nvPr>
        </p:nvSpPr>
        <p:spPr>
          <a:xfrm>
            <a:off x="68827" y="365125"/>
            <a:ext cx="12123174" cy="3371133"/>
          </a:xfrm>
        </p:spPr>
        <p:txBody>
          <a:bodyPr>
            <a:normAutofit fontScale="90000"/>
          </a:bodyPr>
          <a:lstStyle/>
          <a:p>
            <a:pPr algn="ctr"/>
            <a:r>
              <a:rPr lang="en-GB" sz="9600" dirty="0">
                <a:solidFill>
                  <a:srgbClr val="FFFF00"/>
                </a:solidFill>
              </a:rPr>
              <a:t>_____________________</a:t>
            </a:r>
            <a:r>
              <a:rPr lang="en-GB" sz="9600" u="sng" dirty="0">
                <a:solidFill>
                  <a:srgbClr val="FFFF00"/>
                </a:solidFill>
              </a:rPr>
              <a:t> AABBBBBBAAABBABABBBB	</a:t>
            </a:r>
            <a:endParaRPr lang="en-US" sz="9600" u="sng" dirty="0">
              <a:solidFill>
                <a:srgbClr val="FFFF00"/>
              </a:solidFill>
            </a:endParaRPr>
          </a:p>
        </p:txBody>
      </p:sp>
      <p:sp>
        <p:nvSpPr>
          <p:cNvPr id="3" name="Content Placeholder 2">
            <a:extLst>
              <a:ext uri="{FF2B5EF4-FFF2-40B4-BE49-F238E27FC236}">
                <a16:creationId xmlns:a16="http://schemas.microsoft.com/office/drawing/2014/main" id="{FD9F5698-FB44-479E-8631-3231AF70A809}"/>
              </a:ext>
            </a:extLst>
          </p:cNvPr>
          <p:cNvSpPr>
            <a:spLocks noGrp="1"/>
          </p:cNvSpPr>
          <p:nvPr>
            <p:ph idx="1"/>
          </p:nvPr>
        </p:nvSpPr>
        <p:spPr>
          <a:xfrm>
            <a:off x="838200" y="4198373"/>
            <a:ext cx="10515600" cy="1978589"/>
          </a:xfrm>
        </p:spPr>
        <p:txBody>
          <a:bodyPr>
            <a:normAutofit lnSpcReduction="10000"/>
          </a:bodyPr>
          <a:lstStyle/>
          <a:p>
            <a:r>
              <a:rPr lang="en-GB" dirty="0">
                <a:solidFill>
                  <a:srgbClr val="00B0F0"/>
                </a:solidFill>
              </a:rPr>
              <a:t>At present, this text is 20 characters long</a:t>
            </a:r>
          </a:p>
          <a:p>
            <a:endParaRPr lang="en-GB" dirty="0">
              <a:solidFill>
                <a:srgbClr val="00B0F0"/>
              </a:solidFill>
            </a:endParaRPr>
          </a:p>
          <a:p>
            <a:pPr marL="0" indent="0">
              <a:buNone/>
            </a:pPr>
            <a:r>
              <a:rPr lang="en-GB" u="sng" dirty="0">
                <a:solidFill>
                  <a:srgbClr val="00B0F0"/>
                </a:solidFill>
              </a:rPr>
              <a:t>CHALLENGE</a:t>
            </a:r>
          </a:p>
          <a:p>
            <a:r>
              <a:rPr lang="en-GB" dirty="0">
                <a:solidFill>
                  <a:srgbClr val="00B0F0"/>
                </a:solidFill>
              </a:rPr>
              <a:t>Can you come up with a way of shortening this piece of text?</a:t>
            </a:r>
          </a:p>
          <a:p>
            <a:endParaRPr lang="en-GB" dirty="0">
              <a:solidFill>
                <a:srgbClr val="00B0F0"/>
              </a:solidFill>
            </a:endParaRPr>
          </a:p>
          <a:p>
            <a:endParaRPr lang="en-US" dirty="0">
              <a:solidFill>
                <a:srgbClr val="00B0F0"/>
              </a:solidFill>
            </a:endParaRPr>
          </a:p>
        </p:txBody>
      </p:sp>
    </p:spTree>
    <p:extLst>
      <p:ext uri="{BB962C8B-B14F-4D97-AF65-F5344CB8AC3E}">
        <p14:creationId xmlns:p14="http://schemas.microsoft.com/office/powerpoint/2010/main" val="2738882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by="(-#ppt_w*2)" calcmode="lin" valueType="num">
                                      <p:cBhvr rctx="PPT">
                                        <p:cTn id="7" dur="375" autoRev="1" fill="hold">
                                          <p:stCondLst>
                                            <p:cond delay="0"/>
                                          </p:stCondLst>
                                        </p:cTn>
                                        <p:tgtEl>
                                          <p:spTgt spid="2"/>
                                        </p:tgtEl>
                                        <p:attrNameLst>
                                          <p:attrName>ppt_w</p:attrName>
                                        </p:attrNameLst>
                                      </p:cBhvr>
                                    </p:anim>
                                    <p:anim by="(#ppt_w*0.50)" calcmode="lin" valueType="num">
                                      <p:cBhvr>
                                        <p:cTn id="8" dur="375" decel="50000" autoRev="1" fill="hold">
                                          <p:stCondLst>
                                            <p:cond delay="0"/>
                                          </p:stCondLst>
                                        </p:cTn>
                                        <p:tgtEl>
                                          <p:spTgt spid="2"/>
                                        </p:tgtEl>
                                        <p:attrNameLst>
                                          <p:attrName>ppt_x</p:attrName>
                                        </p:attrNameLst>
                                      </p:cBhvr>
                                    </p:anim>
                                    <p:anim from="(-#ppt_h/2)" to="(#ppt_y)" calcmode="lin" valueType="num">
                                      <p:cBhvr>
                                        <p:cTn id="9" dur="750" fill="hold">
                                          <p:stCondLst>
                                            <p:cond delay="0"/>
                                          </p:stCondLst>
                                        </p:cTn>
                                        <p:tgtEl>
                                          <p:spTgt spid="2"/>
                                        </p:tgtEl>
                                        <p:attrNameLst>
                                          <p:attrName>ppt_y</p:attrName>
                                        </p:attrNameLst>
                                      </p:cBhvr>
                                    </p:anim>
                                    <p:animRot by="21600000">
                                      <p:cBhvr>
                                        <p:cTn id="10" dur="750" fill="hold">
                                          <p:stCondLst>
                                            <p:cond delay="0"/>
                                          </p:stCondLst>
                                        </p:cTn>
                                        <p:tgtEl>
                                          <p:spTgt spid="2"/>
                                        </p:tgtEl>
                                        <p:attrNameLst>
                                          <p:attrName>r</p:attrName>
                                        </p:attrNameLst>
                                      </p:cBhvr>
                                    </p:animRot>
                                  </p:childTnLst>
                                </p:cTn>
                              </p:par>
                            </p:childTnLst>
                          </p:cTn>
                        </p:par>
                        <p:par>
                          <p:cTn id="11" fill="hold">
                            <p:stCondLst>
                              <p:cond delay="3750"/>
                            </p:stCondLst>
                            <p:childTnLst>
                              <p:par>
                                <p:cTn id="12" presetID="10" presetClass="entr" presetSubtype="0" fill="hold"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par>
                          <p:cTn id="15" fill="hold">
                            <p:stCondLst>
                              <p:cond delay="4250"/>
                            </p:stCondLst>
                            <p:childTnLst>
                              <p:par>
                                <p:cTn id="16" presetID="10" presetClass="entr" presetSubtype="0" fill="hold" nodeType="after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par>
                          <p:cTn id="19" fill="hold">
                            <p:stCondLst>
                              <p:cond delay="4750"/>
                            </p:stCondLst>
                            <p:childTnLst>
                              <p:par>
                                <p:cTn id="20" presetID="10" presetClass="entr" presetSubtype="0" fill="hold"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A60B96F-50F6-478D-B500-013EE2870D84}"/>
              </a:ext>
            </a:extLst>
          </p:cNvPr>
          <p:cNvSpPr txBox="1">
            <a:spLocks/>
          </p:cNvSpPr>
          <p:nvPr/>
        </p:nvSpPr>
        <p:spPr>
          <a:xfrm>
            <a:off x="34413" y="2416277"/>
            <a:ext cx="12123174" cy="337113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9600" dirty="0">
                <a:solidFill>
                  <a:srgbClr val="FFFF00"/>
                </a:solidFill>
              </a:rPr>
              <a:t>_____________________</a:t>
            </a:r>
            <a:r>
              <a:rPr lang="en-GB" sz="9600" u="sng" dirty="0">
                <a:solidFill>
                  <a:srgbClr val="FFFF00"/>
                </a:solidFill>
              </a:rPr>
              <a:t> 2A6B3A2B1A1B1A4B		</a:t>
            </a:r>
            <a:endParaRPr lang="en-US" sz="9600" u="sng" dirty="0">
              <a:solidFill>
                <a:srgbClr val="FFFF00"/>
              </a:solidFill>
            </a:endParaRPr>
          </a:p>
        </p:txBody>
      </p:sp>
      <p:sp>
        <p:nvSpPr>
          <p:cNvPr id="7" name="Title 1">
            <a:extLst>
              <a:ext uri="{FF2B5EF4-FFF2-40B4-BE49-F238E27FC236}">
                <a16:creationId xmlns:a16="http://schemas.microsoft.com/office/drawing/2014/main" id="{DA4E056F-DD9B-45EC-B662-843B4FC80F42}"/>
              </a:ext>
            </a:extLst>
          </p:cNvPr>
          <p:cNvSpPr>
            <a:spLocks noGrp="1"/>
          </p:cNvSpPr>
          <p:nvPr>
            <p:ph type="title"/>
          </p:nvPr>
        </p:nvSpPr>
        <p:spPr>
          <a:xfrm>
            <a:off x="0" y="0"/>
            <a:ext cx="12123174" cy="3371133"/>
          </a:xfrm>
        </p:spPr>
        <p:txBody>
          <a:bodyPr>
            <a:normAutofit fontScale="90000"/>
          </a:bodyPr>
          <a:lstStyle/>
          <a:p>
            <a:pPr algn="ctr"/>
            <a:r>
              <a:rPr lang="en-GB" sz="9600" dirty="0">
                <a:solidFill>
                  <a:srgbClr val="FFFF00"/>
                </a:solidFill>
              </a:rPr>
              <a:t>_____________________</a:t>
            </a:r>
            <a:r>
              <a:rPr lang="en-GB" sz="9600" u="sng" dirty="0">
                <a:solidFill>
                  <a:srgbClr val="FFFF00"/>
                </a:solidFill>
              </a:rPr>
              <a:t> AABBBBBBAAABBABABBBB	</a:t>
            </a:r>
            <a:endParaRPr lang="en-US" sz="9600" u="sng" dirty="0">
              <a:solidFill>
                <a:srgbClr val="FFFF00"/>
              </a:solidFill>
            </a:endParaRPr>
          </a:p>
        </p:txBody>
      </p:sp>
      <p:sp>
        <p:nvSpPr>
          <p:cNvPr id="3" name="Content Placeholder 2">
            <a:extLst>
              <a:ext uri="{FF2B5EF4-FFF2-40B4-BE49-F238E27FC236}">
                <a16:creationId xmlns:a16="http://schemas.microsoft.com/office/drawing/2014/main" id="{5829ED7A-D07A-4E70-8F5B-7CAB13E72EEC}"/>
              </a:ext>
            </a:extLst>
          </p:cNvPr>
          <p:cNvSpPr>
            <a:spLocks noGrp="1"/>
          </p:cNvSpPr>
          <p:nvPr>
            <p:ph idx="1"/>
          </p:nvPr>
        </p:nvSpPr>
        <p:spPr>
          <a:xfrm>
            <a:off x="381000" y="3134032"/>
            <a:ext cx="10515600" cy="589936"/>
          </a:xfrm>
        </p:spPr>
        <p:txBody>
          <a:bodyPr/>
          <a:lstStyle/>
          <a:p>
            <a:pPr marL="0" indent="0">
              <a:buNone/>
            </a:pPr>
            <a:r>
              <a:rPr lang="en-GB" dirty="0">
                <a:solidFill>
                  <a:srgbClr val="00B0F0"/>
                </a:solidFill>
              </a:rPr>
              <a:t>How About:</a:t>
            </a:r>
            <a:endParaRPr lang="en-US" dirty="0">
              <a:solidFill>
                <a:srgbClr val="00B0F0"/>
              </a:solidFill>
            </a:endParaRPr>
          </a:p>
        </p:txBody>
      </p:sp>
      <p:sp>
        <p:nvSpPr>
          <p:cNvPr id="9" name="Content Placeholder 2">
            <a:extLst>
              <a:ext uri="{FF2B5EF4-FFF2-40B4-BE49-F238E27FC236}">
                <a16:creationId xmlns:a16="http://schemas.microsoft.com/office/drawing/2014/main" id="{C0F76E6E-377D-4AF5-A4A7-33AE8D595BED}"/>
              </a:ext>
            </a:extLst>
          </p:cNvPr>
          <p:cNvSpPr txBox="1">
            <a:spLocks/>
          </p:cNvSpPr>
          <p:nvPr/>
        </p:nvSpPr>
        <p:spPr>
          <a:xfrm>
            <a:off x="34413" y="5492441"/>
            <a:ext cx="12123174" cy="123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solidFill>
                  <a:srgbClr val="00B0F0"/>
                </a:solidFill>
              </a:rPr>
              <a:t>Now we only have 16 Characters Stored – but still have the same information.</a:t>
            </a:r>
            <a:endParaRPr lang="en-US" dirty="0">
              <a:solidFill>
                <a:srgbClr val="00B0F0"/>
              </a:solidFill>
            </a:endParaRPr>
          </a:p>
        </p:txBody>
      </p:sp>
    </p:spTree>
    <p:extLst>
      <p:ext uri="{BB962C8B-B14F-4D97-AF65-F5344CB8AC3E}">
        <p14:creationId xmlns:p14="http://schemas.microsoft.com/office/powerpoint/2010/main" val="1632377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375" autoRev="1" fill="hold">
                                          <p:stCondLst>
                                            <p:cond delay="0"/>
                                          </p:stCondLst>
                                        </p:cTn>
                                        <p:tgtEl>
                                          <p:spTgt spid="7"/>
                                        </p:tgtEl>
                                        <p:attrNameLst>
                                          <p:attrName>ppt_w</p:attrName>
                                        </p:attrNameLst>
                                      </p:cBhvr>
                                    </p:anim>
                                    <p:anim by="(#ppt_w*0.50)" calcmode="lin" valueType="num">
                                      <p:cBhvr>
                                        <p:cTn id="8" dur="375" decel="50000" autoRev="1" fill="hold">
                                          <p:stCondLst>
                                            <p:cond delay="0"/>
                                          </p:stCondLst>
                                        </p:cTn>
                                        <p:tgtEl>
                                          <p:spTgt spid="7"/>
                                        </p:tgtEl>
                                        <p:attrNameLst>
                                          <p:attrName>ppt_x</p:attrName>
                                        </p:attrNameLst>
                                      </p:cBhvr>
                                    </p:anim>
                                    <p:anim from="(-#ppt_h/2)" to="(#ppt_y)" calcmode="lin" valueType="num">
                                      <p:cBhvr>
                                        <p:cTn id="9" dur="750" fill="hold">
                                          <p:stCondLst>
                                            <p:cond delay="0"/>
                                          </p:stCondLst>
                                        </p:cTn>
                                        <p:tgtEl>
                                          <p:spTgt spid="7"/>
                                        </p:tgtEl>
                                        <p:attrNameLst>
                                          <p:attrName>ppt_y</p:attrName>
                                        </p:attrNameLst>
                                      </p:cBhvr>
                                    </p:anim>
                                    <p:animRot by="21600000">
                                      <p:cBhvr>
                                        <p:cTn id="10" dur="750" fill="hold">
                                          <p:stCondLst>
                                            <p:cond delay="0"/>
                                          </p:stCondLst>
                                        </p:cTn>
                                        <p:tgtEl>
                                          <p:spTgt spid="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par>
                          <p:cTn id="16" fill="hold">
                            <p:stCondLst>
                              <p:cond delay="500"/>
                            </p:stCondLst>
                            <p:childTnLst>
                              <p:par>
                                <p:cTn id="17" presetID="56" presetClass="entr" presetSubtype="0" fill="hold" grpId="0" nodeType="afterEffect">
                                  <p:stCondLst>
                                    <p:cond delay="0"/>
                                  </p:stCondLst>
                                  <p:iterate type="lt">
                                    <p:tmPct val="10000"/>
                                  </p:iterate>
                                  <p:childTnLst>
                                    <p:set>
                                      <p:cBhvr>
                                        <p:cTn id="18" dur="1" fill="hold">
                                          <p:stCondLst>
                                            <p:cond delay="0"/>
                                          </p:stCondLst>
                                        </p:cTn>
                                        <p:tgtEl>
                                          <p:spTgt spid="8"/>
                                        </p:tgtEl>
                                        <p:attrNameLst>
                                          <p:attrName>style.visibility</p:attrName>
                                        </p:attrNameLst>
                                      </p:cBhvr>
                                      <p:to>
                                        <p:strVal val="visible"/>
                                      </p:to>
                                    </p:set>
                                    <p:anim by="(-#ppt_w*2)" calcmode="lin" valueType="num">
                                      <p:cBhvr rctx="PPT">
                                        <p:cTn id="19" dur="375" autoRev="1" fill="hold">
                                          <p:stCondLst>
                                            <p:cond delay="0"/>
                                          </p:stCondLst>
                                        </p:cTn>
                                        <p:tgtEl>
                                          <p:spTgt spid="8"/>
                                        </p:tgtEl>
                                        <p:attrNameLst>
                                          <p:attrName>ppt_w</p:attrName>
                                        </p:attrNameLst>
                                      </p:cBhvr>
                                    </p:anim>
                                    <p:anim by="(#ppt_w*0.50)" calcmode="lin" valueType="num">
                                      <p:cBhvr>
                                        <p:cTn id="20" dur="375" decel="50000" autoRev="1" fill="hold">
                                          <p:stCondLst>
                                            <p:cond delay="0"/>
                                          </p:stCondLst>
                                        </p:cTn>
                                        <p:tgtEl>
                                          <p:spTgt spid="8"/>
                                        </p:tgtEl>
                                        <p:attrNameLst>
                                          <p:attrName>ppt_x</p:attrName>
                                        </p:attrNameLst>
                                      </p:cBhvr>
                                    </p:anim>
                                    <p:anim from="(-#ppt_h/2)" to="(#ppt_y)" calcmode="lin" valueType="num">
                                      <p:cBhvr>
                                        <p:cTn id="21" dur="750" fill="hold">
                                          <p:stCondLst>
                                            <p:cond delay="0"/>
                                          </p:stCondLst>
                                        </p:cTn>
                                        <p:tgtEl>
                                          <p:spTgt spid="8"/>
                                        </p:tgtEl>
                                        <p:attrNameLst>
                                          <p:attrName>ppt_y</p:attrName>
                                        </p:attrNameLst>
                                      </p:cBhvr>
                                    </p:anim>
                                    <p:animRot by="21600000">
                                      <p:cBhvr>
                                        <p:cTn id="22" dur="750" fill="hold">
                                          <p:stCondLst>
                                            <p:cond delay="0"/>
                                          </p:stCondLst>
                                        </p:cTn>
                                        <p:tgtEl>
                                          <p:spTgt spid="8"/>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3" grpId="0" build="p"/>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6747-7DD1-4ECE-914F-244A5779A0AE}"/>
              </a:ext>
            </a:extLst>
          </p:cNvPr>
          <p:cNvSpPr>
            <a:spLocks noGrp="1"/>
          </p:cNvSpPr>
          <p:nvPr>
            <p:ph type="title"/>
          </p:nvPr>
        </p:nvSpPr>
        <p:spPr/>
        <p:txBody>
          <a:bodyPr/>
          <a:lstStyle/>
          <a:p>
            <a:r>
              <a:rPr lang="en-GB" dirty="0">
                <a:solidFill>
                  <a:srgbClr val="FFFF00"/>
                </a:solidFill>
              </a:rPr>
              <a:t>Activity</a:t>
            </a:r>
            <a:endParaRPr lang="en-US" dirty="0">
              <a:solidFill>
                <a:srgbClr val="FFFF00"/>
              </a:solidFill>
            </a:endParaRPr>
          </a:p>
        </p:txBody>
      </p:sp>
      <p:sp>
        <p:nvSpPr>
          <p:cNvPr id="3" name="Content Placeholder 2">
            <a:extLst>
              <a:ext uri="{FF2B5EF4-FFF2-40B4-BE49-F238E27FC236}">
                <a16:creationId xmlns:a16="http://schemas.microsoft.com/office/drawing/2014/main" id="{FC445F51-2419-449A-AA34-1FAA4905B6C5}"/>
              </a:ext>
            </a:extLst>
          </p:cNvPr>
          <p:cNvSpPr>
            <a:spLocks noGrp="1"/>
          </p:cNvSpPr>
          <p:nvPr>
            <p:ph idx="1"/>
          </p:nvPr>
        </p:nvSpPr>
        <p:spPr/>
        <p:txBody>
          <a:bodyPr/>
          <a:lstStyle/>
          <a:p>
            <a:r>
              <a:rPr lang="en-GB" dirty="0">
                <a:solidFill>
                  <a:srgbClr val="FFFF00"/>
                </a:solidFill>
              </a:rPr>
              <a:t>Compress the following texts</a:t>
            </a:r>
          </a:p>
          <a:p>
            <a:pPr marL="514350" indent="-514350">
              <a:buFont typeface="+mj-lt"/>
              <a:buAutoNum type="alphaLcParenR"/>
            </a:pPr>
            <a:r>
              <a:rPr lang="en-GB" dirty="0">
                <a:solidFill>
                  <a:srgbClr val="FFFF00"/>
                </a:solidFill>
              </a:rPr>
              <a:t>A </a:t>
            </a:r>
            <a:r>
              <a:rPr lang="en-GB" dirty="0" err="1">
                <a:solidFill>
                  <a:srgbClr val="FFFF00"/>
                </a:solidFill>
              </a:rPr>
              <a:t>A</a:t>
            </a:r>
            <a:r>
              <a:rPr lang="en-GB" dirty="0">
                <a:solidFill>
                  <a:srgbClr val="FFFF00"/>
                </a:solidFill>
              </a:rPr>
              <a:t> </a:t>
            </a:r>
            <a:r>
              <a:rPr lang="en-GB" dirty="0" err="1">
                <a:solidFill>
                  <a:srgbClr val="FFFF00"/>
                </a:solidFill>
              </a:rPr>
              <a:t>A</a:t>
            </a:r>
            <a:r>
              <a:rPr lang="en-GB" dirty="0">
                <a:solidFill>
                  <a:srgbClr val="FFFF00"/>
                </a:solidFill>
              </a:rPr>
              <a:t> </a:t>
            </a:r>
            <a:r>
              <a:rPr lang="en-GB" dirty="0" err="1">
                <a:solidFill>
                  <a:srgbClr val="FFFF00"/>
                </a:solidFill>
              </a:rPr>
              <a:t>A</a:t>
            </a:r>
            <a:r>
              <a:rPr lang="en-GB" dirty="0">
                <a:solidFill>
                  <a:srgbClr val="FFFF00"/>
                </a:solidFill>
              </a:rPr>
              <a:t> B </a:t>
            </a:r>
            <a:r>
              <a:rPr lang="en-GB" dirty="0" err="1">
                <a:solidFill>
                  <a:srgbClr val="FFFF00"/>
                </a:solidFill>
              </a:rPr>
              <a:t>B</a:t>
            </a:r>
            <a:r>
              <a:rPr lang="en-GB" dirty="0">
                <a:solidFill>
                  <a:srgbClr val="FFFF00"/>
                </a:solidFill>
              </a:rPr>
              <a:t> </a:t>
            </a:r>
            <a:r>
              <a:rPr lang="en-GB" dirty="0" err="1">
                <a:solidFill>
                  <a:srgbClr val="FFFF00"/>
                </a:solidFill>
              </a:rPr>
              <a:t>B</a:t>
            </a:r>
            <a:r>
              <a:rPr lang="en-GB" dirty="0">
                <a:solidFill>
                  <a:srgbClr val="FFFF00"/>
                </a:solidFill>
              </a:rPr>
              <a:t> </a:t>
            </a:r>
            <a:r>
              <a:rPr lang="en-GB" dirty="0" err="1">
                <a:solidFill>
                  <a:srgbClr val="FFFF00"/>
                </a:solidFill>
              </a:rPr>
              <a:t>B</a:t>
            </a:r>
            <a:r>
              <a:rPr lang="en-GB" dirty="0">
                <a:solidFill>
                  <a:srgbClr val="FFFF00"/>
                </a:solidFill>
              </a:rPr>
              <a:t> </a:t>
            </a:r>
            <a:r>
              <a:rPr lang="en-GB" dirty="0" err="1">
                <a:solidFill>
                  <a:srgbClr val="FFFF00"/>
                </a:solidFill>
              </a:rPr>
              <a:t>B</a:t>
            </a:r>
            <a:r>
              <a:rPr lang="en-GB" dirty="0">
                <a:solidFill>
                  <a:srgbClr val="FFFF00"/>
                </a:solidFill>
              </a:rPr>
              <a:t> </a:t>
            </a:r>
            <a:r>
              <a:rPr lang="en-GB" dirty="0" err="1">
                <a:solidFill>
                  <a:srgbClr val="FFFF00"/>
                </a:solidFill>
              </a:rPr>
              <a:t>B</a:t>
            </a:r>
            <a:r>
              <a:rPr lang="en-GB" dirty="0">
                <a:solidFill>
                  <a:srgbClr val="FFFF00"/>
                </a:solidFill>
              </a:rPr>
              <a:t> C </a:t>
            </a:r>
            <a:r>
              <a:rPr lang="en-GB" dirty="0" err="1">
                <a:solidFill>
                  <a:srgbClr val="FFFF00"/>
                </a:solidFill>
              </a:rPr>
              <a:t>C</a:t>
            </a:r>
            <a:r>
              <a:rPr lang="en-GB" dirty="0">
                <a:solidFill>
                  <a:srgbClr val="FFFF00"/>
                </a:solidFill>
              </a:rPr>
              <a:t> </a:t>
            </a:r>
            <a:r>
              <a:rPr lang="en-GB" dirty="0" err="1">
                <a:solidFill>
                  <a:srgbClr val="FFFF00"/>
                </a:solidFill>
              </a:rPr>
              <a:t>C</a:t>
            </a:r>
            <a:r>
              <a:rPr lang="en-GB" dirty="0">
                <a:solidFill>
                  <a:srgbClr val="FFFF00"/>
                </a:solidFill>
              </a:rPr>
              <a:t> B </a:t>
            </a:r>
            <a:r>
              <a:rPr lang="en-GB" dirty="0" err="1">
                <a:solidFill>
                  <a:srgbClr val="FFFF00"/>
                </a:solidFill>
              </a:rPr>
              <a:t>B</a:t>
            </a:r>
            <a:r>
              <a:rPr lang="en-GB" dirty="0">
                <a:solidFill>
                  <a:srgbClr val="FFFF00"/>
                </a:solidFill>
              </a:rPr>
              <a:t> </a:t>
            </a:r>
            <a:r>
              <a:rPr lang="en-GB" dirty="0" err="1">
                <a:solidFill>
                  <a:srgbClr val="FFFF00"/>
                </a:solidFill>
              </a:rPr>
              <a:t>B</a:t>
            </a:r>
            <a:r>
              <a:rPr lang="en-GB" dirty="0">
                <a:solidFill>
                  <a:srgbClr val="FFFF00"/>
                </a:solidFill>
              </a:rPr>
              <a:t> A C </a:t>
            </a:r>
            <a:r>
              <a:rPr lang="en-GB" dirty="0" err="1">
                <a:solidFill>
                  <a:srgbClr val="FFFF00"/>
                </a:solidFill>
              </a:rPr>
              <a:t>C</a:t>
            </a:r>
            <a:r>
              <a:rPr lang="en-GB" dirty="0">
                <a:solidFill>
                  <a:srgbClr val="FFFF00"/>
                </a:solidFill>
              </a:rPr>
              <a:t> </a:t>
            </a:r>
            <a:r>
              <a:rPr lang="en-GB" dirty="0" err="1">
                <a:solidFill>
                  <a:srgbClr val="FFFF00"/>
                </a:solidFill>
              </a:rPr>
              <a:t>C</a:t>
            </a:r>
            <a:endParaRPr lang="en-GB" dirty="0">
              <a:solidFill>
                <a:srgbClr val="FFFF00"/>
              </a:solidFill>
            </a:endParaRPr>
          </a:p>
          <a:p>
            <a:pPr marL="514350" indent="-514350">
              <a:buFont typeface="+mj-lt"/>
              <a:buAutoNum type="alphaLcParenR"/>
            </a:pPr>
            <a:r>
              <a:rPr lang="en-GB" dirty="0">
                <a:solidFill>
                  <a:srgbClr val="FFFF00"/>
                </a:solidFill>
              </a:rPr>
              <a:t>C </a:t>
            </a:r>
            <a:r>
              <a:rPr lang="en-GB" dirty="0" err="1">
                <a:solidFill>
                  <a:srgbClr val="FFFF00"/>
                </a:solidFill>
              </a:rPr>
              <a:t>C</a:t>
            </a:r>
            <a:r>
              <a:rPr lang="en-GB" dirty="0">
                <a:solidFill>
                  <a:srgbClr val="FFFF00"/>
                </a:solidFill>
              </a:rPr>
              <a:t> </a:t>
            </a:r>
            <a:r>
              <a:rPr lang="en-GB" dirty="0" err="1">
                <a:solidFill>
                  <a:srgbClr val="FFFF00"/>
                </a:solidFill>
              </a:rPr>
              <a:t>C</a:t>
            </a:r>
            <a:r>
              <a:rPr lang="en-GB" dirty="0">
                <a:solidFill>
                  <a:srgbClr val="FFFF00"/>
                </a:solidFill>
              </a:rPr>
              <a:t> </a:t>
            </a:r>
            <a:r>
              <a:rPr lang="en-GB" dirty="0" err="1">
                <a:solidFill>
                  <a:srgbClr val="FFFF00"/>
                </a:solidFill>
              </a:rPr>
              <a:t>C</a:t>
            </a:r>
            <a:r>
              <a:rPr lang="en-GB" dirty="0">
                <a:solidFill>
                  <a:srgbClr val="FFFF00"/>
                </a:solidFill>
              </a:rPr>
              <a:t> A C A C A B C </a:t>
            </a:r>
            <a:r>
              <a:rPr lang="en-GB" dirty="0" err="1">
                <a:solidFill>
                  <a:srgbClr val="FFFF00"/>
                </a:solidFill>
              </a:rPr>
              <a:t>C</a:t>
            </a:r>
            <a:r>
              <a:rPr lang="en-GB" dirty="0">
                <a:solidFill>
                  <a:srgbClr val="FFFF00"/>
                </a:solidFill>
              </a:rPr>
              <a:t> </a:t>
            </a:r>
            <a:r>
              <a:rPr lang="en-GB" dirty="0" err="1">
                <a:solidFill>
                  <a:srgbClr val="FFFF00"/>
                </a:solidFill>
              </a:rPr>
              <a:t>C</a:t>
            </a:r>
            <a:r>
              <a:rPr lang="en-GB" dirty="0">
                <a:solidFill>
                  <a:srgbClr val="FFFF00"/>
                </a:solidFill>
              </a:rPr>
              <a:t> B </a:t>
            </a:r>
            <a:r>
              <a:rPr lang="en-GB" dirty="0" err="1">
                <a:solidFill>
                  <a:srgbClr val="FFFF00"/>
                </a:solidFill>
              </a:rPr>
              <a:t>B</a:t>
            </a:r>
            <a:r>
              <a:rPr lang="en-GB" dirty="0">
                <a:solidFill>
                  <a:srgbClr val="FFFF00"/>
                </a:solidFill>
              </a:rPr>
              <a:t> </a:t>
            </a:r>
            <a:r>
              <a:rPr lang="en-GB" dirty="0" err="1">
                <a:solidFill>
                  <a:srgbClr val="FFFF00"/>
                </a:solidFill>
              </a:rPr>
              <a:t>B</a:t>
            </a:r>
            <a:r>
              <a:rPr lang="en-GB" dirty="0">
                <a:solidFill>
                  <a:srgbClr val="FFFF00"/>
                </a:solidFill>
              </a:rPr>
              <a:t> A B A B</a:t>
            </a:r>
          </a:p>
          <a:p>
            <a:pPr marL="514350" indent="-514350">
              <a:buFont typeface="+mj-lt"/>
              <a:buAutoNum type="alphaLcParenR"/>
            </a:pPr>
            <a:r>
              <a:rPr lang="en-GB" dirty="0">
                <a:solidFill>
                  <a:srgbClr val="FFFF00"/>
                </a:solidFill>
              </a:rPr>
              <a:t>D C B A D C B A </a:t>
            </a:r>
            <a:r>
              <a:rPr lang="en-GB" dirty="0" err="1">
                <a:solidFill>
                  <a:srgbClr val="FFFF00"/>
                </a:solidFill>
              </a:rPr>
              <a:t>A</a:t>
            </a:r>
            <a:r>
              <a:rPr lang="en-GB" dirty="0">
                <a:solidFill>
                  <a:srgbClr val="FFFF00"/>
                </a:solidFill>
              </a:rPr>
              <a:t> B C D A </a:t>
            </a:r>
            <a:r>
              <a:rPr lang="en-GB" dirty="0" err="1">
                <a:solidFill>
                  <a:srgbClr val="FFFF00"/>
                </a:solidFill>
              </a:rPr>
              <a:t>A</a:t>
            </a:r>
            <a:r>
              <a:rPr lang="en-GB" dirty="0">
                <a:solidFill>
                  <a:srgbClr val="FFFF00"/>
                </a:solidFill>
              </a:rPr>
              <a:t> B </a:t>
            </a:r>
            <a:r>
              <a:rPr lang="en-GB" dirty="0" err="1">
                <a:solidFill>
                  <a:srgbClr val="FFFF00"/>
                </a:solidFill>
              </a:rPr>
              <a:t>B</a:t>
            </a:r>
            <a:r>
              <a:rPr lang="en-GB" dirty="0">
                <a:solidFill>
                  <a:srgbClr val="FFFF00"/>
                </a:solidFill>
              </a:rPr>
              <a:t> C </a:t>
            </a:r>
            <a:r>
              <a:rPr lang="en-GB" dirty="0" err="1">
                <a:solidFill>
                  <a:srgbClr val="FFFF00"/>
                </a:solidFill>
              </a:rPr>
              <a:t>C</a:t>
            </a:r>
            <a:r>
              <a:rPr lang="en-GB" dirty="0">
                <a:solidFill>
                  <a:srgbClr val="FFFF00"/>
                </a:solidFill>
              </a:rPr>
              <a:t> D </a:t>
            </a:r>
            <a:r>
              <a:rPr lang="en-GB" dirty="0" err="1">
                <a:solidFill>
                  <a:srgbClr val="FFFF00"/>
                </a:solidFill>
              </a:rPr>
              <a:t>D</a:t>
            </a:r>
            <a:endParaRPr lang="en-GB" dirty="0">
              <a:solidFill>
                <a:srgbClr val="FFFF00"/>
              </a:solidFill>
            </a:endParaRPr>
          </a:p>
          <a:p>
            <a:r>
              <a:rPr lang="en-GB" dirty="0">
                <a:solidFill>
                  <a:srgbClr val="FFFF00"/>
                </a:solidFill>
              </a:rPr>
              <a:t>Expand the following </a:t>
            </a:r>
          </a:p>
          <a:p>
            <a:pPr marL="514350" indent="-514350">
              <a:buFont typeface="+mj-lt"/>
              <a:buAutoNum type="alphaLcParenR"/>
            </a:pPr>
            <a:r>
              <a:rPr lang="en-GB" dirty="0">
                <a:solidFill>
                  <a:srgbClr val="FFFF00"/>
                </a:solidFill>
              </a:rPr>
              <a:t>2B 3A 1B 1A 1C </a:t>
            </a:r>
          </a:p>
          <a:p>
            <a:pPr marL="514350" indent="-514350">
              <a:buFont typeface="+mj-lt"/>
              <a:buAutoNum type="alphaLcParenR"/>
            </a:pPr>
            <a:r>
              <a:rPr lang="en-GB" dirty="0">
                <a:solidFill>
                  <a:srgbClr val="FFFF00"/>
                </a:solidFill>
              </a:rPr>
              <a:t>3A 1B 1C 1B 1C 1B 2A 3B</a:t>
            </a:r>
          </a:p>
          <a:p>
            <a:pPr marL="514350" indent="-514350">
              <a:buFont typeface="+mj-lt"/>
              <a:buAutoNum type="alphaLcParenR"/>
            </a:pPr>
            <a:r>
              <a:rPr lang="en-GB" dirty="0">
                <a:solidFill>
                  <a:srgbClr val="FFFF00"/>
                </a:solidFill>
              </a:rPr>
              <a:t>3(AB) 4C A B C 2(BC)</a:t>
            </a:r>
          </a:p>
          <a:p>
            <a:pPr marL="514350" indent="-514350">
              <a:buFont typeface="+mj-lt"/>
              <a:buAutoNum type="alphaLcParenR"/>
            </a:pPr>
            <a:endParaRPr lang="en-US" dirty="0">
              <a:solidFill>
                <a:srgbClr val="FFFF00"/>
              </a:solidFill>
            </a:endParaRPr>
          </a:p>
        </p:txBody>
      </p:sp>
    </p:spTree>
    <p:extLst>
      <p:ext uri="{BB962C8B-B14F-4D97-AF65-F5344CB8AC3E}">
        <p14:creationId xmlns:p14="http://schemas.microsoft.com/office/powerpoint/2010/main" val="194632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C9B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Zipping Works</a:t>
            </a:r>
          </a:p>
        </p:txBody>
      </p:sp>
      <p:sp>
        <p:nvSpPr>
          <p:cNvPr id="3" name="Content Placeholder 2"/>
          <p:cNvSpPr>
            <a:spLocks noGrp="1"/>
          </p:cNvSpPr>
          <p:nvPr>
            <p:ph idx="1"/>
          </p:nvPr>
        </p:nvSpPr>
        <p:spPr/>
        <p:txBody>
          <a:bodyPr/>
          <a:lstStyle/>
          <a:p>
            <a:r>
              <a:rPr lang="en-GB" dirty="0"/>
              <a:t>Firstly, what is zipping?</a:t>
            </a:r>
          </a:p>
          <a:p>
            <a:pPr lvl="1"/>
            <a:r>
              <a:rPr lang="en-GB" dirty="0"/>
              <a:t>Zipping is the process of compressing data files.</a:t>
            </a:r>
          </a:p>
          <a:p>
            <a:pPr lvl="1"/>
            <a:r>
              <a:rPr lang="en-GB" dirty="0"/>
              <a:t>Uses an algorithm known as </a:t>
            </a:r>
            <a:r>
              <a:rPr lang="en-GB" b="1" dirty="0"/>
              <a:t>LZW algorithm</a:t>
            </a:r>
            <a:r>
              <a:rPr lang="en-GB" dirty="0"/>
              <a:t> to reduce the memory or storage required by large files</a:t>
            </a:r>
          </a:p>
          <a:p>
            <a:r>
              <a:rPr lang="en-GB" dirty="0"/>
              <a:t>The LZW algorithm looks for repeating patterns in the data being compressed and will then replace these repeating patterns with a single character.</a:t>
            </a:r>
          </a:p>
          <a:p>
            <a:endParaRPr lang="en-GB" dirty="0"/>
          </a:p>
          <a:p>
            <a:endParaRPr lang="en-GB" dirty="0"/>
          </a:p>
        </p:txBody>
      </p:sp>
      <p:pic>
        <p:nvPicPr>
          <p:cNvPr id="5122" name="Picture 2" descr="Goomba | Stabyourself.net Wiki | Fandom">
            <a:extLst>
              <a:ext uri="{FF2B5EF4-FFF2-40B4-BE49-F238E27FC236}">
                <a16:creationId xmlns:a16="http://schemas.microsoft.com/office/drawing/2014/main" id="{B08456C9-3B49-32E9-F0C6-7F1AE37C1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4050" y="4457700"/>
            <a:ext cx="2400300" cy="240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45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7750" y="365125"/>
            <a:ext cx="7181850" cy="1325563"/>
          </a:xfrm>
        </p:spPr>
        <p:txBody>
          <a:bodyPr/>
          <a:lstStyle/>
          <a:p>
            <a:r>
              <a:rPr lang="en-GB" dirty="0"/>
              <a:t>Evaluating Data File Formats</a:t>
            </a:r>
          </a:p>
        </p:txBody>
      </p:sp>
      <p:sp>
        <p:nvSpPr>
          <p:cNvPr id="3" name="Content Placeholder 2"/>
          <p:cNvSpPr>
            <a:spLocks noGrp="1"/>
          </p:cNvSpPr>
          <p:nvPr>
            <p:ph idx="1"/>
          </p:nvPr>
        </p:nvSpPr>
        <p:spPr>
          <a:xfrm>
            <a:off x="4038600" y="1828799"/>
            <a:ext cx="7315200" cy="4348163"/>
          </a:xfrm>
        </p:spPr>
        <p:txBody>
          <a:bodyPr/>
          <a:lstStyle/>
          <a:p>
            <a:r>
              <a:rPr lang="en-GB" dirty="0"/>
              <a:t>All files written to a storage medium must have a unique file name.</a:t>
            </a:r>
          </a:p>
          <a:p>
            <a:r>
              <a:rPr lang="en-GB" dirty="0"/>
              <a:t>The first part of the file name will be determined by the user and help them identify the file at a later date.</a:t>
            </a:r>
          </a:p>
          <a:p>
            <a:pPr lvl="1"/>
            <a:r>
              <a:rPr lang="en-GB" dirty="0"/>
              <a:t>The second part (the file extension) will help identify that file as being a certain file type</a:t>
            </a:r>
          </a:p>
        </p:txBody>
      </p:sp>
      <p:pic>
        <p:nvPicPr>
          <p:cNvPr id="6146" name="Picture 2" descr="Animated walking Yoshi by ElusiveInstance on DeviantArt">
            <a:extLst>
              <a:ext uri="{FF2B5EF4-FFF2-40B4-BE49-F238E27FC236}">
                <a16:creationId xmlns:a16="http://schemas.microsoft.com/office/drawing/2014/main" id="{97DD91F9-7AAA-04E5-90B3-1BEFEF766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363" y="209550"/>
            <a:ext cx="92313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985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txt file Extension</a:t>
            </a:r>
          </a:p>
        </p:txBody>
      </p:sp>
      <p:sp>
        <p:nvSpPr>
          <p:cNvPr id="3" name="Content Placeholder 2"/>
          <p:cNvSpPr>
            <a:spLocks noGrp="1"/>
          </p:cNvSpPr>
          <p:nvPr>
            <p:ph idx="1"/>
          </p:nvPr>
        </p:nvSpPr>
        <p:spPr/>
        <p:txBody>
          <a:bodyPr/>
          <a:lstStyle/>
          <a:p>
            <a:r>
              <a:rPr lang="en-GB" dirty="0"/>
              <a:t>Files which are presented as lines of electronic text</a:t>
            </a:r>
          </a:p>
          <a:p>
            <a:r>
              <a:rPr lang="en-GB" dirty="0"/>
              <a:t>Files are readable to the human eye but contain no formatting information and may often be used to store information which requires further processing by another application</a:t>
            </a:r>
          </a:p>
          <a:p>
            <a:r>
              <a:rPr lang="en-GB" dirty="0"/>
              <a:t>Some operating systems add an EOF character after the last line in the text file to denote the end of the txt file</a:t>
            </a:r>
          </a:p>
        </p:txBody>
      </p:sp>
    </p:spTree>
    <p:extLst>
      <p:ext uri="{BB962C8B-B14F-4D97-AF65-F5344CB8AC3E}">
        <p14:creationId xmlns:p14="http://schemas.microsoft.com/office/powerpoint/2010/main" val="34522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t>The WAV Extension</a:t>
            </a:r>
          </a:p>
        </p:txBody>
      </p:sp>
      <p:sp>
        <p:nvSpPr>
          <p:cNvPr id="3" name="Content Placeholder 2"/>
          <p:cNvSpPr>
            <a:spLocks noGrp="1"/>
          </p:cNvSpPr>
          <p:nvPr>
            <p:ph idx="1"/>
          </p:nvPr>
        </p:nvSpPr>
        <p:spPr>
          <a:xfrm>
            <a:off x="128016" y="1499616"/>
            <a:ext cx="8403336" cy="5239511"/>
          </a:xfrm>
        </p:spPr>
        <p:txBody>
          <a:bodyPr>
            <a:normAutofit/>
          </a:bodyPr>
          <a:lstStyle/>
          <a:p>
            <a:r>
              <a:rPr lang="en-GB" dirty="0"/>
              <a:t>Used for professional recording + editing</a:t>
            </a:r>
          </a:p>
          <a:p>
            <a:r>
              <a:rPr lang="en-GB" dirty="0"/>
              <a:t>Files use a process known as sampling to store a digital representation of a recorded analogue sound signal.</a:t>
            </a:r>
          </a:p>
          <a:p>
            <a:pPr lvl="1"/>
            <a:r>
              <a:rPr lang="en-GB" dirty="0"/>
              <a:t>During this process the amplitude (loudness) of the waveform being received are analysed very quickly and recorded</a:t>
            </a:r>
          </a:p>
          <a:p>
            <a:pPr lvl="1"/>
            <a:r>
              <a:rPr lang="en-GB" dirty="0"/>
              <a:t>It is the angular waveform that is played back to the user</a:t>
            </a:r>
          </a:p>
          <a:p>
            <a:r>
              <a:rPr lang="en-GB" dirty="0"/>
              <a:t>Generally a WAV file is uncompressed, although can sometimes also be used to store compressed formats.</a:t>
            </a:r>
          </a:p>
          <a:p>
            <a:pPr lvl="1"/>
            <a:r>
              <a:rPr lang="en-GB" dirty="0"/>
              <a:t>A header in the file will indicate if the file is compressed or uncompressed format.</a:t>
            </a:r>
          </a:p>
        </p:txBody>
      </p:sp>
      <p:pic>
        <p:nvPicPr>
          <p:cNvPr id="1026" name="Picture 2" descr="https://bmccmmp100.files.wordpress.com/2011/04/quantizing-sou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1352" y="2507297"/>
            <a:ext cx="3495675" cy="268605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00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The Difference between JPEG and BMP</a:t>
            </a:r>
          </a:p>
        </p:txBody>
      </p:sp>
      <p:sp>
        <p:nvSpPr>
          <p:cNvPr id="3" name="Content Placeholder 2"/>
          <p:cNvSpPr>
            <a:spLocks noGrp="1"/>
          </p:cNvSpPr>
          <p:nvPr>
            <p:ph idx="1"/>
          </p:nvPr>
        </p:nvSpPr>
        <p:spPr/>
        <p:txBody>
          <a:bodyPr/>
          <a:lstStyle/>
          <a:p>
            <a:r>
              <a:rPr lang="en-GB" dirty="0"/>
              <a:t>What are these file formats?</a:t>
            </a:r>
          </a:p>
          <a:p>
            <a:r>
              <a:rPr lang="en-GB" dirty="0"/>
              <a:t>How do they work? </a:t>
            </a:r>
          </a:p>
          <a:p>
            <a:r>
              <a:rPr lang="en-GB" dirty="0"/>
              <a:t>When should we use one or the other?</a:t>
            </a:r>
          </a:p>
          <a:p>
            <a:r>
              <a:rPr lang="en-GB" dirty="0"/>
              <a:t>Are the compressed or uncompressed </a:t>
            </a:r>
            <a:r>
              <a:rPr lang="en-GB"/>
              <a:t>file formats?</a:t>
            </a:r>
            <a:endParaRPr lang="en-GB" dirty="0"/>
          </a:p>
          <a:p>
            <a:endParaRPr lang="en-GB"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2649" b="11545"/>
          <a:stretch/>
        </p:blipFill>
        <p:spPr>
          <a:xfrm>
            <a:off x="6261919" y="4129548"/>
            <a:ext cx="5715000" cy="25072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5817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hlinkClick r:id="rId2"/>
              </a:rPr>
              <a:t>https://1stwebdesigner.com/image-file-types/</a:t>
            </a:r>
            <a:r>
              <a:rPr lang="en-GB" dirty="0"/>
              <a:t> </a:t>
            </a:r>
          </a:p>
        </p:txBody>
      </p:sp>
      <p:sp>
        <p:nvSpPr>
          <p:cNvPr id="3" name="Content Placeholder 2"/>
          <p:cNvSpPr>
            <a:spLocks noGrp="1"/>
          </p:cNvSpPr>
          <p:nvPr>
            <p:ph idx="1"/>
          </p:nvPr>
        </p:nvSpPr>
        <p:spPr/>
        <p:txBody>
          <a:bodyPr/>
          <a:lstStyle/>
          <a:p>
            <a:r>
              <a:rPr lang="en-GB" dirty="0"/>
              <a:t>Review the information from the above website.</a:t>
            </a:r>
          </a:p>
          <a:p>
            <a:r>
              <a:rPr lang="en-GB" dirty="0"/>
              <a:t>Your task is to note and evaluate the different file formats explained.</a:t>
            </a:r>
          </a:p>
          <a:p>
            <a:endParaRPr lang="en-GB" dirty="0"/>
          </a:p>
          <a:p>
            <a:r>
              <a:rPr lang="en-GB" dirty="0"/>
              <a:t>Then complete Questions 1-5 of Fact File.</a:t>
            </a:r>
          </a:p>
        </p:txBody>
      </p:sp>
    </p:spTree>
    <p:extLst>
      <p:ext uri="{BB962C8B-B14F-4D97-AF65-F5344CB8AC3E}">
        <p14:creationId xmlns:p14="http://schemas.microsoft.com/office/powerpoint/2010/main" val="3291148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597" y="365125"/>
            <a:ext cx="11680590" cy="1325563"/>
          </a:xfrm>
        </p:spPr>
        <p:txBody>
          <a:bodyPr/>
          <a:lstStyle/>
          <a:p>
            <a:r>
              <a:rPr lang="en-GB" dirty="0"/>
              <a:t>Inputting Text, Sound and Images Using Digital Devices</a:t>
            </a:r>
          </a:p>
        </p:txBody>
      </p:sp>
      <p:pic>
        <p:nvPicPr>
          <p:cNvPr id="5" name="Content Placeholder 4"/>
          <p:cNvPicPr>
            <a:picLocks noGrp="1" noChangeAspect="1"/>
          </p:cNvPicPr>
          <p:nvPr>
            <p:ph idx="1"/>
          </p:nvPr>
        </p:nvPicPr>
        <p:blipFill>
          <a:blip r:embed="rId2"/>
          <a:stretch>
            <a:fillRect/>
          </a:stretch>
        </p:blipFill>
        <p:spPr>
          <a:xfrm>
            <a:off x="324596" y="2251127"/>
            <a:ext cx="11542808" cy="1804680"/>
          </a:xfrm>
          <a:prstGeom prst="rect">
            <a:avLst/>
          </a:prstGeom>
        </p:spPr>
      </p:pic>
    </p:spTree>
    <p:extLst>
      <p:ext uri="{BB962C8B-B14F-4D97-AF65-F5344CB8AC3E}">
        <p14:creationId xmlns:p14="http://schemas.microsoft.com/office/powerpoint/2010/main" val="2315420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a:t>Inputting Text using a Keyboard on a PC or Laptop</a:t>
            </a:r>
            <a:br>
              <a:rPr lang="en-GB" dirty="0"/>
            </a:br>
            <a:endParaRPr lang="en-GB" dirty="0"/>
          </a:p>
        </p:txBody>
      </p:sp>
      <p:sp>
        <p:nvSpPr>
          <p:cNvPr id="3" name="Content Placeholder 2"/>
          <p:cNvSpPr>
            <a:spLocks noGrp="1"/>
          </p:cNvSpPr>
          <p:nvPr>
            <p:ph idx="1"/>
          </p:nvPr>
        </p:nvSpPr>
        <p:spPr/>
        <p:txBody>
          <a:bodyPr/>
          <a:lstStyle/>
          <a:p>
            <a:r>
              <a:rPr lang="en-GB" b="1" dirty="0"/>
              <a:t>Text input – </a:t>
            </a:r>
            <a:r>
              <a:rPr lang="en-GB" dirty="0"/>
              <a:t>text may be input to digital devices using a variety of methods; the most common being via a keyboard.  The QWERTY keyboard is the most common keyboard format available on digital devices; it will incorporate letters, digits and a range of special characters.  Some devices may however have a separate numeric keypad.</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24009"/>
          <a:stretch/>
        </p:blipFill>
        <p:spPr>
          <a:xfrm>
            <a:off x="4218039" y="3817989"/>
            <a:ext cx="7620000" cy="3040011"/>
          </a:xfrm>
          <a:prstGeom prst="rect">
            <a:avLst/>
          </a:prstGeom>
        </p:spPr>
      </p:pic>
    </p:spTree>
    <p:extLst>
      <p:ext uri="{BB962C8B-B14F-4D97-AF65-F5344CB8AC3E}">
        <p14:creationId xmlns:p14="http://schemas.microsoft.com/office/powerpoint/2010/main" val="3876563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147484" y="1825624"/>
            <a:ext cx="6179575" cy="4884891"/>
          </a:xfrm>
        </p:spPr>
        <p:txBody>
          <a:bodyPr>
            <a:normAutofit/>
          </a:bodyPr>
          <a:lstStyle/>
          <a:p>
            <a:r>
              <a:rPr lang="en-GB" dirty="0"/>
              <a:t>The set of characters represented on a digital device at any one time is known as the character set of that device.  </a:t>
            </a:r>
            <a:r>
              <a:rPr lang="en-GB" b="1" dirty="0"/>
              <a:t>ASCII (American Standard Code for Information Interchange) </a:t>
            </a:r>
            <a:r>
              <a:rPr lang="en-GB" dirty="0"/>
              <a:t>is a common character set on digital devices.  </a:t>
            </a:r>
          </a:p>
          <a:p>
            <a:r>
              <a:rPr lang="en-GB" dirty="0"/>
              <a:t>The ASCII code uses 7 bits which gives 32 control codes and 96 displayable characters or symbols.  The eighth bit can be used for error checking.</a:t>
            </a:r>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059" y="2016842"/>
            <a:ext cx="5727290" cy="429546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51962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280219" y="1825624"/>
            <a:ext cx="5501149" cy="5032375"/>
          </a:xfrm>
        </p:spPr>
        <p:txBody>
          <a:bodyPr/>
          <a:lstStyle/>
          <a:p>
            <a:r>
              <a:rPr lang="en-GB" dirty="0"/>
              <a:t>The depression / selection of a key on any device will generate a digital signal representing the character code.  </a:t>
            </a:r>
          </a:p>
          <a:p>
            <a:r>
              <a:rPr lang="en-GB" dirty="0"/>
              <a:t>When a symbol representing a particular character is to be printed or displayed on the screen of a particular device the character code is converted into the appropriate symbol </a:t>
            </a:r>
          </a:p>
          <a:p>
            <a:endParaRPr lang="en-GB" dirty="0"/>
          </a:p>
        </p:txBody>
      </p:sp>
    </p:spTree>
    <p:extLst>
      <p:ext uri="{BB962C8B-B14F-4D97-AF65-F5344CB8AC3E}">
        <p14:creationId xmlns:p14="http://schemas.microsoft.com/office/powerpoint/2010/main" val="1181344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6342" b="20109"/>
          <a:stretch/>
        </p:blipFill>
        <p:spPr>
          <a:xfrm>
            <a:off x="1" y="1047136"/>
            <a:ext cx="12191999" cy="5810864"/>
          </a:xfrm>
        </p:spPr>
      </p:pic>
      <p:sp>
        <p:nvSpPr>
          <p:cNvPr id="2" name="Title 1"/>
          <p:cNvSpPr>
            <a:spLocks noGrp="1"/>
          </p:cNvSpPr>
          <p:nvPr>
            <p:ph type="title"/>
          </p:nvPr>
        </p:nvSpPr>
        <p:spPr>
          <a:xfrm>
            <a:off x="1" y="103239"/>
            <a:ext cx="12191999" cy="943897"/>
          </a:xfrm>
        </p:spPr>
        <p:txBody>
          <a:bodyPr>
            <a:normAutofit fontScale="90000"/>
          </a:bodyPr>
          <a:lstStyle/>
          <a:p>
            <a:r>
              <a:rPr lang="en-GB" dirty="0"/>
              <a:t>Q. Convert 072 069 076 076 079 032 087 079 082 076 068 into ASCII Text</a:t>
            </a:r>
          </a:p>
        </p:txBody>
      </p:sp>
    </p:spTree>
    <p:extLst>
      <p:ext uri="{BB962C8B-B14F-4D97-AF65-F5344CB8AC3E}">
        <p14:creationId xmlns:p14="http://schemas.microsoft.com/office/powerpoint/2010/main" val="3434143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77" y="365125"/>
            <a:ext cx="11147323" cy="1325563"/>
          </a:xfrm>
        </p:spPr>
        <p:txBody>
          <a:bodyPr>
            <a:normAutofit fontScale="90000"/>
          </a:bodyPr>
          <a:lstStyle/>
          <a:p>
            <a:r>
              <a:rPr lang="en-GB" altLang="en-US" b="1" dirty="0">
                <a:latin typeface="Calibri" panose="020F0502020204030204" pitchFamily="34" charset="0"/>
                <a:ea typeface="Calibri" panose="020F0502020204030204" pitchFamily="34" charset="0"/>
                <a:cs typeface="Times New Roman" panose="02020603050405020304" pitchFamily="18" charset="0"/>
              </a:rPr>
              <a:t>Features of a Keyboard (How it Works/ how data is input)</a:t>
            </a:r>
            <a:br>
              <a:rPr lang="en-GB" altLang="en-US" sz="5400" dirty="0"/>
            </a:br>
            <a:endParaRPr lang="en-GB" dirty="0"/>
          </a:p>
        </p:txBody>
      </p:sp>
      <p:sp>
        <p:nvSpPr>
          <p:cNvPr id="16" name="Rectangle 15"/>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17" name="Rectangle 16"/>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18" name="Rectangle 17"/>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19" name="Rectangle 18"/>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20" name="Rectangle 19"/>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21" name="Rectangle 20"/>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22" name="Rectangle 21"/>
          <p:cNvSpPr>
            <a:spLocks noChangeArrowheads="1"/>
          </p:cNvSpPr>
          <p:nvPr/>
        </p:nvSpPr>
        <p:spPr bwMode="auto">
          <a:xfrm>
            <a:off x="3063978" y="15490723"/>
            <a:ext cx="6057900" cy="1828800"/>
          </a:xfrm>
          <a:prstGeom prst="rect">
            <a:avLst/>
          </a:prstGeom>
          <a:solidFill>
            <a:srgbClr val="C0C0C0"/>
          </a:solidFill>
          <a:ln w="25400">
            <a:solidFill>
              <a:srgbClr val="000000"/>
            </a:solidFill>
            <a:miter lim="800000"/>
            <a:headEnd/>
            <a:tailEnd/>
          </a:ln>
        </p:spPr>
        <p:txBody>
          <a:bodyPr rot="0" vert="horz" wrap="square" lIns="91440" tIns="45720" rIns="91440" bIns="45720" anchor="t" anchorCtr="0" upright="1">
            <a:noAutofit/>
          </a:bodyPr>
          <a:lstStyle/>
          <a:p>
            <a:endParaRPr lang="en-GB"/>
          </a:p>
        </p:txBody>
      </p:sp>
      <p:sp>
        <p:nvSpPr>
          <p:cNvPr id="23" name="Rectangle 17"/>
          <p:cNvSpPr>
            <a:spLocks noChangeArrowheads="1"/>
          </p:cNvSpPr>
          <p:nvPr/>
        </p:nvSpPr>
        <p:spPr bwMode="auto">
          <a:xfrm>
            <a:off x="1120878" y="253672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24" name="Rectangle 18"/>
          <p:cNvSpPr>
            <a:spLocks noChangeArrowheads="1"/>
          </p:cNvSpPr>
          <p:nvPr/>
        </p:nvSpPr>
        <p:spPr bwMode="auto">
          <a:xfrm>
            <a:off x="575187" y="1363478"/>
            <a:ext cx="10987548"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Underneath the keys there is a key matrix / electronic switch (grid of circuits)</a:t>
            </a:r>
          </a:p>
          <a:p>
            <a:pPr marR="0" lvl="0" algn="l" defTabSz="914400" rtl="0" eaLnBrk="0" fontAlgn="base" latinLnBrk="0" hangingPunct="0">
              <a:lnSpc>
                <a:spcPct val="100000"/>
              </a:lnSpc>
              <a:spcBef>
                <a:spcPct val="0"/>
              </a:spcBef>
              <a:spcAft>
                <a:spcPct val="0"/>
              </a:spcAft>
              <a:buClrTx/>
              <a:buSzTx/>
              <a:tabLst/>
            </a:pPr>
            <a:endPar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When the user presses a key/key combination</a:t>
            </a:r>
          </a:p>
          <a:p>
            <a:pPr marR="0" lvl="0" algn="l" defTabSz="914400" rtl="0" eaLnBrk="0" fontAlgn="base" latinLnBrk="0" hangingPunct="0">
              <a:lnSpc>
                <a:spcPct val="100000"/>
              </a:lnSpc>
              <a:spcBef>
                <a:spcPct val="0"/>
              </a:spcBef>
              <a:spcAft>
                <a:spcPct val="0"/>
              </a:spcAft>
              <a:buClrTx/>
              <a:buSzTx/>
              <a:tabLst/>
            </a:pPr>
            <a:endPar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Each key/key combination has a unique binary code</a:t>
            </a:r>
          </a:p>
          <a:p>
            <a:pPr marR="0" lvl="0" algn="l" defTabSz="914400" rtl="0" eaLnBrk="0" fontAlgn="base" latinLnBrk="0" hangingPunct="0">
              <a:lnSpc>
                <a:spcPct val="100000"/>
              </a:lnSpc>
              <a:spcBef>
                <a:spcPct val="0"/>
              </a:spcBef>
              <a:spcAft>
                <a:spcPct val="0"/>
              </a:spcAft>
              <a:buClrTx/>
              <a:buSzTx/>
              <a:tabLst/>
            </a:pPr>
            <a:endPar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…which is stored in a buffer</a:t>
            </a:r>
          </a:p>
          <a:p>
            <a:pPr marR="0" lvl="0" algn="l" defTabSz="914400" rtl="0" eaLnBrk="0" fontAlgn="base" latinLnBrk="0" hangingPunct="0">
              <a:lnSpc>
                <a:spcPct val="100000"/>
              </a:lnSpc>
              <a:spcBef>
                <a:spcPct val="0"/>
              </a:spcBef>
              <a:spcAft>
                <a:spcPct val="0"/>
              </a:spcAft>
              <a:buClrTx/>
              <a:buSzTx/>
              <a:tabLst/>
            </a:pPr>
            <a:endPar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When the return key is pressed</a:t>
            </a:r>
          </a:p>
          <a:p>
            <a:pPr marR="0" lvl="0" algn="l" defTabSz="914400" rtl="0" eaLnBrk="0" fontAlgn="base" latinLnBrk="0" hangingPunct="0">
              <a:lnSpc>
                <a:spcPct val="100000"/>
              </a:lnSpc>
              <a:spcBef>
                <a:spcPct val="0"/>
              </a:spcBef>
              <a:spcAft>
                <a:spcPct val="0"/>
              </a:spcAft>
              <a:buClrTx/>
              <a:buSzTx/>
              <a:tabLst/>
            </a:pPr>
            <a:endPar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contents of the buffer are sent to the computer</a:t>
            </a:r>
            <a:endParaRPr kumimoji="0" lang="en-GB"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2331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a:t>Inputting Text using a Touch Screen on a PC, Tablet or Smart Phone</a:t>
            </a:r>
            <a:br>
              <a:rPr lang="en-GB" dirty="0"/>
            </a:br>
            <a:endParaRPr lang="en-GB" dirty="0"/>
          </a:p>
        </p:txBody>
      </p:sp>
      <p:sp>
        <p:nvSpPr>
          <p:cNvPr id="3" name="Content Placeholder 2"/>
          <p:cNvSpPr>
            <a:spLocks noGrp="1"/>
          </p:cNvSpPr>
          <p:nvPr>
            <p:ph idx="1"/>
          </p:nvPr>
        </p:nvSpPr>
        <p:spPr>
          <a:xfrm>
            <a:off x="4537587" y="1837197"/>
            <a:ext cx="7654413" cy="5032375"/>
          </a:xfrm>
        </p:spPr>
        <p:txBody>
          <a:bodyPr/>
          <a:lstStyle/>
          <a:p>
            <a:r>
              <a:rPr lang="en-GB" dirty="0"/>
              <a:t>When you touch the surface of such a screen, it detects exactly where you touched it. For example if you touched the screen 5cm down from the top and 3cm from the left, this data is used as input for the software currently running on its computer.</a:t>
            </a:r>
          </a:p>
          <a:p>
            <a:pPr marL="0" indent="0">
              <a:buNone/>
            </a:pPr>
            <a:endParaRPr lang="en-GB" dirty="0"/>
          </a:p>
          <a:p>
            <a:r>
              <a:rPr lang="en-GB" dirty="0"/>
              <a:t>Usually there is some kind of graphics on display so that it appears you are 'touching' buttons and menu selections.</a:t>
            </a:r>
          </a:p>
          <a:p>
            <a:endParaRPr lang="en-GB" dirty="0"/>
          </a:p>
        </p:txBody>
      </p:sp>
      <p:pic>
        <p:nvPicPr>
          <p:cNvPr id="4" name="Picture 3"/>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267" r="100000">
                        <a14:foregroundMark x1="44867" y1="92600" x2="49467" y2="78000"/>
                        <a14:foregroundMark x1="10667" y1="67667" x2="9933" y2="10067"/>
                        <a14:foregroundMark x1="18133" y1="15400" x2="58733" y2="19667"/>
                        <a14:foregroundMark x1="9267" y1="8600" x2="48400" y2="9667"/>
                        <a14:foregroundMark x1="76867" y1="71267" x2="93933" y2="59867"/>
                        <a14:foregroundMark x1="20267" y1="56333" x2="33800" y2="12867"/>
                        <a14:foregroundMark x1="13867" y1="55600" x2="15333" y2="15400"/>
                        <a14:foregroundMark x1="26333" y1="52733" x2="32733" y2="47400"/>
                        <a14:foregroundMark x1="35200" y1="89400" x2="68000" y2="88333"/>
                        <a14:foregroundMark x1="27400" y1="75867" x2="77933" y2="67667"/>
                        <a14:foregroundMark x1="13533" y1="76200" x2="47667" y2="70200"/>
                        <a14:foregroundMark x1="10333" y1="74467" x2="30267" y2="72333"/>
                      </a14:backgroundRemoval>
                    </a14:imgEffect>
                  </a14:imgLayer>
                </a14:imgProps>
              </a:ext>
              <a:ext uri="{28A0092B-C50C-407E-A947-70E740481C1C}">
                <a14:useLocalDpi xmlns:a14="http://schemas.microsoft.com/office/drawing/2010/main" val="0"/>
              </a:ext>
            </a:extLst>
          </a:blip>
          <a:stretch>
            <a:fillRect/>
          </a:stretch>
        </p:blipFill>
        <p:spPr>
          <a:xfrm>
            <a:off x="58992" y="1825624"/>
            <a:ext cx="4560428" cy="4560428"/>
          </a:xfrm>
          <a:prstGeom prst="rect">
            <a:avLst/>
          </a:prstGeom>
        </p:spPr>
      </p:pic>
    </p:spTree>
    <p:extLst>
      <p:ext uri="{BB962C8B-B14F-4D97-AF65-F5344CB8AC3E}">
        <p14:creationId xmlns:p14="http://schemas.microsoft.com/office/powerpoint/2010/main" val="3470891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Touchscreen – Are there different types?</a:t>
            </a:r>
          </a:p>
        </p:txBody>
      </p:sp>
      <p:sp>
        <p:nvSpPr>
          <p:cNvPr id="3" name="Content Placeholder 2"/>
          <p:cNvSpPr>
            <a:spLocks noGrp="1"/>
          </p:cNvSpPr>
          <p:nvPr>
            <p:ph idx="1"/>
          </p:nvPr>
        </p:nvSpPr>
        <p:spPr>
          <a:xfrm>
            <a:off x="838200" y="2032102"/>
            <a:ext cx="10515600" cy="4351338"/>
          </a:xfrm>
        </p:spPr>
        <p:txBody>
          <a:bodyPr>
            <a:normAutofit/>
          </a:bodyPr>
          <a:lstStyle/>
          <a:p>
            <a:r>
              <a:rPr lang="en-GB" b="1" dirty="0"/>
              <a:t>Capacitive </a:t>
            </a:r>
            <a:r>
              <a:rPr lang="en-GB" dirty="0"/>
              <a:t>(pressure-sensitive membrane)</a:t>
            </a:r>
          </a:p>
          <a:p>
            <a:pPr lvl="1"/>
            <a:r>
              <a:rPr lang="en-GB" dirty="0"/>
              <a:t>These are made by adding conductive coatings to a clear glass sensor.</a:t>
            </a:r>
          </a:p>
          <a:p>
            <a:pPr lvl="1"/>
            <a:r>
              <a:rPr lang="en-GB" dirty="0"/>
              <a:t>This consists of a grid of tiny, transparent electrodes.</a:t>
            </a:r>
          </a:p>
          <a:p>
            <a:pPr lvl="1"/>
            <a:r>
              <a:rPr lang="en-GB" dirty="0"/>
              <a:t>When the screen is not in use, electrodes spread out the voltage evenly.</a:t>
            </a:r>
          </a:p>
          <a:p>
            <a:pPr lvl="1"/>
            <a:r>
              <a:rPr lang="en-GB" dirty="0"/>
              <a:t>The touch screen displays a keyboard</a:t>
            </a:r>
          </a:p>
          <a:p>
            <a:pPr lvl="1"/>
            <a:r>
              <a:rPr lang="en-GB" dirty="0"/>
              <a:t>When the screen is touched with a finger or a stylus the disturbance is recognized by a change in the electrostatic properties at that point.</a:t>
            </a:r>
          </a:p>
          <a:p>
            <a:pPr lvl="1"/>
            <a:r>
              <a:rPr lang="en-GB" dirty="0"/>
              <a:t>The X Y co-ordinates are then sent from the controller to the PC and enables the typed character to be determined.</a:t>
            </a:r>
          </a:p>
          <a:p>
            <a:pPr lvl="1"/>
            <a:r>
              <a:rPr lang="en-GB" dirty="0"/>
              <a:t>Capacitive screens can be sealed, making them resistant to water, dust and grease. They are then very suitable for almost any environment. </a:t>
            </a:r>
          </a:p>
          <a:p>
            <a:pPr lvl="1"/>
            <a:endParaRPr lang="en-GB" dirty="0"/>
          </a:p>
          <a:p>
            <a:endParaRPr lang="en-GB" dirty="0"/>
          </a:p>
        </p:txBody>
      </p:sp>
    </p:spTree>
    <p:extLst>
      <p:ext uri="{BB962C8B-B14F-4D97-AF65-F5344CB8AC3E}">
        <p14:creationId xmlns:p14="http://schemas.microsoft.com/office/powerpoint/2010/main" val="2838403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7" name="Content Placeholder 2"/>
          <p:cNvSpPr txBox="1">
            <a:spLocks/>
          </p:cNvSpPr>
          <p:nvPr/>
        </p:nvSpPr>
        <p:spPr>
          <a:xfrm>
            <a:off x="838200" y="18403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Resistive </a:t>
            </a:r>
            <a:r>
              <a:rPr lang="en-GB" dirty="0"/>
              <a:t>(pressure-sensitive membrane)</a:t>
            </a:r>
          </a:p>
          <a:p>
            <a:pPr lvl="1"/>
            <a:r>
              <a:rPr lang="en-GB" dirty="0"/>
              <a:t>A hard coated polyester top sheet is laid on top of a conductive clear glass sensor.</a:t>
            </a:r>
          </a:p>
          <a:p>
            <a:pPr lvl="1"/>
            <a:r>
              <a:rPr lang="en-GB" dirty="0"/>
              <a:t>When the surface is pressed and makes contact with the sensor, voltage flows to each of the 4 corners in proportion to the distance from the edge.</a:t>
            </a:r>
          </a:p>
          <a:p>
            <a:pPr lvl="1"/>
            <a:r>
              <a:rPr lang="en-GB" dirty="0"/>
              <a:t>The controller then works out using the X Y co-ordinates the position of the touch. </a:t>
            </a:r>
          </a:p>
          <a:p>
            <a:pPr lvl="1"/>
            <a:endParaRPr lang="en-GB" dirty="0"/>
          </a:p>
          <a:p>
            <a:pPr lvl="1"/>
            <a:endParaRPr lang="en-GB" dirty="0"/>
          </a:p>
          <a:p>
            <a:endParaRPr lang="en-GB" dirty="0"/>
          </a:p>
        </p:txBody>
      </p:sp>
    </p:spTree>
    <p:extLst>
      <p:ext uri="{BB962C8B-B14F-4D97-AF65-F5344CB8AC3E}">
        <p14:creationId xmlns:p14="http://schemas.microsoft.com/office/powerpoint/2010/main" val="3788746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Describe how a typical touch screen can be used to input text into a smart phone 	[4]</a:t>
            </a:r>
          </a:p>
        </p:txBody>
      </p:sp>
      <p:sp>
        <p:nvSpPr>
          <p:cNvPr id="5" name="Content Placeholder 4"/>
          <p:cNvSpPr>
            <a:spLocks noGrp="1"/>
          </p:cNvSpPr>
          <p:nvPr>
            <p:ph idx="1"/>
          </p:nvPr>
        </p:nvSpPr>
        <p:spPr>
          <a:xfrm>
            <a:off x="838200" y="1825625"/>
            <a:ext cx="10515600" cy="4351338"/>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lvl="0"/>
            <a:r>
              <a:rPr lang="en-GB" sz="2400" dirty="0"/>
              <a:t>A capacitive touch screen is used [1]</a:t>
            </a:r>
          </a:p>
          <a:p>
            <a:pPr lvl="0"/>
            <a:r>
              <a:rPr lang="en-GB" sz="2400" dirty="0"/>
              <a:t>This consists of a grid of tiny, transparent electrodes [1]</a:t>
            </a:r>
          </a:p>
          <a:p>
            <a:pPr lvl="0"/>
            <a:r>
              <a:rPr lang="en-GB" sz="2400" dirty="0"/>
              <a:t>The touch screen displays a keyboard [1]</a:t>
            </a:r>
          </a:p>
          <a:p>
            <a:pPr lvl="0"/>
            <a:r>
              <a:rPr lang="en-GB" sz="2400" dirty="0"/>
              <a:t>When the screen is touched with a finger or stylus, there is a change in the electrostatic properties at that point [1]</a:t>
            </a:r>
          </a:p>
          <a:p>
            <a:pPr lvl="0"/>
            <a:r>
              <a:rPr lang="en-GB" sz="2400" dirty="0"/>
              <a:t>This enables the typed character to be determined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ysClr val="windowText" lastClr="000000"/>
              </a:solidFill>
              <a:effectLst/>
              <a:uLnTx/>
              <a:uFillTx/>
              <a:latin typeface="Calibri"/>
            </a:endParaRPr>
          </a:p>
        </p:txBody>
      </p:sp>
    </p:spTree>
    <p:extLst>
      <p:ext uri="{BB962C8B-B14F-4D97-AF65-F5344CB8AC3E}">
        <p14:creationId xmlns:p14="http://schemas.microsoft.com/office/powerpoint/2010/main" val="2330795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a:t>Inputting Sound using a Microphone on a PC, Laptop, Tablet or Smart Phone</a:t>
            </a:r>
            <a:br>
              <a:rPr lang="en-GB" dirty="0"/>
            </a:br>
            <a:endParaRPr lang="en-GB" dirty="0"/>
          </a:p>
        </p:txBody>
      </p:sp>
      <p:sp>
        <p:nvSpPr>
          <p:cNvPr id="3" name="Content Placeholder 2"/>
          <p:cNvSpPr>
            <a:spLocks noGrp="1"/>
          </p:cNvSpPr>
          <p:nvPr>
            <p:ph idx="1"/>
          </p:nvPr>
        </p:nvSpPr>
        <p:spPr/>
        <p:txBody>
          <a:bodyPr/>
          <a:lstStyle/>
          <a:p>
            <a:r>
              <a:rPr lang="en-GB" b="1" dirty="0"/>
              <a:t>Sound input – </a:t>
            </a:r>
            <a:r>
              <a:rPr lang="en-GB" dirty="0"/>
              <a:t>most digital devices are now supplied with simple </a:t>
            </a:r>
            <a:r>
              <a:rPr lang="en-GB" b="1" dirty="0"/>
              <a:t>microphones</a:t>
            </a:r>
            <a:r>
              <a:rPr lang="en-GB" dirty="0"/>
              <a:t> for recording sound.  </a:t>
            </a:r>
          </a:p>
          <a:p>
            <a:r>
              <a:rPr lang="en-GB" dirty="0"/>
              <a:t>Since sound is produced by the vibration of air it can be said to be analogue in format (i.e. it is a continually varying signal).  </a:t>
            </a:r>
          </a:p>
          <a:p>
            <a:r>
              <a:rPr lang="en-GB" dirty="0"/>
              <a:t>The electrical output from a microphone also consists of a continually varying signal in the form of voltage.  </a:t>
            </a:r>
          </a:p>
          <a:p>
            <a:endParaRPr lang="en-GB" dirty="0"/>
          </a:p>
        </p:txBody>
      </p:sp>
    </p:spTree>
    <p:extLst>
      <p:ext uri="{BB962C8B-B14F-4D97-AF65-F5344CB8AC3E}">
        <p14:creationId xmlns:p14="http://schemas.microsoft.com/office/powerpoint/2010/main" val="3948489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Devices such as personal computers, laptops, tablets or smartphones all store data in digital format so conversion of the analogue signal and the digital data is needed.  </a:t>
            </a:r>
          </a:p>
          <a:p>
            <a:r>
              <a:rPr lang="en-GB" dirty="0"/>
              <a:t>This is achieved through the process of sound sampling where special hardware measures the level of the sound many times and then records this as a numerical value. </a:t>
            </a:r>
          </a:p>
          <a:p>
            <a:endParaRPr lang="en-GB" dirty="0"/>
          </a:p>
        </p:txBody>
      </p:sp>
    </p:spTree>
    <p:extLst>
      <p:ext uri="{BB962C8B-B14F-4D97-AF65-F5344CB8AC3E}">
        <p14:creationId xmlns:p14="http://schemas.microsoft.com/office/powerpoint/2010/main" val="1267392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6697"/>
            <a:ext cx="10515600" cy="5690266"/>
          </a:xfrm>
        </p:spPr>
        <p:txBody>
          <a:bodyPr>
            <a:normAutofit lnSpcReduction="10000"/>
          </a:bodyPr>
          <a:lstStyle/>
          <a:p>
            <a:pPr lvl="0"/>
            <a:r>
              <a:rPr lang="en-GB" dirty="0"/>
              <a:t>During the sampling process the </a:t>
            </a:r>
            <a:r>
              <a:rPr lang="en-GB" b="1" dirty="0"/>
              <a:t>amplitude</a:t>
            </a:r>
            <a:r>
              <a:rPr lang="en-GB" dirty="0"/>
              <a:t> of the waveform being received are analysed very quickly and recorded.  </a:t>
            </a:r>
          </a:p>
          <a:p>
            <a:pPr lvl="0"/>
            <a:r>
              <a:rPr lang="en-GB" dirty="0"/>
              <a:t>Sound is converted into </a:t>
            </a:r>
            <a:r>
              <a:rPr lang="en-GB" b="1" dirty="0"/>
              <a:t>binary</a:t>
            </a:r>
            <a:r>
              <a:rPr lang="en-GB" dirty="0"/>
              <a:t> for computers to be able to process it. To do this sound is captured (usually by a microphone) and then converted into a digital signal. </a:t>
            </a:r>
          </a:p>
          <a:p>
            <a:pPr lvl="0"/>
            <a:r>
              <a:rPr lang="en-GB" dirty="0"/>
              <a:t>An </a:t>
            </a:r>
            <a:r>
              <a:rPr lang="en-GB" b="1" dirty="0"/>
              <a:t>analogue to digital converter </a:t>
            </a:r>
            <a:r>
              <a:rPr lang="en-GB" dirty="0"/>
              <a:t>will sample a sound wave at regular time intervals. The samples can then be converted to binary. </a:t>
            </a:r>
          </a:p>
          <a:p>
            <a:pPr lvl="0"/>
            <a:r>
              <a:rPr lang="en-GB" dirty="0"/>
              <a:t>They will then be recorded to the nearest whole number. </a:t>
            </a:r>
          </a:p>
          <a:p>
            <a:pPr lvl="0"/>
            <a:r>
              <a:rPr lang="en-GB" dirty="0"/>
              <a:t>Sampling does not take into account </a:t>
            </a:r>
            <a:r>
              <a:rPr lang="en-GB" b="1" dirty="0"/>
              <a:t>what the sound wave is doing </a:t>
            </a:r>
            <a:r>
              <a:rPr lang="en-GB" dirty="0"/>
              <a:t>in between each time sample. This means that the sound loses quality as data has been lost between the time samples. </a:t>
            </a:r>
          </a:p>
          <a:p>
            <a:pPr lvl="0"/>
            <a:r>
              <a:rPr lang="en-GB" dirty="0"/>
              <a:t>To increase the quality and have sound quality closer to the original is to have more time samples that are closer together.</a:t>
            </a:r>
            <a:r>
              <a:rPr lang="en-GB" b="1" dirty="0"/>
              <a:t>  Higher Quality=More Time Samples</a:t>
            </a:r>
            <a:endParaRPr lang="en-GB" dirty="0"/>
          </a:p>
          <a:p>
            <a:endParaRPr lang="en-GB" dirty="0"/>
          </a:p>
        </p:txBody>
      </p:sp>
    </p:spTree>
    <p:extLst>
      <p:ext uri="{BB962C8B-B14F-4D97-AF65-F5344CB8AC3E}">
        <p14:creationId xmlns:p14="http://schemas.microsoft.com/office/powerpoint/2010/main" val="371301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77" y="365125"/>
            <a:ext cx="11779046" cy="1325563"/>
          </a:xfrm>
        </p:spPr>
        <p:txBody>
          <a:bodyPr>
            <a:normAutofit/>
          </a:bodyPr>
          <a:lstStyle/>
          <a:p>
            <a:r>
              <a:rPr lang="en-GB" sz="4000" b="1" dirty="0"/>
              <a:t>Describe how voice can be input and recorded on a PC 											[4]</a:t>
            </a:r>
            <a:endParaRPr lang="en-GB" sz="4000" dirty="0"/>
          </a:p>
        </p:txBody>
      </p:sp>
      <p:sp>
        <p:nvSpPr>
          <p:cNvPr id="3" name="Content Placeholder 2"/>
          <p:cNvSpPr>
            <a:spLocks noGrp="1"/>
          </p:cNvSpPr>
          <p:nvPr>
            <p:ph idx="1"/>
          </p:nvPr>
        </p:nvSpPr>
        <p:spPr/>
        <p:txBody>
          <a:bodyPr/>
          <a:lstStyle/>
          <a:p>
            <a:r>
              <a:rPr lang="en-GB" dirty="0"/>
              <a:t>A microphone</a:t>
            </a:r>
          </a:p>
          <a:p>
            <a:pPr lvl="0"/>
            <a:r>
              <a:rPr lang="en-GB" dirty="0"/>
              <a:t>…attached to a soundcard is used to capture speech</a:t>
            </a:r>
          </a:p>
          <a:p>
            <a:pPr lvl="0"/>
            <a:r>
              <a:rPr lang="en-GB" dirty="0"/>
              <a:t>The signal is converted from analogue to digital</a:t>
            </a:r>
          </a:p>
          <a:p>
            <a:pPr lvl="0"/>
            <a:r>
              <a:rPr lang="en-GB" dirty="0"/>
              <a:t>An analogue to digital converter will sample the amplitude of the sound at regular time intervals</a:t>
            </a:r>
          </a:p>
          <a:p>
            <a:pPr lvl="0"/>
            <a:r>
              <a:rPr lang="en-GB" dirty="0"/>
              <a:t>The samples will then be converted </a:t>
            </a:r>
            <a:r>
              <a:rPr lang="en-GB"/>
              <a:t>to binary / They </a:t>
            </a:r>
            <a:r>
              <a:rPr lang="en-GB" dirty="0"/>
              <a:t>will then be recorded to the nearest whole number in binary format. </a:t>
            </a:r>
          </a:p>
        </p:txBody>
      </p:sp>
    </p:spTree>
    <p:extLst>
      <p:ext uri="{BB962C8B-B14F-4D97-AF65-F5344CB8AC3E}">
        <p14:creationId xmlns:p14="http://schemas.microsoft.com/office/powerpoint/2010/main" val="193176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Speech Recognition Systems</a:t>
            </a:r>
            <a:br>
              <a:rPr lang="en-GB" dirty="0"/>
            </a:br>
            <a:endParaRPr lang="en-GB" dirty="0"/>
          </a:p>
        </p:txBody>
      </p:sp>
      <p:sp>
        <p:nvSpPr>
          <p:cNvPr id="3" name="Content Placeholder 2"/>
          <p:cNvSpPr>
            <a:spLocks noGrp="1"/>
          </p:cNvSpPr>
          <p:nvPr>
            <p:ph idx="1"/>
          </p:nvPr>
        </p:nvSpPr>
        <p:spPr/>
        <p:txBody>
          <a:bodyPr/>
          <a:lstStyle/>
          <a:p>
            <a:r>
              <a:rPr lang="en-GB" dirty="0"/>
              <a:t>There are software programs that allow the user to directly speak to computing systems. </a:t>
            </a:r>
          </a:p>
          <a:p>
            <a:r>
              <a:rPr lang="en-GB" b="1" dirty="0"/>
              <a:t>These systems may be:</a:t>
            </a:r>
            <a:endParaRPr lang="en-GB" dirty="0"/>
          </a:p>
          <a:p>
            <a:pPr lvl="1"/>
            <a:r>
              <a:rPr lang="en-GB" b="1" dirty="0"/>
              <a:t>Simple – </a:t>
            </a:r>
            <a:r>
              <a:rPr lang="en-GB" dirty="0"/>
              <a:t>e.g. Voice activated commands or </a:t>
            </a:r>
          </a:p>
          <a:p>
            <a:endParaRPr lang="en-GB" dirty="0"/>
          </a:p>
          <a:p>
            <a:pPr lvl="1"/>
            <a:r>
              <a:rPr lang="en-GB" b="1" dirty="0"/>
              <a:t>Sophisticated</a:t>
            </a:r>
            <a:r>
              <a:rPr lang="en-GB" dirty="0"/>
              <a:t> </a:t>
            </a:r>
          </a:p>
          <a:p>
            <a:pPr lvl="2"/>
            <a:r>
              <a:rPr lang="en-GB" dirty="0"/>
              <a:t> e.g. Word Processing systems that translate the user’s speech into text based data, but work essentially in the same way.  </a:t>
            </a:r>
          </a:p>
          <a:p>
            <a:endParaRPr lang="en-GB" dirty="0"/>
          </a:p>
        </p:txBody>
      </p:sp>
      <p:sp>
        <p:nvSpPr>
          <p:cNvPr id="4" name="Rectangle 3"/>
          <p:cNvSpPr/>
          <p:nvPr/>
        </p:nvSpPr>
        <p:spPr>
          <a:xfrm>
            <a:off x="2536723" y="3253321"/>
            <a:ext cx="8701548"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730478" y="4539602"/>
            <a:ext cx="9507793" cy="8198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977414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9" presetClass="exit" presetSubtype="0" fill="hold" grpId="0" nodeType="clickEffect">
                                  <p:stCondLst>
                                    <p:cond delay="0"/>
                                  </p:stCondLst>
                                  <p:childTnLst>
                                    <p:animEffect transition="out" filter="dissolve">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4417541" y="789424"/>
            <a:ext cx="10515600" cy="1325563"/>
          </a:xfrm>
        </p:spPr>
        <p:txBody>
          <a:bodyPr/>
          <a:lstStyle/>
          <a:p>
            <a:r>
              <a:rPr lang="en-GB" dirty="0"/>
              <a:t>The Process</a:t>
            </a:r>
          </a:p>
        </p:txBody>
      </p:sp>
      <p:pic>
        <p:nvPicPr>
          <p:cNvPr id="4" name="Content Placeholder 3"/>
          <p:cNvPicPr>
            <a:picLocks noGrp="1" noChangeAspect="1"/>
          </p:cNvPicPr>
          <p:nvPr>
            <p:ph idx="1"/>
          </p:nvPr>
        </p:nvPicPr>
        <p:blipFill rotWithShape="1">
          <a:blip r:embed="rId2"/>
          <a:srcRect l="52023" t="25631" r="11343" b="32719"/>
          <a:stretch/>
        </p:blipFill>
        <p:spPr>
          <a:xfrm>
            <a:off x="1738183" y="82377"/>
            <a:ext cx="10363201" cy="6627629"/>
          </a:xfrm>
          <a:prstGeom prst="rect">
            <a:avLst/>
          </a:prstGeom>
        </p:spPr>
      </p:pic>
    </p:spTree>
    <p:extLst>
      <p:ext uri="{BB962C8B-B14F-4D97-AF65-F5344CB8AC3E}">
        <p14:creationId xmlns:p14="http://schemas.microsoft.com/office/powerpoint/2010/main" val="41827596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33" y="365125"/>
            <a:ext cx="11857702" cy="1325563"/>
          </a:xfrm>
        </p:spPr>
        <p:txBody>
          <a:bodyPr>
            <a:normAutofit/>
          </a:bodyPr>
          <a:lstStyle/>
          <a:p>
            <a:r>
              <a:rPr lang="en-GB" b="1" u="sng" dirty="0"/>
              <a:t>Inputting Video using a Camera on a PC, Laptop, Tablet or Smart Phone</a:t>
            </a:r>
            <a:endParaRPr lang="en-GB" dirty="0"/>
          </a:p>
        </p:txBody>
      </p:sp>
      <p:sp>
        <p:nvSpPr>
          <p:cNvPr id="3" name="Content Placeholder 2"/>
          <p:cNvSpPr>
            <a:spLocks noGrp="1"/>
          </p:cNvSpPr>
          <p:nvPr>
            <p:ph idx="1"/>
          </p:nvPr>
        </p:nvSpPr>
        <p:spPr/>
        <p:txBody>
          <a:bodyPr>
            <a:normAutofit/>
          </a:bodyPr>
          <a:lstStyle/>
          <a:p>
            <a:r>
              <a:rPr lang="en-GB" b="1" dirty="0"/>
              <a:t>Video input – </a:t>
            </a:r>
            <a:r>
              <a:rPr lang="en-GB" dirty="0"/>
              <a:t>it is common place now for digital devices to have a camera incorporated for the recording of digital still and digital video images.  </a:t>
            </a:r>
          </a:p>
          <a:p>
            <a:r>
              <a:rPr lang="en-GB" dirty="0"/>
              <a:t>Digital video cameras have two main components; the camera, which is the image capturing component, and the recorder which is the component of the video camera that stores the captured video images.  </a:t>
            </a:r>
          </a:p>
          <a:p>
            <a:r>
              <a:rPr lang="en-GB" dirty="0"/>
              <a:t>The image is recorded using the digital camera. The captured image is then transmitted into computer pixels which is then stored in whatever media storage is available to the digital video camera. </a:t>
            </a:r>
          </a:p>
          <a:p>
            <a:endParaRPr lang="en-GB" dirty="0"/>
          </a:p>
        </p:txBody>
      </p:sp>
    </p:spTree>
    <p:extLst>
      <p:ext uri="{BB962C8B-B14F-4D97-AF65-F5344CB8AC3E}">
        <p14:creationId xmlns:p14="http://schemas.microsoft.com/office/powerpoint/2010/main" val="842333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2294"/>
            <a:ext cx="10515600" cy="1325563"/>
          </a:xfrm>
        </p:spPr>
        <p:txBody>
          <a:bodyPr/>
          <a:lstStyle/>
          <a:p>
            <a:r>
              <a:rPr lang="en-GB" dirty="0"/>
              <a:t>Fact File Questions</a:t>
            </a:r>
          </a:p>
        </p:txBody>
      </p:sp>
      <p:sp>
        <p:nvSpPr>
          <p:cNvPr id="3" name="Content Placeholder 2"/>
          <p:cNvSpPr>
            <a:spLocks noGrp="1"/>
          </p:cNvSpPr>
          <p:nvPr>
            <p:ph idx="1"/>
          </p:nvPr>
        </p:nvSpPr>
        <p:spPr>
          <a:xfrm>
            <a:off x="0" y="953270"/>
            <a:ext cx="12192000" cy="5904730"/>
          </a:xfrm>
        </p:spPr>
        <p:txBody>
          <a:bodyPr>
            <a:normAutofit fontScale="92500" lnSpcReduction="20000"/>
          </a:bodyPr>
          <a:lstStyle/>
          <a:p>
            <a:pPr lvl="0"/>
            <a:r>
              <a:rPr lang="en-GB" dirty="0"/>
              <a:t>An image can be stored on a PC using bit-mapped and jpeg file format.</a:t>
            </a:r>
          </a:p>
          <a:p>
            <a:pPr lvl="1"/>
            <a:r>
              <a:rPr lang="en-GB" dirty="0"/>
              <a:t>Identify two characteristics of bit-mapped images. [2]</a:t>
            </a:r>
          </a:p>
          <a:p>
            <a:pPr lvl="2"/>
            <a:r>
              <a:rPr lang="en-GB" dirty="0"/>
              <a:t>Describe how file size of the same image stored in jpeg format might differ from its bit-mapped version. [1]</a:t>
            </a:r>
          </a:p>
          <a:p>
            <a:pPr lvl="2"/>
            <a:r>
              <a:rPr lang="en-GB" dirty="0"/>
              <a:t>Give one reason for this difference in file size [2]</a:t>
            </a:r>
          </a:p>
          <a:p>
            <a:pPr lvl="2"/>
            <a:endParaRPr lang="en-GB" dirty="0"/>
          </a:p>
          <a:p>
            <a:pPr lvl="0"/>
            <a:r>
              <a:rPr lang="en-GB" dirty="0"/>
              <a:t>Sound sampling is used when sound is being recorded on a digital device.</a:t>
            </a:r>
          </a:p>
          <a:p>
            <a:pPr lvl="1"/>
            <a:r>
              <a:rPr lang="en-GB" dirty="0"/>
              <a:t>Explain how the process of sampling is used to convert an analogue sound wave into digital format for storage on a PC.  [3]</a:t>
            </a:r>
          </a:p>
          <a:p>
            <a:pPr lvl="1"/>
            <a:r>
              <a:rPr lang="en-GB" dirty="0"/>
              <a:t>Describe two factors which may impact upon the quality of a digital sound file as it is being recorded. [4]</a:t>
            </a:r>
          </a:p>
          <a:p>
            <a:pPr lvl="1"/>
            <a:endParaRPr lang="en-GB" dirty="0"/>
          </a:p>
          <a:p>
            <a:pPr lvl="0"/>
            <a:r>
              <a:rPr lang="en-GB" dirty="0"/>
              <a:t>A professional photographer is importing digital images to a PC for detailed editing.  </a:t>
            </a:r>
          </a:p>
          <a:p>
            <a:pPr lvl="1"/>
            <a:r>
              <a:rPr lang="en-GB" dirty="0"/>
              <a:t>Which image file type would be most appropriate for this task?  [1]</a:t>
            </a:r>
          </a:p>
          <a:p>
            <a:pPr lvl="1"/>
            <a:r>
              <a:rPr lang="en-GB" dirty="0"/>
              <a:t>Give an explanation for your choice of file type in this instance. [2]</a:t>
            </a:r>
          </a:p>
          <a:p>
            <a:pPr lvl="0"/>
            <a:r>
              <a:rPr lang="en-GB" dirty="0"/>
              <a:t>A student uses a microphone to record a voice over for a multimedia presentation.  Describe how analogue sound input is converted into digital format.</a:t>
            </a:r>
          </a:p>
          <a:p>
            <a:pPr lvl="0"/>
            <a:r>
              <a:rPr lang="en-GB" dirty="0"/>
              <a:t>Keyboards are commonly used to enter text into digital devices.  Describe how a keyboard can be used to generate text, numbers and special characters which can be stored in digital format. [2]</a:t>
            </a:r>
          </a:p>
          <a:p>
            <a:endParaRPr lang="en-GB" dirty="0"/>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0" r="100000">
                        <a14:foregroundMark x1="37553" y1="39241" x2="50633" y2="33333"/>
                        <a14:foregroundMark x1="48945" y1="67722" x2="52954" y2="64768"/>
                      </a14:backgroundRemoval>
                    </a14:imgEffect>
                  </a14:imgLayer>
                </a14:imgProps>
              </a:ext>
              <a:ext uri="{28A0092B-C50C-407E-A947-70E740481C1C}">
                <a14:useLocalDpi xmlns:a14="http://schemas.microsoft.com/office/drawing/2010/main" val="0"/>
              </a:ext>
            </a:extLst>
          </a:blip>
          <a:stretch>
            <a:fillRect/>
          </a:stretch>
        </p:blipFill>
        <p:spPr>
          <a:xfrm>
            <a:off x="10615613" y="58993"/>
            <a:ext cx="1386348" cy="1386348"/>
          </a:xfrm>
          <a:prstGeom prst="ellipse">
            <a:avLst/>
          </a:prstGeom>
          <a:ln w="63500" cap="rnd">
            <a:solidFill>
              <a:srgbClr val="333333"/>
            </a:solidFill>
          </a:ln>
          <a:effectLst>
            <a:outerShdw blurRad="76200" dir="18900000" sy="23000" kx="-1200000" algn="bl" rotWithShape="0">
              <a:prstClr val="black">
                <a:alpha val="20000"/>
              </a:prst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308548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4AABB1"/>
        </a:solidFill>
        <a:effectLst/>
      </p:bgPr>
    </p:bg>
    <p:spTree>
      <p:nvGrpSpPr>
        <p:cNvPr id="1" name=""/>
        <p:cNvGrpSpPr/>
        <p:nvPr/>
      </p:nvGrpSpPr>
      <p:grpSpPr>
        <a:xfrm>
          <a:off x="0" y="0"/>
          <a:ext cx="0" cy="0"/>
          <a:chOff x="0" y="0"/>
          <a:chExt cx="0" cy="0"/>
        </a:xfrm>
      </p:grpSpPr>
      <p:pic>
        <p:nvPicPr>
          <p:cNvPr id="1026" name="Picture 2" descr="Image result for cloud .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217162" y="-1166812"/>
            <a:ext cx="7620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solidFill>
                  <a:schemeClr val="bg1"/>
                </a:solidFill>
              </a:rPr>
              <a:t>Mind Map Me</a:t>
            </a:r>
          </a:p>
        </p:txBody>
      </p:sp>
      <p:sp>
        <p:nvSpPr>
          <p:cNvPr id="3" name="Content Placeholder 2"/>
          <p:cNvSpPr>
            <a:spLocks noGrp="1"/>
          </p:cNvSpPr>
          <p:nvPr>
            <p:ph idx="1"/>
          </p:nvPr>
        </p:nvSpPr>
        <p:spPr/>
        <p:txBody>
          <a:bodyPr/>
          <a:lstStyle/>
          <a:p>
            <a:r>
              <a:rPr lang="en-GB" dirty="0">
                <a:solidFill>
                  <a:schemeClr val="bg1"/>
                </a:solidFill>
              </a:rPr>
              <a:t>Use a plain page to mind map this topic. Including:</a:t>
            </a:r>
          </a:p>
          <a:p>
            <a:pPr lvl="1"/>
            <a:r>
              <a:rPr lang="en-GB" dirty="0">
                <a:solidFill>
                  <a:schemeClr val="bg1"/>
                </a:solidFill>
              </a:rPr>
              <a:t>Why it is used</a:t>
            </a:r>
          </a:p>
          <a:p>
            <a:pPr lvl="1"/>
            <a:r>
              <a:rPr lang="en-GB" dirty="0">
                <a:solidFill>
                  <a:schemeClr val="bg1"/>
                </a:solidFill>
              </a:rPr>
              <a:t>Types of compression</a:t>
            </a:r>
          </a:p>
          <a:p>
            <a:pPr lvl="1"/>
            <a:r>
              <a:rPr lang="en-GB" dirty="0">
                <a:solidFill>
                  <a:schemeClr val="bg1"/>
                </a:solidFill>
              </a:rPr>
              <a:t>Which files use what compression</a:t>
            </a:r>
          </a:p>
          <a:p>
            <a:pPr lvl="2"/>
            <a:r>
              <a:rPr lang="en-GB" dirty="0">
                <a:solidFill>
                  <a:schemeClr val="bg1"/>
                </a:solidFill>
              </a:rPr>
              <a:t>Why people use different file formats</a:t>
            </a:r>
          </a:p>
          <a:p>
            <a:pPr lvl="1"/>
            <a:r>
              <a:rPr lang="en-GB" dirty="0">
                <a:solidFill>
                  <a:schemeClr val="bg1"/>
                </a:solidFill>
              </a:rPr>
              <a:t>How people can input data into a computer system</a:t>
            </a:r>
          </a:p>
        </p:txBody>
      </p:sp>
    </p:spTree>
    <p:extLst>
      <p:ext uri="{BB962C8B-B14F-4D97-AF65-F5344CB8AC3E}">
        <p14:creationId xmlns:p14="http://schemas.microsoft.com/office/powerpoint/2010/main" val="293881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433</TotalTime>
  <Words>2316</Words>
  <Application>Microsoft Office PowerPoint</Application>
  <PresentationFormat>Widescreen</PresentationFormat>
  <Paragraphs>183</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Agency FB</vt:lpstr>
      <vt:lpstr>Aptos</vt:lpstr>
      <vt:lpstr>Arial</vt:lpstr>
      <vt:lpstr>Calibri</vt:lpstr>
      <vt:lpstr>Calibri Light</vt:lpstr>
      <vt:lpstr>Office Theme</vt:lpstr>
      <vt:lpstr>DATA COMPRESSION</vt:lpstr>
      <vt:lpstr>What Is Data Compression?</vt:lpstr>
      <vt:lpstr>PowerPoint Presentation</vt:lpstr>
      <vt:lpstr>PowerPoint Presentation</vt:lpstr>
      <vt:lpstr>PowerPoint Presentation</vt:lpstr>
      <vt:lpstr>Types of Compression</vt:lpstr>
      <vt:lpstr>Lossy Compression</vt:lpstr>
      <vt:lpstr>Compress or Uncompressed file type?</vt:lpstr>
      <vt:lpstr>_____________________ AABBBBBBAAABBABABBBB </vt:lpstr>
      <vt:lpstr>_____________________ AABBBBBBAAABBABABBBB </vt:lpstr>
      <vt:lpstr>Activity</vt:lpstr>
      <vt:lpstr>How Zipping Works</vt:lpstr>
      <vt:lpstr>Evaluating Data File Formats</vt:lpstr>
      <vt:lpstr>The txt file Extension</vt:lpstr>
      <vt:lpstr>The WAV Extension</vt:lpstr>
      <vt:lpstr>Activity: The Difference between JPEG and BMP</vt:lpstr>
      <vt:lpstr>https://1stwebdesigner.com/image-file-types/ </vt:lpstr>
      <vt:lpstr>Inputting Text, Sound and Images Using Digital Devices</vt:lpstr>
      <vt:lpstr>Inputting Text using a Keyboard on a PC or Laptop </vt:lpstr>
      <vt:lpstr>PowerPoint Presentation</vt:lpstr>
      <vt:lpstr>PowerPoint Presentation</vt:lpstr>
      <vt:lpstr>Q. Convert 072 069 076 076 079 032 087 079 082 076 068 into ASCII Text</vt:lpstr>
      <vt:lpstr>Features of a Keyboard (How it Works/ how data is input) </vt:lpstr>
      <vt:lpstr>Inputting Text using a Touch Screen on a PC, Tablet or Smart Phone </vt:lpstr>
      <vt:lpstr>Types Of Touchscreen – Are there different types?</vt:lpstr>
      <vt:lpstr>PowerPoint Presentation</vt:lpstr>
      <vt:lpstr>Describe how a typical touch screen can be used to input text into a smart phone  [4]</vt:lpstr>
      <vt:lpstr>Inputting Sound using a Microphone on a PC, Laptop, Tablet or Smart Phone </vt:lpstr>
      <vt:lpstr>PowerPoint Presentation</vt:lpstr>
      <vt:lpstr>PowerPoint Presentation</vt:lpstr>
      <vt:lpstr>Describe how voice can be input and recorded on a PC            [4]</vt:lpstr>
      <vt:lpstr>Speech Recognition Systems </vt:lpstr>
      <vt:lpstr>The Process</vt:lpstr>
      <vt:lpstr>Inputting Video using a Camera on a PC, Laptop, Tablet or Smart Phone</vt:lpstr>
      <vt:lpstr>Fact File Questions</vt:lpstr>
      <vt:lpstr>Mind Map Me</vt:lpstr>
    </vt:vector>
  </TitlesOfParts>
  <Company>C2k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Compression</dc:title>
  <dc:creator>James Butler</dc:creator>
  <cp:lastModifiedBy>J Butler</cp:lastModifiedBy>
  <cp:revision>32</cp:revision>
  <dcterms:created xsi:type="dcterms:W3CDTF">2018-11-16T11:39:12Z</dcterms:created>
  <dcterms:modified xsi:type="dcterms:W3CDTF">2026-04-20T08:31:16Z</dcterms:modified>
</cp:coreProperties>
</file>