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7" r:id="rId9"/>
    <p:sldId id="278" r:id="rId10"/>
    <p:sldId id="263" r:id="rId11"/>
    <p:sldId id="264" r:id="rId12"/>
    <p:sldId id="265" r:id="rId13"/>
    <p:sldId id="266" r:id="rId14"/>
    <p:sldId id="267" r:id="rId15"/>
    <p:sldId id="268" r:id="rId16"/>
    <p:sldId id="269" r:id="rId17"/>
    <p:sldId id="279" r:id="rId18"/>
    <p:sldId id="280" r:id="rId19"/>
    <p:sldId id="281" r:id="rId20"/>
    <p:sldId id="270" r:id="rId21"/>
    <p:sldId id="271" r:id="rId22"/>
    <p:sldId id="282" r:id="rId23"/>
    <p:sldId id="283" r:id="rId24"/>
    <p:sldId id="272" r:id="rId25"/>
    <p:sldId id="276" r:id="rId26"/>
    <p:sldId id="273" r:id="rId27"/>
    <p:sldId id="274" r:id="rId28"/>
    <p:sldId id="275"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FD34C"/>
    <a:srgbClr val="3ED0FF"/>
    <a:srgbClr val="FF913A"/>
    <a:srgbClr val="FB4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2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BDF83F-E55E-4903-A20A-58B99ADCB548}" type="doc">
      <dgm:prSet loTypeId="urn:microsoft.com/office/officeart/2005/8/layout/radial1" loCatId="cycle" qsTypeId="urn:microsoft.com/office/officeart/2005/8/quickstyle/3d7" qsCatId="3D" csTypeId="urn:microsoft.com/office/officeart/2005/8/colors/colorful1" csCatId="colorful" phldr="1"/>
      <dgm:spPr/>
      <dgm:t>
        <a:bodyPr/>
        <a:lstStyle/>
        <a:p>
          <a:endParaRPr lang="en-GB"/>
        </a:p>
      </dgm:t>
    </dgm:pt>
    <dgm:pt modelId="{D51E2A28-B48F-4F50-83A5-8328E8C83F6F}">
      <dgm:prSet/>
      <dgm:spPr/>
      <dgm:t>
        <a:bodyPr/>
        <a:lstStyle/>
        <a:p>
          <a:pPr algn="ctr"/>
          <a:r>
            <a:rPr lang="en-GB"/>
            <a:t>Security</a:t>
          </a:r>
        </a:p>
      </dgm:t>
    </dgm:pt>
    <dgm:pt modelId="{E721FE9E-5FF4-42CF-833C-4CA1CAC83909}">
      <dgm:prSet phldrT="[Text]"/>
      <dgm:spPr/>
      <dgm:t>
        <a:bodyPr/>
        <a:lstStyle/>
        <a:p>
          <a:pPr algn="ctr"/>
          <a:r>
            <a:rPr lang="en-GB"/>
            <a:t>Memory managment</a:t>
          </a:r>
        </a:p>
      </dgm:t>
    </dgm:pt>
    <dgm:pt modelId="{F42DB7D6-936F-41CC-AC0A-6D4230E8DEE3}">
      <dgm:prSet phldrT="[Text]"/>
      <dgm:spPr/>
      <dgm:t>
        <a:bodyPr/>
        <a:lstStyle/>
        <a:p>
          <a:pPr algn="ctr"/>
          <a:r>
            <a:rPr lang="en-GB" dirty="0"/>
            <a:t>Multi-tasking</a:t>
          </a:r>
        </a:p>
      </dgm:t>
    </dgm:pt>
    <dgm:pt modelId="{945EE874-2246-417E-8245-578460033F44}">
      <dgm:prSet phldrT="[Text]"/>
      <dgm:spPr/>
      <dgm:t>
        <a:bodyPr/>
        <a:lstStyle/>
        <a:p>
          <a:pPr algn="ctr"/>
          <a:r>
            <a:rPr lang="en-GB"/>
            <a:t>Peripheral management</a:t>
          </a:r>
        </a:p>
      </dgm:t>
    </dgm:pt>
    <dgm:pt modelId="{A6373201-1423-4709-B6D3-D1F00F0CCA87}">
      <dgm:prSet phldrT="[Text]"/>
      <dgm:spPr/>
      <dgm:t>
        <a:bodyPr/>
        <a:lstStyle/>
        <a:p>
          <a:pPr algn="ctr"/>
          <a:r>
            <a:rPr lang="en-GB"/>
            <a:t>User interface</a:t>
          </a:r>
        </a:p>
      </dgm:t>
    </dgm:pt>
    <dgm:pt modelId="{D6673F74-503C-4247-A899-F704BCE8F535}">
      <dgm:prSet phldrT="[Text]"/>
      <dgm:spPr/>
      <dgm:t>
        <a:bodyPr/>
        <a:lstStyle/>
        <a:p>
          <a:pPr algn="ctr"/>
          <a:r>
            <a:rPr lang="en-GB" dirty="0"/>
            <a:t>Operating System</a:t>
          </a:r>
        </a:p>
      </dgm:t>
    </dgm:pt>
    <dgm:pt modelId="{F4DFDACA-0F42-4F74-8B21-0B109FB74DF2}" type="sibTrans" cxnId="{AAA1F93E-5DDC-4A59-8E33-D533E7AB6ED2}">
      <dgm:prSet/>
      <dgm:spPr/>
      <dgm:t>
        <a:bodyPr/>
        <a:lstStyle/>
        <a:p>
          <a:pPr algn="ctr"/>
          <a:endParaRPr lang="en-GB"/>
        </a:p>
      </dgm:t>
    </dgm:pt>
    <dgm:pt modelId="{A03A632C-739D-4E75-915C-AE902A19C8A1}" type="parTrans" cxnId="{AAA1F93E-5DDC-4A59-8E33-D533E7AB6ED2}">
      <dgm:prSet/>
      <dgm:spPr/>
      <dgm:t>
        <a:bodyPr/>
        <a:lstStyle/>
        <a:p>
          <a:pPr algn="ctr"/>
          <a:endParaRPr lang="en-GB"/>
        </a:p>
      </dgm:t>
    </dgm:pt>
    <dgm:pt modelId="{38F8D3BC-8C3C-4F95-B18C-F0F5688BF8C8}" type="sibTrans" cxnId="{B992CA2A-B000-4A3C-B18E-8811F76AE305}">
      <dgm:prSet/>
      <dgm:spPr/>
      <dgm:t>
        <a:bodyPr/>
        <a:lstStyle/>
        <a:p>
          <a:pPr algn="ctr"/>
          <a:endParaRPr lang="en-GB"/>
        </a:p>
      </dgm:t>
    </dgm:pt>
    <dgm:pt modelId="{1B322902-8E67-46AF-AB21-561954B08227}" type="parTrans" cxnId="{B992CA2A-B000-4A3C-B18E-8811F76AE305}">
      <dgm:prSet/>
      <dgm:spPr/>
      <dgm:t>
        <a:bodyPr/>
        <a:lstStyle/>
        <a:p>
          <a:pPr algn="ctr"/>
          <a:endParaRPr lang="en-GB"/>
        </a:p>
      </dgm:t>
    </dgm:pt>
    <dgm:pt modelId="{4A794B14-ADAB-45EB-98F1-AED3D96C42D8}" type="sibTrans" cxnId="{B214E0F0-7A8F-40AB-8F5E-20B3D44A55D8}">
      <dgm:prSet/>
      <dgm:spPr/>
      <dgm:t>
        <a:bodyPr/>
        <a:lstStyle/>
        <a:p>
          <a:pPr algn="ctr"/>
          <a:endParaRPr lang="en-GB"/>
        </a:p>
      </dgm:t>
    </dgm:pt>
    <dgm:pt modelId="{DAB3863B-6516-4BD9-A3E2-0F3BC705AE46}" type="parTrans" cxnId="{B214E0F0-7A8F-40AB-8F5E-20B3D44A55D8}">
      <dgm:prSet/>
      <dgm:spPr/>
      <dgm:t>
        <a:bodyPr/>
        <a:lstStyle/>
        <a:p>
          <a:pPr algn="ctr"/>
          <a:endParaRPr lang="en-GB"/>
        </a:p>
      </dgm:t>
    </dgm:pt>
    <dgm:pt modelId="{C053320B-09B7-4E2A-9031-46D76623E85E}" type="sibTrans" cxnId="{F9C3ACC0-BBC8-457C-9A24-51E339C677DC}">
      <dgm:prSet/>
      <dgm:spPr/>
      <dgm:t>
        <a:bodyPr/>
        <a:lstStyle/>
        <a:p>
          <a:pPr algn="ctr"/>
          <a:endParaRPr lang="en-GB"/>
        </a:p>
      </dgm:t>
    </dgm:pt>
    <dgm:pt modelId="{8A65A310-D99A-4735-9AD8-B507F2CCE14C}" type="parTrans" cxnId="{F9C3ACC0-BBC8-457C-9A24-51E339C677DC}">
      <dgm:prSet/>
      <dgm:spPr/>
      <dgm:t>
        <a:bodyPr/>
        <a:lstStyle/>
        <a:p>
          <a:pPr algn="ctr"/>
          <a:endParaRPr lang="en-GB"/>
        </a:p>
      </dgm:t>
    </dgm:pt>
    <dgm:pt modelId="{E366EFB4-A685-429A-8B8E-F7CC92874EEC}" type="sibTrans" cxnId="{19628D1B-0385-4990-A2ED-EF521A2FB438}">
      <dgm:prSet/>
      <dgm:spPr/>
      <dgm:t>
        <a:bodyPr/>
        <a:lstStyle/>
        <a:p>
          <a:pPr algn="ctr"/>
          <a:endParaRPr lang="en-GB"/>
        </a:p>
      </dgm:t>
    </dgm:pt>
    <dgm:pt modelId="{141D3E4A-6EA8-420A-968C-FB390A885078}" type="parTrans" cxnId="{19628D1B-0385-4990-A2ED-EF521A2FB438}">
      <dgm:prSet/>
      <dgm:spPr/>
      <dgm:t>
        <a:bodyPr/>
        <a:lstStyle/>
        <a:p>
          <a:pPr algn="ctr"/>
          <a:endParaRPr lang="en-GB"/>
        </a:p>
      </dgm:t>
    </dgm:pt>
    <dgm:pt modelId="{E811FDEB-21E9-4367-9B33-B66445908F08}" type="sibTrans" cxnId="{F5B11E5A-1D37-4E0C-9753-7E0C42D44BC6}">
      <dgm:prSet/>
      <dgm:spPr/>
      <dgm:t>
        <a:bodyPr/>
        <a:lstStyle/>
        <a:p>
          <a:pPr algn="ctr"/>
          <a:endParaRPr lang="en-GB"/>
        </a:p>
      </dgm:t>
    </dgm:pt>
    <dgm:pt modelId="{167F4D0E-B100-4123-B07E-128B8DC0C59F}" type="parTrans" cxnId="{F5B11E5A-1D37-4E0C-9753-7E0C42D44BC6}">
      <dgm:prSet/>
      <dgm:spPr/>
      <dgm:t>
        <a:bodyPr/>
        <a:lstStyle/>
        <a:p>
          <a:pPr algn="ctr"/>
          <a:endParaRPr lang="en-GB"/>
        </a:p>
      </dgm:t>
    </dgm:pt>
    <dgm:pt modelId="{E19CCAEC-9C0A-4AFE-94C9-F598E9FE75DF}" type="pres">
      <dgm:prSet presAssocID="{B3BDF83F-E55E-4903-A20A-58B99ADCB548}" presName="cycle" presStyleCnt="0">
        <dgm:presLayoutVars>
          <dgm:chMax val="1"/>
          <dgm:dir/>
          <dgm:animLvl val="ctr"/>
          <dgm:resizeHandles val="exact"/>
        </dgm:presLayoutVars>
      </dgm:prSet>
      <dgm:spPr/>
    </dgm:pt>
    <dgm:pt modelId="{642EA517-B14E-4D05-B6A3-861BDF30840A}" type="pres">
      <dgm:prSet presAssocID="{D6673F74-503C-4247-A899-F704BCE8F535}" presName="centerShape" presStyleLbl="node0" presStyleIdx="0" presStyleCnt="1" custScaleX="129827" custScaleY="112666"/>
      <dgm:spPr/>
    </dgm:pt>
    <dgm:pt modelId="{3A496654-CBCF-4121-B60C-6C8F8A5B877C}" type="pres">
      <dgm:prSet presAssocID="{167F4D0E-B100-4123-B07E-128B8DC0C59F}" presName="Name9" presStyleLbl="parChTrans1D2" presStyleIdx="0" presStyleCnt="5"/>
      <dgm:spPr/>
    </dgm:pt>
    <dgm:pt modelId="{A0F62480-95BB-4643-A51E-630DD8FFD924}" type="pres">
      <dgm:prSet presAssocID="{167F4D0E-B100-4123-B07E-128B8DC0C59F}" presName="connTx" presStyleLbl="parChTrans1D2" presStyleIdx="0" presStyleCnt="5"/>
      <dgm:spPr/>
    </dgm:pt>
    <dgm:pt modelId="{90C7D675-505C-48F6-8AB6-FF688924E076}" type="pres">
      <dgm:prSet presAssocID="{A6373201-1423-4709-B6D3-D1F00F0CCA87}" presName="node" presStyleLbl="node1" presStyleIdx="0" presStyleCnt="5" custRadScaleRad="96250">
        <dgm:presLayoutVars>
          <dgm:bulletEnabled val="1"/>
        </dgm:presLayoutVars>
      </dgm:prSet>
      <dgm:spPr/>
    </dgm:pt>
    <dgm:pt modelId="{EB0A8B81-AB39-4770-995A-FA6223A63B28}" type="pres">
      <dgm:prSet presAssocID="{141D3E4A-6EA8-420A-968C-FB390A885078}" presName="Name9" presStyleLbl="parChTrans1D2" presStyleIdx="1" presStyleCnt="5"/>
      <dgm:spPr/>
    </dgm:pt>
    <dgm:pt modelId="{B91E0B3A-9BBC-4048-A7E7-C9F7EC4A6F66}" type="pres">
      <dgm:prSet presAssocID="{141D3E4A-6EA8-420A-968C-FB390A885078}" presName="connTx" presStyleLbl="parChTrans1D2" presStyleIdx="1" presStyleCnt="5"/>
      <dgm:spPr/>
    </dgm:pt>
    <dgm:pt modelId="{C213CB6E-2F07-41D1-868C-93C985536BE9}" type="pres">
      <dgm:prSet presAssocID="{945EE874-2246-417E-8245-578460033F44}" presName="node" presStyleLbl="node1" presStyleIdx="1" presStyleCnt="5">
        <dgm:presLayoutVars>
          <dgm:bulletEnabled val="1"/>
        </dgm:presLayoutVars>
      </dgm:prSet>
      <dgm:spPr/>
    </dgm:pt>
    <dgm:pt modelId="{4AF46DAA-0CF2-400E-8F7D-B5565F718CE2}" type="pres">
      <dgm:prSet presAssocID="{8A65A310-D99A-4735-9AD8-B507F2CCE14C}" presName="Name9" presStyleLbl="parChTrans1D2" presStyleIdx="2" presStyleCnt="5"/>
      <dgm:spPr/>
    </dgm:pt>
    <dgm:pt modelId="{7331E8CC-DFA8-4F86-B037-B68ECA77F7EA}" type="pres">
      <dgm:prSet presAssocID="{8A65A310-D99A-4735-9AD8-B507F2CCE14C}" presName="connTx" presStyleLbl="parChTrans1D2" presStyleIdx="2" presStyleCnt="5"/>
      <dgm:spPr/>
    </dgm:pt>
    <dgm:pt modelId="{A817EAE9-617E-460E-B2A7-F595EBFC397E}" type="pres">
      <dgm:prSet presAssocID="{F42DB7D6-936F-41CC-AC0A-6D4230E8DEE3}" presName="node" presStyleLbl="node1" presStyleIdx="2" presStyleCnt="5">
        <dgm:presLayoutVars>
          <dgm:bulletEnabled val="1"/>
        </dgm:presLayoutVars>
      </dgm:prSet>
      <dgm:spPr/>
    </dgm:pt>
    <dgm:pt modelId="{9EB29836-5CDF-4D20-ACCC-49B2B9C04A9E}" type="pres">
      <dgm:prSet presAssocID="{DAB3863B-6516-4BD9-A3E2-0F3BC705AE46}" presName="Name9" presStyleLbl="parChTrans1D2" presStyleIdx="3" presStyleCnt="5"/>
      <dgm:spPr/>
    </dgm:pt>
    <dgm:pt modelId="{C7721882-51AD-4BCD-93AF-E376E6BD6E99}" type="pres">
      <dgm:prSet presAssocID="{DAB3863B-6516-4BD9-A3E2-0F3BC705AE46}" presName="connTx" presStyleLbl="parChTrans1D2" presStyleIdx="3" presStyleCnt="5"/>
      <dgm:spPr/>
    </dgm:pt>
    <dgm:pt modelId="{CAF2A2C5-8AB0-49A2-9A66-AD468FB7576E}" type="pres">
      <dgm:prSet presAssocID="{E721FE9E-5FF4-42CF-833C-4CA1CAC83909}" presName="node" presStyleLbl="node1" presStyleIdx="3" presStyleCnt="5">
        <dgm:presLayoutVars>
          <dgm:bulletEnabled val="1"/>
        </dgm:presLayoutVars>
      </dgm:prSet>
      <dgm:spPr/>
    </dgm:pt>
    <dgm:pt modelId="{7BB17543-3809-4EE7-B1E0-87A80B7BC865}" type="pres">
      <dgm:prSet presAssocID="{1B322902-8E67-46AF-AB21-561954B08227}" presName="Name9" presStyleLbl="parChTrans1D2" presStyleIdx="4" presStyleCnt="5"/>
      <dgm:spPr/>
    </dgm:pt>
    <dgm:pt modelId="{626A5775-8153-454A-90AC-6129B23B442F}" type="pres">
      <dgm:prSet presAssocID="{1B322902-8E67-46AF-AB21-561954B08227}" presName="connTx" presStyleLbl="parChTrans1D2" presStyleIdx="4" presStyleCnt="5"/>
      <dgm:spPr/>
    </dgm:pt>
    <dgm:pt modelId="{60F2EDF9-76FA-4C57-BA0C-7111C8789F24}" type="pres">
      <dgm:prSet presAssocID="{D51E2A28-B48F-4F50-83A5-8328E8C83F6F}" presName="node" presStyleLbl="node1" presStyleIdx="4" presStyleCnt="5">
        <dgm:presLayoutVars>
          <dgm:bulletEnabled val="1"/>
        </dgm:presLayoutVars>
      </dgm:prSet>
      <dgm:spPr/>
    </dgm:pt>
  </dgm:ptLst>
  <dgm:cxnLst>
    <dgm:cxn modelId="{A0A4B914-8B51-4949-88D0-26B5E3DFBE95}" type="presOf" srcId="{1B322902-8E67-46AF-AB21-561954B08227}" destId="{626A5775-8153-454A-90AC-6129B23B442F}" srcOrd="1" destOrd="0" presId="urn:microsoft.com/office/officeart/2005/8/layout/radial1"/>
    <dgm:cxn modelId="{19628D1B-0385-4990-A2ED-EF521A2FB438}" srcId="{D6673F74-503C-4247-A899-F704BCE8F535}" destId="{945EE874-2246-417E-8245-578460033F44}" srcOrd="1" destOrd="0" parTransId="{141D3E4A-6EA8-420A-968C-FB390A885078}" sibTransId="{E366EFB4-A685-429A-8B8E-F7CC92874EEC}"/>
    <dgm:cxn modelId="{B992CA2A-B000-4A3C-B18E-8811F76AE305}" srcId="{D6673F74-503C-4247-A899-F704BCE8F535}" destId="{D51E2A28-B48F-4F50-83A5-8328E8C83F6F}" srcOrd="4" destOrd="0" parTransId="{1B322902-8E67-46AF-AB21-561954B08227}" sibTransId="{38F8D3BC-8C3C-4F95-B18C-F0F5688BF8C8}"/>
    <dgm:cxn modelId="{AAA1F93E-5DDC-4A59-8E33-D533E7AB6ED2}" srcId="{B3BDF83F-E55E-4903-A20A-58B99ADCB548}" destId="{D6673F74-503C-4247-A899-F704BCE8F535}" srcOrd="0" destOrd="0" parTransId="{A03A632C-739D-4E75-915C-AE902A19C8A1}" sibTransId="{F4DFDACA-0F42-4F74-8B21-0B109FB74DF2}"/>
    <dgm:cxn modelId="{D2E4EE5F-D8BB-4FA7-84C2-2B4F3B51316C}" type="presOf" srcId="{DAB3863B-6516-4BD9-A3E2-0F3BC705AE46}" destId="{C7721882-51AD-4BCD-93AF-E376E6BD6E99}" srcOrd="1" destOrd="0" presId="urn:microsoft.com/office/officeart/2005/8/layout/radial1"/>
    <dgm:cxn modelId="{61723C43-0BB3-4C6C-A580-E5520270FA11}" type="presOf" srcId="{D51E2A28-B48F-4F50-83A5-8328E8C83F6F}" destId="{60F2EDF9-76FA-4C57-BA0C-7111C8789F24}" srcOrd="0" destOrd="0" presId="urn:microsoft.com/office/officeart/2005/8/layout/radial1"/>
    <dgm:cxn modelId="{F8C3C346-C91B-4264-BB38-3754E838527C}" type="presOf" srcId="{8A65A310-D99A-4735-9AD8-B507F2CCE14C}" destId="{4AF46DAA-0CF2-400E-8F7D-B5565F718CE2}" srcOrd="0" destOrd="0" presId="urn:microsoft.com/office/officeart/2005/8/layout/radial1"/>
    <dgm:cxn modelId="{9C9FCC52-E5A5-426F-92CD-21A39FE0814C}" type="presOf" srcId="{167F4D0E-B100-4123-B07E-128B8DC0C59F}" destId="{A0F62480-95BB-4643-A51E-630DD8FFD924}" srcOrd="1" destOrd="0" presId="urn:microsoft.com/office/officeart/2005/8/layout/radial1"/>
    <dgm:cxn modelId="{F5B11E5A-1D37-4E0C-9753-7E0C42D44BC6}" srcId="{D6673F74-503C-4247-A899-F704BCE8F535}" destId="{A6373201-1423-4709-B6D3-D1F00F0CCA87}" srcOrd="0" destOrd="0" parTransId="{167F4D0E-B100-4123-B07E-128B8DC0C59F}" sibTransId="{E811FDEB-21E9-4367-9B33-B66445908F08}"/>
    <dgm:cxn modelId="{45666487-FA0D-4450-89E1-B47E3885A1CC}" type="presOf" srcId="{A6373201-1423-4709-B6D3-D1F00F0CCA87}" destId="{90C7D675-505C-48F6-8AB6-FF688924E076}" srcOrd="0" destOrd="0" presId="urn:microsoft.com/office/officeart/2005/8/layout/radial1"/>
    <dgm:cxn modelId="{05265F91-88A0-453A-9C15-A7D42E096C30}" type="presOf" srcId="{8A65A310-D99A-4735-9AD8-B507F2CCE14C}" destId="{7331E8CC-DFA8-4F86-B037-B68ECA77F7EA}" srcOrd="1" destOrd="0" presId="urn:microsoft.com/office/officeart/2005/8/layout/radial1"/>
    <dgm:cxn modelId="{AD035591-25D1-472B-881A-8100596DBEFC}" type="presOf" srcId="{141D3E4A-6EA8-420A-968C-FB390A885078}" destId="{B91E0B3A-9BBC-4048-A7E7-C9F7EC4A6F66}" srcOrd="1" destOrd="0" presId="urn:microsoft.com/office/officeart/2005/8/layout/radial1"/>
    <dgm:cxn modelId="{945B8996-6808-4580-93AB-DF1FF75C3987}" type="presOf" srcId="{E721FE9E-5FF4-42CF-833C-4CA1CAC83909}" destId="{CAF2A2C5-8AB0-49A2-9A66-AD468FB7576E}" srcOrd="0" destOrd="0" presId="urn:microsoft.com/office/officeart/2005/8/layout/radial1"/>
    <dgm:cxn modelId="{DEEE39AA-AFF1-4A9C-8791-C6C7ACA7347E}" type="presOf" srcId="{1B322902-8E67-46AF-AB21-561954B08227}" destId="{7BB17543-3809-4EE7-B1E0-87A80B7BC865}" srcOrd="0" destOrd="0" presId="urn:microsoft.com/office/officeart/2005/8/layout/radial1"/>
    <dgm:cxn modelId="{C1EBEEAB-B963-4A7C-8465-A72303BDBA0F}" type="presOf" srcId="{167F4D0E-B100-4123-B07E-128B8DC0C59F}" destId="{3A496654-CBCF-4121-B60C-6C8F8A5B877C}" srcOrd="0" destOrd="0" presId="urn:microsoft.com/office/officeart/2005/8/layout/radial1"/>
    <dgm:cxn modelId="{84EBB6AF-A2F4-462F-99F9-3671AAD32A81}" type="presOf" srcId="{B3BDF83F-E55E-4903-A20A-58B99ADCB548}" destId="{E19CCAEC-9C0A-4AFE-94C9-F598E9FE75DF}" srcOrd="0" destOrd="0" presId="urn:microsoft.com/office/officeart/2005/8/layout/radial1"/>
    <dgm:cxn modelId="{9528A1BD-561F-46B4-8F25-99B435C3B199}" type="presOf" srcId="{DAB3863B-6516-4BD9-A3E2-0F3BC705AE46}" destId="{9EB29836-5CDF-4D20-ACCC-49B2B9C04A9E}" srcOrd="0" destOrd="0" presId="urn:microsoft.com/office/officeart/2005/8/layout/radial1"/>
    <dgm:cxn modelId="{F9C3ACC0-BBC8-457C-9A24-51E339C677DC}" srcId="{D6673F74-503C-4247-A899-F704BCE8F535}" destId="{F42DB7D6-936F-41CC-AC0A-6D4230E8DEE3}" srcOrd="2" destOrd="0" parTransId="{8A65A310-D99A-4735-9AD8-B507F2CCE14C}" sibTransId="{C053320B-09B7-4E2A-9031-46D76623E85E}"/>
    <dgm:cxn modelId="{C72B50C5-6B93-4A90-ACC4-48F68DE88152}" type="presOf" srcId="{141D3E4A-6EA8-420A-968C-FB390A885078}" destId="{EB0A8B81-AB39-4770-995A-FA6223A63B28}" srcOrd="0" destOrd="0" presId="urn:microsoft.com/office/officeart/2005/8/layout/radial1"/>
    <dgm:cxn modelId="{0EA537C7-A42F-4C6B-99FF-30B1FC108C9C}" type="presOf" srcId="{945EE874-2246-417E-8245-578460033F44}" destId="{C213CB6E-2F07-41D1-868C-93C985536BE9}" srcOrd="0" destOrd="0" presId="urn:microsoft.com/office/officeart/2005/8/layout/radial1"/>
    <dgm:cxn modelId="{D08186DC-E5CE-4848-9F9B-38B095538DE7}" type="presOf" srcId="{F42DB7D6-936F-41CC-AC0A-6D4230E8DEE3}" destId="{A817EAE9-617E-460E-B2A7-F595EBFC397E}" srcOrd="0" destOrd="0" presId="urn:microsoft.com/office/officeart/2005/8/layout/radial1"/>
    <dgm:cxn modelId="{B214E0F0-7A8F-40AB-8F5E-20B3D44A55D8}" srcId="{D6673F74-503C-4247-A899-F704BCE8F535}" destId="{E721FE9E-5FF4-42CF-833C-4CA1CAC83909}" srcOrd="3" destOrd="0" parTransId="{DAB3863B-6516-4BD9-A3E2-0F3BC705AE46}" sibTransId="{4A794B14-ADAB-45EB-98F1-AED3D96C42D8}"/>
    <dgm:cxn modelId="{A491F1F8-CC26-40FD-A2B8-D4E4492F2313}" type="presOf" srcId="{D6673F74-503C-4247-A899-F704BCE8F535}" destId="{642EA517-B14E-4D05-B6A3-861BDF30840A}" srcOrd="0" destOrd="0" presId="urn:microsoft.com/office/officeart/2005/8/layout/radial1"/>
    <dgm:cxn modelId="{A68F6C59-F060-4152-862D-6F259E5BD41F}" type="presParOf" srcId="{E19CCAEC-9C0A-4AFE-94C9-F598E9FE75DF}" destId="{642EA517-B14E-4D05-B6A3-861BDF30840A}" srcOrd="0" destOrd="0" presId="urn:microsoft.com/office/officeart/2005/8/layout/radial1"/>
    <dgm:cxn modelId="{7E80C094-C13C-44BB-B7B6-DB9FC9557DAD}" type="presParOf" srcId="{E19CCAEC-9C0A-4AFE-94C9-F598E9FE75DF}" destId="{3A496654-CBCF-4121-B60C-6C8F8A5B877C}" srcOrd="1" destOrd="0" presId="urn:microsoft.com/office/officeart/2005/8/layout/radial1"/>
    <dgm:cxn modelId="{7B5F1A81-F1C0-4E1B-9B67-F32C2465F796}" type="presParOf" srcId="{3A496654-CBCF-4121-B60C-6C8F8A5B877C}" destId="{A0F62480-95BB-4643-A51E-630DD8FFD924}" srcOrd="0" destOrd="0" presId="urn:microsoft.com/office/officeart/2005/8/layout/radial1"/>
    <dgm:cxn modelId="{49E712D6-7169-41E8-9555-EE98B1EAF8B6}" type="presParOf" srcId="{E19CCAEC-9C0A-4AFE-94C9-F598E9FE75DF}" destId="{90C7D675-505C-48F6-8AB6-FF688924E076}" srcOrd="2" destOrd="0" presId="urn:microsoft.com/office/officeart/2005/8/layout/radial1"/>
    <dgm:cxn modelId="{57D44042-7057-48E1-B246-0E034905C9AE}" type="presParOf" srcId="{E19CCAEC-9C0A-4AFE-94C9-F598E9FE75DF}" destId="{EB0A8B81-AB39-4770-995A-FA6223A63B28}" srcOrd="3" destOrd="0" presId="urn:microsoft.com/office/officeart/2005/8/layout/radial1"/>
    <dgm:cxn modelId="{29079B03-68BD-440E-94AB-B68EF49819A5}" type="presParOf" srcId="{EB0A8B81-AB39-4770-995A-FA6223A63B28}" destId="{B91E0B3A-9BBC-4048-A7E7-C9F7EC4A6F66}" srcOrd="0" destOrd="0" presId="urn:microsoft.com/office/officeart/2005/8/layout/radial1"/>
    <dgm:cxn modelId="{469C026A-86DB-4403-AB89-F1AA54292051}" type="presParOf" srcId="{E19CCAEC-9C0A-4AFE-94C9-F598E9FE75DF}" destId="{C213CB6E-2F07-41D1-868C-93C985536BE9}" srcOrd="4" destOrd="0" presId="urn:microsoft.com/office/officeart/2005/8/layout/radial1"/>
    <dgm:cxn modelId="{441E03A4-FF8F-462F-BA96-C14365236D11}" type="presParOf" srcId="{E19CCAEC-9C0A-4AFE-94C9-F598E9FE75DF}" destId="{4AF46DAA-0CF2-400E-8F7D-B5565F718CE2}" srcOrd="5" destOrd="0" presId="urn:microsoft.com/office/officeart/2005/8/layout/radial1"/>
    <dgm:cxn modelId="{49DF5AB5-A57F-4BB7-BDF6-49584EE8F460}" type="presParOf" srcId="{4AF46DAA-0CF2-400E-8F7D-B5565F718CE2}" destId="{7331E8CC-DFA8-4F86-B037-B68ECA77F7EA}" srcOrd="0" destOrd="0" presId="urn:microsoft.com/office/officeart/2005/8/layout/radial1"/>
    <dgm:cxn modelId="{D27EC3C2-A344-4C19-8B37-1BFFD9ED219D}" type="presParOf" srcId="{E19CCAEC-9C0A-4AFE-94C9-F598E9FE75DF}" destId="{A817EAE9-617E-460E-B2A7-F595EBFC397E}" srcOrd="6" destOrd="0" presId="urn:microsoft.com/office/officeart/2005/8/layout/radial1"/>
    <dgm:cxn modelId="{E9C91AF4-ADA6-4785-9B02-65CBF94D0022}" type="presParOf" srcId="{E19CCAEC-9C0A-4AFE-94C9-F598E9FE75DF}" destId="{9EB29836-5CDF-4D20-ACCC-49B2B9C04A9E}" srcOrd="7" destOrd="0" presId="urn:microsoft.com/office/officeart/2005/8/layout/radial1"/>
    <dgm:cxn modelId="{726F10F7-3686-4273-B66B-714F679AAE02}" type="presParOf" srcId="{9EB29836-5CDF-4D20-ACCC-49B2B9C04A9E}" destId="{C7721882-51AD-4BCD-93AF-E376E6BD6E99}" srcOrd="0" destOrd="0" presId="urn:microsoft.com/office/officeart/2005/8/layout/radial1"/>
    <dgm:cxn modelId="{E889BB0C-67EE-40D0-B7C3-4B1A4439057B}" type="presParOf" srcId="{E19CCAEC-9C0A-4AFE-94C9-F598E9FE75DF}" destId="{CAF2A2C5-8AB0-49A2-9A66-AD468FB7576E}" srcOrd="8" destOrd="0" presId="urn:microsoft.com/office/officeart/2005/8/layout/radial1"/>
    <dgm:cxn modelId="{DAD61C71-31BB-44DA-9D55-91BB6BC39AE9}" type="presParOf" srcId="{E19CCAEC-9C0A-4AFE-94C9-F598E9FE75DF}" destId="{7BB17543-3809-4EE7-B1E0-87A80B7BC865}" srcOrd="9" destOrd="0" presId="urn:microsoft.com/office/officeart/2005/8/layout/radial1"/>
    <dgm:cxn modelId="{52A53C43-3C6F-4E9F-ABA4-70F1C005269E}" type="presParOf" srcId="{7BB17543-3809-4EE7-B1E0-87A80B7BC865}" destId="{626A5775-8153-454A-90AC-6129B23B442F}" srcOrd="0" destOrd="0" presId="urn:microsoft.com/office/officeart/2005/8/layout/radial1"/>
    <dgm:cxn modelId="{AA73BC43-BDE8-49B4-BE29-A7A076488CC2}" type="presParOf" srcId="{E19CCAEC-9C0A-4AFE-94C9-F598E9FE75DF}" destId="{60F2EDF9-76FA-4C57-BA0C-7111C8789F24}" srcOrd="10"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EA517-B14E-4D05-B6A3-861BDF30840A}">
      <dsp:nvSpPr>
        <dsp:cNvPr id="0" name=""/>
        <dsp:cNvSpPr/>
      </dsp:nvSpPr>
      <dsp:spPr>
        <a:xfrm>
          <a:off x="1837445" y="2309583"/>
          <a:ext cx="2162553" cy="1876699"/>
        </a:xfrm>
        <a:prstGeom prst="ellipse">
          <a:avLst/>
        </a:prstGeom>
        <a:solidFill>
          <a:schemeClr val="accent1">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Operating System</a:t>
          </a:r>
        </a:p>
      </dsp:txBody>
      <dsp:txXfrm>
        <a:off x="2154144" y="2584419"/>
        <a:ext cx="1529155" cy="1327027"/>
      </dsp:txXfrm>
    </dsp:sp>
    <dsp:sp modelId="{3A496654-CBCF-4121-B60C-6C8F8A5B877C}">
      <dsp:nvSpPr>
        <dsp:cNvPr id="0" name=""/>
        <dsp:cNvSpPr/>
      </dsp:nvSpPr>
      <dsp:spPr>
        <a:xfrm rot="16200000">
          <a:off x="2760300" y="2125479"/>
          <a:ext cx="316843" cy="51363"/>
        </a:xfrm>
        <a:custGeom>
          <a:avLst/>
          <a:gdLst/>
          <a:ahLst/>
          <a:cxnLst/>
          <a:rect l="0" t="0" r="0" b="0"/>
          <a:pathLst>
            <a:path>
              <a:moveTo>
                <a:pt x="0" y="25681"/>
              </a:moveTo>
              <a:lnTo>
                <a:pt x="316843" y="2568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910800" y="2143240"/>
        <a:ext cx="15842" cy="15842"/>
      </dsp:txXfrm>
    </dsp:sp>
    <dsp:sp modelId="{90C7D675-505C-48F6-8AB6-FF688924E076}">
      <dsp:nvSpPr>
        <dsp:cNvPr id="0" name=""/>
        <dsp:cNvSpPr/>
      </dsp:nvSpPr>
      <dsp:spPr>
        <a:xfrm>
          <a:off x="2085862" y="327020"/>
          <a:ext cx="1665719" cy="1665719"/>
        </a:xfrm>
        <a:prstGeom prst="ellipse">
          <a:avLst/>
        </a:prstGeom>
        <a:solidFill>
          <a:schemeClr val="accent2">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a:t>User interface</a:t>
          </a:r>
        </a:p>
      </dsp:txBody>
      <dsp:txXfrm>
        <a:off x="2329801" y="570959"/>
        <a:ext cx="1177841" cy="1177841"/>
      </dsp:txXfrm>
    </dsp:sp>
    <dsp:sp modelId="{EB0A8B81-AB39-4770-995A-FA6223A63B28}">
      <dsp:nvSpPr>
        <dsp:cNvPr id="0" name=""/>
        <dsp:cNvSpPr/>
      </dsp:nvSpPr>
      <dsp:spPr>
        <a:xfrm rot="20520000">
          <a:off x="3924697" y="2851232"/>
          <a:ext cx="271807" cy="51363"/>
        </a:xfrm>
        <a:custGeom>
          <a:avLst/>
          <a:gdLst/>
          <a:ahLst/>
          <a:cxnLst/>
          <a:rect l="0" t="0" r="0" b="0"/>
          <a:pathLst>
            <a:path>
              <a:moveTo>
                <a:pt x="0" y="25681"/>
              </a:moveTo>
              <a:lnTo>
                <a:pt x="271807" y="2568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805" y="2870118"/>
        <a:ext cx="13590" cy="13590"/>
      </dsp:txXfrm>
    </dsp:sp>
    <dsp:sp modelId="{C213CB6E-2F07-41D1-868C-93C985536BE9}">
      <dsp:nvSpPr>
        <dsp:cNvPr id="0" name=""/>
        <dsp:cNvSpPr/>
      </dsp:nvSpPr>
      <dsp:spPr>
        <a:xfrm>
          <a:off x="4149089" y="1744689"/>
          <a:ext cx="1665719" cy="1665719"/>
        </a:xfrm>
        <a:prstGeom prst="ellipse">
          <a:avLst/>
        </a:prstGeom>
        <a:solidFill>
          <a:schemeClr val="accent3">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a:t>Peripheral management</a:t>
          </a:r>
        </a:p>
      </dsp:txBody>
      <dsp:txXfrm>
        <a:off x="4393028" y="1988628"/>
        <a:ext cx="1177841" cy="1177841"/>
      </dsp:txXfrm>
    </dsp:sp>
    <dsp:sp modelId="{4AF46DAA-0CF2-400E-8F7D-B5565F718CE2}">
      <dsp:nvSpPr>
        <dsp:cNvPr id="0" name=""/>
        <dsp:cNvSpPr/>
      </dsp:nvSpPr>
      <dsp:spPr>
        <a:xfrm rot="3240000">
          <a:off x="3422159" y="4159769"/>
          <a:ext cx="355418" cy="51363"/>
        </a:xfrm>
        <a:custGeom>
          <a:avLst/>
          <a:gdLst/>
          <a:ahLst/>
          <a:cxnLst/>
          <a:rect l="0" t="0" r="0" b="0"/>
          <a:pathLst>
            <a:path>
              <a:moveTo>
                <a:pt x="0" y="25681"/>
              </a:moveTo>
              <a:lnTo>
                <a:pt x="355418" y="2568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590983" y="4176565"/>
        <a:ext cx="17770" cy="17770"/>
      </dsp:txXfrm>
    </dsp:sp>
    <dsp:sp modelId="{A817EAE9-617E-460E-B2A7-F595EBFC397E}">
      <dsp:nvSpPr>
        <dsp:cNvPr id="0" name=""/>
        <dsp:cNvSpPr/>
      </dsp:nvSpPr>
      <dsp:spPr>
        <a:xfrm>
          <a:off x="3361007" y="4170159"/>
          <a:ext cx="1665719" cy="1665719"/>
        </a:xfrm>
        <a:prstGeom prst="ellipse">
          <a:avLst/>
        </a:prstGeom>
        <a:solidFill>
          <a:schemeClr val="accent4">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dirty="0"/>
            <a:t>Multi-tasking</a:t>
          </a:r>
        </a:p>
      </dsp:txBody>
      <dsp:txXfrm>
        <a:off x="3604946" y="4414098"/>
        <a:ext cx="1177841" cy="1177841"/>
      </dsp:txXfrm>
    </dsp:sp>
    <dsp:sp modelId="{9EB29836-5CDF-4D20-ACCC-49B2B9C04A9E}">
      <dsp:nvSpPr>
        <dsp:cNvPr id="0" name=""/>
        <dsp:cNvSpPr/>
      </dsp:nvSpPr>
      <dsp:spPr>
        <a:xfrm rot="7560000">
          <a:off x="2059865" y="4159769"/>
          <a:ext cx="355418" cy="51363"/>
        </a:xfrm>
        <a:custGeom>
          <a:avLst/>
          <a:gdLst/>
          <a:ahLst/>
          <a:cxnLst/>
          <a:rect l="0" t="0" r="0" b="0"/>
          <a:pathLst>
            <a:path>
              <a:moveTo>
                <a:pt x="0" y="25681"/>
              </a:moveTo>
              <a:lnTo>
                <a:pt x="355418" y="2568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rot="10800000">
        <a:off x="2228689" y="4176565"/>
        <a:ext cx="17770" cy="17770"/>
      </dsp:txXfrm>
    </dsp:sp>
    <dsp:sp modelId="{CAF2A2C5-8AB0-49A2-9A66-AD468FB7576E}">
      <dsp:nvSpPr>
        <dsp:cNvPr id="0" name=""/>
        <dsp:cNvSpPr/>
      </dsp:nvSpPr>
      <dsp:spPr>
        <a:xfrm>
          <a:off x="810717" y="4170159"/>
          <a:ext cx="1665719" cy="1665719"/>
        </a:xfrm>
        <a:prstGeom prst="ellipse">
          <a:avLst/>
        </a:prstGeom>
        <a:solidFill>
          <a:schemeClr val="accent5">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a:t>Memory managment</a:t>
          </a:r>
        </a:p>
      </dsp:txBody>
      <dsp:txXfrm>
        <a:off x="1054656" y="4414098"/>
        <a:ext cx="1177841" cy="1177841"/>
      </dsp:txXfrm>
    </dsp:sp>
    <dsp:sp modelId="{7BB17543-3809-4EE7-B1E0-87A80B7BC865}">
      <dsp:nvSpPr>
        <dsp:cNvPr id="0" name=""/>
        <dsp:cNvSpPr/>
      </dsp:nvSpPr>
      <dsp:spPr>
        <a:xfrm rot="11880000">
          <a:off x="1640939" y="2851232"/>
          <a:ext cx="271807" cy="51363"/>
        </a:xfrm>
        <a:custGeom>
          <a:avLst/>
          <a:gdLst/>
          <a:ahLst/>
          <a:cxnLst/>
          <a:rect l="0" t="0" r="0" b="0"/>
          <a:pathLst>
            <a:path>
              <a:moveTo>
                <a:pt x="0" y="25681"/>
              </a:moveTo>
              <a:lnTo>
                <a:pt x="271807" y="2568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rot="10800000">
        <a:off x="1770047" y="2870118"/>
        <a:ext cx="13590" cy="13590"/>
      </dsp:txXfrm>
    </dsp:sp>
    <dsp:sp modelId="{60F2EDF9-76FA-4C57-BA0C-7111C8789F24}">
      <dsp:nvSpPr>
        <dsp:cNvPr id="0" name=""/>
        <dsp:cNvSpPr/>
      </dsp:nvSpPr>
      <dsp:spPr>
        <a:xfrm>
          <a:off x="22634" y="1744689"/>
          <a:ext cx="1665719" cy="1665719"/>
        </a:xfrm>
        <a:prstGeom prst="ellipse">
          <a:avLst/>
        </a:prstGeom>
        <a:solidFill>
          <a:schemeClr val="accent6">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a:t>Security</a:t>
          </a:r>
        </a:p>
      </dsp:txBody>
      <dsp:txXfrm>
        <a:off x="266573" y="1988628"/>
        <a:ext cx="1177841" cy="1177841"/>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D0B5410-614A-4FF8-96B2-9F52975776D9}"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188331603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0B5410-614A-4FF8-96B2-9F52975776D9}"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92689264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0B5410-614A-4FF8-96B2-9F52975776D9}"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31050948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D0B5410-614A-4FF8-96B2-9F52975776D9}"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162275990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D0B5410-614A-4FF8-96B2-9F52975776D9}" type="datetimeFigureOut">
              <a:rPr lang="en-GB" smtClean="0"/>
              <a:t>13/11/2025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257275390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D0B5410-614A-4FF8-96B2-9F52975776D9}" type="datetimeFigureOut">
              <a:rPr lang="en-GB" smtClean="0"/>
              <a:t>13/11/2025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340776763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B5410-614A-4FF8-96B2-9F52975776D9}" type="datetimeFigureOut">
              <a:rPr lang="en-GB" smtClean="0"/>
              <a:t>13/11/2025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244543954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0B5410-614A-4FF8-96B2-9F52975776D9}"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223872049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0B5410-614A-4FF8-96B2-9F52975776D9}"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267552319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0B5410-614A-4FF8-96B2-9F52975776D9}"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412034592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0B5410-614A-4FF8-96B2-9F52975776D9}"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DB5F36-0CF8-44AA-BE1C-1505CFB1C0CC}" type="slidenum">
              <a:rPr lang="en-GB" smtClean="0"/>
              <a:t>‹#›</a:t>
            </a:fld>
            <a:endParaRPr lang="en-GB"/>
          </a:p>
        </p:txBody>
      </p:sp>
    </p:spTree>
    <p:extLst>
      <p:ext uri="{BB962C8B-B14F-4D97-AF65-F5344CB8AC3E}">
        <p14:creationId xmlns:p14="http://schemas.microsoft.com/office/powerpoint/2010/main" val="278772304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
              <a:schemeClr val="bg1"/>
            </a:gs>
            <a:gs pos="5000">
              <a:schemeClr val="tx1"/>
            </a:gs>
          </a:gsLst>
          <a:lin ang="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B5410-614A-4FF8-96B2-9F52975776D9}" type="datetimeFigureOut">
              <a:rPr lang="en-GB" smtClean="0"/>
              <a:t>13/11/2025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DB5F36-0CF8-44AA-BE1C-1505CFB1C0CC}" type="slidenum">
              <a:rPr lang="en-GB" smtClean="0"/>
              <a:t>‹#›</a:t>
            </a:fld>
            <a:endParaRPr lang="en-GB"/>
          </a:p>
        </p:txBody>
      </p:sp>
    </p:spTree>
    <p:extLst>
      <p:ext uri="{BB962C8B-B14F-4D97-AF65-F5344CB8AC3E}">
        <p14:creationId xmlns:p14="http://schemas.microsoft.com/office/powerpoint/2010/main" val="931120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txStyles>
    <p:titleStyle>
      <a:lvl1pPr algn="l" defTabSz="914400" rtl="0" eaLnBrk="1" latinLnBrk="0" hangingPunct="1">
        <a:lnSpc>
          <a:spcPct val="90000"/>
        </a:lnSpc>
        <a:spcBef>
          <a:spcPct val="0"/>
        </a:spcBef>
        <a:buNone/>
        <a:defRPr sz="4400" kern="1200">
          <a:solidFill>
            <a:srgbClr val="6FD34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6FD34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6FD34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6FD34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6FD34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6FD34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mINZ-YFO88c&amp;feature=youtu.b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System Software</a:t>
            </a:r>
          </a:p>
        </p:txBody>
      </p:sp>
      <p:sp>
        <p:nvSpPr>
          <p:cNvPr id="3" name="Subtitle 2"/>
          <p:cNvSpPr>
            <a:spLocks noGrp="1"/>
          </p:cNvSpPr>
          <p:nvPr>
            <p:ph type="subTitle" idx="1"/>
          </p:nvPr>
        </p:nvSpPr>
        <p:spPr/>
        <p:txBody>
          <a:bodyPr/>
          <a:lstStyle/>
          <a:p>
            <a:r>
              <a:rPr lang="en-GB" dirty="0"/>
              <a:t>AS2 | Mr Butler</a:t>
            </a:r>
          </a:p>
        </p:txBody>
      </p:sp>
    </p:spTree>
    <p:extLst>
      <p:ext uri="{BB962C8B-B14F-4D97-AF65-F5344CB8AC3E}">
        <p14:creationId xmlns:p14="http://schemas.microsoft.com/office/powerpoint/2010/main" val="167781939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Spec</a:t>
            </a:r>
          </a:p>
        </p:txBody>
      </p:sp>
      <p:pic>
        <p:nvPicPr>
          <p:cNvPr id="4" name="Content Placeholder 3"/>
          <p:cNvPicPr>
            <a:picLocks noGrp="1" noChangeAspect="1"/>
          </p:cNvPicPr>
          <p:nvPr>
            <p:ph idx="1"/>
          </p:nvPr>
        </p:nvPicPr>
        <p:blipFill rotWithShape="1">
          <a:blip r:embed="rId2"/>
          <a:srcRect l="20373" t="36589" r="21752" b="29994"/>
          <a:stretch/>
        </p:blipFill>
        <p:spPr>
          <a:xfrm>
            <a:off x="259430" y="1690688"/>
            <a:ext cx="11673139" cy="5054886"/>
          </a:xfrm>
          <a:prstGeom prst="rect">
            <a:avLst/>
          </a:prstGeom>
        </p:spPr>
      </p:pic>
    </p:spTree>
    <p:extLst>
      <p:ext uri="{BB962C8B-B14F-4D97-AF65-F5344CB8AC3E}">
        <p14:creationId xmlns:p14="http://schemas.microsoft.com/office/powerpoint/2010/main" val="233963792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an operating system?</a:t>
            </a:r>
          </a:p>
        </p:txBody>
      </p:sp>
      <p:sp>
        <p:nvSpPr>
          <p:cNvPr id="3" name="Content Placeholder 2"/>
          <p:cNvSpPr>
            <a:spLocks noGrp="1"/>
          </p:cNvSpPr>
          <p:nvPr>
            <p:ph idx="1"/>
          </p:nvPr>
        </p:nvSpPr>
        <p:spPr>
          <a:xfrm>
            <a:off x="838200" y="1825625"/>
            <a:ext cx="4753131" cy="4351338"/>
          </a:xfrm>
        </p:spPr>
        <p:txBody>
          <a:bodyPr>
            <a:normAutofit fontScale="92500" lnSpcReduction="20000"/>
          </a:bodyPr>
          <a:lstStyle/>
          <a:p>
            <a:r>
              <a:rPr lang="en-GB" dirty="0"/>
              <a:t>An </a:t>
            </a:r>
            <a:r>
              <a:rPr lang="en-GB" b="1" dirty="0"/>
              <a:t>Operating system</a:t>
            </a:r>
            <a:r>
              <a:rPr lang="en-GB" dirty="0"/>
              <a:t> is the software that controls the hardware and creates a user interface to run application software.</a:t>
            </a:r>
          </a:p>
          <a:p>
            <a:r>
              <a:rPr lang="en-GB" dirty="0"/>
              <a:t>An </a:t>
            </a:r>
            <a:r>
              <a:rPr lang="en-GB" b="1" dirty="0"/>
              <a:t>operating system (or OS)</a:t>
            </a:r>
            <a:r>
              <a:rPr lang="en-GB" dirty="0"/>
              <a:t> is a computer program, which </a:t>
            </a:r>
            <a:r>
              <a:rPr lang="en-GB" b="1" dirty="0"/>
              <a:t>controls the entire operation of the computer.</a:t>
            </a:r>
            <a:endParaRPr lang="en-GB" dirty="0"/>
          </a:p>
          <a:p>
            <a:r>
              <a:rPr lang="en-GB" dirty="0"/>
              <a:t>The function of </a:t>
            </a:r>
            <a:r>
              <a:rPr lang="en-GB" b="1" dirty="0"/>
              <a:t>system software</a:t>
            </a:r>
            <a:r>
              <a:rPr lang="en-GB" dirty="0"/>
              <a:t> is to control the computer hardware and to create a platform to run application software. </a:t>
            </a:r>
          </a:p>
          <a:p>
            <a:endParaRPr lang="en-GB"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0752" y="2305311"/>
            <a:ext cx="5798459" cy="2842553"/>
          </a:xfrm>
          <a:prstGeom prst="rect">
            <a:avLst/>
          </a:prstGeom>
        </p:spPr>
      </p:pic>
    </p:spTree>
    <p:extLst>
      <p:ext uri="{BB962C8B-B14F-4D97-AF65-F5344CB8AC3E}">
        <p14:creationId xmlns:p14="http://schemas.microsoft.com/office/powerpoint/2010/main" val="285311305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do we need an operating system?</a:t>
            </a:r>
          </a:p>
        </p:txBody>
      </p:sp>
      <p:sp>
        <p:nvSpPr>
          <p:cNvPr id="3" name="Content Placeholder 2"/>
          <p:cNvSpPr>
            <a:spLocks noGrp="1"/>
          </p:cNvSpPr>
          <p:nvPr>
            <p:ph idx="1"/>
          </p:nvPr>
        </p:nvSpPr>
        <p:spPr/>
        <p:txBody>
          <a:bodyPr/>
          <a:lstStyle/>
          <a:p>
            <a:r>
              <a:rPr lang="en-GB" dirty="0"/>
              <a:t>An </a:t>
            </a:r>
            <a:r>
              <a:rPr lang="en-GB" b="1" dirty="0"/>
              <a:t>operating system</a:t>
            </a:r>
            <a:r>
              <a:rPr lang="en-GB" dirty="0"/>
              <a:t> is the </a:t>
            </a:r>
            <a:r>
              <a:rPr lang="en-GB" b="1" dirty="0"/>
              <a:t>most important software</a:t>
            </a:r>
            <a:r>
              <a:rPr lang="en-GB" dirty="0"/>
              <a:t> that runs on a computer. It manages the computer's </a:t>
            </a:r>
            <a:r>
              <a:rPr lang="en-GB" b="1" dirty="0"/>
              <a:t>memory</a:t>
            </a:r>
            <a:r>
              <a:rPr lang="en-GB" dirty="0"/>
              <a:t> and </a:t>
            </a:r>
            <a:r>
              <a:rPr lang="en-GB" b="1" dirty="0"/>
              <a:t>processes</a:t>
            </a:r>
            <a:r>
              <a:rPr lang="en-GB" dirty="0"/>
              <a:t>, as well as all of its </a:t>
            </a:r>
            <a:r>
              <a:rPr lang="en-GB" b="1" dirty="0"/>
              <a:t>software</a:t>
            </a:r>
            <a:r>
              <a:rPr lang="en-GB" dirty="0"/>
              <a:t> and </a:t>
            </a:r>
            <a:r>
              <a:rPr lang="en-GB" b="1" dirty="0"/>
              <a:t>hardware</a:t>
            </a:r>
            <a:r>
              <a:rPr lang="en-GB" dirty="0"/>
              <a:t>. </a:t>
            </a:r>
          </a:p>
          <a:p>
            <a:r>
              <a:rPr lang="en-GB" dirty="0"/>
              <a:t>It also allows you to </a:t>
            </a:r>
            <a:r>
              <a:rPr lang="en-GB" b="1" dirty="0"/>
              <a:t>communicate</a:t>
            </a:r>
            <a:r>
              <a:rPr lang="en-GB" dirty="0"/>
              <a:t> with the computer without knowing how to speak the computer's language. </a:t>
            </a:r>
          </a:p>
          <a:p>
            <a:r>
              <a:rPr lang="en-GB" b="1" dirty="0"/>
              <a:t>Without an operating system, a computer is useless</a:t>
            </a:r>
            <a:endParaRPr lang="en-GB" dirty="0"/>
          </a:p>
        </p:txBody>
      </p:sp>
    </p:spTree>
    <p:extLst>
      <p:ext uri="{BB962C8B-B14F-4D97-AF65-F5344CB8AC3E}">
        <p14:creationId xmlns:p14="http://schemas.microsoft.com/office/powerpoint/2010/main" val="279329030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7337" y="-189781"/>
            <a:ext cx="6513440" cy="1325563"/>
          </a:xfrm>
        </p:spPr>
        <p:txBody>
          <a:bodyPr/>
          <a:lstStyle/>
          <a:p>
            <a:r>
              <a:rPr lang="en-GB" dirty="0"/>
              <a:t>Why an Operating System?</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2206818"/>
              </p:ext>
            </p:extLst>
          </p:nvPr>
        </p:nvGraphicFramePr>
        <p:xfrm>
          <a:off x="6354556" y="974785"/>
          <a:ext cx="5837444" cy="6081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p:cNvSpPr txBox="1">
            <a:spLocks/>
          </p:cNvSpPr>
          <p:nvPr/>
        </p:nvSpPr>
        <p:spPr>
          <a:xfrm>
            <a:off x="681488" y="629728"/>
            <a:ext cx="6021238" cy="612475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6FD34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6FD34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6FD34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6FD34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6FD34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Allocating Memory</a:t>
            </a:r>
          </a:p>
          <a:p>
            <a:pPr lvl="1"/>
            <a:r>
              <a:rPr lang="en-GB" dirty="0"/>
              <a:t>The OS organises the use of main memory between programs and data files</a:t>
            </a:r>
          </a:p>
          <a:p>
            <a:pPr lvl="1"/>
            <a:r>
              <a:rPr lang="en-GB" dirty="0"/>
              <a:t>Data needs to be </a:t>
            </a:r>
            <a:r>
              <a:rPr lang="en-GB" dirty="0">
                <a:solidFill>
                  <a:srgbClr val="FF0000"/>
                </a:solidFill>
              </a:rPr>
              <a:t>transferred</a:t>
            </a:r>
            <a:r>
              <a:rPr lang="en-GB" dirty="0"/>
              <a:t> from a HDD/SSD to main memory (i.e. </a:t>
            </a:r>
            <a:r>
              <a:rPr lang="en-GB" dirty="0">
                <a:solidFill>
                  <a:srgbClr val="FF0000"/>
                </a:solidFill>
              </a:rPr>
              <a:t>RAM</a:t>
            </a:r>
            <a:r>
              <a:rPr lang="en-GB" dirty="0"/>
              <a:t>) before it can be used.</a:t>
            </a:r>
          </a:p>
          <a:p>
            <a:pPr lvl="1"/>
            <a:r>
              <a:rPr lang="en-GB" dirty="0"/>
              <a:t>Locates free memory in RAM and </a:t>
            </a:r>
            <a:r>
              <a:rPr lang="en-GB" dirty="0">
                <a:solidFill>
                  <a:srgbClr val="FF0000"/>
                </a:solidFill>
              </a:rPr>
              <a:t>allocates</a:t>
            </a:r>
            <a:r>
              <a:rPr lang="en-GB" dirty="0"/>
              <a:t> this to the program/file</a:t>
            </a:r>
          </a:p>
          <a:p>
            <a:r>
              <a:rPr lang="en-GB" dirty="0"/>
              <a:t> </a:t>
            </a:r>
            <a:r>
              <a:rPr lang="en-GB" dirty="0">
                <a:solidFill>
                  <a:srgbClr val="FF0000"/>
                </a:solidFill>
              </a:rPr>
              <a:t>Storage</a:t>
            </a:r>
          </a:p>
          <a:p>
            <a:pPr lvl="1"/>
            <a:r>
              <a:rPr lang="en-GB" dirty="0"/>
              <a:t>The OS </a:t>
            </a:r>
            <a:r>
              <a:rPr lang="en-GB" dirty="0">
                <a:solidFill>
                  <a:srgbClr val="FF0000"/>
                </a:solidFill>
              </a:rPr>
              <a:t>manages the storage </a:t>
            </a:r>
            <a:r>
              <a:rPr lang="en-GB" dirty="0"/>
              <a:t>of data and files</a:t>
            </a:r>
          </a:p>
          <a:p>
            <a:pPr lvl="1"/>
            <a:r>
              <a:rPr lang="en-GB" dirty="0"/>
              <a:t>Unnecessary files can then be </a:t>
            </a:r>
            <a:r>
              <a:rPr lang="en-GB" dirty="0">
                <a:solidFill>
                  <a:srgbClr val="FF0000"/>
                </a:solidFill>
              </a:rPr>
              <a:t>deleted</a:t>
            </a:r>
          </a:p>
          <a:p>
            <a:r>
              <a:rPr lang="en-GB" dirty="0">
                <a:solidFill>
                  <a:srgbClr val="FF0000"/>
                </a:solidFill>
              </a:rPr>
              <a:t>Processing Time</a:t>
            </a:r>
          </a:p>
          <a:p>
            <a:pPr lvl="1"/>
            <a:r>
              <a:rPr lang="en-GB" dirty="0"/>
              <a:t>System software allocates processing time between </a:t>
            </a:r>
            <a:r>
              <a:rPr lang="en-GB" dirty="0">
                <a:solidFill>
                  <a:srgbClr val="FF0000"/>
                </a:solidFill>
              </a:rPr>
              <a:t>running programs </a:t>
            </a:r>
            <a:r>
              <a:rPr lang="en-GB" dirty="0"/>
              <a:t>and the </a:t>
            </a:r>
            <a:r>
              <a:rPr lang="en-GB" dirty="0">
                <a:solidFill>
                  <a:srgbClr val="FF0000"/>
                </a:solidFill>
              </a:rPr>
              <a:t>users</a:t>
            </a:r>
            <a:r>
              <a:rPr lang="en-GB" dirty="0"/>
              <a:t>.</a:t>
            </a:r>
          </a:p>
          <a:p>
            <a:pPr lvl="1"/>
            <a:r>
              <a:rPr lang="en-GB" dirty="0"/>
              <a:t>Uses </a:t>
            </a:r>
            <a:r>
              <a:rPr lang="en-GB" dirty="0">
                <a:solidFill>
                  <a:srgbClr val="FF0000"/>
                </a:solidFill>
              </a:rPr>
              <a:t>time slices</a:t>
            </a:r>
            <a:r>
              <a:rPr lang="en-GB" dirty="0"/>
              <a:t>. More important task gets more time slices.</a:t>
            </a:r>
          </a:p>
          <a:p>
            <a:pPr lvl="1"/>
            <a:r>
              <a:rPr lang="en-GB" dirty="0"/>
              <a:t>System performance includes </a:t>
            </a:r>
            <a:r>
              <a:rPr lang="en-GB" dirty="0">
                <a:solidFill>
                  <a:srgbClr val="FF0000"/>
                </a:solidFill>
              </a:rPr>
              <a:t>response time </a:t>
            </a:r>
            <a:r>
              <a:rPr lang="en-GB" dirty="0"/>
              <a:t>and </a:t>
            </a:r>
            <a:r>
              <a:rPr lang="en-GB" dirty="0">
                <a:solidFill>
                  <a:srgbClr val="FF0000"/>
                </a:solidFill>
              </a:rPr>
              <a:t>processor usage</a:t>
            </a:r>
            <a:r>
              <a:rPr lang="en-GB" dirty="0"/>
              <a:t>.</a:t>
            </a:r>
          </a:p>
          <a:p>
            <a:pPr lvl="2"/>
            <a:r>
              <a:rPr lang="en-GB" dirty="0"/>
              <a:t>Monitored by the system software</a:t>
            </a:r>
          </a:p>
          <a:p>
            <a:endParaRPr lang="en-GB" dirty="0">
              <a:solidFill>
                <a:srgbClr val="FF0000"/>
              </a:solidFill>
            </a:endParaRPr>
          </a:p>
          <a:p>
            <a:pPr marL="0" indent="0">
              <a:buFont typeface="Arial" panose="020B0604020202020204" pitchFamily="34" charset="0"/>
              <a:buNone/>
            </a:pPr>
            <a:endParaRPr lang="en-GB" dirty="0"/>
          </a:p>
        </p:txBody>
      </p:sp>
    </p:spTree>
    <p:extLst>
      <p:ext uri="{BB962C8B-B14F-4D97-AF65-F5344CB8AC3E}">
        <p14:creationId xmlns:p14="http://schemas.microsoft.com/office/powerpoint/2010/main" val="275826849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anim calcmode="lin" valueType="num">
                                      <p:cBhvr additive="base">
                                        <p:cTn id="5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8" end="8"/>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 calcmode="lin" valueType="num">
                                      <p:cBhvr additive="base">
                                        <p:cTn id="5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
                                            <p:txEl>
                                              <p:pRg st="9" end="9"/>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
                                            <p:txEl>
                                              <p:pRg st="10" end="10"/>
                                            </p:txEl>
                                          </p:spTgt>
                                        </p:tgtEl>
                                        <p:attrNameLst>
                                          <p:attrName>style.visibility</p:attrName>
                                        </p:attrNameLst>
                                      </p:cBhvr>
                                      <p:to>
                                        <p:strVal val="visible"/>
                                      </p:to>
                                    </p:set>
                                    <p:anim calcmode="lin" valueType="num">
                                      <p:cBhvr additive="base">
                                        <p:cTn id="6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
                                            <p:txEl>
                                              <p:pRg st="11" end="11"/>
                                            </p:txEl>
                                          </p:spTgt>
                                        </p:tgtEl>
                                        <p:attrNameLst>
                                          <p:attrName>style.visibility</p:attrName>
                                        </p:attrNameLst>
                                      </p:cBhvr>
                                      <p:to>
                                        <p:strVal val="visible"/>
                                      </p:to>
                                    </p:set>
                                    <p:anim calcmode="lin" valueType="num">
                                      <p:cBhvr additive="base">
                                        <p:cTn id="65"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0" y="1"/>
            <a:ext cx="12192000" cy="6858000"/>
            <a:chOff x="5162550" y="2381249"/>
            <a:chExt cx="7029450" cy="4476751"/>
          </a:xfrm>
        </p:grpSpPr>
        <p:pic>
          <p:nvPicPr>
            <p:cNvPr id="1028" name="Picture 4" descr="Image result for operating system ic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2550" y="2381249"/>
              <a:ext cx="7029450" cy="447675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510072" y="4107305"/>
              <a:ext cx="1154243" cy="494675"/>
            </a:xfrm>
            <a:prstGeom prst="rect">
              <a:avLst/>
            </a:prstGeom>
            <a:solidFill>
              <a:srgbClr val="6F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8672958" y="4124949"/>
              <a:ext cx="1154243" cy="494675"/>
            </a:xfrm>
            <a:prstGeom prst="rect">
              <a:avLst/>
            </a:prstGeom>
            <a:solidFill>
              <a:srgbClr val="FB45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8679507" y="4619624"/>
              <a:ext cx="1154243" cy="494675"/>
            </a:xfrm>
            <a:prstGeom prst="rect">
              <a:avLst/>
            </a:prstGeom>
            <a:solidFill>
              <a:srgbClr val="FF91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7516621" y="4607287"/>
              <a:ext cx="1154243" cy="494675"/>
            </a:xfrm>
            <a:prstGeom prst="rect">
              <a:avLst/>
            </a:prstGeom>
            <a:solidFill>
              <a:srgbClr val="3ED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1"/>
          <p:cNvSpPr>
            <a:spLocks noGrp="1"/>
          </p:cNvSpPr>
          <p:nvPr>
            <p:ph type="title"/>
          </p:nvPr>
        </p:nvSpPr>
        <p:spPr>
          <a:xfrm>
            <a:off x="0" y="-130821"/>
            <a:ext cx="10515600" cy="1325563"/>
          </a:xfrm>
        </p:spPr>
        <p:txBody>
          <a:bodyPr/>
          <a:lstStyle/>
          <a:p>
            <a:r>
              <a:rPr lang="en-GB" dirty="0">
                <a:solidFill>
                  <a:schemeClr val="tx1"/>
                </a:solidFill>
              </a:rPr>
              <a:t>Quick Task: Different Operating Systems</a:t>
            </a:r>
          </a:p>
        </p:txBody>
      </p:sp>
      <p:sp>
        <p:nvSpPr>
          <p:cNvPr id="3" name="Content Placeholder 2"/>
          <p:cNvSpPr>
            <a:spLocks noGrp="1"/>
          </p:cNvSpPr>
          <p:nvPr>
            <p:ph idx="1"/>
          </p:nvPr>
        </p:nvSpPr>
        <p:spPr>
          <a:xfrm>
            <a:off x="883171" y="2991209"/>
            <a:ext cx="5082915" cy="4351338"/>
          </a:xfrm>
        </p:spPr>
        <p:txBody>
          <a:bodyPr/>
          <a:lstStyle/>
          <a:p>
            <a:pPr marL="0" indent="0">
              <a:buNone/>
            </a:pPr>
            <a:r>
              <a:rPr lang="en-GB" dirty="0">
                <a:solidFill>
                  <a:schemeClr val="tx1"/>
                </a:solidFill>
              </a:rPr>
              <a:t>In pairs, list as many operating systems as you can.</a:t>
            </a:r>
          </a:p>
        </p:txBody>
      </p:sp>
    </p:spTree>
    <p:extLst>
      <p:ext uri="{BB962C8B-B14F-4D97-AF65-F5344CB8AC3E}">
        <p14:creationId xmlns:p14="http://schemas.microsoft.com/office/powerpoint/2010/main" val="120012679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944" y="-202631"/>
            <a:ext cx="10515600" cy="1325563"/>
          </a:xfrm>
        </p:spPr>
        <p:txBody>
          <a:bodyPr>
            <a:normAutofit/>
          </a:bodyPr>
          <a:lstStyle/>
          <a:p>
            <a:r>
              <a:rPr lang="en-GB" sz="3600" dirty="0"/>
              <a:t>Types of Operating System</a:t>
            </a:r>
          </a:p>
        </p:txBody>
      </p:sp>
      <p:sp>
        <p:nvSpPr>
          <p:cNvPr id="3" name="Content Placeholder 2"/>
          <p:cNvSpPr>
            <a:spLocks noGrp="1"/>
          </p:cNvSpPr>
          <p:nvPr>
            <p:ph idx="1"/>
          </p:nvPr>
        </p:nvSpPr>
        <p:spPr>
          <a:xfrm>
            <a:off x="6370820" y="141898"/>
            <a:ext cx="5546360" cy="812645"/>
          </a:xfrm>
        </p:spPr>
        <p:txBody>
          <a:bodyPr>
            <a:normAutofit fontScale="77500" lnSpcReduction="20000"/>
          </a:bodyPr>
          <a:lstStyle/>
          <a:p>
            <a:pPr marL="0" indent="0">
              <a:buNone/>
            </a:pPr>
            <a:r>
              <a:rPr lang="en-GB" dirty="0"/>
              <a:t>There are multiple types of operating system about – some are more common than others. Below are some of the more common types:</a:t>
            </a:r>
          </a:p>
        </p:txBody>
      </p:sp>
      <p:sp>
        <p:nvSpPr>
          <p:cNvPr id="4" name="Content Placeholder 2"/>
          <p:cNvSpPr txBox="1">
            <a:spLocks/>
          </p:cNvSpPr>
          <p:nvPr/>
        </p:nvSpPr>
        <p:spPr>
          <a:xfrm>
            <a:off x="-149201" y="1233284"/>
            <a:ext cx="6010506" cy="59767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GB" dirty="0">
                <a:solidFill>
                  <a:srgbClr val="6FD34C"/>
                </a:solidFill>
              </a:rPr>
              <a:t>	Single User</a:t>
            </a:r>
          </a:p>
          <a:p>
            <a:pPr lvl="2"/>
            <a:r>
              <a:rPr lang="en-GB" dirty="0">
                <a:solidFill>
                  <a:srgbClr val="6FD34C"/>
                </a:solidFill>
              </a:rPr>
              <a:t>Working from home on your PC</a:t>
            </a:r>
          </a:p>
          <a:p>
            <a:pPr lvl="2"/>
            <a:r>
              <a:rPr lang="en-GB" dirty="0">
                <a:solidFill>
                  <a:srgbClr val="6FD34C"/>
                </a:solidFill>
              </a:rPr>
              <a:t>it has one keyboard and one screen to support user interaction</a:t>
            </a:r>
          </a:p>
          <a:p>
            <a:pPr lvl="2"/>
            <a:r>
              <a:rPr lang="en-GB" dirty="0">
                <a:solidFill>
                  <a:srgbClr val="6FD34C"/>
                </a:solidFill>
              </a:rPr>
              <a:t>If another user needs to access the device they must wait until the person currently using the device finished their task</a:t>
            </a:r>
          </a:p>
          <a:p>
            <a:pPr lvl="2"/>
            <a:r>
              <a:rPr lang="en-GB" dirty="0">
                <a:solidFill>
                  <a:srgbClr val="6FD34C"/>
                </a:solidFill>
              </a:rPr>
              <a:t>the operating system is designed so that one user can effectively do one thing at any one time. </a:t>
            </a:r>
          </a:p>
          <a:p>
            <a:pPr lvl="2"/>
            <a:r>
              <a:rPr lang="en-GB" dirty="0">
                <a:solidFill>
                  <a:srgbClr val="6FD34C"/>
                </a:solidFill>
              </a:rPr>
              <a:t>Some older mobile phone devices operated on this principle, </a:t>
            </a:r>
          </a:p>
          <a:p>
            <a:pPr lvl="3"/>
            <a:r>
              <a:rPr lang="en-GB" dirty="0">
                <a:solidFill>
                  <a:srgbClr val="6FD34C"/>
                </a:solidFill>
              </a:rPr>
              <a:t>for example consider how it might only have been possible to perform one task at a time on older devices so being able to listen to music and surf the internet at the same time would not have been possible on a single user, single-task OS</a:t>
            </a:r>
          </a:p>
        </p:txBody>
      </p:sp>
      <p:sp>
        <p:nvSpPr>
          <p:cNvPr id="5" name="Content Placeholder 2"/>
          <p:cNvSpPr txBox="1">
            <a:spLocks/>
          </p:cNvSpPr>
          <p:nvPr/>
        </p:nvSpPr>
        <p:spPr>
          <a:xfrm>
            <a:off x="5861305" y="1354348"/>
            <a:ext cx="6387735" cy="560716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GB" sz="3400" dirty="0">
                <a:solidFill>
                  <a:srgbClr val="6FD34C"/>
                </a:solidFill>
              </a:rPr>
              <a:t>Multi-tasking</a:t>
            </a:r>
          </a:p>
          <a:p>
            <a:r>
              <a:rPr lang="en-GB" dirty="0">
                <a:solidFill>
                  <a:srgbClr val="6FD34C"/>
                </a:solidFill>
              </a:rPr>
              <a:t>While most PC’s will effectively support multitasking by a single user, there are times when more than one user may need to gain access to the facilities provided by a much more powerful computer, </a:t>
            </a:r>
          </a:p>
          <a:p>
            <a:pPr lvl="1"/>
            <a:r>
              <a:rPr lang="en-GB" dirty="0">
                <a:solidFill>
                  <a:srgbClr val="6FD34C"/>
                </a:solidFill>
              </a:rPr>
              <a:t>for example in a university setting where many chemical reactions are being monitored at the same time or in the stock exchange where many individuals are monitoring stocks and shares across the world. </a:t>
            </a:r>
          </a:p>
          <a:p>
            <a:r>
              <a:rPr lang="en-GB" dirty="0">
                <a:solidFill>
                  <a:srgbClr val="6FD34C"/>
                </a:solidFill>
              </a:rPr>
              <a:t>In these instances a multi-user operating system will support use of the computers facilities by many different users at any one time; generally via a network. </a:t>
            </a:r>
          </a:p>
          <a:p>
            <a:r>
              <a:rPr lang="en-GB" dirty="0">
                <a:solidFill>
                  <a:srgbClr val="6FD34C"/>
                </a:solidFill>
              </a:rPr>
              <a:t>In a multi-user OS it is important that all user requests are dealt with in such as way so as to ensure that they do not interfere with each other. </a:t>
            </a:r>
          </a:p>
          <a:p>
            <a:r>
              <a:rPr lang="en-GB" dirty="0">
                <a:solidFill>
                  <a:srgbClr val="6FD34C"/>
                </a:solidFill>
              </a:rPr>
              <a:t>The OS must share the devices effectively to ensure that all tasks are processed effectively. </a:t>
            </a:r>
          </a:p>
          <a:p>
            <a:r>
              <a:rPr lang="en-GB" dirty="0">
                <a:solidFill>
                  <a:srgbClr val="6FD34C"/>
                </a:solidFill>
              </a:rPr>
              <a:t>Where many processing tasks are being carried out simultaneously, a multiuser system must also ensure that processor time is shared between each user and a process known as </a:t>
            </a:r>
            <a:r>
              <a:rPr lang="en-GB" b="1" dirty="0">
                <a:solidFill>
                  <a:srgbClr val="6FD34C"/>
                </a:solidFill>
              </a:rPr>
              <a:t>time-slicing</a:t>
            </a:r>
            <a:r>
              <a:rPr lang="en-GB" dirty="0">
                <a:solidFill>
                  <a:srgbClr val="6FD34C"/>
                </a:solidFill>
              </a:rPr>
              <a:t> may sometimes be implemented.</a:t>
            </a:r>
          </a:p>
        </p:txBody>
      </p:sp>
    </p:spTree>
    <p:extLst>
      <p:ext uri="{BB962C8B-B14F-4D97-AF65-F5344CB8AC3E}">
        <p14:creationId xmlns:p14="http://schemas.microsoft.com/office/powerpoint/2010/main" val="273182811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fade">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animEffect transition="in" filter="fade">
                                      <p:cBhvr>
                                        <p:cTn id="47" dur="500"/>
                                        <p:tgtEl>
                                          <p:spTgt spid="5">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animEffect transition="in" filter="fade">
                                      <p:cBhvr>
                                        <p:cTn id="52" dur="500"/>
                                        <p:tgtEl>
                                          <p:spTgt spid="5">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3" end="3"/>
                                            </p:txEl>
                                          </p:spTgt>
                                        </p:tgtEl>
                                        <p:attrNameLst>
                                          <p:attrName>style.visibility</p:attrName>
                                        </p:attrNameLst>
                                      </p:cBhvr>
                                      <p:to>
                                        <p:strVal val="visible"/>
                                      </p:to>
                                    </p:set>
                                    <p:animEffect transition="in" filter="fade">
                                      <p:cBhvr>
                                        <p:cTn id="57" dur="500"/>
                                        <p:tgtEl>
                                          <p:spTgt spid="5">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4" end="4"/>
                                            </p:txEl>
                                          </p:spTgt>
                                        </p:tgtEl>
                                        <p:attrNameLst>
                                          <p:attrName>style.visibility</p:attrName>
                                        </p:attrNameLst>
                                      </p:cBhvr>
                                      <p:to>
                                        <p:strVal val="visible"/>
                                      </p:to>
                                    </p:set>
                                    <p:animEffect transition="in" filter="fade">
                                      <p:cBhvr>
                                        <p:cTn id="62" dur="500"/>
                                        <p:tgtEl>
                                          <p:spTgt spid="5">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animEffect transition="in" filter="fade">
                                      <p:cBhvr>
                                        <p:cTn id="67" dur="500"/>
                                        <p:tgtEl>
                                          <p:spTgt spid="5">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
                                            <p:txEl>
                                              <p:pRg st="6" end="6"/>
                                            </p:txEl>
                                          </p:spTgt>
                                        </p:tgtEl>
                                        <p:attrNameLst>
                                          <p:attrName>style.visibility</p:attrName>
                                        </p:attrNameLst>
                                      </p:cBhvr>
                                      <p:to>
                                        <p:strVal val="visible"/>
                                      </p:to>
                                    </p:set>
                                    <p:animEffect transition="in" filter="fade">
                                      <p:cBhvr>
                                        <p:cTn id="7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rotWithShape="1">
          <a:blip r:embed="rId2"/>
          <a:srcRect l="33645" t="38136" r="35020" b="24594"/>
          <a:stretch/>
        </p:blipFill>
        <p:spPr>
          <a:xfrm>
            <a:off x="1546617" y="477268"/>
            <a:ext cx="9098765" cy="6087433"/>
          </a:xfrm>
          <a:prstGeom prst="rect">
            <a:avLst/>
          </a:prstGeom>
        </p:spPr>
      </p:pic>
    </p:spTree>
    <p:extLst>
      <p:ext uri="{BB962C8B-B14F-4D97-AF65-F5344CB8AC3E}">
        <p14:creationId xmlns:p14="http://schemas.microsoft.com/office/powerpoint/2010/main" val="323521544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1: Mark Scheme</a:t>
            </a:r>
          </a:p>
        </p:txBody>
      </p:sp>
      <p:sp>
        <p:nvSpPr>
          <p:cNvPr id="3" name="Content Placeholder 2"/>
          <p:cNvSpPr>
            <a:spLocks noGrp="1"/>
          </p:cNvSpPr>
          <p:nvPr>
            <p:ph idx="1"/>
          </p:nvPr>
        </p:nvSpPr>
        <p:spPr>
          <a:xfrm>
            <a:off x="655608" y="1825625"/>
            <a:ext cx="11404120" cy="4351338"/>
          </a:xfrm>
        </p:spPr>
        <p:txBody>
          <a:bodyPr/>
          <a:lstStyle/>
          <a:p>
            <a:r>
              <a:rPr lang="en-GB" b="1" dirty="0"/>
              <a:t>Manages resources </a:t>
            </a:r>
            <a:r>
              <a:rPr lang="en-GB" dirty="0"/>
              <a:t>such as hardware and software (drivers/Storage/</a:t>
            </a:r>
            <a:r>
              <a:rPr lang="en-GB" dirty="0" err="1"/>
              <a:t>Etc</a:t>
            </a:r>
            <a:r>
              <a:rPr lang="en-GB" dirty="0"/>
              <a:t>) [1]</a:t>
            </a:r>
          </a:p>
          <a:p>
            <a:r>
              <a:rPr lang="en-GB" b="1" dirty="0"/>
              <a:t>Allocates Memory/ memory management </a:t>
            </a:r>
            <a:r>
              <a:rPr lang="en-GB" dirty="0"/>
              <a:t>[1]</a:t>
            </a:r>
          </a:p>
          <a:p>
            <a:r>
              <a:rPr lang="en-GB" dirty="0"/>
              <a:t>Handles </a:t>
            </a:r>
            <a:r>
              <a:rPr lang="en-GB" b="1" dirty="0"/>
              <a:t>user input </a:t>
            </a:r>
            <a:r>
              <a:rPr lang="en-GB" dirty="0"/>
              <a:t>and </a:t>
            </a:r>
            <a:r>
              <a:rPr lang="en-GB" b="1" dirty="0"/>
              <a:t>output</a:t>
            </a:r>
            <a:r>
              <a:rPr lang="en-GB" dirty="0"/>
              <a:t> [1]</a:t>
            </a:r>
          </a:p>
          <a:p>
            <a:r>
              <a:rPr lang="en-GB" dirty="0"/>
              <a:t>Provides an </a:t>
            </a:r>
            <a:r>
              <a:rPr lang="en-GB" b="1" dirty="0"/>
              <a:t>interface</a:t>
            </a:r>
            <a:r>
              <a:rPr lang="en-GB" dirty="0"/>
              <a:t> for the user [1]</a:t>
            </a:r>
          </a:p>
          <a:p>
            <a:r>
              <a:rPr lang="en-GB" dirty="0"/>
              <a:t>Ensures the computer is secure via scheduling security software [1]</a:t>
            </a:r>
          </a:p>
        </p:txBody>
      </p:sp>
    </p:spTree>
    <p:extLst>
      <p:ext uri="{BB962C8B-B14F-4D97-AF65-F5344CB8AC3E}">
        <p14:creationId xmlns:p14="http://schemas.microsoft.com/office/powerpoint/2010/main" val="165192762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a:t>
            </a:r>
          </a:p>
        </p:txBody>
      </p:sp>
      <p:sp>
        <p:nvSpPr>
          <p:cNvPr id="3" name="Content Placeholder 2"/>
          <p:cNvSpPr>
            <a:spLocks noGrp="1"/>
          </p:cNvSpPr>
          <p:nvPr>
            <p:ph idx="1"/>
          </p:nvPr>
        </p:nvSpPr>
        <p:spPr>
          <a:xfrm>
            <a:off x="838200" y="1825625"/>
            <a:ext cx="8915400" cy="4351338"/>
          </a:xfrm>
        </p:spPr>
        <p:txBody>
          <a:bodyPr/>
          <a:lstStyle/>
          <a:p>
            <a:r>
              <a:rPr lang="en-GB" b="1" dirty="0"/>
              <a:t>Go to </a:t>
            </a:r>
            <a:r>
              <a:rPr lang="en-GB" b="1" dirty="0">
                <a:solidFill>
                  <a:schemeClr val="bg1"/>
                </a:solidFill>
                <a:effectLst/>
              </a:rPr>
              <a:t>http://www.ni.com/white-paper/6424/en/ </a:t>
            </a:r>
          </a:p>
          <a:p>
            <a:r>
              <a:rPr lang="en-GB" b="1" dirty="0"/>
              <a:t>List the differences between Multithreading and Multitasking operating systems</a:t>
            </a:r>
            <a:endParaRPr lang="en-GB" dirty="0"/>
          </a:p>
        </p:txBody>
      </p:sp>
      <p:pic>
        <p:nvPicPr>
          <p:cNvPr id="5" name="Picture 4">
            <a:extLst>
              <a:ext uri="{FF2B5EF4-FFF2-40B4-BE49-F238E27FC236}">
                <a16:creationId xmlns:a16="http://schemas.microsoft.com/office/drawing/2014/main" id="{4443A666-4E26-EC74-2549-5AA18A3C59BA}"/>
              </a:ext>
            </a:extLst>
          </p:cNvPr>
          <p:cNvPicPr>
            <a:picLocks noChangeAspect="1"/>
          </p:cNvPicPr>
          <p:nvPr/>
        </p:nvPicPr>
        <p:blipFill>
          <a:blip r:embed="rId2"/>
          <a:stretch>
            <a:fillRect/>
          </a:stretch>
        </p:blipFill>
        <p:spPr>
          <a:xfrm>
            <a:off x="9072855" y="3653376"/>
            <a:ext cx="2981741" cy="3048425"/>
          </a:xfrm>
          <a:prstGeom prst="rect">
            <a:avLst/>
          </a:prstGeom>
        </p:spPr>
      </p:pic>
    </p:spTree>
    <p:extLst>
      <p:ext uri="{BB962C8B-B14F-4D97-AF65-F5344CB8AC3E}">
        <p14:creationId xmlns:p14="http://schemas.microsoft.com/office/powerpoint/2010/main" val="359474824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Multiuser</a:t>
            </a:r>
          </a:p>
        </p:txBody>
      </p:sp>
      <p:sp>
        <p:nvSpPr>
          <p:cNvPr id="3" name="Content Placeholder 2"/>
          <p:cNvSpPr>
            <a:spLocks noGrp="1"/>
          </p:cNvSpPr>
          <p:nvPr>
            <p:ph idx="1"/>
          </p:nvPr>
        </p:nvSpPr>
        <p:spPr>
          <a:xfrm>
            <a:off x="621792" y="1825625"/>
            <a:ext cx="11472442" cy="4920232"/>
          </a:xfrm>
        </p:spPr>
        <p:txBody>
          <a:bodyPr>
            <a:normAutofit fontScale="92500" lnSpcReduction="20000"/>
          </a:bodyPr>
          <a:lstStyle/>
          <a:p>
            <a:r>
              <a:rPr lang="en-GB" dirty="0"/>
              <a:t>More than one user is logged on and can use the computer at any one time</a:t>
            </a:r>
          </a:p>
          <a:p>
            <a:r>
              <a:rPr lang="en-GB" dirty="0"/>
              <a:t>Each person needs to be able to run more than one application at a time, so needs to be </a:t>
            </a:r>
            <a:r>
              <a:rPr lang="en-GB" b="1" dirty="0"/>
              <a:t>multi-tasking</a:t>
            </a:r>
            <a:r>
              <a:rPr lang="en-GB" dirty="0"/>
              <a:t> as well</a:t>
            </a:r>
          </a:p>
          <a:p>
            <a:r>
              <a:rPr lang="en-GB" dirty="0"/>
              <a:t>Each person can draw the power of the computer in a shared way, allowing multiple users to run multiple programs simultaneously</a:t>
            </a:r>
          </a:p>
          <a:p>
            <a:pPr lvl="1"/>
            <a:r>
              <a:rPr lang="en-GB" dirty="0"/>
              <a:t>Can be a few users -&gt; 1000’s of users</a:t>
            </a:r>
          </a:p>
          <a:p>
            <a:r>
              <a:rPr lang="en-GB" dirty="0"/>
              <a:t>The OS needs to keep track of where each person is with each program and be able to switch between one task to another without losing data</a:t>
            </a:r>
          </a:p>
          <a:p>
            <a:pPr lvl="0"/>
            <a:r>
              <a:rPr lang="en-GB" dirty="0"/>
              <a:t>Each user in turn is given a small </a:t>
            </a:r>
            <a:r>
              <a:rPr lang="en-GB" b="1" dirty="0"/>
              <a:t>time slice</a:t>
            </a:r>
            <a:r>
              <a:rPr lang="en-GB" dirty="0"/>
              <a:t> of the CPU time. </a:t>
            </a:r>
          </a:p>
          <a:p>
            <a:pPr lvl="0"/>
            <a:r>
              <a:rPr lang="en-GB" dirty="0"/>
              <a:t>Because these time slices are very small the users believe that they are all using the mainframe at the same time.</a:t>
            </a:r>
          </a:p>
          <a:p>
            <a:pPr lvl="0"/>
            <a:r>
              <a:rPr lang="en-GB" dirty="0"/>
              <a:t>Multi-user operating systems rely on having very powerful computers to process data.</a:t>
            </a:r>
          </a:p>
          <a:p>
            <a:endParaRPr lang="en-GB" dirty="0"/>
          </a:p>
        </p:txBody>
      </p:sp>
    </p:spTree>
    <p:extLst>
      <p:ext uri="{BB962C8B-B14F-4D97-AF65-F5344CB8AC3E}">
        <p14:creationId xmlns:p14="http://schemas.microsoft.com/office/powerpoint/2010/main" val="351421150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Multi-tasking</a:t>
            </a:r>
          </a:p>
        </p:txBody>
      </p:sp>
      <p:sp>
        <p:nvSpPr>
          <p:cNvPr id="3" name="Content Placeholder 2"/>
          <p:cNvSpPr>
            <a:spLocks noGrp="1"/>
          </p:cNvSpPr>
          <p:nvPr>
            <p:ph idx="1"/>
          </p:nvPr>
        </p:nvSpPr>
        <p:spPr/>
        <p:txBody>
          <a:bodyPr>
            <a:normAutofit lnSpcReduction="10000"/>
          </a:bodyPr>
          <a:lstStyle/>
          <a:p>
            <a:pPr lvl="0"/>
            <a:r>
              <a:rPr lang="en-GB" dirty="0"/>
              <a:t>A </a:t>
            </a:r>
            <a:r>
              <a:rPr lang="en-GB" b="1" dirty="0"/>
              <a:t>multi-tasking</a:t>
            </a:r>
            <a:r>
              <a:rPr lang="en-GB" dirty="0"/>
              <a:t> operating system is capable of </a:t>
            </a:r>
            <a:r>
              <a:rPr lang="en-GB" b="1" dirty="0"/>
              <a:t>appearing to carry out more than one task at a time</a:t>
            </a:r>
            <a:r>
              <a:rPr lang="en-GB" dirty="0"/>
              <a:t>.</a:t>
            </a:r>
          </a:p>
          <a:p>
            <a:pPr lvl="0"/>
            <a:r>
              <a:rPr lang="en-GB" dirty="0"/>
              <a:t>Windows 7/10 are examples of a multi-tasking operating systems. </a:t>
            </a:r>
          </a:p>
          <a:p>
            <a:pPr lvl="0"/>
            <a:r>
              <a:rPr lang="en-GB" dirty="0"/>
              <a:t>If you have a computer with a multi-tasking OS you could be using a spreadsheet and a word processor at the same time. </a:t>
            </a:r>
          </a:p>
          <a:p>
            <a:pPr lvl="0"/>
            <a:r>
              <a:rPr lang="en-GB" dirty="0"/>
              <a:t>Most multi-tasking operating systems have a WIMP user interface with each task being displayed in its own window.</a:t>
            </a:r>
          </a:p>
          <a:p>
            <a:pPr lvl="0"/>
            <a:endParaRPr lang="en-GB" dirty="0"/>
          </a:p>
          <a:p>
            <a:pPr lvl="0"/>
            <a:endParaRPr lang="en-GB" dirty="0"/>
          </a:p>
          <a:p>
            <a:pPr lvl="0"/>
            <a:r>
              <a:rPr lang="en-GB" dirty="0">
                <a:hlinkClick r:id="rId2"/>
              </a:rPr>
              <a:t>https://www.youtube.com/watch?v=mINZ-YFO88c&amp;feature=youtu.be</a:t>
            </a:r>
            <a:r>
              <a:rPr lang="en-GB" dirty="0"/>
              <a:t> </a:t>
            </a:r>
          </a:p>
          <a:p>
            <a:endParaRPr lang="en-GB" dirty="0"/>
          </a:p>
        </p:txBody>
      </p:sp>
      <p:sp>
        <p:nvSpPr>
          <p:cNvPr id="4" name="Rectangle 3">
            <a:extLst>
              <a:ext uri="{FF2B5EF4-FFF2-40B4-BE49-F238E27FC236}">
                <a16:creationId xmlns:a16="http://schemas.microsoft.com/office/drawing/2014/main" id="{0048C128-8ADD-CACA-E0A0-D5C108C0B640}"/>
              </a:ext>
            </a:extLst>
          </p:cNvPr>
          <p:cNvSpPr/>
          <p:nvPr/>
        </p:nvSpPr>
        <p:spPr>
          <a:xfrm>
            <a:off x="5486400" y="98653"/>
            <a:ext cx="6613071" cy="1592035"/>
          </a:xfrm>
          <a:prstGeom prst="rect">
            <a:avLst/>
          </a:prstGeom>
          <a:solidFill>
            <a:srgbClr val="6FD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Interrupts &amp; Jump Cycles</a:t>
            </a:r>
          </a:p>
          <a:p>
            <a:pPr algn="ctr"/>
            <a:r>
              <a:rPr lang="en-GB" dirty="0">
                <a:solidFill>
                  <a:schemeClr val="tx1"/>
                </a:solidFill>
              </a:rPr>
              <a:t>When computers switch between running programs, they need to change the contents of the CPU. This is where the program counter performs a ‘jump cycle’ and changes its content to the new program.</a:t>
            </a:r>
          </a:p>
        </p:txBody>
      </p:sp>
    </p:spTree>
    <p:extLst>
      <p:ext uri="{BB962C8B-B14F-4D97-AF65-F5344CB8AC3E}">
        <p14:creationId xmlns:p14="http://schemas.microsoft.com/office/powerpoint/2010/main" val="172784611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 of a Multi-tasking System</a:t>
            </a:r>
          </a:p>
        </p:txBody>
      </p:sp>
      <p:sp>
        <p:nvSpPr>
          <p:cNvPr id="3" name="Content Placeholder 2"/>
          <p:cNvSpPr>
            <a:spLocks noGrp="1"/>
          </p:cNvSpPr>
          <p:nvPr>
            <p:ph idx="1"/>
          </p:nvPr>
        </p:nvSpPr>
        <p:spPr/>
        <p:txBody>
          <a:bodyPr/>
          <a:lstStyle/>
          <a:p>
            <a:pPr lvl="0"/>
            <a:r>
              <a:rPr lang="en-GB" dirty="0"/>
              <a:t>Enables the user to perform more than one task/program at a time</a:t>
            </a:r>
          </a:p>
          <a:p>
            <a:pPr lvl="0"/>
            <a:r>
              <a:rPr lang="en-GB" dirty="0"/>
              <a:t>Each task may have its own window</a:t>
            </a:r>
          </a:p>
          <a:p>
            <a:pPr lvl="0"/>
            <a:r>
              <a:rPr lang="en-GB" dirty="0"/>
              <a:t>Each task can be totally independent of each other</a:t>
            </a:r>
          </a:p>
          <a:p>
            <a:pPr lvl="0"/>
            <a:r>
              <a:rPr lang="en-GB" dirty="0"/>
              <a:t>The tasks may be dependent e.g. they may share data</a:t>
            </a:r>
          </a:p>
          <a:p>
            <a:pPr lvl="0"/>
            <a:r>
              <a:rPr lang="en-GB" dirty="0"/>
              <a:t>The OS allocates storage and other resources accordingly</a:t>
            </a:r>
          </a:p>
          <a:p>
            <a:pPr lvl="0"/>
            <a:r>
              <a:rPr lang="en-GB" dirty="0"/>
              <a:t>In pre-emptive multitasking, the OS allocates CPU time slices to each program/task</a:t>
            </a:r>
          </a:p>
          <a:p>
            <a:pPr lvl="0"/>
            <a:r>
              <a:rPr lang="en-GB" dirty="0"/>
              <a:t>In cooperative multitasking, each program has use of the CPU for as long as it needs</a:t>
            </a:r>
          </a:p>
          <a:p>
            <a:endParaRPr lang="en-GB" dirty="0"/>
          </a:p>
        </p:txBody>
      </p:sp>
    </p:spTree>
    <p:extLst>
      <p:ext uri="{BB962C8B-B14F-4D97-AF65-F5344CB8AC3E}">
        <p14:creationId xmlns:p14="http://schemas.microsoft.com/office/powerpoint/2010/main" val="419978395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883" y="-86264"/>
            <a:ext cx="10515600" cy="1325563"/>
          </a:xfrm>
        </p:spPr>
        <p:txBody>
          <a:bodyPr/>
          <a:lstStyle/>
          <a:p>
            <a:r>
              <a:rPr lang="en-GB" dirty="0"/>
              <a:t>How Multi-tasking Works</a:t>
            </a:r>
          </a:p>
        </p:txBody>
      </p:sp>
      <p:sp>
        <p:nvSpPr>
          <p:cNvPr id="3" name="Content Placeholder 2"/>
          <p:cNvSpPr>
            <a:spLocks noGrp="1"/>
          </p:cNvSpPr>
          <p:nvPr>
            <p:ph idx="1"/>
          </p:nvPr>
        </p:nvSpPr>
        <p:spPr>
          <a:xfrm>
            <a:off x="603504" y="1333919"/>
            <a:ext cx="9592919" cy="3902315"/>
          </a:xfrm>
        </p:spPr>
        <p:txBody>
          <a:bodyPr>
            <a:normAutofit fontScale="92500" lnSpcReduction="20000"/>
          </a:bodyPr>
          <a:lstStyle/>
          <a:p>
            <a:pPr lvl="0"/>
            <a:r>
              <a:rPr lang="en-GB" dirty="0"/>
              <a:t>In reality because the computer only has one processor it can only be doing one thing at once. </a:t>
            </a:r>
          </a:p>
          <a:p>
            <a:pPr lvl="0"/>
            <a:r>
              <a:rPr lang="en-GB" dirty="0"/>
              <a:t>The computer fools you into thinking it is doing more than one task at once by dividing the processor time up between each of the tasks. </a:t>
            </a:r>
          </a:p>
          <a:p>
            <a:r>
              <a:rPr lang="en-GB" dirty="0"/>
              <a:t>Each task is given a small amount of processor time in turn</a:t>
            </a:r>
          </a:p>
          <a:p>
            <a:pPr lvl="0"/>
            <a:r>
              <a:rPr lang="en-GB" dirty="0"/>
              <a:t>The amount of time allocated to a task is known as a </a:t>
            </a:r>
            <a:r>
              <a:rPr lang="en-GB" b="1" dirty="0"/>
              <a:t>time slice</a:t>
            </a:r>
            <a:r>
              <a:rPr lang="en-GB" dirty="0"/>
              <a:t>. These time slices are very short, usually less that 1/1000 of a second. </a:t>
            </a:r>
          </a:p>
          <a:p>
            <a:pPr lvl="0"/>
            <a:r>
              <a:rPr lang="en-GB" dirty="0"/>
              <a:t>Because the slices are so small, the user is fooled into thinking that the computer is doing many things at once.</a:t>
            </a:r>
          </a:p>
          <a:p>
            <a:endParaRPr lang="en-GB"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1207" y="4828516"/>
            <a:ext cx="4258952" cy="1943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58554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Multi-processing</a:t>
            </a:r>
          </a:p>
        </p:txBody>
      </p:sp>
      <p:sp>
        <p:nvSpPr>
          <p:cNvPr id="3" name="Content Placeholder 2"/>
          <p:cNvSpPr>
            <a:spLocks noGrp="1"/>
          </p:cNvSpPr>
          <p:nvPr>
            <p:ph idx="1"/>
          </p:nvPr>
        </p:nvSpPr>
        <p:spPr>
          <a:xfrm>
            <a:off x="529008" y="1533689"/>
            <a:ext cx="10515600" cy="4351338"/>
          </a:xfrm>
        </p:spPr>
        <p:txBody>
          <a:bodyPr/>
          <a:lstStyle/>
          <a:p>
            <a:r>
              <a:rPr lang="en-GB" dirty="0"/>
              <a:t>Multiprocessing sometimes refers to executing multiple processes (programs) at the same time.</a:t>
            </a:r>
          </a:p>
          <a:p>
            <a:r>
              <a:rPr lang="en-GB" dirty="0"/>
              <a:t>In fact, multiprocessing refers to the hardware (i.e., the CPU units) rather than the software (i.e., running processes). If the underlying hardware provides more than one processor then that is multiprocessing. </a:t>
            </a:r>
          </a:p>
          <a:p>
            <a:endParaRPr lang="en-GB" dirty="0"/>
          </a:p>
        </p:txBody>
      </p:sp>
      <p:pic>
        <p:nvPicPr>
          <p:cNvPr id="3074" name="Picture 2" descr="Image result for multiprocess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6808" y="3709358"/>
            <a:ext cx="6284362" cy="3050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91071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Multi-threading</a:t>
            </a:r>
          </a:p>
        </p:txBody>
      </p:sp>
      <p:sp>
        <p:nvSpPr>
          <p:cNvPr id="3" name="Content Placeholder 2"/>
          <p:cNvSpPr>
            <a:spLocks noGrp="1"/>
          </p:cNvSpPr>
          <p:nvPr>
            <p:ph idx="1"/>
          </p:nvPr>
        </p:nvSpPr>
        <p:spPr>
          <a:xfrm>
            <a:off x="838200" y="1690688"/>
            <a:ext cx="5694595" cy="4815620"/>
          </a:xfrm>
        </p:spPr>
        <p:txBody>
          <a:bodyPr/>
          <a:lstStyle/>
          <a:p>
            <a:r>
              <a:rPr lang="en-GB" dirty="0"/>
              <a:t>The ability of an operating system to execute different parts of a program, called threads, simultaneously. The programmer must carefully design the program in such a way that all the threads can run at the same time without interfering with each other.</a:t>
            </a:r>
          </a:p>
        </p:txBody>
      </p:sp>
      <p:pic>
        <p:nvPicPr>
          <p:cNvPr id="4098" name="Picture 2" descr="Image result for multithreading"/>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58548" y="1027906"/>
            <a:ext cx="5435267" cy="4881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19676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rotWithShape="1">
          <a:blip r:embed="rId2"/>
          <a:srcRect l="34425" t="30008" r="35913" b="29946"/>
          <a:stretch/>
        </p:blipFill>
        <p:spPr>
          <a:xfrm>
            <a:off x="3602936" y="365125"/>
            <a:ext cx="8258385" cy="6271404"/>
          </a:xfrm>
          <a:prstGeom prst="rect">
            <a:avLst/>
          </a:prstGeom>
        </p:spPr>
      </p:pic>
    </p:spTree>
    <p:extLst>
      <p:ext uri="{BB962C8B-B14F-4D97-AF65-F5344CB8AC3E}">
        <p14:creationId xmlns:p14="http://schemas.microsoft.com/office/powerpoint/2010/main" val="11719144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2: Mark Scheme</a:t>
            </a:r>
          </a:p>
        </p:txBody>
      </p:sp>
      <p:sp>
        <p:nvSpPr>
          <p:cNvPr id="3" name="Content Placeholder 2"/>
          <p:cNvSpPr>
            <a:spLocks noGrp="1"/>
          </p:cNvSpPr>
          <p:nvPr>
            <p:ph idx="1"/>
          </p:nvPr>
        </p:nvSpPr>
        <p:spPr/>
        <p:txBody>
          <a:bodyPr/>
          <a:lstStyle/>
          <a:p>
            <a:r>
              <a:rPr lang="en-GB" u="sng" dirty="0"/>
              <a:t>Single User:</a:t>
            </a:r>
          </a:p>
          <a:p>
            <a:pPr lvl="1"/>
            <a:r>
              <a:rPr lang="en-GB" b="1" dirty="0"/>
              <a:t>Provides access</a:t>
            </a:r>
            <a:r>
              <a:rPr lang="en-GB" dirty="0"/>
              <a:t> to the computer for </a:t>
            </a:r>
            <a:r>
              <a:rPr lang="en-GB" b="1" dirty="0"/>
              <a:t>any one user</a:t>
            </a:r>
            <a:r>
              <a:rPr lang="en-GB" dirty="0"/>
              <a:t> at any given time</a:t>
            </a:r>
          </a:p>
          <a:p>
            <a:pPr lvl="2"/>
            <a:r>
              <a:rPr lang="en-GB" b="1" dirty="0"/>
              <a:t>Has one keyboard and monitor to support user interaction</a:t>
            </a:r>
          </a:p>
          <a:p>
            <a:pPr lvl="2"/>
            <a:r>
              <a:rPr lang="en-GB" b="1" dirty="0"/>
              <a:t>If another person wants access they will have to wait until the user is finished to use the device</a:t>
            </a:r>
          </a:p>
          <a:p>
            <a:pPr lvl="2"/>
            <a:r>
              <a:rPr lang="en-GB" u="sng" dirty="0"/>
              <a:t>Potential Use:</a:t>
            </a:r>
            <a:r>
              <a:rPr lang="en-GB" dirty="0"/>
              <a:t> A home computer/device</a:t>
            </a:r>
          </a:p>
          <a:p>
            <a:r>
              <a:rPr lang="en-GB" u="sng" dirty="0"/>
              <a:t>Single Task:</a:t>
            </a:r>
          </a:p>
          <a:p>
            <a:pPr lvl="1"/>
            <a:r>
              <a:rPr lang="en-GB" dirty="0"/>
              <a:t>The OS can only deal with one task/application at any given time</a:t>
            </a:r>
          </a:p>
          <a:p>
            <a:pPr lvl="1"/>
            <a:r>
              <a:rPr lang="en-GB" dirty="0"/>
              <a:t>The user will have to finish the task before opening something else</a:t>
            </a:r>
          </a:p>
          <a:p>
            <a:pPr lvl="2"/>
            <a:r>
              <a:rPr lang="en-GB" u="sng" dirty="0"/>
              <a:t>Potential Use:</a:t>
            </a:r>
            <a:r>
              <a:rPr lang="en-GB" dirty="0"/>
              <a:t> An old mobile device works on this principle. i.e. can’t listen to music + browse the internet</a:t>
            </a:r>
            <a:endParaRPr lang="en-GB" u="sng" dirty="0"/>
          </a:p>
        </p:txBody>
      </p:sp>
    </p:spTree>
    <p:extLst>
      <p:ext uri="{BB962C8B-B14F-4D97-AF65-F5344CB8AC3E}">
        <p14:creationId xmlns:p14="http://schemas.microsoft.com/office/powerpoint/2010/main" val="218266561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2: Mark Scheme</a:t>
            </a:r>
          </a:p>
        </p:txBody>
      </p:sp>
      <p:sp>
        <p:nvSpPr>
          <p:cNvPr id="3" name="Content Placeholder 2"/>
          <p:cNvSpPr>
            <a:spLocks noGrp="1"/>
          </p:cNvSpPr>
          <p:nvPr>
            <p:ph idx="1"/>
          </p:nvPr>
        </p:nvSpPr>
        <p:spPr>
          <a:xfrm>
            <a:off x="838200" y="1825625"/>
            <a:ext cx="10515600" cy="4885726"/>
          </a:xfrm>
        </p:spPr>
        <p:txBody>
          <a:bodyPr>
            <a:normAutofit fontScale="92500"/>
          </a:bodyPr>
          <a:lstStyle/>
          <a:p>
            <a:r>
              <a:rPr lang="en-GB" u="sng" dirty="0"/>
              <a:t>Multi-User:</a:t>
            </a:r>
            <a:endParaRPr lang="en-GB" dirty="0"/>
          </a:p>
          <a:p>
            <a:pPr lvl="1"/>
            <a:r>
              <a:rPr lang="en-GB" dirty="0"/>
              <a:t>Enables many users to run programs simultaneously</a:t>
            </a:r>
          </a:p>
          <a:p>
            <a:pPr lvl="1"/>
            <a:r>
              <a:rPr lang="en-GB" dirty="0"/>
              <a:t>The OS must make sure that resources allocated to the current users are balanced</a:t>
            </a:r>
          </a:p>
          <a:p>
            <a:pPr lvl="1"/>
            <a:r>
              <a:rPr lang="en-GB" dirty="0"/>
              <a:t>… so the user has sufficient resources</a:t>
            </a:r>
          </a:p>
          <a:p>
            <a:pPr lvl="1"/>
            <a:r>
              <a:rPr lang="en-GB" dirty="0"/>
              <a:t>… time slicing is used to ensure overall performance of the system is satisfactory</a:t>
            </a:r>
          </a:p>
          <a:p>
            <a:pPr lvl="1"/>
            <a:r>
              <a:rPr lang="en-GB" u="sng" dirty="0"/>
              <a:t>Potential Use: </a:t>
            </a:r>
            <a:r>
              <a:rPr lang="en-GB" dirty="0"/>
              <a:t>Many users accessing a travel website to book flights at the same time</a:t>
            </a:r>
          </a:p>
          <a:p>
            <a:r>
              <a:rPr lang="en-GB" u="sng" dirty="0"/>
              <a:t>Multi-tasking:</a:t>
            </a:r>
            <a:endParaRPr lang="en-GB" dirty="0"/>
          </a:p>
          <a:p>
            <a:pPr lvl="1"/>
            <a:r>
              <a:rPr lang="en-GB" dirty="0"/>
              <a:t>Allows the user to perform more than one task at a time</a:t>
            </a:r>
          </a:p>
          <a:p>
            <a:pPr lvl="1"/>
            <a:r>
              <a:rPr lang="en-GB" dirty="0"/>
              <a:t>The OS allocates storage and other resources accordingly as it needs to keep track of where users are in these tasks</a:t>
            </a:r>
          </a:p>
          <a:p>
            <a:pPr lvl="1"/>
            <a:r>
              <a:rPr lang="en-GB" dirty="0"/>
              <a:t>Allocates time slices to each program/task</a:t>
            </a:r>
          </a:p>
          <a:p>
            <a:pPr lvl="1"/>
            <a:r>
              <a:rPr lang="en-GB" u="sng" dirty="0"/>
              <a:t>Potential Use:</a:t>
            </a:r>
            <a:r>
              <a:rPr lang="en-GB" dirty="0"/>
              <a:t> having a browser and word processing software at the same time</a:t>
            </a:r>
            <a:endParaRPr lang="en-GB" u="sng" dirty="0"/>
          </a:p>
        </p:txBody>
      </p:sp>
    </p:spTree>
    <p:extLst>
      <p:ext uri="{BB962C8B-B14F-4D97-AF65-F5344CB8AC3E}">
        <p14:creationId xmlns:p14="http://schemas.microsoft.com/office/powerpoint/2010/main" val="404455081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4" name="Content Placeholder 3"/>
          <p:cNvPicPr>
            <a:picLocks noGrp="1" noChangeAspect="1"/>
          </p:cNvPicPr>
          <p:nvPr>
            <p:ph idx="1"/>
          </p:nvPr>
        </p:nvPicPr>
        <p:blipFill rotWithShape="1">
          <a:blip r:embed="rId2"/>
          <a:srcRect l="20373" t="36589" r="21752" b="29994"/>
          <a:stretch/>
        </p:blipFill>
        <p:spPr>
          <a:xfrm>
            <a:off x="556871" y="1785578"/>
            <a:ext cx="10796929" cy="4675606"/>
          </a:xfrm>
          <a:prstGeom prst="rect">
            <a:avLst/>
          </a:prstGeom>
        </p:spPr>
      </p:pic>
      <p:sp>
        <p:nvSpPr>
          <p:cNvPr id="5" name="TextBox 4"/>
          <p:cNvSpPr txBox="1"/>
          <p:nvPr/>
        </p:nvSpPr>
        <p:spPr>
          <a:xfrm>
            <a:off x="3062378" y="1984076"/>
            <a:ext cx="465827" cy="523220"/>
          </a:xfrm>
          <a:prstGeom prst="rect">
            <a:avLst/>
          </a:prstGeom>
          <a:noFill/>
        </p:spPr>
        <p:txBody>
          <a:bodyPr wrap="square" rtlCol="0">
            <a:spAutoFit/>
          </a:bodyPr>
          <a:lstStyle/>
          <a:p>
            <a:r>
              <a:rPr lang="en-GB" sz="2800" b="1" dirty="0">
                <a:solidFill>
                  <a:srgbClr val="6FD34C"/>
                </a:solidFill>
                <a:sym typeface="Wingdings" panose="05000000000000000000" pitchFamily="2" charset="2"/>
              </a:rPr>
              <a:t></a:t>
            </a:r>
            <a:endParaRPr lang="en-GB" sz="2800" b="1" dirty="0">
              <a:solidFill>
                <a:srgbClr val="6FD34C"/>
              </a:solidFill>
            </a:endParaRPr>
          </a:p>
        </p:txBody>
      </p:sp>
      <p:sp>
        <p:nvSpPr>
          <p:cNvPr id="6" name="TextBox 5"/>
          <p:cNvSpPr txBox="1"/>
          <p:nvPr/>
        </p:nvSpPr>
        <p:spPr>
          <a:xfrm>
            <a:off x="3071004" y="2688542"/>
            <a:ext cx="465827" cy="523220"/>
          </a:xfrm>
          <a:prstGeom prst="rect">
            <a:avLst/>
          </a:prstGeom>
          <a:noFill/>
        </p:spPr>
        <p:txBody>
          <a:bodyPr wrap="square" rtlCol="0">
            <a:spAutoFit/>
          </a:bodyPr>
          <a:lstStyle/>
          <a:p>
            <a:r>
              <a:rPr lang="en-GB" sz="2800" b="1" dirty="0">
                <a:solidFill>
                  <a:srgbClr val="6FD34C"/>
                </a:solidFill>
                <a:sym typeface="Wingdings" panose="05000000000000000000" pitchFamily="2" charset="2"/>
              </a:rPr>
              <a:t></a:t>
            </a:r>
            <a:endParaRPr lang="en-GB" sz="2800" b="1" dirty="0">
              <a:solidFill>
                <a:srgbClr val="6FD34C"/>
              </a:solidFill>
            </a:endParaRPr>
          </a:p>
        </p:txBody>
      </p:sp>
    </p:spTree>
    <p:extLst>
      <p:ext uri="{BB962C8B-B14F-4D97-AF65-F5344CB8AC3E}">
        <p14:creationId xmlns:p14="http://schemas.microsoft.com/office/powerpoint/2010/main" val="132737438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Utility Programs – What are they?</a:t>
            </a:r>
          </a:p>
        </p:txBody>
      </p:sp>
      <p:sp>
        <p:nvSpPr>
          <p:cNvPr id="3" name="Content Placeholder 2"/>
          <p:cNvSpPr>
            <a:spLocks noGrp="1"/>
          </p:cNvSpPr>
          <p:nvPr>
            <p:ph idx="1"/>
          </p:nvPr>
        </p:nvSpPr>
        <p:spPr/>
        <p:txBody>
          <a:bodyPr>
            <a:normAutofit lnSpcReduction="10000"/>
          </a:bodyPr>
          <a:lstStyle/>
          <a:p>
            <a:r>
              <a:rPr lang="en-GB" dirty="0"/>
              <a:t>A utility program is a system program that performs a specific task related to the management of computer functions. </a:t>
            </a:r>
          </a:p>
          <a:p>
            <a:r>
              <a:rPr lang="en-GB" b="1" dirty="0"/>
              <a:t>It is provided by the OS to help the user manage their computer and ensure that it operates effectively.</a:t>
            </a:r>
          </a:p>
          <a:p>
            <a:r>
              <a:rPr lang="en-GB" dirty="0"/>
              <a:t>A utility program may be designed to do </a:t>
            </a:r>
            <a:r>
              <a:rPr lang="en-GB" b="1" dirty="0"/>
              <a:t>one or two tasks </a:t>
            </a:r>
            <a:r>
              <a:rPr lang="en-GB" dirty="0"/>
              <a:t>well and nothing else</a:t>
            </a:r>
          </a:p>
          <a:p>
            <a:r>
              <a:rPr lang="en-GB" dirty="0"/>
              <a:t>For example:</a:t>
            </a:r>
          </a:p>
          <a:p>
            <a:pPr lvl="1"/>
            <a:r>
              <a:rPr lang="en-GB" dirty="0"/>
              <a:t>file backup, </a:t>
            </a:r>
          </a:p>
          <a:p>
            <a:pPr lvl="1"/>
            <a:r>
              <a:rPr lang="en-GB" dirty="0"/>
              <a:t>data compression (i.e. </a:t>
            </a:r>
            <a:r>
              <a:rPr lang="en-GB" dirty="0" err="1"/>
              <a:t>winzip</a:t>
            </a:r>
            <a:r>
              <a:rPr lang="en-GB" dirty="0"/>
              <a:t>), </a:t>
            </a:r>
          </a:p>
          <a:p>
            <a:pPr lvl="1"/>
            <a:r>
              <a:rPr lang="en-GB" dirty="0"/>
              <a:t>archive software, and </a:t>
            </a:r>
          </a:p>
          <a:p>
            <a:pPr lvl="1"/>
            <a:r>
              <a:rPr lang="en-GB" dirty="0"/>
              <a:t>disk defragmenters.</a:t>
            </a:r>
          </a:p>
          <a:p>
            <a:endParaRPr lang="en-GB" dirty="0"/>
          </a:p>
        </p:txBody>
      </p:sp>
    </p:spTree>
    <p:extLst>
      <p:ext uri="{BB962C8B-B14F-4D97-AF65-F5344CB8AC3E}">
        <p14:creationId xmlns:p14="http://schemas.microsoft.com/office/powerpoint/2010/main" val="275475198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rotWithShape="1">
          <a:blip r:embed="rId2"/>
          <a:srcRect l="1771" t="15920" r="9867" b="8636"/>
          <a:stretch/>
        </p:blipFill>
        <p:spPr>
          <a:xfrm>
            <a:off x="1203524" y="86741"/>
            <a:ext cx="10433840" cy="6681319"/>
          </a:xfrm>
          <a:prstGeom prst="rect">
            <a:avLst/>
          </a:prstGeom>
        </p:spPr>
      </p:pic>
    </p:spTree>
    <p:extLst>
      <p:ext uri="{BB962C8B-B14F-4D97-AF65-F5344CB8AC3E}">
        <p14:creationId xmlns:p14="http://schemas.microsoft.com/office/powerpoint/2010/main" val="237655928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3: Mark Scheme</a:t>
            </a:r>
          </a:p>
        </p:txBody>
      </p:sp>
      <p:sp>
        <p:nvSpPr>
          <p:cNvPr id="3" name="Content Placeholder 2"/>
          <p:cNvSpPr>
            <a:spLocks noGrp="1"/>
          </p:cNvSpPr>
          <p:nvPr>
            <p:ph idx="1"/>
          </p:nvPr>
        </p:nvSpPr>
        <p:spPr/>
        <p:txBody>
          <a:bodyPr/>
          <a:lstStyle/>
          <a:p>
            <a:r>
              <a:rPr lang="en-GB" dirty="0">
                <a:solidFill>
                  <a:schemeClr val="bg1"/>
                </a:solidFill>
              </a:rPr>
              <a:t>Sharing devices and resources </a:t>
            </a:r>
            <a:r>
              <a:rPr lang="en-GB" dirty="0"/>
              <a:t>effectively to ensure all tasks are properly balanced and the user has sufficient resources while the overall performance of the system is satisfactory [1]</a:t>
            </a:r>
          </a:p>
          <a:p>
            <a:r>
              <a:rPr lang="en-GB" b="1" dirty="0">
                <a:solidFill>
                  <a:schemeClr val="bg1"/>
                </a:solidFill>
              </a:rPr>
              <a:t>Processing time </a:t>
            </a:r>
            <a:r>
              <a:rPr lang="en-GB" dirty="0"/>
              <a:t>is also shared between each user known as </a:t>
            </a:r>
            <a:r>
              <a:rPr lang="en-GB" b="1" dirty="0">
                <a:solidFill>
                  <a:schemeClr val="bg1"/>
                </a:solidFill>
              </a:rPr>
              <a:t>time</a:t>
            </a:r>
            <a:r>
              <a:rPr lang="en-GB" b="1" dirty="0"/>
              <a:t> </a:t>
            </a:r>
            <a:r>
              <a:rPr lang="en-GB" b="1" dirty="0">
                <a:solidFill>
                  <a:schemeClr val="bg1"/>
                </a:solidFill>
              </a:rPr>
              <a:t>slicing</a:t>
            </a:r>
            <a:r>
              <a:rPr lang="en-GB" dirty="0"/>
              <a:t> [1]</a:t>
            </a:r>
          </a:p>
          <a:p>
            <a:r>
              <a:rPr lang="en-GB" dirty="0"/>
              <a:t>Each user is given a </a:t>
            </a:r>
            <a:r>
              <a:rPr lang="en-GB" dirty="0">
                <a:solidFill>
                  <a:schemeClr val="bg1"/>
                </a:solidFill>
              </a:rPr>
              <a:t>time slice </a:t>
            </a:r>
            <a:r>
              <a:rPr lang="en-GB" dirty="0"/>
              <a:t>by rotating the CPU’s time around the terminals and processing in short bursts [1]</a:t>
            </a:r>
          </a:p>
          <a:p>
            <a:r>
              <a:rPr lang="en-GB" dirty="0"/>
              <a:t>Each user has the </a:t>
            </a:r>
            <a:r>
              <a:rPr lang="en-GB" dirty="0">
                <a:solidFill>
                  <a:schemeClr val="bg1"/>
                </a:solidFill>
              </a:rPr>
              <a:t>impression</a:t>
            </a:r>
            <a:r>
              <a:rPr lang="en-GB" dirty="0"/>
              <a:t> </a:t>
            </a:r>
            <a:r>
              <a:rPr lang="en-GB" dirty="0">
                <a:solidFill>
                  <a:schemeClr val="bg1"/>
                </a:solidFill>
              </a:rPr>
              <a:t>that they are the sole user </a:t>
            </a:r>
            <a:r>
              <a:rPr lang="en-GB" dirty="0"/>
              <a:t>of the system [1]</a:t>
            </a:r>
          </a:p>
        </p:txBody>
      </p:sp>
    </p:spTree>
    <p:extLst>
      <p:ext uri="{BB962C8B-B14F-4D97-AF65-F5344CB8AC3E}">
        <p14:creationId xmlns:p14="http://schemas.microsoft.com/office/powerpoint/2010/main" val="21242375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912" y="12265"/>
            <a:ext cx="10515600" cy="1325563"/>
          </a:xfrm>
        </p:spPr>
        <p:txBody>
          <a:bodyPr/>
          <a:lstStyle/>
          <a:p>
            <a:r>
              <a:rPr lang="en-GB" dirty="0"/>
              <a:t>Disk Defragmentation</a:t>
            </a:r>
          </a:p>
        </p:txBody>
      </p:sp>
      <p:sp>
        <p:nvSpPr>
          <p:cNvPr id="3" name="Content Placeholder 2"/>
          <p:cNvSpPr>
            <a:spLocks noGrp="1"/>
          </p:cNvSpPr>
          <p:nvPr>
            <p:ph idx="1"/>
          </p:nvPr>
        </p:nvSpPr>
        <p:spPr>
          <a:xfrm>
            <a:off x="702913" y="1180005"/>
            <a:ext cx="6120582" cy="3646510"/>
          </a:xfrm>
        </p:spPr>
        <p:txBody>
          <a:bodyPr>
            <a:normAutofit fontScale="92500"/>
          </a:bodyPr>
          <a:lstStyle/>
          <a:p>
            <a:r>
              <a:rPr lang="en-GB" dirty="0"/>
              <a:t>a utility application which rearranges files on a disc surface to ensure they occupy contiguous locations on the disc surface. </a:t>
            </a:r>
          </a:p>
          <a:p>
            <a:r>
              <a:rPr lang="en-GB" dirty="0"/>
              <a:t>Disc defragmentation removes the ‘white space’ from the surface of the disc, reduces read/write head movement during file read and write actions. </a:t>
            </a:r>
          </a:p>
          <a:p>
            <a:r>
              <a:rPr lang="en-GB" dirty="0"/>
              <a:t>This in turn can increase read/write times.</a:t>
            </a:r>
          </a:p>
        </p:txBody>
      </p:sp>
      <p:sp>
        <p:nvSpPr>
          <p:cNvPr id="5" name="Content Placeholder 2">
            <a:extLst>
              <a:ext uri="{FF2B5EF4-FFF2-40B4-BE49-F238E27FC236}">
                <a16:creationId xmlns:a16="http://schemas.microsoft.com/office/drawing/2014/main" id="{0E86EC7E-ADC2-485A-A277-5154600C34CF}"/>
              </a:ext>
            </a:extLst>
          </p:cNvPr>
          <p:cNvSpPr txBox="1">
            <a:spLocks/>
          </p:cNvSpPr>
          <p:nvPr/>
        </p:nvSpPr>
        <p:spPr>
          <a:xfrm>
            <a:off x="2203019" y="5195398"/>
            <a:ext cx="9988981" cy="166260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6FD34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6FD34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6FD34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6FD34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6FD34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dirty="0"/>
              <a:t>A computer stores its files on a disk, and even though large disks may not have a single continuous block of empty space to hold a single file, computers ‘break up’ a file into little parts, or </a:t>
            </a:r>
            <a:r>
              <a:rPr lang="en-GB" dirty="0">
                <a:solidFill>
                  <a:srgbClr val="FF0000"/>
                </a:solidFill>
              </a:rPr>
              <a:t>fragments</a:t>
            </a:r>
            <a:endParaRPr lang="en-GB" dirty="0"/>
          </a:p>
          <a:p>
            <a:pPr algn="just"/>
            <a:r>
              <a:rPr lang="en-GB" dirty="0"/>
              <a:t>This means that a hard disk has to search for all the fragments until it can recreate the file on screen</a:t>
            </a:r>
          </a:p>
          <a:p>
            <a:pPr algn="just"/>
            <a:endParaRPr lang="en-GB" dirty="0"/>
          </a:p>
          <a:p>
            <a:pPr algn="just"/>
            <a:endParaRPr lang="en-US" dirty="0"/>
          </a:p>
        </p:txBody>
      </p:sp>
      <p:pic>
        <p:nvPicPr>
          <p:cNvPr id="7" name="Picture 6">
            <a:extLst>
              <a:ext uri="{FF2B5EF4-FFF2-40B4-BE49-F238E27FC236}">
                <a16:creationId xmlns:a16="http://schemas.microsoft.com/office/drawing/2014/main" id="{68F3D3A0-79F5-4BFC-87B3-6ACBD520FF28}"/>
              </a:ext>
            </a:extLst>
          </p:cNvPr>
          <p:cNvPicPr>
            <a:picLocks noChangeAspect="1"/>
          </p:cNvPicPr>
          <p:nvPr/>
        </p:nvPicPr>
        <p:blipFill>
          <a:blip r:embed="rId2"/>
          <a:stretch>
            <a:fillRect/>
          </a:stretch>
        </p:blipFill>
        <p:spPr>
          <a:xfrm>
            <a:off x="7521368" y="365125"/>
            <a:ext cx="3948941" cy="3679695"/>
          </a:xfrm>
          <a:prstGeom prst="rect">
            <a:avLst/>
          </a:prstGeom>
        </p:spPr>
      </p:pic>
      <p:sp>
        <p:nvSpPr>
          <p:cNvPr id="8" name="TextBox 7">
            <a:extLst>
              <a:ext uri="{FF2B5EF4-FFF2-40B4-BE49-F238E27FC236}">
                <a16:creationId xmlns:a16="http://schemas.microsoft.com/office/drawing/2014/main" id="{7270A38F-6C74-4E1C-9354-A1A5A03744BE}"/>
              </a:ext>
            </a:extLst>
          </p:cNvPr>
          <p:cNvSpPr txBox="1"/>
          <p:nvPr/>
        </p:nvSpPr>
        <p:spPr>
          <a:xfrm>
            <a:off x="8347991" y="4303295"/>
            <a:ext cx="2887579" cy="523220"/>
          </a:xfrm>
          <a:prstGeom prst="rect">
            <a:avLst/>
          </a:prstGeom>
          <a:noFill/>
        </p:spPr>
        <p:txBody>
          <a:bodyPr wrap="square" rtlCol="0">
            <a:spAutoFit/>
          </a:bodyPr>
          <a:lstStyle/>
          <a:p>
            <a:r>
              <a:rPr lang="en-GB" sz="2800" dirty="0">
                <a:solidFill>
                  <a:srgbClr val="FF0000"/>
                </a:solidFill>
              </a:rPr>
              <a:t>Drive Head</a:t>
            </a:r>
            <a:endParaRPr lang="en-US" sz="2800" dirty="0">
              <a:solidFill>
                <a:srgbClr val="FF0000"/>
              </a:solidFill>
            </a:endParaRPr>
          </a:p>
        </p:txBody>
      </p:sp>
      <p:cxnSp>
        <p:nvCxnSpPr>
          <p:cNvPr id="9" name="Straight Arrow Connector 8">
            <a:extLst>
              <a:ext uri="{FF2B5EF4-FFF2-40B4-BE49-F238E27FC236}">
                <a16:creationId xmlns:a16="http://schemas.microsoft.com/office/drawing/2014/main" id="{57B0204D-47D2-4980-A6B6-90E0EA0301BC}"/>
              </a:ext>
            </a:extLst>
          </p:cNvPr>
          <p:cNvCxnSpPr>
            <a:cxnSpLocks/>
          </p:cNvCxnSpPr>
          <p:nvPr/>
        </p:nvCxnSpPr>
        <p:spPr>
          <a:xfrm flipV="1">
            <a:off x="8861338" y="3164305"/>
            <a:ext cx="705853" cy="110911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83192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CE292AD1-DC77-44D9-8BC6-17849E090E98}"/>
              </a:ext>
            </a:extLst>
          </p:cNvPr>
          <p:cNvGraphicFramePr>
            <a:graphicFrameLocks/>
          </p:cNvGraphicFramePr>
          <p:nvPr>
            <p:extLst>
              <p:ext uri="{D42A27DB-BD31-4B8C-83A1-F6EECF244321}">
                <p14:modId xmlns:p14="http://schemas.microsoft.com/office/powerpoint/2010/main" val="4258176989"/>
              </p:ext>
            </p:extLst>
          </p:nvPr>
        </p:nvGraphicFramePr>
        <p:xfrm>
          <a:off x="936855" y="4253707"/>
          <a:ext cx="10515600" cy="37084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719633073"/>
                    </a:ext>
                  </a:extLst>
                </a:gridCol>
                <a:gridCol w="1051560">
                  <a:extLst>
                    <a:ext uri="{9D8B030D-6E8A-4147-A177-3AD203B41FA5}">
                      <a16:colId xmlns:a16="http://schemas.microsoft.com/office/drawing/2014/main" val="3753815377"/>
                    </a:ext>
                  </a:extLst>
                </a:gridCol>
                <a:gridCol w="1051560">
                  <a:extLst>
                    <a:ext uri="{9D8B030D-6E8A-4147-A177-3AD203B41FA5}">
                      <a16:colId xmlns:a16="http://schemas.microsoft.com/office/drawing/2014/main" val="2699779856"/>
                    </a:ext>
                  </a:extLst>
                </a:gridCol>
                <a:gridCol w="1051560">
                  <a:extLst>
                    <a:ext uri="{9D8B030D-6E8A-4147-A177-3AD203B41FA5}">
                      <a16:colId xmlns:a16="http://schemas.microsoft.com/office/drawing/2014/main" val="713942761"/>
                    </a:ext>
                  </a:extLst>
                </a:gridCol>
                <a:gridCol w="1051560">
                  <a:extLst>
                    <a:ext uri="{9D8B030D-6E8A-4147-A177-3AD203B41FA5}">
                      <a16:colId xmlns:a16="http://schemas.microsoft.com/office/drawing/2014/main" val="2790090840"/>
                    </a:ext>
                  </a:extLst>
                </a:gridCol>
                <a:gridCol w="1051560">
                  <a:extLst>
                    <a:ext uri="{9D8B030D-6E8A-4147-A177-3AD203B41FA5}">
                      <a16:colId xmlns:a16="http://schemas.microsoft.com/office/drawing/2014/main" val="1438135486"/>
                    </a:ext>
                  </a:extLst>
                </a:gridCol>
                <a:gridCol w="1051560">
                  <a:extLst>
                    <a:ext uri="{9D8B030D-6E8A-4147-A177-3AD203B41FA5}">
                      <a16:colId xmlns:a16="http://schemas.microsoft.com/office/drawing/2014/main" val="3572379633"/>
                    </a:ext>
                  </a:extLst>
                </a:gridCol>
                <a:gridCol w="1051560">
                  <a:extLst>
                    <a:ext uri="{9D8B030D-6E8A-4147-A177-3AD203B41FA5}">
                      <a16:colId xmlns:a16="http://schemas.microsoft.com/office/drawing/2014/main" val="3482188728"/>
                    </a:ext>
                  </a:extLst>
                </a:gridCol>
                <a:gridCol w="1051560">
                  <a:extLst>
                    <a:ext uri="{9D8B030D-6E8A-4147-A177-3AD203B41FA5}">
                      <a16:colId xmlns:a16="http://schemas.microsoft.com/office/drawing/2014/main" val="2145208227"/>
                    </a:ext>
                  </a:extLst>
                </a:gridCol>
                <a:gridCol w="1051560">
                  <a:extLst>
                    <a:ext uri="{9D8B030D-6E8A-4147-A177-3AD203B41FA5}">
                      <a16:colId xmlns:a16="http://schemas.microsoft.com/office/drawing/2014/main" val="745141892"/>
                    </a:ext>
                  </a:extLst>
                </a:gridCol>
              </a:tblGrid>
              <a:tr h="370840">
                <a:tc>
                  <a:txBody>
                    <a:bodyPr/>
                    <a:lstStyle/>
                    <a:p>
                      <a:pPr algn="ctr"/>
                      <a:r>
                        <a:rPr lang="en-GB" dirty="0">
                          <a:solidFill>
                            <a:schemeClr val="tx1"/>
                          </a:solidFill>
                        </a:rPr>
                        <a:t>A1</a:t>
                      </a:r>
                      <a:endParaRPr lang="en-US" dirty="0">
                        <a:solidFill>
                          <a:schemeClr val="tx1"/>
                        </a:solidFill>
                      </a:endParaRPr>
                    </a:p>
                  </a:txBody>
                  <a:tcPr>
                    <a:solidFill>
                      <a:srgbClr val="EA7C16"/>
                    </a:solidFill>
                  </a:tcPr>
                </a:tc>
                <a:tc>
                  <a:txBody>
                    <a:bodyPr/>
                    <a:lstStyle/>
                    <a:p>
                      <a:pPr algn="ctr"/>
                      <a:r>
                        <a:rPr lang="en-GB" dirty="0">
                          <a:solidFill>
                            <a:schemeClr val="tx1"/>
                          </a:solidFill>
                        </a:rPr>
                        <a:t>A2</a:t>
                      </a:r>
                      <a:endParaRPr lang="en-US" dirty="0">
                        <a:solidFill>
                          <a:schemeClr val="tx1"/>
                        </a:solidFill>
                      </a:endParaRPr>
                    </a:p>
                  </a:txBody>
                  <a:tcPr>
                    <a:solidFill>
                      <a:srgbClr val="EA7C16"/>
                    </a:solidFill>
                  </a:tcPr>
                </a:tc>
                <a:tc>
                  <a:txBody>
                    <a:bodyPr/>
                    <a:lstStyle/>
                    <a:p>
                      <a:pPr algn="ctr"/>
                      <a:r>
                        <a:rPr lang="en-GB" dirty="0">
                          <a:solidFill>
                            <a:schemeClr val="tx1"/>
                          </a:solidFill>
                        </a:rPr>
                        <a:t>A3</a:t>
                      </a:r>
                      <a:endParaRPr lang="en-US" dirty="0">
                        <a:solidFill>
                          <a:schemeClr val="tx1"/>
                        </a:solidFill>
                      </a:endParaRPr>
                    </a:p>
                  </a:txBody>
                  <a:tcPr>
                    <a:solidFill>
                      <a:srgbClr val="EA7C16"/>
                    </a:solidFill>
                  </a:tcPr>
                </a:tc>
                <a:tc>
                  <a:txBody>
                    <a:bodyPr/>
                    <a:lstStyle/>
                    <a:p>
                      <a:pPr algn="ctr"/>
                      <a:r>
                        <a:rPr lang="en-GB" dirty="0">
                          <a:solidFill>
                            <a:schemeClr val="tx1"/>
                          </a:solidFill>
                        </a:rPr>
                        <a:t>A4</a:t>
                      </a:r>
                      <a:endParaRPr lang="en-US" dirty="0">
                        <a:solidFill>
                          <a:schemeClr val="tx1"/>
                        </a:solidFill>
                      </a:endParaRPr>
                    </a:p>
                  </a:txBody>
                  <a:tcPr>
                    <a:solidFill>
                      <a:srgbClr val="EA7C16"/>
                    </a:solidFill>
                  </a:tcPr>
                </a:tc>
                <a:tc>
                  <a:txBody>
                    <a:bodyPr/>
                    <a:lstStyle/>
                    <a:p>
                      <a:pPr algn="ctr"/>
                      <a:r>
                        <a:rPr lang="en-GB" dirty="0">
                          <a:solidFill>
                            <a:schemeClr val="tx1"/>
                          </a:solidFill>
                        </a:rPr>
                        <a:t>B1</a:t>
                      </a:r>
                      <a:endParaRPr lang="en-US" dirty="0">
                        <a:solidFill>
                          <a:schemeClr val="tx1"/>
                        </a:solidFill>
                      </a:endParaRPr>
                    </a:p>
                  </a:txBody>
                  <a:tcPr>
                    <a:solidFill>
                      <a:srgbClr val="5B9BD5"/>
                    </a:solidFill>
                  </a:tcPr>
                </a:tc>
                <a:tc>
                  <a:txBody>
                    <a:bodyPr/>
                    <a:lstStyle/>
                    <a:p>
                      <a:pPr algn="ctr"/>
                      <a:r>
                        <a:rPr lang="en-GB" dirty="0">
                          <a:solidFill>
                            <a:schemeClr val="tx1"/>
                          </a:solidFill>
                        </a:rPr>
                        <a:t>B2</a:t>
                      </a:r>
                      <a:endParaRPr lang="en-US" dirty="0">
                        <a:solidFill>
                          <a:schemeClr val="tx1"/>
                        </a:solidFill>
                      </a:endParaRPr>
                    </a:p>
                  </a:txBody>
                  <a:tcPr>
                    <a:solidFill>
                      <a:srgbClr val="5B9BD5"/>
                    </a:solidFill>
                  </a:tcPr>
                </a:tc>
                <a:tc>
                  <a:txBody>
                    <a:bodyPr/>
                    <a:lstStyle/>
                    <a:p>
                      <a:pPr algn="ctr"/>
                      <a:r>
                        <a:rPr lang="en-GB" dirty="0">
                          <a:solidFill>
                            <a:schemeClr val="tx1"/>
                          </a:solidFill>
                        </a:rPr>
                        <a:t>B3</a:t>
                      </a:r>
                      <a:endParaRPr lang="en-US" dirty="0">
                        <a:solidFill>
                          <a:schemeClr val="tx1"/>
                        </a:solidFill>
                      </a:endParaRPr>
                    </a:p>
                  </a:txBody>
                  <a:tcPr>
                    <a:solidFill>
                      <a:srgbClr val="5B9BD5"/>
                    </a:solidFill>
                  </a:tcPr>
                </a:tc>
                <a:tc>
                  <a:txBody>
                    <a:bodyPr/>
                    <a:lstStyle/>
                    <a:p>
                      <a:pPr algn="ctr"/>
                      <a:r>
                        <a:rPr lang="en-GB" dirty="0">
                          <a:solidFill>
                            <a:schemeClr val="tx1"/>
                          </a:solidFill>
                        </a:rPr>
                        <a:t>B4</a:t>
                      </a:r>
                      <a:endParaRPr lang="en-US" dirty="0">
                        <a:solidFill>
                          <a:schemeClr val="tx1"/>
                        </a:solidFill>
                      </a:endParaRPr>
                    </a:p>
                  </a:txBody>
                  <a:tcPr>
                    <a:solidFill>
                      <a:srgbClr val="5B9BD5"/>
                    </a:solidFill>
                  </a:tcPr>
                </a:tc>
                <a:tc>
                  <a:txBody>
                    <a:bodyPr/>
                    <a:lstStyle/>
                    <a:p>
                      <a:pPr algn="ctr"/>
                      <a:r>
                        <a:rPr lang="en-GB" dirty="0">
                          <a:solidFill>
                            <a:schemeClr val="tx1"/>
                          </a:solidFill>
                        </a:rPr>
                        <a:t>&lt;FREE&gt;</a:t>
                      </a:r>
                      <a:endParaRPr lang="en-US" dirty="0">
                        <a:solidFill>
                          <a:schemeClr val="tx1"/>
                        </a:solidFill>
                      </a:endParaRPr>
                    </a:p>
                  </a:txBody>
                  <a:tcPr>
                    <a:solidFill>
                      <a:schemeClr val="bg1"/>
                    </a:solidFill>
                  </a:tcPr>
                </a:tc>
                <a:tc>
                  <a:txBody>
                    <a:bodyPr/>
                    <a:lstStyle/>
                    <a:p>
                      <a:pPr algn="ctr"/>
                      <a:r>
                        <a:rPr lang="en-GB" dirty="0">
                          <a:solidFill>
                            <a:schemeClr val="tx1"/>
                          </a:solidFill>
                        </a:rPr>
                        <a:t>&lt;FREE&gt;</a:t>
                      </a:r>
                      <a:endParaRPr lang="en-US" dirty="0">
                        <a:solidFill>
                          <a:schemeClr val="tx1"/>
                        </a:solidFill>
                      </a:endParaRPr>
                    </a:p>
                  </a:txBody>
                  <a:tcPr>
                    <a:solidFill>
                      <a:schemeClr val="bg1"/>
                    </a:solidFill>
                  </a:tcPr>
                </a:tc>
                <a:extLst>
                  <a:ext uri="{0D108BD9-81ED-4DB2-BD59-A6C34878D82A}">
                    <a16:rowId xmlns:a16="http://schemas.microsoft.com/office/drawing/2014/main" val="1822601126"/>
                  </a:ext>
                </a:extLst>
              </a:tr>
            </a:tbl>
          </a:graphicData>
        </a:graphic>
      </p:graphicFrame>
      <p:sp>
        <p:nvSpPr>
          <p:cNvPr id="5" name="Oval 4">
            <a:extLst>
              <a:ext uri="{FF2B5EF4-FFF2-40B4-BE49-F238E27FC236}">
                <a16:creationId xmlns:a16="http://schemas.microsoft.com/office/drawing/2014/main" id="{4B596ACA-86F7-4796-93BC-FCE38ABF319F}"/>
              </a:ext>
            </a:extLst>
          </p:cNvPr>
          <p:cNvSpPr/>
          <p:nvPr/>
        </p:nvSpPr>
        <p:spPr>
          <a:xfrm>
            <a:off x="8672203" y="3713387"/>
            <a:ext cx="3145872" cy="1499408"/>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title"/>
          </p:nvPr>
        </p:nvSpPr>
        <p:spPr>
          <a:xfrm>
            <a:off x="1423416" y="227965"/>
            <a:ext cx="10515600" cy="1325563"/>
          </a:xfrm>
        </p:spPr>
        <p:txBody>
          <a:bodyPr/>
          <a:lstStyle/>
          <a:p>
            <a:r>
              <a:rPr lang="en-GB" dirty="0"/>
              <a:t>Defragmentation</a:t>
            </a:r>
          </a:p>
        </p:txBody>
      </p:sp>
      <p:graphicFrame>
        <p:nvGraphicFramePr>
          <p:cNvPr id="7" name="Content Placeholder 4">
            <a:extLst>
              <a:ext uri="{FF2B5EF4-FFF2-40B4-BE49-F238E27FC236}">
                <a16:creationId xmlns:a16="http://schemas.microsoft.com/office/drawing/2014/main" id="{D7276E9B-F781-4BEA-BEA4-9CCED86CA8C4}"/>
              </a:ext>
            </a:extLst>
          </p:cNvPr>
          <p:cNvGraphicFramePr>
            <a:graphicFrameLocks noGrp="1"/>
          </p:cNvGraphicFramePr>
          <p:nvPr>
            <p:ph idx="1"/>
            <p:extLst>
              <p:ext uri="{D42A27DB-BD31-4B8C-83A1-F6EECF244321}">
                <p14:modId xmlns:p14="http://schemas.microsoft.com/office/powerpoint/2010/main" val="3821434925"/>
              </p:ext>
            </p:extLst>
          </p:nvPr>
        </p:nvGraphicFramePr>
        <p:xfrm>
          <a:off x="936855" y="1959134"/>
          <a:ext cx="10515600" cy="37084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719633073"/>
                    </a:ext>
                  </a:extLst>
                </a:gridCol>
                <a:gridCol w="1051560">
                  <a:extLst>
                    <a:ext uri="{9D8B030D-6E8A-4147-A177-3AD203B41FA5}">
                      <a16:colId xmlns:a16="http://schemas.microsoft.com/office/drawing/2014/main" val="3753815377"/>
                    </a:ext>
                  </a:extLst>
                </a:gridCol>
                <a:gridCol w="1051560">
                  <a:extLst>
                    <a:ext uri="{9D8B030D-6E8A-4147-A177-3AD203B41FA5}">
                      <a16:colId xmlns:a16="http://schemas.microsoft.com/office/drawing/2014/main" val="2699779856"/>
                    </a:ext>
                  </a:extLst>
                </a:gridCol>
                <a:gridCol w="1051560">
                  <a:extLst>
                    <a:ext uri="{9D8B030D-6E8A-4147-A177-3AD203B41FA5}">
                      <a16:colId xmlns:a16="http://schemas.microsoft.com/office/drawing/2014/main" val="713942761"/>
                    </a:ext>
                  </a:extLst>
                </a:gridCol>
                <a:gridCol w="1051560">
                  <a:extLst>
                    <a:ext uri="{9D8B030D-6E8A-4147-A177-3AD203B41FA5}">
                      <a16:colId xmlns:a16="http://schemas.microsoft.com/office/drawing/2014/main" val="2790090840"/>
                    </a:ext>
                  </a:extLst>
                </a:gridCol>
                <a:gridCol w="1051560">
                  <a:extLst>
                    <a:ext uri="{9D8B030D-6E8A-4147-A177-3AD203B41FA5}">
                      <a16:colId xmlns:a16="http://schemas.microsoft.com/office/drawing/2014/main" val="1438135486"/>
                    </a:ext>
                  </a:extLst>
                </a:gridCol>
                <a:gridCol w="1051560">
                  <a:extLst>
                    <a:ext uri="{9D8B030D-6E8A-4147-A177-3AD203B41FA5}">
                      <a16:colId xmlns:a16="http://schemas.microsoft.com/office/drawing/2014/main" val="3572379633"/>
                    </a:ext>
                  </a:extLst>
                </a:gridCol>
                <a:gridCol w="1051560">
                  <a:extLst>
                    <a:ext uri="{9D8B030D-6E8A-4147-A177-3AD203B41FA5}">
                      <a16:colId xmlns:a16="http://schemas.microsoft.com/office/drawing/2014/main" val="3482188728"/>
                    </a:ext>
                  </a:extLst>
                </a:gridCol>
                <a:gridCol w="1051560">
                  <a:extLst>
                    <a:ext uri="{9D8B030D-6E8A-4147-A177-3AD203B41FA5}">
                      <a16:colId xmlns:a16="http://schemas.microsoft.com/office/drawing/2014/main" val="2145208227"/>
                    </a:ext>
                  </a:extLst>
                </a:gridCol>
                <a:gridCol w="1051560">
                  <a:extLst>
                    <a:ext uri="{9D8B030D-6E8A-4147-A177-3AD203B41FA5}">
                      <a16:colId xmlns:a16="http://schemas.microsoft.com/office/drawing/2014/main" val="745141892"/>
                    </a:ext>
                  </a:extLst>
                </a:gridCol>
              </a:tblGrid>
              <a:tr h="370840">
                <a:tc>
                  <a:txBody>
                    <a:bodyPr/>
                    <a:lstStyle/>
                    <a:p>
                      <a:pPr algn="ctr"/>
                      <a:r>
                        <a:rPr lang="en-GB" dirty="0">
                          <a:solidFill>
                            <a:schemeClr val="tx1"/>
                          </a:solidFill>
                        </a:rPr>
                        <a:t>A1</a:t>
                      </a:r>
                      <a:endParaRPr lang="en-US" dirty="0">
                        <a:solidFill>
                          <a:schemeClr val="tx1"/>
                        </a:solidFill>
                      </a:endParaRPr>
                    </a:p>
                  </a:txBody>
                  <a:tcPr>
                    <a:solidFill>
                      <a:srgbClr val="EA7C16"/>
                    </a:solidFill>
                  </a:tcPr>
                </a:tc>
                <a:tc>
                  <a:txBody>
                    <a:bodyPr/>
                    <a:lstStyle/>
                    <a:p>
                      <a:pPr algn="ctr"/>
                      <a:r>
                        <a:rPr lang="en-GB" dirty="0">
                          <a:solidFill>
                            <a:schemeClr val="tx1"/>
                          </a:solidFill>
                        </a:rPr>
                        <a:t>B3</a:t>
                      </a:r>
                      <a:endParaRPr lang="en-US" dirty="0">
                        <a:solidFill>
                          <a:schemeClr val="tx1"/>
                        </a:solidFill>
                      </a:endParaRPr>
                    </a:p>
                  </a:txBody>
                  <a:tcPr/>
                </a:tc>
                <a:tc>
                  <a:txBody>
                    <a:bodyPr/>
                    <a:lstStyle/>
                    <a:p>
                      <a:pPr algn="ctr"/>
                      <a:r>
                        <a:rPr lang="en-GB" dirty="0">
                          <a:solidFill>
                            <a:schemeClr val="tx1"/>
                          </a:solidFill>
                        </a:rPr>
                        <a:t>A2</a:t>
                      </a:r>
                      <a:endParaRPr lang="en-US" dirty="0">
                        <a:solidFill>
                          <a:schemeClr val="tx1"/>
                        </a:solidFill>
                      </a:endParaRPr>
                    </a:p>
                  </a:txBody>
                  <a:tcPr>
                    <a:solidFill>
                      <a:srgbClr val="EA7C16"/>
                    </a:solidFill>
                  </a:tcPr>
                </a:tc>
                <a:tc>
                  <a:txBody>
                    <a:bodyPr/>
                    <a:lstStyle/>
                    <a:p>
                      <a:pPr algn="ctr"/>
                      <a:r>
                        <a:rPr lang="en-GB" dirty="0">
                          <a:solidFill>
                            <a:schemeClr val="tx1"/>
                          </a:solidFill>
                        </a:rPr>
                        <a:t>A4</a:t>
                      </a:r>
                      <a:endParaRPr lang="en-US" dirty="0">
                        <a:solidFill>
                          <a:schemeClr val="tx1"/>
                        </a:solidFill>
                      </a:endParaRPr>
                    </a:p>
                  </a:txBody>
                  <a:tcPr>
                    <a:solidFill>
                      <a:srgbClr val="EA7C16"/>
                    </a:solidFill>
                  </a:tcPr>
                </a:tc>
                <a:tc>
                  <a:txBody>
                    <a:bodyPr/>
                    <a:lstStyle/>
                    <a:p>
                      <a:pPr algn="ctr"/>
                      <a:r>
                        <a:rPr lang="en-GB" dirty="0">
                          <a:solidFill>
                            <a:schemeClr val="tx1"/>
                          </a:solidFill>
                        </a:rPr>
                        <a:t>B2</a:t>
                      </a:r>
                      <a:endParaRPr lang="en-US" dirty="0">
                        <a:solidFill>
                          <a:schemeClr val="tx1"/>
                        </a:solidFill>
                      </a:endParaRPr>
                    </a:p>
                  </a:txBody>
                  <a:tcPr/>
                </a:tc>
                <a:tc>
                  <a:txBody>
                    <a:bodyPr/>
                    <a:lstStyle/>
                    <a:p>
                      <a:pPr algn="ctr"/>
                      <a:r>
                        <a:rPr lang="en-GB" dirty="0">
                          <a:solidFill>
                            <a:schemeClr val="tx1"/>
                          </a:solidFill>
                        </a:rPr>
                        <a:t>A3</a:t>
                      </a:r>
                      <a:endParaRPr lang="en-US" dirty="0">
                        <a:solidFill>
                          <a:schemeClr val="tx1"/>
                        </a:solidFill>
                      </a:endParaRPr>
                    </a:p>
                  </a:txBody>
                  <a:tcPr>
                    <a:solidFill>
                      <a:srgbClr val="EA7C16"/>
                    </a:solidFill>
                  </a:tcPr>
                </a:tc>
                <a:tc>
                  <a:txBody>
                    <a:bodyPr/>
                    <a:lstStyle/>
                    <a:p>
                      <a:pPr algn="ctr"/>
                      <a:r>
                        <a:rPr lang="en-GB" dirty="0">
                          <a:solidFill>
                            <a:schemeClr val="tx1"/>
                          </a:solidFill>
                        </a:rPr>
                        <a:t>&lt;FREE&gt;</a:t>
                      </a:r>
                      <a:endParaRPr lang="en-US" dirty="0">
                        <a:solidFill>
                          <a:schemeClr val="tx1"/>
                        </a:solidFill>
                      </a:endParaRPr>
                    </a:p>
                  </a:txBody>
                  <a:tcPr>
                    <a:solidFill>
                      <a:schemeClr val="bg1"/>
                    </a:solidFill>
                  </a:tcPr>
                </a:tc>
                <a:tc>
                  <a:txBody>
                    <a:bodyPr/>
                    <a:lstStyle/>
                    <a:p>
                      <a:pPr algn="ctr"/>
                      <a:r>
                        <a:rPr lang="en-GB" dirty="0">
                          <a:solidFill>
                            <a:schemeClr val="tx1"/>
                          </a:solidFill>
                        </a:rPr>
                        <a:t>B1</a:t>
                      </a:r>
                      <a:endParaRPr lang="en-US" dirty="0">
                        <a:solidFill>
                          <a:schemeClr val="tx1"/>
                        </a:solidFill>
                      </a:endParaRPr>
                    </a:p>
                  </a:txBody>
                  <a:tcPr/>
                </a:tc>
                <a:tc>
                  <a:txBody>
                    <a:bodyPr/>
                    <a:lstStyle/>
                    <a:p>
                      <a:pPr algn="ctr"/>
                      <a:r>
                        <a:rPr lang="en-GB" dirty="0">
                          <a:solidFill>
                            <a:schemeClr val="tx1"/>
                          </a:solidFill>
                        </a:rPr>
                        <a:t>B4</a:t>
                      </a:r>
                      <a:endParaRPr lang="en-US" dirty="0">
                        <a:solidFill>
                          <a:schemeClr val="tx1"/>
                        </a:solidFill>
                      </a:endParaRPr>
                    </a:p>
                  </a:txBody>
                  <a:tcPr/>
                </a:tc>
                <a:tc>
                  <a:txBody>
                    <a:bodyPr/>
                    <a:lstStyle/>
                    <a:p>
                      <a:pPr algn="ctr"/>
                      <a:r>
                        <a:rPr lang="en-GB" dirty="0">
                          <a:solidFill>
                            <a:schemeClr val="tx1"/>
                          </a:solidFill>
                        </a:rPr>
                        <a:t>&lt;FREE&gt;</a:t>
                      </a:r>
                      <a:endParaRPr lang="en-US" dirty="0">
                        <a:solidFill>
                          <a:schemeClr val="tx1"/>
                        </a:solidFill>
                      </a:endParaRPr>
                    </a:p>
                  </a:txBody>
                  <a:tcPr>
                    <a:solidFill>
                      <a:schemeClr val="bg1"/>
                    </a:solidFill>
                  </a:tcPr>
                </a:tc>
                <a:extLst>
                  <a:ext uri="{0D108BD9-81ED-4DB2-BD59-A6C34878D82A}">
                    <a16:rowId xmlns:a16="http://schemas.microsoft.com/office/drawing/2014/main" val="1822601126"/>
                  </a:ext>
                </a:extLst>
              </a:tr>
            </a:tbl>
          </a:graphicData>
        </a:graphic>
      </p:graphicFrame>
      <p:sp>
        <p:nvSpPr>
          <p:cNvPr id="9" name="Arrow: Curved Up 6">
            <a:extLst>
              <a:ext uri="{FF2B5EF4-FFF2-40B4-BE49-F238E27FC236}">
                <a16:creationId xmlns:a16="http://schemas.microsoft.com/office/drawing/2014/main" id="{E1295E5E-D0F4-409A-9637-3C9490CF4F17}"/>
              </a:ext>
            </a:extLst>
          </p:cNvPr>
          <p:cNvSpPr/>
          <p:nvPr/>
        </p:nvSpPr>
        <p:spPr>
          <a:xfrm>
            <a:off x="1423416" y="2466875"/>
            <a:ext cx="2072780" cy="47817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Arrow: Curved Up 7">
            <a:extLst>
              <a:ext uri="{FF2B5EF4-FFF2-40B4-BE49-F238E27FC236}">
                <a16:creationId xmlns:a16="http://schemas.microsoft.com/office/drawing/2014/main" id="{4339F45A-6974-48DD-9FE5-6A75AC1F0CE1}"/>
              </a:ext>
            </a:extLst>
          </p:cNvPr>
          <p:cNvSpPr/>
          <p:nvPr/>
        </p:nvSpPr>
        <p:spPr>
          <a:xfrm>
            <a:off x="3587425" y="2466875"/>
            <a:ext cx="3591538" cy="47817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row: Curved Up 8">
            <a:extLst>
              <a:ext uri="{FF2B5EF4-FFF2-40B4-BE49-F238E27FC236}">
                <a16:creationId xmlns:a16="http://schemas.microsoft.com/office/drawing/2014/main" id="{6AAAEEC9-EC97-4F11-AFCB-E865345DF9EA}"/>
              </a:ext>
            </a:extLst>
          </p:cNvPr>
          <p:cNvSpPr/>
          <p:nvPr/>
        </p:nvSpPr>
        <p:spPr>
          <a:xfrm flipH="1">
            <a:off x="4532236" y="2410037"/>
            <a:ext cx="2072780" cy="32554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Curved Up 9">
            <a:extLst>
              <a:ext uri="{FF2B5EF4-FFF2-40B4-BE49-F238E27FC236}">
                <a16:creationId xmlns:a16="http://schemas.microsoft.com/office/drawing/2014/main" id="{A2B6B31F-153E-446C-B88B-A97F19C457F1}"/>
              </a:ext>
            </a:extLst>
          </p:cNvPr>
          <p:cNvSpPr/>
          <p:nvPr/>
        </p:nvSpPr>
        <p:spPr>
          <a:xfrm>
            <a:off x="1181184" y="4734623"/>
            <a:ext cx="1200674" cy="47817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row: Curved Up 10">
            <a:extLst>
              <a:ext uri="{FF2B5EF4-FFF2-40B4-BE49-F238E27FC236}">
                <a16:creationId xmlns:a16="http://schemas.microsoft.com/office/drawing/2014/main" id="{8FBCE68F-7E3A-4072-A3BF-7BF2D9E5CF49}"/>
              </a:ext>
            </a:extLst>
          </p:cNvPr>
          <p:cNvSpPr/>
          <p:nvPr/>
        </p:nvSpPr>
        <p:spPr>
          <a:xfrm>
            <a:off x="2459806" y="4734622"/>
            <a:ext cx="1200674" cy="47817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urved Up 11">
            <a:extLst>
              <a:ext uri="{FF2B5EF4-FFF2-40B4-BE49-F238E27FC236}">
                <a16:creationId xmlns:a16="http://schemas.microsoft.com/office/drawing/2014/main" id="{2B53554B-B4C4-4F6A-95E5-6F3D2D4446AD}"/>
              </a:ext>
            </a:extLst>
          </p:cNvPr>
          <p:cNvSpPr/>
          <p:nvPr/>
        </p:nvSpPr>
        <p:spPr>
          <a:xfrm>
            <a:off x="3738428" y="4734622"/>
            <a:ext cx="1200674" cy="47817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Arrow Connector 14"/>
          <p:cNvCxnSpPr/>
          <p:nvPr/>
        </p:nvCxnSpPr>
        <p:spPr>
          <a:xfrm flipH="1">
            <a:off x="7012909" y="1107369"/>
            <a:ext cx="1004047" cy="73365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270A38F-6C74-4E1C-9354-A1A5A03744BE}"/>
              </a:ext>
            </a:extLst>
          </p:cNvPr>
          <p:cNvSpPr txBox="1"/>
          <p:nvPr/>
        </p:nvSpPr>
        <p:spPr>
          <a:xfrm>
            <a:off x="8102358" y="519975"/>
            <a:ext cx="2887579" cy="523220"/>
          </a:xfrm>
          <a:prstGeom prst="rect">
            <a:avLst/>
          </a:prstGeom>
          <a:noFill/>
        </p:spPr>
        <p:txBody>
          <a:bodyPr wrap="square" rtlCol="0">
            <a:spAutoFit/>
          </a:bodyPr>
          <a:lstStyle/>
          <a:p>
            <a:r>
              <a:rPr lang="en-GB" sz="2800" dirty="0">
                <a:solidFill>
                  <a:srgbClr val="FF0000"/>
                </a:solidFill>
              </a:rPr>
              <a:t>Block in memory</a:t>
            </a:r>
            <a:endParaRPr lang="en-US" sz="2800" dirty="0">
              <a:solidFill>
                <a:srgbClr val="FF0000"/>
              </a:solidFill>
            </a:endParaRPr>
          </a:p>
        </p:txBody>
      </p:sp>
    </p:spTree>
    <p:extLst>
      <p:ext uri="{BB962C8B-B14F-4D97-AF65-F5344CB8AC3E}">
        <p14:creationId xmlns:p14="http://schemas.microsoft.com/office/powerpoint/2010/main" val="406173699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fade">
                                      <p:cBhvr>
                                        <p:cTn id="5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Compression</a:t>
            </a:r>
          </a:p>
        </p:txBody>
      </p:sp>
      <p:sp>
        <p:nvSpPr>
          <p:cNvPr id="3" name="Content Placeholder 2"/>
          <p:cNvSpPr>
            <a:spLocks noGrp="1"/>
          </p:cNvSpPr>
          <p:nvPr>
            <p:ph idx="1"/>
          </p:nvPr>
        </p:nvSpPr>
        <p:spPr>
          <a:xfrm>
            <a:off x="838200" y="1690688"/>
            <a:ext cx="7090600" cy="4888611"/>
          </a:xfrm>
        </p:spPr>
        <p:txBody>
          <a:bodyPr>
            <a:normAutofit/>
          </a:bodyPr>
          <a:lstStyle/>
          <a:p>
            <a:r>
              <a:rPr lang="en-GB" dirty="0"/>
              <a:t>Compression software stores data in a format which requires less space than usual. </a:t>
            </a:r>
          </a:p>
          <a:p>
            <a:r>
              <a:rPr lang="en-GB" dirty="0"/>
              <a:t>This is particularly useful in communications as it allows devices to transmit or store data in fewer bits. </a:t>
            </a:r>
          </a:p>
          <a:p>
            <a:r>
              <a:rPr lang="en-GB" dirty="0"/>
              <a:t>Data compression is widely used in backup utilities and in archive utilities as the reduction of the file size ensures the backup file or archived data takes up less storage space.</a:t>
            </a:r>
          </a:p>
        </p:txBody>
      </p:sp>
      <p:pic>
        <p:nvPicPr>
          <p:cNvPr id="7170"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8800" y="1690688"/>
            <a:ext cx="3824288" cy="3824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52385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File Backup</a:t>
            </a:r>
          </a:p>
        </p:txBody>
      </p:sp>
      <p:sp>
        <p:nvSpPr>
          <p:cNvPr id="3" name="Content Placeholder 2"/>
          <p:cNvSpPr>
            <a:spLocks noGrp="1"/>
          </p:cNvSpPr>
          <p:nvPr>
            <p:ph idx="1"/>
          </p:nvPr>
        </p:nvSpPr>
        <p:spPr>
          <a:xfrm>
            <a:off x="6096000" y="1853057"/>
            <a:ext cx="5821680" cy="4351338"/>
          </a:xfrm>
        </p:spPr>
        <p:txBody>
          <a:bodyPr/>
          <a:lstStyle/>
          <a:p>
            <a:r>
              <a:rPr lang="en-GB" dirty="0"/>
              <a:t>backup software is designed to create an exact duplicate of data in the event of file corruption, user error or some other event that leads to data loss. </a:t>
            </a:r>
          </a:p>
          <a:p>
            <a:r>
              <a:rPr lang="en-GB" dirty="0"/>
              <a:t>The file backup utility program may use these copies at a later stage to complete a restore or a recovery procedure in the event of data loss.</a:t>
            </a:r>
          </a:p>
        </p:txBody>
      </p:sp>
      <p:pic>
        <p:nvPicPr>
          <p:cNvPr id="614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792" y="1327594"/>
            <a:ext cx="4876800" cy="4876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02631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Archiving</a:t>
            </a:r>
          </a:p>
        </p:txBody>
      </p:sp>
      <p:sp>
        <p:nvSpPr>
          <p:cNvPr id="3" name="Content Placeholder 2"/>
          <p:cNvSpPr>
            <a:spLocks noGrp="1"/>
          </p:cNvSpPr>
          <p:nvPr>
            <p:ph idx="1"/>
          </p:nvPr>
        </p:nvSpPr>
        <p:spPr>
          <a:xfrm>
            <a:off x="838199" y="1825625"/>
            <a:ext cx="6541655" cy="4351338"/>
          </a:xfrm>
        </p:spPr>
        <p:txBody>
          <a:bodyPr>
            <a:normAutofit fontScale="92500" lnSpcReduction="10000"/>
          </a:bodyPr>
          <a:lstStyle/>
          <a:p>
            <a:r>
              <a:rPr lang="en-GB" dirty="0"/>
              <a:t>an archive utility is an application that can create a single file containing multiple other files. </a:t>
            </a:r>
          </a:p>
          <a:p>
            <a:r>
              <a:rPr lang="en-GB" dirty="0"/>
              <a:t>Additional files can still be added to the archive and existing files can be extracted from the archive file. </a:t>
            </a:r>
          </a:p>
          <a:p>
            <a:endParaRPr lang="en-GB" dirty="0"/>
          </a:p>
          <a:p>
            <a:r>
              <a:rPr lang="en-GB" dirty="0"/>
              <a:t>An archive file is one containing data no longer in use, but is held for historical purposes, perhaps for auditors. It is often stored away from the computer system in a secure location.</a:t>
            </a:r>
          </a:p>
        </p:txBody>
      </p:sp>
      <p:pic>
        <p:nvPicPr>
          <p:cNvPr id="5122" name="Picture 2" descr="Image result for archiving ic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7079" y="2090610"/>
            <a:ext cx="3505200" cy="3114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70254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rotWithShape="1">
          <a:blip r:embed="rId2"/>
          <a:srcRect t="8491" r="8316" b="2065"/>
          <a:stretch/>
        </p:blipFill>
        <p:spPr>
          <a:xfrm>
            <a:off x="2083633" y="179880"/>
            <a:ext cx="8874177" cy="6493015"/>
          </a:xfrm>
          <a:prstGeom prst="rect">
            <a:avLst/>
          </a:prstGeom>
        </p:spPr>
      </p:pic>
    </p:spTree>
    <p:extLst>
      <p:ext uri="{BB962C8B-B14F-4D97-AF65-F5344CB8AC3E}">
        <p14:creationId xmlns:p14="http://schemas.microsoft.com/office/powerpoint/2010/main" val="399918354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357" y="0"/>
            <a:ext cx="10515600" cy="1325563"/>
          </a:xfrm>
        </p:spPr>
        <p:txBody>
          <a:bodyPr/>
          <a:lstStyle/>
          <a:p>
            <a:r>
              <a:rPr lang="en-GB" dirty="0"/>
              <a:t>Fact File 4: Mark Scheme</a:t>
            </a:r>
          </a:p>
        </p:txBody>
      </p:sp>
      <p:sp>
        <p:nvSpPr>
          <p:cNvPr id="3" name="Content Placeholder 2"/>
          <p:cNvSpPr>
            <a:spLocks noGrp="1"/>
          </p:cNvSpPr>
          <p:nvPr>
            <p:ph idx="1"/>
          </p:nvPr>
        </p:nvSpPr>
        <p:spPr>
          <a:xfrm>
            <a:off x="838200" y="1325563"/>
            <a:ext cx="11078980" cy="5360050"/>
          </a:xfrm>
        </p:spPr>
        <p:txBody>
          <a:bodyPr>
            <a:normAutofit fontScale="92500"/>
          </a:bodyPr>
          <a:lstStyle/>
          <a:p>
            <a:pPr lvl="0"/>
            <a:r>
              <a:rPr lang="en-GB" b="1" dirty="0"/>
              <a:t>a) </a:t>
            </a:r>
            <a:r>
              <a:rPr lang="en-GB" dirty="0"/>
              <a:t>Multitasking allows the user to perform more than one task at a time [1]</a:t>
            </a:r>
          </a:p>
          <a:p>
            <a:pPr lvl="1"/>
            <a:r>
              <a:rPr lang="en-GB" dirty="0"/>
              <a:t>i.e. </a:t>
            </a:r>
            <a:r>
              <a:rPr lang="en-GB" b="1" dirty="0">
                <a:solidFill>
                  <a:schemeClr val="bg1"/>
                </a:solidFill>
              </a:rPr>
              <a:t>run more than one application program at a time </a:t>
            </a:r>
            <a:r>
              <a:rPr lang="en-GB" dirty="0"/>
              <a:t>[1]</a:t>
            </a:r>
          </a:p>
          <a:p>
            <a:r>
              <a:rPr lang="en-GB" b="1" dirty="0"/>
              <a:t>b) </a:t>
            </a:r>
            <a:r>
              <a:rPr lang="en-GB" dirty="0"/>
              <a:t>Multitasking is different from multiprocessing as </a:t>
            </a:r>
          </a:p>
          <a:p>
            <a:pPr lvl="1"/>
            <a:r>
              <a:rPr lang="en-GB" dirty="0"/>
              <a:t>Multiprocessing can refer to the </a:t>
            </a:r>
            <a:r>
              <a:rPr lang="en-GB" dirty="0">
                <a:solidFill>
                  <a:schemeClr val="bg1"/>
                </a:solidFill>
              </a:rPr>
              <a:t>use of two or more processors </a:t>
            </a:r>
            <a:r>
              <a:rPr lang="en-GB" dirty="0"/>
              <a:t>within the same computer system. [1]</a:t>
            </a:r>
          </a:p>
          <a:p>
            <a:pPr lvl="1"/>
            <a:r>
              <a:rPr lang="en-GB" dirty="0"/>
              <a:t>Multitasking is the ability of an OS to execute </a:t>
            </a:r>
            <a:r>
              <a:rPr lang="en-GB" dirty="0">
                <a:solidFill>
                  <a:schemeClr val="bg1"/>
                </a:solidFill>
              </a:rPr>
              <a:t>more than one task simultaneously on a single processor machine</a:t>
            </a:r>
            <a:r>
              <a:rPr lang="en-GB" dirty="0"/>
              <a:t> [1]</a:t>
            </a:r>
          </a:p>
          <a:p>
            <a:pPr lvl="1"/>
            <a:r>
              <a:rPr lang="en-GB" dirty="0"/>
              <a:t>Where two or more portions of the same program may be carried out simultaneously [1]</a:t>
            </a:r>
          </a:p>
          <a:p>
            <a:pPr lvl="1"/>
            <a:r>
              <a:rPr lang="en-GB" dirty="0"/>
              <a:t>The </a:t>
            </a:r>
            <a:r>
              <a:rPr lang="en-GB" dirty="0">
                <a:solidFill>
                  <a:schemeClr val="bg1"/>
                </a:solidFill>
              </a:rPr>
              <a:t>OS</a:t>
            </a:r>
            <a:r>
              <a:rPr lang="en-GB" dirty="0"/>
              <a:t> </a:t>
            </a:r>
            <a:r>
              <a:rPr lang="en-GB" dirty="0">
                <a:solidFill>
                  <a:schemeClr val="bg1"/>
                </a:solidFill>
              </a:rPr>
              <a:t>allocates storage and other resources accordingly </a:t>
            </a:r>
            <a:r>
              <a:rPr lang="en-GB" dirty="0"/>
              <a:t>as it needs to keep track of where users are in these tasks [1]</a:t>
            </a:r>
          </a:p>
          <a:p>
            <a:pPr lvl="1"/>
            <a:r>
              <a:rPr lang="en-GB" dirty="0"/>
              <a:t>More than one task can reside into the same </a:t>
            </a:r>
            <a:r>
              <a:rPr lang="en-GB" dirty="0">
                <a:solidFill>
                  <a:schemeClr val="bg1"/>
                </a:solidFill>
              </a:rPr>
              <a:t>CPU at one point in time </a:t>
            </a:r>
            <a:r>
              <a:rPr lang="en-GB" dirty="0"/>
              <a:t>[1]</a:t>
            </a:r>
          </a:p>
          <a:p>
            <a:r>
              <a:rPr lang="en-GB" b="1" dirty="0"/>
              <a:t>c) </a:t>
            </a:r>
            <a:r>
              <a:rPr lang="en-GB" dirty="0"/>
              <a:t>Increased multitasking can </a:t>
            </a:r>
            <a:r>
              <a:rPr lang="en-GB" dirty="0">
                <a:solidFill>
                  <a:schemeClr val="bg1"/>
                </a:solidFill>
              </a:rPr>
              <a:t>decrease computer performance </a:t>
            </a:r>
            <a:r>
              <a:rPr lang="en-GB" dirty="0"/>
              <a:t>[1]</a:t>
            </a:r>
          </a:p>
          <a:p>
            <a:pPr lvl="1"/>
            <a:r>
              <a:rPr lang="en-GB" dirty="0"/>
              <a:t>because when tasks are added the demand on storage and other resources increases meaning the system may slow down. [1]</a:t>
            </a:r>
          </a:p>
          <a:p>
            <a:endParaRPr lang="en-GB" dirty="0"/>
          </a:p>
        </p:txBody>
      </p:sp>
    </p:spTree>
    <p:extLst>
      <p:ext uri="{BB962C8B-B14F-4D97-AF65-F5344CB8AC3E}">
        <p14:creationId xmlns:p14="http://schemas.microsoft.com/office/powerpoint/2010/main" val="94416951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TotalTime>
  <Words>2247</Words>
  <Application>Microsoft Office PowerPoint</Application>
  <PresentationFormat>Widescreen</PresentationFormat>
  <Paragraphs>185</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Wingdings</vt:lpstr>
      <vt:lpstr>Office Theme</vt:lpstr>
      <vt:lpstr>System Software</vt:lpstr>
      <vt:lpstr>The Spec</vt:lpstr>
      <vt:lpstr>What IS an operating system?</vt:lpstr>
      <vt:lpstr>Why do we need an operating system?</vt:lpstr>
      <vt:lpstr>Why an Operating System?</vt:lpstr>
      <vt:lpstr>Quick Task: Different Operating Systems</vt:lpstr>
      <vt:lpstr>Types of Operating System</vt:lpstr>
      <vt:lpstr>PowerPoint Presentation</vt:lpstr>
      <vt:lpstr>Fact File 1: Mark Scheme</vt:lpstr>
      <vt:lpstr>Activity: </vt:lpstr>
      <vt:lpstr>Multiuser</vt:lpstr>
      <vt:lpstr>Multi-tasking</vt:lpstr>
      <vt:lpstr>Features of a Multi-tasking System</vt:lpstr>
      <vt:lpstr>How Multi-tasking Works</vt:lpstr>
      <vt:lpstr>Multi-processing</vt:lpstr>
      <vt:lpstr>Multi-threading</vt:lpstr>
      <vt:lpstr>PowerPoint Presentation</vt:lpstr>
      <vt:lpstr>Fact File 2: Mark Scheme</vt:lpstr>
      <vt:lpstr>Fact File 2: Mark Scheme</vt:lpstr>
      <vt:lpstr>PowerPoint Presentation</vt:lpstr>
      <vt:lpstr>Utility Programs – What are they?</vt:lpstr>
      <vt:lpstr>PowerPoint Presentation</vt:lpstr>
      <vt:lpstr>Fact File 3: Mark Scheme</vt:lpstr>
      <vt:lpstr>Disk Defragmentation</vt:lpstr>
      <vt:lpstr>Defragmentation</vt:lpstr>
      <vt:lpstr>Data Compression</vt:lpstr>
      <vt:lpstr>File Backup</vt:lpstr>
      <vt:lpstr>Archiving</vt:lpstr>
      <vt:lpstr>PowerPoint Presentation</vt:lpstr>
      <vt:lpstr>Fact File 4: Mark Scheme</vt:lpstr>
    </vt:vector>
  </TitlesOfParts>
  <Company>C2k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 Butler</dc:creator>
  <cp:lastModifiedBy>J Butler</cp:lastModifiedBy>
  <cp:revision>27</cp:revision>
  <dcterms:created xsi:type="dcterms:W3CDTF">2019-01-29T14:00:37Z</dcterms:created>
  <dcterms:modified xsi:type="dcterms:W3CDTF">2025-11-13T15:38:05Z</dcterms:modified>
</cp:coreProperties>
</file>