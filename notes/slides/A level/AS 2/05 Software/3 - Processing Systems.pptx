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1" r:id="rId8"/>
    <p:sldId id="262"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D0DC"/>
    <a:srgbClr val="1243A0"/>
    <a:srgbClr val="103EA0"/>
    <a:srgbClr val="0F3282"/>
    <a:srgbClr val="4960E8"/>
    <a:srgbClr val="C8AEDB"/>
    <a:srgbClr val="ABDDFE"/>
    <a:srgbClr val="F0BE39"/>
    <a:srgbClr val="14CD72"/>
    <a:srgbClr val="A8E3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54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0D314-DEE0-1A75-5B1B-1F36D351BF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B9C5C3D-9BDE-0CF6-3490-CE1F1C0DB3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5587555-9926-902F-F455-BF69441C0B93}"/>
              </a:ext>
            </a:extLst>
          </p:cNvPr>
          <p:cNvSpPr>
            <a:spLocks noGrp="1"/>
          </p:cNvSpPr>
          <p:nvPr>
            <p:ph type="dt" sz="half" idx="10"/>
          </p:nvPr>
        </p:nvSpPr>
        <p:spPr/>
        <p:txBody>
          <a:bodyPr/>
          <a:lstStyle/>
          <a:p>
            <a:fld id="{A3F99B6C-C2C9-46DF-96F3-7CD754C0CB2D}" type="datetimeFigureOut">
              <a:rPr lang="en-GB" smtClean="0"/>
              <a:t>19/01/2026</a:t>
            </a:fld>
            <a:endParaRPr lang="en-GB"/>
          </a:p>
        </p:txBody>
      </p:sp>
      <p:sp>
        <p:nvSpPr>
          <p:cNvPr id="5" name="Footer Placeholder 4">
            <a:extLst>
              <a:ext uri="{FF2B5EF4-FFF2-40B4-BE49-F238E27FC236}">
                <a16:creationId xmlns:a16="http://schemas.microsoft.com/office/drawing/2014/main" id="{A46EC9F0-3978-983F-9A72-F46880FEA62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5D755B-53FD-25A9-7529-0F4BCE760AA3}"/>
              </a:ext>
            </a:extLst>
          </p:cNvPr>
          <p:cNvSpPr>
            <a:spLocks noGrp="1"/>
          </p:cNvSpPr>
          <p:nvPr>
            <p:ph type="sldNum" sz="quarter" idx="12"/>
          </p:nvPr>
        </p:nvSpPr>
        <p:spPr/>
        <p:txBody>
          <a:bodyPr/>
          <a:lstStyle/>
          <a:p>
            <a:fld id="{5B863F95-7C51-4D12-BB70-1FE01312611C}" type="slidenum">
              <a:rPr lang="en-GB" smtClean="0"/>
              <a:t>‹#›</a:t>
            </a:fld>
            <a:endParaRPr lang="en-GB"/>
          </a:p>
        </p:txBody>
      </p:sp>
    </p:spTree>
    <p:extLst>
      <p:ext uri="{BB962C8B-B14F-4D97-AF65-F5344CB8AC3E}">
        <p14:creationId xmlns:p14="http://schemas.microsoft.com/office/powerpoint/2010/main" val="2494223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1F1FF-10F1-4E40-A93B-2D9ADEDE122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1532376-B7D8-8761-D6AA-461F3EFDCC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16FA60-49C5-4809-E98D-0FB6F09B731A}"/>
              </a:ext>
            </a:extLst>
          </p:cNvPr>
          <p:cNvSpPr>
            <a:spLocks noGrp="1"/>
          </p:cNvSpPr>
          <p:nvPr>
            <p:ph type="dt" sz="half" idx="10"/>
          </p:nvPr>
        </p:nvSpPr>
        <p:spPr/>
        <p:txBody>
          <a:bodyPr/>
          <a:lstStyle/>
          <a:p>
            <a:fld id="{A3F99B6C-C2C9-46DF-96F3-7CD754C0CB2D}" type="datetimeFigureOut">
              <a:rPr lang="en-GB" smtClean="0"/>
              <a:t>19/01/2026</a:t>
            </a:fld>
            <a:endParaRPr lang="en-GB"/>
          </a:p>
        </p:txBody>
      </p:sp>
      <p:sp>
        <p:nvSpPr>
          <p:cNvPr id="5" name="Footer Placeholder 4">
            <a:extLst>
              <a:ext uri="{FF2B5EF4-FFF2-40B4-BE49-F238E27FC236}">
                <a16:creationId xmlns:a16="http://schemas.microsoft.com/office/drawing/2014/main" id="{E69816DD-4BA1-B333-B611-FEA599C3F51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C789F59-7BF8-5757-AF65-5F065AB3D351}"/>
              </a:ext>
            </a:extLst>
          </p:cNvPr>
          <p:cNvSpPr>
            <a:spLocks noGrp="1"/>
          </p:cNvSpPr>
          <p:nvPr>
            <p:ph type="sldNum" sz="quarter" idx="12"/>
          </p:nvPr>
        </p:nvSpPr>
        <p:spPr/>
        <p:txBody>
          <a:bodyPr/>
          <a:lstStyle/>
          <a:p>
            <a:fld id="{5B863F95-7C51-4D12-BB70-1FE01312611C}" type="slidenum">
              <a:rPr lang="en-GB" smtClean="0"/>
              <a:t>‹#›</a:t>
            </a:fld>
            <a:endParaRPr lang="en-GB"/>
          </a:p>
        </p:txBody>
      </p:sp>
    </p:spTree>
    <p:extLst>
      <p:ext uri="{BB962C8B-B14F-4D97-AF65-F5344CB8AC3E}">
        <p14:creationId xmlns:p14="http://schemas.microsoft.com/office/powerpoint/2010/main" val="770851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04629-D83F-236D-37A9-0AE1924876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23EA7CB-F686-76FE-CD2E-9E2F340C18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E44C0B-1D4E-474C-3540-C0BCD3F929BB}"/>
              </a:ext>
            </a:extLst>
          </p:cNvPr>
          <p:cNvSpPr>
            <a:spLocks noGrp="1"/>
          </p:cNvSpPr>
          <p:nvPr>
            <p:ph type="dt" sz="half" idx="10"/>
          </p:nvPr>
        </p:nvSpPr>
        <p:spPr/>
        <p:txBody>
          <a:bodyPr/>
          <a:lstStyle/>
          <a:p>
            <a:fld id="{A3F99B6C-C2C9-46DF-96F3-7CD754C0CB2D}" type="datetimeFigureOut">
              <a:rPr lang="en-GB" smtClean="0"/>
              <a:t>19/01/2026</a:t>
            </a:fld>
            <a:endParaRPr lang="en-GB"/>
          </a:p>
        </p:txBody>
      </p:sp>
      <p:sp>
        <p:nvSpPr>
          <p:cNvPr id="5" name="Footer Placeholder 4">
            <a:extLst>
              <a:ext uri="{FF2B5EF4-FFF2-40B4-BE49-F238E27FC236}">
                <a16:creationId xmlns:a16="http://schemas.microsoft.com/office/drawing/2014/main" id="{A958B398-0E91-C05B-A5D4-7DF8173709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867048-3CDB-A20B-ADA5-384FF14079E6}"/>
              </a:ext>
            </a:extLst>
          </p:cNvPr>
          <p:cNvSpPr>
            <a:spLocks noGrp="1"/>
          </p:cNvSpPr>
          <p:nvPr>
            <p:ph type="sldNum" sz="quarter" idx="12"/>
          </p:nvPr>
        </p:nvSpPr>
        <p:spPr/>
        <p:txBody>
          <a:bodyPr/>
          <a:lstStyle/>
          <a:p>
            <a:fld id="{5B863F95-7C51-4D12-BB70-1FE01312611C}" type="slidenum">
              <a:rPr lang="en-GB" smtClean="0"/>
              <a:t>‹#›</a:t>
            </a:fld>
            <a:endParaRPr lang="en-GB"/>
          </a:p>
        </p:txBody>
      </p:sp>
    </p:spTree>
    <p:extLst>
      <p:ext uri="{BB962C8B-B14F-4D97-AF65-F5344CB8AC3E}">
        <p14:creationId xmlns:p14="http://schemas.microsoft.com/office/powerpoint/2010/main" val="3040077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E0E9E-16F0-6173-B06E-BBCE0014940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2B5E146-D188-7D48-78AF-71B30A7650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D35D49A-E791-9EBF-CB9D-79E7669D72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4EF14BE-2866-C3DA-904E-84955254BA7F}"/>
              </a:ext>
            </a:extLst>
          </p:cNvPr>
          <p:cNvSpPr>
            <a:spLocks noGrp="1"/>
          </p:cNvSpPr>
          <p:nvPr>
            <p:ph type="dt" sz="half" idx="10"/>
          </p:nvPr>
        </p:nvSpPr>
        <p:spPr/>
        <p:txBody>
          <a:bodyPr/>
          <a:lstStyle/>
          <a:p>
            <a:fld id="{A3F99B6C-C2C9-46DF-96F3-7CD754C0CB2D}" type="datetimeFigureOut">
              <a:rPr lang="en-GB" smtClean="0"/>
              <a:t>19/01/2026</a:t>
            </a:fld>
            <a:endParaRPr lang="en-GB"/>
          </a:p>
        </p:txBody>
      </p:sp>
      <p:sp>
        <p:nvSpPr>
          <p:cNvPr id="6" name="Footer Placeholder 5">
            <a:extLst>
              <a:ext uri="{FF2B5EF4-FFF2-40B4-BE49-F238E27FC236}">
                <a16:creationId xmlns:a16="http://schemas.microsoft.com/office/drawing/2014/main" id="{CE0FBE4E-FEB1-7CA5-6FE7-65E2604393E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36B080F-442B-77F4-AA99-553F08D68539}"/>
              </a:ext>
            </a:extLst>
          </p:cNvPr>
          <p:cNvSpPr>
            <a:spLocks noGrp="1"/>
          </p:cNvSpPr>
          <p:nvPr>
            <p:ph type="sldNum" sz="quarter" idx="12"/>
          </p:nvPr>
        </p:nvSpPr>
        <p:spPr/>
        <p:txBody>
          <a:bodyPr/>
          <a:lstStyle/>
          <a:p>
            <a:fld id="{5B863F95-7C51-4D12-BB70-1FE01312611C}" type="slidenum">
              <a:rPr lang="en-GB" smtClean="0"/>
              <a:t>‹#›</a:t>
            </a:fld>
            <a:endParaRPr lang="en-GB"/>
          </a:p>
        </p:txBody>
      </p:sp>
    </p:spTree>
    <p:extLst>
      <p:ext uri="{BB962C8B-B14F-4D97-AF65-F5344CB8AC3E}">
        <p14:creationId xmlns:p14="http://schemas.microsoft.com/office/powerpoint/2010/main" val="4012005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774C0-D816-4E0C-DE44-E2852C79D4F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011FA30-A124-B3BE-7BE6-B8FCA1ADBE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9F1F03-F6CC-CE4A-A7E3-0EC3381B94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E614F08-7B9F-B145-60FF-954AF5C6DD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FED482-FDC3-2B1B-F982-704C617C13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E500A30-232B-F1B6-43AD-62CA25040049}"/>
              </a:ext>
            </a:extLst>
          </p:cNvPr>
          <p:cNvSpPr>
            <a:spLocks noGrp="1"/>
          </p:cNvSpPr>
          <p:nvPr>
            <p:ph type="dt" sz="half" idx="10"/>
          </p:nvPr>
        </p:nvSpPr>
        <p:spPr/>
        <p:txBody>
          <a:bodyPr/>
          <a:lstStyle/>
          <a:p>
            <a:fld id="{A3F99B6C-C2C9-46DF-96F3-7CD754C0CB2D}" type="datetimeFigureOut">
              <a:rPr lang="en-GB" smtClean="0"/>
              <a:t>19/01/2026</a:t>
            </a:fld>
            <a:endParaRPr lang="en-GB"/>
          </a:p>
        </p:txBody>
      </p:sp>
      <p:sp>
        <p:nvSpPr>
          <p:cNvPr id="8" name="Footer Placeholder 7">
            <a:extLst>
              <a:ext uri="{FF2B5EF4-FFF2-40B4-BE49-F238E27FC236}">
                <a16:creationId xmlns:a16="http://schemas.microsoft.com/office/drawing/2014/main" id="{F6DD6DAE-B448-6DE6-ACFA-BD30DCBCC49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1F3D5D2-D2DD-0C56-6FB8-E156129DB330}"/>
              </a:ext>
            </a:extLst>
          </p:cNvPr>
          <p:cNvSpPr>
            <a:spLocks noGrp="1"/>
          </p:cNvSpPr>
          <p:nvPr>
            <p:ph type="sldNum" sz="quarter" idx="12"/>
          </p:nvPr>
        </p:nvSpPr>
        <p:spPr/>
        <p:txBody>
          <a:bodyPr/>
          <a:lstStyle/>
          <a:p>
            <a:fld id="{5B863F95-7C51-4D12-BB70-1FE01312611C}" type="slidenum">
              <a:rPr lang="en-GB" smtClean="0"/>
              <a:t>‹#›</a:t>
            </a:fld>
            <a:endParaRPr lang="en-GB"/>
          </a:p>
        </p:txBody>
      </p:sp>
    </p:spTree>
    <p:extLst>
      <p:ext uri="{BB962C8B-B14F-4D97-AF65-F5344CB8AC3E}">
        <p14:creationId xmlns:p14="http://schemas.microsoft.com/office/powerpoint/2010/main" val="832873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4CA93-9AB2-75DF-B9FC-A199A24E7D2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5050B33-9D04-DB70-02E8-E31C7D1C155D}"/>
              </a:ext>
            </a:extLst>
          </p:cNvPr>
          <p:cNvSpPr>
            <a:spLocks noGrp="1"/>
          </p:cNvSpPr>
          <p:nvPr>
            <p:ph type="dt" sz="half" idx="10"/>
          </p:nvPr>
        </p:nvSpPr>
        <p:spPr/>
        <p:txBody>
          <a:bodyPr/>
          <a:lstStyle/>
          <a:p>
            <a:fld id="{A3F99B6C-C2C9-46DF-96F3-7CD754C0CB2D}" type="datetimeFigureOut">
              <a:rPr lang="en-GB" smtClean="0"/>
              <a:t>19/01/2026</a:t>
            </a:fld>
            <a:endParaRPr lang="en-GB"/>
          </a:p>
        </p:txBody>
      </p:sp>
      <p:sp>
        <p:nvSpPr>
          <p:cNvPr id="4" name="Footer Placeholder 3">
            <a:extLst>
              <a:ext uri="{FF2B5EF4-FFF2-40B4-BE49-F238E27FC236}">
                <a16:creationId xmlns:a16="http://schemas.microsoft.com/office/drawing/2014/main" id="{C0112E91-26E8-C106-9403-4FC3DB6FCB5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B733803-60D8-6A1D-4BF2-50EDE6988BF9}"/>
              </a:ext>
            </a:extLst>
          </p:cNvPr>
          <p:cNvSpPr>
            <a:spLocks noGrp="1"/>
          </p:cNvSpPr>
          <p:nvPr>
            <p:ph type="sldNum" sz="quarter" idx="12"/>
          </p:nvPr>
        </p:nvSpPr>
        <p:spPr/>
        <p:txBody>
          <a:bodyPr/>
          <a:lstStyle/>
          <a:p>
            <a:fld id="{5B863F95-7C51-4D12-BB70-1FE01312611C}" type="slidenum">
              <a:rPr lang="en-GB" smtClean="0"/>
              <a:t>‹#›</a:t>
            </a:fld>
            <a:endParaRPr lang="en-GB"/>
          </a:p>
        </p:txBody>
      </p:sp>
    </p:spTree>
    <p:extLst>
      <p:ext uri="{BB962C8B-B14F-4D97-AF65-F5344CB8AC3E}">
        <p14:creationId xmlns:p14="http://schemas.microsoft.com/office/powerpoint/2010/main" val="455972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E628BB-A2AC-5BD1-3ADF-645093044132}"/>
              </a:ext>
            </a:extLst>
          </p:cNvPr>
          <p:cNvSpPr>
            <a:spLocks noGrp="1"/>
          </p:cNvSpPr>
          <p:nvPr>
            <p:ph type="dt" sz="half" idx="10"/>
          </p:nvPr>
        </p:nvSpPr>
        <p:spPr/>
        <p:txBody>
          <a:bodyPr/>
          <a:lstStyle/>
          <a:p>
            <a:fld id="{A3F99B6C-C2C9-46DF-96F3-7CD754C0CB2D}" type="datetimeFigureOut">
              <a:rPr lang="en-GB" smtClean="0"/>
              <a:t>19/01/2026</a:t>
            </a:fld>
            <a:endParaRPr lang="en-GB"/>
          </a:p>
        </p:txBody>
      </p:sp>
      <p:sp>
        <p:nvSpPr>
          <p:cNvPr id="3" name="Footer Placeholder 2">
            <a:extLst>
              <a:ext uri="{FF2B5EF4-FFF2-40B4-BE49-F238E27FC236}">
                <a16:creationId xmlns:a16="http://schemas.microsoft.com/office/drawing/2014/main" id="{F7A86C87-751B-7608-458B-972F9A78ABF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07E3165-DFC1-CC85-FF64-23E7A4BC29F7}"/>
              </a:ext>
            </a:extLst>
          </p:cNvPr>
          <p:cNvSpPr>
            <a:spLocks noGrp="1"/>
          </p:cNvSpPr>
          <p:nvPr>
            <p:ph type="sldNum" sz="quarter" idx="12"/>
          </p:nvPr>
        </p:nvSpPr>
        <p:spPr/>
        <p:txBody>
          <a:bodyPr/>
          <a:lstStyle/>
          <a:p>
            <a:fld id="{5B863F95-7C51-4D12-BB70-1FE01312611C}" type="slidenum">
              <a:rPr lang="en-GB" smtClean="0"/>
              <a:t>‹#›</a:t>
            </a:fld>
            <a:endParaRPr lang="en-GB"/>
          </a:p>
        </p:txBody>
      </p:sp>
    </p:spTree>
    <p:extLst>
      <p:ext uri="{BB962C8B-B14F-4D97-AF65-F5344CB8AC3E}">
        <p14:creationId xmlns:p14="http://schemas.microsoft.com/office/powerpoint/2010/main" val="4003331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E3592-5678-8C2B-D125-3684E3AC65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D663FE3-2033-063E-F8B9-31F96AB844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D9B56A1-2D7E-F7AF-6B17-75FCE4169B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59272E-E574-CC79-0C54-4FDAB0D1CFF6}"/>
              </a:ext>
            </a:extLst>
          </p:cNvPr>
          <p:cNvSpPr>
            <a:spLocks noGrp="1"/>
          </p:cNvSpPr>
          <p:nvPr>
            <p:ph type="dt" sz="half" idx="10"/>
          </p:nvPr>
        </p:nvSpPr>
        <p:spPr/>
        <p:txBody>
          <a:bodyPr/>
          <a:lstStyle/>
          <a:p>
            <a:fld id="{A3F99B6C-C2C9-46DF-96F3-7CD754C0CB2D}" type="datetimeFigureOut">
              <a:rPr lang="en-GB" smtClean="0"/>
              <a:t>19/01/2026</a:t>
            </a:fld>
            <a:endParaRPr lang="en-GB"/>
          </a:p>
        </p:txBody>
      </p:sp>
      <p:sp>
        <p:nvSpPr>
          <p:cNvPr id="6" name="Footer Placeholder 5">
            <a:extLst>
              <a:ext uri="{FF2B5EF4-FFF2-40B4-BE49-F238E27FC236}">
                <a16:creationId xmlns:a16="http://schemas.microsoft.com/office/drawing/2014/main" id="{437841F4-2F3E-A592-3032-CBD5E075686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0AF16BC-2708-4B81-A1A2-974A63BE6C3A}"/>
              </a:ext>
            </a:extLst>
          </p:cNvPr>
          <p:cNvSpPr>
            <a:spLocks noGrp="1"/>
          </p:cNvSpPr>
          <p:nvPr>
            <p:ph type="sldNum" sz="quarter" idx="12"/>
          </p:nvPr>
        </p:nvSpPr>
        <p:spPr/>
        <p:txBody>
          <a:bodyPr/>
          <a:lstStyle/>
          <a:p>
            <a:fld id="{5B863F95-7C51-4D12-BB70-1FE01312611C}" type="slidenum">
              <a:rPr lang="en-GB" smtClean="0"/>
              <a:t>‹#›</a:t>
            </a:fld>
            <a:endParaRPr lang="en-GB"/>
          </a:p>
        </p:txBody>
      </p:sp>
    </p:spTree>
    <p:extLst>
      <p:ext uri="{BB962C8B-B14F-4D97-AF65-F5344CB8AC3E}">
        <p14:creationId xmlns:p14="http://schemas.microsoft.com/office/powerpoint/2010/main" val="2462487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DEF89-0F0B-F076-DFE5-32583DEF3C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F6BA8C2-893A-287F-13F5-70AA01977D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62C6A7F-C710-D3AF-9BE8-EFEABF009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9E0650-AE6D-EDA0-B12F-CC1CCB887239}"/>
              </a:ext>
            </a:extLst>
          </p:cNvPr>
          <p:cNvSpPr>
            <a:spLocks noGrp="1"/>
          </p:cNvSpPr>
          <p:nvPr>
            <p:ph type="dt" sz="half" idx="10"/>
          </p:nvPr>
        </p:nvSpPr>
        <p:spPr/>
        <p:txBody>
          <a:bodyPr/>
          <a:lstStyle/>
          <a:p>
            <a:fld id="{A3F99B6C-C2C9-46DF-96F3-7CD754C0CB2D}" type="datetimeFigureOut">
              <a:rPr lang="en-GB" smtClean="0"/>
              <a:t>19/01/2026</a:t>
            </a:fld>
            <a:endParaRPr lang="en-GB"/>
          </a:p>
        </p:txBody>
      </p:sp>
      <p:sp>
        <p:nvSpPr>
          <p:cNvPr id="6" name="Footer Placeholder 5">
            <a:extLst>
              <a:ext uri="{FF2B5EF4-FFF2-40B4-BE49-F238E27FC236}">
                <a16:creationId xmlns:a16="http://schemas.microsoft.com/office/drawing/2014/main" id="{4794C5FE-E29E-827D-634A-37C048992C7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858242A-B6B8-FD67-BB74-C897BC27B61F}"/>
              </a:ext>
            </a:extLst>
          </p:cNvPr>
          <p:cNvSpPr>
            <a:spLocks noGrp="1"/>
          </p:cNvSpPr>
          <p:nvPr>
            <p:ph type="sldNum" sz="quarter" idx="12"/>
          </p:nvPr>
        </p:nvSpPr>
        <p:spPr/>
        <p:txBody>
          <a:bodyPr/>
          <a:lstStyle/>
          <a:p>
            <a:fld id="{5B863F95-7C51-4D12-BB70-1FE01312611C}" type="slidenum">
              <a:rPr lang="en-GB" smtClean="0"/>
              <a:t>‹#›</a:t>
            </a:fld>
            <a:endParaRPr lang="en-GB"/>
          </a:p>
        </p:txBody>
      </p:sp>
    </p:spTree>
    <p:extLst>
      <p:ext uri="{BB962C8B-B14F-4D97-AF65-F5344CB8AC3E}">
        <p14:creationId xmlns:p14="http://schemas.microsoft.com/office/powerpoint/2010/main" val="1585528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CE4B2-BD9C-AF11-FEE5-60DC149B305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B431848-E18F-5002-AF02-56483E38B9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6784A17-A6FF-1F1F-DAC9-18D4AC73E746}"/>
              </a:ext>
            </a:extLst>
          </p:cNvPr>
          <p:cNvSpPr>
            <a:spLocks noGrp="1"/>
          </p:cNvSpPr>
          <p:nvPr>
            <p:ph type="dt" sz="half" idx="10"/>
          </p:nvPr>
        </p:nvSpPr>
        <p:spPr/>
        <p:txBody>
          <a:bodyPr/>
          <a:lstStyle/>
          <a:p>
            <a:fld id="{A3F99B6C-C2C9-46DF-96F3-7CD754C0CB2D}" type="datetimeFigureOut">
              <a:rPr lang="en-GB" smtClean="0"/>
              <a:t>19/01/2026</a:t>
            </a:fld>
            <a:endParaRPr lang="en-GB"/>
          </a:p>
        </p:txBody>
      </p:sp>
      <p:sp>
        <p:nvSpPr>
          <p:cNvPr id="5" name="Footer Placeholder 4">
            <a:extLst>
              <a:ext uri="{FF2B5EF4-FFF2-40B4-BE49-F238E27FC236}">
                <a16:creationId xmlns:a16="http://schemas.microsoft.com/office/drawing/2014/main" id="{CD0EDFA6-6E10-9C77-3576-ADBCDBF5E8B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0016277-F50B-A1A3-8488-29155A2212F0}"/>
              </a:ext>
            </a:extLst>
          </p:cNvPr>
          <p:cNvSpPr>
            <a:spLocks noGrp="1"/>
          </p:cNvSpPr>
          <p:nvPr>
            <p:ph type="sldNum" sz="quarter" idx="12"/>
          </p:nvPr>
        </p:nvSpPr>
        <p:spPr/>
        <p:txBody>
          <a:bodyPr/>
          <a:lstStyle/>
          <a:p>
            <a:fld id="{5B863F95-7C51-4D12-BB70-1FE01312611C}" type="slidenum">
              <a:rPr lang="en-GB" smtClean="0"/>
              <a:t>‹#›</a:t>
            </a:fld>
            <a:endParaRPr lang="en-GB"/>
          </a:p>
        </p:txBody>
      </p:sp>
    </p:spTree>
    <p:extLst>
      <p:ext uri="{BB962C8B-B14F-4D97-AF65-F5344CB8AC3E}">
        <p14:creationId xmlns:p14="http://schemas.microsoft.com/office/powerpoint/2010/main" val="3534666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912773-CBAF-6812-EA57-FE4EB1686A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287F6E2-FB40-D0AF-A7D0-81FD134195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9A2621-98A4-28FE-4C77-8371ECBF17A1}"/>
              </a:ext>
            </a:extLst>
          </p:cNvPr>
          <p:cNvSpPr>
            <a:spLocks noGrp="1"/>
          </p:cNvSpPr>
          <p:nvPr>
            <p:ph type="dt" sz="half" idx="10"/>
          </p:nvPr>
        </p:nvSpPr>
        <p:spPr/>
        <p:txBody>
          <a:bodyPr/>
          <a:lstStyle/>
          <a:p>
            <a:fld id="{A3F99B6C-C2C9-46DF-96F3-7CD754C0CB2D}" type="datetimeFigureOut">
              <a:rPr lang="en-GB" smtClean="0"/>
              <a:t>19/01/2026</a:t>
            </a:fld>
            <a:endParaRPr lang="en-GB"/>
          </a:p>
        </p:txBody>
      </p:sp>
      <p:sp>
        <p:nvSpPr>
          <p:cNvPr id="5" name="Footer Placeholder 4">
            <a:extLst>
              <a:ext uri="{FF2B5EF4-FFF2-40B4-BE49-F238E27FC236}">
                <a16:creationId xmlns:a16="http://schemas.microsoft.com/office/drawing/2014/main" id="{589A6814-50E9-C330-BE9D-3401151860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F64E4F-2B56-0AC7-DABA-797D1AA958C0}"/>
              </a:ext>
            </a:extLst>
          </p:cNvPr>
          <p:cNvSpPr>
            <a:spLocks noGrp="1"/>
          </p:cNvSpPr>
          <p:nvPr>
            <p:ph type="sldNum" sz="quarter" idx="12"/>
          </p:nvPr>
        </p:nvSpPr>
        <p:spPr/>
        <p:txBody>
          <a:bodyPr/>
          <a:lstStyle/>
          <a:p>
            <a:fld id="{5B863F95-7C51-4D12-BB70-1FE01312611C}" type="slidenum">
              <a:rPr lang="en-GB" smtClean="0"/>
              <a:t>‹#›</a:t>
            </a:fld>
            <a:endParaRPr lang="en-GB"/>
          </a:p>
        </p:txBody>
      </p:sp>
    </p:spTree>
    <p:extLst>
      <p:ext uri="{BB962C8B-B14F-4D97-AF65-F5344CB8AC3E}">
        <p14:creationId xmlns:p14="http://schemas.microsoft.com/office/powerpoint/2010/main" val="3453588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133AC7-0A09-4015-0E05-EC320D1273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E6AD935-0CAF-578F-5BAF-8C453C914C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FC3E9BC-CABB-100A-D5D5-F479150B4E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F99B6C-C2C9-46DF-96F3-7CD754C0CB2D}" type="datetimeFigureOut">
              <a:rPr lang="en-GB" smtClean="0"/>
              <a:t>19/01/2026</a:t>
            </a:fld>
            <a:endParaRPr lang="en-GB"/>
          </a:p>
        </p:txBody>
      </p:sp>
      <p:sp>
        <p:nvSpPr>
          <p:cNvPr id="5" name="Footer Placeholder 4">
            <a:extLst>
              <a:ext uri="{FF2B5EF4-FFF2-40B4-BE49-F238E27FC236}">
                <a16:creationId xmlns:a16="http://schemas.microsoft.com/office/drawing/2014/main" id="{217384A4-1851-3103-F3DE-57B8B1C011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DD9376CD-7557-14EF-64AB-7F627F68AB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863F95-7C51-4D12-BB70-1FE01312611C}" type="slidenum">
              <a:rPr lang="en-GB" smtClean="0"/>
              <a:t>‹#›</a:t>
            </a:fld>
            <a:endParaRPr lang="en-GB"/>
          </a:p>
        </p:txBody>
      </p:sp>
    </p:spTree>
    <p:extLst>
      <p:ext uri="{BB962C8B-B14F-4D97-AF65-F5344CB8AC3E}">
        <p14:creationId xmlns:p14="http://schemas.microsoft.com/office/powerpoint/2010/main" val="2897729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7.png"/><Relationship Id="rId12" Type="http://schemas.microsoft.com/office/2007/relationships/hdphoto" Target="../media/hdphoto4.wdp"/><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5.png"/><Relationship Id="rId15" Type="http://schemas.openxmlformats.org/officeDocument/2006/relationships/image" Target="../media/image11.gif"/><Relationship Id="rId10" Type="http://schemas.microsoft.com/office/2007/relationships/hdphoto" Target="../media/hdphoto3.wdp"/><Relationship Id="rId4" Type="http://schemas.openxmlformats.org/officeDocument/2006/relationships/image" Target="../media/image4.png"/><Relationship Id="rId9" Type="http://schemas.openxmlformats.org/officeDocument/2006/relationships/image" Target="../media/image8.png"/><Relationship Id="rId14" Type="http://schemas.microsoft.com/office/2007/relationships/hdphoto" Target="../media/hdphoto5.wdp"/></Relationships>
</file>

<file path=ppt/slides/_rels/slide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jpeg"/><Relationship Id="rId1" Type="http://schemas.openxmlformats.org/officeDocument/2006/relationships/slideLayout" Target="../slideLayouts/slideLayout2.xml"/><Relationship Id="rId4" Type="http://schemas.microsoft.com/office/2007/relationships/hdphoto" Target="../media/hdphoto8.wdp"/></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ight Triangle 4">
            <a:extLst>
              <a:ext uri="{FF2B5EF4-FFF2-40B4-BE49-F238E27FC236}">
                <a16:creationId xmlns:a16="http://schemas.microsoft.com/office/drawing/2014/main" id="{2FCB429E-6257-C576-05BF-390C6039E528}"/>
              </a:ext>
            </a:extLst>
          </p:cNvPr>
          <p:cNvSpPr/>
          <p:nvPr/>
        </p:nvSpPr>
        <p:spPr>
          <a:xfrm rot="10800000">
            <a:off x="537410" y="401049"/>
            <a:ext cx="11261554" cy="6047876"/>
          </a:xfrm>
          <a:prstGeom prst="rtTriangle">
            <a:avLst/>
          </a:prstGeom>
          <a:solidFill>
            <a:srgbClr val="E0FFFF"/>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00601C5-B281-527A-4849-4BF226302C8E}"/>
              </a:ext>
            </a:extLst>
          </p:cNvPr>
          <p:cNvSpPr>
            <a:spLocks noGrp="1"/>
          </p:cNvSpPr>
          <p:nvPr>
            <p:ph type="ctrTitle"/>
          </p:nvPr>
        </p:nvSpPr>
        <p:spPr>
          <a:xfrm>
            <a:off x="368968" y="4437649"/>
            <a:ext cx="6561221" cy="951247"/>
          </a:xfrm>
        </p:spPr>
        <p:txBody>
          <a:bodyPr/>
          <a:lstStyle/>
          <a:p>
            <a:pPr algn="l"/>
            <a:r>
              <a:rPr lang="en-GB" dirty="0"/>
              <a:t>Processing Systems</a:t>
            </a:r>
          </a:p>
        </p:txBody>
      </p:sp>
      <p:sp>
        <p:nvSpPr>
          <p:cNvPr id="3" name="Subtitle 2">
            <a:extLst>
              <a:ext uri="{FF2B5EF4-FFF2-40B4-BE49-F238E27FC236}">
                <a16:creationId xmlns:a16="http://schemas.microsoft.com/office/drawing/2014/main" id="{4D87B1EB-0835-909F-D194-70E421409335}"/>
              </a:ext>
            </a:extLst>
          </p:cNvPr>
          <p:cNvSpPr>
            <a:spLocks noGrp="1"/>
          </p:cNvSpPr>
          <p:nvPr>
            <p:ph type="subTitle" idx="1"/>
          </p:nvPr>
        </p:nvSpPr>
        <p:spPr>
          <a:xfrm>
            <a:off x="409073" y="5303617"/>
            <a:ext cx="5029200" cy="466276"/>
          </a:xfrm>
        </p:spPr>
        <p:txBody>
          <a:bodyPr/>
          <a:lstStyle/>
          <a:p>
            <a:pPr algn="l"/>
            <a:r>
              <a:rPr lang="en-GB" dirty="0"/>
              <a:t>Mr Butler | AS Digital Technology</a:t>
            </a:r>
          </a:p>
        </p:txBody>
      </p:sp>
      <p:pic>
        <p:nvPicPr>
          <p:cNvPr id="4098" name="Picture 2" descr="Processing system icon Cloud icon Big Data icon, Web Application, Internet,  Web Design, Cloud Computing, Software, Api, Computer transparent background  PNG clipart | HiClipart">
            <a:extLst>
              <a:ext uri="{FF2B5EF4-FFF2-40B4-BE49-F238E27FC236}">
                <a16:creationId xmlns:a16="http://schemas.microsoft.com/office/drawing/2014/main" id="{88F044AF-F3F6-5CD6-C65F-C9F0FACCB5D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975" b="91147" l="10000" r="90000">
                        <a14:foregroundMark x1="12875" y1="71072" x2="10375" y2="50000"/>
                        <a14:foregroundMark x1="10375" y1="50000" x2="12500" y2="31172"/>
                        <a14:foregroundMark x1="13500" y1="30424" x2="39625" y2="28180"/>
                        <a14:foregroundMark x1="39625" y1="28180" x2="43250" y2="28304"/>
                        <a14:foregroundMark x1="54750" y1="30923" x2="81125" y2="28554"/>
                        <a14:foregroundMark x1="81125" y1="28554" x2="82875" y2="28554"/>
                        <a14:foregroundMark x1="84500" y1="28803" x2="57750" y2="20200"/>
                        <a14:foregroundMark x1="57750" y1="20200" x2="57500" y2="19950"/>
                        <a14:foregroundMark x1="74750" y1="70948" x2="52500" y2="72195"/>
                        <a14:foregroundMark x1="51750" y1="71696" x2="17625" y2="71446"/>
                        <a14:foregroundMark x1="35625" y1="79426" x2="50250" y2="77805"/>
                        <a14:foregroundMark x1="76750" y1="63342" x2="76625" y2="48379"/>
                        <a14:foregroundMark x1="62250" y1="91147" x2="42500" y2="89401"/>
                        <a14:foregroundMark x1="40875" y1="87282" x2="23625" y2="87282"/>
                        <a14:foregroundMark x1="11625" y1="45387" x2="16375" y2="54239"/>
                        <a14:foregroundMark x1="55375" y1="28803" x2="45375" y2="35162"/>
                        <a14:foregroundMark x1="76125" y1="40524" x2="76125" y2="44888"/>
                      </a14:backgroundRemoval>
                    </a14:imgEffect>
                  </a14:imgLayer>
                </a14:imgProps>
              </a:ext>
              <a:ext uri="{28A0092B-C50C-407E-A947-70E740481C1C}">
                <a14:useLocalDpi xmlns:a14="http://schemas.microsoft.com/office/drawing/2010/main" val="0"/>
              </a:ext>
            </a:extLst>
          </a:blip>
          <a:srcRect/>
          <a:stretch>
            <a:fillRect/>
          </a:stretch>
        </p:blipFill>
        <p:spPr bwMode="auto">
          <a:xfrm>
            <a:off x="8567989" y="2679032"/>
            <a:ext cx="3274300" cy="328265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471460A-3A34-08B5-58ED-42FF1F6BE6EB}"/>
              </a:ext>
            </a:extLst>
          </p:cNvPr>
          <p:cNvSpPr/>
          <p:nvPr/>
        </p:nvSpPr>
        <p:spPr>
          <a:xfrm>
            <a:off x="257175" y="266700"/>
            <a:ext cx="11668125" cy="6334125"/>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85144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 descr="Vector Mockup Of Empty Room Minimalistic Interior Stock Illustration -  Download Image Now - Living Room, Wall - Building Feature, Domestic Room -  iStock">
            <a:extLst>
              <a:ext uri="{FF2B5EF4-FFF2-40B4-BE49-F238E27FC236}">
                <a16:creationId xmlns:a16="http://schemas.microsoft.com/office/drawing/2014/main" id="{320E4940-E284-5185-D12E-3BDB1823BA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1" y="-26824"/>
            <a:ext cx="13769648" cy="688482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quotes motivational students">
            <a:extLst>
              <a:ext uri="{FF2B5EF4-FFF2-40B4-BE49-F238E27FC236}">
                <a16:creationId xmlns:a16="http://schemas.microsoft.com/office/drawing/2014/main" id="{5CBAF5DE-1A05-FF01-774B-15549DADC5AD}"/>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8263" t="17720" r="8263" b="16586"/>
          <a:stretch/>
        </p:blipFill>
        <p:spPr bwMode="auto">
          <a:xfrm>
            <a:off x="79858" y="2219929"/>
            <a:ext cx="1597025" cy="12989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6" name="Picture 12" descr="Bitmoji Image">
            <a:extLst>
              <a:ext uri="{FF2B5EF4-FFF2-40B4-BE49-F238E27FC236}">
                <a16:creationId xmlns:a16="http://schemas.microsoft.com/office/drawing/2014/main" id="{3FD07F7B-0012-3DC2-C9B6-399BE05F6E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74570" y="2308829"/>
            <a:ext cx="3790950" cy="37909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4" descr="Mat png 2 » PNG Image">
            <a:extLst>
              <a:ext uri="{FF2B5EF4-FFF2-40B4-BE49-F238E27FC236}">
                <a16:creationId xmlns:a16="http://schemas.microsoft.com/office/drawing/2014/main" id="{6396C8D4-76D2-02C8-6FEA-AFEA68ADED1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14130" b="54551"/>
          <a:stretch/>
        </p:blipFill>
        <p:spPr bwMode="auto">
          <a:xfrm>
            <a:off x="2901877" y="6212587"/>
            <a:ext cx="9290123" cy="64541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e-Board 2 interactive whiteboard e-BT2-8500">
            <a:extLst>
              <a:ext uri="{FF2B5EF4-FFF2-40B4-BE49-F238E27FC236}">
                <a16:creationId xmlns:a16="http://schemas.microsoft.com/office/drawing/2014/main" id="{7E5C6194-DC4F-4406-34B2-4E66D20E27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4819" y="-361889"/>
            <a:ext cx="7915275" cy="527948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C48A732F-FF8F-25BF-728B-90584211B738}"/>
              </a:ext>
            </a:extLst>
          </p:cNvPr>
          <p:cNvGrpSpPr/>
          <p:nvPr/>
        </p:nvGrpSpPr>
        <p:grpSpPr>
          <a:xfrm>
            <a:off x="0" y="308420"/>
            <a:ext cx="2600701" cy="1938659"/>
            <a:chOff x="-204021" y="1870520"/>
            <a:chExt cx="2600701" cy="1938659"/>
          </a:xfrm>
        </p:grpSpPr>
        <p:pic>
          <p:nvPicPr>
            <p:cNvPr id="7" name="Picture 6">
              <a:extLst>
                <a:ext uri="{FF2B5EF4-FFF2-40B4-BE49-F238E27FC236}">
                  <a16:creationId xmlns:a16="http://schemas.microsoft.com/office/drawing/2014/main" id="{F143F625-30B7-3C72-BD33-25F9031BEA22}"/>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4563" b="94380" l="6959" r="95103"/>
                      </a14:imgEffect>
                    </a14:imgLayer>
                  </a14:imgProps>
                </a:ext>
              </a:extLst>
            </a:blip>
            <a:stretch>
              <a:fillRect/>
            </a:stretch>
          </p:blipFill>
          <p:spPr>
            <a:xfrm rot="5400000">
              <a:off x="127000" y="1539499"/>
              <a:ext cx="1938659" cy="2600701"/>
            </a:xfrm>
            <a:prstGeom prst="rect">
              <a:avLst/>
            </a:prstGeom>
          </p:spPr>
        </p:pic>
        <p:sp>
          <p:nvSpPr>
            <p:cNvPr id="8" name="TextBox 7">
              <a:extLst>
                <a:ext uri="{FF2B5EF4-FFF2-40B4-BE49-F238E27FC236}">
                  <a16:creationId xmlns:a16="http://schemas.microsoft.com/office/drawing/2014/main" id="{C8C3DD47-D4B4-D8FF-31A4-52483758FD41}"/>
                </a:ext>
              </a:extLst>
            </p:cNvPr>
            <p:cNvSpPr txBox="1"/>
            <p:nvPr/>
          </p:nvSpPr>
          <p:spPr>
            <a:xfrm>
              <a:off x="6350" y="2178129"/>
              <a:ext cx="2184400" cy="1323439"/>
            </a:xfrm>
            <a:prstGeom prst="rect">
              <a:avLst/>
            </a:prstGeom>
            <a:noFill/>
          </p:spPr>
          <p:txBody>
            <a:bodyPr wrap="square" rtlCol="0">
              <a:spAutoFit/>
            </a:bodyPr>
            <a:lstStyle/>
            <a:p>
              <a:r>
                <a:rPr lang="en-GB" sz="2000" b="1" i="1" dirty="0">
                  <a:latin typeface="Bradley Hand ITC" panose="03070402050302030203" pitchFamily="66" charset="0"/>
                </a:rPr>
                <a:t>“You don’t have to be </a:t>
              </a:r>
              <a:r>
                <a:rPr lang="en-GB" sz="2000" b="1" i="1" dirty="0">
                  <a:solidFill>
                    <a:srgbClr val="00B050"/>
                  </a:solidFill>
                  <a:latin typeface="Bradley Hand ITC" panose="03070402050302030203" pitchFamily="66" charset="0"/>
                </a:rPr>
                <a:t>great</a:t>
              </a:r>
              <a:r>
                <a:rPr lang="en-GB" sz="2000" b="1" i="1" dirty="0">
                  <a:latin typeface="Bradley Hand ITC" panose="03070402050302030203" pitchFamily="66" charset="0"/>
                </a:rPr>
                <a:t> to start, but you have to </a:t>
              </a:r>
              <a:r>
                <a:rPr lang="en-GB" sz="2000" b="1" i="1" dirty="0">
                  <a:solidFill>
                    <a:srgbClr val="00B050"/>
                  </a:solidFill>
                  <a:latin typeface="Bradley Hand ITC" panose="03070402050302030203" pitchFamily="66" charset="0"/>
                </a:rPr>
                <a:t>start</a:t>
              </a:r>
              <a:r>
                <a:rPr lang="en-GB" sz="2000" b="1" i="1" dirty="0">
                  <a:latin typeface="Bradley Hand ITC" panose="03070402050302030203" pitchFamily="66" charset="0"/>
                </a:rPr>
                <a:t> to be great”</a:t>
              </a:r>
            </a:p>
          </p:txBody>
        </p:sp>
      </p:grpSp>
      <p:sp>
        <p:nvSpPr>
          <p:cNvPr id="10" name="Hexagon 9">
            <a:extLst>
              <a:ext uri="{FF2B5EF4-FFF2-40B4-BE49-F238E27FC236}">
                <a16:creationId xmlns:a16="http://schemas.microsoft.com/office/drawing/2014/main" id="{B457544F-AE0E-5B20-3214-C91F6DF0B494}"/>
              </a:ext>
            </a:extLst>
          </p:cNvPr>
          <p:cNvSpPr/>
          <p:nvPr/>
        </p:nvSpPr>
        <p:spPr>
          <a:xfrm>
            <a:off x="11387998" y="1673308"/>
            <a:ext cx="617491" cy="532319"/>
          </a:xfrm>
          <a:prstGeom prst="hexagon">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Hexagon 10">
            <a:extLst>
              <a:ext uri="{FF2B5EF4-FFF2-40B4-BE49-F238E27FC236}">
                <a16:creationId xmlns:a16="http://schemas.microsoft.com/office/drawing/2014/main" id="{ED50C92A-5C8B-D261-3B0B-50573E8382DF}"/>
              </a:ext>
            </a:extLst>
          </p:cNvPr>
          <p:cNvSpPr/>
          <p:nvPr/>
        </p:nvSpPr>
        <p:spPr>
          <a:xfrm>
            <a:off x="12005488" y="1334920"/>
            <a:ext cx="617491" cy="532319"/>
          </a:xfrm>
          <a:prstGeom prst="hexagon">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Hexagon 11">
            <a:extLst>
              <a:ext uri="{FF2B5EF4-FFF2-40B4-BE49-F238E27FC236}">
                <a16:creationId xmlns:a16="http://schemas.microsoft.com/office/drawing/2014/main" id="{8D0DE793-CBA2-806E-454B-5830BEDE7AEF}"/>
              </a:ext>
            </a:extLst>
          </p:cNvPr>
          <p:cNvSpPr/>
          <p:nvPr/>
        </p:nvSpPr>
        <p:spPr>
          <a:xfrm>
            <a:off x="11387998" y="996532"/>
            <a:ext cx="617491" cy="532319"/>
          </a:xfrm>
          <a:prstGeom prst="hexagon">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Hexagon 12">
            <a:extLst>
              <a:ext uri="{FF2B5EF4-FFF2-40B4-BE49-F238E27FC236}">
                <a16:creationId xmlns:a16="http://schemas.microsoft.com/office/drawing/2014/main" id="{DCFAA936-ECC2-7CC5-16EA-E7E3670EE40D}"/>
              </a:ext>
            </a:extLst>
          </p:cNvPr>
          <p:cNvSpPr/>
          <p:nvPr/>
        </p:nvSpPr>
        <p:spPr>
          <a:xfrm>
            <a:off x="10785645" y="2011696"/>
            <a:ext cx="617491" cy="532319"/>
          </a:xfrm>
          <a:prstGeom prst="hexagon">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0000"/>
              </a:solidFill>
            </a:endParaRPr>
          </a:p>
        </p:txBody>
      </p:sp>
      <p:sp>
        <p:nvSpPr>
          <p:cNvPr id="14" name="Hexagon 13">
            <a:extLst>
              <a:ext uri="{FF2B5EF4-FFF2-40B4-BE49-F238E27FC236}">
                <a16:creationId xmlns:a16="http://schemas.microsoft.com/office/drawing/2014/main" id="{51C9F7E7-FDC1-C9AA-7A87-B9E6137A38BD}"/>
              </a:ext>
            </a:extLst>
          </p:cNvPr>
          <p:cNvSpPr/>
          <p:nvPr/>
        </p:nvSpPr>
        <p:spPr>
          <a:xfrm>
            <a:off x="10794806" y="2688472"/>
            <a:ext cx="617491" cy="532319"/>
          </a:xfrm>
          <a:prstGeom prst="hexagon">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0000"/>
              </a:solidFill>
            </a:endParaRPr>
          </a:p>
        </p:txBody>
      </p:sp>
      <p:pic>
        <p:nvPicPr>
          <p:cNvPr id="15" name="Picture 10" descr="Up Your 'Pac-Man' Game by Learning the Different Strategies of ...">
            <a:extLst>
              <a:ext uri="{FF2B5EF4-FFF2-40B4-BE49-F238E27FC236}">
                <a16:creationId xmlns:a16="http://schemas.microsoft.com/office/drawing/2014/main" id="{F843FA16-8099-44A3-5EF1-098669FF069A}"/>
              </a:ext>
            </a:extLst>
          </p:cNvPr>
          <p:cNvPicPr>
            <a:picLocks noChangeAspect="1" noChangeArrowheads="1"/>
          </p:cNvPicPr>
          <p:nvPr/>
        </p:nvPicPr>
        <p:blipFill rotWithShape="1">
          <a:blip r:embed="rId9" cstate="print">
            <a:extLst>
              <a:ext uri="{BEBA8EAE-BF5A-486C-A8C5-ECC9F3942E4B}">
                <a14:imgProps xmlns:a14="http://schemas.microsoft.com/office/drawing/2010/main">
                  <a14:imgLayer r:embed="rId10">
                    <a14:imgEffect>
                      <a14:backgroundRemoval t="10000" b="90000" l="10000" r="90000">
                        <a14:foregroundMark x1="16532" y1="63462" x2="19505" y2="60176"/>
                        <a14:foregroundMark x1="27252" y1="64022" x2="30766" y2="60577"/>
                        <a14:foregroundMark x1="38198" y1="64022" x2="42072" y2="60577"/>
                        <a14:foregroundMark x1="48829" y1="63221" x2="52568" y2="60176"/>
                        <a14:foregroundMark x1="57838" y1="61378" x2="57838" y2="61378"/>
                        <a14:foregroundMark x1="61937" y1="61779" x2="61937" y2="61779"/>
                        <a14:foregroundMark x1="66261" y1="60817" x2="66261" y2="60817"/>
                        <a14:foregroundMark x1="70045" y1="60577" x2="70045" y2="60577"/>
                        <a14:foregroundMark x1="73919" y1="61619" x2="73919" y2="61619"/>
                      </a14:backgroundRemoval>
                    </a14:imgEffect>
                  </a14:imgLayer>
                </a14:imgProps>
              </a:ext>
              <a:ext uri="{28A0092B-C50C-407E-A947-70E740481C1C}">
                <a14:useLocalDpi xmlns:a14="http://schemas.microsoft.com/office/drawing/2010/main" val="0"/>
              </a:ext>
            </a:extLst>
          </a:blip>
          <a:srcRect l="13442" t="47997" r="10001" b="23995"/>
          <a:stretch/>
        </p:blipFill>
        <p:spPr bwMode="auto">
          <a:xfrm flipH="1">
            <a:off x="605380" y="60142"/>
            <a:ext cx="1793051" cy="386350"/>
          </a:xfrm>
          <a:prstGeom prst="rect">
            <a:avLst/>
          </a:prstGeom>
          <a:noFill/>
          <a:effectLst>
            <a:glow rad="12700">
              <a:schemeClr val="tx1"/>
            </a:glow>
          </a:effectLst>
          <a:extLst>
            <a:ext uri="{909E8E84-426E-40DD-AFC4-6F175D3DCCD1}">
              <a14:hiddenFill xmlns:a14="http://schemas.microsoft.com/office/drawing/2010/main">
                <a:solidFill>
                  <a:srgbClr val="FFFFFF"/>
                </a:solidFill>
              </a14:hiddenFill>
            </a:ext>
          </a:extLst>
        </p:spPr>
      </p:pic>
      <p:pic>
        <p:nvPicPr>
          <p:cNvPr id="17" name="Picture 2" descr="Table Cartoon png download - 5000*3585 - Free Transparent Table ...">
            <a:extLst>
              <a:ext uri="{FF2B5EF4-FFF2-40B4-BE49-F238E27FC236}">
                <a16:creationId xmlns:a16="http://schemas.microsoft.com/office/drawing/2014/main" id="{22AA71D9-07F2-871A-E583-4CD20A6CAAD8}"/>
              </a:ext>
            </a:extLst>
          </p:cNvPr>
          <p:cNvPicPr>
            <a:picLocks noChangeAspect="1" noChangeArrowheads="1"/>
          </p:cNvPicPr>
          <p:nvPr/>
        </p:nvPicPr>
        <p:blipFill rotWithShape="1">
          <a:blip r:embed="rId11">
            <a:extLst>
              <a:ext uri="{BEBA8EAE-BF5A-486C-A8C5-ECC9F3942E4B}">
                <a14:imgProps xmlns:a14="http://schemas.microsoft.com/office/drawing/2010/main">
                  <a14:imgLayer r:embed="rId12">
                    <a14:imgEffect>
                      <a14:backgroundRemoval t="1364" b="96667" l="111" r="98778">
                        <a14:foregroundMark x1="46333" y1="27424" x2="52889" y2="25303"/>
                      </a14:backgroundRemoval>
                    </a14:imgEffect>
                  </a14:imgLayer>
                </a14:imgProps>
              </a:ext>
              <a:ext uri="{28A0092B-C50C-407E-A947-70E740481C1C}">
                <a14:useLocalDpi xmlns:a14="http://schemas.microsoft.com/office/drawing/2010/main" val="0"/>
              </a:ext>
            </a:extLst>
          </a:blip>
          <a:srcRect l="4664" b="6675"/>
          <a:stretch/>
        </p:blipFill>
        <p:spPr bwMode="auto">
          <a:xfrm>
            <a:off x="79858" y="3677875"/>
            <a:ext cx="4591871" cy="329634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Batman: Arkham Knight Superman Cat Drawing, superhero ...">
            <a:extLst>
              <a:ext uri="{FF2B5EF4-FFF2-40B4-BE49-F238E27FC236}">
                <a16:creationId xmlns:a16="http://schemas.microsoft.com/office/drawing/2014/main" id="{5FEECDB3-13CD-8140-82A2-2B0ACC88FA73}"/>
              </a:ext>
            </a:extLst>
          </p:cNvPr>
          <p:cNvPicPr>
            <a:picLocks noChangeAspect="1" noChangeArrowheads="1"/>
          </p:cNvPicPr>
          <p:nvPr/>
        </p:nvPicPr>
        <p:blipFill rotWithShape="1">
          <a:blip r:embed="rId13" cstate="print">
            <a:extLst>
              <a:ext uri="{BEBA8EAE-BF5A-486C-A8C5-ECC9F3942E4B}">
                <a14:imgProps xmlns:a14="http://schemas.microsoft.com/office/drawing/2010/main">
                  <a14:imgLayer r:embed="rId14">
                    <a14:imgEffect>
                      <a14:backgroundRemoval t="12952" b="80641" l="24457" r="78587">
                        <a14:foregroundMark x1="44457" y1="31697" x2="49891" y2="32379"/>
                      </a14:backgroundRemoval>
                    </a14:imgEffect>
                  </a14:imgLayer>
                </a14:imgProps>
              </a:ext>
              <a:ext uri="{28A0092B-C50C-407E-A947-70E740481C1C}">
                <a14:useLocalDpi xmlns:a14="http://schemas.microsoft.com/office/drawing/2010/main" val="0"/>
              </a:ext>
            </a:extLst>
          </a:blip>
          <a:srcRect l="23587" t="12270" r="20036" b="18110"/>
          <a:stretch/>
        </p:blipFill>
        <p:spPr bwMode="auto">
          <a:xfrm>
            <a:off x="3637792" y="3520943"/>
            <a:ext cx="698945" cy="137632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descr="Top Kit Cat Clock Stickers for Android &amp; iOS | Gfycat">
            <a:extLst>
              <a:ext uri="{FF2B5EF4-FFF2-40B4-BE49-F238E27FC236}">
                <a16:creationId xmlns:a16="http://schemas.microsoft.com/office/drawing/2014/main" id="{B7F0915A-5AFA-63AC-B70B-43B1FF4F9625}"/>
              </a:ext>
            </a:extLst>
          </p:cNvPr>
          <p:cNvPicPr>
            <a:picLocks noChangeAspect="1" noChangeArrowheads="1" noCrop="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0087020" y="155553"/>
            <a:ext cx="988342" cy="185157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E60ADF5-0B8A-5684-967B-39482B9ED3D8}"/>
              </a:ext>
            </a:extLst>
          </p:cNvPr>
          <p:cNvSpPr>
            <a:spLocks noGrp="1"/>
          </p:cNvSpPr>
          <p:nvPr>
            <p:ph idx="1"/>
          </p:nvPr>
        </p:nvSpPr>
        <p:spPr>
          <a:xfrm>
            <a:off x="3492707" y="155554"/>
            <a:ext cx="6420195" cy="4018094"/>
          </a:xfrm>
        </p:spPr>
        <p:txBody>
          <a:bodyPr>
            <a:normAutofit fontScale="70000" lnSpcReduction="20000"/>
          </a:bodyPr>
          <a:lstStyle/>
          <a:p>
            <a:pPr marL="0" indent="0">
              <a:lnSpc>
                <a:spcPct val="115000"/>
              </a:lnSpc>
              <a:spcAft>
                <a:spcPts val="1000"/>
              </a:spcAft>
              <a:buNone/>
            </a:pPr>
            <a:r>
              <a:rPr lang="en-GB" sz="2600" dirty="0">
                <a:latin typeface="Biome" panose="020B0503030204020804" pitchFamily="34" charset="0"/>
                <a:cs typeface="Biome" panose="020B0503030204020804" pitchFamily="34" charset="0"/>
              </a:rPr>
              <a:t>You</a:t>
            </a:r>
            <a:r>
              <a:rPr lang="en-GB" sz="2600" b="1" dirty="0">
                <a:effectLst/>
                <a:latin typeface="Biome" panose="020B0503030204020804" pitchFamily="34" charset="0"/>
                <a:ea typeface="Calibri" panose="020F0502020204030204" pitchFamily="34" charset="0"/>
                <a:cs typeface="Biome" panose="020B0503030204020804" pitchFamily="34" charset="0"/>
              </a:rPr>
              <a:t> should be able to:</a:t>
            </a:r>
            <a:endParaRPr lang="en-GB" sz="2600" b="1" dirty="0">
              <a:latin typeface="Biome" panose="020B0503030204020804" pitchFamily="34" charset="0"/>
              <a:ea typeface="Calibri" panose="020F0502020204030204" pitchFamily="34" charset="0"/>
              <a:cs typeface="Biome" panose="020B0503030204020804" pitchFamily="34" charset="0"/>
            </a:endParaRPr>
          </a:p>
          <a:p>
            <a:pPr lvl="1">
              <a:lnSpc>
                <a:spcPct val="115000"/>
              </a:lnSpc>
              <a:spcAft>
                <a:spcPts val="1000"/>
              </a:spcAft>
            </a:pPr>
            <a:r>
              <a:rPr lang="en-GB" sz="2600" dirty="0">
                <a:latin typeface="Biome" panose="020B0503030204020804" pitchFamily="34" charset="0"/>
                <a:cs typeface="Biome" panose="020B0503030204020804" pitchFamily="34" charset="0"/>
              </a:rPr>
              <a:t>describe batch processing and real-time processing;</a:t>
            </a:r>
          </a:p>
          <a:p>
            <a:pPr lvl="1">
              <a:lnSpc>
                <a:spcPct val="115000"/>
              </a:lnSpc>
              <a:spcAft>
                <a:spcPts val="1000"/>
              </a:spcAft>
            </a:pPr>
            <a:r>
              <a:rPr lang="en-GB" sz="2600" dirty="0">
                <a:effectLst/>
                <a:latin typeface="Biome" panose="020B0503030204020804" pitchFamily="34" charset="0"/>
                <a:ea typeface="Calibri" panose="020F0502020204030204" pitchFamily="34" charset="0"/>
                <a:cs typeface="Biome" panose="020B0503030204020804" pitchFamily="34" charset="0"/>
              </a:rPr>
              <a:t>evaluate the use of batch processing and real-time processing for common applications;</a:t>
            </a:r>
          </a:p>
          <a:p>
            <a:pPr lvl="1">
              <a:lnSpc>
                <a:spcPct val="115000"/>
              </a:lnSpc>
              <a:spcAft>
                <a:spcPts val="1000"/>
              </a:spcAft>
            </a:pPr>
            <a:r>
              <a:rPr lang="en-GB" sz="2600" dirty="0">
                <a:effectLst/>
                <a:latin typeface="Biome" panose="020B0503030204020804" pitchFamily="34" charset="0"/>
                <a:ea typeface="Calibri" panose="020F0502020204030204" pitchFamily="34" charset="0"/>
                <a:cs typeface="Biome" panose="020B0503030204020804" pitchFamily="34" charset="0"/>
              </a:rPr>
              <a:t>describe the input, output and processing involved in a range of common devices: </a:t>
            </a:r>
          </a:p>
          <a:p>
            <a:pPr lvl="2">
              <a:lnSpc>
                <a:spcPct val="115000"/>
              </a:lnSpc>
              <a:spcAft>
                <a:spcPts val="1000"/>
              </a:spcAft>
            </a:pPr>
            <a:r>
              <a:rPr lang="en-GB" sz="2200" dirty="0">
                <a:effectLst/>
                <a:latin typeface="Biome" panose="020B0503030204020804" pitchFamily="34" charset="0"/>
                <a:ea typeface="Calibri" panose="020F0502020204030204" pitchFamily="34" charset="0"/>
                <a:cs typeface="Biome" panose="020B0503030204020804" pitchFamily="34" charset="0"/>
              </a:rPr>
              <a:t>automatic teller machines (ATMs), </a:t>
            </a:r>
          </a:p>
          <a:p>
            <a:pPr lvl="2">
              <a:lnSpc>
                <a:spcPct val="115000"/>
              </a:lnSpc>
              <a:spcAft>
                <a:spcPts val="1000"/>
              </a:spcAft>
            </a:pPr>
            <a:r>
              <a:rPr lang="en-GB" sz="2200" dirty="0">
                <a:effectLst/>
                <a:latin typeface="Biome" panose="020B0503030204020804" pitchFamily="34" charset="0"/>
                <a:ea typeface="Calibri" panose="020F0502020204030204" pitchFamily="34" charset="0"/>
                <a:cs typeface="Biome" panose="020B0503030204020804" pitchFamily="34" charset="0"/>
              </a:rPr>
              <a:t>point of sale (POS) terminals,</a:t>
            </a:r>
          </a:p>
          <a:p>
            <a:pPr lvl="2">
              <a:lnSpc>
                <a:spcPct val="115000"/>
              </a:lnSpc>
              <a:spcAft>
                <a:spcPts val="1000"/>
              </a:spcAft>
            </a:pPr>
            <a:r>
              <a:rPr lang="en-GB" sz="2200" dirty="0">
                <a:effectLst/>
                <a:latin typeface="Biome" panose="020B0503030204020804" pitchFamily="34" charset="0"/>
                <a:ea typeface="Calibri" panose="020F0502020204030204" pitchFamily="34" charset="0"/>
                <a:cs typeface="Biome" panose="020B0503030204020804" pitchFamily="34" charset="0"/>
              </a:rPr>
              <a:t>smartphones;</a:t>
            </a:r>
          </a:p>
          <a:p>
            <a:endParaRPr lang="en-GB" dirty="0"/>
          </a:p>
        </p:txBody>
      </p:sp>
    </p:spTree>
    <p:extLst>
      <p:ext uri="{BB962C8B-B14F-4D97-AF65-F5344CB8AC3E}">
        <p14:creationId xmlns:p14="http://schemas.microsoft.com/office/powerpoint/2010/main" val="2976031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88000">
              <a:schemeClr val="bg1">
                <a:lumMod val="85000"/>
              </a:schemeClr>
            </a:gs>
            <a:gs pos="11000">
              <a:schemeClr val="bg1">
                <a:lumMod val="85000"/>
              </a:schemeClr>
            </a:gs>
            <a:gs pos="88000">
              <a:schemeClr val="bg1">
                <a:lumMod val="65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28D1A-E144-F9CA-0ACD-2DD27B6EBBA1}"/>
              </a:ext>
            </a:extLst>
          </p:cNvPr>
          <p:cNvSpPr>
            <a:spLocks noGrp="1"/>
          </p:cNvSpPr>
          <p:nvPr>
            <p:ph type="title"/>
          </p:nvPr>
        </p:nvSpPr>
        <p:spPr>
          <a:xfrm>
            <a:off x="0" y="1"/>
            <a:ext cx="10515600" cy="808522"/>
          </a:xfrm>
        </p:spPr>
        <p:txBody>
          <a:bodyPr/>
          <a:lstStyle/>
          <a:p>
            <a:r>
              <a:rPr lang="en-GB" dirty="0"/>
              <a:t>What actually is processing?</a:t>
            </a:r>
          </a:p>
        </p:txBody>
      </p:sp>
      <p:sp>
        <p:nvSpPr>
          <p:cNvPr id="3" name="Content Placeholder 2">
            <a:extLst>
              <a:ext uri="{FF2B5EF4-FFF2-40B4-BE49-F238E27FC236}">
                <a16:creationId xmlns:a16="http://schemas.microsoft.com/office/drawing/2014/main" id="{BA6FA706-485A-9E15-7257-750F862D50A4}"/>
              </a:ext>
            </a:extLst>
          </p:cNvPr>
          <p:cNvSpPr>
            <a:spLocks noGrp="1"/>
          </p:cNvSpPr>
          <p:nvPr>
            <p:ph idx="1"/>
          </p:nvPr>
        </p:nvSpPr>
        <p:spPr>
          <a:xfrm>
            <a:off x="2107932" y="1253331"/>
            <a:ext cx="9837020" cy="4351338"/>
          </a:xfrm>
          <a:custGeom>
            <a:avLst/>
            <a:gdLst>
              <a:gd name="connsiteX0" fmla="*/ 0 w 9837020"/>
              <a:gd name="connsiteY0" fmla="*/ 0 h 4351338"/>
              <a:gd name="connsiteX1" fmla="*/ 459061 w 9837020"/>
              <a:gd name="connsiteY1" fmla="*/ 0 h 4351338"/>
              <a:gd name="connsiteX2" fmla="*/ 1016492 w 9837020"/>
              <a:gd name="connsiteY2" fmla="*/ 0 h 4351338"/>
              <a:gd name="connsiteX3" fmla="*/ 1869034 w 9837020"/>
              <a:gd name="connsiteY3" fmla="*/ 0 h 4351338"/>
              <a:gd name="connsiteX4" fmla="*/ 2229725 w 9837020"/>
              <a:gd name="connsiteY4" fmla="*/ 0 h 4351338"/>
              <a:gd name="connsiteX5" fmla="*/ 2885526 w 9837020"/>
              <a:gd name="connsiteY5" fmla="*/ 0 h 4351338"/>
              <a:gd name="connsiteX6" fmla="*/ 3442957 w 9837020"/>
              <a:gd name="connsiteY6" fmla="*/ 0 h 4351338"/>
              <a:gd name="connsiteX7" fmla="*/ 4197129 w 9837020"/>
              <a:gd name="connsiteY7" fmla="*/ 0 h 4351338"/>
              <a:gd name="connsiteX8" fmla="*/ 4852930 w 9837020"/>
              <a:gd name="connsiteY8" fmla="*/ 0 h 4351338"/>
              <a:gd name="connsiteX9" fmla="*/ 5311991 w 9837020"/>
              <a:gd name="connsiteY9" fmla="*/ 0 h 4351338"/>
              <a:gd name="connsiteX10" fmla="*/ 5672682 w 9837020"/>
              <a:gd name="connsiteY10" fmla="*/ 0 h 4351338"/>
              <a:gd name="connsiteX11" fmla="*/ 6131742 w 9837020"/>
              <a:gd name="connsiteY11" fmla="*/ 0 h 4351338"/>
              <a:gd name="connsiteX12" fmla="*/ 6984284 w 9837020"/>
              <a:gd name="connsiteY12" fmla="*/ 0 h 4351338"/>
              <a:gd name="connsiteX13" fmla="*/ 7541715 w 9837020"/>
              <a:gd name="connsiteY13" fmla="*/ 0 h 4351338"/>
              <a:gd name="connsiteX14" fmla="*/ 8000776 w 9837020"/>
              <a:gd name="connsiteY14" fmla="*/ 0 h 4351338"/>
              <a:gd name="connsiteX15" fmla="*/ 8558207 w 9837020"/>
              <a:gd name="connsiteY15" fmla="*/ 0 h 4351338"/>
              <a:gd name="connsiteX16" fmla="*/ 9115639 w 9837020"/>
              <a:gd name="connsiteY16" fmla="*/ 0 h 4351338"/>
              <a:gd name="connsiteX17" fmla="*/ 9837020 w 9837020"/>
              <a:gd name="connsiteY17" fmla="*/ 0 h 4351338"/>
              <a:gd name="connsiteX18" fmla="*/ 9837020 w 9837020"/>
              <a:gd name="connsiteY18" fmla="*/ 534593 h 4351338"/>
              <a:gd name="connsiteX19" fmla="*/ 9837020 w 9837020"/>
              <a:gd name="connsiteY19" fmla="*/ 1069186 h 4351338"/>
              <a:gd name="connsiteX20" fmla="*/ 9837020 w 9837020"/>
              <a:gd name="connsiteY20" fmla="*/ 1777832 h 4351338"/>
              <a:gd name="connsiteX21" fmla="*/ 9837020 w 9837020"/>
              <a:gd name="connsiteY21" fmla="*/ 2312425 h 4351338"/>
              <a:gd name="connsiteX22" fmla="*/ 9837020 w 9837020"/>
              <a:gd name="connsiteY22" fmla="*/ 2934045 h 4351338"/>
              <a:gd name="connsiteX23" fmla="*/ 9837020 w 9837020"/>
              <a:gd name="connsiteY23" fmla="*/ 3555665 h 4351338"/>
              <a:gd name="connsiteX24" fmla="*/ 9837020 w 9837020"/>
              <a:gd name="connsiteY24" fmla="*/ 4351338 h 4351338"/>
              <a:gd name="connsiteX25" fmla="*/ 9279589 w 9837020"/>
              <a:gd name="connsiteY25" fmla="*/ 4351338 h 4351338"/>
              <a:gd name="connsiteX26" fmla="*/ 8427047 w 9837020"/>
              <a:gd name="connsiteY26" fmla="*/ 4351338 h 4351338"/>
              <a:gd name="connsiteX27" fmla="*/ 7672876 w 9837020"/>
              <a:gd name="connsiteY27" fmla="*/ 4351338 h 4351338"/>
              <a:gd name="connsiteX28" fmla="*/ 7115444 w 9837020"/>
              <a:gd name="connsiteY28" fmla="*/ 4351338 h 4351338"/>
              <a:gd name="connsiteX29" fmla="*/ 6558013 w 9837020"/>
              <a:gd name="connsiteY29" fmla="*/ 4351338 h 4351338"/>
              <a:gd name="connsiteX30" fmla="*/ 6000582 w 9837020"/>
              <a:gd name="connsiteY30" fmla="*/ 4351338 h 4351338"/>
              <a:gd name="connsiteX31" fmla="*/ 5541521 w 9837020"/>
              <a:gd name="connsiteY31" fmla="*/ 4351338 h 4351338"/>
              <a:gd name="connsiteX32" fmla="*/ 4984090 w 9837020"/>
              <a:gd name="connsiteY32" fmla="*/ 4351338 h 4351338"/>
              <a:gd name="connsiteX33" fmla="*/ 4623399 w 9837020"/>
              <a:gd name="connsiteY33" fmla="*/ 4351338 h 4351338"/>
              <a:gd name="connsiteX34" fmla="*/ 3770858 w 9837020"/>
              <a:gd name="connsiteY34" fmla="*/ 4351338 h 4351338"/>
              <a:gd name="connsiteX35" fmla="*/ 3410167 w 9837020"/>
              <a:gd name="connsiteY35" fmla="*/ 4351338 h 4351338"/>
              <a:gd name="connsiteX36" fmla="*/ 2655995 w 9837020"/>
              <a:gd name="connsiteY36" fmla="*/ 4351338 h 4351338"/>
              <a:gd name="connsiteX37" fmla="*/ 2000194 w 9837020"/>
              <a:gd name="connsiteY37" fmla="*/ 4351338 h 4351338"/>
              <a:gd name="connsiteX38" fmla="*/ 1442763 w 9837020"/>
              <a:gd name="connsiteY38" fmla="*/ 4351338 h 4351338"/>
              <a:gd name="connsiteX39" fmla="*/ 1082072 w 9837020"/>
              <a:gd name="connsiteY39" fmla="*/ 4351338 h 4351338"/>
              <a:gd name="connsiteX40" fmla="*/ 0 w 9837020"/>
              <a:gd name="connsiteY40" fmla="*/ 4351338 h 4351338"/>
              <a:gd name="connsiteX41" fmla="*/ 0 w 9837020"/>
              <a:gd name="connsiteY41" fmla="*/ 3816745 h 4351338"/>
              <a:gd name="connsiteX42" fmla="*/ 0 w 9837020"/>
              <a:gd name="connsiteY42" fmla="*/ 3325665 h 4351338"/>
              <a:gd name="connsiteX43" fmla="*/ 0 w 9837020"/>
              <a:gd name="connsiteY43" fmla="*/ 2660532 h 4351338"/>
              <a:gd name="connsiteX44" fmla="*/ 0 w 9837020"/>
              <a:gd name="connsiteY44" fmla="*/ 1951886 h 4351338"/>
              <a:gd name="connsiteX45" fmla="*/ 0 w 9837020"/>
              <a:gd name="connsiteY45" fmla="*/ 1460806 h 4351338"/>
              <a:gd name="connsiteX46" fmla="*/ 0 w 9837020"/>
              <a:gd name="connsiteY46" fmla="*/ 969727 h 4351338"/>
              <a:gd name="connsiteX47" fmla="*/ 0 w 9837020"/>
              <a:gd name="connsiteY47" fmla="*/ 0 h 435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837020" h="4351338" fill="none" extrusionOk="0">
                <a:moveTo>
                  <a:pt x="0" y="0"/>
                </a:moveTo>
                <a:cubicBezTo>
                  <a:pt x="143821" y="-844"/>
                  <a:pt x="280654" y="10759"/>
                  <a:pt x="459061" y="0"/>
                </a:cubicBezTo>
                <a:cubicBezTo>
                  <a:pt x="637468" y="-10759"/>
                  <a:pt x="755551" y="-15585"/>
                  <a:pt x="1016492" y="0"/>
                </a:cubicBezTo>
                <a:cubicBezTo>
                  <a:pt x="1277433" y="15585"/>
                  <a:pt x="1577023" y="-36786"/>
                  <a:pt x="1869034" y="0"/>
                </a:cubicBezTo>
                <a:cubicBezTo>
                  <a:pt x="2161045" y="36786"/>
                  <a:pt x="2157133" y="1384"/>
                  <a:pt x="2229725" y="0"/>
                </a:cubicBezTo>
                <a:cubicBezTo>
                  <a:pt x="2302317" y="-1384"/>
                  <a:pt x="2707892" y="-29082"/>
                  <a:pt x="2885526" y="0"/>
                </a:cubicBezTo>
                <a:cubicBezTo>
                  <a:pt x="3063160" y="29082"/>
                  <a:pt x="3325984" y="-17768"/>
                  <a:pt x="3442957" y="0"/>
                </a:cubicBezTo>
                <a:cubicBezTo>
                  <a:pt x="3559930" y="17768"/>
                  <a:pt x="3975699" y="-25681"/>
                  <a:pt x="4197129" y="0"/>
                </a:cubicBezTo>
                <a:cubicBezTo>
                  <a:pt x="4418559" y="25681"/>
                  <a:pt x="4596330" y="-31264"/>
                  <a:pt x="4852930" y="0"/>
                </a:cubicBezTo>
                <a:cubicBezTo>
                  <a:pt x="5109530" y="31264"/>
                  <a:pt x="5214954" y="15538"/>
                  <a:pt x="5311991" y="0"/>
                </a:cubicBezTo>
                <a:cubicBezTo>
                  <a:pt x="5409028" y="-15538"/>
                  <a:pt x="5520618" y="6394"/>
                  <a:pt x="5672682" y="0"/>
                </a:cubicBezTo>
                <a:cubicBezTo>
                  <a:pt x="5824746" y="-6394"/>
                  <a:pt x="5959949" y="-13640"/>
                  <a:pt x="6131742" y="0"/>
                </a:cubicBezTo>
                <a:cubicBezTo>
                  <a:pt x="6303535" y="13640"/>
                  <a:pt x="6744650" y="-8458"/>
                  <a:pt x="6984284" y="0"/>
                </a:cubicBezTo>
                <a:cubicBezTo>
                  <a:pt x="7223918" y="8458"/>
                  <a:pt x="7349707" y="21208"/>
                  <a:pt x="7541715" y="0"/>
                </a:cubicBezTo>
                <a:cubicBezTo>
                  <a:pt x="7733723" y="-21208"/>
                  <a:pt x="7795345" y="14704"/>
                  <a:pt x="8000776" y="0"/>
                </a:cubicBezTo>
                <a:cubicBezTo>
                  <a:pt x="8206207" y="-14704"/>
                  <a:pt x="8295830" y="-6205"/>
                  <a:pt x="8558207" y="0"/>
                </a:cubicBezTo>
                <a:cubicBezTo>
                  <a:pt x="8820584" y="6205"/>
                  <a:pt x="8993563" y="-2707"/>
                  <a:pt x="9115639" y="0"/>
                </a:cubicBezTo>
                <a:cubicBezTo>
                  <a:pt x="9237715" y="2707"/>
                  <a:pt x="9637721" y="-24660"/>
                  <a:pt x="9837020" y="0"/>
                </a:cubicBezTo>
                <a:cubicBezTo>
                  <a:pt x="9821535" y="231231"/>
                  <a:pt x="9843238" y="307440"/>
                  <a:pt x="9837020" y="534593"/>
                </a:cubicBezTo>
                <a:cubicBezTo>
                  <a:pt x="9830802" y="761746"/>
                  <a:pt x="9819830" y="876608"/>
                  <a:pt x="9837020" y="1069186"/>
                </a:cubicBezTo>
                <a:cubicBezTo>
                  <a:pt x="9854210" y="1261764"/>
                  <a:pt x="9857145" y="1503341"/>
                  <a:pt x="9837020" y="1777832"/>
                </a:cubicBezTo>
                <a:cubicBezTo>
                  <a:pt x="9816895" y="2052323"/>
                  <a:pt x="9824289" y="2203533"/>
                  <a:pt x="9837020" y="2312425"/>
                </a:cubicBezTo>
                <a:cubicBezTo>
                  <a:pt x="9849751" y="2421317"/>
                  <a:pt x="9846902" y="2726757"/>
                  <a:pt x="9837020" y="2934045"/>
                </a:cubicBezTo>
                <a:cubicBezTo>
                  <a:pt x="9827138" y="3141333"/>
                  <a:pt x="9820050" y="3396732"/>
                  <a:pt x="9837020" y="3555665"/>
                </a:cubicBezTo>
                <a:cubicBezTo>
                  <a:pt x="9853990" y="3714598"/>
                  <a:pt x="9813262" y="4124746"/>
                  <a:pt x="9837020" y="4351338"/>
                </a:cubicBezTo>
                <a:cubicBezTo>
                  <a:pt x="9653848" y="4348009"/>
                  <a:pt x="9502437" y="4376572"/>
                  <a:pt x="9279589" y="4351338"/>
                </a:cubicBezTo>
                <a:cubicBezTo>
                  <a:pt x="9056741" y="4326104"/>
                  <a:pt x="8743913" y="4318630"/>
                  <a:pt x="8427047" y="4351338"/>
                </a:cubicBezTo>
                <a:cubicBezTo>
                  <a:pt x="8110181" y="4384046"/>
                  <a:pt x="8026814" y="4343627"/>
                  <a:pt x="7672876" y="4351338"/>
                </a:cubicBezTo>
                <a:cubicBezTo>
                  <a:pt x="7318938" y="4359049"/>
                  <a:pt x="7243646" y="4365608"/>
                  <a:pt x="7115444" y="4351338"/>
                </a:cubicBezTo>
                <a:cubicBezTo>
                  <a:pt x="6987242" y="4337068"/>
                  <a:pt x="6740488" y="4336282"/>
                  <a:pt x="6558013" y="4351338"/>
                </a:cubicBezTo>
                <a:cubicBezTo>
                  <a:pt x="6375538" y="4366394"/>
                  <a:pt x="6189866" y="4363357"/>
                  <a:pt x="6000582" y="4351338"/>
                </a:cubicBezTo>
                <a:cubicBezTo>
                  <a:pt x="5811298" y="4339319"/>
                  <a:pt x="5678326" y="4360750"/>
                  <a:pt x="5541521" y="4351338"/>
                </a:cubicBezTo>
                <a:cubicBezTo>
                  <a:pt x="5404716" y="4341926"/>
                  <a:pt x="5104867" y="4341099"/>
                  <a:pt x="4984090" y="4351338"/>
                </a:cubicBezTo>
                <a:cubicBezTo>
                  <a:pt x="4863313" y="4361577"/>
                  <a:pt x="4735383" y="4350254"/>
                  <a:pt x="4623399" y="4351338"/>
                </a:cubicBezTo>
                <a:cubicBezTo>
                  <a:pt x="4511415" y="4352422"/>
                  <a:pt x="4067011" y="4327466"/>
                  <a:pt x="3770858" y="4351338"/>
                </a:cubicBezTo>
                <a:cubicBezTo>
                  <a:pt x="3474705" y="4375210"/>
                  <a:pt x="3585031" y="4359929"/>
                  <a:pt x="3410167" y="4351338"/>
                </a:cubicBezTo>
                <a:cubicBezTo>
                  <a:pt x="3235303" y="4342747"/>
                  <a:pt x="2946468" y="4316070"/>
                  <a:pt x="2655995" y="4351338"/>
                </a:cubicBezTo>
                <a:cubicBezTo>
                  <a:pt x="2365522" y="4386606"/>
                  <a:pt x="2188818" y="4374676"/>
                  <a:pt x="2000194" y="4351338"/>
                </a:cubicBezTo>
                <a:cubicBezTo>
                  <a:pt x="1811570" y="4328000"/>
                  <a:pt x="1633060" y="4352746"/>
                  <a:pt x="1442763" y="4351338"/>
                </a:cubicBezTo>
                <a:cubicBezTo>
                  <a:pt x="1252466" y="4349930"/>
                  <a:pt x="1243492" y="4351612"/>
                  <a:pt x="1082072" y="4351338"/>
                </a:cubicBezTo>
                <a:cubicBezTo>
                  <a:pt x="920652" y="4351064"/>
                  <a:pt x="376650" y="4387231"/>
                  <a:pt x="0" y="4351338"/>
                </a:cubicBezTo>
                <a:cubicBezTo>
                  <a:pt x="11953" y="4128368"/>
                  <a:pt x="26426" y="4072478"/>
                  <a:pt x="0" y="3816745"/>
                </a:cubicBezTo>
                <a:cubicBezTo>
                  <a:pt x="-26426" y="3561012"/>
                  <a:pt x="19777" y="3544148"/>
                  <a:pt x="0" y="3325665"/>
                </a:cubicBezTo>
                <a:cubicBezTo>
                  <a:pt x="-19777" y="3107182"/>
                  <a:pt x="-22225" y="2879627"/>
                  <a:pt x="0" y="2660532"/>
                </a:cubicBezTo>
                <a:cubicBezTo>
                  <a:pt x="22225" y="2441437"/>
                  <a:pt x="-34962" y="2103164"/>
                  <a:pt x="0" y="1951886"/>
                </a:cubicBezTo>
                <a:cubicBezTo>
                  <a:pt x="34962" y="1800608"/>
                  <a:pt x="-23770" y="1656104"/>
                  <a:pt x="0" y="1460806"/>
                </a:cubicBezTo>
                <a:cubicBezTo>
                  <a:pt x="23770" y="1265508"/>
                  <a:pt x="24434" y="1188053"/>
                  <a:pt x="0" y="969727"/>
                </a:cubicBezTo>
                <a:cubicBezTo>
                  <a:pt x="-24434" y="751401"/>
                  <a:pt x="33956" y="302860"/>
                  <a:pt x="0" y="0"/>
                </a:cubicBezTo>
                <a:close/>
              </a:path>
              <a:path w="9837020" h="4351338" stroke="0" extrusionOk="0">
                <a:moveTo>
                  <a:pt x="0" y="0"/>
                </a:moveTo>
                <a:cubicBezTo>
                  <a:pt x="155363" y="-12899"/>
                  <a:pt x="273144" y="-11488"/>
                  <a:pt x="459061" y="0"/>
                </a:cubicBezTo>
                <a:cubicBezTo>
                  <a:pt x="644978" y="11488"/>
                  <a:pt x="655505" y="1359"/>
                  <a:pt x="819752" y="0"/>
                </a:cubicBezTo>
                <a:cubicBezTo>
                  <a:pt x="983999" y="-1359"/>
                  <a:pt x="1066136" y="15958"/>
                  <a:pt x="1278813" y="0"/>
                </a:cubicBezTo>
                <a:cubicBezTo>
                  <a:pt x="1491490" y="-15958"/>
                  <a:pt x="1717459" y="24462"/>
                  <a:pt x="1836244" y="0"/>
                </a:cubicBezTo>
                <a:cubicBezTo>
                  <a:pt x="1955029" y="-24462"/>
                  <a:pt x="2454281" y="-21416"/>
                  <a:pt x="2688785" y="0"/>
                </a:cubicBezTo>
                <a:cubicBezTo>
                  <a:pt x="2923289" y="21416"/>
                  <a:pt x="3269930" y="13189"/>
                  <a:pt x="3541327" y="0"/>
                </a:cubicBezTo>
                <a:cubicBezTo>
                  <a:pt x="3812724" y="-13189"/>
                  <a:pt x="3831093" y="15479"/>
                  <a:pt x="4098758" y="0"/>
                </a:cubicBezTo>
                <a:cubicBezTo>
                  <a:pt x="4366423" y="-15479"/>
                  <a:pt x="4458613" y="11025"/>
                  <a:pt x="4656189" y="0"/>
                </a:cubicBezTo>
                <a:cubicBezTo>
                  <a:pt x="4853765" y="-11025"/>
                  <a:pt x="5062801" y="7417"/>
                  <a:pt x="5311991" y="0"/>
                </a:cubicBezTo>
                <a:cubicBezTo>
                  <a:pt x="5561181" y="-7417"/>
                  <a:pt x="5570932" y="-2274"/>
                  <a:pt x="5672682" y="0"/>
                </a:cubicBezTo>
                <a:cubicBezTo>
                  <a:pt x="5774432" y="2274"/>
                  <a:pt x="6006662" y="-19488"/>
                  <a:pt x="6230113" y="0"/>
                </a:cubicBezTo>
                <a:cubicBezTo>
                  <a:pt x="6453564" y="19488"/>
                  <a:pt x="6448652" y="6032"/>
                  <a:pt x="6590803" y="0"/>
                </a:cubicBezTo>
                <a:cubicBezTo>
                  <a:pt x="6732954" y="-6032"/>
                  <a:pt x="7085149" y="-537"/>
                  <a:pt x="7443345" y="0"/>
                </a:cubicBezTo>
                <a:cubicBezTo>
                  <a:pt x="7801541" y="537"/>
                  <a:pt x="7686435" y="-13324"/>
                  <a:pt x="7804036" y="0"/>
                </a:cubicBezTo>
                <a:cubicBezTo>
                  <a:pt x="7921637" y="13324"/>
                  <a:pt x="8140154" y="-11737"/>
                  <a:pt x="8263097" y="0"/>
                </a:cubicBezTo>
                <a:cubicBezTo>
                  <a:pt x="8386040" y="11737"/>
                  <a:pt x="8632832" y="-5289"/>
                  <a:pt x="8918898" y="0"/>
                </a:cubicBezTo>
                <a:cubicBezTo>
                  <a:pt x="9204964" y="5289"/>
                  <a:pt x="9459092" y="-44999"/>
                  <a:pt x="9837020" y="0"/>
                </a:cubicBezTo>
                <a:cubicBezTo>
                  <a:pt x="9851589" y="133699"/>
                  <a:pt x="9857784" y="425719"/>
                  <a:pt x="9837020" y="578106"/>
                </a:cubicBezTo>
                <a:cubicBezTo>
                  <a:pt x="9816256" y="730493"/>
                  <a:pt x="9840859" y="1105337"/>
                  <a:pt x="9837020" y="1243239"/>
                </a:cubicBezTo>
                <a:cubicBezTo>
                  <a:pt x="9833181" y="1381141"/>
                  <a:pt x="9813192" y="1572803"/>
                  <a:pt x="9837020" y="1777832"/>
                </a:cubicBezTo>
                <a:cubicBezTo>
                  <a:pt x="9860848" y="1982861"/>
                  <a:pt x="9852301" y="2169661"/>
                  <a:pt x="9837020" y="2486479"/>
                </a:cubicBezTo>
                <a:cubicBezTo>
                  <a:pt x="9821739" y="2803297"/>
                  <a:pt x="9808811" y="2933991"/>
                  <a:pt x="9837020" y="3108099"/>
                </a:cubicBezTo>
                <a:cubicBezTo>
                  <a:pt x="9865229" y="3282207"/>
                  <a:pt x="9863577" y="3416841"/>
                  <a:pt x="9837020" y="3642692"/>
                </a:cubicBezTo>
                <a:cubicBezTo>
                  <a:pt x="9810463" y="3868543"/>
                  <a:pt x="9867278" y="4105462"/>
                  <a:pt x="9837020" y="4351338"/>
                </a:cubicBezTo>
                <a:cubicBezTo>
                  <a:pt x="9564181" y="4329885"/>
                  <a:pt x="9329934" y="4318895"/>
                  <a:pt x="8984478" y="4351338"/>
                </a:cubicBezTo>
                <a:cubicBezTo>
                  <a:pt x="8639022" y="4383781"/>
                  <a:pt x="8736924" y="4359666"/>
                  <a:pt x="8623788" y="4351338"/>
                </a:cubicBezTo>
                <a:cubicBezTo>
                  <a:pt x="8510652" y="4343011"/>
                  <a:pt x="8394821" y="4350939"/>
                  <a:pt x="8263097" y="4351338"/>
                </a:cubicBezTo>
                <a:cubicBezTo>
                  <a:pt x="8131373" y="4351737"/>
                  <a:pt x="7861476" y="4338184"/>
                  <a:pt x="7705666" y="4351338"/>
                </a:cubicBezTo>
                <a:cubicBezTo>
                  <a:pt x="7549856" y="4364492"/>
                  <a:pt x="7121440" y="4355406"/>
                  <a:pt x="6853124" y="4351338"/>
                </a:cubicBezTo>
                <a:cubicBezTo>
                  <a:pt x="6584808" y="4347270"/>
                  <a:pt x="6351794" y="4371911"/>
                  <a:pt x="6098952" y="4351338"/>
                </a:cubicBezTo>
                <a:cubicBezTo>
                  <a:pt x="5846110" y="4330765"/>
                  <a:pt x="5844750" y="4329732"/>
                  <a:pt x="5639891" y="4351338"/>
                </a:cubicBezTo>
                <a:cubicBezTo>
                  <a:pt x="5435032" y="4372944"/>
                  <a:pt x="5336661" y="4336584"/>
                  <a:pt x="5180831" y="4351338"/>
                </a:cubicBezTo>
                <a:cubicBezTo>
                  <a:pt x="5025001" y="4366092"/>
                  <a:pt x="4686662" y="4339672"/>
                  <a:pt x="4525029" y="4351338"/>
                </a:cubicBezTo>
                <a:cubicBezTo>
                  <a:pt x="4363396" y="4363004"/>
                  <a:pt x="3870271" y="4386050"/>
                  <a:pt x="3672487" y="4351338"/>
                </a:cubicBezTo>
                <a:cubicBezTo>
                  <a:pt x="3474703" y="4316626"/>
                  <a:pt x="3010897" y="4344773"/>
                  <a:pt x="2819946" y="4351338"/>
                </a:cubicBezTo>
                <a:cubicBezTo>
                  <a:pt x="2628995" y="4357903"/>
                  <a:pt x="2495087" y="4364184"/>
                  <a:pt x="2360885" y="4351338"/>
                </a:cubicBezTo>
                <a:cubicBezTo>
                  <a:pt x="2226683" y="4338492"/>
                  <a:pt x="2073123" y="4369629"/>
                  <a:pt x="1901824" y="4351338"/>
                </a:cubicBezTo>
                <a:cubicBezTo>
                  <a:pt x="1730525" y="4333047"/>
                  <a:pt x="1297690" y="4383685"/>
                  <a:pt x="1049282" y="4351338"/>
                </a:cubicBezTo>
                <a:cubicBezTo>
                  <a:pt x="800874" y="4318991"/>
                  <a:pt x="406021" y="4365459"/>
                  <a:pt x="0" y="4351338"/>
                </a:cubicBezTo>
                <a:cubicBezTo>
                  <a:pt x="-16739" y="4213054"/>
                  <a:pt x="6611" y="3917366"/>
                  <a:pt x="0" y="3729718"/>
                </a:cubicBezTo>
                <a:cubicBezTo>
                  <a:pt x="-6611" y="3542070"/>
                  <a:pt x="-9529" y="3359116"/>
                  <a:pt x="0" y="3238639"/>
                </a:cubicBezTo>
                <a:cubicBezTo>
                  <a:pt x="9529" y="3118162"/>
                  <a:pt x="24917" y="2809181"/>
                  <a:pt x="0" y="2660532"/>
                </a:cubicBezTo>
                <a:cubicBezTo>
                  <a:pt x="-24917" y="2511883"/>
                  <a:pt x="-7446" y="2334239"/>
                  <a:pt x="0" y="2038913"/>
                </a:cubicBezTo>
                <a:cubicBezTo>
                  <a:pt x="7446" y="1743587"/>
                  <a:pt x="26743" y="1606926"/>
                  <a:pt x="0" y="1460806"/>
                </a:cubicBezTo>
                <a:cubicBezTo>
                  <a:pt x="-26743" y="1314686"/>
                  <a:pt x="22759" y="1017443"/>
                  <a:pt x="0" y="795673"/>
                </a:cubicBezTo>
                <a:cubicBezTo>
                  <a:pt x="-22759" y="573903"/>
                  <a:pt x="-7119" y="237817"/>
                  <a:pt x="0" y="0"/>
                </a:cubicBezTo>
                <a:close/>
              </a:path>
            </a:pathLst>
          </a:custGeom>
          <a:solidFill>
            <a:schemeClr val="tx1"/>
          </a:solidFill>
          <a:ln w="76200">
            <a:solidFill>
              <a:srgbClr val="990000"/>
            </a:solidFill>
            <a:extLst>
              <a:ext uri="{C807C97D-BFC1-408E-A445-0C87EB9F89A2}">
                <ask:lineSketchStyleProps xmlns:ask="http://schemas.microsoft.com/office/drawing/2018/sketchyshapes" sd="140100557">
                  <ask:type>
                    <ask:lineSketchFreehand/>
                  </ask:type>
                </ask:lineSketchStyleProps>
              </a:ext>
            </a:extLst>
          </a:ln>
        </p:spPr>
        <p:txBody>
          <a:bodyPr/>
          <a:lstStyle/>
          <a:p>
            <a:r>
              <a:rPr lang="en-GB" dirty="0">
                <a:solidFill>
                  <a:schemeClr val="bg1"/>
                </a:solidFill>
                <a:latin typeface="Ink Free" panose="03080402000500000000" pitchFamily="66" charset="0"/>
              </a:rPr>
              <a:t>Glossary: Processing is the action or activity that is carried out as part of a computer system. The results from a process will then be passed to other processes, or to an output.</a:t>
            </a:r>
          </a:p>
          <a:p>
            <a:endParaRPr lang="en-GB" dirty="0">
              <a:solidFill>
                <a:schemeClr val="bg1"/>
              </a:solidFill>
              <a:latin typeface="Ink Free" panose="03080402000500000000" pitchFamily="66" charset="0"/>
            </a:endParaRPr>
          </a:p>
          <a:p>
            <a:r>
              <a:rPr lang="en-GB" dirty="0">
                <a:solidFill>
                  <a:schemeClr val="bg1"/>
                </a:solidFill>
                <a:latin typeface="Ink Free" panose="03080402000500000000" pitchFamily="66" charset="0"/>
              </a:rPr>
              <a:t>It is the act of doing something with data to produce an output, and is at the centre of an information system.</a:t>
            </a:r>
          </a:p>
          <a:p>
            <a:endParaRPr lang="en-GB" dirty="0">
              <a:solidFill>
                <a:schemeClr val="bg1"/>
              </a:solidFill>
              <a:latin typeface="Ink Free" panose="03080402000500000000" pitchFamily="66" charset="0"/>
            </a:endParaRPr>
          </a:p>
          <a:p>
            <a:r>
              <a:rPr lang="en-GB" dirty="0">
                <a:solidFill>
                  <a:schemeClr val="bg1"/>
                </a:solidFill>
                <a:latin typeface="Ink Free" panose="03080402000500000000" pitchFamily="66" charset="0"/>
              </a:rPr>
              <a:t>Processing is carried out by a processing unit, such as a CPU or GPU.</a:t>
            </a:r>
          </a:p>
        </p:txBody>
      </p:sp>
      <p:pic>
        <p:nvPicPr>
          <p:cNvPr id="1030" name="Picture 6" descr="Professor Teacher PNG, Clipart, Art, Art Teacher, Boy, Cartoon, Clip Art  Free PNG Download">
            <a:extLst>
              <a:ext uri="{FF2B5EF4-FFF2-40B4-BE49-F238E27FC236}">
                <a16:creationId xmlns:a16="http://schemas.microsoft.com/office/drawing/2014/main" id="{6422A459-9627-20F6-CC61-B09314386802}"/>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8630" b="90548" l="9753" r="89973">
                        <a14:foregroundMark x1="51786" y1="8767" x2="51786" y2="8767"/>
                        <a14:foregroundMark x1="68544" y1="17123" x2="70192" y2="23151"/>
                        <a14:foregroundMark x1="38736" y1="19726" x2="38736" y2="22603"/>
                        <a14:foregroundMark x1="44368" y1="31507" x2="52060" y2="31918"/>
                        <a14:foregroundMark x1="35852" y1="90548" x2="42445" y2="88904"/>
                        <a14:foregroundMark x1="42445" y1="60822" x2="42995" y2="43562"/>
                        <a14:foregroundMark x1="58242" y1="60137" x2="57692" y2="40548"/>
                        <a14:foregroundMark x1="57692" y1="40548" x2="57692" y2="40548"/>
                        <a14:foregroundMark x1="54396" y1="46849" x2="54670" y2="36849"/>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827776" y="3010759"/>
            <a:ext cx="4071490" cy="4280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809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3248319-F0A1-C376-5D78-0C34EC112833}"/>
              </a:ext>
            </a:extLst>
          </p:cNvPr>
          <p:cNvSpPr/>
          <p:nvPr/>
        </p:nvSpPr>
        <p:spPr>
          <a:xfrm>
            <a:off x="105878" y="1325563"/>
            <a:ext cx="11973827" cy="542655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1CA4DC6-DDAC-BC40-09C7-29D4963C78A4}"/>
              </a:ext>
            </a:extLst>
          </p:cNvPr>
          <p:cNvSpPr>
            <a:spLocks noGrp="1"/>
          </p:cNvSpPr>
          <p:nvPr>
            <p:ph type="title"/>
          </p:nvPr>
        </p:nvSpPr>
        <p:spPr>
          <a:xfrm>
            <a:off x="105878" y="105878"/>
            <a:ext cx="11973827" cy="1219685"/>
          </a:xfrm>
          <a:solidFill>
            <a:srgbClr val="F3B81C"/>
          </a:solidFill>
        </p:spPr>
        <p:txBody>
          <a:bodyPr>
            <a:normAutofit/>
          </a:bodyPr>
          <a:lstStyle/>
          <a:p>
            <a:pPr algn="ctr"/>
            <a:r>
              <a:rPr lang="en-GB" sz="4000" dirty="0"/>
              <a:t>There are two types of processing we need to look at:</a:t>
            </a:r>
          </a:p>
        </p:txBody>
      </p:sp>
      <p:sp>
        <p:nvSpPr>
          <p:cNvPr id="3" name="Content Placeholder 2">
            <a:extLst>
              <a:ext uri="{FF2B5EF4-FFF2-40B4-BE49-F238E27FC236}">
                <a16:creationId xmlns:a16="http://schemas.microsoft.com/office/drawing/2014/main" id="{43E79935-A087-517B-1896-A18A00353D23}"/>
              </a:ext>
            </a:extLst>
          </p:cNvPr>
          <p:cNvSpPr>
            <a:spLocks noGrp="1"/>
          </p:cNvSpPr>
          <p:nvPr>
            <p:ph idx="1"/>
          </p:nvPr>
        </p:nvSpPr>
        <p:spPr>
          <a:xfrm>
            <a:off x="1011454" y="1554173"/>
            <a:ext cx="3752273" cy="524451"/>
          </a:xfrm>
        </p:spPr>
        <p:txBody>
          <a:bodyPr/>
          <a:lstStyle/>
          <a:p>
            <a:pPr marL="0" indent="0">
              <a:buNone/>
            </a:pPr>
            <a:r>
              <a:rPr lang="en-GB" dirty="0"/>
              <a:t>Batch Processing</a:t>
            </a:r>
          </a:p>
          <a:p>
            <a:endParaRPr lang="en-GB" dirty="0"/>
          </a:p>
          <a:p>
            <a:endParaRPr lang="en-GB" dirty="0"/>
          </a:p>
        </p:txBody>
      </p:sp>
      <p:sp>
        <p:nvSpPr>
          <p:cNvPr id="4" name="Content Placeholder 2">
            <a:extLst>
              <a:ext uri="{FF2B5EF4-FFF2-40B4-BE49-F238E27FC236}">
                <a16:creationId xmlns:a16="http://schemas.microsoft.com/office/drawing/2014/main" id="{44CAD760-46F3-2D6B-2F2A-5DC5C90872B4}"/>
              </a:ext>
            </a:extLst>
          </p:cNvPr>
          <p:cNvSpPr txBox="1">
            <a:spLocks/>
          </p:cNvSpPr>
          <p:nvPr/>
        </p:nvSpPr>
        <p:spPr>
          <a:xfrm>
            <a:off x="8104471" y="1554173"/>
            <a:ext cx="3752273" cy="5244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Real Time Processing</a:t>
            </a:r>
          </a:p>
        </p:txBody>
      </p:sp>
      <p:sp>
        <p:nvSpPr>
          <p:cNvPr id="5" name="Content Placeholder 2">
            <a:extLst>
              <a:ext uri="{FF2B5EF4-FFF2-40B4-BE49-F238E27FC236}">
                <a16:creationId xmlns:a16="http://schemas.microsoft.com/office/drawing/2014/main" id="{E8F7C85C-B38C-BF14-535D-8CA6E9C67D5B}"/>
              </a:ext>
            </a:extLst>
          </p:cNvPr>
          <p:cNvSpPr txBox="1">
            <a:spLocks/>
          </p:cNvSpPr>
          <p:nvPr/>
        </p:nvSpPr>
        <p:spPr>
          <a:xfrm>
            <a:off x="105875" y="2078625"/>
            <a:ext cx="5047200" cy="467349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t>All the data is collected together before being processed as a single efficient operation.</a:t>
            </a:r>
          </a:p>
          <a:p>
            <a:endParaRPr lang="en-GB" sz="1600" dirty="0"/>
          </a:p>
          <a:p>
            <a:r>
              <a:rPr lang="en-GB" sz="1600" dirty="0"/>
              <a:t>This method is also used when computer users submit individual jobs that are processed together as a batch. A job in this instance refers to a package of work regarded by the computer as a single unit</a:t>
            </a:r>
          </a:p>
          <a:p>
            <a:endParaRPr lang="en-GB" sz="1600" dirty="0"/>
          </a:p>
          <a:p>
            <a:r>
              <a:rPr lang="en-GB" sz="1600" dirty="0"/>
              <a:t>Transactions are grouped until a sufficient quantity is available or until a particular time is reached, as transactions are collected over a period of time</a:t>
            </a:r>
          </a:p>
          <a:p>
            <a:endParaRPr lang="en-GB" sz="1600" dirty="0"/>
          </a:p>
          <a:p>
            <a:r>
              <a:rPr lang="en-GB" sz="1600" dirty="0"/>
              <a:t>All transactions in a batch undergo the same processing, usually taking place during an off peak period (such as at night) with no human intervention being required</a:t>
            </a:r>
          </a:p>
          <a:p>
            <a:endParaRPr lang="en-GB" sz="1600" dirty="0"/>
          </a:p>
          <a:p>
            <a:r>
              <a:rPr lang="en-GB" sz="1600" dirty="0"/>
              <a:t>The output is generated together</a:t>
            </a:r>
          </a:p>
        </p:txBody>
      </p:sp>
      <p:sp>
        <p:nvSpPr>
          <p:cNvPr id="6" name="Content Placeholder 2">
            <a:extLst>
              <a:ext uri="{FF2B5EF4-FFF2-40B4-BE49-F238E27FC236}">
                <a16:creationId xmlns:a16="http://schemas.microsoft.com/office/drawing/2014/main" id="{87964590-FFE6-BB32-CB18-F8578C4C74ED}"/>
              </a:ext>
            </a:extLst>
          </p:cNvPr>
          <p:cNvSpPr txBox="1">
            <a:spLocks/>
          </p:cNvSpPr>
          <p:nvPr/>
        </p:nvSpPr>
        <p:spPr>
          <a:xfrm>
            <a:off x="7170819" y="2078624"/>
            <a:ext cx="4928135" cy="4591683"/>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300" dirty="0"/>
              <a:t>This form of processing can react fast enough to influence behaviour in the outside world. This is because some tasks need to meet real time deadlines regardless of the required computer work.</a:t>
            </a:r>
          </a:p>
          <a:p>
            <a:endParaRPr lang="en-GB" sz="3300" dirty="0"/>
          </a:p>
          <a:p>
            <a:r>
              <a:rPr lang="en-GB" sz="3300" dirty="0"/>
              <a:t>The output information is required immediately, such as a missile guidance system or air traffic control.</a:t>
            </a:r>
          </a:p>
          <a:p>
            <a:endParaRPr lang="en-GB" sz="3300" dirty="0"/>
          </a:p>
          <a:p>
            <a:r>
              <a:rPr lang="en-GB" sz="3300" dirty="0"/>
              <a:t>These systems are fast, but do not process data instantly, as all processing takes some time. They do, however, process data very quickly/immediately.</a:t>
            </a:r>
          </a:p>
          <a:p>
            <a:endParaRPr lang="en-GB" sz="3300" dirty="0"/>
          </a:p>
          <a:p>
            <a:r>
              <a:rPr lang="en-GB" sz="3300" dirty="0"/>
              <a:t>There needs to be redundancy in this type of system – extra hardware that isn’t used regularly but in case there is a surge in demand/increased data to process. This redundant data can also be used if there is some hardware failure.</a:t>
            </a:r>
          </a:p>
        </p:txBody>
      </p:sp>
      <p:pic>
        <p:nvPicPr>
          <p:cNvPr id="2050" name="Picture 2" descr="Liquid Vortex R 13 Euclidean Vector - Vs Png Clipart (#4008607) - PinClipart">
            <a:extLst>
              <a:ext uri="{FF2B5EF4-FFF2-40B4-BE49-F238E27FC236}">
                <a16:creationId xmlns:a16="http://schemas.microsoft.com/office/drawing/2014/main" id="{58567261-BC1F-E199-603B-385CFC71384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247" b="90260" l="8537" r="88415">
                        <a14:foregroundMark x1="76220" y1="3896" x2="73171" y2="8117"/>
                        <a14:foregroundMark x1="8537" y1="88312" x2="8537" y2="88312"/>
                        <a14:foregroundMark x1="39024" y1="90260" x2="39024" y2="90260"/>
                      </a14:backgroundRemoval>
                    </a14:imgEffect>
                  </a14:imgLayer>
                </a14:imgProps>
              </a:ext>
              <a:ext uri="{28A0092B-C50C-407E-A947-70E740481C1C}">
                <a14:useLocalDpi xmlns:a14="http://schemas.microsoft.com/office/drawing/2010/main" val="0"/>
              </a:ext>
            </a:extLst>
          </a:blip>
          <a:srcRect/>
          <a:stretch>
            <a:fillRect/>
          </a:stretch>
        </p:blipFill>
        <p:spPr bwMode="auto">
          <a:xfrm>
            <a:off x="4201652" y="1096953"/>
            <a:ext cx="3300764" cy="6198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5886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7"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1000"/>
                                        <p:tgtEl>
                                          <p:spTgt spid="5">
                                            <p:txEl>
                                              <p:pRg st="0" end="0"/>
                                            </p:txEl>
                                          </p:spTgt>
                                        </p:tgtEl>
                                      </p:cBhvr>
                                    </p:animEffect>
                                    <p:anim calcmode="lin" valueType="num">
                                      <p:cBhvr>
                                        <p:cTn id="14"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7" presetClass="entr" presetSubtype="0" fill="hold" grpId="0"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1000"/>
                                        <p:tgtEl>
                                          <p:spTgt spid="5">
                                            <p:txEl>
                                              <p:pRg st="2" end="2"/>
                                            </p:txEl>
                                          </p:spTgt>
                                        </p:tgtEl>
                                      </p:cBhvr>
                                    </p:animEffect>
                                    <p:anim calcmode="lin" valueType="num">
                                      <p:cBhvr>
                                        <p:cTn id="21"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1000"/>
                                        <p:tgtEl>
                                          <p:spTgt spid="5">
                                            <p:txEl>
                                              <p:pRg st="4" end="4"/>
                                            </p:txEl>
                                          </p:spTgt>
                                        </p:tgtEl>
                                      </p:cBhvr>
                                    </p:animEffect>
                                    <p:anim calcmode="lin" valueType="num">
                                      <p:cBhvr>
                                        <p:cTn id="2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7" presetClass="entr" presetSubtype="0" fill="hold" grpId="0" nodeType="click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fade">
                                      <p:cBhvr>
                                        <p:cTn id="34" dur="1000"/>
                                        <p:tgtEl>
                                          <p:spTgt spid="5">
                                            <p:txEl>
                                              <p:pRg st="6" end="6"/>
                                            </p:txEl>
                                          </p:spTgt>
                                        </p:tgtEl>
                                      </p:cBhvr>
                                    </p:animEffect>
                                    <p:anim calcmode="lin" valueType="num">
                                      <p:cBhvr>
                                        <p:cTn id="35"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7" presetClass="entr" presetSubtype="0" fill="hold" grpId="0" nodeType="clickEffect">
                                  <p:stCondLst>
                                    <p:cond delay="0"/>
                                  </p:stCondLst>
                                  <p:childTnLst>
                                    <p:set>
                                      <p:cBhvr>
                                        <p:cTn id="40" dur="1" fill="hold">
                                          <p:stCondLst>
                                            <p:cond delay="0"/>
                                          </p:stCondLst>
                                        </p:cTn>
                                        <p:tgtEl>
                                          <p:spTgt spid="5">
                                            <p:txEl>
                                              <p:pRg st="8" end="8"/>
                                            </p:txEl>
                                          </p:spTgt>
                                        </p:tgtEl>
                                        <p:attrNameLst>
                                          <p:attrName>style.visibility</p:attrName>
                                        </p:attrNameLst>
                                      </p:cBhvr>
                                      <p:to>
                                        <p:strVal val="visible"/>
                                      </p:to>
                                    </p:set>
                                    <p:animEffect transition="in" filter="fade">
                                      <p:cBhvr>
                                        <p:cTn id="41" dur="1000"/>
                                        <p:tgtEl>
                                          <p:spTgt spid="5">
                                            <p:txEl>
                                              <p:pRg st="8" end="8"/>
                                            </p:txEl>
                                          </p:spTgt>
                                        </p:tgtEl>
                                      </p:cBhvr>
                                    </p:animEffect>
                                    <p:anim calcmode="lin" valueType="num">
                                      <p:cBhvr>
                                        <p:cTn id="42"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43"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additive="base">
                                        <p:cTn id="48" dur="500" fill="hold"/>
                                        <p:tgtEl>
                                          <p:spTgt spid="4"/>
                                        </p:tgtEl>
                                        <p:attrNameLst>
                                          <p:attrName>ppt_x</p:attrName>
                                        </p:attrNameLst>
                                      </p:cBhvr>
                                      <p:tavLst>
                                        <p:tav tm="0">
                                          <p:val>
                                            <p:strVal val="#ppt_x"/>
                                          </p:val>
                                        </p:tav>
                                        <p:tav tm="100000">
                                          <p:val>
                                            <p:strVal val="#ppt_x"/>
                                          </p:val>
                                        </p:tav>
                                      </p:tavLst>
                                    </p:anim>
                                    <p:anim calcmode="lin" valueType="num">
                                      <p:cBhvr additive="base">
                                        <p:cTn id="4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7" presetClass="entr" presetSubtype="0" fill="hold" grpId="0" nodeType="clickEffect">
                                  <p:stCondLst>
                                    <p:cond delay="0"/>
                                  </p:stCondLst>
                                  <p:childTnLst>
                                    <p:set>
                                      <p:cBhvr>
                                        <p:cTn id="53" dur="1" fill="hold">
                                          <p:stCondLst>
                                            <p:cond delay="0"/>
                                          </p:stCondLst>
                                        </p:cTn>
                                        <p:tgtEl>
                                          <p:spTgt spid="6">
                                            <p:txEl>
                                              <p:pRg st="0" end="0"/>
                                            </p:txEl>
                                          </p:spTgt>
                                        </p:tgtEl>
                                        <p:attrNameLst>
                                          <p:attrName>style.visibility</p:attrName>
                                        </p:attrNameLst>
                                      </p:cBhvr>
                                      <p:to>
                                        <p:strVal val="visible"/>
                                      </p:to>
                                    </p:set>
                                    <p:animEffect transition="in" filter="fade">
                                      <p:cBhvr>
                                        <p:cTn id="54" dur="1000"/>
                                        <p:tgtEl>
                                          <p:spTgt spid="6">
                                            <p:txEl>
                                              <p:pRg st="0" end="0"/>
                                            </p:txEl>
                                          </p:spTgt>
                                        </p:tgtEl>
                                      </p:cBhvr>
                                    </p:animEffect>
                                    <p:anim calcmode="lin" valueType="num">
                                      <p:cBhvr>
                                        <p:cTn id="5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5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7" presetClass="entr" presetSubtype="0" fill="hold" grpId="0" nodeType="clickEffect">
                                  <p:stCondLst>
                                    <p:cond delay="0"/>
                                  </p:stCondLst>
                                  <p:childTnLst>
                                    <p:set>
                                      <p:cBhvr>
                                        <p:cTn id="60" dur="1" fill="hold">
                                          <p:stCondLst>
                                            <p:cond delay="0"/>
                                          </p:stCondLst>
                                        </p:cTn>
                                        <p:tgtEl>
                                          <p:spTgt spid="6">
                                            <p:txEl>
                                              <p:pRg st="2" end="2"/>
                                            </p:txEl>
                                          </p:spTgt>
                                        </p:tgtEl>
                                        <p:attrNameLst>
                                          <p:attrName>style.visibility</p:attrName>
                                        </p:attrNameLst>
                                      </p:cBhvr>
                                      <p:to>
                                        <p:strVal val="visible"/>
                                      </p:to>
                                    </p:set>
                                    <p:animEffect transition="in" filter="fade">
                                      <p:cBhvr>
                                        <p:cTn id="61" dur="1000"/>
                                        <p:tgtEl>
                                          <p:spTgt spid="6">
                                            <p:txEl>
                                              <p:pRg st="2" end="2"/>
                                            </p:txEl>
                                          </p:spTgt>
                                        </p:tgtEl>
                                      </p:cBhvr>
                                    </p:animEffect>
                                    <p:anim calcmode="lin" valueType="num">
                                      <p:cBhvr>
                                        <p:cTn id="6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6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7" presetClass="entr" presetSubtype="0" fill="hold" grpId="0" nodeType="clickEffect">
                                  <p:stCondLst>
                                    <p:cond delay="0"/>
                                  </p:stCondLst>
                                  <p:childTnLst>
                                    <p:set>
                                      <p:cBhvr>
                                        <p:cTn id="67" dur="1" fill="hold">
                                          <p:stCondLst>
                                            <p:cond delay="0"/>
                                          </p:stCondLst>
                                        </p:cTn>
                                        <p:tgtEl>
                                          <p:spTgt spid="6">
                                            <p:txEl>
                                              <p:pRg st="4" end="4"/>
                                            </p:txEl>
                                          </p:spTgt>
                                        </p:tgtEl>
                                        <p:attrNameLst>
                                          <p:attrName>style.visibility</p:attrName>
                                        </p:attrNameLst>
                                      </p:cBhvr>
                                      <p:to>
                                        <p:strVal val="visible"/>
                                      </p:to>
                                    </p:set>
                                    <p:animEffect transition="in" filter="fade">
                                      <p:cBhvr>
                                        <p:cTn id="68" dur="1000"/>
                                        <p:tgtEl>
                                          <p:spTgt spid="6">
                                            <p:txEl>
                                              <p:pRg st="4" end="4"/>
                                            </p:txEl>
                                          </p:spTgt>
                                        </p:tgtEl>
                                      </p:cBhvr>
                                    </p:animEffect>
                                    <p:anim calcmode="lin" valueType="num">
                                      <p:cBhvr>
                                        <p:cTn id="69"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70"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7" presetClass="entr" presetSubtype="0" fill="hold" grpId="0" nodeType="clickEffect">
                                  <p:stCondLst>
                                    <p:cond delay="0"/>
                                  </p:stCondLst>
                                  <p:childTnLst>
                                    <p:set>
                                      <p:cBhvr>
                                        <p:cTn id="74" dur="1" fill="hold">
                                          <p:stCondLst>
                                            <p:cond delay="0"/>
                                          </p:stCondLst>
                                        </p:cTn>
                                        <p:tgtEl>
                                          <p:spTgt spid="6">
                                            <p:txEl>
                                              <p:pRg st="6" end="6"/>
                                            </p:txEl>
                                          </p:spTgt>
                                        </p:tgtEl>
                                        <p:attrNameLst>
                                          <p:attrName>style.visibility</p:attrName>
                                        </p:attrNameLst>
                                      </p:cBhvr>
                                      <p:to>
                                        <p:strVal val="visible"/>
                                      </p:to>
                                    </p:set>
                                    <p:animEffect transition="in" filter="fade">
                                      <p:cBhvr>
                                        <p:cTn id="75" dur="1000"/>
                                        <p:tgtEl>
                                          <p:spTgt spid="6">
                                            <p:txEl>
                                              <p:pRg st="6" end="6"/>
                                            </p:txEl>
                                          </p:spTgt>
                                        </p:tgtEl>
                                      </p:cBhvr>
                                    </p:animEffect>
                                    <p:anim calcmode="lin" valueType="num">
                                      <p:cBhvr>
                                        <p:cTn id="76"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77"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uiExpand="1" build="p"/>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75000"/>
              </a:schemeClr>
            </a:gs>
            <a:gs pos="48000">
              <a:schemeClr val="bg1">
                <a:lumMod val="85000"/>
              </a:schemeClr>
            </a:gs>
            <a:gs pos="48000">
              <a:schemeClr val="bg1">
                <a:lumMod val="65000"/>
              </a:schemeClr>
            </a:gs>
          </a:gsLst>
          <a:lin ang="1800000" scaled="0"/>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633F339-E0DB-176E-46AD-B6BBA033DC32}"/>
              </a:ext>
            </a:extLst>
          </p:cNvPr>
          <p:cNvGrpSpPr/>
          <p:nvPr/>
        </p:nvGrpSpPr>
        <p:grpSpPr>
          <a:xfrm>
            <a:off x="340894" y="1690688"/>
            <a:ext cx="5245769" cy="563228"/>
            <a:chOff x="0" y="1690688"/>
            <a:chExt cx="5245769" cy="563228"/>
          </a:xfrm>
          <a:effectLst>
            <a:outerShdw blurRad="50800" dist="38100" dir="2700000" algn="tl" rotWithShape="0">
              <a:prstClr val="black">
                <a:alpha val="40000"/>
              </a:prstClr>
            </a:outerShdw>
          </a:effectLst>
        </p:grpSpPr>
        <p:grpSp>
          <p:nvGrpSpPr>
            <p:cNvPr id="7" name="Group 6">
              <a:extLst>
                <a:ext uri="{FF2B5EF4-FFF2-40B4-BE49-F238E27FC236}">
                  <a16:creationId xmlns:a16="http://schemas.microsoft.com/office/drawing/2014/main" id="{859183A1-DE06-F78A-411F-8DC578666476}"/>
                </a:ext>
              </a:extLst>
            </p:cNvPr>
            <p:cNvGrpSpPr/>
            <p:nvPr/>
          </p:nvGrpSpPr>
          <p:grpSpPr>
            <a:xfrm>
              <a:off x="0" y="1690688"/>
              <a:ext cx="5245769" cy="563228"/>
              <a:chOff x="0" y="1690688"/>
              <a:chExt cx="5245769" cy="563228"/>
            </a:xfrm>
          </p:grpSpPr>
          <p:sp>
            <p:nvSpPr>
              <p:cNvPr id="5" name="Rectangle 4">
                <a:extLst>
                  <a:ext uri="{FF2B5EF4-FFF2-40B4-BE49-F238E27FC236}">
                    <a16:creationId xmlns:a16="http://schemas.microsoft.com/office/drawing/2014/main" id="{F546B9F9-B16C-D75A-0851-06DBFD4D9882}"/>
                  </a:ext>
                </a:extLst>
              </p:cNvPr>
              <p:cNvSpPr/>
              <p:nvPr/>
            </p:nvSpPr>
            <p:spPr>
              <a:xfrm>
                <a:off x="0" y="1690688"/>
                <a:ext cx="4563979" cy="563228"/>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Advantages</a:t>
                </a:r>
              </a:p>
            </p:txBody>
          </p:sp>
          <p:sp>
            <p:nvSpPr>
              <p:cNvPr id="6" name="Arrow: Chevron 5">
                <a:extLst>
                  <a:ext uri="{FF2B5EF4-FFF2-40B4-BE49-F238E27FC236}">
                    <a16:creationId xmlns:a16="http://schemas.microsoft.com/office/drawing/2014/main" id="{74C7253C-A225-7B6A-5797-353A5675E962}"/>
                  </a:ext>
                </a:extLst>
              </p:cNvPr>
              <p:cNvSpPr/>
              <p:nvPr/>
            </p:nvSpPr>
            <p:spPr>
              <a:xfrm>
                <a:off x="4746459" y="1690688"/>
                <a:ext cx="499310" cy="563228"/>
              </a:xfrm>
              <a:prstGeom prst="chevron">
                <a:avLst>
                  <a:gd name="adj" fmla="val 50000"/>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sp>
          <p:nvSpPr>
            <p:cNvPr id="8" name="Arrow: Pentagon 7">
              <a:extLst>
                <a:ext uri="{FF2B5EF4-FFF2-40B4-BE49-F238E27FC236}">
                  <a16:creationId xmlns:a16="http://schemas.microsoft.com/office/drawing/2014/main" id="{CA0DFF90-1D4E-518B-ED41-B1CA62220474}"/>
                </a:ext>
              </a:extLst>
            </p:cNvPr>
            <p:cNvSpPr/>
            <p:nvPr/>
          </p:nvSpPr>
          <p:spPr>
            <a:xfrm>
              <a:off x="3858126" y="1690688"/>
              <a:ext cx="1024690" cy="563228"/>
            </a:xfrm>
            <a:prstGeom prst="homePlate">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itle 1">
            <a:extLst>
              <a:ext uri="{FF2B5EF4-FFF2-40B4-BE49-F238E27FC236}">
                <a16:creationId xmlns:a16="http://schemas.microsoft.com/office/drawing/2014/main" id="{9F79570C-B911-7A4A-CCE4-C75E0487B429}"/>
              </a:ext>
            </a:extLst>
          </p:cNvPr>
          <p:cNvSpPr>
            <a:spLocks noGrp="1"/>
          </p:cNvSpPr>
          <p:nvPr>
            <p:ph type="title"/>
          </p:nvPr>
        </p:nvSpPr>
        <p:spPr/>
        <p:txBody>
          <a:bodyPr/>
          <a:lstStyle/>
          <a:p>
            <a:r>
              <a:rPr lang="en-GB" dirty="0"/>
              <a:t>Benefits and Drawbacks of Batch Processing</a:t>
            </a:r>
          </a:p>
        </p:txBody>
      </p:sp>
      <p:sp>
        <p:nvSpPr>
          <p:cNvPr id="3" name="Content Placeholder 2">
            <a:extLst>
              <a:ext uri="{FF2B5EF4-FFF2-40B4-BE49-F238E27FC236}">
                <a16:creationId xmlns:a16="http://schemas.microsoft.com/office/drawing/2014/main" id="{64525AA6-E309-31AD-38D4-5A8DB321E3F4}"/>
              </a:ext>
            </a:extLst>
          </p:cNvPr>
          <p:cNvSpPr>
            <a:spLocks noGrp="1"/>
          </p:cNvSpPr>
          <p:nvPr>
            <p:ph idx="1"/>
          </p:nvPr>
        </p:nvSpPr>
        <p:spPr>
          <a:xfrm>
            <a:off x="340894" y="2422358"/>
            <a:ext cx="4746459" cy="3753853"/>
          </a:xfrm>
          <a:solidFill>
            <a:schemeClr val="bg1">
              <a:lumMod val="85000"/>
            </a:schemeClr>
          </a:solidFill>
          <a:effectLst>
            <a:outerShdw blurRad="50800" dist="38100" dir="2700000" algn="tl" rotWithShape="0">
              <a:prstClr val="black">
                <a:alpha val="40000"/>
              </a:prstClr>
            </a:outerShdw>
          </a:effectLst>
        </p:spPr>
        <p:txBody>
          <a:bodyPr>
            <a:normAutofit fontScale="77500" lnSpcReduction="20000"/>
          </a:bodyPr>
          <a:lstStyle/>
          <a:p>
            <a:pPr marL="342900" lvl="0" indent="-342900" algn="just">
              <a:lnSpc>
                <a:spcPct val="115000"/>
              </a:lnSpc>
              <a:spcAft>
                <a:spcPts val="1000"/>
              </a:spcAft>
              <a:buFont typeface="Symbol" panose="05050102010706020507" pitchFamily="18" charset="2"/>
              <a:buChar char=""/>
              <a:tabLst>
                <a:tab pos="228600" algn="l"/>
              </a:tabLst>
            </a:pPr>
            <a:r>
              <a:rPr lang="en-GB" sz="21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Useful for high volumes </a:t>
            </a:r>
            <a:r>
              <a:rPr lang="en-GB" sz="2100" dirty="0">
                <a:effectLst/>
                <a:latin typeface="Calibri" panose="020F0502020204030204" pitchFamily="34" charset="0"/>
                <a:ea typeface="Calibri" panose="020F0502020204030204" pitchFamily="34" charset="0"/>
                <a:cs typeface="Times New Roman" panose="02020603050405020304" pitchFamily="18" charset="0"/>
              </a:rPr>
              <a:t>of applications which require the same processing to be done on every transaction (where immediate response is not essential). </a:t>
            </a:r>
          </a:p>
          <a:p>
            <a:pPr marL="342900" lvl="0" indent="-342900" algn="just">
              <a:lnSpc>
                <a:spcPct val="115000"/>
              </a:lnSpc>
              <a:spcAft>
                <a:spcPts val="1000"/>
              </a:spcAft>
              <a:buFont typeface="Symbol" panose="05050102010706020507" pitchFamily="18" charset="2"/>
              <a:buChar char=""/>
              <a:tabLst>
                <a:tab pos="228600" algn="l"/>
              </a:tabLst>
            </a:pPr>
            <a:r>
              <a:rPr lang="en-GB" sz="2100" dirty="0">
                <a:effectLst/>
                <a:latin typeface="Calibri" panose="020F0502020204030204" pitchFamily="34" charset="0"/>
                <a:ea typeface="Calibri" panose="020F0502020204030204" pitchFamily="34" charset="0"/>
                <a:cs typeface="Times New Roman" panose="02020603050405020304" pitchFamily="18" charset="0"/>
              </a:rPr>
              <a:t>Can be </a:t>
            </a:r>
            <a:r>
              <a:rPr lang="en-GB" sz="21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done at off peak times </a:t>
            </a:r>
            <a:r>
              <a:rPr lang="en-GB" sz="2100" dirty="0">
                <a:effectLst/>
                <a:latin typeface="Calibri" panose="020F0502020204030204" pitchFamily="34" charset="0"/>
                <a:ea typeface="Calibri" panose="020F0502020204030204" pitchFamily="34" charset="0"/>
                <a:cs typeface="Times New Roman" panose="02020603050405020304" pitchFamily="18" charset="0"/>
              </a:rPr>
              <a:t>as human intervention is not essential. e.g. overnight. </a:t>
            </a:r>
          </a:p>
          <a:p>
            <a:pPr marL="800100" lvl="1" indent="-342900" algn="just">
              <a:lnSpc>
                <a:spcPct val="115000"/>
              </a:lnSpc>
              <a:spcAft>
                <a:spcPts val="1000"/>
              </a:spcAft>
              <a:buFont typeface="Symbol" panose="05050102010706020507" pitchFamily="18" charset="2"/>
              <a:buChar char=""/>
              <a:tabLst>
                <a:tab pos="228600" algn="l"/>
              </a:tabLst>
            </a:pPr>
            <a:r>
              <a:rPr lang="en-GB" sz="2100" dirty="0">
                <a:effectLst/>
                <a:latin typeface="Calibri" panose="020F0502020204030204" pitchFamily="34" charset="0"/>
                <a:ea typeface="Calibri" panose="020F0502020204030204" pitchFamily="34" charset="0"/>
                <a:cs typeface="Times New Roman" panose="02020603050405020304" pitchFamily="18" charset="0"/>
              </a:rPr>
              <a:t>By doing this a company can get more work out of the computer hardware it owns.</a:t>
            </a:r>
          </a:p>
          <a:p>
            <a:pPr marL="342900" lvl="0" indent="-342900" algn="just">
              <a:lnSpc>
                <a:spcPct val="115000"/>
              </a:lnSpc>
              <a:spcAft>
                <a:spcPts val="1000"/>
              </a:spcAft>
              <a:buFont typeface="Symbol" panose="05050102010706020507" pitchFamily="18" charset="2"/>
              <a:buChar char=""/>
              <a:tabLst>
                <a:tab pos="228600" algn="l"/>
              </a:tabLst>
            </a:pPr>
            <a:r>
              <a:rPr lang="en-GB" sz="2100" dirty="0">
                <a:effectLst/>
                <a:latin typeface="Calibri" panose="020F0502020204030204" pitchFamily="34" charset="0"/>
                <a:ea typeface="Calibri" panose="020F0502020204030204" pitchFamily="34" charset="0"/>
                <a:cs typeface="Times New Roman" panose="02020603050405020304" pitchFamily="18" charset="0"/>
              </a:rPr>
              <a:t>a </a:t>
            </a:r>
            <a:r>
              <a:rPr lang="en-GB" sz="21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batch processing system can often be cheaper</a:t>
            </a:r>
            <a:r>
              <a:rPr lang="en-GB" sz="2100" dirty="0">
                <a:effectLst/>
                <a:latin typeface="Calibri" panose="020F0502020204030204" pitchFamily="34" charset="0"/>
                <a:ea typeface="Calibri" panose="020F0502020204030204" pitchFamily="34" charset="0"/>
                <a:cs typeface="Times New Roman" panose="02020603050405020304" pitchFamily="18" charset="0"/>
              </a:rPr>
              <a:t> than that required to implement a real-time system to do the same job.</a:t>
            </a:r>
          </a:p>
          <a:p>
            <a:pPr algn="just"/>
            <a:endParaRPr lang="en-GB" dirty="0"/>
          </a:p>
        </p:txBody>
      </p:sp>
      <p:grpSp>
        <p:nvGrpSpPr>
          <p:cNvPr id="10" name="Group 9">
            <a:extLst>
              <a:ext uri="{FF2B5EF4-FFF2-40B4-BE49-F238E27FC236}">
                <a16:creationId xmlns:a16="http://schemas.microsoft.com/office/drawing/2014/main" id="{5A5BD24F-02AD-6199-6BC3-DF4F751B5380}"/>
              </a:ext>
            </a:extLst>
          </p:cNvPr>
          <p:cNvGrpSpPr/>
          <p:nvPr/>
        </p:nvGrpSpPr>
        <p:grpSpPr>
          <a:xfrm>
            <a:off x="6254413" y="1690688"/>
            <a:ext cx="5245769" cy="563228"/>
            <a:chOff x="0" y="1690688"/>
            <a:chExt cx="5245769" cy="563228"/>
          </a:xfrm>
          <a:solidFill>
            <a:srgbClr val="FF0000"/>
          </a:solidFill>
          <a:effectLst>
            <a:outerShdw blurRad="50800" dist="38100" dir="2700000" algn="tl" rotWithShape="0">
              <a:prstClr val="black">
                <a:alpha val="40000"/>
              </a:prstClr>
            </a:outerShdw>
          </a:effectLst>
        </p:grpSpPr>
        <p:grpSp>
          <p:nvGrpSpPr>
            <p:cNvPr id="11" name="Group 10">
              <a:extLst>
                <a:ext uri="{FF2B5EF4-FFF2-40B4-BE49-F238E27FC236}">
                  <a16:creationId xmlns:a16="http://schemas.microsoft.com/office/drawing/2014/main" id="{EE365065-5555-A8A5-32D8-B41869FF4610}"/>
                </a:ext>
              </a:extLst>
            </p:cNvPr>
            <p:cNvGrpSpPr/>
            <p:nvPr/>
          </p:nvGrpSpPr>
          <p:grpSpPr>
            <a:xfrm>
              <a:off x="0" y="1690688"/>
              <a:ext cx="5245769" cy="563228"/>
              <a:chOff x="0" y="1690688"/>
              <a:chExt cx="5245769" cy="563228"/>
            </a:xfrm>
            <a:grpFill/>
          </p:grpSpPr>
          <p:sp>
            <p:nvSpPr>
              <p:cNvPr id="13" name="Rectangle 12">
                <a:extLst>
                  <a:ext uri="{FF2B5EF4-FFF2-40B4-BE49-F238E27FC236}">
                    <a16:creationId xmlns:a16="http://schemas.microsoft.com/office/drawing/2014/main" id="{CD782559-3AA9-F905-E9D7-2A84F337D5B4}"/>
                  </a:ext>
                </a:extLst>
              </p:cNvPr>
              <p:cNvSpPr/>
              <p:nvPr/>
            </p:nvSpPr>
            <p:spPr>
              <a:xfrm>
                <a:off x="0" y="1690688"/>
                <a:ext cx="4563979" cy="563228"/>
              </a:xfrm>
              <a:prstGeom prst="rect">
                <a:avLst/>
              </a:prstGeom>
              <a:grp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Disadvantages</a:t>
                </a:r>
              </a:p>
            </p:txBody>
          </p:sp>
          <p:sp>
            <p:nvSpPr>
              <p:cNvPr id="14" name="Arrow: Chevron 13">
                <a:extLst>
                  <a:ext uri="{FF2B5EF4-FFF2-40B4-BE49-F238E27FC236}">
                    <a16:creationId xmlns:a16="http://schemas.microsoft.com/office/drawing/2014/main" id="{B62C0170-70C5-42EB-D5AD-2B0661475618}"/>
                  </a:ext>
                </a:extLst>
              </p:cNvPr>
              <p:cNvSpPr/>
              <p:nvPr/>
            </p:nvSpPr>
            <p:spPr>
              <a:xfrm>
                <a:off x="4746459" y="1690688"/>
                <a:ext cx="499310" cy="563228"/>
              </a:xfrm>
              <a:prstGeom prst="chevron">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sp>
          <p:nvSpPr>
            <p:cNvPr id="12" name="Arrow: Pentagon 11">
              <a:extLst>
                <a:ext uri="{FF2B5EF4-FFF2-40B4-BE49-F238E27FC236}">
                  <a16:creationId xmlns:a16="http://schemas.microsoft.com/office/drawing/2014/main" id="{64BA588F-0953-5FCE-7C6D-815BF3CA5BB9}"/>
                </a:ext>
              </a:extLst>
            </p:cNvPr>
            <p:cNvSpPr/>
            <p:nvPr/>
          </p:nvSpPr>
          <p:spPr>
            <a:xfrm>
              <a:off x="3858126" y="1690688"/>
              <a:ext cx="1024690" cy="563228"/>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5" name="Rectangle 14">
            <a:extLst>
              <a:ext uri="{FF2B5EF4-FFF2-40B4-BE49-F238E27FC236}">
                <a16:creationId xmlns:a16="http://schemas.microsoft.com/office/drawing/2014/main" id="{C4D2CA85-A7F9-FD14-F226-A2DC9CCD39B4}"/>
              </a:ext>
            </a:extLst>
          </p:cNvPr>
          <p:cNvSpPr/>
          <p:nvPr/>
        </p:nvSpPr>
        <p:spPr>
          <a:xfrm>
            <a:off x="5175316" y="2422358"/>
            <a:ext cx="172380" cy="3753853"/>
          </a:xfrm>
          <a:prstGeom prst="rect">
            <a:avLst/>
          </a:prstGeom>
          <a:solidFill>
            <a:srgbClr val="70AD4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7" name="Group 16">
            <a:extLst>
              <a:ext uri="{FF2B5EF4-FFF2-40B4-BE49-F238E27FC236}">
                <a16:creationId xmlns:a16="http://schemas.microsoft.com/office/drawing/2014/main" id="{015DD855-A3BB-668A-DC14-91C7CA4CBF06}"/>
              </a:ext>
            </a:extLst>
          </p:cNvPr>
          <p:cNvGrpSpPr/>
          <p:nvPr/>
        </p:nvGrpSpPr>
        <p:grpSpPr>
          <a:xfrm>
            <a:off x="6254413" y="2422357"/>
            <a:ext cx="4969006" cy="3753854"/>
            <a:chOff x="6254413" y="2422357"/>
            <a:chExt cx="4969006" cy="3753854"/>
          </a:xfrm>
          <a:effectLst>
            <a:outerShdw blurRad="50800" dist="38100" dir="2700000" algn="tl" rotWithShape="0">
              <a:prstClr val="black">
                <a:alpha val="40000"/>
              </a:prstClr>
            </a:outerShdw>
          </a:effectLst>
        </p:grpSpPr>
        <p:sp>
          <p:nvSpPr>
            <p:cNvPr id="4" name="Content Placeholder 2">
              <a:extLst>
                <a:ext uri="{FF2B5EF4-FFF2-40B4-BE49-F238E27FC236}">
                  <a16:creationId xmlns:a16="http://schemas.microsoft.com/office/drawing/2014/main" id="{79FDD7F2-9EAD-7A4E-1441-780970E5744C}"/>
                </a:ext>
              </a:extLst>
            </p:cNvPr>
            <p:cNvSpPr txBox="1">
              <a:spLocks/>
            </p:cNvSpPr>
            <p:nvPr/>
          </p:nvSpPr>
          <p:spPr>
            <a:xfrm>
              <a:off x="6254413" y="2422358"/>
              <a:ext cx="4746459" cy="3753853"/>
            </a:xfrm>
            <a:prstGeom prst="rect">
              <a:avLst/>
            </a:prstGeom>
            <a:solidFill>
              <a:schemeClr val="bg1">
                <a:lumMod val="8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15000"/>
                </a:lnSpc>
                <a:spcAft>
                  <a:spcPts val="1000"/>
                </a:spcAft>
                <a:buFont typeface="Symbol" panose="05050102010706020507" pitchFamily="18" charset="2"/>
                <a:buChar char=""/>
                <a:tabLst>
                  <a:tab pos="457200" algn="l"/>
                </a:tabLst>
              </a:pPr>
              <a:r>
                <a:rPr lang="en-GB" sz="1600" dirty="0">
                  <a:latin typeface="Calibri" panose="020F0502020204030204" pitchFamily="34" charset="0"/>
                  <a:ea typeface="Calibri" panose="020F0502020204030204" pitchFamily="34" charset="0"/>
                  <a:cs typeface="Times New Roman" panose="02020603050405020304" pitchFamily="18" charset="0"/>
                </a:rPr>
                <a:t>As input or transactions me to be processed later the stored </a:t>
              </a:r>
              <a:r>
                <a:rPr lang="en-GB" sz="16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data becomes out of date </a:t>
              </a:r>
              <a:r>
                <a:rPr lang="en-GB" sz="1600" dirty="0">
                  <a:latin typeface="Calibri" panose="020F0502020204030204" pitchFamily="34" charset="0"/>
                  <a:ea typeface="Calibri" panose="020F0502020204030204" pitchFamily="34" charset="0"/>
                  <a:cs typeface="Times New Roman" panose="02020603050405020304" pitchFamily="18" charset="0"/>
                </a:rPr>
                <a:t>between processing runs.  </a:t>
              </a:r>
            </a:p>
            <a:p>
              <a:pPr marL="800100" lvl="1" indent="-342900" algn="just">
                <a:lnSpc>
                  <a:spcPct val="115000"/>
                </a:lnSpc>
                <a:spcAft>
                  <a:spcPts val="1000"/>
                </a:spcAft>
                <a:buFont typeface="Symbol" panose="05050102010706020507" pitchFamily="18" charset="2"/>
                <a:buChar char=""/>
                <a:tabLst>
                  <a:tab pos="457200" algn="l"/>
                </a:tabLst>
              </a:pPr>
              <a:r>
                <a:rPr lang="en-GB" sz="1600" dirty="0">
                  <a:latin typeface="Calibri" panose="020F0502020204030204" pitchFamily="34" charset="0"/>
                  <a:ea typeface="Calibri" panose="020F0502020204030204" pitchFamily="34" charset="0"/>
                  <a:cs typeface="Times New Roman" panose="02020603050405020304" pitchFamily="18" charset="0"/>
                </a:rPr>
                <a:t>The master file is therefore not always kept up to date. </a:t>
              </a:r>
            </a:p>
            <a:p>
              <a:pPr marL="800100" lvl="1" indent="-342900" algn="just">
                <a:lnSpc>
                  <a:spcPct val="115000"/>
                </a:lnSpc>
                <a:spcAft>
                  <a:spcPts val="1000"/>
                </a:spcAft>
                <a:buFont typeface="Symbol" panose="05050102010706020507" pitchFamily="18" charset="2"/>
                <a:buChar char=""/>
                <a:tabLst>
                  <a:tab pos="457200" algn="l"/>
                </a:tabLst>
              </a:pPr>
              <a:r>
                <a:rPr lang="en-GB" sz="1600" dirty="0">
                  <a:latin typeface="Calibri" panose="020F0502020204030204" pitchFamily="34" charset="0"/>
                  <a:ea typeface="Calibri" panose="020F0502020204030204" pitchFamily="34" charset="0"/>
                  <a:cs typeface="Times New Roman" panose="02020603050405020304" pitchFamily="18" charset="0"/>
                </a:rPr>
                <a:t>This makes batch processing unsuitable for some applications. </a:t>
              </a:r>
            </a:p>
            <a:p>
              <a:pPr marL="342900" indent="-342900" algn="just">
                <a:lnSpc>
                  <a:spcPct val="115000"/>
                </a:lnSpc>
                <a:spcAft>
                  <a:spcPts val="1000"/>
                </a:spcAft>
                <a:buFont typeface="Symbol" panose="05050102010706020507" pitchFamily="18" charset="2"/>
                <a:buChar char=""/>
                <a:tabLst>
                  <a:tab pos="457200" algn="l"/>
                </a:tabLst>
              </a:pPr>
              <a:r>
                <a:rPr lang="en-GB" sz="1600" dirty="0">
                  <a:latin typeface="Calibri" panose="020F0502020204030204" pitchFamily="34" charset="0"/>
                  <a:ea typeface="Calibri" panose="020F0502020204030204" pitchFamily="34" charset="0"/>
                  <a:cs typeface="Times New Roman" panose="02020603050405020304" pitchFamily="18" charset="0"/>
                </a:rPr>
                <a:t>There is </a:t>
              </a:r>
              <a:r>
                <a:rPr lang="en-GB" sz="16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always a delay </a:t>
              </a:r>
              <a:r>
                <a:rPr lang="en-GB" sz="1600" dirty="0">
                  <a:latin typeface="Calibri" panose="020F0502020204030204" pitchFamily="34" charset="0"/>
                  <a:ea typeface="Calibri" panose="020F0502020204030204" pitchFamily="34" charset="0"/>
                  <a:cs typeface="Times New Roman" panose="02020603050405020304" pitchFamily="18" charset="0"/>
                </a:rPr>
                <a:t>before work is processed and output is obtained.</a:t>
              </a:r>
            </a:p>
            <a:p>
              <a:pPr algn="just"/>
              <a:endParaRPr lang="en-GB" dirty="0"/>
            </a:p>
          </p:txBody>
        </p:sp>
        <p:sp>
          <p:nvSpPr>
            <p:cNvPr id="16" name="Rectangle 15">
              <a:extLst>
                <a:ext uri="{FF2B5EF4-FFF2-40B4-BE49-F238E27FC236}">
                  <a16:creationId xmlns:a16="http://schemas.microsoft.com/office/drawing/2014/main" id="{142780C4-F9C5-83E0-1F86-F37768016ED4}"/>
                </a:ext>
              </a:extLst>
            </p:cNvPr>
            <p:cNvSpPr/>
            <p:nvPr/>
          </p:nvSpPr>
          <p:spPr>
            <a:xfrm>
              <a:off x="11051039" y="2422357"/>
              <a:ext cx="172380" cy="375385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894582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fade">
                                      <p:cBhvr>
                                        <p:cTn id="12" dur="1000"/>
                                        <p:tgtEl>
                                          <p:spTgt spid="3">
                                            <p:bg/>
                                          </p:spTgt>
                                        </p:tgtEl>
                                      </p:cBhvr>
                                    </p:animEffect>
                                    <p:anim calcmode="lin" valueType="num">
                                      <p:cBhvr>
                                        <p:cTn id="13" dur="1000" fill="hold"/>
                                        <p:tgtEl>
                                          <p:spTgt spid="3">
                                            <p:bg/>
                                          </p:spTgt>
                                        </p:tgtEl>
                                        <p:attrNameLst>
                                          <p:attrName>ppt_x</p:attrName>
                                        </p:attrNameLst>
                                      </p:cBhvr>
                                      <p:tavLst>
                                        <p:tav tm="0">
                                          <p:val>
                                            <p:strVal val="#ppt_x"/>
                                          </p:val>
                                        </p:tav>
                                        <p:tav tm="100000">
                                          <p:val>
                                            <p:strVal val="#ppt_x"/>
                                          </p:val>
                                        </p:tav>
                                      </p:tavLst>
                                    </p:anim>
                                    <p:anim calcmode="lin" valueType="num">
                                      <p:cBhvr>
                                        <p:cTn id="14" dur="1000" fill="hold"/>
                                        <p:tgtEl>
                                          <p:spTgt spid="3">
                                            <p:bg/>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1000"/>
                                        <p:tgtEl>
                                          <p:spTgt spid="3">
                                            <p:txEl>
                                              <p:pRg st="0" end="0"/>
                                            </p:txEl>
                                          </p:spTgt>
                                        </p:tgtEl>
                                      </p:cBhvr>
                                    </p:animEffect>
                                    <p:anim calcmode="lin" valueType="num">
                                      <p:cBhvr>
                                        <p:cTn id="1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1000"/>
                                        <p:tgtEl>
                                          <p:spTgt spid="3">
                                            <p:txEl>
                                              <p:pRg st="3" end="3"/>
                                            </p:txEl>
                                          </p:spTgt>
                                        </p:tgtEl>
                                      </p:cBhvr>
                                    </p:animEffect>
                                    <p:anim calcmode="lin" valueType="num">
                                      <p:cBhvr>
                                        <p:cTn id="3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1000"/>
                                        <p:tgtEl>
                                          <p:spTgt spid="15"/>
                                        </p:tgtEl>
                                      </p:cBhvr>
                                    </p:animEffect>
                                    <p:anim calcmode="lin" valueType="num">
                                      <p:cBhvr>
                                        <p:cTn id="38" dur="1000" fill="hold"/>
                                        <p:tgtEl>
                                          <p:spTgt spid="15"/>
                                        </p:tgtEl>
                                        <p:attrNameLst>
                                          <p:attrName>ppt_x</p:attrName>
                                        </p:attrNameLst>
                                      </p:cBhvr>
                                      <p:tavLst>
                                        <p:tav tm="0">
                                          <p:val>
                                            <p:strVal val="#ppt_x"/>
                                          </p:val>
                                        </p:tav>
                                        <p:tav tm="100000">
                                          <p:val>
                                            <p:strVal val="#ppt_x"/>
                                          </p:val>
                                        </p:tav>
                                      </p:tavLst>
                                    </p:anim>
                                    <p:anim calcmode="lin" valueType="num">
                                      <p:cBhvr>
                                        <p:cTn id="3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7" presetClass="entr" presetSubtype="0"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1000"/>
                                        <p:tgtEl>
                                          <p:spTgt spid="17"/>
                                        </p:tgtEl>
                                      </p:cBhvr>
                                    </p:animEffect>
                                    <p:anim calcmode="lin" valueType="num">
                                      <p:cBhvr>
                                        <p:cTn id="50" dur="1000" fill="hold"/>
                                        <p:tgtEl>
                                          <p:spTgt spid="17"/>
                                        </p:tgtEl>
                                        <p:attrNameLst>
                                          <p:attrName>ppt_x</p:attrName>
                                        </p:attrNameLst>
                                      </p:cBhvr>
                                      <p:tavLst>
                                        <p:tav tm="0">
                                          <p:val>
                                            <p:strVal val="#ppt_x"/>
                                          </p:val>
                                        </p:tav>
                                        <p:tav tm="100000">
                                          <p:val>
                                            <p:strVal val="#ppt_x"/>
                                          </p:val>
                                        </p:tav>
                                      </p:tavLst>
                                    </p:anim>
                                    <p:anim calcmode="lin" valueType="num">
                                      <p:cBhvr>
                                        <p:cTn id="5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1">
                <a:lumMod val="75000"/>
              </a:schemeClr>
            </a:gs>
            <a:gs pos="48000">
              <a:schemeClr val="bg1">
                <a:lumMod val="85000"/>
              </a:schemeClr>
            </a:gs>
            <a:gs pos="48000">
              <a:schemeClr val="bg1">
                <a:lumMod val="65000"/>
              </a:schemeClr>
            </a:gs>
          </a:gsLst>
          <a:lin ang="1800000" scaled="0"/>
        </a:gra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633F339-E0DB-176E-46AD-B6BBA033DC32}"/>
              </a:ext>
            </a:extLst>
          </p:cNvPr>
          <p:cNvGrpSpPr/>
          <p:nvPr/>
        </p:nvGrpSpPr>
        <p:grpSpPr>
          <a:xfrm>
            <a:off x="340894" y="1690688"/>
            <a:ext cx="5245769" cy="563228"/>
            <a:chOff x="0" y="1690688"/>
            <a:chExt cx="5245769" cy="563228"/>
          </a:xfrm>
          <a:effectLst>
            <a:outerShdw blurRad="50800" dist="38100" dir="2700000" algn="tl" rotWithShape="0">
              <a:prstClr val="black">
                <a:alpha val="40000"/>
              </a:prstClr>
            </a:outerShdw>
          </a:effectLst>
        </p:grpSpPr>
        <p:grpSp>
          <p:nvGrpSpPr>
            <p:cNvPr id="7" name="Group 6">
              <a:extLst>
                <a:ext uri="{FF2B5EF4-FFF2-40B4-BE49-F238E27FC236}">
                  <a16:creationId xmlns:a16="http://schemas.microsoft.com/office/drawing/2014/main" id="{859183A1-DE06-F78A-411F-8DC578666476}"/>
                </a:ext>
              </a:extLst>
            </p:cNvPr>
            <p:cNvGrpSpPr/>
            <p:nvPr/>
          </p:nvGrpSpPr>
          <p:grpSpPr>
            <a:xfrm>
              <a:off x="0" y="1690688"/>
              <a:ext cx="5245769" cy="563228"/>
              <a:chOff x="0" y="1690688"/>
              <a:chExt cx="5245769" cy="563228"/>
            </a:xfrm>
          </p:grpSpPr>
          <p:sp>
            <p:nvSpPr>
              <p:cNvPr id="5" name="Rectangle 4">
                <a:extLst>
                  <a:ext uri="{FF2B5EF4-FFF2-40B4-BE49-F238E27FC236}">
                    <a16:creationId xmlns:a16="http://schemas.microsoft.com/office/drawing/2014/main" id="{F546B9F9-B16C-D75A-0851-06DBFD4D9882}"/>
                  </a:ext>
                </a:extLst>
              </p:cNvPr>
              <p:cNvSpPr/>
              <p:nvPr/>
            </p:nvSpPr>
            <p:spPr>
              <a:xfrm>
                <a:off x="0" y="1690688"/>
                <a:ext cx="4563979" cy="563228"/>
              </a:xfrm>
              <a:prstGeom prst="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Advantages</a:t>
                </a:r>
              </a:p>
            </p:txBody>
          </p:sp>
          <p:sp>
            <p:nvSpPr>
              <p:cNvPr id="6" name="Arrow: Chevron 5">
                <a:extLst>
                  <a:ext uri="{FF2B5EF4-FFF2-40B4-BE49-F238E27FC236}">
                    <a16:creationId xmlns:a16="http://schemas.microsoft.com/office/drawing/2014/main" id="{74C7253C-A225-7B6A-5797-353A5675E962}"/>
                  </a:ext>
                </a:extLst>
              </p:cNvPr>
              <p:cNvSpPr/>
              <p:nvPr/>
            </p:nvSpPr>
            <p:spPr>
              <a:xfrm>
                <a:off x="4746459" y="1690688"/>
                <a:ext cx="499310" cy="563228"/>
              </a:xfrm>
              <a:prstGeom prst="chevron">
                <a:avLst>
                  <a:gd name="adj" fmla="val 50000"/>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sp>
          <p:nvSpPr>
            <p:cNvPr id="8" name="Arrow: Pentagon 7">
              <a:extLst>
                <a:ext uri="{FF2B5EF4-FFF2-40B4-BE49-F238E27FC236}">
                  <a16:creationId xmlns:a16="http://schemas.microsoft.com/office/drawing/2014/main" id="{CA0DFF90-1D4E-518B-ED41-B1CA62220474}"/>
                </a:ext>
              </a:extLst>
            </p:cNvPr>
            <p:cNvSpPr/>
            <p:nvPr/>
          </p:nvSpPr>
          <p:spPr>
            <a:xfrm>
              <a:off x="3858126" y="1690688"/>
              <a:ext cx="1024690" cy="563228"/>
            </a:xfrm>
            <a:prstGeom prst="homePlate">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 name="Title 1">
            <a:extLst>
              <a:ext uri="{FF2B5EF4-FFF2-40B4-BE49-F238E27FC236}">
                <a16:creationId xmlns:a16="http://schemas.microsoft.com/office/drawing/2014/main" id="{9F79570C-B911-7A4A-CCE4-C75E0487B429}"/>
              </a:ext>
            </a:extLst>
          </p:cNvPr>
          <p:cNvSpPr>
            <a:spLocks noGrp="1"/>
          </p:cNvSpPr>
          <p:nvPr>
            <p:ph type="title"/>
          </p:nvPr>
        </p:nvSpPr>
        <p:spPr>
          <a:xfrm>
            <a:off x="340894" y="365125"/>
            <a:ext cx="11229435" cy="1325563"/>
          </a:xfrm>
        </p:spPr>
        <p:txBody>
          <a:bodyPr/>
          <a:lstStyle/>
          <a:p>
            <a:r>
              <a:rPr lang="en-GB" dirty="0"/>
              <a:t>Benefits and Drawbacks of Real-Time Processing</a:t>
            </a:r>
          </a:p>
        </p:txBody>
      </p:sp>
      <p:sp>
        <p:nvSpPr>
          <p:cNvPr id="3" name="Content Placeholder 2">
            <a:extLst>
              <a:ext uri="{FF2B5EF4-FFF2-40B4-BE49-F238E27FC236}">
                <a16:creationId xmlns:a16="http://schemas.microsoft.com/office/drawing/2014/main" id="{64525AA6-E309-31AD-38D4-5A8DB321E3F4}"/>
              </a:ext>
            </a:extLst>
          </p:cNvPr>
          <p:cNvSpPr>
            <a:spLocks noGrp="1"/>
          </p:cNvSpPr>
          <p:nvPr>
            <p:ph idx="1"/>
          </p:nvPr>
        </p:nvSpPr>
        <p:spPr>
          <a:xfrm>
            <a:off x="340894" y="2422358"/>
            <a:ext cx="4746459" cy="3753853"/>
          </a:xfrm>
          <a:solidFill>
            <a:schemeClr val="bg1">
              <a:lumMod val="85000"/>
            </a:schemeClr>
          </a:solidFill>
          <a:effectLst>
            <a:outerShdw blurRad="50800" dist="38100" dir="2700000" algn="tl" rotWithShape="0">
              <a:prstClr val="black">
                <a:alpha val="40000"/>
              </a:prstClr>
            </a:outerShdw>
          </a:effectLst>
        </p:spPr>
        <p:txBody>
          <a:bodyPr>
            <a:normAutofit fontScale="92500" lnSpcReduction="20000"/>
          </a:bodyPr>
          <a:lstStyle/>
          <a:p>
            <a:pPr marL="342900" lvl="0" indent="-342900" algn="just">
              <a:lnSpc>
                <a:spcPct val="115000"/>
              </a:lnSpc>
              <a:spcAft>
                <a:spcPts val="1000"/>
              </a:spcAft>
              <a:buFont typeface="Symbol" panose="05050102010706020507" pitchFamily="18" charset="2"/>
              <a:buChar char=""/>
              <a:tabLst>
                <a:tab pos="228600" algn="l"/>
              </a:tabLst>
            </a:pPr>
            <a:r>
              <a:rPr lang="en-GB" sz="21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Some tasks would be impossible</a:t>
            </a:r>
            <a:r>
              <a:rPr lang="en-GB" sz="2100" b="1" dirty="0">
                <a:effectLst/>
                <a:latin typeface="Calibri" panose="020F0502020204030204" pitchFamily="34" charset="0"/>
                <a:ea typeface="Calibri" panose="020F0502020204030204" pitchFamily="34" charset="0"/>
                <a:cs typeface="Times New Roman" panose="02020603050405020304" pitchFamily="18" charset="0"/>
              </a:rPr>
              <a:t> </a:t>
            </a:r>
            <a:r>
              <a:rPr lang="en-GB" sz="2100" dirty="0">
                <a:effectLst/>
                <a:latin typeface="Calibri" panose="020F0502020204030204" pitchFamily="34" charset="0"/>
                <a:ea typeface="Calibri" panose="020F0502020204030204" pitchFamily="34" charset="0"/>
                <a:cs typeface="Times New Roman" panose="02020603050405020304" pitchFamily="18" charset="0"/>
              </a:rPr>
              <a:t>to do (Such as air traffic control)</a:t>
            </a:r>
          </a:p>
          <a:p>
            <a:pPr marL="342900" lvl="0" indent="-342900" algn="just">
              <a:lnSpc>
                <a:spcPct val="115000"/>
              </a:lnSpc>
              <a:spcAft>
                <a:spcPts val="1000"/>
              </a:spcAft>
              <a:buFont typeface="Symbol" panose="05050102010706020507" pitchFamily="18" charset="2"/>
              <a:buChar char=""/>
              <a:tabLst>
                <a:tab pos="228600" algn="l"/>
              </a:tabLst>
            </a:pPr>
            <a:r>
              <a:rPr lang="en-GB" sz="2100" dirty="0">
                <a:latin typeface="Calibri" panose="020F0502020204030204" pitchFamily="34" charset="0"/>
                <a:ea typeface="Calibri" panose="020F0502020204030204" pitchFamily="34" charset="0"/>
                <a:cs typeface="Times New Roman" panose="02020603050405020304" pitchFamily="18" charset="0"/>
              </a:rPr>
              <a:t>No </a:t>
            </a:r>
            <a:r>
              <a:rPr lang="en-GB" sz="21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delay in response </a:t>
            </a:r>
            <a:r>
              <a:rPr lang="en-GB" sz="2100" dirty="0">
                <a:latin typeface="Calibri" panose="020F0502020204030204" pitchFamily="34" charset="0"/>
                <a:ea typeface="Calibri" panose="020F0502020204030204" pitchFamily="34" charset="0"/>
                <a:cs typeface="Times New Roman" panose="02020603050405020304" pitchFamily="18" charset="0"/>
              </a:rPr>
              <a:t>– output is generated (almost) immediately.</a:t>
            </a:r>
          </a:p>
          <a:p>
            <a:pPr marL="342900" lvl="0" indent="-342900" algn="just">
              <a:lnSpc>
                <a:spcPct val="115000"/>
              </a:lnSpc>
              <a:spcAft>
                <a:spcPts val="1000"/>
              </a:spcAft>
              <a:buFont typeface="Symbol" panose="05050102010706020507" pitchFamily="18" charset="2"/>
              <a:buChar char=""/>
              <a:tabLst>
                <a:tab pos="228600" algn="l"/>
              </a:tabLst>
            </a:pPr>
            <a:r>
              <a:rPr lang="en-GB" sz="2100" dirty="0">
                <a:effectLst/>
                <a:latin typeface="Calibri" panose="020F0502020204030204" pitchFamily="34" charset="0"/>
                <a:ea typeface="Calibri" panose="020F0502020204030204" pitchFamily="34" charset="0"/>
                <a:cs typeface="Times New Roman" panose="02020603050405020304" pitchFamily="18" charset="0"/>
              </a:rPr>
              <a:t>Information is </a:t>
            </a:r>
            <a:r>
              <a:rPr lang="en-GB" sz="21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always up to date</a:t>
            </a:r>
            <a:r>
              <a:rPr lang="en-GB" sz="2100" dirty="0">
                <a:effectLst/>
                <a:latin typeface="Calibri" panose="020F0502020204030204" pitchFamily="34" charset="0"/>
                <a:ea typeface="Calibri" panose="020F0502020204030204" pitchFamily="34" charset="0"/>
                <a:cs typeface="Times New Roman" panose="02020603050405020304" pitchFamily="18" charset="0"/>
              </a:rPr>
              <a:t>, meaning users always have accurate information available.</a:t>
            </a:r>
          </a:p>
          <a:p>
            <a:pPr marL="342900" lvl="0" indent="-342900" algn="just">
              <a:lnSpc>
                <a:spcPct val="115000"/>
              </a:lnSpc>
              <a:spcAft>
                <a:spcPts val="1000"/>
              </a:spcAft>
              <a:buFont typeface="Symbol" panose="05050102010706020507" pitchFamily="18" charset="2"/>
              <a:buChar char=""/>
              <a:tabLst>
                <a:tab pos="228600" algn="l"/>
              </a:tabLst>
            </a:pPr>
            <a:r>
              <a:rPr lang="en-GB" sz="2100" dirty="0">
                <a:latin typeface="Calibri" panose="020F0502020204030204" pitchFamily="34" charset="0"/>
                <a:ea typeface="Calibri" panose="020F0502020204030204" pitchFamily="34" charset="0"/>
                <a:cs typeface="Times New Roman" panose="02020603050405020304" pitchFamily="18" charset="0"/>
              </a:rPr>
              <a:t>Much </a:t>
            </a:r>
            <a:r>
              <a:rPr lang="en-GB" sz="21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easier/quicker to analyse the information </a:t>
            </a:r>
            <a:r>
              <a:rPr lang="en-GB" sz="2100" dirty="0">
                <a:latin typeface="Calibri" panose="020F0502020204030204" pitchFamily="34" charset="0"/>
                <a:ea typeface="Calibri" panose="020F0502020204030204" pitchFamily="34" charset="0"/>
                <a:cs typeface="Times New Roman" panose="02020603050405020304" pitchFamily="18" charset="0"/>
              </a:rPr>
              <a:t>as it is available once processed</a:t>
            </a:r>
            <a:endParaRPr lang="en-GB" sz="2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228600" algn="l"/>
              </a:tabLst>
            </a:pPr>
            <a:endParaRPr lang="en-GB" sz="21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GB" dirty="0"/>
          </a:p>
        </p:txBody>
      </p:sp>
      <p:grpSp>
        <p:nvGrpSpPr>
          <p:cNvPr id="10" name="Group 9">
            <a:extLst>
              <a:ext uri="{FF2B5EF4-FFF2-40B4-BE49-F238E27FC236}">
                <a16:creationId xmlns:a16="http://schemas.microsoft.com/office/drawing/2014/main" id="{5A5BD24F-02AD-6199-6BC3-DF4F751B5380}"/>
              </a:ext>
            </a:extLst>
          </p:cNvPr>
          <p:cNvGrpSpPr/>
          <p:nvPr/>
        </p:nvGrpSpPr>
        <p:grpSpPr>
          <a:xfrm>
            <a:off x="6254413" y="1690688"/>
            <a:ext cx="5245769" cy="563228"/>
            <a:chOff x="0" y="1690688"/>
            <a:chExt cx="5245769" cy="563228"/>
          </a:xfrm>
          <a:solidFill>
            <a:srgbClr val="FF0000"/>
          </a:solidFill>
          <a:effectLst>
            <a:outerShdw blurRad="50800" dist="38100" dir="2700000" algn="tl" rotWithShape="0">
              <a:prstClr val="black">
                <a:alpha val="40000"/>
              </a:prstClr>
            </a:outerShdw>
          </a:effectLst>
        </p:grpSpPr>
        <p:grpSp>
          <p:nvGrpSpPr>
            <p:cNvPr id="11" name="Group 10">
              <a:extLst>
                <a:ext uri="{FF2B5EF4-FFF2-40B4-BE49-F238E27FC236}">
                  <a16:creationId xmlns:a16="http://schemas.microsoft.com/office/drawing/2014/main" id="{EE365065-5555-A8A5-32D8-B41869FF4610}"/>
                </a:ext>
              </a:extLst>
            </p:cNvPr>
            <p:cNvGrpSpPr/>
            <p:nvPr/>
          </p:nvGrpSpPr>
          <p:grpSpPr>
            <a:xfrm>
              <a:off x="0" y="1690688"/>
              <a:ext cx="5245769" cy="563228"/>
              <a:chOff x="0" y="1690688"/>
              <a:chExt cx="5245769" cy="563228"/>
            </a:xfrm>
            <a:grpFill/>
          </p:grpSpPr>
          <p:sp>
            <p:nvSpPr>
              <p:cNvPr id="13" name="Rectangle 12">
                <a:extLst>
                  <a:ext uri="{FF2B5EF4-FFF2-40B4-BE49-F238E27FC236}">
                    <a16:creationId xmlns:a16="http://schemas.microsoft.com/office/drawing/2014/main" id="{CD782559-3AA9-F905-E9D7-2A84F337D5B4}"/>
                  </a:ext>
                </a:extLst>
              </p:cNvPr>
              <p:cNvSpPr/>
              <p:nvPr/>
            </p:nvSpPr>
            <p:spPr>
              <a:xfrm>
                <a:off x="0" y="1690688"/>
                <a:ext cx="4563979" cy="563228"/>
              </a:xfrm>
              <a:prstGeom prst="rect">
                <a:avLst/>
              </a:prstGeom>
              <a:grp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Disadvantages</a:t>
                </a:r>
              </a:p>
            </p:txBody>
          </p:sp>
          <p:sp>
            <p:nvSpPr>
              <p:cNvPr id="14" name="Arrow: Chevron 13">
                <a:extLst>
                  <a:ext uri="{FF2B5EF4-FFF2-40B4-BE49-F238E27FC236}">
                    <a16:creationId xmlns:a16="http://schemas.microsoft.com/office/drawing/2014/main" id="{B62C0170-70C5-42EB-D5AD-2B0661475618}"/>
                  </a:ext>
                </a:extLst>
              </p:cNvPr>
              <p:cNvSpPr/>
              <p:nvPr/>
            </p:nvSpPr>
            <p:spPr>
              <a:xfrm>
                <a:off x="4746459" y="1690688"/>
                <a:ext cx="499310" cy="563228"/>
              </a:xfrm>
              <a:prstGeom prst="chevron">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sp>
          <p:nvSpPr>
            <p:cNvPr id="12" name="Arrow: Pentagon 11">
              <a:extLst>
                <a:ext uri="{FF2B5EF4-FFF2-40B4-BE49-F238E27FC236}">
                  <a16:creationId xmlns:a16="http://schemas.microsoft.com/office/drawing/2014/main" id="{64BA588F-0953-5FCE-7C6D-815BF3CA5BB9}"/>
                </a:ext>
              </a:extLst>
            </p:cNvPr>
            <p:cNvSpPr/>
            <p:nvPr/>
          </p:nvSpPr>
          <p:spPr>
            <a:xfrm>
              <a:off x="3858126" y="1690688"/>
              <a:ext cx="1024690" cy="563228"/>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5" name="Rectangle 14">
            <a:extLst>
              <a:ext uri="{FF2B5EF4-FFF2-40B4-BE49-F238E27FC236}">
                <a16:creationId xmlns:a16="http://schemas.microsoft.com/office/drawing/2014/main" id="{C4D2CA85-A7F9-FD14-F226-A2DC9CCD39B4}"/>
              </a:ext>
            </a:extLst>
          </p:cNvPr>
          <p:cNvSpPr/>
          <p:nvPr/>
        </p:nvSpPr>
        <p:spPr>
          <a:xfrm>
            <a:off x="5175316" y="2422358"/>
            <a:ext cx="172380" cy="3753853"/>
          </a:xfrm>
          <a:prstGeom prst="rect">
            <a:avLst/>
          </a:prstGeom>
          <a:solidFill>
            <a:srgbClr val="70AD47"/>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7" name="Group 16">
            <a:extLst>
              <a:ext uri="{FF2B5EF4-FFF2-40B4-BE49-F238E27FC236}">
                <a16:creationId xmlns:a16="http://schemas.microsoft.com/office/drawing/2014/main" id="{015DD855-A3BB-668A-DC14-91C7CA4CBF06}"/>
              </a:ext>
            </a:extLst>
          </p:cNvPr>
          <p:cNvGrpSpPr/>
          <p:nvPr/>
        </p:nvGrpSpPr>
        <p:grpSpPr>
          <a:xfrm>
            <a:off x="6254413" y="2422357"/>
            <a:ext cx="4969006" cy="3753854"/>
            <a:chOff x="6254413" y="2422357"/>
            <a:chExt cx="4969006" cy="3753854"/>
          </a:xfrm>
          <a:effectLst>
            <a:outerShdw blurRad="50800" dist="38100" dir="2700000" algn="tl" rotWithShape="0">
              <a:prstClr val="black">
                <a:alpha val="40000"/>
              </a:prstClr>
            </a:outerShdw>
          </a:effectLst>
        </p:grpSpPr>
        <p:sp>
          <p:nvSpPr>
            <p:cNvPr id="4" name="Content Placeholder 2">
              <a:extLst>
                <a:ext uri="{FF2B5EF4-FFF2-40B4-BE49-F238E27FC236}">
                  <a16:creationId xmlns:a16="http://schemas.microsoft.com/office/drawing/2014/main" id="{79FDD7F2-9EAD-7A4E-1441-780970E5744C}"/>
                </a:ext>
              </a:extLst>
            </p:cNvPr>
            <p:cNvSpPr txBox="1">
              <a:spLocks/>
            </p:cNvSpPr>
            <p:nvPr/>
          </p:nvSpPr>
          <p:spPr>
            <a:xfrm>
              <a:off x="6254413" y="2422358"/>
              <a:ext cx="4746459" cy="3753853"/>
            </a:xfrm>
            <a:prstGeom prst="rect">
              <a:avLst/>
            </a:prstGeom>
            <a:solidFill>
              <a:schemeClr val="bg1">
                <a:lumMod val="85000"/>
              </a:schemeClr>
            </a:solidFill>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15000"/>
                </a:lnSpc>
                <a:spcAft>
                  <a:spcPts val="1000"/>
                </a:spcAft>
                <a:buFont typeface="Symbol" panose="05050102010706020507" pitchFamily="18" charset="2"/>
                <a:buChar char=""/>
                <a:tabLst>
                  <a:tab pos="457200" algn="l"/>
                </a:tabLst>
              </a:pPr>
              <a:r>
                <a:rPr lang="en-GB" sz="2100" dirty="0">
                  <a:latin typeface="Calibri" panose="020F0502020204030204" pitchFamily="34" charset="0"/>
                  <a:ea typeface="Calibri" panose="020F0502020204030204" pitchFamily="34" charset="0"/>
                  <a:cs typeface="Times New Roman" panose="02020603050405020304" pitchFamily="18" charset="0"/>
                </a:rPr>
                <a:t>Real time systems are </a:t>
              </a:r>
              <a:r>
                <a:rPr lang="en-GB" sz="21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very expensive </a:t>
              </a:r>
              <a:r>
                <a:rPr lang="en-GB" sz="2100" dirty="0">
                  <a:latin typeface="Calibri" panose="020F0502020204030204" pitchFamily="34" charset="0"/>
                  <a:ea typeface="Calibri" panose="020F0502020204030204" pitchFamily="34" charset="0"/>
                  <a:cs typeface="Times New Roman" panose="02020603050405020304" pitchFamily="18" charset="0"/>
                </a:rPr>
                <a:t>to produce and tend to be complicated to create</a:t>
              </a:r>
            </a:p>
            <a:p>
              <a:pPr marL="342900" indent="-342900" algn="just">
                <a:lnSpc>
                  <a:spcPct val="115000"/>
                </a:lnSpc>
                <a:spcAft>
                  <a:spcPts val="1000"/>
                </a:spcAft>
                <a:buFont typeface="Symbol" panose="05050102010706020507" pitchFamily="18" charset="2"/>
                <a:buChar char=""/>
                <a:tabLst>
                  <a:tab pos="457200" algn="l"/>
                </a:tabLst>
              </a:pPr>
              <a:r>
                <a:rPr lang="en-GB" sz="2100" dirty="0">
                  <a:latin typeface="Calibri" panose="020F0502020204030204" pitchFamily="34" charset="0"/>
                  <a:ea typeface="Calibri" panose="020F0502020204030204" pitchFamily="34" charset="0"/>
                  <a:cs typeface="Times New Roman" panose="02020603050405020304" pitchFamily="18" charset="0"/>
                </a:rPr>
                <a:t>Require </a:t>
              </a:r>
              <a:r>
                <a:rPr lang="en-GB" sz="21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a lot of development </a:t>
              </a:r>
              <a:r>
                <a:rPr lang="en-GB" sz="2100" dirty="0">
                  <a:latin typeface="Calibri" panose="020F0502020204030204" pitchFamily="34" charset="0"/>
                  <a:ea typeface="Calibri" panose="020F0502020204030204" pitchFamily="34" charset="0"/>
                  <a:cs typeface="Times New Roman" panose="02020603050405020304" pitchFamily="18" charset="0"/>
                </a:rPr>
                <a:t>time</a:t>
              </a:r>
            </a:p>
            <a:p>
              <a:pPr marL="342900" indent="-342900" algn="just">
                <a:lnSpc>
                  <a:spcPct val="115000"/>
                </a:lnSpc>
                <a:spcAft>
                  <a:spcPts val="1000"/>
                </a:spcAft>
                <a:buFont typeface="Symbol" panose="05050102010706020507" pitchFamily="18" charset="2"/>
                <a:buChar char=""/>
                <a:tabLst>
                  <a:tab pos="457200" algn="l"/>
                </a:tabLst>
              </a:pPr>
              <a:r>
                <a:rPr lang="en-GB" sz="21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Back up hardware </a:t>
              </a:r>
              <a:r>
                <a:rPr lang="en-GB" sz="2100" dirty="0">
                  <a:latin typeface="Calibri" panose="020F0502020204030204" pitchFamily="34" charset="0"/>
                  <a:ea typeface="Calibri" panose="020F0502020204030204" pitchFamily="34" charset="0"/>
                  <a:cs typeface="Times New Roman" panose="02020603050405020304" pitchFamily="18" charset="0"/>
                </a:rPr>
                <a:t>is required (redundancy)</a:t>
              </a:r>
            </a:p>
            <a:p>
              <a:pPr marL="342900" indent="-342900" algn="just">
                <a:lnSpc>
                  <a:spcPct val="115000"/>
                </a:lnSpc>
                <a:spcAft>
                  <a:spcPts val="1000"/>
                </a:spcAft>
                <a:buFont typeface="Symbol" panose="05050102010706020507" pitchFamily="18" charset="2"/>
                <a:buChar char=""/>
                <a:tabLst>
                  <a:tab pos="457200" algn="l"/>
                </a:tabLst>
              </a:pPr>
              <a:r>
                <a:rPr lang="en-GB" sz="21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Difficult to audit</a:t>
              </a:r>
              <a:r>
                <a:rPr lang="en-GB" sz="2100" dirty="0">
                  <a:latin typeface="Calibri" panose="020F0502020204030204" pitchFamily="34" charset="0"/>
                  <a:ea typeface="Calibri" panose="020F0502020204030204" pitchFamily="34" charset="0"/>
                  <a:cs typeface="Times New Roman" panose="02020603050405020304" pitchFamily="18" charset="0"/>
                </a:rPr>
                <a:t>, as processing is continually occurring with continuous inputs, processes and outputs happening at once.</a:t>
              </a:r>
            </a:p>
            <a:p>
              <a:pPr algn="just"/>
              <a:endParaRPr lang="en-GB" dirty="0"/>
            </a:p>
          </p:txBody>
        </p:sp>
        <p:sp>
          <p:nvSpPr>
            <p:cNvPr id="16" name="Rectangle 15">
              <a:extLst>
                <a:ext uri="{FF2B5EF4-FFF2-40B4-BE49-F238E27FC236}">
                  <a16:creationId xmlns:a16="http://schemas.microsoft.com/office/drawing/2014/main" id="{142780C4-F9C5-83E0-1F86-F37768016ED4}"/>
                </a:ext>
              </a:extLst>
            </p:cNvPr>
            <p:cNvSpPr/>
            <p:nvPr/>
          </p:nvSpPr>
          <p:spPr>
            <a:xfrm>
              <a:off x="11051039" y="2422357"/>
              <a:ext cx="172380" cy="375385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4238062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fade">
                                      <p:cBhvr>
                                        <p:cTn id="12" dur="1000"/>
                                        <p:tgtEl>
                                          <p:spTgt spid="3">
                                            <p:bg/>
                                          </p:spTgt>
                                        </p:tgtEl>
                                      </p:cBhvr>
                                    </p:animEffect>
                                    <p:anim calcmode="lin" valueType="num">
                                      <p:cBhvr>
                                        <p:cTn id="13" dur="1000" fill="hold"/>
                                        <p:tgtEl>
                                          <p:spTgt spid="3">
                                            <p:bg/>
                                          </p:spTgt>
                                        </p:tgtEl>
                                        <p:attrNameLst>
                                          <p:attrName>ppt_x</p:attrName>
                                        </p:attrNameLst>
                                      </p:cBhvr>
                                      <p:tavLst>
                                        <p:tav tm="0">
                                          <p:val>
                                            <p:strVal val="#ppt_x"/>
                                          </p:val>
                                        </p:tav>
                                        <p:tav tm="100000">
                                          <p:val>
                                            <p:strVal val="#ppt_x"/>
                                          </p:val>
                                        </p:tav>
                                      </p:tavLst>
                                    </p:anim>
                                    <p:anim calcmode="lin" valueType="num">
                                      <p:cBhvr>
                                        <p:cTn id="14" dur="1000" fill="hold"/>
                                        <p:tgtEl>
                                          <p:spTgt spid="3">
                                            <p:bg/>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1000"/>
                                        <p:tgtEl>
                                          <p:spTgt spid="3">
                                            <p:txEl>
                                              <p:pRg st="0" end="0"/>
                                            </p:txEl>
                                          </p:spTgt>
                                        </p:tgtEl>
                                      </p:cBhvr>
                                    </p:animEffect>
                                    <p:anim calcmode="lin" valueType="num">
                                      <p:cBhvr>
                                        <p:cTn id="1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1000"/>
                                        <p:tgtEl>
                                          <p:spTgt spid="3">
                                            <p:txEl>
                                              <p:pRg st="1" end="1"/>
                                            </p:txEl>
                                          </p:spTgt>
                                        </p:tgtEl>
                                      </p:cBhvr>
                                    </p:animEffect>
                                    <p:anim calcmode="lin" valueType="num">
                                      <p:cBhvr>
                                        <p:cTn id="2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fade">
                                      <p:cBhvr>
                                        <p:cTn id="31" dur="1000"/>
                                        <p:tgtEl>
                                          <p:spTgt spid="3">
                                            <p:txEl>
                                              <p:pRg st="2" end="2"/>
                                            </p:txEl>
                                          </p:spTgt>
                                        </p:tgtEl>
                                      </p:cBhvr>
                                    </p:animEffect>
                                    <p:anim calcmode="lin" valueType="num">
                                      <p:cBhvr>
                                        <p:cTn id="3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fade">
                                      <p:cBhvr>
                                        <p:cTn id="38" dur="1000"/>
                                        <p:tgtEl>
                                          <p:spTgt spid="3">
                                            <p:txEl>
                                              <p:pRg st="3" end="3"/>
                                            </p:txEl>
                                          </p:spTgt>
                                        </p:tgtEl>
                                      </p:cBhvr>
                                    </p:animEffect>
                                    <p:anim calcmode="lin" valueType="num">
                                      <p:cBhvr>
                                        <p:cTn id="3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1000"/>
                                        <p:tgtEl>
                                          <p:spTgt spid="15"/>
                                        </p:tgtEl>
                                      </p:cBhvr>
                                    </p:animEffect>
                                    <p:anim calcmode="lin" valueType="num">
                                      <p:cBhvr>
                                        <p:cTn id="44" dur="1000" fill="hold"/>
                                        <p:tgtEl>
                                          <p:spTgt spid="15"/>
                                        </p:tgtEl>
                                        <p:attrNameLst>
                                          <p:attrName>ppt_x</p:attrName>
                                        </p:attrNameLst>
                                      </p:cBhvr>
                                      <p:tavLst>
                                        <p:tav tm="0">
                                          <p:val>
                                            <p:strVal val="#ppt_x"/>
                                          </p:val>
                                        </p:tav>
                                        <p:tav tm="100000">
                                          <p:val>
                                            <p:strVal val="#ppt_x"/>
                                          </p:val>
                                        </p:tav>
                                      </p:tavLst>
                                    </p:anim>
                                    <p:anim calcmode="lin" valueType="num">
                                      <p:cBhvr>
                                        <p:cTn id="4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7" presetClass="entr" presetSubtype="0" fill="hold"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1000"/>
                                        <p:tgtEl>
                                          <p:spTgt spid="10"/>
                                        </p:tgtEl>
                                      </p:cBhvr>
                                    </p:animEffect>
                                    <p:anim calcmode="lin" valueType="num">
                                      <p:cBhvr>
                                        <p:cTn id="51" dur="1000" fill="hold"/>
                                        <p:tgtEl>
                                          <p:spTgt spid="10"/>
                                        </p:tgtEl>
                                        <p:attrNameLst>
                                          <p:attrName>ppt_x</p:attrName>
                                        </p:attrNameLst>
                                      </p:cBhvr>
                                      <p:tavLst>
                                        <p:tav tm="0">
                                          <p:val>
                                            <p:strVal val="#ppt_x"/>
                                          </p:val>
                                        </p:tav>
                                        <p:tav tm="100000">
                                          <p:val>
                                            <p:strVal val="#ppt_x"/>
                                          </p:val>
                                        </p:tav>
                                      </p:tavLst>
                                    </p:anim>
                                    <p:anim calcmode="lin" valueType="num">
                                      <p:cBhvr>
                                        <p:cTn id="52" dur="1000" fill="hold"/>
                                        <p:tgtEl>
                                          <p:spTgt spid="10"/>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1000"/>
                                        <p:tgtEl>
                                          <p:spTgt spid="17"/>
                                        </p:tgtEl>
                                      </p:cBhvr>
                                    </p:animEffect>
                                    <p:anim calcmode="lin" valueType="num">
                                      <p:cBhvr>
                                        <p:cTn id="56" dur="1000" fill="hold"/>
                                        <p:tgtEl>
                                          <p:spTgt spid="17"/>
                                        </p:tgtEl>
                                        <p:attrNameLst>
                                          <p:attrName>ppt_x</p:attrName>
                                        </p:attrNameLst>
                                      </p:cBhvr>
                                      <p:tavLst>
                                        <p:tav tm="0">
                                          <p:val>
                                            <p:strVal val="#ppt_x"/>
                                          </p:val>
                                        </p:tav>
                                        <p:tav tm="100000">
                                          <p:val>
                                            <p:strVal val="#ppt_x"/>
                                          </p:val>
                                        </p:tav>
                                      </p:tavLst>
                                    </p:anim>
                                    <p:anim calcmode="lin" valueType="num">
                                      <p:cBhvr>
                                        <p:cTn id="5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E6B29-630F-A6FE-DFA7-DC63565C1E8F}"/>
              </a:ext>
            </a:extLst>
          </p:cNvPr>
          <p:cNvSpPr>
            <a:spLocks noGrp="1"/>
          </p:cNvSpPr>
          <p:nvPr>
            <p:ph type="title"/>
          </p:nvPr>
        </p:nvSpPr>
        <p:spPr>
          <a:xfrm>
            <a:off x="838200" y="89347"/>
            <a:ext cx="10149526" cy="985310"/>
          </a:xfrm>
        </p:spPr>
        <p:txBody>
          <a:bodyPr/>
          <a:lstStyle/>
          <a:p>
            <a:r>
              <a:rPr lang="en-GB" dirty="0">
                <a:solidFill>
                  <a:srgbClr val="D9D9D9"/>
                </a:solidFill>
              </a:rPr>
              <a:t>Exemplar Question</a:t>
            </a:r>
          </a:p>
        </p:txBody>
      </p:sp>
      <p:sp>
        <p:nvSpPr>
          <p:cNvPr id="3" name="Content Placeholder 2">
            <a:extLst>
              <a:ext uri="{FF2B5EF4-FFF2-40B4-BE49-F238E27FC236}">
                <a16:creationId xmlns:a16="http://schemas.microsoft.com/office/drawing/2014/main" id="{DA654A6E-452B-E5DC-C926-3660DD867A64}"/>
              </a:ext>
            </a:extLst>
          </p:cNvPr>
          <p:cNvSpPr>
            <a:spLocks noGrp="1"/>
          </p:cNvSpPr>
          <p:nvPr>
            <p:ph idx="1"/>
          </p:nvPr>
        </p:nvSpPr>
        <p:spPr>
          <a:xfrm>
            <a:off x="838200" y="1074656"/>
            <a:ext cx="10983012" cy="5599521"/>
          </a:xfrm>
          <a:solidFill>
            <a:schemeClr val="bg1">
              <a:lumMod val="85000"/>
            </a:schemeClr>
          </a:solidFill>
          <a:ln>
            <a:solidFill>
              <a:schemeClr val="tx1"/>
            </a:solidFill>
          </a:ln>
          <a:effectLst>
            <a:outerShdw blurRad="50800" dist="38100" dir="2700000" algn="tl" rotWithShape="0">
              <a:prstClr val="black">
                <a:alpha val="40000"/>
              </a:prstClr>
            </a:outerShdw>
          </a:effectLst>
        </p:spPr>
        <p:txBody>
          <a:bodyPr/>
          <a:lstStyle/>
          <a:p>
            <a:pPr marL="715963" indent="0">
              <a:lnSpc>
                <a:spcPct val="115000"/>
              </a:lnSpc>
              <a:spcAft>
                <a:spcPts val="1000"/>
              </a:spcAft>
              <a:buNone/>
            </a:pPr>
            <a:r>
              <a:rPr lang="en-GB" sz="1800" dirty="0">
                <a:effectLst/>
                <a:latin typeface="Calibri" panose="020F0502020204030204" pitchFamily="34" charset="0"/>
                <a:ea typeface="Calibri" panose="020F0502020204030204" pitchFamily="34" charset="0"/>
                <a:cs typeface="Times New Roman" panose="02020603050405020304" pitchFamily="18" charset="0"/>
              </a:rPr>
              <a:t>The examination results are processed using batch processing. </a:t>
            </a:r>
          </a:p>
          <a:p>
            <a:pPr marL="715963" indent="0">
              <a:lnSpc>
                <a:spcPct val="115000"/>
              </a:lnSpc>
              <a:spcAft>
                <a:spcPts val="1000"/>
              </a:spcAft>
              <a:buNone/>
            </a:pPr>
            <a:r>
              <a:rPr lang="en-GB" sz="1800" dirty="0">
                <a:effectLst/>
                <a:latin typeface="Calibri" panose="020F0502020204030204" pitchFamily="34" charset="0"/>
                <a:ea typeface="Calibri" panose="020F0502020204030204" pitchFamily="34" charset="0"/>
                <a:cs typeface="Times New Roman" panose="02020603050405020304" pitchFamily="18" charset="0"/>
              </a:rPr>
              <a:t>Describe the main features of batch processing. </a:t>
            </a:r>
          </a:p>
          <a:p>
            <a:endParaRPr lang="en-GB" dirty="0"/>
          </a:p>
          <a:p>
            <a:endParaRPr lang="en-GB" dirty="0"/>
          </a:p>
          <a:p>
            <a:endParaRPr lang="en-GB" dirty="0"/>
          </a:p>
          <a:p>
            <a:endParaRPr lang="en-GB" dirty="0"/>
          </a:p>
          <a:p>
            <a:endParaRPr lang="en-GB" dirty="0"/>
          </a:p>
          <a:p>
            <a:pPr marL="0" indent="0" algn="r">
              <a:buNone/>
            </a:pPr>
            <a:endParaRPr lang="en-GB" dirty="0"/>
          </a:p>
          <a:p>
            <a:pPr marL="0" indent="0" algn="r">
              <a:buNone/>
            </a:pPr>
            <a:endParaRPr lang="en-GB" dirty="0"/>
          </a:p>
          <a:p>
            <a:pPr marL="0" indent="0" algn="r">
              <a:buNone/>
            </a:pPr>
            <a:r>
              <a:rPr lang="en-GB" dirty="0"/>
              <a:t>[4]</a:t>
            </a:r>
          </a:p>
        </p:txBody>
      </p:sp>
      <p:sp>
        <p:nvSpPr>
          <p:cNvPr id="4" name="TextBox 3">
            <a:extLst>
              <a:ext uri="{FF2B5EF4-FFF2-40B4-BE49-F238E27FC236}">
                <a16:creationId xmlns:a16="http://schemas.microsoft.com/office/drawing/2014/main" id="{A1411138-D787-F75A-EB94-8AC69DBA1CEA}"/>
              </a:ext>
            </a:extLst>
          </p:cNvPr>
          <p:cNvSpPr txBox="1"/>
          <p:nvPr/>
        </p:nvSpPr>
        <p:spPr>
          <a:xfrm>
            <a:off x="838200" y="881737"/>
            <a:ext cx="773784" cy="1200329"/>
          </a:xfrm>
          <a:prstGeom prst="rect">
            <a:avLst/>
          </a:prstGeom>
          <a:noFill/>
        </p:spPr>
        <p:txBody>
          <a:bodyPr wrap="square" rtlCol="0">
            <a:spAutoFit/>
          </a:bodyPr>
          <a:lstStyle/>
          <a:p>
            <a:r>
              <a:rPr lang="en-GB" sz="7200" dirty="0"/>
              <a:t>Q</a:t>
            </a:r>
            <a:endParaRPr lang="en-GB" dirty="0"/>
          </a:p>
        </p:txBody>
      </p:sp>
      <p:grpSp>
        <p:nvGrpSpPr>
          <p:cNvPr id="14" name="Group 13">
            <a:extLst>
              <a:ext uri="{FF2B5EF4-FFF2-40B4-BE49-F238E27FC236}">
                <a16:creationId xmlns:a16="http://schemas.microsoft.com/office/drawing/2014/main" id="{7EA71D16-7702-7968-455E-C8A562AEA956}"/>
              </a:ext>
            </a:extLst>
          </p:cNvPr>
          <p:cNvGrpSpPr/>
          <p:nvPr/>
        </p:nvGrpSpPr>
        <p:grpSpPr>
          <a:xfrm>
            <a:off x="914793" y="2099740"/>
            <a:ext cx="2658359" cy="645624"/>
            <a:chOff x="914793" y="2099740"/>
            <a:chExt cx="2658359" cy="645624"/>
          </a:xfrm>
          <a:effectLst>
            <a:outerShdw blurRad="50800" dist="38100" dir="2700000" algn="tl" rotWithShape="0">
              <a:prstClr val="black">
                <a:alpha val="40000"/>
              </a:prstClr>
            </a:outerShdw>
          </a:effectLst>
        </p:grpSpPr>
        <p:sp>
          <p:nvSpPr>
            <p:cNvPr id="6" name="Rectangle 5">
              <a:extLst>
                <a:ext uri="{FF2B5EF4-FFF2-40B4-BE49-F238E27FC236}">
                  <a16:creationId xmlns:a16="http://schemas.microsoft.com/office/drawing/2014/main" id="{93BBE38E-6595-FBD9-9931-20DB53F3C3B5}"/>
                </a:ext>
              </a:extLst>
            </p:cNvPr>
            <p:cNvSpPr/>
            <p:nvPr/>
          </p:nvSpPr>
          <p:spPr>
            <a:xfrm>
              <a:off x="1280867" y="2201078"/>
              <a:ext cx="2292285" cy="39828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a:r>
                <a:rPr lang="en-GB" dirty="0">
                  <a:solidFill>
                    <a:srgbClr val="7030A0"/>
                  </a:solidFill>
                </a:rPr>
                <a:t>STEP 1: Definition</a:t>
              </a:r>
            </a:p>
          </p:txBody>
        </p:sp>
        <p:sp>
          <p:nvSpPr>
            <p:cNvPr id="5" name="Arrow: Chevron 4">
              <a:extLst>
                <a:ext uri="{FF2B5EF4-FFF2-40B4-BE49-F238E27FC236}">
                  <a16:creationId xmlns:a16="http://schemas.microsoft.com/office/drawing/2014/main" id="{CECF2EB2-E027-5229-FFC4-E487232970EF}"/>
                </a:ext>
              </a:extLst>
            </p:cNvPr>
            <p:cNvSpPr/>
            <p:nvPr/>
          </p:nvSpPr>
          <p:spPr>
            <a:xfrm>
              <a:off x="914793" y="2099740"/>
              <a:ext cx="565608" cy="645624"/>
            </a:xfrm>
            <a:prstGeom prst="chevron">
              <a:avLst/>
            </a:prstGeom>
            <a:solidFill>
              <a:schemeClr val="accent6">
                <a:lumMod val="40000"/>
                <a:lumOff val="6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15" name="Group 14">
            <a:extLst>
              <a:ext uri="{FF2B5EF4-FFF2-40B4-BE49-F238E27FC236}">
                <a16:creationId xmlns:a16="http://schemas.microsoft.com/office/drawing/2014/main" id="{1C5E82D5-BC57-BF57-BC62-4C6E50586433}"/>
              </a:ext>
            </a:extLst>
          </p:cNvPr>
          <p:cNvGrpSpPr/>
          <p:nvPr/>
        </p:nvGrpSpPr>
        <p:grpSpPr>
          <a:xfrm>
            <a:off x="914793" y="3227731"/>
            <a:ext cx="2931736" cy="645624"/>
            <a:chOff x="914793" y="3227731"/>
            <a:chExt cx="2931736" cy="645624"/>
          </a:xfrm>
          <a:effectLst>
            <a:outerShdw blurRad="50800" dist="38100" dir="2700000" algn="tl" rotWithShape="0">
              <a:prstClr val="black">
                <a:alpha val="40000"/>
              </a:prstClr>
            </a:outerShdw>
          </a:effectLst>
        </p:grpSpPr>
        <p:sp>
          <p:nvSpPr>
            <p:cNvPr id="7" name="Rectangle 6">
              <a:extLst>
                <a:ext uri="{FF2B5EF4-FFF2-40B4-BE49-F238E27FC236}">
                  <a16:creationId xmlns:a16="http://schemas.microsoft.com/office/drawing/2014/main" id="{9D1DD7C6-3FD4-56AD-FBF0-452D43A3A881}"/>
                </a:ext>
              </a:extLst>
            </p:cNvPr>
            <p:cNvSpPr/>
            <p:nvPr/>
          </p:nvSpPr>
          <p:spPr>
            <a:xfrm>
              <a:off x="1280867" y="3329069"/>
              <a:ext cx="2565662" cy="39828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a:r>
                <a:rPr lang="en-GB" dirty="0">
                  <a:solidFill>
                    <a:schemeClr val="accent4">
                      <a:lumMod val="40000"/>
                      <a:lumOff val="60000"/>
                    </a:schemeClr>
                  </a:solidFill>
                </a:rPr>
                <a:t>STEP 2: Key Terms</a:t>
              </a:r>
            </a:p>
          </p:txBody>
        </p:sp>
        <p:sp>
          <p:nvSpPr>
            <p:cNvPr id="8" name="Arrow: Chevron 7">
              <a:extLst>
                <a:ext uri="{FF2B5EF4-FFF2-40B4-BE49-F238E27FC236}">
                  <a16:creationId xmlns:a16="http://schemas.microsoft.com/office/drawing/2014/main" id="{8715D58F-6290-8614-2ED8-B8AF5BF97509}"/>
                </a:ext>
              </a:extLst>
            </p:cNvPr>
            <p:cNvSpPr/>
            <p:nvPr/>
          </p:nvSpPr>
          <p:spPr>
            <a:xfrm>
              <a:off x="914793" y="3227731"/>
              <a:ext cx="565608" cy="645624"/>
            </a:xfrm>
            <a:prstGeom prst="chevron">
              <a:avLst/>
            </a:prstGeom>
            <a:solidFill>
              <a:schemeClr val="accent6">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grpSp>
        <p:nvGrpSpPr>
          <p:cNvPr id="16" name="Group 15">
            <a:extLst>
              <a:ext uri="{FF2B5EF4-FFF2-40B4-BE49-F238E27FC236}">
                <a16:creationId xmlns:a16="http://schemas.microsoft.com/office/drawing/2014/main" id="{65A11909-E5A9-AA91-3038-ABA534805E04}"/>
              </a:ext>
            </a:extLst>
          </p:cNvPr>
          <p:cNvGrpSpPr/>
          <p:nvPr/>
        </p:nvGrpSpPr>
        <p:grpSpPr>
          <a:xfrm>
            <a:off x="838200" y="4774184"/>
            <a:ext cx="3242820" cy="645624"/>
            <a:chOff x="838200" y="4774184"/>
            <a:chExt cx="3242820" cy="645624"/>
          </a:xfrm>
          <a:effectLst>
            <a:outerShdw blurRad="50800" dist="38100" dir="2700000" algn="tl" rotWithShape="0">
              <a:prstClr val="black">
                <a:alpha val="40000"/>
              </a:prstClr>
            </a:outerShdw>
          </a:effectLst>
        </p:grpSpPr>
        <p:sp>
          <p:nvSpPr>
            <p:cNvPr id="9" name="Rectangle 8">
              <a:extLst>
                <a:ext uri="{FF2B5EF4-FFF2-40B4-BE49-F238E27FC236}">
                  <a16:creationId xmlns:a16="http://schemas.microsoft.com/office/drawing/2014/main" id="{44FBB157-3081-A368-3C37-97CF2BF49D42}"/>
                </a:ext>
              </a:extLst>
            </p:cNvPr>
            <p:cNvSpPr/>
            <p:nvPr/>
          </p:nvSpPr>
          <p:spPr>
            <a:xfrm>
              <a:off x="1204274" y="4875522"/>
              <a:ext cx="2876746" cy="398282"/>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a:r>
                <a:rPr lang="en-GB" dirty="0">
                  <a:solidFill>
                    <a:srgbClr val="00B0F0"/>
                  </a:solidFill>
                </a:rPr>
                <a:t>STEP 3: Add Explanation</a:t>
              </a:r>
            </a:p>
          </p:txBody>
        </p:sp>
        <p:sp>
          <p:nvSpPr>
            <p:cNvPr id="10" name="Arrow: Chevron 9">
              <a:extLst>
                <a:ext uri="{FF2B5EF4-FFF2-40B4-BE49-F238E27FC236}">
                  <a16:creationId xmlns:a16="http://schemas.microsoft.com/office/drawing/2014/main" id="{BE38D831-51C8-9D68-B958-D4E7469336D9}"/>
                </a:ext>
              </a:extLst>
            </p:cNvPr>
            <p:cNvSpPr/>
            <p:nvPr/>
          </p:nvSpPr>
          <p:spPr>
            <a:xfrm>
              <a:off x="838200" y="4774184"/>
              <a:ext cx="565608" cy="645624"/>
            </a:xfrm>
            <a:prstGeom prst="chevron">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sp>
        <p:nvSpPr>
          <p:cNvPr id="11" name="TextBox 10">
            <a:extLst>
              <a:ext uri="{FF2B5EF4-FFF2-40B4-BE49-F238E27FC236}">
                <a16:creationId xmlns:a16="http://schemas.microsoft.com/office/drawing/2014/main" id="{9DDBC9CD-BCD9-EDFA-7B1B-0348202AF89B}"/>
              </a:ext>
            </a:extLst>
          </p:cNvPr>
          <p:cNvSpPr txBox="1"/>
          <p:nvPr/>
        </p:nvSpPr>
        <p:spPr>
          <a:xfrm>
            <a:off x="3696486" y="2079446"/>
            <a:ext cx="7214647" cy="923330"/>
          </a:xfrm>
          <a:prstGeom prst="rect">
            <a:avLst/>
          </a:prstGeom>
          <a:noFill/>
        </p:spPr>
        <p:txBody>
          <a:bodyPr wrap="square" rtlCol="0">
            <a:spAutoFit/>
          </a:bodyPr>
          <a:lstStyle/>
          <a:p>
            <a:r>
              <a:rPr lang="en-GB" dirty="0"/>
              <a:t>Data to be processed is grouped/held in bundles</a:t>
            </a:r>
          </a:p>
          <a:p>
            <a:r>
              <a:rPr lang="en-GB" dirty="0"/>
              <a:t>… until a suitable quantity/processing time is reached</a:t>
            </a:r>
          </a:p>
          <a:p>
            <a:r>
              <a:rPr lang="en-GB" dirty="0"/>
              <a:t>The entire data is processed in one go.</a:t>
            </a:r>
          </a:p>
        </p:txBody>
      </p:sp>
      <p:sp>
        <p:nvSpPr>
          <p:cNvPr id="12" name="TextBox 11">
            <a:extLst>
              <a:ext uri="{FF2B5EF4-FFF2-40B4-BE49-F238E27FC236}">
                <a16:creationId xmlns:a16="http://schemas.microsoft.com/office/drawing/2014/main" id="{185590F0-090B-B80C-6D0B-834123C02C31}"/>
              </a:ext>
            </a:extLst>
          </p:cNvPr>
          <p:cNvSpPr txBox="1"/>
          <p:nvPr/>
        </p:nvSpPr>
        <p:spPr>
          <a:xfrm>
            <a:off x="3923908" y="3227731"/>
            <a:ext cx="7214647" cy="1477328"/>
          </a:xfrm>
          <a:prstGeom prst="rect">
            <a:avLst/>
          </a:prstGeom>
          <a:noFill/>
        </p:spPr>
        <p:txBody>
          <a:bodyPr wrap="square" rtlCol="0">
            <a:spAutoFit/>
          </a:bodyPr>
          <a:lstStyle/>
          <a:p>
            <a:r>
              <a:rPr lang="en-GB" dirty="0"/>
              <a:t>Data to be processed is grouped/held in bundles</a:t>
            </a:r>
          </a:p>
          <a:p>
            <a:r>
              <a:rPr lang="en-GB" dirty="0"/>
              <a:t>… until a suitable quantity/processing time is reached. </a:t>
            </a:r>
            <a:r>
              <a:rPr lang="en-GB" dirty="0">
                <a:solidFill>
                  <a:srgbClr val="FF0000"/>
                </a:solidFill>
              </a:rPr>
              <a:t>This is called a </a:t>
            </a:r>
            <a:r>
              <a:rPr lang="en-GB" b="1" dirty="0">
                <a:solidFill>
                  <a:srgbClr val="FF0000"/>
                </a:solidFill>
              </a:rPr>
              <a:t>batch</a:t>
            </a:r>
          </a:p>
          <a:p>
            <a:r>
              <a:rPr lang="en-GB" dirty="0"/>
              <a:t>The entire </a:t>
            </a:r>
            <a:r>
              <a:rPr lang="en-GB" b="1" dirty="0">
                <a:solidFill>
                  <a:srgbClr val="FF0000"/>
                </a:solidFill>
              </a:rPr>
              <a:t>batch</a:t>
            </a:r>
            <a:r>
              <a:rPr lang="en-GB" dirty="0"/>
              <a:t> is processed in one go</a:t>
            </a:r>
            <a:r>
              <a:rPr lang="en-GB" dirty="0">
                <a:solidFill>
                  <a:srgbClr val="FF0000"/>
                </a:solidFill>
              </a:rPr>
              <a:t>, </a:t>
            </a:r>
          </a:p>
          <a:p>
            <a:r>
              <a:rPr lang="en-GB" dirty="0">
                <a:solidFill>
                  <a:srgbClr val="FF0000"/>
                </a:solidFill>
              </a:rPr>
              <a:t>…usually at an </a:t>
            </a:r>
            <a:r>
              <a:rPr lang="en-GB" b="1" dirty="0">
                <a:solidFill>
                  <a:srgbClr val="FF0000"/>
                </a:solidFill>
              </a:rPr>
              <a:t>off-peak period</a:t>
            </a:r>
            <a:r>
              <a:rPr lang="en-GB" dirty="0">
                <a:solidFill>
                  <a:srgbClr val="FF0000"/>
                </a:solidFill>
              </a:rPr>
              <a:t> such as </a:t>
            </a:r>
            <a:r>
              <a:rPr lang="en-GB" b="1" dirty="0">
                <a:solidFill>
                  <a:srgbClr val="FF0000"/>
                </a:solidFill>
              </a:rPr>
              <a:t>overnight</a:t>
            </a:r>
            <a:r>
              <a:rPr lang="en-GB" dirty="0">
                <a:solidFill>
                  <a:srgbClr val="FF0000"/>
                </a:solidFill>
              </a:rPr>
              <a:t>.</a:t>
            </a:r>
          </a:p>
          <a:p>
            <a:r>
              <a:rPr lang="en-GB" dirty="0">
                <a:solidFill>
                  <a:srgbClr val="FF0000"/>
                </a:solidFill>
              </a:rPr>
              <a:t>This is processed without </a:t>
            </a:r>
            <a:r>
              <a:rPr lang="en-GB" b="1" dirty="0">
                <a:solidFill>
                  <a:srgbClr val="FF0000"/>
                </a:solidFill>
              </a:rPr>
              <a:t>human intervention </a:t>
            </a:r>
            <a:r>
              <a:rPr lang="en-GB" dirty="0">
                <a:solidFill>
                  <a:srgbClr val="FF0000"/>
                </a:solidFill>
              </a:rPr>
              <a:t>using </a:t>
            </a:r>
            <a:r>
              <a:rPr lang="en-GB" b="1" dirty="0">
                <a:solidFill>
                  <a:srgbClr val="FF0000"/>
                </a:solidFill>
              </a:rPr>
              <a:t>validation.</a:t>
            </a:r>
          </a:p>
        </p:txBody>
      </p:sp>
      <p:sp>
        <p:nvSpPr>
          <p:cNvPr id="13" name="TextBox 12">
            <a:extLst>
              <a:ext uri="{FF2B5EF4-FFF2-40B4-BE49-F238E27FC236}">
                <a16:creationId xmlns:a16="http://schemas.microsoft.com/office/drawing/2014/main" id="{792F1F7B-3498-4681-E21A-3DDFE620E445}"/>
              </a:ext>
            </a:extLst>
          </p:cNvPr>
          <p:cNvSpPr txBox="1"/>
          <p:nvPr/>
        </p:nvSpPr>
        <p:spPr>
          <a:xfrm>
            <a:off x="4158399" y="4703560"/>
            <a:ext cx="7214647" cy="2308324"/>
          </a:xfrm>
          <a:prstGeom prst="rect">
            <a:avLst/>
          </a:prstGeom>
          <a:noFill/>
        </p:spPr>
        <p:txBody>
          <a:bodyPr wrap="square" rtlCol="0">
            <a:spAutoFit/>
          </a:bodyPr>
          <a:lstStyle/>
          <a:p>
            <a:r>
              <a:rPr lang="en-GB" dirty="0"/>
              <a:t>Data to be processed is grouped/held in bundles</a:t>
            </a:r>
          </a:p>
          <a:p>
            <a:r>
              <a:rPr lang="en-GB" dirty="0"/>
              <a:t>… until a suitable quantity/processing time is reached. This is called a batch</a:t>
            </a:r>
          </a:p>
          <a:p>
            <a:r>
              <a:rPr lang="en-GB" dirty="0"/>
              <a:t>The entire batch is processed in one go, </a:t>
            </a:r>
          </a:p>
          <a:p>
            <a:r>
              <a:rPr lang="en-GB" dirty="0"/>
              <a:t>…usually at an off-peak period such as overnight.</a:t>
            </a:r>
          </a:p>
          <a:p>
            <a:r>
              <a:rPr lang="en-GB" dirty="0"/>
              <a:t>This is processed without human </a:t>
            </a:r>
            <a:r>
              <a:rPr lang="en-GB" dirty="0">
                <a:solidFill>
                  <a:srgbClr val="FF0000"/>
                </a:solidFill>
              </a:rPr>
              <a:t>intervention </a:t>
            </a:r>
          </a:p>
          <a:p>
            <a:r>
              <a:rPr lang="en-GB" dirty="0">
                <a:solidFill>
                  <a:srgbClr val="FF0000"/>
                </a:solidFill>
              </a:rPr>
              <a:t>… as all data undergoes the same processing.</a:t>
            </a:r>
          </a:p>
          <a:p>
            <a:r>
              <a:rPr lang="en-GB" dirty="0"/>
              <a:t>… Validation is often used</a:t>
            </a:r>
            <a:r>
              <a:rPr lang="en-GB" dirty="0">
                <a:solidFill>
                  <a:srgbClr val="FF0000"/>
                </a:solidFill>
              </a:rPr>
              <a:t>, such as control or batch total</a:t>
            </a:r>
            <a:r>
              <a:rPr lang="en-GB" dirty="0"/>
              <a:t>.</a:t>
            </a:r>
          </a:p>
          <a:p>
            <a:endParaRPr lang="en-GB" dirty="0">
              <a:solidFill>
                <a:srgbClr val="FF0000"/>
              </a:solidFill>
            </a:endParaRPr>
          </a:p>
        </p:txBody>
      </p:sp>
    </p:spTree>
    <p:extLst>
      <p:ext uri="{BB962C8B-B14F-4D97-AF65-F5344CB8AC3E}">
        <p14:creationId xmlns:p14="http://schemas.microsoft.com/office/powerpoint/2010/main" val="141230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0-#ppt_w/2"/>
                                          </p:val>
                                        </p:tav>
                                        <p:tav tm="100000">
                                          <p:val>
                                            <p:strVal val="#ppt_x"/>
                                          </p:val>
                                        </p:tav>
                                      </p:tavLst>
                                    </p:anim>
                                    <p:anim calcmode="lin" valueType="num">
                                      <p:cBhvr additive="base">
                                        <p:cTn id="19"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0-#ppt_w/2"/>
                                          </p:val>
                                        </p:tav>
                                        <p:tav tm="100000">
                                          <p:val>
                                            <p:strVal val="#ppt_x"/>
                                          </p:val>
                                        </p:tav>
                                      </p:tavLst>
                                    </p:anim>
                                    <p:anim calcmode="lin" valueType="num">
                                      <p:cBhvr additive="base">
                                        <p:cTn id="30"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Atm pictures clip art clipart collection jpg - Clipartix">
            <a:extLst>
              <a:ext uri="{FF2B5EF4-FFF2-40B4-BE49-F238E27FC236}">
                <a16:creationId xmlns:a16="http://schemas.microsoft.com/office/drawing/2014/main" id="{856A2F0D-628C-0AAC-872F-746C253DE6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939" r="13822" b="5611"/>
          <a:stretch/>
        </p:blipFill>
        <p:spPr bwMode="auto">
          <a:xfrm>
            <a:off x="-1" y="384772"/>
            <a:ext cx="2963778" cy="647322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3BD26FA-38F3-303E-E9FB-2E2BAF814473}"/>
              </a:ext>
            </a:extLst>
          </p:cNvPr>
          <p:cNvSpPr>
            <a:spLocks noGrp="1"/>
          </p:cNvSpPr>
          <p:nvPr>
            <p:ph type="title"/>
          </p:nvPr>
        </p:nvSpPr>
        <p:spPr>
          <a:xfrm>
            <a:off x="2572350" y="0"/>
            <a:ext cx="8475845" cy="1325563"/>
          </a:xfrm>
        </p:spPr>
        <p:txBody>
          <a:bodyPr/>
          <a:lstStyle/>
          <a:p>
            <a:r>
              <a:rPr lang="en-GB" dirty="0"/>
              <a:t>Automated Teller Machines (ATMs)</a:t>
            </a:r>
          </a:p>
        </p:txBody>
      </p:sp>
      <p:sp>
        <p:nvSpPr>
          <p:cNvPr id="3" name="Content Placeholder 2">
            <a:extLst>
              <a:ext uri="{FF2B5EF4-FFF2-40B4-BE49-F238E27FC236}">
                <a16:creationId xmlns:a16="http://schemas.microsoft.com/office/drawing/2014/main" id="{B6EF43DF-384B-0724-6749-E98A80314AB0}"/>
              </a:ext>
            </a:extLst>
          </p:cNvPr>
          <p:cNvSpPr>
            <a:spLocks noGrp="1"/>
          </p:cNvSpPr>
          <p:nvPr>
            <p:ph idx="1"/>
          </p:nvPr>
        </p:nvSpPr>
        <p:spPr>
          <a:xfrm>
            <a:off x="2782501" y="1530417"/>
            <a:ext cx="8055544" cy="5130265"/>
          </a:xfrm>
        </p:spPr>
        <p:txBody>
          <a:bodyPr>
            <a:normAutofit/>
          </a:bodyPr>
          <a:lstStyle/>
          <a:p>
            <a:pPr marL="0" indent="0">
              <a:buNone/>
            </a:pPr>
            <a:r>
              <a:rPr lang="en-GB" dirty="0"/>
              <a:t>What Are They?</a:t>
            </a:r>
          </a:p>
          <a:p>
            <a:pPr marL="0" indent="0">
              <a:buNone/>
            </a:pPr>
            <a:endParaRPr lang="en-GB" dirty="0"/>
          </a:p>
          <a:p>
            <a:pPr marL="0" indent="0">
              <a:buNone/>
            </a:pPr>
            <a:r>
              <a:rPr lang="en-GB" dirty="0"/>
              <a:t>INPUTS</a:t>
            </a:r>
          </a:p>
          <a:p>
            <a:pPr marL="0" indent="0">
              <a:buNone/>
            </a:pPr>
            <a:endParaRPr lang="en-GB" dirty="0"/>
          </a:p>
          <a:p>
            <a:pPr marL="0" indent="0">
              <a:buNone/>
            </a:pPr>
            <a:endParaRPr lang="en-GB" dirty="0"/>
          </a:p>
          <a:p>
            <a:pPr marL="0" indent="0">
              <a:buNone/>
            </a:pPr>
            <a:r>
              <a:rPr lang="en-GB" dirty="0"/>
              <a:t>PROCESSES</a:t>
            </a:r>
          </a:p>
          <a:p>
            <a:pPr marL="0" indent="0">
              <a:buNone/>
            </a:pPr>
            <a:endParaRPr lang="en-GB" dirty="0"/>
          </a:p>
          <a:p>
            <a:pPr marL="0" indent="0">
              <a:buNone/>
            </a:pPr>
            <a:endParaRPr lang="en-GB" dirty="0"/>
          </a:p>
          <a:p>
            <a:pPr marL="0" indent="0">
              <a:buNone/>
            </a:pPr>
            <a:r>
              <a:rPr lang="en-GB" dirty="0"/>
              <a:t>OUTPUTS</a:t>
            </a:r>
          </a:p>
        </p:txBody>
      </p:sp>
      <p:sp>
        <p:nvSpPr>
          <p:cNvPr id="4" name="TextBox 3">
            <a:extLst>
              <a:ext uri="{FF2B5EF4-FFF2-40B4-BE49-F238E27FC236}">
                <a16:creationId xmlns:a16="http://schemas.microsoft.com/office/drawing/2014/main" id="{12F5EB7C-F265-5FD6-B0C5-8A22B5C59118}"/>
              </a:ext>
            </a:extLst>
          </p:cNvPr>
          <p:cNvSpPr txBox="1"/>
          <p:nvPr/>
        </p:nvSpPr>
        <p:spPr>
          <a:xfrm>
            <a:off x="4523471" y="2213869"/>
            <a:ext cx="4754880" cy="1477328"/>
          </a:xfrm>
          <a:prstGeom prst="rect">
            <a:avLst/>
          </a:prstGeom>
          <a:noFill/>
        </p:spPr>
        <p:txBody>
          <a:bodyPr wrap="square" rtlCol="0">
            <a:spAutoFit/>
          </a:bodyPr>
          <a:lstStyle/>
          <a:p>
            <a:r>
              <a:rPr lang="en-GB" dirty="0"/>
              <a:t>Cash Card</a:t>
            </a:r>
          </a:p>
          <a:p>
            <a:r>
              <a:rPr lang="en-GB" dirty="0"/>
              <a:t>PIN (Personal Identification Number)</a:t>
            </a:r>
          </a:p>
          <a:p>
            <a:r>
              <a:rPr lang="en-GB" dirty="0"/>
              <a:t>Menu Choice/Option</a:t>
            </a:r>
          </a:p>
          <a:p>
            <a:r>
              <a:rPr lang="en-GB" dirty="0"/>
              <a:t>Amount of Cash</a:t>
            </a:r>
          </a:p>
          <a:p>
            <a:endParaRPr lang="en-GB" dirty="0"/>
          </a:p>
        </p:txBody>
      </p:sp>
      <p:sp>
        <p:nvSpPr>
          <p:cNvPr id="5" name="TextBox 4">
            <a:extLst>
              <a:ext uri="{FF2B5EF4-FFF2-40B4-BE49-F238E27FC236}">
                <a16:creationId xmlns:a16="http://schemas.microsoft.com/office/drawing/2014/main" id="{648C072F-3533-6EA1-F321-E33F189FC9B4}"/>
              </a:ext>
            </a:extLst>
          </p:cNvPr>
          <p:cNvSpPr txBox="1"/>
          <p:nvPr/>
        </p:nvSpPr>
        <p:spPr>
          <a:xfrm>
            <a:off x="4523471" y="5111210"/>
            <a:ext cx="4754880" cy="1754326"/>
          </a:xfrm>
          <a:prstGeom prst="rect">
            <a:avLst/>
          </a:prstGeom>
          <a:noFill/>
        </p:spPr>
        <p:txBody>
          <a:bodyPr wrap="square" rtlCol="0">
            <a:spAutoFit/>
          </a:bodyPr>
          <a:lstStyle/>
          <a:p>
            <a:r>
              <a:rPr lang="en-GB" dirty="0"/>
              <a:t>Cash/Sum of money</a:t>
            </a:r>
          </a:p>
          <a:p>
            <a:r>
              <a:rPr lang="en-GB" dirty="0"/>
              <a:t>User Instructions on the screen</a:t>
            </a:r>
          </a:p>
          <a:p>
            <a:r>
              <a:rPr lang="en-GB" dirty="0"/>
              <a:t>Error Messages on the screen</a:t>
            </a:r>
          </a:p>
          <a:p>
            <a:r>
              <a:rPr lang="en-GB" dirty="0"/>
              <a:t>Printed Receipt</a:t>
            </a:r>
          </a:p>
          <a:p>
            <a:r>
              <a:rPr lang="en-GB" dirty="0"/>
              <a:t>Sounds (i.e. beeps)</a:t>
            </a:r>
          </a:p>
          <a:p>
            <a:endParaRPr lang="en-GB" dirty="0"/>
          </a:p>
        </p:txBody>
      </p:sp>
      <p:sp>
        <p:nvSpPr>
          <p:cNvPr id="6" name="TextBox 5">
            <a:extLst>
              <a:ext uri="{FF2B5EF4-FFF2-40B4-BE49-F238E27FC236}">
                <a16:creationId xmlns:a16="http://schemas.microsoft.com/office/drawing/2014/main" id="{C6EA3EFB-DA51-2A41-2F8F-CE1F356C7078}"/>
              </a:ext>
            </a:extLst>
          </p:cNvPr>
          <p:cNvSpPr txBox="1"/>
          <p:nvPr/>
        </p:nvSpPr>
        <p:spPr>
          <a:xfrm>
            <a:off x="4523471" y="3734800"/>
            <a:ext cx="4754880" cy="1200329"/>
          </a:xfrm>
          <a:prstGeom prst="rect">
            <a:avLst/>
          </a:prstGeom>
          <a:noFill/>
        </p:spPr>
        <p:txBody>
          <a:bodyPr wrap="square" rtlCol="0">
            <a:spAutoFit/>
          </a:bodyPr>
          <a:lstStyle/>
          <a:p>
            <a:r>
              <a:rPr lang="en-GB" dirty="0"/>
              <a:t>Checking Balance on account</a:t>
            </a:r>
          </a:p>
          <a:p>
            <a:r>
              <a:rPr lang="en-GB" dirty="0"/>
              <a:t>Changing PIN</a:t>
            </a:r>
          </a:p>
          <a:p>
            <a:r>
              <a:rPr lang="en-GB" dirty="0"/>
              <a:t>Updating Balance on account</a:t>
            </a:r>
          </a:p>
          <a:p>
            <a:r>
              <a:rPr lang="en-GB" dirty="0"/>
              <a:t>Generating Receipt</a:t>
            </a:r>
          </a:p>
        </p:txBody>
      </p:sp>
      <p:sp>
        <p:nvSpPr>
          <p:cNvPr id="7" name="TextBox 6">
            <a:extLst>
              <a:ext uri="{FF2B5EF4-FFF2-40B4-BE49-F238E27FC236}">
                <a16:creationId xmlns:a16="http://schemas.microsoft.com/office/drawing/2014/main" id="{DB895297-33EB-FA24-A991-E07A939D3B4F}"/>
              </a:ext>
            </a:extLst>
          </p:cNvPr>
          <p:cNvSpPr txBox="1"/>
          <p:nvPr/>
        </p:nvSpPr>
        <p:spPr>
          <a:xfrm>
            <a:off x="5303521" y="1195035"/>
            <a:ext cx="6888479" cy="1354217"/>
          </a:xfrm>
          <a:prstGeom prst="rect">
            <a:avLst/>
          </a:prstGeom>
          <a:noFill/>
        </p:spPr>
        <p:txBody>
          <a:bodyPr wrap="square" rtlCol="0">
            <a:spAutoFit/>
          </a:bodyPr>
          <a:lstStyle/>
          <a:p>
            <a:r>
              <a:rPr lang="en-GB" sz="1600" i="1" dirty="0"/>
              <a:t>Also known as cash dispensers, an ATM is a machine that automatically issues banknotes to customers when authorised by a credit/debit card, and authenticated by a PIN. The user’s bank account is updated with the value of the transaction.</a:t>
            </a:r>
          </a:p>
          <a:p>
            <a:endParaRPr lang="en-GB" dirty="0"/>
          </a:p>
        </p:txBody>
      </p:sp>
      <p:pic>
        <p:nvPicPr>
          <p:cNvPr id="5124" name="Picture 4" descr="Input Output Stock Illustrations, Royalty-Free Vector Graphics &amp; Clip Art -  iStock | Efficiency icon, Efficiency concept, Business efficiency">
            <a:extLst>
              <a:ext uri="{FF2B5EF4-FFF2-40B4-BE49-F238E27FC236}">
                <a16:creationId xmlns:a16="http://schemas.microsoft.com/office/drawing/2014/main" id="{73378ED3-A2D1-BA81-8F2F-87DD7FF804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001" t="11157" r="42441" b="53680"/>
          <a:stretch/>
        </p:blipFill>
        <p:spPr bwMode="auto">
          <a:xfrm>
            <a:off x="7511704" y="3796088"/>
            <a:ext cx="1125302" cy="10777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Input Output Stock Illustrations, Royalty-Free Vector Graphics &amp; Clip Art -  iStock | Efficiency icon, Efficiency concept, Business efficiency">
            <a:extLst>
              <a:ext uri="{FF2B5EF4-FFF2-40B4-BE49-F238E27FC236}">
                <a16:creationId xmlns:a16="http://schemas.microsoft.com/office/drawing/2014/main" id="{C15CABE8-2F1F-CF2D-11B7-79EA992F03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784" t="11819" r="61658" b="53018"/>
          <a:stretch/>
        </p:blipFill>
        <p:spPr bwMode="auto">
          <a:xfrm>
            <a:off x="8153049" y="2109036"/>
            <a:ext cx="1125302" cy="10777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Input Output Stock Illustrations, Royalty-Free Vector Graphics &amp; Clip Art -  iStock | Efficiency icon, Efficiency concept, Business efficiency">
            <a:extLst>
              <a:ext uri="{FF2B5EF4-FFF2-40B4-BE49-F238E27FC236}">
                <a16:creationId xmlns:a16="http://schemas.microsoft.com/office/drawing/2014/main" id="{EF99CF3E-294F-3490-6203-5989017BBD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3020" t="10905" r="23422" b="53932"/>
          <a:stretch/>
        </p:blipFill>
        <p:spPr bwMode="auto">
          <a:xfrm>
            <a:off x="7651785" y="5362559"/>
            <a:ext cx="1125302" cy="1077751"/>
          </a:xfrm>
          <a:prstGeom prst="rect">
            <a:avLst/>
          </a:prstGeom>
          <a:noFill/>
          <a:extLst>
            <a:ext uri="{909E8E84-426E-40DD-AFC4-6F175D3DCCD1}">
              <a14:hiddenFill xmlns:a14="http://schemas.microsoft.com/office/drawing/2010/main">
                <a:solidFill>
                  <a:srgbClr val="FFFFFF"/>
                </a:solidFill>
              </a14:hiddenFill>
            </a:ext>
          </a:extLst>
        </p:spPr>
      </p:pic>
      <p:sp>
        <p:nvSpPr>
          <p:cNvPr id="11" name="Right Triangle 10">
            <a:extLst>
              <a:ext uri="{FF2B5EF4-FFF2-40B4-BE49-F238E27FC236}">
                <a16:creationId xmlns:a16="http://schemas.microsoft.com/office/drawing/2014/main" id="{5250DCFB-00E6-DAFB-B15E-F3ABC30F468F}"/>
              </a:ext>
            </a:extLst>
          </p:cNvPr>
          <p:cNvSpPr/>
          <p:nvPr/>
        </p:nvSpPr>
        <p:spPr>
          <a:xfrm rot="5400000">
            <a:off x="540977" y="-273830"/>
            <a:ext cx="801653" cy="1592920"/>
          </a:xfrm>
          <a:prstGeom prst="rtTriangle">
            <a:avLst/>
          </a:prstGeom>
          <a:solidFill>
            <a:srgbClr val="F0BE39"/>
          </a:solidFill>
          <a:ln w="76200">
            <a:solidFill>
              <a:srgbClr val="4E4E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ight Triangle 9">
            <a:extLst>
              <a:ext uri="{FF2B5EF4-FFF2-40B4-BE49-F238E27FC236}">
                <a16:creationId xmlns:a16="http://schemas.microsoft.com/office/drawing/2014/main" id="{9FBCB8B7-4535-542E-A310-D5CDB17FFCAB}"/>
              </a:ext>
            </a:extLst>
          </p:cNvPr>
          <p:cNvSpPr/>
          <p:nvPr/>
        </p:nvSpPr>
        <p:spPr>
          <a:xfrm rot="16200000">
            <a:off x="9013354" y="3679607"/>
            <a:ext cx="2004707" cy="4133524"/>
          </a:xfrm>
          <a:prstGeom prst="rtTriangle">
            <a:avLst/>
          </a:prstGeom>
          <a:solidFill>
            <a:srgbClr val="A7D887"/>
          </a:solidFill>
          <a:ln w="76200">
            <a:solidFill>
              <a:srgbClr val="4E4E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19427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nodeType="withEffect">
                                  <p:stCondLst>
                                    <p:cond delay="0"/>
                                  </p:stCondLst>
                                  <p:childTnLst>
                                    <p:set>
                                      <p:cBhvr>
                                        <p:cTn id="37" dur="1" fill="hold">
                                          <p:stCondLst>
                                            <p:cond delay="0"/>
                                          </p:stCondLst>
                                        </p:cTn>
                                        <p:tgtEl>
                                          <p:spTgt spid="5124"/>
                                        </p:tgtEl>
                                        <p:attrNameLst>
                                          <p:attrName>style.visibility</p:attrName>
                                        </p:attrNameLst>
                                      </p:cBhvr>
                                      <p:to>
                                        <p:strVal val="visible"/>
                                      </p:to>
                                    </p:set>
                                    <p:animEffect transition="in" filter="fade">
                                      <p:cBhvr>
                                        <p:cTn id="38" dur="500"/>
                                        <p:tgtEl>
                                          <p:spTgt spid="512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500"/>
                                        <p:tgtEl>
                                          <p:spTgt spid="5"/>
                                        </p:tgtEl>
                                      </p:cBhvr>
                                    </p:animEffect>
                                  </p:childTnLst>
                                </p:cTn>
                              </p:par>
                              <p:par>
                                <p:cTn id="49" presetID="10" presetClass="entr" presetSubtype="0" fill="hold"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10,900+ Point Of Sale Illustrations, Royalty-Free Vector Graphics &amp; Clip Art  - iStock | Point of purchase display, Pos machine, Restaurant pos">
            <a:extLst>
              <a:ext uri="{FF2B5EF4-FFF2-40B4-BE49-F238E27FC236}">
                <a16:creationId xmlns:a16="http://schemas.microsoft.com/office/drawing/2014/main" id="{07F1CFE0-6FCA-B3CF-DB2B-CA97695B7E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2880"/>
            <a:ext cx="3403243" cy="340324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3BD26FA-38F3-303E-E9FB-2E2BAF814473}"/>
              </a:ext>
            </a:extLst>
          </p:cNvPr>
          <p:cNvSpPr>
            <a:spLocks noGrp="1"/>
          </p:cNvSpPr>
          <p:nvPr>
            <p:ph type="title"/>
          </p:nvPr>
        </p:nvSpPr>
        <p:spPr>
          <a:xfrm>
            <a:off x="2572350" y="0"/>
            <a:ext cx="8475845" cy="1325563"/>
          </a:xfrm>
        </p:spPr>
        <p:txBody>
          <a:bodyPr/>
          <a:lstStyle/>
          <a:p>
            <a:r>
              <a:rPr lang="en-GB" dirty="0"/>
              <a:t>POS (Point Of Sale) Terminals</a:t>
            </a:r>
          </a:p>
        </p:txBody>
      </p:sp>
      <p:sp>
        <p:nvSpPr>
          <p:cNvPr id="3" name="Content Placeholder 2">
            <a:extLst>
              <a:ext uri="{FF2B5EF4-FFF2-40B4-BE49-F238E27FC236}">
                <a16:creationId xmlns:a16="http://schemas.microsoft.com/office/drawing/2014/main" id="{B6EF43DF-384B-0724-6749-E98A80314AB0}"/>
              </a:ext>
            </a:extLst>
          </p:cNvPr>
          <p:cNvSpPr>
            <a:spLocks noGrp="1"/>
          </p:cNvSpPr>
          <p:nvPr>
            <p:ph idx="1"/>
          </p:nvPr>
        </p:nvSpPr>
        <p:spPr>
          <a:xfrm>
            <a:off x="3447166" y="1522880"/>
            <a:ext cx="8055544" cy="5130265"/>
          </a:xfrm>
        </p:spPr>
        <p:txBody>
          <a:bodyPr>
            <a:normAutofit/>
          </a:bodyPr>
          <a:lstStyle/>
          <a:p>
            <a:pPr marL="0" indent="0">
              <a:buNone/>
            </a:pPr>
            <a:r>
              <a:rPr lang="en-GB" dirty="0"/>
              <a:t>What Are They?</a:t>
            </a:r>
          </a:p>
          <a:p>
            <a:pPr marL="0" indent="0">
              <a:buNone/>
            </a:pPr>
            <a:endParaRPr lang="en-GB" dirty="0"/>
          </a:p>
          <a:p>
            <a:pPr marL="0" indent="0">
              <a:buNone/>
            </a:pPr>
            <a:r>
              <a:rPr lang="en-GB" dirty="0"/>
              <a:t>INPUTS</a:t>
            </a:r>
          </a:p>
          <a:p>
            <a:pPr marL="0" indent="0">
              <a:buNone/>
            </a:pPr>
            <a:endParaRPr lang="en-GB" dirty="0"/>
          </a:p>
          <a:p>
            <a:pPr marL="0" indent="0">
              <a:buNone/>
            </a:pPr>
            <a:endParaRPr lang="en-GB" dirty="0"/>
          </a:p>
          <a:p>
            <a:pPr marL="0" indent="0">
              <a:buNone/>
            </a:pPr>
            <a:r>
              <a:rPr lang="en-GB" dirty="0"/>
              <a:t>PROCESSES</a:t>
            </a:r>
          </a:p>
          <a:p>
            <a:pPr marL="0" indent="0">
              <a:buNone/>
            </a:pPr>
            <a:endParaRPr lang="en-GB" dirty="0"/>
          </a:p>
          <a:p>
            <a:pPr marL="0" indent="0">
              <a:buNone/>
            </a:pPr>
            <a:endParaRPr lang="en-GB" dirty="0"/>
          </a:p>
          <a:p>
            <a:pPr marL="0" indent="0">
              <a:buNone/>
            </a:pPr>
            <a:r>
              <a:rPr lang="en-GB" dirty="0"/>
              <a:t>OUTPUTS</a:t>
            </a:r>
          </a:p>
        </p:txBody>
      </p:sp>
      <p:sp>
        <p:nvSpPr>
          <p:cNvPr id="4" name="TextBox 3">
            <a:extLst>
              <a:ext uri="{FF2B5EF4-FFF2-40B4-BE49-F238E27FC236}">
                <a16:creationId xmlns:a16="http://schemas.microsoft.com/office/drawing/2014/main" id="{12F5EB7C-F265-5FD6-B0C5-8A22B5C59118}"/>
              </a:ext>
            </a:extLst>
          </p:cNvPr>
          <p:cNvSpPr txBox="1"/>
          <p:nvPr/>
        </p:nvSpPr>
        <p:spPr>
          <a:xfrm>
            <a:off x="5188136" y="2206332"/>
            <a:ext cx="4754880" cy="1477328"/>
          </a:xfrm>
          <a:prstGeom prst="rect">
            <a:avLst/>
          </a:prstGeom>
          <a:noFill/>
        </p:spPr>
        <p:txBody>
          <a:bodyPr wrap="square" rtlCol="0">
            <a:spAutoFit/>
          </a:bodyPr>
          <a:lstStyle/>
          <a:p>
            <a:r>
              <a:rPr lang="en-GB" dirty="0"/>
              <a:t>Cash Card</a:t>
            </a:r>
          </a:p>
          <a:p>
            <a:r>
              <a:rPr lang="en-GB" dirty="0"/>
              <a:t>PIN (Personal Identification Number)</a:t>
            </a:r>
          </a:p>
          <a:p>
            <a:r>
              <a:rPr lang="en-GB" dirty="0"/>
              <a:t>Product Barcode</a:t>
            </a:r>
          </a:p>
          <a:p>
            <a:r>
              <a:rPr lang="en-GB" dirty="0"/>
              <a:t>Amount of Cash</a:t>
            </a:r>
          </a:p>
          <a:p>
            <a:endParaRPr lang="en-GB" dirty="0"/>
          </a:p>
        </p:txBody>
      </p:sp>
      <p:sp>
        <p:nvSpPr>
          <p:cNvPr id="5" name="TextBox 4">
            <a:extLst>
              <a:ext uri="{FF2B5EF4-FFF2-40B4-BE49-F238E27FC236}">
                <a16:creationId xmlns:a16="http://schemas.microsoft.com/office/drawing/2014/main" id="{648C072F-3533-6EA1-F321-E33F189FC9B4}"/>
              </a:ext>
            </a:extLst>
          </p:cNvPr>
          <p:cNvSpPr txBox="1"/>
          <p:nvPr/>
        </p:nvSpPr>
        <p:spPr>
          <a:xfrm>
            <a:off x="5188136" y="5299929"/>
            <a:ext cx="4754880" cy="1477328"/>
          </a:xfrm>
          <a:prstGeom prst="rect">
            <a:avLst/>
          </a:prstGeom>
          <a:noFill/>
        </p:spPr>
        <p:txBody>
          <a:bodyPr wrap="square" rtlCol="0">
            <a:spAutoFit/>
          </a:bodyPr>
          <a:lstStyle/>
          <a:p>
            <a:r>
              <a:rPr lang="en-GB" dirty="0"/>
              <a:t>User Instructions on the screen</a:t>
            </a:r>
          </a:p>
          <a:p>
            <a:r>
              <a:rPr lang="en-GB" dirty="0"/>
              <a:t>Messages on the screen</a:t>
            </a:r>
          </a:p>
          <a:p>
            <a:r>
              <a:rPr lang="en-GB" dirty="0"/>
              <a:t>Printed Receipt</a:t>
            </a:r>
          </a:p>
          <a:p>
            <a:r>
              <a:rPr lang="en-GB" dirty="0"/>
              <a:t>Sounds (i.e. beeps)</a:t>
            </a:r>
          </a:p>
          <a:p>
            <a:endParaRPr lang="en-GB" dirty="0"/>
          </a:p>
        </p:txBody>
      </p:sp>
      <p:sp>
        <p:nvSpPr>
          <p:cNvPr id="6" name="TextBox 5">
            <a:extLst>
              <a:ext uri="{FF2B5EF4-FFF2-40B4-BE49-F238E27FC236}">
                <a16:creationId xmlns:a16="http://schemas.microsoft.com/office/drawing/2014/main" id="{C6EA3EFB-DA51-2A41-2F8F-CE1F356C7078}"/>
              </a:ext>
            </a:extLst>
          </p:cNvPr>
          <p:cNvSpPr txBox="1"/>
          <p:nvPr/>
        </p:nvSpPr>
        <p:spPr>
          <a:xfrm>
            <a:off x="5188136" y="3727263"/>
            <a:ext cx="4754880" cy="1200329"/>
          </a:xfrm>
          <a:prstGeom prst="rect">
            <a:avLst/>
          </a:prstGeom>
          <a:noFill/>
        </p:spPr>
        <p:txBody>
          <a:bodyPr wrap="square" rtlCol="0">
            <a:spAutoFit/>
          </a:bodyPr>
          <a:lstStyle/>
          <a:p>
            <a:r>
              <a:rPr lang="en-GB" dirty="0"/>
              <a:t>Check cost of item</a:t>
            </a:r>
          </a:p>
          <a:p>
            <a:r>
              <a:rPr lang="en-GB" dirty="0"/>
              <a:t>Create Order</a:t>
            </a:r>
          </a:p>
          <a:p>
            <a:r>
              <a:rPr lang="en-GB" dirty="0"/>
              <a:t>Updating Balance due</a:t>
            </a:r>
          </a:p>
          <a:p>
            <a:r>
              <a:rPr lang="en-GB" dirty="0"/>
              <a:t>Generating Receipt</a:t>
            </a:r>
          </a:p>
        </p:txBody>
      </p:sp>
      <p:sp>
        <p:nvSpPr>
          <p:cNvPr id="7" name="TextBox 6">
            <a:extLst>
              <a:ext uri="{FF2B5EF4-FFF2-40B4-BE49-F238E27FC236}">
                <a16:creationId xmlns:a16="http://schemas.microsoft.com/office/drawing/2014/main" id="{DB895297-33EB-FA24-A991-E07A939D3B4F}"/>
              </a:ext>
            </a:extLst>
          </p:cNvPr>
          <p:cNvSpPr txBox="1"/>
          <p:nvPr/>
        </p:nvSpPr>
        <p:spPr>
          <a:xfrm>
            <a:off x="5968187" y="1187498"/>
            <a:ext cx="6084114" cy="1354217"/>
          </a:xfrm>
          <a:prstGeom prst="rect">
            <a:avLst/>
          </a:prstGeom>
          <a:noFill/>
        </p:spPr>
        <p:txBody>
          <a:bodyPr wrap="square" rtlCol="0">
            <a:spAutoFit/>
          </a:bodyPr>
          <a:lstStyle/>
          <a:p>
            <a:r>
              <a:rPr lang="en-GB" sz="1600" i="1" dirty="0"/>
              <a:t>Specialist terminals used at supermarket checkouts. Having a variety of functions such as electronic funds transfer and barcode scanning to allow prices to be pulled from a database on the network to produce a customers bill.</a:t>
            </a:r>
          </a:p>
          <a:p>
            <a:endParaRPr lang="en-GB" dirty="0"/>
          </a:p>
        </p:txBody>
      </p:sp>
      <p:pic>
        <p:nvPicPr>
          <p:cNvPr id="5124" name="Picture 4" descr="Input Output Stock Illustrations, Royalty-Free Vector Graphics &amp; Clip Art -  iStock | Efficiency icon, Efficiency concept, Business efficiency">
            <a:extLst>
              <a:ext uri="{FF2B5EF4-FFF2-40B4-BE49-F238E27FC236}">
                <a16:creationId xmlns:a16="http://schemas.microsoft.com/office/drawing/2014/main" id="{73378ED3-A2D1-BA81-8F2F-87DD7FF804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001" t="11157" r="42441" b="53680"/>
          <a:stretch/>
        </p:blipFill>
        <p:spPr bwMode="auto">
          <a:xfrm>
            <a:off x="8176369" y="3788551"/>
            <a:ext cx="1125302" cy="10777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Input Output Stock Illustrations, Royalty-Free Vector Graphics &amp; Clip Art -  iStock | Efficiency icon, Efficiency concept, Business efficiency">
            <a:extLst>
              <a:ext uri="{FF2B5EF4-FFF2-40B4-BE49-F238E27FC236}">
                <a16:creationId xmlns:a16="http://schemas.microsoft.com/office/drawing/2014/main" id="{C15CABE8-2F1F-CF2D-11B7-79EA992F03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784" t="11819" r="61658" b="53018"/>
          <a:stretch/>
        </p:blipFill>
        <p:spPr bwMode="auto">
          <a:xfrm>
            <a:off x="8817714" y="2101499"/>
            <a:ext cx="1125302" cy="10777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Input Output Stock Illustrations, Royalty-Free Vector Graphics &amp; Clip Art -  iStock | Efficiency icon, Efficiency concept, Business efficiency">
            <a:extLst>
              <a:ext uri="{FF2B5EF4-FFF2-40B4-BE49-F238E27FC236}">
                <a16:creationId xmlns:a16="http://schemas.microsoft.com/office/drawing/2014/main" id="{EF99CF3E-294F-3490-6203-5989017BBD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3020" t="10905" r="23422" b="53932"/>
          <a:stretch/>
        </p:blipFill>
        <p:spPr bwMode="auto">
          <a:xfrm>
            <a:off x="8316450" y="5355022"/>
            <a:ext cx="1125302" cy="1077751"/>
          </a:xfrm>
          <a:prstGeom prst="rect">
            <a:avLst/>
          </a:prstGeom>
          <a:noFill/>
          <a:extLst>
            <a:ext uri="{909E8E84-426E-40DD-AFC4-6F175D3DCCD1}">
              <a14:hiddenFill xmlns:a14="http://schemas.microsoft.com/office/drawing/2010/main">
                <a:solidFill>
                  <a:srgbClr val="FFFFFF"/>
                </a:solidFill>
              </a14:hiddenFill>
            </a:ext>
          </a:extLst>
        </p:spPr>
      </p:pic>
      <p:sp>
        <p:nvSpPr>
          <p:cNvPr id="11" name="Right Triangle 10">
            <a:extLst>
              <a:ext uri="{FF2B5EF4-FFF2-40B4-BE49-F238E27FC236}">
                <a16:creationId xmlns:a16="http://schemas.microsoft.com/office/drawing/2014/main" id="{5250DCFB-00E6-DAFB-B15E-F3ABC30F468F}"/>
              </a:ext>
            </a:extLst>
          </p:cNvPr>
          <p:cNvSpPr/>
          <p:nvPr/>
        </p:nvSpPr>
        <p:spPr>
          <a:xfrm rot="5400000">
            <a:off x="264694" y="2454"/>
            <a:ext cx="1354219" cy="1592920"/>
          </a:xfrm>
          <a:prstGeom prst="rtTriangle">
            <a:avLst/>
          </a:prstGeom>
          <a:solidFill>
            <a:srgbClr val="14CD72"/>
          </a:solidFill>
          <a:ln w="76200">
            <a:solidFill>
              <a:srgbClr val="4E4E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ight Triangle 9">
            <a:extLst>
              <a:ext uri="{FF2B5EF4-FFF2-40B4-BE49-F238E27FC236}">
                <a16:creationId xmlns:a16="http://schemas.microsoft.com/office/drawing/2014/main" id="{9FBCB8B7-4535-542E-A310-D5CDB17FFCAB}"/>
              </a:ext>
            </a:extLst>
          </p:cNvPr>
          <p:cNvSpPr/>
          <p:nvPr/>
        </p:nvSpPr>
        <p:spPr>
          <a:xfrm rot="16200000">
            <a:off x="8512655" y="3218330"/>
            <a:ext cx="4216262" cy="2863032"/>
          </a:xfrm>
          <a:prstGeom prst="rtTriangle">
            <a:avLst/>
          </a:prstGeom>
          <a:solidFill>
            <a:srgbClr val="A8E3F5"/>
          </a:solidFill>
          <a:ln w="76200">
            <a:solidFill>
              <a:srgbClr val="4E4E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2B354B33-9054-4A87-3056-787CA7CC0582}"/>
              </a:ext>
            </a:extLst>
          </p:cNvPr>
          <p:cNvSpPr/>
          <p:nvPr/>
        </p:nvSpPr>
        <p:spPr>
          <a:xfrm>
            <a:off x="371191" y="4486485"/>
            <a:ext cx="2797521" cy="2271492"/>
          </a:xfrm>
          <a:prstGeom prst="roundRect">
            <a:avLst>
              <a:gd name="adj" fmla="val 4921"/>
            </a:avLst>
          </a:prstGeom>
          <a:solidFill>
            <a:srgbClr val="2C2F36"/>
          </a:solidFill>
          <a:ln w="57150">
            <a:solidFill>
              <a:srgbClr val="1516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95766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nodeType="withEffect">
                                  <p:stCondLst>
                                    <p:cond delay="0"/>
                                  </p:stCondLst>
                                  <p:childTnLst>
                                    <p:set>
                                      <p:cBhvr>
                                        <p:cTn id="37" dur="1" fill="hold">
                                          <p:stCondLst>
                                            <p:cond delay="0"/>
                                          </p:stCondLst>
                                        </p:cTn>
                                        <p:tgtEl>
                                          <p:spTgt spid="5124"/>
                                        </p:tgtEl>
                                        <p:attrNameLst>
                                          <p:attrName>style.visibility</p:attrName>
                                        </p:attrNameLst>
                                      </p:cBhvr>
                                      <p:to>
                                        <p:strVal val="visible"/>
                                      </p:to>
                                    </p:set>
                                    <p:animEffect transition="in" filter="fade">
                                      <p:cBhvr>
                                        <p:cTn id="38" dur="500"/>
                                        <p:tgtEl>
                                          <p:spTgt spid="512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500"/>
                                        <p:tgtEl>
                                          <p:spTgt spid="5"/>
                                        </p:tgtEl>
                                      </p:cBhvr>
                                    </p:animEffect>
                                  </p:childTnLst>
                                </p:cTn>
                              </p:par>
                              <p:par>
                                <p:cTn id="49" presetID="10" presetClass="entr" presetSubtype="0" fill="hold"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D26FA-38F3-303E-E9FB-2E2BAF814473}"/>
              </a:ext>
            </a:extLst>
          </p:cNvPr>
          <p:cNvSpPr>
            <a:spLocks noGrp="1"/>
          </p:cNvSpPr>
          <p:nvPr>
            <p:ph type="title"/>
          </p:nvPr>
        </p:nvSpPr>
        <p:spPr>
          <a:xfrm>
            <a:off x="2572350" y="0"/>
            <a:ext cx="8475845" cy="1325563"/>
          </a:xfrm>
        </p:spPr>
        <p:txBody>
          <a:bodyPr/>
          <a:lstStyle/>
          <a:p>
            <a:r>
              <a:rPr lang="en-GB" dirty="0"/>
              <a:t>Smart Phones</a:t>
            </a:r>
          </a:p>
        </p:txBody>
      </p:sp>
      <p:sp>
        <p:nvSpPr>
          <p:cNvPr id="3" name="Content Placeholder 2">
            <a:extLst>
              <a:ext uri="{FF2B5EF4-FFF2-40B4-BE49-F238E27FC236}">
                <a16:creationId xmlns:a16="http://schemas.microsoft.com/office/drawing/2014/main" id="{B6EF43DF-384B-0724-6749-E98A80314AB0}"/>
              </a:ext>
            </a:extLst>
          </p:cNvPr>
          <p:cNvSpPr>
            <a:spLocks noGrp="1"/>
          </p:cNvSpPr>
          <p:nvPr>
            <p:ph idx="1"/>
          </p:nvPr>
        </p:nvSpPr>
        <p:spPr>
          <a:xfrm>
            <a:off x="3447166" y="1522880"/>
            <a:ext cx="8055544" cy="5130265"/>
          </a:xfrm>
        </p:spPr>
        <p:txBody>
          <a:bodyPr>
            <a:normAutofit/>
          </a:bodyPr>
          <a:lstStyle/>
          <a:p>
            <a:pPr marL="0" indent="0">
              <a:buNone/>
            </a:pPr>
            <a:r>
              <a:rPr lang="en-GB" dirty="0"/>
              <a:t>What Are They?</a:t>
            </a:r>
          </a:p>
          <a:p>
            <a:pPr marL="0" indent="0">
              <a:buNone/>
            </a:pPr>
            <a:endParaRPr lang="en-GB" dirty="0"/>
          </a:p>
          <a:p>
            <a:pPr marL="0" indent="0">
              <a:buNone/>
            </a:pPr>
            <a:r>
              <a:rPr lang="en-GB" dirty="0"/>
              <a:t>INPUTS</a:t>
            </a:r>
          </a:p>
          <a:p>
            <a:pPr marL="0" indent="0">
              <a:buNone/>
            </a:pPr>
            <a:endParaRPr lang="en-GB" dirty="0"/>
          </a:p>
          <a:p>
            <a:pPr marL="0" indent="0">
              <a:buNone/>
            </a:pPr>
            <a:endParaRPr lang="en-GB" dirty="0"/>
          </a:p>
          <a:p>
            <a:pPr marL="0" indent="0">
              <a:buNone/>
            </a:pPr>
            <a:r>
              <a:rPr lang="en-GB" dirty="0"/>
              <a:t>PROCESSES</a:t>
            </a:r>
          </a:p>
          <a:p>
            <a:pPr marL="0" indent="0">
              <a:buNone/>
            </a:pPr>
            <a:endParaRPr lang="en-GB" dirty="0"/>
          </a:p>
          <a:p>
            <a:pPr marL="0" indent="0">
              <a:buNone/>
            </a:pPr>
            <a:endParaRPr lang="en-GB" dirty="0"/>
          </a:p>
          <a:p>
            <a:pPr marL="0" indent="0">
              <a:buNone/>
            </a:pPr>
            <a:r>
              <a:rPr lang="en-GB" dirty="0"/>
              <a:t>OUTPUTS</a:t>
            </a:r>
          </a:p>
        </p:txBody>
      </p:sp>
      <p:sp>
        <p:nvSpPr>
          <p:cNvPr id="4" name="TextBox 3">
            <a:extLst>
              <a:ext uri="{FF2B5EF4-FFF2-40B4-BE49-F238E27FC236}">
                <a16:creationId xmlns:a16="http://schemas.microsoft.com/office/drawing/2014/main" id="{12F5EB7C-F265-5FD6-B0C5-8A22B5C59118}"/>
              </a:ext>
            </a:extLst>
          </p:cNvPr>
          <p:cNvSpPr txBox="1"/>
          <p:nvPr/>
        </p:nvSpPr>
        <p:spPr>
          <a:xfrm>
            <a:off x="5188136" y="2206332"/>
            <a:ext cx="4754880" cy="923330"/>
          </a:xfrm>
          <a:prstGeom prst="rect">
            <a:avLst/>
          </a:prstGeom>
          <a:noFill/>
        </p:spPr>
        <p:txBody>
          <a:bodyPr wrap="square" rtlCol="0">
            <a:spAutoFit/>
          </a:bodyPr>
          <a:lstStyle/>
          <a:p>
            <a:r>
              <a:rPr lang="en-GB" dirty="0"/>
              <a:t>Touch screen</a:t>
            </a:r>
          </a:p>
          <a:p>
            <a:r>
              <a:rPr lang="en-GB" dirty="0"/>
              <a:t>Voice/Sound</a:t>
            </a:r>
          </a:p>
          <a:p>
            <a:r>
              <a:rPr lang="en-GB" dirty="0"/>
              <a:t>Camera</a:t>
            </a:r>
          </a:p>
        </p:txBody>
      </p:sp>
      <p:sp>
        <p:nvSpPr>
          <p:cNvPr id="5" name="TextBox 4">
            <a:extLst>
              <a:ext uri="{FF2B5EF4-FFF2-40B4-BE49-F238E27FC236}">
                <a16:creationId xmlns:a16="http://schemas.microsoft.com/office/drawing/2014/main" id="{648C072F-3533-6EA1-F321-E33F189FC9B4}"/>
              </a:ext>
            </a:extLst>
          </p:cNvPr>
          <p:cNvSpPr txBox="1"/>
          <p:nvPr/>
        </p:nvSpPr>
        <p:spPr>
          <a:xfrm>
            <a:off x="5188136" y="5299929"/>
            <a:ext cx="4754880" cy="1477328"/>
          </a:xfrm>
          <a:prstGeom prst="rect">
            <a:avLst/>
          </a:prstGeom>
          <a:noFill/>
        </p:spPr>
        <p:txBody>
          <a:bodyPr wrap="square" rtlCol="0">
            <a:spAutoFit/>
          </a:bodyPr>
          <a:lstStyle/>
          <a:p>
            <a:r>
              <a:rPr lang="en-GB" dirty="0"/>
              <a:t>Images</a:t>
            </a:r>
          </a:p>
          <a:p>
            <a:r>
              <a:rPr lang="en-GB" dirty="0"/>
              <a:t>Messages on the screen</a:t>
            </a:r>
          </a:p>
          <a:p>
            <a:r>
              <a:rPr lang="en-GB" dirty="0"/>
              <a:t>Vibrations (haptic)</a:t>
            </a:r>
          </a:p>
          <a:p>
            <a:r>
              <a:rPr lang="en-GB" dirty="0"/>
              <a:t>Sounds (i.e. beeps)</a:t>
            </a:r>
          </a:p>
          <a:p>
            <a:endParaRPr lang="en-GB" dirty="0"/>
          </a:p>
        </p:txBody>
      </p:sp>
      <p:sp>
        <p:nvSpPr>
          <p:cNvPr id="6" name="TextBox 5">
            <a:extLst>
              <a:ext uri="{FF2B5EF4-FFF2-40B4-BE49-F238E27FC236}">
                <a16:creationId xmlns:a16="http://schemas.microsoft.com/office/drawing/2014/main" id="{C6EA3EFB-DA51-2A41-2F8F-CE1F356C7078}"/>
              </a:ext>
            </a:extLst>
          </p:cNvPr>
          <p:cNvSpPr txBox="1"/>
          <p:nvPr/>
        </p:nvSpPr>
        <p:spPr>
          <a:xfrm>
            <a:off x="5188136" y="3727263"/>
            <a:ext cx="4754880" cy="1477328"/>
          </a:xfrm>
          <a:prstGeom prst="rect">
            <a:avLst/>
          </a:prstGeom>
          <a:noFill/>
        </p:spPr>
        <p:txBody>
          <a:bodyPr wrap="square" rtlCol="0">
            <a:spAutoFit/>
          </a:bodyPr>
          <a:lstStyle/>
          <a:p>
            <a:r>
              <a:rPr lang="en-GB" dirty="0"/>
              <a:t>Making/Receiving calls</a:t>
            </a:r>
          </a:p>
          <a:p>
            <a:r>
              <a:rPr lang="en-GB" dirty="0"/>
              <a:t>Loading apps</a:t>
            </a:r>
          </a:p>
          <a:p>
            <a:r>
              <a:rPr lang="en-GB" dirty="0"/>
              <a:t>Checking message received</a:t>
            </a:r>
          </a:p>
          <a:p>
            <a:r>
              <a:rPr lang="en-GB" dirty="0"/>
              <a:t>Loading notifications</a:t>
            </a:r>
          </a:p>
          <a:p>
            <a:endParaRPr lang="en-GB" dirty="0"/>
          </a:p>
        </p:txBody>
      </p:sp>
      <p:sp>
        <p:nvSpPr>
          <p:cNvPr id="7" name="TextBox 6">
            <a:extLst>
              <a:ext uri="{FF2B5EF4-FFF2-40B4-BE49-F238E27FC236}">
                <a16:creationId xmlns:a16="http://schemas.microsoft.com/office/drawing/2014/main" id="{DB895297-33EB-FA24-A991-E07A939D3B4F}"/>
              </a:ext>
            </a:extLst>
          </p:cNvPr>
          <p:cNvSpPr txBox="1"/>
          <p:nvPr/>
        </p:nvSpPr>
        <p:spPr>
          <a:xfrm>
            <a:off x="5968187" y="1187498"/>
            <a:ext cx="6084114" cy="1354217"/>
          </a:xfrm>
          <a:prstGeom prst="rect">
            <a:avLst/>
          </a:prstGeom>
          <a:noFill/>
        </p:spPr>
        <p:txBody>
          <a:bodyPr wrap="square" rtlCol="0">
            <a:spAutoFit/>
          </a:bodyPr>
          <a:lstStyle/>
          <a:p>
            <a:r>
              <a:rPr lang="en-GB" sz="1600" i="1" dirty="0"/>
              <a:t>Pocket sized devices that are mobile phones as well as mobile computers with internet connectivity. They are a development of the mobile phone and most solely interact with the user through a touch-screen interface.</a:t>
            </a:r>
          </a:p>
          <a:p>
            <a:endParaRPr lang="en-GB" dirty="0"/>
          </a:p>
        </p:txBody>
      </p:sp>
      <p:pic>
        <p:nvPicPr>
          <p:cNvPr id="5124" name="Picture 4" descr="Input Output Stock Illustrations, Royalty-Free Vector Graphics &amp; Clip Art -  iStock | Efficiency icon, Efficiency concept, Business efficiency">
            <a:extLst>
              <a:ext uri="{FF2B5EF4-FFF2-40B4-BE49-F238E27FC236}">
                <a16:creationId xmlns:a16="http://schemas.microsoft.com/office/drawing/2014/main" id="{73378ED3-A2D1-BA81-8F2F-87DD7FF8041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001" t="11157" r="42441" b="53680"/>
          <a:stretch/>
        </p:blipFill>
        <p:spPr bwMode="auto">
          <a:xfrm>
            <a:off x="8176369" y="3788551"/>
            <a:ext cx="1125302" cy="10777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Input Output Stock Illustrations, Royalty-Free Vector Graphics &amp; Clip Art -  iStock | Efficiency icon, Efficiency concept, Business efficiency">
            <a:extLst>
              <a:ext uri="{FF2B5EF4-FFF2-40B4-BE49-F238E27FC236}">
                <a16:creationId xmlns:a16="http://schemas.microsoft.com/office/drawing/2014/main" id="{C15CABE8-2F1F-CF2D-11B7-79EA992F03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784" t="11819" r="61658" b="53018"/>
          <a:stretch/>
        </p:blipFill>
        <p:spPr bwMode="auto">
          <a:xfrm>
            <a:off x="8817714" y="2101499"/>
            <a:ext cx="1125302" cy="10777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Input Output Stock Illustrations, Royalty-Free Vector Graphics &amp; Clip Art -  iStock | Efficiency icon, Efficiency concept, Business efficiency">
            <a:extLst>
              <a:ext uri="{FF2B5EF4-FFF2-40B4-BE49-F238E27FC236}">
                <a16:creationId xmlns:a16="http://schemas.microsoft.com/office/drawing/2014/main" id="{EF99CF3E-294F-3490-6203-5989017BBD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020" t="10905" r="23422" b="53932"/>
          <a:stretch/>
        </p:blipFill>
        <p:spPr bwMode="auto">
          <a:xfrm>
            <a:off x="8316450" y="5355022"/>
            <a:ext cx="1125302" cy="1077751"/>
          </a:xfrm>
          <a:prstGeom prst="rect">
            <a:avLst/>
          </a:prstGeom>
          <a:noFill/>
          <a:extLst>
            <a:ext uri="{909E8E84-426E-40DD-AFC4-6F175D3DCCD1}">
              <a14:hiddenFill xmlns:a14="http://schemas.microsoft.com/office/drawing/2010/main">
                <a:solidFill>
                  <a:srgbClr val="FFFFFF"/>
                </a:solidFill>
              </a14:hiddenFill>
            </a:ext>
          </a:extLst>
        </p:spPr>
      </p:pic>
      <p:sp>
        <p:nvSpPr>
          <p:cNvPr id="11" name="Right Triangle 10">
            <a:extLst>
              <a:ext uri="{FF2B5EF4-FFF2-40B4-BE49-F238E27FC236}">
                <a16:creationId xmlns:a16="http://schemas.microsoft.com/office/drawing/2014/main" id="{5250DCFB-00E6-DAFB-B15E-F3ABC30F468F}"/>
              </a:ext>
            </a:extLst>
          </p:cNvPr>
          <p:cNvSpPr/>
          <p:nvPr/>
        </p:nvSpPr>
        <p:spPr>
          <a:xfrm rot="5400000">
            <a:off x="264694" y="2454"/>
            <a:ext cx="1354219" cy="1592920"/>
          </a:xfrm>
          <a:prstGeom prst="rtTriangle">
            <a:avLst/>
          </a:prstGeom>
          <a:solidFill>
            <a:srgbClr val="4960E8"/>
          </a:solidFill>
          <a:ln w="76200">
            <a:solidFill>
              <a:srgbClr val="4E4E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ight Triangle 9">
            <a:extLst>
              <a:ext uri="{FF2B5EF4-FFF2-40B4-BE49-F238E27FC236}">
                <a16:creationId xmlns:a16="http://schemas.microsoft.com/office/drawing/2014/main" id="{9FBCB8B7-4535-542E-A310-D5CDB17FFCAB}"/>
              </a:ext>
            </a:extLst>
          </p:cNvPr>
          <p:cNvSpPr/>
          <p:nvPr/>
        </p:nvSpPr>
        <p:spPr>
          <a:xfrm rot="16200000">
            <a:off x="8512655" y="3218330"/>
            <a:ext cx="4216262" cy="2863032"/>
          </a:xfrm>
          <a:prstGeom prst="rtTriangle">
            <a:avLst/>
          </a:prstGeom>
          <a:solidFill>
            <a:srgbClr val="C8AEDB"/>
          </a:solidFill>
          <a:ln w="76200">
            <a:solidFill>
              <a:srgbClr val="4E4E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170" name="Picture 2" descr="Phone Clipart Images | Free Download | PNG Transparent Background - Pngtree">
            <a:extLst>
              <a:ext uri="{FF2B5EF4-FFF2-40B4-BE49-F238E27FC236}">
                <a16:creationId xmlns:a16="http://schemas.microsoft.com/office/drawing/2014/main" id="{DAE0C245-DB95-1D2D-EF85-5F5389043E20}"/>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3611" b="96667" l="10000" r="90000">
                        <a14:foregroundMark x1="63611" y1="17778" x2="50278" y2="8333"/>
                        <a14:foregroundMark x1="50278" y1="8333" x2="32222" y2="6944"/>
                        <a14:foregroundMark x1="72500" y1="85833" x2="44167" y2="92500"/>
                        <a14:foregroundMark x1="41389" y1="97222" x2="44444" y2="87500"/>
                        <a14:foregroundMark x1="42500" y1="16389" x2="51944" y2="17500"/>
                        <a14:foregroundMark x1="56111" y1="4444" x2="56111" y2="4444"/>
                        <a14:foregroundMark x1="32778" y1="3611" x2="32778" y2="3611"/>
                        <a14:backgroundMark x1="57222" y1="3611" x2="57222" y2="3611"/>
                        <a14:backgroundMark x1="51111" y1="3333" x2="51111" y2="3333"/>
                        <a14:backgroundMark x1="48611" y1="3333" x2="48611" y2="3333"/>
                        <a14:backgroundMark x1="45833" y1="3333" x2="45833" y2="3333"/>
                        <a14:backgroundMark x1="46111" y1="3611" x2="49444" y2="3611"/>
                      </a14:backgroundRemoval>
                    </a14:imgEffect>
                  </a14:imgLayer>
                </a14:imgProps>
              </a:ext>
              <a:ext uri="{28A0092B-C50C-407E-A947-70E740481C1C}">
                <a14:useLocalDpi xmlns:a14="http://schemas.microsoft.com/office/drawing/2010/main" val="0"/>
              </a:ext>
            </a:extLst>
          </a:blip>
          <a:srcRect/>
          <a:stretch>
            <a:fillRect/>
          </a:stretch>
        </p:blipFill>
        <p:spPr bwMode="auto">
          <a:xfrm>
            <a:off x="-1079331" y="1187498"/>
            <a:ext cx="5553401" cy="5553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9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nodeType="withEffect">
                                  <p:stCondLst>
                                    <p:cond delay="0"/>
                                  </p:stCondLst>
                                  <p:childTnLst>
                                    <p:set>
                                      <p:cBhvr>
                                        <p:cTn id="37" dur="1" fill="hold">
                                          <p:stCondLst>
                                            <p:cond delay="0"/>
                                          </p:stCondLst>
                                        </p:cTn>
                                        <p:tgtEl>
                                          <p:spTgt spid="5124"/>
                                        </p:tgtEl>
                                        <p:attrNameLst>
                                          <p:attrName>style.visibility</p:attrName>
                                        </p:attrNameLst>
                                      </p:cBhvr>
                                      <p:to>
                                        <p:strVal val="visible"/>
                                      </p:to>
                                    </p:set>
                                    <p:animEffect transition="in" filter="fade">
                                      <p:cBhvr>
                                        <p:cTn id="38" dur="500"/>
                                        <p:tgtEl>
                                          <p:spTgt spid="512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500"/>
                                        <p:tgtEl>
                                          <p:spTgt spid="5"/>
                                        </p:tgtEl>
                                      </p:cBhvr>
                                    </p:animEffect>
                                  </p:childTnLst>
                                </p:cTn>
                              </p:par>
                              <p:par>
                                <p:cTn id="49" presetID="10" presetClass="entr" presetSubtype="0" fill="hold"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30000">
              <a:srgbClr val="1243A0"/>
            </a:gs>
            <a:gs pos="78000">
              <a:srgbClr val="103EA0"/>
            </a:gs>
            <a:gs pos="79000">
              <a:srgbClr val="0F3282"/>
            </a:gs>
          </a:gsLst>
          <a:lin ang="5400000" scaled="0"/>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6214E9-C86F-8E91-43CB-A1C39162BD80}"/>
              </a:ext>
            </a:extLst>
          </p:cNvPr>
          <p:cNvPicPr>
            <a:picLocks noChangeAspect="1"/>
          </p:cNvPicPr>
          <p:nvPr/>
        </p:nvPicPr>
        <p:blipFill rotWithShape="1">
          <a:blip r:embed="rId2"/>
          <a:srcRect r="10228"/>
          <a:stretch/>
        </p:blipFill>
        <p:spPr>
          <a:xfrm>
            <a:off x="1072999" y="1552575"/>
            <a:ext cx="11119001" cy="5305425"/>
          </a:xfrm>
          <a:prstGeom prst="rect">
            <a:avLst/>
          </a:prstGeom>
        </p:spPr>
      </p:pic>
      <p:sp>
        <p:nvSpPr>
          <p:cNvPr id="2" name="Title 1">
            <a:extLst>
              <a:ext uri="{FF2B5EF4-FFF2-40B4-BE49-F238E27FC236}">
                <a16:creationId xmlns:a16="http://schemas.microsoft.com/office/drawing/2014/main" id="{18F283CF-85D8-0DA3-424E-B5AC1B960542}"/>
              </a:ext>
            </a:extLst>
          </p:cNvPr>
          <p:cNvSpPr>
            <a:spLocks noGrp="1"/>
          </p:cNvSpPr>
          <p:nvPr>
            <p:ph type="title"/>
          </p:nvPr>
        </p:nvSpPr>
        <p:spPr>
          <a:xfrm>
            <a:off x="8877300" y="365125"/>
            <a:ext cx="2476500" cy="1325563"/>
          </a:xfrm>
        </p:spPr>
        <p:txBody>
          <a:bodyPr/>
          <a:lstStyle/>
          <a:p>
            <a:r>
              <a:rPr lang="en-GB" dirty="0">
                <a:solidFill>
                  <a:srgbClr val="D2D0DC"/>
                </a:solidFill>
              </a:rPr>
              <a:t>Questions</a:t>
            </a:r>
          </a:p>
        </p:txBody>
      </p:sp>
      <p:sp>
        <p:nvSpPr>
          <p:cNvPr id="3" name="Content Placeholder 2">
            <a:extLst>
              <a:ext uri="{FF2B5EF4-FFF2-40B4-BE49-F238E27FC236}">
                <a16:creationId xmlns:a16="http://schemas.microsoft.com/office/drawing/2014/main" id="{8B0535C2-FAD7-0F31-D729-C2EBFEE2EA39}"/>
              </a:ext>
            </a:extLst>
          </p:cNvPr>
          <p:cNvSpPr>
            <a:spLocks noGrp="1"/>
          </p:cNvSpPr>
          <p:nvPr>
            <p:ph idx="1"/>
          </p:nvPr>
        </p:nvSpPr>
        <p:spPr>
          <a:xfrm>
            <a:off x="57150" y="365125"/>
            <a:ext cx="8639175" cy="4737100"/>
          </a:xfrm>
        </p:spPr>
        <p:txBody>
          <a:bodyPr>
            <a:normAutofit fontScale="92500" lnSpcReduction="10000"/>
          </a:bodyPr>
          <a:lstStyle/>
          <a:p>
            <a:pPr>
              <a:buFont typeface="Wingdings" panose="05000000000000000000" pitchFamily="2" charset="2"/>
              <a:buChar char="§"/>
            </a:pPr>
            <a:r>
              <a:rPr lang="en-GB" sz="2000" dirty="0">
                <a:solidFill>
                  <a:schemeClr val="bg1"/>
                </a:solidFill>
              </a:rPr>
              <a:t>Expand the acronym POS [1]</a:t>
            </a:r>
          </a:p>
          <a:p>
            <a:pPr marL="0" indent="0">
              <a:buNone/>
            </a:pPr>
            <a:endParaRPr lang="en-GB" sz="2000" dirty="0">
              <a:solidFill>
                <a:schemeClr val="bg1"/>
              </a:solidFill>
            </a:endParaRPr>
          </a:p>
          <a:p>
            <a:pPr>
              <a:buFont typeface="Wingdings" panose="05000000000000000000" pitchFamily="2" charset="2"/>
              <a:buChar char="§"/>
            </a:pPr>
            <a:r>
              <a:rPr lang="en-GB" sz="2000" dirty="0">
                <a:solidFill>
                  <a:schemeClr val="bg1"/>
                </a:solidFill>
              </a:rPr>
              <a:t>Describe the main features of batch processing [4]</a:t>
            </a:r>
          </a:p>
          <a:p>
            <a:pPr marL="0" indent="0">
              <a:buNone/>
            </a:pPr>
            <a:endParaRPr lang="en-GB" sz="2000" dirty="0">
              <a:solidFill>
                <a:schemeClr val="bg1"/>
              </a:solidFill>
            </a:endParaRPr>
          </a:p>
          <a:p>
            <a:pPr>
              <a:buFont typeface="Wingdings" panose="05000000000000000000" pitchFamily="2" charset="2"/>
              <a:buChar char="§"/>
            </a:pPr>
            <a:r>
              <a:rPr lang="en-GB" sz="2000" dirty="0">
                <a:solidFill>
                  <a:schemeClr val="bg1"/>
                </a:solidFill>
              </a:rPr>
              <a:t>Describe the main features of real-time processing [4]</a:t>
            </a:r>
          </a:p>
          <a:p>
            <a:pPr marL="0" indent="0">
              <a:buNone/>
            </a:pPr>
            <a:endParaRPr lang="en-GB" sz="2000" dirty="0">
              <a:solidFill>
                <a:schemeClr val="bg1"/>
              </a:solidFill>
            </a:endParaRPr>
          </a:p>
          <a:p>
            <a:pPr>
              <a:buFont typeface="Wingdings" panose="05000000000000000000" pitchFamily="2" charset="2"/>
              <a:buChar char="§"/>
            </a:pPr>
            <a:r>
              <a:rPr lang="en-GB" sz="2000" dirty="0">
                <a:solidFill>
                  <a:schemeClr val="bg1"/>
                </a:solidFill>
              </a:rPr>
              <a:t>Explain why batch processing is suitable for a payroll application but unsuitable for a stock control application [4]</a:t>
            </a:r>
          </a:p>
          <a:p>
            <a:pPr marL="0" indent="0">
              <a:buNone/>
            </a:pPr>
            <a:endParaRPr lang="en-GB" sz="2000" dirty="0">
              <a:solidFill>
                <a:schemeClr val="bg1"/>
              </a:solidFill>
            </a:endParaRPr>
          </a:p>
          <a:p>
            <a:pPr>
              <a:buFont typeface="Wingdings" panose="05000000000000000000" pitchFamily="2" charset="2"/>
              <a:buChar char="§"/>
            </a:pPr>
            <a:r>
              <a:rPr lang="en-GB" sz="2000" dirty="0">
                <a:solidFill>
                  <a:schemeClr val="bg1"/>
                </a:solidFill>
              </a:rPr>
              <a:t>Describe how batch processing is used to produce monthly bank statements [3]</a:t>
            </a:r>
          </a:p>
          <a:p>
            <a:pPr marL="0" indent="0">
              <a:buNone/>
            </a:pPr>
            <a:endParaRPr lang="en-GB" sz="2000" dirty="0">
              <a:solidFill>
                <a:schemeClr val="bg1"/>
              </a:solidFill>
            </a:endParaRPr>
          </a:p>
          <a:p>
            <a:pPr>
              <a:buFont typeface="Wingdings" panose="05000000000000000000" pitchFamily="2" charset="2"/>
              <a:buChar char="§"/>
            </a:pPr>
            <a:r>
              <a:rPr lang="en-GB" sz="2000" dirty="0">
                <a:solidFill>
                  <a:schemeClr val="bg1"/>
                </a:solidFill>
              </a:rPr>
              <a:t>Justify the use of real-time processing for customer transactions at Automated Teller Machines [4]</a:t>
            </a:r>
          </a:p>
          <a:p>
            <a:endParaRPr lang="en-GB" dirty="0">
              <a:solidFill>
                <a:schemeClr val="bg1"/>
              </a:solidFill>
            </a:endParaRPr>
          </a:p>
        </p:txBody>
      </p:sp>
    </p:spTree>
    <p:extLst>
      <p:ext uri="{BB962C8B-B14F-4D97-AF65-F5344CB8AC3E}">
        <p14:creationId xmlns:p14="http://schemas.microsoft.com/office/powerpoint/2010/main" val="4127507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8D24D-EB66-80E0-5B34-091964C426E5}"/>
              </a:ext>
            </a:extLst>
          </p:cNvPr>
          <p:cNvSpPr>
            <a:spLocks noGrp="1"/>
          </p:cNvSpPr>
          <p:nvPr>
            <p:ph type="title"/>
          </p:nvPr>
        </p:nvSpPr>
        <p:spPr/>
        <p:txBody>
          <a:bodyPr/>
          <a:lstStyle/>
          <a:p>
            <a:r>
              <a:rPr lang="en-GB" dirty="0"/>
              <a:t>Mark Scheme: </a:t>
            </a:r>
            <a:r>
              <a:rPr lang="en-GB" sz="4400" dirty="0"/>
              <a:t>Expand the acronym POS [1]</a:t>
            </a:r>
            <a:br>
              <a:rPr lang="en-GB" sz="4400" dirty="0"/>
            </a:br>
            <a:endParaRPr lang="en-GB" dirty="0"/>
          </a:p>
        </p:txBody>
      </p:sp>
      <p:sp>
        <p:nvSpPr>
          <p:cNvPr id="3" name="Content Placeholder 2">
            <a:extLst>
              <a:ext uri="{FF2B5EF4-FFF2-40B4-BE49-F238E27FC236}">
                <a16:creationId xmlns:a16="http://schemas.microsoft.com/office/drawing/2014/main" id="{CBFEF72B-6658-C3D0-DEF0-DAD4C1736239}"/>
              </a:ext>
            </a:extLst>
          </p:cNvPr>
          <p:cNvSpPr>
            <a:spLocks noGrp="1"/>
          </p:cNvSpPr>
          <p:nvPr>
            <p:ph idx="1"/>
          </p:nvPr>
        </p:nvSpPr>
        <p:spPr/>
        <p:txBody>
          <a:bodyPr/>
          <a:lstStyle/>
          <a:p>
            <a:r>
              <a:rPr lang="en-GB" dirty="0"/>
              <a:t>Ans: Point of Sale</a:t>
            </a:r>
          </a:p>
          <a:p>
            <a:endParaRPr lang="en-GB" dirty="0"/>
          </a:p>
          <a:p>
            <a:pPr marL="0" indent="0">
              <a:buNone/>
            </a:pPr>
            <a:r>
              <a:rPr lang="en-GB" sz="2400" i="1" dirty="0"/>
              <a:t>This question would not be something CCEA would ask at A Level. However, it is important you know and expect acronyms to be used in questions. In some cases (especially web applications topic), CCEA mark schemes give marks for expanding these!</a:t>
            </a:r>
          </a:p>
        </p:txBody>
      </p:sp>
    </p:spTree>
    <p:extLst>
      <p:ext uri="{BB962C8B-B14F-4D97-AF65-F5344CB8AC3E}">
        <p14:creationId xmlns:p14="http://schemas.microsoft.com/office/powerpoint/2010/main" val="3554570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8D24D-EB66-80E0-5B34-091964C426E5}"/>
              </a:ext>
            </a:extLst>
          </p:cNvPr>
          <p:cNvSpPr>
            <a:spLocks noGrp="1"/>
          </p:cNvSpPr>
          <p:nvPr>
            <p:ph type="title"/>
          </p:nvPr>
        </p:nvSpPr>
        <p:spPr/>
        <p:txBody>
          <a:bodyPr>
            <a:normAutofit/>
          </a:bodyPr>
          <a:lstStyle/>
          <a:p>
            <a:r>
              <a:rPr lang="en-GB" dirty="0"/>
              <a:t>Mark Scheme: </a:t>
            </a:r>
            <a:r>
              <a:rPr lang="en-GB" sz="4400" dirty="0"/>
              <a:t>Describe the main features of batch processing [4]</a:t>
            </a:r>
            <a:endParaRPr lang="en-GB" dirty="0"/>
          </a:p>
        </p:txBody>
      </p:sp>
      <p:sp>
        <p:nvSpPr>
          <p:cNvPr id="3" name="Content Placeholder 2">
            <a:extLst>
              <a:ext uri="{FF2B5EF4-FFF2-40B4-BE49-F238E27FC236}">
                <a16:creationId xmlns:a16="http://schemas.microsoft.com/office/drawing/2014/main" id="{CBFEF72B-6658-C3D0-DEF0-DAD4C1736239}"/>
              </a:ext>
            </a:extLst>
          </p:cNvPr>
          <p:cNvSpPr>
            <a:spLocks noGrp="1"/>
          </p:cNvSpPr>
          <p:nvPr>
            <p:ph idx="1"/>
          </p:nvPr>
        </p:nvSpPr>
        <p:spPr>
          <a:xfrm>
            <a:off x="838200" y="1825625"/>
            <a:ext cx="10515600" cy="4667250"/>
          </a:xfrm>
        </p:spPr>
        <p:txBody>
          <a:bodyPr>
            <a:normAutofit fontScale="92500" lnSpcReduction="10000"/>
          </a:bodyPr>
          <a:lstStyle/>
          <a:p>
            <a:r>
              <a:rPr lang="en-GB" dirty="0"/>
              <a:t>Ans:</a:t>
            </a:r>
          </a:p>
          <a:p>
            <a:endParaRPr lang="en-GB" dirty="0"/>
          </a:p>
          <a:p>
            <a:endParaRPr lang="en-GB" dirty="0"/>
          </a:p>
          <a:p>
            <a:endParaRPr lang="en-GB" dirty="0"/>
          </a:p>
          <a:p>
            <a:endParaRPr lang="en-GB" dirty="0"/>
          </a:p>
          <a:p>
            <a:endParaRPr lang="en-GB" dirty="0"/>
          </a:p>
          <a:p>
            <a:endParaRPr lang="en-GB" dirty="0"/>
          </a:p>
          <a:p>
            <a:pPr marL="0" indent="0">
              <a:buNone/>
            </a:pPr>
            <a:r>
              <a:rPr lang="en-GB" sz="2400" i="1" dirty="0"/>
              <a:t>This is a very easy question for CCEA to ask, and whilst CCEA have asked this question as 4 marks here, it is really important you can answer this to at least 6 marks, especially if they need to make longer/extended questions around a scenario where you need to justify why they would use this etc.</a:t>
            </a:r>
          </a:p>
        </p:txBody>
      </p:sp>
      <p:pic>
        <p:nvPicPr>
          <p:cNvPr id="4" name="Picture 3">
            <a:extLst>
              <a:ext uri="{FF2B5EF4-FFF2-40B4-BE49-F238E27FC236}">
                <a16:creationId xmlns:a16="http://schemas.microsoft.com/office/drawing/2014/main" id="{389AACA4-F9BE-0101-ACA4-53CDAAACD773}"/>
              </a:ext>
            </a:extLst>
          </p:cNvPr>
          <p:cNvPicPr>
            <a:picLocks noChangeAspect="1"/>
          </p:cNvPicPr>
          <p:nvPr/>
        </p:nvPicPr>
        <p:blipFill rotWithShape="1">
          <a:blip r:embed="rId2">
            <a:extLst>
              <a:ext uri="{28A0092B-C50C-407E-A947-70E740481C1C}">
                <a14:useLocalDpi xmlns:a14="http://schemas.microsoft.com/office/drawing/2010/main" val="0"/>
              </a:ext>
            </a:extLst>
          </a:blip>
          <a:srcRect l="19379" t="12113" r="2037" b="58248"/>
          <a:stretch/>
        </p:blipFill>
        <p:spPr bwMode="auto">
          <a:xfrm>
            <a:off x="952499" y="2293144"/>
            <a:ext cx="7397377" cy="208835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8884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8D24D-EB66-80E0-5B34-091964C426E5}"/>
              </a:ext>
            </a:extLst>
          </p:cNvPr>
          <p:cNvSpPr>
            <a:spLocks noGrp="1"/>
          </p:cNvSpPr>
          <p:nvPr>
            <p:ph type="title"/>
          </p:nvPr>
        </p:nvSpPr>
        <p:spPr/>
        <p:txBody>
          <a:bodyPr>
            <a:normAutofit/>
          </a:bodyPr>
          <a:lstStyle/>
          <a:p>
            <a:r>
              <a:rPr lang="en-GB" dirty="0"/>
              <a:t>Mark Scheme: </a:t>
            </a:r>
            <a:r>
              <a:rPr lang="en-GB" sz="4400" dirty="0"/>
              <a:t>Describe the main features of real-time processing [4]</a:t>
            </a:r>
            <a:endParaRPr lang="en-GB" dirty="0"/>
          </a:p>
        </p:txBody>
      </p:sp>
      <p:sp>
        <p:nvSpPr>
          <p:cNvPr id="3" name="Content Placeholder 2">
            <a:extLst>
              <a:ext uri="{FF2B5EF4-FFF2-40B4-BE49-F238E27FC236}">
                <a16:creationId xmlns:a16="http://schemas.microsoft.com/office/drawing/2014/main" id="{CBFEF72B-6658-C3D0-DEF0-DAD4C1736239}"/>
              </a:ext>
            </a:extLst>
          </p:cNvPr>
          <p:cNvSpPr>
            <a:spLocks noGrp="1"/>
          </p:cNvSpPr>
          <p:nvPr>
            <p:ph idx="1"/>
          </p:nvPr>
        </p:nvSpPr>
        <p:spPr>
          <a:xfrm>
            <a:off x="838200" y="1825625"/>
            <a:ext cx="10515600" cy="4667250"/>
          </a:xfrm>
        </p:spPr>
        <p:txBody>
          <a:bodyPr>
            <a:normAutofit/>
          </a:bodyPr>
          <a:lstStyle/>
          <a:p>
            <a:r>
              <a:rPr lang="en-GB" dirty="0"/>
              <a:t>Ans:</a:t>
            </a:r>
          </a:p>
          <a:p>
            <a:endParaRPr lang="en-GB" dirty="0"/>
          </a:p>
          <a:p>
            <a:endParaRPr lang="en-GB" dirty="0"/>
          </a:p>
          <a:p>
            <a:endParaRPr lang="en-GB" dirty="0"/>
          </a:p>
          <a:p>
            <a:endParaRPr lang="en-GB" dirty="0"/>
          </a:p>
          <a:p>
            <a:endParaRPr lang="en-GB" dirty="0"/>
          </a:p>
          <a:p>
            <a:endParaRPr lang="en-GB" dirty="0"/>
          </a:p>
          <a:p>
            <a:pPr marL="0" indent="0">
              <a:buNone/>
            </a:pPr>
            <a:r>
              <a:rPr lang="en-GB" sz="2400" i="1" dirty="0"/>
              <a:t>Again, CCEA could ask this and further make it a six mark question by adding benefits of using or drawbacks for using. In some cases, you need to give both sides of the argument depending on how the question is worded!</a:t>
            </a:r>
          </a:p>
        </p:txBody>
      </p:sp>
      <p:pic>
        <p:nvPicPr>
          <p:cNvPr id="4" name="Picture 3">
            <a:extLst>
              <a:ext uri="{FF2B5EF4-FFF2-40B4-BE49-F238E27FC236}">
                <a16:creationId xmlns:a16="http://schemas.microsoft.com/office/drawing/2014/main" id="{389AACA4-F9BE-0101-ACA4-53CDAAACD773}"/>
              </a:ext>
            </a:extLst>
          </p:cNvPr>
          <p:cNvPicPr>
            <a:picLocks noChangeAspect="1"/>
          </p:cNvPicPr>
          <p:nvPr/>
        </p:nvPicPr>
        <p:blipFill rotWithShape="1">
          <a:blip r:embed="rId2">
            <a:extLst>
              <a:ext uri="{28A0092B-C50C-407E-A947-70E740481C1C}">
                <a14:useLocalDpi xmlns:a14="http://schemas.microsoft.com/office/drawing/2010/main" val="0"/>
              </a:ext>
            </a:extLst>
          </a:blip>
          <a:srcRect l="18974" t="48916" r="2442" b="25534"/>
          <a:stretch/>
        </p:blipFill>
        <p:spPr bwMode="auto">
          <a:xfrm>
            <a:off x="952499" y="2581274"/>
            <a:ext cx="7397377" cy="18002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2890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8D24D-EB66-80E0-5B34-091964C426E5}"/>
              </a:ext>
            </a:extLst>
          </p:cNvPr>
          <p:cNvSpPr>
            <a:spLocks noGrp="1"/>
          </p:cNvSpPr>
          <p:nvPr>
            <p:ph type="title"/>
          </p:nvPr>
        </p:nvSpPr>
        <p:spPr/>
        <p:txBody>
          <a:bodyPr>
            <a:normAutofit fontScale="90000"/>
          </a:bodyPr>
          <a:lstStyle/>
          <a:p>
            <a:r>
              <a:rPr lang="en-GB" dirty="0"/>
              <a:t>Mark Scheme: </a:t>
            </a:r>
            <a:r>
              <a:rPr lang="en-GB" sz="4400" dirty="0"/>
              <a:t>Explain why batch processing is suitable for a payroll application but unsuitable for a stock control application [4]</a:t>
            </a:r>
            <a:endParaRPr lang="en-GB" dirty="0"/>
          </a:p>
        </p:txBody>
      </p:sp>
      <p:sp>
        <p:nvSpPr>
          <p:cNvPr id="3" name="Content Placeholder 2">
            <a:extLst>
              <a:ext uri="{FF2B5EF4-FFF2-40B4-BE49-F238E27FC236}">
                <a16:creationId xmlns:a16="http://schemas.microsoft.com/office/drawing/2014/main" id="{CBFEF72B-6658-C3D0-DEF0-DAD4C1736239}"/>
              </a:ext>
            </a:extLst>
          </p:cNvPr>
          <p:cNvSpPr>
            <a:spLocks noGrp="1"/>
          </p:cNvSpPr>
          <p:nvPr>
            <p:ph idx="1"/>
          </p:nvPr>
        </p:nvSpPr>
        <p:spPr>
          <a:xfrm>
            <a:off x="838200" y="1825625"/>
            <a:ext cx="10515600" cy="4667250"/>
          </a:xfrm>
        </p:spPr>
        <p:txBody>
          <a:bodyPr>
            <a:normAutofit/>
          </a:bodyPr>
          <a:lstStyle/>
          <a:p>
            <a:r>
              <a:rPr lang="en-GB" dirty="0"/>
              <a:t>Ans:</a:t>
            </a:r>
          </a:p>
          <a:p>
            <a:endParaRPr lang="en-GB" dirty="0"/>
          </a:p>
          <a:p>
            <a:endParaRPr lang="en-GB" dirty="0"/>
          </a:p>
          <a:p>
            <a:endParaRPr lang="en-GB" dirty="0"/>
          </a:p>
          <a:p>
            <a:endParaRPr lang="en-GB" dirty="0"/>
          </a:p>
          <a:p>
            <a:endParaRPr lang="en-GB" dirty="0"/>
          </a:p>
          <a:p>
            <a:endParaRPr lang="en-GB" dirty="0"/>
          </a:p>
          <a:p>
            <a:pPr marL="0" indent="0">
              <a:buNone/>
            </a:pPr>
            <a:r>
              <a:rPr lang="en-GB" sz="2400" i="1" dirty="0"/>
              <a:t>This question popped up in a paper, and was badly answered by candidates. This was noted as often the candidate would only answer one part of this and only take one angle – you need to ensure you answer this question in full.</a:t>
            </a:r>
          </a:p>
        </p:txBody>
      </p:sp>
      <p:pic>
        <p:nvPicPr>
          <p:cNvPr id="5" name="Picture 4">
            <a:extLst>
              <a:ext uri="{FF2B5EF4-FFF2-40B4-BE49-F238E27FC236}">
                <a16:creationId xmlns:a16="http://schemas.microsoft.com/office/drawing/2014/main" id="{0BCF59FA-B28B-99BC-76CB-6AF6B8889E45}"/>
              </a:ext>
            </a:extLst>
          </p:cNvPr>
          <p:cNvPicPr>
            <a:picLocks noChangeAspect="1"/>
          </p:cNvPicPr>
          <p:nvPr/>
        </p:nvPicPr>
        <p:blipFill rotWithShape="1">
          <a:blip r:embed="rId2"/>
          <a:srcRect l="6363"/>
          <a:stretch/>
        </p:blipFill>
        <p:spPr>
          <a:xfrm>
            <a:off x="1981199" y="2176462"/>
            <a:ext cx="6648451" cy="3033366"/>
          </a:xfrm>
          <a:prstGeom prst="rect">
            <a:avLst/>
          </a:prstGeom>
        </p:spPr>
      </p:pic>
    </p:spTree>
    <p:extLst>
      <p:ext uri="{BB962C8B-B14F-4D97-AF65-F5344CB8AC3E}">
        <p14:creationId xmlns:p14="http://schemas.microsoft.com/office/powerpoint/2010/main" val="1369837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8D24D-EB66-80E0-5B34-091964C426E5}"/>
              </a:ext>
            </a:extLst>
          </p:cNvPr>
          <p:cNvSpPr>
            <a:spLocks noGrp="1"/>
          </p:cNvSpPr>
          <p:nvPr>
            <p:ph type="title"/>
          </p:nvPr>
        </p:nvSpPr>
        <p:spPr/>
        <p:txBody>
          <a:bodyPr>
            <a:normAutofit fontScale="90000"/>
          </a:bodyPr>
          <a:lstStyle/>
          <a:p>
            <a:r>
              <a:rPr lang="en-GB" dirty="0"/>
              <a:t>Mark Scheme: </a:t>
            </a:r>
            <a:r>
              <a:rPr lang="en-GB" sz="4400" dirty="0"/>
              <a:t>Describe how batch processing is used to produce monthly bank statements [3]</a:t>
            </a:r>
            <a:endParaRPr lang="en-GB" dirty="0"/>
          </a:p>
        </p:txBody>
      </p:sp>
      <p:sp>
        <p:nvSpPr>
          <p:cNvPr id="3" name="Content Placeholder 2">
            <a:extLst>
              <a:ext uri="{FF2B5EF4-FFF2-40B4-BE49-F238E27FC236}">
                <a16:creationId xmlns:a16="http://schemas.microsoft.com/office/drawing/2014/main" id="{CBFEF72B-6658-C3D0-DEF0-DAD4C1736239}"/>
              </a:ext>
            </a:extLst>
          </p:cNvPr>
          <p:cNvSpPr>
            <a:spLocks noGrp="1"/>
          </p:cNvSpPr>
          <p:nvPr>
            <p:ph idx="1"/>
          </p:nvPr>
        </p:nvSpPr>
        <p:spPr>
          <a:xfrm>
            <a:off x="838200" y="1825625"/>
            <a:ext cx="10515600" cy="4667250"/>
          </a:xfrm>
        </p:spPr>
        <p:txBody>
          <a:bodyPr>
            <a:normAutofit lnSpcReduction="10000"/>
          </a:bodyPr>
          <a:lstStyle/>
          <a:p>
            <a:r>
              <a:rPr lang="en-GB" dirty="0"/>
              <a:t>Ans:</a:t>
            </a:r>
          </a:p>
          <a:p>
            <a:endParaRPr lang="en-GB" dirty="0"/>
          </a:p>
          <a:p>
            <a:endParaRPr lang="en-GB" dirty="0"/>
          </a:p>
          <a:p>
            <a:endParaRPr lang="en-GB" dirty="0"/>
          </a:p>
          <a:p>
            <a:endParaRPr lang="en-GB" dirty="0"/>
          </a:p>
          <a:p>
            <a:endParaRPr lang="en-GB" dirty="0"/>
          </a:p>
          <a:p>
            <a:endParaRPr lang="en-GB" dirty="0"/>
          </a:p>
          <a:p>
            <a:pPr marL="0" indent="0">
              <a:buNone/>
            </a:pPr>
            <a:r>
              <a:rPr lang="en-GB" sz="2400" i="1" dirty="0"/>
              <a:t>A question like this is actually pretty difficult – CCEA in fact gave 8 lines to write your answer, but were </a:t>
            </a:r>
            <a:r>
              <a:rPr lang="en-GB" sz="2400" i="1" u="sng" dirty="0"/>
              <a:t>very</a:t>
            </a:r>
            <a:r>
              <a:rPr lang="en-GB" sz="2400" i="1" dirty="0"/>
              <a:t> specific in how they wanted you to answer. There is virtually no wiggle room in the wording of your answer. I would certainly recommend taking this exact wording down in case it reappears in future!</a:t>
            </a:r>
          </a:p>
        </p:txBody>
      </p:sp>
      <p:pic>
        <p:nvPicPr>
          <p:cNvPr id="4" name="Picture 3">
            <a:extLst>
              <a:ext uri="{FF2B5EF4-FFF2-40B4-BE49-F238E27FC236}">
                <a16:creationId xmlns:a16="http://schemas.microsoft.com/office/drawing/2014/main" id="{DF54FAE5-04FB-50EA-E9B7-5D123C9DFEF6}"/>
              </a:ext>
            </a:extLst>
          </p:cNvPr>
          <p:cNvPicPr>
            <a:picLocks noChangeAspect="1"/>
          </p:cNvPicPr>
          <p:nvPr/>
        </p:nvPicPr>
        <p:blipFill rotWithShape="1">
          <a:blip r:embed="rId2"/>
          <a:srcRect l="5782" b="31102"/>
          <a:stretch/>
        </p:blipFill>
        <p:spPr>
          <a:xfrm>
            <a:off x="2409824" y="2519362"/>
            <a:ext cx="7180035" cy="1214438"/>
          </a:xfrm>
          <a:prstGeom prst="rect">
            <a:avLst/>
          </a:prstGeom>
        </p:spPr>
      </p:pic>
    </p:spTree>
    <p:extLst>
      <p:ext uri="{BB962C8B-B14F-4D97-AF65-F5344CB8AC3E}">
        <p14:creationId xmlns:p14="http://schemas.microsoft.com/office/powerpoint/2010/main" val="69197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8D24D-EB66-80E0-5B34-091964C426E5}"/>
              </a:ext>
            </a:extLst>
          </p:cNvPr>
          <p:cNvSpPr>
            <a:spLocks noGrp="1"/>
          </p:cNvSpPr>
          <p:nvPr>
            <p:ph type="title"/>
          </p:nvPr>
        </p:nvSpPr>
        <p:spPr>
          <a:xfrm>
            <a:off x="219075" y="365125"/>
            <a:ext cx="11858625" cy="1325563"/>
          </a:xfrm>
        </p:spPr>
        <p:txBody>
          <a:bodyPr>
            <a:normAutofit fontScale="90000"/>
          </a:bodyPr>
          <a:lstStyle/>
          <a:p>
            <a:r>
              <a:rPr lang="en-GB" dirty="0"/>
              <a:t>Mark Scheme: </a:t>
            </a:r>
            <a:r>
              <a:rPr lang="en-GB" sz="4400" dirty="0"/>
              <a:t>Justify the use of real-time processing for customer transactions at Automated Teller Machines [4]</a:t>
            </a:r>
            <a:br>
              <a:rPr lang="en-GB" sz="4400" dirty="0"/>
            </a:br>
            <a:endParaRPr lang="en-GB" dirty="0"/>
          </a:p>
        </p:txBody>
      </p:sp>
      <p:sp>
        <p:nvSpPr>
          <p:cNvPr id="3" name="Content Placeholder 2">
            <a:extLst>
              <a:ext uri="{FF2B5EF4-FFF2-40B4-BE49-F238E27FC236}">
                <a16:creationId xmlns:a16="http://schemas.microsoft.com/office/drawing/2014/main" id="{CBFEF72B-6658-C3D0-DEF0-DAD4C1736239}"/>
              </a:ext>
            </a:extLst>
          </p:cNvPr>
          <p:cNvSpPr>
            <a:spLocks noGrp="1"/>
          </p:cNvSpPr>
          <p:nvPr>
            <p:ph idx="1"/>
          </p:nvPr>
        </p:nvSpPr>
        <p:spPr>
          <a:xfrm>
            <a:off x="838200" y="1825625"/>
            <a:ext cx="10515600" cy="4667250"/>
          </a:xfrm>
        </p:spPr>
        <p:txBody>
          <a:bodyPr>
            <a:normAutofit lnSpcReduction="10000"/>
          </a:bodyPr>
          <a:lstStyle/>
          <a:p>
            <a:r>
              <a:rPr lang="en-GB" dirty="0"/>
              <a:t>Ans:</a:t>
            </a:r>
          </a:p>
          <a:p>
            <a:endParaRPr lang="en-GB" dirty="0"/>
          </a:p>
          <a:p>
            <a:endParaRPr lang="en-GB" dirty="0"/>
          </a:p>
          <a:p>
            <a:endParaRPr lang="en-GB" dirty="0"/>
          </a:p>
          <a:p>
            <a:endParaRPr lang="en-GB" dirty="0"/>
          </a:p>
          <a:p>
            <a:endParaRPr lang="en-GB" dirty="0"/>
          </a:p>
          <a:p>
            <a:endParaRPr lang="en-GB" dirty="0"/>
          </a:p>
          <a:p>
            <a:pPr marL="0" indent="0">
              <a:buNone/>
            </a:pPr>
            <a:r>
              <a:rPr lang="en-GB" sz="2400" i="1" dirty="0"/>
              <a:t>Look how, even with the 4 mark questions, CCEA want you to follow the three steps. The mark scheme is broken down into the three steps (Definition, Using Key Terms, Explanation). This goes for longer questions, but it’s clear you get it from the shorter questions too.</a:t>
            </a:r>
          </a:p>
        </p:txBody>
      </p:sp>
      <p:pic>
        <p:nvPicPr>
          <p:cNvPr id="5" name="Picture 4">
            <a:extLst>
              <a:ext uri="{FF2B5EF4-FFF2-40B4-BE49-F238E27FC236}">
                <a16:creationId xmlns:a16="http://schemas.microsoft.com/office/drawing/2014/main" id="{DAB53D4C-445A-F3BA-0E34-72D1609B4EAD}"/>
              </a:ext>
            </a:extLst>
          </p:cNvPr>
          <p:cNvPicPr>
            <a:picLocks noChangeAspect="1"/>
          </p:cNvPicPr>
          <p:nvPr/>
        </p:nvPicPr>
        <p:blipFill rotWithShape="1">
          <a:blip r:embed="rId2"/>
          <a:srcRect l="6049" b="29695"/>
          <a:stretch/>
        </p:blipFill>
        <p:spPr>
          <a:xfrm>
            <a:off x="2466975" y="2424112"/>
            <a:ext cx="6086250" cy="1643063"/>
          </a:xfrm>
          <a:prstGeom prst="rect">
            <a:avLst/>
          </a:prstGeom>
        </p:spPr>
      </p:pic>
    </p:spTree>
    <p:extLst>
      <p:ext uri="{BB962C8B-B14F-4D97-AF65-F5344CB8AC3E}">
        <p14:creationId xmlns:p14="http://schemas.microsoft.com/office/powerpoint/2010/main" val="1435755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688</TotalTime>
  <Words>1670</Words>
  <Application>Microsoft Office PowerPoint</Application>
  <PresentationFormat>Widescreen</PresentationFormat>
  <Paragraphs>217</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Biome</vt:lpstr>
      <vt:lpstr>Bradley Hand ITC</vt:lpstr>
      <vt:lpstr>Calibri</vt:lpstr>
      <vt:lpstr>Calibri Light</vt:lpstr>
      <vt:lpstr>Ink Free</vt:lpstr>
      <vt:lpstr>Symbol</vt:lpstr>
      <vt:lpstr>Wingdings</vt:lpstr>
      <vt:lpstr>Office Theme</vt:lpstr>
      <vt:lpstr>Processing Systems</vt:lpstr>
      <vt:lpstr>PowerPoint Presentation</vt:lpstr>
      <vt:lpstr>What actually is processing?</vt:lpstr>
      <vt:lpstr>There are two types of processing we need to look at:</vt:lpstr>
      <vt:lpstr>Benefits and Drawbacks of Batch Processing</vt:lpstr>
      <vt:lpstr>Benefits and Drawbacks of Real-Time Processing</vt:lpstr>
      <vt:lpstr>Exemplar Question</vt:lpstr>
      <vt:lpstr>Automated Teller Machines (ATMs)</vt:lpstr>
      <vt:lpstr>POS (Point Of Sale) Terminals</vt:lpstr>
      <vt:lpstr>Smart Phones</vt:lpstr>
      <vt:lpstr>Questions</vt:lpstr>
      <vt:lpstr>Mark Scheme: Expand the acronym POS [1] </vt:lpstr>
      <vt:lpstr>Mark Scheme: Describe the main features of batch processing [4]</vt:lpstr>
      <vt:lpstr>Mark Scheme: Describe the main features of real-time processing [4]</vt:lpstr>
      <vt:lpstr>Mark Scheme: Explain why batch processing is suitable for a payroll application but unsuitable for a stock control application [4]</vt:lpstr>
      <vt:lpstr>Mark Scheme: Describe how batch processing is used to produce monthly bank statements [3]</vt:lpstr>
      <vt:lpstr>Mark Scheme: Justify the use of real-time processing for customer transactions at Automated Teller Machines [4]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Processing Systems</dc:title>
  <dc:creator>J Butler</dc:creator>
  <cp:lastModifiedBy>J Butler</cp:lastModifiedBy>
  <cp:revision>6</cp:revision>
  <dcterms:created xsi:type="dcterms:W3CDTF">2023-08-31T11:58:06Z</dcterms:created>
  <dcterms:modified xsi:type="dcterms:W3CDTF">2026-01-19T10:44:37Z</dcterms:modified>
</cp:coreProperties>
</file>