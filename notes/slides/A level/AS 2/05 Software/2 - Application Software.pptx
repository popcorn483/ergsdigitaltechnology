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0" r:id="rId3"/>
    <p:sldId id="257" r:id="rId4"/>
    <p:sldId id="258" r:id="rId5"/>
    <p:sldId id="261" r:id="rId6"/>
    <p:sldId id="262" r:id="rId7"/>
    <p:sldId id="263" r:id="rId8"/>
    <p:sldId id="259" r:id="rId9"/>
    <p:sldId id="264" r:id="rId10"/>
    <p:sldId id="265" r:id="rId11"/>
    <p:sldId id="266" r:id="rId12"/>
    <p:sldId id="267" r:id="rId13"/>
    <p:sldId id="269" r:id="rId14"/>
    <p:sldId id="268" r:id="rId15"/>
    <p:sldId id="280" r:id="rId16"/>
    <p:sldId id="270" r:id="rId17"/>
    <p:sldId id="271" r:id="rId18"/>
    <p:sldId id="272" r:id="rId19"/>
    <p:sldId id="273" r:id="rId20"/>
    <p:sldId id="274" r:id="rId21"/>
    <p:sldId id="275" r:id="rId22"/>
    <p:sldId id="276" r:id="rId23"/>
    <p:sldId id="277" r:id="rId24"/>
    <p:sldId id="278" r:id="rId25"/>
    <p:sldId id="279"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9" d="100"/>
          <a:sy n="119" d="100"/>
        </p:scale>
        <p:origin x="144" y="21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60000"/>
                    <a:lumOff val="40000"/>
                  </a:schemeClr>
                </a:solidFill>
              </a:defRPr>
            </a:lvl1pPr>
          </a:lstStyle>
          <a:p>
            <a:fld id="{DB78A697-9D75-4DE8-8C28-1296A6CF43C1}" type="datetimeFigureOut">
              <a:rPr lang="en-US" dirty="0"/>
              <a:t>1/19/2026</a:t>
            </a:fld>
            <a:endParaRPr lang="en-US" dirty="0"/>
          </a:p>
        </p:txBody>
      </p:sp>
      <p:sp>
        <p:nvSpPr>
          <p:cNvPr id="5" name="Footer Placeholder 4"/>
          <p:cNvSpPr>
            <a:spLocks noGrp="1"/>
          </p:cNvSpPr>
          <p:nvPr>
            <p:ph type="ftr" sz="quarter" idx="11"/>
          </p:nvPr>
        </p:nvSpPr>
        <p:spPr>
          <a:xfrm rot="21420000">
            <a:off x="9144" y="4882896"/>
            <a:ext cx="4050792" cy="1197864"/>
          </a:xfrm>
          <a:noFill/>
        </p:spPr>
        <p:txBody>
          <a:bodyPr wrap="square" rtlCol="0">
            <a:spAutoFit/>
          </a:bodyPr>
          <a:lstStyle>
            <a:lvl1pPr>
              <a:defRPr lang="en-US" sz="5400" dirty="0"/>
            </a:lvl1pPr>
          </a:lstStyle>
          <a:p>
            <a:pPr algn="r"/>
            <a:endParaRPr lang="en-US" dirty="0"/>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6D22F896-40B5-4ADD-8801-0D06FADFA095}" type="slidenum">
              <a:rPr lang="en-US" dirty="0"/>
              <a:pPr/>
              <a:t>‹#›</a:t>
            </a:fld>
            <a:endParaRPr lang="en-US" dirty="0"/>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accent1">
              <a:lumMod val="60000"/>
              <a:lumOff val="40000"/>
              <a:alpha val="50000"/>
            </a:schemeClr>
          </a:solidFill>
          <a:ln>
            <a:noFill/>
          </a:ln>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Content Placeholder 2"/>
          <p:cNvSpPr>
            <a:spLocks noGrp="1"/>
          </p:cNvSpPr>
          <p:nvPr>
            <p:ph sz="quarter" idx="13"/>
          </p:nvPr>
        </p:nvSpPr>
        <p:spPr>
          <a:xfrm>
            <a:off x="685800" y="2063396"/>
            <a:ext cx="10394707" cy="33111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6DBD967-1B7E-40AA-AAF7-BA98E0E039F7}" type="datetimeFigureOut">
              <a:rPr lang="en-US" dirty="0"/>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fade">
                                      <p:cBhvr>
                                        <p:cTn id="12" dur="500"/>
                                        <p:tgtEl>
                                          <p:spTgt spid="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animEffect transition="in" filter="fade">
                                      <p:cBhvr>
                                        <p:cTn id="17" dur="500"/>
                                        <p:tgtEl>
                                          <p:spTgt spid="1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xEl>
                                              <p:pRg st="2" end="2"/>
                                            </p:txEl>
                                          </p:spTgt>
                                        </p:tgtEl>
                                        <p:attrNameLst>
                                          <p:attrName>style.visibility</p:attrName>
                                        </p:attrNameLst>
                                      </p:cBhvr>
                                      <p:to>
                                        <p:strVal val="visible"/>
                                      </p:to>
                                    </p:set>
                                    <p:animEffect transition="in" filter="fade">
                                      <p:cBhvr>
                                        <p:cTn id="22" dur="500"/>
                                        <p:tgtEl>
                                          <p:spTgt spid="1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xEl>
                                              <p:pRg st="3" end="3"/>
                                            </p:txEl>
                                          </p:spTgt>
                                        </p:tgtEl>
                                        <p:attrNameLst>
                                          <p:attrName>style.visibility</p:attrName>
                                        </p:attrNameLst>
                                      </p:cBhvr>
                                      <p:to>
                                        <p:strVal val="visible"/>
                                      </p:to>
                                    </p:set>
                                    <p:animEffect transition="in" filter="fade">
                                      <p:cBhvr>
                                        <p:cTn id="27" dur="500"/>
                                        <p:tgtEl>
                                          <p:spTgt spid="1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xEl>
                                              <p:pRg st="4" end="4"/>
                                            </p:txEl>
                                          </p:spTgt>
                                        </p:tgtEl>
                                        <p:attrNameLst>
                                          <p:attrName>style.visibility</p:attrName>
                                        </p:attrNameLst>
                                      </p:cBhvr>
                                      <p:to>
                                        <p:strVal val="visible"/>
                                      </p:to>
                                    </p:set>
                                    <p:animEffect transition="in" filter="fade">
                                      <p:cBhvr>
                                        <p:cTn id="32" dur="50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build="p">
        <p:tmplLst>
          <p:tmpl lvl="1">
            <p:tnLst>
              <p:par>
                <p:cTn presetID="10"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D1490F-3E6A-4544-9694-22B6007FE3C6}" type="datetimeFigureOut">
              <a:rPr lang="en-US" dirty="0"/>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AF9620-38BC-4982-922B-C904A70C41DD}" type="datetimeFigureOut">
              <a:rPr lang="en-US" dirty="0"/>
              <a:t>1/19/2026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956FC6-E80E-40CB-B83C-A6FFE3EF0BA6}" type="datetimeFigureOut">
              <a:rPr lang="en-US" dirty="0"/>
              <a:t>1/19/2026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FF863F-52DC-41B2-9D00-5A4E5632AC32}" type="datetimeFigureOut">
              <a:rPr lang="en-US" dirty="0"/>
              <a:t>1/19/2026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B55614-3909-43DC-A067-7F9842F8B81D}" type="datetimeFigureOut">
              <a:rPr lang="en-US" dirty="0"/>
              <a:t>1/19/2026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829323-6A73-409C-86A6-9EAF0F851121}" type="datetimeFigureOut">
              <a:rPr lang="en-US" dirty="0"/>
              <a:t>1/19/2026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E240176-F1D3-49EC-82F4-0915A3AC4184}" type="datetimeFigureOut">
              <a:rPr lang="en-US" dirty="0"/>
              <a:t>1/19/2026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F3075A-B3CA-4308-8288-4AA3FDE33D80}" type="datetimeFigureOut">
              <a:rPr lang="en-US" dirty="0"/>
              <a:t>1/19/2026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674B8D-FEEF-4ACC-AE11-BD533592BCDC}" type="datetimeFigureOut">
              <a:rPr lang="en-US" dirty="0"/>
              <a:t>1/19/2026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0326006-7E0B-4944-9FC8-8FFECA54B11C}" type="datetimeFigureOut">
              <a:rPr lang="en-US" dirty="0"/>
              <a:t>1/19/2026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B5A3413-B80B-4905-8668-7292F4C8B0D5}" type="datetimeFigureOut">
              <a:rPr lang="en-US" dirty="0"/>
              <a:t>1/19/2026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4019662-C6A4-45F9-A235-129F0C1DEF43}" type="datetimeFigureOut">
              <a:rPr lang="en-US" dirty="0"/>
              <a:t>1/19/2026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09BB764-976A-4040-BDCA-252C91CEE939}" type="datetimeFigureOut">
              <a:rPr lang="en-US" dirty="0"/>
              <a:t>1/19/2026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4FC935-CE77-4008-BAD9-6108F00BE393}" type="datetimeFigureOut">
              <a:rPr lang="en-US" dirty="0"/>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C562D5-4244-4B26-B385-E71032EABECD}" type="datetimeFigureOut">
              <a:rPr lang="en-US" dirty="0"/>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60000"/>
                    <a:lumOff val="40000"/>
                  </a:schemeClr>
                </a:solidFill>
              </a:defRPr>
            </a:lvl1pPr>
          </a:lstStyle>
          <a:p>
            <a:fld id="{50172865-FBF0-458A-BAFF-4F75173770F5}" type="datetimeFigureOut">
              <a:rPr lang="en-US" dirty="0"/>
              <a:t>1/19/2026</a:t>
            </a:fld>
            <a:endParaRPr lang="en-US" dirty="0"/>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60000"/>
                    <a:lumOff val="40000"/>
                  </a:schemeClr>
                </a:solidFill>
              </a:defRPr>
            </a:lvl1pPr>
          </a:lstStyle>
          <a:p>
            <a:endParaRPr lang="en-US" dirty="0"/>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60000"/>
                    <a:lumOff val="40000"/>
                  </a:schemeClr>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5400" kern="1200" cap="all" baseline="0">
          <a:solidFill>
            <a:schemeClr val="accent1">
              <a:lumMod val="60000"/>
              <a:lumOff val="40000"/>
            </a:schemeClr>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lumMod val="60000"/>
            <a:lumOff val="40000"/>
          </a:schemeClr>
        </a:buClr>
        <a:buSzPct val="160000"/>
        <a:buFont typeface="Arial" panose="020B0604020202020204" pitchFamily="34" charset="0"/>
        <a:buChar char="•"/>
        <a:defRPr sz="2000" kern="1200" cap="none" baseline="0">
          <a:solidFill>
            <a:schemeClr val="tx1"/>
          </a:solidFill>
          <a:effectLst/>
          <a:latin typeface="Century Gothic" panose="020B0502020202020204" pitchFamily="34" charset="0"/>
          <a:ea typeface="+mn-ea"/>
          <a:cs typeface="+mn-cs"/>
        </a:defRPr>
      </a:lvl1pPr>
      <a:lvl2pPr marL="6858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800" kern="1200" cap="none" baseline="0">
          <a:solidFill>
            <a:schemeClr val="tx1"/>
          </a:solidFill>
          <a:effectLst/>
          <a:latin typeface="Century Gothic" panose="020B0502020202020204" pitchFamily="34" charset="0"/>
          <a:ea typeface="+mn-ea"/>
          <a:cs typeface="+mn-cs"/>
        </a:defRPr>
      </a:lvl2pPr>
      <a:lvl3pPr marL="11430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600" kern="1200" cap="none" baseline="0">
          <a:solidFill>
            <a:schemeClr val="tx1"/>
          </a:solidFill>
          <a:effectLst/>
          <a:latin typeface="Century Gothic" panose="020B0502020202020204" pitchFamily="34" charset="0"/>
          <a:ea typeface="+mn-ea"/>
          <a:cs typeface="+mn-cs"/>
        </a:defRPr>
      </a:lvl3pPr>
      <a:lvl4pPr marL="16002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400" kern="1200" cap="none" baseline="0">
          <a:solidFill>
            <a:schemeClr val="tx1"/>
          </a:solidFill>
          <a:effectLst/>
          <a:latin typeface="Century Gothic" panose="020B0502020202020204" pitchFamily="34" charset="0"/>
          <a:ea typeface="+mn-ea"/>
          <a:cs typeface="+mn-cs"/>
        </a:defRPr>
      </a:lvl4pPr>
      <a:lvl5pPr marL="20574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400" kern="1200" cap="none" baseline="0">
          <a:solidFill>
            <a:schemeClr val="tx1"/>
          </a:solidFill>
          <a:effectLst/>
          <a:latin typeface="Century Gothic" panose="020B0502020202020204" pitchFamily="34" charset="0"/>
          <a:ea typeface="+mn-ea"/>
          <a:cs typeface="+mn-cs"/>
        </a:defRPr>
      </a:lvl5pPr>
      <a:lvl6pPr marL="25146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Application Software</a:t>
            </a:r>
          </a:p>
        </p:txBody>
      </p:sp>
      <p:sp>
        <p:nvSpPr>
          <p:cNvPr id="3" name="Subtitle 2"/>
          <p:cNvSpPr>
            <a:spLocks noGrp="1"/>
          </p:cNvSpPr>
          <p:nvPr>
            <p:ph type="subTitle" idx="1"/>
          </p:nvPr>
        </p:nvSpPr>
        <p:spPr/>
        <p:txBody>
          <a:bodyPr/>
          <a:lstStyle/>
          <a:p>
            <a:r>
              <a:rPr lang="en-GB" dirty="0"/>
              <a:t>Mr Butler | AS2</a:t>
            </a:r>
          </a:p>
        </p:txBody>
      </p:sp>
    </p:spTree>
    <p:extLst>
      <p:ext uri="{BB962C8B-B14F-4D97-AF65-F5344CB8AC3E}">
        <p14:creationId xmlns:p14="http://schemas.microsoft.com/office/powerpoint/2010/main" val="2331092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13"/>
          </p:nvPr>
        </p:nvPicPr>
        <p:blipFill rotWithShape="1">
          <a:blip r:embed="rId2"/>
          <a:srcRect l="35003" t="51364" r="35751" b="22018"/>
          <a:stretch/>
        </p:blipFill>
        <p:spPr>
          <a:xfrm>
            <a:off x="733167" y="107091"/>
            <a:ext cx="10442879" cy="5346357"/>
          </a:xfrm>
          <a:prstGeom prst="rect">
            <a:avLst/>
          </a:prstGeom>
        </p:spPr>
      </p:pic>
    </p:spTree>
    <p:extLst>
      <p:ext uri="{BB962C8B-B14F-4D97-AF65-F5344CB8AC3E}">
        <p14:creationId xmlns:p14="http://schemas.microsoft.com/office/powerpoint/2010/main" val="3399848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application software?</a:t>
            </a:r>
          </a:p>
        </p:txBody>
      </p:sp>
      <p:sp>
        <p:nvSpPr>
          <p:cNvPr id="3" name="Content Placeholder 2"/>
          <p:cNvSpPr>
            <a:spLocks noGrp="1"/>
          </p:cNvSpPr>
          <p:nvPr>
            <p:ph sz="quarter" idx="13"/>
          </p:nvPr>
        </p:nvSpPr>
        <p:spPr/>
        <p:txBody>
          <a:bodyPr>
            <a:normAutofit fontScale="92500" lnSpcReduction="20000"/>
          </a:bodyPr>
          <a:lstStyle/>
          <a:p>
            <a:r>
              <a:rPr lang="en-GB" cap="none" dirty="0">
                <a:latin typeface="Century Gothic" panose="020B0502020202020204" pitchFamily="34" charset="0"/>
              </a:rPr>
              <a:t>A software application carries out tasks that the user is interested in doing such as writing a letter, creating graphs, sending an email or downloading a webpage.</a:t>
            </a:r>
          </a:p>
          <a:p>
            <a:r>
              <a:rPr lang="en-GB" cap="none" dirty="0">
                <a:latin typeface="Century Gothic" panose="020B0502020202020204" pitchFamily="34" charset="0"/>
              </a:rPr>
              <a:t>Software applications work through the operating system to gain access to the hardware.</a:t>
            </a:r>
          </a:p>
          <a:p>
            <a:r>
              <a:rPr lang="en-GB" b="1" dirty="0">
                <a:solidFill>
                  <a:srgbClr val="FF0000"/>
                </a:solidFill>
              </a:rPr>
              <a:t>Application software is designed to enable an end-user complete a specific type of task.</a:t>
            </a:r>
            <a:endParaRPr lang="en-GB" b="1" cap="none" dirty="0">
              <a:solidFill>
                <a:srgbClr val="FF0000"/>
              </a:solidFill>
            </a:endParaRPr>
          </a:p>
          <a:p>
            <a:r>
              <a:rPr lang="en-GB" cap="none" dirty="0">
                <a:latin typeface="Century Gothic" panose="020B0502020202020204" pitchFamily="34" charset="0"/>
              </a:rPr>
              <a:t>Application software can be classified under two main categories:</a:t>
            </a:r>
          </a:p>
          <a:p>
            <a:pPr lvl="1"/>
            <a:r>
              <a:rPr lang="en-GB" cap="none" dirty="0">
                <a:solidFill>
                  <a:srgbClr val="FF0000"/>
                </a:solidFill>
                <a:latin typeface="Century Gothic" panose="020B0502020202020204" pitchFamily="34" charset="0"/>
              </a:rPr>
              <a:t>General purpose </a:t>
            </a:r>
            <a:r>
              <a:rPr lang="en-GB" cap="none" dirty="0">
                <a:latin typeface="Century Gothic" panose="020B0502020202020204" pitchFamily="34" charset="0"/>
              </a:rPr>
              <a:t>software</a:t>
            </a:r>
          </a:p>
          <a:p>
            <a:pPr lvl="1"/>
            <a:r>
              <a:rPr lang="en-GB" cap="none" dirty="0">
                <a:solidFill>
                  <a:srgbClr val="FF0000"/>
                </a:solidFill>
                <a:latin typeface="Century Gothic" panose="020B0502020202020204" pitchFamily="34" charset="0"/>
              </a:rPr>
              <a:t>Tailor</a:t>
            </a:r>
            <a:r>
              <a:rPr lang="en-GB" cap="none" dirty="0">
                <a:latin typeface="Century Gothic" panose="020B0502020202020204" pitchFamily="34" charset="0"/>
              </a:rPr>
              <a:t> made (bespoke software)</a:t>
            </a:r>
          </a:p>
          <a:p>
            <a:endParaRPr lang="en-GB" dirty="0"/>
          </a:p>
        </p:txBody>
      </p:sp>
    </p:spTree>
    <p:extLst>
      <p:ext uri="{BB962C8B-B14F-4D97-AF65-F5344CB8AC3E}">
        <p14:creationId xmlns:p14="http://schemas.microsoft.com/office/powerpoint/2010/main" val="3387494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General Purpose Software</a:t>
            </a:r>
          </a:p>
        </p:txBody>
      </p:sp>
      <p:sp>
        <p:nvSpPr>
          <p:cNvPr id="3" name="Content Placeholder 2"/>
          <p:cNvSpPr>
            <a:spLocks noGrp="1"/>
          </p:cNvSpPr>
          <p:nvPr>
            <p:ph sz="quarter" idx="13"/>
          </p:nvPr>
        </p:nvSpPr>
        <p:spPr/>
        <p:txBody>
          <a:bodyPr/>
          <a:lstStyle/>
          <a:p>
            <a:r>
              <a:rPr lang="en-GB" dirty="0"/>
              <a:t>A general purpose application, sometimes known as ‘off-the-shelf’ is the sort of software that you use at home and school.  Examples include word processors, spreadsheets, databases, desktop publishing packages, graphics packages etc.</a:t>
            </a:r>
          </a:p>
          <a:p>
            <a:r>
              <a:rPr lang="en-GB" dirty="0"/>
              <a:t>This type of software tries to be a ‘jack-of-all-trades’.  It </a:t>
            </a:r>
            <a:r>
              <a:rPr lang="en-GB" b="1" dirty="0">
                <a:solidFill>
                  <a:srgbClr val="FF0000"/>
                </a:solidFill>
              </a:rPr>
              <a:t>provides many features that the majority of users will want </a:t>
            </a:r>
            <a:r>
              <a:rPr lang="en-GB" dirty="0"/>
              <a:t>e.g. formatting text, creating charts, organising tables.  But it does try to be’ all things to all people’ and so there will be </a:t>
            </a:r>
            <a:r>
              <a:rPr lang="en-GB" b="1" dirty="0">
                <a:solidFill>
                  <a:srgbClr val="FF0000"/>
                </a:solidFill>
              </a:rPr>
              <a:t>a vast number of features that you may never use </a:t>
            </a:r>
            <a:r>
              <a:rPr lang="en-GB" dirty="0"/>
              <a:t>e.g. statistical functions, mail merge.  This makes the storage size of these applications fairly large.</a:t>
            </a:r>
          </a:p>
          <a:p>
            <a:endParaRPr lang="en-GB" dirty="0"/>
          </a:p>
        </p:txBody>
      </p:sp>
    </p:spTree>
    <p:extLst>
      <p:ext uri="{BB962C8B-B14F-4D97-AF65-F5344CB8AC3E}">
        <p14:creationId xmlns:p14="http://schemas.microsoft.com/office/powerpoint/2010/main" val="3789191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882" cy="4833551"/>
          </a:xfrm>
        </p:spPr>
        <p:txBody>
          <a:bodyPr>
            <a:normAutofit/>
          </a:bodyPr>
          <a:lstStyle/>
          <a:p>
            <a:r>
              <a:rPr lang="en-GB" dirty="0">
                <a:ln>
                  <a:solidFill>
                    <a:schemeClr val="tx1">
                      <a:lumMod val="75000"/>
                      <a:lumOff val="25000"/>
                    </a:schemeClr>
                  </a:solidFill>
                </a:ln>
              </a:rPr>
              <a:t>TASK: Describe 4 advantages for using Generic software</a:t>
            </a:r>
            <a:br>
              <a:rPr lang="en-GB" dirty="0"/>
            </a:br>
            <a:endParaRPr lang="en-GB" dirty="0"/>
          </a:p>
        </p:txBody>
      </p:sp>
    </p:spTree>
    <p:extLst>
      <p:ext uri="{BB962C8B-B14F-4D97-AF65-F5344CB8AC3E}">
        <p14:creationId xmlns:p14="http://schemas.microsoft.com/office/powerpoint/2010/main" val="616323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benefits:</a:t>
            </a:r>
          </a:p>
        </p:txBody>
      </p:sp>
      <p:sp>
        <p:nvSpPr>
          <p:cNvPr id="3" name="Content Placeholder 2"/>
          <p:cNvSpPr>
            <a:spLocks noGrp="1"/>
          </p:cNvSpPr>
          <p:nvPr>
            <p:ph sz="quarter" idx="13"/>
          </p:nvPr>
        </p:nvSpPr>
        <p:spPr/>
        <p:txBody>
          <a:bodyPr>
            <a:normAutofit fontScale="92500" lnSpcReduction="10000"/>
          </a:bodyPr>
          <a:lstStyle/>
          <a:p>
            <a:r>
              <a:rPr lang="en-GB" dirty="0"/>
              <a:t>It is </a:t>
            </a:r>
            <a:r>
              <a:rPr lang="en-GB" b="1" dirty="0">
                <a:solidFill>
                  <a:srgbClr val="FF0000"/>
                </a:solidFill>
              </a:rPr>
              <a:t>relatively cheap </a:t>
            </a:r>
            <a:r>
              <a:rPr lang="en-GB" dirty="0"/>
              <a:t>- reduced cost as development costs are shared across many users.</a:t>
            </a:r>
          </a:p>
          <a:p>
            <a:r>
              <a:rPr lang="en-GB" dirty="0"/>
              <a:t>It is easily available from most computer shops, so is </a:t>
            </a:r>
            <a:r>
              <a:rPr lang="en-GB" b="1" dirty="0">
                <a:solidFill>
                  <a:srgbClr val="FF0000"/>
                </a:solidFill>
              </a:rPr>
              <a:t>widely available</a:t>
            </a:r>
          </a:p>
          <a:p>
            <a:r>
              <a:rPr lang="en-GB" dirty="0"/>
              <a:t>It will have been thoroughly </a:t>
            </a:r>
            <a:r>
              <a:rPr lang="en-GB" b="1" dirty="0">
                <a:solidFill>
                  <a:srgbClr val="FF0000"/>
                </a:solidFill>
              </a:rPr>
              <a:t>tested</a:t>
            </a:r>
            <a:r>
              <a:rPr lang="en-GB" dirty="0"/>
              <a:t> so there won’t be any serious problems or bugs</a:t>
            </a:r>
          </a:p>
          <a:p>
            <a:r>
              <a:rPr lang="en-GB" dirty="0"/>
              <a:t>There will be </a:t>
            </a:r>
            <a:r>
              <a:rPr lang="en-GB" b="1" dirty="0">
                <a:solidFill>
                  <a:srgbClr val="FF0000"/>
                </a:solidFill>
              </a:rPr>
              <a:t>lots of user support </a:t>
            </a:r>
            <a:r>
              <a:rPr lang="en-GB" dirty="0"/>
              <a:t>i.e. books, user guides, online help and discussion forums on the Internet</a:t>
            </a:r>
          </a:p>
          <a:p>
            <a:r>
              <a:rPr lang="en-GB" b="1" dirty="0">
                <a:solidFill>
                  <a:srgbClr val="FF0000"/>
                </a:solidFill>
              </a:rPr>
              <a:t>Less training required </a:t>
            </a:r>
            <a:r>
              <a:rPr lang="en-GB" dirty="0"/>
              <a:t>– its functionality is similar to other systems and most tools use the same icons/</a:t>
            </a:r>
            <a:r>
              <a:rPr lang="en-GB" dirty="0" err="1"/>
              <a:t>etc</a:t>
            </a:r>
            <a:r>
              <a:rPr lang="en-GB" dirty="0"/>
              <a:t> with the same output.</a:t>
            </a:r>
          </a:p>
        </p:txBody>
      </p:sp>
    </p:spTree>
    <p:extLst>
      <p:ext uri="{BB962C8B-B14F-4D97-AF65-F5344CB8AC3E}">
        <p14:creationId xmlns:p14="http://schemas.microsoft.com/office/powerpoint/2010/main" val="106024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Examples of Off-the Shelf Application Software</a:t>
            </a:r>
          </a:p>
        </p:txBody>
      </p:sp>
      <p:sp>
        <p:nvSpPr>
          <p:cNvPr id="3" name="Content Placeholder 2"/>
          <p:cNvSpPr>
            <a:spLocks noGrp="1"/>
          </p:cNvSpPr>
          <p:nvPr>
            <p:ph sz="quarter" idx="13"/>
          </p:nvPr>
        </p:nvSpPr>
        <p:spPr/>
        <p:txBody>
          <a:bodyPr>
            <a:normAutofit fontScale="85000" lnSpcReduction="10000"/>
          </a:bodyPr>
          <a:lstStyle/>
          <a:p>
            <a:r>
              <a:rPr lang="en-GB" b="1" dirty="0">
                <a:solidFill>
                  <a:srgbClr val="FF0000"/>
                </a:solidFill>
              </a:rPr>
              <a:t>Word processing application </a:t>
            </a:r>
            <a:r>
              <a:rPr lang="en-GB" dirty="0"/>
              <a:t>- writing reports, memos, letters to customers</a:t>
            </a:r>
          </a:p>
          <a:p>
            <a:r>
              <a:rPr lang="en-GB" b="1" dirty="0">
                <a:solidFill>
                  <a:srgbClr val="FF0000"/>
                </a:solidFill>
              </a:rPr>
              <a:t>Spreadsheet application </a:t>
            </a:r>
            <a:r>
              <a:rPr lang="en-GB" dirty="0"/>
              <a:t>- keeping simple company accounts, calculating employee commission payments, simple stock control system, modelling</a:t>
            </a:r>
          </a:p>
          <a:p>
            <a:r>
              <a:rPr lang="en-GB" b="1" dirty="0">
                <a:solidFill>
                  <a:srgbClr val="FF0000"/>
                </a:solidFill>
              </a:rPr>
              <a:t>Database application</a:t>
            </a:r>
            <a:r>
              <a:rPr lang="en-GB" b="1" dirty="0"/>
              <a:t> </a:t>
            </a:r>
            <a:r>
              <a:rPr lang="en-GB" dirty="0"/>
              <a:t>- keeping customer records, sales records, appointments system</a:t>
            </a:r>
          </a:p>
          <a:p>
            <a:r>
              <a:rPr lang="en-GB" b="1" dirty="0">
                <a:solidFill>
                  <a:srgbClr val="FF0000"/>
                </a:solidFill>
              </a:rPr>
              <a:t>Desktop publishing application </a:t>
            </a:r>
            <a:r>
              <a:rPr lang="en-GB" dirty="0"/>
              <a:t>- creating leaflets, posters, business cards</a:t>
            </a:r>
          </a:p>
          <a:p>
            <a:r>
              <a:rPr lang="en-GB" b="1" dirty="0">
                <a:solidFill>
                  <a:srgbClr val="FF0000"/>
                </a:solidFill>
              </a:rPr>
              <a:t>Presentation software </a:t>
            </a:r>
            <a:r>
              <a:rPr lang="en-GB" dirty="0"/>
              <a:t>- creating presentations to show to customers or staff</a:t>
            </a:r>
          </a:p>
          <a:p>
            <a:r>
              <a:rPr lang="en-GB" b="1" dirty="0">
                <a:solidFill>
                  <a:srgbClr val="FF0000"/>
                </a:solidFill>
              </a:rPr>
              <a:t>Graphics application </a:t>
            </a:r>
            <a:r>
              <a:rPr lang="en-GB" dirty="0"/>
              <a:t>- manipulating images that can be used at home, school or a business</a:t>
            </a:r>
          </a:p>
          <a:p>
            <a:r>
              <a:rPr lang="en-GB" b="1" dirty="0">
                <a:solidFill>
                  <a:srgbClr val="FF0000"/>
                </a:solidFill>
              </a:rPr>
              <a:t>Web design application </a:t>
            </a:r>
            <a:r>
              <a:rPr lang="en-GB" dirty="0"/>
              <a:t>- creating personal or business websites</a:t>
            </a:r>
          </a:p>
          <a:p>
            <a:endParaRPr lang="en-GB" dirty="0"/>
          </a:p>
        </p:txBody>
      </p:sp>
    </p:spTree>
    <p:extLst>
      <p:ext uri="{BB962C8B-B14F-4D97-AF65-F5344CB8AC3E}">
        <p14:creationId xmlns:p14="http://schemas.microsoft.com/office/powerpoint/2010/main" val="790790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Bespoke Software</a:t>
            </a:r>
          </a:p>
        </p:txBody>
      </p:sp>
      <p:sp>
        <p:nvSpPr>
          <p:cNvPr id="3" name="Content Placeholder 2"/>
          <p:cNvSpPr>
            <a:spLocks noGrp="1"/>
          </p:cNvSpPr>
          <p:nvPr>
            <p:ph sz="quarter" idx="13"/>
          </p:nvPr>
        </p:nvSpPr>
        <p:spPr/>
        <p:txBody>
          <a:bodyPr/>
          <a:lstStyle/>
          <a:p>
            <a:r>
              <a:rPr lang="en-GB" dirty="0"/>
              <a:t>Although most organisations use general purpose software, some organisations will find that it just doesn’t do exactly what they want or it doesn’t work with their current systems.</a:t>
            </a:r>
          </a:p>
          <a:p>
            <a:r>
              <a:rPr lang="en-GB" dirty="0"/>
              <a:t>In this case, they might decide to </a:t>
            </a:r>
            <a:r>
              <a:rPr lang="en-GB" b="1" dirty="0">
                <a:solidFill>
                  <a:srgbClr val="FF0000"/>
                </a:solidFill>
              </a:rPr>
              <a:t>have the software system they need designed and developed specifically for them</a:t>
            </a:r>
            <a:r>
              <a:rPr lang="en-GB" dirty="0"/>
              <a:t>.  </a:t>
            </a:r>
          </a:p>
          <a:p>
            <a:r>
              <a:rPr lang="en-GB" dirty="0"/>
              <a:t>This is called ‘tailor-made’ or ‘bespoke’ software.</a:t>
            </a:r>
          </a:p>
          <a:p>
            <a:endParaRPr lang="en-GB" dirty="0"/>
          </a:p>
        </p:txBody>
      </p:sp>
    </p:spTree>
    <p:extLst>
      <p:ext uri="{BB962C8B-B14F-4D97-AF65-F5344CB8AC3E}">
        <p14:creationId xmlns:p14="http://schemas.microsoft.com/office/powerpoint/2010/main" val="647769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882" cy="4833551"/>
          </a:xfrm>
        </p:spPr>
        <p:txBody>
          <a:bodyPr>
            <a:normAutofit/>
          </a:bodyPr>
          <a:lstStyle/>
          <a:p>
            <a:r>
              <a:rPr lang="en-GB" dirty="0">
                <a:ln>
                  <a:solidFill>
                    <a:schemeClr val="tx1">
                      <a:lumMod val="75000"/>
                      <a:lumOff val="25000"/>
                    </a:schemeClr>
                  </a:solidFill>
                </a:ln>
              </a:rPr>
              <a:t>TASK: Describe 4 advantages for using Bespoke software</a:t>
            </a:r>
            <a:br>
              <a:rPr lang="en-GB" dirty="0"/>
            </a:br>
            <a:endParaRPr lang="en-GB" dirty="0"/>
          </a:p>
        </p:txBody>
      </p:sp>
    </p:spTree>
    <p:extLst>
      <p:ext uri="{BB962C8B-B14F-4D97-AF65-F5344CB8AC3E}">
        <p14:creationId xmlns:p14="http://schemas.microsoft.com/office/powerpoint/2010/main" val="1420482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benefits:</a:t>
            </a:r>
          </a:p>
        </p:txBody>
      </p:sp>
      <p:sp>
        <p:nvSpPr>
          <p:cNvPr id="3" name="Content Placeholder 2"/>
          <p:cNvSpPr>
            <a:spLocks noGrp="1"/>
          </p:cNvSpPr>
          <p:nvPr>
            <p:ph sz="quarter" idx="13"/>
          </p:nvPr>
        </p:nvSpPr>
        <p:spPr/>
        <p:txBody>
          <a:bodyPr>
            <a:normAutofit/>
          </a:bodyPr>
          <a:lstStyle/>
          <a:p>
            <a:r>
              <a:rPr lang="en-GB" dirty="0"/>
              <a:t>the company will get the </a:t>
            </a:r>
            <a:r>
              <a:rPr lang="en-GB" b="1" dirty="0">
                <a:solidFill>
                  <a:srgbClr val="FF0000"/>
                </a:solidFill>
              </a:rPr>
              <a:t>exact software/system that they need</a:t>
            </a:r>
          </a:p>
          <a:p>
            <a:r>
              <a:rPr lang="en-GB" dirty="0"/>
              <a:t>the software will work exactly how they want it to work</a:t>
            </a:r>
          </a:p>
          <a:p>
            <a:r>
              <a:rPr lang="en-GB" dirty="0"/>
              <a:t>the software will only </a:t>
            </a:r>
            <a:r>
              <a:rPr lang="en-GB" b="1" dirty="0">
                <a:solidFill>
                  <a:srgbClr val="FF0000"/>
                </a:solidFill>
              </a:rPr>
              <a:t>have the features that they specifically need </a:t>
            </a:r>
            <a:r>
              <a:rPr lang="en-GB" dirty="0"/>
              <a:t>in their business.</a:t>
            </a:r>
          </a:p>
          <a:p>
            <a:r>
              <a:rPr lang="en-GB" b="1" dirty="0">
                <a:solidFill>
                  <a:srgbClr val="FF0000"/>
                </a:solidFill>
              </a:rPr>
              <a:t>User requirements will be met in full</a:t>
            </a:r>
            <a:r>
              <a:rPr lang="en-GB" dirty="0"/>
              <a:t>. For example, software will work exactly the way the user needs it to work. In addition, no unnecessary or unwanted additional features will be included in the application</a:t>
            </a:r>
          </a:p>
        </p:txBody>
      </p:sp>
    </p:spTree>
    <p:extLst>
      <p:ext uri="{BB962C8B-B14F-4D97-AF65-F5344CB8AC3E}">
        <p14:creationId xmlns:p14="http://schemas.microsoft.com/office/powerpoint/2010/main" val="2568047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pic>
        <p:nvPicPr>
          <p:cNvPr id="4" name="Content Placeholder 3"/>
          <p:cNvPicPr>
            <a:picLocks noGrp="1" noChangeAspect="1"/>
          </p:cNvPicPr>
          <p:nvPr>
            <p:ph sz="quarter" idx="13"/>
          </p:nvPr>
        </p:nvPicPr>
        <p:blipFill rotWithShape="1">
          <a:blip r:embed="rId2"/>
          <a:srcRect l="34487" t="47103" r="34773" b="16048"/>
          <a:stretch/>
        </p:blipFill>
        <p:spPr>
          <a:xfrm>
            <a:off x="1535545" y="57665"/>
            <a:ext cx="8126879" cy="5479752"/>
          </a:xfrm>
          <a:prstGeom prst="rect">
            <a:avLst/>
          </a:prstGeom>
        </p:spPr>
      </p:pic>
    </p:spTree>
    <p:extLst>
      <p:ext uri="{BB962C8B-B14F-4D97-AF65-F5344CB8AC3E}">
        <p14:creationId xmlns:p14="http://schemas.microsoft.com/office/powerpoint/2010/main" val="4258274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1036642" cy="1151965"/>
          </a:xfrm>
        </p:spPr>
        <p:txBody>
          <a:bodyPr>
            <a:normAutofit fontScale="90000"/>
          </a:bodyPr>
          <a:lstStyle/>
          <a:p>
            <a:r>
              <a:rPr lang="en-GB" dirty="0"/>
              <a:t>The disadvantages of Off-the shelf Software</a:t>
            </a:r>
          </a:p>
        </p:txBody>
      </p:sp>
      <p:sp>
        <p:nvSpPr>
          <p:cNvPr id="3" name="Content Placeholder 2"/>
          <p:cNvSpPr>
            <a:spLocks noGrp="1"/>
          </p:cNvSpPr>
          <p:nvPr>
            <p:ph sz="quarter" idx="13"/>
          </p:nvPr>
        </p:nvSpPr>
        <p:spPr/>
        <p:txBody>
          <a:bodyPr/>
          <a:lstStyle/>
          <a:p>
            <a:r>
              <a:rPr lang="en-GB" dirty="0"/>
              <a:t>The user interface may be </a:t>
            </a:r>
            <a:r>
              <a:rPr lang="en-GB" b="1" dirty="0">
                <a:solidFill>
                  <a:srgbClr val="FF0000"/>
                </a:solidFill>
              </a:rPr>
              <a:t>unnecessarily complex </a:t>
            </a:r>
            <a:r>
              <a:rPr lang="en-GB" dirty="0"/>
              <a:t>because it may contain a lot of additional features the organisation does not need. </a:t>
            </a:r>
          </a:p>
          <a:p>
            <a:r>
              <a:rPr lang="en-GB" dirty="0"/>
              <a:t>May </a:t>
            </a:r>
            <a:r>
              <a:rPr lang="en-GB" b="1" dirty="0">
                <a:solidFill>
                  <a:srgbClr val="FF0000"/>
                </a:solidFill>
              </a:rPr>
              <a:t>not meet all the organisations requirements</a:t>
            </a:r>
            <a:r>
              <a:rPr lang="en-GB" dirty="0"/>
              <a:t>. </a:t>
            </a:r>
          </a:p>
          <a:p>
            <a:r>
              <a:rPr lang="en-GB" dirty="0"/>
              <a:t>Users’ approach to completing tasks using the new system may have to be amended.</a:t>
            </a:r>
          </a:p>
        </p:txBody>
      </p:sp>
    </p:spTree>
    <p:extLst>
      <p:ext uri="{BB962C8B-B14F-4D97-AF65-F5344CB8AC3E}">
        <p14:creationId xmlns:p14="http://schemas.microsoft.com/office/powerpoint/2010/main" val="773575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1036642" cy="1151965"/>
          </a:xfrm>
        </p:spPr>
        <p:txBody>
          <a:bodyPr>
            <a:normAutofit fontScale="90000"/>
          </a:bodyPr>
          <a:lstStyle/>
          <a:p>
            <a:r>
              <a:rPr lang="en-GB" dirty="0"/>
              <a:t>The disadvantages of Bespoke Software</a:t>
            </a:r>
          </a:p>
        </p:txBody>
      </p:sp>
      <p:sp>
        <p:nvSpPr>
          <p:cNvPr id="3" name="Content Placeholder 2"/>
          <p:cNvSpPr>
            <a:spLocks noGrp="1"/>
          </p:cNvSpPr>
          <p:nvPr>
            <p:ph sz="quarter" idx="13"/>
          </p:nvPr>
        </p:nvSpPr>
        <p:spPr/>
        <p:txBody>
          <a:bodyPr/>
          <a:lstStyle/>
          <a:p>
            <a:r>
              <a:rPr lang="en-GB" dirty="0"/>
              <a:t>What, then, are the disadvantages of using bespoke software? Why don’t we use this everyday?</a:t>
            </a:r>
          </a:p>
          <a:p>
            <a:r>
              <a:rPr lang="en-GB" dirty="0"/>
              <a:t>There are several reasons:</a:t>
            </a:r>
          </a:p>
          <a:p>
            <a:pPr lvl="1"/>
            <a:r>
              <a:rPr lang="en-GB" dirty="0"/>
              <a:t>Will take a </a:t>
            </a:r>
            <a:r>
              <a:rPr lang="en-GB" b="1" dirty="0">
                <a:solidFill>
                  <a:srgbClr val="FF0000"/>
                </a:solidFill>
              </a:rPr>
              <a:t>long time to develop </a:t>
            </a:r>
            <a:r>
              <a:rPr lang="en-GB" dirty="0"/>
              <a:t>from analysis through to implementation.</a:t>
            </a:r>
          </a:p>
          <a:p>
            <a:pPr lvl="1"/>
            <a:r>
              <a:rPr lang="en-GB" b="1" dirty="0">
                <a:solidFill>
                  <a:srgbClr val="FF0000"/>
                </a:solidFill>
              </a:rPr>
              <a:t>Increased costs </a:t>
            </a:r>
            <a:r>
              <a:rPr lang="en-GB" dirty="0"/>
              <a:t>as there is a need to employ a specialist team to produce the solution.</a:t>
            </a:r>
          </a:p>
          <a:p>
            <a:pPr lvl="1"/>
            <a:r>
              <a:rPr lang="en-GB" b="1" dirty="0">
                <a:solidFill>
                  <a:srgbClr val="FF0000"/>
                </a:solidFill>
              </a:rPr>
              <a:t>Less support </a:t>
            </a:r>
            <a:r>
              <a:rPr lang="en-GB" dirty="0"/>
              <a:t>freely available</a:t>
            </a:r>
          </a:p>
        </p:txBody>
      </p:sp>
    </p:spTree>
    <p:extLst>
      <p:ext uri="{BB962C8B-B14F-4D97-AF65-F5344CB8AC3E}">
        <p14:creationId xmlns:p14="http://schemas.microsoft.com/office/powerpoint/2010/main" val="4034750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sz="quarter" idx="13"/>
          </p:nvPr>
        </p:nvPicPr>
        <p:blipFill rotWithShape="1">
          <a:blip r:embed="rId2"/>
          <a:srcRect l="34443" t="37682" r="35192" b="24506"/>
          <a:stretch/>
        </p:blipFill>
        <p:spPr>
          <a:xfrm>
            <a:off x="1902940" y="123568"/>
            <a:ext cx="7661189" cy="5366358"/>
          </a:xfrm>
          <a:prstGeom prst="rect">
            <a:avLst/>
          </a:prstGeom>
        </p:spPr>
      </p:pic>
    </p:spTree>
    <p:extLst>
      <p:ext uri="{BB962C8B-B14F-4D97-AF65-F5344CB8AC3E}">
        <p14:creationId xmlns:p14="http://schemas.microsoft.com/office/powerpoint/2010/main" val="54485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Fact File 2: Mark Scheme</a:t>
            </a:r>
          </a:p>
        </p:txBody>
      </p:sp>
      <p:sp>
        <p:nvSpPr>
          <p:cNvPr id="3" name="Content Placeholder 2"/>
          <p:cNvSpPr>
            <a:spLocks noGrp="1"/>
          </p:cNvSpPr>
          <p:nvPr>
            <p:ph sz="quarter" idx="13"/>
          </p:nvPr>
        </p:nvSpPr>
        <p:spPr>
          <a:xfrm>
            <a:off x="685800" y="2063396"/>
            <a:ext cx="10394707" cy="3512945"/>
          </a:xfrm>
        </p:spPr>
        <p:txBody>
          <a:bodyPr>
            <a:normAutofit fontScale="85000" lnSpcReduction="20000"/>
          </a:bodyPr>
          <a:lstStyle/>
          <a:p>
            <a:r>
              <a:rPr lang="en-GB" dirty="0"/>
              <a:t>The user requirements of the application are met in full in custom-built software[1]</a:t>
            </a:r>
          </a:p>
          <a:p>
            <a:r>
              <a:rPr lang="en-GB" dirty="0"/>
              <a:t>Off the shelf software will contain a lot of additional features which are not required, making it overly-complex [1]</a:t>
            </a:r>
          </a:p>
          <a:p>
            <a:r>
              <a:rPr lang="en-GB" dirty="0"/>
              <a:t>Custom-built software incurs increased costs [1] due to the company requiring to pay for its development</a:t>
            </a:r>
          </a:p>
          <a:p>
            <a:r>
              <a:rPr lang="en-GB" dirty="0"/>
              <a:t>Off the shelf software is relatively cheaper [1] as development costs are shared throughout a larger audience</a:t>
            </a:r>
          </a:p>
          <a:p>
            <a:r>
              <a:rPr lang="en-GB" dirty="0"/>
              <a:t>Special purpose software is designed for a specific application/task [1]</a:t>
            </a:r>
          </a:p>
          <a:p>
            <a:r>
              <a:rPr lang="en-GB" dirty="0"/>
              <a:t>Generic software performs general tasks and is not limited to one particular application [1]</a:t>
            </a:r>
          </a:p>
          <a:p>
            <a:r>
              <a:rPr lang="en-GB" dirty="0"/>
              <a:t>… and hence the software may not meet the exact user requirements [1]</a:t>
            </a:r>
          </a:p>
          <a:p>
            <a:endParaRPr lang="en-GB" dirty="0"/>
          </a:p>
        </p:txBody>
      </p:sp>
    </p:spTree>
    <p:extLst>
      <p:ext uri="{BB962C8B-B14F-4D97-AF65-F5344CB8AC3E}">
        <p14:creationId xmlns:p14="http://schemas.microsoft.com/office/powerpoint/2010/main" val="2801890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Research Task: Software Delivery</a:t>
            </a:r>
          </a:p>
        </p:txBody>
      </p:sp>
      <p:sp>
        <p:nvSpPr>
          <p:cNvPr id="3" name="Content Placeholder 2"/>
          <p:cNvSpPr>
            <a:spLocks noGrp="1"/>
          </p:cNvSpPr>
          <p:nvPr>
            <p:ph sz="quarter" idx="13"/>
          </p:nvPr>
        </p:nvSpPr>
        <p:spPr/>
        <p:txBody>
          <a:bodyPr/>
          <a:lstStyle/>
          <a:p>
            <a:r>
              <a:rPr lang="en-GB" dirty="0"/>
              <a:t>Research how application software can be delivered on different platforms.</a:t>
            </a:r>
          </a:p>
          <a:p>
            <a:pPr lvl="1"/>
            <a:r>
              <a:rPr lang="en-GB" b="1" dirty="0"/>
              <a:t>Internet</a:t>
            </a:r>
            <a:r>
              <a:rPr lang="en-GB" dirty="0"/>
              <a:t>?</a:t>
            </a:r>
          </a:p>
          <a:p>
            <a:pPr lvl="2"/>
            <a:r>
              <a:rPr lang="en-GB" dirty="0"/>
              <a:t>Direct Download / torrent (peer-to-peer) download</a:t>
            </a:r>
          </a:p>
          <a:p>
            <a:pPr lvl="2"/>
            <a:r>
              <a:rPr lang="en-GB" dirty="0"/>
              <a:t>Stream the software on the internet? (i.e. word online / </a:t>
            </a:r>
            <a:r>
              <a:rPr lang="en-GB" dirty="0" err="1"/>
              <a:t>pixlr</a:t>
            </a:r>
            <a:r>
              <a:rPr lang="en-GB" dirty="0"/>
              <a:t> online / </a:t>
            </a:r>
            <a:r>
              <a:rPr lang="en-GB" dirty="0" err="1"/>
              <a:t>etc</a:t>
            </a:r>
            <a:r>
              <a:rPr lang="en-GB" dirty="0"/>
              <a:t>?)</a:t>
            </a:r>
          </a:p>
          <a:p>
            <a:pPr lvl="2"/>
            <a:r>
              <a:rPr lang="en-GB" dirty="0"/>
              <a:t>Disk Installation</a:t>
            </a:r>
          </a:p>
          <a:p>
            <a:pPr lvl="1"/>
            <a:r>
              <a:rPr lang="en-GB" dirty="0"/>
              <a:t>What is the </a:t>
            </a:r>
            <a:r>
              <a:rPr lang="en-GB" b="1" dirty="0">
                <a:solidFill>
                  <a:srgbClr val="FF0000"/>
                </a:solidFill>
              </a:rPr>
              <a:t>process of installation</a:t>
            </a:r>
            <a:r>
              <a:rPr lang="en-GB" dirty="0"/>
              <a:t>? </a:t>
            </a:r>
          </a:p>
          <a:p>
            <a:pPr lvl="1"/>
            <a:r>
              <a:rPr lang="en-GB" dirty="0"/>
              <a:t>How can the software then interact with the physical hardware of the PC?</a:t>
            </a:r>
          </a:p>
        </p:txBody>
      </p:sp>
    </p:spTree>
    <p:extLst>
      <p:ext uri="{BB962C8B-B14F-4D97-AF65-F5344CB8AC3E}">
        <p14:creationId xmlns:p14="http://schemas.microsoft.com/office/powerpoint/2010/main" val="2191409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Software Delivery</a:t>
            </a:r>
          </a:p>
        </p:txBody>
      </p:sp>
      <p:sp>
        <p:nvSpPr>
          <p:cNvPr id="3" name="Content Placeholder 2"/>
          <p:cNvSpPr>
            <a:spLocks noGrp="1"/>
          </p:cNvSpPr>
          <p:nvPr>
            <p:ph sz="quarter" idx="13"/>
          </p:nvPr>
        </p:nvSpPr>
        <p:spPr>
          <a:xfrm>
            <a:off x="685800" y="2063396"/>
            <a:ext cx="10394707" cy="3527935"/>
          </a:xfrm>
        </p:spPr>
        <p:txBody>
          <a:bodyPr/>
          <a:lstStyle/>
          <a:p>
            <a:r>
              <a:rPr lang="en-GB" dirty="0"/>
              <a:t>Many applications are now </a:t>
            </a:r>
            <a:r>
              <a:rPr lang="en-GB" b="1" dirty="0">
                <a:solidFill>
                  <a:srgbClr val="FF0000"/>
                </a:solidFill>
              </a:rPr>
              <a:t>distributed to users via the internet</a:t>
            </a:r>
            <a:r>
              <a:rPr lang="en-GB" dirty="0"/>
              <a:t>. </a:t>
            </a:r>
          </a:p>
          <a:p>
            <a:r>
              <a:rPr lang="en-GB" dirty="0"/>
              <a:t>This allows the </a:t>
            </a:r>
            <a:r>
              <a:rPr lang="en-GB" b="1" dirty="0">
                <a:solidFill>
                  <a:srgbClr val="FF0000"/>
                </a:solidFill>
              </a:rPr>
              <a:t>distributor to by-pass retailers </a:t>
            </a:r>
            <a:r>
              <a:rPr lang="en-GB" dirty="0"/>
              <a:t>and the physical distribution process and allows the delivery of applications directly to the user. </a:t>
            </a:r>
          </a:p>
          <a:p>
            <a:r>
              <a:rPr lang="en-GB" b="1" dirty="0">
                <a:solidFill>
                  <a:srgbClr val="FF0000"/>
                </a:solidFill>
              </a:rPr>
              <a:t>Content distributed electronically may be accessed using the internet </a:t>
            </a:r>
            <a:r>
              <a:rPr lang="en-GB" dirty="0"/>
              <a:t>(streaming) or it can be downloaded for use on a supporting hardware device to allow off-line access at a later stage. </a:t>
            </a:r>
          </a:p>
          <a:p>
            <a:r>
              <a:rPr lang="en-GB" dirty="0"/>
              <a:t>Online versions may also be available.</a:t>
            </a:r>
          </a:p>
        </p:txBody>
      </p:sp>
    </p:spTree>
    <p:extLst>
      <p:ext uri="{BB962C8B-B14F-4D97-AF65-F5344CB8AC3E}">
        <p14:creationId xmlns:p14="http://schemas.microsoft.com/office/powerpoint/2010/main" val="2113432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685800" y="189470"/>
            <a:ext cx="10394707" cy="5185115"/>
          </a:xfrm>
        </p:spPr>
        <p:txBody>
          <a:bodyPr>
            <a:normAutofit/>
          </a:bodyPr>
          <a:lstStyle/>
          <a:p>
            <a:r>
              <a:rPr lang="en-GB" dirty="0"/>
              <a:t>Both approaches have their pros and cons. </a:t>
            </a:r>
          </a:p>
          <a:p>
            <a:r>
              <a:rPr lang="en-GB" dirty="0"/>
              <a:t>By downloading an application for use on an electronic device the user is </a:t>
            </a:r>
            <a:r>
              <a:rPr lang="en-GB" b="1" dirty="0">
                <a:solidFill>
                  <a:srgbClr val="FF0000"/>
                </a:solidFill>
              </a:rPr>
              <a:t>guaranteed access to that application </a:t>
            </a:r>
            <a:r>
              <a:rPr lang="en-GB" dirty="0"/>
              <a:t>at any time. </a:t>
            </a:r>
          </a:p>
          <a:p>
            <a:r>
              <a:rPr lang="en-GB" dirty="0"/>
              <a:t>Access is not dependent upon them have an appropriate broadband link the next time they wish to access the product, the downside however is the fact that the </a:t>
            </a:r>
            <a:r>
              <a:rPr lang="en-GB" b="1" dirty="0">
                <a:solidFill>
                  <a:srgbClr val="FF0000"/>
                </a:solidFill>
              </a:rPr>
              <a:t>application will require space </a:t>
            </a:r>
            <a:r>
              <a:rPr lang="en-GB" dirty="0"/>
              <a:t>on the devices backing storage device. </a:t>
            </a:r>
          </a:p>
          <a:p>
            <a:r>
              <a:rPr lang="en-GB" dirty="0"/>
              <a:t>Consideration also needs to be given to the fact that without an appropriate backup, damage to the storage media or device housing the application may result in the user losing data or applications. </a:t>
            </a:r>
          </a:p>
        </p:txBody>
      </p:sp>
    </p:spTree>
    <p:extLst>
      <p:ext uri="{BB962C8B-B14F-4D97-AF65-F5344CB8AC3E}">
        <p14:creationId xmlns:p14="http://schemas.microsoft.com/office/powerpoint/2010/main" val="270752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313038" y="222422"/>
            <a:ext cx="10767469" cy="5152163"/>
          </a:xfrm>
        </p:spPr>
        <p:txBody>
          <a:bodyPr>
            <a:normAutofit/>
          </a:bodyPr>
          <a:lstStyle/>
          <a:p>
            <a:r>
              <a:rPr lang="en-GB" dirty="0"/>
              <a:t>Where an end user opts to store a data file or an application on the internet little consideration needs to be given to the </a:t>
            </a:r>
            <a:r>
              <a:rPr lang="en-GB" b="1" dirty="0">
                <a:solidFill>
                  <a:srgbClr val="FF0000"/>
                </a:solidFill>
              </a:rPr>
              <a:t>storage capacity of the accessing device</a:t>
            </a:r>
            <a:r>
              <a:rPr lang="en-GB" dirty="0"/>
              <a:t>. </a:t>
            </a:r>
          </a:p>
          <a:p>
            <a:r>
              <a:rPr lang="en-GB" dirty="0"/>
              <a:t>The user simply needs to ensure they have an </a:t>
            </a:r>
            <a:r>
              <a:rPr lang="en-GB" b="1" dirty="0">
                <a:solidFill>
                  <a:srgbClr val="FF0000"/>
                </a:solidFill>
              </a:rPr>
              <a:t>appropriate broadband line available </a:t>
            </a:r>
            <a:r>
              <a:rPr lang="en-GB" dirty="0"/>
              <a:t>to them each time they wish to access the application. </a:t>
            </a:r>
          </a:p>
          <a:p>
            <a:r>
              <a:rPr lang="en-GB" dirty="0"/>
              <a:t>This dependency on a telecommunications means obviously that any issues with the user’s </a:t>
            </a:r>
            <a:r>
              <a:rPr lang="en-GB" b="1" dirty="0">
                <a:solidFill>
                  <a:srgbClr val="FF0000"/>
                </a:solidFill>
              </a:rPr>
              <a:t>broadband can impact upon the availability </a:t>
            </a:r>
            <a:r>
              <a:rPr lang="en-GB" dirty="0"/>
              <a:t>of the application. </a:t>
            </a:r>
          </a:p>
          <a:p>
            <a:r>
              <a:rPr lang="en-GB" dirty="0"/>
              <a:t>The application is only available to the user when they are online. Where a user is accessing an application online they can be guaranteed access to the most up-to-date version of that application each time they use it. </a:t>
            </a:r>
          </a:p>
          <a:p>
            <a:r>
              <a:rPr lang="en-GB" dirty="0"/>
              <a:t>All updates are applied directly to the application are readily available to all users.</a:t>
            </a:r>
          </a:p>
        </p:txBody>
      </p:sp>
    </p:spTree>
    <p:extLst>
      <p:ext uri="{BB962C8B-B14F-4D97-AF65-F5344CB8AC3E}">
        <p14:creationId xmlns:p14="http://schemas.microsoft.com/office/powerpoint/2010/main" val="41994938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685800" y="296562"/>
            <a:ext cx="10394707" cy="5078023"/>
          </a:xfrm>
        </p:spPr>
        <p:txBody>
          <a:bodyPr/>
          <a:lstStyle/>
          <a:p>
            <a:r>
              <a:rPr lang="en-GB" dirty="0"/>
              <a:t>Users who are accessing digital content online can access the applications they own the licensing rights to using any compatible device by logging into their content server. </a:t>
            </a:r>
          </a:p>
          <a:p>
            <a:pPr lvl="1"/>
            <a:r>
              <a:rPr lang="en-GB" dirty="0"/>
              <a:t>In essence they </a:t>
            </a:r>
            <a:r>
              <a:rPr lang="en-GB" b="1" dirty="0">
                <a:solidFill>
                  <a:srgbClr val="FF0000"/>
                </a:solidFill>
              </a:rPr>
              <a:t>can access the same application on multiple devices</a:t>
            </a:r>
            <a:r>
              <a:rPr lang="en-GB" dirty="0"/>
              <a:t>, make amendments on any device and remain secure in the knowledge that their amendments will be synchronised and stored online for later access. </a:t>
            </a:r>
          </a:p>
          <a:p>
            <a:pPr lvl="1"/>
            <a:r>
              <a:rPr lang="en-GB" dirty="0"/>
              <a:t>In instances where a user has downloaded an application for use offline, they </a:t>
            </a:r>
            <a:r>
              <a:rPr lang="en-GB" b="1" dirty="0">
                <a:solidFill>
                  <a:srgbClr val="FF0000"/>
                </a:solidFill>
              </a:rPr>
              <a:t>may not </a:t>
            </a:r>
            <a:r>
              <a:rPr lang="en-GB" dirty="0"/>
              <a:t>initially </a:t>
            </a:r>
            <a:r>
              <a:rPr lang="en-GB" b="1" dirty="0">
                <a:solidFill>
                  <a:srgbClr val="FF0000"/>
                </a:solidFill>
              </a:rPr>
              <a:t>be aware of the availability of any updates, </a:t>
            </a:r>
            <a:r>
              <a:rPr lang="en-GB" dirty="0"/>
              <a:t>and this will only be made available to them following further downloads.</a:t>
            </a:r>
          </a:p>
        </p:txBody>
      </p:sp>
    </p:spTree>
    <p:extLst>
      <p:ext uri="{BB962C8B-B14F-4D97-AF65-F5344CB8AC3E}">
        <p14:creationId xmlns:p14="http://schemas.microsoft.com/office/powerpoint/2010/main" val="3042590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sz="quarter" idx="13"/>
          </p:nvPr>
        </p:nvPicPr>
        <p:blipFill rotWithShape="1">
          <a:blip r:embed="rId2"/>
          <a:srcRect l="34583" t="37185" r="35192" b="37753"/>
          <a:stretch/>
        </p:blipFill>
        <p:spPr>
          <a:xfrm>
            <a:off x="90414" y="557348"/>
            <a:ext cx="11856037" cy="5529943"/>
          </a:xfrm>
          <a:prstGeom prst="rect">
            <a:avLst/>
          </a:prstGeom>
        </p:spPr>
      </p:pic>
    </p:spTree>
    <p:extLst>
      <p:ext uri="{BB962C8B-B14F-4D97-AF65-F5344CB8AC3E}">
        <p14:creationId xmlns:p14="http://schemas.microsoft.com/office/powerpoint/2010/main" val="37537003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Propriety or Open Source Software?</a:t>
            </a:r>
          </a:p>
        </p:txBody>
      </p:sp>
      <p:sp>
        <p:nvSpPr>
          <p:cNvPr id="3" name="Content Placeholder 2"/>
          <p:cNvSpPr>
            <a:spLocks noGrp="1"/>
          </p:cNvSpPr>
          <p:nvPr>
            <p:ph sz="quarter" idx="13"/>
          </p:nvPr>
        </p:nvSpPr>
        <p:spPr/>
        <p:txBody>
          <a:bodyPr>
            <a:normAutofit fontScale="85000" lnSpcReduction="20000"/>
          </a:bodyPr>
          <a:lstStyle/>
          <a:p>
            <a:r>
              <a:rPr lang="en-GB" dirty="0"/>
              <a:t>Proprietary software is software where someone (normally the owner or creator) </a:t>
            </a:r>
            <a:r>
              <a:rPr lang="en-GB" b="1" dirty="0">
                <a:solidFill>
                  <a:srgbClr val="FF0000"/>
                </a:solidFill>
              </a:rPr>
              <a:t>retains the rights to for example the source code </a:t>
            </a:r>
            <a:r>
              <a:rPr lang="en-GB" dirty="0"/>
              <a:t>for the application. </a:t>
            </a:r>
          </a:p>
          <a:p>
            <a:r>
              <a:rPr lang="en-GB" dirty="0"/>
              <a:t>Proprietary software is </a:t>
            </a:r>
            <a:r>
              <a:rPr lang="en-GB" b="1" dirty="0">
                <a:solidFill>
                  <a:srgbClr val="FF0000"/>
                </a:solidFill>
              </a:rPr>
              <a:t>copyright protected </a:t>
            </a:r>
            <a:r>
              <a:rPr lang="en-GB" dirty="0"/>
              <a:t>and there are limits imposed upon its use, distribution and modification. </a:t>
            </a:r>
          </a:p>
          <a:p>
            <a:r>
              <a:rPr lang="en-GB" dirty="0"/>
              <a:t>In essence the person, team or organisation responsible for the development of the application in this instance maintains exclusive control over it. </a:t>
            </a:r>
          </a:p>
          <a:p>
            <a:r>
              <a:rPr lang="en-GB" dirty="0"/>
              <a:t>Only the original authors of the application have the legal right to copy the application, view the source code or make any form of modification. </a:t>
            </a:r>
          </a:p>
          <a:p>
            <a:r>
              <a:rPr lang="en-GB" dirty="0"/>
              <a:t>Subsequent users must sign a license agreement to show they agree to only use the application within the bounds originally set down by the applications original authors.</a:t>
            </a:r>
          </a:p>
        </p:txBody>
      </p:sp>
    </p:spTree>
    <p:extLst>
      <p:ext uri="{BB962C8B-B14F-4D97-AF65-F5344CB8AC3E}">
        <p14:creationId xmlns:p14="http://schemas.microsoft.com/office/powerpoint/2010/main" val="15117956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685800" y="403654"/>
            <a:ext cx="10394707" cy="4970931"/>
          </a:xfrm>
        </p:spPr>
        <p:txBody>
          <a:bodyPr/>
          <a:lstStyle/>
          <a:p>
            <a:r>
              <a:rPr lang="en-GB" dirty="0"/>
              <a:t>Open source software on the other hand is software </a:t>
            </a:r>
            <a:r>
              <a:rPr lang="en-GB" b="1" dirty="0">
                <a:solidFill>
                  <a:srgbClr val="FF0000"/>
                </a:solidFill>
              </a:rPr>
              <a:t>which has its source code made readily available to other users </a:t>
            </a:r>
            <a:r>
              <a:rPr lang="en-GB" dirty="0"/>
              <a:t>for editing and redistribution. </a:t>
            </a:r>
          </a:p>
          <a:p>
            <a:r>
              <a:rPr lang="en-GB" dirty="0"/>
              <a:t>As with proprietary software there is still a licence associated with the application but in this instance it generally grants the users permission to use the application for any purpose they wish. </a:t>
            </a:r>
          </a:p>
          <a:p>
            <a:r>
              <a:rPr lang="en-GB" dirty="0"/>
              <a:t>More often than not the license associated with open source software will state that any modifications should be made available to other users alongside the original code and redistributed without charge.</a:t>
            </a:r>
          </a:p>
        </p:txBody>
      </p:sp>
    </p:spTree>
    <p:extLst>
      <p:ext uri="{BB962C8B-B14F-4D97-AF65-F5344CB8AC3E}">
        <p14:creationId xmlns:p14="http://schemas.microsoft.com/office/powerpoint/2010/main" val="17497762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685800" y="280086"/>
            <a:ext cx="10394707" cy="5094499"/>
          </a:xfrm>
        </p:spPr>
        <p:txBody>
          <a:bodyPr>
            <a:normAutofit lnSpcReduction="10000"/>
          </a:bodyPr>
          <a:lstStyle/>
          <a:p>
            <a:r>
              <a:rPr lang="en-GB" dirty="0"/>
              <a:t>Proprietary</a:t>
            </a:r>
          </a:p>
          <a:p>
            <a:pPr marL="457200" lvl="1" indent="0">
              <a:buNone/>
            </a:pPr>
            <a:r>
              <a:rPr lang="en-GB" dirty="0"/>
              <a:t>+ Regular </a:t>
            </a:r>
            <a:r>
              <a:rPr lang="en-GB" b="1" dirty="0">
                <a:solidFill>
                  <a:srgbClr val="FF0000"/>
                </a:solidFill>
              </a:rPr>
              <a:t>updates</a:t>
            </a:r>
            <a:r>
              <a:rPr lang="en-GB" dirty="0"/>
              <a:t> </a:t>
            </a:r>
          </a:p>
          <a:p>
            <a:pPr marL="457200" lvl="1" indent="0">
              <a:buNone/>
            </a:pPr>
            <a:r>
              <a:rPr lang="en-GB" dirty="0"/>
              <a:t>+ </a:t>
            </a:r>
            <a:r>
              <a:rPr lang="en-GB" b="1" dirty="0">
                <a:solidFill>
                  <a:srgbClr val="FF0000"/>
                </a:solidFill>
              </a:rPr>
              <a:t>Support</a:t>
            </a:r>
            <a:r>
              <a:rPr lang="en-GB" dirty="0"/>
              <a:t> readily available</a:t>
            </a:r>
          </a:p>
          <a:p>
            <a:pPr marL="457200" lvl="1" indent="0">
              <a:buNone/>
            </a:pPr>
            <a:r>
              <a:rPr lang="en-GB" dirty="0"/>
              <a:t>- </a:t>
            </a:r>
            <a:r>
              <a:rPr lang="en-GB" b="1" dirty="0">
                <a:solidFill>
                  <a:srgbClr val="FF0000"/>
                </a:solidFill>
              </a:rPr>
              <a:t>Bug fixes </a:t>
            </a:r>
            <a:r>
              <a:rPr lang="en-GB" dirty="0"/>
              <a:t>may be </a:t>
            </a:r>
            <a:r>
              <a:rPr lang="en-GB" b="1" dirty="0">
                <a:solidFill>
                  <a:srgbClr val="FF0000"/>
                </a:solidFill>
              </a:rPr>
              <a:t>slow</a:t>
            </a:r>
            <a:r>
              <a:rPr lang="en-GB" dirty="0"/>
              <a:t> </a:t>
            </a:r>
          </a:p>
          <a:p>
            <a:pPr marL="457200" lvl="1" indent="0">
              <a:buNone/>
            </a:pPr>
            <a:r>
              <a:rPr lang="en-GB" dirty="0"/>
              <a:t>- Security updates may be slow </a:t>
            </a:r>
          </a:p>
          <a:p>
            <a:pPr marL="457200" lvl="1" indent="0">
              <a:buNone/>
            </a:pPr>
            <a:r>
              <a:rPr lang="en-GB" dirty="0"/>
              <a:t>- Help only available at specific time (work hours)</a:t>
            </a:r>
          </a:p>
          <a:p>
            <a:r>
              <a:rPr lang="en-GB" dirty="0"/>
              <a:t>Open Source</a:t>
            </a:r>
          </a:p>
          <a:p>
            <a:pPr marL="457200" lvl="1" indent="0">
              <a:buNone/>
            </a:pPr>
            <a:r>
              <a:rPr lang="en-GB" dirty="0"/>
              <a:t>+ </a:t>
            </a:r>
            <a:r>
              <a:rPr lang="en-GB" b="1" dirty="0">
                <a:solidFill>
                  <a:srgbClr val="FF0000"/>
                </a:solidFill>
              </a:rPr>
              <a:t>Fast fixes </a:t>
            </a:r>
            <a:r>
              <a:rPr lang="en-GB" dirty="0"/>
              <a:t>to bugs </a:t>
            </a:r>
          </a:p>
          <a:p>
            <a:pPr marL="457200" lvl="1" indent="0">
              <a:buNone/>
            </a:pPr>
            <a:r>
              <a:rPr lang="en-GB" dirty="0"/>
              <a:t>+ </a:t>
            </a:r>
            <a:r>
              <a:rPr lang="en-GB" b="1" dirty="0">
                <a:solidFill>
                  <a:srgbClr val="FF0000"/>
                </a:solidFill>
              </a:rPr>
              <a:t>No-cost </a:t>
            </a:r>
          </a:p>
          <a:p>
            <a:pPr marL="457200" lvl="1" indent="0">
              <a:buNone/>
            </a:pPr>
            <a:r>
              <a:rPr lang="en-GB" dirty="0"/>
              <a:t>+ Multiple versions of application available to chose from </a:t>
            </a:r>
          </a:p>
          <a:p>
            <a:pPr marL="457200" lvl="1" indent="0">
              <a:buNone/>
            </a:pPr>
            <a:r>
              <a:rPr lang="en-GB" dirty="0"/>
              <a:t>+ Wide range of support during the life-span of the package</a:t>
            </a:r>
          </a:p>
          <a:p>
            <a:pPr marL="457200" lvl="1" indent="0">
              <a:buNone/>
            </a:pPr>
            <a:r>
              <a:rPr lang="en-GB" dirty="0"/>
              <a:t>- </a:t>
            </a:r>
            <a:r>
              <a:rPr lang="en-GB" b="1" dirty="0">
                <a:solidFill>
                  <a:srgbClr val="FF0000"/>
                </a:solidFill>
              </a:rPr>
              <a:t>Too many versions available</a:t>
            </a:r>
            <a:r>
              <a:rPr lang="en-GB" dirty="0"/>
              <a:t> to chose from – how do you know which is best for you? </a:t>
            </a:r>
          </a:p>
          <a:p>
            <a:pPr marL="457200" lvl="1" indent="0">
              <a:buNone/>
            </a:pPr>
            <a:r>
              <a:rPr lang="en-GB" dirty="0"/>
              <a:t>- Help may not always be available</a:t>
            </a:r>
          </a:p>
        </p:txBody>
      </p:sp>
    </p:spTree>
    <p:extLst>
      <p:ext uri="{BB962C8B-B14F-4D97-AF65-F5344CB8AC3E}">
        <p14:creationId xmlns:p14="http://schemas.microsoft.com/office/powerpoint/2010/main" val="24985117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Task: Questions 4-6 of Fact File </a:t>
            </a:r>
          </a:p>
        </p:txBody>
      </p:sp>
      <p:sp>
        <p:nvSpPr>
          <p:cNvPr id="3" name="Content Placeholder 2"/>
          <p:cNvSpPr>
            <a:spLocks noGrp="1"/>
          </p:cNvSpPr>
          <p:nvPr>
            <p:ph sz="quarter" idx="13"/>
          </p:nvPr>
        </p:nvSpPr>
        <p:spPr/>
        <p:txBody>
          <a:bodyPr/>
          <a:lstStyle/>
          <a:p>
            <a:r>
              <a:rPr lang="en-GB" dirty="0"/>
              <a:t>4. Clients wishing to obtain a software solution to a given problem can opt for proprietary software or open source software solutions. Explain the difference between proprietary software and open source software. [6]</a:t>
            </a:r>
          </a:p>
          <a:p>
            <a:r>
              <a:rPr lang="en-GB" dirty="0"/>
              <a:t>5. A small local business wishes to introduce a software solution to help with the management of customer orders. They are unsure if a proprietary solution or an open source solution is most appropriate for them. Which solution would you recommend? Explain why this is the most appropriate solution for them. [6] </a:t>
            </a:r>
          </a:p>
          <a:p>
            <a:r>
              <a:rPr lang="en-GB" dirty="0"/>
              <a:t>6. Identify the pros and cons of a proprietary software solution. [6]</a:t>
            </a:r>
          </a:p>
        </p:txBody>
      </p:sp>
    </p:spTree>
    <p:extLst>
      <p:ext uri="{BB962C8B-B14F-4D97-AF65-F5344CB8AC3E}">
        <p14:creationId xmlns:p14="http://schemas.microsoft.com/office/powerpoint/2010/main" val="26299031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396882" cy="1151965"/>
          </a:xfrm>
        </p:spPr>
        <p:txBody>
          <a:bodyPr/>
          <a:lstStyle/>
          <a:p>
            <a:r>
              <a:rPr lang="en-GB" dirty="0"/>
              <a:t>Fact File 3 Mark Scheme</a:t>
            </a:r>
          </a:p>
        </p:txBody>
      </p:sp>
      <p:sp>
        <p:nvSpPr>
          <p:cNvPr id="3" name="Content Placeholder 2"/>
          <p:cNvSpPr>
            <a:spLocks noGrp="1"/>
          </p:cNvSpPr>
          <p:nvPr>
            <p:ph sz="quarter" idx="13"/>
          </p:nvPr>
        </p:nvSpPr>
        <p:spPr>
          <a:xfrm>
            <a:off x="5141627" y="944379"/>
            <a:ext cx="6595671" cy="4582606"/>
          </a:xfrm>
        </p:spPr>
        <p:txBody>
          <a:bodyPr>
            <a:normAutofit fontScale="85000" lnSpcReduction="10000"/>
          </a:bodyPr>
          <a:lstStyle/>
          <a:p>
            <a:pPr marL="0" indent="0">
              <a:buNone/>
            </a:pPr>
            <a:r>
              <a:rPr lang="en-GB" b="1" dirty="0"/>
              <a:t>Accessing Applications via internet:</a:t>
            </a:r>
          </a:p>
          <a:p>
            <a:pPr marL="0" indent="0">
              <a:buNone/>
            </a:pPr>
            <a:r>
              <a:rPr lang="en-GB" dirty="0"/>
              <a:t>+ little consideration needs to be given for storage capacity of device</a:t>
            </a:r>
          </a:p>
          <a:p>
            <a:pPr marL="0" indent="0">
              <a:buNone/>
            </a:pPr>
            <a:r>
              <a:rPr lang="en-GB" dirty="0"/>
              <a:t>+ only consideration is that adequate broadband connection is available</a:t>
            </a:r>
          </a:p>
          <a:p>
            <a:pPr marL="0" indent="0">
              <a:buNone/>
            </a:pPr>
            <a:r>
              <a:rPr lang="en-GB" dirty="0"/>
              <a:t>+ Most up to date application with all features it includes</a:t>
            </a:r>
          </a:p>
          <a:p>
            <a:pPr marL="0" indent="0">
              <a:buNone/>
            </a:pPr>
            <a:r>
              <a:rPr lang="en-GB" dirty="0"/>
              <a:t>+ Updates occur as soon as they are available</a:t>
            </a:r>
          </a:p>
          <a:p>
            <a:pPr marL="0" indent="0">
              <a:buNone/>
            </a:pPr>
            <a:r>
              <a:rPr lang="en-GB" dirty="0"/>
              <a:t>+ Users can access/edit the same documents from different devices and all changes are synchronised to all devices</a:t>
            </a:r>
          </a:p>
          <a:p>
            <a:pPr marL="0" indent="0">
              <a:buNone/>
            </a:pPr>
            <a:r>
              <a:rPr lang="en-GB" dirty="0"/>
              <a:t>- Dependency on communications/ broadband outages will affect connection and availability</a:t>
            </a:r>
          </a:p>
          <a:p>
            <a:pPr marL="0" indent="0">
              <a:buNone/>
            </a:pPr>
            <a:r>
              <a:rPr lang="en-GB" dirty="0"/>
              <a:t>- Hence applications are only available when online.</a:t>
            </a:r>
          </a:p>
        </p:txBody>
      </p:sp>
      <p:sp>
        <p:nvSpPr>
          <p:cNvPr id="4" name="Content Placeholder 2"/>
          <p:cNvSpPr txBox="1">
            <a:spLocks/>
          </p:cNvSpPr>
          <p:nvPr/>
        </p:nvSpPr>
        <p:spPr>
          <a:xfrm>
            <a:off x="1" y="1111770"/>
            <a:ext cx="5141626" cy="4415215"/>
          </a:xfrm>
          <a:prstGeom prst="rect">
            <a:avLst/>
          </a:prstGeom>
        </p:spPr>
        <p:txBody>
          <a:bodyPr vert="horz" lIns="91440" tIns="45720" rIns="91440" bIns="45720" rtlCol="0" anchor="ctr">
            <a:normAutofit fontScale="92500" lnSpcReduction="20000"/>
          </a:bodyPr>
          <a:lstStyle>
            <a:lvl1pPr marL="228600" indent="-228600" algn="l" defTabSz="914400" rtl="0" eaLnBrk="1" latinLnBrk="0" hangingPunct="1">
              <a:lnSpc>
                <a:spcPct val="120000"/>
              </a:lnSpc>
              <a:spcBef>
                <a:spcPts val="1000"/>
              </a:spcBef>
              <a:buClr>
                <a:schemeClr val="accent1">
                  <a:lumMod val="60000"/>
                  <a:lumOff val="40000"/>
                </a:schemeClr>
              </a:buClr>
              <a:buSzPct val="160000"/>
              <a:buFont typeface="Arial" panose="020B0604020202020204" pitchFamily="34" charset="0"/>
              <a:buChar char="•"/>
              <a:defRPr sz="2000" kern="1200" cap="none" baseline="0">
                <a:solidFill>
                  <a:schemeClr val="tx1"/>
                </a:solidFill>
                <a:effectLst/>
                <a:latin typeface="Century Gothic" panose="020B0502020202020204" pitchFamily="34" charset="0"/>
                <a:ea typeface="+mn-ea"/>
                <a:cs typeface="+mn-cs"/>
              </a:defRPr>
            </a:lvl1pPr>
            <a:lvl2pPr marL="6858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800" kern="1200" cap="none" baseline="0">
                <a:solidFill>
                  <a:schemeClr val="tx1"/>
                </a:solidFill>
                <a:effectLst/>
                <a:latin typeface="Century Gothic" panose="020B0502020202020204" pitchFamily="34" charset="0"/>
                <a:ea typeface="+mn-ea"/>
                <a:cs typeface="+mn-cs"/>
              </a:defRPr>
            </a:lvl2pPr>
            <a:lvl3pPr marL="11430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600" kern="1200" cap="none" baseline="0">
                <a:solidFill>
                  <a:schemeClr val="tx1"/>
                </a:solidFill>
                <a:effectLst/>
                <a:latin typeface="Century Gothic" panose="020B0502020202020204" pitchFamily="34" charset="0"/>
                <a:ea typeface="+mn-ea"/>
                <a:cs typeface="+mn-cs"/>
              </a:defRPr>
            </a:lvl3pPr>
            <a:lvl4pPr marL="16002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400" kern="1200" cap="none" baseline="0">
                <a:solidFill>
                  <a:schemeClr val="tx1"/>
                </a:solidFill>
                <a:effectLst/>
                <a:latin typeface="Century Gothic" panose="020B0502020202020204" pitchFamily="34" charset="0"/>
                <a:ea typeface="+mn-ea"/>
                <a:cs typeface="+mn-cs"/>
              </a:defRPr>
            </a:lvl4pPr>
            <a:lvl5pPr marL="20574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400" kern="1200" cap="none" baseline="0">
                <a:solidFill>
                  <a:schemeClr val="tx1"/>
                </a:solidFill>
                <a:effectLst/>
                <a:latin typeface="Century Gothic" panose="020B0502020202020204" pitchFamily="34" charset="0"/>
                <a:ea typeface="+mn-ea"/>
                <a:cs typeface="+mn-cs"/>
              </a:defRPr>
            </a:lvl5pPr>
            <a:lvl6pPr marL="25146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buNone/>
            </a:pPr>
            <a:r>
              <a:rPr lang="en-GB" b="1" dirty="0"/>
              <a:t>Downloading Applications:</a:t>
            </a:r>
          </a:p>
          <a:p>
            <a:pPr marL="0" indent="0">
              <a:buNone/>
            </a:pPr>
            <a:r>
              <a:rPr lang="en-GB" dirty="0"/>
              <a:t>+ Guaranteed access to the application</a:t>
            </a:r>
          </a:p>
          <a:p>
            <a:pPr marL="0" indent="0">
              <a:buNone/>
            </a:pPr>
            <a:r>
              <a:rPr lang="en-GB" dirty="0"/>
              <a:t>+ Not dependant on user having an appropriate broadband link</a:t>
            </a:r>
          </a:p>
          <a:p>
            <a:pPr marL="0" indent="0">
              <a:buNone/>
            </a:pPr>
            <a:r>
              <a:rPr lang="en-GB" dirty="0"/>
              <a:t>- Requires additional storage space</a:t>
            </a:r>
          </a:p>
          <a:p>
            <a:pPr marL="0" indent="0">
              <a:buNone/>
            </a:pPr>
            <a:r>
              <a:rPr lang="en-GB" dirty="0"/>
              <a:t>- devices can be more expensive for large memory capacities</a:t>
            </a:r>
          </a:p>
          <a:p>
            <a:pPr marL="0" indent="0">
              <a:buNone/>
            </a:pPr>
            <a:r>
              <a:rPr lang="en-GB" dirty="0"/>
              <a:t>- Without backup, damage to device may result in loss of data/applications</a:t>
            </a:r>
          </a:p>
          <a:p>
            <a:pPr marL="0" indent="0">
              <a:buNone/>
            </a:pPr>
            <a:r>
              <a:rPr lang="en-GB" dirty="0"/>
              <a:t>- Applications offline may not be initially updated and may only be available if further downloads take place</a:t>
            </a:r>
          </a:p>
        </p:txBody>
      </p:sp>
    </p:spTree>
    <p:extLst>
      <p:ext uri="{BB962C8B-B14F-4D97-AF65-F5344CB8AC3E}">
        <p14:creationId xmlns:p14="http://schemas.microsoft.com/office/powerpoint/2010/main" val="30311660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Fact File 4 Mark Scheme</a:t>
            </a:r>
          </a:p>
        </p:txBody>
      </p:sp>
      <p:sp>
        <p:nvSpPr>
          <p:cNvPr id="3" name="Content Placeholder 2"/>
          <p:cNvSpPr>
            <a:spLocks noGrp="1"/>
          </p:cNvSpPr>
          <p:nvPr>
            <p:ph sz="quarter" idx="13"/>
          </p:nvPr>
        </p:nvSpPr>
        <p:spPr/>
        <p:txBody>
          <a:bodyPr>
            <a:normAutofit fontScale="92500" lnSpcReduction="20000"/>
          </a:bodyPr>
          <a:lstStyle/>
          <a:p>
            <a:r>
              <a:rPr lang="en-GB" dirty="0"/>
              <a:t>Proprietary software is software where somebody retains the rights to source code [1]</a:t>
            </a:r>
          </a:p>
          <a:p>
            <a:r>
              <a:rPr lang="en-GB" dirty="0"/>
              <a:t>… for the application and cannot be changed or edited without permission [1]</a:t>
            </a:r>
          </a:p>
          <a:p>
            <a:r>
              <a:rPr lang="en-GB" dirty="0"/>
              <a:t>Proprietary software incurs a cost to the user [1]</a:t>
            </a:r>
          </a:p>
          <a:p>
            <a:r>
              <a:rPr lang="en-GB" dirty="0"/>
              <a:t>Open source software for which the copyright to source code are in the public domain [1]</a:t>
            </a:r>
          </a:p>
          <a:p>
            <a:r>
              <a:rPr lang="en-GB" dirty="0"/>
              <a:t>No licence is required to use the code [1]</a:t>
            </a:r>
          </a:p>
          <a:p>
            <a:r>
              <a:rPr lang="en-GB" dirty="0"/>
              <a:t>.. And is freely available [1]</a:t>
            </a:r>
          </a:p>
          <a:p>
            <a:r>
              <a:rPr lang="en-GB" dirty="0"/>
              <a:t>Users can change or improve the software and redistribute [1]</a:t>
            </a:r>
          </a:p>
        </p:txBody>
      </p:sp>
    </p:spTree>
    <p:extLst>
      <p:ext uri="{BB962C8B-B14F-4D97-AF65-F5344CB8AC3E}">
        <p14:creationId xmlns:p14="http://schemas.microsoft.com/office/powerpoint/2010/main" val="204167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Fact File 5 Mark Scheme</a:t>
            </a:r>
          </a:p>
        </p:txBody>
      </p:sp>
      <p:sp>
        <p:nvSpPr>
          <p:cNvPr id="3" name="Content Placeholder 2"/>
          <p:cNvSpPr>
            <a:spLocks noGrp="1"/>
          </p:cNvSpPr>
          <p:nvPr>
            <p:ph sz="quarter" idx="13"/>
          </p:nvPr>
        </p:nvSpPr>
        <p:spPr>
          <a:xfrm>
            <a:off x="685800" y="2063396"/>
            <a:ext cx="10394707" cy="3542925"/>
          </a:xfrm>
        </p:spPr>
        <p:txBody>
          <a:bodyPr>
            <a:normAutofit fontScale="92500" lnSpcReduction="10000"/>
          </a:bodyPr>
          <a:lstStyle/>
          <a:p>
            <a:r>
              <a:rPr lang="en-GB" dirty="0"/>
              <a:t>Proprietary software would be recommended [1] </a:t>
            </a:r>
          </a:p>
          <a:p>
            <a:r>
              <a:rPr lang="en-GB" dirty="0"/>
              <a:t>As there are regular updates [1] </a:t>
            </a:r>
          </a:p>
          <a:p>
            <a:r>
              <a:rPr lang="en-GB" dirty="0"/>
              <a:t>…with support readily available [1]</a:t>
            </a:r>
          </a:p>
          <a:p>
            <a:r>
              <a:rPr lang="en-GB" dirty="0"/>
              <a:t>It will also be well tested [1]</a:t>
            </a:r>
          </a:p>
          <a:p>
            <a:r>
              <a:rPr lang="en-GB" dirty="0"/>
              <a:t>And deemed more secure due to this [1]</a:t>
            </a:r>
          </a:p>
          <a:p>
            <a:r>
              <a:rPr lang="en-GB" dirty="0"/>
              <a:t>Open source software will have multiple versions which would be significantly </a:t>
            </a:r>
            <a:r>
              <a:rPr lang="en-GB" dirty="0" err="1"/>
              <a:t>understested</a:t>
            </a:r>
            <a:r>
              <a:rPr lang="en-GB" dirty="0"/>
              <a:t> [1]</a:t>
            </a:r>
          </a:p>
          <a:p>
            <a:r>
              <a:rPr lang="en-GB" dirty="0"/>
              <a:t>And may have security flaws [1] </a:t>
            </a:r>
          </a:p>
        </p:txBody>
      </p:sp>
    </p:spTree>
    <p:extLst>
      <p:ext uri="{BB962C8B-B14F-4D97-AF65-F5344CB8AC3E}">
        <p14:creationId xmlns:p14="http://schemas.microsoft.com/office/powerpoint/2010/main" val="17782854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Fact File 6 Mark Scheme</a:t>
            </a:r>
          </a:p>
        </p:txBody>
      </p:sp>
      <p:sp>
        <p:nvSpPr>
          <p:cNvPr id="3" name="Content Placeholder 2"/>
          <p:cNvSpPr>
            <a:spLocks noGrp="1"/>
          </p:cNvSpPr>
          <p:nvPr>
            <p:ph sz="quarter" idx="13"/>
          </p:nvPr>
        </p:nvSpPr>
        <p:spPr/>
        <p:txBody>
          <a:bodyPr/>
          <a:lstStyle/>
          <a:p>
            <a:pPr marL="457200" lvl="1" indent="0">
              <a:buNone/>
            </a:pPr>
            <a:r>
              <a:rPr lang="en-GB" sz="2000" dirty="0"/>
              <a:t>+ Regular updates [1] </a:t>
            </a:r>
          </a:p>
          <a:p>
            <a:pPr marL="457200" lvl="1" indent="0">
              <a:buNone/>
            </a:pPr>
            <a:r>
              <a:rPr lang="en-GB" sz="2000" dirty="0"/>
              <a:t>+ Support readily available [1]</a:t>
            </a:r>
          </a:p>
          <a:p>
            <a:pPr marL="457200" lvl="1" indent="0">
              <a:buNone/>
            </a:pPr>
            <a:r>
              <a:rPr lang="en-GB" sz="2000" dirty="0"/>
              <a:t>+ Well tested [1]</a:t>
            </a:r>
          </a:p>
          <a:p>
            <a:pPr marL="457200" lvl="1" indent="0">
              <a:buNone/>
            </a:pPr>
            <a:r>
              <a:rPr lang="en-GB" sz="2000" dirty="0"/>
              <a:t>- Bug fixes may be slow [1]</a:t>
            </a:r>
          </a:p>
          <a:p>
            <a:pPr marL="457200" lvl="1" indent="0">
              <a:buNone/>
            </a:pPr>
            <a:r>
              <a:rPr lang="en-GB" sz="2000" dirty="0"/>
              <a:t>- Security updates may be slow [1]</a:t>
            </a:r>
          </a:p>
          <a:p>
            <a:pPr marL="457200" lvl="1" indent="0">
              <a:buNone/>
            </a:pPr>
            <a:r>
              <a:rPr lang="en-GB" sz="2000" dirty="0"/>
              <a:t>- Help only available at specific time (work hours) [1]</a:t>
            </a:r>
          </a:p>
          <a:p>
            <a:pPr marL="457200" lvl="1" indent="0">
              <a:buNone/>
            </a:pPr>
            <a:r>
              <a:rPr lang="en-GB" sz="2000" dirty="0"/>
              <a:t>- Incurs a cost to the user (so is more expensive) [1]</a:t>
            </a:r>
          </a:p>
          <a:p>
            <a:endParaRPr lang="en-GB" dirty="0"/>
          </a:p>
        </p:txBody>
      </p:sp>
    </p:spTree>
    <p:extLst>
      <p:ext uri="{BB962C8B-B14F-4D97-AF65-F5344CB8AC3E}">
        <p14:creationId xmlns:p14="http://schemas.microsoft.com/office/powerpoint/2010/main" val="38151429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E12EB-93B5-9A09-09B2-3BEA01E3E248}"/>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6BC1B3C0-5A4C-9E3C-52B1-003C3A921B04}"/>
              </a:ext>
            </a:extLst>
          </p:cNvPr>
          <p:cNvPicPr>
            <a:picLocks noGrp="1" noChangeAspect="1"/>
          </p:cNvPicPr>
          <p:nvPr>
            <p:ph sz="quarter" idx="13"/>
          </p:nvPr>
        </p:nvPicPr>
        <p:blipFill>
          <a:blip r:embed="rId2"/>
          <a:stretch>
            <a:fillRect/>
          </a:stretch>
        </p:blipFill>
        <p:spPr>
          <a:xfrm>
            <a:off x="2049963" y="179320"/>
            <a:ext cx="8092073" cy="5346549"/>
          </a:xfrm>
        </p:spPr>
      </p:pic>
      <p:pic>
        <p:nvPicPr>
          <p:cNvPr id="7" name="Picture 6">
            <a:extLst>
              <a:ext uri="{FF2B5EF4-FFF2-40B4-BE49-F238E27FC236}">
                <a16:creationId xmlns:a16="http://schemas.microsoft.com/office/drawing/2014/main" id="{F9B00F3E-1E45-4EE9-7EBF-607EACF081F9}"/>
              </a:ext>
            </a:extLst>
          </p:cNvPr>
          <p:cNvPicPr>
            <a:picLocks noChangeAspect="1"/>
          </p:cNvPicPr>
          <p:nvPr/>
        </p:nvPicPr>
        <p:blipFill>
          <a:blip r:embed="rId3">
            <a:duotone>
              <a:schemeClr val="accent5">
                <a:shade val="45000"/>
                <a:satMod val="135000"/>
              </a:schemeClr>
              <a:prstClr val="white"/>
            </a:duotone>
          </a:blip>
          <a:stretch>
            <a:fillRect/>
          </a:stretch>
        </p:blipFill>
        <p:spPr>
          <a:xfrm>
            <a:off x="2502022" y="2091004"/>
            <a:ext cx="7056335" cy="2675991"/>
          </a:xfrm>
          <a:prstGeom prst="rect">
            <a:avLst/>
          </a:prstGeom>
        </p:spPr>
      </p:pic>
    </p:spTree>
    <p:extLst>
      <p:ext uri="{BB962C8B-B14F-4D97-AF65-F5344CB8AC3E}">
        <p14:creationId xmlns:p14="http://schemas.microsoft.com/office/powerpoint/2010/main" val="3957983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1B5EC-1E3E-51D0-F88E-94EB305D2558}"/>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0AC58455-C59E-3A9B-3778-BC5A6A02D843}"/>
              </a:ext>
            </a:extLst>
          </p:cNvPr>
          <p:cNvPicPr>
            <a:picLocks noGrp="1" noChangeAspect="1"/>
          </p:cNvPicPr>
          <p:nvPr>
            <p:ph sz="quarter" idx="13"/>
          </p:nvPr>
        </p:nvPicPr>
        <p:blipFill>
          <a:blip r:embed="rId2"/>
          <a:stretch>
            <a:fillRect/>
          </a:stretch>
        </p:blipFill>
        <p:spPr>
          <a:xfrm>
            <a:off x="2063823" y="222108"/>
            <a:ext cx="7373108" cy="5392630"/>
          </a:xfrm>
        </p:spPr>
      </p:pic>
      <p:grpSp>
        <p:nvGrpSpPr>
          <p:cNvPr id="10" name="Group 9">
            <a:extLst>
              <a:ext uri="{FF2B5EF4-FFF2-40B4-BE49-F238E27FC236}">
                <a16:creationId xmlns:a16="http://schemas.microsoft.com/office/drawing/2014/main" id="{6BEAC8CB-168D-1CE8-CB3D-C53287F7C7B3}"/>
              </a:ext>
            </a:extLst>
          </p:cNvPr>
          <p:cNvGrpSpPr/>
          <p:nvPr/>
        </p:nvGrpSpPr>
        <p:grpSpPr>
          <a:xfrm>
            <a:off x="243548" y="1110685"/>
            <a:ext cx="11262651" cy="4261693"/>
            <a:chOff x="243548" y="1110685"/>
            <a:chExt cx="11262651" cy="4261693"/>
          </a:xfrm>
        </p:grpSpPr>
        <p:pic>
          <p:nvPicPr>
            <p:cNvPr id="7" name="Picture 6">
              <a:extLst>
                <a:ext uri="{FF2B5EF4-FFF2-40B4-BE49-F238E27FC236}">
                  <a16:creationId xmlns:a16="http://schemas.microsoft.com/office/drawing/2014/main" id="{93853744-EFA9-27E9-8C23-9D4C9EB3B962}"/>
                </a:ext>
              </a:extLst>
            </p:cNvPr>
            <p:cNvPicPr>
              <a:picLocks noChangeAspect="1"/>
            </p:cNvPicPr>
            <p:nvPr/>
          </p:nvPicPr>
          <p:blipFill>
            <a:blip r:embed="rId3">
              <a:duotone>
                <a:schemeClr val="accent5">
                  <a:shade val="45000"/>
                  <a:satMod val="135000"/>
                </a:schemeClr>
                <a:prstClr val="white"/>
              </a:duotone>
            </a:blip>
            <a:stretch>
              <a:fillRect/>
            </a:stretch>
          </p:blipFill>
          <p:spPr>
            <a:xfrm>
              <a:off x="243548" y="1865763"/>
              <a:ext cx="6077088" cy="2618005"/>
            </a:xfrm>
            <a:prstGeom prst="rect">
              <a:avLst/>
            </a:prstGeom>
          </p:spPr>
        </p:pic>
        <p:pic>
          <p:nvPicPr>
            <p:cNvPr id="9" name="Picture 8">
              <a:extLst>
                <a:ext uri="{FF2B5EF4-FFF2-40B4-BE49-F238E27FC236}">
                  <a16:creationId xmlns:a16="http://schemas.microsoft.com/office/drawing/2014/main" id="{C354667E-E8F1-B02F-FC40-EAFE4C9EB2AB}"/>
                </a:ext>
              </a:extLst>
            </p:cNvPr>
            <p:cNvPicPr>
              <a:picLocks noChangeAspect="1"/>
            </p:cNvPicPr>
            <p:nvPr/>
          </p:nvPicPr>
          <p:blipFill>
            <a:blip r:embed="rId4">
              <a:duotone>
                <a:schemeClr val="accent5">
                  <a:shade val="45000"/>
                  <a:satMod val="135000"/>
                </a:schemeClr>
                <a:prstClr val="white"/>
              </a:duotone>
            </a:blip>
            <a:stretch>
              <a:fillRect/>
            </a:stretch>
          </p:blipFill>
          <p:spPr>
            <a:xfrm>
              <a:off x="6770984" y="1110685"/>
              <a:ext cx="4735215" cy="4261693"/>
            </a:xfrm>
            <a:prstGeom prst="rect">
              <a:avLst/>
            </a:prstGeom>
          </p:spPr>
        </p:pic>
      </p:grpSp>
    </p:spTree>
    <p:extLst>
      <p:ext uri="{BB962C8B-B14F-4D97-AF65-F5344CB8AC3E}">
        <p14:creationId xmlns:p14="http://schemas.microsoft.com/office/powerpoint/2010/main" val="165002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C2788-4636-DC17-D4C1-B4518E8141DA}"/>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371D2922-7CFE-B543-8FCF-69984A79E237}"/>
              </a:ext>
            </a:extLst>
          </p:cNvPr>
          <p:cNvPicPr>
            <a:picLocks noGrp="1" noChangeAspect="1"/>
          </p:cNvPicPr>
          <p:nvPr>
            <p:ph sz="quarter" idx="13"/>
          </p:nvPr>
        </p:nvPicPr>
        <p:blipFill>
          <a:blip r:embed="rId2"/>
          <a:stretch>
            <a:fillRect/>
          </a:stretch>
        </p:blipFill>
        <p:spPr>
          <a:xfrm>
            <a:off x="974232" y="265920"/>
            <a:ext cx="9518639" cy="5124227"/>
          </a:xfrm>
        </p:spPr>
      </p:pic>
      <p:pic>
        <p:nvPicPr>
          <p:cNvPr id="7" name="Picture 6">
            <a:extLst>
              <a:ext uri="{FF2B5EF4-FFF2-40B4-BE49-F238E27FC236}">
                <a16:creationId xmlns:a16="http://schemas.microsoft.com/office/drawing/2014/main" id="{D2A48656-422E-3126-325C-CE860F3BA00C}"/>
              </a:ext>
            </a:extLst>
          </p:cNvPr>
          <p:cNvPicPr>
            <a:picLocks noChangeAspect="1"/>
          </p:cNvPicPr>
          <p:nvPr/>
        </p:nvPicPr>
        <p:blipFill>
          <a:blip r:embed="rId3">
            <a:duotone>
              <a:schemeClr val="accent5">
                <a:shade val="45000"/>
                <a:satMod val="135000"/>
              </a:schemeClr>
              <a:prstClr val="white"/>
            </a:duotone>
          </a:blip>
          <a:stretch>
            <a:fillRect/>
          </a:stretch>
        </p:blipFill>
        <p:spPr>
          <a:xfrm>
            <a:off x="1407902" y="2693268"/>
            <a:ext cx="7745584" cy="1349343"/>
          </a:xfrm>
          <a:prstGeom prst="rect">
            <a:avLst/>
          </a:prstGeom>
        </p:spPr>
      </p:pic>
    </p:spTree>
    <p:extLst>
      <p:ext uri="{BB962C8B-B14F-4D97-AF65-F5344CB8AC3E}">
        <p14:creationId xmlns:p14="http://schemas.microsoft.com/office/powerpoint/2010/main" val="2863752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FA9FD-52E8-3B90-83CD-9D9999A39709}"/>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BCE5D17D-6F24-9DA1-66FB-D22AC8EEC819}"/>
              </a:ext>
            </a:extLst>
          </p:cNvPr>
          <p:cNvPicPr>
            <a:picLocks noGrp="1" noChangeAspect="1"/>
          </p:cNvPicPr>
          <p:nvPr>
            <p:ph sz="quarter" idx="13"/>
          </p:nvPr>
        </p:nvPicPr>
        <p:blipFill>
          <a:blip r:embed="rId2"/>
          <a:stretch>
            <a:fillRect/>
          </a:stretch>
        </p:blipFill>
        <p:spPr>
          <a:xfrm>
            <a:off x="2131377" y="205966"/>
            <a:ext cx="6983910" cy="6155506"/>
          </a:xfrm>
        </p:spPr>
      </p:pic>
      <p:grpSp>
        <p:nvGrpSpPr>
          <p:cNvPr id="9" name="Group 8">
            <a:extLst>
              <a:ext uri="{FF2B5EF4-FFF2-40B4-BE49-F238E27FC236}">
                <a16:creationId xmlns:a16="http://schemas.microsoft.com/office/drawing/2014/main" id="{AE856118-9D54-77CA-1E64-8DE0A1218027}"/>
              </a:ext>
            </a:extLst>
          </p:cNvPr>
          <p:cNvGrpSpPr/>
          <p:nvPr/>
        </p:nvGrpSpPr>
        <p:grpSpPr>
          <a:xfrm>
            <a:off x="528154" y="843668"/>
            <a:ext cx="10709566" cy="5165714"/>
            <a:chOff x="528154" y="843668"/>
            <a:chExt cx="10709566" cy="5165714"/>
          </a:xfrm>
        </p:grpSpPr>
        <p:pic>
          <p:nvPicPr>
            <p:cNvPr id="7" name="Picture 6">
              <a:extLst>
                <a:ext uri="{FF2B5EF4-FFF2-40B4-BE49-F238E27FC236}">
                  <a16:creationId xmlns:a16="http://schemas.microsoft.com/office/drawing/2014/main" id="{806BF8A2-97DA-7ABB-A94F-2F9D38585F45}"/>
                </a:ext>
              </a:extLst>
            </p:cNvPr>
            <p:cNvPicPr>
              <a:picLocks noChangeAspect="1"/>
            </p:cNvPicPr>
            <p:nvPr/>
          </p:nvPicPr>
          <p:blipFill>
            <a:blip r:embed="rId3">
              <a:duotone>
                <a:schemeClr val="accent5">
                  <a:shade val="45000"/>
                  <a:satMod val="135000"/>
                </a:schemeClr>
                <a:prstClr val="white"/>
              </a:duotone>
            </a:blip>
            <a:stretch>
              <a:fillRect/>
            </a:stretch>
          </p:blipFill>
          <p:spPr>
            <a:xfrm>
              <a:off x="528154" y="2133418"/>
              <a:ext cx="5719810" cy="3136671"/>
            </a:xfrm>
            <a:prstGeom prst="rect">
              <a:avLst/>
            </a:prstGeom>
          </p:spPr>
        </p:pic>
        <p:pic>
          <p:nvPicPr>
            <p:cNvPr id="8" name="Picture 7">
              <a:extLst>
                <a:ext uri="{FF2B5EF4-FFF2-40B4-BE49-F238E27FC236}">
                  <a16:creationId xmlns:a16="http://schemas.microsoft.com/office/drawing/2014/main" id="{053100FC-6540-8A00-FE04-0C96E40FED08}"/>
                </a:ext>
              </a:extLst>
            </p:cNvPr>
            <p:cNvPicPr>
              <a:picLocks noChangeAspect="1"/>
            </p:cNvPicPr>
            <p:nvPr/>
          </p:nvPicPr>
          <p:blipFill rotWithShape="1">
            <a:blip r:embed="rId4">
              <a:duotone>
                <a:schemeClr val="accent5">
                  <a:shade val="45000"/>
                  <a:satMod val="135000"/>
                </a:schemeClr>
                <a:prstClr val="white"/>
              </a:duotone>
              <a:extLst>
                <a:ext uri="{28A0092B-C50C-407E-A947-70E740481C1C}">
                  <a14:useLocalDpi xmlns:a14="http://schemas.microsoft.com/office/drawing/2010/main" val="0"/>
                </a:ext>
              </a:extLst>
            </a:blip>
            <a:srcRect l="14901" t="22073" r="39640" b="11900"/>
            <a:stretch/>
          </p:blipFill>
          <p:spPr bwMode="auto">
            <a:xfrm>
              <a:off x="6496067" y="843668"/>
              <a:ext cx="4741653" cy="5165714"/>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744338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346492"/>
      </a:accent1>
      <a:accent2>
        <a:srgbClr val="6DA5D4"/>
      </a:accent2>
      <a:accent3>
        <a:srgbClr val="538C79"/>
      </a:accent3>
      <a:accent4>
        <a:srgbClr val="93B75D"/>
      </a:accent4>
      <a:accent5>
        <a:srgbClr val="DEB050"/>
      </a:accent5>
      <a:accent6>
        <a:srgbClr val="BB5354"/>
      </a:accent6>
      <a:hlink>
        <a:srgbClr val="3289DD"/>
      </a:hlink>
      <a:folHlink>
        <a:srgbClr val="859EB6"/>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E3530EC-BA5B-407C-9B36-00820F39551C}"/>
    </a:ext>
  </a:extLst>
</a:theme>
</file>

<file path=docProps/app.xml><?xml version="1.0" encoding="utf-8"?>
<Properties xmlns="http://schemas.openxmlformats.org/officeDocument/2006/extended-properties" xmlns:vt="http://schemas.openxmlformats.org/officeDocument/2006/docPropsVTypes">
  <Template>TM04033927[[fn=Main Event]]</Template>
  <TotalTime>521</TotalTime>
  <Words>2124</Words>
  <Application>Microsoft Office PowerPoint</Application>
  <PresentationFormat>Widescreen</PresentationFormat>
  <Paragraphs>146</Paragraphs>
  <Slides>33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Century Gothic</vt:lpstr>
      <vt:lpstr>Impact</vt:lpstr>
      <vt:lpstr>Main Event</vt:lpstr>
      <vt:lpstr>Application Software</vt:lpstr>
      <vt:lpstr>PowerPoint Presentation</vt:lpstr>
      <vt:lpstr>What is application software?</vt:lpstr>
      <vt:lpstr>General Purpose Software</vt:lpstr>
      <vt:lpstr>TASK: Describe 4 advantages for using Generic software </vt:lpstr>
      <vt:lpstr>The benefits:</vt:lpstr>
      <vt:lpstr>Examples of Off-the Shelf Application Software</vt:lpstr>
      <vt:lpstr>Bespoke Software</vt:lpstr>
      <vt:lpstr>TASK: Describe 4 advantages for using Bespoke software </vt:lpstr>
      <vt:lpstr>The benefits:</vt:lpstr>
      <vt:lpstr>PowerPoint Presentation</vt:lpstr>
      <vt:lpstr>The disadvantages of Off-the shelf Software</vt:lpstr>
      <vt:lpstr>The disadvantages of Bespoke Software</vt:lpstr>
      <vt:lpstr>PowerPoint Presentation</vt:lpstr>
      <vt:lpstr>Fact File 2: Mark Scheme</vt:lpstr>
      <vt:lpstr>Research Task: Software Delivery</vt:lpstr>
      <vt:lpstr>Software Delivery</vt:lpstr>
      <vt:lpstr>PowerPoint Presentation</vt:lpstr>
      <vt:lpstr>PowerPoint Presentation</vt:lpstr>
      <vt:lpstr>PowerPoint Presentation</vt:lpstr>
      <vt:lpstr>PowerPoint Presentation</vt:lpstr>
      <vt:lpstr>Propriety or Open Source Software?</vt:lpstr>
      <vt:lpstr>PowerPoint Presentation</vt:lpstr>
      <vt:lpstr>PowerPoint Presentation</vt:lpstr>
      <vt:lpstr>Task: Questions 4-6 of Fact File </vt:lpstr>
      <vt:lpstr>Fact File 3 Mark Scheme</vt:lpstr>
      <vt:lpstr>Fact File 4 Mark Scheme</vt:lpstr>
      <vt:lpstr>Fact File 5 Mark Scheme</vt:lpstr>
      <vt:lpstr>Fact File 6 Mark Scheme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Software</dc:title>
  <dc:creator>James</dc:creator>
  <cp:lastModifiedBy>J Butler</cp:lastModifiedBy>
  <cp:revision>32</cp:revision>
  <dcterms:created xsi:type="dcterms:W3CDTF">2019-01-03T14:59:38Z</dcterms:created>
  <dcterms:modified xsi:type="dcterms:W3CDTF">2026-01-19T09:52:40Z</dcterms:modified>
</cp:coreProperties>
</file>