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434be35a-98aa-53b2-c36a-60e3164e88b9}">
          <p14:sldIdLst>
            <p14:sldId id="256"/>
            <p14:sldId id="257"/>
            <p14:sldId id="258"/>
          </p14:sldIdLst>
        </p14:section>
        <p14:section name="AP08 · Implementation: changeover, data conversion and training" id="{3d3ef6e1-af67-99b3-a5a8-da9ea84fe8bd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AP09 · Documentation, maintenance and evaluation" id="{28f9b0e5-cd26-1b6a-a3bc-0949230b335d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purpose of system implementation and the tasks it involves | Describe and evaluate parallel, direct, pilot and phased changeover | Recommend and justify a changeover method for a given scenario | Explain what is meant by data conversion and describe what it involves | Describe methods of training users and evaluate their suitability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why documentation is produced at each stage of system development | Describe user documentation and technical documentation and explain how each is used | Describe the purpose of system maintenance and the reasons it is needed | Describe and evaluate corrective, adaptive and perfective maintenance | Describe the purpose and content of a post-implementation 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29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2.xml"/><Relationship Id="rId9" Type="http://schemas.openxmlformats.org/officeDocument/2006/relationships/slide" Target="slide13.xml"/><Relationship Id="rId10" Type="http://schemas.openxmlformats.org/officeDocument/2006/relationships/slide" Target="slide14.xml"/><Relationship Id="rId11" Type="http://schemas.openxmlformats.org/officeDocument/2006/relationships/slide" Target="slide15.xml"/><Relationship Id="rId12" Type="http://schemas.openxmlformats.org/officeDocument/2006/relationships/slide" Target="slide16.xml"/><Relationship Id="rId13" Type="http://schemas.openxmlformats.org/officeDocument/2006/relationships/slide" Target="slide17.xml"/><Relationship Id="rId14" Type="http://schemas.openxmlformats.org/officeDocument/2006/relationships/slide" Target="slide18.xml"/><Relationship Id="rId15" Type="http://schemas.openxmlformats.org/officeDocument/2006/relationships/slide" Target="slide19.xml"/><Relationship Id="rId16" Type="http://schemas.openxmlformats.org/officeDocument/2006/relationships/slide" Target="slide2.xml"/><Relationship Id="rId1" Type="http://schemas.openxmlformats.org/officeDocument/2006/relationships/image" Target="../media/image-5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31.xml"/><Relationship Id="rId3" Type="http://schemas.openxmlformats.org/officeDocument/2006/relationships/slide" Target="slide32.xml"/><Relationship Id="rId4" Type="http://schemas.openxmlformats.org/officeDocument/2006/relationships/slide" Target="slide33.xml"/><Relationship Id="rId5" Type="http://schemas.openxmlformats.org/officeDocument/2006/relationships/slide" Target="slide34.xml"/><Relationship Id="rId6" Type="http://schemas.openxmlformats.org/officeDocument/2006/relationships/slide" Target="slide35.xml"/><Relationship Id="rId7" Type="http://schemas.openxmlformats.org/officeDocument/2006/relationships/slide" Target="slide36.xml"/><Relationship Id="rId8" Type="http://schemas.openxmlformats.org/officeDocument/2006/relationships/slide" Target="slide38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" Target="slide41.xml"/><Relationship Id="rId12" Type="http://schemas.openxmlformats.org/officeDocument/2006/relationships/slide" Target="slide42.xml"/><Relationship Id="rId13" Type="http://schemas.openxmlformats.org/officeDocument/2006/relationships/slide" Target="slide43.xml"/><Relationship Id="rId14" Type="http://schemas.openxmlformats.org/officeDocument/2006/relationships/slide" Target="slide44.xml"/><Relationship Id="rId15" Type="http://schemas.openxmlformats.org/officeDocument/2006/relationships/slide" Target="slide45.xml"/><Relationship Id="rId16" Type="http://schemas.openxmlformats.org/officeDocument/2006/relationships/slide" Target="slide2.xml"/><Relationship Id="rId1" Type="http://schemas.openxmlformats.org/officeDocument/2006/relationships/image" Target="../media/image-30-1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System implementation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AP08  Implementation: changeover, data conversion and training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AP09  Documentation, maintenance and evaluation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AP08  Implementation: changeover, data conversion and train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AP08  Implementation: changeover, data conversion and training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4" action="ppaction://hlinksldjump" tooltip="AP09  Documentation, maintenance and evalu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AP09  Documentation, maintenance and evaluation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purpose of system implementation and the tasks it involves; Describe and evaluate parallel, direct, pilot and phased changeover; Recommend and justify a changeover method for a given scenario; Explain what is meant by data conversion and describe what it involves; Describe methods of training users and evaluate their suitability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AP09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why documentation is produced at each stage of system development; Describe user documentation and technical documentation and explain how each is used; Describe the purpose of system maintenance and the reasons it is needed; Describe and evaluate corrective, adaptive and perfective maintenance; Describe the purpose and content of a post-implementation review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AP08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Implementation: changeover, data conversion and training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implementation involves and why it must be planned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the four changeover methods, with a benefit and a drawback of each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justify the most suitable changeover method for an organisation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data conversion from a paper-based or older computer system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methods of training users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is implementatio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implementation?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Parallel changeov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Parallel changeover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Direct changeov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Direct changeover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Pilot changeov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Pilot changeover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Phased changeov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Phased changeover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Comparing changeover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changeover methods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Choosing a changeover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Choosing a changeover method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which method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which method?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Data convers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conversion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 garden centre goes digit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garden centre goes digital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Training us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Training users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Training and changeover togeth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Training and changeover together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Timelines comparing direct, parallel, phased and pilot changeover, showing when the old and new systems are in u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Timelines comparing direct, parallel, phased and pilot changeover, showing when the old and new systems are in use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implementation?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Implementation puts the new system into operation and replaces the old one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Planned while the system is still being developed, not after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Resources must be ready: trained staff, installed hardware, networks and software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Existing data is converted into the new system’s format (data conversion)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Documentation is supplied, and a changeover method is chosen: parallel, direct, pilot or phased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Once live, the system will need ongoing maintenance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Parallel changeover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Both systems operate at the same time, processing the same transactions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transaction is done twice; outputs are compared to prove the new system is correct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the new system is proven reliable, the old one is switched off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very safe – the old system is a backup; staff have time to get used to the new one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Drawbacks: expensive and time-consuming; comparing results takes time; two sets of data may get out of step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Direct changeover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‘big bang’: on a set date the old system stops and the new one starts immediately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No overlap and no duplicated work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Benefits: no work is done twice; all staff switch over together on the same day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Drawbacks: high risk – should the new system break down, returning to the old one may be difficult or impossible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Drawback: there may be a gap when neither system is working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Used when running both is impossible – e.g. Sweden switching from driving on the left to the right in 1967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Pilot changeover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whole new system is introduced in one department, branch or site first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Once proven, it is extended to every other site or department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Suits organisations with several similar sections, e.g. bank branches or shops in a chain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only one section affected by problems; pilot users can train others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Drawbacks: two systems run in different sections, needing extra resources; data may be hard to share between them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Phased changeover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new system is introduced one component at a time, e.g. payroll first, then invoicing, then stock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part is made to work satisfactorily before the next is switched 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Suits systems made of separate parts that can be introduced independently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staff learn in stages, which is less stressful; a problem affects only one part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Drawbacks: the whole changeover takes a long time; requests for changes to early parts can delay later ones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changeover methods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98516"/>
                <a:gridCol w="748145"/>
                <a:gridCol w="523702"/>
                <a:gridCol w="1047404"/>
                <a:gridCol w="531183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to finish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NI example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Parallel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 Lisburn accountancy firm keeps its old payroll running for two months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Highest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Fastest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 small Portrush café swaps its till software overnight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Pilot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Low–medium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 credit union tests new software in its Strabane office first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Phased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Slowest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 school MIS: attendance first, then reports, then timetabling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Choosing a changeover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Organisations want the lowest-risk, most cost-effective method that is actually possible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Pilot is often a good balance where there are several similar sites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Parallel is worth its cost where failure could cause injury or major financial loss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Phased suits systems with distinct parts that can work independently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Direct is high risk – use only when there is no realistic alternative, ideally at a quiet time and with trained staff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Always justify the choice using details from the scenario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which method?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160936"/>
                <a:gridCol w="557939"/>
                <a:gridCol w="25107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bakery chain sells a new recipe in its Ballymena shop before all shops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Pilot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Whole change, one site first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pharmacy keeps paper records for six weeks while also using new software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Parallel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Both systems used for the same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council moves to a new phone system over one weekend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Direct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Old switched off, new on, no overlap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hotel adds online booking, then housekeeping, then billing modules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Phased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component at a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pupil keeps a paper planner while also trying a homework app for a month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Parallel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Paper planner is a fallback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5" grpId="0">
        <p:bldAsOne/>
      </p:bldGraphic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conversion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Transferring existing records into the structure and format the new system expects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From paper: create the new database structure, then key in or scan forms, orders and invoices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Entered data must be verified (e.g. proof-reading, double entry) and validated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Large volumes, such as scanned images, can take a long time and many staff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From an older computer system: usually quicker, but may need specialist or bespoke conversion software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Errors in converted data undermine trust in the new system from day one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garden centre goes digital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Cookstown garden centre keeps customers in a card index and orders in a diary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Step 1: design tables – Customer, Product, Order – using the data dictionary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Step 2: staff key in about 1 200 customer cards; repeat customers are entered once, not every order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Step 3: verify by proof-reading a sample against the cards; validation catches impossible postcodes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Step 4: phased changeover – customer records first, then orders, then invoicing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Training users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936376"/>
                <a:gridCol w="3319503"/>
                <a:gridCol w="297372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Disadvantages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Classroom / instructor-led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Questions answered; hands-on; consistent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Expensive; staff away from work; fixed 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One-to-one / on the job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Tailored; learn with real tasks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 and costly for many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E-learning / video tutorials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Any time, own pace, cheap per person, repeatable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 immediate help; needs motivation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Manuals and online help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Reference later; cheap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Users may not read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Cascade (train the trainer)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Cheap for large organisations; local experts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Quality may drop at each level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8" grpId="0">
        <p:bldAsOne/>
      </p:bldGraphic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Training and changeover together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Direct changeover needs everyone fully trained before the switch date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Parallel running gives time to practise, but staff are doing double work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Pilot staff gain experience and can become trainers for the next sites (links to cascade training)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Phased changeover allows training one component at a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Well-trained staff are more likely to accept the new system rather than resist it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bank installs a new system but also keeps running its old system for three months, comparing the results of both. Which changeover method is this?</a:t>
            </a:r>
            <a:endParaRPr lang="en-US" sz="15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Direct</a:t>
            </a:r>
            <a:endParaRPr lang="en-US" sz="16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</a:t>
            </a:r>
            <a:endParaRPr lang="en-US" sz="16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Pilot</a:t>
            </a:r>
            <a:endParaRPr lang="en-US" sz="16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Phased</a:t>
            </a:r>
            <a:endParaRPr lang="en-US" sz="16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Parallel  –  Both systems run at the same time on the same work and outputs are compared, so the old system is a fallback.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council introduces its new planning system in its Omagh office before all its other offices. Which method is this?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Phased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Direct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Pilot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Pilot  –  The whole system is used in one site first, then rolled out to the rest.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drawback of direct changeover?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There may be nothing to go back to if the new system fails</a:t>
            </a:r>
            <a:endParaRPr lang="en-US" sz="14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Every transaction must be entered twice</a:t>
            </a:r>
            <a:endParaRPr lang="en-US" sz="14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takes the longest of all methods</a:t>
            </a:r>
            <a:endParaRPr lang="en-US" sz="14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Two systems run in different branches</a:t>
            </a:r>
            <a:endParaRPr lang="en-US" sz="14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There may be nothing to go back to if the new system fails  –  With no overlap, a failure can leave the organisation without a working system.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1C"/>
                </a:solidFill>
              </a:rPr>
              <a:t>A leisure centre refurbishes its gym, then its pool, then its reception, finishing each before starting the next. This is most like which changeover method?</a:t>
            </a:r>
            <a:endParaRPr lang="en-US" sz="15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Pilot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Direct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Phased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6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Phased  –  One component is completed before the next is started.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the best description of data conversion?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Training staff to use the new system</a:t>
            </a:r>
            <a:endParaRPr lang="en-US" sz="125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Transferring existing records into the format the new system expects</a:t>
            </a:r>
            <a:endParaRPr lang="en-US" sz="125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Fixing bugs after the system goes live</a:t>
            </a:r>
            <a:endParaRPr lang="en-US" sz="125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Running two systems together</a:t>
            </a:r>
            <a:endParaRPr lang="en-US" sz="125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Transferring existing records into the format the new system expects  –  Data conversion turns old records, paper or electronic, into the new system’s format.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which situation is parallel running most justified despite its cost?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café’s menu display screen</a:t>
            </a:r>
            <a:endParaRPr lang="en-US" sz="14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school’s lunchtime music playlist</a:t>
            </a:r>
            <a:endParaRPr lang="en-US" sz="14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payroll system where errors mean staff are paid wrongly</a:t>
            </a:r>
            <a:endParaRPr lang="en-US" sz="14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personal blog</a:t>
            </a:r>
            <a:endParaRPr lang="en-US" sz="14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A payroll system where errors mean staff are paid wrongly  –  When failure would be very costly, keeping the old system as a backup is worth the expense.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drawback of phased changeover?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whole changeover can take a long time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Everyone changes at once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No training is possible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never needs converting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 whole changeover can take a long time  –  Introducing components one after another stretches the changeover over a long period.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Training a few staff who then train their colleagues is called…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e-learning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beta testing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cascade training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parallel training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cascade training  –  Also called train the trainer; it suits large organisations with many sites.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was Sweden’s 1967 switch to driving on the right a direct changeover?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was the cheapest software option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Driving on both sides at once was impossible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was tested in one town first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was introduced one road at a time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Driving on both sides at once was impossible  –  When old and new cannot run together, direct changeover is the only option, so careful planning is essential.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Parallel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Both systems run at the same time on the same work and outputs are compared, so the old system is a fallback.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Pilot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whole system is used in one site first, then rolled out to the rest.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There may be nothing to go back to if the new system fails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With no overlap, a failure can leave the organisation without a working system.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Phased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component is completed before the next is started.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Transferring existing records into the format the new system expects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Data conversion turns old records, paper or electronic, into the new system’s format.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 payroll system where errors mean staff are paid wrongly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When failure would be very costly, keeping the old system as a backup is worth the expense.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whole changeover can take a long time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Introducing components one after another stretches the changeover over a long period.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cascade training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Also called train the trainer; it suits large organisations with many sites.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Driving on both sides at once was impossible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When old and new cannot run together, direct changeover is the only option, so careful planning is essential.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29" grpId="0">
        <p:bldAsOne/>
      </p:bldGraphic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AP09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Documentation, maintenance and evaluation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documentation is produced throughout development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user and technical documentation by audience and content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Classify maintenance tasks as corrective, adaptive or perfective and justify the choice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who usually pays for each type of maintenance and what it reveals about the project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how a system is evaluated after implementation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document every stage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document every stage?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User docu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documentation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Technical docu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Technical documentation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User or technical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or technical?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324612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Annotated code is technical document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Annotated code is technical documentation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hy maintenance is always need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maintenance is always needed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Corrective mainten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Corrective maintenance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Adaptive mainten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Adaptive maintenance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Perfective mainten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Perfective maintenance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6035040" y="1325880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Worked example: a Belfast gym booking syst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Belfast gym booking system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6035040" y="1984248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Post-implementation review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Post-implementation review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2642616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Evaluation criteri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Evaluation criteria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3300984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5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3959352"/>
            <a:ext cx="265176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User and technical documentation compared, the three types of maintenance with examples, and the post-implementation re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User and technical documentation compared, the three types of maintenance with examples, and the post-implementation review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document every stage?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stage’s documents are the starting point for the next stage, e.g. the design document for programmers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record the work done at each stage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help maintenance by keeping a record of what was built and every later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let new team members take over if staff leave or change role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 main types for the finished system: user documentation and technical documentation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User documentation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 the end users of the system, in plain, non-technical language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Overview/introduction to the system; hardware and software requirements; installation instructions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User guide: step-by-step instructions, usually with screenshots, for common tasks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Troubleshooting section, error messages explained, and FAQs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Training materials, plus backup and routine maintenance procedures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Formats: printed manual, online help, context-sensitive help, video tutorials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Technical documentation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For the system administrator, maintenance programmers and technically skilled users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System specification and user requirements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Data models: DFDs, ER diagrams, data dictionary; input/output design; report specifications; query designs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Program code listings, annotated with comments; algorithms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 plans, the test data and the outcomes recorded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Detailed hardware and software configuration, e.g. server and network settings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User or technical?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883499"/>
                <a:gridCol w="813916"/>
                <a:gridCol w="253218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Who uses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to book a class from your phone (with screenshots)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Gym members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What to do if ‘Payment declined’ appears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Members, reception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Entity relationship diagram for Member, Class, 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Technical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Maintenance programmers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Annotated source code for the booking module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Technical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Maintenance programmers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How to back up the bookings each night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Administrator / office staff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 plan and results for the payment module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Technical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Developers, testers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6" grpId="0">
        <p:bldAsOne/>
      </p:bldGraphic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Annotated code is technical documentation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Comments explain the purpose of each module, its parameters and any non-obvious logic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Meaningful identifiers make code self-documenting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Makes corrective, adaptive and perfective maintenance quicker, cheaper and safer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Annotated code is technical documentation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CalculateFee: returns the monthly fee for a gym member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Parameters: age in years, isStudent (true if full-time student)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Rules agreed with client (requirements spec, section 4.2):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under 18 = £15, student = £20, everyone else = £32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 CalculateFee(int age, bool isStudent)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(age &lt; 18) return 15m;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(isStudent) return 20m;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32m;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Console.WriteLine(CalculateFee(16, false)); // 15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Console.WriteLine(CalculateFee(21, true));  // 20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maintenance is always needed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System maintenance: any change made to a system during its lifespan after it goes live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error is found during use that testing missed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organisation’s business processes change, or the law changes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security vulnerability is discovered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An improvement is identified, or new hardware or networks can be taken advantage of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Over a system’s life, maintenance often costs more than the original development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Corrective maintenance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Fixing flaws or weaknesses found after the system is in use, e.g. bugs or a security hole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Most urgent when the system is insecure or cannot do its basic tasks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Often delivered as a software patch, downloaded and often installed automatically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done by the original developers; free if caused by programmer error, otherwise under a maintenance contract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Should decrease over time as errors are found and removed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Adaptive maintenance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Changing the system because circumstances have changed, so it can still do its job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External changes: a new VAT or tax rate, new legislation, a new operating system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Internal changes: a new discount policy, a new branch, more users at once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Usually paid for by the client, as it adds functionality not in the original specification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Some is inevitable; a lot soon after go-live may mean requirements were poorly analysed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Perfective maintenance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Improving a system that already works, to make it faster, easier or better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Redesigning input forms to be quicker to use; clearer help or error messages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Keyboard shortcuts for experienced users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Archiving old records so searches run faster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Using larger monitors better, or redesigning the interface for mobile devices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a Belfast gym booking system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783015"/>
                <a:gridCol w="703385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Change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Booking confirmations are emailed twice to every member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Corrective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system does not behave as specified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 gym opens a second site in Bangor, so bookings need a site 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Adaptive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Internal circumstances have changed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 protection law changes how long records may be kept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Adaptive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External change: legislation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Members want to rebook last week’s class with one tap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Perfective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Works already; this improves usability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The class list takes 8 seconds to load; old bookings are archived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Perfective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Improves performance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Members with an apostrophe in their surname cannot log 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Corrective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bug found during use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Post-implementation review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formal evaluation carried out after the system has been in use for some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Compares the system with the objectives and requirements agreed during analysis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Evidence: user questionnaires and interviews, performance figures, help-desk logs, financial records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Identifies remaining problems and future maintenance needs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Records lessons learned for future projects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Evaluation criteria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80655"/>
                <a:gridCol w="2992582"/>
                <a:gridCol w="41563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 to ask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Effectiveness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it meet the requirements?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Requirements checklist, acceptance test results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Efficiency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Is it fast and economical?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Response and processing times, running costs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 users find it easy?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Questionnaires, interviews, help-desk calls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Reliability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Does it fail or lose data?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Downtime logs, error reports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Cost–benefit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Were the predicted savings achieved?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Financial records against the feasibility forecast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system is changed because the government introduces a new rate of VAT. Which type of maintenance is this?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Corrective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Perfective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Adaptive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Preventive testing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Adaptive  –  The system was correct when built but an external change means it must be adapted.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is technical documentation mainly written for?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Customers of the business</a:t>
            </a:r>
            <a:endParaRPr lang="en-US" sz="14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Administrators and maintenance programmers</a:t>
            </a:r>
            <a:endParaRPr lang="en-US" sz="14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Shareholders</a:t>
            </a:r>
            <a:endParaRPr lang="en-US" sz="14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Beta testers only</a:t>
            </a:r>
            <a:endParaRPr lang="en-US" sz="14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Administrators and maintenance programmers  –  It explains how the system works so it can be maintained and extended.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Making a slow report run much faster is…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perfective maintenance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corrective maintenance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adaptive maintenance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acceptance testing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perfective maintenance  –  It improves a system that already works correctly.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item belongs in user documentation?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dictionary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Annotated code listing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Test results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Troubleshooting guide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5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Troubleshooting guide  –  It helps users solve common problems themselves.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Shortly after go-live, a system crashes whenever a surname contains an apostrophe. The fix is…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adaptive maintenance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corrective maintenance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perfective maintenance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data conversion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corrective maintenance  –  It is a flaw that should not have been there, so it is corrected.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a software patch?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small update that fixes or improves a program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storyboard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changeover method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user guide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 small update that fixes or improves a program  –  Patches are commonly downloaded and installed automatically to correct flaws.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NOT a reason for producing documentation at each stage?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give the following stage something to build on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aid maintenance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replace the need for testing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To cope with changes of staff in the team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To replace the need for testing  –  Documentation records and supports work; it never replaces testing.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post-implementation review compares the system with…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competitors’ systems</a:t>
            </a:r>
            <a:endParaRPr lang="en-US" sz="14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source code</a:t>
            </a:r>
            <a:endParaRPr lang="en-US" sz="14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original objectives and requirements</a:t>
            </a:r>
            <a:endParaRPr lang="en-US" sz="14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old hardware</a:t>
            </a:r>
            <a:endParaRPr lang="en-US" sz="14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original objectives and requirements  –  It measures whether the project achieved what it set out to do.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Who usually pays for adaptive maintenance?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client organisation</a:t>
            </a:r>
            <a:endParaRPr lang="en-US" sz="16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original programmer personally</a:t>
            </a:r>
            <a:endParaRPr lang="en-US" sz="16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Nobody – it is always free</a:t>
            </a:r>
            <a:endParaRPr lang="en-US" sz="16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beta testers</a:t>
            </a:r>
            <a:endParaRPr lang="en-US" sz="16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The client organisation  –  It adds features beyond what the client originally specified.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Adaptive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system was correct when built but an external change means it must be adapted.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Administrators and maintenance programmers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explains how the system works so it can be maintained and extended.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perfective maintenance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improves a system that already works correctly.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Troubleshooting guide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helps users solve common problems themselves.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corrective maintenance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is a flaw that should not have been there, so it is corrected.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 small update that fixes or improves a program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Patches are commonly downloaded and installed automatically to correct flaws.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To replace the need for testing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Documentation records and supports work; it never replaces testing.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original objectives and requirements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measures whether the project achieved what it set out to do.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client organisation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adds features beyond what the client originally specified.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55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implementation</dc:title>
  <dc:subject>AS 1: Approaches to Systems Development – System implementation</dc:subject>
  <dc:creator>Digital Technology Hub</dc:creator>
  <cp:lastModifiedBy>Digital Technology Hub</cp:lastModifiedBy>
  <cp:revision>1</cp:revision>
  <dcterms:created xsi:type="dcterms:W3CDTF">2026-10-30T13:15:54Z</dcterms:created>
  <dcterms:modified xsi:type="dcterms:W3CDTF">2026-10-30T13:15:54Z</dcterms:modified>
</cp:coreProperties>
</file>