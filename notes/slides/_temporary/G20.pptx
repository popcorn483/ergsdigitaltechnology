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034c50c7-7763-149b-ae6a-974a52209d32}">
          <p14:sldIdLst>
            <p14:sldId id="256"/>
            <p14:sldId id="257"/>
            <p14:sldId id="258"/>
          </p14:sldIdLst>
        </p14:section>
        <p14:section name="IS09 · Network types, topologies and hardware" id="{8312f8f8-6cd3-d16c-ed3a-cdf1a1bf6ab9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IS10 · Layered network models and protocols" id="{e8934ffb-2c3c-0387-60f1-27e58c03d2da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IS11 · IP addressing, switching and routing" id="{c2291dfa-2347-78ce-28e4-e99b6ce61ac6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IS12 · Data transmission and error control" id="{6120a97d-00e9-bbf4-c02e-f6804ddb2577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LAN, WAN, PAN and MAN networks | Compare bus, star, ring and mesh topologies | Describe the function of network hardware: NIC, switch, router, wireless access point and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why layered models are used in networking | Describe the layers of the OSI and TCP/IP models | Describe the purpose of common protocols: HTTP/HTTPS, FTP, SMTP, POP3, IMAP, TCP, UDP, IP, Ethernet and Wi-Fi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IPv4 and IPv6 addressing, public and private addresses and the purpose of subnetting | Explain the roles of DHCP and NAT | Compare packet switching and circuit switching | Describe how routing 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Compare transmission media | Distinguish bandwidth and bit rate and explain broadband | Compare serial and parallel, simplex, half-duplex and full-duplex, and synchronous and asynchronous transmission | Describe error detection (parity, checksum, CRC) and correction (ARQ)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0.xml"/><Relationship Id="rId5" Type="http://schemas.openxmlformats.org/officeDocument/2006/relationships/slide" Target="slide36.xml"/><Relationship Id="rId6" Type="http://schemas.openxmlformats.org/officeDocument/2006/relationships/slide" Target="slide52.xml"/><Relationship Id="rId1" Type="http://schemas.openxmlformats.org/officeDocument/2006/relationships/image" Target="../media/image-2-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2.xml"/><Relationship Id="rId1" Type="http://schemas.openxmlformats.org/officeDocument/2006/relationships/image" Target="../media/image-5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3" Type="http://schemas.openxmlformats.org/officeDocument/2006/relationships/slide" Target="slide23.xml"/><Relationship Id="rId4" Type="http://schemas.openxmlformats.org/officeDocument/2006/relationships/slide" Target="slide24.xml"/><Relationship Id="rId5" Type="http://schemas.openxmlformats.org/officeDocument/2006/relationships/slide" Target="slide25.xml"/><Relationship Id="rId6" Type="http://schemas.openxmlformats.org/officeDocument/2006/relationships/slide" Target="slide26.xml"/><Relationship Id="rId7" Type="http://schemas.openxmlformats.org/officeDocument/2006/relationships/slide" Target="slide27.xml"/><Relationship Id="rId8" Type="http://schemas.openxmlformats.org/officeDocument/2006/relationships/slide" Target="slide28.xml"/><Relationship Id="rId9" Type="http://schemas.openxmlformats.org/officeDocument/2006/relationships/slide" Target="slide29.xml"/><Relationship Id="rId10" Type="http://schemas.openxmlformats.org/officeDocument/2006/relationships/slide" Target="slide30.xml"/><Relationship Id="rId11" Type="http://schemas.openxmlformats.org/officeDocument/2006/relationships/slide" Target="slide2.xml"/><Relationship Id="rId1" Type="http://schemas.openxmlformats.org/officeDocument/2006/relationships/image" Target="../media/image-21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3" Type="http://schemas.openxmlformats.org/officeDocument/2006/relationships/slide" Target="slide39.xml"/><Relationship Id="rId4" Type="http://schemas.openxmlformats.org/officeDocument/2006/relationships/slide" Target="slide40.xml"/><Relationship Id="rId5" Type="http://schemas.openxmlformats.org/officeDocument/2006/relationships/slide" Target="slide41.xml"/><Relationship Id="rId6" Type="http://schemas.openxmlformats.org/officeDocument/2006/relationships/slide" Target="slide42.xml"/><Relationship Id="rId7" Type="http://schemas.openxmlformats.org/officeDocument/2006/relationships/slide" Target="slide43.xml"/><Relationship Id="rId8" Type="http://schemas.openxmlformats.org/officeDocument/2006/relationships/slide" Target="slide44.xml"/><Relationship Id="rId9" Type="http://schemas.openxmlformats.org/officeDocument/2006/relationships/slide" Target="slide45.xml"/><Relationship Id="rId10" Type="http://schemas.openxmlformats.org/officeDocument/2006/relationships/slide" Target="slide46.xml"/><Relationship Id="rId11" Type="http://schemas.openxmlformats.org/officeDocument/2006/relationships/slide" Target="slide2.xml"/><Relationship Id="rId1" Type="http://schemas.openxmlformats.org/officeDocument/2006/relationships/image" Target="../media/image-37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3" Type="http://schemas.openxmlformats.org/officeDocument/2006/relationships/slide" Target="slide55.xml"/><Relationship Id="rId4" Type="http://schemas.openxmlformats.org/officeDocument/2006/relationships/slide" Target="slide56.xml"/><Relationship Id="rId5" Type="http://schemas.openxmlformats.org/officeDocument/2006/relationships/slide" Target="slide57.xml"/><Relationship Id="rId6" Type="http://schemas.openxmlformats.org/officeDocument/2006/relationships/slide" Target="slide58.xml"/><Relationship Id="rId7" Type="http://schemas.openxmlformats.org/officeDocument/2006/relationships/slide" Target="slide59.xml"/><Relationship Id="rId8" Type="http://schemas.openxmlformats.org/officeDocument/2006/relationships/slide" Target="slide60.xml"/><Relationship Id="rId9" Type="http://schemas.openxmlformats.org/officeDocument/2006/relationships/slide" Target="slide61.xml"/><Relationship Id="rId10" Type="http://schemas.openxmlformats.org/officeDocument/2006/relationships/slide" Target="slide62.xml"/><Relationship Id="rId11" Type="http://schemas.openxmlformats.org/officeDocument/2006/relationships/slide" Target="slide2.xml"/><Relationship Id="rId1" Type="http://schemas.openxmlformats.org/officeDocument/2006/relationships/image" Target="../media/image-53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Networks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IS09  Network types, topologies and hardware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IS10  Layered network models and protocols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IS11  IP addressing, switching and routing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IS12  Data transmission and error control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IS09  Network types, topologies and hard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IS09  Network types, topologies and hardware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IS10  Layered network models and protoco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IS10  Layered network models and protocols</a:t>
            </a:r>
            <a:endParaRPr lang="en-US" sz="13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5" action="ppaction://hlinksldjump" tooltip="IS11  IP addressing, switching and rou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IS11  IP addressing, switching and routing</a:t>
            </a:r>
            <a:endParaRPr lang="en-US" sz="1300" dirty="0"/>
          </a:p>
        </p:txBody>
      </p:sp>
      <p:sp>
        <p:nvSpPr>
          <p:cNvPr id="10" name="btn">
            <a:hlinkClick r:id="rId6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6" action="ppaction://hlinksldjump" tooltip="IS12  Data transmission and error contro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IS12  Data transmission and error control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IS09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LAN, WAN, PAN and MAN networks; Compare bus, star, ring and mesh topologies; Describe the function of network hardware: NIC, switch, router, wireless access point and gateway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why layered models are used in networking; Describe the layers of the OSI and TCP/IP models; Describe the purpose of common protocols: HTTP/HTTPS, FTP, SMTP, POP3, IMAP, TCP, UDP, IP, Ethernet and Wi-Fi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IPv4 and IPv6 addressing, public and private addresses and the purpose of subnetting; Explain the roles of DHCP and NAT; Compare packet switching and circuit switching; Describe how routing 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IS12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Compare transmission media; Distinguish bandwidth and bit rate and explain broadband; Compare serial and parallel, simplex, half-duplex and full-duplex, and synchronous and asynchronous transmission; Describe error detection (parity, checksum, CRC) and correction (ARQ)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IS09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Network types, topologies and hardware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network types by geographical scale and ownership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the four main topologies for a given scenario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role of each item of network hardware in moving data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Network types by sca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 types by scale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Bus and 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 and ring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Star and mes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 and mesh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Topology compari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Topology comparison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Network hard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 hardware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Hub vs switch vs rou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 vs switch vs router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Applying it: Erne Valley Hot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Applying it: Erne Valley Hotel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four network topologies: bus with a shared backbone, star with a central switch, ring as a closed loop, and mesh with multiple lin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four network topologies: bus with a shared backbone, star with a central switch, ring as a closed loop, and mesh with multiple links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Network types by scale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18557"/>
                <a:gridCol w="1469571"/>
                <a:gridCol w="2351314"/>
                <a:gridCol w="28901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Area covered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Ownership / infrastructure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PAN – personal area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few metres around one person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Owned by the user; Bluetooth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Phone, earbuds and smartwatch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LAN – local area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site or building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Owned by the organisation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school network in Enniskillen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MAN – metropolitan area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town or city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Often a council, university or provider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city-wide fibre network linking Belfast council buildings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WAN – wide area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Countries or the world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Uses leased lines and third-party telecoms links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bank linking branches; the internet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8" grpId="0">
        <p:bldAsOne/>
      </p:bldGraphic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Bus and ring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Bus: all devices share a single backbone cable with terminators at each end; only one device can transmit successfully at a time.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Bus: cheap and easy to extend, but collisions increase with traffic and a backbone break stops the network.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Ring: each device connects to two neighbours in a closed loop; data passes in one direction from node to node.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Ring: no collisions and predictable performance, but a single break or failed node can stop the ring (unless dual ring).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Both are now rare in LANs but help explain shared media and token passing.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Star and mesh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Star: every device has its own cable to a central switch.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Star: a cable fault affects only one device and the switch sends data only to the destination, so performance is good; but the switch is a single point of failure and needs more cable.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Mesh: devices have multiple connections; in a full mesh every node links to every other.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Mesh: many routes, so very reliable and data can be rerouted; but expensive in cabling and configuration.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internet backbone is a partial mesh; wireless mesh systems extend Wi-Fi in homes.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Topology comparison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60397"/>
                <a:gridCol w="3337880"/>
                <a:gridCol w="1784039"/>
                <a:gridCol w="345298"/>
                <a:gridCol w="23019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Topology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Reliability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Performance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Bus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Backbone is a single point of failure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Falls with traffic (collisions)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Small, temporary networks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Star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Switch is a single point of failure; cable faults isolated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High, switched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Almost all modern LANs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Ring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One break can stop it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Predictable, no collisions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Some legacy and metropolitan fibre rings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Mesh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high: alternative routes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WAN and internet backbones, IoT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Network hardware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2547"/>
                <a:gridCol w="64970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NIC – network interface card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Connects a device to the network; has a unique MAC address; converts data into signals for the medium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Switch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Connects devices in a LAN; learns MAC addresses and forwards frames only to the destination 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Router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Connects different networks; uses IP addresses and routing tables to forward packets along the best route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WAP – wireless access point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Lets wireless devices join a wired LAN using Wi-Fi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Gateway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Connects networks that use different protocols, translating between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2" grpId="0">
        <p:bldAsOne/>
      </p:bldGraphic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Hub vs switch vs router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hub broadcasts every frame to every port, wasting bandwidth and creating collisions.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switch is intelligent: it uses MAC addresses to send each frame only where it is needed.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router works with IP addresses and joins networks, e.g. the school LAN to the internet.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home 'router' usually combines a router, switch, WAP, firewall and modem in one box.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Applying it: Erne Valley Hotel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Star LAN in each building with a switch per floor; fibre between buildings.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WAPs on each floor for guests and staff, on separate networks for security.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router connects the LAN to the internet service provider (WAN).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Evaluate: star chosen for fault isolation and performance; cost of cabling is justified.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network type covers a city?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PAN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LAN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MAN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WAN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MAN  –  Metropolitan area network.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device lets wireless devices join a wired LAN?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Wireless access point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Gateway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Hub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Repeater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Wireless access point  –  The WAP bridges Wi-Fi and Ethernet.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which topology does data travel around a loop from node to node?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Bus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Star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Mesh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Ring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Ring  –  Ring topology.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weakness of a star topology?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Collisions on the backbone</a:t>
            </a:r>
            <a:endParaRPr lang="en-US" sz="14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central switch is a single point of failure</a:t>
            </a:r>
            <a:endParaRPr lang="en-US" sz="14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cannot be extended</a:t>
            </a:r>
            <a:endParaRPr lang="en-US" sz="14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No device has a MAC address</a:t>
            </a:r>
            <a:endParaRPr lang="en-US" sz="14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The central switch is a single point of failure  –  If the switch fails, all devices lose connection.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device translates between networks using different protocols?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Switch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NIC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Gateway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WAP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Gateway  –  Gateways translate protocols.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MAN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Metropolitan area network.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Wireless access point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WAP bridges Wi-Fi and Ethernet.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Ring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Ring topology.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central switch is a single point of failure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If the switch fails, all devices lose connection.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Gateway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Gateways translate protocols.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IS10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Layered network models and protocols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benefits of a layered approach to network design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Map the OSI model to the TCP/IP model and place protocols in the correct layer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TCP and UDP and choose an appropriate one for an application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Protocols and why layers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Protocols and why layers?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OSI and TCP/IP mode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OSI and TCP/IP models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Encapsul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Encapsulation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Application-layer protoco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Application-layer protocols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TCP vs UD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TCP vs UDP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Internet and link lay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Internet and link layers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Worked example: loading a web p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loading a web page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seven OSI layers mapped to the four TCP/IP layers, with example protocols and the header added at each layer during encapsul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seven OSI layers mapped to the four TCP/IP layers, with example protocols and the header added at each layer during encapsulation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Protocols and why layers?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protocol is a set of rules governing how data is formatted, transmitted and received.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layered model splits the complex task of communication into layers, each with one job.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Each layer provides a service to the layer above and uses the layer below; layers communicate through standard interfaces.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Benefits: a layer can be changed (e.g. Wi-Fi replaces Ethernet) without affecting the others; easier to design, teach and troubleshoot; manufacturers can build to open standards so equipment interoperates.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Drawback: some overhead, as each layer adds its own header.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OSI and TCP/IP models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09255"/>
                <a:gridCol w="4956464"/>
                <a:gridCol w="196388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OSI layer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Job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TCP/IP layer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7 Application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Network services to applications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Application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6 Presentation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format, encryption, compression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Application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5 Session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Opens, manages and closes sessions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Application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 Transport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End-to-end delivery, segmentation, ports, reliability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Transport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Logical addressing (IP) and routing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Internet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 Data link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Frames, MAC addresses, error detection on a link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Link (network access)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 Physical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Bits as signals on cable or radio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Link (network access)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Encapsulation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 the sending device data moves down the layers; each layer adds a header (and sometimes a trailer).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Application data → transport segment (ports) → network packet (IP addresses) → data link frame (MAC addresses) → bits.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 the receiving device each layer strips its own header and passes the rest up.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layer talks logically to the same layer on the other device (peer-to-peer communication).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Application-layer protocols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83771"/>
                <a:gridCol w="6858000"/>
                <a:gridCol w="5878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Protocol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HTTP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Request and transfer web pages between browser and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HTTPS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HTTP encrypted using TLS, so data cannot be read or altered in transit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443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FTP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Transfer files between client and server (upload and download)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20/21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SMTP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Send email from client to server and between mail servers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25/587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POP3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Download email to one device, usually deleting it from the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IMAP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Access email kept on the server, synchronised across devices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143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7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TCP vs UDP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66092"/>
                <a:gridCol w="3657600"/>
                <a:gridCol w="33059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TCP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UDP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Connection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Connection-oriented (handshake first)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Connectionless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Reliability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Acknowledgements, retransmission of lost segments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guarantee of delivery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Order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Segments reassembled in order using sequence numbers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May arrive out of order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Speed and overhead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Slower, larger header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Faster, small header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Web, email, file transfer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Live streaming, online games, VoIP, DNS lookups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8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Internet and link layers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IP (Internet Protocol): addresses packets with source and destination IP addresses and routes them across networks; best-effort delivery.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Ethernet: the standard wired LAN protocol; defines frames, MAC addressing and cabling standards.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Wi-Fi (IEEE 802.11): wireless LAN protocol; uses radio frequencies such as 2.4 GHz and 5 GHz.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Together the 'TCP/IP stack' combines TCP or UDP at transport with IP at the internet layer.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loading a web page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Application: browser sends an HTTPS GET request for a page.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Transport: TCP splits it into segments, adds source and destination ports (443) and sequence numbers.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Internet: IP adds source and destination IP addresses to make packets; routers forward them.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Link: Ethernet or Wi-Fi adds MAC addresses to make frames for each hop; bits are sent as signals.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protocol sends email between mail servers?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IMAP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POP3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SMTP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FTP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SMTP  –  Simple Mail Transfer Protocol.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OSI layer deals with MAC addresses and frames?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link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Network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Transport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Session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Data link  –  Layer 2.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Live voice calls usually use UDP because…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guarantees delivery</a:t>
            </a:r>
            <a:endParaRPr lang="en-US" sz="14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low delay matters more than the odd lost packet</a:t>
            </a:r>
            <a:endParaRPr lang="en-US" sz="14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encrypts data</a:t>
            </a:r>
            <a:endParaRPr lang="en-US" sz="14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uses MAC addresses</a:t>
            </a:r>
            <a:endParaRPr lang="en-US" sz="14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low delay matters more than the odd lost packet  –  Retransmitting old audio is pointless.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TCP/IP layer adds port numbers?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Link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Internet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Transport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Transport  –  Ports identify the application at each end.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key benefit of layering is that…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removes the need for protocols</a:t>
            </a:r>
            <a:endParaRPr lang="en-US" sz="14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one layer can be changed without affecting the others</a:t>
            </a:r>
            <a:endParaRPr lang="en-US" sz="14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data no longer needs headers</a:t>
            </a:r>
            <a:endParaRPr lang="en-US" sz="14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networks need no hardware</a:t>
            </a:r>
            <a:endParaRPr lang="en-US" sz="14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one layer can be changed without affecting the others  –  Layers are independent.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SMTP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Simple Mail Transfer Protocol.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Data link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Layer 2.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low delay matters more than the odd lost packet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Retransmitting old audio is pointless.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Transport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Ports identify the application at each end.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one layer can be changed without affecting the others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Layers are independent.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IS11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IP addressing, switching and routing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structure of IPv4 and IPv6 addresses and why IPv6 was introduced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DHCP, NAT and subnetting are used in an organisation's network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packet and circuit switching and describe how routers forward packets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IPv4 and IPv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IPv4 and IPv6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Public and private addres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 and private addresses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Subnet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Subnetting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DHCP and NA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DHCP and NAT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7" action="ppaction://hlinksldjump" tooltip="Circuit switching vs packet switch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Circuit switching vs packet switching</a:t>
            </a:r>
            <a:endParaRPr lang="en-US" sz="13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Packets and rou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Packets and routing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Worked calcul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calculation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home network where DHCP gives devices private IP addresses and the router uses NAT to share one public IP address with the intern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home network where DHCP gives devices private IP addresses and the router uses NAT to share one public IP address with the internet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IPv4 and IPv6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33061"/>
                <a:gridCol w="2206487"/>
                <a:gridCol w="48900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IPv4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IPv6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32 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128 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Four denary octets, e.g. 192.168.1.20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Eight groups of four hex digits, e.g. 2001:db8:0:0:0:0:0:1 (shortened 2001:db8::1)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Number of addresses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2³² ≈ 4.3 billion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2¹²⁸ ≈ 3.4 × 10³⁸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Original internet standard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IPv4 addresses ran out as devices (phones, IoT) multiplied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Public and private addresses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Public IP addresses are globally unique and routable on the internet; allocated through ISPs.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Private ranges are reused inside many LANs and are not routed on the internet: 10.0.0.0/8, 172.16.0.0/12, 192.168.0.0/16.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Using private addresses inside organisations conserves scarce public IPv4 addresses.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device's MAC address identifies its NIC on the local link; its IP address identifies it logically on the network.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Subnetting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IP address has a network part and a host part; the subnet mask shows where the split is.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Mask 255.255.255.0 (/24): first 24 bits = network, last 8 bits = host, so 2⁸ − 2 = 254 usable hosts.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Subnetting divides one network into smaller logical networks, e.g. staff, pupils and guests.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less broadcast traffic, better security (traffic between subnets passes a router or firewall), easier management.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Hosts on the same subnet communicate directly; others are sent to the default gateway (router).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DHCP and NAT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47809"/>
                <a:gridCol w="4278204"/>
                <a:gridCol w="270358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Benefit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DHCP – Dynamic Host Configuration Protocol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Automatically gives a joining device an IP address, subnet mask, default gateway and DNS server, leased for a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manual configuration; no duplicate addresses; addresses reused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NAT – network address translation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router replaces private source addresses with its own public address and tracks connections in a table so replies return to the right device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Many devices share one public IPv4 address; internal addresses are hidden from the internet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3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Circuit switching vs packet switching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61307"/>
                <a:gridCol w="3600450"/>
                <a:gridCol w="39678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Circuit switching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Packet switching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Dedicated path set up for the whole communication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split into packets that may take different routes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Resources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Reserved even when silent – wasteful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Links shared by many users – efficient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Delivery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Constant rate, in order, low jitter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Packets may arrive out of order and are reassembled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Failure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Broken link drops the call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Packets rerouted round failures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Traditional landline telephone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internet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4" grpId="0">
        <p:bldAsOne/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Packets and routing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packet has a header (source and destination IP, sequence number, time to live, protocol) and a payload; a trailer may hold a checksum.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Each router reads the destination IP and looks it up in its routing table to choose the next hop.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Routing tables are updated by routing protocols that share information about routes and congestion.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Time to live (TTL) is reduced at each hop so lost packets are eventually discarded rather than circling forever.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receiver uses sequence numbers to reassemble packets and requests any that are missing (TCP).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calculation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school subnet uses 192.168.10.0 with mask 255.255.255.0.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Host bits = 32 − 24 = 8, so 2⁸ = 256 addresses.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Subtract the network address (.0) and the broadcast address (.255): 254 usable hosts.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400 devices must fit, a /23 mask (255.255.254.0) gives 2⁹ − 2 = 510 hosts.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usable hosts does a /28 network have?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14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28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30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14  –  2^4 = 16, minus 2 = 14.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service gives a laptop its IP address when it joins the school Wi-Fi?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NAT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DNS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DHCP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FTP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DHCP  –  DHCP leases addresses.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purpose of the time to live field in a packet?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 encrypt the packet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 stop packets circulating forever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 record the sender's MAC address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 set the bit rate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To stop packets circulating forever  –  TTL falls at each hop and the packet is discarded at zero.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feature of circuit switching?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Dedicated path for the whole call</a:t>
            </a:r>
            <a:endParaRPr lang="en-US" sz="14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Packets take different routes</a:t>
            </a:r>
            <a:endParaRPr lang="en-US" sz="14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Links shared efficiently</a:t>
            </a:r>
            <a:endParaRPr lang="en-US" sz="14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Packets reassembled using sequence numbers</a:t>
            </a:r>
            <a:endParaRPr lang="en-US" sz="14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Dedicated path for the whole call  –  The path is reserved.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address is public?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10.4.2.1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172.16.0.9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192.168.0.1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8.8.8.8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8.8.8.8  –  The others are in private ranges.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2^4 = 16, minus 2 = 14.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DHCP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DHCP leases addresses.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To stop packets circulating forever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TTL falls at each hop and the packet is discarded at zero.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Dedicated path for the whole call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path is reserved.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8.8.8.8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others are in private ranges.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2" grpId="0">
        <p:bldAsOne/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A2 1: INFORMATION SYSTEMS  ·  IS12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transmission and error control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copper, fibre-optic and wireless media for a given use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Calculate transmission times using bit rate and explain the transmission modes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Apply parity and checksum methods and explain how ARQ corrects errors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Transmission medi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Transmission media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Bandwidth, bit rate and broadban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Bandwidth, bit rate and broadband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Worked calcul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calculation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Serial vs parall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Serial vs parallel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Direction and ti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Direction and timing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Error dete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 detection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Error correction: ARQ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 correction: ARQ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utomatic repeat request: block 1 is acknowledged, block 2 arrives with an error and is negatively acknowledged then resent, and block 3 is lost so a timeout triggers retransmiss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Automatic repeat request: block 1 is acknowledged, block 2 arrives with an error and is negatively acknowledged then resent, and block 3 is lost so a timeout triggers retransmission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Transmission media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10653"/>
                <a:gridCol w="2995863"/>
                <a:gridCol w="28514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data travels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Strengths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Weaknesses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Twisted pair copper (e.g. Cat6)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Electrical signals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Cheap, easy to install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Interference; limited distance (about 100 m per run)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Coaxial copper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Electrical signals, shielded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Less interference than twisted pair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Bulkier; being replaced by fibre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Fibre-optic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Pulses of light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high bandwidth, long distances, immune to electrical interference, hard to tap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Expensive, fragile, specialist installation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Wireless (radio, microwave, satellite)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Electromagnetic waves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Mobility, no cables, reaches remote areas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Interference, lower speed over distance, easier to intercept, satellite latency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6" grpId="0">
        <p:bldAsOne/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Bandwidth, bit rate and broadband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Bandwidth: the range of frequencies a channel can carry, which determines its maximum data capacity; often quoted loosely in bits per second.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Bit rate: the number of bits actually transmitted per second (bps, kbps, Mbps, Gbps).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Higher bandwidth allows a higher maximum bit rate; actual bit rate falls with congestion, distance and interference.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Broadband: a high-capacity connection that carries multiple signals on different frequencies at once over one medium.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Transfer time = file size in bits ÷ bit rate. Remember 1 byte = 8 bits.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calculation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File: 600 MB. Convert to bits: 600 × 8 = 4800 Mb (megabits).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Bit rate 40 Mbps: time = 4800 ÷ 40 = 120 seconds = 2 minutes.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Using 1 MB = 1024 × 1024 bytes gives about 126 seconds – state which convention you use.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 tip: always show the conversion to bits and the units of your answer.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Serial vs parallel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51850"/>
                <a:gridCol w="3422210"/>
                <a:gridCol w="41555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Serial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Parallel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Bits sent one after another on one channel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Several bits sent at once on separate wires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Distance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Long distances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Short distances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Problems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Fewer wires, no skew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Skew (bits arrive at different times) and crosstalk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USB, SATA, Ethernet, PCIe lanes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Older printer ports; internal buses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9" grpId="0">
        <p:bldAsOne/>
      </p:bldGraphic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Direction and timing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36908"/>
                <a:gridCol w="5021451"/>
                <a:gridCol w="23712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Simplex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in one direction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Broadcast TV; sensor to controller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Half-duplex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Both directions, but only one at a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Walkie-talkie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Full-duplex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Both directions at the same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Phone call; switched Ethernet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Synchronous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Sender and receiver share a clock signal; data sent in continuous blocks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Within a CPU; network links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Asynchronous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shared clock; each character framed by start and stop 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Keyboard input to a computer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0" grpId="0">
        <p:bldAsOne/>
      </p:bldGraphic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Error detection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Parity: an extra bit makes the number of 1s even (even parity) or odd; detects single-bit errors but not two bits flipped.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 even parity: 1011001 has four 1s, so parity bit 0 → 10110010.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Checksum: a value calculated from the data (e.g. sum of bytes MOD 256) is sent with it; the receiver recalculates and compares.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Cyclic redundancy check (CRC): treats the data as a binary number and divides it by an agreed polynomial; the remainder is sent and checked – detects burst errors very reliably.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Detection tells the receiver something is wrong; it does not fix it.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Error correction: ARQ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Automatic repeat request (ARQ) uses acknowledgements and timeouts.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receiver checks each block (e.g. using CRC) and sends a positive acknowledgement (ACK) if correct.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an error is found, a negative acknowledgement (NAK) is sent, or no ACK is sent.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 sender receives a NAK or its timer expires before an ACK, it retransmits the block.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Echo checking is a simpler alternative: data is sent back and compared, but doubles traffic.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long does a 100 MB file take at 50 Mbps (1 MB = 8 Mb)?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 s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 s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50 s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 s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16 s  –  800 ÷ 50 = 16 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medium uses pulses of light?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Coaxial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Twisted pair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Fibre-optic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Microwave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Fibre-optic  –  Fibre carries light.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With odd parity, what is the parity bit for 1100110?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cannot be calculated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1  –  Four 1s; add 1 to make five (odd).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ARQ, what does the sender do if no acknowledgement arrives before the timeout?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Stops sending</a:t>
            </a:r>
            <a:endParaRPr lang="en-US" sz="16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Sends the next block</a:t>
            </a:r>
            <a:endParaRPr lang="en-US" sz="16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Asks the user</a:t>
            </a:r>
            <a:endParaRPr lang="en-US" sz="16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Retransmits the block</a:t>
            </a:r>
            <a:endParaRPr lang="en-US" sz="16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7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Retransmits the block  –  Timeout triggers retransmission.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method detects burst errors most reliably?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Parity bit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CRC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Echo by eye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Simplex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CRC  –  Cyclic redundancy check.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16 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800 ÷ 50 = 16 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Fibre-optic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Fibre carries light.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Four 1s; add 1 to make five (odd).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Retransmits the block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Timeout triggers retransmission.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CRC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Cyclic redundancy check.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8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Networks</dc:title>
  <dc:subject>A2 1: Information Systems – Networks</dc:subject>
  <dc:creator>Digital Technology Hub</dc:creator>
  <cp:lastModifiedBy>Digital Technology Hub</cp:lastModifiedBy>
  <cp:revision>1</cp:revision>
  <dcterms:created xsi:type="dcterms:W3CDTF">2026-10-30T13:16:14Z</dcterms:created>
  <dcterms:modified xsi:type="dcterms:W3CDTF">2026-10-30T13:16:14Z</dcterms:modified>
</cp:coreProperties>
</file>