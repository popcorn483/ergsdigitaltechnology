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4bf88cef-0962-f4c9-87d2-8437adf6d165}">
          <p14:sldIdLst>
            <p14:sldId id="256"/>
            <p14:sldId id="257"/>
            <p14:sldId id="258"/>
          </p14:sldIdLst>
        </p14:section>
        <p14:section name="IS17 · Legislation: data protection, computer misuse, copyright, FOI and RIPA" id="{72ed9519-61b9-e61c-90fd-142b32ed209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S18 · Ethical, social and environmental issues" id="{d360cc6a-06fa-94a9-cb71-c1626674e27a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principles, rights and roles in the Data Protection Act 2018 and UK GDPR | Describe the offences under the Computer Misuse Act 1990 | Describe the purpose of the Copyright, Designs and Patents Act 1988, the Freedom of Information Act 2000 and the Regulation of Investigatory Powers Act 2000 | Apply legislation to scenarios involving information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Discuss ethical issues including privacy and surveillance | Discuss social issues including the digital divide, employment and health and safety | Discuss environmental issues including energy use, sustainability and e-waste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" Target="slide26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30.xml"/><Relationship Id="rId11" Type="http://schemas.openxmlformats.org/officeDocument/2006/relationships/slide" Target="slide2.xml"/><Relationship Id="rId1" Type="http://schemas.openxmlformats.org/officeDocument/2006/relationships/image" Target="../media/image-21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Legal, ethical and social issues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IS17  Legislation: data protection, computer misuse, copyright, FOI and RIPA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IS18  Ethical, social and environmental issues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IS17  Legislation: data protection, computer misuse, copyright, FOI and RIP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IS17  Legislation: data protection, computer misuse, copyright, FOI and RIPA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IS18  Ethical, social and environmental iss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IS18  Ethical, social and environmental issues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principles, rights and roles in the Data Protection Act 2018 and UK GDPR; Describe the offences under the Computer Misuse Act 1990; Describe the purpose of the Copyright, Designs and Patents Act 1988, the Freedom of Information Act 2000 and the Regulation of Investigatory Powers Act 2000; Apply legislation to scenarios involving information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Discuss ethical issues including privacy and surveillance; Discuss social issues including the digital divide, employment and health and safety; Discuss environmental issues including energy use, sustainability and e-waste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Legislation: data protection, computer misuse, copyright, FOI and RIPA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State and apply the seven data protection principles and the rights of data subjects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which offence under the Computer Misuse Act applies to a scenario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copyright, freedom of information and investigatory powers legislation affect organisations and individuals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3" action="ppaction://hlinksldjump" tooltip="Data Protection Act 2018 and UK GDP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Protection Act 2018 and UK GDPR</a:t>
            </a:r>
            <a:endParaRPr lang="en-US" sz="13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e seven princip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seven principles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Rights and ro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Rights and roles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Computer Misuse Act 199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Misuse Act 1990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7" action="ppaction://hlinksldjump" tooltip="Copyright, Designs and Patents Act 198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Copyright, Designs and Patents Act 1988</a:t>
            </a:r>
            <a:endParaRPr lang="en-US" sz="13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Freedom of Information Act 200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Freedom of Information Act 2000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9" action="ppaction://hlinksldjump" tooltip="Regulation of Investigatory Powers Act 200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 of Investigatory Powers Act 2000</a:t>
            </a:r>
            <a:endParaRPr lang="en-US" sz="13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ummary of the five Acts: Data Protection Act 2018 and UK GDPR, Computer Misuse Act 1990, Copyright Designs and Patents Act 1988, Freedom of Information Act 2000 and RIPA 20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Summary of the five Acts: Data Protection Act 2018 and UK GDPR, Computer Misuse Act 1990, Copyright Designs and Patents Act 1988, Freedom of Information Act 2000 and RIPA 2000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Protection Act 2018 and UK GDPR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UK GDPR sets the main rules for processing personal data; the Data Protection Act 2018 sits alongside it, adding UK-specific provisions and exemptions.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Both have been amended by the Data (Use and Access) Act 2025, whose changes are being phased in – check current Information Commission guidance.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Personal data: any information relating to an identified or identifiable living person.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Special category data needs extra protection: health, racial or ethnic origin, religion, political opinions, trade union membership, genetics, biometrics, sex life or sexual orientation.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Regulated across the UK, including Northern Ireland, by the Information Commission (formerly the ICO), which can issue fines and enforcement notices.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seven principles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5791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Principle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practice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Lawfulness, fairness and transparency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Have a lawful basis (e.g. consent, contract, legal obligation) and tell people how data is 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 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Collect for specified purposes; do not reuse for incompatible 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minimisation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collect what is adequate, relevant and necessary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Keep data accurate and up to date; correct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Storage 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Keep identifiable data no longer than necessary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Integrity and confidentiality (security)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Protect against unauthorised access, loss or damage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Accountability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controller must take responsibility and be able to show compliance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Rights and roles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Rights of the data subject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Right to be informed; right of access (subject access request)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subject: the living individual the data is about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Right to rectification; right to erasure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controller: decides why and how data is processed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Right to restrict processing; right to data portability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processor: processes data on the controller's behalf, e.g. a cloud provider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Right to object; rights related to automated decision-making and profiling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protection officer: monitors compliance; Information Commission (formerly the ICO): regulates and enforces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Computer Misuse Act 1990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8328"/>
                <a:gridCol w="3727308"/>
                <a:gridCol w="42439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Unauthorised access to computer material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Logging in with a friend's password to look at their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Unauthorised access with intent to commit or facilitate further offences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Accessing a bank system intending to transfer money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Unauthorised acts with intent to impair (or recklessness as to impairing) the operation of a computer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Spreading malware; ransomware; DoS attacks; deleting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s3ZA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Unauthorised acts causing, or creating risk of, serious damage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Attacking a hospital or power network – up to life imprisonment where human welfare or national security is at 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s3A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Making, supplying or obtaining articles for use in an offence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Selling hacking tools or malware kits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Copyright, Designs and Patents Act 1988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Copyright protects original works, including software, websites, music, images, video and databases; it arises automatically.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 literary works such as program code, copyright generally lasts for the author's life plus 70 years.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is illegal to copy, distribute, adapt or rent a work without the owner's permission, e.g. pirating software or using images from the web in a product.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Software is used under a licence (single-user, site, open source, subscription) that sets what the user may do.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Organisations need licence management and staff policies to avoid fines and legal action.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Freedom of Information Act 2000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Gives anyone the right to request recorded information held by public authorities (councils, schools, health trusts, government departments).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authority must normally respond within 20 working days, saying whether it holds the information and providing it.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Exemptions apply, e.g. personal data, national security, commercially sensitive information.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Public authorities must also publish information proactively through a publication scheme.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Promotes transparency and accountability; regulated by the ICO. It does not apply to private companies.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Regulation of Investigatory Powers Act 2000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Regulates how public bodies (police, intelligence services, some councils) carry out surveillance and investigation.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Part II covers covert surveillance and covert human intelligence sources, which must be authorised and proportionate.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Part III gives power to require disclosure of protected (encrypted) data or keys; refusing can be an offence.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Interception of communications and access to communications data are now mainly governed by the Investigatory Powers Act 2016.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Raises debate: national security and crime prevention versus individual privacy.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Keeping applicants' CVs for ten years with no reason breaches…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accuracy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storage limitation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portability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purpose limitation only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storage limitation  –  Data must not be kept longer than necessary.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Writing and selling malware kits is an offence under…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CMA section 3A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CDPA 1988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FOIA 2000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CMA section 1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CMA section 3A  –  Making or supplying articles for use in offences.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cloud provider storing a school's data on its behalf is a…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subject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controller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processor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Information Commission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data processor  –  It processes for the controller.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public authority should normally respond to an FOI request within…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working days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40 calendar days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 months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 working days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20 working days  –  The standard time limit.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Act protects software from being copied without permission?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Computer Misuse Act 1990</a:t>
            </a:r>
            <a:endParaRPr lang="en-US" sz="14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Copyright, Designs and Patents Act 1988</a:t>
            </a:r>
            <a:endParaRPr lang="en-US" sz="14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Freedom of Information Act 2000</a:t>
            </a:r>
            <a:endParaRPr lang="en-US" sz="14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RIPA 2000</a:t>
            </a:r>
            <a:endParaRPr lang="en-US" sz="14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Copyright, Designs and Patents Act 1988  –  Copyright law.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storage limitation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must not be kept longer than necessary.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CMA section 3A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Making or supplying articles for use in offences.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data processor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processes for the controller.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20 working days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standard time limit.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Copyright, Designs and Patents Act 1988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Copyright law.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Ethical, social and environmental issues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privacy and surveillance issues from the viewpoints of different stakeholders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Discuss the causes and effects of the digital divide and the impact of technology on employment and health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environmental impact of digital technology and ways of reducing it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Ethics, law and stakehold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Ethics, law and stakeholders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Privacy and surveill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Privacy and surveillance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he digital div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digital divide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Employ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Employment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Health and safe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 and safety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Environmental iss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Environmental issues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9" action="ppaction://hlinksldjump" tooltip="Sustainability: reducing the impa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Sustainability: reducing the impact</a:t>
            </a:r>
            <a:endParaRPr lang="en-US" sz="13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Ethical, social and environmental issues of digital technology, each with key concerns and respon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Ethical, social and environmental issues of digital technology, each with key concerns and responses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Ethics, law and stakeholders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Legal: what the law allows or forbids. Ethical: what is morally right – not everything legal is ethical.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Stakeholders: individuals, employees, organisations, government and society may see the same technology differently.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Ethical frameworks help: consider consequences (harms and benefits), rights (privacy, consent) and fairness.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Professional codes such as the BCS Code of Conduct ask IT professionals to act in the public interest.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Privacy and surveillance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52218"/>
                <a:gridCol w="1927185"/>
                <a:gridCol w="37501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CCTV and facial recognition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Deters and detects crime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Mass monitoring; errors and bias in recognition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Employee monitoring (email, keystrokes, location)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Security, productivity, protects firm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Trust, stress, intrusion into private life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Location tracking by apps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Navigation, safety, convenience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Detailed profile of movements sold to advertisers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State interception of communications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National security, serious crime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Proportionality; 'nothing to hide' argument versus right to private life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Cookies and online tracking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Personalised services, free 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Profiling without real understanding or consent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digital divide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digital divide is the gap between those who have access to digital technology and the skills to use it and those who do not.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Causes: cost of devices and broadband, poor rural connectivity, age, disability, lack of skills or confidence.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Effects: exclusion from online services, banking, job applications, education and cheaper online deals.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Global divide between richer and poorer countries; local divide between urban and rural Northern Ireland.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Responses: broadband roll-out schemes, device lending, library and community digital-skills classes, accessible design.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Employment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Job losses in routine work through automation (e.g. self-service tills, automated warehouses).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New jobs in software, data, cyber security and technical maintenance – need for upskilling and retraining.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Deskilling: some roles become simpler and less skilled as technology does the expert part.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Remote and flexible working: less commuting and wider talent pool, but isolation and blurred work–home boundaries.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Gig economy platforms offer flexibility but often less job security.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Health and safety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84641"/>
                <a:gridCol w="2701319"/>
                <a:gridCol w="3643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Prevention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Repetitive strain injury (RSI)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Repeated keyboard and mouse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Ergonomic keyboards, wrist rests, regular breaks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Eye strain and headaches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 periods looking at screens, glare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Anti-glare screens, correct lighting, eye tests, breaks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Back and neck problems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Poor posture, unsuitable chairs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Adjustable chairs and screens, posture training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Stress and mental health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Always-on culture, monitoring, online abuse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Right-to-disconnect policies, workload management, 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Environmental issues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Manufacturing devices uses energy, water and rare earth metals, often mined in poor conditions.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centres and networks use large amounts of electricity for processing and cooling; AI training increases demand.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E-waste: discarded devices contain toxic materials (lead, mercury) and are often exported illegally or sent to landfill.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Short product lifecycles and planned obsolescence increase waste.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Positive effects: video conferencing reduces travel, smart systems cut energy use, remote monitoring improves efficiency.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Sustainability: reducing the impact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Repair, reuse and refurbish devices; extend replacement cycles.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Recycle through approved schemes under the WEEE (waste electrical and electronic equipment) Regulations.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energy-efficient hardware, virtualisation and power-management settings.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Choose cloud providers whose data centres use renewable energy.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Design software and services to be efficient – less processing means less energy.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cause of the digital divide?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Fast fibre broadband in every home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Poor rural connectivity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Cheap devices for all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Universal digital skills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Poor rural connectivity  –  Lack of access excludes people.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Recycling electrical equipment in the UK is governed by the…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WEEE Regulations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Computer Misuse Act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FOI Act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RIPA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WEEE Regulations  –  Waste Electrical and Electronic Equipment Regulations.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health problem is linked to repeated mouse use?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Eye strain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Hearing loss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Repetitive strain injury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Deskilling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Repetitive strain injury  –  RSI affects wrists and hands.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self-checkout replacing cashiers is an example of…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upskilling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digital divide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e-waste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automation affecting employment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automation affecting employment  –  Routine jobs are automated.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reduces the environmental impact of IT?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Replacing laptops every year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Server virtualisation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Leaving PCs on overnight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Sending old devices to landfill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Server virtualisation  –  Fewer physical servers use less power.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Poor rural connectivity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Lack of access excludes people.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WEEE Regulations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Waste Electrical and Electronic Equipment Regulations.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Repetitive strain injury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RSI affects wrists and hands.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automation affecting employment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Routine jobs are automated.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Server virtualisation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Fewer physical servers use less power.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Legal, ethical and social issues</dc:title>
  <dc:subject>A2 1: Information Systems – Legal, ethical and social issues</dc:subject>
  <dc:creator>Digital Technology Hub</dc:creator>
  <cp:lastModifiedBy>Digital Technology Hub</cp:lastModifiedBy>
  <cp:revision>1</cp:revision>
  <dcterms:created xsi:type="dcterms:W3CDTF">2026-10-30T13:16:17Z</dcterms:created>
  <dcterms:modified xsi:type="dcterms:W3CDTF">2026-10-30T13:16:17Z</dcterms:modified>
</cp:coreProperties>
</file>