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notesMasterIdLst>
    <p:notesMasterId r:id="rId10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c317d0a6-96f5-939b-07a3-f6678dfad56d}">
          <p14:sldIdLst>
            <p14:sldId id="256"/>
            <p14:sldId id="257"/>
            <p14:sldId id="258"/>
          </p14:sldIdLst>
        </p14:section>
        <p14:section name="D03 · Binary, units of data and denary–binary conversion" id="{1baeb66f-c73d-baa2-f34a-c2f0869ae89c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D04 · Hexadecimal" id="{2de26d51-b1f7-2204-dfe3-deca0dd009e3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D05 · Binary addition and overflow" id="{3a2bc69d-ab46-5fe4-0933-96a2955ef1b6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D06 · Character sets: ASCII and Unicode" id="{b46fe7ca-495c-6e00-6fe1-44c62503d3aa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D07 · Data types" id="{f997ae87-8673-ea6b-c4b4-f4dde8f19219}">
          <p14:sldIdLst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</p14:sldIdLst>
        </p14:section>
        <p14:section name="D08 · Boolean operators and truth tables" id="{df3bb8bc-bb33-5428-24f0-281d1f57e384}">
          <p14:sldIdLst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how a number is converted to a binary pattern for storage in a computer | Demonstrate understanding of the following units of data: bit, nibble, byte, kilobyte, megabyte, gigabyte and terabyte | Demonstrate understanding of and use number representation and convert between denary, binary and hexadecimal (denary–binary)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Demonstrate understanding of and use number representation and convert between denary, binary and hexadecimal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Perform the addition of two bytes and explain the meaning of overflow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Demonstrate understanding of the following types of character representation: ASCII (7-bit and 8-bit) and Unicode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and use appropriately the following data types: numeric (integer and real), date/time, character and string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Demonstrate understanding of and use Boolean operators (AND, OR and NOT) and truth tables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21.xml"/><Relationship Id="rId5" Type="http://schemas.openxmlformats.org/officeDocument/2006/relationships/slide" Target="slide37.xml"/><Relationship Id="rId6" Type="http://schemas.openxmlformats.org/officeDocument/2006/relationships/slide" Target="slide51.xml"/><Relationship Id="rId7" Type="http://schemas.openxmlformats.org/officeDocument/2006/relationships/slide" Target="slide67.xml"/><Relationship Id="rId8" Type="http://schemas.openxmlformats.org/officeDocument/2006/relationships/slide" Target="slide84.xml"/><Relationship Id="rId1" Type="http://schemas.openxmlformats.org/officeDocument/2006/relationships/image" Target="../media/image-2-1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2.xml"/><Relationship Id="rId1" Type="http://schemas.openxmlformats.org/officeDocument/2006/relationships/image" Target="../media/image-5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3" Type="http://schemas.openxmlformats.org/officeDocument/2006/relationships/slide" Target="slide24.xml"/><Relationship Id="rId4" Type="http://schemas.openxmlformats.org/officeDocument/2006/relationships/slide" Target="slide25.xml"/><Relationship Id="rId5" Type="http://schemas.openxmlformats.org/officeDocument/2006/relationships/slide" Target="slide26.xml"/><Relationship Id="rId6" Type="http://schemas.openxmlformats.org/officeDocument/2006/relationships/slide" Target="slide27.xml"/><Relationship Id="rId7" Type="http://schemas.openxmlformats.org/officeDocument/2006/relationships/slide" Target="slide28.xml"/><Relationship Id="rId8" Type="http://schemas.openxmlformats.org/officeDocument/2006/relationships/slide" Target="slide29.xml"/><Relationship Id="rId9" Type="http://schemas.openxmlformats.org/officeDocument/2006/relationships/slide" Target="slide30.xml"/><Relationship Id="rId10" Type="http://schemas.openxmlformats.org/officeDocument/2006/relationships/slide" Target="slide2.xml"/><Relationship Id="rId1" Type="http://schemas.openxmlformats.org/officeDocument/2006/relationships/image" Target="../media/image-22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3" Type="http://schemas.openxmlformats.org/officeDocument/2006/relationships/slide" Target="slide40.xml"/><Relationship Id="rId4" Type="http://schemas.openxmlformats.org/officeDocument/2006/relationships/slide" Target="slide41.xml"/><Relationship Id="rId5" Type="http://schemas.openxmlformats.org/officeDocument/2006/relationships/slide" Target="slide42.xml"/><Relationship Id="rId6" Type="http://schemas.openxmlformats.org/officeDocument/2006/relationships/slide" Target="slide43.xml"/><Relationship Id="rId7" Type="http://schemas.openxmlformats.org/officeDocument/2006/relationships/slide" Target="slide44.xml"/><Relationship Id="rId8" Type="http://schemas.openxmlformats.org/officeDocument/2006/relationships/slide" Target="slide2.xml"/><Relationship Id="rId1" Type="http://schemas.openxmlformats.org/officeDocument/2006/relationships/image" Target="../media/image-38-1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3" Type="http://schemas.openxmlformats.org/officeDocument/2006/relationships/slide" Target="slide54.xml"/><Relationship Id="rId4" Type="http://schemas.openxmlformats.org/officeDocument/2006/relationships/slide" Target="slide55.xml"/><Relationship Id="rId5" Type="http://schemas.openxmlformats.org/officeDocument/2006/relationships/slide" Target="slide56.xml"/><Relationship Id="rId6" Type="http://schemas.openxmlformats.org/officeDocument/2006/relationships/slide" Target="slide57.xml"/><Relationship Id="rId7" Type="http://schemas.openxmlformats.org/officeDocument/2006/relationships/slide" Target="slide58.xml"/><Relationship Id="rId8" Type="http://schemas.openxmlformats.org/officeDocument/2006/relationships/slide" Target="slide59.xml"/><Relationship Id="rId9" Type="http://schemas.openxmlformats.org/officeDocument/2006/relationships/slide" Target="slide60.xml"/><Relationship Id="rId10" Type="http://schemas.openxmlformats.org/officeDocument/2006/relationships/slide" Target="slide2.xml"/><Relationship Id="rId1" Type="http://schemas.openxmlformats.org/officeDocument/2006/relationships/image" Target="../media/image-52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69.xml"/><Relationship Id="rId3" Type="http://schemas.openxmlformats.org/officeDocument/2006/relationships/slide" Target="slide70.xml"/><Relationship Id="rId4" Type="http://schemas.openxmlformats.org/officeDocument/2006/relationships/slide" Target="slide71.xml"/><Relationship Id="rId5" Type="http://schemas.openxmlformats.org/officeDocument/2006/relationships/slide" Target="slide72.xml"/><Relationship Id="rId6" Type="http://schemas.openxmlformats.org/officeDocument/2006/relationships/slide" Target="slide73.xml"/><Relationship Id="rId7" Type="http://schemas.openxmlformats.org/officeDocument/2006/relationships/slide" Target="slide75.xml"/><Relationship Id="rId8" Type="http://schemas.openxmlformats.org/officeDocument/2006/relationships/slide" Target="slide77.xml"/><Relationship Id="rId9" Type="http://schemas.openxmlformats.org/officeDocument/2006/relationships/slide" Target="slide2.xml"/><Relationship Id="rId1" Type="http://schemas.openxmlformats.org/officeDocument/2006/relationships/image" Target="../media/image-68-1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7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7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7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7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7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7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7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8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8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8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image" Target="../media/image-8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86.xml"/><Relationship Id="rId3" Type="http://schemas.openxmlformats.org/officeDocument/2006/relationships/slide" Target="slide87.xml"/><Relationship Id="rId4" Type="http://schemas.openxmlformats.org/officeDocument/2006/relationships/slide" Target="slide88.xml"/><Relationship Id="rId5" Type="http://schemas.openxmlformats.org/officeDocument/2006/relationships/slide" Target="slide89.xml"/><Relationship Id="rId6" Type="http://schemas.openxmlformats.org/officeDocument/2006/relationships/slide" Target="slide90.xml"/><Relationship Id="rId7" Type="http://schemas.openxmlformats.org/officeDocument/2006/relationships/slide" Target="slide91.xml"/><Relationship Id="rId8" Type="http://schemas.openxmlformats.org/officeDocument/2006/relationships/slide" Target="slide92.xml"/><Relationship Id="rId9" Type="http://schemas.openxmlformats.org/officeDocument/2006/relationships/slide" Target="slide2.xml"/><Relationship Id="rId1" Type="http://schemas.openxmlformats.org/officeDocument/2006/relationships/image" Target="../media/image-85-1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85.xml"/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image" Target="../media/image-8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image" Target="../media/image-8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image" Target="../media/image-8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image" Target="../media/image-9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image" Target="../media/image-9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image" Target="../media/image-9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image" Target="../media/image-9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image" Target="../media/image-9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image" Target="../media/image-9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image" Target="../media/image-9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image" Target="../media/image-9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image" Target="../media/image-9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Digital data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D03  Binary, units of data and denary–binary conversion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D04  Hexadecimal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D05  Binary addition and overflow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D06  Character sets: ASCII and Unicode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D07  Data types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D08  Boolean operators and truth tables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D03  Binary, units of data and denary–binary conver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D03  Binary, units of data and denary–binary conversion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4" action="ppaction://hlinksldjump" tooltip="D04  Hexadecim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D04  Hexadecimal</a:t>
            </a:r>
            <a:endParaRPr lang="en-US" sz="15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5" action="ppaction://hlinksldjump" tooltip="D05  Binary addition and overflo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D05  Binary addition and overflow</a:t>
            </a:r>
            <a:endParaRPr lang="en-US" sz="1500" dirty="0"/>
          </a:p>
        </p:txBody>
      </p:sp>
      <p:sp>
        <p:nvSpPr>
          <p:cNvPr id="10" name="btn">
            <a:hlinkClick r:id="rId6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6" action="ppaction://hlinksldjump" tooltip="D06  Character sets: ASCII and Uni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D06  Character sets: ASCII and Unicode</a:t>
            </a:r>
            <a:endParaRPr lang="en-US" sz="1300" dirty="0"/>
          </a:p>
        </p:txBody>
      </p:sp>
      <p:sp>
        <p:nvSpPr>
          <p:cNvPr id="11" name="btn">
            <a:hlinkClick r:id="rId7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7" action="ppaction://hlinksldjump" tooltip="D07  Data typ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D07  Data types</a:t>
            </a:r>
            <a:endParaRPr lang="en-US" sz="1500" dirty="0"/>
          </a:p>
        </p:txBody>
      </p:sp>
      <p:sp>
        <p:nvSpPr>
          <p:cNvPr id="12" name="btn">
            <a:hlinkClick r:id="rId8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8" action="ppaction://hlinksldjump" tooltip="D08  Boolean operators and truth tab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D08  Boolean operators and truth tables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D03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how a number is converted to a binary pattern for storage in a computer; Demonstrate understanding of the following units of data: bit, nibble, byte, kilobyte, megabyte, gigabyte and terabyte; Demonstrate understanding of and use number representation and convert between denary, binary and hexadecimal (denary–binary)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D04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Demonstrate understanding of and use number representation and convert between denary, binary and hexadecimal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D05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Perform the addition of two bytes and explain the meaning of overflow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D06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Demonstrate understanding of the following types of character representation: ASCII (7-bit and 8-bit) and Unicode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D07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and use appropriately the following data types: numeric (integer and real), date/time, character and 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D08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Demonstrate understanding of and use Boolean operators (AND, OR and NOT) and truth tables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D03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Binary, units of data and denary–binary conversion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computers store data in binary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Convert denary numbers to 8-bit binary and binary to denary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units of data and calculate storage capacities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y binary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binary?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8-bit place val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8-bit place values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5" action="ppaction://hlinksldjump" tooltip="Denary to binary: subtraction metho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Denary to binary: subtraction method</a:t>
            </a:r>
            <a:endParaRPr lang="en-US" sz="13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Denary to binary: division metho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Denary to binary: division method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Binary to den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to denary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Units of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Units of data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Storage calcula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Storage calculations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Place values of an 8-bit byte showing 47 as 001011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Place values of an 8-bit byte showing 47 as 00101111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binary?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Computers are built from switches (transistors) that are either on or off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 = 1, off = 0: each binary digit is a bit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number, character, image and sound is stored as a pattern of bits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Denary is base 10 (columns ×10); binary is base 2 (columns ×2)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8-bit place values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128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64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Denary to binary: subtraction method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Write the column headings 128 64 32 16 8 4 2 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Work left to right: if the column fits into what is left, write 1 and subtract; otherwise write 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 47: 32 fits (15 left), 16 no, 8 fits (7), 4 (3), 2 (1), 1 (0)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47 = 00101111 – always write all 8 bits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Check: add the columns with a 1 back up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Denary to binary: division method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Divide by 2 repeatedly and write down each remainder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 the remainders from the bottom up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25 ÷ 2 = 12 r1, 12 ÷ 2 = 6 r0, 6 ÷ 2 = 3 r0, 3 ÷ 2 = 1 r1, 1 ÷ 2 = 0 r1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Reading upwards: 11001 → 00011001 as a byte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Both methods earn full marks if working is shown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Binary to denary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Write the place values above each bit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Add up the values where there is a 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10101010 = 128 + 32 + 8 + 2 = 170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00011111 = 16 + 8 + 4 + 2 + 1 = 31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largest 8-bit number is 11111111 = 255; a byte has 256 patterns (0–255)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Units of 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488019"/>
                <a:gridCol w="574158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single binary digit, 0 or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Nibble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 bits (one hexadecimal digit)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Byte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 bits – usually one 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Kilobyte (KB)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Megabyte (MB)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KB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Gigabyte (GB)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MB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Terabyte (TB)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GB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Storage calculations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Bigger unit: ÷ 1024. Smaller unit: × 1024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2022 Q6(d): will a 50 GB app fit on a 2 TB disk that already holds data? Convert to the same unit first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 TB = 2 × 1024 = 2048 GB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Number of patterns with n bits = 2ⁿ (4 bits = 16, 8 bits = 256)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00010011 in denary?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17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19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21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35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19  –  16 + 2 + 1 = 19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37 in 8-bit binary?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00100101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00100011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00110101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01000101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00100101  –  32 + 4 + 1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bits are in a nibble?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4  –  Half a byte.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Largest denary number in 8 bits?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128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255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256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512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255  –  11111111 = 255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GB are in 3 TB?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3000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3072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1024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30 720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3072  –  3 × 1024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19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16 + 2 + 1 = 19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00100101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32 + 4 + 1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Half a byte.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255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11111111 = 255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3072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3 × 1024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Binary, hexadecimal and its uses, binary addition and overflow, logic gates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Binary digit, 54 to binary, nibble, hex, overflow, storage capacity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Bit, 47 to binary, 66 to hex, advantage of hex, binary addition and overflow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Bit, nibble, byte; denary–binary–hex conversions; binary addition and overflow; truth tables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Binary conversion, addition and overflow, units, Unicode vs 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Graphic spid="21" grpId="0">
        <p:bldAsOne/>
      </p:bldGraphic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D04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Hexadecimal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what hexadecimal is and why it is used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Convert between binary and hexadecimal using nibbles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Convert between denary and hexadecimal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at is hexadecimal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hexadecimal?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Why use hex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use hex?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Binary to h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to hex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Hex to bin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Hex to binary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Denary to h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Denary to hex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Hex to den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Hex to denary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Converting the byte 10101010 to hexadecimal AA by splitting it into nibb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Converting the byte 10101010 to hexadecimal AA by splitting it into nibbles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hexadecimal?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Hexadecimal (hex) is base 16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uses 16 symbols: 0–9 then A, B, C, D, E, 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= 10, B = 11, C = 12, D = 13, E = 14, F = 15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hex digit represents exactly one nibble (4 bits), so a byte is two hex digits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use hex?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is a shorthand for binary – far shorter and easier for humans to read and remember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Fewer mistakes when reading or copying long binary numbers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Easy to convert to and from binary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Uses: colour codes in HTML/CSS (#1D6B53), MAC addresses, memory addresses, error codes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computer still stores everything in binary – hex is for people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Binary to hex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Split the byte into two nibbles from the right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Convert each nibble to denary (8 4 2 1), then to a hex digit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10101010 → 1010 | 1010 → 10 | 10 → AA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01111011 → 0111 | 1011 → 7 | 11 → 7B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Hex to binary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Convert each hex digit into a 4-bit nibble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3F → 3 = 0011, F = 1111 → 00111111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C4 → 1100 0100 → 11000100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Denary to hex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Method 1: divide by 16 – the answer is the first digit, the remainder is the second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80 ÷ 16 = 5 r 0 → 50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66 ÷ 16 = 4 r 2 → 42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Method 2: convert to binary first, then to hex using nibbles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Larger numbers: divide by 16 repeatedly and read remainders upwards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Hex to denary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Two-digit hex: first digit × 16, plus second digit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3B = 3 × 16 + 11 = 59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AA = 10 × 16 + 10 = 170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FF = 15 × 16 + 15 = 255 – the largest byte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1111 0000 in hex?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F0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0F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FF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E0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F0  –  1111 = F, 0000 = 0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Hex digit D represents…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13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14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15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13  –  A=10, B=11, C=12, D=13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2F in denary is…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32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45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47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215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47  –  2×16 + 15 = 47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hex used?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Computers can only store hex</a:t>
            </a:r>
            <a:endParaRPr lang="en-US" sz="14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a shorter, easier-to-read form of binary</a:t>
            </a:r>
            <a:endParaRPr lang="en-US" sz="14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uses less memory</a:t>
            </a:r>
            <a:endParaRPr lang="en-US" sz="14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encrypts data</a:t>
            </a:r>
            <a:endParaRPr lang="en-US" sz="14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It is a shorter, easier-to-read form of binary  –  Shorthand for binary.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80 in hexadecimal is…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80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50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48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A0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50  –  80 ÷ 16 = 5 r 0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F0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1111 = F, 0000 = 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13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A=10, B=11, C=12, D=13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47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2×16 + 15 = 47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It is a shorter, easier-to-read form of binary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Shorthand for binary.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50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80 ÷ 16 = 5 r 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6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Binary, hexadecimal and its uses, binary addition and overflow, logic gates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Binary digit, 54 to binary, nibble, hex, overflow, storage capacity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Bit, 47 to binary, 66 to hex, advantage of hex, binary addition and overflow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Bit, nibble, byte; denary–binary–hex conversions; binary addition and overflow; truth tables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37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D05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Binary addition and overflow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Apply the four rules of binary addition with carries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Add two bytes and check the answer in denary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overflow and its effect on a result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Rules of binary addi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Rules of binary addition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Adding two byt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Adding two bytes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Overflo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Overflow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Spotting overflo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Spotting overflow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dding 11111111 and 00000001 in 8 bits causes overf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Adding 11111111 and 00000001 in 8 bits causes overflow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Rules of binary addition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431323"/>
                <a:gridCol w="1899138"/>
                <a:gridCol w="1899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Write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Carry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0 + 0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0 + 1 or 1 + 0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 + 1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 + 1 + 1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1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Adding two bytes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Line the numbers up in columns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Add from right to left, writing carries above/below the next column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 26 + 12: 00011010 + 00001100 = 00100110 (38)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 by converting each number and the answer to denary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Show the carries – they earn working marks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Overflow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Overflow occurs when the result of a calculation is too large to be stored in the number of bits available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8-bit register can hold up to 255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11111111 + 00000001 = 1 00000000 – the 9th bit cannot be stored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stored answer becomes 00000000 (0) instead of 256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Effect: the result is incorrect, which can cause errors or crashes in the program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Spotting overflow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there is a carry out of the leftmost (128) column, overflow has occurred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Quick check: if the denary total is greater than 255, an 8-bit addition overflows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2022 Q6(c)(ii): decide yes/no for three additions – convert to denary to check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Larger registers (16, 32, 64 bits) reduce overflow but it can still happen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1 + 1 in binary?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11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01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10  –  0 carry 1.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00001111 + 00000001 =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00010000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00011111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00001110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11110000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00010000  –  15 + 1 = 16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Overflow occurs when…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number is negative</a:t>
            </a:r>
            <a:endParaRPr lang="en-US" sz="14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result is too large for the available bits</a:t>
            </a:r>
            <a:endParaRPr lang="en-US" sz="14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carry is used</a:t>
            </a:r>
            <a:endParaRPr lang="en-US" sz="14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two nibbles are added</a:t>
            </a:r>
            <a:endParaRPr lang="en-US" sz="14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result is too large for the available bits  –  Too big to store.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8-bit addition overflows?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100 + 100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200 + 50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128 + 127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200 + 60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200 + 60  –  260 &gt; 255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After overflow the stored result is…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correct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incorrect because a bit is lost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always zero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converted to hex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incorrect because a bit is lost  –  The extra bit is lost.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0 carry 1.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00010000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15 + 1 = 16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result is too large for the available bits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Too big to store.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200 + 60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260 &gt; 255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incorrect because a bit is lost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extra bit is lost.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0" grpId="0">
        <p:bldAsOne/>
      </p:bldGraphic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Binary, hexadecimal and its uses, binary addition and overflow, logic gates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Binary digit, 54 to binary, nibble, hex, overflow, storage capacity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Bit, 47 to binary, 66 to hex, advantage of hex, binary addition and overflow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Bit, nibble, byte; denary–binary–hex conversions; binary addition and overflow; truth tables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Binary conversion, addition and overflow, units, Unicode vs 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51" grpId="0">
        <p:bldAsOne/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D06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Character sets: ASCII and Unicode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what a character set is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7-bit ASCII, 8-bit (extended) ASCII and Unicode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ASCII and Unicode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Character se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Character sets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ASCI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ASCII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Extended (8-bit) ASCI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Extended (8-bit) ASCII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Uni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Unicode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Comparing ASCII and Uni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ASCII and Unicode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Exam ti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 tip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SCII compared with Uni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ASCII compared with Unicode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Character sets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character set is a list of characters a computer recognises, each with a unique binary code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When you press a key, the code for that character is stored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Both devices must use the same character set to display text correctly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ASCII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ASCII = American Standard Code for Information Interchange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7-bit ASCII: 2⁷ = 128 characters (codes 0–127)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Codes 0–31 are control characters (e.g. carriage return), unprintable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Code 32 = space; 'A' = 65 (01000001), 'B' = 66, … 'a' = 97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Letters are in order, so codes can be compared to sort text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Extended (8-bit) ASCII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Uses 8 bits: 2⁸ = 256 characters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Adds extra symbols such as some accented letters, £ and line-drawing characters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Still only covers a small set of mainly English/Western European characters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character uses 1 byte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Unicode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worldwide standard that gives every character in every language a unique code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Can represent over a million characters, including Chinese, Arabic, Irish fadas and emoji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Uses more bits per character (commonly 16 bits, up to 32; UTF-8 uses 1–4 bytes)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first 128 Unicode codes are the same as ASCII, so ASCII text is still readable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Allows text to be exchanged between countries and systems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ASCII and Unicode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54685"/>
                <a:gridCol w="1916482"/>
                <a:gridCol w="405843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Unicode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Bits per 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 (or 8 extended)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Up to 32 (UTF-8: 8–32)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Number of characters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128 (256)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Over a million possible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Languages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Mainly English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Almost all world languages and emoji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Storage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Smaller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use more storage per 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9" grpId="0">
        <p:bldAsOne/>
      </p:bldGraphic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 tip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2025 examiners: candidates confused bits used with number of characters, and wrote the same difference twice in reverse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Give two distinct differences, e.g. range of characters AND storage used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Expand ASCII exactly – asked in 2019 Q7(a) and 2023 Q1(a)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ASCII stand for?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American Standard Code for Information Interchange</a:t>
            </a:r>
            <a:endParaRPr lang="en-US" sz="14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Advanced System Code for Internet Input</a:t>
            </a:r>
            <a:endParaRPr lang="en-US" sz="14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American System for Computer Information</a:t>
            </a:r>
            <a:endParaRPr lang="en-US" sz="14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Automatic Standard Character Index</a:t>
            </a:r>
            <a:endParaRPr lang="en-US" sz="14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American Standard Code for Information Interchange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characters in 7-bit ASCII?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64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128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256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1024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128  –  2⁷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can represent Chinese characters and emoji?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7-bit ASCII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Extended ASCII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Unicode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Hexadecimal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Unicode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drawback of Unicode compared with ASCII is…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fewer characters</a:t>
            </a:r>
            <a:endParaRPr lang="en-US" sz="14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more bits per character, so more storage</a:t>
            </a:r>
            <a:endParaRPr lang="en-US" sz="14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only supports English</a:t>
            </a:r>
            <a:endParaRPr lang="en-US" sz="14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cannot store digits</a:t>
            </a:r>
            <a:endParaRPr lang="en-US" sz="14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more bits per character, so more storage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If 'a' = 97, what is 'c'?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98</a:t>
            </a:r>
            <a:endParaRPr lang="en-US" sz="16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99</a:t>
            </a:r>
            <a:endParaRPr lang="en-US" sz="16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100</a:t>
            </a:r>
            <a:endParaRPr lang="en-US" sz="16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67</a:t>
            </a:r>
            <a:endParaRPr lang="en-US" sz="16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99  –  Codes are consecutive.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American Standard Code for Information Interchange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128  – 2⁷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Unicode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more bits per character, so more storage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99  – Codes are consecutive.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6" grpId="0">
        <p:bldAsOne/>
      </p:bldGraphic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ASCII and Unicode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Q1(d)–(g)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Abstraction, decomposition, search efficiency, 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ASCII acronym and capacity; AND/OR truth table; Unicode vs 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Binary conversion, addition and overflow, units, Unicode vs 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67" grpId="0">
        <p:bldAsOne/>
      </p:bldGraphic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D07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types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integer, real, character, string, Boolean and date/time data types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and justify a data type for a variable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type conversion (casting) in C#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y data types mat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data types matter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Data typ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types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Choosing a typ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 type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Type conversion (casting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Type conversion (casting)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Dates and times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Dates and times in C#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8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Six variables, each holding a value of a different data ty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Six variables, each holding a value of a different data type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data types matter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data type tells the computer what kind of value a variable holds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decides how much memory is used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decides which operations are allowed – you can add integers, but joining strings is different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Choosing the right type prevents errors and makes validation possible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types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61901"/>
                <a:gridCol w="3420094"/>
                <a:gridCol w="2992582"/>
                <a:gridCol w="8550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Holds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C#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Integer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Whole numbers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 numberOfFrames = 25;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Numbers with a decimal part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double costPerPupil = 12.50;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double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single letter, digit or symbol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char grade = 'A';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sequence of characters (text)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 name = "Ciara";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Boolean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true or false 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bool member = true;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Date/time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date and/or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new DateTime(2026, 10, 18)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DateTime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2" grpId="0">
        <p:bldAsOne/>
      </p:bldGraphic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a type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Calculations with whole numbers → integer (number of tickets, votes)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Money or measurements → real (price, height, race time)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Two possible states → Boolean (paid? hasEquipment?)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Text, codes, phone numbers, postcodes → string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single initial or Y/N code → character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2025 Q6(b): describe Boolean and identify the Boolean variable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Type conversion (casting)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Console.ReadLine() always returns a string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Convert before doing maths: Convert.ToInt32(), Convert.ToDouble() (or int.Parse(), double.Parse())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cast such as (double) changes the type of a value; int / int gives a whole-number answer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Numbers join onto strings automatically with +, or use ToString()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Type conversion (casting)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Console.Write("Age?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Convert.ToInt32(Console.ReadLine());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Console.WriteLine("Next year you will be " + (age + 1));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price = Convert.ToDouble("3.99");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Console.WriteLine(price * 2);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 = 7;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average = (double)marks / 2;   // cast: 3.5, not 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Console.WriteLine(average);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Dates and times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Dates and times are stored in a DateTime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new DateTime(year, month, day) creates a date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Parts can be read: exam.Day, exam.Month, exam.Year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Dates and times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 exam = new DateTime(2027, 5, 21);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Console.WriteLine(exam.ToShortDateString());   // 21/05/2027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Console.WriteLine(exam.Month);                 // 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 revisionStart = new DateTime(2027, 4, 1);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Console.WriteLine((exam - revisionStart).Days + " days to revise");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Best data type for the number of pupils on a trip?</a:t>
            </a:r>
            <a:endParaRPr lang="en-US" sz="1700" dirty="0"/>
          </a:p>
        </p:txBody>
      </p:sp>
      <p:sp>
        <p:nvSpPr>
          <p:cNvPr id="7" name="trig:k8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Real</a:t>
            </a:r>
            <a:endParaRPr lang="en-US" sz="1600" dirty="0"/>
          </a:p>
        </p:txBody>
      </p:sp>
      <p:sp>
        <p:nvSpPr>
          <p:cNvPr id="8" name="on:k8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Integer</a:t>
            </a:r>
            <a:endParaRPr lang="en-US" sz="1600" dirty="0"/>
          </a:p>
        </p:txBody>
      </p:sp>
      <p:sp>
        <p:nvSpPr>
          <p:cNvPr id="10" name="on:k8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8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Boolean</a:t>
            </a:r>
            <a:endParaRPr lang="en-US" sz="1600" dirty="0"/>
          </a:p>
        </p:txBody>
      </p:sp>
      <p:sp>
        <p:nvSpPr>
          <p:cNvPr id="12" name="on:k8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String</a:t>
            </a:r>
            <a:endParaRPr lang="en-US" sz="1600" dirty="0"/>
          </a:p>
        </p:txBody>
      </p:sp>
      <p:sp>
        <p:nvSpPr>
          <p:cNvPr id="14" name="on:k8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Integer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Best data type for 'Has the pupil paid?'</a:t>
            </a:r>
            <a:endParaRPr lang="en-US" sz="1700" dirty="0"/>
          </a:p>
        </p:txBody>
      </p:sp>
      <p:sp>
        <p:nvSpPr>
          <p:cNvPr id="7" name="trig:k8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Boolean</a:t>
            </a:r>
            <a:endParaRPr lang="en-US" sz="1600" dirty="0"/>
          </a:p>
        </p:txBody>
      </p:sp>
      <p:sp>
        <p:nvSpPr>
          <p:cNvPr id="8" name="on:k8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8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Character</a:t>
            </a:r>
            <a:endParaRPr lang="en-US" sz="1600" dirty="0"/>
          </a:p>
        </p:txBody>
      </p:sp>
      <p:sp>
        <p:nvSpPr>
          <p:cNvPr id="10" name="on:k8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Integer</a:t>
            </a:r>
            <a:endParaRPr lang="en-US" sz="1600" dirty="0"/>
          </a:p>
        </p:txBody>
      </p:sp>
      <p:sp>
        <p:nvSpPr>
          <p:cNvPr id="12" name="on:k8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Date/time</a:t>
            </a:r>
            <a:endParaRPr lang="en-US" sz="1600" dirty="0"/>
          </a:p>
        </p:txBody>
      </p:sp>
      <p:sp>
        <p:nvSpPr>
          <p:cNvPr id="14" name="on:k8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Boolean  –  Two states.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C# method converts "12" into a whole number?</a:t>
            </a:r>
            <a:endParaRPr lang="en-US" sz="1700" dirty="0"/>
          </a:p>
        </p:txBody>
      </p:sp>
      <p:sp>
        <p:nvSpPr>
          <p:cNvPr id="7" name="trig:k8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Convert.ToString()</a:t>
            </a:r>
            <a:endParaRPr lang="en-US" sz="1600" dirty="0"/>
          </a:p>
        </p:txBody>
      </p:sp>
      <p:sp>
        <p:nvSpPr>
          <p:cNvPr id="8" name="on:k8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Convert.ToDouble()</a:t>
            </a:r>
            <a:endParaRPr lang="en-US" sz="1600" dirty="0"/>
          </a:p>
        </p:txBody>
      </p:sp>
      <p:sp>
        <p:nvSpPr>
          <p:cNvPr id="10" name="on:k9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Convert.ToInt32()</a:t>
            </a:r>
            <a:endParaRPr lang="en-US" sz="1600" dirty="0"/>
          </a:p>
        </p:txBody>
      </p:sp>
      <p:sp>
        <p:nvSpPr>
          <p:cNvPr id="12" name="on:k9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9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Console.ReadLine()</a:t>
            </a:r>
            <a:endParaRPr lang="en-US" sz="1600" dirty="0"/>
          </a:p>
        </p:txBody>
      </p:sp>
      <p:sp>
        <p:nvSpPr>
          <p:cNvPr id="14" name="on:k9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Convert.ToInt32()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value of 7 / 2 in C# when both are int?</a:t>
            </a:r>
            <a:endParaRPr lang="en-US" sz="1700" dirty="0"/>
          </a:p>
        </p:txBody>
      </p:sp>
      <p:sp>
        <p:nvSpPr>
          <p:cNvPr id="7" name="trig:k9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3.5</a:t>
            </a:r>
            <a:endParaRPr lang="en-US" sz="1600" dirty="0"/>
          </a:p>
        </p:txBody>
      </p:sp>
      <p:sp>
        <p:nvSpPr>
          <p:cNvPr id="8" name="on:k9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on:k9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12" name="on:k9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Error</a:t>
            </a:r>
            <a:endParaRPr lang="en-US" sz="1600" dirty="0"/>
          </a:p>
        </p:txBody>
      </p:sp>
      <p:sp>
        <p:nvSpPr>
          <p:cNvPr id="14" name="on:k9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3  –  Integer division drops the remainder; use (double)7 / 2 for 3.5.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Best data type for a customer's surname?</a:t>
            </a:r>
            <a:endParaRPr lang="en-US" sz="1700" dirty="0"/>
          </a:p>
        </p:txBody>
      </p:sp>
      <p:sp>
        <p:nvSpPr>
          <p:cNvPr id="7" name="trig:k9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Character</a:t>
            </a:r>
            <a:endParaRPr lang="en-US" sz="1600" dirty="0"/>
          </a:p>
        </p:txBody>
      </p:sp>
      <p:sp>
        <p:nvSpPr>
          <p:cNvPr id="8" name="on:k9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String</a:t>
            </a:r>
            <a:endParaRPr lang="en-US" sz="1600" dirty="0"/>
          </a:p>
        </p:txBody>
      </p:sp>
      <p:sp>
        <p:nvSpPr>
          <p:cNvPr id="10" name="on:k9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Real</a:t>
            </a:r>
            <a:endParaRPr lang="en-US" sz="1600" dirty="0"/>
          </a:p>
        </p:txBody>
      </p:sp>
      <p:sp>
        <p:nvSpPr>
          <p:cNvPr id="12" name="on:k9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Boolean</a:t>
            </a:r>
            <a:endParaRPr lang="en-US" sz="1600" dirty="0"/>
          </a:p>
        </p:txBody>
      </p:sp>
      <p:sp>
        <p:nvSpPr>
          <p:cNvPr id="14" name="on:k10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String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Integer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Boolean  – Two states.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Convert.ToInt32()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3  – Integer division drops the remainder; use (double)7 / 2 for 3.5.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String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83" grpId="0">
        <p:bldAsOne/>
      </p:bldGraphic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types; constants and a benefit; sales total and average algorithm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Travel insurance cost algorithm; validation; real data type; WHILE range-check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 and Boolean types; unit testing; test plan; black vs white box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 type, compound AND, IF output, NOT/AND table, bubble sort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Musician hire algorithm; variables and data types; IDE aids; syntax vs logic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Tent hire algorithm; Boolean; constants; validation true/false; Y/N validation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4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84" grpId="0">
        <p:bldAsOne/>
      </p:bldGraphic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D08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Boolean operators and truth tables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AND, OR and NOT operators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Complete truth tables for single and combined expressions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Boolean operators in program conditions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Boolean logi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Boolean logic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AND, OR, NO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AND, OR, NOT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Combined express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Combined expressions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Example: (P OR Q) AND 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Example: (P OR Q) AND R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Boolean operators in 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Boolean operators in code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8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ND, OR and NOT logic gates with their truth tab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AND, OR and NOT logic gates with their truth tables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Boolean logic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Boolean value is True (1) or False (0)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Boolean operators combine or change conditions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They are used in IF statements and loop conditions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truth table shows the output for every combination of inputs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AND, OR, NOT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92826"/>
                <a:gridCol w="1592826"/>
                <a:gridCol w="1858297"/>
                <a:gridCol w="1592826"/>
                <a:gridCol w="15928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 AND 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 OR 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 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89" grpId="0">
        <p:bldAsOne/>
      </p:bldGraphic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Combined expressions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Work in steps: add a column for each part of the expression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NOT (P AND Q): first work out P AND Q, then reverse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(P OR Q) AND R: with 3 inputs there are 2³ = 8 rows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List inputs in binary order: 000, 001, 010, … 111 so no row is missed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Example: (P OR Q) AND 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99411"/>
                <a:gridCol w="1299411"/>
                <a:gridCol w="1299411"/>
                <a:gridCol w="1299411"/>
                <a:gridCol w="30319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 OR Q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(P OR Q) AND 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91" grpId="0">
        <p:bldAsOne/>
      </p:bldGraphic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Boolean operators in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Relational operators make conditions: == != &lt; &gt; &lt;= &gt;=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Boolean operators join them: &amp;&amp; (AND), || (OR), ! (NOT)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Note: = assigns, == compares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Console.Write("Age: 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Convert.ToInt32(Console.ReadLine());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hasTicket = true;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12 &amp;&amp; age &lt;= 16 &amp;&amp; hasTicket)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Console.WriteLine("Welcome to the disco");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(!hasTicket)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Console.WriteLine("Please buy a ticket");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1 AND 1 =</a:t>
            </a:r>
            <a:endParaRPr lang="en-US" sz="1700" dirty="0"/>
          </a:p>
        </p:txBody>
      </p:sp>
      <p:sp>
        <p:nvSpPr>
          <p:cNvPr id="7" name="trig:k10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</a:t>
            </a:r>
            <a:endParaRPr lang="en-US" sz="1600" dirty="0"/>
          </a:p>
        </p:txBody>
      </p:sp>
      <p:sp>
        <p:nvSpPr>
          <p:cNvPr id="8" name="on:k10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on:k10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0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on:k10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</a:t>
            </a:r>
            <a:endParaRPr lang="en-US" sz="1600" dirty="0"/>
          </a:p>
        </p:txBody>
      </p:sp>
      <p:sp>
        <p:nvSpPr>
          <p:cNvPr id="14" name="on:k10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1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0 OR 0 =</a:t>
            </a:r>
            <a:endParaRPr lang="en-US" sz="1700" dirty="0"/>
          </a:p>
        </p:txBody>
      </p:sp>
      <p:sp>
        <p:nvSpPr>
          <p:cNvPr id="7" name="trig:k10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</a:t>
            </a:r>
            <a:endParaRPr lang="en-US" sz="1600" dirty="0"/>
          </a:p>
        </p:txBody>
      </p:sp>
      <p:sp>
        <p:nvSpPr>
          <p:cNvPr id="8" name="on:k10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on:k10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0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True</a:t>
            </a:r>
            <a:endParaRPr lang="en-US" sz="1600" dirty="0"/>
          </a:p>
        </p:txBody>
      </p:sp>
      <p:sp>
        <p:nvSpPr>
          <p:cNvPr id="12" name="on:k10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Error</a:t>
            </a:r>
            <a:endParaRPr lang="en-US" sz="1600" dirty="0"/>
          </a:p>
        </p:txBody>
      </p:sp>
      <p:sp>
        <p:nvSpPr>
          <p:cNvPr id="14" name="on:k10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0  –  OR is false only when both are false.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NOT (1 AND 0) =</a:t>
            </a:r>
            <a:endParaRPr lang="en-US" sz="1700" dirty="0"/>
          </a:p>
        </p:txBody>
      </p:sp>
      <p:sp>
        <p:nvSpPr>
          <p:cNvPr id="7" name="trig:k10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</a:t>
            </a:r>
            <a:endParaRPr lang="en-US" sz="1600" dirty="0"/>
          </a:p>
        </p:txBody>
      </p:sp>
      <p:sp>
        <p:nvSpPr>
          <p:cNvPr id="8" name="on:k10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on:k1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</a:t>
            </a:r>
            <a:endParaRPr lang="en-US" sz="1600" dirty="0"/>
          </a:p>
        </p:txBody>
      </p:sp>
      <p:sp>
        <p:nvSpPr>
          <p:cNvPr id="12" name="on:k1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None</a:t>
            </a:r>
            <a:endParaRPr lang="en-US" sz="1600" dirty="0"/>
          </a:p>
        </p:txBody>
      </p:sp>
      <p:sp>
        <p:nvSpPr>
          <p:cNvPr id="14" name="on:k1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1  –  1 AND 0 = 0, NOT 0 = 1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condition is true only for ages 13 to 19?</a:t>
            </a:r>
            <a:endParaRPr lang="en-US" sz="1700" dirty="0"/>
          </a:p>
        </p:txBody>
      </p:sp>
      <p:sp>
        <p:nvSpPr>
          <p:cNvPr id="7" name="trig:k1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age &gt; 13 || age &lt; 19</a:t>
            </a:r>
            <a:endParaRPr lang="en-US" sz="1600" dirty="0"/>
          </a:p>
        </p:txBody>
      </p:sp>
      <p:sp>
        <p:nvSpPr>
          <p:cNvPr id="8" name="on:k1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age &gt;= 13 &amp;&amp; age &lt;= 19</a:t>
            </a:r>
            <a:endParaRPr lang="en-US" sz="1600" dirty="0"/>
          </a:p>
        </p:txBody>
      </p:sp>
      <p:sp>
        <p:nvSpPr>
          <p:cNvPr id="10" name="on:k1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!(age == 13)</a:t>
            </a:r>
            <a:endParaRPr lang="en-US" sz="1600" dirty="0"/>
          </a:p>
        </p:txBody>
      </p:sp>
      <p:sp>
        <p:nvSpPr>
          <p:cNvPr id="12" name="on:k1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age &gt;= 13 || age &lt;= 19</a:t>
            </a:r>
            <a:endParaRPr lang="en-US" sz="1600" dirty="0"/>
          </a:p>
        </p:txBody>
      </p:sp>
      <p:sp>
        <p:nvSpPr>
          <p:cNvPr id="14" name="on:k1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age &gt;= 13 &amp;&amp; age &lt;= 19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rows for 4 inputs?</a:t>
            </a:r>
            <a:endParaRPr lang="en-US" sz="1700" dirty="0"/>
          </a:p>
        </p:txBody>
      </p:sp>
      <p:sp>
        <p:nvSpPr>
          <p:cNvPr id="7" name="trig:k1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</a:t>
            </a:r>
            <a:endParaRPr lang="en-US" sz="1600" dirty="0"/>
          </a:p>
        </p:txBody>
      </p:sp>
      <p:sp>
        <p:nvSpPr>
          <p:cNvPr id="8" name="on:k1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</a:t>
            </a:r>
            <a:endParaRPr lang="en-US" sz="1600" dirty="0"/>
          </a:p>
        </p:txBody>
      </p:sp>
      <p:sp>
        <p:nvSpPr>
          <p:cNvPr id="10" name="on:k1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</a:t>
            </a:r>
            <a:endParaRPr lang="en-US" sz="1600" dirty="0"/>
          </a:p>
        </p:txBody>
      </p:sp>
      <p:sp>
        <p:nvSpPr>
          <p:cNvPr id="12" name="on:k1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on:k1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16  –  2⁴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OR is false only when both are false.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 AND 0 = 0, NOT 0 = 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age &gt;= 13 &amp;&amp; age &lt;= 19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16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2⁴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98" grpId="0">
        <p:bldAsOne/>
      </p:bldGraphic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Binary, hexadecimal and its uses, binary addition and overflow, logic gates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Q1(a)–(c)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Truth tables for NOT (P AND Q), (P OR Q) AND R; tracing outputs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ASCII acronym and capacity; AND/OR truth table; Unicode vs 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Bit, nibble, byte; denary–binary–hex conversions; binary addition and overflow; truth tables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 type, compound AND, IF output, NOT/AND table, bubble sort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99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data</dc:title>
  <dc:subject>Unit 4: Digital Development Concepts – Digital data</dc:subject>
  <dc:creator>Digital Technology Hub</dc:creator>
  <cp:lastModifiedBy>Digital Technology Hub</cp:lastModifiedBy>
  <cp:revision>1</cp:revision>
  <dcterms:created xsi:type="dcterms:W3CDTF">2026-10-30T13:15:44Z</dcterms:created>
  <dcterms:modified xsi:type="dcterms:W3CDTF">2026-10-30T13:15:44Z</dcterms:modified>
</cp:coreProperties>
</file>