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282cc6f9-0bf2-2c61-eb21-10baefe76b38}">
          <p14:sldIdLst>
            <p14:sldId id="256"/>
            <p14:sldId id="257"/>
            <p14:sldId id="258"/>
          </p14:sldIdLst>
        </p14:section>
        <p14:section name="AP24 · Classes, objects and encapsulation" id="{78fc100c-afa3-bda3-3710-4a40b832b0e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AP25 · Inheritance, polymorphism, evaluating OOP and event-driven programming" id="{66dbb190-d655-6a9d-35ea-e69e21be4012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object-oriented programming terminology: class, object, attribute (property), method (behaviour), constructor and instantiation | Explain the purpose of a method's parameter list and return type | Explain encapsulation and its benefits, including private attributes accessed through get and set methods | Write classes in C#, create objects from them and predict the output of object-oriented code | Represent a class using a class diagram, including visibility symbols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inheritance using the terms superclass (base class) and subclass (derived class), and represent a class hierarchy in a diagram | Write C# subclasses that inherit from a base class, call the base constructor and add their own attributes and methods | Explain polymorphism and implement it by overriding methods (virtual, abstract and override) | Evaluate the object-oriented approach, discussing its advantages and disadvantages | Describe event-driven programming and the use of events, event handlers and controls in a graphical user 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4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6.xml"/><Relationship Id="rId12" Type="http://schemas.openxmlformats.org/officeDocument/2006/relationships/slide" Target="slide18.xml"/><Relationship Id="rId13" Type="http://schemas.openxmlformats.org/officeDocument/2006/relationships/slide" Target="slide20.xml"/><Relationship Id="rId14" Type="http://schemas.openxmlformats.org/officeDocument/2006/relationships/slide" Target="slide22.xml"/><Relationship Id="rId15" Type="http://schemas.openxmlformats.org/officeDocument/2006/relationships/slide" Target="slide24.xml"/><Relationship Id="rId16" Type="http://schemas.openxmlformats.org/officeDocument/2006/relationships/slide" Target="slide25.xml"/><Relationship Id="rId17" Type="http://schemas.openxmlformats.org/officeDocument/2006/relationships/slide" Target="slide2.xml"/><Relationship Id="rId1" Type="http://schemas.openxmlformats.org/officeDocument/2006/relationships/image" Target="../media/image-5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3" Type="http://schemas.openxmlformats.org/officeDocument/2006/relationships/slide" Target="slide37.xml"/><Relationship Id="rId4" Type="http://schemas.openxmlformats.org/officeDocument/2006/relationships/slide" Target="slide38.xml"/><Relationship Id="rId5" Type="http://schemas.openxmlformats.org/officeDocument/2006/relationships/slide" Target="slide39.xml"/><Relationship Id="rId6" Type="http://schemas.openxmlformats.org/officeDocument/2006/relationships/slide" Target="slide41.xml"/><Relationship Id="rId7" Type="http://schemas.openxmlformats.org/officeDocument/2006/relationships/slide" Target="slide42.xml"/><Relationship Id="rId8" Type="http://schemas.openxmlformats.org/officeDocument/2006/relationships/slide" Target="slide44.xml"/><Relationship Id="rId9" Type="http://schemas.openxmlformats.org/officeDocument/2006/relationships/slide" Target="slide46.xml"/><Relationship Id="rId10" Type="http://schemas.openxmlformats.org/officeDocument/2006/relationships/slide" Target="slide47.xml"/><Relationship Id="rId11" Type="http://schemas.openxmlformats.org/officeDocument/2006/relationships/slide" Target="slide49.xml"/><Relationship Id="rId12" Type="http://schemas.openxmlformats.org/officeDocument/2006/relationships/slide" Target="slide50.xml"/><Relationship Id="rId13" Type="http://schemas.openxmlformats.org/officeDocument/2006/relationships/slide" Target="slide51.xml"/><Relationship Id="rId14" Type="http://schemas.openxmlformats.org/officeDocument/2006/relationships/slide" Target="slide52.xml"/><Relationship Id="rId15" Type="http://schemas.openxmlformats.org/officeDocument/2006/relationships/slide" Target="slide54.xml"/><Relationship Id="rId16" Type="http://schemas.openxmlformats.org/officeDocument/2006/relationships/slide" Target="slide2.xml"/><Relationship Id="rId1" Type="http://schemas.openxmlformats.org/officeDocument/2006/relationships/image" Target="../media/image-35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Object-oriented programming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AP24  Classes, objects and encapsulation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AP25  Inheritance, polymorphism, evaluating OOP and event-driven programming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AP24  Classes, objects and encapsul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AP24  Classes, objects and encapsulation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AP25  Inheritance, polymorphism, evaluating OOP and event-driven program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AP25  Inheritance, polymorphism, evaluating OOP and event-driven programming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object-oriented programming terminology: class, object, attribute (property), method (behaviour), constructor and instantiation; Explain the purpose of a method's parameter list and return type; Explain encapsulation and its benefits, including private attributes accessed through get and set methods; Write classes in C#, create objects from them and predict the output of object-oriented code; Represent a class using a class diagram, including visibility symbols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inheritance using the terms superclass (base class) and subclass (derived class), and represent a class hierarchy in a diagram; Write C# subclasses that inherit from a base class, call the base constructor and add their own attributes and methods; Explain polymorphism and implement it by overriding methods (virtual, abstract and override); Evaluate the object-oriented approach, discussing its advantages and disadvantages; Describe event-driven programming and the use of events, event handlers and controls in a graphical user 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AP24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Classes, objects and encapsulation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class, object, attribute, method and constructor, and explain how a class relates to its objects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encapsulation and decide which attributes need get methods, set methods or both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a C# class with private attributes, a constructor and methods, then instantiate and use objects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Trace object-oriented code to predict its output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Draw and interpret a class diagram using +, - and # visibility symbols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Object-oriented program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Object-oriented programming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Classes and objec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Classes and objects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Attributes, methods, constructors and proper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Attributes, methods, constructors and properties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orked example: two objects, one cla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two objects, one class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Methods and parameter li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 and parameter lists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Encapsul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Encapsulation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Get and set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and set methods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orked example: a bike-share Bike cla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bike-share Bike class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orked example: tracing the Bike progr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tracing the Bike program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Protecting state: an Account cla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Protecting state: an Account class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Several objects, one cla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Several objects, one class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Properties: C#'s getters and set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Properties: C#'s getters and setters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Class diagra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 diagrams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Class diagram of an Account class with private attribute and public methods, and two objects instantiated from it with their own st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Class diagram of an Account class with private attribute and public methods, and two objects instantiated from it with their own state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Object-oriented programming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Object-oriented programming (OOP) is a paradigm that builds programs from objects which combine data and the code that acts on that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Objects are modelled on real-life entities: a pupil, a library book, a hire bike, a bank account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procedural programming, data and subroutines are kept separate; in OOP each object looks after its own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two basic building blocks are classes and objects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C# is an object-oriented language: even a simple console program uses classes such as Console and string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Classes and objects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class is a template (blueprint) that defines the attributes and methods every object of that type will have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object is a specific instance of a class, e.g. class Person, object 'Siobhán Doherty'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Creating an object from a class is called instantiation; C# uses the new keyword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Many objects can be built from one class, each with its own attribute values (its state)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By convention class names start with a capital letter: Bike, Book, Patient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Attributes, methods, constructors and properties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37549"/>
                <a:gridCol w="4948177"/>
                <a:gridCol w="234387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Bike 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Attribute (field)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variable belonging to an object that holds part of its data; each has a 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bikeId, dock, battery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Method (behaviour)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subroutine defined in the class describing an action the object can carry out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Ride(), Report()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Constructor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special method with the class's name and no return type, run by new to set the starting state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Bike(string id, string startDock, int charge)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Get / set 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Public methods that read (get) or change (set) a private attribute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GetBikeId()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Property (C#)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member with get and/or set blocks giving controlled access to a private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public int Age { get; set; }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two objects, one class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89809"/>
                <a:gridCol w="841664"/>
                <a:gridCol w="2712027"/>
                <a:gridCol w="30861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Object b1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Object b2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bikeId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"BK101"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"BK102"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dock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"City Hall"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"Titanic Quarter"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battery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Methods available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Ride(), Report(), GetBikeId()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Ride(), Report(), GetBikeId()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Key idea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Own copy of every attribute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Same method code, different state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Methods and parameter lists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method header gives the access modifier, return type, name and parameter list: public void SetDock(string newDock)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parameter list states what extra data the method needs; every call must supply matching arguments, e.g. SetDock("Botanic")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method that needs nothing extra has an empty parameter list: GetBattery()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void means the method performs an action and returns nothing; int, string, bool etc. mean it returns a value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Methods are called with dot notation: objectName.MethodName(arguments)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Encapsulation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Encapsulation bundles an object's data and the methods that act on it into one class, and hides the internal details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Attributes are declared private so outside code cannot change them directly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can only be read or changed through public methods, so the class controls and validates every change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internal workings can be changed later without affecting code that uses the class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Related code stays in one place, so programmers using the class need only know its public interface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Get and set methods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get method (getter) returns the current value of a private attribute, e.g. GetBikeId()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set method (setter) takes the new value as a parameter and changes the attribute, e.g. SetPhone(string newPhone)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 setter means read-only: a membership number or National Insurance number should never change once allocated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setter can validate data, e.g. reject a mark above 100, so the object can never hold invalid values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setter can also handle side effects, e.g. logging a change of address, so calling code does not have to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bike-share Bike class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Three private attributes; one constructor; a getter with no matching setter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Ride() checks there is enough charge before changing any data – the object protects its own state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bike-share Bike class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Bike b1 = new Bike("BK101", "City Hall", 80);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Bike b2 = new Bike("BK102", "Titanic Quarter", 35);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b1.Ride(12, "Queen's University");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b2.Ride(40, "City Hall");             // refused: not enough charge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Console.WriteLine(b1.Report());       // BK101 at Queen's University, battery 68%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Console.WriteLine(b2.Report());       // BK102 at Titanic Quarter, battery 35%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Bike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bikeId;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dock;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battery;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Bike(string id, string startDock, int charge) { bikeId = id; dock = startDock; battery = charge;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GetBikeId() { return bikeId; }     // getter only: ID never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Ride(int minutes, string endDock)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(minutes &gt; battery) return;              // 1% charge per minute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battery -= minutes; dock = endDock;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Report() { return bikeId + " at " + dock + ", battery " + battery + "%";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tracing the Bike program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54014"/>
                <a:gridCol w="1248629"/>
                <a:gridCol w="2156723"/>
                <a:gridCol w="22702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b1 (dock, battery)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b2 (dock, battery)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b1 = new Bike("BK101", "City Hall", 80)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City Hall, 80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b2 = new Bike("BK102", "Titanic Quarter", 35)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City Hall, 80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Titanic Quarter, 35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b1.Ride(12, "Queen's University")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Queen's University, 68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Titanic Quarter, 35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b2.Ride(40, "City Hall")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Queen's University, 68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Titanic Quarter, 35 (40 &gt; 35, refused)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WriteLine(b1.Report())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unchanged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unchanged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BK101 at Queen's University, battery 68%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7" grpId="0">
        <p:bldAsOne/>
      </p:bldGraphic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tracing the Bike program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54014"/>
                <a:gridCol w="1248629"/>
                <a:gridCol w="2156723"/>
                <a:gridCol w="22702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b1 (dock, battery)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b2 (dock, battery)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WriteLine(b2.Report())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unchanged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unchanged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BK102 at Titanic Quarter, battery 35%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Protecting state: an Account class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private double balance cannot be altered from outside – only Deposit and Withdraw can change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Withdraw returns a bool so the caller knows whether it worked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Owner { get; private set; } can be read anywhere but only set inside the class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Protecting state: an Account class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acc = new Account("Ciara", 50);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acc.Deposit(25);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(!acc.Withdraw(100)) Console.WriteLine("Insufficient funds");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Console.WriteLine(acc.Owner + ": £" + acc.GetBalance());   // Ciara: £75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balance;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Owner { get; private set;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Account(string owner, double opening) { Owner = owner; balance = opening; }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Deposit(double amount) { if (amount &gt; 0) balance += amount;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 Withdraw(double amount)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(amount &lt;= 0 || amount &gt; balance) return false;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balance -= amount;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GetBalance() { return balance;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Several objects, one class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object has its own copy of the instance fields, so changing one object does not affect another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static field belongs to the class itself and is shared by all objects – here it counts instances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this refers to the current object, used when a parameter has the same name as a field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Several objects, one class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Pupil a = new Pupil("Aoife", 72);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Pupil b = new Pupil("Ben", 58);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a.AddBonus(5);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Console.WriteLine(a.Describe());     // Aoife: 77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Console.WriteLine(b.Describe());     // Ben: 58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Console.WriteLine(Pupil.Count);      // 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Pupil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name;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mark;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int Count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Pupil(string name, int mark) { this.name = name; this.mark = mark; Count++;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AddBonus(int extra) { if (mark + extra &lt;= 100) mark += extra;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Describe() { return name + ": " + mark;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Properties: C#'s getters and setters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property wraps a private field with a get block and a set block; value is the new value being assigned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set block can validate: an age of -3 is ignored, so the object keeps a valid 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Leaving out set (or making it private set) gives read-only access from outside the class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Properties: C#'s getters and setters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t = new Ticket();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t.Age = 15;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t.Age = -3;                                     // rejected by the setter: stays 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Console.WriteLine(t.Age + " " + t.Price());     // 15 4.5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age;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 { return age;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{ if (value &gt;= 0 &amp;&amp; value &lt;= 120) age = value;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Price() { return age &lt; 16 ? 4.50 : 7.00;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Class diagrams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546088"/>
                <a:gridCol w="4683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Bike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- bikeId : 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Attributes compartment: - means private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- dock : string   - battery : 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attribute is shown with its 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+ Bike(id : string, startDock : string, charge : int)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Methods compartment: constructor has the class name and no return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+ GetBikeId() : 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+ means public; a getter with no setter makes bikeId read-only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+ Ride(minutes : int, endDock : string) : void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Parameters with types, then the return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+ Report() : 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# would mean protected (visible to derived classes)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object-oriented programming, what is the relationship between a class and an object?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An object is a template from which classes are built</a:t>
            </a:r>
            <a:endParaRPr lang="en-US" sz="125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class is a template, and an object is a specific instance created from it</a:t>
            </a:r>
            <a:endParaRPr lang="en-US" sz="125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class and an object are two names for the same thing</a:t>
            </a:r>
            <a:endParaRPr lang="en-US" sz="125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class stores data while an object stores only methods</a:t>
            </a:r>
            <a:endParaRPr lang="en-US" sz="125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A class is a template, and an object is a specific instance created from it  –  The class defines the attributes and methods; each object built from it has its own attribute values.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Patient class has a private attribute hospitalNumber with a get method but no set method. What is the effect?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Other code can never see the hospital number</a:t>
            </a:r>
            <a:endParaRPr lang="en-US" sz="14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program will not compile without a setter</a:t>
            </a:r>
            <a:endParaRPr lang="en-US" sz="14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Other code can read the hospital number but cannot change it</a:t>
            </a:r>
            <a:endParaRPr lang="en-US" sz="14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Any code can change the hospital number directly</a:t>
            </a:r>
            <a:endParaRPr lang="en-US" sz="14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Other code can read the hospital number but cannot change it  –  A getter alone makes the attribute read-only from outside the class, which suits identifiers that must never change.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keyword is used to create an object in C#?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class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static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void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new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new  –  new allocates the object and calls its constructor.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a class diagram, what does '- battery : int' show?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private attribute called battery of type integer</a:t>
            </a:r>
            <a:endParaRPr lang="en-US" sz="14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public method that returns an integer</a:t>
            </a:r>
            <a:endParaRPr lang="en-US" sz="14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protected attribute</a:t>
            </a:r>
            <a:endParaRPr lang="en-US" sz="14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constructor parameter</a:t>
            </a:r>
            <a:endParaRPr lang="en-US" sz="14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A private attribute called battery of type integer  –  - means private and the data type follows the colon.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correctly describes a constructor in C#?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method that must return void</a:t>
            </a:r>
            <a:endParaRPr lang="en-US" sz="125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method with the same name as the class and no return type, which initialises a new object</a:t>
            </a:r>
            <a:endParaRPr lang="en-US" sz="125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Any method that changes the value of an attribute</a:t>
            </a:r>
            <a:endParaRPr lang="en-US" sz="125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method that deletes an object when it is no longer needed</a:t>
            </a:r>
            <a:endParaRPr lang="en-US" sz="125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A method with the same name as the class and no return type, which initialises a new object  –  It runs automatically when new is used and sets the object's starting state.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 the empty brackets in GetBattery() show?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method is private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method returns nothing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method needs no parameters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method is a constructor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The method needs no parameters  –  An empty parameter list means no extra information is supplied when the method is called.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best describes encapsulation?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Bundling data with the methods that act on it and hiding the data so it is only accessed through those methods</a:t>
            </a:r>
            <a:endParaRPr lang="en-US" sz="125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Creating a new class from an existing one</a:t>
            </a:r>
            <a:endParaRPr lang="en-US" sz="125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Giving several methods the same name</a:t>
            </a:r>
            <a:endParaRPr lang="en-US" sz="125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Storing all data in public variables so it is easy to reach</a:t>
            </a:r>
            <a:endParaRPr lang="en-US" sz="125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Bundling data with the methods that act on it and hiding the data so it is only accessed through those methods  –  Encapsulation = data and methods together in a class, with the data hidden (private).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Two Bike objects, b1 and b2, are created from the same class. Which statement is true?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They share one battery attribute</a:t>
            </a:r>
            <a:endParaRPr lang="en-US" sz="14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Changing b1's dock also changes b2's dock</a:t>
            </a:r>
            <a:endParaRPr lang="en-US" sz="14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Only the first object created can call Ride()</a:t>
            </a:r>
            <a:endParaRPr lang="en-US" sz="14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Each object has its own values for the instance attributes</a:t>
            </a:r>
            <a:endParaRPr lang="en-US" sz="14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Each object has its own values for the instance attributes  –  Objects share the class's method code but each holds its own state.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class is a template, and an object is a specific instance created from 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class defines the attributes and methods; each object built from it has its own attribute values.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Other code can read the hospital number but cannot change 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getter alone makes the attribute read-only from outside the class, which suits identifiers that must never change.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new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new allocates the object and calls its constructor.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 private attribute called battery of type integer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- means private and the data type follows the colon.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method with the same name as the class and no return type, which initialises a new object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runs automatically when new is used and sets the object's starting state.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method needs no parameters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 empty parameter list means no extra information is supplied when the method is called.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Bundling data with the methods that act on it and hiding the data so it is only accessed through those methods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Encapsulation = data and methods together in a class, with the data hidden (private).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Each object has its own values for the instance attributes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Objects share the class's method code but each holds its own state.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4" grpId="0">
        <p:bldAsOne/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AP25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Inheritance, polymorphism, evaluating OOP and event-driven programming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inheritance and work out which attributes and methods a subclass object has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a C# subclass that calls the base constructor, adds members and overrides a virtual method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polymorphism lets one method call behave differently for different objects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the usefulness of object-oriented programming for a given application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event-driven GUI programs respond to events using handlers and controls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Inherit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Inheritance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Inheritance ter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Inheritance terms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orked example: a GAA club membership syst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GAA club membership system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orked example: the club's class hierarch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the club's class hierarchy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Abstract clas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Abstract classes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Polymorphism with virtual and overr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Polymorphism with virtual and override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Overriding and overload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Overriding and overloading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Advantages and disadvantages of OO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Advantages and disadvantages of OOP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Evaluating OOP for an appl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OOP for an application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Event-driven program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Event-driven programming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GUI contro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 controls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An event handler (Windows Form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 event handler (Windows Forms)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Inheritance hierarchy with Car and Lorry deriving from Vehicle and Lorry overriding Toll, beside an event-driven cycle of event loop, event, handler and upd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Inheritance hierarchy with Car and Lorry deriving from Vehicle and Lorry overriding Toll, beside an event-driven cycle of event loop, event, handler and update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Inheritance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Inheritance lets a new, more specialised class take on the attributes and methods of an existing, more general class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general class is the superclass (base or parent class); the specialised class is the subclass (derived or child class)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subclass usually adds attributes and methods of its own and may redefine (override) inherited behaviour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models an 'is a' relationship: a Junior is a Member; a Bus is a Vehicle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Common code is written and tested once in the superclass, then reused by every subclass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Inheritance terms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85041"/>
                <a:gridCol w="5383272"/>
                <a:gridCol w="136128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C# 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Superclass / base class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general class whose members are inherited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class Member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Subclass / derived class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specialised class that inherits from the base class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class Junior : Member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protected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Accessible inside the class and its subclasses, hidden from other code (# in a diagram)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protected string name;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Base constructor call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subclass constructor passes values up to the superclass's constructor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: base(no, 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Class hierarchy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Tree of classes with the most general at the top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Member → Junior, Adult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9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GAA club membership system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Junior inherits memberNo, name, GetMemberNo() and GetName() from Member, and adds guardianPhone and Contact()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Private memberNo is inherited but can only be reached through GetMemberNo(); protected name can be used directly in Junior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Fee() is virtual in Member (adult fee £120) and overridden in Junior (£40)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a GAA club membership system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Junior j = new Junior(101, "Orla", "07700 900123");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Console.WriteLine(j.GetName() + " " + j.GetMemberNo());   // Orla 101 (inherited)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Console.WriteLine(j.Fee());                                // 40 (overridden)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Console.WriteLine(j.Contact());                            // Orla, guardian 07700 900123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Member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memberNo;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string 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Member(int no, string n) { memberNo = no; name = n;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GetMemberNo() { return memberNo; }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GetName() { return name;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virtual double Fee() { return 120;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Junior : Member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guardianPhone;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Junior(int no, string n, string phone) : base(no, n) { guardianPhone = phone;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Contact() { return name + ", guardian " + guardianPhone;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double Fee() { return 40;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the club's class hierarchy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35513"/>
                <a:gridCol w="2125526"/>
                <a:gridCol w="3324540"/>
                <a:gridCol w="174402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Own attributes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Own methods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Total attributes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Member (superclass)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- memberNo : int, # name : 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+ GetMemberNo() : int, + GetName() : string, + Fee() : double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Junior (subclass)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- guardianPhone : 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+ Contact() : string, + Fee() : double (override)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(2 inherited + 1)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Adult (subclass)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- playing : bool, - occupation : 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+ IsPlaying() : bool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 (2 inherited + 2)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Diagram rule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Subclass boxes sit below the superclass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line with a hollow arrowhead points up to the superclass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Attributes accumulate going down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2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Abstract classes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abstract class cannot be instantiated: every object must be created from one of its subclasses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abstract method has a header but no body; each subclass must override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Useful when the superclass is only a general idea, e.g. every ticket sold is either an Adult or a Child ticket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Abstract classes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System.Collections.Generic;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Ticket t = new Ticket();   would not compile: Ticket is abstract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List&lt;Ticket&gt; sales = new List&lt;Ticket&gt; { new Adult(), new Child(), new Child()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total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(Ticket t in sales) total += t.Price();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Console.WriteLine("Total: £" + total.ToString("F2"));   // Total: £17.00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Ticket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abstract double Price();      // no body: every subclass must override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Adult : Ticket { public override double Price() { return 8.00; }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Child : Ticket { public override double Price() { return 4.50; } }</a:t>
            </a:r>
            <a:endParaRPr lang="en-US" sz="12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Polymorphism with virtual and override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Polymorphism ('many forms') means the same method call behaves differently depending on the class of the object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base class marks a method virtual (or abstract); a subclass provides its own version with override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List&lt;Vehicle&gt; can hold Cars and Lorries; calling Toll() on each runs the correct version at run time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Polymorphism with virtual and override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System.Collections.Generic;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List&lt;Vehicle&gt; queue = new List&lt;Vehicle&gt;();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queue.Add(new Car("LGZ 1234"));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queue.Add(new Lorry("AXI 987", 3));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(Vehicle v in queue)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Console.WriteLine(v.reg + ": £" + v.Toll().ToString("F2"));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LGZ 1234: £2.00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AXI 987: £9.50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Vehicle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reg;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virtual double Toll() { return 2.00;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 : Vehicle { public Car(string r) { reg = r;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Lorry : Vehicle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axles;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Lorry(string r, int a) { reg = r; axles = a;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override double Toll() { return 5.00 + axles * 1.50;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Overriding and overloading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09600"/>
                <a:gridCol w="3759200"/>
                <a:gridCol w="386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Overriding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Overloading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subclass redefines an inherited method with the same name and parameters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Several methods in one class share a name but have different parameter lists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When decided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 run time, from the object's actual class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 compile time, from the arguments given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C# keywords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virtual or abstract in the base, override in the subclass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None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Lorry.Toll() replaces Vehicle.Toll()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Area(double r) and Area(double w, double h)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7" grpId="0">
        <p:bldAsOne/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Advantages and disadvantages of OOP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31673"/>
                <a:gridCol w="41979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More accurate modelling: classes mirror real-world entities and their behaviour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 suited to every problem: abstract or purely computational tasks do not map naturally onto objects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Code reuse: subclasses inherit attributes and methods; class libraries are reused across projects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Larger, more complex designs that take longer to plan and learn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Less testing: only new or overridden methods in a subclass need fresh testing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use more memory and processing than a simple procedural program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Encapsulation protects data and reduces unintended side effects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Deep inheritance hierarchies are hard to follow; a change to a base class affects every subclass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Modular: classes developed and tested independently by different team members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Overkill for small, simple programs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8" grpId="0">
        <p:bldAsOne/>
      </p:bldGraphic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Advantages and disadvantages of OOP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31673"/>
                <a:gridCol w="41979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Easier maintenance: internals of a class change without affecting code that uses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Poor class design early on is costly to fix later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9" grpId="0">
        <p:bldAsOne/>
      </p:bldGraphic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OOP for an application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OOP is strongest where the problem contains many interacting things with state: games, simulations, CAD/CAM and engineering design, GUIs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Large team projects benefit from classes with clear interfaces that can be built and tested separately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For a short script or a straightforward batch process, such as totalling a file of figures, a procedural approach can be quicker and just as clear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Most modern languages (C#, Java, Python) support both styles, so the choice is about fit, not availability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An evaluation should weigh both sides against the specific context and reach a justified conclusion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Event-driven programming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 an event-driven program, the flow is determined by events: user actions (click, key press), system events (timer tick, file arrives) or messages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program waits in an event loop; when an event occurs, the matching event handler (a subroutine) runs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Event handlers are attached to controls, such as btnCalculate.Click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Contrast with a sequential procedural program, where the program decides the order of steps from start to finish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Used for GUIs, games, mobile apps and embedded systems such as alarm sensors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GUI controls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07941"/>
                <a:gridCol w="3914078"/>
                <a:gridCol w="21075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Typical event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Button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Start an action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Click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TextBox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Enter or display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TextChanged, KeyPress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Label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Display fixed text or results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(rarely handled)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CheckBox / RadioButton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Yes/no option / one choice from a group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CheckedChanged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ComboBox / ListBox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Choose from a list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SelectedIndexChanged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Timer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Run code at regular intervals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Tick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2" grpId="0">
        <p:bldAsOne/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An event handler (Windows Forms)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Visual Studio generates the handler when a control is double-clicked in the form designer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Controls are objects: they have properties (Text, Enabled, Visible), methods and events – GUIs are built with 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This code needs a Windows Forms project, so it cannot run in the hub's console interpreter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An event handler (Windows Forms)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C# Windows Forms – runs in a form, not the console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btnCalculate_Click(object sender, EventArgs 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(int.TryParse(txtHours.Text, out int hours))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lblCost.Text = "Cost: £" + (hours * 12);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lblCost.Text = "Enter a whole number of hours";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meant by inheritance in object-oriented programming?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Hiding an object's data so it can only be changed through methods</a:t>
            </a:r>
            <a:endParaRPr lang="en-US" sz="125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new, more specialised class taking on the attributes and methods of an existing class</a:t>
            </a:r>
            <a:endParaRPr lang="en-US" sz="125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Several methods in one class sharing the same name</a:t>
            </a:r>
            <a:endParaRPr lang="en-US" sz="125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Creating an object from a class using new</a:t>
            </a:r>
            <a:endParaRPr lang="en-US" sz="125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A new, more specialised class taking on the attributes and methods of an existing class  –  The subclass inherits from the superclass and can add or modify members. The other options describe encapsulation, overloading and instantiation.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Smartwatch subclass inherits three attributes from a Device superclass and adds heartRateSensor and strapSize. How many attributes does a Smartwatch object have?</a:t>
            </a:r>
            <a:endParaRPr lang="en-US" sz="15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5  –  Attributes accumulate down the hierarchy: 3 inherited + 2 of its own = 5.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shows Lorry inheriting from Vehicle in C#?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class Vehicle : Lorry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class Lorry extends Vehicle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class Lorry inherits Vehicle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class Lorry : Vehicle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class Lorry : Vehicle  –  C# uses a colon after the subclass name; extends is Java.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keyword allows a base-class method to be overridden but does not force it?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virtual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static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private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abstract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virtual  –  virtual allows overriding; abstract forces every subclass to provide an override.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polymorphism?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Creating many objects from one class</a:t>
            </a:r>
            <a:endParaRPr lang="en-US" sz="125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Hiding data in a class</a:t>
            </a:r>
            <a:endParaRPr lang="en-US" sz="125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same method call behaving differently depending on the object's class</a:t>
            </a:r>
            <a:endParaRPr lang="en-US" sz="125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Having several constructors</a:t>
            </a:r>
            <a:endParaRPr lang="en-US" sz="125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The same method call behaving differently depending on the object's class  –  'Many forms' of one method, chosen at run time from the object's actual class.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credit union system has an Account superclass, and every real account is either a SavingsAccount or a LoanAccount. Why might Account be declared abstract?</a:t>
            </a:r>
            <a:endParaRPr lang="en-US" sz="15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So that its attributes are public</a:t>
            </a:r>
            <a:endParaRPr lang="en-US" sz="125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So that every object must be created as a specific type of account, such as SavingsAccount or LoanAccount</a:t>
            </a:r>
            <a:endParaRPr lang="en-US" sz="125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So that it runs faster</a:t>
            </a:r>
            <a:endParaRPr lang="en-US" sz="125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So that subclasses cannot inherit its methods</a:t>
            </a:r>
            <a:endParaRPr lang="en-US" sz="125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So that every object must be created as a specific type of account, such as SavingsAccount or LoanAccount  –  An abstract class cannot be instantiated, so only its concrete subclasses can be used to create objects.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the object-oriented approach?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Code reuse through inheritance</a:t>
            </a:r>
            <a:endParaRPr lang="en-US" sz="125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More accurate modelling of real-world entities</a:t>
            </a:r>
            <a:endParaRPr lang="en-US" sz="125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Easier maintenance</a:t>
            </a:r>
            <a:endParaRPr lang="en-US" sz="125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does not suit very abstract problems that have no obvious real-world objects</a:t>
            </a:r>
            <a:endParaRPr lang="en-US" sz="125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It does not suit very abstract problems that have no obvious real-world objects  –  The other three are advantages.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example of an event?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button being clicked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variable being declared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class being written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constant being defined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A button being clicked  –  Events are actions or occurrences detected by the running program.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new, more specialised class taking on the attributes and methods of an existing class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subclass inherits from the superclass and can add or modify members. The other options describe encapsulation, overloading and instantiation.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Attributes accumulate down the hierarchy: 3 inherited + 2 of its own = 5.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class Lorry : Vehicle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C# uses a colon after the subclass name; extends is Java.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virtual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virtual allows overriding; abstract forces every subclass to provide an override.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same method call behaving differently depending on the object's class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'Many forms' of one method, chosen at run time from the object's actual class.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So that every object must be created as a specific type of account, such as SavingsAccount or LoanAccount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 abstract class cannot be instantiated, so only its concrete subclasses can be used to create objects.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It does not suit very abstract problems that have no obvious real-world objects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other three are advantages.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 button being clicked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Events are actions or occurrences detected by the running program.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3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subject>AS 1: Approaches to Systems Development – Object-oriented programming</dc:subject>
  <dc:creator>Digital Technology Hub</dc:creator>
  <cp:lastModifiedBy>Digital Technology Hub</cp:lastModifiedBy>
  <cp:revision>1</cp:revision>
  <dcterms:created xsi:type="dcterms:W3CDTF">2026-10-30T13:16:02Z</dcterms:created>
  <dcterms:modified xsi:type="dcterms:W3CDTF">2026-10-30T13:16:02Z</dcterms:modified>
</cp:coreProperties>
</file>