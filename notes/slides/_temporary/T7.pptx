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overview" id="{083d1555-ba7a-2fbd-3861-35fae8b39a9f}">
          <p14:sldIdLst>
            <p14:sldId id="256"/>
            <p14:sldId id="257"/>
            <p14:sldId id="258"/>
          </p14:sldIdLst>
        </p14:section>
        <p14:section name="L18 · Cybercrime and malware" id="{ab0425d3-6342-b8fb-9c8d-860bdfdbf77c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L19 · Protecting networks and data; protocols" id="{b15f47b6-ee81-c6e8-62eb-832330e76a7c}">
          <p14:sldIdLst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lesson below is its own section in PowerPoint (View → Slide Sorter shows them). To split this deck by specification point, right-click a section → Move Section, or delete the sections you do not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Define the term cybercrime and give examples of threats to cybersecurity, including hacking, pornography, cyber stalking, data theft, denial of service, digital forgery, cyber defamation, spamming and phishing | Define the term malware and describe the following forms of malware: virus, Trojan horse, worm, key logger and spyware | Describe how malware can get onto a computer system and how anti-virus software helps to prevent 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Explain how networks and data can be protected using encryption, passwords, levels of access, backup and firewalls | Describe the role of a protocol in data transfer | Describe the purpose of the following protocols: File Transfer Protocol (FTP), HyperText Transfer Protocol (HTTP) and HyperText Transfer Protocol Secure (HTTPS)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5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150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75E"/>
                </a:solidFill>
              </a:rPr>
              <a:t>CCEA GCSE Digital Technology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83080"/>
            <a:ext cx="78638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4ECE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28.xml"/><Relationship Id="rId1" Type="http://schemas.openxmlformats.org/officeDocument/2006/relationships/image" Target="../media/image-2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" Target="slide12.xml"/><Relationship Id="rId9" Type="http://schemas.openxmlformats.org/officeDocument/2006/relationships/slide" Target="slide13.xml"/><Relationship Id="rId10" Type="http://schemas.openxmlformats.org/officeDocument/2006/relationships/slide" Target="slide14.xml"/><Relationship Id="rId11" Type="http://schemas.openxmlformats.org/officeDocument/2006/relationships/slide" Target="slide15.xml"/><Relationship Id="rId12" Type="http://schemas.openxmlformats.org/officeDocument/2006/relationships/slide" Target="slide16.xml"/><Relationship Id="rId13" Type="http://schemas.openxmlformats.org/officeDocument/2006/relationships/slide" Target="slide17.xml"/><Relationship Id="rId14" Type="http://schemas.openxmlformats.org/officeDocument/2006/relationships/slide" Target="slide18.xml"/><Relationship Id="rId15" Type="http://schemas.openxmlformats.org/officeDocument/2006/relationships/slide" Target="slide2.xml"/><Relationship Id="rId1" Type="http://schemas.openxmlformats.org/officeDocument/2006/relationships/image" Target="../media/image-5-1.png"/><Relationship Id="rId16" Type="http://schemas.openxmlformats.org/officeDocument/2006/relationships/slideLayout" Target="../slideLayouts/slideLayout3.xml"/><Relationship Id="rId1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3" Type="http://schemas.openxmlformats.org/officeDocument/2006/relationships/slide" Target="slide31.xml"/><Relationship Id="rId4" Type="http://schemas.openxmlformats.org/officeDocument/2006/relationships/slide" Target="slide32.xml"/><Relationship Id="rId5" Type="http://schemas.openxmlformats.org/officeDocument/2006/relationships/slide" Target="slide33.xml"/><Relationship Id="rId6" Type="http://schemas.openxmlformats.org/officeDocument/2006/relationships/slide" Target="slide34.xml"/><Relationship Id="rId7" Type="http://schemas.openxmlformats.org/officeDocument/2006/relationships/slide" Target="slide35.xml"/><Relationship Id="rId8" Type="http://schemas.openxmlformats.org/officeDocument/2006/relationships/slide" Target="slide36.xml"/><Relationship Id="rId9" Type="http://schemas.openxmlformats.org/officeDocument/2006/relationships/slide" Target="slide37.xml"/><Relationship Id="rId10" Type="http://schemas.openxmlformats.org/officeDocument/2006/relationships/slide" Target="slide38.xml"/><Relationship Id="rId11" Type="http://schemas.openxmlformats.org/officeDocument/2006/relationships/slide" Target="slide39.xml"/><Relationship Id="rId12" Type="http://schemas.openxmlformats.org/officeDocument/2006/relationships/slide" Target="slide40.xml"/><Relationship Id="rId13" Type="http://schemas.openxmlformats.org/officeDocument/2006/relationships/slide" Target="slide41.xml"/><Relationship Id="rId14" Type="http://schemas.openxmlformats.org/officeDocument/2006/relationships/slide" Target="slide42.xml"/><Relationship Id="rId15" Type="http://schemas.openxmlformats.org/officeDocument/2006/relationships/slide" Target="slide43.xml"/><Relationship Id="rId16" Type="http://schemas.openxmlformats.org/officeDocument/2006/relationships/slide" Target="slide2.xml"/><Relationship Id="rId1" Type="http://schemas.openxmlformats.org/officeDocument/2006/relationships/image" Target="../media/image-29-1.pn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3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3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3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3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3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3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3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3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3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4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4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4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4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4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4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4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4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4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4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5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5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5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1: DIGITAL TECHNOLOGY  ·  TOPIC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Cyberspace, network security and data transfer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Lessons in this topic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L18  Cybercrime and malware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L19  Protecting networks and data; protocols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Topic menu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Specificati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Specification map</a:t>
            </a:r>
            <a:endParaRPr lang="en-US" sz="1500" dirty="0"/>
          </a:p>
        </p:txBody>
      </p:sp>
      <p:sp>
        <p:nvSpPr>
          <p:cNvPr id="7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3" action="ppaction://hlinksldjump" tooltip="L18  Cybercrime and malwa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L18  Cybercrime and malware</a:t>
            </a:r>
            <a:endParaRPr lang="en-US" sz="1500" dirty="0"/>
          </a:p>
        </p:txBody>
      </p:sp>
      <p:sp>
        <p:nvSpPr>
          <p:cNvPr id="8" name="btn">
            <a:hlinkClick r:id="rId4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hlinkClick r:id="rId4" action="ppaction://hlinksldjump" tooltip="L19  Protecting networks and data; protocol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L19  Protecting networks and data; protocols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L18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Define the term cybercrime and give examples of threats to cybersecurity, including hacking, pornography, cyber stalking, data theft, denial of service, digital forgery, cyber defamation, spamming and phishing; Define the term malware and describe the following forms of malware: virus, Trojan horse, worm, key logger and spyware; Describe how malware can get onto a computer system and how anti-virus software helps to prevent 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L19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Explain how networks and data can be protected using encryption, passwords, levels of access, backup and firewalls; Describe the role of a protocol in data transfer; Describe the purpose of the following protocols: File Transfer Protocol (FTP), HyperText Transfer Protocol (HTTP) and HyperText Transfer Protocol Secure (HTTPS)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7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1: DIGITAL TECHNOLOGY  ·  L18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Cybercrime and malware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Define cybercrime and describe each of the nine threats to cybersecurity in the specification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Recognise the threat being described in a scenario and explain its effect on a person or organisation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Define malware and describe how it gets onto a computer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Distinguish between a virus, worm, Trojan horse, key logger and spyware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how anti-virus software protects a computer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9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11818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What is cybercrime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cybercrime?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297757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Threats to cybersecurity (1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Threats to cybersecurity (1)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2783695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Threats to cybersecurity (2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Threats to cybersecurity (2)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269633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Why these threats matt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these threats matter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3755571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Worked example: spot the phish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spot the phishing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57200" y="4241510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8" action="ppaction://hlinksldjump" tooltip="What is malware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malware?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1325880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9" action="ppaction://hlinksldjump" tooltip="Forms of malwa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Forms of malware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1811818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10" action="ppaction://hlinksldjump" tooltip="Virus vs worm vs Trojan hors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Virus vs worm vs Trojan horse</a:t>
            </a:r>
            <a:endParaRPr lang="en-US" sz="15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4640580" y="2297757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11" action="ppaction://hlinksldjump" tooltip="Key loggers and spywa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Key loggers and spyware</a:t>
            </a:r>
            <a:endParaRPr lang="en-US" sz="15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4640580" y="2783695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12" action="ppaction://hlinksldjump" tooltip="Worked example: name the threa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name the threat</a:t>
            </a:r>
            <a:endParaRPr lang="en-US" sz="15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4640580" y="3269633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13" action="ppaction://hlinksldjump" tooltip="Defending against malwa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Defending against malware</a:t>
            </a:r>
            <a:endParaRPr lang="en-US" sz="15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4640580" y="3755571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4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4640580" y="4241510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5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How a virus, a worm and a Trojan horse spre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How a virus, a worm and a Trojan horse spread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What is cybercrime?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Cybercrime: any crime committed using a computer, a network or the internet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computer can be the target (hacking a school network, crashing a website) or the tool (stalking, fraud, forgery)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Cyber criminals want money, data, revenge, attention or to cause disruption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Cybersecurity: the methods used to protect computers, networks and data from these attacks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 the UK, unauthorised access and deliberately damaging systems are offences under the Computer Misuse Act 1990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Threats to cybersecurity (1)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12197"/>
                <a:gridCol w="4092796"/>
                <a:gridCol w="312460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Threat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is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Hacking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Gaining unauthorised access to a computer system or its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Breaking into a council server to read or change records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Pornography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Illegal or indecent images shared online; adult sites are also a common way of hiding malware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An employee visits an adult site at work and infects the office network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Cyber stalking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Using technology to repeatedly harass, track or frighten a person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Sending threatening messages and tracking someone's location posts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Data theft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Stealing personal or company data, often to sell it or commit identity fraud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Customer names and card numbers copied from an online shop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Denial of service (DoS)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Flooding a server with requests so genuine users cannot use 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ticket website crashes on the day concert tickets go on sale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9" grpId="0">
        <p:bldAsOne/>
      </p:bldGraphic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Threats to cybersecurity (2)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07923"/>
                <a:gridCol w="4336026"/>
                <a:gridCol w="31856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Threat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is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Digital forgery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Deliberately and falsely altering digital content to deceive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Editing a photo or name on a scanned passport; a deepfake video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Cyber defamation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Posting untrue statements online that harm the good name of a person or an organisation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Untrue claims on a forum that a local café gave customers food poisoning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Spamming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Sending bulk unwanted messages, usually adverts or scams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Hundreds of junk emails fill a teacher's inbox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Phishing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Messages pretending to be from a trusted organisation to trick people into giving personal details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fake 'parcel delivery' text with a link asking for card details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0" grpId="0">
        <p:bldAsOne/>
      </p:bldGraphic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Why these threats matter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Data theft can lead to identity theft: criminals open bank accounts or apply for credit cards in the victim's name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DoS attacks lose a business sales and customers' trust while the site is down; attacks from many computers at once are called DDoS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Spam wastes time, fills storage and uses bandwidth; it can also carry phishing links or malware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Cyber stalking and cyber defamation cause distress and harm to people's reputations and mental health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Hacking may lead to data being stolen, deleted or changed, and the organisation can be fined if personal data is not kept secure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spot the phishing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Text received: 'NI Bank: unusual activity on your account. Verify your details within 24 hours at nib-secure-login.co'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Clue 1: urgency and a threat, to rush you into acting without thinking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Clue 2: the link goes to a look-alike web address, not the bank's real site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Clue 3: real banks never ask for your full PIN or password by text or email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Result if you click: a fake login page captures your details, which are used for identity theft or to empty your account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Safe action: do not click; contact the bank using the number on your card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What is malware?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Malware (malicious software): software designed to damage or disrupt a computer system, or to gain unauthorised access to it or its data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It usually arrives without the user meaning to install it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Routes in: email attachments, links in messages, downloads from untrusted websites, infected USB sticks, fake apps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 tip: 'malicious software' alone is not enough. Say what the malware does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Forms of malware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63639"/>
                <a:gridCol w="4134118"/>
                <a:gridCol w="363184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Malware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How it works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Effect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Virus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Attaches itself to a file or program; runs when that file is opened, sometimes triggered by a date or event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Deletes or corrupts data; slows the computer; copies itself to other files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Worm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Copies itself and spreads across a network on its own, e.g. by emailing itself to every contact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Uses up bandwidth so the network slows down; can carry other malware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Trojan horse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Disguised as useful software (e.g. a free game or fake anti-virus) so the user installs 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Deletes files or opens a 'back door' so a hacker can get in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Key logger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Secretly records every key pressed and saves it in a log file sent to the criminal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Passwords, card numbers and messages are stolen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Spyware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Installed secretly, often bundled with free downloads; monitors what the user does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Sends browsing habits or personal details to a third party; uses memory and slows the computer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4" grpId="0">
        <p:bldAsOne/>
      </p:bldGraphic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Virus vs worm vs Trojan horse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484026"/>
                <a:gridCol w="2293495"/>
                <a:gridCol w="1551482"/>
                <a:gridCol w="290059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Virus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Worm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Trojan horse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Needs a host file?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No, it is a whole program in disguise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Copies itself?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Yes, to other files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Yes, across the network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Needs the user to act?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Yes, the infected file must be run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No, spreads by itself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Yes, the user is tricked into installing 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Main giveaway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Infects files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Slows the network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Looks like genuine software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5" grpId="0">
        <p:bldAsOne/>
      </p:bldGraphic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Key loggers and spyware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Both work secretly: the user does not know they are there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key logger captures keystrokes, e.g. an email address and password typed into a banking site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Spyware watches wider activity: websites visited, what is bought, sometimes screenshots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Stolen details are used for fraud or sold, e.g. to advertisers or other criminals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Some employers use key-logging software legally to monitor work computers, but must tell staff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name the threat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6934200"/>
                <a:gridCol w="1295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Threat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 free 'homework helper' app installs and lets a stranger access the laptop's files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Trojan horse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 Fermanagh hotel's booking site is flooded with fake requests and goes offline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Denial of service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Someone posts false claims online that a football coach cheated, and the club loses members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Cyber defamation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Malware spreads by itself to every PC on the school network and slows it down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Worm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 pupil's social media password is captured as they type it on a shared PC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Key logger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 forged exam certificate is created by editing a scanned copy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Digital forgery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7" grpId="0">
        <p:bldAsOne/>
      </p:bldGraphic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Defending against malware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Anti-virus software scans files, downloads and memory, and quarantines or deletes anything that matches a known threat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It must be updated often (usually automatically, at least daily) so it can recognise new malware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Keep the operating system and apps updated to close security holes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Do not open unexpected attachments or links, and only download from trusted sources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Network protection (firewalls, passwords, encryption, backups) is covered in the next lesson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Malware that is disguised as a useful program, so the user installs it themselves, is a…</a:t>
            </a:r>
            <a:endParaRPr lang="en-US" sz="1700" dirty="0"/>
          </a:p>
        </p:txBody>
      </p:sp>
      <p:sp>
        <p:nvSpPr>
          <p:cNvPr id="7" name="trig:k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worm</a:t>
            </a:r>
            <a:endParaRPr lang="en-US" sz="1600" dirty="0"/>
          </a:p>
        </p:txBody>
      </p:sp>
      <p:sp>
        <p:nvSpPr>
          <p:cNvPr id="8" name="on:k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Trojan horse</a:t>
            </a:r>
            <a:endParaRPr lang="en-US" sz="1600" dirty="0"/>
          </a:p>
        </p:txBody>
      </p:sp>
      <p:sp>
        <p:nvSpPr>
          <p:cNvPr id="10" name="on:k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spam</a:t>
            </a:r>
            <a:endParaRPr lang="en-US" sz="1600" dirty="0"/>
          </a:p>
        </p:txBody>
      </p:sp>
      <p:sp>
        <p:nvSpPr>
          <p:cNvPr id="12" name="on:k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key logger</a:t>
            </a:r>
            <a:endParaRPr lang="en-US" sz="1600" dirty="0"/>
          </a:p>
        </p:txBody>
      </p:sp>
      <p:sp>
        <p:nvSpPr>
          <p:cNvPr id="14" name="on:k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Trojan horse  –  A Trojan horse is named after the wooden horse used to trick its way into Troy: it looks harmless but carries something harmful.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text claiming to be from your bank asks you to click a link and 'verify' your PIN. What is this?</a:t>
            </a:r>
            <a:endParaRPr lang="en-US" sz="1700" dirty="0"/>
          </a:p>
        </p:txBody>
      </p:sp>
      <p:sp>
        <p:nvSpPr>
          <p:cNvPr id="7" name="trig:k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Spamming</a:t>
            </a:r>
            <a:endParaRPr lang="en-US" sz="1600" dirty="0"/>
          </a:p>
        </p:txBody>
      </p:sp>
      <p:sp>
        <p:nvSpPr>
          <p:cNvPr id="8" name="on:k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Hacking</a:t>
            </a:r>
            <a:endParaRPr lang="en-US" sz="1600" dirty="0"/>
          </a:p>
        </p:txBody>
      </p:sp>
      <p:sp>
        <p:nvSpPr>
          <p:cNvPr id="10" name="on:k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Phishing</a:t>
            </a:r>
            <a:endParaRPr lang="en-US" sz="1600" dirty="0"/>
          </a:p>
        </p:txBody>
      </p:sp>
      <p:sp>
        <p:nvSpPr>
          <p:cNvPr id="12" name="on:k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Cyber defamation</a:t>
            </a:r>
            <a:endParaRPr lang="en-US" sz="1600" dirty="0"/>
          </a:p>
        </p:txBody>
      </p:sp>
      <p:sp>
        <p:nvSpPr>
          <p:cNvPr id="14" name="on:k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Phishing  –  Phishing pretends to come from a trusted organisation to trick people into handing over personal details.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malware spreads across a network by itself without a host file?</a:t>
            </a:r>
            <a:endParaRPr lang="en-US" sz="1700" dirty="0"/>
          </a:p>
        </p:txBody>
      </p:sp>
      <p:sp>
        <p:nvSpPr>
          <p:cNvPr id="7" name="trig:k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Worm</a:t>
            </a:r>
            <a:endParaRPr lang="en-US" sz="1600" dirty="0"/>
          </a:p>
        </p:txBody>
      </p:sp>
      <p:sp>
        <p:nvSpPr>
          <p:cNvPr id="8" name="on:k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Virus</a:t>
            </a:r>
            <a:endParaRPr lang="en-US" sz="1600" dirty="0"/>
          </a:p>
        </p:txBody>
      </p:sp>
      <p:sp>
        <p:nvSpPr>
          <p:cNvPr id="10" name="on:k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Trojan horse</a:t>
            </a:r>
            <a:endParaRPr lang="en-US" sz="1600" dirty="0"/>
          </a:p>
        </p:txBody>
      </p:sp>
      <p:sp>
        <p:nvSpPr>
          <p:cNvPr id="12" name="on:k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Spyware</a:t>
            </a:r>
            <a:endParaRPr lang="en-US" sz="1600" dirty="0"/>
          </a:p>
        </p:txBody>
      </p:sp>
      <p:sp>
        <p:nvSpPr>
          <p:cNvPr id="14" name="on:k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Worm  –  Worms self-replicate and travel across networks, using up bandwidth.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Flooding a website with requests so genuine customers cannot use it is…</a:t>
            </a:r>
            <a:endParaRPr lang="en-US" sz="1700" dirty="0"/>
          </a:p>
        </p:txBody>
      </p:sp>
      <p:sp>
        <p:nvSpPr>
          <p:cNvPr id="7" name="trig:k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digital forgery</a:t>
            </a:r>
            <a:endParaRPr lang="en-US" sz="1600" dirty="0"/>
          </a:p>
        </p:txBody>
      </p:sp>
      <p:sp>
        <p:nvSpPr>
          <p:cNvPr id="8" name="on:k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cyber stalking</a:t>
            </a:r>
            <a:endParaRPr lang="en-US" sz="1600" dirty="0"/>
          </a:p>
        </p:txBody>
      </p:sp>
      <p:sp>
        <p:nvSpPr>
          <p:cNvPr id="10" name="on:k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data theft</a:t>
            </a:r>
            <a:endParaRPr lang="en-US" sz="1600" dirty="0"/>
          </a:p>
        </p:txBody>
      </p:sp>
      <p:sp>
        <p:nvSpPr>
          <p:cNvPr id="12" name="on:k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denial of service</a:t>
            </a:r>
            <a:endParaRPr lang="en-US" sz="1600" dirty="0"/>
          </a:p>
        </p:txBody>
      </p:sp>
      <p:sp>
        <p:nvSpPr>
          <p:cNvPr id="14" name="on:k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denial of service  –  A DoS attack overloads the server so it cannot respond to real users.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Publishing false, damaging claims about a person or business online is…</a:t>
            </a:r>
            <a:endParaRPr lang="en-US" sz="1700" dirty="0"/>
          </a:p>
        </p:txBody>
      </p:sp>
      <p:sp>
        <p:nvSpPr>
          <p:cNvPr id="7" name="trig:k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cyber defamation</a:t>
            </a:r>
            <a:endParaRPr lang="en-US" sz="1600" dirty="0"/>
          </a:p>
        </p:txBody>
      </p:sp>
      <p:sp>
        <p:nvSpPr>
          <p:cNvPr id="8" name="on:k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spamming</a:t>
            </a:r>
            <a:endParaRPr lang="en-US" sz="1600" dirty="0"/>
          </a:p>
        </p:txBody>
      </p:sp>
      <p:sp>
        <p:nvSpPr>
          <p:cNvPr id="10" name="on:k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phishing</a:t>
            </a:r>
            <a:endParaRPr lang="en-US" sz="1600" dirty="0"/>
          </a:p>
        </p:txBody>
      </p:sp>
      <p:sp>
        <p:nvSpPr>
          <p:cNvPr id="12" name="on:k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hacking</a:t>
            </a:r>
            <a:endParaRPr lang="en-US" sz="1600" dirty="0"/>
          </a:p>
        </p:txBody>
      </p:sp>
      <p:sp>
        <p:nvSpPr>
          <p:cNvPr id="14" name="on:k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cyber defamation  –  Cyber defamation damages someone's reputation with untrue statements.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malware records every key a user presses?</a:t>
            </a:r>
            <a:endParaRPr lang="en-US" sz="1700" dirty="0"/>
          </a:p>
        </p:txBody>
      </p:sp>
      <p:sp>
        <p:nvSpPr>
          <p:cNvPr id="7" name="trig:k2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Worm</a:t>
            </a:r>
            <a:endParaRPr lang="en-US" sz="1600" dirty="0"/>
          </a:p>
        </p:txBody>
      </p:sp>
      <p:sp>
        <p:nvSpPr>
          <p:cNvPr id="8" name="on:k2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Virus</a:t>
            </a:r>
            <a:endParaRPr lang="en-US" sz="1600" dirty="0"/>
          </a:p>
        </p:txBody>
      </p:sp>
      <p:sp>
        <p:nvSpPr>
          <p:cNvPr id="10" name="on:k2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Key logger</a:t>
            </a:r>
            <a:endParaRPr lang="en-US" sz="1600" dirty="0"/>
          </a:p>
        </p:txBody>
      </p:sp>
      <p:sp>
        <p:nvSpPr>
          <p:cNvPr id="12" name="on:k2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2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Firewall</a:t>
            </a:r>
            <a:endParaRPr lang="en-US" sz="1600" dirty="0"/>
          </a:p>
        </p:txBody>
      </p:sp>
      <p:sp>
        <p:nvSpPr>
          <p:cNvPr id="14" name="on:k2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Key logger  –  A key logger saves keystrokes to a log file that is sent to the criminal, revealing passwords.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Stolen customer details used to apply for a credit card in someone else's name is…</a:t>
            </a:r>
            <a:endParaRPr lang="en-US" sz="1700" dirty="0"/>
          </a:p>
        </p:txBody>
      </p:sp>
      <p:sp>
        <p:nvSpPr>
          <p:cNvPr id="7" name="trig:k2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identity theft</a:t>
            </a:r>
            <a:endParaRPr lang="en-US" sz="1600" dirty="0"/>
          </a:p>
        </p:txBody>
      </p:sp>
      <p:sp>
        <p:nvSpPr>
          <p:cNvPr id="8" name="on:k2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2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spamming</a:t>
            </a:r>
            <a:endParaRPr lang="en-US" sz="1600" dirty="0"/>
          </a:p>
        </p:txBody>
      </p:sp>
      <p:sp>
        <p:nvSpPr>
          <p:cNvPr id="10" name="on:k2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worm</a:t>
            </a:r>
            <a:endParaRPr lang="en-US" sz="1600" dirty="0"/>
          </a:p>
        </p:txBody>
      </p:sp>
      <p:sp>
        <p:nvSpPr>
          <p:cNvPr id="12" name="on:k2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digital forgery</a:t>
            </a:r>
            <a:endParaRPr lang="en-US" sz="1600" dirty="0"/>
          </a:p>
        </p:txBody>
      </p:sp>
      <p:sp>
        <p:nvSpPr>
          <p:cNvPr id="14" name="on:k2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identity theft  –  Data theft often leads to identity theft, where the criminal pretends to be the victim.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Editing a scanned passport photo to make a fake document is…</a:t>
            </a:r>
            <a:endParaRPr lang="en-US" sz="1700" dirty="0"/>
          </a:p>
        </p:txBody>
      </p:sp>
      <p:sp>
        <p:nvSpPr>
          <p:cNvPr id="7" name="trig:k2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cyber stalking</a:t>
            </a:r>
            <a:endParaRPr lang="en-US" sz="1600" dirty="0"/>
          </a:p>
        </p:txBody>
      </p:sp>
      <p:sp>
        <p:nvSpPr>
          <p:cNvPr id="8" name="on:k2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digital forgery</a:t>
            </a:r>
            <a:endParaRPr lang="en-US" sz="1600" dirty="0"/>
          </a:p>
        </p:txBody>
      </p:sp>
      <p:sp>
        <p:nvSpPr>
          <p:cNvPr id="10" name="on:k3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denial of service</a:t>
            </a:r>
            <a:endParaRPr lang="en-US" sz="1600" dirty="0"/>
          </a:p>
        </p:txBody>
      </p:sp>
      <p:sp>
        <p:nvSpPr>
          <p:cNvPr id="12" name="on:k3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spyware</a:t>
            </a:r>
            <a:endParaRPr lang="en-US" sz="1600" dirty="0"/>
          </a:p>
        </p:txBody>
      </p:sp>
      <p:sp>
        <p:nvSpPr>
          <p:cNvPr id="14" name="on:k3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digital forgery  –  Digital forgery is deliberately altering digital content to deceive.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Trojan horse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Trojan horse is named after the wooden horse used to trick its way into Troy: it looks harmless but carries something harmful.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Phishing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Phishing pretends to come from a trusted organisation to trick people into handing over personal details.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Worm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Worms self-replicate and travel across networks, using up bandwidth.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denial of service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DoS attack overloads the server so it cannot respond to real users.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cyber defamation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Cyber defamation damages someone's reputation with untrue statements.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Key logger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key logger saves keystrokes to a log file that is sent to the criminal, revealing passwords.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identity theft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Data theft often leads to identity theft, where the criminal pretends to be the victim.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digital forgery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Digital forgery is deliberately altering digital content to deceive.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27" grpId="0">
        <p:bldAsOne/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Protocols, HTTPS, phishing, malware, encryption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Network statements, bus disadvantages, LAN, encryption, HTTPS, RAM vs ROM, malware routes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Two cyber threats: phishing and denial of service (levelled)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Key term matching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Cybercrime types; malware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Term matching: hardware, memory, networking, malware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4 more past questions on the website. 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25" grpId="0" animBg="1"/>
      <p:bldGraphic spid="28" grpId="0">
        <p:bldAsOne/>
      </p:bldGraphic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1: DIGITAL TECHNOLOGY  ·  L19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Protecting networks and data; protocols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how encryption protects data that is intercepted or stolen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how usernames, strong passwords and levels of access stop unauthorised use of a network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how backups and firewalls protect a network and its data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what a protocol is and why devices need one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the purpose of FTP, HTTP and HTTPS and compare HTTP with HTTPS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9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Encryp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Encryption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Worked example: a simple ciph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a simple cipher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Usernames and password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Usernames and passwords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Strong passwords and 2F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Strong passwords and 2FA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324612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Levels of acc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Levels of access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Why levels of access protect da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levels of access protect data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Backu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Backup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Firewall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Firewalls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What is a protocol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a protocol?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603504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FTP, HTTP and HTT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FTP, HTTP and HTTPS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603504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How HTTP wor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HTTP works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HTTP vs HTT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 vs HTTPS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5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6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Encryption makes intercepted data unreadable; a firewall filters network traffi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Encryption makes intercepted data unreadable; a firewall filters network traffic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Encryption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Encryption scrambles data using an algorithm and a key, so it is unreadable to anyone without the key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Plain text → encrypted (cipher) text → sent → decrypted back to plain text by the recipient, who has the key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If data is intercepted on a network or a device is stolen, the data is meaningless to the thief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Encryption does not stop data being intercepted or stolen; it stops it being understood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Used for Wi-Fi (WPA2/WPA3), HTTPS websites, messaging apps and encrypted laptops and USB sticks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a simple cipher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Key: shift each letter 3 places forward in the alphabet (a Caesar cipher)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Plain text: MEET AT GATE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M→P, E→H, E→H, T→W … A→D, T→W … G→J, A→D, T→W, E→H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Cipher text sent: PHHW DW JDWH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recipient knows the key, so shifts each letter back 3 to decrypt it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Real encryption uses far longer keys and complex algorithms, so it cannot be guessed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Usernames and passwords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Every person who logs on gives their own user ID plus a password, and the system compares the pair with its secure user database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If they do not match, access is refused; many systems lock the account after a set number of failed attempts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Passwords appear as asterisks or dots on screen so people nearby cannot read them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Users may be forced to change passwords regularly, and must type a new one twice to confirm it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Unique IDs let the network manager keep a log of who logged on, when and from which computer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Strong passwords and 2FA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700331"/>
                <a:gridCol w="748145"/>
                <a:gridCol w="57811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Password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Strong?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fermanagh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dictionary/place word, all lower case, easily guessed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Liam2010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name and birth year: personal details are easy to find on social media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password123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One of the most commonly used passwords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t7#Rq!9vLm2p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12 characters with upper and lower case, digits and symbols, and not a word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Two-factor authentication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Extra layer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second check, e.g. a code sent to a phone, so a stolen password alone is not enough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5" grpId="0">
        <p:bldAsOne/>
      </p:bldGraphic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Levels of access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38146"/>
                <a:gridCol w="4081346"/>
                <a:gridCol w="281010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Level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the user can do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School 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No access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Cannot open the file or folder at all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Pupils cannot see the staff area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Read only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Can view the contents but not change them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Pupils can view the homework sheet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Read and copy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Can view and make their own copy, but not change the original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Pupils copy a template into their own area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Read and write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Can view and change (edit, add, delete) the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Teachers can edit pupils' 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Full control / admin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Can change settings, permissions and install software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network manager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6" grpId="0">
        <p:bldAsOne/>
      </p:bldGraphic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Why levels of access protect data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Access rights are stored in a table linked to each user ID and checked every time a file is opened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Users only get the access they need for their job, so confidential data stays private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Read-only access stops data being changed or deleted by accident or on purpose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If a hacker steals one user's login, they can only reach that user's data, which limits the damage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Example: in a hospital, receptionists see appointment times but only doctors and nurses can read medical notes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Backup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Backup: a copy of data kept separately so it can be restored if the original is lost, corrupted, deleted or stolen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Usually scheduled automatically, e.g. every night after the school day ends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Stored away from the original: an external drive kept off-site or cloud storage, so a fire or theft does not destroy both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To recover, restore software copies the backup back onto the server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Backups are the main defence if ransomware locks files, and should be tested to make sure they work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Firewalls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 firewall is hardware or software that monitors and filters all data entering or leaving a network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It checks traffic against rules (the security policy): allowed data passes, anything else is blocked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Stops hackers getting into the network from the internet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Can block some viruses and spam, and stop users uploading or downloading unsuitable data or visiting blocked sites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Produces reports of blocked access attempts for the network manager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 firewall is not anti-virus software: it filters traffic, it does not scan and clean files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What is a protocol?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protocol is an agreed set of rules for sending and receiving data between devices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Devices must 'speak the same language': both sender and receiver must use the same protocol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Rules cover the format of the data, how it is addressed, error checking, and how communication starts and ends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Protocols mean devices from different manufacturers (a phone, a laptop, a smart TV) can communicate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internet uses TCP/IP; routers use the addresses to send data along the right path to the right computer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FTP, HTTP and HTTPS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91886"/>
                <a:gridCol w="1665514"/>
                <a:gridCol w="6172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Protocol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Full name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FTP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File Transfer Protocol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Sending and receiving files between computers over a network or the internet, e.g. uploading a website's files to a web server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HTTP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HyperText Transfer Protocol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Requesting web pages from a web server and transferring them to a browser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HTTPS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HyperText Transfer Protocol Secure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Same as HTTP, but data is encrypted; used for logins, online banking and shopping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1" grpId="0">
        <p:bldAsOne/>
      </p:bldGraphic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How HTTP works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user types a URL into the browser's address bar or clicks a link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browser uses HTTP to send a request to the web server for that page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server sends the page back, and the browser displays it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If the page cannot be found, the server sends back a status code such as '404 Not Found'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If the address starts https://, the same request and reply happen but the data is encrypted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HTTP vs HTTPS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66800"/>
                <a:gridCol w="2819400"/>
                <a:gridCol w="4343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HTTP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HTTPS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Encrypted?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No: data is sent as plain text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Yes: encrypted using SSL/TLS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If intercepted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such as card numbers can be read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is scrambled and meaningless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Browser shows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'Not secure' warning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Padlock icon; address starts https://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Used for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Ordinary pages with no personal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Logins, banking, shopping, any form with personal details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3" grpId="0">
        <p:bldAsOne/>
      </p:bldGraphic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does a firewall do?</a:t>
            </a:r>
            <a:endParaRPr lang="en-US" sz="1700" dirty="0"/>
          </a:p>
        </p:txBody>
      </p:sp>
      <p:sp>
        <p:nvSpPr>
          <p:cNvPr id="7" name="trig:k3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Removes viruses from infected files</a:t>
            </a:r>
            <a:endParaRPr lang="en-US" sz="1250" dirty="0"/>
          </a:p>
        </p:txBody>
      </p:sp>
      <p:sp>
        <p:nvSpPr>
          <p:cNvPr id="8" name="on:k3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Monitors and filters network traffic, blocking anything that breaks the security rules</a:t>
            </a:r>
            <a:endParaRPr lang="en-US" sz="1250" dirty="0"/>
          </a:p>
        </p:txBody>
      </p:sp>
      <p:sp>
        <p:nvSpPr>
          <p:cNvPr id="10" name="on:k3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Makes a copy of data each night</a:t>
            </a:r>
            <a:endParaRPr lang="en-US" sz="1250" dirty="0"/>
          </a:p>
        </p:txBody>
      </p:sp>
      <p:sp>
        <p:nvSpPr>
          <p:cNvPr id="12" name="on:k3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Encrypts all passwords</a:t>
            </a:r>
            <a:endParaRPr lang="en-US" sz="1250" dirty="0"/>
          </a:p>
        </p:txBody>
      </p:sp>
      <p:sp>
        <p:nvSpPr>
          <p:cNvPr id="14" name="on:k3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Monitors and filters network traffic, blocking anything that breaks the security rules  –  A firewall checks data entering or leaving a network against rules and blocks what is not allowed.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How does HTTPS differ from HTTP?</a:t>
            </a:r>
            <a:endParaRPr lang="en-US" sz="1700" dirty="0"/>
          </a:p>
        </p:txBody>
      </p:sp>
      <p:sp>
        <p:nvSpPr>
          <p:cNvPr id="7" name="trig:k3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HTTPS encrypts the data sent</a:t>
            </a:r>
            <a:endParaRPr lang="en-US" sz="1600" dirty="0"/>
          </a:p>
        </p:txBody>
      </p:sp>
      <p:sp>
        <p:nvSpPr>
          <p:cNvPr id="8" name="on:k3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3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HTTPS is only used for files</a:t>
            </a:r>
            <a:endParaRPr lang="en-US" sz="1600" dirty="0"/>
          </a:p>
        </p:txBody>
      </p:sp>
      <p:sp>
        <p:nvSpPr>
          <p:cNvPr id="10" name="on:k3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HTTPS needs no web browser</a:t>
            </a:r>
            <a:endParaRPr lang="en-US" sz="1600" dirty="0"/>
          </a:p>
        </p:txBody>
      </p:sp>
      <p:sp>
        <p:nvSpPr>
          <p:cNvPr id="12" name="on:k3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HTTPS works without the internet</a:t>
            </a:r>
            <a:endParaRPr lang="en-US" sz="1600" dirty="0"/>
          </a:p>
        </p:txBody>
      </p:sp>
      <p:sp>
        <p:nvSpPr>
          <p:cNvPr id="14" name="on:k4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HTTPS encrypts the data sent  –  The S stands for Secure: data is encrypted, so intercepted data cannot be read.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protocol is used to upload a website's files to a web server?</a:t>
            </a:r>
            <a:endParaRPr lang="en-US" sz="1700" dirty="0"/>
          </a:p>
        </p:txBody>
      </p:sp>
      <p:sp>
        <p:nvSpPr>
          <p:cNvPr id="7" name="trig:k4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HTTP</a:t>
            </a:r>
            <a:endParaRPr lang="en-US" sz="1600" dirty="0"/>
          </a:p>
        </p:txBody>
      </p:sp>
      <p:sp>
        <p:nvSpPr>
          <p:cNvPr id="8" name="on:k4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HTTPS</a:t>
            </a:r>
            <a:endParaRPr lang="en-US" sz="1600" dirty="0"/>
          </a:p>
        </p:txBody>
      </p:sp>
      <p:sp>
        <p:nvSpPr>
          <p:cNvPr id="10" name="on:k4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FTP</a:t>
            </a:r>
            <a:endParaRPr lang="en-US" sz="1600" dirty="0"/>
          </a:p>
        </p:txBody>
      </p:sp>
      <p:sp>
        <p:nvSpPr>
          <p:cNvPr id="12" name="on:k4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4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TCP</a:t>
            </a:r>
            <a:endParaRPr lang="en-US" sz="1600" dirty="0"/>
          </a:p>
        </p:txBody>
      </p:sp>
      <p:sp>
        <p:nvSpPr>
          <p:cNvPr id="14" name="on:k4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FTP  –  File Transfer Protocol is used to send and receive files.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protocol is…</a:t>
            </a:r>
            <a:endParaRPr lang="en-US" sz="1700" dirty="0"/>
          </a:p>
        </p:txBody>
      </p:sp>
      <p:sp>
        <p:nvSpPr>
          <p:cNvPr id="7" name="trig:k4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type of malware</a:t>
            </a:r>
            <a:endParaRPr lang="en-US" sz="1400" dirty="0"/>
          </a:p>
        </p:txBody>
      </p:sp>
      <p:sp>
        <p:nvSpPr>
          <p:cNvPr id="8" name="on:k4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network cable</a:t>
            </a:r>
            <a:endParaRPr lang="en-US" sz="1400" dirty="0"/>
          </a:p>
        </p:txBody>
      </p:sp>
      <p:sp>
        <p:nvSpPr>
          <p:cNvPr id="10" name="on:k4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strong password</a:t>
            </a:r>
            <a:endParaRPr lang="en-US" sz="1400" dirty="0"/>
          </a:p>
        </p:txBody>
      </p:sp>
      <p:sp>
        <p:nvSpPr>
          <p:cNvPr id="12" name="on:k4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an agreed set of rules for transmitting data</a:t>
            </a:r>
            <a:endParaRPr lang="en-US" sz="1400" dirty="0"/>
          </a:p>
        </p:txBody>
      </p:sp>
      <p:sp>
        <p:nvSpPr>
          <p:cNvPr id="14" name="on:k4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4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D: an agreed set of rules for transmitting data  –  Protocols let devices from different makers communicate by following the same rules.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the strongest password?</a:t>
            </a:r>
            <a:endParaRPr lang="en-US" sz="1700" dirty="0"/>
          </a:p>
        </p:txBody>
      </p:sp>
      <p:sp>
        <p:nvSpPr>
          <p:cNvPr id="7" name="trig:k4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password123</a:t>
            </a:r>
            <a:endParaRPr lang="en-US" sz="1600" dirty="0"/>
          </a:p>
        </p:txBody>
      </p:sp>
      <p:sp>
        <p:nvSpPr>
          <p:cNvPr id="8" name="on:k4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Liam2010</a:t>
            </a:r>
            <a:endParaRPr lang="en-US" sz="1600" dirty="0"/>
          </a:p>
        </p:txBody>
      </p:sp>
      <p:sp>
        <p:nvSpPr>
          <p:cNvPr id="10" name="on:k5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t7#Rq!9vLm2p</a:t>
            </a:r>
            <a:endParaRPr lang="en-US" sz="1600" dirty="0"/>
          </a:p>
        </p:txBody>
      </p:sp>
      <p:sp>
        <p:nvSpPr>
          <p:cNvPr id="12" name="on:k5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5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fermanagh</a:t>
            </a:r>
            <a:endParaRPr lang="en-US" sz="1600" dirty="0"/>
          </a:p>
        </p:txBody>
      </p:sp>
      <p:sp>
        <p:nvSpPr>
          <p:cNvPr id="14" name="on:k5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t7#Rq!9vLm2p  –  It is long, mixes character types and is not a word or personal detail.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pupil can open the class notes but cannot change them. What access level is this?</a:t>
            </a:r>
            <a:endParaRPr lang="en-US" sz="1700" dirty="0"/>
          </a:p>
        </p:txBody>
      </p:sp>
      <p:sp>
        <p:nvSpPr>
          <p:cNvPr id="7" name="trig:k5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Read only</a:t>
            </a:r>
            <a:endParaRPr lang="en-US" sz="1600" dirty="0"/>
          </a:p>
        </p:txBody>
      </p:sp>
      <p:sp>
        <p:nvSpPr>
          <p:cNvPr id="8" name="on:k5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5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Read and write</a:t>
            </a:r>
            <a:endParaRPr lang="en-US" sz="1600" dirty="0"/>
          </a:p>
        </p:txBody>
      </p:sp>
      <p:sp>
        <p:nvSpPr>
          <p:cNvPr id="10" name="on:k5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Full control</a:t>
            </a:r>
            <a:endParaRPr lang="en-US" sz="1600" dirty="0"/>
          </a:p>
        </p:txBody>
      </p:sp>
      <p:sp>
        <p:nvSpPr>
          <p:cNvPr id="12" name="on:k5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No access</a:t>
            </a:r>
            <a:endParaRPr lang="en-US" sz="1600" dirty="0"/>
          </a:p>
        </p:txBody>
      </p:sp>
      <p:sp>
        <p:nvSpPr>
          <p:cNvPr id="14" name="on:k5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Read only  –  Read only lets a user view but not modify data.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should a backup be stored off-site or in the cloud?</a:t>
            </a:r>
            <a:endParaRPr lang="en-US" sz="1700" dirty="0"/>
          </a:p>
        </p:txBody>
      </p:sp>
      <p:sp>
        <p:nvSpPr>
          <p:cNvPr id="7" name="trig:k5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makes the backup run faster</a:t>
            </a:r>
            <a:endParaRPr lang="en-US" sz="1400" dirty="0"/>
          </a:p>
        </p:txBody>
      </p:sp>
      <p:sp>
        <p:nvSpPr>
          <p:cNvPr id="8" name="on:k5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fire or theft at the building will not destroy both copies</a:t>
            </a:r>
            <a:endParaRPr lang="en-US" sz="1400" dirty="0"/>
          </a:p>
        </p:txBody>
      </p:sp>
      <p:sp>
        <p:nvSpPr>
          <p:cNvPr id="10" name="on:k5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5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encrypts the data</a:t>
            </a:r>
            <a:endParaRPr lang="en-US" sz="1400" dirty="0"/>
          </a:p>
        </p:txBody>
      </p:sp>
      <p:sp>
        <p:nvSpPr>
          <p:cNvPr id="12" name="on:k5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stops hackers logging in</a:t>
            </a:r>
            <a:endParaRPr lang="en-US" sz="1400" dirty="0"/>
          </a:p>
        </p:txBody>
      </p:sp>
      <p:sp>
        <p:nvSpPr>
          <p:cNvPr id="14" name="on:k6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A fire or theft at the building will not destroy both copies  –  Keeping the copy in a different place protects it from events that destroy the original.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happens to encrypted data if it is intercepted?</a:t>
            </a:r>
            <a:endParaRPr lang="en-US" sz="1700" dirty="0"/>
          </a:p>
        </p:txBody>
      </p:sp>
      <p:sp>
        <p:nvSpPr>
          <p:cNvPr id="7" name="trig:k6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is deleted automatically</a:t>
            </a:r>
            <a:endParaRPr lang="en-US" sz="1400" dirty="0"/>
          </a:p>
        </p:txBody>
      </p:sp>
      <p:sp>
        <p:nvSpPr>
          <p:cNvPr id="8" name="on:k6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is sent back to the sender</a:t>
            </a:r>
            <a:endParaRPr lang="en-US" sz="1400" dirty="0"/>
          </a:p>
        </p:txBody>
      </p:sp>
      <p:sp>
        <p:nvSpPr>
          <p:cNvPr id="10" name="on:k6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cannot be understood without the key</a:t>
            </a:r>
            <a:endParaRPr lang="en-US" sz="1400" dirty="0"/>
          </a:p>
        </p:txBody>
      </p:sp>
      <p:sp>
        <p:nvSpPr>
          <p:cNvPr id="12" name="on:k6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6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becomes a virus</a:t>
            </a:r>
            <a:endParaRPr lang="en-US" sz="1400" dirty="0"/>
          </a:p>
        </p:txBody>
      </p:sp>
      <p:sp>
        <p:nvSpPr>
          <p:cNvPr id="14" name="on:k6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It cannot be understood without the key  –  Encryption does not stop interception, but the data is meaningless without the key.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Monitors and filters network traffic, blocking anything that breaks the security rules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firewall checks data entering or leaving a network against rules and blocks what is not allowed.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HTTPS encrypts the data sent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S stands for Secure: data is encrypted, so intercepted data cannot be read.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FTP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File Transfer Protocol is used to send and receive files.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an agreed set of rules for transmitting data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Protocols let devices from different makers communicate by following the same rules.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t7#Rq!9vLm2p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It is long, mixes character types and is not a word or personal detail.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Read only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Read only lets a user view but not modify data.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A fire or theft at the building will not destroy both copies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Keeping the copy in a different place protects it from events that destroy the original.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It cannot be understood without the key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Encryption does not stop interception, but the data is meaningless without the key.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52" grpId="0">
        <p:bldAsOne/>
      </p:bldGraphic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Ring topology, protocols, FTP, HTTPS, malware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WAN, encryption, firewall, processor performance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Protocols, HTTPS, phishing, malware, encryption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Network statements, bus disadvantages, LAN, encryption, HTTPS, RAM vs ROM, malware routes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Key term matching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Legislation matching, online harms, protection methods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3 more past questions on the website. 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25" grpId="0" animBg="1"/>
      <p:bldGraphic spid="53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Cyberspace, network security and data transfer</dc:title>
  <dc:subject>Unit 1: Digital Technology – Cyberspace, network security and data transfer</dc:subject>
  <dc:creator>Digital Technology Hub</dc:creator>
  <cp:lastModifiedBy>Digital Technology Hub</cp:lastModifiedBy>
  <cp:revision>1</cp:revision>
  <dcterms:created xsi:type="dcterms:W3CDTF">2026-10-30T13:15:39Z</dcterms:created>
  <dcterms:modified xsi:type="dcterms:W3CDTF">2026-10-30T13:15:39Z</dcterms:modified>
</cp:coreProperties>
</file>