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7662a059-5d54-63e9-43c4-c7670e4a6a73}">
          <p14:sldIdLst>
            <p14:sldId id="256"/>
            <p14:sldId id="257"/>
            <p14:sldId id="258"/>
          </p14:sldIdLst>
        </p14:section>
        <p14:section name="D01 · Programming paradigms: procedural and object-oriented" id="{c2685348-89c1-d608-baa0-bb53fe25e0a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D02 · Development environments, editing features and translators" id="{575df1e0-289e-1211-c8df-c3402d338224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following programming paradigms: procedural programming and object-oriented programming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significance of the following aspects of software development environments: editing features; high-level code translation and execution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3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10.xml"/><Relationship Id="rId6" Type="http://schemas.openxmlformats.org/officeDocument/2006/relationships/slide" Target="slide11.xml"/><Relationship Id="rId7" Type="http://schemas.openxmlformats.org/officeDocument/2006/relationships/slide" Target="slide13.xml"/><Relationship Id="rId8" Type="http://schemas.openxmlformats.org/officeDocument/2006/relationships/slide" Target="slide14.xml"/><Relationship Id="rId9" Type="http://schemas.openxmlformats.org/officeDocument/2006/relationships/slide" Target="slide15.xml"/><Relationship Id="rId10" Type="http://schemas.openxmlformats.org/officeDocument/2006/relationships/slide" Target="slide16.xml"/><Relationship Id="rId11" Type="http://schemas.openxmlformats.org/officeDocument/2006/relationships/slide" Target="slide2.xml"/><Relationship Id="rId1" Type="http://schemas.openxmlformats.org/officeDocument/2006/relationships/image" Target="../media/image-5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3" Type="http://schemas.openxmlformats.org/officeDocument/2006/relationships/slide" Target="slide26.xml"/><Relationship Id="rId4" Type="http://schemas.openxmlformats.org/officeDocument/2006/relationships/slide" Target="slide27.xml"/><Relationship Id="rId5" Type="http://schemas.openxmlformats.org/officeDocument/2006/relationships/slide" Target="slide28.xml"/><Relationship Id="rId6" Type="http://schemas.openxmlformats.org/officeDocument/2006/relationships/slide" Target="slide29.xml"/><Relationship Id="rId7" Type="http://schemas.openxmlformats.org/officeDocument/2006/relationships/slide" Target="slide30.xml"/><Relationship Id="rId8" Type="http://schemas.openxmlformats.org/officeDocument/2006/relationships/slide" Target="slide31.xml"/><Relationship Id="rId9" Type="http://schemas.openxmlformats.org/officeDocument/2006/relationships/slide" Target="slide32.xml"/><Relationship Id="rId10" Type="http://schemas.openxmlformats.org/officeDocument/2006/relationships/slide" Target="slide33.xml"/><Relationship Id="rId11" Type="http://schemas.openxmlformats.org/officeDocument/2006/relationships/slide" Target="slide2.xml"/><Relationship Id="rId1" Type="http://schemas.openxmlformats.org/officeDocument/2006/relationships/image" Target="../media/image-24-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Contemporary trends in software development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D01  Programming paradigms: procedural and object-oriented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D02  Development environments, editing features and translators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D01  Programming paradigms: procedural and object-orient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D01  Programming paradigms: procedural and object-oriented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D02  Development environments, editing features and translato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D02  Development environments, editing features and translators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following programming paradigms: procedural programming and object-oriented programming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D02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significance of the following aspects of software development environments: editing features; high-level code translation and execution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Programming paradigms: procedural and object-oriented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procedural programming as imperative, sequential step-by-step instructions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object-oriented programming using objects, classes, properties and methods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the two paradigms in an extended answer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at is a programming paradigm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programming paradigm?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Procedural program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Procedural programming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Object-oriented programming (OOP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Object-oriented programming (OOP)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OOP examp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OOP example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Key OOP feat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OOP features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Comparing the paradig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the paradigms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Exam technique (QWC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 technique (QWC)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Pupil class, two objects created from it, and a Prefect class that inherits from 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Pupil class, two objects created from it, and a Prefect class that inherits from it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programming paradigm?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paradigm is an approach or style of programming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decides how a programmer structures a solution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CCEA Unit 4 asks you to describe two: procedural and object-oriented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Most modern languages (Python, Java, C#) support both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Procedural programming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programmer writes step-by-step instructions telling the computer exactly what to do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Imperative: the program is a series of commands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Sequential: instructions run one after another – the order is the program flow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Code is grouped into procedures and functions that can be called when needed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Usually designed top-down: the main task is broken into smaller sub-tasks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Procedural programming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Area(double width, double height)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width * height;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Console.Write("Width: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w = Convert.ToDouble(Console.ReadLine());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Console.Write("Height: 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h = Convert.ToDouble(Console.ReadLine());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Console.WriteLine("Area is " + Area(w, h));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Object-oriented programming (OOP)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program is built from self-contained objects that hold both data and the code that works on it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 class is a blueprint (template); an object is an instance made from a class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Properties (attributes) are the data an object holds, e.g. a Pupil's name and form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Methods are the actions an object can carry out, e.g. AddMerit()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Objects interact by sending messages (calling each other's methods)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Design starts with the objects, then the application is built from them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OOP example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Class: Pupil – properties: Name, Form, merits; methods: AddMerit(), Report()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Two objects made from the class: p1 and p2, each with its own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constructor Pupil(...) runs when each object is created with new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OOP example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Pupil p1 = new Pupil("Aoife", "11B");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Pupil p2 = new Pupil("Conor", "11C");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p1.AddMerit();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p1.AddMerit();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Console.WriteLine(p1.Report());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Console.WriteLine(p2.Report());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Pupil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Form;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merits;          // encapsulated: changed only by methods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Pupil(string name, string form)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 = 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 = form;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merits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AddMerit()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merits = merits + 1;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Report()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Name + " (" + Form + ") has " + merits + " merits";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Key OOP features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Encapsulation: an object's data is kept inside it and changed only through its methods – protects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Inheritance: a new class takes on the properties and methods of an existing class, e.g. Prefect inherits from Pupil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Reusability: classes can be reused in other programs, making programs quicker to build and more reliable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Self-contained objects are simpler to write and test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the paradigms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44813"/>
                <a:gridCol w="4080222"/>
                <a:gridCol w="290456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Procedural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Object-oriented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Built from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Sequences of instructions grouped into procedures/functions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Objects made from classes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and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Kept separate; data passed to procedures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Combined inside each object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Design starts with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steps/tasks (top-down)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objects in the problem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Functions can be reused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Classes reused and extended by inheritance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Suits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Smaller, linear tasks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Large, complex systems; GUIs; games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5" grpId="0">
        <p:bldAsOne/>
      </p:bldGraphic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 technique (QWC)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2025 Q7 asked candidates to describe both approaches (6 marks, QWC)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Examiners: OOP was described well; procedural answers were often too thin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procedural, go beyond 'step-by-step' – mention imperative, sequence, procedures/functions, top-down design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 the terms class, object, property, method, inheritance, encapsulation for OOP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describes procedural programming?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Programs built from interacting objects</a:t>
            </a:r>
            <a:endParaRPr lang="en-US" sz="14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Step-by-step instructions executed in sequence</a:t>
            </a:r>
            <a:endParaRPr lang="en-US" sz="14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Programs that only use a GUI</a:t>
            </a:r>
            <a:endParaRPr lang="en-US" sz="14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Code that translates itself</a:t>
            </a:r>
            <a:endParaRPr lang="en-US" sz="14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Step-by-step instructions executed in sequence  –  Procedural = imperative, sequential.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class is…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 instance of an object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blueprint for creating objects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type of loop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syntax error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blueprint for creating objects  –  Objects are created from classes.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The actions an object can perform are its…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properties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methods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parameters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indexes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methods  –  Methods are an object's procedures.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OOP feature lets a new class reuse an existing class's code?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Encapsulation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Inheritance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Iteration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Concatenation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Inheritance  –  Inheritance.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Hiding an object's data so it can only be changed through its methods is…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encapsulation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decomposition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abstraction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compilation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encapsulation  –  Encapsulation protects data.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Step-by-step instructions executed in sequence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Procedural = imperative, sequential.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blueprint for creating objects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Objects are created from classes.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methods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Methods are an object's procedures.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Inheritance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Inheritance.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encapsulation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Encapsulation protects data.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2" grpId="0">
        <p:bldAsOne/>
      </p:bldGraphic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Paradigms fill-in; compilers and interpreters true/false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Procedural vs object-oriented programming (QWC)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Graphic spid="23" grpId="0">
        <p:bldAsOne/>
      </p:bldGraphic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4: DIGITAL DEVELOPMENT CONCEPTS  ·  D02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Development environments, editing features and translators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features of an IDE and the editing features of a code editor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high-level code must be translated into machine code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compilers and interpreters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Source code and machine c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code and machine code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4" action="ppaction://hlinksldjump" tooltip="Integrated development environment (IDE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Integrated development environment (IDE)</a:t>
            </a:r>
            <a:endParaRPr lang="en-US" sz="13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Editing featu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Editing features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Compil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Compiler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Interpre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Interpreter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Compiler vs interpre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Compiler vs interpreter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In the exa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the exam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3300984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0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3959352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1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compiler translates the whole program into an executable; an interpreter translates and runs one line at a ti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compiler translates the whole program into an executable; an interpreter translates and runs one line at a time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Source code and machine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Programmers write source code in a high-level language (Python, Java, C#) – close to English, easy to read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CPU can only execute machine code: binary instructions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 high-level code must be translated before it can run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translator does this – either a compiler or an interpreter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Integrated development environment (IDE)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An IDE provides everything needed to develop a program in one application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Code editor – for writing source code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Translator – compiler/interpreter to run the code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Debugger – breakpoints, stepping through code line by line, watching variable values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GUI builder/designer with a toolbox of controls (e.g. Visual Studio)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Solution/project explorer – manages the files in a project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Run-time environment and error diagnostics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Editing features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46385"/>
                <a:gridCol w="63832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 helps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IntelliSense / auto-complete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Suggests keywords, variables and functions and shows a function's parameters as you type – fewer typing and syntax errors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Syntax highlighting / colour coding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Keywords, strings and comments in different colours – code is easier to read and mistakes stand out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Syntax error highlighting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Wavy underline under incorrect code as you type – errors found immediately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Line numbering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Find a line quickly, e.g. when an error message gives a line number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Code outlining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Collapse/expand blocks of code so long programs are easier to navigate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Clipboard / auto-indent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Copy and paste several items; keeps indentation consistent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9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Compiler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Translates the whole program into machine code before it runs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Reports all errors after compiling; the program will not compile until syntax errors are removed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Creates an executable file kept separately from the source code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Compiling takes time, but the compiled program runs quickly and can be distributed without the source code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Examples: C# (compiled by Visual Studio into an executable), C++; Java compiles to bytecode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Interpreter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Translates and executes the source code one line at a 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Stops as soon as it reaches an error, showing where it is – easier to debug while developing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 separate executable file – the program is translated every time it runs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Runs more slowly than compiled code; the user needs the interpreter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Examples: Python, JavaScript, PHP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Compiler vs interpreter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24263"/>
                <a:gridCol w="3248526"/>
                <a:gridCol w="33568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Compiler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Interpreter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Translates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Whole program at once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line at a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Errors reported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After compiling, as a list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When the line is reached; stops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Executable machine code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file – translated each run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Execution speed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Best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Distributing finished programs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Developing and testing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2" grpId="0">
        <p:bldAsOne/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2022 Q3: fill-in on translating code; 2024 Q5(b): compiler/interpreter true/false; 2025 Q3(c)(i): two IDE editor aids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2023 Q8 was a QWC on editing features, translation and execution – explain why each feature matters, not just name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'IntelliSense' and 'auto-complete' are credited by name in mark schemes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translator converts a whole program into machine code before it runs?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Interpreter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Compiler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Debugger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Editor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Compiler  –  Compiler.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IDE feature suggests code and shows parameters while you type?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Line numbering</a:t>
            </a:r>
            <a:endParaRPr lang="en-US" sz="16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IntelliSense/auto-complete</a:t>
            </a:r>
            <a:endParaRPr lang="en-US" sz="16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Code outlining</a:t>
            </a:r>
            <a:endParaRPr lang="en-US" sz="16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Breakpoint</a:t>
            </a:r>
            <a:endParaRPr lang="en-US" sz="16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IntelliSense/auto-complete  –  IntelliSense.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An interpreter…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translates one line at a time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creates an .exe file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only works on binary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removes logic errors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translates one line at a time  –  Line by line.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The CPU can only execute…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pseudocode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machine code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Python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flowcharts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machine code  –  Binary machine code.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5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Collapsing and expanding blocks of code is called…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code outlining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syntax highlighting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compiling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decomposition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code outlining  –  Code outlining.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Compiler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Compiler.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IntelliSense/auto-complete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IntelliSense.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translates one line at a time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Line by line.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machine code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Binary machine code.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code outlining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Code outlining.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9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types, range and presence checks, extending a program, IDE features, translation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Translating code; IDE features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Editing features, translation and execution (QWC)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Paradigms fill-in; compilers and interpreters true/false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4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Musician hire algorithm; variables and data types; IDE aids; syntax vs logic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40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Contemporary trends in software development</dc:title>
  <dc:subject>Unit 4: Digital Development Concepts – Contemporary trends in software development</dc:subject>
  <dc:creator>Digital Technology Hub</dc:creator>
  <cp:lastModifiedBy>Digital Technology Hub</cp:lastModifiedBy>
  <cp:revision>1</cp:revision>
  <dcterms:created xsi:type="dcterms:W3CDTF">2026-10-30T13:15:43Z</dcterms:created>
  <dcterms:modified xsi:type="dcterms:W3CDTF">2026-10-30T13:15:43Z</dcterms:modified>
</cp:coreProperties>
</file>