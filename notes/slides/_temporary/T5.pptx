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notesMasterIdLst>
    <p:notesMasterId r:id="rId7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overview" id="{b0f8621b-d3a5-2566-21a0-ea72f75885d8}">
          <p14:sldIdLst>
            <p14:sldId id="256"/>
            <p14:sldId id="257"/>
            <p14:sldId id="258"/>
            <p14:sldId id="259"/>
          </p14:sldIdLst>
        </p14:section>
        <p14:section name="L13 · The CPU and the fetch–execute cycle" id="{cb2341f7-6ebb-e0d4-c1a2-c65d79aee5f5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L14 · CPU performance and memory: RAM, ROM and cache" id="{2898120f-007a-5226-cec1-a7fea137a002}">
          <p14:sldIdLst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</p14:sldIdLst>
        </p14:section>
        <p14:section name="L15 · Input, output and storage devices" id="{7d1c204f-8010-9464-1923-798b0a2eb4fc}">
          <p14:sldIdLst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notesMaster" Target="notesMasters/notesMaster1.xml"/><Relationship Id="rId79" Type="http://schemas.openxmlformats.org/officeDocument/2006/relationships/presProps" Target="presProps.xml"/><Relationship Id="rId80" Type="http://schemas.openxmlformats.org/officeDocument/2006/relationships/viewProps" Target="viewProps.xml"/><Relationship Id="rId81" Type="http://schemas.openxmlformats.org/officeDocument/2006/relationships/theme" Target="theme/theme1.xml"/><Relationship Id="rId8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lesson below is its own section in PowerPoint (View → Slide Sorter shows them). To split this deck by specification point, right-click a section → Move Section, or delete the sections you do not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Explain the purpose of the central processing unit (CPU) | Describe the role of the following components of the CPU: the arithmetic logic unit (ALU), control unit and immediate-access store | Describe the role the following play in the fetch-execute cycle: program counter, memory address register (MAR), memory data register (MDR), instruction address register (IAR) and ALU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the impact of clock speed, cache size, and number of cores on CPU performance | Explain the purpose of random access memory (RAM), read only memory (ROM) and cache | Describe the role of ROM in the boot-up process | Compare RAM, ROM and cache in terms of volatility, read/write access, size and speed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the characteristics, typical uses, and advantages and disadvantages of: microphone, mouse, graphics digitiser, touch screens, speakers, printers (laser and 3D), hard disc drive (HDD), high definition (HD) storage media and solid state drive (SSD) | Describe other solid-state storage: USB flash drives, memory cards and smart cards | Compare storage devices using capacity, access speed, portability, durability and cost | Recommend and justify suitable devices for a given scenario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5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50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75E"/>
                </a:solidFill>
              </a:rPr>
              <a:t>CCEA GCSE Digital Technology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83080"/>
            <a:ext cx="78638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4ECE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28.xml"/><Relationship Id="rId5" Type="http://schemas.openxmlformats.org/officeDocument/2006/relationships/slide" Target="slide52.xml"/><Relationship Id="rId1" Type="http://schemas.openxmlformats.org/officeDocument/2006/relationships/image" Target="../media/image-2-1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3" Type="http://schemas.openxmlformats.org/officeDocument/2006/relationships/slide" Target="slide8.xml"/><Relationship Id="rId4" Type="http://schemas.openxmlformats.org/officeDocument/2006/relationships/slide" Target="slide9.xml"/><Relationship Id="rId5" Type="http://schemas.openxmlformats.org/officeDocument/2006/relationships/slide" Target="slide10.xml"/><Relationship Id="rId6" Type="http://schemas.openxmlformats.org/officeDocument/2006/relationships/slide" Target="slide11.xml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6.xml"/><Relationship Id="rId12" Type="http://schemas.openxmlformats.org/officeDocument/2006/relationships/slide" Target="slide17.xml"/><Relationship Id="rId13" Type="http://schemas.openxmlformats.org/officeDocument/2006/relationships/slide" Target="slide18.xml"/><Relationship Id="rId14" Type="http://schemas.openxmlformats.org/officeDocument/2006/relationships/slide" Target="slide2.xml"/><Relationship Id="rId1" Type="http://schemas.openxmlformats.org/officeDocument/2006/relationships/image" Target="../media/image-6-1.png"/><Relationship Id="rId15" Type="http://schemas.openxmlformats.org/officeDocument/2006/relationships/slideLayout" Target="../slideLayouts/slideLayout3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3" Type="http://schemas.openxmlformats.org/officeDocument/2006/relationships/slide" Target="slide31.xml"/><Relationship Id="rId4" Type="http://schemas.openxmlformats.org/officeDocument/2006/relationships/slide" Target="slide32.xml"/><Relationship Id="rId5" Type="http://schemas.openxmlformats.org/officeDocument/2006/relationships/slide" Target="slide33.xml"/><Relationship Id="rId6" Type="http://schemas.openxmlformats.org/officeDocument/2006/relationships/slide" Target="slide34.xml"/><Relationship Id="rId7" Type="http://schemas.openxmlformats.org/officeDocument/2006/relationships/slide" Target="slide35.xml"/><Relationship Id="rId8" Type="http://schemas.openxmlformats.org/officeDocument/2006/relationships/slide" Target="slide36.xml"/><Relationship Id="rId9" Type="http://schemas.openxmlformats.org/officeDocument/2006/relationships/slide" Target="slide37.xml"/><Relationship Id="rId10" Type="http://schemas.openxmlformats.org/officeDocument/2006/relationships/slide" Target="slide38.xml"/><Relationship Id="rId11" Type="http://schemas.openxmlformats.org/officeDocument/2006/relationships/slide" Target="slide39.xml"/><Relationship Id="rId12" Type="http://schemas.openxmlformats.org/officeDocument/2006/relationships/slide" Target="slide40.xml"/><Relationship Id="rId13" Type="http://schemas.openxmlformats.org/officeDocument/2006/relationships/slide" Target="slide41.xml"/><Relationship Id="rId14" Type="http://schemas.openxmlformats.org/officeDocument/2006/relationships/slide" Target="slide42.xml"/><Relationship Id="rId15" Type="http://schemas.openxmlformats.org/officeDocument/2006/relationships/slide" Target="slide2.xml"/><Relationship Id="rId1" Type="http://schemas.openxmlformats.org/officeDocument/2006/relationships/image" Target="../media/image-29-1.png"/><Relationship Id="rId16" Type="http://schemas.openxmlformats.org/officeDocument/2006/relationships/slideLayout" Target="../slideLayouts/slideLayout3.xml"/><Relationship Id="rId1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3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3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3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3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3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3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3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3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3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4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4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4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4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4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4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4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4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4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4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5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image" Target="../media/image-5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54.xml"/><Relationship Id="rId3" Type="http://schemas.openxmlformats.org/officeDocument/2006/relationships/slide" Target="slide55.xml"/><Relationship Id="rId4" Type="http://schemas.openxmlformats.org/officeDocument/2006/relationships/slide" Target="slide56.xml"/><Relationship Id="rId5" Type="http://schemas.openxmlformats.org/officeDocument/2006/relationships/slide" Target="slide57.xml"/><Relationship Id="rId6" Type="http://schemas.openxmlformats.org/officeDocument/2006/relationships/slide" Target="slide58.xml"/><Relationship Id="rId7" Type="http://schemas.openxmlformats.org/officeDocument/2006/relationships/slide" Target="slide59.xml"/><Relationship Id="rId8" Type="http://schemas.openxmlformats.org/officeDocument/2006/relationships/slide" Target="slide60.xml"/><Relationship Id="rId9" Type="http://schemas.openxmlformats.org/officeDocument/2006/relationships/slide" Target="slide61.xml"/><Relationship Id="rId10" Type="http://schemas.openxmlformats.org/officeDocument/2006/relationships/slide" Target="slide62.xml"/><Relationship Id="rId11" Type="http://schemas.openxmlformats.org/officeDocument/2006/relationships/slide" Target="slide63.xml"/><Relationship Id="rId12" Type="http://schemas.openxmlformats.org/officeDocument/2006/relationships/slide" Target="slide64.xml"/><Relationship Id="rId13" Type="http://schemas.openxmlformats.org/officeDocument/2006/relationships/slide" Target="slide65.xml"/><Relationship Id="rId14" Type="http://schemas.openxmlformats.org/officeDocument/2006/relationships/slide" Target="slide66.xml"/><Relationship Id="rId15" Type="http://schemas.openxmlformats.org/officeDocument/2006/relationships/slide" Target="slide67.xml"/><Relationship Id="rId16" Type="http://schemas.openxmlformats.org/officeDocument/2006/relationships/slide" Target="slide2.xml"/><Relationship Id="rId1" Type="http://schemas.openxmlformats.org/officeDocument/2006/relationships/image" Target="../media/image-53-1.pn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" Target="slide53.xml"/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5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5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5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5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5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6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6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6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6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6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6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6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6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6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6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7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7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7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7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7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7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7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1: DIGITAL TECHNOLOGY  ·  TOPIC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Computer hardware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Lessons in this topic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L13  The CPU and the fetch–execute cycle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L14  CPU performance and memory: RAM, ROM and cache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L15  Input, output and storage devices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Topic menu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Specificati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Specification map</a:t>
            </a:r>
            <a:endParaRPr lang="en-US" sz="1500" dirty="0"/>
          </a:p>
        </p:txBody>
      </p:sp>
      <p:sp>
        <p:nvSpPr>
          <p:cNvPr id="7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hlinkClick r:id="rId3" action="ppaction://hlinksldjump" tooltip="L13  The CPU and the fetch–execute cyc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L13  The CPU and the fetch–execute cycle</a:t>
            </a:r>
            <a:endParaRPr lang="en-US" sz="1300" dirty="0"/>
          </a:p>
        </p:txBody>
      </p:sp>
      <p:sp>
        <p:nvSpPr>
          <p:cNvPr id="8" name="btn">
            <a:hlinkClick r:id="rId4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4" action="ppaction://hlinksldjump" tooltip="L14  CPU performance and memory: RAM, ROM and cach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L14  CPU performance and memory: RAM, ROM and cache</a:t>
            </a:r>
            <a:endParaRPr lang="en-US" sz="1200" dirty="0"/>
          </a:p>
        </p:txBody>
      </p:sp>
      <p:sp>
        <p:nvSpPr>
          <p:cNvPr id="9" name="btn">
            <a:hlinkClick r:id="rId5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hlinkClick r:id="rId5" action="ppaction://hlinksldjump" tooltip="L15  Input, output and storage devic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L15  Input, output and storage devices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 (1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L13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Explain the purpose of the central processing unit (CPU); Describe the role of the following components of the CPU: the arithmetic logic unit (ALU), control unit and immediate-access store; Describe the role the following play in the fetch-execute cycle: program counter, memory address register (MAR), memory data register (MDR), instruction address register (IAR) and ALU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L14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the impact of clock speed, cache size, and number of cores on CPU performance; Explain the purpose of random access memory (RAM), read only memory (ROM) and cache; Describe the role of ROM in the boot-up process; Compare RAM, ROM and cache in terms of volatility, read/write access, size and speed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6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 (2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L15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the characteristics, typical uses, and advantages and disadvantages of: microphone, mouse, graphics digitiser, touch screens, speakers, printers (laser and 3D), hard disc drive (HDD), high definition (HD) storage media and solid state drive (SSD); Describe other solid-state storage: USB flash drives, memory cards and smart cards; Compare storage devices using capacity, access speed, portability, durability and cost; Recommend and justify suitable devices for a given scenario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5" grpId="0">
        <p:bldAsOne/>
      </p:bldGraphic>
      <p:bldP spid="7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1: DIGITAL TECHNOLOGY  ·  L13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The CPU and the fetch–execute cycle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the purpose of the CPU using processing language, not just 'the brain'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what the control unit, ALU and immediate-access store each do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the job of the PC, MAR, MDR, IAR and accumulator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each stage of the fetch–decode–execute cycle in the correct order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11818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Purpose of the CP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Purpose of the CPU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297757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The three main compone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three main components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2783695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The control unit in detai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control unit in detail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269633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The ALU and the accumulato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ALU and the accumulator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3755571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5221C"/>
                </a:solidFill>
                <a:hlinkClick r:id="rId7" action="ppaction://hlinksldjump" tooltip="The immediate-access store (main memory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immediate-access store (main memory)</a:t>
            </a:r>
            <a:endParaRPr lang="en-US" sz="13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57200" y="4241510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5221C"/>
                </a:solidFill>
                <a:hlinkClick r:id="rId8" action="ppaction://hlinksldjump" tooltip="Registers: tiny, very fast stores inside the CP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Registers: tiny, very fast stores inside the CPU</a:t>
            </a:r>
            <a:endParaRPr lang="en-US" sz="13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1325880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9" action="ppaction://hlinksldjump" tooltip="The fetch–decode–execute cyc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fetch–decode–execute cycle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1811818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5221C"/>
                </a:solidFill>
                <a:hlinkClick r:id="rId10" action="ppaction://hlinksldjump" tooltip="Worked example: a canteen till adds two pric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a canteen till adds two prices</a:t>
            </a:r>
            <a:endParaRPr lang="en-US" sz="13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4640580" y="2297757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11" action="ppaction://hlinksldjump" tooltip="Tracing the first instru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Tracing the first instruction</a:t>
            </a:r>
            <a:endParaRPr lang="en-US" sz="15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4640580" y="2783695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12" action="ppaction://hlinksldjump" tooltip="Exam t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 tips</a:t>
            </a:r>
            <a:endParaRPr lang="en-US" sz="15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4640580" y="3269633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3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4640580" y="3755571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4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Inside the CPU: the fetch–execute cycle using the PC, MAR, MDR and IAR with main memo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Inside the CPU: the fetch–execute cycle using the PC, MAR, MDR and IAR with main memory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Purpose of the CPU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CPU = central processing unit. It is a microprocessor: a single chip that does the processing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Its purpose is to process data and carry out (execute) the instructions of programs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 manages the functions of the computer by sending signals that control the other hardware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 works by fetching an instruction from memory, decoding it and executing it, over and over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You may hear it called the 'brain' of the computer, but that nickname alone earns no marks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three main components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63484"/>
                <a:gridCol w="686611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Control unit (CU)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Decides which instruction comes next, fetches it, decodes it and sends control signals so it is carried out. It co-ordinates every other part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Arithmetic logic unit (ALU)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Does arithmetic (add, subtract, multiply, divide) and logic (AND, OR, NOT and comparisons such as 'is A greater than B?')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Immediate-access store (IAS)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Main memory. Holds the programs and data in use right now, so the CPU can reach them directly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0" grpId="0">
        <p:bldAsOne/>
      </p:bldGraphic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control unit in detail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Job 1: work out which instruction is next and fetch it from memory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Job 2: decode the instruction – work out what it means and what has to happen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Job 3: make the instruction happen by sending control signals to the ALU, memory and other devices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Usually handles one instruction at a time, in order, unless an instruction tells it to jump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Think of it as a conductor: it does not play the music, it tells every section when to play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ALU and the accumulator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Arithmetic: e.g. adding up the cost of items scanned at a school canteen till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Logic: comparisons that help a program make decisions, e.g. 'is the pupil's balance less than £2.50?'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Logical operators used: AND, OR, NOT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accumulator is a register inside the ALU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result of each calculation is held in the accumulator first, before being stored back in memory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The immediate-access store (main memory)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Holds programs and data temporarily while they are being used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same programs and files are also kept permanently on a storage device such as an SSD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Memory is split into locations. Each location has its own unique address (a number)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CPU uses the address to find the exact instruction or data it needs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Without the IAS the CPU would have nothing to fetch, so the cycle could not run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Registers: tiny, very fast stores inside the CPU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685581"/>
                <a:gridCol w="654401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Register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holds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Program counter (PC)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address of the next instruction to fetch. Goes up by 1 after each fetch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Memory address register (MAR)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address of the memory location being read from or written to right now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Memory data register (MDR)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instruction or data just fetched from memory, or about to be written to it. Everything going to or from memory passes through 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Instruction address register (IAR)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 CCEA wording: the instruction currently being decoded and executed (the textbook calls this the instruction register)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Accumulator (ACC)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result of the latest ALU calculation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4" grpId="0">
        <p:bldAsOne/>
      </p:bldGraphic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fetch–decode–execute cycle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FETCH 1: the address in the PC is copied into the MAR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FETCH 2: the instruction at that address is copied from main memory into the MDR, then into the IAR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FETCH 3: the PC is increased by 1 so it points to the next instruction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DECODE: the control unit works out what the instruction means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EXECUTE: the instruction is carried out; any calculation or comparison is done by the ALU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cycle then starts again – billions of times every second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a canteen till adds two prices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847165"/>
                <a:gridCol w="73824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Address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Contents of main memory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100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LOAD 200 (copy the value at address 200 into the accumulator)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101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ADD 201 (add the value at address 201 to the accumulator)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102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STORE 202 (copy the accumulator into address 202)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200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180 (a panini costs 180p)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201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95 (a bottle of water costs 95p)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202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(empty – the total will go here)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6" grpId="0">
        <p:bldAsOne/>
      </p:bldGraphic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Tracing the first instruction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Start: PC = 100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Fetch: 100 is copied to the MAR; 'LOAD 200' is copied from address 100 to the MDR, then to the IAR; PC becomes 101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Decode: the control unit sees that it must load the value from address 200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Execute: 200 goes into the MAR, the value 180 comes back through the MDR and is placed in the accumulator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Next two cycles: ADD 201 makes the accumulator 275, then STORE 202 writes 275 into address 202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Total price stored: 275p = £2.75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Exam tips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Write acronyms in full the first time: 'memory address register (MAR)'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Describe what each part does, not just its name – 'the ALU does calculations' is better than 'the ALU'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Keep the fetch order: PC → MAR → memory → MDR → IAR, then PC + 1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Do not mix up the MAR (holds an address) with the MDR (holds data or an instruction)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Decoding is done by the control unit, not the ALU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part of the CPU carries out calculations and logical comparisons?</a:t>
            </a:r>
            <a:endParaRPr lang="en-US" sz="1700" dirty="0"/>
          </a:p>
        </p:txBody>
      </p:sp>
      <p:sp>
        <p:nvSpPr>
          <p:cNvPr id="7" name="trig:k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Control unit</a:t>
            </a:r>
            <a:endParaRPr lang="en-US" sz="1600" dirty="0"/>
          </a:p>
        </p:txBody>
      </p:sp>
      <p:sp>
        <p:nvSpPr>
          <p:cNvPr id="8" name="on:k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Arithmetic logic unit (ALU)</a:t>
            </a:r>
            <a:endParaRPr lang="en-US" sz="1600" dirty="0"/>
          </a:p>
        </p:txBody>
      </p:sp>
      <p:sp>
        <p:nvSpPr>
          <p:cNvPr id="10" name="on:k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Memory address register</a:t>
            </a:r>
            <a:endParaRPr lang="en-US" sz="1600" dirty="0"/>
          </a:p>
        </p:txBody>
      </p:sp>
      <p:sp>
        <p:nvSpPr>
          <p:cNvPr id="12" name="on:k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Program counter</a:t>
            </a:r>
            <a:endParaRPr lang="en-US" sz="1600" dirty="0"/>
          </a:p>
        </p:txBody>
      </p:sp>
      <p:sp>
        <p:nvSpPr>
          <p:cNvPr id="14" name="on:k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Arithmetic logic unit (ALU)  –  The ALU does arithmetic (e.g. addition) and logic (e.g. comparisons using AND, OR, NOT).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register holds the address of the next instruction to be fetched?</a:t>
            </a:r>
            <a:endParaRPr lang="en-US" sz="1700" dirty="0"/>
          </a:p>
        </p:txBody>
      </p:sp>
      <p:sp>
        <p:nvSpPr>
          <p:cNvPr id="7" name="trig:k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Program counter</a:t>
            </a:r>
            <a:endParaRPr lang="en-US" sz="1600" dirty="0"/>
          </a:p>
        </p:txBody>
      </p:sp>
      <p:sp>
        <p:nvSpPr>
          <p:cNvPr id="8" name="on:k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Memory data register</a:t>
            </a:r>
            <a:endParaRPr lang="en-US" sz="1600" dirty="0"/>
          </a:p>
        </p:txBody>
      </p:sp>
      <p:sp>
        <p:nvSpPr>
          <p:cNvPr id="10" name="on:k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Accumulator</a:t>
            </a:r>
            <a:endParaRPr lang="en-US" sz="1600" dirty="0"/>
          </a:p>
        </p:txBody>
      </p:sp>
      <p:sp>
        <p:nvSpPr>
          <p:cNvPr id="12" name="on:k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Instruction address register</a:t>
            </a:r>
            <a:endParaRPr lang="en-US" sz="1600" dirty="0"/>
          </a:p>
        </p:txBody>
      </p:sp>
      <p:sp>
        <p:nvSpPr>
          <p:cNvPr id="14" name="on:k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Program counter  –  The program counter holds the next address and is increased by one after each fetch.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does the memory data register (MDR) hold?</a:t>
            </a:r>
            <a:endParaRPr lang="en-US" sz="1700" dirty="0"/>
          </a:p>
        </p:txBody>
      </p:sp>
      <p:sp>
        <p:nvSpPr>
          <p:cNvPr id="7" name="trig:k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 address of the location being accessed</a:t>
            </a:r>
            <a:endParaRPr lang="en-US" sz="1250" dirty="0"/>
          </a:p>
        </p:txBody>
      </p:sp>
      <p:sp>
        <p:nvSpPr>
          <p:cNvPr id="8" name="on:k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 address of the next instruction</a:t>
            </a:r>
            <a:endParaRPr lang="en-US" sz="1250" dirty="0"/>
          </a:p>
        </p:txBody>
      </p:sp>
      <p:sp>
        <p:nvSpPr>
          <p:cNvPr id="10" name="on:k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 instruction or data just fetched from, or about to be written to, memory</a:t>
            </a:r>
            <a:endParaRPr lang="en-US" sz="1250" dirty="0"/>
          </a:p>
        </p:txBody>
      </p:sp>
      <p:sp>
        <p:nvSpPr>
          <p:cNvPr id="12" name="on:k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 clock speed of the CPU</a:t>
            </a:r>
            <a:endParaRPr lang="en-US" sz="1250" dirty="0"/>
          </a:p>
        </p:txBody>
      </p:sp>
      <p:sp>
        <p:nvSpPr>
          <p:cNvPr id="14" name="on:k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The instruction or data just fetched from, or about to be written to, memory  –  The MDR holds data or instructions travelling to or from memory. The MAR holds the address.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component decodes instructions and sends control signals?</a:t>
            </a:r>
            <a:endParaRPr lang="en-US" sz="1700" dirty="0"/>
          </a:p>
        </p:txBody>
      </p:sp>
      <p:sp>
        <p:nvSpPr>
          <p:cNvPr id="7" name="trig:k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ALU</a:t>
            </a:r>
            <a:endParaRPr lang="en-US" sz="1600" dirty="0"/>
          </a:p>
        </p:txBody>
      </p:sp>
      <p:sp>
        <p:nvSpPr>
          <p:cNvPr id="8" name="on:k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Accumulator</a:t>
            </a:r>
            <a:endParaRPr lang="en-US" sz="1600" dirty="0"/>
          </a:p>
        </p:txBody>
      </p:sp>
      <p:sp>
        <p:nvSpPr>
          <p:cNvPr id="10" name="on:k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Immediate-access store</a:t>
            </a:r>
            <a:endParaRPr lang="en-US" sz="1600" dirty="0"/>
          </a:p>
        </p:txBody>
      </p:sp>
      <p:sp>
        <p:nvSpPr>
          <p:cNvPr id="12" name="on:k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Control unit</a:t>
            </a:r>
            <a:endParaRPr lang="en-US" sz="1600" dirty="0"/>
          </a:p>
        </p:txBody>
      </p:sp>
      <p:sp>
        <p:nvSpPr>
          <p:cNvPr id="14" name="on:k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Control unit  –  The control unit decodes each instruction and co-ordinates the other components.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the correct order of the cycle?</a:t>
            </a:r>
            <a:endParaRPr lang="en-US" sz="1700" dirty="0"/>
          </a:p>
        </p:txBody>
      </p:sp>
      <p:sp>
        <p:nvSpPr>
          <p:cNvPr id="7" name="trig:k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Execute, fetch, decode</a:t>
            </a:r>
            <a:endParaRPr lang="en-US" sz="1600" dirty="0"/>
          </a:p>
        </p:txBody>
      </p:sp>
      <p:sp>
        <p:nvSpPr>
          <p:cNvPr id="8" name="on:k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Fetch, decode, execute</a:t>
            </a:r>
            <a:endParaRPr lang="en-US" sz="1600" dirty="0"/>
          </a:p>
        </p:txBody>
      </p:sp>
      <p:sp>
        <p:nvSpPr>
          <p:cNvPr id="10" name="on:k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Decode, fetch, execute</a:t>
            </a:r>
            <a:endParaRPr lang="en-US" sz="1600" dirty="0"/>
          </a:p>
        </p:txBody>
      </p:sp>
      <p:sp>
        <p:nvSpPr>
          <p:cNvPr id="12" name="on:k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Fetch, execute, decode</a:t>
            </a:r>
            <a:endParaRPr lang="en-US" sz="1600" dirty="0"/>
          </a:p>
        </p:txBody>
      </p:sp>
      <p:sp>
        <p:nvSpPr>
          <p:cNvPr id="14" name="on:k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Fetch, decode, execute  –  An instruction must be fetched before it can be decoded, and decoded before it can be executed.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best explains the purpose of the CPU?</a:t>
            </a:r>
            <a:endParaRPr lang="en-US" sz="1700" dirty="0"/>
          </a:p>
        </p:txBody>
      </p:sp>
      <p:sp>
        <p:nvSpPr>
          <p:cNvPr id="7" name="trig:k2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stores files permanently</a:t>
            </a:r>
            <a:endParaRPr lang="en-US" sz="1250" dirty="0"/>
          </a:p>
        </p:txBody>
      </p:sp>
      <p:sp>
        <p:nvSpPr>
          <p:cNvPr id="8" name="on:k2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displays output to the user</a:t>
            </a:r>
            <a:endParaRPr lang="en-US" sz="1250" dirty="0"/>
          </a:p>
        </p:txBody>
      </p:sp>
      <p:sp>
        <p:nvSpPr>
          <p:cNvPr id="10" name="on:k2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processes data and carries out the instructions of programs</a:t>
            </a:r>
            <a:endParaRPr lang="en-US" sz="1250" dirty="0"/>
          </a:p>
        </p:txBody>
      </p:sp>
      <p:sp>
        <p:nvSpPr>
          <p:cNvPr id="12" name="on:k2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2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connects the computer to a network</a:t>
            </a:r>
            <a:endParaRPr lang="en-US" sz="1250" dirty="0"/>
          </a:p>
        </p:txBody>
      </p:sp>
      <p:sp>
        <p:nvSpPr>
          <p:cNvPr id="14" name="on:k2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It processes data and carries out the instructions of programs  –  This is the processing explanation that mark schemes credit.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In the first step of the fetch stage, the contents of the program counter are copied into…</a:t>
            </a:r>
            <a:endParaRPr lang="en-US" sz="1700" dirty="0"/>
          </a:p>
        </p:txBody>
      </p:sp>
      <p:sp>
        <p:nvSpPr>
          <p:cNvPr id="7" name="trig:k2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MAR</a:t>
            </a:r>
            <a:endParaRPr lang="en-US" sz="1600" dirty="0"/>
          </a:p>
        </p:txBody>
      </p:sp>
      <p:sp>
        <p:nvSpPr>
          <p:cNvPr id="8" name="on:k2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2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MDR</a:t>
            </a:r>
            <a:endParaRPr lang="en-US" sz="1600" dirty="0"/>
          </a:p>
        </p:txBody>
      </p:sp>
      <p:sp>
        <p:nvSpPr>
          <p:cNvPr id="10" name="on:k2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accumulator</a:t>
            </a:r>
            <a:endParaRPr lang="en-US" sz="1600" dirty="0"/>
          </a:p>
        </p:txBody>
      </p:sp>
      <p:sp>
        <p:nvSpPr>
          <p:cNvPr id="12" name="on:k2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ALU</a:t>
            </a:r>
            <a:endParaRPr lang="en-US" sz="1600" dirty="0"/>
          </a:p>
        </p:txBody>
      </p:sp>
      <p:sp>
        <p:nvSpPr>
          <p:cNvPr id="14" name="on:k2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the MAR  –  The address of the next instruction goes into the memory address register so that memory location can be read.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Where is the result of an ALU calculation first held?</a:t>
            </a:r>
            <a:endParaRPr lang="en-US" sz="1700" dirty="0"/>
          </a:p>
        </p:txBody>
      </p:sp>
      <p:sp>
        <p:nvSpPr>
          <p:cNvPr id="7" name="trig:k2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Program counter</a:t>
            </a:r>
            <a:endParaRPr lang="en-US" sz="1600" dirty="0"/>
          </a:p>
        </p:txBody>
      </p:sp>
      <p:sp>
        <p:nvSpPr>
          <p:cNvPr id="8" name="on:k2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Memory address register</a:t>
            </a:r>
            <a:endParaRPr lang="en-US" sz="1600" dirty="0"/>
          </a:p>
        </p:txBody>
      </p:sp>
      <p:sp>
        <p:nvSpPr>
          <p:cNvPr id="10" name="on:k3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Hard disc</a:t>
            </a:r>
            <a:endParaRPr lang="en-US" sz="1600" dirty="0"/>
          </a:p>
        </p:txBody>
      </p:sp>
      <p:sp>
        <p:nvSpPr>
          <p:cNvPr id="12" name="on:k3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Accumulator</a:t>
            </a:r>
            <a:endParaRPr lang="en-US" sz="1600" dirty="0"/>
          </a:p>
        </p:txBody>
      </p:sp>
      <p:sp>
        <p:nvSpPr>
          <p:cNvPr id="14" name="on:k3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3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Accumulator  –  The accumulator is the ALU's register for results, before they are stored back in memory.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Arithmetic logic unit (ALU)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ALU does arithmetic (e.g. addition) and logic (e.g. comparisons using AND, OR, NOT).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Program counter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program counter holds the next address and is increased by one after each fetch.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The instruction or data just fetched from, or about to be written to, memory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MDR holds data or instructions travelling to or from memory. The MAR holds the address.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Control unit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control unit decodes each instruction and co-ordinates the other components.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Fetch, decode, execute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An instruction must be fetched before it can be decoded, and decoded before it can be executed.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It processes data and carries out the instructions of programs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This is the processing explanation that mark schemes credit.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the MAR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address of the next instruction goes into the memory address register so that memory location can be read.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Accumulator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accumulator is the ALU's register for results, before they are stored back in memory.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27" grpId="0">
        <p:bldAsOne/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2019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Q5(c)–(d)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ALU, control unit, fetch–execute terms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CPU, registers, speed, clock speed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ALU and immediate-access store (levelled)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CPU, system software resources, real-time vs multi-user, utilities, I/O devices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Spreadsheet functions, CPU purpose and components, immediate-access store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Fetch–execute cycle; input devices and uses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25" grpId="0" animBg="1"/>
      <p:bldGraphic spid="28" grpId="0">
        <p:bldAsOne/>
      </p:bldGraphic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1: DIGITAL TECHNOLOGY  ·  L14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CPU performance and memory: RAM, ROM and cache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how clock speed, cache size and number of cores each affect CPU performance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the purpose of RAM, ROM and cache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Compare RAM, ROM and cache using the terms volatile and non-volatile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Recommend and justify a processor and memory specification for a given user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11818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What makes a CPU fast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makes a CPU fast?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297757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Clock spe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Clock speed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2783695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5221C"/>
                </a:solidFill>
                <a:hlinkClick r:id="rId5" action="ppaction://hlinksldjump" tooltip="Worked example: comparing clock speed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comparing clock speeds</a:t>
            </a:r>
            <a:endParaRPr lang="en-US" sz="13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269633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Number of cor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Number of cores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3755571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Cache siz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Cache size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57200" y="4241510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Internal memory: RA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Internal memory: RAM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1325880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9" action="ppaction://hlinksldjump" tooltip="When RAM runs out: virtual memo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When RAM runs out: virtual memory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1811818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5221C"/>
                </a:solidFill>
                <a:hlinkClick r:id="rId10" action="ppaction://hlinksldjump" tooltip="Internal memory: ROM and booting u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Internal memory: ROM and booting up</a:t>
            </a:r>
            <a:endParaRPr lang="en-US" sz="13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4640580" y="2297757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11" action="ppaction://hlinksldjump" tooltip="Comparing RAM, ROM and cach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Comparing RAM, ROM and cache</a:t>
            </a:r>
            <a:endParaRPr lang="en-US" sz="15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4640580" y="2783695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Worked example: choosing a laptop for a sixth-form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choosing a laptop for a sixth-former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4640580" y="3269633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13" action="ppaction://hlinksldjump" tooltip="Exam t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 tips</a:t>
            </a:r>
            <a:endParaRPr lang="en-US" sz="15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4640580" y="3755571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4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4640580" y="4241510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5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Memory hierarchy pyramid from registers to secondary stor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Memory hierarchy pyramid from registers to secondary storage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What makes a CPU fast?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Three factors in the specification: clock speed, cache size and number of cores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one changes how many instructions can be processed per second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None of them works alone – a fast CPU can still be held back by too little RAM or slow storage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 exam answers, always say what the factor is AND how it changes performance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Clock speed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CPU has a clock that sends out a steady stream of pulses. Each pulse lets the CPU move on a step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Clock speed = the number of fetch–execute cycles the CPU can carry out per second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Measured in hertz (Hz). 1 Hz = 1 cycle per second; 1 GHz = 1 billion cycles per second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Higher clock speed → more instructions processed per second → programs run faster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Limits: faster clocks create more heat and use more power; other slow parts can still hold the CPU back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comparing clock speeds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Laptop A: 2.4 GHz → 2.4 × 1,000,000,000 = 2,400,000,000 cycles per second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Laptop B: 3.6 GHz → 3,600,000,000 cycles per second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Difference: 3.6 − 2.4 = 1.2 GHz, so B can do 1,200,000,000 more cycles every second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3.6 ÷ 2.4 = 1.5, so B's clock is 1.5 times as fast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But if both have the same number of cores and cache, B will usually be quicker – not exactly 1.5 times, as other parts also limit speed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Number of cores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core is a full processing unit: each one has a control unit, an ALU and a set of registers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Dual-core = 2 cores, quad-core = 4, octa-core = 8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core can fetch, decode and execute its own instructions, so several can be processed at the same time (in parallel)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Helps most with multitasking, e.g. streaming music while editing a video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Doubling the cores does not double the speed: the software must be written to use several cores, and cores must share work and memory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Cache size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Cache is a small amount of very fast memory built into or right next to the CPU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 holds instructions and data that are used often, so they do not have to be fetched from slower RAM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CPU checks the cache first. If what it needs is there, it gets it much more quickly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Larger cache → more can be kept close to the CPU → fewer slow trips to RAM → faster processing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Cache is expensive, so it is measured in megabytes, while RAM is measured in gigabytes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Internal memory: RAM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Random access memory: the main memory of the computer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Purpose: holds the operating system, programs and data currently in use, e.g. the open essay and the word processor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Can be read from and written to; its contents change as you open and close apps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Volatile: everything in it is lost when the power is switched off, which is why you must save work to storage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More RAM lets more programs stay open at once without slowing down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When RAM runs out: virtual memory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If RAM is full, the operating system moves some data out to the hard disc or SSD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This area of storage used as extra memory is called virtual memory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Storage is much slower than RAM, so the computer slows down as data is swapped back and forth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Adding RAM reduces the need for virtual memory, which is why it can make a computer feel faster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 does not make the CPU's clock faster – it removes a bottleneck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Internal memory: ROM and booting up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Read only memory: can be read but not normally changed by the user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Non-volatile: keeps its contents when the power is off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Purpose: holds the start-up instructions (the boot program / BIOS) that must be there every time the computer is switched on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Boot-up: the CPU runs the ROM instructions → hardware is checked → the operating system is loaded from storage into RAM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RAM cannot do this job because it is empty when the computer is switched on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Comparing RAM, ROM and cache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802888"/>
                <a:gridCol w="2274849"/>
                <a:gridCol w="2274849"/>
                <a:gridCol w="28770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RAM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Cache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Holds OS, programs and data in use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Holds start-up (boot) instructions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Holds frequently used instructions and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Volatile?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Read/write?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Read and write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Read only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Read and write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Typical size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Gigabytes (e.g. 8–32 GB)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Small (KB–MB)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Megabytes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Speed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Fast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Slower than RAM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Fastest of the three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Where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Memory modules on the motherboard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Chip on the motherboard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Inside or next to the CPU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0" grpId="0">
        <p:bldAsOne/>
      </p:bldGraphic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Worked example: choosing a laptop for a sixth-former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75664"/>
                <a:gridCol w="633046"/>
                <a:gridCol w="482089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Laptop X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Laptop 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Clock speed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2.8 GHz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3.4 GHz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Cores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Cache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 MB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12 MB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RAM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8 GB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16 GB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Verdict for video editing for a Moving Image Arts project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Will struggle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Better: higher clock speed, more cores for rendering, larger cache and more RAM for big video files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1" grpId="0">
        <p:bldAsOne/>
      </p:bldGraphic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Exam tips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Link each factor to its effect: 'more cores, so more instructions can be processed at the same time'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Clock speed is cycles per second – it is not the number of cores, and it is not measured in bytes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For cache, mention BOTH that it is faster than RAM AND that it stores frequently used data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For ROM, name the boot program; for RAM, say 'currently in use'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 volatile / non-volatile and explain them: volatile means data is lost when the power is off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Clock speed is measured in…</a:t>
            </a:r>
            <a:endParaRPr lang="en-US" sz="1700" dirty="0"/>
          </a:p>
        </p:txBody>
      </p:sp>
      <p:sp>
        <p:nvSpPr>
          <p:cNvPr id="7" name="trig:k3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bytes</a:t>
            </a:r>
            <a:endParaRPr lang="en-US" sz="1600" dirty="0"/>
          </a:p>
        </p:txBody>
      </p:sp>
      <p:sp>
        <p:nvSpPr>
          <p:cNvPr id="8" name="on:k3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hertz</a:t>
            </a:r>
            <a:endParaRPr lang="en-US" sz="1600" dirty="0"/>
          </a:p>
        </p:txBody>
      </p:sp>
      <p:sp>
        <p:nvSpPr>
          <p:cNvPr id="10" name="on:k3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pixels</a:t>
            </a:r>
            <a:endParaRPr lang="en-US" sz="1600" dirty="0"/>
          </a:p>
        </p:txBody>
      </p:sp>
      <p:sp>
        <p:nvSpPr>
          <p:cNvPr id="12" name="on:k3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bits per second</a:t>
            </a:r>
            <a:endParaRPr lang="en-US" sz="1600" dirty="0"/>
          </a:p>
        </p:txBody>
      </p:sp>
      <p:sp>
        <p:nvSpPr>
          <p:cNvPr id="14" name="on:k3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hertz  –  Clock speed is cycles per second, measured in hertz, usually gigahertz (GHz) today.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does a larger cache usually improve performance?</a:t>
            </a:r>
            <a:endParaRPr lang="en-US" sz="1700" dirty="0"/>
          </a:p>
        </p:txBody>
      </p:sp>
      <p:sp>
        <p:nvSpPr>
          <p:cNvPr id="7" name="trig:k3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increases the clock speed</a:t>
            </a:r>
            <a:endParaRPr lang="en-US" sz="1250" dirty="0"/>
          </a:p>
        </p:txBody>
      </p:sp>
      <p:sp>
        <p:nvSpPr>
          <p:cNvPr id="8" name="on:k3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adds more cores</a:t>
            </a:r>
            <a:endParaRPr lang="en-US" sz="1250" dirty="0"/>
          </a:p>
        </p:txBody>
      </p:sp>
      <p:sp>
        <p:nvSpPr>
          <p:cNvPr id="10" name="on:k3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More frequently used data is kept close to the CPU, so there are fewer slow trips to RAM</a:t>
            </a:r>
            <a:endParaRPr lang="en-US" sz="1250" dirty="0"/>
          </a:p>
        </p:txBody>
      </p:sp>
      <p:sp>
        <p:nvSpPr>
          <p:cNvPr id="12" name="on:k3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4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stores the operating system permanently</a:t>
            </a:r>
            <a:endParaRPr lang="en-US" sz="1250" dirty="0"/>
          </a:p>
        </p:txBody>
      </p:sp>
      <p:sp>
        <p:nvSpPr>
          <p:cNvPr id="14" name="on:k4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More frequently used data is kept close to the CPU, so there are fewer slow trips to RAM  –  Cache is faster than RAM, so the more the CPU can find there, the less time it waits.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type of memory is volatile and holds the programs currently in use?</a:t>
            </a:r>
            <a:endParaRPr lang="en-US" sz="1700" dirty="0"/>
          </a:p>
        </p:txBody>
      </p:sp>
      <p:sp>
        <p:nvSpPr>
          <p:cNvPr id="7" name="trig:k4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ROM</a:t>
            </a:r>
            <a:endParaRPr lang="en-US" sz="1600" dirty="0"/>
          </a:p>
        </p:txBody>
      </p:sp>
      <p:sp>
        <p:nvSpPr>
          <p:cNvPr id="8" name="on:k4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SSD</a:t>
            </a:r>
            <a:endParaRPr lang="en-US" sz="1600" dirty="0"/>
          </a:p>
        </p:txBody>
      </p:sp>
      <p:sp>
        <p:nvSpPr>
          <p:cNvPr id="10" name="on:k4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Blu-ray</a:t>
            </a:r>
            <a:endParaRPr lang="en-US" sz="1600" dirty="0"/>
          </a:p>
        </p:txBody>
      </p:sp>
      <p:sp>
        <p:nvSpPr>
          <p:cNvPr id="12" name="on:k4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RAM</a:t>
            </a:r>
            <a:endParaRPr lang="en-US" sz="1600" dirty="0"/>
          </a:p>
        </p:txBody>
      </p:sp>
      <p:sp>
        <p:nvSpPr>
          <p:cNvPr id="14" name="on:k4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4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RAM  –  RAM is main memory; it is volatile, so its contents are lost without power.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stored in ROM?</a:t>
            </a:r>
            <a:endParaRPr lang="en-US" sz="1700" dirty="0"/>
          </a:p>
        </p:txBody>
      </p:sp>
      <p:sp>
        <p:nvSpPr>
          <p:cNvPr id="7" name="trig:k4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start-up (boot) instructions</a:t>
            </a:r>
            <a:endParaRPr lang="en-US" sz="1600" dirty="0"/>
          </a:p>
        </p:txBody>
      </p:sp>
      <p:sp>
        <p:nvSpPr>
          <p:cNvPr id="8" name="on:k4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4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Your saved documents</a:t>
            </a:r>
            <a:endParaRPr lang="en-US" sz="1600" dirty="0"/>
          </a:p>
        </p:txBody>
      </p:sp>
      <p:sp>
        <p:nvSpPr>
          <p:cNvPr id="10" name="on:k4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web pages you are viewing</a:t>
            </a:r>
            <a:endParaRPr lang="en-US" sz="1600" dirty="0"/>
          </a:p>
        </p:txBody>
      </p:sp>
      <p:sp>
        <p:nvSpPr>
          <p:cNvPr id="12" name="on:k4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Frequently used data copied from RAM</a:t>
            </a:r>
            <a:endParaRPr lang="en-US" sz="1600" dirty="0"/>
          </a:p>
        </p:txBody>
      </p:sp>
      <p:sp>
        <p:nvSpPr>
          <p:cNvPr id="14" name="on:k4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The start-up (boot) instructions  –  ROM holds the boot program/BIOS that runs when the computer is switched on.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Extra cores help most when…</a:t>
            </a:r>
            <a:endParaRPr lang="en-US" sz="1700" dirty="0"/>
          </a:p>
        </p:txBody>
      </p:sp>
      <p:sp>
        <p:nvSpPr>
          <p:cNvPr id="7" name="trig:k4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screen resolution is higher</a:t>
            </a:r>
            <a:endParaRPr lang="en-US" sz="1400" dirty="0"/>
          </a:p>
        </p:txBody>
      </p:sp>
      <p:sp>
        <p:nvSpPr>
          <p:cNvPr id="8" name="on:k4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software can split its work to run in parallel</a:t>
            </a:r>
            <a:endParaRPr lang="en-US" sz="1400" dirty="0"/>
          </a:p>
        </p:txBody>
      </p:sp>
      <p:sp>
        <p:nvSpPr>
          <p:cNvPr id="10" name="on:k5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5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computer is switched off</a:t>
            </a:r>
            <a:endParaRPr lang="en-US" sz="1400" dirty="0"/>
          </a:p>
        </p:txBody>
      </p:sp>
      <p:sp>
        <p:nvSpPr>
          <p:cNvPr id="12" name="on:k5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ROM is larger</a:t>
            </a:r>
            <a:endParaRPr lang="en-US" sz="1400" dirty="0"/>
          </a:p>
        </p:txBody>
      </p:sp>
      <p:sp>
        <p:nvSpPr>
          <p:cNvPr id="14" name="on:k5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software can split its work to run in parallel  –  Each core can process its own instructions at the same time as the others.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processor runs at 4 GHz. How many cycles can it carry out per second?</a:t>
            </a:r>
            <a:endParaRPr lang="en-US" sz="1700" dirty="0"/>
          </a:p>
        </p:txBody>
      </p:sp>
      <p:sp>
        <p:nvSpPr>
          <p:cNvPr id="7" name="trig:k5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4,000</a:t>
            </a:r>
            <a:endParaRPr lang="en-US" sz="1600" dirty="0"/>
          </a:p>
        </p:txBody>
      </p:sp>
      <p:sp>
        <p:nvSpPr>
          <p:cNvPr id="8" name="on:k5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4,000,000</a:t>
            </a:r>
            <a:endParaRPr lang="en-US" sz="1600" dirty="0"/>
          </a:p>
        </p:txBody>
      </p:sp>
      <p:sp>
        <p:nvSpPr>
          <p:cNvPr id="10" name="on:k5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4,000,000,000</a:t>
            </a:r>
            <a:endParaRPr lang="en-US" sz="1600" dirty="0"/>
          </a:p>
        </p:txBody>
      </p:sp>
      <p:sp>
        <p:nvSpPr>
          <p:cNvPr id="12" name="on:k5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5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400,000,000</a:t>
            </a:r>
            <a:endParaRPr lang="en-US" sz="1600" dirty="0"/>
          </a:p>
        </p:txBody>
      </p:sp>
      <p:sp>
        <p:nvSpPr>
          <p:cNvPr id="14" name="on:k5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4,000,000,000  –  Giga means billion (10⁹), so 4 GHz = 4,000,000,000 cycles per second.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statement about cache is correct?</a:t>
            </a:r>
            <a:endParaRPr lang="en-US" sz="1700" dirty="0"/>
          </a:p>
        </p:txBody>
      </p:sp>
      <p:sp>
        <p:nvSpPr>
          <p:cNvPr id="7" name="trig:k5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is faster than RAM and has a smaller capacity</a:t>
            </a:r>
            <a:endParaRPr lang="en-US" sz="1400" dirty="0"/>
          </a:p>
        </p:txBody>
      </p:sp>
      <p:sp>
        <p:nvSpPr>
          <p:cNvPr id="8" name="on:k5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5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is non-volatile</a:t>
            </a:r>
            <a:endParaRPr lang="en-US" sz="1400" dirty="0"/>
          </a:p>
        </p:txBody>
      </p:sp>
      <p:sp>
        <p:nvSpPr>
          <p:cNvPr id="10" name="on:k5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is part of the hard disc</a:t>
            </a:r>
            <a:endParaRPr lang="en-US" sz="1400" dirty="0"/>
          </a:p>
        </p:txBody>
      </p:sp>
      <p:sp>
        <p:nvSpPr>
          <p:cNvPr id="12" name="on:k5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is read only</a:t>
            </a:r>
            <a:endParaRPr lang="en-US" sz="1400" dirty="0"/>
          </a:p>
        </p:txBody>
      </p:sp>
      <p:sp>
        <p:nvSpPr>
          <p:cNvPr id="14" name="on:k6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It is faster than RAM and has a smaller capacity  –  Cache is the fastest internal memory but is small because it is expensive.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virtual memory?</a:t>
            </a:r>
            <a:endParaRPr lang="en-US" sz="1700" dirty="0"/>
          </a:p>
        </p:txBody>
      </p:sp>
      <p:sp>
        <p:nvSpPr>
          <p:cNvPr id="7" name="trig:k6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Memory inside the CPU</a:t>
            </a:r>
            <a:endParaRPr lang="en-US" sz="1400" dirty="0"/>
          </a:p>
        </p:txBody>
      </p:sp>
      <p:sp>
        <p:nvSpPr>
          <p:cNvPr id="8" name="on:k6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Another name for ROM</a:t>
            </a:r>
            <a:endParaRPr lang="en-US" sz="1400" dirty="0"/>
          </a:p>
        </p:txBody>
      </p:sp>
      <p:sp>
        <p:nvSpPr>
          <p:cNvPr id="10" name="on:k6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Memory on a cloud server</a:t>
            </a:r>
            <a:endParaRPr lang="en-US" sz="1400" dirty="0"/>
          </a:p>
        </p:txBody>
      </p:sp>
      <p:sp>
        <p:nvSpPr>
          <p:cNvPr id="12" name="on:k6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Part of the storage drive used as extra RAM when RAM is full</a:t>
            </a:r>
            <a:endParaRPr lang="en-US" sz="1400" dirty="0"/>
          </a:p>
        </p:txBody>
      </p:sp>
      <p:sp>
        <p:nvSpPr>
          <p:cNvPr id="14" name="on:k6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6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D: Part of the storage drive used as extra RAM when RAM is full  –  Because storage is slower than RAM, heavy use of virtual memory slows the computer down.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hertz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Clock speed is cycles per second, measured in hertz, usually gigahertz (GHz) today.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More frequently used data is kept close to the CPU, so there are fewer slow trips to RAM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Cache is faster than RAM, so the more the CPU can find there, the less time it waits.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RAM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RAM is main memory; it is volatile, so its contents are lost without power.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The start-up (boot) instructions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ROM holds the boot program/BIOS that runs when the computer is switched on.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software can split its work to run in parallel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Each core can process its own instructions at the same time as the others.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4,000,000,000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Giga means billion (10⁹), so 4 GHz = 4,000,000,000 cycles per second.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It is faster than RAM and has a smaller capacity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Cache is the fastest internal memory but is small because it is expensive.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Part of the storage drive used as extra RAM when RAM is full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Because storage is slower than RAM, heavy use of virtual memory slows the computer down.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51" grpId="0">
        <p:bldAsOne/>
      </p:bldGraphic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CPU, registers, speed, clock speed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WAN, encryption, firewall, processor performance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Spreadsheet functions, CPU purpose and components, immediate-access store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Network statements, bus disadvantages, LAN, encryption, HTTPS, RAM vs ROM, malware routes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Boot process, OS roles, storage conversion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Term matching: hardware, memory, networking, malware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1 more past questions on the website. 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25" grpId="0" animBg="1"/>
      <p:bldGraphic spid="52" grpId="0">
        <p:bldAsOne/>
      </p:bldGraphic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1: DIGITAL TECHNOLOGY  ·  L15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Input, output and storage devices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how each device in the specification works and what it is used for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Give advantages and disadvantages of each device, linked to a context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Compare HDD, SSD and HD optical storage using capacity, speed, durability, portability and cost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Recommend devices for a scenario and justify the choice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Input, output and storag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Input, output and storage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Microphone and mous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Microphone and mouse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Graphics digitiser and touch scree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Graphics digitiser and touch screen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Speak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Speakers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324612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Laser print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Laser printer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3D print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3D printer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Hard disc drive (HD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Hard disc drive (HDD)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Solid state drive (SSD) and other flash storag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Solid state drive (SSD) and other flash storage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High-definition (HD) storage medi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High-definition (HD) storage media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603504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Comparing storag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Comparing storage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603504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Worked example: choosing devic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choosing devices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Exam t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 tips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5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6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Hard disc drive with spinning platter compared with a solid state drive made of memory chip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Hard disc drive with spinning platter compared with a solid state drive made of memory chips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Input, output and storage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Input device: gets data into the computer (microphone, mouse, graphics digitiser, touch screen)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Output device: presents results from the computer (speakers, laser printer, 3D printer)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Storage device: keeps data permanently, even with the power off (HDD, SSD, HD optical discs)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touch screen is both an input and an output device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 answers need a CONTEXT: an advantage for a gamer may be a disadvantage in a quiet library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Microphone and mouse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69232"/>
                <a:gridCol w="4511842"/>
                <a:gridCol w="324852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Microphone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Mouse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How it works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Turns sound into an electrical signal, which is converted to digital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Sensors detect movement and move the pointer; buttons select; wheel scrolls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Typical uses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Voice recognition (dictation, commands to a smart speaker), online gaming headsets, video calls, recording music and podcasts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Selecting menus and icons, positioning the cursor, drag and drop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Speaking is faster than typing; hands-free, so the user can do other things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Easy to use with little training; quicker than the keyboard for selecting items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Disadvantages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Background noise lowers recognition accuracy; sound files take much more storage than text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Needs a flat surface; slower than keyboard shortcuts (e.g. Ctrl + P) for experienced users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57" grpId="0">
        <p:bldAsOne/>
      </p:bldGraphic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Graphics digitiser and touch screen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33137"/>
                <a:gridCol w="3265185"/>
                <a:gridCol w="453127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Graphics digitiser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Touch screen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How it works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flat pad and a stylus; drawing on the pad is captured freehand and shown on the monitor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glass panel with a touch-sensitive surface; a touch changes the electrical signal, and the position is worked out as x, y co-ordinates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Typical uses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Artwork, design, animation, capturing signatures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Phones and tablets, self-service tills, fast-food kiosks, information points, interactive whiteboards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More natural than a mouse for drawing; more accurate, detailed drawings (often pressure-sensitive)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Little IT skill needed; selecting options is quick; no separate mouse or keyboard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Disadvantages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Expensive compared to a mouse; not suited to selecting menus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Only a limited number of options fit on screen; screens get dirty quickly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58" grpId="0">
        <p:bldAsOne/>
      </p:bldGraphic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Speakers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Turn electrical signals from the computer's sound card into sound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Uses: music, video, games, spoken output, alert sounds when an error happens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Advantage: helps visually impaired users, as text can be read aloud by the computer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Advantage: a natural way to communicate, and many people can hear at once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Disadvantage: can distract other people working nearby – headphones may be better in an office or classroom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Disadvantage: external speakers take up desk space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Laser printer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computer sends the page to the printer as data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laser draws the page onto a drum as a pattern of static electric charge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Toner (powder ink) sticks to the charged areas, is transferred to the paper and fixed with heat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Advantages: fast for large print runs; high-quality text and graphics; ideal for school and office networks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Disadvantages: colour laser printers are expensive to buy and run; as a non-impact printer it cannot print on multipart (carbon-copy) forms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3D printer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Builds a solid object one thin layer at a time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Works from a model designed in CAD (computer-aided design) software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Materials include plastic, metal and ceramics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Uses: prototypes to test before mass production, replacement parts, custom medical items such as prosthetic hands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Advantages: objects made faster and more cheaply than by traditional methods; easy to make one-off, custom designs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Disadvantages: slow for large objects; limited size; not yet economical for large-scale manufacturing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Hard disc drive (HDD)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Several rigid magnetic discs (platters) on a spindle, sealed to keep out dust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surface is divided into circular tracks, and each track into sectors that store blocks of data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Read/write heads move across the spinning surfaces to find the data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Advantages: very large capacity; lowest cost per gigabyte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Disadvantages: moving parts can break or be damaged if dropped; slower access than flash storage; heavier and noisier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Solid state drive (SSD) and other flash storage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SSD: flash memory chips on a circuit board, with no moving parts. Non-volatile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Advantages: much faster access, so faster boot-up and loading; durable if dropped; silent, light, uses less power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Disadvantages: higher cost per gigabyte than an HDD; each memory cell can only be rewritten a limited number of times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USB flash drive: small, portable, 'plug and play'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Memory cards (e.g. SD, microSD): extra storage in phones and cameras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Smart cards: a chip in bank cards, door entry cards and ID cards; small capacity but reliable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High-definition (HD) storage media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Optical discs such as Blu-ray, read and written using a laser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Blu-ray uses a blue-violet laser, which has a shorter wavelength than the red laser in a DVD player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The smaller beam means smaller pits, packed more tightly – so much more data fits on the same size disc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Single-layer Blu-ray holds 25 GB and dual-layer 50 GB, compared with 4.7 GB on a single-layer DVD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Uses: distributing HD films and games without loss of quality; archive copies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Advantages: cheap to mass-produce, portable. Disadvantages: scratches easily, needs a drive, smaller capacity than HDD or SSD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Comparing storage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931653"/>
                <a:gridCol w="3105509"/>
                <a:gridCol w="2329132"/>
                <a:gridCol w="186330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Criterion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HDD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SSD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Blu-ray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Technology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Magnetic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Flash (solid state)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Optical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Capacity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Very large (several TB)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Large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25–50 GB per disc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Access speed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Fastest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Slowest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Durability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Moving parts – can be damaged if dropped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 moving parts – very durable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Scratches easily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Portability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Heavier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Light and small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Light, but needs a drive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Cost per GB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Lowest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Higher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Low when mass-produced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65" grpId="0">
        <p:bldAsOne/>
      </p:bldGraphic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choosing devices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Scenario: an estate agent in Newry visits houses and takes photos on a laptop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Storage: SSD – no moving parts, so not damaged if the laptop is knocked in the car; fast to open large photo files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Input: touch screen – quick to tick options while standing in a house, no mouse or flat surface needed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Office printing: laser printer – fast and high quality for printing many property brochures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Back-up of every photo at the office: HDD – huge capacity at low cost per GB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Notice the pattern: device + feature + why it matters in THIS scenario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Exam tips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'Cheap' or 'fast' alone rarely earns a mark – compare: 'lower cost per GB than an SSD'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Always link to the scenario given in the question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Give different points for advantages – do not repeat the same idea in other words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Remember 3D printers build objects layer by layer; laser printers use toner and a drum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SSD has no moving parts – this is the reason it is durable, quiet and fast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storage device has no moving parts?</a:t>
            </a:r>
            <a:endParaRPr lang="en-US" sz="1700" dirty="0"/>
          </a:p>
        </p:txBody>
      </p:sp>
      <p:sp>
        <p:nvSpPr>
          <p:cNvPr id="7" name="trig:k6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Hard disc drive</a:t>
            </a:r>
            <a:endParaRPr lang="en-US" sz="1600" dirty="0"/>
          </a:p>
        </p:txBody>
      </p:sp>
      <p:sp>
        <p:nvSpPr>
          <p:cNvPr id="8" name="on:k6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Solid state drive</a:t>
            </a:r>
            <a:endParaRPr lang="en-US" sz="1600" dirty="0"/>
          </a:p>
        </p:txBody>
      </p:sp>
      <p:sp>
        <p:nvSpPr>
          <p:cNvPr id="10" name="on:k6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6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Blu-ray drive</a:t>
            </a:r>
            <a:endParaRPr lang="en-US" sz="1600" dirty="0"/>
          </a:p>
        </p:txBody>
      </p:sp>
      <p:sp>
        <p:nvSpPr>
          <p:cNvPr id="12" name="on:k6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DVD drive</a:t>
            </a:r>
            <a:endParaRPr lang="en-US" sz="1600" dirty="0"/>
          </a:p>
        </p:txBody>
      </p:sp>
      <p:sp>
        <p:nvSpPr>
          <p:cNvPr id="14" name="on:k6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Solid state drive  –  SSDs use flash memory chips, which makes them fast, quiet and durable.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How does a 3D printer create an object?</a:t>
            </a:r>
            <a:endParaRPr lang="en-US" sz="1700" dirty="0"/>
          </a:p>
        </p:txBody>
      </p:sp>
      <p:sp>
        <p:nvSpPr>
          <p:cNvPr id="7" name="trig:k6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prints toner onto paper using a drum</a:t>
            </a:r>
            <a:endParaRPr lang="en-US" sz="1400" dirty="0"/>
          </a:p>
        </p:txBody>
      </p:sp>
      <p:sp>
        <p:nvSpPr>
          <p:cNvPr id="8" name="on:k6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scans a real object with a laser</a:t>
            </a:r>
            <a:endParaRPr lang="en-US" sz="1400" dirty="0"/>
          </a:p>
        </p:txBody>
      </p:sp>
      <p:sp>
        <p:nvSpPr>
          <p:cNvPr id="10" name="on:k7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builds the object one layer at a time</a:t>
            </a:r>
            <a:endParaRPr lang="en-US" sz="1400" dirty="0"/>
          </a:p>
        </p:txBody>
      </p:sp>
      <p:sp>
        <p:nvSpPr>
          <p:cNvPr id="12" name="on:k7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7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carves the object from a solid block</a:t>
            </a:r>
            <a:endParaRPr lang="en-US" sz="1400" dirty="0"/>
          </a:p>
        </p:txBody>
      </p:sp>
      <p:sp>
        <p:nvSpPr>
          <p:cNvPr id="14" name="on:k7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It builds the object one layer at a time  –  3D printing builds an object up in thin layers from a CAD design.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device is both an input and an output device?</a:t>
            </a:r>
            <a:endParaRPr lang="en-US" sz="1700" dirty="0"/>
          </a:p>
        </p:txBody>
      </p:sp>
      <p:sp>
        <p:nvSpPr>
          <p:cNvPr id="7" name="trig:k7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Touch screen</a:t>
            </a:r>
            <a:endParaRPr lang="en-US" sz="1600" dirty="0"/>
          </a:p>
        </p:txBody>
      </p:sp>
      <p:sp>
        <p:nvSpPr>
          <p:cNvPr id="8" name="on:k7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7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Microphone</a:t>
            </a:r>
            <a:endParaRPr lang="en-US" sz="1600" dirty="0"/>
          </a:p>
        </p:txBody>
      </p:sp>
      <p:sp>
        <p:nvSpPr>
          <p:cNvPr id="10" name="on:k7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Speakers</a:t>
            </a:r>
            <a:endParaRPr lang="en-US" sz="1600" dirty="0"/>
          </a:p>
        </p:txBody>
      </p:sp>
      <p:sp>
        <p:nvSpPr>
          <p:cNvPr id="12" name="on:k7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7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Laser printer</a:t>
            </a:r>
            <a:endParaRPr lang="en-US" sz="1600" dirty="0"/>
          </a:p>
        </p:txBody>
      </p:sp>
      <p:sp>
        <p:nvSpPr>
          <p:cNvPr id="14" name="on:k7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Touch screen  –  A touch screen displays output and accepts input when it is touched.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Blu-ray is an example of…</a:t>
            </a:r>
            <a:endParaRPr lang="en-US" sz="1700" dirty="0"/>
          </a:p>
        </p:txBody>
      </p:sp>
      <p:sp>
        <p:nvSpPr>
          <p:cNvPr id="7" name="trig:k7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magnetic storage</a:t>
            </a:r>
            <a:endParaRPr lang="en-US" sz="1600" dirty="0"/>
          </a:p>
        </p:txBody>
      </p:sp>
      <p:sp>
        <p:nvSpPr>
          <p:cNvPr id="8" name="on:k7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solid state storage</a:t>
            </a:r>
            <a:endParaRPr lang="en-US" sz="1600" dirty="0"/>
          </a:p>
        </p:txBody>
      </p:sp>
      <p:sp>
        <p:nvSpPr>
          <p:cNvPr id="10" name="on:k7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RAM</a:t>
            </a:r>
            <a:endParaRPr lang="en-US" sz="1600" dirty="0"/>
          </a:p>
        </p:txBody>
      </p:sp>
      <p:sp>
        <p:nvSpPr>
          <p:cNvPr id="12" name="on:k7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high-definition optical storage</a:t>
            </a:r>
            <a:endParaRPr lang="en-US" sz="1600" dirty="0"/>
          </a:p>
        </p:txBody>
      </p:sp>
      <p:sp>
        <p:nvSpPr>
          <p:cNvPr id="14" name="on:k8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8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high-definition optical storage  –  Blu-ray discs are read and written by a blue-violet laser.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the main advantage of an HDD over an SSD?</a:t>
            </a:r>
            <a:endParaRPr lang="en-US" sz="1700" dirty="0"/>
          </a:p>
        </p:txBody>
      </p:sp>
      <p:sp>
        <p:nvSpPr>
          <p:cNvPr id="7" name="trig:k8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Faster access speed</a:t>
            </a:r>
            <a:endParaRPr lang="en-US" sz="1600" dirty="0"/>
          </a:p>
        </p:txBody>
      </p:sp>
      <p:sp>
        <p:nvSpPr>
          <p:cNvPr id="8" name="on:k8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8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More durable</a:t>
            </a:r>
            <a:endParaRPr lang="en-US" sz="1600" dirty="0"/>
          </a:p>
        </p:txBody>
      </p:sp>
      <p:sp>
        <p:nvSpPr>
          <p:cNvPr id="10" name="on:k8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8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Lower cost per gigabyte</a:t>
            </a:r>
            <a:endParaRPr lang="en-US" sz="1600" dirty="0"/>
          </a:p>
        </p:txBody>
      </p:sp>
      <p:sp>
        <p:nvSpPr>
          <p:cNvPr id="12" name="on:k8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8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Silent operation</a:t>
            </a:r>
            <a:endParaRPr lang="en-US" sz="1600" dirty="0"/>
          </a:p>
        </p:txBody>
      </p:sp>
      <p:sp>
        <p:nvSpPr>
          <p:cNvPr id="14" name="on:k8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8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Lower cost per gigabyte  –  HDDs offer large capacities cheaply; SSDs win on speed, durability and noise.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device would best suit a designer who needs to draw detailed artwork by hand?</a:t>
            </a:r>
            <a:endParaRPr lang="en-US" sz="1700" dirty="0"/>
          </a:p>
        </p:txBody>
      </p:sp>
      <p:sp>
        <p:nvSpPr>
          <p:cNvPr id="7" name="trig:k8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Graphics digitiser</a:t>
            </a:r>
            <a:endParaRPr lang="en-US" sz="1600" dirty="0"/>
          </a:p>
        </p:txBody>
      </p:sp>
      <p:sp>
        <p:nvSpPr>
          <p:cNvPr id="8" name="on:k8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8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Microphone</a:t>
            </a:r>
            <a:endParaRPr lang="en-US" sz="1600" dirty="0"/>
          </a:p>
        </p:txBody>
      </p:sp>
      <p:sp>
        <p:nvSpPr>
          <p:cNvPr id="10" name="on:k8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8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Mouse</a:t>
            </a:r>
            <a:endParaRPr lang="en-US" sz="1600" dirty="0"/>
          </a:p>
        </p:txBody>
      </p:sp>
      <p:sp>
        <p:nvSpPr>
          <p:cNvPr id="12" name="on:k8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Speakers</a:t>
            </a:r>
            <a:endParaRPr lang="en-US" sz="1600" dirty="0"/>
          </a:p>
        </p:txBody>
      </p:sp>
      <p:sp>
        <p:nvSpPr>
          <p:cNvPr id="14" name="on:k8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8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Graphics digitiser  –  The stylus gives natural, accurate freehand drawing.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 disadvantage of using a microphone for voice input?</a:t>
            </a:r>
            <a:endParaRPr lang="en-US" sz="1700" dirty="0"/>
          </a:p>
        </p:txBody>
      </p:sp>
      <p:sp>
        <p:nvSpPr>
          <p:cNvPr id="7" name="trig:k8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is slower than typing</a:t>
            </a:r>
            <a:endParaRPr lang="en-US" sz="1400" dirty="0"/>
          </a:p>
        </p:txBody>
      </p:sp>
      <p:sp>
        <p:nvSpPr>
          <p:cNvPr id="8" name="on:k8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9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Background noise can cause words to be recognised wrongly</a:t>
            </a:r>
            <a:endParaRPr lang="en-US" sz="1400" dirty="0"/>
          </a:p>
        </p:txBody>
      </p:sp>
      <p:sp>
        <p:nvSpPr>
          <p:cNvPr id="10" name="on:k9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9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needs a flat surface</a:t>
            </a:r>
            <a:endParaRPr lang="en-US" sz="1400" dirty="0"/>
          </a:p>
        </p:txBody>
      </p:sp>
      <p:sp>
        <p:nvSpPr>
          <p:cNvPr id="12" name="on:k9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9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cannot be used hands-free</a:t>
            </a:r>
            <a:endParaRPr lang="en-US" sz="1400" dirty="0"/>
          </a:p>
        </p:txBody>
      </p:sp>
      <p:sp>
        <p:nvSpPr>
          <p:cNvPr id="14" name="on:k9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9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Background noise can cause words to be recognised wrongly  –  Noise lowers recognition accuracy; sound files also need more storage than text.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is a laser printer a good choice for a busy school office?</a:t>
            </a:r>
            <a:endParaRPr lang="en-US" sz="1700" dirty="0"/>
          </a:p>
        </p:txBody>
      </p:sp>
      <p:sp>
        <p:nvSpPr>
          <p:cNvPr id="7" name="trig:k9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can print 3D objects</a:t>
            </a:r>
            <a:endParaRPr lang="en-US" sz="1400" dirty="0"/>
          </a:p>
        </p:txBody>
      </p:sp>
      <p:sp>
        <p:nvSpPr>
          <p:cNvPr id="8" name="on:k9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9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is cheap to buy in colour</a:t>
            </a:r>
            <a:endParaRPr lang="en-US" sz="1400" dirty="0"/>
          </a:p>
        </p:txBody>
      </p:sp>
      <p:sp>
        <p:nvSpPr>
          <p:cNvPr id="10" name="on:k9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9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can print carbon-copy forms</a:t>
            </a:r>
            <a:endParaRPr lang="en-US" sz="1400" dirty="0"/>
          </a:p>
        </p:txBody>
      </p:sp>
      <p:sp>
        <p:nvSpPr>
          <p:cNvPr id="12" name="on:k9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9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prints large volumes quickly at high quality</a:t>
            </a:r>
            <a:endParaRPr lang="en-US" sz="1400" dirty="0"/>
          </a:p>
        </p:txBody>
      </p:sp>
      <p:sp>
        <p:nvSpPr>
          <p:cNvPr id="14" name="on:k9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9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D: It prints large volumes quickly at high quality  –  Laser printers are fast for bulk printing and give sharp output.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Solid state drive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SSDs use flash memory chips, which makes them fast, quiet and durable.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It builds the object one layer at a time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3D printing builds an object up in thin layers from a CAD design.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Touch screen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touch screen displays output and accepts input when it is touched.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high-definition optical storage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Blu-ray discs are read and written by a blue-violet laser.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Lower cost per gigabyte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HDDs offer large capacities cheaply; SSDs win on speed, durability and noise.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Graphics digitiser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stylus gives natural, accurate freehand drawing.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Background noise can cause words to be recognised wrongly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Noise lowers recognition accuracy; sound files also need more storage than text.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It prints large volumes quickly at high quality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Laser printers are fast for bulk printing and give sharp output.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76" grpId="0">
        <p:bldAsOne/>
      </p:bldGraphic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Optical, capacity, cloud storage terms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3D printing, utilities and security, graphics digitiser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CPU, system software resources, real-time vs multi-user, utilities, I/O devices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Input devices, health risks, gaming and internet risks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Fetch–execute cycle; input devices and uses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Term matching: hardware, memory, networking, malware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3 more past questions on the website. 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25" grpId="0" animBg="1"/>
      <p:bldGraphic spid="77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76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hardware</dc:title>
  <dc:subject>Unit 1: Digital Technology – Computer hardware</dc:subject>
  <dc:creator>Digital Technology Hub</dc:creator>
  <cp:lastModifiedBy>Digital Technology Hub</cp:lastModifiedBy>
  <cp:revision>1</cp:revision>
  <dcterms:created xsi:type="dcterms:W3CDTF">2026-10-30T13:15:37Z</dcterms:created>
  <dcterms:modified xsi:type="dcterms:W3CDTF">2026-10-30T13:15:37Z</dcterms:modified>
</cp:coreProperties>
</file>