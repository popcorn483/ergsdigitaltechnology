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</p:sldIdLst>
  <p:notesMasterIdLst>
    <p:notesMasterId r:id="rId8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opic overview" id="{d5ac9eb9-79b7-f1ed-3a30-1dcd7274eca0}">
          <p14:sldIdLst>
            <p14:sldId id="256"/>
            <p14:sldId id="257"/>
            <p14:sldId id="258"/>
            <p14:sldId id="259"/>
          </p14:sldIdLst>
        </p14:section>
        <p14:section name="AP03 · Analysis and fact-finding methods" id="{8e24f47c-bd7f-23a9-92da-927794fa4c65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</p14:sldIdLst>
        </p14:section>
        <p14:section name="AP04 · Stakeholders, requirements and the system specification" id="{37901e36-387e-0d50-8146-d7b02fa62a0a}">
          <p14:sldIdLst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</p14:sldIdLst>
        </p14:section>
        <p14:section name="AP05 · Data flow diagrams" id="{b7b7794d-11e8-216d-8861-39153b68be8b}">
          <p14:sldIdLst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  <p14:sldId id="336"/>
            <p14:sldId id="337"/>
            <p14:sldId id="338"/>
            <p14:sldId id="339"/>
            <p14:sldId id="34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notesMaster" Target="notesMasters/notesMaster1.xml"/><Relationship Id="rId88" Type="http://schemas.openxmlformats.org/officeDocument/2006/relationships/presProps" Target="presProps.xml"/><Relationship Id="rId89" Type="http://schemas.openxmlformats.org/officeDocument/2006/relationships/viewProps" Target="viewProps.xml"/><Relationship Id="rId90" Type="http://schemas.openxmlformats.org/officeDocument/2006/relationships/theme" Target="theme/theme1.xml"/><Relationship Id="rId9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lesson below is its own section in PowerPoint (View → Slide Sorter shows them). To split this deck by specification point, right-click a section → Move Section, or delete the sections you do not need.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Describe the purpose of the analysis (investigation) stage of systems development | Explain the difference between direct and indirect data sources and state a benefit and drawback of each | Describe the four main fact-finding techniques: interviews, questionnaires, observation and document sampling | Evaluate the strengths and weaknesses of each fact-finding technique | Select and justify suitable fact-finding techniques for a given scenario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Identify the stakeholders in a systems development project and describe their differing needs | Distinguish between functional and non-functional user requirements | Identify functional and non-functional requirements for systems such as stock control, reservation, payroll and billing | Describe the purpose and contents of the system (requirements) specification produced at the end of analysis | Explain how the role of the specification has changed with the move towards more flexible, Agile approaches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Explain the purpose of a data flow diagram (DFD) and its advantages | Identify and use the standard DFD elements: external entities (sources and sinks), processes, data stores and data flows | Produce a context diagram (Level 0 DFD) for a simple scenario | Produce a Level 1 DFD by exploding a context diagram, maintaining consistency between levels | Interpret DFDs and identify and correct errors using the rules for valid DFDs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150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rgbClr val="F5E6DA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E4ECE6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1503E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75E"/>
                </a:solidFill>
              </a:rPr>
              <a:t>CCEA GCE Digital Technology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E1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rgbClr val="F5E6DA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7863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783080"/>
            <a:ext cx="7863840" cy="2834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E4ECE6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4ECE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30.xml"/><Relationship Id="rId5" Type="http://schemas.openxmlformats.org/officeDocument/2006/relationships/slide" Target="slide57.xml"/><Relationship Id="rId1" Type="http://schemas.openxmlformats.org/officeDocument/2006/relationships/image" Target="../media/image-2-1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3" Type="http://schemas.openxmlformats.org/officeDocument/2006/relationships/slide" Target="slide8.xml"/><Relationship Id="rId4" Type="http://schemas.openxmlformats.org/officeDocument/2006/relationships/slide" Target="slide9.xml"/><Relationship Id="rId5" Type="http://schemas.openxmlformats.org/officeDocument/2006/relationships/slide" Target="slide10.xml"/><Relationship Id="rId6" Type="http://schemas.openxmlformats.org/officeDocument/2006/relationships/slide" Target="slide11.xml"/><Relationship Id="rId7" Type="http://schemas.openxmlformats.org/officeDocument/2006/relationships/slide" Target="slide12.xml"/><Relationship Id="rId8" Type="http://schemas.openxmlformats.org/officeDocument/2006/relationships/slide" Target="slide13.xml"/><Relationship Id="rId9" Type="http://schemas.openxmlformats.org/officeDocument/2006/relationships/slide" Target="slide14.xml"/><Relationship Id="rId10" Type="http://schemas.openxmlformats.org/officeDocument/2006/relationships/slide" Target="slide15.xml"/><Relationship Id="rId11" Type="http://schemas.openxmlformats.org/officeDocument/2006/relationships/slide" Target="slide16.xml"/><Relationship Id="rId12" Type="http://schemas.openxmlformats.org/officeDocument/2006/relationships/slide" Target="slide17.xml"/><Relationship Id="rId13" Type="http://schemas.openxmlformats.org/officeDocument/2006/relationships/slide" Target="slide18.xml"/><Relationship Id="rId14" Type="http://schemas.openxmlformats.org/officeDocument/2006/relationships/slide" Target="slide19.xml"/><Relationship Id="rId15" Type="http://schemas.openxmlformats.org/officeDocument/2006/relationships/slide" Target="slide20.xml"/><Relationship Id="rId16" Type="http://schemas.openxmlformats.org/officeDocument/2006/relationships/slide" Target="slide2.xml"/><Relationship Id="rId1" Type="http://schemas.openxmlformats.org/officeDocument/2006/relationships/image" Target="../media/image-6-1.png"/><Relationship Id="rId17" Type="http://schemas.openxmlformats.org/officeDocument/2006/relationships/slideLayout" Target="../slideLayouts/slideLayout3.xml"/><Relationship Id="rId1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1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1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1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1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1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1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1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2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2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2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2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2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2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2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2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2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2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" Target="slide32.xml"/><Relationship Id="rId3" Type="http://schemas.openxmlformats.org/officeDocument/2006/relationships/slide" Target="slide33.xml"/><Relationship Id="rId4" Type="http://schemas.openxmlformats.org/officeDocument/2006/relationships/slide" Target="slide34.xml"/><Relationship Id="rId5" Type="http://schemas.openxmlformats.org/officeDocument/2006/relationships/slide" Target="slide35.xml"/><Relationship Id="rId6" Type="http://schemas.openxmlformats.org/officeDocument/2006/relationships/slide" Target="slide36.xml"/><Relationship Id="rId7" Type="http://schemas.openxmlformats.org/officeDocument/2006/relationships/slide" Target="slide37.xml"/><Relationship Id="rId8" Type="http://schemas.openxmlformats.org/officeDocument/2006/relationships/slide" Target="slide38.xml"/><Relationship Id="rId9" Type="http://schemas.openxmlformats.org/officeDocument/2006/relationships/slide" Target="slide40.xml"/><Relationship Id="rId10" Type="http://schemas.openxmlformats.org/officeDocument/2006/relationships/slide" Target="slide42.xml"/><Relationship Id="rId11" Type="http://schemas.openxmlformats.org/officeDocument/2006/relationships/slide" Target="slide43.xml"/><Relationship Id="rId12" Type="http://schemas.openxmlformats.org/officeDocument/2006/relationships/slide" Target="slide44.xml"/><Relationship Id="rId13" Type="http://schemas.openxmlformats.org/officeDocument/2006/relationships/slide" Target="slide45.xml"/><Relationship Id="rId14" Type="http://schemas.openxmlformats.org/officeDocument/2006/relationships/slide" Target="slide46.xml"/><Relationship Id="rId15" Type="http://schemas.openxmlformats.org/officeDocument/2006/relationships/slide" Target="slide47.xml"/><Relationship Id="rId16" Type="http://schemas.openxmlformats.org/officeDocument/2006/relationships/slide" Target="slide2.xml"/><Relationship Id="rId1" Type="http://schemas.openxmlformats.org/officeDocument/2006/relationships/image" Target="../media/image-31-1.png"/><Relationship Id="rId17" Type="http://schemas.openxmlformats.org/officeDocument/2006/relationships/slideLayout" Target="../slideLayouts/slideLayout3.xml"/><Relationship Id="rId18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31.xml"/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3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3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3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3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3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3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3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4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4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4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4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4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4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4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4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4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4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5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5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5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5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5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5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5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" Target="slide59.xml"/><Relationship Id="rId3" Type="http://schemas.openxmlformats.org/officeDocument/2006/relationships/slide" Target="slide60.xml"/><Relationship Id="rId4" Type="http://schemas.openxmlformats.org/officeDocument/2006/relationships/slide" Target="slide61.xml"/><Relationship Id="rId5" Type="http://schemas.openxmlformats.org/officeDocument/2006/relationships/slide" Target="slide62.xml"/><Relationship Id="rId6" Type="http://schemas.openxmlformats.org/officeDocument/2006/relationships/slide" Target="slide64.xml"/><Relationship Id="rId7" Type="http://schemas.openxmlformats.org/officeDocument/2006/relationships/slide" Target="slide65.xml"/><Relationship Id="rId8" Type="http://schemas.openxmlformats.org/officeDocument/2006/relationships/slide" Target="slide66.xml"/><Relationship Id="rId9" Type="http://schemas.openxmlformats.org/officeDocument/2006/relationships/slide" Target="slide67.xml"/><Relationship Id="rId10" Type="http://schemas.openxmlformats.org/officeDocument/2006/relationships/slide" Target="slide68.xml"/><Relationship Id="rId11" Type="http://schemas.openxmlformats.org/officeDocument/2006/relationships/slide" Target="slide69.xml"/><Relationship Id="rId12" Type="http://schemas.openxmlformats.org/officeDocument/2006/relationships/slide" Target="slide71.xml"/><Relationship Id="rId13" Type="http://schemas.openxmlformats.org/officeDocument/2006/relationships/slide" Target="slide72.xml"/><Relationship Id="rId14" Type="http://schemas.openxmlformats.org/officeDocument/2006/relationships/slide" Target="slide73.xml"/><Relationship Id="rId15" Type="http://schemas.openxmlformats.org/officeDocument/2006/relationships/slide" Target="slide75.xml"/><Relationship Id="rId16" Type="http://schemas.openxmlformats.org/officeDocument/2006/relationships/slide" Target="slide76.xml"/><Relationship Id="rId17" Type="http://schemas.openxmlformats.org/officeDocument/2006/relationships/slide" Target="slide2.xml"/><Relationship Id="rId1" Type="http://schemas.openxmlformats.org/officeDocument/2006/relationships/image" Target="../media/image-58-1.png"/><Relationship Id="rId18" Type="http://schemas.openxmlformats.org/officeDocument/2006/relationships/slideLayout" Target="../slideLayouts/slideLayout3.xml"/><Relationship Id="rId19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" Target="slide58.xml"/><Relationship Id="rId1" Type="http://schemas.openxmlformats.org/officeDocument/2006/relationships/image" Target="../media/image-59-1.png"/><Relationship Id="rId2" Type="http://schemas.openxmlformats.org/officeDocument/2006/relationships/image" Target="../media/image-59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" Target="slide58.xml"/><Relationship Id="rId1" Type="http://schemas.openxmlformats.org/officeDocument/2006/relationships/image" Target="../media/image-6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" Target="slide58.xml"/><Relationship Id="rId1" Type="http://schemas.openxmlformats.org/officeDocument/2006/relationships/image" Target="../media/image-6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" Target="slide58.xml"/><Relationship Id="rId1" Type="http://schemas.openxmlformats.org/officeDocument/2006/relationships/image" Target="../media/image-6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" Target="slide58.xml"/><Relationship Id="rId1" Type="http://schemas.openxmlformats.org/officeDocument/2006/relationships/image" Target="../media/image-6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" Target="slide58.xml"/><Relationship Id="rId1" Type="http://schemas.openxmlformats.org/officeDocument/2006/relationships/image" Target="../media/image-6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" Target="slide58.xml"/><Relationship Id="rId1" Type="http://schemas.openxmlformats.org/officeDocument/2006/relationships/image" Target="../media/image-6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" Target="slide58.xml"/><Relationship Id="rId1" Type="http://schemas.openxmlformats.org/officeDocument/2006/relationships/image" Target="../media/image-6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" Target="slide58.xml"/><Relationship Id="rId1" Type="http://schemas.openxmlformats.org/officeDocument/2006/relationships/image" Target="../media/image-6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" Target="slide58.xml"/><Relationship Id="rId1" Type="http://schemas.openxmlformats.org/officeDocument/2006/relationships/image" Target="../media/image-6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" Target="slide58.xml"/><Relationship Id="rId1" Type="http://schemas.openxmlformats.org/officeDocument/2006/relationships/image" Target="../media/image-6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" Target="slide58.xml"/><Relationship Id="rId1" Type="http://schemas.openxmlformats.org/officeDocument/2006/relationships/image" Target="../media/image-7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" Target="slide58.xml"/><Relationship Id="rId1" Type="http://schemas.openxmlformats.org/officeDocument/2006/relationships/image" Target="../media/image-7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" Target="slide58.xml"/><Relationship Id="rId1" Type="http://schemas.openxmlformats.org/officeDocument/2006/relationships/image" Target="../media/image-7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" Target="slide58.xml"/><Relationship Id="rId1" Type="http://schemas.openxmlformats.org/officeDocument/2006/relationships/image" Target="../media/image-7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" Target="slide58.xml"/><Relationship Id="rId1" Type="http://schemas.openxmlformats.org/officeDocument/2006/relationships/image" Target="../media/image-7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" Target="slide58.xml"/><Relationship Id="rId1" Type="http://schemas.openxmlformats.org/officeDocument/2006/relationships/image" Target="../media/image-7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" Target="slide58.xml"/><Relationship Id="rId1" Type="http://schemas.openxmlformats.org/officeDocument/2006/relationships/image" Target="../media/image-7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slide" Target="slide58.xml"/><Relationship Id="rId1" Type="http://schemas.openxmlformats.org/officeDocument/2006/relationships/image" Target="../media/image-7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slide" Target="slide58.xml"/><Relationship Id="rId1" Type="http://schemas.openxmlformats.org/officeDocument/2006/relationships/image" Target="../media/image-7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slide" Target="slide58.xml"/><Relationship Id="rId1" Type="http://schemas.openxmlformats.org/officeDocument/2006/relationships/image" Target="../media/image-7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slide" Target="slide58.xml"/><Relationship Id="rId1" Type="http://schemas.openxmlformats.org/officeDocument/2006/relationships/image" Target="../media/image-8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slide" Target="slide58.xml"/><Relationship Id="rId1" Type="http://schemas.openxmlformats.org/officeDocument/2006/relationships/image" Target="../media/image-8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slide" Target="slide58.xml"/><Relationship Id="rId1" Type="http://schemas.openxmlformats.org/officeDocument/2006/relationships/image" Target="../media/image-8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slide" Target="slide58.xml"/><Relationship Id="rId1" Type="http://schemas.openxmlformats.org/officeDocument/2006/relationships/image" Target="../media/image-8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slide" Target="slide58.xml"/><Relationship Id="rId1" Type="http://schemas.openxmlformats.org/officeDocument/2006/relationships/image" Target="../media/image-8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slide" Target="slide58.xml"/><Relationship Id="rId1" Type="http://schemas.openxmlformats.org/officeDocument/2006/relationships/image" Target="../media/image-8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AS 1: APPROACHES TO SYSTEMS DEVELOPMENT  ·  TOPIC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Analysis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Lessons in this topic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AP03  Analysis and fact-finding methods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AP04  Stakeholders, requirements and the system specification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AP05  Data flow diagrams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Topic menu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45720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2" action="ppaction://hlinksldjump" tooltip="Specificati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Specification map</a:t>
            </a:r>
            <a:endParaRPr lang="en-US" sz="1500" dirty="0"/>
          </a:p>
        </p:txBody>
      </p:sp>
      <p:sp>
        <p:nvSpPr>
          <p:cNvPr id="7" name="btn">
            <a:hlinkClick r:id="rId3" action="ppaction://hlinksldjump"/>
          </p:cNvPr>
          <p:cNvSpPr/>
          <p:nvPr/>
        </p:nvSpPr>
        <p:spPr>
          <a:xfrm>
            <a:off x="45720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hlinkClick r:id="rId3" action="ppaction://hlinksldjump" tooltip="AP03  Analysis and fact-finding method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AP03  Analysis and fact-finding methods</a:t>
            </a:r>
            <a:endParaRPr lang="en-US" sz="1300" dirty="0"/>
          </a:p>
        </p:txBody>
      </p:sp>
      <p:sp>
        <p:nvSpPr>
          <p:cNvPr id="8" name="btn">
            <a:hlinkClick r:id="rId4" action="ppaction://hlinksldjump"/>
          </p:cNvPr>
          <p:cNvSpPr/>
          <p:nvPr/>
        </p:nvSpPr>
        <p:spPr>
          <a:xfrm>
            <a:off x="464058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4" action="ppaction://hlinksldjump" tooltip="AP04  Stakeholders, requirements and the system specifica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AP04  Stakeholders, requirements and the system specification</a:t>
            </a:r>
            <a:endParaRPr lang="en-US" sz="1200" dirty="0"/>
          </a:p>
        </p:txBody>
      </p:sp>
      <p:sp>
        <p:nvSpPr>
          <p:cNvPr id="9" name="btn">
            <a:hlinkClick r:id="rId5" action="ppaction://hlinksldjump"/>
          </p:cNvPr>
          <p:cNvSpPr/>
          <p:nvPr/>
        </p:nvSpPr>
        <p:spPr>
          <a:xfrm>
            <a:off x="464058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5" action="ppaction://hlinksldjump" tooltip="AP05  Data flow diagram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AP05  Data flow diagrams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2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Specification map (1 of 2)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7223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Lesson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Specification: students should be able to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AP03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Describe the purpose of the analysis (investigation) stage of systems development; Explain the difference between direct and indirect data sources and state a benefit and drawback of each; Describe the four main fact-finding techniques: interviews, questionnaires, observation and document sampling; Evaluate the strengths and weaknesses of each fact-finding technique; Select and justify suitable fact-finding techniques for a given scenario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AP04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Identify the stakeholders in a systems development project and describe their differing needs; Distinguish between functional and non-functional user requirements; Identify functional and non-functional requirements for systems such as stock control, reservation, payroll and billing; Describe the purpose and contents of the system (requirements) specification produced at the end of analysis; Explain how the role of the specification has changed with the move towards more flexible, Agile approaches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Graphic spid="4" grpId="0">
        <p:bldAsOne/>
      </p:bldGraphic>
      <p:bldP spid="6" grpId="0" animBg="1"/>
      <p:bldP spid="2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Specification map (2 of 2)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7223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Lesson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Specification: students should be able to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AP05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Explain the purpose of a data flow diagram (DFD) and its advantages; Identify and use the standard DFD elements: external entities (sources and sinks), processes, data stores and data flows; Produce a context diagram (Level 0 DFD) for a simple scenario; Produce a Level 1 DFD by exploding a context diagram, maintaining consistency between levels; Interpret DFDs and identify and correct errors using the rules for valid DFDs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Graphic spid="5" grpId="0">
        <p:bldAsOne/>
      </p:bldGraphic>
      <p:bldP spid="7" grpId="0" animBg="1"/>
      <p:bldP spid="2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AS 1: APPROACHES TO SYSTEMS DEVELOPMENT  ·  AP03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Analysis and fact-finding methods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why analysts must fully understand the existing system before a new one is designed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Distinguish direct from indirect data sources using examples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Describe how interviews, questionnaires, observation and document sampling are planned and carried out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Evaluate each technique and justify a combination of methods for a given organisation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6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984248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3" action="ppaction://hlinksldjump" tooltip="The purpose of analysi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purpose of analysis</a:t>
            </a:r>
            <a:endParaRPr lang="en-US" sz="12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642616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4" action="ppaction://hlinksldjump" tooltip="Direct and indirect data sourc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Direct and indirect data sources</a:t>
            </a:r>
            <a:endParaRPr lang="en-US" sz="12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3300984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5" action="ppaction://hlinksldjump" tooltip="Worked example: direct or indirect?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direct or indirect?</a:t>
            </a:r>
            <a:endParaRPr lang="en-US" sz="12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959352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6" action="ppaction://hlinksldjump" tooltip="Interviews: plann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Interviews: planning</a:t>
            </a:r>
            <a:endParaRPr lang="en-US" sz="12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3246120" y="1325880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7" action="ppaction://hlinksldjump" tooltip="Interviews: carrying out and evaluat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Interviews: carrying out and evaluating</a:t>
            </a:r>
            <a:endParaRPr lang="en-US" sz="12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3246120" y="1984248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8" action="ppaction://hlinksldjump" tooltip="Questionnaires: question typ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Questionnaires: question types</a:t>
            </a:r>
            <a:endParaRPr lang="en-US" sz="12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3246120" y="2642616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9" action="ppaction://hlinksldjump" tooltip="Questionnaires: strengths and weakness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Questionnaires: strengths and weaknesses</a:t>
            </a:r>
            <a:endParaRPr lang="en-US" sz="12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3246120" y="3300984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0" action="ppaction://hlinksldjump" tooltip="Observa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Observation</a:t>
            </a:r>
            <a:endParaRPr lang="en-US" sz="1200" dirty="0"/>
          </a:p>
        </p:txBody>
      </p:sp>
      <p:sp>
        <p:nvSpPr>
          <p:cNvPr id="16" name="btn">
            <a:hlinkClick r:id="rId11" action="ppaction://hlinksldjump"/>
          </p:cNvPr>
          <p:cNvSpPr/>
          <p:nvPr/>
        </p:nvSpPr>
        <p:spPr>
          <a:xfrm>
            <a:off x="3246120" y="3959352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1" action="ppaction://hlinksldjump" tooltip="Document sampl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Document sampling</a:t>
            </a:r>
            <a:endParaRPr lang="en-US" sz="1200" dirty="0"/>
          </a:p>
        </p:txBody>
      </p:sp>
      <p:sp>
        <p:nvSpPr>
          <p:cNvPr id="17" name="btn">
            <a:hlinkClick r:id="rId12" action="ppaction://hlinksldjump"/>
          </p:cNvPr>
          <p:cNvSpPr/>
          <p:nvPr/>
        </p:nvSpPr>
        <p:spPr>
          <a:xfrm>
            <a:off x="6035040" y="1325880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2" action="ppaction://hlinksldjump" tooltip="Comparing the four techniqu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Comparing the four techniques</a:t>
            </a:r>
            <a:endParaRPr lang="en-US" sz="1200" dirty="0"/>
          </a:p>
        </p:txBody>
      </p:sp>
      <p:sp>
        <p:nvSpPr>
          <p:cNvPr id="18" name="btn">
            <a:hlinkClick r:id="rId13" action="ppaction://hlinksldjump"/>
          </p:cNvPr>
          <p:cNvSpPr/>
          <p:nvPr/>
        </p:nvSpPr>
        <p:spPr>
          <a:xfrm>
            <a:off x="6035040" y="1984248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3" action="ppaction://hlinksldjump" tooltip="Worked example: choosing method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choosing methods</a:t>
            </a:r>
            <a:endParaRPr lang="en-US" sz="1200" dirty="0"/>
          </a:p>
        </p:txBody>
      </p:sp>
      <p:sp>
        <p:nvSpPr>
          <p:cNvPr id="19" name="btn">
            <a:hlinkClick r:id="rId14" action="ppaction://hlinksldjump"/>
          </p:cNvPr>
          <p:cNvSpPr/>
          <p:nvPr/>
        </p:nvSpPr>
        <p:spPr>
          <a:xfrm>
            <a:off x="6035040" y="2642616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4" action="ppaction://hlinksldjump" tooltip="Triangulation: cross-checking the fac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Triangulation: cross-checking the facts</a:t>
            </a:r>
            <a:endParaRPr lang="en-US" sz="1200" dirty="0"/>
          </a:p>
        </p:txBody>
      </p:sp>
      <p:sp>
        <p:nvSpPr>
          <p:cNvPr id="20" name="btn">
            <a:hlinkClick r:id="rId15" action="ppaction://hlinksldjump"/>
          </p:cNvPr>
          <p:cNvSpPr/>
          <p:nvPr/>
        </p:nvSpPr>
        <p:spPr>
          <a:xfrm>
            <a:off x="6035040" y="3300984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5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200" dirty="0"/>
          </a:p>
        </p:txBody>
      </p:sp>
      <p:sp>
        <p:nvSpPr>
          <p:cNvPr id="21" name="btn">
            <a:hlinkClick r:id="rId16" action="ppaction://hlinksldjump"/>
          </p:cNvPr>
          <p:cNvSpPr/>
          <p:nvPr/>
        </p:nvSpPr>
        <p:spPr>
          <a:xfrm>
            <a:off x="6035040" y="3959352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6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The four fact-finding methods with an advantage, a disadvantage and the users each suits, around the systems analys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The four fact-finding methods with an advantage, a disadvantage and the users each suits, around the systems analyst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purpose of analysis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Analysis (also called investigation) comes before design: the analyst studies the existing system in detail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Goal 1: understand the current system in terms of its inputs, processing, outputs and stored data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Goal 2: identify its strengths, weaknesses and problems, and spot opportunities for new features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Goal 3: establish and agree the user requirements before the project moves on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Mistakes found here are cheap to fix; mistakes found after the system is built are expensive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The analysis stage ends with a documented system (requirements) specification</a:t>
            </a:r>
            <a:endParaRPr lang="en-US" sz="15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Direct and indirect data sources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Direct source: data collected first-hand for this specific purpose, e.g. a questionnaire written for the project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Benefit of direct: the data is targeted at exactly what the analyst needs to know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Drawback of direct: costly and slow, because it must be designed, carried out and analysed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Indirect source: data that already exists and is reused for a purpose it was not collected for, e.g. census figures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Benefit of indirect: cheap and available immediately because someone has already collected it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Drawback of indirect: may not contain exactly what is needed, so it must be filtered or processed first</a:t>
            </a:r>
            <a:endParaRPr lang="en-US" sz="15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Worked example: direct or indirect?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4711148"/>
                <a:gridCol w="477078"/>
                <a:gridCol w="304137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Scenario: a bakery in Enniskillen is deciding whether to open a branch in Omagh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 street survey of Omagh shoppers about how often they buy bread and cakes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Direct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Designed by the bakery for this decision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Population and age figures for Omagh published by NISRA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Indirect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Collected for government planning, reused here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Taste-test feedback cards handed out at an Omagh market stall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Direct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Gathered first-hand for this purpose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The council's list of existing food businesses in the town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Indirect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Collected for licensing and hygiene, not for this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The bakery's own till data showing which products sell best in Enniskillen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Indirect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Collected to record sales, reused to predict demand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1" grpId="0">
        <p:bldAsOne/>
      </p:bldGraphic>
      <p:bldP spid="2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Interviews: planning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Decide exactly what you need to find out: confirm your understanding, fill gaps, or probe an expert's area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Select interviewees carefully (usually managers and experienced users); you cannot interview everyone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Tell each interviewee why they were chosen, the purpose, the format, how long it will take and how answers will be used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Reassure staff who fear the new system may change or remove their job; be sensitive and respectful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Prepare questions aimed at the person's expertise and use a standard response sheet to keep notes consistent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Interviews: carrying out and evaluating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Structured interview: fixed questions in a set order, easy to compare between interviewees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Unstructured interview: open conversation with follow-up questions where interesting points arise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Taking notes and paraphrasing answers back checks understanding; recording may make people less open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Advantages: rich detail, follow-up questions, can be tailored to the person, users feel involved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Disadvantages: time-consuming, few people covered, interviewees may be nervous or say what they think is wanted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Cross-check answers against other evidence (triangulation) to spot inconsistent or inaccurate responses</a:t>
            </a:r>
            <a:endParaRPr lang="en-US" sz="15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Questionnaires: question types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308016"/>
                <a:gridCol w="3815046"/>
                <a:gridCol w="310653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Input type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How it works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Example (school canteen survey)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Radio buttons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Choose exactly one option from a list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Which year group are you in?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Checkboxes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Tick as many options as apply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Which meals do you usually buy? (breakfast, break, lunch)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Rating scale / slider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Pick a value on a range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Rate the queue time from 1 (poor) to 5 (excellent)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Free text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Type an answer in your own words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What one change would improve the canteen?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Closed questions overall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Fixed answers give quantitative data that software can total and graph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70% of Year 9 buy lunch daily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Open questions overall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Qualitative data: richer but slower to analyse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Comments about menu choice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4" grpId="0">
        <p:bldAsOne/>
      </p:bldGraphic>
      <p:bldP spid="2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Questionnaires: strengths and weaknesses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Reach large or widely spread groups at low cost; online forms can be analysed automatically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Can be anonymous and completed privately at a convenient time, which may give more honest answers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Consistency checks: ask for age early and date of birth later to filter out careless or false responses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Weaknesses: often a low response rate, and no chance to ask a follow-up question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Questions are fixed in advance; a badly worded or leading question cannot be corrected once sent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Best for: gathering views from many users, e.g. all pupils, all members, all customers</a:t>
            </a:r>
            <a:endParaRPr lang="en-US" sz="15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Observation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The analyst watches, or 'shadows', a representative sample of staff doing their normal work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Records the processes, the data each process needs and the data each process produces, plus timings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Reveals unofficial workarounds that may differ from the written procedures, and may be more efficient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Hawthorne effect: people who know they are watched may behave differently, e.g. following rules more carefully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Reduce this by being unobtrusive, observing several people and observing over a period of time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Less suitable when similar work is done differently at several sites, or for rare tasks such as year-end</a:t>
            </a:r>
            <a:endParaRPr lang="en-US" sz="15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Document sampling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Examine a sample of existing documents: forms, invoices, receipts, orders, reports, procedure manuals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Shows the key users, the data items held and their formats, and how data flows through the organisation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Shows the volume of data processed and the outputs the organisation needs, which helps with design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Can show why the system was created and how it has changed over time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Advantages: objective evidence, does not interrupt staff, a useful first step before interviews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Disadvantages: time-consuming; documents may be incomplete or out of date; shows what is recorded, not why</a:t>
            </a:r>
            <a:endParaRPr lang="en-US" sz="16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Comparing the four techniques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332411"/>
                <a:gridCol w="1097280"/>
                <a:gridCol w="1881051"/>
                <a:gridCol w="1175657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Technique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People reached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Depth of detail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Cost and time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Main risk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Interview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Few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High, with follow-up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High per person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Bias; small sample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Questionnaire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Many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Low to medium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Low per person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Low response rate; no follow-up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Observation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Few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High: real behaviour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High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Hawthorne effect; rare tasks missed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Document sampling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None directly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Medium: data and volumes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Low to medium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Out-of-date or missing documents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8" grpId="0">
        <p:bldAsOne/>
      </p:bldGraphic>
      <p:bldP spid="2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Worked example: choosing methods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Scenario: a health trust with 300 nurses on five hospital sites wants a computerised staff rota system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Document sampling first: study current rotas, leave forms and shift-swap slips to find the data items and volumes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Interview the ward managers who build rotas, because they understand the complex rules in depth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Questionnaire for the 300 nurses: too many and too spread out to interview, and anonymity encourages honesty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Observe a manager building a week's rota to see real workarounds and how long each step takes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Cross-check: if managers say swaps are rare but the forms show dozens a week, investigate further</a:t>
            </a:r>
            <a:endParaRPr lang="en-US" sz="15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Triangulation: cross-checking the facts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No single technique gives a complete or fully reliable picture, so analysts combine several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Triangulation means checking a fact from one source against evidence from another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Example: a driver says they have held a lorry licence for six years, but HR records show they are only 21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Within one questionnaire, related questions can be compared to reject inconsistent responses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Differences between what staff say and what documents or observation show are often where problems lie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21C"/>
                </a:solidFill>
              </a:rPr>
              <a:t>A systems analyst wants to watch warehouse staff picking orders to see how they really work. Which problem is most likely?</a:t>
            </a:r>
            <a:endParaRPr lang="en-US" sz="1500" dirty="0"/>
          </a:p>
        </p:txBody>
      </p:sp>
      <p:sp>
        <p:nvSpPr>
          <p:cNvPr id="7" name="trig:k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Low response rate</a:t>
            </a:r>
            <a:endParaRPr lang="en-US" sz="1250" dirty="0"/>
          </a:p>
        </p:txBody>
      </p:sp>
      <p:sp>
        <p:nvSpPr>
          <p:cNvPr id="8" name="on:k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Staff may work differently because they know they are being watched</a:t>
            </a:r>
            <a:endParaRPr lang="en-US" sz="1250" dirty="0"/>
          </a:p>
        </p:txBody>
      </p:sp>
      <p:sp>
        <p:nvSpPr>
          <p:cNvPr id="10" name="on:k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Documents may be out of date</a:t>
            </a:r>
            <a:endParaRPr lang="en-US" sz="1250" dirty="0"/>
          </a:p>
        </p:txBody>
      </p:sp>
      <p:sp>
        <p:nvSpPr>
          <p:cNvPr id="12" name="on:k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Questions cannot be changed once issued</a:t>
            </a:r>
            <a:endParaRPr lang="en-US" sz="1250" dirty="0"/>
          </a:p>
        </p:txBody>
      </p:sp>
      <p:sp>
        <p:nvSpPr>
          <p:cNvPr id="14" name="on:k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B: Staff may work differently because they know they are being watched  –  This is the Hawthorne effect, the main weakness of observation.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fact-finding technique is most suitable for collecting the views of 1,200 pupils in a large school?</a:t>
            </a:r>
            <a:endParaRPr lang="en-US" sz="1700" dirty="0"/>
          </a:p>
        </p:txBody>
      </p:sp>
      <p:sp>
        <p:nvSpPr>
          <p:cNvPr id="7" name="trig:k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Interview each pupil</a:t>
            </a:r>
            <a:endParaRPr lang="en-US" sz="1600" dirty="0"/>
          </a:p>
        </p:txBody>
      </p:sp>
      <p:sp>
        <p:nvSpPr>
          <p:cNvPr id="8" name="on:k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Observation</a:t>
            </a:r>
            <a:endParaRPr lang="en-US" sz="1600" dirty="0"/>
          </a:p>
        </p:txBody>
      </p:sp>
      <p:sp>
        <p:nvSpPr>
          <p:cNvPr id="10" name="on:k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Online questionnaire</a:t>
            </a:r>
            <a:endParaRPr lang="en-US" sz="1600" dirty="0"/>
          </a:p>
        </p:txBody>
      </p:sp>
      <p:sp>
        <p:nvSpPr>
          <p:cNvPr id="12" name="on:k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Document sampling</a:t>
            </a:r>
            <a:endParaRPr lang="en-US" sz="1600" dirty="0"/>
          </a:p>
        </p:txBody>
      </p:sp>
      <p:sp>
        <p:nvSpPr>
          <p:cNvPr id="14" name="on:k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7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C: Online questionnaire  –  A questionnaire reaches large numbers quickly and cheaply, and the results can be analysed automatically.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of these is an indirect data source for a newsagent planning a new shop?</a:t>
            </a:r>
            <a:endParaRPr lang="en-US" sz="1700" dirty="0"/>
          </a:p>
        </p:txBody>
      </p:sp>
      <p:sp>
        <p:nvSpPr>
          <p:cNvPr id="7" name="trig:k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Published population figures for the town</a:t>
            </a:r>
            <a:endParaRPr lang="en-US" sz="1400" dirty="0"/>
          </a:p>
        </p:txBody>
      </p:sp>
      <p:sp>
        <p:nvSpPr>
          <p:cNvPr id="8" name="on:k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1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A street survey the newsagent writes</a:t>
            </a:r>
            <a:endParaRPr lang="en-US" sz="1400" dirty="0"/>
          </a:p>
        </p:txBody>
      </p:sp>
      <p:sp>
        <p:nvSpPr>
          <p:cNvPr id="10" name="on:k1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Interviews with passers-by</a:t>
            </a:r>
            <a:endParaRPr lang="en-US" sz="1400" dirty="0"/>
          </a:p>
        </p:txBody>
      </p:sp>
      <p:sp>
        <p:nvSpPr>
          <p:cNvPr id="12" name="on:k1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A taste test of new products</a:t>
            </a:r>
            <a:endParaRPr lang="en-US" sz="1400" dirty="0"/>
          </a:p>
        </p:txBody>
      </p:sp>
      <p:sp>
        <p:nvSpPr>
          <p:cNvPr id="14" name="on:k1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9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A: Published population figures for the town  –  The statistics already exist and were collected for another purpose.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technique lets the analyst ask follow-up questions?</a:t>
            </a:r>
            <a:endParaRPr lang="en-US" sz="1700" dirty="0"/>
          </a:p>
        </p:txBody>
      </p:sp>
      <p:sp>
        <p:nvSpPr>
          <p:cNvPr id="7" name="trig:k1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Questionnaire</a:t>
            </a:r>
            <a:endParaRPr lang="en-US" sz="1600" dirty="0"/>
          </a:p>
        </p:txBody>
      </p:sp>
      <p:sp>
        <p:nvSpPr>
          <p:cNvPr id="8" name="on:k1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Document sampling</a:t>
            </a:r>
            <a:endParaRPr lang="en-US" sz="1600" dirty="0"/>
          </a:p>
        </p:txBody>
      </p:sp>
      <p:sp>
        <p:nvSpPr>
          <p:cNvPr id="10" name="on:k1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Observation</a:t>
            </a:r>
            <a:endParaRPr lang="en-US" sz="1600" dirty="0"/>
          </a:p>
        </p:txBody>
      </p:sp>
      <p:sp>
        <p:nvSpPr>
          <p:cNvPr id="12" name="on:k1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Interview</a:t>
            </a:r>
            <a:endParaRPr lang="en-US" sz="1600" dirty="0"/>
          </a:p>
        </p:txBody>
      </p:sp>
      <p:sp>
        <p:nvSpPr>
          <p:cNvPr id="14" name="on:k1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16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Interview  –  The interviewer can respond immediately to an answer and probe further.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questionnaire input type allows several answers to be selected?</a:t>
            </a:r>
            <a:endParaRPr lang="en-US" sz="1700" dirty="0"/>
          </a:p>
        </p:txBody>
      </p:sp>
      <p:sp>
        <p:nvSpPr>
          <p:cNvPr id="7" name="trig:k1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Radio buttons</a:t>
            </a:r>
            <a:endParaRPr lang="en-US" sz="1600" dirty="0"/>
          </a:p>
        </p:txBody>
      </p:sp>
      <p:sp>
        <p:nvSpPr>
          <p:cNvPr id="8" name="on:k1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Checkboxes</a:t>
            </a:r>
            <a:endParaRPr lang="en-US" sz="1600" dirty="0"/>
          </a:p>
        </p:txBody>
      </p:sp>
      <p:sp>
        <p:nvSpPr>
          <p:cNvPr id="10" name="on:k1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1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Slider</a:t>
            </a:r>
            <a:endParaRPr lang="en-US" sz="1600" dirty="0"/>
          </a:p>
        </p:txBody>
      </p:sp>
      <p:sp>
        <p:nvSpPr>
          <p:cNvPr id="12" name="on:k1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2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Drop-down list with one choice</a:t>
            </a:r>
            <a:endParaRPr lang="en-US" sz="1600" dirty="0"/>
          </a:p>
        </p:txBody>
      </p:sp>
      <p:sp>
        <p:nvSpPr>
          <p:cNvPr id="14" name="on:k2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8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Checkboxes  –  Checkboxes are independent, so any number can be ticked.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6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technique is best for finding the exact data items recorded on an existing order form?</a:t>
            </a:r>
            <a:endParaRPr lang="en-US" sz="1700" dirty="0"/>
          </a:p>
        </p:txBody>
      </p:sp>
      <p:sp>
        <p:nvSpPr>
          <p:cNvPr id="7" name="trig:k2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Document sampling</a:t>
            </a:r>
            <a:endParaRPr lang="en-US" sz="1600" dirty="0"/>
          </a:p>
        </p:txBody>
      </p:sp>
      <p:sp>
        <p:nvSpPr>
          <p:cNvPr id="8" name="on:k2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2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Questionnaire</a:t>
            </a:r>
            <a:endParaRPr lang="en-US" sz="1600" dirty="0"/>
          </a:p>
        </p:txBody>
      </p:sp>
      <p:sp>
        <p:nvSpPr>
          <p:cNvPr id="10" name="on:k2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2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Interview</a:t>
            </a:r>
            <a:endParaRPr lang="en-US" sz="1600" dirty="0"/>
          </a:p>
        </p:txBody>
      </p:sp>
      <p:sp>
        <p:nvSpPr>
          <p:cNvPr id="12" name="on:k2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2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Observation</a:t>
            </a:r>
            <a:endParaRPr lang="en-US" sz="1600" dirty="0"/>
          </a:p>
        </p:txBody>
      </p:sp>
      <p:sp>
        <p:nvSpPr>
          <p:cNvPr id="14" name="on:k2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1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Document sampling  –  Inspecting the form shows its fields, formats and volumes directly.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7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21C"/>
                </a:solidFill>
              </a:rPr>
              <a:t>An interviewee says she has driven lorries for six years, but HR records show she is 21. Checking one source against another like this is called…</a:t>
            </a:r>
            <a:endParaRPr lang="en-US" sz="1500" dirty="0"/>
          </a:p>
        </p:txBody>
      </p:sp>
      <p:sp>
        <p:nvSpPr>
          <p:cNvPr id="7" name="trig:k2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validation</a:t>
            </a:r>
            <a:endParaRPr lang="en-US" sz="1600" dirty="0"/>
          </a:p>
        </p:txBody>
      </p:sp>
      <p:sp>
        <p:nvSpPr>
          <p:cNvPr id="8" name="on:k2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2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verification by double entry</a:t>
            </a:r>
            <a:endParaRPr lang="en-US" sz="1600" dirty="0"/>
          </a:p>
        </p:txBody>
      </p:sp>
      <p:sp>
        <p:nvSpPr>
          <p:cNvPr id="10" name="on:k2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2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normalisation</a:t>
            </a:r>
            <a:endParaRPr lang="en-US" sz="1600" dirty="0"/>
          </a:p>
        </p:txBody>
      </p:sp>
      <p:sp>
        <p:nvSpPr>
          <p:cNvPr id="12" name="on:k2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2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triangulation</a:t>
            </a:r>
            <a:endParaRPr lang="en-US" sz="1600" dirty="0"/>
          </a:p>
        </p:txBody>
      </p:sp>
      <p:sp>
        <p:nvSpPr>
          <p:cNvPr id="14" name="on:k2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28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triangulation  –  Triangulation cross-checks facts from different sources to test reliability.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8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is the main drawback of an indirect data source?</a:t>
            </a:r>
            <a:endParaRPr lang="en-US" sz="1700" dirty="0"/>
          </a:p>
        </p:txBody>
      </p:sp>
      <p:sp>
        <p:nvSpPr>
          <p:cNvPr id="7" name="trig:k2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It is always very expensive</a:t>
            </a:r>
            <a:endParaRPr lang="en-US" sz="1250" dirty="0"/>
          </a:p>
        </p:txBody>
      </p:sp>
      <p:sp>
        <p:nvSpPr>
          <p:cNvPr id="8" name="on:k2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3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It may not contain exactly the data needed and may need filtering</a:t>
            </a:r>
            <a:endParaRPr lang="en-US" sz="1250" dirty="0"/>
          </a:p>
        </p:txBody>
      </p:sp>
      <p:sp>
        <p:nvSpPr>
          <p:cNvPr id="10" name="on:k3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3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It cannot be stored electronically</a:t>
            </a:r>
            <a:endParaRPr lang="en-US" sz="1250" dirty="0"/>
          </a:p>
        </p:txBody>
      </p:sp>
      <p:sp>
        <p:nvSpPr>
          <p:cNvPr id="12" name="on:k3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3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It is only available after the system is built</a:t>
            </a:r>
            <a:endParaRPr lang="en-US" sz="1250" dirty="0"/>
          </a:p>
        </p:txBody>
      </p:sp>
      <p:sp>
        <p:nvSpPr>
          <p:cNvPr id="14" name="on:k3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30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B: It may not contain exactly the data needed and may need filtering  –  Because it was gathered with another aim in mind, it may not match what is now needed.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9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is NOT a purpose of the analysis stage?</a:t>
            </a:r>
            <a:endParaRPr lang="en-US" sz="1700" dirty="0"/>
          </a:p>
        </p:txBody>
      </p:sp>
      <p:sp>
        <p:nvSpPr>
          <p:cNvPr id="7" name="trig:k3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Understand the inputs, processes and outputs of the current system</a:t>
            </a:r>
            <a:endParaRPr lang="en-US" sz="1250" dirty="0"/>
          </a:p>
        </p:txBody>
      </p:sp>
      <p:sp>
        <p:nvSpPr>
          <p:cNvPr id="8" name="on:k3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3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Identify weaknesses of the current system</a:t>
            </a:r>
            <a:endParaRPr lang="en-US" sz="1250" dirty="0"/>
          </a:p>
        </p:txBody>
      </p:sp>
      <p:sp>
        <p:nvSpPr>
          <p:cNvPr id="10" name="on:k3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3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Write and test the program code</a:t>
            </a:r>
            <a:endParaRPr lang="en-US" sz="1250" dirty="0"/>
          </a:p>
        </p:txBody>
      </p:sp>
      <p:sp>
        <p:nvSpPr>
          <p:cNvPr id="12" name="on:k3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3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Agree the user requirements</a:t>
            </a:r>
            <a:endParaRPr lang="en-US" sz="1250" dirty="0"/>
          </a:p>
        </p:txBody>
      </p:sp>
      <p:sp>
        <p:nvSpPr>
          <p:cNvPr id="14" name="on:k3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35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Write and test the program code  –  Coding and testing happen later, in development and testing.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Staff may work differently because they know they are being watched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This is the Hawthorne effect, the main weakness of observation.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Online questionnaire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questionnaire reaches large numbers quickly and cheaply, and the results can be analysed automatically.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Published population figures for the town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 statistics already exist and were collected for another purpose.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Interview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 interviewer can respond immediately to an answer and probe further.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Checkboxes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Checkboxes are independent, so any number can be ticked.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Document sampling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Inspecting the form shows its fields, formats and volumes directly.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triangulation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Triangulation cross-checks facts from different sources to test reliability.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It may not contain exactly the data needed and may need filtering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Because it was gathered with another aim in mind, it may not match what is now needed.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9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Write and test the program code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Coding and testing happen later, in development and testing.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30" grpId="0">
        <p:bldAsOne/>
      </p:bldGraphic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AS 1: APPROACHES TO SYSTEMS DEVELOPMENT  ·  AP04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Stakeholders, requirements and the system specification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Identify internal and external stakeholders and explain what each needs from a system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Distinguish functional from non-functional requirements and classify given examples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Write clear, measurable requirements for stock control, reservation, payroll and billing systems from a stated perspective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Describe what a system specification contains and how it is used throughout the project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6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984248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3" action="ppaction://hlinksldjump" tooltip="Stakeholde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Stakeholders</a:t>
            </a:r>
            <a:endParaRPr lang="en-US" sz="12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642616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4" action="ppaction://hlinksldjump" tooltip="From fact-finding to requiremen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From fact-finding to requirements</a:t>
            </a:r>
            <a:endParaRPr lang="en-US" sz="12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3300984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5" action="ppaction://hlinksldjump" tooltip="Functional requiremen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Functional requirements</a:t>
            </a:r>
            <a:endParaRPr lang="en-US" sz="12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959352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6" action="ppaction://hlinksldjump" tooltip="Non-functional requiremen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Non-functional requirements</a:t>
            </a:r>
            <a:endParaRPr lang="en-US" sz="12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3246120" y="1325880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7" action="ppaction://hlinksldjump" tooltip="Worked example: stock control (hardware merchant, Newry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stock control (hardware merchant, Newry)</a:t>
            </a:r>
            <a:endParaRPr lang="en-US" sz="12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3246120" y="1984248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8" action="ppaction://hlinksldjump" tooltip="Worked example: reservation (ferry company, two perspectives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reservation (ferry company, two perspectives)</a:t>
            </a:r>
            <a:endParaRPr lang="en-US" sz="12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3246120" y="2642616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9" action="ppaction://hlinksldjump" tooltip="Payroll and billing requiremen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Payroll and billing requirements</a:t>
            </a:r>
            <a:endParaRPr lang="en-US" sz="12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3246120" y="3300984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0" action="ppaction://hlinksldjump" tooltip="Writing good requiremen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Writing good requirements</a:t>
            </a:r>
            <a:endParaRPr lang="en-US" sz="1200" dirty="0"/>
          </a:p>
        </p:txBody>
      </p:sp>
      <p:sp>
        <p:nvSpPr>
          <p:cNvPr id="16" name="btn">
            <a:hlinkClick r:id="rId11" action="ppaction://hlinksldjump"/>
          </p:cNvPr>
          <p:cNvSpPr/>
          <p:nvPr/>
        </p:nvSpPr>
        <p:spPr>
          <a:xfrm>
            <a:off x="3246120" y="3959352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1" action="ppaction://hlinksldjump" tooltip="Classify it: functional or non-functional?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Classify it: functional or non-functional?</a:t>
            </a:r>
            <a:endParaRPr lang="en-US" sz="1200" dirty="0"/>
          </a:p>
        </p:txBody>
      </p:sp>
      <p:sp>
        <p:nvSpPr>
          <p:cNvPr id="17" name="btn">
            <a:hlinkClick r:id="rId12" action="ppaction://hlinksldjump"/>
          </p:cNvPr>
          <p:cNvSpPr/>
          <p:nvPr/>
        </p:nvSpPr>
        <p:spPr>
          <a:xfrm>
            <a:off x="6035040" y="1325880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2" action="ppaction://hlinksldjump" tooltip="The system specifica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system specification</a:t>
            </a:r>
            <a:endParaRPr lang="en-US" sz="1200" dirty="0"/>
          </a:p>
        </p:txBody>
      </p:sp>
      <p:sp>
        <p:nvSpPr>
          <p:cNvPr id="18" name="btn">
            <a:hlinkClick r:id="rId13" action="ppaction://hlinksldjump"/>
          </p:cNvPr>
          <p:cNvSpPr/>
          <p:nvPr/>
        </p:nvSpPr>
        <p:spPr>
          <a:xfrm>
            <a:off x="6035040" y="1984248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3" action="ppaction://hlinksldjump" tooltip="Specification as a contract: then and now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Specification as a contract: then and now</a:t>
            </a:r>
            <a:endParaRPr lang="en-US" sz="1200" dirty="0"/>
          </a:p>
        </p:txBody>
      </p:sp>
      <p:sp>
        <p:nvSpPr>
          <p:cNvPr id="19" name="btn">
            <a:hlinkClick r:id="rId14" action="ppaction://hlinksldjump"/>
          </p:cNvPr>
          <p:cNvSpPr/>
          <p:nvPr/>
        </p:nvSpPr>
        <p:spPr>
          <a:xfrm>
            <a:off x="6035040" y="2642616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4" action="ppaction://hlinksldjump" tooltip="Common pitfall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Common pitfalls</a:t>
            </a:r>
            <a:endParaRPr lang="en-US" sz="1200" dirty="0"/>
          </a:p>
        </p:txBody>
      </p:sp>
      <p:sp>
        <p:nvSpPr>
          <p:cNvPr id="20" name="btn">
            <a:hlinkClick r:id="rId15" action="ppaction://hlinksldjump"/>
          </p:cNvPr>
          <p:cNvSpPr/>
          <p:nvPr/>
        </p:nvSpPr>
        <p:spPr>
          <a:xfrm>
            <a:off x="6035040" y="3300984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5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200" dirty="0"/>
          </a:p>
        </p:txBody>
      </p:sp>
      <p:sp>
        <p:nvSpPr>
          <p:cNvPr id="21" name="btn">
            <a:hlinkClick r:id="rId16" action="ppaction://hlinksldjump"/>
          </p:cNvPr>
          <p:cNvSpPr/>
          <p:nvPr/>
        </p:nvSpPr>
        <p:spPr>
          <a:xfrm>
            <a:off x="6035040" y="3959352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6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Stakeholders supply requirements to the requirements specification, which is then used for design, testing, evaluation and as a contrac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Stakeholders supply requirements to the requirements specification, which is then used for design, testing, evaluation and as a contract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Stakeholders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stakeholder is any person or group with an interest in a system or affected by it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Internal: the client or senior managers who commission and pay, the end users who operate it, the IT staff who support it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External: customers, suppliers, shareholders, and regulators such as the Information Commission (formerly the ICO) or HMRC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Stakeholders often want different things: managers want reports, users want speed, customers want convenience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analyst must identify, record and balance these needs; involving users early reduces resistance to change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From fact-finding to requirements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After fact-finding, the analyst turns the evidence into a list of user requirements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Requirements are agreed with the client and written up in the system specification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Each requirement is either functional (what the system does) or non-functional (how well, or under what conditions)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Requirements should be stated from a clear perspective: what the organisation needs is not always what customers need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Every requirement should later be testable, so that the finished system can be checked against it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Functional requirements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Describe what the system must do or allow: its functions, inputs, processing and outputs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Usually written as 'The system must/should allow…' or 'The system must produce…'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Example: 'The system must allow authorised finance staff to create and print invoices.'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Example: 'The system must alert the manager when stock of an item falls to its reorder level.'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Example: 'The system must allow staff to back up transactions on demand as well as automatically.'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Non-functional requirements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Describe conditions or constraints on how the system behaves, not the behaviour itself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They specify the quality attributes used to judge the system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Performance: response times, throughput, processor and memory use, e.g. 'search results within 2 seconds'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Availability and reliability: e.g. 'available 24/7 apart from a weekly 1-hour maintenance window'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Security: who has access, priorities, password rules, backup frequency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Others: usability, accessibility, capacity (simultaneous users), maintainability, legal compliance</a:t>
            </a:r>
            <a:endParaRPr lang="en-US" sz="16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1503E"/>
                </a:solidFill>
              </a:rPr>
              <a:t>Worked example: stock control (hardware merchant, Newry)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4393245"/>
                <a:gridCol w="383635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Functional: the system must…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Non-functional: the system must…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record current stock levels of every item, including items on order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show stock figures that are accurate to the latest transaction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record the date each batch arrives so oldest stock is sold first (FIFO)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be available during all trading hours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alert staff when any item reaches its reorder level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be accessible only to staff with a valid login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produce reports such as slow-moving stock and weekly sales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be backed up automatically every night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generate purchase orders for suppliers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support at least 10 users at the same time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38" grpId="0">
        <p:bldAsOne/>
      </p:bldGraphic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1503E"/>
                </a:solidFill>
              </a:rPr>
              <a:t>Worked example: reservation (ferry company, two perspectives) (1 of 2)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775252"/>
                <a:gridCol w="3756991"/>
                <a:gridCol w="369735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Perspective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Functional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Non-functional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Ferry company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Show sailings that match the customer's date, route and vehicle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Restrict booking-management screens to authorised staff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Ferry company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Raise fares automatically as a sailing nears capacity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Handle many simultaneous bookings without double-selling space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Ferry company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Keep a booking history for each registered member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Be backed up daily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Customer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Choose a cabin or seat and pay by card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Confirm a booking within a few seconds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Customer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Receive a confirmation email with booking reference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Keep card and personal data secure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39" grpId="0">
        <p:bldAsOne/>
      </p:bldGraphic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1503E"/>
                </a:solidFill>
              </a:rPr>
              <a:t>Worked example: reservation (ferry company, two perspectives) (2 of 2)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775252"/>
                <a:gridCol w="3756991"/>
                <a:gridCol w="369735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Perspective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Functional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Non-functional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Customer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Log in to amend or cancel a booking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Work on a mobile phone and meet accessibility standards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40" grpId="0">
        <p:bldAsOne/>
      </p:bldGraphic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Payroll and billing requirements (1 of 2)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4643846"/>
                <a:gridCol w="317427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System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Functional examples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Non-functional examples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Payroll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Add, edit and remove employees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Only payroll staff can view salary data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Payroll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Enter hours worked and calculate gross pay, tax, National Insurance and net pay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Complete the monthly pay run within one hour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Payroll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Produce payslips and send pay details to HMRC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Comply with UK GDPR and current tax rules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Billing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Calculate each customer's bill from usage and tariff, adding VAT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Produce all monthly bills overnight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Billing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Send bills by email or post and record payments received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Calculations must be 100% accurate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41" grpId="0">
        <p:bldAsOne/>
      </p:bldGraphic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Payroll and billing requirements (2 of 2)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4643846"/>
                <a:gridCol w="317427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System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Functional examples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Non-functional examples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Billing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Send reminders for unpaid bills after 30 days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Card payments processed securely to industry standards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42" grpId="0">
        <p:bldAsOne/>
      </p:bldGraphic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Writing good requirements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Specific and measurable so it can be tested: not 'fast' but 'loads in under 3 seconds with 200 users'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Bad: 'The system should be user friendly.' Better: 'A new receptionist can make a booking after 20 minutes' training.'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Unambiguous and traceable to the stakeholder who asked for it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Prioritised, e.g. MoSCoW: Must have, Should have, Could have, Won't have this time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Testable requirements become acceptance criteria and drive the test plan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Classify it: functional or non-functional?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606980"/>
                <a:gridCol w="26226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Requirement (GP surgery appointments system)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Patients can book an appointment online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Functional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Reception can print the day's appointment list for each doctor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Functional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The system sends an SMS reminder the day before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Functional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Pages load within 3 seconds at peak times on Monday mornings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Non-functional (performance)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Patient records are visible only to clinical staff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Non-functional (security)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The online booking service is available 99.5% of the time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Non-functional (availability)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44" grpId="0">
        <p:bldAsOne/>
      </p:bldGraphic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system specification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The document produced at the end of analysis, setting out precisely what the client expects the system to do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Contents: scope and objectives, summary of the current system and its problems, stakeholders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Also: functional and non-functional requirements, data requirements, DFDs, constraints such as budget, hardware and timescale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Includes a schedule for development and is signed off by the client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Used later to guide design, to write the test plan and to evaluate the finished system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Specification as a contract: then and now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Traditionally the specification formed the basis of a binding contract between client and supplier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Two-way: the client could not later demand extra features; the supplier had to deliver what was specified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Changes meant penalties or extra charges, so wording had to be precise and understood by both sides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This suited a small number of suppliers who could plan staff and timescales well in advance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Today there are many more suppliers and Agile methods are common, so specifications are less rigid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Modern specifications build in ways to change requirements, e.g. change control and regular reprioritisation</a:t>
            </a:r>
            <a:endParaRPr lang="en-US" sz="15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Common pitfalls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Giving hardware as a requirement ('a laser printer') instead of what the system must do or achieve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Mixing up types: 'The system must back up data' is functional; 'back up every night' adds a non-functional condition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Vague qualities ('quick', 'secure', 'easy') without a measure or detail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Ignoring the stated perspective: the question may ask for the organisation's needs, not the customer's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Generic answers not linked to the scenario's system, e.g. a payroll answer that mentions stock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 cinema is developing a new online booking system. Which of these is a non-functional requirement?</a:t>
            </a:r>
            <a:endParaRPr lang="en-US" sz="1700" dirty="0"/>
          </a:p>
        </p:txBody>
      </p:sp>
      <p:sp>
        <p:nvSpPr>
          <p:cNvPr id="7" name="trig:k3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Customers can choose their seats</a:t>
            </a:r>
            <a:endParaRPr lang="en-US" sz="1250" dirty="0"/>
          </a:p>
        </p:txBody>
      </p:sp>
      <p:sp>
        <p:nvSpPr>
          <p:cNvPr id="8" name="on:k3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3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The system prints a ticket</a:t>
            </a:r>
            <a:endParaRPr lang="en-US" sz="1250" dirty="0"/>
          </a:p>
        </p:txBody>
      </p:sp>
      <p:sp>
        <p:nvSpPr>
          <p:cNvPr id="10" name="on:k3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3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Booking pages load within 2 seconds when 1,000 users are online</a:t>
            </a:r>
            <a:endParaRPr lang="en-US" sz="1250" dirty="0"/>
          </a:p>
        </p:txBody>
      </p:sp>
      <p:sp>
        <p:nvSpPr>
          <p:cNvPr id="12" name="on:k3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4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Staff can add new film showings</a:t>
            </a:r>
            <a:endParaRPr lang="en-US" sz="1250" dirty="0"/>
          </a:p>
        </p:txBody>
      </p:sp>
      <p:sp>
        <p:nvSpPr>
          <p:cNvPr id="14" name="on:k4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39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C: Booking pages load within 2 seconds when 1,000 users are online  –  It sets a performance standard rather than describing a function.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is the main document produced at the end of the analysis stage?</a:t>
            </a:r>
            <a:endParaRPr lang="en-US" sz="1700" dirty="0"/>
          </a:p>
        </p:txBody>
      </p:sp>
      <p:sp>
        <p:nvSpPr>
          <p:cNvPr id="7" name="trig:k4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The test plan</a:t>
            </a:r>
            <a:endParaRPr lang="en-US" sz="1600" dirty="0"/>
          </a:p>
        </p:txBody>
      </p:sp>
      <p:sp>
        <p:nvSpPr>
          <p:cNvPr id="8" name="on:k4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4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The user guide</a:t>
            </a:r>
            <a:endParaRPr lang="en-US" sz="1600" dirty="0"/>
          </a:p>
        </p:txBody>
      </p:sp>
      <p:sp>
        <p:nvSpPr>
          <p:cNvPr id="10" name="on:k4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4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The source code</a:t>
            </a:r>
            <a:endParaRPr lang="en-US" sz="1600" dirty="0"/>
          </a:p>
        </p:txBody>
      </p:sp>
      <p:sp>
        <p:nvSpPr>
          <p:cNvPr id="12" name="on:k4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4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The system specification</a:t>
            </a:r>
            <a:endParaRPr lang="en-US" sz="1600" dirty="0"/>
          </a:p>
        </p:txBody>
      </p:sp>
      <p:sp>
        <p:nvSpPr>
          <p:cNvPr id="14" name="on:k4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44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The system specification  –  It records the agreed requirements, scope and constraints.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is a functional requirement of a payroll system?</a:t>
            </a:r>
            <a:endParaRPr lang="en-US" sz="1700" dirty="0"/>
          </a:p>
        </p:txBody>
      </p:sp>
      <p:sp>
        <p:nvSpPr>
          <p:cNvPr id="7" name="trig:k4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Calculate each employee's net pay</a:t>
            </a:r>
            <a:endParaRPr lang="en-US" sz="1600" dirty="0"/>
          </a:p>
        </p:txBody>
      </p:sp>
      <p:sp>
        <p:nvSpPr>
          <p:cNvPr id="8" name="on:k4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4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Only payroll staff can log in</a:t>
            </a:r>
            <a:endParaRPr lang="en-US" sz="1600" dirty="0"/>
          </a:p>
        </p:txBody>
      </p:sp>
      <p:sp>
        <p:nvSpPr>
          <p:cNvPr id="10" name="on:k4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4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Back up every night</a:t>
            </a:r>
            <a:endParaRPr lang="en-US" sz="1600" dirty="0"/>
          </a:p>
        </p:txBody>
      </p:sp>
      <p:sp>
        <p:nvSpPr>
          <p:cNvPr id="12" name="on:k4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4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Run on the existing network</a:t>
            </a:r>
            <a:endParaRPr lang="en-US" sz="1600" dirty="0"/>
          </a:p>
        </p:txBody>
      </p:sp>
      <p:sp>
        <p:nvSpPr>
          <p:cNvPr id="14" name="on:k4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45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Calculate each employee's net pay  –  It describes something the system must do.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is the best-written requirement?</a:t>
            </a:r>
            <a:endParaRPr lang="en-US" sz="1700" dirty="0"/>
          </a:p>
        </p:txBody>
      </p:sp>
      <p:sp>
        <p:nvSpPr>
          <p:cNvPr id="7" name="trig:k4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The system should be quick</a:t>
            </a:r>
            <a:endParaRPr lang="en-US" sz="1400" dirty="0"/>
          </a:p>
        </p:txBody>
      </p:sp>
      <p:sp>
        <p:nvSpPr>
          <p:cNvPr id="8" name="on:k4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5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The system should look good</a:t>
            </a:r>
            <a:endParaRPr lang="en-US" sz="1400" dirty="0"/>
          </a:p>
        </p:txBody>
      </p:sp>
      <p:sp>
        <p:nvSpPr>
          <p:cNvPr id="10" name="on:k5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5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Staff can log in</a:t>
            </a:r>
            <a:endParaRPr lang="en-US" sz="1400" dirty="0"/>
          </a:p>
        </p:txBody>
      </p:sp>
      <p:sp>
        <p:nvSpPr>
          <p:cNvPr id="12" name="on:k5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5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A member can book a class in no more than three clicks</a:t>
            </a:r>
            <a:endParaRPr lang="en-US" sz="1400" dirty="0"/>
          </a:p>
        </p:txBody>
      </p:sp>
      <p:sp>
        <p:nvSpPr>
          <p:cNvPr id="14" name="on:k5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52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A member can book a class in no more than three clicks  –  It is specific and measurable, so it can be tested.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MoSCoW is used to…</a:t>
            </a:r>
            <a:endParaRPr lang="en-US" sz="1700" dirty="0"/>
          </a:p>
        </p:txBody>
      </p:sp>
      <p:sp>
        <p:nvSpPr>
          <p:cNvPr id="7" name="trig:k5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test code</a:t>
            </a:r>
            <a:endParaRPr lang="en-US" sz="1600" dirty="0"/>
          </a:p>
        </p:txBody>
      </p:sp>
      <p:sp>
        <p:nvSpPr>
          <p:cNvPr id="8" name="on:k5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5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prioritise requirements</a:t>
            </a:r>
            <a:endParaRPr lang="en-US" sz="1600" dirty="0"/>
          </a:p>
        </p:txBody>
      </p:sp>
      <p:sp>
        <p:nvSpPr>
          <p:cNvPr id="10" name="on:k5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5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draw DFDs</a:t>
            </a:r>
            <a:endParaRPr lang="en-US" sz="1600" dirty="0"/>
          </a:p>
        </p:txBody>
      </p:sp>
      <p:sp>
        <p:nvSpPr>
          <p:cNvPr id="12" name="on:k5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5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estimate payback</a:t>
            </a:r>
            <a:endParaRPr lang="en-US" sz="1600" dirty="0"/>
          </a:p>
        </p:txBody>
      </p:sp>
      <p:sp>
        <p:nvSpPr>
          <p:cNvPr id="14" name="on:k5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54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prioritise requirements  –  It sorts requirements into Must, Should, Could and Won't have this time.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6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group are the end users of a hospital's ward system?</a:t>
            </a:r>
            <a:endParaRPr lang="en-US" sz="1700" dirty="0"/>
          </a:p>
        </p:txBody>
      </p:sp>
      <p:sp>
        <p:nvSpPr>
          <p:cNvPr id="7" name="trig:k5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The nurses and doctors who use it daily</a:t>
            </a:r>
            <a:endParaRPr lang="en-US" sz="1400" dirty="0"/>
          </a:p>
        </p:txBody>
      </p:sp>
      <p:sp>
        <p:nvSpPr>
          <p:cNvPr id="8" name="on:k5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5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The hospital's shareholders</a:t>
            </a:r>
            <a:endParaRPr lang="en-US" sz="1400" dirty="0"/>
          </a:p>
        </p:txBody>
      </p:sp>
      <p:sp>
        <p:nvSpPr>
          <p:cNvPr id="10" name="on:k5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5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The software developers</a:t>
            </a:r>
            <a:endParaRPr lang="en-US" sz="1400" dirty="0"/>
          </a:p>
        </p:txBody>
      </p:sp>
      <p:sp>
        <p:nvSpPr>
          <p:cNvPr id="12" name="on:k5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6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The Information Commission</a:t>
            </a:r>
            <a:endParaRPr lang="en-US" sz="1400" dirty="0"/>
          </a:p>
        </p:txBody>
      </p:sp>
      <p:sp>
        <p:nvSpPr>
          <p:cNvPr id="14" name="on:k6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57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The nurses and doctors who use it daily  –  End users interact with the system directly in their work.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7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Why were system specifications traditionally written very precisely?</a:t>
            </a:r>
            <a:endParaRPr lang="en-US" sz="1700" dirty="0"/>
          </a:p>
        </p:txBody>
      </p:sp>
      <p:sp>
        <p:nvSpPr>
          <p:cNvPr id="7" name="trig:k6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They were published to the public</a:t>
            </a:r>
            <a:endParaRPr lang="en-US" sz="1250" dirty="0"/>
          </a:p>
        </p:txBody>
      </p:sp>
      <p:sp>
        <p:nvSpPr>
          <p:cNvPr id="8" name="on:k6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6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They formed the basis of a contract, and changes led to penalties or extra charges</a:t>
            </a:r>
            <a:endParaRPr lang="en-US" sz="1250" dirty="0"/>
          </a:p>
        </p:txBody>
      </p:sp>
      <p:sp>
        <p:nvSpPr>
          <p:cNvPr id="10" name="on:k6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6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They were used as user manuals</a:t>
            </a:r>
            <a:endParaRPr lang="en-US" sz="1250" dirty="0"/>
          </a:p>
        </p:txBody>
      </p:sp>
      <p:sp>
        <p:nvSpPr>
          <p:cNvPr id="12" name="on:k6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6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They replaced testing</a:t>
            </a:r>
            <a:endParaRPr lang="en-US" sz="1250" dirty="0"/>
          </a:p>
        </p:txBody>
      </p:sp>
      <p:sp>
        <p:nvSpPr>
          <p:cNvPr id="14" name="on:k6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62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B: They formed the basis of a contract, and changes led to penalties or extra charges  –  Both sides had to understand exactly what was agreed.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8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of these is a non-functional requirement for a stock control system?</a:t>
            </a:r>
            <a:endParaRPr lang="en-US" sz="1700" dirty="0"/>
          </a:p>
        </p:txBody>
      </p:sp>
      <p:sp>
        <p:nvSpPr>
          <p:cNvPr id="7" name="trig:k6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Alert staff when stock reaches the reorder level</a:t>
            </a:r>
            <a:endParaRPr lang="en-US" sz="1400" dirty="0"/>
          </a:p>
        </p:txBody>
      </p:sp>
      <p:sp>
        <p:nvSpPr>
          <p:cNvPr id="8" name="on:k6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6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Produce a slow-moving stock report</a:t>
            </a:r>
            <a:endParaRPr lang="en-US" sz="1400" dirty="0"/>
          </a:p>
        </p:txBody>
      </p:sp>
      <p:sp>
        <p:nvSpPr>
          <p:cNvPr id="10" name="on:k6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6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Allow only warehouse staff to change stock levels</a:t>
            </a:r>
            <a:endParaRPr lang="en-US" sz="1400" dirty="0"/>
          </a:p>
        </p:txBody>
      </p:sp>
      <p:sp>
        <p:nvSpPr>
          <p:cNvPr id="12" name="on:k6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6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Record goods received</a:t>
            </a:r>
            <a:endParaRPr lang="en-US" sz="1400" dirty="0"/>
          </a:p>
        </p:txBody>
      </p:sp>
      <p:sp>
        <p:nvSpPr>
          <p:cNvPr id="14" name="on:k6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67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C: Allow only warehouse staff to change stock levels  –  Access restrictions are a security condition, not a function.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9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 question asks for requirements 'from the airline's perspective'. Which answer fits best?</a:t>
            </a:r>
            <a:endParaRPr lang="en-US" sz="1700" dirty="0"/>
          </a:p>
        </p:txBody>
      </p:sp>
      <p:sp>
        <p:nvSpPr>
          <p:cNvPr id="7" name="trig:k6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Choose a seat on the plane</a:t>
            </a:r>
            <a:endParaRPr lang="en-US" sz="1400" dirty="0"/>
          </a:p>
        </p:txBody>
      </p:sp>
      <p:sp>
        <p:nvSpPr>
          <p:cNvPr id="8" name="on:k6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7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Monitor current bookings on every flight</a:t>
            </a:r>
            <a:endParaRPr lang="en-US" sz="1400" dirty="0"/>
          </a:p>
        </p:txBody>
      </p:sp>
      <p:sp>
        <p:nvSpPr>
          <p:cNvPr id="10" name="on:k7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7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Receive a confirmation email</a:t>
            </a:r>
            <a:endParaRPr lang="en-US" sz="1400" dirty="0"/>
          </a:p>
        </p:txBody>
      </p:sp>
      <p:sp>
        <p:nvSpPr>
          <p:cNvPr id="12" name="on:k7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7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Pay by debit card</a:t>
            </a:r>
            <a:endParaRPr lang="en-US" sz="1400" dirty="0"/>
          </a:p>
        </p:txBody>
      </p:sp>
      <p:sp>
        <p:nvSpPr>
          <p:cNvPr id="14" name="on:k7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70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B: Monitor current bookings on every flight  –  Monitoring bookings meets the airline's needs; the others are what customers want.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Booking pages load within 2 seconds when 1,000 users are online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It sets a performance standard rather than describing a function.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The system specification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It records the agreed requirements, scope and constraints.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Calculate each employee's net pay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It describes something the system must do.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A member can book a class in no more than three clicks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It is specific and measurable, so it can be tested.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prioritise requirements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It sorts requirements into Must, Should, Could and Won't have this time.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The nurses and doctors who use it daily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End users interact with the system directly in their work.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They formed the basis of a contract, and changes led to penalties or extra charges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Both sides had to understand exactly what was agreed.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Allow only warehouse staff to change stock levels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Access restrictions are a security condition, not a function.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9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Monitor current bookings on every flight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Monitoring bookings meets the airline's needs; the others are what customers want.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57" grpId="0">
        <p:bldAsOne/>
      </p:bldGraphic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AS 1: APPROACHES TO SYSTEMS DEVELOPMENT  ·  AP05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Data flow diagrams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why DFDs are used during analysis and who benefits from them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Name, draw and identify each DFD element, including duplicated entities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Draw a context diagram and a balanced Level 1 DFD from a written scenario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Spot errors in a DFD and explain how to correct them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6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3" action="ppaction://hlinksldjump" tooltip="What is a data flow diagram?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is a data flow diagram?</a:t>
            </a:r>
            <a:endParaRPr lang="en-US" sz="12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4" action="ppaction://hlinksldjump" tooltip="Purpose and advantages of DFD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Purpose and advantages of DFDs</a:t>
            </a:r>
            <a:endParaRPr lang="en-US" sz="12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5" action="ppaction://hlinksldjump" tooltip="The DFD elements (CCEA textbook notation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DFD elements (CCEA textbook notation)</a:t>
            </a:r>
            <a:endParaRPr lang="en-US" sz="12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59359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6" action="ppaction://hlinksldjump" tooltip="Sources, sinks and the system boundar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Sources, sinks and the system boundary</a:t>
            </a:r>
            <a:endParaRPr lang="en-US" sz="12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457200" y="416052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7" action="ppaction://hlinksldjump" tooltip="Levels and granular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Levels and granularity</a:t>
            </a:r>
            <a:endParaRPr lang="en-US" sz="12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324612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8" action="ppaction://hlinksldjump" tooltip="Context diagram (Level 0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Context diagram (Level 0)</a:t>
            </a:r>
            <a:endParaRPr lang="en-US" sz="12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324612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9" action="ppaction://hlinksldjump" tooltip="Worked example: bike hire context diagra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bike hire context diagram</a:t>
            </a:r>
            <a:endParaRPr lang="en-US" sz="12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324612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0" action="ppaction://hlinksldjump" tooltip="Level 1 DFD: exploding the proces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Level 1 DFD: exploding the process</a:t>
            </a:r>
            <a:endParaRPr lang="en-US" sz="1200" dirty="0"/>
          </a:p>
        </p:txBody>
      </p:sp>
      <p:sp>
        <p:nvSpPr>
          <p:cNvPr id="16" name="btn">
            <a:hlinkClick r:id="rId11" action="ppaction://hlinksldjump"/>
          </p:cNvPr>
          <p:cNvSpPr/>
          <p:nvPr/>
        </p:nvSpPr>
        <p:spPr>
          <a:xfrm>
            <a:off x="324612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1" action="ppaction://hlinksldjump" tooltip="Worked example: bike hire Level 1 flow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bike hire Level 1 flows</a:t>
            </a:r>
            <a:endParaRPr lang="en-US" sz="1200" dirty="0"/>
          </a:p>
        </p:txBody>
      </p:sp>
      <p:sp>
        <p:nvSpPr>
          <p:cNvPr id="17" name="btn">
            <a:hlinkClick r:id="rId12" action="ppaction://hlinksldjump"/>
          </p:cNvPr>
          <p:cNvSpPr/>
          <p:nvPr/>
        </p:nvSpPr>
        <p:spPr>
          <a:xfrm>
            <a:off x="3246120" y="359359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2" action="ppaction://hlinksldjump" tooltip="Checking the worked example balanc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Checking the worked example balances</a:t>
            </a:r>
            <a:endParaRPr lang="en-US" sz="1200" dirty="0"/>
          </a:p>
        </p:txBody>
      </p:sp>
      <p:sp>
        <p:nvSpPr>
          <p:cNvPr id="18" name="btn">
            <a:hlinkClick r:id="rId13" action="ppaction://hlinksldjump"/>
          </p:cNvPr>
          <p:cNvSpPr/>
          <p:nvPr/>
        </p:nvSpPr>
        <p:spPr>
          <a:xfrm>
            <a:off x="3246120" y="416052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3" action="ppaction://hlinksldjump" tooltip="Rules for valid DFD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Rules for valid DFDs</a:t>
            </a:r>
            <a:endParaRPr lang="en-US" sz="1200" dirty="0"/>
          </a:p>
        </p:txBody>
      </p:sp>
      <p:sp>
        <p:nvSpPr>
          <p:cNvPr id="19" name="btn">
            <a:hlinkClick r:id="rId14" action="ppaction://hlinksldjump"/>
          </p:cNvPr>
          <p:cNvSpPr/>
          <p:nvPr/>
        </p:nvSpPr>
        <p:spPr>
          <a:xfrm>
            <a:off x="603504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4" action="ppaction://hlinksldjump" tooltip="Spot the erro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Spot the error</a:t>
            </a:r>
            <a:endParaRPr lang="en-US" sz="1200" dirty="0"/>
          </a:p>
        </p:txBody>
      </p:sp>
      <p:sp>
        <p:nvSpPr>
          <p:cNvPr id="20" name="btn">
            <a:hlinkClick r:id="rId15" action="ppaction://hlinksldjump"/>
          </p:cNvPr>
          <p:cNvSpPr/>
          <p:nvPr/>
        </p:nvSpPr>
        <p:spPr>
          <a:xfrm>
            <a:off x="603504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5" action="ppaction://hlinksldjump" tooltip="How to draw a DFD from a scenario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draw a DFD from a scenario</a:t>
            </a:r>
            <a:endParaRPr lang="en-US" sz="1200" dirty="0"/>
          </a:p>
        </p:txBody>
      </p:sp>
      <p:sp>
        <p:nvSpPr>
          <p:cNvPr id="21" name="btn">
            <a:hlinkClick r:id="rId16" action="ppaction://hlinksldjump"/>
          </p:cNvPr>
          <p:cNvSpPr/>
          <p:nvPr/>
        </p:nvSpPr>
        <p:spPr>
          <a:xfrm>
            <a:off x="603504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6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200" dirty="0"/>
          </a:p>
        </p:txBody>
      </p:sp>
      <p:sp>
        <p:nvSpPr>
          <p:cNvPr id="22" name="btn">
            <a:hlinkClick r:id="rId17" action="ppaction://hlinksldjump"/>
          </p:cNvPr>
          <p:cNvSpPr/>
          <p:nvPr/>
        </p:nvSpPr>
        <p:spPr>
          <a:xfrm>
            <a:off x="603504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7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5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A level 1 data flow diagram for a boat hire booking system with external entities, numbered processes, data stores and labelled data flow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A level 1 data flow diagram for a boat hire booking system with external entities, numbered processes, data stores and labelled data flows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What is a data flow diagram?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A diagram that models how data moves through a system: where it comes from, how it is processed, where it is stored and where it goes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Data enters from outside, processes act on it, and new data flows back out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Shows data, not the order of events or decisions, so it is not a flowchart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Used during analysis to model the current system and agree the requirements for the new one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Uses only a few symbols, so users with little technical knowledge can understand and check it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Purpose and advantages of DFDs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Give a clear visual (graphical) representation of a system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Show the system at different levels of detail, from an overview down to sub-systems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Show how the system interacts with external entities and define its boundary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Identify the processes and data stores the new system will need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Create a shared, agreed understanding between analyst, client and users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Help reveal bottlenecks, duplicated work and problem data flows in the current system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1503E"/>
                </a:solidFill>
              </a:rPr>
              <a:t>The DFD elements (CCEA textbook notation) (1 of 2)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6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439056"/>
                <a:gridCol w="2023672"/>
                <a:gridCol w="3687580"/>
                <a:gridCol w="107929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Element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Drawn as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External entity (source or sink)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Ellipse with its name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Person, organisation or system outside the boundary that supplies or receives data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Customer, Supplier, HMRC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Duplicated external entity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Ellipse with a short diagonal line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The same entity drawn again to avoid crossing lines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Customer shown twice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Process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Rectangle with a numbered strip at the top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An action that transforms input data into output data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1.0 Validate order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Data store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Open-ended rectangle with an ID box (D1, D2…)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Data held for later use, such as a file or table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D1 Stock file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63" grpId="0">
        <p:bldAsOne/>
      </p:bldGraphic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1503E"/>
                </a:solidFill>
              </a:rPr>
              <a:t>The DFD elements (CCEA textbook notation) (2 of 2)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6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439056"/>
                <a:gridCol w="2023672"/>
                <a:gridCol w="3687580"/>
                <a:gridCol w="107929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Element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Drawn as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Data flow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Arrow labelled with the data it carries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Data moving between the other elements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Customer order, Invoice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64" grpId="0">
        <p:bldAsOne/>
      </p:bldGraphic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Sources, sinks and the system boundary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External entities lie outside the system: the system does not control them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source supplies data to the system, e.g. a customer placing an order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sink receives data from the system, e.g. a warehouse receiving dispatch details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Many entities are both: a customer sends an order (source) and receives an invoice (sink)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Other notations draw entities as squares and processes as rounded rectangles; label your diagram clearly whichever you use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Levels and granularity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DFDs can be drawn with coarse or fine granularity (level of detail)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Context diagram (Level 0): the whole system as one process, giving a high-level overview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Level 1: the single process is exploded into its main sub-processes, numbered 1.0, 2.0, 3.0…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Level 2 and below explode a Level 1 process further (e.g. 2.1, 2.2); CCEA AS requires only Level 0 and Level 1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Each lower level shows part or all of the level above in more detail, and must stay consistent with it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Context diagram (Level 0)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Exactly one process, representing the whole system, usually numbered 0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All the external entities that the system exchanges data with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Every data flow between those entities and the system, each labelled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Data stores are normally left out (use them very sparingly at this level)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Defines the scope and boundary of the system; most useful for managers wanting an overview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Worked example: bike hire context diagram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6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3950208"/>
                <a:gridCol w="3209544"/>
                <a:gridCol w="106984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Scenario: Mourne Bike Hire takes online bookings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Data flow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Direction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Customer → 0 Bike Hire System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Hire request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Into system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Customer → 0 Bike Hire System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Card details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Into system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0 Bike Hire System → Customer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Unavailable message / Hire confirmation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Out of system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0 Bike Hire System → Card Payment Provider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Payment request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Out of system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Card Payment Provider → 0 Bike Hire System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Payment authorisation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Into system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0 Bike Hire System → Manager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Weekly hire report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Out of system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68" grpId="0">
        <p:bldAsOne/>
      </p:bldGraphic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Level 1 DFD: exploding the process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Replace the single process with the main sub-processes, each with a number and a verb-phrase name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Add the data stores the processes need (D1, D2…) and the flows to and from them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Add flows between processes where one passes data to the next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Keep the same external entities: they are outside the system so they do not change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Balancing: every flow into or out of the system at Level 0 must appear at Level 1, with the same name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1503E"/>
                </a:solidFill>
              </a:rPr>
              <a:t>Worked example: bike hire Level 1 flows (1 of 2)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7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737928"/>
                <a:gridCol w="3220278"/>
                <a:gridCol w="327139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From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Data flow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Customer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Hire request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1.0 Check availability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D1 Bikes file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Bike availability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1.0 Check availability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1.0 Check availability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Unavailable message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Customer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1.0 Check availability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Available hire details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2.0 Process payment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Customer / Card Payment Provider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Card details / Payment authorisation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2.0 Process payment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2.0 Process payment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Payment request / Hire confirmation / Hire record / Bike status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Card Payment Provider / Customer / D2 Hires file / D1 Bikes file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70" grpId="0">
        <p:bldAsOne/>
      </p:bldGraphic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1503E"/>
                </a:solidFill>
              </a:rPr>
              <a:t>Worked example: bike hire Level 1 flows (2 of 2)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7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737928"/>
                <a:gridCol w="3220278"/>
                <a:gridCol w="327139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From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Data flow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D2 Hires file → 3.0 Produce report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Hire details → Weekly hire report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3.0 Produce report → Manager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71" grpId="0">
        <p:bldAsOne/>
      </p:bldGraphic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Checking the worked example balances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Same three entities at both levels: Customer, Card Payment Provider, Manager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All seven external flows from the context diagram reappear at Level 1 with identical labels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New at Level 1: processes 1.0, 2.0, 3.0, stores D1 and D2, and internal flows between them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Each process has at least one input and one output; each store is both written to and read from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Not shown: credit checks, cancellations, adding new bikes; a real system would need more processes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Rules for valid DFDs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Every data flow must start or end at a process: no entity-to-entity, store-to-store or entity-to-store flows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Every process must have at least one input and at least one output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Every data store should have data flowing in (written) and out (read) somewhere in the system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Label every flow with a noun phrase naming the data, e.g. 'Order details', not 'send'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Name processes with a verb phrase, e.g. 'Check availability'; number processes and stores uniquely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Spot the error (1 of 2)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7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270234"/>
                <a:gridCol w="2894549"/>
                <a:gridCol w="306481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Error seen on a DFD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Rule broken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Correction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Customer → D1 Orders, labelled 'Order'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Data cannot pass from an entity straight to a store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Route it through a process, e.g. 1.0 Record order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D1 Stock → D2 Reorders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Data cannot flow store to store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Insert a process, e.g. 3.0 Check reorder levels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Process 2.0 has inputs but no outputs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process must transform data and output something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Add the missing output flow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An unlabelled arrow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Every flow must name the data it carries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Label it, e.g. 'Payment details'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Level 1 omits 'Invoice' shown at Level 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Levels do not balance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Add the Invoice flow from the relevant Level 1 process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74" grpId="0">
        <p:bldAsOne/>
      </p:bldGraphic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Spot the error (2 of 2)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7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270234"/>
                <a:gridCol w="2894549"/>
                <a:gridCol w="306481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Error seen on a DFD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Rule broken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Correction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Process named 'Customer'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Processes are actions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Rename with a verb, e.g. 'Register customer'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75" grpId="0">
        <p:bldAsOne/>
      </p:bldGraphic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How to draw a DFD from a scenario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Read the scenario twice; underline people and organisations outside the system (entities)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Circle verbs describing actions on data (processes) and nouns for stored records (data stores)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Draw the context diagram first: one process, all entities, all external flows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Explode into 2–4 processes, add stores and internal flows, then check balancing and every rule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Use the scenario's own names for entities and data; neat, labelled diagrams earn the marks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21C"/>
                </a:solidFill>
              </a:rPr>
              <a:t>In a DFD for a garage's booking system, a car owner sends booking requests and receives confirmations. What is the car owner?</a:t>
            </a:r>
            <a:endParaRPr lang="en-US" sz="1500" dirty="0"/>
          </a:p>
        </p:txBody>
      </p:sp>
      <p:sp>
        <p:nvSpPr>
          <p:cNvPr id="7" name="trig:k7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A process</a:t>
            </a:r>
            <a:endParaRPr lang="en-US" sz="1400" dirty="0"/>
          </a:p>
        </p:txBody>
      </p:sp>
      <p:sp>
        <p:nvSpPr>
          <p:cNvPr id="8" name="on:k7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7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A data store</a:t>
            </a:r>
            <a:endParaRPr lang="en-US" sz="1400" dirty="0"/>
          </a:p>
        </p:txBody>
      </p:sp>
      <p:sp>
        <p:nvSpPr>
          <p:cNvPr id="10" name="on:k7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7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An external entity that is both a source and a sink</a:t>
            </a:r>
            <a:endParaRPr lang="en-US" sz="1400" dirty="0"/>
          </a:p>
        </p:txBody>
      </p:sp>
      <p:sp>
        <p:nvSpPr>
          <p:cNvPr id="12" name="on:k7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7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A data flow</a:t>
            </a:r>
            <a:endParaRPr lang="en-US" sz="1400" dirty="0"/>
          </a:p>
        </p:txBody>
      </p:sp>
      <p:sp>
        <p:nvSpPr>
          <p:cNvPr id="14" name="on:k7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75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C: An external entity that is both a source and a sink  –  They are outside the system, supplying data (source) and receiving data (sink).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How many processes does a context diagram contain?</a:t>
            </a:r>
            <a:endParaRPr lang="en-US" sz="1700" dirty="0"/>
          </a:p>
        </p:txBody>
      </p:sp>
      <p:sp>
        <p:nvSpPr>
          <p:cNvPr id="7" name="trig:k7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One</a:t>
            </a:r>
            <a:endParaRPr lang="en-US" sz="1600" dirty="0"/>
          </a:p>
        </p:txBody>
      </p:sp>
      <p:sp>
        <p:nvSpPr>
          <p:cNvPr id="8" name="on:k7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7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Two</a:t>
            </a:r>
            <a:endParaRPr lang="en-US" sz="1600" dirty="0"/>
          </a:p>
        </p:txBody>
      </p:sp>
      <p:sp>
        <p:nvSpPr>
          <p:cNvPr id="10" name="on:k7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7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None</a:t>
            </a:r>
            <a:endParaRPr lang="en-US" sz="1600" dirty="0"/>
          </a:p>
        </p:txBody>
      </p:sp>
      <p:sp>
        <p:nvSpPr>
          <p:cNvPr id="12" name="on:k7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8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As many as needed</a:t>
            </a:r>
            <a:endParaRPr lang="en-US" sz="1600" dirty="0"/>
          </a:p>
        </p:txBody>
      </p:sp>
      <p:sp>
        <p:nvSpPr>
          <p:cNvPr id="14" name="on:k8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77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One  –  The whole system is shown as a single process.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flow is invalid?</a:t>
            </a:r>
            <a:endParaRPr lang="en-US" sz="1700" dirty="0"/>
          </a:p>
        </p:txBody>
      </p:sp>
      <p:sp>
        <p:nvSpPr>
          <p:cNvPr id="7" name="trig:k8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Customer → 1.0 Take order</a:t>
            </a:r>
            <a:endParaRPr lang="en-US" sz="1600" dirty="0"/>
          </a:p>
        </p:txBody>
      </p:sp>
      <p:sp>
        <p:nvSpPr>
          <p:cNvPr id="8" name="on:k8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8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1.0 Take order → D1 Orders</a:t>
            </a:r>
            <a:endParaRPr lang="en-US" sz="1600" dirty="0"/>
          </a:p>
        </p:txBody>
      </p:sp>
      <p:sp>
        <p:nvSpPr>
          <p:cNvPr id="10" name="on:k8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8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D1 Orders → D2 Stock</a:t>
            </a:r>
            <a:endParaRPr lang="en-US" sz="1600" dirty="0"/>
          </a:p>
        </p:txBody>
      </p:sp>
      <p:sp>
        <p:nvSpPr>
          <p:cNvPr id="12" name="on:k8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8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D2 Stock → 2.0 Reorder</a:t>
            </a:r>
            <a:endParaRPr lang="en-US" sz="1600" dirty="0"/>
          </a:p>
        </p:txBody>
      </p:sp>
      <p:sp>
        <p:nvSpPr>
          <p:cNvPr id="14" name="on:k8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83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C: D1 Orders → D2 Stock  –  Data cannot pass directly from one data store to another; it must go through a process.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 good name for a process is…</a:t>
            </a:r>
            <a:endParaRPr lang="en-US" sz="1700" dirty="0"/>
          </a:p>
        </p:txBody>
      </p:sp>
      <p:sp>
        <p:nvSpPr>
          <p:cNvPr id="7" name="trig:k8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Orders</a:t>
            </a:r>
            <a:endParaRPr lang="en-US" sz="1600" dirty="0"/>
          </a:p>
        </p:txBody>
      </p:sp>
      <p:sp>
        <p:nvSpPr>
          <p:cNvPr id="8" name="on:k8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8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Customer</a:t>
            </a:r>
            <a:endParaRPr lang="en-US" sz="1600" dirty="0"/>
          </a:p>
        </p:txBody>
      </p:sp>
      <p:sp>
        <p:nvSpPr>
          <p:cNvPr id="10" name="on:k8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8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Data</a:t>
            </a:r>
            <a:endParaRPr lang="en-US" sz="1600" dirty="0"/>
          </a:p>
        </p:txBody>
      </p:sp>
      <p:sp>
        <p:nvSpPr>
          <p:cNvPr id="12" name="on:k8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8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Calculate invoice total</a:t>
            </a:r>
            <a:endParaRPr lang="en-US" sz="1600" dirty="0"/>
          </a:p>
        </p:txBody>
      </p:sp>
      <p:sp>
        <p:nvSpPr>
          <p:cNvPr id="14" name="on:k8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88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Calculate invoice total  –  Processes are actions, so they are named with a verb phrase.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Breaking the single process of a context diagram into its main sub-processes is described as…</a:t>
            </a:r>
            <a:endParaRPr lang="en-US" sz="1700" dirty="0"/>
          </a:p>
        </p:txBody>
      </p:sp>
      <p:sp>
        <p:nvSpPr>
          <p:cNvPr id="7" name="trig:k8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normalising the diagram</a:t>
            </a:r>
            <a:endParaRPr lang="en-US" sz="1600" dirty="0"/>
          </a:p>
        </p:txBody>
      </p:sp>
      <p:sp>
        <p:nvSpPr>
          <p:cNvPr id="8" name="on:k8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9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exploding (decomposing) the process</a:t>
            </a:r>
            <a:endParaRPr lang="en-US" sz="1600" dirty="0"/>
          </a:p>
        </p:txBody>
      </p:sp>
      <p:sp>
        <p:nvSpPr>
          <p:cNvPr id="10" name="on:k9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9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balancing the entities</a:t>
            </a:r>
            <a:endParaRPr lang="en-US" sz="1600" dirty="0"/>
          </a:p>
        </p:txBody>
      </p:sp>
      <p:sp>
        <p:nvSpPr>
          <p:cNvPr id="12" name="on:k9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9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iterating the flows</a:t>
            </a:r>
            <a:endParaRPr lang="en-US" sz="1600" dirty="0"/>
          </a:p>
        </p:txBody>
      </p:sp>
      <p:sp>
        <p:nvSpPr>
          <p:cNvPr id="14" name="on:k9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90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exploding (decomposing) the process  –  The single process is exploded into sub-processes.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6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does 'balancing' mean for DFDs?</a:t>
            </a:r>
            <a:endParaRPr lang="en-US" sz="1700" dirty="0"/>
          </a:p>
        </p:txBody>
      </p:sp>
      <p:sp>
        <p:nvSpPr>
          <p:cNvPr id="7" name="trig:k9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Each level has the same number of processes</a:t>
            </a:r>
            <a:endParaRPr lang="en-US" sz="1250" dirty="0"/>
          </a:p>
        </p:txBody>
      </p:sp>
      <p:sp>
        <p:nvSpPr>
          <p:cNvPr id="8" name="on:k9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9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The external data flows at one level also appear at the next level</a:t>
            </a:r>
            <a:endParaRPr lang="en-US" sz="1250" dirty="0"/>
          </a:p>
        </p:txBody>
      </p:sp>
      <p:sp>
        <p:nvSpPr>
          <p:cNvPr id="10" name="on:k9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9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Every store has two flows</a:t>
            </a:r>
            <a:endParaRPr lang="en-US" sz="1250" dirty="0"/>
          </a:p>
        </p:txBody>
      </p:sp>
      <p:sp>
        <p:nvSpPr>
          <p:cNvPr id="12" name="on:k9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9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Entities are drawn the same size</a:t>
            </a:r>
            <a:endParaRPr lang="en-US" sz="1250" dirty="0"/>
          </a:p>
        </p:txBody>
      </p:sp>
      <p:sp>
        <p:nvSpPr>
          <p:cNvPr id="14" name="on:k9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94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B: The external data flows at one level also appear at the next level  –  Inputs to and outputs from the system must be consistent between levels.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7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element is usually omitted from a context diagram?</a:t>
            </a:r>
            <a:endParaRPr lang="en-US" sz="1700" dirty="0"/>
          </a:p>
        </p:txBody>
      </p:sp>
      <p:sp>
        <p:nvSpPr>
          <p:cNvPr id="7" name="trig:k9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External entities</a:t>
            </a:r>
            <a:endParaRPr lang="en-US" sz="1600" dirty="0"/>
          </a:p>
        </p:txBody>
      </p:sp>
      <p:sp>
        <p:nvSpPr>
          <p:cNvPr id="8" name="on:k9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9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Data flows</a:t>
            </a:r>
            <a:endParaRPr lang="en-US" sz="1600" dirty="0"/>
          </a:p>
        </p:txBody>
      </p:sp>
      <p:sp>
        <p:nvSpPr>
          <p:cNvPr id="10" name="on:k9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9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The process</a:t>
            </a:r>
            <a:endParaRPr lang="en-US" sz="1600" dirty="0"/>
          </a:p>
        </p:txBody>
      </p:sp>
      <p:sp>
        <p:nvSpPr>
          <p:cNvPr id="12" name="on:k9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0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Data stores</a:t>
            </a:r>
            <a:endParaRPr lang="en-US" sz="1600" dirty="0"/>
          </a:p>
        </p:txBody>
      </p:sp>
      <p:sp>
        <p:nvSpPr>
          <p:cNvPr id="14" name="on:k10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100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Data stores  –  The context diagram defines the boundary, so stores are left out or used very sparingly.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8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On a Level 1 DFD, what is new compared with the context diagram?</a:t>
            </a:r>
            <a:endParaRPr lang="en-US" sz="1700" dirty="0"/>
          </a:p>
        </p:txBody>
      </p:sp>
      <p:sp>
        <p:nvSpPr>
          <p:cNvPr id="7" name="trig:k10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Sub-processes, data stores and internal flows</a:t>
            </a:r>
            <a:endParaRPr lang="en-US" sz="1400" dirty="0"/>
          </a:p>
        </p:txBody>
      </p:sp>
      <p:sp>
        <p:nvSpPr>
          <p:cNvPr id="8" name="on:k10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10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New external entities</a:t>
            </a:r>
            <a:endParaRPr lang="en-US" sz="1400" dirty="0"/>
          </a:p>
        </p:txBody>
      </p:sp>
      <p:sp>
        <p:nvSpPr>
          <p:cNvPr id="10" name="on:k10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0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Removal of all flows</a:t>
            </a:r>
            <a:endParaRPr lang="en-US" sz="1400" dirty="0"/>
          </a:p>
        </p:txBody>
      </p:sp>
      <p:sp>
        <p:nvSpPr>
          <p:cNvPr id="12" name="on:k10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0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Decisions and loops</a:t>
            </a:r>
            <a:endParaRPr lang="en-US" sz="1400" dirty="0"/>
          </a:p>
        </p:txBody>
      </p:sp>
      <p:sp>
        <p:nvSpPr>
          <p:cNvPr id="14" name="on:k10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01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A: Sub-processes, data stores and internal flows  –  Level 1 adds internal detail while keeping the same entities and external flows.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9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of these is a benefit of DFDs mentioned in mark schemes?</a:t>
            </a:r>
            <a:endParaRPr lang="en-US" sz="1700" dirty="0"/>
          </a:p>
        </p:txBody>
      </p:sp>
      <p:sp>
        <p:nvSpPr>
          <p:cNvPr id="7" name="trig:k10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They show the exact program code</a:t>
            </a:r>
            <a:endParaRPr lang="en-US" sz="1250" dirty="0"/>
          </a:p>
        </p:txBody>
      </p:sp>
      <p:sp>
        <p:nvSpPr>
          <p:cNvPr id="8" name="on:k10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0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They give a visual representation that non-specialists can understand</a:t>
            </a:r>
            <a:endParaRPr lang="en-US" sz="1250" dirty="0"/>
          </a:p>
        </p:txBody>
      </p:sp>
      <p:sp>
        <p:nvSpPr>
          <p:cNvPr id="10" name="on:k10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10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They replace the need for testing</a:t>
            </a:r>
            <a:endParaRPr lang="en-US" sz="1250" dirty="0"/>
          </a:p>
        </p:txBody>
      </p:sp>
      <p:sp>
        <p:nvSpPr>
          <p:cNvPr id="12" name="on:k10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0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They show the timing of every event</a:t>
            </a:r>
            <a:endParaRPr lang="en-US" sz="1250" dirty="0"/>
          </a:p>
        </p:txBody>
      </p:sp>
      <p:sp>
        <p:nvSpPr>
          <p:cNvPr id="14" name="on:k10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06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B: They give a visual representation that non-specialists can understand  –  Their simple symbols make them easy for clients and users to check.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8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An external entity that is both a source and a sink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They are outside the system, supplying data (source) and receiving data (sink).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One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 whole system is shown as a single process.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D1 Orders → D2 Stock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Data cannot pass directly from one data store to another; it must go through a process.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Calculate invoice total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Processes are actions, so they are named with a verb phrase.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exploding (decomposing) the process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 single process is exploded into sub-processes.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The external data flows at one level also appear at the next level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Inputs to and outputs from the system must be consistent between levels.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Data stores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 context diagram defines the boundary, so stores are left out or used very sparingly.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Sub-processes, data stores and internal flows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Level 1 adds internal detail while keeping the same entities and external flows.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9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They give a visual representation that non-specialists can understand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Their simple symbols make them easy for clients and users to check.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86" grpId="0">
        <p:bldAsOne/>
      </p:bldGraphic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85</Slides>
  <Notes>85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85</vt:i4>
      </vt:variant>
    </vt:vector>
  </HeadingPairs>
  <TitlesOfParts>
    <vt:vector size="8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Analysis</dc:title>
  <dc:subject>AS 1: Approaches to Systems Development – Analysis</dc:subject>
  <dc:creator>Digital Technology Hub</dc:creator>
  <cp:lastModifiedBy>Digital Technology Hub</cp:lastModifiedBy>
  <cp:revision>1</cp:revision>
  <dcterms:created xsi:type="dcterms:W3CDTF">2026-10-30T13:15:51Z</dcterms:created>
  <dcterms:modified xsi:type="dcterms:W3CDTF">2026-10-30T13:15:51Z</dcterms:modified>
</cp:coreProperties>
</file>