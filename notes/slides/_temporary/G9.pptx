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</p:sldIdLst>
  <p:notesMasterIdLst>
    <p:notesMasterId r:id="rId1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5fe96544-b4b3-a4c7-7e85-34850d9badb7}">
          <p14:sldIdLst>
            <p14:sldId id="256"/>
            <p14:sldId id="257"/>
            <p14:sldId id="258"/>
            <p14:sldId id="259"/>
            <p14:sldId id="260"/>
          </p14:sldIdLst>
        </p14:section>
        <p14:section name="AP19 · IDEs, translators, data types, variables and operators" id="{363a4a18-37b1-22aa-1d88-8fc4be9a353b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AP20 · Program control: sequence, selection and iteration" id="{5d20e192-ab0c-efde-1fd5-f5efe6d36705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</p14:sldIdLst>
        </p14:section>
        <p14:section name="AP21 · Subroutines: procedures, functions, parameters and scope" id="{2c35ea6a-7134-4577-3e4c-2541dedf15f5}">
          <p14:sldIdLst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</p14:sldIdLst>
        </p14:section>
        <p14:section name="AP22 · Data structures: arrays, lists, records and files" id="{9a6d7255-e634-3e47-983a-373982b1e238}">
          <p14:sldIdLst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</p14:sldIdLst>
        </p14:section>
        <p14:section name="AP23 · Robust programs: validation, exceptions, errors, testing and debugging" id="{5f8a4437-4477-754c-e63a-3d0bb5adf091}">
          <p14:sldIdLst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notesMaster" Target="notesMasters/notesMaster1.xml"/><Relationship Id="rId174" Type="http://schemas.openxmlformats.org/officeDocument/2006/relationships/presProps" Target="presProps.xml"/><Relationship Id="rId175" Type="http://schemas.openxmlformats.org/officeDocument/2006/relationships/viewProps" Target="viewProps.xml"/><Relationship Id="rId176" Type="http://schemas.openxmlformats.org/officeDocument/2006/relationships/theme" Target="theme/theme1.xml"/><Relationship Id="rId1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main features of an integrated development environment (IDE), including the editor, preferences, compiler and debugging tools | Explain the process of translation and the differences between assemblers, compilers and interpreters | Explain the terms syntax, data type and variable, and use the data types integer, real, character, string and Boolean appropriately | Explain the use of variables and constants, and declare, initialise and assign them in a high-level language | Use arithmetic, relational and Boolean (logical) operators, including integer division and modulus, and evaluate conditions | Write programs that take input from the user, convert it to a suitable type and produce formatted output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fundamental programming concepts of sequence, selection and iteration | Use if, if…else, else if, nested if and switch statements for selection, with conditions built from relational and Boolean operators | Describe count-controlled iteration and use for loops, including loops that count up, down and in steps | Describe condition-controlled iteration and use while (pre-condition) and do…while (post-condition) loops, including sentinel values | Use nested loops and nested selection, and trace programs that combine all three constructs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what is meant by a subroutine and describe the difference between a procedure and a function | Write and call procedures and functions in a high-level language, using parameters, arguments and return values | Explain passing parameters by value and by reference, and predict the effect of each | Explain the scope of local and global variables and the advantages of using local variables | Explain the benefits of modular programming and decomposing a problem into subroutines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purpose of data structures and distinguish between static and dynamic structures | Use one-dimensional and two-dimensional arrays, including traversing them with loops | Use lists as dynamic data structures and justify the choice of a list or an array | Describe and use records to group related fields of different data types | Write to, append to and read from text files, splitting delimited lines into fields | Explain why files are needed for persistent storage and how file errors can be avoided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and use validation checks, and distinguish validation from verification | Use exception handling to deal with run-time errors | Explain the differences between syntax, semantic, run-time and logic errors | Select valid, extreme, invalid and null test data and use a test plan to find errors | Use the debugging tools of an integrated development environment (IDE), such as breakpoints, stepping and watches, to locate errors (IDE features are introduced in AP19) | Explain how the choice of translator (compiler or interpreter, covered in AP19) affects when syntax, semantic and run-time errors are detected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6.xml"/><Relationship Id="rId4" Type="http://schemas.openxmlformats.org/officeDocument/2006/relationships/slide" Target="slide39.xml"/><Relationship Id="rId5" Type="http://schemas.openxmlformats.org/officeDocument/2006/relationships/slide" Target="slide72.xml"/><Relationship Id="rId6" Type="http://schemas.openxmlformats.org/officeDocument/2006/relationships/slide" Target="slide104.xml"/><Relationship Id="rId7" Type="http://schemas.openxmlformats.org/officeDocument/2006/relationships/slide" Target="slide141.xml"/><Relationship Id="rId1" Type="http://schemas.openxmlformats.org/officeDocument/2006/relationships/image" Target="../media/image-2-1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3" Type="http://schemas.openxmlformats.org/officeDocument/2006/relationships/slide" Target="slide9.xml"/><Relationship Id="rId4" Type="http://schemas.openxmlformats.org/officeDocument/2006/relationships/slide" Target="slide10.xml"/><Relationship Id="rId5" Type="http://schemas.openxmlformats.org/officeDocument/2006/relationships/slide" Target="slide12.xml"/><Relationship Id="rId6" Type="http://schemas.openxmlformats.org/officeDocument/2006/relationships/slide" Target="slide13.xml"/><Relationship Id="rId7" Type="http://schemas.openxmlformats.org/officeDocument/2006/relationships/slide" Target="slide15.xml"/><Relationship Id="rId8" Type="http://schemas.openxmlformats.org/officeDocument/2006/relationships/slide" Target="slide16.xml"/><Relationship Id="rId9" Type="http://schemas.openxmlformats.org/officeDocument/2006/relationships/slide" Target="slide17.xml"/><Relationship Id="rId10" Type="http://schemas.openxmlformats.org/officeDocument/2006/relationships/slide" Target="slide18.xml"/><Relationship Id="rId11" Type="http://schemas.openxmlformats.org/officeDocument/2006/relationships/slide" Target="slide19.xml"/><Relationship Id="rId12" Type="http://schemas.openxmlformats.org/officeDocument/2006/relationships/slide" Target="slide21.xml"/><Relationship Id="rId13" Type="http://schemas.openxmlformats.org/officeDocument/2006/relationships/slide" Target="slide22.xml"/><Relationship Id="rId14" Type="http://schemas.openxmlformats.org/officeDocument/2006/relationships/slide" Target="slide23.xml"/><Relationship Id="rId15" Type="http://schemas.openxmlformats.org/officeDocument/2006/relationships/slide" Target="slide24.xml"/><Relationship Id="rId16" Type="http://schemas.openxmlformats.org/officeDocument/2006/relationships/slide" Target="slide26.xml"/><Relationship Id="rId17" Type="http://schemas.openxmlformats.org/officeDocument/2006/relationships/slide" Target="slide28.xml"/><Relationship Id="rId18" Type="http://schemas.openxmlformats.org/officeDocument/2006/relationships/slide" Target="slide2.xml"/><Relationship Id="rId1" Type="http://schemas.openxmlformats.org/officeDocument/2006/relationships/image" Target="../media/image-7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3" Type="http://schemas.openxmlformats.org/officeDocument/2006/relationships/slide" Target="slide42.xml"/><Relationship Id="rId4" Type="http://schemas.openxmlformats.org/officeDocument/2006/relationships/slide" Target="slide43.xml"/><Relationship Id="rId5" Type="http://schemas.openxmlformats.org/officeDocument/2006/relationships/slide" Target="slide45.xml"/><Relationship Id="rId6" Type="http://schemas.openxmlformats.org/officeDocument/2006/relationships/slide" Target="slide46.xml"/><Relationship Id="rId7" Type="http://schemas.openxmlformats.org/officeDocument/2006/relationships/slide" Target="slide48.xml"/><Relationship Id="rId8" Type="http://schemas.openxmlformats.org/officeDocument/2006/relationships/slide" Target="slide50.xml"/><Relationship Id="rId9" Type="http://schemas.openxmlformats.org/officeDocument/2006/relationships/slide" Target="slide51.xml"/><Relationship Id="rId10" Type="http://schemas.openxmlformats.org/officeDocument/2006/relationships/slide" Target="slide53.xml"/><Relationship Id="rId11" Type="http://schemas.openxmlformats.org/officeDocument/2006/relationships/slide" Target="slide54.xml"/><Relationship Id="rId12" Type="http://schemas.openxmlformats.org/officeDocument/2006/relationships/slide" Target="slide56.xml"/><Relationship Id="rId13" Type="http://schemas.openxmlformats.org/officeDocument/2006/relationships/slide" Target="slide57.xml"/><Relationship Id="rId14" Type="http://schemas.openxmlformats.org/officeDocument/2006/relationships/slide" Target="slide59.xml"/><Relationship Id="rId15" Type="http://schemas.openxmlformats.org/officeDocument/2006/relationships/slide" Target="slide60.xml"/><Relationship Id="rId16" Type="http://schemas.openxmlformats.org/officeDocument/2006/relationships/slide" Target="slide61.xml"/><Relationship Id="rId17" Type="http://schemas.openxmlformats.org/officeDocument/2006/relationships/slide" Target="slide62.xml"/><Relationship Id="rId18" Type="http://schemas.openxmlformats.org/officeDocument/2006/relationships/slide" Target="slide2.xml"/><Relationship Id="rId1" Type="http://schemas.openxmlformats.org/officeDocument/2006/relationships/image" Target="../media/image-40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40.xml"/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6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6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6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6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6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6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6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6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7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image" Target="../media/image-7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74.xml"/><Relationship Id="rId3" Type="http://schemas.openxmlformats.org/officeDocument/2006/relationships/slide" Target="slide75.xml"/><Relationship Id="rId4" Type="http://schemas.openxmlformats.org/officeDocument/2006/relationships/slide" Target="slide76.xml"/><Relationship Id="rId5" Type="http://schemas.openxmlformats.org/officeDocument/2006/relationships/slide" Target="slide77.xml"/><Relationship Id="rId6" Type="http://schemas.openxmlformats.org/officeDocument/2006/relationships/slide" Target="slide79.xml"/><Relationship Id="rId7" Type="http://schemas.openxmlformats.org/officeDocument/2006/relationships/slide" Target="slide81.xml"/><Relationship Id="rId8" Type="http://schemas.openxmlformats.org/officeDocument/2006/relationships/slide" Target="slide82.xml"/><Relationship Id="rId9" Type="http://schemas.openxmlformats.org/officeDocument/2006/relationships/slide" Target="slide84.xml"/><Relationship Id="rId10" Type="http://schemas.openxmlformats.org/officeDocument/2006/relationships/slide" Target="slide86.xml"/><Relationship Id="rId11" Type="http://schemas.openxmlformats.org/officeDocument/2006/relationships/slide" Target="slide87.xml"/><Relationship Id="rId12" Type="http://schemas.openxmlformats.org/officeDocument/2006/relationships/slide" Target="slide89.xml"/><Relationship Id="rId13" Type="http://schemas.openxmlformats.org/officeDocument/2006/relationships/slide" Target="slide90.xml"/><Relationship Id="rId14" Type="http://schemas.openxmlformats.org/officeDocument/2006/relationships/slide" Target="slide91.xml"/><Relationship Id="rId15" Type="http://schemas.openxmlformats.org/officeDocument/2006/relationships/slide" Target="slide93.xml"/><Relationship Id="rId16" Type="http://schemas.openxmlformats.org/officeDocument/2006/relationships/slide" Target="slide94.xml"/><Relationship Id="rId17" Type="http://schemas.openxmlformats.org/officeDocument/2006/relationships/slide" Target="slide2.xml"/><Relationship Id="rId1" Type="http://schemas.openxmlformats.org/officeDocument/2006/relationships/image" Target="../media/image-73-1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" Target="slide73.xml"/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7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7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7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7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7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8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8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8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8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8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8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8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8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8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8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9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9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9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9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9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9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9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9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9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9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10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10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10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image" Target="../media/image-10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" Target="slide106.xml"/><Relationship Id="rId3" Type="http://schemas.openxmlformats.org/officeDocument/2006/relationships/slide" Target="slide107.xml"/><Relationship Id="rId4" Type="http://schemas.openxmlformats.org/officeDocument/2006/relationships/slide" Target="slide108.xml"/><Relationship Id="rId5" Type="http://schemas.openxmlformats.org/officeDocument/2006/relationships/slide" Target="slide110.xml"/><Relationship Id="rId6" Type="http://schemas.openxmlformats.org/officeDocument/2006/relationships/slide" Target="slide112.xml"/><Relationship Id="rId7" Type="http://schemas.openxmlformats.org/officeDocument/2006/relationships/slide" Target="slide114.xml"/><Relationship Id="rId8" Type="http://schemas.openxmlformats.org/officeDocument/2006/relationships/slide" Target="slide116.xml"/><Relationship Id="rId9" Type="http://schemas.openxmlformats.org/officeDocument/2006/relationships/slide" Target="slide118.xml"/><Relationship Id="rId10" Type="http://schemas.openxmlformats.org/officeDocument/2006/relationships/slide" Target="slide120.xml"/><Relationship Id="rId11" Type="http://schemas.openxmlformats.org/officeDocument/2006/relationships/slide" Target="slide121.xml"/><Relationship Id="rId12" Type="http://schemas.openxmlformats.org/officeDocument/2006/relationships/slide" Target="slide123.xml"/><Relationship Id="rId13" Type="http://schemas.openxmlformats.org/officeDocument/2006/relationships/slide" Target="slide125.xml"/><Relationship Id="rId14" Type="http://schemas.openxmlformats.org/officeDocument/2006/relationships/slide" Target="slide126.xml"/><Relationship Id="rId15" Type="http://schemas.openxmlformats.org/officeDocument/2006/relationships/slide" Target="slide128.xml"/><Relationship Id="rId16" Type="http://schemas.openxmlformats.org/officeDocument/2006/relationships/slide" Target="slide130.xml"/><Relationship Id="rId17" Type="http://schemas.openxmlformats.org/officeDocument/2006/relationships/slide" Target="slide131.xml"/><Relationship Id="rId18" Type="http://schemas.openxmlformats.org/officeDocument/2006/relationships/slide" Target="slide2.xml"/><Relationship Id="rId1" Type="http://schemas.openxmlformats.org/officeDocument/2006/relationships/image" Target="../media/image-105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" Target="slide105.xml"/><Relationship Id="rId1" Type="http://schemas.openxmlformats.org/officeDocument/2006/relationships/image" Target="../media/image-106-1.png"/><Relationship Id="rId2" Type="http://schemas.openxmlformats.org/officeDocument/2006/relationships/image" Target="../media/image-10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0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0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0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" Target="slide105.xml"/><Relationship Id="rId1" Type="http://schemas.openxmlformats.org/officeDocument/2006/relationships/image" Target="../media/image-1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slide" Target="slide143.xml"/><Relationship Id="rId3" Type="http://schemas.openxmlformats.org/officeDocument/2006/relationships/slide" Target="slide144.xml"/><Relationship Id="rId4" Type="http://schemas.openxmlformats.org/officeDocument/2006/relationships/slide" Target="slide145.xml"/><Relationship Id="rId5" Type="http://schemas.openxmlformats.org/officeDocument/2006/relationships/slide" Target="slide146.xml"/><Relationship Id="rId6" Type="http://schemas.openxmlformats.org/officeDocument/2006/relationships/slide" Target="slide148.xml"/><Relationship Id="rId7" Type="http://schemas.openxmlformats.org/officeDocument/2006/relationships/slide" Target="slide149.xml"/><Relationship Id="rId8" Type="http://schemas.openxmlformats.org/officeDocument/2006/relationships/slide" Target="slide151.xml"/><Relationship Id="rId9" Type="http://schemas.openxmlformats.org/officeDocument/2006/relationships/slide" Target="slide152.xml"/><Relationship Id="rId10" Type="http://schemas.openxmlformats.org/officeDocument/2006/relationships/slide" Target="slide153.xml"/><Relationship Id="rId11" Type="http://schemas.openxmlformats.org/officeDocument/2006/relationships/slide" Target="slide155.xml"/><Relationship Id="rId12" Type="http://schemas.openxmlformats.org/officeDocument/2006/relationships/slide" Target="slide156.xml"/><Relationship Id="rId13" Type="http://schemas.openxmlformats.org/officeDocument/2006/relationships/slide" Target="slide157.xml"/><Relationship Id="rId14" Type="http://schemas.openxmlformats.org/officeDocument/2006/relationships/slide" Target="slide158.xml"/><Relationship Id="rId15" Type="http://schemas.openxmlformats.org/officeDocument/2006/relationships/slide" Target="slide159.xml"/><Relationship Id="rId16" Type="http://schemas.openxmlformats.org/officeDocument/2006/relationships/slide" Target="slide160.xml"/><Relationship Id="rId17" Type="http://schemas.openxmlformats.org/officeDocument/2006/relationships/slide" Target="slide161.xml"/><Relationship Id="rId18" Type="http://schemas.openxmlformats.org/officeDocument/2006/relationships/slide" Target="slide2.xml"/><Relationship Id="rId1" Type="http://schemas.openxmlformats.org/officeDocument/2006/relationships/image" Target="../media/image-142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" Target="slide142.xml"/><Relationship Id="rId1" Type="http://schemas.openxmlformats.org/officeDocument/2006/relationships/image" Target="../media/image-143-1.png"/><Relationship Id="rId2" Type="http://schemas.openxmlformats.org/officeDocument/2006/relationships/image" Target="../media/image-143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6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6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6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6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6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6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6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6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7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slide" Target="slide142.xml"/><Relationship Id="rId1" Type="http://schemas.openxmlformats.org/officeDocument/2006/relationships/image" Target="../media/image-17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Fundamentals of programming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AP19  IDEs, translators, data types, variables and operators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AP20  Program control: sequence, selection and iteration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AP21  Subroutines: procedures, functions, parameters and scope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AP22  Data structures: arrays, lists, records and files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AP23  Robust programs: validation, exceptions, errors, testing and debugging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AP19  IDEs, translators, data types, variables and operato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AP19  IDEs, translators, data types, variables and operators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AP20  Program control: sequence, selection and ite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AP20  Program control: sequence, selection and iteration</a:t>
            </a:r>
            <a:endParaRPr lang="en-US" sz="12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5" action="ppaction://hlinksldjump" tooltip="AP21  Subroutines: procedures, functions, parameters and scop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AP21  Subroutines: procedures, functions, parameters and scope</a:t>
            </a:r>
            <a:endParaRPr lang="en-US" sz="1200" dirty="0"/>
          </a:p>
        </p:txBody>
      </p:sp>
      <p:sp>
        <p:nvSpPr>
          <p:cNvPr id="10" name="btn">
            <a:hlinkClick r:id="rId6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6" action="ppaction://hlinksldjump" tooltip="AP22  Data structures: arrays, lists, records and fi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AP22  Data structures: arrays, lists, records and files</a:t>
            </a:r>
            <a:endParaRPr lang="en-US" sz="1200" dirty="0"/>
          </a:p>
        </p:txBody>
      </p:sp>
      <p:sp>
        <p:nvSpPr>
          <p:cNvPr id="11" name="btn">
            <a:hlinkClick r:id="rId7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7" action="ppaction://hlinksldjump" tooltip="AP23  Robust programs: validation, exceptions, errors, testing and debugg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AP23  Robust programs: validation, exceptions, errors, testing and debugging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(1 of 3)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main features of an integrated development environment (IDE), including the editor, preferences, compiler and debugging tools; Explain the process of translation and the differences between assemblers, compilers and interpreters; Explain the terms syntax, data type and variable, and use the data types integer, real, character, string and Boolean appropriately; Explain the use of variables and constants, and declare, initialise and assign them in a high-level language; Use arithmetic, relational and Boolean (logical) operators, including integer division and modulus, and evaluate conditions; Write programs that take input from the user, convert it to a suitable type and produce formatted output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fundamental programming concepts of sequence, selection and iteration; Use if, if…else, else if, nested if and switch statements for selection, with conditions built from relational and Boolean operators; Describe count-controlled iteration and use for loops, including loops that count up, down and in steps; Describe condition-controlled iteration and use while (pre-condition) and do…while (post-condition) loops, including sentinel values; Use nested loops and nested selection, and trace programs that combine all three constructs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6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(2 of 3)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what is meant by a subroutine and describe the difference between a procedure and a function; Write and call procedures and functions in a high-level language, using parameters, arguments and return values; Explain passing parameters by value and by reference, and predict the effect of each; Explain the scope of local and global variables and the advantages of using local variables; Explain the benefits of modular programming and decomposing a problem into subroutines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purpose of data structures and distinguish between static and dynamic structures; Use one-dimensional and two-dimensional arrays, including traversing them with loops; Use lists as dynamic data structures and justify the choice of a list or an array; Describe and use records to group related fields of different data types; Write to, append to and read from text files, splitting delimited lines into fields; Explain why files are needed for persistent storage and how file errors can be avoided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5" grpId="0">
        <p:bldAsOne/>
      </p:bldGraphic>
      <p:bldP spid="6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(3 of 3)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and use validation checks, and distinguish validation from verification; Use exception handling to deal with run-time errors; Explain the differences between syntax, semantic, run-time and logic errors; Select valid, extreme, invalid and null test data and use a test plan to find errors; Use the debugging tools of an integrated development environment (IDE), such as breakpoints, stepping and watches, to locate errors (IDE features are introduced in AP19); Explain how the choice of translator (compiler or interpreter, covered in AP19) affects when syntax, semantic and run-time errors are detected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6" grpId="0">
        <p:bldAsOne/>
      </p:bldGraphic>
      <p:bldP spid="7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AP19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IDEs, translators, data types, variables and operators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how the tools in an IDE help a programmer write, translate and debug code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assemblers, compilers and interpreters and say when each is useful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Choose the most suitable C# data type for a value and justify the choice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Declare, initialise and assign variables and constants using rules and conventions for identifiers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expressions and conditions using arithmetic, relational and Boolean operators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From algorithm to running progra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From algorithm to running program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Features of an 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Features of an IDE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Why translation is need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translation is needed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Assembler, compiler and interpre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Assembler, compiler and interpreter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Compilers and interpreters in pract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Compilers and interpreters in practice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Variables and identifi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Variables and identifiers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Data types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types in C#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Worked example: choosing data types for a GAA clu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choosing data types for a GAA club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Declaring, assigning and consta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Declaring, assigning and constants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Arithmetic operato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Arithmetic operators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Relational operators and condi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Relational operators and conditions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Boolean operators and truth tab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Boolean operators and truth table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Combining condi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Combining conditions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Worked example: Belfast car park char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Belfast car park charge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Variables as labelled memory boxes with their C# data types, a locked constant, and examples of integer division and modul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Variables as labelled memory boxes with their C# data types, a locked constant, and examples of integer division and modulus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From algorithm to running program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An algorithm written correctly in a programming language such as C# is called source code: it is readable by people but not by the processor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Programmers write source code inside an integrated development environment (IDE), a single application bringing together all the tools they need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Source code must be translated into binary machine code (object code) before the processor can execute it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Every program stores data in variables, each with a data type, and manipulates that data with operators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This lesson covers the tools (IDE, translators) and the building blocks (data types, variables, constants, operators, input and output)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Features of an IDE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5157"/>
                <a:gridCol w="3519889"/>
                <a:gridCol w="297455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 helps the programmer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Editor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Write, edit and save source code with line numbers and code folding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Code is organised in one place and easy to navigate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Syntax highlighting and auto-indent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Colours keywords, strings and comments; indents blocks automatically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Structure and flow of the program are easier to see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Syntax checking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Underlines invalid code (e.g. a missing semicolon) as it is typed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Errors are fixed before compiling, saving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Code completion (IntelliSense)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Suggests keywords, variable and method names after a few letters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Faster typing and fewer spelling mistakes in identifiers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Preferences / formatting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Stores agreed layout rules, e.g. where braces go, and can reformat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team's code is laid out consistently and is easier to read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1" grpId="0">
        <p:bldAsOne/>
      </p:bldGraphic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Features of an IDE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5157"/>
                <a:gridCol w="3519889"/>
                <a:gridCol w="297455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 helps the programmer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Compiler and run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Builds the program, lists errors, then runs it in one click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Quick edit-compile-test cycle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Debugging tools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Breakpoints, stepping line by line, watching variable values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Errors can be located and fixed more easily (see AP23)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2" grpId="0">
        <p:bldAsOne/>
      </p:bldGraphic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translation is needed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processor only executes machine code: binary op-codes and operands specific to that processor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Early programmers entered binary directly, which was slow and very error-prone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Assembly language replaced binary with mnemonics such as LDA (load) and ADD; an assembler converts each one to a single machine code instruction (one-to-one)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High-level languages (C#, Python, Java) use English-like keywords; one statement may become many machine code instructions (one-to-many)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Translation converts source code into a form the computer can execute; it is done by an assembler, a compiler or an interpreter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Assembler, compiler and interpreter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82247"/>
                <a:gridCol w="1364493"/>
                <a:gridCol w="3027469"/>
                <a:gridCol w="315539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Assembler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Compiler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Interpreter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Translates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Assembly language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Whole high-level program before it runs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high-level statement at a time, then runs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Errors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Reported after assembly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Error report for the whole program; it will not run until all are fixed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Stops at the first error found, possibly after part of the program has run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Output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Machine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Object code / executable file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object code is kept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Speed of running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Fast: code optimised once, no translation at run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Slower: statements are translated every time they run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To run later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Machine code 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Executable only; source code need not be shared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Source code and interpreter needed every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4" grpId="0">
        <p:bldAsOne/>
      </p:bldGraphic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Assembler, compiler and interpreter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82247"/>
                <a:gridCol w="1364493"/>
                <a:gridCol w="3027469"/>
                <a:gridCol w="315539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Assembler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Compiler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Interpreter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Device drivers, embedded systems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Distributing finished software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Development, scripting, web languages such as JavaScript and PHP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5" grpId="0">
        <p:bldAsOne/>
      </p:bldGraphic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Compilers and interpreters in practice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Compile once, run many times: users get a fast program and cannot easily read or alter the source code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But every change, however small, means recompiling the whole program before it can be tested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An interpreter lets a developer run and test code straight away, so it is handy while developing and debugging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Risk with an interpreter: a file or database may already have been updated before a later error crashes the program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C# uses both ideas: the compiler turns source code into Common Intermediate Language (CIL); the .NET runtime then just-in-time compiles CIL to machine code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Variables and identifiers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variable is a named location in memory that holds a single value which can change while the program runs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name is the identifier; declaring a variable gives its identifier and data type so the right amount of memory can be reserved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C# rules (must obey): start with a letter or underscore; letters, digits and _ only; no spaces; not a keyword such as int; case-sensitive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Conventions (should follow): meaningful names; camelCase for variables (ticketPrice); PascalCase for methods; many teams use UPPER_CASE for constants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Syntax is the set of rules defining how valid statements are written in a language; breaking them gives a syntax error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types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94329"/>
                <a:gridCol w="806824"/>
                <a:gridCol w="1048871"/>
                <a:gridCol w="46795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C# keyword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value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Memory / notes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Integer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350, -7, 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32 bits; whole numbers up to about ±2.1 billion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Real (floating point)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double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14.5, -0.25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64 bits; about 15-16 significant digits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Real (exact decimal)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decimal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4.99m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128 bits; preferred for money as it avoids binary rounding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Character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'B'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16 bits; one Unicode character in single quotes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"BT74 6AB"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Variable length; text in double quotes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Boolean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true / false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Only two possible values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8" grpId="0">
        <p:bldAsOne/>
      </p:bldGraphic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choosing data types for a GAA club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525917"/>
                <a:gridCol w="814812"/>
                <a:gridCol w="733331"/>
                <a:gridCol w="41555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to store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Identifier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Number of players in the squad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squadSize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Whole number that may be counted or added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Annual fee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annualFee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decimal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Money with pence; exact decimal arithmetic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Membership category (J, A or 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Always exactly one character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Postcode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postcode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Mix of letters, digits and a space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Parent's mobile number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mobile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Leading zero must be kept; never used in arithmetic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Whether the fee has been paid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feePaid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Only two states: paid or not paid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9" grpId="0">
        <p:bldAsOne/>
      </p:bldGraphic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Declaring, assigning and constants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Declaration gives a type and identifier; initialisation gives a first value; assignment (=) stores a new value, replacing the old one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constant (const) is a named value that cannot change while the program runs; trying to assign to it is a compile-time error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Constants improve readability and maintenance: change the VAT rate once at the top instead of in every calculation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Declaring, assigning and constants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double VAT_RATE = 0.2;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item = "Hoodie";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quantity = 3;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price = 24.50;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member = true;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size = 'M';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total = quantity * price;        // 73.5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(member) total = total * 0.9;        // 10% member discount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total + total * VAT_RATE;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Console.WriteLine($"{quantity} x {item} ({size}): £{total:F2}");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3 x Hoodie (M): £79.38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Arithmetic operators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07695"/>
                <a:gridCol w="4656221"/>
                <a:gridCol w="1515979"/>
                <a:gridCol w="64970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Operator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+  -  *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Add, subtract, multiply (BIDMAS applies)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 + 3 * 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/ on two ints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Integer division (DIV): remainder discarded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17 / 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/ with a real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Real division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17.0 / 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3.4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Modulus (MOD): the remainder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17 % 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Math.Pow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Exponent (returns a double)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Math.Pow(2, 3)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++  +=  -=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Increment, add to, subtract from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x = 5; x += 3;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x is 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2" grpId="0">
        <p:bldAsOne/>
      </p:bldGraphic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Relational operators and conditions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condition compares two values with a relational operator: == != &lt; &lt;= &gt; &gt;=; the result is always true or false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Method: substitute the values, work out any brackets, then apply the operator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Given score = 45, target = 50, price = 12.5, rate = 0.2: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score &gt;= target → 45 &gt;= 50 → false;  score != 45 → 45 != 45 → false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(price * rate) &lt; 3 → (12.5 * 0.2) &lt; 3 → 2.5 &lt; 3 → true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Do not confuse = (assignment) with == (comparison)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Boolean operators and truth table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48316"/>
                <a:gridCol w="1148316"/>
                <a:gridCol w="2296633"/>
                <a:gridCol w="2105247"/>
                <a:gridCol w="15310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 &amp;&amp; B (AND)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 || B (OR)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!A (NOT)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4" grpId="0">
        <p:bldAsOne/>
      </p:bldGraphic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Combining conditions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AND: true only if both parts are true, e.g. a range check mark &gt;= 0 &amp;&amp; mark &lt;= 100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OR: true if either or both parts are true, e.g. an out-of-range check mark &lt; 0 || mark &gt; 100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Precedence: ! first, then arithmetic, then relational, then &amp;&amp;, then || – use brackets to make the meaning clear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Combining conditions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17, b = 5;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Console.WriteLine(a / b);              // 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Console.WriteLine(a % b);              // 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Console.WriteLine((double)a / b);      // 3.4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inRange = a &gt;= 10 &amp;&amp; a &lt;= 20;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Console.WriteLine(inRange);            // True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Console.WriteLine(a &gt; b &amp;&amp; b != 5);    // False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Console.WriteLine(!(a &lt; b) || b == 0); // True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Belfast car park charge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Console.ReadLine() always returns a string, so convert it with int.Parse, double.Parse or Convert.ToInt32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DIV and MOD split 200 minutes into 200 / 60 = 3 hours and 200 % 60 = 20 minutes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Any part hour is charged as a full hour, so 4 hours × £1.80 = £7.20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Casting: (int)7.9 gives 7 (truncates); (double)total / count forces real division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Output with + (concatenation) or $"…{value}…" (interpolation); :F2 shows two decimal places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Belfast car park charge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decimal RATE_PER_HOUR = 1.80m;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Console.Write("Minutes parked: 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minutes = int.Parse(Console.ReadLine());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hours = minutes / 60;              // DIV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extra = minutes % 60;              // MOD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charged = hours;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(extra &gt; 0) charged = hours + 1;    // part hour = full hour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 charge = charged * RATE_PER_HOUR;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Console.WriteLine($"{hours} h {extra} min: £{charge:F2}");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Input 200  -&gt;  Output: 3 h 20 min: £7.20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translator converts the whole of a high-level program into object code before any of it is run?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Interpreter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Assembler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Compiler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Editor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Compiler  –  A compiler translates the complete program first, reports all errors, and produces an executable that runs without retranslation.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program stores a customer's mobile number, such as 07700 900123. Which data type is most suitable?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double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string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bool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string  –  It has a leading zero and a space and is never used in calculations, so a string keeps it exactly as entered.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value of 29 % 6?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4.83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5  –  29 = 4 × 6 + 5, so the remainder is 5.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data type is most suitable for a single grade letter such as 'B'?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string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bool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char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char  –  char holds exactly one character, written in single quotes.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(int)8.9 evaluate to in C#?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9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8.9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error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8  –  Casting a double to int truncates: the fractional part is discarded, not rounded.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expression is true when x is outside the range 1 to 10?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x &lt; 1 || x &gt; 10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x &lt; 1 &amp;&amp; x &gt; 10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x &gt;= 1 &amp;&amp; x &lt;= 10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!(x &lt; 1)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x &lt; 1 || x &gt; 10  –  Outside means below the bottom OR above the top; no number can be both, so &amp;&amp; would always be false.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keyword declares a constant in C#?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static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const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final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fixed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const  –  For example: const double VAT_RATE = 0.2;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output by Console.WriteLine("Total: " + 3 + 4);?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Total: 7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Total: 34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error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Total: 3 + 4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Total: 34  –  + works left to right: "Total: " + 3 is a string, so 4 is then joined on as text.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IDE feature suggests variable and method names after the programmer types a few letters?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Code completion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Breakpoint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Compiler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Error report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Code completion  –  Code completion (IntelliSense) speeds up typing and avoids misspelt identifiers.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10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statement about an interpreter is correct?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produces a standalone executable file</a:t>
            </a:r>
            <a:endParaRPr lang="en-US" sz="14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reports every syntax error before running</a:t>
            </a:r>
            <a:endParaRPr lang="en-US" sz="14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normally runs a program faster than compiled code</a:t>
            </a:r>
            <a:endParaRPr lang="en-US" sz="14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translates and executes one statement at a time</a:t>
            </a:r>
            <a:endParaRPr lang="en-US" sz="14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4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It translates and executes one statement at a time  –  Translation and execution are interleaved, so it is slower and stops at the first error it reaches.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Compiler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compiler translates the complete program first, reports all errors, and produces an executable that runs without retranslation.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string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has a leading zero and a space and is never used in calculations, so a string keeps it exactly as entered.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29 = 4 × 6 + 5, so the remainder is 5.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char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char holds exactly one character, written in single quotes.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Casting a double to int truncates: the fractional part is discarded, not rounded.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x &lt; 1 || x &gt; 10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Outside means below the bottom OR above the top; no number can be both, so &amp;&amp; would always be false.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const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For example: const double VAT_RATE = 0.2;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Total: 34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+ works left to right: "Total: " + 3 is a string, so 4 is then joined on as text.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Code completion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Code completion (IntelliSense) speeds up typing and avoids misspelt identifiers.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It translates and executes one statement at a time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Translation and execution are interleaved, so it is slower and stops at the first error it reaches.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9" grpId="0">
        <p:bldAsOne/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AP20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Program control: sequence, selection and iteration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sequence, selection and iteration with reference to a given algorithm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Choose between if…else if and switch for a selection problem and write the C#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Select the right type of loop for a task and justify the choice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and trace programs that use nested loops, sentinel values and nested selection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Three control structu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Three control structures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Sequence: order matt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Sequence: order matters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Selection: if and if…els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Selection: if and if…else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Worked example: bus fare with else i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bus fare with else if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Nested sele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Nested selection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Selection with switc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Selection with switch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Count-controlled iteration: f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Count-controlled iteration: for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Condition-controlled iter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Condition-controlled iteration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while loop with a sentinel val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while loop with a sentinel value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Trace table: inputs 12, 30, 8, -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Trace table: inputs 12, 30, 8, -1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Worked example: running challenge with do…wh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running challenge with do…while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Nested loo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Nested loops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Combining constructs: zoo group ticke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Combining constructs: zoo group tickets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Choosing a construc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a construct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he three control structures as flowcharts: sequence, selection with two branches, and iteration with a loop b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The three control structures as flowcharts: sequence, selection with two branches, and iteration with a loop back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Three control structures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Sequence: statements are executed one after another, in the order they are written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Selection: a condition (true or false) decides which path through the program is followed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Iteration: a block of statements (the body of the loop) is repeated, either a set number of times or while/until a condition is met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Every algorithm can be built from these three structures, combined and nested inside each other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C# console program starts at its first statement (or the Main method) and follows these structures to the end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Sequence: order matters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statement runs once, top to bottom; changing the order can change the result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Here the total must be calculated after both inputs are read, and before it is output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Swapping the last two lines would be a logic error: the output would appear before the discount is applied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Sequence: order matters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Console.Write("Adult tickets: 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adults = int.Parse(Console.ReadLine());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Console.Write("Child tickets: 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children = int.Parse(Console.ReadLine());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total = adults * 9.50 + children * 6.00;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total * 0.9;                       // 10% online discount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Console.WriteLine($"Total: £{total:F2}");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Input 2 and 3  -&gt;  Total: £33.30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Selection: if and if…else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if: the block runs only when the condition is true; otherwise it is skipped and the program carries 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if…else: exactly one of two blocks runs – never both, never neither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Pseudocode uses IF … ELSE … ENDIF; C# uses braces { } to mark each block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weight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weight &lt;= 23 THEN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bagFee ←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bagFee ← 40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hasPriorityPass = TRUE THEN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 ← "Fast Track"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bagFee</a:t>
            </a:r>
            <a:endParaRPr lang="en-US" sz="15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bus fare with else if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Conditions are tested in order and only the first true branch runs, so order matters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 the lowest ages first so each later test needs only one bound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final else catches every case not matched above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 data: 3 → £0.00, 10 → £1.10, 17 student → £1.65, 40 → £2.20, 65 → £0.00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bus fare with else if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Console.Write("Age: 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int.Parse(Console.ReadLine());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Console.Write("Student (y/n)? 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student = Console.ReadLine() == "y";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fare;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&lt; 5) fare = 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(age &lt; 16) fare = 1.10;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(age &gt;= 60) fare = 0;              // concessionary pass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(student) fare = 1.65;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fare = 2.20;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Console.WriteLine($"Fare: £{fare:F2}");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Nested selection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Nested selection places one if inside another: the inner test only happens when the outer condition is true (or false)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Useful when a second decision only makes sense after the first, e.g. a hospital fridge reading: OK, or else too cold / too warm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Deep nesting is hard to read; an else if chain or combined conditions (&amp;&amp;, ||) are often clearer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Nested selection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Console.Write("Fridge temperature (°C): 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temp = double.Parse(Console.ReadLine());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(temp &gt;= 2 &amp;&amp; temp &lt;= 8)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Console.WriteLine("OK");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(temp &lt; 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Console.WriteLine("Alert: too cold");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Console.WriteLine("Alert: too warm");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Selection with switch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switch compares one variable with a list of exact values (case labels)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case ends with break; stacked cases share code; default handles any other value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Clearer than a long else if chain for menus and fixed codes, but the classic form cannot test ranges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Console.Write("Day number (1-7): 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day = int.Parse(Console.ReadLine());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(day)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6: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7: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Console.WriteLine("Weekend");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1: case 2: case 3: case 4: case 5: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Console.WriteLine("School day");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Console.WriteLine("Invalid day");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Count-controlled iteration: for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Used when the number of repetitions is known before the loop starts (a fixed number, or a value entered first)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 (initialise counter; condition; update) – the condition is checked before each pass and the counter is updated after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counter can count up, down or in steps; foreach visits every item of an array or list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Count-controlled iteration: for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5; i++)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i * i;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Console.WriteLine("Sum of squares: " + total);   // 55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n = 10; n &gt;= 0; n -= 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Console.Write(n + " ");                     // 10 5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k = 2; k &lt; 10; k += 3) Console.Write(k);   // 258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Condition-controlled iteration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60585"/>
                <a:gridCol w="3376246"/>
                <a:gridCol w="369276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do…while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Condition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At the start of each pass (pre-condition)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At the end of each pass (post-condition)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Minimum number of runs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Zero – the body may never run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– the body always runs at least once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Process data until a sentinel; the loop may not be needed at 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Menus and validation: get input first, then check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Pseudocode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WHILE condition … ENDWHILE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REPEAT … UNTIL condition (UNTIL stops when its condition becomes true)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Risk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Infinite loop if nothing in the body changes the condition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Same – the control variable must change inside the loop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4" grpId="0">
        <p:bldAsOne/>
      </p:bldGraphic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while loop with a sentinel value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sentinel is a dummy value (here -1) that marks the end of the data; it is not processed as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Read the first value before the loop, then read the next value as the last statement inside the loop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-1 is entered first, the body never runs – so test count before dividing to avoid dividing by zero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while loop with a sentinel value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0, count =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Console.Write("Score (-1 to finish): 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 = int.Parse(Console.ReadLine());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(score != -1)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score;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count++;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Console.Write("Score (-1 to finish): 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= int.Parse(Console.ReadLine());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(count &gt; 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Console.WriteLine($"Average: {(double)total / count:F2}");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Console.WriteLine("No scores entered");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Trace table: inputs 12, 30, 8, -1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97741"/>
                <a:gridCol w="968188"/>
                <a:gridCol w="1936376"/>
                <a:gridCol w="2259106"/>
                <a:gridCol w="9681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score != -1?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Before loop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End of pass 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End of pass 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End of pass 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-1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false – exit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Output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Average: 16.67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7" grpId="0">
        <p:bldAsOne/>
      </p:bldGraphic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running challenge with do…while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member of an Omagh running club logs runs until a 20 km weekly goal is reached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At least one run must be entered, so the test belongs at the end of the loop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Runs of 5 km, 8 km, 3 km and 6 km → total 22 km after 4 runs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running challenge with do…while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GOAL_KM = 20;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totalKm = 0, runs = 0;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Console.Write("Distance of run (km): 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km = int.Parse(Console.ReadLine());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totalKm += km;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runs++;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(totalKm &lt; GOAL_KM);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Console.WriteLine($"Goal reached: {totalKm} km in {runs} runs");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Nested loops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nested loop is a loop inside another; the inner loop completes all its passes for every single pass of the outer loop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Total inner repetitions = outer passes × inner passes, e.g. 3 rows × 4 columns = 12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Ideal for two-dimensional data such as seating plans, timetables and grids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row = 1; row &lt;= 3; row++)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col = 1; col &lt;= 4; col++)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Console.Write(row * col + "\t");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 2  3 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  4  6  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 6  9  12</a:t>
            </a:r>
            <a:endParaRPr lang="en-US" sz="12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Combining constructs: zoo group tickets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Sequence: read the group size, then each age, then output the total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Iteration: do…while validates the group size (1-8); a for loop runs once per visitor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Selection: else if places each person in a price band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people;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Console.Write("Group size (1-8): 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people = int.Parse(Console.ReadLine());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(people &lt; 1 || people &gt; 8);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total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p = 1; p &lt;= people; p++)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Console.Write($"Age of person {p}: 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age = int.Parse(Console.ReadLine());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(age &lt; 3) total +=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(age &lt; 16) total += 8;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total += 12;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Console.WriteLine($"Total: £{total:F2}");</a:t>
            </a:r>
            <a:endParaRPr lang="en-US" sz="11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Choosing a construct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326860"/>
                <a:gridCol w="1313234"/>
                <a:gridCol w="358950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Situation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Best construct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Process all 28 pupils in a class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for / foreach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Number of repetitions is known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Read scores until -1 is entered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Unknown repetitions; there might be none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Show a menu until 'Quit' is chosen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do…while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menu must be shown at least once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Choose an action from menu options 1-4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switch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variable matched against exact values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Charge by age band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if…else if…else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Ranges of values; first true branch wins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Print a seating plan of rows and seats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Nested for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Two dimensions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2" grpId="0">
        <p:bldAsOne/>
      </p:bldGraphic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program must show a menu and keep showing it until the user chooses Quit. Which loop is most suitable?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do…while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foreach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None – use switch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do…while  –  The menu must appear at least once, so a post-condition do…while loop fits; the number of repetitions is not known in advance.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key difference between a count-controlled and a condition-controlled loop?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Only condition-controlled loops use a counter</a:t>
            </a:r>
            <a:endParaRPr lang="en-US" sz="125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Count-controlled loops can never be nested</a:t>
            </a:r>
            <a:endParaRPr lang="en-US" sz="125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count-controlled loop repeats a number of times known before it starts</a:t>
            </a:r>
            <a:endParaRPr lang="en-US" sz="125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condition-controlled loop always runs at least once</a:t>
            </a:r>
            <a:endParaRPr lang="en-US" sz="125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A count-controlled loop repeats a number of times known before it starts  –  A for loop repeats a known number of times; while and do…while repeat until a condition changes, so the number of passes need not be known.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printed by for (int i = 2; i &lt; 10; i += 3) Console.Write(i);?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258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2581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25811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36912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258  –  i takes 2, 5 and 8; 11 fails the condition i &lt; 10.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happens if a while loop's condition never becomes false?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syntax error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runs once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infinite loop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program skips it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An infinite loop  –  Nothing in the body changes the condition, so the loop never ends – a logic error.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statement is most suitable for choosing between menu options 1, 2, 3 and 4?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while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do…while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switch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switch  –  A switch matches one variable against exact values and has a default for anything else.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REPEAT … UNTIL x &gt; 10, when does the loop stop?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When x &gt; 10 becomes true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When x &gt; 10 is false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Before the first pass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Never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When x &gt; 10 becomes true  –  UNTIL loops stop when their condition becomes true, and they always run at least once.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Scores are entered until -1 is typed. If the user types -1 first, what does a correctly written while loop do?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Adds -1 to the total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Runs the body once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Crashes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Does not run the body at all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Does not run the body at all  –  The pre-condition is false at the start, so the body is skipped – but a later average must check for a count of zero.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Given if (age &lt; 5) … else if (age &lt; 16) … else if (age &gt;= 60) … else …, which branch runs when age is 3?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first only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first and second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All three if branches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else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The first only  –  Only the first true branch in an else if chain runs; later tests are not checked.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An outer loop runs 3 times and its inner loop runs 4 times per pass. How many times does the inner body run?</a:t>
            </a:r>
            <a:endParaRPr lang="en-US" sz="1700" dirty="0"/>
          </a:p>
        </p:txBody>
      </p:sp>
      <p:sp>
        <p:nvSpPr>
          <p:cNvPr id="7" name="trig:k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7</a:t>
            </a:r>
            <a:endParaRPr lang="en-US" sz="1600" dirty="0"/>
          </a:p>
        </p:txBody>
      </p:sp>
      <p:sp>
        <p:nvSpPr>
          <p:cNvPr id="8" name="on:k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</a:t>
            </a:r>
            <a:endParaRPr lang="en-US" sz="1600" dirty="0"/>
          </a:p>
        </p:txBody>
      </p:sp>
      <p:sp>
        <p:nvSpPr>
          <p:cNvPr id="10" name="on:k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</a:t>
            </a:r>
            <a:endParaRPr lang="en-US" sz="1600" dirty="0"/>
          </a:p>
        </p:txBody>
      </p:sp>
      <p:sp>
        <p:nvSpPr>
          <p:cNvPr id="12" name="on:k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on:k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12  –  The inner loop completes fully for each outer pass: 3 × 4 = 12.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do…while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menu must appear at least once, so a post-condition do…while loop fits; the number of repetitions is not known in advance.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 count-controlled loop repeats a number of times known before it starts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for loop repeats a known number of times; while and do…while repeat until a condition changes, so the number of passes need not be known.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258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 takes 2, 5 and 8; 11 fails the condition i &lt; 10.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An infinite loop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Nothing in the body changes the condition, so the loop never ends – a logic error.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switch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switch matches one variable against exact values and has a default for anything else.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When x &gt; 10 becomes true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UNTIL loops stop when their condition becomes true, and they always run at least once.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Does not run the body at all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pre-condition is false at the start, so the body is skipped – but a later average must check for a count of zero.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The first only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Only the first true branch in an else if chain runs; later tests are not checked.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12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inner loop completes fully for each outer pass: 3 × 4 = 12.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2" grpId="0">
        <p:bldAsOne/>
      </p:bldGraphic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AP21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Subroutines: procedures, functions, parameters and scope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C# procedures and functions that take parameters and return values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Distinguish between parameters and arguments and match them in number, order and type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Predict the effect of passing an argument by value and by reference (ref)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local and global scope and the advantages of a modular design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at is a subroutine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subroutine?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Procedures and func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Procedures and functions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Parameters and argum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Parameters and arguments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Worked example: leisure centre membershi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leisure centre membership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Tracing a function cal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Tracing a function call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Passing by value and by refere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Passing by value and by reference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Using ref: swapping two valu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Using ref: swapping two values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By value or by reference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 value or by reference?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Scope: local and global variab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Scope: local and global variables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Why prefer local variables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prefer local variables?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Benefits of modular programm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Benefits of modular programming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Worked example: decomposing a café til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decomposing a café till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Designing good subroutin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Designing good subroutines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Passing by value copies the argument into the parameter so the original is unchanged; passing by reference makes the parameter refer to the original variable, so it chang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Passing by value copies the argument into the parameter so the original is unchanged; passing by reference makes the parameter refer to the original variable, so it changes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a subroutine?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subroutine is a named, self-contained block of code that performs a specific task and can be called from elsewhere in the program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When it is called, control jumps to the subroutine; when it finishes, control returns to the statement after the call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It can be called many times, each time with different data passed in through parameters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C# calls subroutines methods; built-in ones such as Console.WriteLine, Math.Round and int.Parse are library routines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Breaking a problem into subroutines follows the top-down decomposition used when designing algorithms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Procedures and functions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19200"/>
                <a:gridCol w="28956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Procedure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Carries out a task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Carries out a task and returns a single value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C# return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void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data type, e.g. int, double, bool, 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How it is called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As a statement on its own: ShowMenu();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Within an expression: double t = AddVat(40);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Uses return?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Not needed (return; may exit early)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Must return a value of the declared type on every path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PrintReceipt(order);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if (IsValidPin(pin)) …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7" grpId="0">
        <p:bldAsOne/>
      </p:bldGraphic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Parameters and arguments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parameter is a variable named in the subroutine header that receives a value when it is called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argument is the actual value or variable supplied in the call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Arguments must match the parameters in number, order and data type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return sends a value back to the calling code and ends the function immediately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Parameters and arguments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ShowLine(char symbol, int length)     // parameters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length; i++) Console.Write(symbol);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AddVat(double price, double rate)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price + price * rate;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ShowLine('=', 20);                                 // arguments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Console.WriteLine("Total: " + AddVat(40, 0.2));    // Total: 48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ShowLine('=', 20);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leisure centre membership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Lisburn leisure centre charges £18 a month for juniors (under 16) and £32 for adults; off-peak members get 25% off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function takes the age and an off-peak flag and returns the monthly cost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Checks: age 14, peak → £18.00; age 40, off-peak → £24.00; age 14, off-peak → £13.50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leisure centre membership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MonthlyCost(int age, bool offPeak)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cost;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(age &lt; 16) cost = 18.00;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cost = 32.00;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(offPeak) cost = cost * 0.75;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cost;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PrintCost(string name, double cost)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Console.WriteLine($"{name}: £{cost:F2} per month");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PrintCost("Aoife", MonthlyCost(14, false));   // Aoife: £18.00 per month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PrintCost("Ciaran", MonthlyCost(40, true));   // Ciaran: £24.00 per month</a:t>
            </a:r>
            <a:endParaRPr lang="en-US" sz="11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Tracing a function call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Each call gets fresh copies of its parameters and local variables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Trace Divide(17, 5): a = 17 → 12 → 7 → 2 while count = 0 → 1 → 2 → 3; 2 &gt;= 5 is false, so 3 is returned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Divide(3, 7) returns 0 because the loop body never runs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function performs integer division (DIV) by repeated subtraction</a:t>
            </a:r>
            <a:endParaRPr lang="en-US" sz="16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Divide(int a, int 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count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(a &gt;= 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 = a - 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count++;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count;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Console.WriteLine(Divide(17, 5));   //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Console.WriteLine(Divide(3, 7));    // 0</a:t>
            </a:r>
            <a:endParaRPr lang="en-US" sz="12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Passing by value and by reference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By value (the C# default): a copy of the argument is passed, so changes inside the subroutine do not affect the original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By reference (ref): a reference to the original variable (its memory address) is passed, so changes inside the subroutine change the original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ref must be written in both the header and the call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Passing by value and by reference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DoubleByValue(int 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n * 2;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DoubleByRef(ref int 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n * 2;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 = 10;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DoubleByValue(score);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Console.WriteLine(score);   // 10 - only the copy changed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DoubleByRef(ref score);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Console.WriteLine(score);   // 20 - the original changed</a:t>
            </a:r>
            <a:endParaRPr lang="en-US" sz="12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Using ref: swapping two values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function can return only one value; ref lets a subroutine change several of the caller's variables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classic use is a Swap procedure, used in sorting algorithms such as bubble sort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out is similar but the subroutine must assign it, as in int.TryParse(text, out int value)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Overusing ref makes code harder to follow, because a call can change variables unexpectedly (side effects)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Using ref: swapping two values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Swap(ref int a, ref int b)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temp = a;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b;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= temp;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3, y = 8;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Swap(ref x, ref y);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Console.WriteLine($"x = {x}, y = {y}");   // x = 8, y = 3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By value or by reference?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682240"/>
                <a:gridCol w="445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By value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By reference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What is passed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copy of the value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reference (address) to the original variable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Effect on original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Unchanged, whatever the subroutine does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Changed if the subroutine changes the parameter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Memory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Extra memory for the copy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copy made – efficient for large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Safety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Original is protected from accidental change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Risk of unintended side effects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 when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subroutine only needs to read the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subroutine must update the caller's data or give back several results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87" grpId="0">
        <p:bldAsOne/>
      </p:bldGraphic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Scope: local and global variables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Scope is the region of a program in which a variable can be accessed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local variable is declared inside a subroutine (or block) and exists only while it runs; parameters are local too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global variable is accessible throughout the program and exists for the whole run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C# has no true globals: a static field of a class plays this role (Game.highScore below)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Scope: local and global variables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Record(int points)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bonus = 5;                     // local to Record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Game.highScore = Math.Max(Game.highScore, points + bonus);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Record(40);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Record(25);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Console.WriteLine(Game.highScore);     // 45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Console.WriteLine(bonus);  would not compile: out of scope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int highScore = 0;   // acts as a global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prefer local variables?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subroutine is self-contained, so it can be tested and reused without depending on the rest of the program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same identifier (e.g. count) can be used safely in different subroutines without clashing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Memory is released when the subroutine ends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Globals can be changed from anywhere, so a wrong value is hard to trace and one change can break other modules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globals (or constants) only for values that genuinely belong to the whole program, e.g. a VAT rate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Benefits of modular programming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Each subroutine can be written and tested separately (unit testing), so errors are easier to locate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Code is written once and called many times, making programs shorter and reducing duplication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Maintenance is easier: a change or fix is made in one place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Work can be split across a team, each programmer developing different modules in parallel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Tested modules can be stored in libraries and reused in other programs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Well-named subroutines make the main program read like an outline of the solution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decomposing a café till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main program reads like the top level of a structure diagram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function has one job and passes data in through parameters and out through return values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GetQuantity could be reused for any item; changing the VAT rule only affects one function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decomposing a café till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coffees = GetQuantity("Coffees");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scones = GetQuantity("Scones");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subtotal = coffees * 2.80 + scones * 2.20;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PrintReceipt(subtotal, AddVat(subtotal));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GetQuantity(string item)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Console.Write(item + ": 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int.Parse(Console.ReadLine());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AddVat(double amount) =&gt; amount * 1.2;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PrintReceipt(double net, double gross)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Console.WriteLine($"Net £{net:F2}  Total £{gross:F2}");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Designing good subroutines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subroutine should do one clearly defined job and have a meaningful verb-based name, e.g. CalculateFare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Pass data in through parameters and out through return values rather than relying on globals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Keep subroutines short; if one grows long, decompose it further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Comment the purpose, parameters and return value so other programmers can use it without reading the body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Prefer functions that do not change anything outside themselves: they are easier to test and reuse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main difference between a function and a procedure?</a:t>
            </a:r>
            <a:endParaRPr lang="en-US" sz="1700" dirty="0"/>
          </a:p>
        </p:txBody>
      </p:sp>
      <p:sp>
        <p:nvSpPr>
          <p:cNvPr id="7" name="trig:k7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function always has parameters</a:t>
            </a:r>
            <a:endParaRPr lang="en-US" sz="1400" dirty="0"/>
          </a:p>
        </p:txBody>
      </p:sp>
      <p:sp>
        <p:nvSpPr>
          <p:cNvPr id="8" name="on:k7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function returns a value to the calling code</a:t>
            </a:r>
            <a:endParaRPr lang="en-US" sz="1400" dirty="0"/>
          </a:p>
        </p:txBody>
      </p:sp>
      <p:sp>
        <p:nvSpPr>
          <p:cNvPr id="10" name="on:k7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procedure can only be called once</a:t>
            </a:r>
            <a:endParaRPr lang="en-US" sz="1400" dirty="0"/>
          </a:p>
        </p:txBody>
      </p:sp>
      <p:sp>
        <p:nvSpPr>
          <p:cNvPr id="12" name="on:k7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procedure must use global variables</a:t>
            </a:r>
            <a:endParaRPr lang="en-US" sz="1400" dirty="0"/>
          </a:p>
        </p:txBody>
      </p:sp>
      <p:sp>
        <p:nvSpPr>
          <p:cNvPr id="14" name="on:k8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A function returns a value to the calling code  –  A function returns a single value and is used in an expression; a procedure (void in C#) just carries out a task.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passing a parameter by value mean?</a:t>
            </a:r>
            <a:endParaRPr lang="en-US" sz="1700" dirty="0"/>
          </a:p>
        </p:txBody>
      </p:sp>
      <p:sp>
        <p:nvSpPr>
          <p:cNvPr id="7" name="trig:k8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subroutine receives a reference to the original</a:t>
            </a:r>
            <a:endParaRPr lang="en-US" sz="1250" dirty="0"/>
          </a:p>
        </p:txBody>
      </p:sp>
      <p:sp>
        <p:nvSpPr>
          <p:cNvPr id="8" name="on:k8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subroutine can only read global variables</a:t>
            </a:r>
            <a:endParaRPr lang="en-US" sz="1250" dirty="0"/>
          </a:p>
        </p:txBody>
      </p:sp>
      <p:sp>
        <p:nvSpPr>
          <p:cNvPr id="10" name="on:k8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8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subroutine receives a copy, so the original cannot be changed</a:t>
            </a:r>
            <a:endParaRPr lang="en-US" sz="1250" dirty="0"/>
          </a:p>
        </p:txBody>
      </p:sp>
      <p:sp>
        <p:nvSpPr>
          <p:cNvPr id="12" name="on:k8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value is returned to the caller</a:t>
            </a:r>
            <a:endParaRPr lang="en-US" sz="1250" dirty="0"/>
          </a:p>
        </p:txBody>
      </p:sp>
      <p:sp>
        <p:nvSpPr>
          <p:cNvPr id="14" name="on:k8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The subroutine receives a copy, so the original cannot be changed  –  Changes to the copy are lost when the subroutine ends, so the caller's variable is protected.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the C# keyword ref do in a parameter list?</a:t>
            </a:r>
            <a:endParaRPr lang="en-US" sz="1700" dirty="0"/>
          </a:p>
        </p:txBody>
      </p:sp>
      <p:sp>
        <p:nvSpPr>
          <p:cNvPr id="7" name="trig:k8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Makes the parameter read-only</a:t>
            </a:r>
            <a:endParaRPr lang="en-US" sz="1600" dirty="0"/>
          </a:p>
        </p:txBody>
      </p:sp>
      <p:sp>
        <p:nvSpPr>
          <p:cNvPr id="8" name="on:k8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Passes the argument by reference</a:t>
            </a:r>
            <a:endParaRPr lang="en-US" sz="1600" dirty="0"/>
          </a:p>
        </p:txBody>
      </p:sp>
      <p:sp>
        <p:nvSpPr>
          <p:cNvPr id="10" name="on:k8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8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Returns a value</a:t>
            </a:r>
            <a:endParaRPr lang="en-US" sz="1600" dirty="0"/>
          </a:p>
        </p:txBody>
      </p:sp>
      <p:sp>
        <p:nvSpPr>
          <p:cNvPr id="12" name="on:k8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Declares a global</a:t>
            </a:r>
            <a:endParaRPr lang="en-US" sz="1600" dirty="0"/>
          </a:p>
        </p:txBody>
      </p:sp>
      <p:sp>
        <p:nvSpPr>
          <p:cNvPr id="14" name="on:k8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Passes the argument by reference  –  The subroutine works on the caller's variable, so changes affect the original.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valid call of static double Area(double w, double h)?</a:t>
            </a:r>
            <a:endParaRPr lang="en-US" sz="1700" dirty="0"/>
          </a:p>
        </p:txBody>
      </p:sp>
      <p:sp>
        <p:nvSpPr>
          <p:cNvPr id="7" name="trig:k8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Area(3.5);</a:t>
            </a:r>
            <a:endParaRPr lang="en-US" sz="1600" dirty="0"/>
          </a:p>
        </p:txBody>
      </p:sp>
      <p:sp>
        <p:nvSpPr>
          <p:cNvPr id="8" name="on:k8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double a = Area(3.5, "2");</a:t>
            </a:r>
            <a:endParaRPr lang="en-US" sz="1600" dirty="0"/>
          </a:p>
        </p:txBody>
      </p:sp>
      <p:sp>
        <p:nvSpPr>
          <p:cNvPr id="10" name="on:k9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double a = Area(3.5, 2);</a:t>
            </a:r>
            <a:endParaRPr lang="en-US" sz="1600" dirty="0"/>
          </a:p>
        </p:txBody>
      </p:sp>
      <p:sp>
        <p:nvSpPr>
          <p:cNvPr id="12" name="on:k9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9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Area = (3.5, 2);</a:t>
            </a:r>
            <a:endParaRPr lang="en-US" sz="1600" dirty="0"/>
          </a:p>
        </p:txBody>
      </p:sp>
      <p:sp>
        <p:nvSpPr>
          <p:cNvPr id="14" name="on:k9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double a = Area(3.5, 2);  –  Two numeric arguments in the right order; the returned value is used in an assignment (2 converts implicitly to double).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Where can a local variable be used?</a:t>
            </a:r>
            <a:endParaRPr lang="en-US" sz="1700" dirty="0"/>
          </a:p>
        </p:txBody>
      </p:sp>
      <p:sp>
        <p:nvSpPr>
          <p:cNvPr id="7" name="trig:k9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Only inside the subroutine or block where it is declared</a:t>
            </a:r>
            <a:endParaRPr lang="en-US" sz="1400" dirty="0"/>
          </a:p>
        </p:txBody>
      </p:sp>
      <p:sp>
        <p:nvSpPr>
          <p:cNvPr id="8" name="on:k9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9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Anywhere in the program</a:t>
            </a:r>
            <a:endParaRPr lang="en-US" sz="1400" dirty="0"/>
          </a:p>
        </p:txBody>
      </p:sp>
      <p:sp>
        <p:nvSpPr>
          <p:cNvPr id="10" name="on:k9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Only in the main program</a:t>
            </a:r>
            <a:endParaRPr lang="en-US" sz="1400" dirty="0"/>
          </a:p>
        </p:txBody>
      </p:sp>
      <p:sp>
        <p:nvSpPr>
          <p:cNvPr id="12" name="on:k9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In any class</a:t>
            </a:r>
            <a:endParaRPr lang="en-US" sz="1400" dirty="0"/>
          </a:p>
        </p:txBody>
      </p:sp>
      <p:sp>
        <p:nvSpPr>
          <p:cNvPr id="14" name="on:k9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Only inside the subroutine or block where it is declared  –  That region is its scope; it is destroyed when the subroutine ends.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NOT a benefit of modular programming?</a:t>
            </a:r>
            <a:endParaRPr lang="en-US" sz="1700" dirty="0"/>
          </a:p>
        </p:txBody>
      </p:sp>
      <p:sp>
        <p:nvSpPr>
          <p:cNvPr id="7" name="trig:k9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Code reuse</a:t>
            </a:r>
            <a:endParaRPr lang="en-US" sz="1600" dirty="0"/>
          </a:p>
        </p:txBody>
      </p:sp>
      <p:sp>
        <p:nvSpPr>
          <p:cNvPr id="8" name="on:k9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Easier testing</a:t>
            </a:r>
            <a:endParaRPr lang="en-US" sz="1600" dirty="0"/>
          </a:p>
        </p:txBody>
      </p:sp>
      <p:sp>
        <p:nvSpPr>
          <p:cNvPr id="10" name="on:k9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Team working</a:t>
            </a:r>
            <a:endParaRPr lang="en-US" sz="1600" dirty="0"/>
          </a:p>
        </p:txBody>
      </p:sp>
      <p:sp>
        <p:nvSpPr>
          <p:cNvPr id="12" name="on:k9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Programs always run faster</a:t>
            </a:r>
            <a:endParaRPr lang="en-US" sz="1600" dirty="0"/>
          </a:p>
        </p:txBody>
      </p:sp>
      <p:sp>
        <p:nvSpPr>
          <p:cNvPr id="14" name="on:k10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0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Programs always run faster  –  Calls add a small overhead; the benefits are about development and maintenance.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printed? static void Add(int x) { x = x + 1; } int n = 4; Add(n); Console.WriteLine(n);</a:t>
            </a:r>
            <a:endParaRPr lang="en-US" sz="1700" dirty="0"/>
          </a:p>
        </p:txBody>
      </p:sp>
      <p:sp>
        <p:nvSpPr>
          <p:cNvPr id="7" name="trig:k10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</a:t>
            </a:r>
            <a:endParaRPr lang="en-US" sz="1600" dirty="0"/>
          </a:p>
        </p:txBody>
      </p:sp>
      <p:sp>
        <p:nvSpPr>
          <p:cNvPr id="8" name="on:k10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on:k10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0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error</a:t>
            </a:r>
            <a:endParaRPr lang="en-US" sz="1600" dirty="0"/>
          </a:p>
        </p:txBody>
      </p:sp>
      <p:sp>
        <p:nvSpPr>
          <p:cNvPr id="12" name="on:k10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on:k10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0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4  –  n was passed by value, so only the copy x changed.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static int Max(int a, int b), what are a and b?</a:t>
            </a:r>
            <a:endParaRPr lang="en-US" sz="1700" dirty="0"/>
          </a:p>
        </p:txBody>
      </p:sp>
      <p:sp>
        <p:nvSpPr>
          <p:cNvPr id="7" name="trig:k10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Arguments</a:t>
            </a:r>
            <a:endParaRPr lang="en-US" sz="1600" dirty="0"/>
          </a:p>
        </p:txBody>
      </p:sp>
      <p:sp>
        <p:nvSpPr>
          <p:cNvPr id="8" name="on:k10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Global variables</a:t>
            </a:r>
            <a:endParaRPr lang="en-US" sz="1600" dirty="0"/>
          </a:p>
        </p:txBody>
      </p:sp>
      <p:sp>
        <p:nvSpPr>
          <p:cNvPr id="10" name="on:k10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0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Return values</a:t>
            </a:r>
            <a:endParaRPr lang="en-US" sz="1600" dirty="0"/>
          </a:p>
        </p:txBody>
      </p:sp>
      <p:sp>
        <p:nvSpPr>
          <p:cNvPr id="12" name="on:k10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Parameters</a:t>
            </a:r>
            <a:endParaRPr lang="en-US" sz="1600" dirty="0"/>
          </a:p>
        </p:txBody>
      </p:sp>
      <p:sp>
        <p:nvSpPr>
          <p:cNvPr id="14" name="on:k10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0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Parameters  –  They are named in the header and receive the arguments supplied in each call.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might a programmer choose to pass a variable by reference?</a:t>
            </a:r>
            <a:endParaRPr lang="en-US" sz="1700" dirty="0"/>
          </a:p>
        </p:txBody>
      </p:sp>
      <p:sp>
        <p:nvSpPr>
          <p:cNvPr id="7" name="trig:k10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So the subroutine can update the caller's variable</a:t>
            </a:r>
            <a:endParaRPr lang="en-US" sz="1400" dirty="0"/>
          </a:p>
        </p:txBody>
      </p:sp>
      <p:sp>
        <p:nvSpPr>
          <p:cNvPr id="8" name="on:k10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protect the original from change</a:t>
            </a:r>
            <a:endParaRPr lang="en-US" sz="1400" dirty="0"/>
          </a:p>
        </p:txBody>
      </p:sp>
      <p:sp>
        <p:nvSpPr>
          <p:cNvPr id="10" name="on:k1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make the variable global</a:t>
            </a:r>
            <a:endParaRPr lang="en-US" sz="1400" dirty="0"/>
          </a:p>
        </p:txBody>
      </p:sp>
      <p:sp>
        <p:nvSpPr>
          <p:cNvPr id="12" name="on:k1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Because functions cannot have parameters</a:t>
            </a:r>
            <a:endParaRPr lang="en-US" sz="1400" dirty="0"/>
          </a:p>
        </p:txBody>
      </p:sp>
      <p:sp>
        <p:nvSpPr>
          <p:cNvPr id="14" name="on:k1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So the subroutine can update the caller's variable  –  For example, a Swap procedure must change both of the caller's variables.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function returns a value to the calling code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function returns a single value and is used in an expression; a procedure (void in C#) just carries out a task.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The subroutine receives a copy, so the original cannot be changed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Changes to the copy are lost when the subroutine ends, so the caller's variable is protected.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Passes the argument by reference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subroutine works on the caller's variable, so changes affect the original.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double a = Area(3.5, 2);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Two numeric arguments in the right order; the returned value is used in an assignment (2 converts implicitly to double).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Only inside the subroutine or block where it is declared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That region is its scope; it is destroyed when the subroutine ends.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Programs always run faster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Calls add a small overhead; the benefits are about development and maintenance.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n was passed by value, so only the copy x changed.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Parameters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They are named in the header and receive the arguments supplied in each call.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So the subroutine can update the caller's variable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For example, a Swap procedure must change both of the caller's variables.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04" grpId="0">
        <p:bldAsOne/>
      </p:bldGraphic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AP22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Data structures: arrays, lists, records and files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Declare, populate, traverse and search 1D and 2D arrays in C#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Choose between an array and a list for a scenario and justify the choice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Define a record structure and process a collection of records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Save records to a comma-separated text file and load them back into a list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y use data structures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use data structures?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Declaring a one-dimensional arr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Declaring a one-dimensional array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Worked example: a week of rainfal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week of rainfall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Searching an arra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Searching an array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Two-dimensional array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Two-dimensional arrays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Worked example: theatre ticket sa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theatre ticket sales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Lists: a dynamic stru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Lists: a dynamic structure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Array or list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Array or list?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Recor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Records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Worked example: a list of club memb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list of club members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Text files and persistent stor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Text files and persistent storage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Writing and append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Writing and appending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Reading a file into a list of recor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Reading a file into a list of records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Common pitfal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Common pitfalls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Four data structures: a one-dimensional array with indexes, a two-dimensional array addressed by row and column, a growing list, and a record with fields of different typ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Four data structures: a one-dimensional array with indexes, a two-dimensional array addressed by row and column, a growing list, and a record with fields of different types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use data structures?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data structure groups many related data items under one identifier so they can be stored and processed together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Thirty separate variables for thirty pupils' marks is unworkable; one array of thirty elements can be processed with a single loop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Static structures (arrays) have a size fixed when they are created; dynamic structures (lists) grow and shrink while the program runs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Arrays and lists are homogeneous (one data type); a record groups fields of different data types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Data in memory is lost when the program ends, so text files are used to keep data between runs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Declaring a one-dimensional array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array holds a fixed number of elements of the same type; each element is identified by an index starting at 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last valid index is always Length - 1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new int[5] creates five elements set to the default value 0; an initialiser list sets the size and values at once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Declaring a one-dimensional array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goals = new int[5];                 // five ints, all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counties = { "Antrim", "Armagh", "Down",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"Fermanagh", "Londonderry", "Tyrone" };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double[] prices = new double[] { 2.50, 3.75, 1.20 };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goals[0] = 3;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goals[4] = goals[0] + 1;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Console.WriteLine(counties[3]);               // Fermanagh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Console.WriteLine(counties.Length);           // 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Console.WriteLine(goals[4]);                  // 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Console.WriteLine(prices[prices.Length - 1]); // 1.2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 week of rainfall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Daily rainfall (mm) at a Fermanagh weather station is stored in one array, Monday at index 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One for loop traverses every element to total the values, find the index of the largest and count dry days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Casting total to double before dividing avoids integer division when calculating the mean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a week of rainfall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rain = { 4, 0, 12, 7, 0, 3, 9 };      // Mon to Sun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0, wettest = 0, dryDays =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rain.Length; i++)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rain[i];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(rain[i] &gt; rain[wettest]) wettest = i;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(rain[i] == 0) dryDays++;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Console.WriteLine($"Total {total} mm, mean {(double)total / rain.Length} mm");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Console.WriteLine($"Wettest day index {wettest}, dry days {dryDays}");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Total 35 mm, mean 5 mm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Wettest day index 2, dry days 2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Searching an array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linear search checks each element in turn until the target is found or the end of the array is reached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position starts at -1, a rogue value meaning 'not found'; the loop stops early once the item is found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Input Tomas outputs 'Tomas found at index 3'; input Sean outputs 'Sean is not in the squad'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Searching an array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squad = { "Ciara", "Oisin", "Megan", "Tomas", "Erin" };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Console.Write("Player to find: 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target = Console.ReadLine();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position = -1;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 =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&lt; squad.Length &amp;&amp; position == -1)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(squad[i] == target) position = i;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i++;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(position == -1) Console.WriteLine(target + " is not in the squad");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Console.WriteLine(target + " found at index " + position);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Two-dimensional arrays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2D array is a table of elements of one data type, accessed with two indexes written [row, column]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GetLength(0) gives the number of rows, GetLength(1) the number of columns and Length the total number of elements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Suits grid-shaped data: seating plans, marks per pupil per test, sales per product per day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Two-dimensional arrays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int[,] marks = new int[3, 4];               // 3 pupils x 4 tests, all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int[,] grid = { { 1, 2, 3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{ 4, 5, 6 } };              // 2 rows, 3 columns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marks[2, 3] = 85;                           // pupil 2, test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Console.WriteLine(grid[1, 0]);              // 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Console.WriteLine(grid.GetLength(0));       // 2 (rows)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Console.WriteLine(grid.GetLength(1));       // 3 (columns)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Console.WriteLine(grid.Length);             // 6 (elements)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theatre ticket sales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theatre in Enniskillen records tickets sold for 3 shows (rows) over 4 nights (columns)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Nested loops: the outer loop visits each row (show), the inner loop each column (night); showTotal is reset for every row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Output: Show 0: 585, Show 1: 425, Show 2: 830, then All shows: 1840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theatre ticket sales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int[,] sales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120, 135, 150, 180 },     // show 0, Wed to Sat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90, 85, 110, 140 },       // show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200, 210, 190, 230 }      // show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grand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show = 0; show &lt; sales.GetLength(0); show++)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showTotal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night = 0; night &lt; sales.GetLength(1); night++)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showTotal += sales[show, night];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Console.WriteLine($"Show {show}: {showTotal} tickets");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grand += showTotal;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Console.WriteLine($"All shows: {grand}");</a:t>
            </a:r>
            <a:endParaRPr lang="en-US" sz="11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Lists: a dynamic structure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List&lt;T&gt; stores items of type T and grows or shrinks as items are added and removed, so memory is used only for items actually stored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Add, Insert, Remove, RemoveAt, Contains, IndexOf and Sort do work that would need extra code with an array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Count gives the number of items (an array uses Length); items are still accessed by index from 0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Lists: a dynamic structure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System.Collections.Generic;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waiting = new List&lt;string&gt;();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waiting.Add("Aoife");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waiting.Add("Ben");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waiting.Add("Cara");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waiting.Remove("Ben");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waiting.Insert(0, "Dara");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Console.WriteLine(waiting.Count);              //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Console.WriteLine(string.Join(", ", waiting)); // Dara, Aoife, Cara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Console.WriteLine(waiting.IndexOf("Cara"));    //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waiting.RemoveAt(0);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Console.WriteLine(waiting[0]);                 // Aoife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Console.WriteLine(waiting.Contains("Ben"));    // False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Array or list?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3621024"/>
                <a:gridCol w="31272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Array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List&lt;T&gt;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Size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Fixed when created (static)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Changes at run time (dynamic)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types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type for every element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type for every item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Number of items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Length property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Count property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Adding or removing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Not possible; must copy into a new array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Add, Insert, Remove, RemoveAt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Memory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Reserved for every element, even unused ones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Grows as needed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Good for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 monthly totals; a 10 x 10 game board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Online orders arriving through the day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21" grpId="0">
        <p:bldAsOne/>
      </p:bldGraphic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Records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record groups a fixed set of related fields describing one item; unlike an array, the fields can have different data types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C# a record structure can be defined with struct (or a class with public fields); each field is reached with dot notation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array or list of records works like a table in a database: each record is a row, each field a column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Records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 p = new Player();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p.name = "Cian Doherty";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p.squadNumber = 9;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p.heightM = 1.82;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p.injured = false;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Player[] team = new Player[15];        // an array of records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team[0] = 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Console.WriteLine($"{team[0].name} wears {team[0].squadNumber}");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Cian Doherty wears 9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Player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name;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squadNumber;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heightM;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bool injured;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 list of club members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youth club keeps one record per member in a list, because members join and leave during the year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foreach visits each record; the paid field selects members who still owe fees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Output: Ross owes fees, Shauna owes fees, 2 of 3 members owe fees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a list of club members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System.Collections.Generic;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List&lt;Member&gt; club = new List&lt;Member&gt;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Member { name = "Niamh", age = 17, paid = true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Member { name = "Ross", age = 16, paid = false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Member { name = "Shauna", age = 15, paid = false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owing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(Member m in club)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(!m.paid)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Console.WriteLine(m.name + " owes fees");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owing++;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Console.WriteLine($"{owing} of {club.Count} members owe fees");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Member { public string name = ""; public int age; public bool paid; }</a:t>
            </a:r>
            <a:endParaRPr lang="en-US" sz="10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Text files and persistent storage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Variables and arrays are held in RAM and lost when the program closes; a file on secondary storage keeps the data (persistent storage)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file is opened in a mode: read, write (creates a new file or overwrites an existing one) or append (adds to the end)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text file is processed a line at a time, usually one record per line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Fields are separated by a delimiter, often a comma (a CSV file): Niamh,17,true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Everything read from a text file is a string, so numbers must be converted (int.Parse) before calculations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file must be closed so buffered data is written and other programs can use it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Writing and appending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StreamWriter(name, false) creates or overwrites the file; StreamWriter(name, true) appends to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using block closes the file automatically, even if an error occurs; otherwise call Close()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File.AppendAllText and File.ReadAllLines are one-line shortcuts for simple tasks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Writing and appending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System.IO;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 = overwrite (or create); true would append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(StreamWriter sw = new StreamWriter("members.csv", false))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sw.WriteLine("Niamh,17,true");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sw.WriteLine("Ross,16,false");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File.AppendAllText("members.csv", "Shauna,15,false\n");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lines = File.ReadAllLines("members.csv");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Console.WriteLine(lines.Length + " records saved");   // 3 records saved</a:t>
            </a:r>
            <a:endParaRPr lang="en-US" sz="14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Reading a file into a list of records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File.Exists prevents a run-time error if the file is missing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ReadLine reads one line; Split(',') breaks it into an array of fields; Parse converts each field to the right type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EndOfStream becomes true after the last line, ending the condition-controlled loop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Reading a file into a list of records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System.Collections.Generic;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System.IO;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List&lt;Member&gt; club = new List&lt;Member&gt;();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(!File.Exists("members.csv")) Console.WriteLine("File not found");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using (StreamReader sr = new StreamReader("members.csv"))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(!sr.EndOfStream)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string[] f = sr.ReadLine().Split(',');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club.Add(new Member { name = f[0], age = int.Parse(f[1]),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paid = bool.Parse(f[2])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Console.WriteLine(club.Count + " members loaded");   // 3 members loaded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Member { public string name = ""; public int age; public bool paid; }</a:t>
            </a:r>
            <a:endParaRPr lang="en-US" sz="10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Common pitfalls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Index out of range: scores[4] in an array of 4 elements throws an IndexOutOfRangeException at run time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Off-by-one errors: loop with i &lt; Length, not i &lt;= Length, and start at index 0, not 1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Mixing up [row, column] order or GetLength(0) and GetLength(1) in a 2D array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Forgetting to reset a running total inside the outer loop when totalling each row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Opening a missing file throws a FileNotFoundException; opening for write when you meant append wipes the existing data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Doing arithmetic on fields read from a file without converting them from strings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An array is declared as int[] a = new int[10]. What is the index of its last element?</a:t>
            </a:r>
            <a:endParaRPr lang="en-US" sz="1700" dirty="0"/>
          </a:p>
        </p:txBody>
      </p:sp>
      <p:sp>
        <p:nvSpPr>
          <p:cNvPr id="7" name="trig:k1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</a:t>
            </a:r>
            <a:endParaRPr lang="en-US" sz="1600" dirty="0"/>
          </a:p>
        </p:txBody>
      </p:sp>
      <p:sp>
        <p:nvSpPr>
          <p:cNvPr id="8" name="on:k1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9</a:t>
            </a:r>
            <a:endParaRPr lang="en-US" sz="1600" dirty="0"/>
          </a:p>
        </p:txBody>
      </p:sp>
      <p:sp>
        <p:nvSpPr>
          <p:cNvPr id="10" name="on:k1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on:k1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11</a:t>
            </a:r>
            <a:endParaRPr lang="en-US" sz="1600" dirty="0"/>
          </a:p>
        </p:txBody>
      </p:sp>
      <p:sp>
        <p:nvSpPr>
          <p:cNvPr id="14" name="on:k1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9  –  Indexes run from 0 to Length - 1, so ten elements have indexes 0 to 9.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café takes a varying number of online orders each day. Which structure best stores the orders while the program runs?</a:t>
            </a:r>
            <a:endParaRPr lang="en-US" sz="1700" dirty="0"/>
          </a:p>
        </p:txBody>
      </p:sp>
      <p:sp>
        <p:nvSpPr>
          <p:cNvPr id="7" name="trig:k1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list, because it can grow as orders arrive</a:t>
            </a:r>
            <a:endParaRPr lang="en-US" sz="1400" dirty="0"/>
          </a:p>
        </p:txBody>
      </p:sp>
      <p:sp>
        <p:nvSpPr>
          <p:cNvPr id="8" name="on:k1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1D array of fixed size</a:t>
            </a:r>
            <a:endParaRPr lang="en-US" sz="1400" dirty="0"/>
          </a:p>
        </p:txBody>
      </p:sp>
      <p:sp>
        <p:nvSpPr>
          <p:cNvPr id="10" name="on:k1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constant</a:t>
            </a:r>
            <a:endParaRPr lang="en-US" sz="1400" dirty="0"/>
          </a:p>
        </p:txBody>
      </p:sp>
      <p:sp>
        <p:nvSpPr>
          <p:cNvPr id="12" name="on:k1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2D array</a:t>
            </a:r>
            <a:endParaRPr lang="en-US" sz="1400" dirty="0"/>
          </a:p>
        </p:txBody>
      </p:sp>
      <p:sp>
        <p:nvSpPr>
          <p:cNvPr id="14" name="on:k1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A list, because it can grow as orders arrive  –  The number of orders is unknown, so a dynamic list that grows as items are added is most suitable.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grid.GetLength(1) return for int[,] grid = new int[5, 8]?</a:t>
            </a:r>
            <a:endParaRPr lang="en-US" sz="1700" dirty="0"/>
          </a:p>
        </p:txBody>
      </p:sp>
      <p:sp>
        <p:nvSpPr>
          <p:cNvPr id="7" name="trig:k1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</a:t>
            </a:r>
            <a:endParaRPr lang="en-US" sz="1600" dirty="0"/>
          </a:p>
        </p:txBody>
      </p:sp>
      <p:sp>
        <p:nvSpPr>
          <p:cNvPr id="8" name="on:k1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40</a:t>
            </a:r>
            <a:endParaRPr lang="en-US" sz="1600" dirty="0"/>
          </a:p>
        </p:txBody>
      </p:sp>
      <p:sp>
        <p:nvSpPr>
          <p:cNvPr id="10" name="on:k1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</a:t>
            </a:r>
            <a:endParaRPr lang="en-US" sz="1600" dirty="0"/>
          </a:p>
        </p:txBody>
      </p:sp>
      <p:sp>
        <p:nvSpPr>
          <p:cNvPr id="12" name="on:k1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13</a:t>
            </a:r>
            <a:endParaRPr lang="en-US" sz="1600" dirty="0"/>
          </a:p>
        </p:txBody>
      </p:sp>
      <p:sp>
        <p:nvSpPr>
          <p:cNvPr id="14" name="on:k1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8  –  Dimension 1 is the number of columns, which is 8; GetLength(0) gives the 5 rows and Length gives 40.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value of "Ben,65".Split(',')[1]?</a:t>
            </a:r>
            <a:endParaRPr lang="en-US" sz="1700" dirty="0"/>
          </a:p>
        </p:txBody>
      </p:sp>
      <p:sp>
        <p:nvSpPr>
          <p:cNvPr id="7" name="trig:k1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"Ben"</a:t>
            </a:r>
            <a:endParaRPr lang="en-US" sz="1600" dirty="0"/>
          </a:p>
        </p:txBody>
      </p:sp>
      <p:sp>
        <p:nvSpPr>
          <p:cNvPr id="8" name="on:k1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65 as an int</a:t>
            </a:r>
            <a:endParaRPr lang="en-US" sz="1600" dirty="0"/>
          </a:p>
        </p:txBody>
      </p:sp>
      <p:sp>
        <p:nvSpPr>
          <p:cNvPr id="10" name="on:k1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","</a:t>
            </a:r>
            <a:endParaRPr lang="en-US" sz="1600" dirty="0"/>
          </a:p>
        </p:txBody>
      </p:sp>
      <p:sp>
        <p:nvSpPr>
          <p:cNvPr id="12" name="on:k1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"65" as a string</a:t>
            </a:r>
            <a:endParaRPr lang="en-US" sz="1600" dirty="0"/>
          </a:p>
        </p:txBody>
      </p:sp>
      <p:sp>
        <p:nvSpPr>
          <p:cNvPr id="14" name="on:k1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2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"65" as a string  –  Split returns an array of strings; index 1 is "65", which must be converted with int.Parse before arithmetic.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must a file be closed after writing to it?</a:t>
            </a:r>
            <a:endParaRPr lang="en-US" sz="1700" dirty="0"/>
          </a:p>
        </p:txBody>
      </p:sp>
      <p:sp>
        <p:nvSpPr>
          <p:cNvPr id="7" name="trig:k1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delete the temporary copy</a:t>
            </a:r>
            <a:endParaRPr lang="en-US" sz="1400" dirty="0"/>
          </a:p>
        </p:txBody>
      </p:sp>
      <p:sp>
        <p:nvSpPr>
          <p:cNvPr id="8" name="on:k1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So buffered data is written to disk and the file is released</a:t>
            </a:r>
            <a:endParaRPr lang="en-US" sz="1400" dirty="0"/>
          </a:p>
        </p:txBody>
      </p:sp>
      <p:sp>
        <p:nvSpPr>
          <p:cNvPr id="10" name="on:k1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convert it to binary</a:t>
            </a:r>
            <a:endParaRPr lang="en-US" sz="1400" dirty="0"/>
          </a:p>
        </p:txBody>
      </p:sp>
      <p:sp>
        <p:nvSpPr>
          <p:cNvPr id="12" name="on:k1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does not need to be closed</a:t>
            </a:r>
            <a:endParaRPr lang="en-US" sz="1400" dirty="0"/>
          </a:p>
        </p:txBody>
      </p:sp>
      <p:sp>
        <p:nvSpPr>
          <p:cNvPr id="14" name="on:k1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So buffered data is written to disk and the file is released  –  Closing flushes any data still in the buffer and frees the file for other programs.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statement best describes a record?</a:t>
            </a:r>
            <a:endParaRPr lang="en-US" sz="1700" dirty="0"/>
          </a:p>
        </p:txBody>
      </p:sp>
      <p:sp>
        <p:nvSpPr>
          <p:cNvPr id="7" name="trig:k1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fixed set of related fields that may have different data types</a:t>
            </a:r>
            <a:endParaRPr lang="en-US" sz="1250" dirty="0"/>
          </a:p>
        </p:txBody>
      </p:sp>
      <p:sp>
        <p:nvSpPr>
          <p:cNvPr id="8" name="on:k1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list of values that must all be the same type</a:t>
            </a:r>
            <a:endParaRPr lang="en-US" sz="1250" dirty="0"/>
          </a:p>
        </p:txBody>
      </p:sp>
      <p:sp>
        <p:nvSpPr>
          <p:cNvPr id="10" name="on:k1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file stored on secondary storage</a:t>
            </a:r>
            <a:endParaRPr lang="en-US" sz="1250" dirty="0"/>
          </a:p>
        </p:txBody>
      </p:sp>
      <p:sp>
        <p:nvSpPr>
          <p:cNvPr id="12" name="on:k1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 loop that processes every element</a:t>
            </a:r>
            <a:endParaRPr lang="en-US" sz="1250" dirty="0"/>
          </a:p>
        </p:txBody>
      </p:sp>
      <p:sp>
        <p:nvSpPr>
          <p:cNvPr id="14" name="on:k1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A fixed set of related fields that may have different data types  –  A record describes one item using several named fields, which can be of different types.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program needs to add a new line to an existing log file without losing earlier entries. Which should it use?</a:t>
            </a:r>
            <a:endParaRPr lang="en-US" sz="1700" dirty="0"/>
          </a:p>
        </p:txBody>
      </p:sp>
      <p:sp>
        <p:nvSpPr>
          <p:cNvPr id="7" name="trig:k1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new StreamReader("log.txt")</a:t>
            </a:r>
            <a:endParaRPr lang="en-US" sz="1600" dirty="0"/>
          </a:p>
        </p:txBody>
      </p:sp>
      <p:sp>
        <p:nvSpPr>
          <p:cNvPr id="8" name="on:k1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new StreamWriter("log.txt", false)</a:t>
            </a:r>
            <a:endParaRPr lang="en-US" sz="1600" dirty="0"/>
          </a:p>
        </p:txBody>
      </p:sp>
      <p:sp>
        <p:nvSpPr>
          <p:cNvPr id="10" name="on:k1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File.ReadAllLines("log.txt")</a:t>
            </a:r>
            <a:endParaRPr lang="en-US" sz="1600" dirty="0"/>
          </a:p>
        </p:txBody>
      </p:sp>
      <p:sp>
        <p:nvSpPr>
          <p:cNvPr id="12" name="on:k1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new StreamWriter("log.txt", true)</a:t>
            </a:r>
            <a:endParaRPr lang="en-US" sz="1600" dirty="0"/>
          </a:p>
        </p:txBody>
      </p:sp>
      <p:sp>
        <p:nvSpPr>
          <p:cNvPr id="14" name="on:k1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4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new StreamWriter("log.txt", true)  –  true opens the file in append mode, adding to the end; false would overwrite it.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int[] r = { 4, 0, 12, 7 }; What is the value of r[r.Length - 1] - r[1]?</a:t>
            </a:r>
            <a:endParaRPr lang="en-US" sz="1700" dirty="0"/>
          </a:p>
        </p:txBody>
      </p:sp>
      <p:sp>
        <p:nvSpPr>
          <p:cNvPr id="7" name="trig:k1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</a:t>
            </a:r>
            <a:endParaRPr lang="en-US" sz="1600" dirty="0"/>
          </a:p>
        </p:txBody>
      </p:sp>
      <p:sp>
        <p:nvSpPr>
          <p:cNvPr id="8" name="on:k1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</a:t>
            </a:r>
            <a:endParaRPr lang="en-US" sz="1600" dirty="0"/>
          </a:p>
        </p:txBody>
      </p:sp>
      <p:sp>
        <p:nvSpPr>
          <p:cNvPr id="10" name="on:k1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7</a:t>
            </a:r>
            <a:endParaRPr lang="en-US" sz="1600" dirty="0"/>
          </a:p>
        </p:txBody>
      </p:sp>
      <p:sp>
        <p:nvSpPr>
          <p:cNvPr id="12" name="on:k1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-4</a:t>
            </a:r>
            <a:endParaRPr lang="en-US" sz="1600" dirty="0"/>
          </a:p>
        </p:txBody>
      </p:sp>
      <p:sp>
        <p:nvSpPr>
          <p:cNvPr id="14" name="on:k1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4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7  –  r[3] is 7 and r[1] is 0, so the result is 7.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loop header correctly visits every element of an array called data?</a:t>
            </a:r>
            <a:endParaRPr lang="en-US" sz="1700" dirty="0"/>
          </a:p>
        </p:txBody>
      </p:sp>
      <p:sp>
        <p:nvSpPr>
          <p:cNvPr id="7" name="trig:k1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 (int i = 1; i &lt;= data.Length; i++)</a:t>
            </a:r>
            <a:endParaRPr lang="en-US" sz="1600" dirty="0"/>
          </a:p>
        </p:txBody>
      </p:sp>
      <p:sp>
        <p:nvSpPr>
          <p:cNvPr id="8" name="on:k1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 (int i = 0; i &lt; data.Length; i++)</a:t>
            </a:r>
            <a:endParaRPr lang="en-US" sz="1600" dirty="0"/>
          </a:p>
        </p:txBody>
      </p:sp>
      <p:sp>
        <p:nvSpPr>
          <p:cNvPr id="10" name="on:k1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 (int i = 0; i &lt;= data.Length; i++)</a:t>
            </a:r>
            <a:endParaRPr lang="en-US" sz="1600" dirty="0"/>
          </a:p>
        </p:txBody>
      </p:sp>
      <p:sp>
        <p:nvSpPr>
          <p:cNvPr id="12" name="on:k1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 (int i = 1; i &lt; data.Length; i++)</a:t>
            </a:r>
            <a:endParaRPr lang="en-US" sz="1600" dirty="0"/>
          </a:p>
        </p:txBody>
      </p:sp>
      <p:sp>
        <p:nvSpPr>
          <p:cNvPr id="14" name="on:k1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4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for (int i = 0; i &lt; data.Length; i++)  –  Indexes start at 0 and stop at Length - 1, so the condition must be i &lt; Length.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Indexes run from 0 to Length - 1, so ten elements have indexes 0 to 9.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 list, because it can grow as orders arrive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number of orders is unknown, so a dynamic list that grows as items are added is most suitable.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Dimension 1 is the number of columns, which is 8; GetLength(0) gives the 5 rows and Length gives 40.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"65" as a string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Split returns an array of strings; index 1 is "65", which must be converted with int.Parse before arithmetic.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So buffered data is written to disk and the file is released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Closing flushes any data still in the buffer and frees the file for other programs.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 fixed set of related fields that may have different data types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record describes one item using several named fields, which can be of different types.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new StreamWriter("log.txt", true)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true opens the file in append mode, adding to the end; false would overwrite it.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r[3] is 7 and r[1] is 0, so the result is 7.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for (int i = 0; i &lt; data.Length; i++)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Indexes start at 0 and stop at Length - 1, so the condition must be i &lt; Length.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41" grpId="0">
        <p:bldAsOne/>
      </p:bldGraphic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AP23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Robust programs: validation, exceptions, errors, testing and debugging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validation loops in C# using presence, length, range, type, format and lookup checks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try...catch...finally to handle exceptions so a program does not crash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Classify programming errors and design a test plan with suitable test data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IDE tools such as breakpoints, stepping and watches to locate logic errors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when each kind of error is detected when a program is compiled or interpreted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at makes a program robust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makes a program robust?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Validation chec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Validation checks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A validation loo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validation loop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Validation or verification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Validation or verification?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Exception handl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Exception handling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Four kinds of programming err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Four kinds of programming error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Choosing test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test data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Worked example: leisure centre pric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leisure centre prices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Worked example: the test pl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the test plan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The IDE: a recap from AP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IDE: a recap from AP19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Debugging too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Debugging tools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Debugging techniqu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Debugging techniques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Translators: a quick recap (see AP19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Translators: a quick recap (see AP19)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When is each error detected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When is each error detected?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 robust input process: validation loop rejects bad data, try and catch handle run-time errors, with the three error types summaris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 robust input process: validation loop rejects bad data, try and catch handle run-time errors, with the three error types summarised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makes a program robust?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robust program copes with invalid input and unexpected events without crashing or producing wrong results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Validation: automatic checks that input is reasonable and follows rules before it is used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Exception handling: catches run-time errors and responds sensibly instead of crashing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Testing: running the program with planned test data and comparing expected with actual results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Debugging: finding and correcting the causes of errors, helped by the tools in an IDE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Validation checks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44062"/>
                <a:gridCol w="4431323"/>
                <a:gridCol w="29542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ensures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C# condition (true = valid)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Presence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Something has been entered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name != ""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Length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Number of characters is within limits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password.Length &gt;= 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Value lies between a lower and upper limit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mark &gt;= 0 &amp;&amp; mark &lt;= 100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is of the expected data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int.TryParse(input, out age)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matches a set pattern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postcode.StartsWith("BT")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Lookup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Value is one of a list of allowed values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houses.Contains(house)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46" grpId="0">
        <p:bldAsOne/>
      </p:bldGraphic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 validation loop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int.TryParse returns false instead of crashing when the input is not a whole number (type check)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range check only runs if TryParse succeeds, because &amp;&amp; short-circuits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do...while asks at least once and repeats with a helpful message until the input is valid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 validation loop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tickets;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valid;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Console.Write("Tickets (1-6): 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input = Console.ReadLine() ?? "";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 = int.TryParse(input, out tickets) &amp;&amp; tickets &gt;= 1 &amp;&amp; tickets &lt;= 6;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(!valid) Console.WriteLine("Please enter a whole number from 1 to 6.");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(!valid);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Console.WriteLine("Accepted: " + tickets);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Validation or verification?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Validation checks that data is reasonable; it cannot prove it is correct: an age of 34 passes a range check even if the person is 43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Verification checks that data has been entered or copied accurately, matching the original source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Double entry: type the data twice (e.g. a new password or email) and compare the two copies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Visual check: the user reads the data back on screen, or against the source document, before confirming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Using both improves data integrity: validation rejects impossible values and verification catches typing mistakes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Exception handling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exception is an object created when a run-time error occurs, such as dividing by zero or a missing file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Risky code goes in try; a catch block handles a specific exception type; finally always runs, e.g. to close a file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Order catch blocks from the most specific to the general Exception, which must come last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Exception handling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Console.Write("Players: 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players = int.Parse(Console.ReadLine() ?? "");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each = 60 / players;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Console.WriteLine("Minutes each: " + each);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(FormatException)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Console.WriteLine("That is not a whole number.");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(DivideByZeroException)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Console.WriteLine("There must be at least one player.");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Console.WriteLine("Done.");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Four kinds of programming error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03907"/>
                <a:gridCol w="2423440"/>
                <a:gridCol w="2473929"/>
                <a:gridCol w="29283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Error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When detected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C# 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Syntax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Breaks the grammar rules of the language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By the compiler; the program will not run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Missing ; or bracket; Consle.WriteLine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Semantic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Grammatically correct but meaningless or invalid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Often by the compiler, sometimes only at run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 n = "five"; using a variable before it has a value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Run-time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An impossible operation while the program runs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During execution: the program crashes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Divide by zero; index out of range; int.Parse("4.5")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Logic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flaw in the algorithm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Only by testing: it runs but the output is wrong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cost = price + qty instead of price * qty; &gt; instead of &gt;=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52" grpId="0">
        <p:bldAsOne/>
      </p:bldGraphic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Choosing test data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49724"/>
                <a:gridCol w="3933265"/>
                <a:gridCol w="31466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 of test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Example: age accepted if 0 to 120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Valid (normal)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Typical data that should be accepted and processed correctly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30, 72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Extreme (boundary)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Values at the edges of the valid range, and at each band boundary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0, 120 (also 15/16 and 64/65 if prices change there)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Invalid (erroneous)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that should be rejected: out of range or the wrong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-1, 121, ten, 4.5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Null (absent)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Nothing entered, to test presence checks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Pressing Enter with no input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53" grpId="0">
        <p:bldAsOne/>
      </p:bldGraphic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leisure centre prices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leisure centre in Omagh charges under 16s £3.00, adults £5.00 and those aged 65 and over £2.50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age is validated with a type check and a range check of 0 to 120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code compiles and runs, but it contains a logic error that only careful boundary testing will reveal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leisure centre prices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Console.Write("Age: 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(!int.TryParse(Console.ReadLine(), out age) || age &lt; 0 || age &gt; 120)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Console.Write("Enter a whole number from 0 to 120: 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price;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&lt; 16) price = 3.00;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(age &gt; 65) price = 2.50;     // logic error: should be &gt;= 65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price = 5.00;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Console.WriteLine($"Price: £{price:F2}");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the test plan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234440"/>
                <a:gridCol w="960120"/>
                <a:gridCol w="2880360"/>
                <a:gridCol w="150876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Expected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Valid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£5.00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£5.00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Extreme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£3.00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£3.00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Extreme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£5.00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£5.00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65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Extreme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£2.50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£5.00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Fail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Invalid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Rejected, asked again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Asked again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ten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Invalid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Rejected, asked again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Asked again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(nothing)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Rejected, asked again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Asked again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56" grpId="0">
        <p:bldAsOne/>
      </p:bldGraphic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IDE: a recap from AP19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Editor: write, edit and save code, with line numbers and code folding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Syntax highlighting and auto-indent; syntax checking underlines errors such as a missing ; as you type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Code completion (IntelliSense) suggests keywords and identifiers, reducing spelling mistakes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Preferences / formatting keep a team's layout consistent; compile and run builds the program and lists errors with line numbers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Debugging tools – breakpoints, stepping, watches and the call stack – are the focus of this lesson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Debugging tools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Breakpoint: pauses execution at a chosen line so the program's state can be examined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Step into / step over: execute one line at a time, entering or skipping over subroutine calls, to follow the flow of control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Watch and Locals windows: show variable values as they change, so the first wrong value can be spotted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Call stack: shows which subroutines were called to reach the current line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Leisure centre bug: a breakpoint on the if, input 65, then step: the &gt;65 branch is skipped, so the fault is in that condition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Debugging techniques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Dry run the code with a trace table, comparing expected and actual values at each step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Insert temporary output statements to display variable values at key points, then remove them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Test with valid, extreme, invalid and null data to narrow down where the logic fails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Isolate the problem: test each subroutine separately or comment out sections of code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Read error messages carefully: the exception type and line number usually point to the cause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After fixing, re-run all the earlier tests to check that nothing else has been broken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Translators: a quick recap (see AP19)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Source code must be translated into machine code before the processor can run it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Assembler: assembly language to machine code, one mnemonic to one instruction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Compiler: translates the whole program first, lists every error, and produces an executable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Interpreter: translates and runs one statement at a time; no object code is kept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C# is compiled to Common Intermediate Language, which the .NET runtime JIT-compiles to machine code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For the full comparison of the three translators, use AP19 slides 2–4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When is each error detected?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10512"/>
                <a:gridCol w="2688336"/>
                <a:gridCol w="3730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Error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Compiled (e.g. C#)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Interpreted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Syntax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Listed by the compiler before anything runs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Found only when that line is reached; earlier lines have already run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Semantic (e.g. text into an int)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Usually rejected at compile time by type checking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Often appears only at run time, when the line executes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Run-time (e.g. divide by zero)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During execution, unless handled with try…catch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During execution, unless handled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Logic (wrong formula or operator)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Not detected: program runs with wrong output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Not detected: found only by testing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Consequence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executable until every syntax error is fixed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late error may strike after files or data have been changed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61" grpId="0">
        <p:bldAsOne/>
      </p:bldGraphic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An online form rejects a mark of 120 when marks must be out of 100. Which validation check has been applied?</a:t>
            </a:r>
            <a:endParaRPr lang="en-US" sz="1700" dirty="0"/>
          </a:p>
        </p:txBody>
      </p:sp>
      <p:sp>
        <p:nvSpPr>
          <p:cNvPr id="7" name="trig:k1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Presence check</a:t>
            </a:r>
            <a:endParaRPr lang="en-US" sz="1600" dirty="0"/>
          </a:p>
        </p:txBody>
      </p:sp>
      <p:sp>
        <p:nvSpPr>
          <p:cNvPr id="8" name="on:k1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Format check</a:t>
            </a:r>
            <a:endParaRPr lang="en-US" sz="1600" dirty="0"/>
          </a:p>
        </p:txBody>
      </p:sp>
      <p:sp>
        <p:nvSpPr>
          <p:cNvPr id="10" name="on:k1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Range check</a:t>
            </a:r>
            <a:endParaRPr lang="en-US" sz="1600" dirty="0"/>
          </a:p>
        </p:txBody>
      </p:sp>
      <p:sp>
        <p:nvSpPr>
          <p:cNvPr id="12" name="on:k1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Length check</a:t>
            </a:r>
            <a:endParaRPr lang="en-US" sz="1600" dirty="0"/>
          </a:p>
        </p:txBody>
      </p:sp>
      <p:sp>
        <p:nvSpPr>
          <p:cNvPr id="14" name="on:k1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5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Range check  –  The value lies outside the allowed lower and upper limits, so a range check rejects it.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program outputs the wrong total but never crashes. What type of error does it contain?</a:t>
            </a:r>
            <a:endParaRPr lang="en-US" sz="1700" dirty="0"/>
          </a:p>
        </p:txBody>
      </p:sp>
      <p:sp>
        <p:nvSpPr>
          <p:cNvPr id="7" name="trig:k1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Logic error</a:t>
            </a:r>
            <a:endParaRPr lang="en-US" sz="1600" dirty="0"/>
          </a:p>
        </p:txBody>
      </p:sp>
      <p:sp>
        <p:nvSpPr>
          <p:cNvPr id="8" name="on:k1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Syntax error</a:t>
            </a:r>
            <a:endParaRPr lang="en-US" sz="1600" dirty="0"/>
          </a:p>
        </p:txBody>
      </p:sp>
      <p:sp>
        <p:nvSpPr>
          <p:cNvPr id="10" name="on:k1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Run-time error</a:t>
            </a:r>
            <a:endParaRPr lang="en-US" sz="1600" dirty="0"/>
          </a:p>
        </p:txBody>
      </p:sp>
      <p:sp>
        <p:nvSpPr>
          <p:cNvPr id="12" name="on:k1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Compilation error</a:t>
            </a:r>
            <a:endParaRPr lang="en-US" sz="1600" dirty="0"/>
          </a:p>
        </p:txBody>
      </p:sp>
      <p:sp>
        <p:nvSpPr>
          <p:cNvPr id="14" name="on:k1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5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Logic error  –  It compiles and runs, so the fault is in the algorithm: a logic error, found only by testing.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exception does int.Parse("ten") throw?</a:t>
            </a:r>
            <a:endParaRPr lang="en-US" sz="1700" dirty="0"/>
          </a:p>
        </p:txBody>
      </p:sp>
      <p:sp>
        <p:nvSpPr>
          <p:cNvPr id="7" name="trig:k1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DivideByZeroException</a:t>
            </a:r>
            <a:endParaRPr lang="en-US" sz="1600" dirty="0"/>
          </a:p>
        </p:txBody>
      </p:sp>
      <p:sp>
        <p:nvSpPr>
          <p:cNvPr id="8" name="on:k1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FormatException</a:t>
            </a:r>
            <a:endParaRPr lang="en-US" sz="1600" dirty="0"/>
          </a:p>
        </p:txBody>
      </p:sp>
      <p:sp>
        <p:nvSpPr>
          <p:cNvPr id="10" name="on:k1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IndexOutOfRangeException</a:t>
            </a:r>
            <a:endParaRPr lang="en-US" sz="1600" dirty="0"/>
          </a:p>
        </p:txBody>
      </p:sp>
      <p:sp>
        <p:nvSpPr>
          <p:cNvPr id="12" name="on:k1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FileNotFoundException</a:t>
            </a:r>
            <a:endParaRPr lang="en-US" sz="1600" dirty="0"/>
          </a:p>
        </p:txBody>
      </p:sp>
      <p:sp>
        <p:nvSpPr>
          <p:cNvPr id="14" name="on:k1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5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FormatException  –  The text is not in a valid numeric format, so a FormatException is thrown.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IDE feature shows how the values of variables change as a program runs?</a:t>
            </a:r>
            <a:endParaRPr lang="en-US" sz="1700" dirty="0"/>
          </a:p>
        </p:txBody>
      </p:sp>
      <p:sp>
        <p:nvSpPr>
          <p:cNvPr id="7" name="trig:k1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Syntax highlighting</a:t>
            </a:r>
            <a:endParaRPr lang="en-US" sz="1600" dirty="0"/>
          </a:p>
        </p:txBody>
      </p:sp>
      <p:sp>
        <p:nvSpPr>
          <p:cNvPr id="8" name="on:k1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Error list</a:t>
            </a:r>
            <a:endParaRPr lang="en-US" sz="1600" dirty="0"/>
          </a:p>
        </p:txBody>
      </p:sp>
      <p:sp>
        <p:nvSpPr>
          <p:cNvPr id="10" name="on:k1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Code completion</a:t>
            </a:r>
            <a:endParaRPr lang="en-US" sz="1600" dirty="0"/>
          </a:p>
        </p:txBody>
      </p:sp>
      <p:sp>
        <p:nvSpPr>
          <p:cNvPr id="12" name="on:k1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Watch window</a:t>
            </a:r>
            <a:endParaRPr lang="en-US" sz="1600" dirty="0"/>
          </a:p>
        </p:txBody>
      </p:sp>
      <p:sp>
        <p:nvSpPr>
          <p:cNvPr id="14" name="on:k1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Watch window  –  A watch (or locals) window displays chosen variables' current values while the program is paused or stepped.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is a do...while loop often used for input validation?</a:t>
            </a:r>
            <a:endParaRPr lang="en-US" sz="1700" dirty="0"/>
          </a:p>
        </p:txBody>
      </p:sp>
      <p:sp>
        <p:nvSpPr>
          <p:cNvPr id="7" name="trig:k1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runs faster than a for loop</a:t>
            </a:r>
            <a:endParaRPr lang="en-US" sz="1250" dirty="0"/>
          </a:p>
        </p:txBody>
      </p:sp>
      <p:sp>
        <p:nvSpPr>
          <p:cNvPr id="8" name="on:k1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may run zero times</a:t>
            </a:r>
            <a:endParaRPr lang="en-US" sz="1250" dirty="0"/>
          </a:p>
        </p:txBody>
      </p:sp>
      <p:sp>
        <p:nvSpPr>
          <p:cNvPr id="10" name="on:k1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input must be requested at least once before it is checked</a:t>
            </a:r>
            <a:endParaRPr lang="en-US" sz="1250" dirty="0"/>
          </a:p>
        </p:txBody>
      </p:sp>
      <p:sp>
        <p:nvSpPr>
          <p:cNvPr id="12" name="on:k1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catches exceptions</a:t>
            </a:r>
            <a:endParaRPr lang="en-US" sz="1250" dirty="0"/>
          </a:p>
        </p:txBody>
      </p:sp>
      <p:sp>
        <p:nvSpPr>
          <p:cNvPr id="14" name="on:k1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6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The input must be requested at least once before it is checked  –  The condition is tested after the body, so the prompt is always shown at least once.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Valid ages are 0 to 120. Which value is extreme (boundary) test data?</a:t>
            </a:r>
            <a:endParaRPr lang="en-US" sz="1700" dirty="0"/>
          </a:p>
        </p:txBody>
      </p:sp>
      <p:sp>
        <p:nvSpPr>
          <p:cNvPr id="7" name="trig:k1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120</a:t>
            </a:r>
            <a:endParaRPr lang="en-US" sz="1600" dirty="0"/>
          </a:p>
        </p:txBody>
      </p:sp>
      <p:sp>
        <p:nvSpPr>
          <p:cNvPr id="8" name="on:k1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45</a:t>
            </a:r>
            <a:endParaRPr lang="en-US" sz="1600" dirty="0"/>
          </a:p>
        </p:txBody>
      </p:sp>
      <p:sp>
        <p:nvSpPr>
          <p:cNvPr id="10" name="on:k1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-5</a:t>
            </a:r>
            <a:endParaRPr lang="en-US" sz="1600" dirty="0"/>
          </a:p>
        </p:txBody>
      </p:sp>
      <p:sp>
        <p:nvSpPr>
          <p:cNvPr id="12" name="on:k1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abc</a:t>
            </a:r>
            <a:endParaRPr lang="en-US" sz="1600" dirty="0"/>
          </a:p>
        </p:txBody>
      </p:sp>
      <p:sp>
        <p:nvSpPr>
          <p:cNvPr id="14" name="on:k1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6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120  –  Boundary data lies exactly at the limits of the valid range; 120 is the upper limit.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program is run by an interpreter and line 30 contains a syntax error. What happens?</a:t>
            </a:r>
            <a:endParaRPr lang="en-US" sz="1700" dirty="0"/>
          </a:p>
        </p:txBody>
      </p:sp>
      <p:sp>
        <p:nvSpPr>
          <p:cNvPr id="7" name="trig:k1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Nothing runs until the error is fixed</a:t>
            </a:r>
            <a:endParaRPr lang="en-US" sz="1400" dirty="0"/>
          </a:p>
        </p:txBody>
      </p:sp>
      <p:sp>
        <p:nvSpPr>
          <p:cNvPr id="8" name="on:k1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interpreter skips line 30 and carries on</a:t>
            </a:r>
            <a:endParaRPr lang="en-US" sz="1400" dirty="0"/>
          </a:p>
        </p:txBody>
      </p:sp>
      <p:sp>
        <p:nvSpPr>
          <p:cNvPr id="10" name="on:k1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error is reported as a logic error</a:t>
            </a:r>
            <a:endParaRPr lang="en-US" sz="1400" dirty="0"/>
          </a:p>
        </p:txBody>
      </p:sp>
      <p:sp>
        <p:nvSpPr>
          <p:cNvPr id="12" name="on:k1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Lines 1 to 29 run, then execution stops at line 30</a:t>
            </a:r>
            <a:endParaRPr lang="en-US" sz="1400" dirty="0"/>
          </a:p>
        </p:txBody>
      </p:sp>
      <p:sp>
        <p:nvSpPr>
          <p:cNvPr id="14" name="on:k1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7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Lines 1 to 29 run, then execution stops at line 30  –  An interpreter translates and runs one statement at a time, so the error is only found when line 30 is reached.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programmer writes int total = "twelve"; Which type of error is this?</a:t>
            </a:r>
            <a:endParaRPr lang="en-US" sz="1700" dirty="0"/>
          </a:p>
        </p:txBody>
      </p:sp>
      <p:sp>
        <p:nvSpPr>
          <p:cNvPr id="7" name="trig:k17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Logic error</a:t>
            </a:r>
            <a:endParaRPr lang="en-US" sz="1600" dirty="0"/>
          </a:p>
        </p:txBody>
      </p:sp>
      <p:sp>
        <p:nvSpPr>
          <p:cNvPr id="8" name="on:k17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7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Semantic (type) error</a:t>
            </a:r>
            <a:endParaRPr lang="en-US" sz="1600" dirty="0"/>
          </a:p>
        </p:txBody>
      </p:sp>
      <p:sp>
        <p:nvSpPr>
          <p:cNvPr id="10" name="on:k17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7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Run-time error</a:t>
            </a:r>
            <a:endParaRPr lang="en-US" sz="1600" dirty="0"/>
          </a:p>
        </p:txBody>
      </p:sp>
      <p:sp>
        <p:nvSpPr>
          <p:cNvPr id="12" name="on:k17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8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Boundary error</a:t>
            </a:r>
            <a:endParaRPr lang="en-US" sz="1600" dirty="0"/>
          </a:p>
        </p:txBody>
      </p:sp>
      <p:sp>
        <p:nvSpPr>
          <p:cNvPr id="14" name="on:k18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7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Semantic (type) error  –  The statement follows the grammar but assigning a string to an int has no valid meaning; the C# compiler rejects it.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describes verification by double entry?</a:t>
            </a:r>
            <a:endParaRPr lang="en-US" sz="1700" dirty="0"/>
          </a:p>
        </p:txBody>
      </p:sp>
      <p:sp>
        <p:nvSpPr>
          <p:cNvPr id="7" name="trig:k18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Checking a value is in a list</a:t>
            </a:r>
            <a:endParaRPr lang="en-US" sz="1400" dirty="0"/>
          </a:p>
        </p:txBody>
      </p:sp>
      <p:sp>
        <p:nvSpPr>
          <p:cNvPr id="8" name="on:k18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Entering data twice and comparing the two copies</a:t>
            </a:r>
            <a:endParaRPr lang="en-US" sz="1400" dirty="0"/>
          </a:p>
        </p:txBody>
      </p:sp>
      <p:sp>
        <p:nvSpPr>
          <p:cNvPr id="10" name="on:k18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8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Checking data has the right number of characters</a:t>
            </a:r>
            <a:endParaRPr lang="en-US" sz="1400" dirty="0"/>
          </a:p>
        </p:txBody>
      </p:sp>
      <p:sp>
        <p:nvSpPr>
          <p:cNvPr id="12" name="on:k18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8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Running the program twice</a:t>
            </a:r>
            <a:endParaRPr lang="en-US" sz="1400" dirty="0"/>
          </a:p>
        </p:txBody>
      </p:sp>
      <p:sp>
        <p:nvSpPr>
          <p:cNvPr id="14" name="on:k18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Entering data twice and comparing the two copies  –  Double entry checks the data was typed accurately by comparing two independent entries.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10 of 10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the C# compiler produce from source code?</a:t>
            </a:r>
            <a:endParaRPr lang="en-US" sz="1700" dirty="0"/>
          </a:p>
        </p:txBody>
      </p:sp>
      <p:sp>
        <p:nvSpPr>
          <p:cNvPr id="7" name="trig:k18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Common Intermediate Language, later compiled to machine code by the JIT compiler</a:t>
            </a:r>
            <a:endParaRPr lang="en-US" sz="1250" dirty="0"/>
          </a:p>
        </p:txBody>
      </p:sp>
      <p:sp>
        <p:nvSpPr>
          <p:cNvPr id="8" name="on:k18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8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Assembly language mnemonics</a:t>
            </a:r>
            <a:endParaRPr lang="en-US" sz="1250" dirty="0"/>
          </a:p>
        </p:txBody>
      </p:sp>
      <p:sp>
        <p:nvSpPr>
          <p:cNvPr id="10" name="on:k18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8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Python bytecode</a:t>
            </a:r>
            <a:endParaRPr lang="en-US" sz="1250" dirty="0"/>
          </a:p>
        </p:txBody>
      </p:sp>
      <p:sp>
        <p:nvSpPr>
          <p:cNvPr id="12" name="on:k18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8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Nothing; C# is interpreted line by line</a:t>
            </a:r>
            <a:endParaRPr lang="en-US" sz="1250" dirty="0"/>
          </a:p>
        </p:txBody>
      </p:sp>
      <p:sp>
        <p:nvSpPr>
          <p:cNvPr id="14" name="on:k18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Common Intermediate Language, later compiled to machine code by the JIT compiler  –  C# compiles to CIL in an .exe or .dll; the .NET runtime's JIT compiler turns it into native machine code.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Range check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value lies outside the allowed lower and upper limits, so a range check rejects it.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Logic error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compiles and runs, so the fault is in the algorithm: a logic error, found only by testing.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FormatException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text is not in a valid numeric format, so a FormatException is thrown.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Watch window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watch (or locals) window displays chosen variables' current values while the program is paused or stepped.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The input must be requested at least once before it is checked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condition is tested after the body, so the prompt is always shown at least once.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120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Boundary data lies exactly at the limits of the valid range; 120 is the upper limit.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Lines 1 to 29 run, then execution stops at line 30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An interpreter translates and runs one statement at a time, so the error is only found when line 30 is reached.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Semantic (type) error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statement follows the grammar but assigning a string to an int has no valid meaning; the C# compiler rejects it.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Entering data twice and comparing the two copies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Double entry checks the data was typed accurately by comparing two independent entries.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Common Intermediate Language, later compiled to machine code by the JIT compiler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C# compiles to CIL in an .exe or .dll; the .NET runtime's JIT compiler turns it into native machine code.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72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171</Slides>
  <Notes>171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171</vt:i4>
      </vt:variant>
    </vt:vector>
  </HeadingPairs>
  <TitlesOfParts>
    <vt:vector size="1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programming</dc:title>
  <dc:subject>AS 1: Approaches to Systems Development – Fundamentals of programming</dc:subject>
  <dc:creator>Digital Technology Hub</dc:creator>
  <cp:lastModifiedBy>Digital Technology Hub</cp:lastModifiedBy>
  <cp:revision>1</cp:revision>
  <dcterms:created xsi:type="dcterms:W3CDTF">2026-10-30T13:16:00Z</dcterms:created>
  <dcterms:modified xsi:type="dcterms:W3CDTF">2026-10-30T13:16:00Z</dcterms:modified>
</cp:coreProperties>
</file>