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4a66dc45-22ef-6c1d-982b-3bdbc41e9509}">
          <p14:sldIdLst>
            <p14:sldId id="256"/>
            <p14:sldId id="257"/>
            <p14:sldId id="258"/>
          </p14:sldIdLst>
        </p14:section>
        <p14:section name="AP12 · Organising and managing a software project" id="{7d41c792-54e9-4034-65bd-98009be821f5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</p14:sldIdLst>
        </p14:section>
        <p14:section name="AP13 · Version management and tools for software projects" id="{92e368ce-60d8-091e-9697-10f69fc8d3b4}">
          <p14:sldIdLst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main elements in the organisation of a software project: resources, constraints and risks | Explain the main features of project management for a software project, including the role of the project manager and SMART objectives | Describe the roles of members of a software project team | Construct and interpret Gantt charts and critical path analysis, identifying the critical path, earliest start times, latest finish times and float | Evaluate the use of project management tools: Gantt charts and critical path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Describe the importance of version management during systems development | Describe how a version management system records changes and how versions are branched, merged and rolled back, including version management graphs | Describe the conditions needed for version management to work successfully | Describe the use of computer-aided software engineering (CASE) tools and collaboration tools | Describe code reviews, quality assurance and the use of standards in software projects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3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7.xml"/><Relationship Id="rId13" Type="http://schemas.openxmlformats.org/officeDocument/2006/relationships/slide" Target="slide18.xml"/><Relationship Id="rId14" Type="http://schemas.openxmlformats.org/officeDocument/2006/relationships/slide" Target="slide19.xml"/><Relationship Id="rId15" Type="http://schemas.openxmlformats.org/officeDocument/2006/relationships/slide" Target="slide20.xml"/><Relationship Id="rId16" Type="http://schemas.openxmlformats.org/officeDocument/2006/relationships/slide" Target="slide22.xml"/><Relationship Id="rId17" Type="http://schemas.openxmlformats.org/officeDocument/2006/relationships/slide" Target="slide23.xml"/><Relationship Id="rId18" Type="http://schemas.openxmlformats.org/officeDocument/2006/relationships/slide" Target="slide2.xml"/><Relationship Id="rId1" Type="http://schemas.openxmlformats.org/officeDocument/2006/relationships/image" Target="../media/image-5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" Target="slide35.xml"/><Relationship Id="rId3" Type="http://schemas.openxmlformats.org/officeDocument/2006/relationships/slide" Target="slide36.xml"/><Relationship Id="rId4" Type="http://schemas.openxmlformats.org/officeDocument/2006/relationships/slide" Target="slide37.xml"/><Relationship Id="rId5" Type="http://schemas.openxmlformats.org/officeDocument/2006/relationships/slide" Target="slide38.xml"/><Relationship Id="rId6" Type="http://schemas.openxmlformats.org/officeDocument/2006/relationships/slide" Target="slide39.xml"/><Relationship Id="rId7" Type="http://schemas.openxmlformats.org/officeDocument/2006/relationships/slide" Target="slide40.xml"/><Relationship Id="rId8" Type="http://schemas.openxmlformats.org/officeDocument/2006/relationships/slide" Target="slide41.xml"/><Relationship Id="rId9" Type="http://schemas.openxmlformats.org/officeDocument/2006/relationships/slide" Target="slide42.xml"/><Relationship Id="rId10" Type="http://schemas.openxmlformats.org/officeDocument/2006/relationships/slide" Target="slide44.xml"/><Relationship Id="rId11" Type="http://schemas.openxmlformats.org/officeDocument/2006/relationships/slide" Target="slide45.xml"/><Relationship Id="rId12" Type="http://schemas.openxmlformats.org/officeDocument/2006/relationships/slide" Target="slide46.xml"/><Relationship Id="rId13" Type="http://schemas.openxmlformats.org/officeDocument/2006/relationships/slide" Target="slide47.xml"/><Relationship Id="rId14" Type="http://schemas.openxmlformats.org/officeDocument/2006/relationships/slide" Target="slide48.xml"/><Relationship Id="rId15" Type="http://schemas.openxmlformats.org/officeDocument/2006/relationships/slide" Target="slide49.xml"/><Relationship Id="rId16" Type="http://schemas.openxmlformats.org/officeDocument/2006/relationships/slide" Target="slide51.xml"/><Relationship Id="rId17" Type="http://schemas.openxmlformats.org/officeDocument/2006/relationships/slide" Target="slide2.xml"/><Relationship Id="rId1" Type="http://schemas.openxmlformats.org/officeDocument/2006/relationships/image" Target="../media/image-34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4.xml"/><Relationship Id="rId1" Type="http://schemas.openxmlformats.org/officeDocument/2006/relationships/image" Target="../media/image-35-1.png"/><Relationship Id="rId2" Type="http://schemas.openxmlformats.org/officeDocument/2006/relationships/image" Target="../media/image-35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1" Type="http://schemas.openxmlformats.org/officeDocument/2006/relationships/image" Target="../media/image-6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Software projects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AP12  Organising and managing a software project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AP13  Version management and tools for software projects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hlinkClick r:id="rId3" action="ppaction://hlinksldjump" tooltip="AP12  Organising and managing a software projec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AP12  Organising and managing a software project</a:t>
            </a:r>
            <a:endParaRPr lang="en-US" sz="13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AP13  Version management and tools for software projec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AP13  Version management and tools for software projects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main elements in the organisation of a software project: resources, constraints and risks; Explain the main features of project management for a software project, including the role of the project manager and SMART objectives; Describe the roles of members of a software project team; Construct and interpret Gantt charts and critical path analysis, identifying the critical path, earliest start times, latest finish times and float; Evaluate the use of project management tools: Gantt charts and critical path analysis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AP13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Describe the importance of version management during systems development; Describe how a version management system records changes and how versions are branched, merged and rolled back, including version management graphs; Describe the conditions needed for version management to work successfully; Describe the use of computer-aided software engineering (CASE) tools and collaboration tools; Describe code reviews, quality assurance and the use of standards in software projects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AP12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Organising and managing a software project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Classify the resources of a software project and explain the constraints and risks that affect it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managing a software project differs from other projects and describe the project manager’s role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Write SMART objectives for a software project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Draw a Gantt chart and carry out critical path analysis to find the critical path, project duration and float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how Gantt charts and critical path analysis help a project manager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at a software project must balanc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a software project must balance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Resources and how they are classifie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Resources and how they are classified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Managing resourc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Managing resources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Constraint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Constraints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Risks and how to manage them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Risks and how to manage them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A risk regist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risk register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Why software projects are harder to mana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software projects are harder to manage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The project manager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project manager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Team ro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Team roles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lear objectives: SM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Clear objectives: SMART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Worked example: a Gantt char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a Gantt chart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ritical path analysis: the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Critical path analysis: the method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Worked example: finding the critical pat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finding the critical path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Evaluating Gantt charts and CPA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Evaluating Gantt charts and CPA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Gantt chart for an eight-task project showing the critical path A, B, D, F, H of 16 days and the float on tasks C, E and 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Gantt chart for an eight-task project showing the critical path A, B, D, F, H of 16 days and the float on tasks C, E and G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a software project must balance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Whatever the methodology (waterfall, RAD or Agile), the central task is the same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Meet the project objectives…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…by deploying resources (people, technology, money, premises)…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…within constraints (scope, time, resource limits)…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…while managing risks that could delay or wreck the project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Resources and how they are classified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28317"/>
                <a:gridCol w="3520684"/>
                <a:gridCol w="308059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 / property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Human, technical, financial, physical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four kinds of resource a project can draw 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Programmers; server processing power; the budget; office space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Availability: recurring v. depleting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Recurring resources do not run down as they are used; depleting ones are used 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Recurring: staff on the project. Depleting: time and money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Location: fixed v. movable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Whether the resource can easily be moved to where it is needed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Fixed: a data centre. Movable: a developer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Elasticity: elastic v. inelastic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Whether the amount can be increased or decreased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Elastic: budget, staff numbers. Inelastic: time before a hard deadline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Ownership: dedicated v. shared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Whether the resource works only on this project or on several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Dedicated: lead programmer. Shared: graphic designer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9" grpId="0">
        <p:bldAsOne/>
      </p:bldGraphic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Managing resources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Planning (before work starts): estimate how much of each resource is needed, request it and schedule when it is needed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Deployment (during the project): allocate resources to tasks, monitor each stage and reallocate if a stage falls behind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Release (after each stage): compare resources actually used with the plan and record differences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Recording over- and under-use means estimates for future projects improve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Goal: the right resource in the right place at the right time, so the project stays on schedule and within budget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Constraints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Constraints are restrictions placed on the project that the developer cannot change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Scope: features the client has fixed, e.g. 500 simultaneous users, 2-second response, must work on all major browsers and mobiles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Time: a fixed delivery deadline; the agreed scope must be achievable within it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Resources: limits on budget, staff and equipment – even ‘elastic’ resources have a ceiling in practice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Constraints must be explicit: ‘deliver by 30 June, maximum budget £80,000’, not ‘as soon and as cheaply as possible’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Risks and how to manage them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38089"/>
                <a:gridCol w="4349322"/>
                <a:gridCol w="29421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the project manager reduces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Time (missed deadline)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Client may lose business; developer may pay for overruns on a fixed-price contract; reputations suffer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Realistic schedule, regular monitoring, contingency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Requirements shift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Unclear or changing requirements lead to rework, delay and extra cost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Involve users fully in analysis; agreed specification; change control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Staff turnover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leaving developer takes vital knowledge with them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Collaboration, documentation, code reviews, pair programming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Productivity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Teams start slowly on long tasks, assuming they can catch up later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Split long tasks into smaller sections with their own deadlines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Risks and how to manage them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938089"/>
                <a:gridCol w="4349322"/>
                <a:gridCol w="294218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the project manager reduces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Technology / suppliers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New technology may fail; hardware or services arrive late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Prototype risky ideas early; order early; have a fallback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A risk register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089052"/>
                <a:gridCol w="1012874"/>
                <a:gridCol w="759655"/>
                <a:gridCol w="379828"/>
                <a:gridCol w="398819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Likelihood (1–5)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Impact (1–5)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Score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Mitigation and owner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Client keeps adding features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Change-control procedure; agreed scope – project manager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Lead programmer leaves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Pair programming, documented code – team leader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Cloud hosting contract delayed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Sign contract early; test on local server – technical lead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Team underestimates database work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Split into weekly milestones; review progress – project manager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4" grpId="0">
        <p:bldAsOne/>
      </p:bldGraphic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Why software projects are harder to manage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Software is intangible: you can see a half-built house, but not half-built software, so progress is hard to judge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Software is usually bespoke: one-off systems mean past experience and solutions transfer less well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Technology changes rapidly: new tools may appear mid-project, offering benefits but forcing changes to the plan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Software project management became a distinct role in the 1970s, after a series of high-profile project failures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project manager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Controls all aspects of analysis, development and deployment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Produces a realistic plan: what will be built, acceptance criteria and how the system will be maintained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Schedules tasks, allocates (delegates) staff and resources, and monitors progress against milestones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Communicates with the client and stakeholders, reports progress and controls changes to scope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Identifies and manages risks, and is accountable for delivery on time, within budget and to quality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Team roles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461189"/>
                <a:gridCol w="57684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Role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Main responsibilities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Systems analyst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Investigates the current system, gathers and documents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Designer / architect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Designs interfaces, data structures and the overall system structure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Programmer / developer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Writes, documents and unit-tests the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Tester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Plans and carries out testing, records and reports defects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Technical author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Writes user and technical documentation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Client / end-user representative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Provides requirements, reviews deliverables, carries out acceptance 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7" grpId="0">
        <p:bldAsOne/>
      </p:bldGraphic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Clear objectives: SMART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Each objective needs: a clear statement, performance indicators (metrics) and the value of each that counts as success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Specific – clearly defined, with no room for misinterpretation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Measurable – a quantifiable metric such as time, cost, size or error rate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Agreed – signed off by client and developer before development starts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Realistic – achievable with the resources available; Timed – has a target date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e.g. ‘Online booking for an Omagh dental practice, handling 200 bookings a day, live by 1 March, cutting missed appointments by 25% in six months’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a Gantt chart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633849"/>
                <a:gridCol w="1496291"/>
                <a:gridCol w="641268"/>
                <a:gridCol w="24581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Depends 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Days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Scheduled (earliest)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Analyse requirements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 1–3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 Design 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 4–7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 Design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 4–5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 Code database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 8–12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 Code interface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 6–11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 Integration testing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D, 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Days 13–15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 User guide / H Install and train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G: C / H: F, 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 /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G: days 6–7 / H: day 16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9" grpId="0">
        <p:bldAsOne/>
      </p:bldGraphic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Critical path analysis: the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Draw the network: nodes (circles) are events such as the start or end of tasks; arrows are tasks labelled with durations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Forward pass (left to right): EST of each node = earliest the next tasks can start; where arrows meet, take the highest value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Backward pass (right to left): LFT of the final node = project duration; subtract durations, and where paths meet take the lowest value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Critical nodes have EST = LFT; the tasks joining them form the critical path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Float of a task = latest finish − earliest start − duration; critical tasks have zero float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finding the critical path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Paths: A-B-D-F-H = 3+4+5+3+1 = 16; A-C-E-F-H = 3+2+6+3+1 = 15; A-C-G-H = 3+2+2+1 = 8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F waits for D (ends day 12) and E (ends day 11): EST of F = max(12, 11) = 12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 must finish by min(12 − 6, 15 − 2) = 6 but can finish at 5, so C and E each have 1 day of float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Critical path A, B, D, F, H; minimum duration 16 days. G has 8 days’ float (finish by 15, earliest finish 7)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300" b="1" dirty="0">
                <a:solidFill>
                  <a:srgbClr val="11503E"/>
                </a:solidFill>
              </a:rPr>
              <a:t>Worked example: finding the critical path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task = { "A", "B", "C", "D", "E", "F", "G", "H"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dur = { 3, 4, 2, 5, 6, 3, 2, 1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int[][] pre = { new int[0], new[] { 0 }, new[] { 0 }, new[] { 1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new[] { 2 }, new[] { 3, 4 }, new[] { 2 }, new[] { 5, 6 } };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est = new int[8];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0; i &lt; 8; i++)          // forward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foreach (int p in pre[i])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est[i] = Math.Max(est[i], est[p] + dur[p]);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end = est[7] + dur[7];            // 16 days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466344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int[] lft = new int[8];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(int i = 7; i &gt;= 0; i--)          // backward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lft[i] = end;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(int j = i + 1; j &lt; 8; j++)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(Array.IndexOf(pre[j], i) &gt;= 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lft[i] = Math.Min(lft[i], lft[j] - dur[j]);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Console.WriteLine($"{task[i]}: EST {est[i]}, float {lft[i] - dur[i] - est[i]}");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Evaluating Gantt charts and CPA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804672"/>
                <a:gridCol w="4389120"/>
                <a:gridCol w="303580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Benefits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Limitations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Gantt chart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Easy to read; shows each task’s start, end, duration, overlaps and milestones; good for reporting progress to the client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Dependencies and the critical path are not always clear, especially on large charts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Critical path analysis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Identifies critical tasks and float; shows bottlenecks; shows the effect of a delay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Harder to draw and read; only as good as the duration estimates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Show which tasks can run in parallel, minimising project duration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Must be updated as the project changes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Help schedule resources to arrive at a task’s EST and be released at its LFT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 not by themselves manage quality or risk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3" grpId="0">
        <p:bldAsOne/>
      </p:bldGraphic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critical path in a project?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shortest chain of tasks</a:t>
            </a:r>
            <a:endParaRPr lang="en-US" sz="125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longest chain of dependent tasks, which sets the minimum project duration</a:t>
            </a:r>
            <a:endParaRPr lang="en-US" sz="125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tasks with the most float</a:t>
            </a:r>
            <a:endParaRPr lang="en-US" sz="125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The tasks that use the most staff</a:t>
            </a:r>
            <a:endParaRPr lang="en-US" sz="125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The longest chain of dependent tasks, which sets the minimum project duration  –  Because these tasks follow one another, the project cannot finish sooner than their total duration.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a depleting resource for a software project?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dedicated programmer</a:t>
            </a:r>
            <a:endParaRPr lang="en-US" sz="160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fixed server room</a:t>
            </a:r>
            <a:endParaRPr lang="en-US" sz="160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project budget</a:t>
            </a:r>
            <a:endParaRPr lang="en-US" sz="160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shared graphic designer</a:t>
            </a:r>
            <a:endParaRPr lang="en-US" sz="160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The project budget  –  Money is used up as the project proceeds; staff on the project are recurring resources.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SMART objectives, what does the ‘M’ stand for?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Manageable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Monitored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Minimal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Measurable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Measurable  –  Each objective needs a quantifiable metric, such as time, cost or error rate.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developer leaving mid-project and taking vital knowledge with them is which risk?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Staff turnover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Requirements shift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Productivity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Scope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Staff turnover  –  Collaboration and documentation reduce the impact of staff turnover.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In the backward pass of CPA, where two paths meet at a node, which latest finish time is used?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highest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average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lowest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first one calculated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The lowest  –  The lowest value is taken so that no following task is delayed.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Task D has latest finish 12, earliest start 7 and duration 5. Its float is…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 days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 days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7 days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12 days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0 days  –  Float = 12 − 7 − 5 = 0, so D is critical.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limitation of a Gantt chart?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cannot show task durations</a:t>
            </a:r>
            <a:endParaRPr lang="en-US" sz="125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cannot show overlapping tasks</a:t>
            </a:r>
            <a:endParaRPr lang="en-US" sz="125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It cannot be shown to a client</a:t>
            </a:r>
            <a:endParaRPr lang="en-US" sz="125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Dependencies and the critical path may be unclear on large projects</a:t>
            </a:r>
            <a:endParaRPr lang="en-US" sz="125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2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Dependencies and the critical path may be unclear on large projects  –  CPA is used to identify the critical path clearly.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is software project management different from managing a building project?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Software has no deadlines</a:t>
            </a:r>
            <a:endParaRPr lang="en-US" sz="14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Software is intangible, so progress is hard to see</a:t>
            </a:r>
            <a:endParaRPr lang="en-US" sz="14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Software projects never use teams</a:t>
            </a:r>
            <a:endParaRPr lang="en-US" sz="14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Software projects have no budget</a:t>
            </a:r>
            <a:endParaRPr lang="en-US" sz="14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Software is intangible, so progress is hard to see  –  Other differences: software is often bespoke and technology changes rapidly.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scope constraint?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system must support 500 simultaneous users</a:t>
            </a:r>
            <a:endParaRPr lang="en-US" sz="140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lead programmer may leave</a:t>
            </a:r>
            <a:endParaRPr lang="en-US" sz="140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budget is £80,000</a:t>
            </a:r>
            <a:endParaRPr lang="en-US" sz="140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Coding starts after design</a:t>
            </a:r>
            <a:endParaRPr lang="en-US" sz="140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The system must support 500 simultaneous users  –  Scope constraints are characteristics of the final product fixed by the client.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The longest chain of dependent tasks, which sets the minimum project duration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Because these tasks follow one another, the project cannot finish sooner than their total duration.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project budget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Money is used up as the project proceeds; staff on the project are recurring resources.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Measurable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Each objective needs a quantifiable metric, such as time, cost or error rate.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Staff turnover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Collaboration and documentation reduce the impact of staff turnover.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lowest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lowest value is taken so that no following task is delayed.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0 days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Float = 12 − 7 − 5 = 0, so D is critical.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Dependencies and the critical path may be unclear on large projects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CPA is used to identify the critical path clearly.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Software is intangible, so progress is hard to see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Other differences: software is often bespoke and technology changes rapidly.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The system must support 500 simultaneous users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Scope constraints are characteristics of the final product fixed by the client.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3" grpId="0">
        <p:bldAsOne/>
      </p:bldGraphic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1: APPROACHES TO SYSTEMS DEVELOPMENT  ·  AP13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Version management and tools for software projects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why version management is essential when a team works on shared code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Draw and interpret a version management graph showing parallel versions, merges and rollbacks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what a version management system records and the conditions for it to work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upper and lower CASE tools and collaboration tools and their benefits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Explain how code reviews, quality assurance and standards improve software quality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95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Why version management matter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Why version management matters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What is recorded for each chan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is recorded for each change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Key operation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Key operations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Version management graph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Version management graphs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Worked example: Ciara and Tomás (part 1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Ciara and Tomás (part 1)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Worked example: rollback (part 2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rollback (part 2)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The same ideas in Gi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same ideas in Git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Making version management work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Making version management work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Benefits of version management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Benefits of version management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ASE to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CASE tools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Collaboration too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Collaboration tools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Code review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Code reviews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Quality assurance and standar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Quality assurance and standards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Version control: commits on the main branch, a feature branch that is merged back, and the CASE tools and quality techniques used in software projec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Version control: commits on the main branch, a feature branch that is merged back, and the CASE tools and quality techniques used in software projects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Why version management matters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Version management keeps track of every change made to a project’s code files over time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Allows the team to return to a previous working version if an error is discovered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Essential when many programmers share the same files: unrestricted editing by anyone would quickly cause chaos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All code is kept in a repository where access is controlled and every change is tracked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Also called version control or source control; Git is the most widely used system today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is recorded for each change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author: who made the change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date and time of the change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note (commit message) describing the change and any knock-on effects others must act 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new version number, so every revision can be identified and retrieved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Together these form a full audit trail of how the system was developed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Key operations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271847"/>
                <a:gridCol w="6957753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Repository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Central store of all files and their complete history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Commit (check in)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Save a new version to the repository with a message describing the change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Branch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separate line of development, e.g. for a new feature, that does not affect the main version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Merge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Combine two lines of development into a single version containing both sets of changes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Conflict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Two people changed the same lines; the software flags it and a developer resolves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Rollback (revert)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Return to an earlier version and continue developing from there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9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Version management graphs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project’s history can be drawn as a graph: each node is a version of a file, each arrow shows which version it came from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straight chain v1 → v2 → v3 means one change after another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Two arrows leaving one node: two developers worked on the same version in parallel (branching)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Two arrows entering one node: two versions were merged into one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An arrow from an old node to a new one, skipping later versions: the team rolled back and continued from the earlier version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Ciara and Tomás (part 1)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89140"/>
                <a:gridCol w="1352811"/>
                <a:gridCol w="6087649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Created from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happened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–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Original code for a Dungannon bakery’s ordering system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Ciara adds a delivery-slot feature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Ciara rewrites the price calculation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At the same time, Tomás adds allergen labels to v2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v5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v3 + v4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software merges the two parallel versions into 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1" grpId="0">
        <p:bldAsOne/>
      </p:bldGraphic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rollback (part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Testing shows Ciara’s price rewrite (v3) introduced a serious error, so v5 is also faulty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team decides v4 is the last stable version and rolls back to 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Tomás develops on from v4 to create v6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v6 contains the work of v1, v2 and v4, but none of the faulty changes from v3; v3 and v5 are discarded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Graph: v1 → v2; v2 → v3 and v2 → v4; v3 + v4 → v5; v4 → v6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same ideas in Git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commit records author, date and message; branches let features be developed in parallel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Merge combines branches; revert creates a new commit that undoes a faulty one, keeping history intact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same ideas in Git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PSEUDOCODE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-b allergen-labels     # new branch from current version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Labels.cs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 allergen labels to order screen"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checkout main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merge allergen-labels            # combine the branch into main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log                              # show history: author, date, message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revert a1b2c3d                   # undo the faulty commit a1b2c3d</a:t>
            </a:r>
            <a:endParaRPr lang="en-US" sz="13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Making version management work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Condition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 it matters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consistent method of tracking changes and recording all version numbers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Every version can be identified, compared and retrieved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It must be possible to reverse changes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Faulty work can be undone by returning to a stable version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All developers work from the same (latest) version of each file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Prevents people building on out-of-date code and losing each other’s work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Developers commit regularly with clear messages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History is useful and conflicts stay small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Commitment from the whole team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One person bypassing the system undermines it for everyone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Benefits of version management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4937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Problem without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How version management helps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Changes overwrite each other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Merging and conflict detection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 change breaks the program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Roll back to the last working version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Nobody knows who changed what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Full history with author, date and message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Experiments risk the live code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Branches keep work separate until it is ready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Work is lost if a laptop fails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remote repository acts as a backup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6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CASE tools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Computer-aided software engineering tools are software that support or automate parts of development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Upper CASE: analysis and design – drawing DFDs and ERDs, data dictionaries, project planning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Lower CASE: implementation and testing – IDEs, code generators, debuggers, automated testing tools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Integrated CASE combines both, keeping diagrams, data dictionary and code consistent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Benefits: standard notation, consistency, automatic documentation, faster development; drawbacks: cost and training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Collaboration tools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Shared repositories with issue trackers to log bugs and tasks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Communication: messaging channels, video meetings, shared documents and wikis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Kanban or Scrum boards show who is working on what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Continuous integration servers automatically build and test the code after each commit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Support remote and distributed teams, but need clear rules on how they are used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Code reviews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Other developers examine code before it is merged, often through a pull request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They check for errors, security weaknesses, readability and adherence to coding standards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Defects are found early, when they are cheaper to fix than after release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Knowledge is spread across the team, reducing the risk from staff turnover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Can be formal (an inspection meeting) or informal (peer review, pair programming)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Quality assurance and standards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Quality assurance (QA): planned activities that build quality in at every stage, not just testing at the end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Includes reviews, walkthroughs, inspections, testing and audits of documentation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Coding standards: naming conventions, indentation, comments, error handling – consistent, maintainable code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Process and product standards, e.g. ISO 9001 quality management, ISO/IEC 25010 software quality model, WCAG accessibility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Quality assurance and standards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Coding standard example: meaningful names, a constant, a comment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Returns the price including VAT, rounded to 2 decimal places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 decimal AddVat(decimal netPrice)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const decimal VatRate = 0.20m;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Math.Round(netPrice * (1 + VatRate), 2);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Console.WriteLine(AddVat(12.50m));   // 15.00</a:t>
            </a:r>
            <a:endParaRPr lang="en-US" sz="15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purpose of version management?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To compress code files so they take less storage</a:t>
            </a:r>
            <a:endParaRPr lang="en-US" sz="125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To track every change to code files so the team can collaborate and return to earlier versions</a:t>
            </a:r>
            <a:endParaRPr lang="en-US" sz="125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To design the user interface</a:t>
            </a:r>
            <a:endParaRPr lang="en-US" sz="125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To schedule tasks on a Gantt chart</a:t>
            </a:r>
            <a:endParaRPr lang="en-US" sz="125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To track every change to code files so the team can collaborate and return to earlier versions  –  It records each change with author, date and note, supports parallel work and allows rollback.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Two developers both start work from v2 at the same time. On a version management graph this appears as…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two arrows entering v2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straight chain from v2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v2 being deleted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two arrows leaving v2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two arrows leaving v2  –  Parallel versions branch from the same parent node.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of these is NOT normally recorded when a change is committed?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Who made the change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When it was made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The developer’s salary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note describing the change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The developer’s salary  –  Author, time and a descriptive message are recorded for every change.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Combining two parallel versions into a single version is called…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merging</a:t>
            </a:r>
            <a:endParaRPr lang="en-US" sz="16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branching</a:t>
            </a:r>
            <a:endParaRPr lang="en-US" sz="16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committing</a:t>
            </a:r>
            <a:endParaRPr lang="en-US" sz="16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refactoring</a:t>
            </a:r>
            <a:endParaRPr lang="en-US" sz="16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merging  –  A merge brings both sets of changes into one new version.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v3 contains a serious error, so the team returns to v4 and creates v6 from it. Which statement is true?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v6 includes the work from v3</a:t>
            </a:r>
            <a:endParaRPr lang="en-US" sz="14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v6 includes v4’s work but not v3’s faulty changes</a:t>
            </a:r>
            <a:endParaRPr lang="en-US" sz="14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v6 must be created from v5</a:t>
            </a:r>
            <a:endParaRPr lang="en-US" sz="14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v4 is deleted</a:t>
            </a:r>
            <a:endParaRPr lang="en-US" sz="14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v6 includes v4’s work but not v3’s faulty changes  –  Rolling back to v4 means v6 builds on v4 and leaves out the problematic changes.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lower CASE tool?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DFD drawing tool</a:t>
            </a:r>
            <a:endParaRPr lang="en-US" sz="16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data dictionary</a:t>
            </a:r>
            <a:endParaRPr lang="en-US" sz="16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project planning tool</a:t>
            </a:r>
            <a:endParaRPr lang="en-US" sz="16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debugger</a:t>
            </a:r>
            <a:endParaRPr lang="en-US" sz="16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6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A debugger  –  Lower CASE tools support implementation and testing.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condition is needed for version management to work successfully?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All developers work from the same version of each file</a:t>
            </a:r>
            <a:endParaRPr lang="en-US" sz="14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Only one developer may use the system</a:t>
            </a:r>
            <a:endParaRPr lang="en-US" sz="14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Changes can never be reversed</a:t>
            </a:r>
            <a:endParaRPr lang="en-US" sz="14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Version numbers are optional</a:t>
            </a:r>
            <a:endParaRPr lang="en-US" sz="14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All developers work from the same version of each file  –  Working from different versions causes clashes and lost work.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is the main benefit of a code review?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removes the need for testing</a:t>
            </a:r>
            <a:endParaRPr lang="en-US" sz="14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replaces version management</a:t>
            </a:r>
            <a:endParaRPr lang="en-US" sz="14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Defects are found early, before code is accepted</a:t>
            </a:r>
            <a:endParaRPr lang="en-US" sz="14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speeds up compilation</a:t>
            </a:r>
            <a:endParaRPr lang="en-US" sz="14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Defects are found early, before code is accepted  –  Reviewers find errors, security weaknesses and standards breaches early, when they are cheap to fix.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Quality assurance is best described as…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testing only at the end of the project</a:t>
            </a:r>
            <a:endParaRPr lang="en-US" sz="14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planned activities that build quality into every stage</a:t>
            </a:r>
            <a:endParaRPr lang="en-US" sz="14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type of version control</a:t>
            </a:r>
            <a:endParaRPr lang="en-US" sz="14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a programming language standard</a:t>
            </a:r>
            <a:endParaRPr lang="en-US" sz="14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planned activities that build quality into every stage  –  QA includes reviews, inspections, testing and audits throughout the project.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To track every change to code files so the team can collaborate and return to earlier versions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records each change with author, date and note, supports parallel work and allows rollback.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two arrows leaving v2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Parallel versions branch from the same parent node.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The developer’s salary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Author, time and a descriptive message are recorded for every change.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merging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merge brings both sets of changes into one new version.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v6 includes v4’s work but not v3’s faulty changes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Rolling back to v4 means v6 builds on v4 and leaves out the problematic changes.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A debugger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Lower CASE tools support implementation and testing.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All developers work from the same version of each file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Working from different versions causes clashes and lost work.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Defects are found early, before code is accepted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Reviewers find errors, security weaknesses and standards breaches early, when they are cheap to fix.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planned activities that build quality into every stage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QA includes reviews, inspections, testing and audits throughout the project.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1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Software projects</dc:title>
  <dc:subject>AS 1: Approaches to Systems Development – Software projects</dc:subject>
  <dc:creator>Digital Technology Hub</dc:creator>
  <cp:lastModifiedBy>Digital Technology Hub</cp:lastModifiedBy>
  <cp:revision>1</cp:revision>
  <dcterms:created xsi:type="dcterms:W3CDTF">2026-10-30T13:15:56Z</dcterms:created>
  <dcterms:modified xsi:type="dcterms:W3CDTF">2026-10-30T13:15:56Z</dcterms:modified>
</cp:coreProperties>
</file>