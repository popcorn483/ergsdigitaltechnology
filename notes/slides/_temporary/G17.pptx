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66faa473-95e6-b92c-e96e-491145b98e3d}">
          <p14:sldIdLst>
            <p14:sldId id="256"/>
            <p14:sldId id="257"/>
            <p14:sldId id="258"/>
          </p14:sldIdLst>
        </p14:section>
        <p14:section name="FD18 · HTML and CSS" id="{d140fd13-8114-2cb4-2313-788f9805677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FD19 · Website design, client-side and server-side processing, testing and publi" id="{efcb3055-13e6-d90a-85e6-3018dcb17b1a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how web pages are created using Hypertext Markup Language (HTML), including the html, head and body structure | Describe the purpose of common HTML tags: paragraph, headings, line break, image, anchor (hyperlink), ordered list and unordered list | Describe the purpose of tag attributes, empty and container tags, character entities and simple tables and forms | Explain how Cascading Style Sheets (CSS) are used to control the presentation of web pages, using selectors, properties and values | Compare inline, internal (global) and external style sheets and explain how inheritance and precedence resolve style conflicts | Explain the benefits of separating content (HTML) from presentation (CSS)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how a website is planned, including purpose, target audience, site maps and storyboards | Describe linear, hierarchical and non-linear navigation structures and principles of usability | Explain how websites can be made accessible, with reference to the Web Content Accessibility Guidelines (WCAG) | Distinguish between static web pages and web applications, and between client-side and server-side processing | Explain why form input should be validated both on the client and on the server | Describe how a website is tested, published and maintained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0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8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" Target="slide23.xml"/><Relationship Id="rId14" Type="http://schemas.openxmlformats.org/officeDocument/2006/relationships/slide" Target="slide25.xml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0.xml"/><Relationship Id="rId18" Type="http://schemas.openxmlformats.org/officeDocument/2006/relationships/slide" Target="slide2.xml"/><Relationship Id="rId1" Type="http://schemas.openxmlformats.org/officeDocument/2006/relationships/image" Target="../media/image-5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3" Type="http://schemas.openxmlformats.org/officeDocument/2006/relationships/slide" Target="slide43.xml"/><Relationship Id="rId4" Type="http://schemas.openxmlformats.org/officeDocument/2006/relationships/slide" Target="slide44.xml"/><Relationship Id="rId5" Type="http://schemas.openxmlformats.org/officeDocument/2006/relationships/slide" Target="slide45.xml"/><Relationship Id="rId6" Type="http://schemas.openxmlformats.org/officeDocument/2006/relationships/slide" Target="slide46.xml"/><Relationship Id="rId7" Type="http://schemas.openxmlformats.org/officeDocument/2006/relationships/slide" Target="slide47.xml"/><Relationship Id="rId8" Type="http://schemas.openxmlformats.org/officeDocument/2006/relationships/slide" Target="slide48.xml"/><Relationship Id="rId9" Type="http://schemas.openxmlformats.org/officeDocument/2006/relationships/slide" Target="slide50.xml"/><Relationship Id="rId10" Type="http://schemas.openxmlformats.org/officeDocument/2006/relationships/slide" Target="slide51.xml"/><Relationship Id="rId11" Type="http://schemas.openxmlformats.org/officeDocument/2006/relationships/slide" Target="slide52.xml"/><Relationship Id="rId12" Type="http://schemas.openxmlformats.org/officeDocument/2006/relationships/slide" Target="slide54.xml"/><Relationship Id="rId13" Type="http://schemas.openxmlformats.org/officeDocument/2006/relationships/slide" Target="slide55.xml"/><Relationship Id="rId14" Type="http://schemas.openxmlformats.org/officeDocument/2006/relationships/slide" Target="slide57.xml"/><Relationship Id="rId15" Type="http://schemas.openxmlformats.org/officeDocument/2006/relationships/slide" Target="slide59.xml"/><Relationship Id="rId16" Type="http://schemas.openxmlformats.org/officeDocument/2006/relationships/slide" Target="slide61.xml"/><Relationship Id="rId17" Type="http://schemas.openxmlformats.org/officeDocument/2006/relationships/slide" Target="slide62.xml"/><Relationship Id="rId18" Type="http://schemas.openxmlformats.org/officeDocument/2006/relationships/slide" Target="slide2.xml"/><Relationship Id="rId1" Type="http://schemas.openxmlformats.org/officeDocument/2006/relationships/image" Target="../media/image-41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Website development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FD18  HTML and CSS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FD19  Website design, client-side and server-side processing, testing and publishing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3" action="ppaction://hlinksldjump" tooltip="FD18  HTML and C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FD18  HTML and CSS</a:t>
            </a:r>
            <a:endParaRPr lang="en-US" sz="15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FD19  Website design, client-side and server-side processing, testing and publish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FD19  Website design, client-side and server-side processing, testing and publishing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how web pages are created using Hypertext Markup Language (HTML), including the html, head and body structure; Describe the purpose of common HTML tags: paragraph, headings, line break, image, anchor (hyperlink), ordered list and unordered list; Describe the purpose of tag attributes, empty and container tags, character entities and simple tables and forms; Explain how Cascading Style Sheets (CSS) are used to control the presentation of web pages, using selectors, properties and values; Compare inline, internal (global) and external style sheets and explain how inheritance and precedence resolve style conflicts; Explain the benefits of separating content (HTML) from presentation (CSS)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how a website is planned, including purpose, target audience, site maps and storyboards; Describe linear, hierarchical and non-linear navigation structures and principles of usability; Explain how websites can be made accessible, with reference to the Web Content Accessibility Guidelines (WCAG); Distinguish between static web pages and web applications, and between client-side and server-side processing; Explain why form input should be validated both on the client and on the server; Describe how a website is tested, published and maintained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HTML and CSS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Read, write and correct HTML for a page with headings, paragraphs, lists, hyperlinks, images and a simple table or form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difference between empty and container tags and use attributes such as href, src, alt and type correctly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CSS rules using element, class and id selectors and specify colours by name, rgb() and hexadecimal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Work out how text will be displayed when inline, internal and inherited styles conflict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an external style sheet makes a multi-page website easier to maintain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HTML: the structure of a web p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HTML: the structure of a web page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Tags, elements and attribut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Tags, elements and attributes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Text: headings, paragraphs, line breaks and special charac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Text: headings, paragraphs, line breaks and special characters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Ordered and unordered li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Ordered and unordered lists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Hyperlinks and ima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Hyperlinks and images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Tables (beyond the specification, but common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Tables (beyond the specification, but common)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Fo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CSS rules and select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CSS rules and selectors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Three places to put C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 places to put CSS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Specifying colou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Specifying colours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The cascade: inheritance and precede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cascade: inheritance and precedence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orked example: a fixtures page (HTML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fixtures page (HTML)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Worked example: the shared style sheet (club.cs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the shared style sheet (club.css)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Why separate content (HTML) from presentation (CSS)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separate content (HTML) from presentation (CSS)?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HTML provides structure and content, an external CSS style sheet provides presentation, and the browser combines them into the rendered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HTML provides structure and content, an external CSS style sheet provides presentation, and the browser combines them into the rendered page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HTML: the structure of a web page (1)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HTML (Hypertext Markup Language) marks up the content of a page with tags so the browser knows what each part is: heading, paragraph, list, image, link.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document starts with &lt;!DOCTYPE html&gt;; everything else sits inside &lt;html&gt; … &lt;/html&gt;.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&lt;head&gt; holds information about the page: the &lt;title&gt; shown on the browser tab, the character set and links to style sheets.</a:t>
            </a:r>
            <a:endParaRPr lang="en-US" sz="15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lang="en-GB"&gt;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&lt;title&gt;Erne Rowing Club&lt;/title&gt;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href="club.css"&gt;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&lt;h1&gt;Erne Rowing Club&lt;/h1&gt;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&lt;p&gt;Training every Saturday at 9am.&lt;/p&gt;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HTML: the structure of a web page (2)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&lt;body&gt; holds the content the browser actually displays.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website is a collection of linked pages, each one an HTML file fetched and rendered by a browser.</a:t>
            </a:r>
            <a:endParaRPr lang="en-US" sz="15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lang="en-GB"&gt;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&lt;title&gt;Erne Rowing Club&lt;/title&gt;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href="club.css"&gt;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&lt;h1&gt;Erne Rowing Club&lt;/h1&gt;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&lt;p&gt;Training every Saturday at 9am.&lt;/p&gt;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Tags, elements and attributes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tag is a keyword inside angle brackets. A closing tag repeats the keyword after a forward slash: &lt;p&gt; … &lt;/p&gt;.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Container tags come in pairs and wrap content (&lt;p&gt;, &lt;h1&gt;, &lt;a&gt;, &lt;ul&gt;). Empty tags stand alone with no closing tag (&lt;br&gt;, &lt;img&gt;, &lt;link&gt;, &lt;meta&gt;).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Attributes go inside the opening tag as name="value" and refine the element, e.g. &lt;a href="join.html"&gt;, &lt;img src="boat.jpg" alt="…"&gt;.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Tag names are not case sensitive, but lower case is the convention; be consistent.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browser collapses runs of spaces, tabs and new lines into one space, so layout must come from tags and CSS, not from spacing in the source.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Elements must be nested correctly: close the inner element before the outer one.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03E"/>
                </a:solidFill>
              </a:rPr>
              <a:t>Text: headings, paragraphs, line breaks and special characters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&lt;h1&gt; to &lt;h6&gt; give six levels of heading, from most important (largest) to least important.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&lt;p&gt; … &lt;/p&gt; contains a paragraph; browsers leave a gap between paragraphs by default.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&lt;br&gt; forces a new line inside a paragraph without starting a new paragraph.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Character entities display symbols that are hard to type or have a special meaning in HTML: &amp;lt; for &lt;, &amp;amp; for &amp;, &amp;copy; for ©, &amp;eacute; for é.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numeric entity uses the character's code: &amp;#38; (decimal 38) also gives &amp;.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03E"/>
                </a:solidFill>
              </a:rPr>
              <a:t>Text: headings, paragraphs, line breaks and special characters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&lt;h1&gt;Erne Rowing Club&lt;/h1&gt;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&lt;h2&gt;Junior section&lt;/h2&gt;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&lt;p&gt;Juniors train on Tuesday evenings.&lt;br&gt;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Bring warm kit and a water bottle.&lt;/p&gt;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&lt;p&gt;Sessions cost &amp;pound;5 &amp;amp; your first one is free.&lt;/p&gt;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&lt;p&gt;Ages 11&amp;ndash;18. Website tip: type &amp;lt;br&amp;gt; for a line break.&lt;/p&gt;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&lt;p&gt;&amp;copy; 2026 Erne Rowing Club&lt;/p&gt;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Ordered and unordered lists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&lt;ul&gt; creates an unordered list: each item has a bullet.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&lt;ol&gt; creates an ordered list: each item is numbered.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Each item, in either list, goes inside &lt;li&gt; … &lt;/li&gt;.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type attribute of &lt;ol&gt; changes the numbering: type="A" gives A, B, C; type="a" gives a, b, c; type="I" gives I, II, III.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To switch a bulleted list to a numbered one, change only the outer &lt;ul&gt; … &lt;/ul&gt; to &lt;ol&gt; … &lt;/ol&gt;.</a:t>
            </a:r>
            <a:endParaRPr lang="en-US" sz="15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&lt;h2&gt;Kit to bring&lt;/h2&gt;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&lt;li&gt;Waterproof jacket&lt;/li&gt;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&lt;li&gt;Trainers&lt;/li&gt;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&lt;h2&gt;Before launching&lt;/h2&gt;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 type="A"&gt;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&lt;li&gt;Put on a buoyancy aid&lt;/li&gt;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&lt;li&gt;Check the boat for damage&lt;/li&gt;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&lt;li&gt;Wait for the coach's signal&lt;/li&gt;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3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Hyperlinks and images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anchor tag &lt;a href="URL"&gt;clickable text&lt;/a&gt; creates a hyperlink; href holds the destination.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relative URL (fixtures.html) points to a file on the same site; an absolute URL (https://…) points anywhere on the web.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href="mailto:address" opens the user's email program with a new message to that address.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&lt;img src="file" alt="description"&gt; places an image. If the file is in another folder, give the path, e.g. images/boat.jpg.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alt text is shown if the image cannot load and is read aloud by screen readers.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Putting an &lt;img&gt; inside &lt;a&gt; … &lt;/a&gt; makes the image itself a clickable link.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Hyperlinks and images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href="fixtures.html"&gt;Fixtures&lt;/a&gt;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href="https://www.nidirect.gov.uk"&gt;nidirect&lt;/a&gt;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href="mailto:secretary@erne-rowing.example"&gt;Email us&lt;/a&gt;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src="images/boat.jpg" alt="Four rowers on Lough Erne at sunrise"&gt;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href="index.html"&gt;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src="crest.png" alt="Erne Rowing Club home page"&gt;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Tables (beyond the specification, but common)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&lt;table&gt; contains the table; an optional &lt;caption&gt; gives it a title above the grid.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&lt;thead&gt; holds the heading row and &lt;tbody&gt; the data rows.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&lt;tr&gt; is a table row; inside it, &lt;th&gt; is a header cell and &lt;td&gt; a data cell.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tables for tabular data such as results or timetables, not for laying out whole pages.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&lt;caption&gt;Regatta results&lt;/caption&gt;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&lt;tr&gt;&lt;th&gt;Crew&lt;/th&gt;&lt;th&gt;Time&lt;/th&gt;&lt;/tr&gt;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&lt;tr&gt;&lt;td&gt;Junior four&lt;/td&gt;&lt;td&gt;7:42&lt;/td&gt;&lt;/tr&gt;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&lt;tr&gt;&lt;td&gt;Senior pair&lt;/td&gt;&lt;td&gt;8:05&lt;/td&gt;&lt;/tr&gt;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Forms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&lt;form&gt; collects user input and sends it to the server-side script named in its action attribute.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method="post" sends the data in the body of the request rather than in the URL; use it for personal data.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 types include text, email, number, password, checkbox, radio and submit.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Attributes such as required, min, max, maxlength and pattern give built-in browser validation.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input should have a &lt;label&gt; linked by for/id so screen readers can describe it.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Forms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action="book.php" method="post"&gt;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for="name"&gt;Name&lt;/label&gt;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id="name" name="name" required&gt;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for="age"&gt;Age&lt;/label&gt;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type="number" id="age" name="age" min="11" max="18"&gt;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&lt;label&gt;&lt;input type="checkbox" name="kit"&gt; Need kit&lt;/label&gt;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type="submit" value="Book"&gt;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CSS rules and selectors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CSS (Cascading Style Sheets) describes how elements look: colour, font, size, spacing, borders, position.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rule is a selector followed by declarations in braces: selector { property: value; }. Separate declarations with semicolons.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Element selector (p) styles every element of that type; class selector (.fixture) styles every element with class="fixture".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Id selector (#banner) styles the one element with id="banner"; an id must be unique on a page.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Selectors can be grouped (h1, h2) or combined (nav a = links inside nav).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CSS rules and selectors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element selector: every paragraph */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font-family: Arial, sans-serif; font-size: 12pt; 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class selector: class="fixture" */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.fixture { background-color: #EEF4FF; padding: 8px; 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id selector: the one element with id="banner" */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#banner { height: 200px; 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grouped and descendant selectors */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 { color: navy;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 { text-decoration: none; }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Three places to put CSS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24887"/>
                <a:gridCol w="3581795"/>
                <a:gridCol w="392291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is written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Strengths and weaknesses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style attribute on one element: &lt;p style="color: red; font-size: 15pt"&gt;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Quick one-off change; must be repeated on every element, so hard to maintain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Internal (global)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&lt;style&gt; … &lt;/style&gt; block in the &lt;head&gt; of one page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Rules apply to every matching element on that page; other pages need their own copy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External (linked)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Separate .css file joined with &lt;link rel="stylesheet" href="club.css"&gt; in the &lt;head&gt;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file styles every page; one change updates the whole site; file is cached by the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Note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&lt;link&gt; is an empty tag; type="text/css" is optional in HTML5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Older textbooks include the type attribute; it does no harm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1" grpId="0">
        <p:bldAsOne/>
      </p:bldGraphic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Specifying colours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color sets text colour and background-color sets the fill behind an element (CSS uses the American spelling).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Named colour: color: green;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rgb() gives the red, green and blue amounts, each 0–255: color: rgb(0, 128, 0);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Hexadecimal gives each primary as two hex digits 00–FF after a hash: color: #008000;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Check: 128 = 8 × 16 + 0, so 128 in hex is 80; red 00, green 80, blue 00 gives #008000.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Specifying colours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  { color: green;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  { color: rgb(0, 128, 0);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   { color: #008000; }     /* all three are the same green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background-color: #FFFFFF; }   /* white = rgb(255, 255, 255)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.alert { color: #FF0000; }   /* pure red */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The cascade: inheritance and precedence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Inheritance: a child element picks up inheritable styles (such as color and font-family) from the element it sits inside.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Precedence: if a rule is redefined closer to the element, the closer rule wins. An inline style beats an internal or external rule for that element.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Extra rules on the child add to what it inherits; only the properties that clash are overridden.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&lt;span&gt; has no appearance of its own; it lets you style part of a paragraph.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Where no style applies, the browser's default is used.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The cascade: inheritance and precedence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   { font-family: Arial, sans-serif; color: blue;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span { background-color: yellow;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&lt;p&gt;Match &lt;span&gt;report&lt;/span&gt; below&lt;/p&gt;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&lt;p&gt;Final &lt;span style="font-weight: bold"&gt;score&lt;/span&gt;&lt;/p&gt;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&lt;p&gt;Player of the &lt;span style="color: red"&gt;match&lt;/span&gt;&lt;/p&gt;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report: blue Arial on yellow (inherited)          --&gt;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score:  bold blue Arial on yellow (rule added)     --&gt;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match:  red Arial on yellow (inline colour wins)   --&gt;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fixtures page (HTML)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page holds content only: navigation, a heading with an id, a numbered list of regattas and a notice.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class="fixture" is used on two items, so it is a class; id="banner" appears once, so it is an id.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&lt;link&gt; in the head attaches the club's shared style sheet.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fixtures page (HTML)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lang="en-GB"&gt;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&lt;title&gt;Fixtures | Erne Rowing Club&lt;/title&gt;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href="club.css"&gt;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&lt;nav&gt;&lt;a href="index.html"&gt;Home&lt;/a&gt; &lt;a href="join.html"&gt;Join&lt;/a&gt;&lt;/nav&gt;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 id="banner"&gt;Summer regattas&lt;/h1&gt;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 class="fixture"&gt;Castle Archdale &amp;ndash; 14 June&lt;/li&gt;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 class="fixture"&gt;Enniskillen &amp;ndash; 5 July&lt;/li&gt;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&lt;/ol&gt;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class="notice"&gt;Bring your membership card.&lt;/p&gt;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the shared style sheet (club.css)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body sets the font and page background for every page that links to club.css.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#banner styles the single heading; .fixture styles both list items; .notice adds a red border.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 change the club colour from green to blue, edit #11503E in this one file and every linked page changes.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the shared style sheet (club.css)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    { font-family: Verdana, sans-serif; background-color: #F4F4F4;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   { margin-right: 12px; color: #11503E;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#banner  { color: white; background-color: #11503E; padding: 10px;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.fixture { font-weight: bold;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.notice  { border: 2px solid #C0392B; padding: 6px; }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Why separate content (HTML) from presentation (CSS)?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Consistency: every page linked to the same style sheet follows the same house style.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Maintenance: one edit to the CSS file updates the whole site, instead of editing every page.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Efficiency: HTML files are smaller and the CSS file is downloaded once and cached, so later pages load faster.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Flexibility: the same HTML can be given different styles for phones, printers or high-contrast users.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Teamwork: content authors and designers can work on separate files at the same time.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web page needs a numbered list of opening times. Which tags should be used?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&lt;ul&gt; with &lt;li&gt; items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&lt;list&gt; with &lt;item&gt; items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&lt;ol&gt; with &lt;li&gt; items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&lt;dl&gt; with &lt;dt&gt; items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&lt;ol&gt; with &lt;li&gt; items  –  &lt;ol&gt; creates an ordered (numbered) list and each item goes in &lt;li&gt;; &lt;ul&gt; gives bullets.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style sheet says p { color: blue; } but one paragraph has style="color: red". What colour is that paragraph's text?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Red, because the inline style is closest to the element and takes precedence</a:t>
            </a:r>
            <a:endParaRPr lang="en-US" sz="125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Blue, because the style sheet always wins</a:t>
            </a:r>
            <a:endParaRPr lang="en-US" sz="125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Purple, because the two colours are blended</a:t>
            </a:r>
            <a:endParaRPr lang="en-US" sz="125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Black, because conflicting rules cancel out</a:t>
            </a:r>
            <a:endParaRPr lang="en-US" sz="125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Red, because the inline style is closest to the element and takes precedence  –  Precedence: the closest definition wins, so the inline rule overrides the style sheet rule.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tag correctly creates a link to the page results.html?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&lt;link href="results.html"&gt;Results&lt;/link&gt;</a:t>
            </a:r>
            <a:endParaRPr lang="en-US" sz="14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&lt;a href="results.html"&gt;Results&lt;/a&gt;</a:t>
            </a:r>
            <a:endParaRPr lang="en-US" sz="14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&lt;a src="results.html"&gt;Results&lt;/a&gt;</a:t>
            </a:r>
            <a:endParaRPr lang="en-US" sz="14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&lt;href="results.html"&gt;Results&lt;/href&gt;</a:t>
            </a:r>
            <a:endParaRPr lang="en-US" sz="14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&lt;a href="results.html"&gt;Results&lt;/a&gt;  –  Hyperlinks use the anchor tag with the destination in href.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CSS selector styles every element with class="notice"?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#notice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notice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*notice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.notice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.notice  –  A full stop introduces a class selector; a hash introduces an id.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an empty tag?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&lt;br&gt;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&lt;p&gt;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&lt;li&gt;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&lt;a&gt;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&lt;br&gt;  –  &lt;br&gt; stands alone with no closing tag; the others wrap content.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CSS value gives the same colour as rgb(0, 128, 0)?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#001280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#000080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#008000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#800000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#008000  –  128 in denary is 80 in hex, and it is the green (middle) pair: #008000.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&amp;amp; used in HTML instead of typing &amp;?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makes the text bold</a:t>
            </a:r>
            <a:endParaRPr lang="en-US" sz="125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ampersand starts a character entity, so it must be escaped to display literally</a:t>
            </a:r>
            <a:endParaRPr lang="en-US" sz="125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Browsers cannot display the &amp; symbol at all</a:t>
            </a:r>
            <a:endParaRPr lang="en-US" sz="125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is required by CSS</a:t>
            </a:r>
            <a:endParaRPr lang="en-US" sz="125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ampersand starts a character entity, so it must be escaped to display literally  –  &amp; has a special meaning in HTML (it begins an entity), so &amp;amp; is the safe way to show it.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benefit of linking every page of a site to one external style sheet?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Pages no longer need any HTML</a:t>
            </a:r>
            <a:endParaRPr lang="en-US" sz="125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Images are compressed automatically</a:t>
            </a:r>
            <a:endParaRPr lang="en-US" sz="125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Form data is validated on the server</a:t>
            </a:r>
            <a:endParaRPr lang="en-US" sz="125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single change to the CSS file updates the appearance of every page</a:t>
            </a:r>
            <a:endParaRPr lang="en-US" sz="125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A single change to the CSS file updates the appearance of every page  –  One file controls the house style, which keeps pages consistent and reduces maintenance.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Where is the &lt;title&gt; element placed and where is it shown?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 the head; on the browser tab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 the body; as the main heading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 the body; at the bottom of the page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 the CSS file; in the address bar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In the head; on the browser tab  –  &lt;title&gt; belongs in the head and is displayed on the tab (and used for bookmarks).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&lt;ol&gt; with &lt;li&gt; items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&lt;ol&gt; creates an ordered (numbered) list and each item goes in &lt;li&gt;; &lt;ul&gt; gives bullets.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Red, because the inline style is closest to the element and takes precedence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Precedence: the closest definition wins, so the inline rule overrides the style sheet rule.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&lt;a href="results.html"&gt;Results&lt;/a&gt;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Hyperlinks use the anchor tag with the destination in href.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.notice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full stop introduces a class selector; a hash introduces an id.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&lt;br&gt;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&lt;br&gt; stands alone with no closing tag; the others wrap content.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#008000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128 in denary is 80 in hex, and it is the green (middle) pair: #008000.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ampersand starts a character entity, so it must be escaped to display literally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&amp; has a special meaning in HTML (it begins an entity), so &amp;amp; is the safe way to show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 single change to the CSS file updates the appearance of every page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One file controls the house style, which keeps pages consistent and reduces maintenance.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In the head; on the browser tab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&lt;title&gt; belongs in the head and is displayed on the tab (and used for bookmarks).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Website design, client-side and server-side processing, testing and publishing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Plan a website using purpose, audience, a site map and storyboards, and justify a navigation structure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Apply usability and WCAG accessibility principles to a page design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client-side from server-side processing using a real scenario such as an online booking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input is validated on both the client and the server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tests carried out before a website is published and the steps needed to publish it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Planning a website: purpose and audie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Planning a website: purpose and audience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Site maps and storyboar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Site maps and storyboards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Navigation struc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Navigation structures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Usability princip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Usability principles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Accessibility: the WCAG princip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Accessibility: the WCAG principles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Accessibility in the 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Accessibility in the code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Static pages and web applica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Static pages and web applications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Client-side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Client-side processing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Client-side validation with HTML attribut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Client-side validation with HTML attributes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Server-side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Server-side processing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booking a leisure centre cla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booking a leisure centre class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hy validate on both client and server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validate on both client and server?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Testing a website before laun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Testing a website before launch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Publishing and maintaining a websi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Publishing and maintaining a website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Linear, hierarchical and non-linear navigation structures, and the four WCAG principles: perceivable, operable, understandable and robu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Linear, hierarchical and non-linear navigation structures, and the four WCAG principles: perceivable, operable, understandable and robust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Planning a website: purpose and audience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Purpose: what must the site do? Inform, sell, take bookings, entertain, persuade or provide a service.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Target audience: age, interests, reading level, accessibility needs, the devices they use and their IT confidence.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Requirements: the content and functions needed (search, forms, payments, log-in) and constraints such as budget and deadline.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House style: colours, fonts, logo and tone, used consistently on every page so the site looks like one organisation.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Purpose and audience drive every later decision, so they are agreed first.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Site maps and storyboards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47912"/>
                <a:gridCol w="3576214"/>
                <a:gridCol w="37054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Planning tool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shows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 is useful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Site map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page in the site and the links between them, usually as a tree diagram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Checks no page is missing or unreachable; fixes the navigation structure before coding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Storyboard / wireframe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sketch of each page's layout: where the menu, headings, text, images and forms go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Agrees the design with the client before coding; keeps layout consistent across pages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Annotations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Notes on a storyboard: fonts, colours, link destinations, image sizes, alt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Gives developers exact detail; records accessibility decisions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Prototype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clickable mock-up of a few key pages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Lets real users try tasks early so problems are found cheaply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Navigation structures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96444"/>
                <a:gridCol w="3607496"/>
                <a:gridCol w="33256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Linear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Pages are visited in a fixed order using Next and Previous links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Online forms, checkouts, step-by-step tutorials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Hierarchical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Home page branches to main sections, which branch to sub-pages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Most organisational sites, e.g. a school or council website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Non-linear (web / mesh)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Pages link freely to many related pages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Wikis, news sites with 'related stories' links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Mixed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hierarchy with some linear sequences inside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Online shops: browse by category, then a linear checkout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6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Usability principles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Consistent navigation in the same place on every page, with a clear link back to the home page.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Key information reachable in a few clicks; a search box and breadcrumb trail help on large sites.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Clear headings, short paragraphs, readable fonts, good contrast and sensible white space.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Responsive design: the layout adapts to phones, tablets and desktops so no sideways scrolling is needed.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Fast loading: images compressed and sized correctly, no unnecessary scripts.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Helpful feedback: say what went wrong and how to fix it, e.g. 'Enter a date after today'.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Accessibility: the WCAG principles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99447"/>
                <a:gridCol w="2445367"/>
                <a:gridCol w="49847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WCAG principle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techniques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Perceivable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can see or hear the content in some 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Alt text, captions and transcripts, sufficient colour contrast, text that can be resized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Operable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can use every control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Full keyboard access, visible focus, no flashing content, enough time to complete tasks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Understandable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Content and controls are clear and predictable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Plain language, consistent navigation, labelled fields, helpful error messages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Robust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Works with current and future assistive technologies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Valid, semantic HTML; correctly labelled form controls; lang attribute set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Law and standards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WCAG 2.2, levels A, AA and AAA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UK public sector sites must meet level AA; disability discrimination law also applies to service providers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8" grpId="0">
        <p:bldAsOne/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Accessibility in the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lang tells a screen reader which language to pronounce the page in.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Headings in order (h1, then h2) let screen-reader users jump through the page.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image has meaningful alt text; every input has a &lt;label&gt;.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Link text should make sense on its own: 'Download the fixture list', not 'click here'.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Never rely on colour alone, e.g. mark required fields with a word or symbol as well as red.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Accessibility in the code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lang="en-GB"&gt;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&lt;h1&gt;Swim lessons&lt;/h1&gt;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&lt;h2&gt;Book a place&lt;/h2&gt;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src="pool.jpg" alt="Children in the learner pool with an instructor"&gt;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 action="book.php" method="post"&gt;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 for="email"&gt;Email (required)&lt;/label&gt;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type="email" id="email" name="email" required&gt;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type="submit" value="Book"&gt;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&lt;/form&gt;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href="timetable.pdf"&gt;Download the lesson timetable (PDF)&lt;/a&gt;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Static pages and web applications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static web page is stored as a finished file and simply retrieved and displayed; it needs no input or calculation.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web application is a program used through a browser that processes user input, e.g. booking, banking or online shopping.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Web applications usually store state in a database or file store, so data changes as the application is used.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Processing is split between the browser (client-side) and the web server (server-side).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Client-side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Carried out by the browser on the user's device, usually by JavaScript or HTML form attributes, without contacting the server.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Presence check: have all required fields been filled in?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Format, type and length checks: is a card number 16 digits? Is a date in the right format and range?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Timeliness: has the time allowed to complete the booking run out?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Combination checks: if a card type needs an extra field, has it been completed?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Also changes the page in response to the user, e.g. showing a running total or hiding a section, with instant feedback.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Client-side validation with HTML attributes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browser blocks submission and shows a message until every rule is met.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required = presence check; min/max = range check; maxlength = length check; pattern = format check.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pattern must match the whole value: here BT, one or two digits, a space, a digit and two capital letters.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Client-side validation with HTML attributes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action="register.php" method="post"&gt;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for="pc"&gt;Postcode&lt;/label&gt;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id="pc" name="pc" required maxlength="8"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pattern="BT[0-9]{1,2} [0-9][A-Z]{2}"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title="A Northern Ireland postcode such as BT74 6DQ"&gt;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for="yr"&gt;School year&lt;/label&gt;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type="number" id="yr" name="yr" min="8" max="14" required&gt;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type="submit" value="Register"&gt;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Server-side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Carried out on the web server after the browser submits the data, by scripts in languages such as PHP, C# (ASP.NET), Python or Node.js.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Accepts the data and works out what transaction is wanted.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Reads from and updates the database, carries out calculations and contacts other systems such as a payment provider.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If any stage fails, every change made so far is undone (rolled back), so the database stays consistent.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Generates a response page (confirmation or error) and sends it back to the browser.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Code and data stay on the server, so they cannot be seen or altered by the user.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booking a leisure centre class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4938"/>
                <a:gridCol w="1175657"/>
                <a:gridCol w="66390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Browser checks name, email and number of places are present and in range; shows errors instantly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Client →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Valid form is submitted to the server over HTTPS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Script identifies the request (book 2 places, Tuesday spin class) and re-validates the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Server ↔ 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Reads places left (say 5), subtracts 2, writes 3 back and records the booking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Server ↔ payment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payment is authorised; if declined, the database change is rolled 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6" grpId="0">
        <p:bldAsOne/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booking a leisure centre class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4938"/>
                <a:gridCol w="1175657"/>
                <a:gridCol w="66390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Server → client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Confirmation page (or an error page) is generated and returned for the browser to display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7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Why validate on both client and server?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Client-side checks give instant feedback and save a round trip, reducing server load and network traffic.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But they can be bypassed: the user can switch off JavaScript, edit the page or send a request directly.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the server must re-check everything before it is stored or used; this protects the database from invalid or malicious input.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Some checks can only be done on the server, e.g. is this username taken, are there seats left, is the password correct?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Why validate on both client and server?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Console.Write("Postcode: 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pc = (Console.ReadLine() ?? "").Trim().ToUpper();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parts = pc.Split(' 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ok = parts.Length == 2 &amp;&amp; pc.StartsWith("BT")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&amp;&amp; parts[0].Length &gt;= 3 &amp;&amp; parts[0].Length &lt;=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&amp;&amp; parts[1].Length == 3 &amp;&amp; char.IsDigit(parts[1][0])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&amp;&amp; char.IsLetter(parts[1][1]) &amp;&amp; char.IsLetter(parts[1][2]);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2; ok &amp;&amp; i &lt; parts[0].Length; i++)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(!char.IsDigit(parts[0][i])) ok = false;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(ok) Console.WriteLine("Format accepted - now check the database");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Console.WriteLine("Enter a postcode such as BT74 6DQ");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Testing a website before launch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28150"/>
                <a:gridCol w="73014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is checked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Functional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link goes to the right page (no broken links); forms accept valid data, reject invalid data and submit correctly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Compatibility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Pages display and work correctly in different browsers, on different devices and at different screen sizes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Accessibility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Keyboard-only use, screen reader, colour contrast, alt text, zoom to 200%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Code 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HTML and CSS checked against the standards with a validator such as the W3C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Performance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Pages load quickly, including on a slow mobile connection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Testing a website before launch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28150"/>
                <a:gridCol w="73014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is checked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Members of the target audience attempt set tasks; their difficulties and feedback are recorded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1" grpId="0">
        <p:bldAsOne/>
      </p:bldGraphic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Publishing and maintaining a website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Register a domain name (e.g. a .co.uk or .org.uk address) through a registrar, and renew it before it expires.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Choose a web host: a company whose servers store the files and serve them on the internet; compare cost, storage, bandwidth, reliability and support.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Upload the files, e.g. by FTP/SFTP or the host's control panel, and point the domain's DNS records at the host.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Install an SSL/TLS certificate so the site uses HTTPS, then test the live site again.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Maintain: update content, fix broken links, apply security updates, back up and review analytics.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online shop checks in the browser that a card number is 16 digits before sending it. What kind of processing is this?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Server-side processing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Client-side processing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Database processing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Batch processing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Client-side processing  –  The check runs in the browser on the user's device before anything is sent to the server.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must a web server re-validate data even if the browser has already checked it?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Browsers cannot perform any validation</a:t>
            </a:r>
            <a:endParaRPr lang="en-US" sz="125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makes the page load faster</a:t>
            </a:r>
            <a:endParaRPr lang="en-US" sz="125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Client-side checks can be bypassed, so the server must protect its data</a:t>
            </a:r>
            <a:endParaRPr lang="en-US" sz="125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server needs to change the page colours</a:t>
            </a:r>
            <a:endParaRPr lang="en-US" sz="125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Client-side checks can be bypassed, so the server must protect its data  –  Users can disable scripts or send requests directly, so the server cannot trust what arrives.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navigation structure suits a step-by-step tutorial?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Linear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Hierarchical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Mesh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Random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Linear  –  Pages are followed in a fixed order using Next and Previous links.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WCAG principle covers being able to use a site with a keyboard only?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Perceivable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Robust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Understandable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Operable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Operable  –  Operable means every control can be used, whatever input method the user has.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task can ONLY be carried out server-side?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Checking a field is not empty</a:t>
            </a:r>
            <a:endParaRPr lang="en-US" sz="14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Checking that a date is in the format dd/mm/yyyy</a:t>
            </a:r>
            <a:endParaRPr lang="en-US" sz="14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Checking how many seats are still available on a flight</a:t>
            </a:r>
            <a:endParaRPr lang="en-US" sz="14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Showing a running total as items are ticked</a:t>
            </a:r>
            <a:endParaRPr lang="en-US" sz="14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Checking how many seats are still available on a flight  –  Seat availability is held in the server's database, which the browser cannot access directly.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broken link?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link to an external site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link that leads to a missing page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link with no underline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link inside an image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link that leads to a missing page  –  Following it produces an error such as 404 Not Found.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web host provide?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Server space and connectivity to store and serve the site's files</a:t>
            </a:r>
            <a:endParaRPr lang="en-US" sz="125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domain name only</a:t>
            </a:r>
            <a:endParaRPr lang="en-US" sz="125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web browser</a:t>
            </a:r>
            <a:endParaRPr lang="en-US" sz="125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An HTML editor</a:t>
            </a:r>
            <a:endParaRPr lang="en-US" sz="125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Server space and connectivity to store and serve the site's files  –  The host's servers are permanently connected to the internet and deliver the pages.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storyboard show when planning a website?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database tables</a:t>
            </a:r>
            <a:endParaRPr lang="en-US" sz="125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amount of traffic expected</a:t>
            </a:r>
            <a:endParaRPr lang="en-US" sz="125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cost of hosting</a:t>
            </a:r>
            <a:endParaRPr lang="en-US" sz="125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layout of each page, such as where menus, text and images appear</a:t>
            </a:r>
            <a:endParaRPr lang="en-US" sz="125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The layout of each page, such as where menus, text and images appear  –  A site map shows how pages link; a storyboard shows what each page looks like.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responsive design do?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Speeds up the web server</a:t>
            </a:r>
            <a:endParaRPr lang="en-US" sz="14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Encrypts form data</a:t>
            </a:r>
            <a:endParaRPr lang="en-US" sz="14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Adapts the page layout to the size of the screen</a:t>
            </a:r>
            <a:endParaRPr lang="en-US" sz="14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Translates the page into other languages</a:t>
            </a:r>
            <a:endParaRPr lang="en-US" sz="14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Adapts the page layout to the size of the screen  –  Flexible layouts and media queries let one site work on phones, tablets and desktops.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Client-side processing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check runs in the browser on the user's device before anything is sent to the server.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Client-side checks can be bypassed, so the server must protect its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Users can disable scripts or send requests directly, so the server cannot trust what arrives.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Linear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Pages are followed in a fixed order using Next and Previous links.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Operable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Operable means every control can be used, whatever input method the user has.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Checking how many seats are still available on a flight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Seat availability is held in the server's database, which the browser cannot access directly.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link that leads to a missing page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Following it produces an error such as 404 Not Found.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Server space and connectivity to store and serve the site's files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host's servers are permanently connected to the internet and deliver the pages.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The layout of each page, such as where menus, text and images appear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site map shows how pages link; a storyboard shows what each page looks like.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Adapts the page layout to the size of the screen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Flexible layouts and media queries let one site work on phones, tablets and desktops.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2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development</dc:title>
  <dc:subject>AS 2: Fundamentals of Digital Technology – Website development</dc:subject>
  <dc:creator>Digital Technology Hub</dc:creator>
  <cp:lastModifiedBy>Digital Technology Hub</cp:lastModifiedBy>
  <cp:revision>1</cp:revision>
  <dcterms:created xsi:type="dcterms:W3CDTF">2026-10-30T13:16:10Z</dcterms:created>
  <dcterms:modified xsi:type="dcterms:W3CDTF">2026-10-30T13:16:10Z</dcterms:modified>
</cp:coreProperties>
</file>