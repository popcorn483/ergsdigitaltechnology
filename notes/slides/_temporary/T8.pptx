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opic overview" id="{cc60e83e-484c-b846-d7ab-fe30723a93b9}">
          <p14:sldIdLst>
            <p14:sldId id="256"/>
            <p14:sldId id="257"/>
            <p14:sldId id="258"/>
          </p14:sldIdLst>
        </p14:section>
        <p14:section name="L20 · Cloud technology" id="{7538fb5f-2ea6-87b7-f778-df152d089752}">
          <p14:sldIdLst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  <p14:sldId id="279"/>
            <p14:sldId id="280"/>
            <p14:sldId id="28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lesson below is its own section in PowerPoint (View → Slide Sorter shows them). To split this deck by specification point, right-click a section → Move Section, or delete the sections you do not need.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Specification: Define the term cloud computing | Describe the advantages of cloud computing for an organisation | Describe the disadvantages of cloud computing for an organisation | Describe the impact of cloud computing on gaming | Describe the impact of cloud computing on file storage and file sharing, including collaborative tools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Lesson menu: each button jumps to that part of the lesson in Slide Show. The ☰ Menu button on each slide returns 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diagram in your own words before you read 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1150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640080"/>
            <a:ext cx="694944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200" kern="0" dirty="0">
                <a:solidFill>
                  <a:srgbClr val="F5E6DA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960120"/>
            <a:ext cx="713232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8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3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2514600"/>
            <a:ext cx="7680960" cy="20116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rgbClr val="E4ECE6"/>
                </a:solidFill>
              </a:defRPr>
            </a:lvl1pPr>
          </a:lstStyle>
          <a:p>
            <a:pPr indent="0" marL="0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rgbClr val="11503E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 txBox="1"/>
          <p:nvPr/>
        </p:nvSpPr>
        <p:spPr>
          <a:xfrm>
            <a:off x="457200" y="477316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6675E"/>
                </a:solidFill>
              </a:rPr>
              <a:t>CCEA GCSE Digital Technology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rgbClr val="0E1D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548640"/>
            <a:ext cx="731520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200" kern="0" dirty="0">
                <a:solidFill>
                  <a:srgbClr val="F5E6DA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868680"/>
            <a:ext cx="78638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783080"/>
            <a:ext cx="7863840" cy="28346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rgbClr val="E4ECE6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E4ECE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" Target="slide3.xml"/><Relationship Id="rId3" Type="http://schemas.openxmlformats.org/officeDocument/2006/relationships/slide" Target="slide4.xml"/><Relationship Id="rId1" Type="http://schemas.openxmlformats.org/officeDocument/2006/relationships/image" Target="../media/image-2-1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image" Target="../media/image-3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" Target="slide6.xml"/><Relationship Id="rId3" Type="http://schemas.openxmlformats.org/officeDocument/2006/relationships/slide" Target="slide7.xml"/><Relationship Id="rId4" Type="http://schemas.openxmlformats.org/officeDocument/2006/relationships/slide" Target="slide8.xml"/><Relationship Id="rId5" Type="http://schemas.openxmlformats.org/officeDocument/2006/relationships/slide" Target="slide9.xml"/><Relationship Id="rId6" Type="http://schemas.openxmlformats.org/officeDocument/2006/relationships/slide" Target="slide10.xml"/><Relationship Id="rId7" Type="http://schemas.openxmlformats.org/officeDocument/2006/relationships/slide" Target="slide11.xml"/><Relationship Id="rId8" Type="http://schemas.openxmlformats.org/officeDocument/2006/relationships/slide" Target="slide12.xml"/><Relationship Id="rId9" Type="http://schemas.openxmlformats.org/officeDocument/2006/relationships/slide" Target="slide13.xml"/><Relationship Id="rId10" Type="http://schemas.openxmlformats.org/officeDocument/2006/relationships/slide" Target="slide14.xml"/><Relationship Id="rId11" Type="http://schemas.openxmlformats.org/officeDocument/2006/relationships/slide" Target="slide15.xml"/><Relationship Id="rId12" Type="http://schemas.openxmlformats.org/officeDocument/2006/relationships/slide" Target="slide16.xml"/><Relationship Id="rId13" Type="http://schemas.openxmlformats.org/officeDocument/2006/relationships/slide" Target="slide2.xml"/><Relationship Id="rId1" Type="http://schemas.openxmlformats.org/officeDocument/2006/relationships/image" Target="../media/image-5-1.png"/><Relationship Id="rId14" Type="http://schemas.openxmlformats.org/officeDocument/2006/relationships/slideLayout" Target="../slideLayouts/slideLayout3.xml"/><Relationship Id="rId1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" Target="slide5.xml"/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7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8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9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10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11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12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13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14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15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16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17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18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19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20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21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22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23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24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25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26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640080"/>
            <a:ext cx="6949440" cy="3200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E6DA"/>
                </a:solidFill>
              </a:rPr>
              <a:t>UNIT 1: DIGITAL TECHNOLOGY  ·  TOPIC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960120"/>
            <a:ext cx="71323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Cloud technology</a:t>
            </a:r>
            <a:endParaRPr lang="en-US" sz="3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2514600"/>
            <a:ext cx="76809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5E6DA"/>
                </a:solidFill>
              </a:rPr>
              <a:t>Lessons in this topic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L20  Cloud technology</a:t>
            </a:r>
            <a:endParaRPr lang="en-US" sz="1600" dirty="0"/>
          </a:p>
        </p:txBody>
      </p:sp>
      <p:sp>
        <p:nvSpPr>
          <p:cNvPr id="5" name="chip"/>
          <p:cNvSpPr/>
          <p:nvPr/>
        </p:nvSpPr>
        <p:spPr>
          <a:xfrm>
            <a:off x="7818120" y="502920"/>
            <a:ext cx="685800" cy="685800"/>
          </a:xfrm>
          <a:prstGeom prst="roundRect">
            <a:avLst>
              <a:gd name="adj" fmla="val 12000"/>
            </a:avLst>
          </a:prstGeom>
          <a:solidFill>
            <a:srgbClr val="1D6B53"/>
          </a:solidFill>
          <a:ln w="12700">
            <a:solidFill>
              <a:srgbClr val="1D6B5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23860" y="420624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023860" y="118872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35824" y="70866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503920" y="70866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43316" y="420624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43316" y="118872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35824" y="928116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503920" y="928116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42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45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5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75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5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build="p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Topic menu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 button to jump straight there. The ☰ Menu button on every slide brings you back here.</a:t>
            </a:r>
            <a:endParaRPr lang="en-US" sz="1200" dirty="0"/>
          </a:p>
        </p:txBody>
      </p:sp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457200" y="1325880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5221C"/>
                </a:solidFill>
                <a:hlinkClick r:id="rId2" action="ppaction://hlinksldjump" tooltip="Specification ma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Specification map</a:t>
            </a:r>
            <a:endParaRPr lang="en-US" sz="1500" dirty="0"/>
          </a:p>
        </p:txBody>
      </p:sp>
      <p:sp>
        <p:nvSpPr>
          <p:cNvPr id="7" name="btn">
            <a:hlinkClick r:id="rId3" action="ppaction://hlinksldjump"/>
          </p:cNvPr>
          <p:cNvSpPr/>
          <p:nvPr/>
        </p:nvSpPr>
        <p:spPr>
          <a:xfrm>
            <a:off x="4640580" y="1325880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11503E"/>
          </a:solidFill>
          <a:ln w="12700">
            <a:solidFill>
              <a:srgbClr val="11503E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hlinkClick r:id="rId3" action="ppaction://hlinksldjump" tooltip="L20  Cloud technology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L20  Cloud technology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25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Specification map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72237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Lesson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Specification: students should be able to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L20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Define the term cloud computing; Describe the advantages of cloud computing for an organisation; Describe the disadvantages of cloud computing for an organisation; Describe the impact of cloud computing on gaming; Describe the impact of cloud computing on file storage and file sharing, including collaborative tools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</a:tbl>
          </a:graphicData>
        </a:graphic>
      </p:graphicFrame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Graphic spid="4" grpId="0">
        <p:bldAsOne/>
      </p:bldGraphic>
      <p:bldP spid="7" grpId="0" animBg="1"/>
      <p:bldP spid="25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640080"/>
            <a:ext cx="6949440" cy="3200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E6DA"/>
                </a:solidFill>
              </a:rPr>
              <a:t>UNIT 1: DIGITAL TECHNOLOGY  ·  L20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960120"/>
            <a:ext cx="71323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Cloud technology</a:t>
            </a:r>
            <a:endParaRPr lang="en-US" sz="3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2514600"/>
            <a:ext cx="76809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5E6DA"/>
                </a:solidFill>
              </a:rPr>
              <a:t>Learning objectives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Define cloud computing and give examples of cloud services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Describe the advantages and disadvantages of the cloud for an organisation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Evaluate the impact of the cloud on gaming for players and game producers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Explain how cloud storage and collaborative tools change the way people store and share files</a:t>
            </a:r>
            <a:endParaRPr lang="en-US" sz="1600" dirty="0"/>
          </a:p>
        </p:txBody>
      </p:sp>
      <p:sp>
        <p:nvSpPr>
          <p:cNvPr id="5" name="chip"/>
          <p:cNvSpPr/>
          <p:nvPr/>
        </p:nvSpPr>
        <p:spPr>
          <a:xfrm>
            <a:off x="7818120" y="502920"/>
            <a:ext cx="685800" cy="685800"/>
          </a:xfrm>
          <a:prstGeom prst="roundRect">
            <a:avLst>
              <a:gd name="adj" fmla="val 12000"/>
            </a:avLst>
          </a:prstGeom>
          <a:solidFill>
            <a:srgbClr val="1D6B53"/>
          </a:solidFill>
          <a:ln w="12700">
            <a:solidFill>
              <a:srgbClr val="1D6B5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23860" y="420624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023860" y="118872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35824" y="70866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503920" y="70866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43316" y="420624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43316" y="118872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35824" y="928116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503920" y="928116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5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45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5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75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5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105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135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35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165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build="p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In this lesson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 button to jump straight there. The ☰ Menu button on every slide brings you back here.</a:t>
            </a:r>
            <a:endParaRPr lang="en-US" sz="12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457200" y="1325880"/>
            <a:ext cx="404622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5221C"/>
                </a:solidFill>
                <a:hlinkClick r:id="rId2" action="ppaction://hlinksldjump" tooltip="The big pictur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The big picture</a:t>
            </a:r>
            <a:endParaRPr lang="en-US" sz="1500" dirty="0"/>
          </a:p>
        </p:txBody>
      </p:sp>
      <p:sp>
        <p:nvSpPr>
          <p:cNvPr id="8" name="btn">
            <a:hlinkClick r:id="rId3" action="ppaction://hlinksldjump"/>
          </p:cNvPr>
          <p:cNvSpPr/>
          <p:nvPr/>
        </p:nvSpPr>
        <p:spPr>
          <a:xfrm>
            <a:off x="457200" y="1892808"/>
            <a:ext cx="404622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5221C"/>
                </a:solidFill>
                <a:hlinkClick r:id="rId3" action="ppaction://hlinksldjump" tooltip="What is cloud computing?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What is cloud computing?</a:t>
            </a:r>
            <a:endParaRPr lang="en-US" sz="1500" dirty="0"/>
          </a:p>
        </p:txBody>
      </p:sp>
      <p:sp>
        <p:nvSpPr>
          <p:cNvPr id="9" name="btn">
            <a:hlinkClick r:id="rId4" action="ppaction://hlinksldjump"/>
          </p:cNvPr>
          <p:cNvSpPr/>
          <p:nvPr/>
        </p:nvSpPr>
        <p:spPr>
          <a:xfrm>
            <a:off x="457200" y="2459736"/>
            <a:ext cx="404622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5221C"/>
                </a:solidFill>
                <a:hlinkClick r:id="rId4" action="ppaction://hlinksldjump" tooltip="Advantages for an organisation (1)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Advantages for an organisation (1)</a:t>
            </a:r>
            <a:endParaRPr lang="en-US" sz="1500" dirty="0"/>
          </a:p>
        </p:txBody>
      </p:sp>
      <p:sp>
        <p:nvSpPr>
          <p:cNvPr id="10" name="btn">
            <a:hlinkClick r:id="rId5" action="ppaction://hlinksldjump"/>
          </p:cNvPr>
          <p:cNvSpPr/>
          <p:nvPr/>
        </p:nvSpPr>
        <p:spPr>
          <a:xfrm>
            <a:off x="457200" y="3026664"/>
            <a:ext cx="404622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5221C"/>
                </a:solidFill>
                <a:hlinkClick r:id="rId5" action="ppaction://hlinksldjump" tooltip="Advantages for an organisation (2)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Advantages for an organisation (2)</a:t>
            </a:r>
            <a:endParaRPr lang="en-US" sz="1500" dirty="0"/>
          </a:p>
        </p:txBody>
      </p:sp>
      <p:sp>
        <p:nvSpPr>
          <p:cNvPr id="11" name="btn">
            <a:hlinkClick r:id="rId6" action="ppaction://hlinksldjump"/>
          </p:cNvPr>
          <p:cNvSpPr/>
          <p:nvPr/>
        </p:nvSpPr>
        <p:spPr>
          <a:xfrm>
            <a:off x="457200" y="3593592"/>
            <a:ext cx="404622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5221C"/>
                </a:solidFill>
                <a:hlinkClick r:id="rId6" action="ppaction://hlinksldjump" tooltip="Disadvantages for an organisa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Disadvantages for an organisation</a:t>
            </a:r>
            <a:endParaRPr lang="en-US" sz="1500" dirty="0"/>
          </a:p>
        </p:txBody>
      </p:sp>
      <p:sp>
        <p:nvSpPr>
          <p:cNvPr id="12" name="btn">
            <a:hlinkClick r:id="rId7" action="ppaction://hlinksldjump"/>
          </p:cNvPr>
          <p:cNvSpPr/>
          <p:nvPr/>
        </p:nvSpPr>
        <p:spPr>
          <a:xfrm>
            <a:off x="457200" y="4160520"/>
            <a:ext cx="404622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5221C"/>
                </a:solidFill>
                <a:hlinkClick r:id="rId7" action="ppaction://hlinksldjump" tooltip="Impact on gaming: game producer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Impact on gaming: game producers</a:t>
            </a:r>
            <a:endParaRPr lang="en-US" sz="1500" dirty="0"/>
          </a:p>
        </p:txBody>
      </p:sp>
      <p:sp>
        <p:nvSpPr>
          <p:cNvPr id="13" name="btn">
            <a:hlinkClick r:id="rId8" action="ppaction://hlinksldjump"/>
          </p:cNvPr>
          <p:cNvSpPr/>
          <p:nvPr/>
        </p:nvSpPr>
        <p:spPr>
          <a:xfrm>
            <a:off x="4640580" y="1325880"/>
            <a:ext cx="404622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5221C"/>
                </a:solidFill>
                <a:hlinkClick r:id="rId8" action="ppaction://hlinksldjump" tooltip="Impact on gaming: player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Impact on gaming: players</a:t>
            </a:r>
            <a:endParaRPr lang="en-US" sz="1500" dirty="0"/>
          </a:p>
        </p:txBody>
      </p:sp>
      <p:sp>
        <p:nvSpPr>
          <p:cNvPr id="14" name="btn">
            <a:hlinkClick r:id="rId9" action="ppaction://hlinksldjump"/>
          </p:cNvPr>
          <p:cNvSpPr/>
          <p:nvPr/>
        </p:nvSpPr>
        <p:spPr>
          <a:xfrm>
            <a:off x="4640580" y="1892808"/>
            <a:ext cx="404622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5221C"/>
                </a:solidFill>
                <a:hlinkClick r:id="rId9" action="ppaction://hlinksldjump" tooltip="Impact on file storag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Impact on file storage</a:t>
            </a:r>
            <a:endParaRPr lang="en-US" sz="1500" dirty="0"/>
          </a:p>
        </p:txBody>
      </p:sp>
      <p:sp>
        <p:nvSpPr>
          <p:cNvPr id="15" name="btn">
            <a:hlinkClick r:id="rId10" action="ppaction://hlinksldjump"/>
          </p:cNvPr>
          <p:cNvSpPr/>
          <p:nvPr/>
        </p:nvSpPr>
        <p:spPr>
          <a:xfrm>
            <a:off x="4640580" y="2459736"/>
            <a:ext cx="404622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5221C"/>
                </a:solidFill>
                <a:hlinkClick r:id="rId10" action="ppaction://hlinksldjump" tooltip="Impact on file sharing and collabora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Impact on file sharing and collaboration</a:t>
            </a:r>
            <a:endParaRPr lang="en-US" sz="1300" dirty="0"/>
          </a:p>
        </p:txBody>
      </p:sp>
      <p:sp>
        <p:nvSpPr>
          <p:cNvPr id="16" name="btn">
            <a:hlinkClick r:id="rId11" action="ppaction://hlinksldjump"/>
          </p:cNvPr>
          <p:cNvSpPr/>
          <p:nvPr/>
        </p:nvSpPr>
        <p:spPr>
          <a:xfrm>
            <a:off x="4640580" y="3026664"/>
            <a:ext cx="404622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5221C"/>
                </a:solidFill>
                <a:hlinkClick r:id="rId11" action="ppaction://hlinksldjump" tooltip="Worked example: a council planning team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Worked example: a council planning team</a:t>
            </a:r>
            <a:endParaRPr lang="en-US" sz="1300" dirty="0"/>
          </a:p>
        </p:txBody>
      </p:sp>
      <p:sp>
        <p:nvSpPr>
          <p:cNvPr id="17" name="btn">
            <a:hlinkClick r:id="rId12" action="ppaction://hlinksldjump"/>
          </p:cNvPr>
          <p:cNvSpPr/>
          <p:nvPr/>
        </p:nvSpPr>
        <p:spPr>
          <a:xfrm>
            <a:off x="4640580" y="3593592"/>
            <a:ext cx="4046220" cy="475488"/>
          </a:xfrm>
          <a:prstGeom prst="roundRect">
            <a:avLst>
              <a:gd name="adj" fmla="val 15385"/>
            </a:avLst>
          </a:prstGeom>
          <a:solidFill>
            <a:srgbClr val="11503E"/>
          </a:solidFill>
          <a:ln w="12700">
            <a:solidFill>
              <a:srgbClr val="11503E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hlinkClick r:id="rId12" action="ppaction://hlinksldjump" tooltip="Exit quiz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Exit quiz</a:t>
            </a:r>
            <a:endParaRPr lang="en-US" sz="1500" dirty="0"/>
          </a:p>
        </p:txBody>
      </p:sp>
      <p:sp>
        <p:nvSpPr>
          <p:cNvPr id="18" name="btn">
            <a:hlinkClick r:id="rId13" action="ppaction://hlinksldjump"/>
          </p:cNvPr>
          <p:cNvSpPr/>
          <p:nvPr/>
        </p:nvSpPr>
        <p:spPr>
          <a:xfrm>
            <a:off x="4640580" y="4160520"/>
            <a:ext cx="4046220" cy="475488"/>
          </a:xfrm>
          <a:prstGeom prst="roundRect">
            <a:avLst>
              <a:gd name="adj" fmla="val 15385"/>
            </a:avLst>
          </a:prstGeom>
          <a:solidFill>
            <a:srgbClr val="11503E"/>
          </a:solidFill>
          <a:ln w="12700">
            <a:solidFill>
              <a:srgbClr val="11503E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hlinkClick r:id="rId13" action="ppaction://hlinksldjump" tooltip="↑  Topic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↑  Topic menu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5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25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The big picture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pic>
        <p:nvPicPr>
          <p:cNvPr id="5" name="anim:auto" descr="Cloud computing: devices reach remote servers over the interne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2496" y="1143000"/>
            <a:ext cx="5779008" cy="3250692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457200" y="4434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Cloud computing: devices reach remote servers over the internet</a:t>
            </a:r>
            <a:endParaRPr lang="en-US" sz="1200" dirty="0"/>
          </a:p>
        </p:txBody>
      </p:sp>
      <p:sp>
        <p:nvSpPr>
          <p:cNvPr id="8" name="btn">
            <a:hlinkClick r:id="rId3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3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8" grpId="0" animBg="1"/>
      <p:bldP spid="2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What is cloud computing?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Cloud computing: computing resources such as storage and software are delivered on demand over the internet from remote servers, instead of from a local hard drive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The servers are kept in large data centres run by cloud providers such as Microsoft, Google and Amazon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Any device with an internet connection – PC, laptop, tablet or phone – can reach the data and programs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Organisations usually pay a subscription or 'pay as you go' for what they use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Examples: OneDrive, Google Drive, iCloud, Microsoft 365, Google Docs, Xbox Cloud Gaming</a:t>
            </a:r>
            <a:endParaRPr lang="en-US" sz="17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Advantages for an organisation (1)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Cost effective: no need to buy and maintain servers or many software licences; pay-as-you-go plans mean paying only for what is used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Scalable: storage and bandwidth can be increased or decreased quickly as the organisation grows or shrinks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Huge storage capacity: providers offer far more space than local hard drives, and more can be bought at any time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Software updates are applied automatically by the provider, saving staff time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Advantages for an organisation (2)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5221C"/>
                </a:solidFill>
              </a:rPr>
              <a:t>Backup and recovery: the provider backs up data automatically at regular intervals and can restore it, so no separate backup devices are needed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5221C"/>
                </a:solidFill>
              </a:rPr>
              <a:t>Accessibility: staff can reach their files anywhere, at any time, on any device with internet access – supports home and hybrid working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5221C"/>
                </a:solidFill>
              </a:rPr>
              <a:t>Collaboration: several staff can work on the same file at the same time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5221C"/>
                </a:solidFill>
              </a:rPr>
              <a:t>Data survives local disasters: if the office has a fire, flood or theft, the files are still safe in the cloud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5221C"/>
                </a:solidFill>
              </a:rPr>
              <a:t>Smaller carbon footprint: less equipment in the building means less electricity used on site</a:t>
            </a:r>
            <a:endParaRPr lang="en-US" sz="16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Disadvantages for an organisation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5221C"/>
                </a:solidFill>
              </a:rPr>
              <a:t>Needs a reliable internet connection: if the broadband or router fails, staff cannot reach their files or software (downtime)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5221C"/>
                </a:solidFill>
              </a:rPr>
              <a:t>Provider outages or maintenance can make data unavailable, and the organisation cannot fix it itself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5221C"/>
                </a:solidFill>
              </a:rPr>
              <a:t>Bandwidth limits: some plans include a limited allowance and charge extra if it is exceeded; large uploads can be slow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5221C"/>
                </a:solidFill>
              </a:rPr>
              <a:t>Security and privacy: data is held by a third party and could be hacked; personal data must still be protected under the UK GDPR and Data Protection Act 2018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5221C"/>
                </a:solidFill>
              </a:rPr>
              <a:t>Ongoing subscription costs never end, and customer support can be slow or cost extra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5221C"/>
                </a:solidFill>
              </a:rPr>
              <a:t>Less control: the organisation depends on the provider's decisions, prices and data centre locations</a:t>
            </a:r>
            <a:endParaRPr lang="en-US" sz="14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Impact on gaming: game producers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5221C"/>
                </a:solidFill>
              </a:rPr>
              <a:t>Games can be sold and downloaded online, so producers no longer pay shops or make discs – savings can be passed on as lower prices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5221C"/>
                </a:solidFill>
              </a:rPr>
              <a:t>Players can download a game the moment it is released instead of waiting for it to reach shops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5221C"/>
                </a:solidFill>
              </a:rPr>
              <a:t>Cloud-based games are much harder to pirate than discs, protecting sales and funding for new games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5221C"/>
                </a:solidFill>
              </a:rPr>
              <a:t>The internet gives access to a global customer base, which can lead to more sales and profit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5221C"/>
                </a:solidFill>
              </a:rPr>
              <a:t>Updates, patches and new content can be released through game servers immediately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5221C"/>
                </a:solidFill>
              </a:rPr>
              <a:t>Demo versions can be offered online to attract new customers</a:t>
            </a:r>
            <a:endParaRPr lang="en-US" sz="16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Impact on gaming: players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Cloud gaming (game streaming): the game runs on powerful servers in a data centre and video of it is streamed to the player's device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Players can enjoy high-quality graphics on a cheap laptop, tablet or phone, without buying the newest console or PC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Less need for big downloads or extra local storage; game saves are kept in the cloud and synced across devices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Drawbacks: needs fast broadband with low latency – lag spoils fast games; streaming high-quality video uses a lot of data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Subscriptions are ongoing, and if the service closes or a game is removed, the player may lose access</a:t>
            </a:r>
            <a:endParaRPr lang="en-US" sz="17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Impact on file storage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5221C"/>
                </a:solidFill>
              </a:rPr>
              <a:t>Files are stored on high-capacity cloud servers rather than only on a local hard drive or USB stick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5221C"/>
                </a:solidFill>
              </a:rPr>
              <a:t>Many cloud apps save work automatically every few seconds, so very little is lost if a device crashes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5221C"/>
                </a:solidFill>
              </a:rPr>
              <a:t>Files stay online until the user deletes them, and many services keep deleted files in a recycle bin for a time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5221C"/>
                </a:solidFill>
              </a:rPr>
              <a:t>Providers keep copies on several servers and can restore files if a server fails – the user does not need technical knowledge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5221C"/>
                </a:solidFill>
              </a:rPr>
              <a:t>Files are synchronised, so the latest version appears on a phone, laptop and school PC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5221C"/>
                </a:solidFill>
              </a:rPr>
              <a:t>Users must keep their account secure: a strong password and two-factor authentication</a:t>
            </a:r>
            <a:endParaRPr lang="en-US" sz="15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1503E"/>
                </a:solidFill>
              </a:rPr>
              <a:t>Impact on file sharing and collaboration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5221C"/>
                </a:solidFill>
              </a:rPr>
              <a:t>Users upload a file once and share a link, instead of emailing large attachments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5221C"/>
                </a:solidFill>
              </a:rPr>
              <a:t>Permissions control who can view, comment on or edit each file or folder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5221C"/>
                </a:solidFill>
              </a:rPr>
              <a:t>Collaborative tools (Google Docs, Sheets and Slides, Microsoft 365 with Word, Excel and PowerPoint online, Teams) let several people edit the same document at the same time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5221C"/>
                </a:solidFill>
              </a:rPr>
              <a:t>Synchronisation (sync) means a change made by one user appears in everyone's copy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5221C"/>
                </a:solidFill>
              </a:rPr>
              <a:t>Version history records who changed what and lets earlier versions be restored; automatic email alerts can tell users when a file changes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5221C"/>
                </a:solidFill>
              </a:rPr>
              <a:t>Teams in different towns or countries can work on the same project as if they were in one room</a:t>
            </a:r>
            <a:endParaRPr lang="en-US" sz="15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1503E"/>
                </a:solidFill>
              </a:rPr>
              <a:t>Worked example: a council planning team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3019143"/>
                <a:gridCol w="2483489"/>
                <a:gridCol w="2726968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Situation at Mid Ulster District Council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How the cloud helps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What to watch out for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Officers work in Dungannon, Cookstown, Magherafelt and at home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All files reachable from any office or home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Every site needs reliable broadband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Four officers write one planning report together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Real-time co-editing; comments and version history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Permissions must be set correctly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Plans and photos take up a lot of space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Buy more storage when needed (scalable)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Subscription cost rises with storage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Files hold residents' personal data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Provider handles backups and security updates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Must comply with the UK GDPR; data held by a third party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A burst pipe floods one office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Files are safe off site and can be opened elsewhere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If the provider has an outage, no one can work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</a:tbl>
          </a:graphicData>
        </a:graphic>
      </p:graphicFrame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Graphic spid="16" grpId="0">
        <p:bldAsOne/>
      </p:bldGraphic>
      <p:bldP spid="25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1 of 9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Which of these best defines cloud computing?</a:t>
            </a:r>
            <a:endParaRPr lang="en-US" sz="1700" dirty="0"/>
          </a:p>
        </p:txBody>
      </p:sp>
      <p:sp>
        <p:nvSpPr>
          <p:cNvPr id="7" name="trig:k1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250" dirty="0">
                <a:solidFill>
                  <a:srgbClr val="15221C"/>
                </a:solidFill>
              </a:rPr>
              <a:t>Storing data on a USB stick</a:t>
            </a:r>
            <a:endParaRPr lang="en-US" sz="1250" dirty="0"/>
          </a:p>
        </p:txBody>
      </p:sp>
      <p:sp>
        <p:nvSpPr>
          <p:cNvPr id="8" name="on:k1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2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250" dirty="0">
                <a:solidFill>
                  <a:srgbClr val="15221C"/>
                </a:solidFill>
              </a:rPr>
              <a:t>Using storage and software on remote servers accessed over the internet</a:t>
            </a:r>
            <a:endParaRPr lang="en-US" sz="1250" dirty="0"/>
          </a:p>
        </p:txBody>
      </p:sp>
      <p:sp>
        <p:nvSpPr>
          <p:cNvPr id="10" name="on:k2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1" name="trig:k3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250" dirty="0">
                <a:solidFill>
                  <a:srgbClr val="15221C"/>
                </a:solidFill>
              </a:rPr>
              <a:t>Connecting devices with Bluetooth</a:t>
            </a:r>
            <a:endParaRPr lang="en-US" sz="1250" dirty="0"/>
          </a:p>
        </p:txBody>
      </p:sp>
      <p:sp>
        <p:nvSpPr>
          <p:cNvPr id="12" name="on:k3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4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250" dirty="0">
                <a:solidFill>
                  <a:srgbClr val="15221C"/>
                </a:solidFill>
              </a:rPr>
              <a:t>Working on a standalone computer offline</a:t>
            </a:r>
            <a:endParaRPr lang="en-US" sz="1250" dirty="0"/>
          </a:p>
        </p:txBody>
      </p:sp>
      <p:sp>
        <p:nvSpPr>
          <p:cNvPr id="14" name="on:k4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2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C7A4B"/>
                </a:solidFill>
              </a:rPr>
              <a:t>✓  B: Using storage and software on remote servers accessed over the internet  –  Cloud computing delivers storage and software on demand from remote servers over the internet.</a:t>
            </a:r>
            <a:endParaRPr lang="en-US" sz="12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1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3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2 of 9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A school's broadband fails for a morning. Why is this a problem if its files are in the cloud?</a:t>
            </a:r>
            <a:endParaRPr lang="en-US" sz="1700" dirty="0"/>
          </a:p>
        </p:txBody>
      </p:sp>
      <p:sp>
        <p:nvSpPr>
          <p:cNvPr id="7" name="trig:k5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250" dirty="0">
                <a:solidFill>
                  <a:srgbClr val="15221C"/>
                </a:solidFill>
              </a:rPr>
              <a:t>Cloud files are deleted when the internet goes down</a:t>
            </a:r>
            <a:endParaRPr lang="en-US" sz="1250" dirty="0"/>
          </a:p>
        </p:txBody>
      </p:sp>
      <p:sp>
        <p:nvSpPr>
          <p:cNvPr id="8" name="on:k5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6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250" dirty="0">
                <a:solidFill>
                  <a:srgbClr val="15221C"/>
                </a:solidFill>
              </a:rPr>
              <a:t>Staff cannot reach the files or cloud software until the connection returns</a:t>
            </a:r>
            <a:endParaRPr lang="en-US" sz="1250" dirty="0"/>
          </a:p>
        </p:txBody>
      </p:sp>
      <p:sp>
        <p:nvSpPr>
          <p:cNvPr id="10" name="on:k6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1" name="trig:k7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250" dirty="0">
                <a:solidFill>
                  <a:srgbClr val="15221C"/>
                </a:solidFill>
              </a:rPr>
              <a:t>The cloud provider charges a fine</a:t>
            </a:r>
            <a:endParaRPr lang="en-US" sz="1250" dirty="0"/>
          </a:p>
        </p:txBody>
      </p:sp>
      <p:sp>
        <p:nvSpPr>
          <p:cNvPr id="12" name="on:k7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8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250" dirty="0">
                <a:solidFill>
                  <a:srgbClr val="15221C"/>
                </a:solidFill>
              </a:rPr>
              <a:t>The files become corrupted</a:t>
            </a:r>
            <a:endParaRPr lang="en-US" sz="1250" dirty="0"/>
          </a:p>
        </p:txBody>
      </p:sp>
      <p:sp>
        <p:nvSpPr>
          <p:cNvPr id="14" name="on:k8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6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C7A4B"/>
                </a:solidFill>
              </a:rPr>
              <a:t>✓  B: Staff cannot reach the files or cloud software until the connection returns  –  Cloud services depend on an internet connection; without it there is downtime for the school.</a:t>
            </a:r>
            <a:endParaRPr lang="en-US" sz="12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1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3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3 of 9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In cloud gaming, where is the game actually processed?</a:t>
            </a:r>
            <a:endParaRPr lang="en-US" sz="1700" dirty="0"/>
          </a:p>
        </p:txBody>
      </p:sp>
      <p:sp>
        <p:nvSpPr>
          <p:cNvPr id="7" name="trig:k9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On the player's device</a:t>
            </a:r>
            <a:endParaRPr lang="en-US" sz="1600" dirty="0"/>
          </a:p>
        </p:txBody>
      </p:sp>
      <p:sp>
        <p:nvSpPr>
          <p:cNvPr id="8" name="on:k9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10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On a game disc</a:t>
            </a:r>
            <a:endParaRPr lang="en-US" sz="1600" dirty="0"/>
          </a:p>
        </p:txBody>
      </p:sp>
      <p:sp>
        <p:nvSpPr>
          <p:cNvPr id="10" name="on:k10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11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On the provider's remote servers</a:t>
            </a:r>
            <a:endParaRPr lang="en-US" sz="1600" dirty="0"/>
          </a:p>
        </p:txBody>
      </p:sp>
      <p:sp>
        <p:nvSpPr>
          <p:cNvPr id="12" name="on:k11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3" name="trig:k12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On the router</a:t>
            </a:r>
            <a:endParaRPr lang="en-US" sz="1600" dirty="0"/>
          </a:p>
        </p:txBody>
      </p:sp>
      <p:sp>
        <p:nvSpPr>
          <p:cNvPr id="14" name="on:k12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11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C7A4B"/>
                </a:solidFill>
              </a:rPr>
              <a:t>✓  C: On the provider's remote servers  –  The server runs the game and streams video to the player, so the player's device can be low-powered.</a:t>
            </a:r>
            <a:endParaRPr lang="en-US" sz="12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1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5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6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4 of 9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Several pupils editing the same Google Doc at the same time is an example of…</a:t>
            </a:r>
            <a:endParaRPr lang="en-US" sz="1700" dirty="0"/>
          </a:p>
        </p:txBody>
      </p:sp>
      <p:sp>
        <p:nvSpPr>
          <p:cNvPr id="7" name="trig:k13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a collaborative tool</a:t>
            </a:r>
            <a:endParaRPr lang="en-US" sz="1600" dirty="0"/>
          </a:p>
        </p:txBody>
      </p:sp>
      <p:sp>
        <p:nvSpPr>
          <p:cNvPr id="8" name="on:k13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9" name="trig:k14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batch processing</a:t>
            </a:r>
            <a:endParaRPr lang="en-US" sz="1600" dirty="0"/>
          </a:p>
        </p:txBody>
      </p:sp>
      <p:sp>
        <p:nvSpPr>
          <p:cNvPr id="10" name="on:k14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15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a standalone system</a:t>
            </a:r>
            <a:endParaRPr lang="en-US" sz="1600" dirty="0"/>
          </a:p>
        </p:txBody>
      </p:sp>
      <p:sp>
        <p:nvSpPr>
          <p:cNvPr id="12" name="on:k15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16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a bus network</a:t>
            </a:r>
            <a:endParaRPr lang="en-US" sz="1600" dirty="0"/>
          </a:p>
        </p:txBody>
      </p:sp>
      <p:sp>
        <p:nvSpPr>
          <p:cNvPr id="14" name="on:k16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13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C7A4B"/>
                </a:solidFill>
              </a:rPr>
              <a:t>✓  A: a collaborative tool  –  Collaborative cloud tools such as Google Docs and Microsoft 365 allow real-time co-editing.</a:t>
            </a:r>
            <a:endParaRPr lang="en-US" sz="12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9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0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6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8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5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3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5 of 9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What does 'scalable' mean when describing cloud storage?</a:t>
            </a:r>
            <a:endParaRPr lang="en-US" sz="1700" dirty="0"/>
          </a:p>
        </p:txBody>
      </p:sp>
      <p:sp>
        <p:nvSpPr>
          <p:cNvPr id="7" name="trig:k17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It is very secure</a:t>
            </a:r>
            <a:endParaRPr lang="en-US" sz="1400" dirty="0"/>
          </a:p>
        </p:txBody>
      </p:sp>
      <p:sp>
        <p:nvSpPr>
          <p:cNvPr id="8" name="on:k17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18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It uses optical fibre</a:t>
            </a:r>
            <a:endParaRPr lang="en-US" sz="1400" dirty="0"/>
          </a:p>
        </p:txBody>
      </p:sp>
      <p:sp>
        <p:nvSpPr>
          <p:cNvPr id="10" name="on:k18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19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It cannot be changed</a:t>
            </a:r>
            <a:endParaRPr lang="en-US" sz="1400" dirty="0"/>
          </a:p>
        </p:txBody>
      </p:sp>
      <p:sp>
        <p:nvSpPr>
          <p:cNvPr id="12" name="on:k19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20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Capacity can easily be increased or decreased</a:t>
            </a:r>
            <a:endParaRPr lang="en-US" sz="1400" dirty="0"/>
          </a:p>
        </p:txBody>
      </p:sp>
      <p:sp>
        <p:nvSpPr>
          <p:cNvPr id="14" name="on:k20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5" name="anim:reveal on:k20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C7A4B"/>
                </a:solidFill>
              </a:rPr>
              <a:t>✓  D: Capacity can easily be increased or decreased  –  The organisation can buy more or less storage as its needs change.</a:t>
            </a:r>
            <a:endParaRPr lang="en-US" sz="12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1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6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7" fill="hold">
                      <p:stCondLst>
                        <p:cond delay="0"/>
                      </p:stCondLst>
                      <p:childTnLst>
                        <p:par>
                          <p:cTn id="5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5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5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0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1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6 of 9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Which is a disadvantage of cloud computing for an organisation?</a:t>
            </a:r>
            <a:endParaRPr lang="en-US" sz="1700" dirty="0"/>
          </a:p>
        </p:txBody>
      </p:sp>
      <p:sp>
        <p:nvSpPr>
          <p:cNvPr id="7" name="trig:k21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Staff can work from home</a:t>
            </a:r>
            <a:endParaRPr lang="en-US" sz="1400" dirty="0"/>
          </a:p>
        </p:txBody>
      </p:sp>
      <p:sp>
        <p:nvSpPr>
          <p:cNvPr id="8" name="on:k21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22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Software is updated automatically</a:t>
            </a:r>
            <a:endParaRPr lang="en-US" sz="1400" dirty="0"/>
          </a:p>
        </p:txBody>
      </p:sp>
      <p:sp>
        <p:nvSpPr>
          <p:cNvPr id="10" name="on:k22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23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Data is held by a third party and could be hacked</a:t>
            </a:r>
            <a:endParaRPr lang="en-US" sz="1400" dirty="0"/>
          </a:p>
        </p:txBody>
      </p:sp>
      <p:sp>
        <p:nvSpPr>
          <p:cNvPr id="12" name="on:k23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3" name="trig:k24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Data is backed up regularly</a:t>
            </a:r>
            <a:endParaRPr lang="en-US" sz="1400" dirty="0"/>
          </a:p>
        </p:txBody>
      </p:sp>
      <p:sp>
        <p:nvSpPr>
          <p:cNvPr id="14" name="on:k24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23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C7A4B"/>
                </a:solidFill>
              </a:rPr>
              <a:t>✓  C: Data is held by a third party and could be hacked  –  Security and privacy are concerns because the provider, not the organisation, holds the data.</a:t>
            </a:r>
            <a:endParaRPr lang="en-US" sz="12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1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5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6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7 of 9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How does selling games through the cloud help game producers?</a:t>
            </a:r>
            <a:endParaRPr lang="en-US" sz="1700" dirty="0"/>
          </a:p>
        </p:txBody>
      </p:sp>
      <p:sp>
        <p:nvSpPr>
          <p:cNvPr id="7" name="trig:k25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250" dirty="0">
                <a:solidFill>
                  <a:srgbClr val="15221C"/>
                </a:solidFill>
              </a:rPr>
              <a:t>Games can no longer be updated</a:t>
            </a:r>
            <a:endParaRPr lang="en-US" sz="1250" dirty="0"/>
          </a:p>
        </p:txBody>
      </p:sp>
      <p:sp>
        <p:nvSpPr>
          <p:cNvPr id="8" name="on:k25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26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250" dirty="0">
                <a:solidFill>
                  <a:srgbClr val="15221C"/>
                </a:solidFill>
              </a:rPr>
              <a:t>It removes the cost of discs and shops and reaches a global market</a:t>
            </a:r>
            <a:endParaRPr lang="en-US" sz="1250" dirty="0"/>
          </a:p>
        </p:txBody>
      </p:sp>
      <p:sp>
        <p:nvSpPr>
          <p:cNvPr id="10" name="on:k26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1" name="trig:k27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250" dirty="0">
                <a:solidFill>
                  <a:srgbClr val="15221C"/>
                </a:solidFill>
              </a:rPr>
              <a:t>Players need more powerful consoles</a:t>
            </a:r>
            <a:endParaRPr lang="en-US" sz="1250" dirty="0"/>
          </a:p>
        </p:txBody>
      </p:sp>
      <p:sp>
        <p:nvSpPr>
          <p:cNvPr id="12" name="on:k27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28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250" dirty="0">
                <a:solidFill>
                  <a:srgbClr val="15221C"/>
                </a:solidFill>
              </a:rPr>
              <a:t>It makes broadband unnecessary</a:t>
            </a:r>
            <a:endParaRPr lang="en-US" sz="1250" dirty="0"/>
          </a:p>
        </p:txBody>
      </p:sp>
      <p:sp>
        <p:nvSpPr>
          <p:cNvPr id="14" name="on:k28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26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C7A4B"/>
                </a:solidFill>
              </a:rPr>
              <a:t>✓  B: It removes the cost of discs and shops and reaches a global market  –  Online distribution cuts costs and reaches customers worldwide.</a:t>
            </a:r>
            <a:endParaRPr lang="en-US" sz="12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1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3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8 of 9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What does version history allow a user to do?</a:t>
            </a:r>
            <a:endParaRPr lang="en-US" sz="1700" dirty="0"/>
          </a:p>
        </p:txBody>
      </p:sp>
      <p:sp>
        <p:nvSpPr>
          <p:cNvPr id="7" name="trig:k29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See who changed a file and restore an earlier version</a:t>
            </a:r>
            <a:endParaRPr lang="en-US" sz="1400" dirty="0"/>
          </a:p>
        </p:txBody>
      </p:sp>
      <p:sp>
        <p:nvSpPr>
          <p:cNvPr id="8" name="on:k29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9" name="trig:k30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Speed up the internet</a:t>
            </a:r>
            <a:endParaRPr lang="en-US" sz="1400" dirty="0"/>
          </a:p>
        </p:txBody>
      </p:sp>
      <p:sp>
        <p:nvSpPr>
          <p:cNvPr id="10" name="on:k30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31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Make files smaller</a:t>
            </a:r>
            <a:endParaRPr lang="en-US" sz="1400" dirty="0"/>
          </a:p>
        </p:txBody>
      </p:sp>
      <p:sp>
        <p:nvSpPr>
          <p:cNvPr id="12" name="on:k31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32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Stop anyone else opening the file</a:t>
            </a:r>
            <a:endParaRPr lang="en-US" sz="1400" dirty="0"/>
          </a:p>
        </p:txBody>
      </p:sp>
      <p:sp>
        <p:nvSpPr>
          <p:cNvPr id="14" name="on:k32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29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C7A4B"/>
                </a:solidFill>
              </a:rPr>
              <a:t>✓  A: See who changed a file and restore an earlier version  –  Version history records changes and lets users go back to earlier versions.</a:t>
            </a:r>
            <a:endParaRPr lang="en-US" sz="12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9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0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6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8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5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3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9 of 9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Why does cloud gaming need a connection with low latency?</a:t>
            </a:r>
            <a:endParaRPr lang="en-US" sz="1700" dirty="0"/>
          </a:p>
        </p:txBody>
      </p:sp>
      <p:sp>
        <p:nvSpPr>
          <p:cNvPr id="7" name="trig:k33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To store more games</a:t>
            </a:r>
            <a:endParaRPr lang="en-US" sz="1400" dirty="0"/>
          </a:p>
        </p:txBody>
      </p:sp>
      <p:sp>
        <p:nvSpPr>
          <p:cNvPr id="8" name="on:k33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34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To reduce the price of the game</a:t>
            </a:r>
            <a:endParaRPr lang="en-US" sz="1400" dirty="0"/>
          </a:p>
        </p:txBody>
      </p:sp>
      <p:sp>
        <p:nvSpPr>
          <p:cNvPr id="10" name="on:k34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35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To make the screen brighter</a:t>
            </a:r>
            <a:endParaRPr lang="en-US" sz="1400" dirty="0"/>
          </a:p>
        </p:txBody>
      </p:sp>
      <p:sp>
        <p:nvSpPr>
          <p:cNvPr id="12" name="on:k35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36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So the game responds quickly without lag</a:t>
            </a:r>
            <a:endParaRPr lang="en-US" sz="1400" dirty="0"/>
          </a:p>
        </p:txBody>
      </p:sp>
      <p:sp>
        <p:nvSpPr>
          <p:cNvPr id="14" name="on:k36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5" name="anim:reveal on:k36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C7A4B"/>
                </a:solidFill>
              </a:rPr>
              <a:t>✓  D: So the game responds quickly without lag  –  High latency causes a delay between pressing a button and seeing the result, which spoils fast games.</a:t>
            </a:r>
            <a:endParaRPr lang="en-US" sz="12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1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6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7" fill="hold">
                      <p:stCondLst>
                        <p:cond delay="0"/>
                      </p:stCondLst>
                      <p:childTnLst>
                        <p:par>
                          <p:cTn id="5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5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5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0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1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 answers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3291840"/>
                <a:gridCol w="43891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Q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Answer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Why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1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B  Using storage and software on remote servers accessed over the internet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Cloud computing delivers storage and software on demand from remote servers over the internet.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2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B  Staff cannot reach the files or cloud software until the connection returns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Cloud services depend on an internet connection; without it there is downtime for the school.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3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C  On the provider's remote servers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The server runs the game and streams video to the player, so the player's device can be low-powered.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4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A  a collaborative tool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Collaborative cloud tools such as Google Docs and Microsoft 365 allow real-time co-editing.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5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D  Capacity can easily be increased or decreased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The organisation can buy more or less storage as its needs change.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6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C  Data is held by a third party and could be hacked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Security and privacy are concerns because the provider, not the organisation, holds the data.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7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B  It removes the cost of discs and shops and reaches a global market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Online distribution cuts costs and reaches customers worldwide.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8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A  See who changed a file and restore an earlier version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Version history records changes and lets users go back to earlier versions.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9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D  So the game responds quickly without lag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High latency causes a delay between pressing a button and seeing the result, which spoils fast games.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</a:tbl>
          </a:graphicData>
        </a:graphic>
      </p:graphicFrame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25" grpId="0" animBg="1"/>
      <p:bldGraphic spid="26" grpId="0">
        <p:bldAsOne/>
      </p:bldGraphic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In the exam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097280"/>
                <a:gridCol w="822960"/>
                <a:gridCol w="49377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Paper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Question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Marks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What it tested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Unit 1 2019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Q7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4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Cloud computing benefits for gaming (QWC)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Unit 1 2022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Q2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3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Optical, capacity, cloud storage terms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Unit 1 2023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Q9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6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Cloud computing, business benefits, cloud gaming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Unit 1 2024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Q2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4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Cloud definition, benefits and risks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6675E"/>
                </a:solidFill>
              </a:rPr>
              <a:t>Papers and mark schemes: ccea.org.uk → GCSE Digital Technology → Past Papers &amp; Mark Schemes.</a:t>
            </a:r>
            <a:endParaRPr lang="en-US" sz="11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7" grpId="0" animBg="1"/>
      <p:bldP spid="25" grpId="0" animBg="1"/>
      <p:bldGraphic spid="27" grpId="0">
        <p:bldAsOne/>
      </p:bldGraphic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Cloud technology</dc:title>
  <dc:subject>Unit 1: Digital Technology – Cloud technology</dc:subject>
  <dc:creator>Digital Technology Hub</dc:creator>
  <cp:lastModifiedBy>Digital Technology Hub</cp:lastModifiedBy>
  <cp:revision>1</cp:revision>
  <dcterms:created xsi:type="dcterms:W3CDTF">2026-10-30T13:15:40Z</dcterms:created>
  <dcterms:modified xsi:type="dcterms:W3CDTF">2026-10-30T13:15:40Z</dcterms:modified>
</cp:coreProperties>
</file>