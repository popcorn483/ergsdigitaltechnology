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150b477b-5369-1027-60d5-7ade2be4e575}">
          <p14:sldIdLst>
            <p14:sldId id="256"/>
            <p14:sldId id="257"/>
            <p14:sldId id="258"/>
          </p14:sldIdLst>
        </p14:section>
        <p14:section name="L06 · System software and modes of processing" id="{2bbee98f-d1b5-920b-c832-42b4cf40d4ba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L07 · Utility applications and antivirus software" id="{4c418c87-8f62-06aa-778a-eb4b3e93f90f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Distinguish between system software and application software | Describe the functions of system software, referring to allocating memory, storage and processing time | Describe the boot-up sequence | Describe the following modes of processing: real-time, batch and multi-user | Choose and justify a mode of processing for a given application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following tasks carried out by the utility applications: disk defragmenting, task scheduling, backup and restoring data | Explain why file fragmentation happens and how defragmentation improves performance | Describe full and incremental backups and a suitable backup procedure | Describe the role of antivirus software and the importance of regular updates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GCSE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30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2" Type="http://schemas.openxmlformats.org/officeDocument/2006/relationships/slide" Target="slide16.xml"/><Relationship Id="rId13" Type="http://schemas.openxmlformats.org/officeDocument/2006/relationships/slide" Target="slide17.xml"/><Relationship Id="rId14" Type="http://schemas.openxmlformats.org/officeDocument/2006/relationships/slide" Target="slide18.xml"/><Relationship Id="rId15" Type="http://schemas.openxmlformats.org/officeDocument/2006/relationships/slide" Target="slide19.xml"/><Relationship Id="rId16" Type="http://schemas.openxmlformats.org/officeDocument/2006/relationships/slide" Target="slide2.xml"/><Relationship Id="rId1" Type="http://schemas.openxmlformats.org/officeDocument/2006/relationships/image" Target="../media/image-5-1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3" Type="http://schemas.openxmlformats.org/officeDocument/2006/relationships/slide" Target="slide33.xml"/><Relationship Id="rId4" Type="http://schemas.openxmlformats.org/officeDocument/2006/relationships/slide" Target="slide34.xml"/><Relationship Id="rId5" Type="http://schemas.openxmlformats.org/officeDocument/2006/relationships/slide" Target="slide35.xml"/><Relationship Id="rId6" Type="http://schemas.openxmlformats.org/officeDocument/2006/relationships/slide" Target="slide36.xml"/><Relationship Id="rId7" Type="http://schemas.openxmlformats.org/officeDocument/2006/relationships/slide" Target="slide37.xml"/><Relationship Id="rId8" Type="http://schemas.openxmlformats.org/officeDocument/2006/relationships/slide" Target="slide38.xml"/><Relationship Id="rId9" Type="http://schemas.openxmlformats.org/officeDocument/2006/relationships/slide" Target="slide39.xml"/><Relationship Id="rId10" Type="http://schemas.openxmlformats.org/officeDocument/2006/relationships/slide" Target="slide40.xml"/><Relationship Id="rId11" Type="http://schemas.openxmlformats.org/officeDocument/2006/relationships/slide" Target="slide41.xml"/><Relationship Id="rId12" Type="http://schemas.openxmlformats.org/officeDocument/2006/relationships/slide" Target="slide42.xml"/><Relationship Id="rId13" Type="http://schemas.openxmlformats.org/officeDocument/2006/relationships/slide" Target="slide43.xml"/><Relationship Id="rId14" Type="http://schemas.openxmlformats.org/officeDocument/2006/relationships/slide" Target="slide44.xml"/><Relationship Id="rId15" Type="http://schemas.openxmlformats.org/officeDocument/2006/relationships/slide" Target="slide45.xml"/><Relationship Id="rId16" Type="http://schemas.openxmlformats.org/officeDocument/2006/relationships/slide" Target="slide2.xml"/><Relationship Id="rId1" Type="http://schemas.openxmlformats.org/officeDocument/2006/relationships/image" Target="../media/image-31-1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Software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L06  System software and modes of processing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L07  Utility applications and antivirus software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3" action="ppaction://hlinksldjump" tooltip="L06  System software and modes of process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L06  System software and modes of processing</a:t>
            </a:r>
            <a:endParaRPr lang="en-US" sz="13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4" action="ppaction://hlinksldjump" tooltip="L07  Utility applications and antivirus softwa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L07  Utility applications and antivirus software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L06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Distinguish between system software and application software; Describe the functions of system software, referring to allocating memory, storage and processing time; Describe the boot-up sequence; Describe the following modes of processing: real-time, batch and multi-user; Choose and justify a mode of processing for a given application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L07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following tasks carried out by the utility applications: disk defragmenting, task scheduling, backup and restoring data; Explain why file fragmentation happens and how defragmentation improves performance; Describe full and incremental backups and a suitable backup procedure; Describe the role of antivirus software and the importance of regular updates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L06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System software and modes of processing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Distinguish between system software and application software, and between packaged and tailored software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how the operating system allocates memory, storage and processing time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real-time, batch and multi-user processing with examples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how batch processing uses a master file and a transaction file to produce bills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System software vs application softwa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 software vs application software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Packaged and tailored softwa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Packaged and tailored software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Allocating mem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Allocating memory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Allocating stor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Allocating storage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4612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Allocating processing ti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Allocating processing time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The boot-up seque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boot-up sequence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Real-time process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Real-time processing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Batch process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 processing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Worked example: electricity bil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electricity bills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603504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Multi-user syste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Multi-user systems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603504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Comparing modes of process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Comparing modes of processing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Choosing a m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Choosing a mode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5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he operating system allocating memory, storage and processing ti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The operating system allocating memory, storage and processing time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System software vs application software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Software: the instructions (programs) that control the hardware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System software runs the computer itself; it sits between the hardware and the user's applications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Examples of system software: the operating system (Windows, macOS, Android, iOS, Linux), utilities, device drivers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Application software lets the user do a particular task, e.g. word processing, spreadsheets, web browsing, games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Applications cannot run without system software underneath them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Packaged and tailored software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22218"/>
                <a:gridCol w="3273136"/>
                <a:gridCol w="383424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Packaged (off-the-shelf)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Tailored (bespoke)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Made for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Many users with common needs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organisation's exact needs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Low; cost shared by many buyers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High; one organisation pays for all of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Availability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Ready to use straight away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Takes time to design, write and test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Support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Lots of guides, tutorials and users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Help only from the developer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Examples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Microsoft Word, Excel, Photoshop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hospital's patient booking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9" grpId="0">
        <p:bldAsOne/>
      </p:bldGraphic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Allocating memory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Programs and files must be loaded from storage into main memory (RAM) before the CPU can use them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operating system finds free space in RAM and gives it to the program or file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keeps each program's memory separate so one cannot overwrite another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When a program closes, its memory is freed for something else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RAM is full, the OS can use part of the storage drive as virtual memory (slower)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Allocating storage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OS manages files and folders on storage devices such as hard drives and USB drives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decides where each file is saved and keeps a record of its location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frees the space when files are deleted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controls who can read or change each file (permissions)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Allocating processing time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CPU core can only carry out one instruction at a time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OS divides processor time into small time slices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running task gets slices in turn; more important (higher-priority) tasks get more slices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Switching is so fast that programs seem to run at the same time (multitasking)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OS also monitors performance, such as response time and how busy the processor is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boot-up sequence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1. The computer is switched on and the CPU runs start-up instructions stored in ROM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2. These instructions test the hardware is working (e.g. memory, keyboard, drives)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3. They find the operating system on the storage drive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4. The OS is loaded from storage into RAM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5. The OS takes control and the user can log in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ROM is used because it is non-volatile: the instructions are not lost when the power is off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Real-time processing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item of data is processed the instant it is entered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output is produced quickly enough to affect the next input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Examples: concert or flight booking, online stock control, air traffic control, traffic lights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Booking: when one seat is sold, it is marked as taken at once, so it cannot be sold twice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Air traffic control: each plane's position on screen must be updated straight away to prevent accidents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Batch processing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Similar data is collected into groups (batches) over a period of time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whole batch is processed together later, with no human involvement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Usually run when the computer is least busy, e.g. overnight or at weekends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Suits large volumes of data that do not need an instant result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Examples: electricity, gas and phone bills; weekly or monthly payroll; monthly bank statements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While the batch runs, the computer is not available for other work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electricity bills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Master file: permanent customer details (account number, name, address, past readings)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Meter readings are collected and stored with account numbers in a temporary transaction file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Each transaction record is matched to the master file record with the same account number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Bill = units used × price per unit, e.g. readings 45 210 → 46 060 = 850 units; 850 × £0.285 = £242.25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Bills are printed or emailed as one batch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 master file is updated from the transaction file, ready for the next quarter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Multi-user systems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Many users at different computers share the processor of one powerful computer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Also called a time-sharing system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OS gives each user a small time slice in turn: the round robin method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After the last user, it starts again with the first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processor is so fast that every user seems to have the computer to themselves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Example: four terminals with 20 ms slices: each user gets a turn every 80 ms, 12.5 times per second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Comparing modes of processing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48145"/>
                <a:gridCol w="4488873"/>
                <a:gridCol w="299258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Real-time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Each input processed at once; output affects next input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Booking seats for a gig at the SSE Arena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Batch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collected, then processed together later without people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Monthly payroll for a council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Multi-user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Many users share one processor using time slices in turn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Pupils using a shared school server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8" grpId="0">
        <p:bldAsOne/>
      </p:bldGraphic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Choosing a mode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Does the result have to be instant, or could a delay cause a problem? → real-time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Is there a large amount of similar data that can wait? → batch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Do many people need to use one system at the same time? → multi-user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Always justify your choice with a reason linked to the scenario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An airline booking system must mark a seat as sold the moment it is booked. Which mode of processing is this?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Batch processing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Real-time processing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Lossy processing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Offline processing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Real-time processing  –  Real-time processing updates the data immediately, preventing the same seat being sold twice.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task is best suited to batch processing?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Booking a concert seat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Controlling traffic lights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Producing monthly electricity bills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Playing an online game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Producing monthly electricity bills  –  Bills involve lots of similar data that can be collected and processed together later.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of these is system software?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spreadsheet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web browser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photo editor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operating system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An operating system  –  The operating system manages the hardware and other software.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the OS do when allocating processing time?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Gives each task a time slice of the processor</a:t>
            </a:r>
            <a:endParaRPr lang="en-US" sz="14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Defragments the disk</a:t>
            </a:r>
            <a:endParaRPr lang="en-US" sz="14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Encrypts files</a:t>
            </a:r>
            <a:endParaRPr lang="en-US" sz="14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Backs up data</a:t>
            </a:r>
            <a:endParaRPr lang="en-US" sz="14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Gives each task a time slice of the processor  –  Processor time is divided into slices shared between tasks.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Where are the first instructions run at boot-up stored?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RAM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Cache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cloud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ROM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2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ROM  –  ROM is non-volatile, so the instructions are there when the computer is switched on.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batch processing, which file is permanent or semi-permanent?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Master file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Transaction file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Buffer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Temporary file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Master file  –  The master file holds customer details and is updated using the transaction file.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school's pupil-records database written just for it is…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packaged software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tailored software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utility software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freeware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tailored software  –  Software developed for one specific organisation is tailored (bespoke).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a multi-user system, how is the processor shared?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Users queue until the first user logs off</a:t>
            </a:r>
            <a:endParaRPr lang="en-US" sz="14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Each user gets a time slice in turn (round robin)</a:t>
            </a:r>
            <a:endParaRPr lang="en-US" sz="14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Each user gets their own processor</a:t>
            </a:r>
            <a:endParaRPr lang="en-US" sz="14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Jobs are saved and run overnight</a:t>
            </a:r>
            <a:endParaRPr lang="en-US" sz="14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Each user gets a time slice in turn (round robin)  –  The OS cycles through the users quickly, giving each a slice so all appear to have constant access.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CPU stand for?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Computer Personal Unit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Central Program Utility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Central Processing Unit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Control Processing Unit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Central Processing Unit  –  Central Processing Unit.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Real-time processing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Real-time processing updates the data immediately, preventing the same seat being sold twice.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Producing monthly electricity bills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Bills involve lots of similar data that can be collected and processed together later.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An operating system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operating system manages the hardware and other software.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Gives each task a time slice of the processor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Processor time is divided into slices shared between tasks.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ROM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ROM is non-volatile, so the instructions are there when the computer is switched 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Master file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master file holds customer details and is updated using the transaction file.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tailored software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Software developed for one specific organisation is tailored (bespoke).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Each user gets a time slice in turn (round robin)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OS cycles through the users quickly, giving each a slice so all appear to have constant access.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Central Processing Unit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Central Processing Unit.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29" grpId="0">
        <p:bldAsOne/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MCQ: storage, bit rate, real-time, compression, buffering, ADC, big data, backup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CPU, system software resources, real-time vs multi-user, utilities, I/O devices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Batch processing, backups, freeing disk space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Key term matching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Boot process, OS roles, storage conversion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30" grpId="0">
        <p:bldAsOne/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L07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Utility applications and antivirus software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files become fragmented and how a defragmenter speeds up file access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what a task scheduler does, including round robin sharing of processor time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full and incremental backups, how data is restored and why backups are needed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antivirus software works and why it must be updated regularly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at is a utility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utility?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Why files become fragmen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files become fragmented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Defragment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Defragmentation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Task scheduling: sharing the process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scheduling: sharing the processor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4612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Task scheduling: running jobs automaticall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scheduling: running jobs automatically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Why back up data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back up data?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Full and incremental backu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and incremental backups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Worked example: a school backup pl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school backup plan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Restoring 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Restoring data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603504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Virus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Viruses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603504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How antivirus software wo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antivirus software works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Why update antivirus regularly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update antivirus regularly?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5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Disk blocks before and after defragment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Disk blocks before and after defragmentation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a utility?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utility is a small program that carries out one specific task to help the operating system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Utilities maintain, protect or speed up the computer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Specification utilities: disk defragmenter, task scheduler, backup and restore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Antivirus software is also a utility; WinZip (file compression) is another example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Utilities are system software, not application software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files become fragmented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OS splits each file into equal-sized data blocks before saving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block is stored in any free block space on the disk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Over time, files are saved and deleted, leaving small gaps of free space all over the disk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new large file may not fit in one place, so its blocks are scattered: file fragmentation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 a hard disk drive, the read/write head has to move all over the disk to read one file, which is slow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Defragmentation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disk defragmenter rearranges the blocks on the disk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blocks of each file are moved together so they are stored next to each other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All the free space is gathered into one area of the disk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head moves less, so files open and save faster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Example: A1 B3 A2 A4 B2 A3 B1 B4 becomes A1 A2 A3 A4 B1 B2 B3 B4, then free space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Solid-state drives (SSDs) should not be defragmented: they have no moving parts, and extra writing wears them out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Task scheduling: sharing the processor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Task scheduling divides processor time between a number of tasks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Aim: keep the processor busy and make the system as efficient as possible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Round robin: the processor gives computer 1 a short turn, then computer 2, then computer 3, in a fixed order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When every computer has had a turn, the cycle repeats from computer 1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processor is so fast that every user seems to have uninterrupted access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Task scheduling: running jobs automatically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task scheduler also runs jobs at a set time or when an event happens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Examples: a full virus scan every Friday, a backup at 2 a.m., updates when the computer shuts down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Jobs run when the computer is not busy, so users are not disrupted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Important jobs are never forgotten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can warn the user before a job starts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back up data?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backup is a copy of data kept separately in case the original is damaged or lost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hard disk could fail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virus or ransomware could destroy or lock the data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Someone could delete a file by accident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fire, flood or theft could destroy the building and its computers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Losing data could be disastrous, e.g. a hospital losing patient records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Full and incremental backups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25685"/>
                <a:gridCol w="2188723"/>
                <a:gridCol w="481519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Full backup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Incremental backup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What is copied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All the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Only data changed since the last backup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Time taken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Short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Storage needed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lot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Much less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Restoring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Simple: one backup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Needs the last full backup plus every incremental since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Typical 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Weekly, e.g. Sunday night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Daily, e.g. Monday to Saturday nights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0" grpId="0">
        <p:bldAsOne/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a school backup plan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school server holds 200 GB of data; about 5 GB changes each day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Full backup every night: 7 × 200 GB = 1 400 GB stored each week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Full backup on Sunday + incremental Monday to Saturday: 200 + (6 × 5) = 230 GB a week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That saves 1 170 GB a week, and the nightly backups finish much faster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Copies kept off-site or in the cloud, scheduled overnight when the network is quiet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Restoring data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Restore: copying data back from a backup to return it to an earlier state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Used after data is lost, corrupted, deleted or encrypted by ransomware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most recent backup is used so as little work as possible is lost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How often to back up depends on how often the data changes: daily, or after every transaction for real-time systems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Backups must be tested regularly to make sure they can actually be restored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Viruses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virus is a program that attaches itself to a file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When the file is opened, the virus runs and copies itself to other files and other computers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can delete or damage data, stop a computer starting up or slow it down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Viruses spread through email attachments, downloads, USB drives and networks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How antivirus software works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Scans files on all connected storage, plus emails and downloads coming into the computer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Compares them with a database of known virus signatures (patterns of code)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Can also spot suspicious behaviour that looks like a new virus (heuristic checking)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Infected files are deleted, repaired or moved to quarantine so they cannot run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Real-time protection scans files as they are opened; full scans can be scheduled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update antivirus regularly?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New viruses are created all the time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Antivirus can only recognise viruses whose signatures are in its database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Without updates, the newest viruses will not be detected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Updates also fix weaknesses in the antivirus program itself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Best practice: set updates to download automatically, at least daily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does a disk defragmenter make a hard disk drive faster?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deletes unwanted files</a:t>
            </a:r>
            <a:endParaRPr lang="en-US" sz="125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stores each file's blocks together so the read/write head moves less</a:t>
            </a:r>
            <a:endParaRPr lang="en-US" sz="125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compresses every file</a:t>
            </a:r>
            <a:endParaRPr lang="en-US" sz="125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scans for viruses</a:t>
            </a:r>
            <a:endParaRPr lang="en-US" sz="125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It stores each file's blocks together so the read/write head moves less  –  With each file in one continuous area, the head does not have to jump around the disk.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must antivirus software be updated regularly?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make the computer start faster</a:t>
            </a:r>
            <a:endParaRPr lang="en-US" sz="14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free up disk space</a:t>
            </a:r>
            <a:endParaRPr lang="en-US" sz="14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So it can recognise the signatures of newly created viruses</a:t>
            </a:r>
            <a:endParaRPr lang="en-US" sz="14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So it can defragment the disk</a:t>
            </a:r>
            <a:endParaRPr lang="en-US" sz="14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So it can recognise the signatures of newly created viruses  –  It can only detect viruses whose signatures are in its database, and new viruses appear all the time.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An incremental backup copies…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only files changed since the last backup</a:t>
            </a:r>
            <a:endParaRPr lang="en-US" sz="14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everything on the drive</a:t>
            </a:r>
            <a:endParaRPr lang="en-US" sz="14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only the operating system</a:t>
            </a:r>
            <a:endParaRPr lang="en-US" sz="14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only photos</a:t>
            </a:r>
            <a:endParaRPr lang="en-US" sz="14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only files changed since the last backup  –  It saves time and storage space compared with a full backup.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utility would run a backup automatically every night?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Defragmenter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Firewall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Compiler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Task scheduler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5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Task scheduler  –  A task scheduler runs jobs at set times.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After defragmenting, the blocks A1 B3 A2 A4 B2 A3 B1 B4 become…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A1 B1 A2 B2 A3 B3 A4 B4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B1 B2 B3 B4 A1 A2 A3 A4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A1 A2 A3 A4 B1 B2 B3 B4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Unchanged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A1 A2 A3 A4 B1 B2 B3 B4  –  Each file's blocks are stored together in order, with free space gathered at the end.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NOT a reason to back up data?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hard drive may fail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virus may destroy the data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fire may destroy the building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makes the processor faster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6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It makes the processor faster  –  Backups protect against data loss; they do not change processor speed.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round robin scheduling, what happens after the processor serves the last computer?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switches off</a:t>
            </a:r>
            <a:endParaRPr lang="en-US" sz="14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starts again with the first computer</a:t>
            </a:r>
            <a:endParaRPr lang="en-US" sz="14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waits for the user to log off</a:t>
            </a:r>
            <a:endParaRPr lang="en-US" sz="14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serves the busiest computer only</a:t>
            </a:r>
            <a:endParaRPr lang="en-US" sz="14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It starts again with the first computer  –  The processor cycles through each computer in turn, over and over.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a virus signature?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pattern of code that identifies a particular virus</a:t>
            </a:r>
            <a:endParaRPr lang="en-US" sz="14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name of the person who wrote the virus</a:t>
            </a:r>
            <a:endParaRPr lang="en-US" sz="14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password to unlock infected files</a:t>
            </a:r>
            <a:endParaRPr lang="en-US" sz="14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digital certificate on a website</a:t>
            </a:r>
            <a:endParaRPr lang="en-US" sz="14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A pattern of code that identifies a particular virus  –  Antivirus software compares files with these known patterns.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It stores each file's blocks together so the read/write head moves less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With each file in one continuous area, the head does not have to jump around the disk.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So it can recognise the signatures of newly created viruses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can only detect viruses whose signatures are in its database, and new viruses appear all the time.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only files changed since the last backup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saves time and storage space compared with a full backup.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Task scheduler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task scheduler runs jobs at set times.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A1 A2 A3 A4 B1 B2 B3 B4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Each file's blocks are stored together in order, with free space gathered at the end.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It makes the processor faster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Backups protect against data loss; they do not change processor speed.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It starts again with the first computer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processor cycles through each computer in turn, over and over.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 pattern of code that identifies a particular virus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Antivirus software compares files with these known patterns.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4" grpId="0">
        <p:bldAsOne/>
      </p:bldGraphic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Q5(b)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Defragmenting and task scheduling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MCQ: storage, bit rate, real-time, compression, buffering, ADC, big data, backup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3D printing, utilities and security, graphics digitiser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CPU, system software resources, real-time vs multi-user, utilities, I/O devices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Batch processing, backups, freeing disk space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Key term matching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55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</dc:title>
  <dc:subject>Unit 1: Digital Technology – Software</dc:subject>
  <dc:creator>Digital Technology Hub</dc:creator>
  <cp:lastModifiedBy>Digital Technology Hub</cp:lastModifiedBy>
  <cp:revision>1</cp:revision>
  <dcterms:created xsi:type="dcterms:W3CDTF">2026-10-30T13:15:34Z</dcterms:created>
  <dcterms:modified xsi:type="dcterms:W3CDTF">2026-10-30T13:15:34Z</dcterms:modified>
</cp:coreProperties>
</file>