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56bbe8c2-915f-4d83-2b12-5b29a31d8d78}">
          <p14:sldIdLst>
            <p14:sldId id="256"/>
            <p14:sldId id="257"/>
            <p14:sldId id="258"/>
          </p14:sldIdLst>
        </p14:section>
        <p14:section name="AP16 · Programs, algorithms and their design" id="{e440a38d-7155-da2f-19cf-47019876116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P17 · Searching algorithms" id="{600bc467-f1fa-cdec-4781-95e708d30949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AP18 · Sorting algorithms" id="{0086bbbf-218d-febe-b25a-a456fe93ee89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a computer program | Explain the term algorithm and the properties a good algorithm must have | Explain decomposition and abstraction as techniques for solving problems | Describe how algorithms can be represented using pseudocode and flowcharts | Use trace tables and dry runs to test an algorithm and find logic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how a linear search and a binary search work, using pseudocode, flowcharts and trace tables | Implement linear search and binary search in C# | Compare the efficiency of searching algorithms in terms of the number of comparisons in the best, average and worst cases | Explain the conditions under which each search is appropriate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Describe, trace and implement bubble sort and insertion sort using pseudocode and C# | Describe the principles of merge sort and quick sort as divide-and-conquer algorithms | Compare sorting algorithms in terms of time efficiency, memory use and suitability for a given data set | Explain how design features such as a swapped flag improve the efficiency of an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4.xml"/><Relationship Id="rId5" Type="http://schemas.openxmlformats.org/officeDocument/2006/relationships/slide" Target="slide62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20.xml"/><Relationship Id="rId15" Type="http://schemas.openxmlformats.org/officeDocument/2006/relationships/slide" Target="slide21.xml"/><Relationship Id="rId16" Type="http://schemas.openxmlformats.org/officeDocument/2006/relationships/slide" Target="slide23.xml"/><Relationship Id="rId17" Type="http://schemas.openxmlformats.org/officeDocument/2006/relationships/slide" Target="slide24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1.xml"/><Relationship Id="rId7" Type="http://schemas.openxmlformats.org/officeDocument/2006/relationships/slide" Target="slide42.xml"/><Relationship Id="rId8" Type="http://schemas.openxmlformats.org/officeDocument/2006/relationships/slide" Target="slide43.xml"/><Relationship Id="rId9" Type="http://schemas.openxmlformats.org/officeDocument/2006/relationships/slide" Target="slide44.xml"/><Relationship Id="rId10" Type="http://schemas.openxmlformats.org/officeDocument/2006/relationships/slide" Target="slide46.xml"/><Relationship Id="rId11" Type="http://schemas.openxmlformats.org/officeDocument/2006/relationships/slide" Target="slide47.xml"/><Relationship Id="rId12" Type="http://schemas.openxmlformats.org/officeDocument/2006/relationships/slide" Target="slide48.xml"/><Relationship Id="rId13" Type="http://schemas.openxmlformats.org/officeDocument/2006/relationships/slide" Target="slide49.xml"/><Relationship Id="rId14" Type="http://schemas.openxmlformats.org/officeDocument/2006/relationships/slide" Target="slide50.xml"/><Relationship Id="rId15" Type="http://schemas.openxmlformats.org/officeDocument/2006/relationships/slide" Target="slide51.xml"/><Relationship Id="rId16" Type="http://schemas.openxmlformats.org/officeDocument/2006/relationships/slide" Target="slide52.xml"/><Relationship Id="rId17" Type="http://schemas.openxmlformats.org/officeDocument/2006/relationships/slide" Target="slide2.xml"/><Relationship Id="rId1" Type="http://schemas.openxmlformats.org/officeDocument/2006/relationships/image" Target="../media/image-35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3" Type="http://schemas.openxmlformats.org/officeDocument/2006/relationships/slide" Target="slide65.xml"/><Relationship Id="rId4" Type="http://schemas.openxmlformats.org/officeDocument/2006/relationships/slide" Target="slide66.xml"/><Relationship Id="rId5" Type="http://schemas.openxmlformats.org/officeDocument/2006/relationships/slide" Target="slide67.xml"/><Relationship Id="rId6" Type="http://schemas.openxmlformats.org/officeDocument/2006/relationships/slide" Target="slide68.xml"/><Relationship Id="rId7" Type="http://schemas.openxmlformats.org/officeDocument/2006/relationships/slide" Target="slide69.xml"/><Relationship Id="rId8" Type="http://schemas.openxmlformats.org/officeDocument/2006/relationships/slide" Target="slide71.xml"/><Relationship Id="rId9" Type="http://schemas.openxmlformats.org/officeDocument/2006/relationships/slide" Target="slide72.xml"/><Relationship Id="rId10" Type="http://schemas.openxmlformats.org/officeDocument/2006/relationships/slide" Target="slide73.xml"/><Relationship Id="rId11" Type="http://schemas.openxmlformats.org/officeDocument/2006/relationships/slide" Target="slide75.xml"/><Relationship Id="rId12" Type="http://schemas.openxmlformats.org/officeDocument/2006/relationships/slide" Target="slide76.xml"/><Relationship Id="rId13" Type="http://schemas.openxmlformats.org/officeDocument/2006/relationships/slide" Target="slide77.xml"/><Relationship Id="rId14" Type="http://schemas.openxmlformats.org/officeDocument/2006/relationships/slide" Target="slide78.xml"/><Relationship Id="rId15" Type="http://schemas.openxmlformats.org/officeDocument/2006/relationships/slide" Target="slide79.xml"/><Relationship Id="rId16" Type="http://schemas.openxmlformats.org/officeDocument/2006/relationships/slide" Target="slide80.xml"/><Relationship Id="rId17" Type="http://schemas.openxmlformats.org/officeDocument/2006/relationships/slide" Target="slide2.xml"/><Relationship Id="rId1" Type="http://schemas.openxmlformats.org/officeDocument/2006/relationships/image" Target="../media/image-63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Algorithms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AP16  Programs, algorithms and their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AP17  Searching algorithms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AP18  Sorting algorithms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AP16  Programs, algorithms and their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AP16  Programs, algorithms and their design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4" action="ppaction://hlinksldjump" tooltip="AP17  Searching algorith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AP17  Searching algorithms</a:t>
            </a:r>
            <a:endParaRPr lang="en-US" sz="15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5" action="ppaction://hlinksldjump" tooltip="AP18  Sorting algorith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AP18  Sorting algorithms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a computer program; Explain the term algorithm and the properties a good algorithm must have; Explain decomposition and abstraction as techniques for solving problems; Describe how algorithms can be represented using pseudocode and flowcharts; Use trace tables and dry runs to test an algorithm and find logic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how a linear search and a binary search work, using pseudocode, flowcharts and trace tables; Implement linear search and binary search in C#; Compare the efficiency of searching algorithms in terms of the number of comparisons in the best, average and worst cases; Explain the conditions under which each search is appropriate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Describe, trace and implement bubble sort and insertion sort using pseudocode and C#; Describe the principles of merge sort and quick sort as divide-and-conquer algorithms; Compare sorting algorithms in terms of time efficiency, memory use and suitability for a given data set; Explain how design features such as a swapped flag improve the efficiency of an algorithm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Programs, algorithms and their design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program is for and explain what makes a set of instructions an algorithm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Break a problem down and remove unnecessary detail before designing a solution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Express the same algorithm as pseudocode, a flowchart and C# using sequence, selection and iteration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Dry run an algorithm with a trace table to predict its output and locate logic errors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computer program for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computer program for?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hat is an algorithm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an algorithm?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Properties of a good algorith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Properties of a good algorithm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Making instructions preci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instructions precise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Decomposition and abstr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Decomposition and abstraction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Input – process –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 – process – output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Pseudocode and structured Engl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Pseudocode and structured English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Flowchart symb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Flowchart symbols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Lough Erne rainf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Lough Erne rainfall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rainfall algorithm as a flowch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rainfall algorithm as a flowchart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The rainfall algorithm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rainfall algorithm in C#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Trace table: inputs 12, 4, 15, 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table: inputs 12, 4, 15, 0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Unknown number of inputs: a sentinel val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Unknown number of inputs: a sentinel value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Debug the design: a dry run finds the err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Debug the design: a dry run finds the error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ecomposition of a boat-hire problem into a structure diagram, beside a flowchart of a sentinel-controlled averaging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Decomposition of a boat-hire problem into a structure diagram, beside a flowchart of a sentinel-controlled averaging loop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computer program for?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computer program is a set of instructions that a computer carries out to perform a task – from a simple calculator to a hospital booking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Programs are software: they are kept separate from the physical hardware they run 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System software (such as the operating system) lets us use and control the computer; application programs do a specific job for the user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Word processors, spreadsheets, school MIS packages and a club's membership app are all application programs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 program starts life as an algorithm: the programmer works out the steps first, then writes the code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an algorithm?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algorithm is a finite, ordered set of precise, unambiguous steps that solves a problem or completes a task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Everyday algorithms: a recipe, directions to Enniskillen bus station, instructions for assembling flat-pack furniture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algorithm is language-independent – once designed, it can be coded in C#, Python, Java or any other language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algorithm is built from three constructs: sequence, selection (decisions) and iteration (loops)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Think of the algorithm being followed by a robot with no common sense: it does exactly what is written, nothing more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Properties of a good algorithm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54815"/>
                <a:gridCol w="3364588"/>
                <a:gridCol w="39101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Everyday illustration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Ordered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Steps are followed in a set sequence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Toast the bread before buttering it, not after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Precise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step states exactly what to 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'Toast for 2 minutes', not 'toast for a while'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Unambiguous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step has only one possible 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'Turn left at the second roundabout', not just 'the roundabout' when there are several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Finite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It always stops after a limited number of steps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'Stir until smooth' could go on forever if it never becomes smooth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Inputs and outputs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Zero or more inputs; at least one output related to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Ingredients in, a finished sandwich 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Properties of a good algorithm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54815"/>
                <a:gridCol w="3364588"/>
                <a:gridCol w="39101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Everyday illustration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Correct and efficient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 for all valid cases, handles errors sensibly and has no wasted steps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the bread is not mouldy; does not walk to the shop twice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Making instructions precise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43845"/>
                <a:gridCol w="1728908"/>
                <a:gridCol w="43568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Vague instruction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Precise 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 some sugar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Imprecise quantity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2 level teaspoons of sugar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Wait a bit, then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Imprecise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Wait 5 minutes, then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Go left after the church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Ambiguous if two churches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Turn left at the junction immediately after St Michael's Church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Keep going until it looks right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May never terminate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Repeat up to 10 times or until the total reaches 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Get the 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Unclear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a whole number from the keyboard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Decomposition and abstraction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14350"/>
                <a:gridCol w="4217670"/>
                <a:gridCol w="34975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Decomposition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Abstraction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Breaking a complex problem into smaller sub-problems that can be solved separately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Removing unnecessary detail to focus on what matters for the 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Translink ticket app split into: login, journey planner, payment, ticket display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route map shows stops and connections, not the exact road shapes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Sub-problems can be given to different programmers and tested separately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Simpler model, less data to store, faster to design and 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Shown with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structure (top-down) diagram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model, data dictionary or simplified diagram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 – process – output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Most algorithms take inputs, process them and produce outputs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Example: a cinema in Omagh charges £8.50 per adult and £6.00 per child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Inputs: number of adults and children; process: calculate the cost; output: the total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Trace with 2 adults and 3 children: 2 × 8.50 + 3 × 6.00 = 17.00 + 18.00 = £35.00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This algorithm is pure sequence: every step runs once, in order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adults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children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← adults * 8.50 + children * 6.00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"Total cost: £", cost</a:t>
            </a:r>
            <a:endParaRPr lang="en-US" sz="13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Pseudocode and structured English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Algorithms can first be written in plain English so non-programmers (such as the client) can check that they are correct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Structured English and pseudocode are closer to program code: more useful to the programmer, slightly harder for a non-expert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Pseudocode has no fixed syntax, but it must be consistent and unambiguous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 this course: INPUT, OUTPUT, ← for assignment, IF…THEN…ELSE…ENDIF, FOR…NEXT, WHILE…ENDWHILE, REPEAT…UNTIL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Keywords such as GET, PRINT and SET are also acceptable if used consistently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Indentation shows which statements belong inside a selection or a loop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Flowchart symbols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58741"/>
                <a:gridCol w="1717482"/>
                <a:gridCol w="56533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Shape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Terminator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Rounded rectangle (oval)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 and END – one of each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Rectangle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calculation or assignment, e.g. total ← total + rain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Input/output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Parallelogram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rain, OUTPUT total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Diamond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yes/no question, e.g. rain &gt; 10? – two exits, each labelled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Flow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Shows the order steps are followed; a loop is an arrow back to an earlier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Lough Erne rainfall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weather volunteer records rainfall (mm) for 4 days and wants the total and the number of wet days (more than 10 mm)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Decomposition: input each reading; add it to a running total; count it if wet; output the results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count-controlled loop (FOR) is used because the number of readings is known in advance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Totals and counters must be set to 0 before the loop starts (initialised)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wetDays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day ← 1 TO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rain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rain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rain &gt; 10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wetDays ← wetDays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day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total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wetDays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rainfall algorithm as a flowchart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25294"/>
                <a:gridCol w="2013626"/>
                <a:gridCol w="56906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Terminator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total ← 0, wetDays ← 0, day ←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 &lt;= 4?  No → go to step 7;  Yes → step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rain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Process, then 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total ← total + rain; then rain &gt; 10? Yes → wetDays ← wetDays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 ← day + 1, then flow line back to the decision at step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Output, then terminator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OUTPUT total and wetDays, then 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rainfall algorithm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for loop keeps the counter, the test (day &lt;= 4) and the increment together on one line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int.Parse converts the text typed at the keyboard into a whole number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rainfall algorithm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wetDays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day = 1; day &lt;= 4; day++)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Console.Write($"Rainfall for day {day} (mm): 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rain = int.Parse(Console.ReadLine());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rain;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(rain &gt; 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wetDays++;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Console.WriteLine($"Total rainfall: {total} mm");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Console.WriteLine($"Wet days: {wetDays}");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table: inputs 12, 4, 15, 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49569"/>
                <a:gridCol w="949569"/>
                <a:gridCol w="1582615"/>
                <a:gridCol w="1107831"/>
                <a:gridCol w="15826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rain &gt; 10?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wetDays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5 (loop ends)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31, then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Unknown number of inputs: a sentinel value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the amount of data is not known in advance, use a condition-controlled loop that stops at a sentinel (rogue) value such as -1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first value before the loop and the next value at the end of the loop body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Dry run with marks 60, 70, -1: total 0 → 60 → 130, count 0 → 1 → 2, output 65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count &gt; 0 check avoids dividing by zero; casting to double avoids integer division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Unknown number of inputs: a sentinel value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count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Console.Write("Mark (-1 to end):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 = int.Parse(Console.ReadLine());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(mark != -1)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mark;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Console.Write("Mark (-1 to end):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 = int.Parse(Console.ReadLine());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(count &gt;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Console.WriteLine("Average: " + (double)total / count);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Console.WriteLine("No marks entered");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Debug the design: a dry run finds the error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pupil moved 'wetDays ← 0' inside the loop, just before INPUT rain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Dry run with 12, 4, 15, 0: wetDays is reset to 0 on every pass, so it ends each pass as 1, 0, 1, 0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Output is 0 wet days instead of 2 – the program runs, so this is a logic error, not a syntax error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Other errors a trace exposes: an uninitialised total, &lt; instead of &lt;=, a loop that runs one time too many, or forgetting to input the next value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Choose test data that includes normal, boundary (exactly 10 mm) and erroneous values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property of an algorithm is broken by the instruction 'keep stirring until the sauce looks right'?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Inputs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Finiteness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Sequence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Finiteness  –  The instruction may never end, so the algorithm may not terminate, and 'looks right' is also imprecise.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bus map shows only stops and routes, not the exact shape of each road. This is an example of…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abstraction  –  Unnecessary detail has been removed to leave a simpler model.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construct repeats a set of instructions?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Sequence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Selection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Iteration  –  Iteration means looping.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flowchart symbol is used for 'total ← total + price'?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Diamond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Parallelogram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Rounded rectangle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Rectangle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Rectangle  –  Processes, such as calculations and assignments, use a rectangle.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sentinel value?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first value in an array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special input value that signals the end of the data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constant used for VAT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 error message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special input value that signals the end of the data  –  For example, -1 entered to stop the input of marks.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tool records variable values step by step during a dry run?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Structure diagram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dictionary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Trace table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Gantt chart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Trace table  –  A trace table has a column for each variable and for output.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Inputs 12, 4, 15, 0 are processed by the rainfall algorithm (count days with rain &gt; 10). What is output for wetDays?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  –  Only 12 and 15 are greater than 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might an algorithm be written in plain English first?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runs faster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shorter than code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client with no programming knowledge can check it is correct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contain errors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client with no programming knowledge can check it is correct  –  Plain English lets non-programmers confirm the design solves the right problem.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loop totals 5 numbers but outputs only the last number entered. What is the most likely cause?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 is reset to 0 inside the loop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loop is a FOR loop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 is output after the loop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numbers are integers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total is reset to 0 inside the loop  –  Resetting the total inside the loop throws away earlier values – a logic error.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Finiteness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instruction may never end, so the algorithm may not terminate, and 'looks right' is also imprecise.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abstraction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Unnecessary detail has been removed to leave a simpler model.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Iteration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Iteration means looping.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Rectangle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Processes, such as calculations and assignments, use a rectangle.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special input value that signals the end of the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For example, -1 entered to stop the input of marks.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Trace table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trace table has a column for each variable and for output.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12 and 15 are greater than 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client with no programming knowledge can check it is correct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Plain English lets non-programmers confirm the design solves the right problem.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total is reset to 0 inside the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Resetting the total inside the loop throws away earlier values – a logic error.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Searching algorithms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and code a linear search and a binary search in C#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Trace a binary search, recording low, high and mid and the items compared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the maximum number of comparisons each search needs for a list of a given size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Justify which search to use for a given scenario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searching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searching matters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Linear 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search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Linear search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search in C#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Linear search trace: find Enniskill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search trace: find Enniskillen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Binary 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Binary search in pseudo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 in pseudocode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Binary search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 in C#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race: find 46 in 2 5 9 14 21 27 33 40 46 5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Trace: find 46 in 2 5 9 14 21 27 33 40 46 52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Trace: search for 10 (not present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Trace: search for 10 (not present)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unting comparis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Counting comparisons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omparing efficien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efficiency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Big-O at a gl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Big-O at a glance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hich search should be use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Which search should be used?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inary search for 31 in a sorted array of nine items: each pass compares the middle item and discards half, finding it in 3 comparisons compared with 6 for a linear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Binary search for 31 in a sorted array of nine items: each pass compares the middle item and discards half, finding it in 3 comparisons compared with 6 for a linear search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searching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Searching means finding whether a target value is in a collection of data and, if so, where it is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finding a pupil in the school register, a product code at a Newry supermarket till, a patient record in a hospital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two standard algorithms are linear search and binary search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Both are judged by how many comparisons they make – fewer comparisons means a faster search on large data sets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search returns the position (index) of the target, or a signal such as -1 if it is not there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Check each item in turn, from the first, until the target is found or the end of the list is reached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Works on unsorted or sorted data, and on structures that can only be read in order, such as a file read line by line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Best case: 1 comparison (first item); worst case: n comparisons (last item or not present)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Average about n/2 comparisons when the item is present</a:t>
            </a:r>
            <a:endParaRPr lang="en-US" sz="16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←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LENGTH(list) AND found 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list[i] = target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 ←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← i + 1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found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"Found at position ",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"Not found"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method returns the index of the target, or -1 if it is not found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Returning as soon as the item is found avoids needless comparisons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LinearSearch(string[] list, string target)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list.Length;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(list[i] == target) return i;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towns = { "Omagh", "Derry", "Belfast", "Enniskillen", "Newry"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Console.WriteLine(LinearSearch(towns, "Enniskillen"));   //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Console.WriteLine(LinearSearch(towns, "Armagh"));        // -1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 trace: find Enniskillen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34283"/>
                <a:gridCol w="1017142"/>
                <a:gridCol w="1664413"/>
                <a:gridCol w="35137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towns[i]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towns[i] = target?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Omagh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 ←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Derry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 ←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Belfast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 ←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Enniskillen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Return 3 – found after 4 comparisons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0 to 4 (target Armagh)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town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False each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Return -1 – 5 comparisons (worst case)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list MUST be sorted (numerically or alphabetically)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Find the middle item: mid = (low + high) DIV 2, rounding down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middle item is the target, stop – it has been found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target is smaller, discard the upper half (high ← mid − 1); if larger, discard the lower half (low ← mid + 1)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on the remaining half until found, or until low &gt; high, meaning no items remain and the target is not present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comparison halves the search space – a 'divide and conquer' approach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 in pseudocode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low and high mark the part of the list still being searched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loop stops when the target is found or the range is empty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←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← LENGTH(list) - 1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←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low &lt;= high AND found =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← (low + high) DIV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list[mid] = target THEN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 ←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list[mid] &lt; target THEN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 ← mid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 ← mid - 1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endParaRPr lang="en-US" sz="14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C#, dividing one int by another gives an int, so (low + high) / 2 rounds down automatically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array holds sorted membership numbers for a Lisburn swimming club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BinarySearch(int[] a, int target)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low = 0, high = a.Length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(low &lt;= high)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mid = (low + high) /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(a[mid] == target) return mid;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(a[mid] &lt; target) low = mid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high = mid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members = { 2, 5, 9, 14, 21, 27, 33, 40, 46, 52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Console.WriteLine(BinarySearch(members, 46));   //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Console.WriteLine(BinarySearch(members, 10));   // -1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Trace: find 46 in 2 5 9 14 21 27 33 40 46 52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96413"/>
                <a:gridCol w="796413"/>
                <a:gridCol w="796413"/>
                <a:gridCol w="796413"/>
                <a:gridCol w="796413"/>
                <a:gridCol w="4247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a[mid]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46 &gt; 21 so low ← 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46 &gt; 40 so low ← 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Found at index 8 – 3 comparisons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7" grpId="0">
        <p:bldAsOne/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Trace: search for 10 (not present)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02166"/>
                <a:gridCol w="602166"/>
                <a:gridCol w="602166"/>
                <a:gridCol w="602166"/>
                <a:gridCol w="602166"/>
                <a:gridCol w="52187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a[mid]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 &lt; 21 so high ←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 &gt; 5 so low ←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 &gt; 9 so low ←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 &lt; 14 so high ←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 &gt; high: not found, return -1 after 4 comparisons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Counting comparisons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Binary search worst case = the number of times n can be halved before nothing is left = ⌊log₂ n⌋ + 1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 = 10: 10 → 5 → 2 → 1, so at most 4 comparisons (matches the trace above)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 = 1 024 = 2¹⁰: at most 11 comparisons; a linear search could need 1 024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 = 1 000 000: 2¹⁹ = 524 288 ≤ n &lt; 2²⁰, so at most 20 comparisons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Quick estimate: each doubling of the data adds just one comparison to a binary search but doubles the work of a linear search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efficiency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28354"/>
                <a:gridCol w="1410789"/>
                <a:gridCol w="1528354"/>
                <a:gridCol w="1410789"/>
                <a:gridCol w="2351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Items (n)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Linear: best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Linear: worst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Binary: best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Binary: worst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1 000 000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1 000 000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Big-O (worst)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O(n) linear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O(log n) logarithmic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0" grpId="0">
        <p:bldAsOne/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Big-O at a glance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Big-O notation describes how the time taken (number of steps) grows as the size of the input, n, grows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usually describes the worst case and ignores constants: 3n + 2 steps is still O(n)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O(1) constant, O(log n) logarithmic, O(n) linear, O(n log n), O(n²) quadratic – from most to least efficient for large 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O(n): doubling the data doubles the comparisons; O(log n): doubling the data adds one comparison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Efficiency can also mean memory used (space complexity); both searches need very little extra memory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Which search should be used?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5213"/>
                <a:gridCol w="1212783"/>
                <a:gridCol w="3811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Linear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must be sorted?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 on large 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 – O(n)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fast – O(log 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Small or rarely searched 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Ideal – 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Sorting first may cost more than it saves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read in order only (e.g. a file)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direct access to the middle 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complex; easy to make off-by-one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sorted list holds 1 000 items. What is the maximum number of comparisons a binary search needs?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500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1 000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10  –  Halving 1 000 repeatedly reaches one item after about 10 comparisons; ⌊log₂ 1000⌋ + 1 = 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must the list be sorted before a binary search?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the middle item can be calculated</a:t>
            </a:r>
            <a:endParaRPr lang="en-US" sz="125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the program uses less memory</a:t>
            </a:r>
            <a:endParaRPr lang="en-US" sz="125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the half that cannot contain the target can be safely discarded</a:t>
            </a:r>
            <a:endParaRPr lang="en-US" sz="125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every item is checked</a:t>
            </a:r>
            <a:endParaRPr lang="en-US" sz="125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So the half that cannot contain the target can be safely discarded  –  Only in a sorted list do you know the target cannot be in the discarded half.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worst-case number of comparisons for a linear search of 500 items?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250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500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1 000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500  –  Every item may have to be checked.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big-O time complexity of binary search?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O(1)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O(log n)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O(n)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O(n²)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O(log n)  –  The search space is halved with each comparison.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binary search, low = 4 and high = 9. What is mid?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6.5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6  –  (4 + 9) DIV 2 = 13 DIV 2 = 6, as integer division rounds down.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When does a binary search stop if the target is not present?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mid = 0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low &gt; high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After n comparisons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high = mid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When low &gt; high  –  No items remain in the range being searched.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good reason to choose a linear search?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list is huge and sorted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list is sorted and searched constantly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O(log n)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list is short and unsorted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The list is short and unsorted  –  Sorting first would not be worth the effort for a short list.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list 3 8 12 19 25 31 40 47 56 is searched for 31. Which items are compared?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25, 40, 31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25, 31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3, 8, 12, 19, 25, 31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40, 31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25, 40, 31  –  mid 4 → 25, then low 5, mid 6 → 40, then high 5, mid 5 → 31.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data set grows from 1 000 to 2 000 items. Roughly what happens to the worst-case comparisons of a linear search?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Stays the same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Increases by one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Halves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Doubles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Doubles  –  Linear search is O(n), so work grows in proportion to 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Halving 1 000 repeatedly reaches one item after about 10 comparisons; ⌊log₂ 1000⌋ + 1 = 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So the half that cannot contain the target can be safely discarded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in a sorted list do you know the target cannot be in the discarded half.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500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Every item may have to be checked.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O(log n)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search space is halved with each comparison.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(4 + 9) DIV 2 = 13 DIV 2 = 6, as integer division rounds down.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When low &gt; high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No items remain in the range being searched.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 list is short and unsorted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Sorting first would not be worth the effort for a short list.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25, 40, 31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mid 4 → 25, then low 5, mid 6 → 40, then high 5, mid 5 → 31.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Doubles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Linear search is O(n), so work grows in proportion to 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2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Sorting algorithms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Trace bubble sort and insertion sort pass by pass, showing every comparison and swap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both sorts in C# using arrays, nested loops and a temporary variable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merge sort and quick sort divide and recombine a list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a sorting algorithm for a scenario using big-O and practical factors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sort data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sort data?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Bubble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Bubble sort in pseudo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 in pseudocode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netball league poi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netball league points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Bubble sort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 in C#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Insertion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Insertion sort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Insertion sort trace: 14 9 22 5 17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Insertion sort trace: 14 9 22 5 17 11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Insertion sort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Insertion sort in C#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Merge sort (divide and conquer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Merge sort (divide and conquer)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Quick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 sort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How the work grow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the work grows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mparing sorting algorith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sorting algorithms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hoosing a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sort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ubble sort and insertion sort of 5 1 4 2 8 shown pass by pass side by s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Bubble sort and insertion sort of 5 1 4 2 8 shown pass by pass side by side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sort data?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Sorting puts data into ascending or descending order, numerically or alphabetically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Sorted data is easier for people to read: league tables, class lists, price lists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Sorted data allows a fast binary search, and makes finding duplicates, maximums and medians simple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Simple sorts: bubble sort and insertion sort – easy to code but slow on large lists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Divide-and-conquer sorts: merge sort and quick sort – more complex but far faster on large lists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Compare each pair of adjacent items and swap them if they are in the wrong 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complete run through the list is a pass; after pass 1 the largest item has 'bubbled' to the end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later pass can therefore check one fewer item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passes until a pass makes no swaps – a swapped flag lets the algorithm stop early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Swapping needs a temporary variable, or one value is overwritten and lost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 in pseudocode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outer REPEAT loop runs passes; the inner FOR loop compares neighbours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end shrinks by one each pass because the last item is already in place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← LENGTH(list) 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swapped ←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0 TO end 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list[i] &gt; list[i + 1]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temp ← list[i]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list[i] ← list[i + 1]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list[i + 1] ← temp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swapped ←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← end 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swapped = False</a:t>
            </a:r>
            <a:endParaRPr lang="en-US" sz="13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netball league points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Six Fermanagh netball teams have points 14, 9, 22, 5, 17, 11 – sort them into ascending order with a bubble sort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Pass 1: 14↔9 swap, 14 and 22 no swap, 22↔5, 22↔17, 22↔11 → 9 14 5 17 11 22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Pass 2: 9 and 14 no swap, 14↔5, 14 and 17 no swap, 17↔11 → 9 5 14 11 17 22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Pass 3: 9↔5, 9 and 14 no swap, 14↔11 → 5 9 11 14 17 22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Pass 4: 5 and 9, 9 and 11 – no swaps, so swapped stays False and the sort stops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Total: 5 + 4 + 3 + 2 = 14 comparisons and 8 swaps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do…while matches REPEAT…UNTIL: the body runs at least once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the flag the sort would always make n − 1 passes, even on a list that is already sorted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points = { 14, 9, 22, 5, 17, 11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swapped;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end = points.Length - 1;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swapped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end;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(points[i] &gt; points[i + 1])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temp = points[i];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points[i] = points[i + 1];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points[i + 1] = temp;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swapped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end--;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(swapped);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 ", points));   // 5 9 11 14 17 22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Treat the first item as a sorted sub-list of 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Take the next item (the key) and compare it with the items in the sorted part, working from right to left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Shift each larger item one place right to open a gap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Insert the key into the gap, so the sorted part grows by one item each pass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list of n items needs n − 1 passes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 trace: 14 9 22 5 17 11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25033"/>
                <a:gridCol w="625033"/>
                <a:gridCol w="2291787"/>
                <a:gridCol w="46877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Shifts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List after the pass (sorted part in brackets)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 shifted right (1)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[9 14] 22 5 17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None – 22 &gt; 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[9 14 22] 5 17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22, 14, 9 shifted (3)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[5 9 14 22] 17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22 shifted (1)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[5 9 14 17 22]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22, 17, 14 shifted (3)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[5 9 11 14 17 22]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3" grpId="0">
        <p:bldAsOne/>
      </p:bldGraphic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while loop stops at the start of the array (j &gt;= 0) or when a smaller item is reached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Values are shifted, not swapped, so only one assignment is needed per move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points = { 14, 9, 22, 5, 17, 11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points.Length;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key = points[i];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j = i - 1;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(j &gt;= 0 &amp;&amp; points[j] &gt; key)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points[j + 1] = points[j];   // shift right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j--;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points[j + 1] = key;             // insert 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 ", points));   // 5 9 11 14 17 22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Merge sort (divide and conquer)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Divide: split the list in half repeatedly until every sub-list has one item (one item is already sorted)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Conquer: merge pairs of sub-lists by repeatedly taking the smaller front item, producing larger sorted lists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6 2 9 4 7 1 8 3 → [6 2 9 4] [7 1 8 3] → [6 2] [9 4] [7 1] [8 3] → eight single items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Merge: [2 6] [4 9] [1 7] [3 8] → [2 4 6 9] [1 3 7 8] → 1 2 3 4 6 7 8 9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Always O(n log n), but needs extra memory for the sub-lists and is usually written recursively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Quick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Choose a pivot item (here, the first item of each sub-list)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Partition: items smaller than the pivot go to its left, larger items to its right – the pivot is now in its final place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6 2 9 4 7 1 8 3: pivot 6 → [2 4 1 3] 6 [9 7 8]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Left: pivot 2 → [1] 2 [4 3], then pivot 4 → [3] 4. Right: pivot 9 → [7 8] 9, then pivot 7 → 7 [8]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Result 1 2 3 4 6 7 8 9; average O(n log n) and sorts in place, but O(n²) worst case, e.g. a first-item pivot on already sorted data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the work grows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83443"/>
                <a:gridCol w="2916820"/>
                <a:gridCol w="32293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n² (bubble/insertion, worst)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log₂ n (merge/quick, typical)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33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1 000 000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10 000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1 000 000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1 000 000 000 000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20 000 000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Effect of doubling 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4 times the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little over twice the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sorting algorithms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14350"/>
                <a:gridCol w="1885950"/>
                <a:gridCol w="1028700"/>
                <a:gridCol w="1428750"/>
                <a:gridCol w="33718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 / worst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Extra memory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Good for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Bubble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O(n) with flag, if already sorted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 (in place)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Teaching; tiny or nearly sorted lists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Insertion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O(n), if already sorted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 (in place)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Small or nearly sorted lists; adding items to a sorted list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Merge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Extra space for sub-lists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Large lists; guaranteed performance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Quick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O(n log n) / O(n²)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Little (in place)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Large lists in memory; usually fastest in practice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9" grpId="0">
        <p:bldAsOne/>
      </p:bldGraphic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a dozen items any algorithm is fast – simplicity and ease of maintenance matter more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1 000 000 items, n² is a trillion steps but n log n is about 20 million, so merge or quick sort is essential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Insertion sort is efficient when a few new items are added to an already sorted list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Memory limits favour in-place sorts (bubble, insertion, quick) over merge sort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Merge sort gives guaranteed O(n log n), so it suits cases where a slow worst case is unacceptable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list 4 2 7 1 after ONE pass of a bubble sort into ascending order?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2 4 1 7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1 2 4 7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2 1 4 7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2 4 7 1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 4 1 7  –  4↔2 swap, 4 and 7 no swap, 7↔1 swap, giving 2 4 1 7.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sorting algorithm repeatedly splits a list in half and then merges sorted sub-lists?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Bubble sort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Insertion sort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Merge sort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Quick sort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Merge sort  –  Merge sort divides into single items, then merges them back in order.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sort places each item into the correct position in a growing sorted section?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Bubble sort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Merge sort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Quick sort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Insertion sort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Insertion sort  –  It inserts the key into the sorted part of the list.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average time complexity of merge sort?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O(n)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O(n²)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O(n log n)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O(log n)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O(n log n)  –  About log n levels of splitting, with n items handled when merging at each level.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quick sort use to partition the list?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pivot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flag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sentinel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temporary list of single items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 pivot  –  Smaller items go left of the pivot, larger items right.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merge sort?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O(n²)</a:t>
            </a:r>
            <a:endParaRPr lang="en-US" sz="16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needs extra memory</a:t>
            </a:r>
            <a:endParaRPr lang="en-US" sz="16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only works on sorted lists</a:t>
            </a:r>
            <a:endParaRPr lang="en-US" sz="16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cannot sort strings</a:t>
            </a:r>
            <a:endParaRPr lang="en-US" sz="16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It needs extra memory  –  Sub-lists are stored while merging.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an insertion sort of 14 9 22 5 17 11, what is the list after the third pass?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9 14 22 5 17 11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5 9 14 22 17 11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5 9 11 14 17 22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9 14 5 22 17 11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5 9 14 22 17 11  –  Passes insert 9, then 22, then 5 at the front.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bubble sort with a swapped flag is given a list that is already sorted. How many passes does it make?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 − 1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  –  The first pass makes no swaps, so the flag stays false and the sort stops.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quick sort's worst case O(n²)?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always needs extra memory</a:t>
            </a:r>
            <a:endParaRPr lang="en-US" sz="125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handle duplicates</a:t>
            </a:r>
            <a:endParaRPr lang="en-US" sz="125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poor pivot can leave one partition almost as large as the list</a:t>
            </a:r>
            <a:endParaRPr lang="en-US" sz="125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compares only adjacent items</a:t>
            </a:r>
            <a:endParaRPr lang="en-US" sz="125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poor pivot can leave one partition almost as large as the list  –  If each partition removes just one item, about n levels of partitioning are needed.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 4 1 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4↔2 swap, 4 and 7 no swap, 7↔1 swap, giving 2 4 1 7.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Merge sort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Merge sort divides into single items, then merges them back in order.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Insertion sort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inserts the key into the sorted part of the list.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O(n log n)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About log n levels of splitting, with n items handled when merging at each level.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pivot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Smaller items go left of the pivot, larger items right.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needs extra memory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Sub-lists are stored while merging.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5 9 14 22 17 11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Passes insert 9, then 22, then 5 at the front.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first pass makes no swaps, so the flag stays false and the sort stops.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poor pivot can leave one partition almost as large as the list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If each partition removes just one item, about n levels of partitioning are needed.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</dc:title>
  <dc:subject>AS 1: Approaches to Systems Development – Algorithms</dc:subject>
  <dc:creator>Digital Technology Hub</dc:creator>
  <cp:lastModifiedBy>Digital Technology Hub</cp:lastModifiedBy>
  <cp:revision>1</cp:revision>
  <dcterms:created xsi:type="dcterms:W3CDTF">2026-10-30T13:15:58Z</dcterms:created>
  <dcterms:modified xsi:type="dcterms:W3CDTF">2026-10-30T13:15:58Z</dcterms:modified>
</cp:coreProperties>
</file>