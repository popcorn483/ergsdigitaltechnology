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overview" id="{4663ee42-c28d-e46f-d114-192818091bc3}">
          <p14:sldIdLst>
            <p14:sldId id="256"/>
            <p14:sldId id="257"/>
            <p14:sldId id="258"/>
            <p14:sldId id="259"/>
          </p14:sldIdLst>
        </p14:section>
        <p14:section name="L21 · Legislation 1: Consumer Contracts, Copyright and Computer Misuse" id="{4ae485c1-f443-9353-479b-2a0d91c423da}">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L22 · Legislation 2: Data protection (UK GDPR and the Data Protection Act 2018)" id="{dbcc9f4a-44e7-77f7-e4bf-9be65ccce062}">
          <p14:sldIdLst>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L23 · Ethics, employment and health and safety" id="{4fbf44e9-2bfa-eea0-a3f0-166acbd4411d}">
          <p14:sldIdLst>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lesson below is its own section in PowerPoint (View → Slide Sorter shows them). To split this deck by specification point, right-click a section → Move Section, or delete the sections you do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 Demonstrate knowledge and understanding of the Consumer Contracts (Information, Cancellation and Additional Charges) Regulations 2013 | Demonstrate knowledge and understanding of the Copyright, Designs and Patents Act 1988 | Identify typical breaches of the Copyright, Designs and Patents Act 1988, including software piracy and software licensing infringements | Demonstrate knowledge and understanding of the Computer Misuse Act 1990 and its offences | Describe the terms hacker, virus and spyware and explain how they relate to the Computer Misuse Act 1990 | Apply knowledge of legislation to identify which law has been broken in a given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menu: each button jumps to that part of the lesson in Slide Show. The ☰ Menu button on each slide returns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diagram in your own words before you read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 Demonstrate knowledge and understanding of data protection law: the UK GDPR and the Data Protection Act 2018 (which replaced the Data Protection Act 1998 named in the specification) | Demonstrate and apply knowledge and understanding of the data protection principles, including how they relate to the eight principles of the 1998 Act | Describe the rights of the data subject | Describe the responsibilities of the data controller, the Data Protection Officer and the Information Commission (formerly the ICO) in making sure the law is followed | Describe measures organisations use to comply with data protection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menu: each button jumps to that part of the lesson in Slide Show. The ☰ Menu button on each slide returns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diagram in your own words before you read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 Describe the ethical impact of technology on society, referring to internet misuse, access to personal information, social media misuse, the implications of GPS and tracking, and concerns about the security of personal data | Describe the impact of digital technology on employment, including increased job opportunities in the digital technology and computing sector, job displacement, changes in work patterns and the need for upskilling | Demonstrate understanding of digital technology related health and safety issues, including RSI, back strain and eye strain | Identify the measures that both the employee and employer should take to promote good health and safety practice in the workplace, including the Health and Safety (Display Screen Equipment) Regulations 1992 (in Northern Ireland, the Health and Safety (Display Screen Equipment) Regulations (Northern Ireland) 1992)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menu: each button jumps to that part of the lesson in Slide Show. The ☰ Menu button on each slide returns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diagram in your own words before you read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1503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6949440" cy="320040"/>
          </a:xfrm>
          <a:prstGeom prst="rect">
            <a:avLst/>
          </a:prstGeom>
          <a:noFill/>
          <a:ln/>
        </p:spPr>
        <p:txBody>
          <a:bodyPr wrap="square" rtlCol="0"/>
          <a:lstStyle>
            <a:lvl1pPr indent="0" marL="0">
              <a:buNone/>
              <a:defRPr lang="en-US" sz="1200" b="1" spc="200" kern="0" dirty="0">
                <a:solidFill>
                  <a:srgbClr val="F5E6DA"/>
                </a:solidFill>
              </a:defRPr>
            </a:lvl1pPr>
          </a:lstStyle>
          <a:p>
            <a:pPr indent="0" marL="0">
              <a:buNone/>
            </a:pPr>
            <a:endParaRPr lang="en-US" sz="1200" dirty="0"/>
          </a:p>
        </p:txBody>
      </p:sp>
      <p:sp>
        <p:nvSpPr>
          <p:cNvPr id="3" name="Text 0"/>
          <p:cNvSpPr/>
          <p:nvPr>
            <p:ph idx="101" type="title" hasCustomPrompt="1"/>
          </p:nvPr>
        </p:nvSpPr>
        <p:spPr>
          <a:xfrm>
            <a:off x="548640" y="960120"/>
            <a:ext cx="7132320" cy="13716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4" name="Text 0"/>
          <p:cNvSpPr/>
          <p:nvPr>
            <p:ph idx="102" type="body" hasCustomPrompt="1"/>
          </p:nvPr>
        </p:nvSpPr>
        <p:spPr>
          <a:xfrm>
            <a:off x="548640" y="2514600"/>
            <a:ext cx="7680960" cy="2011680"/>
          </a:xfrm>
          <a:prstGeom prst="rect">
            <a:avLst/>
          </a:prstGeom>
          <a:noFill/>
          <a:ln/>
        </p:spPr>
        <p:txBody>
          <a:bodyPr wrap="square" rtlCol="0"/>
          <a:lstStyle>
            <a:lvl1pPr indent="0" marL="0">
              <a:buNone/>
              <a:defRPr lang="en-US" sz="1600" dirty="0">
                <a:solidFill>
                  <a:srgbClr val="E4ECE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lstStyle>
            <a:lvl1pPr algn="l" indent="0" marL="0">
              <a:buNone/>
              <a:defRPr lang="en-US" sz="3000" b="1" dirty="0">
                <a:solidFill>
                  <a:srgbClr val="11503E"/>
                </a:solidFill>
              </a:defRPr>
            </a:lvl1pPr>
          </a:lstStyle>
          <a:p>
            <a:pPr algn="l" indent="0" marL="0">
              <a:buNone/>
            </a:pPr>
            <a:endParaRPr lang="en-US" sz="3000" dirty="0"/>
          </a:p>
        </p:txBody>
      </p:sp>
      <p:sp>
        <p:nvSpPr>
          <p:cNvPr id="3"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56675E"/>
                </a:solidFill>
              </a:rPr>
              <a:t>CCEA GCSE Digital Technology</a:t>
            </a:r>
            <a:endParaRPr lang="en-US" sz="9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E1D1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20040"/>
          </a:xfrm>
          <a:prstGeom prst="rect">
            <a:avLst/>
          </a:prstGeom>
          <a:noFill/>
          <a:ln/>
        </p:spPr>
        <p:txBody>
          <a:bodyPr wrap="square" rtlCol="0"/>
          <a:lstStyle>
            <a:lvl1pPr indent="0" marL="0">
              <a:buNone/>
              <a:defRPr lang="en-US" sz="1200" b="1" spc="200" kern="0" dirty="0">
                <a:solidFill>
                  <a:srgbClr val="F5E6DA"/>
                </a:solidFill>
              </a:defRPr>
            </a:lvl1pPr>
          </a:lstStyle>
          <a:p>
            <a:pPr indent="0" marL="0">
              <a:buNone/>
            </a:pPr>
            <a:endParaRPr lang="en-US" sz="1200" dirty="0"/>
          </a:p>
        </p:txBody>
      </p:sp>
      <p:sp>
        <p:nvSpPr>
          <p:cNvPr id="3" name="Text 0"/>
          <p:cNvSpPr/>
          <p:nvPr>
            <p:ph idx="101" type="title" hasCustomPrompt="1"/>
          </p:nvPr>
        </p:nvSpPr>
        <p:spPr>
          <a:xfrm>
            <a:off x="548640" y="868680"/>
            <a:ext cx="786384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4" name="Text 0"/>
          <p:cNvSpPr/>
          <p:nvPr>
            <p:ph idx="102" type="body" hasCustomPrompt="1"/>
          </p:nvPr>
        </p:nvSpPr>
        <p:spPr>
          <a:xfrm>
            <a:off x="548640" y="1783080"/>
            <a:ext cx="7863840" cy="2834640"/>
          </a:xfrm>
          <a:prstGeom prst="rect">
            <a:avLst/>
          </a:prstGeom>
          <a:noFill/>
          <a:ln/>
        </p:spPr>
        <p:txBody>
          <a:bodyPr wrap="square" rtlCol="0"/>
          <a:lstStyle>
            <a:lvl1pPr indent="0" marL="0">
              <a:buNone/>
              <a:defRPr lang="en-US" sz="1800" dirty="0">
                <a:solidFill>
                  <a:srgbClr val="E4ECE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E4ECE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29.xml"/><Relationship Id="rId5" Type="http://schemas.openxmlformats.org/officeDocument/2006/relationships/slide" Target="slide55.xml"/><Relationship Id="rId1" Type="http://schemas.openxmlformats.org/officeDocument/2006/relationships/image" Target="../media/image-2-1.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9.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 Target="slide16.xml"/><Relationship Id="rId12" Type="http://schemas.openxmlformats.org/officeDocument/2006/relationships/slide" Target="slide17.xml"/><Relationship Id="rId13" Type="http://schemas.openxmlformats.org/officeDocument/2006/relationships/slide" Target="slide18.xml"/><Relationship Id="rId14" Type="http://schemas.openxmlformats.org/officeDocument/2006/relationships/slide" Target="slide19.xml"/><Relationship Id="rId15" Type="http://schemas.openxmlformats.org/officeDocument/2006/relationships/slide" Target="slide2.xml"/><Relationship Id="rId1" Type="http://schemas.openxmlformats.org/officeDocument/2006/relationships/image" Target="../media/image-6-1.png"/><Relationship Id="rId16" Type="http://schemas.openxmlformats.org/officeDocument/2006/relationships/slideLayout" Target="../slideLayouts/slideLayout3.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6.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6-1.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8-1.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1-1.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2-1.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3-1.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4-1.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5-1.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6-1.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7-1.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image" Target="../media/image-28-1.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3.xml"/><Relationship Id="rId5" Type="http://schemas.openxmlformats.org/officeDocument/2006/relationships/slide" Target="slide34.xml"/><Relationship Id="rId6" Type="http://schemas.openxmlformats.org/officeDocument/2006/relationships/slide" Target="slide36.xml"/><Relationship Id="rId7" Type="http://schemas.openxmlformats.org/officeDocument/2006/relationships/slide" Target="slide37.xml"/><Relationship Id="rId8" Type="http://schemas.openxmlformats.org/officeDocument/2006/relationships/slide" Target="slide39.xml"/><Relationship Id="rId9" Type="http://schemas.openxmlformats.org/officeDocument/2006/relationships/slide" Target="slide40.xml"/><Relationship Id="rId10" Type="http://schemas.openxmlformats.org/officeDocument/2006/relationships/slide" Target="slide41.xml"/><Relationship Id="rId11" Type="http://schemas.openxmlformats.org/officeDocument/2006/relationships/slide" Target="slide42.xml"/><Relationship Id="rId12" Type="http://schemas.openxmlformats.org/officeDocument/2006/relationships/slide" Target="slide43.xml"/><Relationship Id="rId13" Type="http://schemas.openxmlformats.org/officeDocument/2006/relationships/slide" Target="slide45.xml"/><Relationship Id="rId14" Type="http://schemas.openxmlformats.org/officeDocument/2006/relationships/slide" Target="slide2.xml"/><Relationship Id="rId1" Type="http://schemas.openxmlformats.org/officeDocument/2006/relationships/image" Target="../media/image-30-1.png"/><Relationship Id="rId15" Type="http://schemas.openxmlformats.org/officeDocument/2006/relationships/slideLayout" Target="../slideLayouts/slideLayout3.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 Target="slide30.xml"/><Relationship Id="rId1" Type="http://schemas.openxmlformats.org/officeDocument/2006/relationships/image" Target="../media/image-31-1.png"/><Relationship Id="rId2" Type="http://schemas.openxmlformats.org/officeDocument/2006/relationships/image" Target="../media/image-31-2.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2-1.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3-1.pn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4-1.png"/><Relationship Id="rId3" Type="http://schemas.openxmlformats.org/officeDocument/2006/relationships/slideLayout" Target="../slideLayouts/slideLayout3.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5-1.png"/><Relationship Id="rId3" Type="http://schemas.openxmlformats.org/officeDocument/2006/relationships/slideLayout" Target="../slideLayouts/slideLayout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6-1.png"/><Relationship Id="rId3" Type="http://schemas.openxmlformats.org/officeDocument/2006/relationships/slideLayout" Target="../slideLayouts/slideLayout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7-1.png"/><Relationship Id="rId3" Type="http://schemas.openxmlformats.org/officeDocument/2006/relationships/slideLayout" Target="../slideLayouts/slideLayout3.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8-1.png"/><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39-1.pn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0-1.png"/><Relationship Id="rId3" Type="http://schemas.openxmlformats.org/officeDocument/2006/relationships/slideLayout" Target="../slideLayouts/slideLayout3.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1-1.png"/><Relationship Id="rId3" Type="http://schemas.openxmlformats.org/officeDocument/2006/relationships/slideLayout" Target="../slideLayouts/slideLayout3.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2-1.png"/><Relationship Id="rId3" Type="http://schemas.openxmlformats.org/officeDocument/2006/relationships/slideLayout" Target="../slideLayouts/slideLayout3.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3-1.png"/><Relationship Id="rId3" Type="http://schemas.openxmlformats.org/officeDocument/2006/relationships/slideLayout" Target="../slideLayouts/slideLayout3.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4-1.png"/><Relationship Id="rId3" Type="http://schemas.openxmlformats.org/officeDocument/2006/relationships/slideLayout" Target="../slideLayouts/slideLayout3.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5-1.pn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6-1.png"/><Relationship Id="rId3" Type="http://schemas.openxmlformats.org/officeDocument/2006/relationships/slideLayout" Target="../slideLayouts/slideLayout3.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7-1.png"/><Relationship Id="rId3" Type="http://schemas.openxmlformats.org/officeDocument/2006/relationships/slideLayout" Target="../slideLayouts/slideLayout3.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8-1.png"/><Relationship Id="rId3" Type="http://schemas.openxmlformats.org/officeDocument/2006/relationships/slideLayout" Target="../slideLayouts/slideLayout3.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49-1.png"/><Relationship Id="rId3" Type="http://schemas.openxmlformats.org/officeDocument/2006/relationships/slideLayout" Target="../slideLayouts/slideLayout3.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50-1.png"/><Relationship Id="rId3" Type="http://schemas.openxmlformats.org/officeDocument/2006/relationships/slideLayout" Target="../slideLayouts/slideLayout3.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51-1.png"/><Relationship Id="rId3" Type="http://schemas.openxmlformats.org/officeDocument/2006/relationships/slideLayout" Target="../slideLayouts/slideLayout3.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52-1.png"/><Relationship Id="rId3" Type="http://schemas.openxmlformats.org/officeDocument/2006/relationships/slideLayout" Target="../slideLayouts/slideLayout3.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53-1.pn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image" Target="../media/image-54-1.png"/><Relationship Id="rId3" Type="http://schemas.openxmlformats.org/officeDocument/2006/relationships/slideLayout" Target="../slideLayouts/slideLayout3.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4" Type="http://schemas.openxmlformats.org/officeDocument/2006/relationships/slide" Target="slide59.xml"/><Relationship Id="rId5" Type="http://schemas.openxmlformats.org/officeDocument/2006/relationships/slide" Target="slide60.xml"/><Relationship Id="rId6" Type="http://schemas.openxmlformats.org/officeDocument/2006/relationships/slide" Target="slide62.xml"/><Relationship Id="rId7" Type="http://schemas.openxmlformats.org/officeDocument/2006/relationships/slide" Target="slide63.xml"/><Relationship Id="rId8" Type="http://schemas.openxmlformats.org/officeDocument/2006/relationships/slide" Target="slide64.xml"/><Relationship Id="rId9" Type="http://schemas.openxmlformats.org/officeDocument/2006/relationships/slide" Target="slide65.xml"/><Relationship Id="rId10" Type="http://schemas.openxmlformats.org/officeDocument/2006/relationships/slide" Target="slide66.xml"/><Relationship Id="rId11" Type="http://schemas.openxmlformats.org/officeDocument/2006/relationships/slide" Target="slide67.xml"/><Relationship Id="rId12" Type="http://schemas.openxmlformats.org/officeDocument/2006/relationships/slide" Target="slide68.xml"/><Relationship Id="rId13" Type="http://schemas.openxmlformats.org/officeDocument/2006/relationships/slide" Target="slide69.xml"/><Relationship Id="rId14" Type="http://schemas.openxmlformats.org/officeDocument/2006/relationships/slide" Target="slide70.xml"/><Relationship Id="rId15" Type="http://schemas.openxmlformats.org/officeDocument/2006/relationships/slide" Target="slide2.xml"/><Relationship Id="rId1" Type="http://schemas.openxmlformats.org/officeDocument/2006/relationships/image" Target="../media/image-56-1.png"/><Relationship Id="rId16" Type="http://schemas.openxmlformats.org/officeDocument/2006/relationships/slideLayout" Target="../slideLayouts/slideLayout3.xml"/><Relationship Id="rId1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 Target="slide56.xml"/><Relationship Id="rId1" Type="http://schemas.openxmlformats.org/officeDocument/2006/relationships/image" Target="../media/image-57-1.png"/><Relationship Id="rId2" Type="http://schemas.openxmlformats.org/officeDocument/2006/relationships/image" Target="../media/image-57-2.png"/><Relationship Id="rId4" Type="http://schemas.openxmlformats.org/officeDocument/2006/relationships/slideLayout" Target="../slideLayouts/slideLayout3.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58-1.png"/><Relationship Id="rId3" Type="http://schemas.openxmlformats.org/officeDocument/2006/relationships/slideLayout" Target="../slideLayouts/slideLayout3.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59-1.png"/><Relationship Id="rId3" Type="http://schemas.openxmlformats.org/officeDocument/2006/relationships/slideLayout" Target="../slideLayouts/slideLayout3.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0-1.png"/><Relationship Id="rId3" Type="http://schemas.openxmlformats.org/officeDocument/2006/relationships/slideLayout" Target="../slideLayouts/slideLayout3.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1-1.png"/><Relationship Id="rId3" Type="http://schemas.openxmlformats.org/officeDocument/2006/relationships/slideLayout" Target="../slideLayouts/slideLayout3.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2-1.png"/><Relationship Id="rId3" Type="http://schemas.openxmlformats.org/officeDocument/2006/relationships/slideLayout" Target="../slideLayouts/slideLayout3.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3-1.png"/><Relationship Id="rId3" Type="http://schemas.openxmlformats.org/officeDocument/2006/relationships/slideLayout" Target="../slideLayouts/slideLayout3.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4-1.png"/><Relationship Id="rId3" Type="http://schemas.openxmlformats.org/officeDocument/2006/relationships/slideLayout" Target="../slideLayouts/slideLayout3.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5-1.png"/><Relationship Id="rId3" Type="http://schemas.openxmlformats.org/officeDocument/2006/relationships/slideLayout" Target="../slideLayouts/slideLayout3.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6-1.png"/><Relationship Id="rId3" Type="http://schemas.openxmlformats.org/officeDocument/2006/relationships/slideLayout" Target="../slideLayouts/slideLayout3.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7-1.png"/><Relationship Id="rId3" Type="http://schemas.openxmlformats.org/officeDocument/2006/relationships/slideLayout" Target="../slideLayouts/slideLayout3.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8-1.png"/><Relationship Id="rId3" Type="http://schemas.openxmlformats.org/officeDocument/2006/relationships/slideLayout" Target="../slideLayouts/slideLayout3.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69-1.png"/><Relationship Id="rId3" Type="http://schemas.openxmlformats.org/officeDocument/2006/relationships/slideLayout" Target="../slideLayouts/slideLayout3.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0-1.png"/><Relationship Id="rId3" Type="http://schemas.openxmlformats.org/officeDocument/2006/relationships/slideLayout" Target="../slideLayouts/slideLayout3.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1-1.png"/><Relationship Id="rId3" Type="http://schemas.openxmlformats.org/officeDocument/2006/relationships/slideLayout" Target="../slideLayouts/slideLayout3.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2-1.png"/><Relationship Id="rId3" Type="http://schemas.openxmlformats.org/officeDocument/2006/relationships/slideLayout" Target="../slideLayouts/slideLayout3.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3-1.png"/><Relationship Id="rId3" Type="http://schemas.openxmlformats.org/officeDocument/2006/relationships/slideLayout" Target="../slideLayouts/slideLayout3.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4-1.png"/><Relationship Id="rId3" Type="http://schemas.openxmlformats.org/officeDocument/2006/relationships/slideLayout" Target="../slideLayouts/slideLayout3.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5-1.png"/><Relationship Id="rId3" Type="http://schemas.openxmlformats.org/officeDocument/2006/relationships/slideLayout" Target="../slideLayouts/slideLayout3.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6-1.png"/><Relationship Id="rId3" Type="http://schemas.openxmlformats.org/officeDocument/2006/relationships/slideLayout" Target="../slideLayouts/slideLayout3.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7-1.png"/><Relationship Id="rId3" Type="http://schemas.openxmlformats.org/officeDocument/2006/relationships/slideLayout" Target="../slideLayouts/slideLayout3.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8-1.png"/><Relationship Id="rId3" Type="http://schemas.openxmlformats.org/officeDocument/2006/relationships/slideLayout" Target="../slideLayouts/slideLayout3.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slide" Target="slide56.xml"/><Relationship Id="rId1" Type="http://schemas.openxmlformats.org/officeDocument/2006/relationships/image" Target="../media/image-79-1.png"/><Relationship Id="rId3" Type="http://schemas.openxmlformats.org/officeDocument/2006/relationships/slideLayout" Target="../slideLayouts/slideLayout3.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6949440" cy="320040"/>
          </a:xfrm>
          <a:prstGeom prst="rect">
            <a:avLst/>
          </a:prstGeom>
          <a:noFill/>
          <a:ln/>
        </p:spPr>
        <p:txBody>
          <a:bodyPr wrap="square" rtlCol="0"/>
          <a:lstStyle/>
          <a:p>
            <a:pPr indent="0" marL="0">
              <a:buNone/>
            </a:pPr>
            <a:r>
              <a:rPr lang="en-US" sz="1200" b="1" spc="200" kern="0" dirty="0">
                <a:solidFill>
                  <a:srgbClr val="F5E6DA"/>
                </a:solidFill>
              </a:rPr>
              <a:t>UNIT 1: DIGITAL TECHNOLOGY  ·  TOPIC</a:t>
            </a:r>
            <a:endParaRPr lang="en-US" sz="1200" dirty="0"/>
          </a:p>
        </p:txBody>
      </p:sp>
      <p:sp>
        <p:nvSpPr>
          <p:cNvPr id="3" name="Text 0"/>
          <p:cNvSpPr/>
          <p:nvPr>
            <p:ph idx="101" type="title" hasCustomPrompt="1"/>
          </p:nvPr>
        </p:nvSpPr>
        <p:spPr>
          <a:xfrm>
            <a:off x="548640" y="960120"/>
            <a:ext cx="7132320" cy="1371600"/>
          </a:xfrm>
          <a:prstGeom prst="rect">
            <a:avLst/>
          </a:prstGeom>
          <a:noFill/>
          <a:ln/>
        </p:spPr>
        <p:txBody>
          <a:bodyPr wrap="square" rtlCol="0" anchor="t"/>
          <a:lstStyle/>
          <a:p>
            <a:pPr algn="l" indent="0" marL="0">
              <a:buNone/>
            </a:pPr>
            <a:r>
              <a:rPr lang="en-US" sz="3800" b="1" dirty="0">
                <a:solidFill>
                  <a:srgbClr val="FFFFFF"/>
                </a:solidFill>
              </a:rPr>
              <a:t>Ethical, legal and environmental impact</a:t>
            </a:r>
            <a:endParaRPr lang="en-US" sz="3800" dirty="0"/>
          </a:p>
        </p:txBody>
      </p:sp>
      <p:sp>
        <p:nvSpPr>
          <p:cNvPr id="4" name="Text 0"/>
          <p:cNvSpPr/>
          <p:nvPr>
            <p:ph idx="102" type="body" hasCustomPrompt="1"/>
          </p:nvPr>
        </p:nvSpPr>
        <p:spPr>
          <a:xfrm>
            <a:off x="548640" y="2514600"/>
            <a:ext cx="7680960" cy="2011680"/>
          </a:xfrm>
          <a:prstGeom prst="rect">
            <a:avLst/>
          </a:prstGeom>
          <a:noFill/>
          <a:ln/>
        </p:spPr>
        <p:txBody>
          <a:bodyPr wrap="square" rtlCol="0" anchor="t"/>
          <a:lstStyle/>
          <a:p>
            <a:pPr indent="0" marL="0">
              <a:buNone/>
            </a:pPr>
            <a:r>
              <a:rPr lang="en-US" sz="1600" b="1" dirty="0">
                <a:solidFill>
                  <a:srgbClr val="F5E6DA"/>
                </a:solidFill>
              </a:rPr>
              <a:t>Lessons in this topic</a:t>
            </a:r>
            <a:endParaRPr lang="en-US" sz="1600" dirty="0"/>
          </a:p>
          <a:p>
            <a:pPr marL="203200" indent="-203200">
              <a:spcAft>
                <a:spcPts val="600"/>
              </a:spcAft>
              <a:buSzPct val="100000"/>
              <a:buChar char="•"/>
            </a:pPr>
            <a:r>
              <a:rPr lang="en-US" sz="1600" dirty="0">
                <a:solidFill>
                  <a:srgbClr val="E4ECE6"/>
                </a:solidFill>
              </a:rPr>
              <a:t>L21  Legislation 1: Consumer Contracts, Copyright and Computer Misuse</a:t>
            </a:r>
            <a:endParaRPr lang="en-US" sz="1600" dirty="0"/>
          </a:p>
          <a:p>
            <a:pPr marL="203200" indent="-203200">
              <a:spcAft>
                <a:spcPts val="600"/>
              </a:spcAft>
              <a:buSzPct val="100000"/>
              <a:buChar char="•"/>
            </a:pPr>
            <a:r>
              <a:rPr lang="en-US" sz="1600" dirty="0">
                <a:solidFill>
                  <a:srgbClr val="E4ECE6"/>
                </a:solidFill>
              </a:rPr>
              <a:t>L22  Legislation 2: Data protection (UK GDPR and the Data Protection Act 2018)</a:t>
            </a:r>
            <a:endParaRPr lang="en-US" sz="1600" dirty="0"/>
          </a:p>
          <a:p>
            <a:pPr marL="203200" indent="-203200">
              <a:spcAft>
                <a:spcPts val="600"/>
              </a:spcAft>
              <a:buSzPct val="100000"/>
              <a:buChar char="•"/>
            </a:pPr>
            <a:r>
              <a:rPr lang="en-US" sz="1600" dirty="0">
                <a:solidFill>
                  <a:srgbClr val="E4ECE6"/>
                </a:solidFill>
              </a:rPr>
              <a:t>L23  Ethics, employment and health and safety</a:t>
            </a:r>
            <a:endParaRPr lang="en-US" sz="1600" dirty="0"/>
          </a:p>
        </p:txBody>
      </p:sp>
      <p:sp>
        <p:nvSpPr>
          <p:cNvPr id="5" name="chip"/>
          <p:cNvSpPr/>
          <p:nvPr/>
        </p:nvSpPr>
        <p:spPr>
          <a:xfrm>
            <a:off x="7818120" y="502920"/>
            <a:ext cx="685800" cy="685800"/>
          </a:xfrm>
          <a:prstGeom prst="roundRect">
            <a:avLst>
              <a:gd name="adj" fmla="val 12000"/>
            </a:avLst>
          </a:prstGeom>
          <a:solidFill>
            <a:srgbClr val="1D6B53"/>
          </a:solidFill>
          <a:ln w="12700">
            <a:solidFill>
              <a:srgbClr val="1D6B53"/>
            </a:solidFill>
            <a:prstDash val="solid"/>
          </a:ln>
        </p:spPr>
      </p:sp>
      <p:sp>
        <p:nvSpPr>
          <p:cNvPr id="6" name="Shape 4"/>
          <p:cNvSpPr/>
          <p:nvPr/>
        </p:nvSpPr>
        <p:spPr>
          <a:xfrm>
            <a:off x="8023860" y="420624"/>
            <a:ext cx="82296" cy="82296"/>
          </a:xfrm>
          <a:prstGeom prst="rect">
            <a:avLst/>
          </a:prstGeom>
          <a:solidFill>
            <a:srgbClr val="A95A24"/>
          </a:solidFill>
          <a:ln w="12700">
            <a:solidFill>
              <a:srgbClr val="A95A24"/>
            </a:solidFill>
            <a:prstDash val="solid"/>
          </a:ln>
        </p:spPr>
      </p:sp>
      <p:sp>
        <p:nvSpPr>
          <p:cNvPr id="7" name="Shape 5"/>
          <p:cNvSpPr/>
          <p:nvPr/>
        </p:nvSpPr>
        <p:spPr>
          <a:xfrm>
            <a:off x="8023860" y="1188720"/>
            <a:ext cx="82296" cy="82296"/>
          </a:xfrm>
          <a:prstGeom prst="rect">
            <a:avLst/>
          </a:prstGeom>
          <a:solidFill>
            <a:srgbClr val="A95A24"/>
          </a:solidFill>
          <a:ln w="12700">
            <a:solidFill>
              <a:srgbClr val="A95A24"/>
            </a:solidFill>
            <a:prstDash val="solid"/>
          </a:ln>
        </p:spPr>
      </p:sp>
      <p:sp>
        <p:nvSpPr>
          <p:cNvPr id="8" name="Shape 6"/>
          <p:cNvSpPr/>
          <p:nvPr/>
        </p:nvSpPr>
        <p:spPr>
          <a:xfrm>
            <a:off x="7735824" y="708660"/>
            <a:ext cx="82296" cy="82296"/>
          </a:xfrm>
          <a:prstGeom prst="rect">
            <a:avLst/>
          </a:prstGeom>
          <a:solidFill>
            <a:srgbClr val="A95A24"/>
          </a:solidFill>
          <a:ln w="12700">
            <a:solidFill>
              <a:srgbClr val="A95A24"/>
            </a:solidFill>
            <a:prstDash val="solid"/>
          </a:ln>
        </p:spPr>
      </p:sp>
      <p:sp>
        <p:nvSpPr>
          <p:cNvPr id="9" name="Shape 7"/>
          <p:cNvSpPr/>
          <p:nvPr/>
        </p:nvSpPr>
        <p:spPr>
          <a:xfrm>
            <a:off x="8503920" y="708660"/>
            <a:ext cx="82296" cy="82296"/>
          </a:xfrm>
          <a:prstGeom prst="rect">
            <a:avLst/>
          </a:prstGeom>
          <a:solidFill>
            <a:srgbClr val="A95A24"/>
          </a:solidFill>
          <a:ln w="12700">
            <a:solidFill>
              <a:srgbClr val="A95A24"/>
            </a:solidFill>
            <a:prstDash val="solid"/>
          </a:ln>
        </p:spPr>
      </p:sp>
      <p:sp>
        <p:nvSpPr>
          <p:cNvPr id="10" name="Shape 8"/>
          <p:cNvSpPr/>
          <p:nvPr/>
        </p:nvSpPr>
        <p:spPr>
          <a:xfrm>
            <a:off x="8243316" y="420624"/>
            <a:ext cx="82296" cy="82296"/>
          </a:xfrm>
          <a:prstGeom prst="rect">
            <a:avLst/>
          </a:prstGeom>
          <a:solidFill>
            <a:srgbClr val="A95A24"/>
          </a:solidFill>
          <a:ln w="12700">
            <a:solidFill>
              <a:srgbClr val="A95A24"/>
            </a:solidFill>
            <a:prstDash val="solid"/>
          </a:ln>
        </p:spPr>
      </p:sp>
      <p:sp>
        <p:nvSpPr>
          <p:cNvPr id="11" name="Shape 9"/>
          <p:cNvSpPr/>
          <p:nvPr/>
        </p:nvSpPr>
        <p:spPr>
          <a:xfrm>
            <a:off x="8243316" y="1188720"/>
            <a:ext cx="82296" cy="82296"/>
          </a:xfrm>
          <a:prstGeom prst="rect">
            <a:avLst/>
          </a:prstGeom>
          <a:solidFill>
            <a:srgbClr val="A95A24"/>
          </a:solidFill>
          <a:ln w="12700">
            <a:solidFill>
              <a:srgbClr val="A95A24"/>
            </a:solidFill>
            <a:prstDash val="solid"/>
          </a:ln>
        </p:spPr>
      </p:sp>
      <p:sp>
        <p:nvSpPr>
          <p:cNvPr id="12" name="Shape 10"/>
          <p:cNvSpPr/>
          <p:nvPr/>
        </p:nvSpPr>
        <p:spPr>
          <a:xfrm>
            <a:off x="7735824" y="928116"/>
            <a:ext cx="82296" cy="82296"/>
          </a:xfrm>
          <a:prstGeom prst="rect">
            <a:avLst/>
          </a:prstGeom>
          <a:solidFill>
            <a:srgbClr val="A95A24"/>
          </a:solidFill>
          <a:ln w="12700">
            <a:solidFill>
              <a:srgbClr val="A95A24"/>
            </a:solidFill>
            <a:prstDash val="solid"/>
          </a:ln>
        </p:spPr>
      </p:sp>
      <p:sp>
        <p:nvSpPr>
          <p:cNvPr id="13" name="Shape 11"/>
          <p:cNvSpPr/>
          <p:nvPr/>
        </p:nvSpPr>
        <p:spPr>
          <a:xfrm>
            <a:off x="8503920" y="928116"/>
            <a:ext cx="82296" cy="82296"/>
          </a:xfrm>
          <a:prstGeom prst="rect">
            <a:avLst/>
          </a:prstGeom>
          <a:solidFill>
            <a:srgbClr val="A95A24"/>
          </a:solidFill>
          <a:ln w="12700">
            <a:solidFill>
              <a:srgbClr val="A95A24"/>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9" fill="hold">
                            <p:stCondLst>
                              <p:cond delay="0"/>
                            </p:stCondLst>
                            <p:childTnLst>
                              <p:par>
                                <p:cTn id="6" presetID="10" presetClass="entr" presetSubtype="0" fill="hold" grpId="0"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5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45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45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5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5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45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5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45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50"/>
                                        <p:tgtEl>
                                          <p:spTgt spid="13"/>
                                        </p:tgtEl>
                                      </p:cBhvr>
                                    </p:animEffect>
                                  </p:childTnLst>
                                </p:cTn>
                              </p:par>
                            </p:childTnLst>
                          </p:cTn>
                        </p:par>
                        <p:par>
                          <p:cTn id="50"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350"/>
                                        <p:tgtEl>
                                          <p:spTgt spid="4">
                                            <p:txEl>
                                              <p:pRg st="0" end="0"/>
                                            </p:txEl>
                                          </p:spTgt>
                                        </p:tgtEl>
                                      </p:cBhvr>
                                    </p:animEffect>
                                  </p:childTnLst>
                                </p:cTn>
                              </p:par>
                            </p:childTnLst>
                          </p:cTn>
                        </p:par>
                        <p:par>
                          <p:cTn id="51"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350"/>
                                        <p:tgtEl>
                                          <p:spTgt spid="4">
                                            <p:txEl>
                                              <p:pRg st="1" end="1"/>
                                            </p:txEl>
                                          </p:spTgt>
                                        </p:tgtEl>
                                      </p:cBhvr>
                                    </p:animEffect>
                                  </p:childTnLst>
                                </p:cTn>
                              </p:par>
                            </p:childTnLst>
                          </p:cTn>
                        </p:par>
                        <p:par>
                          <p:cTn id="52" fill="hold">
                            <p:stCondLst>
                              <p:cond delay="1050"/>
                            </p:stCondLst>
                            <p:childTnLst>
                              <p:par>
                                <p:cTn id="15" presetID="10" presetClass="entr" presetSubtype="0" fill="hold" grpId="0"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350"/>
                                        <p:tgtEl>
                                          <p:spTgt spid="4">
                                            <p:txEl>
                                              <p:pRg st="2" end="2"/>
                                            </p:txEl>
                                          </p:spTgt>
                                        </p:tgtEl>
                                      </p:cBhvr>
                                    </p:animEffect>
                                  </p:childTnLst>
                                </p:cTn>
                              </p:par>
                            </p:childTnLst>
                          </p:cTn>
                        </p:par>
                        <p:par>
                          <p:cTn id="53" fill="hold">
                            <p:stCondLst>
                              <p:cond delay="1350"/>
                            </p:stCondLst>
                            <p:childTnLst>
                              <p:par>
                                <p:cTn id="18" presetID="10" presetClass="entr" presetSubtype="0" fill="hold" grpId="0" nodeType="after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35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Topic menu</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200" i="1" dirty="0">
                <a:solidFill>
                  <a:srgbClr val="56675E"/>
                </a:solidFill>
              </a:rPr>
              <a:t>Tap a button to jump straight there. The ☰ Menu button on every slide brings you back here.</a:t>
            </a:r>
            <a:endParaRPr lang="en-US" sz="1200" dirty="0"/>
          </a:p>
        </p:txBody>
      </p:sp>
      <p:sp>
        <p:nvSpPr>
          <p:cNvPr id="6" name="btn">
            <a:hlinkClick r:id="rId2" action="ppaction://hlinksldjump"/>
          </p:cNvPr>
          <p:cNvSpPr/>
          <p:nvPr/>
        </p:nvSpPr>
        <p:spPr>
          <a:xfrm>
            <a:off x="457200" y="1325880"/>
            <a:ext cx="4046220" cy="566928"/>
          </a:xfrm>
          <a:prstGeom prst="roundRect">
            <a:avLst>
              <a:gd name="adj" fmla="val 1290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2" action="ppaction://hlinksldjump" tooltip="Specification map">
                  <a:extLst>
                    <a:ext uri="{A12FA001-AC4F-418D-AE19-62706E023703}">
                      <ahyp:hlinkClr xmlns:ahyp="http://schemas.microsoft.com/office/drawing/2018/hyperlinkcolor" val="tx"/>
                    </a:ext>
                  </a:extLst>
                </a:hlinkClick>
              </a:rPr>
              <a:t>Specification map</a:t>
            </a:r>
            <a:endParaRPr lang="en-US" sz="1500" dirty="0"/>
          </a:p>
        </p:txBody>
      </p:sp>
      <p:sp>
        <p:nvSpPr>
          <p:cNvPr id="7" name="btn">
            <a:hlinkClick r:id="rId3" action="ppaction://hlinksldjump"/>
          </p:cNvPr>
          <p:cNvSpPr/>
          <p:nvPr/>
        </p:nvSpPr>
        <p:spPr>
          <a:xfrm>
            <a:off x="457200" y="1984248"/>
            <a:ext cx="4046220" cy="566928"/>
          </a:xfrm>
          <a:prstGeom prst="roundRect">
            <a:avLst>
              <a:gd name="adj" fmla="val 1290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200" b="1" dirty="0">
                <a:solidFill>
                  <a:srgbClr val="FFFFFF"/>
                </a:solidFill>
                <a:hlinkClick r:id="rId3" action="ppaction://hlinksldjump" tooltip="L21  Legislation 1: Consumer Contracts, Copyright and Computer Misuse">
                  <a:extLst>
                    <a:ext uri="{A12FA001-AC4F-418D-AE19-62706E023703}">
                      <ahyp:hlinkClr xmlns:ahyp="http://schemas.microsoft.com/office/drawing/2018/hyperlinkcolor" val="tx"/>
                    </a:ext>
                  </a:extLst>
                </a:hlinkClick>
              </a:rPr>
              <a:t>L21  Legislation 1: Consumer Contracts, Copyright and Computer Misuse</a:t>
            </a:r>
            <a:endParaRPr lang="en-US" sz="1200" dirty="0"/>
          </a:p>
        </p:txBody>
      </p:sp>
      <p:sp>
        <p:nvSpPr>
          <p:cNvPr id="8" name="btn">
            <a:hlinkClick r:id="rId4" action="ppaction://hlinksldjump"/>
          </p:cNvPr>
          <p:cNvSpPr/>
          <p:nvPr/>
        </p:nvSpPr>
        <p:spPr>
          <a:xfrm>
            <a:off x="4640580" y="1325880"/>
            <a:ext cx="4046220" cy="566928"/>
          </a:xfrm>
          <a:prstGeom prst="roundRect">
            <a:avLst>
              <a:gd name="adj" fmla="val 1290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200" b="1" dirty="0">
                <a:solidFill>
                  <a:srgbClr val="FFFFFF"/>
                </a:solidFill>
                <a:hlinkClick r:id="rId4" action="ppaction://hlinksldjump" tooltip="L22  Legislation 2: Data protection (UK GDPR and the Data Protection Act 2018)">
                  <a:extLst>
                    <a:ext uri="{A12FA001-AC4F-418D-AE19-62706E023703}">
                      <ahyp:hlinkClr xmlns:ahyp="http://schemas.microsoft.com/office/drawing/2018/hyperlinkcolor" val="tx"/>
                    </a:ext>
                  </a:extLst>
                </a:hlinkClick>
              </a:rPr>
              <a:t>L22  Legislation 2: Data protection (UK GDPR and the Data Protection Act 2018)</a:t>
            </a:r>
            <a:endParaRPr lang="en-US" sz="1200" dirty="0"/>
          </a:p>
        </p:txBody>
      </p:sp>
      <p:sp>
        <p:nvSpPr>
          <p:cNvPr id="9" name="btn">
            <a:hlinkClick r:id="rId5" action="ppaction://hlinksldjump"/>
          </p:cNvPr>
          <p:cNvSpPr/>
          <p:nvPr/>
        </p:nvSpPr>
        <p:spPr>
          <a:xfrm>
            <a:off x="4640580" y="1984248"/>
            <a:ext cx="4046220" cy="566928"/>
          </a:xfrm>
          <a:prstGeom prst="roundRect">
            <a:avLst>
              <a:gd name="adj" fmla="val 1290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300" b="1" dirty="0">
                <a:solidFill>
                  <a:srgbClr val="FFFFFF"/>
                </a:solidFill>
                <a:hlinkClick r:id="rId5" action="ppaction://hlinksldjump" tooltip="L23  Ethics, employment and health and safety">
                  <a:extLst>
                    <a:ext uri="{A12FA001-AC4F-418D-AE19-62706E023703}">
                      <ahyp:hlinkClr xmlns:ahyp="http://schemas.microsoft.com/office/drawing/2018/hyperlinkcolor" val="tx"/>
                    </a:ext>
                  </a:extLst>
                </a:hlinkClick>
              </a:rPr>
              <a:t>L23  Ethics, employment and health and safety</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Specification map (1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7223760"/>
              </a:tblGrid>
              <a:tr h="0">
                <a:tc>
                  <a:txBody>
                    <a:bodyPr/>
                    <a:lstStyle/>
                    <a:p>
                      <a:pPr indent="0" marL="0">
                        <a:buNone/>
                      </a:pPr>
                      <a:r>
                        <a:rPr lang="en-US" sz="1300" b="1" dirty="0">
                          <a:solidFill>
                            <a:srgbClr val="FFFFFF"/>
                          </a:solidFill>
                        </a:rPr>
                        <a:t>Lesson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Specification: students should be able to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L21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Demonstrate knowledge and understanding of the Consumer Contracts (Information, Cancellation and Additional Charges) Regulations 2013; Demonstrate knowledge and understanding of the Copyright, Designs and Patents Act 1988; Identify typical breaches of the Copyright, Designs and Patents Act 1988, including software piracy and software licensing infringements; Demonstrate knowledge and understanding of the Computer Misuse Act 1990 and its offences; Describe the terms hacker, virus and spyware and explain how they relate to the Computer Misuse Act 1990; Apply knowledge of legislation to identify which law has been broken in a given scenario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L22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Demonstrate knowledge and understanding of data protection law: the UK GDPR and the Data Protection Act 2018 (which replaced the Data Protection Act 1998 named in the specification); Demonstrate and apply knowledge and understanding of the data protection principles, including how they relate to the eight principles of the 1998 Act; Describe the rights of the data subject; Describe the responsibilities of the data controller, the Data Protection Officer and the Information Commission (formerly the ICO) in making sure the law is followed; Describe measures organisations use to comply with data protection law</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4" grpId="0">
        <p:bldAsOne/>
      </p:bldGraphic>
      <p:bldP spid="6"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Specification map (2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7223760"/>
              </a:tblGrid>
              <a:tr h="0">
                <a:tc>
                  <a:txBody>
                    <a:bodyPr/>
                    <a:lstStyle/>
                    <a:p>
                      <a:pPr indent="0" marL="0">
                        <a:buNone/>
                      </a:pPr>
                      <a:r>
                        <a:rPr lang="en-US" sz="1300" b="1" dirty="0">
                          <a:solidFill>
                            <a:srgbClr val="FFFFFF"/>
                          </a:solidFill>
                        </a:rPr>
                        <a:t>Lesson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Specification: students should be able to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L23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Describe the ethical impact of technology on society, referring to internet misuse, access to personal information, social media misuse, the implications of GPS and tracking, and concerns about the security of personal data; Describe the impact of digital technology on employment, including increased job opportunities in the digital technology and computing sector, job displacement, changes in work patterns and the need for upskilling; Demonstrate understanding of digital technology related health and safety issues, including RSI, back strain and eye strain; Identify the measures that both the employee and employer should take to promote good health and safety practice in the workplace, including the Health and Safety (Display Screen Equipment) Regulations 1992 (in Northern Ireland, the Health and Safety (Display Screen Equipment) Regulations (Northern Ireland) 1992)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Graphic spid="5" grpId="0">
        <p:bldAsOne/>
      </p:bldGraphic>
      <p:bldP spid="7"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6949440" cy="320040"/>
          </a:xfrm>
          <a:prstGeom prst="rect">
            <a:avLst/>
          </a:prstGeom>
          <a:noFill/>
          <a:ln/>
        </p:spPr>
        <p:txBody>
          <a:bodyPr wrap="square" rtlCol="0"/>
          <a:lstStyle/>
          <a:p>
            <a:pPr indent="0" marL="0">
              <a:buNone/>
            </a:pPr>
            <a:r>
              <a:rPr lang="en-US" sz="1200" b="1" spc="200" kern="0" dirty="0">
                <a:solidFill>
                  <a:srgbClr val="F5E6DA"/>
                </a:solidFill>
              </a:rPr>
              <a:t>UNIT 1: DIGITAL TECHNOLOGY  ·  L21</a:t>
            </a:r>
            <a:endParaRPr lang="en-US" sz="1200" dirty="0"/>
          </a:p>
        </p:txBody>
      </p:sp>
      <p:sp>
        <p:nvSpPr>
          <p:cNvPr id="3" name="Text 0"/>
          <p:cNvSpPr/>
          <p:nvPr>
            <p:ph idx="101" type="title" hasCustomPrompt="1"/>
          </p:nvPr>
        </p:nvSpPr>
        <p:spPr>
          <a:xfrm>
            <a:off x="548640" y="960120"/>
            <a:ext cx="7132320" cy="1371600"/>
          </a:xfrm>
          <a:prstGeom prst="rect">
            <a:avLst/>
          </a:prstGeom>
          <a:noFill/>
          <a:ln/>
        </p:spPr>
        <p:txBody>
          <a:bodyPr wrap="square" rtlCol="0" anchor="t"/>
          <a:lstStyle/>
          <a:p>
            <a:pPr algn="l" indent="0" marL="0">
              <a:buNone/>
            </a:pPr>
            <a:r>
              <a:rPr lang="en-US" sz="2800" b="1" dirty="0">
                <a:solidFill>
                  <a:srgbClr val="FFFFFF"/>
                </a:solidFill>
              </a:rPr>
              <a:t>Legislation 1: Consumer Contracts, Copyright and Computer Misuse</a:t>
            </a:r>
            <a:endParaRPr lang="en-US" sz="3800" dirty="0"/>
          </a:p>
        </p:txBody>
      </p:sp>
      <p:sp>
        <p:nvSpPr>
          <p:cNvPr id="4" name="Text 0"/>
          <p:cNvSpPr/>
          <p:nvPr>
            <p:ph idx="102" type="body" hasCustomPrompt="1"/>
          </p:nvPr>
        </p:nvSpPr>
        <p:spPr>
          <a:xfrm>
            <a:off x="548640" y="2514600"/>
            <a:ext cx="7680960" cy="2011680"/>
          </a:xfrm>
          <a:prstGeom prst="rect">
            <a:avLst/>
          </a:prstGeom>
          <a:noFill/>
          <a:ln/>
        </p:spPr>
        <p:txBody>
          <a:bodyPr wrap="square" rtlCol="0" anchor="t"/>
          <a:lstStyle/>
          <a:p>
            <a:pPr indent="0" marL="0">
              <a:buNone/>
            </a:pPr>
            <a:r>
              <a:rPr lang="en-US" sz="1600" b="1" dirty="0">
                <a:solidFill>
                  <a:srgbClr val="F5E6DA"/>
                </a:solidFill>
              </a:rPr>
              <a:t>Learning objectives</a:t>
            </a:r>
            <a:endParaRPr lang="en-US" sz="1600" dirty="0"/>
          </a:p>
          <a:p>
            <a:pPr marL="203200" indent="-203200">
              <a:spcAft>
                <a:spcPts val="600"/>
              </a:spcAft>
              <a:buSzPct val="100000"/>
              <a:buChar char="•"/>
            </a:pPr>
            <a:r>
              <a:rPr lang="en-US" sz="1600" dirty="0">
                <a:solidFill>
                  <a:srgbClr val="E4ECE6"/>
                </a:solidFill>
              </a:rPr>
              <a:t>Give the full, exact title of each law and say what it protects</a:t>
            </a:r>
            <a:endParaRPr lang="en-US" sz="1600" dirty="0"/>
          </a:p>
          <a:p>
            <a:pPr marL="203200" indent="-203200">
              <a:spcAft>
                <a:spcPts val="600"/>
              </a:spcAft>
              <a:buSzPct val="100000"/>
              <a:buChar char="•"/>
            </a:pPr>
            <a:r>
              <a:rPr lang="en-US" sz="1600" dirty="0">
                <a:solidFill>
                  <a:srgbClr val="E4ECE6"/>
                </a:solidFill>
              </a:rPr>
              <a:t>Describe the rights online shoppers have under the Consumer Contracts Regulations 2013, including the exceptions</a:t>
            </a:r>
            <a:endParaRPr lang="en-US" sz="1600" dirty="0"/>
          </a:p>
          <a:p>
            <a:pPr marL="203200" indent="-203200">
              <a:spcAft>
                <a:spcPts val="600"/>
              </a:spcAft>
              <a:buSzPct val="100000"/>
              <a:buChar char="•"/>
            </a:pPr>
            <a:r>
              <a:rPr lang="en-US" sz="1600" dirty="0">
                <a:solidFill>
                  <a:srgbClr val="E4ECE6"/>
                </a:solidFill>
              </a:rPr>
              <a:t>Explain copyright and software licences and identify breaches such as software piracy</a:t>
            </a:r>
            <a:endParaRPr lang="en-US" sz="1600" dirty="0"/>
          </a:p>
          <a:p>
            <a:pPr marL="203200" indent="-203200">
              <a:spcAft>
                <a:spcPts val="600"/>
              </a:spcAft>
              <a:buSzPct val="100000"/>
              <a:buChar char="•"/>
            </a:pPr>
            <a:r>
              <a:rPr lang="en-US" sz="1600" dirty="0">
                <a:solidFill>
                  <a:srgbClr val="E4ECE6"/>
                </a:solidFill>
              </a:rPr>
              <a:t>Describe the offences in the Computer Misuse Act 1990 and link hackers, viruses and spyware to them</a:t>
            </a:r>
            <a:endParaRPr lang="en-US" sz="1600" dirty="0"/>
          </a:p>
          <a:p>
            <a:pPr marL="203200" indent="-203200">
              <a:spcAft>
                <a:spcPts val="600"/>
              </a:spcAft>
              <a:buSzPct val="100000"/>
              <a:buChar char="•"/>
            </a:pPr>
            <a:r>
              <a:rPr lang="en-US" sz="1600" dirty="0">
                <a:solidFill>
                  <a:srgbClr val="E4ECE6"/>
                </a:solidFill>
              </a:rPr>
              <a:t>Match a scenario to the correct law and explain why</a:t>
            </a:r>
            <a:endParaRPr lang="en-US" sz="1600" dirty="0"/>
          </a:p>
        </p:txBody>
      </p:sp>
      <p:sp>
        <p:nvSpPr>
          <p:cNvPr id="5" name="chip"/>
          <p:cNvSpPr/>
          <p:nvPr/>
        </p:nvSpPr>
        <p:spPr>
          <a:xfrm>
            <a:off x="7818120" y="502920"/>
            <a:ext cx="685800" cy="685800"/>
          </a:xfrm>
          <a:prstGeom prst="roundRect">
            <a:avLst>
              <a:gd name="adj" fmla="val 12000"/>
            </a:avLst>
          </a:prstGeom>
          <a:solidFill>
            <a:srgbClr val="1D6B53"/>
          </a:solidFill>
          <a:ln w="12700">
            <a:solidFill>
              <a:srgbClr val="1D6B53"/>
            </a:solidFill>
            <a:prstDash val="solid"/>
          </a:ln>
        </p:spPr>
      </p:sp>
      <p:sp>
        <p:nvSpPr>
          <p:cNvPr id="6" name="Shape 4"/>
          <p:cNvSpPr/>
          <p:nvPr/>
        </p:nvSpPr>
        <p:spPr>
          <a:xfrm>
            <a:off x="8023860" y="420624"/>
            <a:ext cx="82296" cy="82296"/>
          </a:xfrm>
          <a:prstGeom prst="rect">
            <a:avLst/>
          </a:prstGeom>
          <a:solidFill>
            <a:srgbClr val="A95A24"/>
          </a:solidFill>
          <a:ln w="12700">
            <a:solidFill>
              <a:srgbClr val="A95A24"/>
            </a:solidFill>
            <a:prstDash val="solid"/>
          </a:ln>
        </p:spPr>
      </p:sp>
      <p:sp>
        <p:nvSpPr>
          <p:cNvPr id="7" name="Shape 5"/>
          <p:cNvSpPr/>
          <p:nvPr/>
        </p:nvSpPr>
        <p:spPr>
          <a:xfrm>
            <a:off x="8023860" y="1188720"/>
            <a:ext cx="82296" cy="82296"/>
          </a:xfrm>
          <a:prstGeom prst="rect">
            <a:avLst/>
          </a:prstGeom>
          <a:solidFill>
            <a:srgbClr val="A95A24"/>
          </a:solidFill>
          <a:ln w="12700">
            <a:solidFill>
              <a:srgbClr val="A95A24"/>
            </a:solidFill>
            <a:prstDash val="solid"/>
          </a:ln>
        </p:spPr>
      </p:sp>
      <p:sp>
        <p:nvSpPr>
          <p:cNvPr id="8" name="Shape 6"/>
          <p:cNvSpPr/>
          <p:nvPr/>
        </p:nvSpPr>
        <p:spPr>
          <a:xfrm>
            <a:off x="7735824" y="708660"/>
            <a:ext cx="82296" cy="82296"/>
          </a:xfrm>
          <a:prstGeom prst="rect">
            <a:avLst/>
          </a:prstGeom>
          <a:solidFill>
            <a:srgbClr val="A95A24"/>
          </a:solidFill>
          <a:ln w="12700">
            <a:solidFill>
              <a:srgbClr val="A95A24"/>
            </a:solidFill>
            <a:prstDash val="solid"/>
          </a:ln>
        </p:spPr>
      </p:sp>
      <p:sp>
        <p:nvSpPr>
          <p:cNvPr id="9" name="Shape 7"/>
          <p:cNvSpPr/>
          <p:nvPr/>
        </p:nvSpPr>
        <p:spPr>
          <a:xfrm>
            <a:off x="8503920" y="708660"/>
            <a:ext cx="82296" cy="82296"/>
          </a:xfrm>
          <a:prstGeom prst="rect">
            <a:avLst/>
          </a:prstGeom>
          <a:solidFill>
            <a:srgbClr val="A95A24"/>
          </a:solidFill>
          <a:ln w="12700">
            <a:solidFill>
              <a:srgbClr val="A95A24"/>
            </a:solidFill>
            <a:prstDash val="solid"/>
          </a:ln>
        </p:spPr>
      </p:sp>
      <p:sp>
        <p:nvSpPr>
          <p:cNvPr id="10" name="Shape 8"/>
          <p:cNvSpPr/>
          <p:nvPr/>
        </p:nvSpPr>
        <p:spPr>
          <a:xfrm>
            <a:off x="8243316" y="420624"/>
            <a:ext cx="82296" cy="82296"/>
          </a:xfrm>
          <a:prstGeom prst="rect">
            <a:avLst/>
          </a:prstGeom>
          <a:solidFill>
            <a:srgbClr val="A95A24"/>
          </a:solidFill>
          <a:ln w="12700">
            <a:solidFill>
              <a:srgbClr val="A95A24"/>
            </a:solidFill>
            <a:prstDash val="solid"/>
          </a:ln>
        </p:spPr>
      </p:sp>
      <p:sp>
        <p:nvSpPr>
          <p:cNvPr id="11" name="Shape 9"/>
          <p:cNvSpPr/>
          <p:nvPr/>
        </p:nvSpPr>
        <p:spPr>
          <a:xfrm>
            <a:off x="8243316" y="1188720"/>
            <a:ext cx="82296" cy="82296"/>
          </a:xfrm>
          <a:prstGeom prst="rect">
            <a:avLst/>
          </a:prstGeom>
          <a:solidFill>
            <a:srgbClr val="A95A24"/>
          </a:solidFill>
          <a:ln w="12700">
            <a:solidFill>
              <a:srgbClr val="A95A24"/>
            </a:solidFill>
            <a:prstDash val="solid"/>
          </a:ln>
        </p:spPr>
      </p:sp>
      <p:sp>
        <p:nvSpPr>
          <p:cNvPr id="12" name="Shape 10"/>
          <p:cNvSpPr/>
          <p:nvPr/>
        </p:nvSpPr>
        <p:spPr>
          <a:xfrm>
            <a:off x="7735824" y="928116"/>
            <a:ext cx="82296" cy="82296"/>
          </a:xfrm>
          <a:prstGeom prst="rect">
            <a:avLst/>
          </a:prstGeom>
          <a:solidFill>
            <a:srgbClr val="A95A24"/>
          </a:solidFill>
          <a:ln w="12700">
            <a:solidFill>
              <a:srgbClr val="A95A24"/>
            </a:solidFill>
            <a:prstDash val="solid"/>
          </a:ln>
        </p:spPr>
      </p:sp>
      <p:sp>
        <p:nvSpPr>
          <p:cNvPr id="13" name="Shape 11"/>
          <p:cNvSpPr/>
          <p:nvPr/>
        </p:nvSpPr>
        <p:spPr>
          <a:xfrm>
            <a:off x="8503920" y="928116"/>
            <a:ext cx="82296" cy="82296"/>
          </a:xfrm>
          <a:prstGeom prst="rect">
            <a:avLst/>
          </a:prstGeom>
          <a:solidFill>
            <a:srgbClr val="A95A24"/>
          </a:solidFill>
          <a:ln w="12700">
            <a:solidFill>
              <a:srgbClr val="A95A24"/>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55" fill="hold">
                            <p:stCondLst>
                              <p:cond delay="0"/>
                            </p:stCondLst>
                            <p:childTnLst>
                              <p:par>
                                <p:cTn id="6" presetID="10" presetClass="entr" presetSubtype="0" fill="hold" grpId="0"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450"/>
                                        <p:tgtEl>
                                          <p:spTgt spid="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45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450"/>
                                        <p:tgtEl>
                                          <p:spTgt spid="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45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5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450"/>
                                        <p:tgtEl>
                                          <p:spTgt spid="1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450"/>
                                        <p:tgtEl>
                                          <p:spTgt spid="13"/>
                                        </p:tgtEl>
                                      </p:cBhvr>
                                    </p:animEffect>
                                  </p:childTnLst>
                                </p:cTn>
                              </p:par>
                            </p:childTnLst>
                          </p:cTn>
                        </p:par>
                        <p:par>
                          <p:cTn id="56"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350"/>
                                        <p:tgtEl>
                                          <p:spTgt spid="4">
                                            <p:txEl>
                                              <p:pRg st="0" end="0"/>
                                            </p:txEl>
                                          </p:spTgt>
                                        </p:tgtEl>
                                      </p:cBhvr>
                                    </p:animEffect>
                                  </p:childTnLst>
                                </p:cTn>
                              </p:par>
                            </p:childTnLst>
                          </p:cTn>
                        </p:par>
                        <p:par>
                          <p:cTn id="57"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350"/>
                                        <p:tgtEl>
                                          <p:spTgt spid="4">
                                            <p:txEl>
                                              <p:pRg st="1" end="1"/>
                                            </p:txEl>
                                          </p:spTgt>
                                        </p:tgtEl>
                                      </p:cBhvr>
                                    </p:animEffect>
                                  </p:childTnLst>
                                </p:cTn>
                              </p:par>
                            </p:childTnLst>
                          </p:cTn>
                        </p:par>
                        <p:par>
                          <p:cTn id="58" fill="hold">
                            <p:stCondLst>
                              <p:cond delay="1050"/>
                            </p:stCondLst>
                            <p:childTnLst>
                              <p:par>
                                <p:cTn id="15" presetID="10" presetClass="entr" presetSubtype="0" fill="hold" grpId="0"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350"/>
                                        <p:tgtEl>
                                          <p:spTgt spid="4">
                                            <p:txEl>
                                              <p:pRg st="2" end="2"/>
                                            </p:txEl>
                                          </p:spTgt>
                                        </p:tgtEl>
                                      </p:cBhvr>
                                    </p:animEffect>
                                  </p:childTnLst>
                                </p:cTn>
                              </p:par>
                            </p:childTnLst>
                          </p:cTn>
                        </p:par>
                        <p:par>
                          <p:cTn id="59" fill="hold">
                            <p:stCondLst>
                              <p:cond delay="1350"/>
                            </p:stCondLst>
                            <p:childTnLst>
                              <p:par>
                                <p:cTn id="18" presetID="10" presetClass="entr" presetSubtype="0" fill="hold" grpId="0" nodeType="after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350"/>
                                        <p:tgtEl>
                                          <p:spTgt spid="4">
                                            <p:txEl>
                                              <p:pRg st="3" end="3"/>
                                            </p:txEl>
                                          </p:spTgt>
                                        </p:tgtEl>
                                      </p:cBhvr>
                                    </p:animEffect>
                                  </p:childTnLst>
                                </p:cTn>
                              </p:par>
                            </p:childTnLst>
                          </p:cTn>
                        </p:par>
                        <p:par>
                          <p:cTn id="60" fill="hold">
                            <p:stCondLst>
                              <p:cond delay="165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350"/>
                                        <p:tgtEl>
                                          <p:spTgt spid="4">
                                            <p:txEl>
                                              <p:pRg st="4" end="4"/>
                                            </p:txEl>
                                          </p:spTgt>
                                        </p:tgtEl>
                                      </p:cBhvr>
                                    </p:animEffect>
                                  </p:childTnLst>
                                </p:cTn>
                              </p:par>
                            </p:childTnLst>
                          </p:cTn>
                        </p:par>
                        <p:par>
                          <p:cTn id="61" fill="hold">
                            <p:stCondLst>
                              <p:cond delay="1950"/>
                            </p:stCondLst>
                            <p:childTnLst>
                              <p:par>
                                <p:cTn id="24" presetID="10" presetClass="entr" presetSubtype="0" fill="hold" grpId="0" nodeType="after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35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this lesson</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200" i="1" dirty="0">
                <a:solidFill>
                  <a:srgbClr val="56675E"/>
                </a:solidFill>
              </a:rPr>
              <a:t>Tap a button to jump straight there. The ☰ Menu button on every slide brings you back here.</a:t>
            </a:r>
            <a:endParaRPr lang="en-US" sz="1200" dirty="0"/>
          </a:p>
        </p:txBody>
      </p:sp>
      <p:sp>
        <p:nvSpPr>
          <p:cNvPr id="7" name="btn">
            <a:hlinkClick r:id="rId2" action="ppaction://hlinksldjump"/>
          </p:cNvPr>
          <p:cNvSpPr/>
          <p:nvPr/>
        </p:nvSpPr>
        <p:spPr>
          <a:xfrm>
            <a:off x="45720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2" action="ppaction://hlinksldjump" tooltip="The big picture">
                  <a:extLst>
                    <a:ext uri="{A12FA001-AC4F-418D-AE19-62706E023703}">
                      <ahyp:hlinkClr xmlns:ahyp="http://schemas.microsoft.com/office/drawing/2018/hyperlinkcolor" val="tx"/>
                    </a:ext>
                  </a:extLst>
                </a:hlinkClick>
              </a:rPr>
              <a:t>The big picture</a:t>
            </a:r>
            <a:endParaRPr lang="en-US" sz="1500" dirty="0"/>
          </a:p>
        </p:txBody>
      </p:sp>
      <p:sp>
        <p:nvSpPr>
          <p:cNvPr id="8" name="btn">
            <a:hlinkClick r:id="rId3" action="ppaction://hlinksldjump"/>
          </p:cNvPr>
          <p:cNvSpPr/>
          <p:nvPr/>
        </p:nvSpPr>
        <p:spPr>
          <a:xfrm>
            <a:off x="45720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3" action="ppaction://hlinksldjump" tooltip="Learn the exact titles">
                  <a:extLst>
                    <a:ext uri="{A12FA001-AC4F-418D-AE19-62706E023703}">
                      <ahyp:hlinkClr xmlns:ahyp="http://schemas.microsoft.com/office/drawing/2018/hyperlinkcolor" val="tx"/>
                    </a:ext>
                  </a:extLst>
                </a:hlinkClick>
              </a:rPr>
              <a:t>Learn the exact titles</a:t>
            </a:r>
            <a:endParaRPr lang="en-US" sz="1500" dirty="0"/>
          </a:p>
        </p:txBody>
      </p:sp>
      <p:sp>
        <p:nvSpPr>
          <p:cNvPr id="9" name="btn">
            <a:hlinkClick r:id="rId4" action="ppaction://hlinksldjump"/>
          </p:cNvPr>
          <p:cNvSpPr/>
          <p:nvPr/>
        </p:nvSpPr>
        <p:spPr>
          <a:xfrm>
            <a:off x="45720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200" dirty="0">
                <a:solidFill>
                  <a:srgbClr val="15221C"/>
                </a:solidFill>
                <a:hlinkClick r:id="rId4" action="ppaction://hlinksldjump" tooltip="Consumer Contracts Regulations 2013: what they cover">
                  <a:extLst>
                    <a:ext uri="{A12FA001-AC4F-418D-AE19-62706E023703}">
                      <ahyp:hlinkClr xmlns:ahyp="http://schemas.microsoft.com/office/drawing/2018/hyperlinkcolor" val="tx"/>
                    </a:ext>
                  </a:extLst>
                </a:hlinkClick>
              </a:rPr>
              <a:t>Consumer Contracts Regulations 2013: what they cover</a:t>
            </a:r>
            <a:endParaRPr lang="en-US" sz="1200" dirty="0"/>
          </a:p>
        </p:txBody>
      </p:sp>
      <p:sp>
        <p:nvSpPr>
          <p:cNvPr id="10" name="btn">
            <a:hlinkClick r:id="rId5" action="ppaction://hlinksldjump"/>
          </p:cNvPr>
          <p:cNvSpPr/>
          <p:nvPr/>
        </p:nvSpPr>
        <p:spPr>
          <a:xfrm>
            <a:off x="45720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5" action="ppaction://hlinksldjump" tooltip="Cancelling and getting a refund">
                  <a:extLst>
                    <a:ext uri="{A12FA001-AC4F-418D-AE19-62706E023703}">
                      <ahyp:hlinkClr xmlns:ahyp="http://schemas.microsoft.com/office/drawing/2018/hyperlinkcolor" val="tx"/>
                    </a:ext>
                  </a:extLst>
                </a:hlinkClick>
              </a:rPr>
              <a:t>Cancelling and getting a refund</a:t>
            </a:r>
            <a:endParaRPr lang="en-US" sz="1500" dirty="0"/>
          </a:p>
        </p:txBody>
      </p:sp>
      <p:sp>
        <p:nvSpPr>
          <p:cNvPr id="11" name="btn">
            <a:hlinkClick r:id="rId6" action="ppaction://hlinksldjump"/>
          </p:cNvPr>
          <p:cNvSpPr/>
          <p:nvPr/>
        </p:nvSpPr>
        <p:spPr>
          <a:xfrm>
            <a:off x="457200" y="3269633"/>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6" action="ppaction://hlinksldjump" tooltip="Exceptions and extra charges">
                  <a:extLst>
                    <a:ext uri="{A12FA001-AC4F-418D-AE19-62706E023703}">
                      <ahyp:hlinkClr xmlns:ahyp="http://schemas.microsoft.com/office/drawing/2018/hyperlinkcolor" val="tx"/>
                    </a:ext>
                  </a:extLst>
                </a:hlinkClick>
              </a:rPr>
              <a:t>Exceptions and extra charges</a:t>
            </a:r>
            <a:endParaRPr lang="en-US" sz="1500" dirty="0"/>
          </a:p>
        </p:txBody>
      </p:sp>
      <p:sp>
        <p:nvSpPr>
          <p:cNvPr id="12" name="btn">
            <a:hlinkClick r:id="rId7" action="ppaction://hlinksldjump"/>
          </p:cNvPr>
          <p:cNvSpPr/>
          <p:nvPr/>
        </p:nvSpPr>
        <p:spPr>
          <a:xfrm>
            <a:off x="457200" y="3755571"/>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7" action="ppaction://hlinksldjump" tooltip="Worked example: buying online from a Derry shop">
                  <a:extLst>
                    <a:ext uri="{A12FA001-AC4F-418D-AE19-62706E023703}">
                      <ahyp:hlinkClr xmlns:ahyp="http://schemas.microsoft.com/office/drawing/2018/hyperlinkcolor" val="tx"/>
                    </a:ext>
                  </a:extLst>
                </a:hlinkClick>
              </a:rPr>
              <a:t>Worked example: buying online from a Derry shop</a:t>
            </a:r>
            <a:endParaRPr lang="en-US" sz="1300" dirty="0"/>
          </a:p>
        </p:txBody>
      </p:sp>
      <p:sp>
        <p:nvSpPr>
          <p:cNvPr id="13" name="btn">
            <a:hlinkClick r:id="rId8" action="ppaction://hlinksldjump"/>
          </p:cNvPr>
          <p:cNvSpPr/>
          <p:nvPr/>
        </p:nvSpPr>
        <p:spPr>
          <a:xfrm>
            <a:off x="457200" y="424151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8" action="ppaction://hlinksldjump" tooltip="Copyright, Designs and Patents Act 1988">
                  <a:extLst>
                    <a:ext uri="{A12FA001-AC4F-418D-AE19-62706E023703}">
                      <ahyp:hlinkClr xmlns:ahyp="http://schemas.microsoft.com/office/drawing/2018/hyperlinkcolor" val="tx"/>
                    </a:ext>
                  </a:extLst>
                </a:hlinkClick>
              </a:rPr>
              <a:t>Copyright, Designs and Patents Act 1988</a:t>
            </a:r>
            <a:endParaRPr lang="en-US" sz="1300" dirty="0"/>
          </a:p>
        </p:txBody>
      </p:sp>
      <p:sp>
        <p:nvSpPr>
          <p:cNvPr id="14" name="btn">
            <a:hlinkClick r:id="rId9" action="ppaction://hlinksldjump"/>
          </p:cNvPr>
          <p:cNvSpPr/>
          <p:nvPr/>
        </p:nvSpPr>
        <p:spPr>
          <a:xfrm>
            <a:off x="464058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9" action="ppaction://hlinksldjump" tooltip="Software licences">
                  <a:extLst>
                    <a:ext uri="{A12FA001-AC4F-418D-AE19-62706E023703}">
                      <ahyp:hlinkClr xmlns:ahyp="http://schemas.microsoft.com/office/drawing/2018/hyperlinkcolor" val="tx"/>
                    </a:ext>
                  </a:extLst>
                </a:hlinkClick>
              </a:rPr>
              <a:t>Software licences</a:t>
            </a:r>
            <a:endParaRPr lang="en-US" sz="1500" dirty="0"/>
          </a:p>
        </p:txBody>
      </p:sp>
      <p:sp>
        <p:nvSpPr>
          <p:cNvPr id="15" name="btn">
            <a:hlinkClick r:id="rId10" action="ppaction://hlinksldjump"/>
          </p:cNvPr>
          <p:cNvSpPr/>
          <p:nvPr/>
        </p:nvSpPr>
        <p:spPr>
          <a:xfrm>
            <a:off x="464058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0" action="ppaction://hlinksldjump" tooltip="Typical breaches of the CDPA">
                  <a:extLst>
                    <a:ext uri="{A12FA001-AC4F-418D-AE19-62706E023703}">
                      <ahyp:hlinkClr xmlns:ahyp="http://schemas.microsoft.com/office/drawing/2018/hyperlinkcolor" val="tx"/>
                    </a:ext>
                  </a:extLst>
                </a:hlinkClick>
              </a:rPr>
              <a:t>Typical breaches of the CDPA</a:t>
            </a:r>
            <a:endParaRPr lang="en-US" sz="1500" dirty="0"/>
          </a:p>
        </p:txBody>
      </p:sp>
      <p:sp>
        <p:nvSpPr>
          <p:cNvPr id="16" name="btn">
            <a:hlinkClick r:id="rId11" action="ppaction://hlinksldjump"/>
          </p:cNvPr>
          <p:cNvSpPr/>
          <p:nvPr/>
        </p:nvSpPr>
        <p:spPr>
          <a:xfrm>
            <a:off x="464058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11" action="ppaction://hlinksldjump" tooltip="Computer Misuse Act 1990: the offences">
                  <a:extLst>
                    <a:ext uri="{A12FA001-AC4F-418D-AE19-62706E023703}">
                      <ahyp:hlinkClr xmlns:ahyp="http://schemas.microsoft.com/office/drawing/2018/hyperlinkcolor" val="tx"/>
                    </a:ext>
                  </a:extLst>
                </a:hlinkClick>
              </a:rPr>
              <a:t>Computer Misuse Act 1990: the offences</a:t>
            </a:r>
            <a:endParaRPr lang="en-US" sz="1300" dirty="0"/>
          </a:p>
        </p:txBody>
      </p:sp>
      <p:sp>
        <p:nvSpPr>
          <p:cNvPr id="17" name="btn">
            <a:hlinkClick r:id="rId12" action="ppaction://hlinksldjump"/>
          </p:cNvPr>
          <p:cNvSpPr/>
          <p:nvPr/>
        </p:nvSpPr>
        <p:spPr>
          <a:xfrm>
            <a:off x="464058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2" action="ppaction://hlinksldjump" tooltip="Hacker, virus and spyware">
                  <a:extLst>
                    <a:ext uri="{A12FA001-AC4F-418D-AE19-62706E023703}">
                      <ahyp:hlinkClr xmlns:ahyp="http://schemas.microsoft.com/office/drawing/2018/hyperlinkcolor" val="tx"/>
                    </a:ext>
                  </a:extLst>
                </a:hlinkClick>
              </a:rPr>
              <a:t>Hacker, virus and spyware</a:t>
            </a:r>
            <a:endParaRPr lang="en-US" sz="1500" dirty="0"/>
          </a:p>
        </p:txBody>
      </p:sp>
      <p:sp>
        <p:nvSpPr>
          <p:cNvPr id="18" name="btn">
            <a:hlinkClick r:id="rId13" action="ppaction://hlinksldjump"/>
          </p:cNvPr>
          <p:cNvSpPr/>
          <p:nvPr/>
        </p:nvSpPr>
        <p:spPr>
          <a:xfrm>
            <a:off x="4640580" y="3269633"/>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3" action="ppaction://hlinksldjump" tooltip="Worked example: which law?">
                  <a:extLst>
                    <a:ext uri="{A12FA001-AC4F-418D-AE19-62706E023703}">
                      <ahyp:hlinkClr xmlns:ahyp="http://schemas.microsoft.com/office/drawing/2018/hyperlinkcolor" val="tx"/>
                    </a:ext>
                  </a:extLst>
                </a:hlinkClick>
              </a:rPr>
              <a:t>Worked example: which law?</a:t>
            </a:r>
            <a:endParaRPr lang="en-US" sz="1500" dirty="0"/>
          </a:p>
        </p:txBody>
      </p:sp>
      <p:sp>
        <p:nvSpPr>
          <p:cNvPr id="19" name="btn">
            <a:hlinkClick r:id="rId14" action="ppaction://hlinksldjump"/>
          </p:cNvPr>
          <p:cNvSpPr/>
          <p:nvPr/>
        </p:nvSpPr>
        <p:spPr>
          <a:xfrm>
            <a:off x="4640580" y="3755571"/>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4" action="ppaction://hlinksldjump" tooltip="Exit quiz">
                  <a:extLst>
                    <a:ext uri="{A12FA001-AC4F-418D-AE19-62706E023703}">
                      <ahyp:hlinkClr xmlns:ahyp="http://schemas.microsoft.com/office/drawing/2018/hyperlinkcolor" val="tx"/>
                    </a:ext>
                  </a:extLst>
                </a:hlinkClick>
              </a:rPr>
              <a:t>Exit quiz</a:t>
            </a:r>
            <a:endParaRPr lang="en-US" sz="1500" dirty="0"/>
          </a:p>
        </p:txBody>
      </p:sp>
      <p:sp>
        <p:nvSpPr>
          <p:cNvPr id="20" name="btn">
            <a:hlinkClick r:id="rId15" action="ppaction://hlinksldjump"/>
          </p:cNvPr>
          <p:cNvSpPr/>
          <p:nvPr/>
        </p:nvSpPr>
        <p:spPr>
          <a:xfrm>
            <a:off x="4640580" y="4241510"/>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5" action="ppaction://hlinksldjump" tooltip="↑  Topic menu">
                  <a:extLst>
                    <a:ext uri="{A12FA001-AC4F-418D-AE19-62706E023703}">
                      <ahyp:hlinkClr xmlns:ahyp="http://schemas.microsoft.com/office/drawing/2018/hyperlinkcolor" val="tx"/>
                    </a:ext>
                  </a:extLst>
                </a:hlinkClick>
              </a:rPr>
              <a:t>↑  Topic menu</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The big picture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pic>
        <p:nvPicPr>
          <p:cNvPr id="5" name="anim:auto" descr="Four laws examined in Unit 1 and what each covers">    </p:cNvPr>
          <p:cNvPicPr>
            <a:picLocks noChangeAspect="1"/>
          </p:cNvPicPr>
          <p:nvPr/>
        </p:nvPicPr>
        <p:blipFill>
          <a:blip r:embed="rId2"/>
          <a:stretch>
            <a:fillRect/>
          </a:stretch>
        </p:blipFill>
        <p:spPr>
          <a:xfrm>
            <a:off x="1682496" y="1143000"/>
            <a:ext cx="5779008" cy="3250692"/>
          </a:xfrm>
          <a:prstGeom prst="rect">
            <a:avLst/>
          </a:prstGeom>
        </p:spPr>
      </p:pic>
      <p:sp>
        <p:nvSpPr>
          <p:cNvPr id="6" name="Text 2"/>
          <p:cNvSpPr txBox="1"/>
          <p:nvPr/>
        </p:nvSpPr>
        <p:spPr>
          <a:xfrm>
            <a:off x="457200" y="4434840"/>
            <a:ext cx="8229600" cy="320040"/>
          </a:xfrm>
          <a:prstGeom prst="rect">
            <a:avLst/>
          </a:prstGeom>
          <a:noFill/>
          <a:ln/>
        </p:spPr>
        <p:txBody>
          <a:bodyPr wrap="square" lIns="0" tIns="0" rIns="0" bIns="0" rtlCol="0" anchor="ctr"/>
          <a:lstStyle/>
          <a:p>
            <a:pPr algn="ctr" indent="0" marL="0">
              <a:buNone/>
            </a:pPr>
            <a:r>
              <a:rPr lang="en-US" sz="1200" i="1" dirty="0">
                <a:solidFill>
                  <a:srgbClr val="56675E"/>
                </a:solidFill>
              </a:rPr>
              <a:t>Four laws examined in Unit 1 and what each covers</a:t>
            </a:r>
            <a:endParaRPr lang="en-US" sz="1200" dirty="0"/>
          </a:p>
        </p:txBody>
      </p:sp>
      <p:sp>
        <p:nvSpPr>
          <p:cNvPr id="8" name="btn">
            <a:hlinkClick r:id="rId3"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3"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Learn the exact titles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5221C"/>
                </a:solidFill>
              </a:rPr>
              <a:t>The Consumer Contracts (Information, Cancellation and Additional Charges) Regulations 2013</a:t>
            </a:r>
            <a:endParaRPr lang="en-US" sz="1800" dirty="0"/>
          </a:p>
          <a:p>
            <a:pPr marL="203200" indent="-203200">
              <a:spcAft>
                <a:spcPts val="600"/>
              </a:spcAft>
              <a:buSzPct val="100000"/>
              <a:buChar char="•"/>
            </a:pPr>
            <a:r>
              <a:rPr lang="en-US" sz="1800" dirty="0">
                <a:solidFill>
                  <a:srgbClr val="15221C"/>
                </a:solidFill>
              </a:rPr>
              <a:t>The Copyright, Designs and Patents Act 1988</a:t>
            </a:r>
            <a:endParaRPr lang="en-US" sz="1800" dirty="0"/>
          </a:p>
          <a:p>
            <a:pPr marL="203200" indent="-203200">
              <a:spcAft>
                <a:spcPts val="600"/>
              </a:spcAft>
              <a:buSzPct val="100000"/>
              <a:buChar char="•"/>
            </a:pPr>
            <a:r>
              <a:rPr lang="en-US" sz="1800" dirty="0">
                <a:solidFill>
                  <a:srgbClr val="15221C"/>
                </a:solidFill>
              </a:rPr>
              <a:t>The Computer Misuse Act 1990</a:t>
            </a:r>
            <a:endParaRPr lang="en-US" sz="1800" dirty="0"/>
          </a:p>
          <a:p>
            <a:pPr marL="203200" indent="-203200">
              <a:spcAft>
                <a:spcPts val="600"/>
              </a:spcAft>
              <a:buSzPct val="100000"/>
              <a:buChar char="•"/>
            </a:pPr>
            <a:r>
              <a:rPr lang="en-US" sz="1800" dirty="0">
                <a:solidFill>
                  <a:srgbClr val="15221C"/>
                </a:solidFill>
              </a:rPr>
              <a:t>Data protection (next lesson): the UK GDPR and the Data Protection Act 2018, which replaced the Data Protection Act 1998</a:t>
            </a:r>
            <a:endParaRPr lang="en-US" sz="1800" dirty="0"/>
          </a:p>
          <a:p>
            <a:pPr marL="203200" indent="-203200">
              <a:spcAft>
                <a:spcPts val="600"/>
              </a:spcAft>
              <a:buSzPct val="100000"/>
              <a:buChar char="•"/>
            </a:pPr>
            <a:r>
              <a:rPr lang="en-US" sz="1800" dirty="0">
                <a:solidFill>
                  <a:srgbClr val="15221C"/>
                </a:solidFill>
              </a:rPr>
              <a:t>Examiners have reported that many candidates lost marks because they could not give a title precisely – write the full name and the year</a:t>
            </a:r>
            <a:endParaRPr lang="en-US" sz="18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300" b="1" dirty="0">
                <a:solidFill>
                  <a:srgbClr val="11503E"/>
                </a:solidFill>
              </a:rPr>
              <a:t>Consumer Contracts Regulations 2013: what they cover</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5221C"/>
                </a:solidFill>
              </a:rPr>
              <a:t>Protect consumers who buy at a distance (online, by phone, by mail order) or away from the trader's premises (e.g. a doorstep sale)</a:t>
            </a:r>
            <a:endParaRPr lang="en-US" sz="1600" dirty="0"/>
          </a:p>
          <a:p>
            <a:pPr marL="203200" indent="-203200">
              <a:spcAft>
                <a:spcPts val="600"/>
              </a:spcAft>
              <a:buSzPct val="100000"/>
              <a:buChar char="•"/>
            </a:pPr>
            <a:r>
              <a:rPr lang="en-US" sz="1600" dirty="0">
                <a:solidFill>
                  <a:srgbClr val="15221C"/>
                </a:solidFill>
              </a:rPr>
              <a:t>Before you pay, the trader must tell you who they are, their address and contact details, and the main features of the product</a:t>
            </a:r>
            <a:endParaRPr lang="en-US" sz="1600" dirty="0"/>
          </a:p>
          <a:p>
            <a:pPr marL="203200" indent="-203200">
              <a:spcAft>
                <a:spcPts val="600"/>
              </a:spcAft>
              <a:buSzPct val="100000"/>
              <a:buChar char="•"/>
            </a:pPr>
            <a:r>
              <a:rPr lang="en-US" sz="1600" dirty="0">
                <a:solidFill>
                  <a:srgbClr val="15221C"/>
                </a:solidFill>
              </a:rPr>
              <a:t>They must show the total price, including VAT and delivery charges, and how you can pay</a:t>
            </a:r>
            <a:endParaRPr lang="en-US" sz="1600" dirty="0"/>
          </a:p>
          <a:p>
            <a:pPr marL="203200" indent="-203200">
              <a:spcAft>
                <a:spcPts val="600"/>
              </a:spcAft>
              <a:buSzPct val="100000"/>
              <a:buChar char="•"/>
            </a:pPr>
            <a:r>
              <a:rPr lang="en-US" sz="1600" dirty="0">
                <a:solidFill>
                  <a:srgbClr val="15221C"/>
                </a:solidFill>
              </a:rPr>
              <a:t>They must explain your right to cancel and how to return items</a:t>
            </a:r>
            <a:endParaRPr lang="en-US" sz="1600" dirty="0"/>
          </a:p>
          <a:p>
            <a:pPr marL="203200" indent="-203200">
              <a:spcAft>
                <a:spcPts val="600"/>
              </a:spcAft>
              <a:buSzPct val="100000"/>
              <a:buChar char="•"/>
            </a:pPr>
            <a:r>
              <a:rPr lang="en-US" sz="1600" dirty="0">
                <a:solidFill>
                  <a:srgbClr val="15221C"/>
                </a:solidFill>
              </a:rPr>
              <a:t>For digital content (apps, games, e-books) they must say what devices and software it works with (compatibility)</a:t>
            </a:r>
            <a:endParaRPr lang="en-US" sz="1600" dirty="0"/>
          </a:p>
          <a:p>
            <a:pPr marL="203200" indent="-203200">
              <a:spcAft>
                <a:spcPts val="600"/>
              </a:spcAft>
              <a:buSzPct val="100000"/>
              <a:buChar char="•"/>
            </a:pPr>
            <a:r>
              <a:rPr lang="en-US" sz="1600" dirty="0">
                <a:solidFill>
                  <a:srgbClr val="15221C"/>
                </a:solidFill>
              </a:rPr>
              <a:t>At checkout you must clearly confirm that you are agreeing to pay, e.g. a button labelled 'Buy now – pay'</a:t>
            </a:r>
            <a:endParaRPr lang="en-US" sz="16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Cancelling and getting a refund</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5221C"/>
                </a:solidFill>
              </a:rPr>
              <a:t>For goods: you can cancel within 14 days, starting the day after the goods arrive – this is the cooling-off period</a:t>
            </a:r>
            <a:endParaRPr lang="en-US" sz="1600" dirty="0"/>
          </a:p>
          <a:p>
            <a:pPr marL="203200" indent="-203200">
              <a:spcAft>
                <a:spcPts val="600"/>
              </a:spcAft>
              <a:buSzPct val="100000"/>
              <a:buChar char="•"/>
            </a:pPr>
            <a:r>
              <a:rPr lang="en-US" sz="1600" dirty="0">
                <a:solidFill>
                  <a:srgbClr val="15221C"/>
                </a:solidFill>
              </a:rPr>
              <a:t>You do not have to give a reason for cancelling</a:t>
            </a:r>
            <a:endParaRPr lang="en-US" sz="1600" dirty="0"/>
          </a:p>
          <a:p>
            <a:pPr marL="203200" indent="-203200">
              <a:spcAft>
                <a:spcPts val="600"/>
              </a:spcAft>
              <a:buSzPct val="100000"/>
              <a:buChar char="•"/>
            </a:pPr>
            <a:r>
              <a:rPr lang="en-US" sz="1600" dirty="0">
                <a:solidFill>
                  <a:srgbClr val="15221C"/>
                </a:solidFill>
              </a:rPr>
              <a:t>For services: the 14 days start the day after you agree the contract</a:t>
            </a:r>
            <a:endParaRPr lang="en-US" sz="1600" dirty="0"/>
          </a:p>
          <a:p>
            <a:pPr marL="203200" indent="-203200">
              <a:spcAft>
                <a:spcPts val="600"/>
              </a:spcAft>
              <a:buSzPct val="100000"/>
              <a:buChar char="•"/>
            </a:pPr>
            <a:r>
              <a:rPr lang="en-US" sz="1600" dirty="0">
                <a:solidFill>
                  <a:srgbClr val="15221C"/>
                </a:solidFill>
              </a:rPr>
              <a:t>The trader must refund you within 14 days – once the goods are returned, or you show proof you have sent them back</a:t>
            </a:r>
            <a:endParaRPr lang="en-US" sz="1600" dirty="0"/>
          </a:p>
          <a:p>
            <a:pPr marL="203200" indent="-203200">
              <a:spcAft>
                <a:spcPts val="600"/>
              </a:spcAft>
              <a:buSzPct val="100000"/>
              <a:buChar char="•"/>
            </a:pPr>
            <a:r>
              <a:rPr lang="en-US" sz="1600" dirty="0">
                <a:solidFill>
                  <a:srgbClr val="15221C"/>
                </a:solidFill>
              </a:rPr>
              <a:t>The refund includes standard delivery costs; you may have to pay to post the goods back if you were told this beforehand</a:t>
            </a:r>
            <a:endParaRPr lang="en-US" sz="1600" dirty="0"/>
          </a:p>
          <a:p>
            <a:pPr marL="203200" indent="-203200">
              <a:spcAft>
                <a:spcPts val="600"/>
              </a:spcAft>
              <a:buSzPct val="100000"/>
              <a:buChar char="•"/>
            </a:pPr>
            <a:r>
              <a:rPr lang="en-US" sz="1600" dirty="0">
                <a:solidFill>
                  <a:srgbClr val="15221C"/>
                </a:solidFill>
              </a:rPr>
              <a:t>If the trader never told you about your right to cancel, the cooling-off period can be extended by up to 12 months</a:t>
            </a:r>
            <a:endParaRPr lang="en-US" sz="16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Exceptions and extra charges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Digital downloads: you lose the right to cancel once the download or stream starts, if you agreed to this and accepted you would lose the right</a:t>
            </a:r>
            <a:endParaRPr lang="en-US" sz="1500" dirty="0"/>
          </a:p>
          <a:p>
            <a:pPr marL="203200" indent="-203200">
              <a:spcAft>
                <a:spcPts val="600"/>
              </a:spcAft>
              <a:buSzPct val="100000"/>
              <a:buChar char="•"/>
            </a:pPr>
            <a:r>
              <a:rPr lang="en-US" sz="1500" dirty="0">
                <a:solidFill>
                  <a:srgbClr val="15221C"/>
                </a:solidFill>
              </a:rPr>
              <a:t>Sealed DVDs, Blu-rays, games or software: once you break the seal, you cannot cancel</a:t>
            </a:r>
            <a:endParaRPr lang="en-US" sz="1500" dirty="0"/>
          </a:p>
          <a:p>
            <a:pPr marL="203200" indent="-203200">
              <a:spcAft>
                <a:spcPts val="600"/>
              </a:spcAft>
              <a:buSzPct val="100000"/>
              <a:buChar char="•"/>
            </a:pPr>
            <a:r>
              <a:rPr lang="en-US" sz="1500" dirty="0">
                <a:solidFill>
                  <a:srgbClr val="15221C"/>
                </a:solidFill>
              </a:rPr>
              <a:t>Personalised or made-to-order items (e.g. a printed hoodie or custom photo book) cannot be cancelled</a:t>
            </a:r>
            <a:endParaRPr lang="en-US" sz="1500" dirty="0"/>
          </a:p>
          <a:p>
            <a:pPr marL="203200" indent="-203200">
              <a:spcAft>
                <a:spcPts val="600"/>
              </a:spcAft>
              <a:buSzPct val="100000"/>
              <a:buChar char="•"/>
            </a:pPr>
            <a:r>
              <a:rPr lang="en-US" sz="1500" dirty="0">
                <a:solidFill>
                  <a:srgbClr val="15221C"/>
                </a:solidFill>
              </a:rPr>
              <a:t>Pre-ticked boxes that add extra payments (e.g. insurance) are banned – you must choose to opt in</a:t>
            </a:r>
            <a:endParaRPr lang="en-US" sz="1500" dirty="0"/>
          </a:p>
          <a:p>
            <a:pPr marL="203200" indent="-203200">
              <a:spcAft>
                <a:spcPts val="600"/>
              </a:spcAft>
              <a:buSzPct val="100000"/>
              <a:buChar char="•"/>
            </a:pPr>
            <a:r>
              <a:rPr lang="en-US" sz="1500" dirty="0">
                <a:solidFill>
                  <a:srgbClr val="15221C"/>
                </a:solidFill>
              </a:rPr>
              <a:t>Customer helplines for things you have bought must not cost more than a basic-rate call</a:t>
            </a:r>
            <a:endParaRPr lang="en-US" sz="1500" dirty="0"/>
          </a:p>
          <a:p>
            <a:pPr marL="203200" indent="-203200">
              <a:spcAft>
                <a:spcPts val="600"/>
              </a:spcAft>
              <a:buSzPct val="100000"/>
              <a:buChar char="•"/>
            </a:pPr>
            <a:r>
              <a:rPr lang="en-US" sz="1500" dirty="0">
                <a:solidFill>
                  <a:srgbClr val="15221C"/>
                </a:solidFill>
              </a:rPr>
              <a:t>Since April 2025 the Digital Markets, Competition and Consumers Act 2024 adds more protection, e.g. banning fake reviews and hidden fees</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300" b="1" dirty="0">
                <a:solidFill>
                  <a:srgbClr val="11503E"/>
                </a:solidFill>
              </a:rPr>
              <a:t>Worked example: buying online from a Derry shop</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442447"/>
                <a:gridCol w="4787153"/>
              </a:tblGrid>
              <a:tr h="0">
                <a:tc>
                  <a:txBody>
                    <a:bodyPr/>
                    <a:lstStyle/>
                    <a:p>
                      <a:pPr indent="0" marL="0">
                        <a:buNone/>
                      </a:pPr>
                      <a:r>
                        <a:rPr lang="en-US" sz="1300" b="1" dirty="0">
                          <a:solidFill>
                            <a:srgbClr val="FFFFFF"/>
                          </a:solidFill>
                        </a:rPr>
                        <a:t>What happens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Position under the Regulations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Aoife orders trainers online on 2 March; they arrive on 6 March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Her 14-day cancellation period starts on 7 March and ends on 20 March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She returns them unworn on 15 March with proof of posting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She is within the 14 days; the shop must refund her within 14 days of her proof of return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A box for '£4.99 shoe protection' was already ticked at checkout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Not allowed – extra charges need her active consent, so she can get the £4.99 back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She also bought a game download and started playing it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She agreed to lose the right to cancel when the download began, so no refund is due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She ordered a phone case printed with her name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Personalised item – no right to cancel (but still protected if it arrives faulty)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Graphic spid="13" grpId="0">
        <p:bldAsOne/>
      </p:bldGraphic>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Copyright, Designs and Patents Act 1988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Protects intellectual property – original work created by a person or organisation, such as software, music, films, images, books and designs</a:t>
            </a:r>
            <a:endParaRPr lang="en-US" sz="1500" dirty="0"/>
          </a:p>
          <a:p>
            <a:pPr marL="203200" indent="-203200">
              <a:spcAft>
                <a:spcPts val="600"/>
              </a:spcAft>
              <a:buSzPct val="100000"/>
              <a:buChar char="•"/>
            </a:pPr>
            <a:r>
              <a:rPr lang="en-US" sz="1500" dirty="0">
                <a:solidFill>
                  <a:srgbClr val="15221C"/>
                </a:solidFill>
              </a:rPr>
              <a:t>Computer programs count as literary works, so source code is protected</a:t>
            </a:r>
            <a:endParaRPr lang="en-US" sz="1500" dirty="0"/>
          </a:p>
          <a:p>
            <a:pPr marL="203200" indent="-203200">
              <a:spcAft>
                <a:spcPts val="600"/>
              </a:spcAft>
              <a:buSzPct val="100000"/>
              <a:buChar char="•"/>
            </a:pPr>
            <a:r>
              <a:rPr lang="en-US" sz="1500" dirty="0">
                <a:solidFill>
                  <a:srgbClr val="15221C"/>
                </a:solidFill>
              </a:rPr>
              <a:t>Copyright is automatic: there is no need to register it or use the © symbol</a:t>
            </a:r>
            <a:endParaRPr lang="en-US" sz="1500" dirty="0"/>
          </a:p>
          <a:p>
            <a:pPr marL="203200" indent="-203200">
              <a:spcAft>
                <a:spcPts val="600"/>
              </a:spcAft>
              <a:buSzPct val="100000"/>
              <a:buChar char="•"/>
            </a:pPr>
            <a:r>
              <a:rPr lang="en-US" sz="1500" dirty="0">
                <a:solidFill>
                  <a:srgbClr val="15221C"/>
                </a:solidFill>
              </a:rPr>
              <a:t>Only the copyright owner can copy, share, sell, adapt or rent out the work – anyone else needs permission or a licence</a:t>
            </a:r>
            <a:endParaRPr lang="en-US" sz="1500" dirty="0"/>
          </a:p>
          <a:p>
            <a:pPr marL="203200" indent="-203200">
              <a:spcAft>
                <a:spcPts val="600"/>
              </a:spcAft>
              <a:buSzPct val="100000"/>
              <a:buChar char="•"/>
            </a:pPr>
            <a:r>
              <a:rPr lang="en-US" sz="1500" dirty="0">
                <a:solidFill>
                  <a:srgbClr val="15221C"/>
                </a:solidFill>
              </a:rPr>
              <a:t>For software, copyright normally lasts for the life of the author plus 70 years</a:t>
            </a:r>
            <a:endParaRPr lang="en-US" sz="1500" dirty="0"/>
          </a:p>
          <a:p>
            <a:pPr marL="203200" indent="-203200">
              <a:spcAft>
                <a:spcPts val="600"/>
              </a:spcAft>
              <a:buSzPct val="100000"/>
              <a:buChar char="•"/>
            </a:pPr>
            <a:r>
              <a:rPr lang="en-US" sz="1500" dirty="0">
                <a:solidFill>
                  <a:srgbClr val="15221C"/>
                </a:solidFill>
              </a:rPr>
              <a:t>Breaking the Act can lead to unlimited fines and, for serious commercial or online infringement, up to 10 years in prison</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Software licences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2547"/>
                <a:gridCol w="6497053"/>
              </a:tblGrid>
              <a:tr h="0">
                <a:tc>
                  <a:txBody>
                    <a:bodyPr/>
                    <a:lstStyle/>
                    <a:p>
                      <a:pPr indent="0" marL="0">
                        <a:buNone/>
                      </a:pPr>
                      <a:r>
                        <a:rPr lang="en-US" sz="1300" b="1" dirty="0">
                          <a:solidFill>
                            <a:srgbClr val="FFFFFF"/>
                          </a:solidFill>
                        </a:rPr>
                        <a:t>Licence type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allows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Single-user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One person or one computer may use the software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Multi-user / network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 set number of users or computers, e.g. 30 PCs in a school ICT suite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Site licence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Any number of computers at one site, e.g. a whole school</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Subscription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Use while you keep paying, e.g. a yearly office or design package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Freeware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Free to use, but the code is still protected by copyright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Open source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Free to use, view, change and share the source code under the licence terms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down)">
                                      <p:cBhvr>
                                        <p:cTn id="14"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Graphic spid="15" grpId="0">
        <p:bldAsOne/>
      </p:bldGraphic>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Typical breaches of the CDPA</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5221C"/>
                </a:solidFill>
              </a:rPr>
              <a:t>Software piracy: illegally copying, downloading, distributing or selling software without permission</a:t>
            </a:r>
            <a:endParaRPr lang="en-US" sz="1600" dirty="0"/>
          </a:p>
          <a:p>
            <a:pPr marL="203200" indent="-203200">
              <a:spcAft>
                <a:spcPts val="600"/>
              </a:spcAft>
              <a:buSzPct val="100000"/>
              <a:buChar char="•"/>
            </a:pPr>
            <a:r>
              <a:rPr lang="en-US" sz="1600" dirty="0">
                <a:solidFill>
                  <a:srgbClr val="15221C"/>
                </a:solidFill>
              </a:rPr>
              <a:t>Installing software on more computers than the licence allows, or sharing a licence key with friends</a:t>
            </a:r>
            <a:endParaRPr lang="en-US" sz="1600" dirty="0"/>
          </a:p>
          <a:p>
            <a:pPr marL="203200" indent="-203200">
              <a:spcAft>
                <a:spcPts val="600"/>
              </a:spcAft>
              <a:buSzPct val="100000"/>
              <a:buChar char="•"/>
            </a:pPr>
            <a:r>
              <a:rPr lang="en-US" sz="1600" dirty="0">
                <a:solidFill>
                  <a:srgbClr val="15221C"/>
                </a:solidFill>
              </a:rPr>
              <a:t>Using a home or student licence for business, or carrying on using software after a licence or subscription has ended</a:t>
            </a:r>
            <a:endParaRPr lang="en-US" sz="1600" dirty="0"/>
          </a:p>
          <a:p>
            <a:pPr marL="203200" indent="-203200">
              <a:spcAft>
                <a:spcPts val="600"/>
              </a:spcAft>
              <a:buSzPct val="100000"/>
              <a:buChar char="•"/>
            </a:pPr>
            <a:r>
              <a:rPr lang="en-US" sz="1600" dirty="0">
                <a:solidFill>
                  <a:srgbClr val="15221C"/>
                </a:solidFill>
              </a:rPr>
              <a:t>Downloading or streaming films, music or games from illegal sites</a:t>
            </a:r>
            <a:endParaRPr lang="en-US" sz="1600" dirty="0"/>
          </a:p>
          <a:p>
            <a:pPr marL="203200" indent="-203200">
              <a:spcAft>
                <a:spcPts val="600"/>
              </a:spcAft>
              <a:buSzPct val="100000"/>
              <a:buChar char="•"/>
            </a:pPr>
            <a:r>
              <a:rPr lang="en-US" sz="1600" dirty="0">
                <a:solidFill>
                  <a:srgbClr val="15221C"/>
                </a:solidFill>
              </a:rPr>
              <a:t>Using someone else's photos, music or code in your own website, video or app without permission</a:t>
            </a:r>
            <a:endParaRPr lang="en-US" sz="1600" dirty="0"/>
          </a:p>
          <a:p>
            <a:pPr marL="203200" indent="-203200">
              <a:spcAft>
                <a:spcPts val="600"/>
              </a:spcAft>
              <a:buSzPct val="100000"/>
              <a:buChar char="•"/>
            </a:pPr>
            <a:r>
              <a:rPr lang="en-US" sz="1600" dirty="0">
                <a:solidFill>
                  <a:srgbClr val="15221C"/>
                </a:solidFill>
              </a:rPr>
              <a:t>Plagiarism – copying someone else's work and presenting it as your own – is an ethical issue and may also breach copyright</a:t>
            </a:r>
            <a:endParaRPr lang="en-US" sz="16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Computer Misuse Act 1990: the offences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
                <a:gridCol w="4467497"/>
                <a:gridCol w="3487783"/>
              </a:tblGrid>
              <a:tr h="0">
                <a:tc>
                  <a:txBody>
                    <a:bodyPr/>
                    <a:lstStyle/>
                    <a:p>
                      <a:pPr indent="0" marL="0">
                        <a:buNone/>
                      </a:pPr>
                      <a:r>
                        <a:rPr lang="en-US" sz="1300" b="1" dirty="0">
                          <a:solidFill>
                            <a:srgbClr val="FFFFFF"/>
                          </a:solidFill>
                        </a:rPr>
                        <a:t>Section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Offence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Unauthorised access to computer material</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Logging in with a friend's guessed password to read their messages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Unauthorised access with intent to commit or help commit further offences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Hacking into an online bank account to transfer money (fraud)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Unauthorised acts with intent to impair, or reckless as to impairing, a computer (e.g. modifying or deleting data)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Planting a virus, deleting files, changing someone's password, a denial-of-service attack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3ZA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Unauthorised acts causing, or risking, serious damage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Attacking a hospital or power network's systems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3A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Making, supplying or obtaining tools for use in these offences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Selling hacking software or malware kits online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wipe(down)">
                                      <p:cBhvr>
                                        <p:cTn id="14"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Graphic spid="17" grpId="0">
        <p:bldAsOne/>
      </p:bldGraphic>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Hacker, virus and spyware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4098"/>
                <a:gridCol w="3487119"/>
                <a:gridCol w="4498383"/>
              </a:tblGrid>
              <a:tr h="0">
                <a:tc>
                  <a:txBody>
                    <a:bodyPr/>
                    <a:lstStyle/>
                    <a:p>
                      <a:pPr indent="0" marL="0">
                        <a:buNone/>
                      </a:pPr>
                      <a:r>
                        <a:rPr lang="en-US" sz="1300" b="1" dirty="0">
                          <a:solidFill>
                            <a:srgbClr val="FFFFFF"/>
                          </a:solidFill>
                        </a:rPr>
                        <a:t>Term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Meaning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Link to the Computer Misuse Act 1990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Hacker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Someone who gets into a computer system, or the data held on it, without permission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Section 1; section 2 if they intend a further crime such as fraud; section 3 if they change or delete data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Virus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Malware that attaches itself to files or programs and copies itself, often damaging or deleting data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Creating and spreading it is section 3 – an unauthorised act that impairs a computer; making it to supply to others is section 3A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Spyware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Malware that secretly records what a user does (e.g. keystrokes) and sends it to a third party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Installing it secretly is section 3; using stolen passwords to get into accounts is section 1 or 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down)">
                                      <p:cBhvr>
                                        <p:cTn id="14"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Graphic spid="18" grpId="0">
        <p:bldAsOne/>
      </p:bldGraphic>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Worked example: which law?</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339244"/>
                <a:gridCol w="3890356"/>
              </a:tblGrid>
              <a:tr h="0">
                <a:tc>
                  <a:txBody>
                    <a:bodyPr/>
                    <a:lstStyle/>
                    <a:p>
                      <a:pPr indent="0" marL="0">
                        <a:buNone/>
                      </a:pPr>
                      <a:r>
                        <a:rPr lang="en-US" sz="1300" b="1" dirty="0">
                          <a:solidFill>
                            <a:srgbClr val="FFFFFF"/>
                          </a:solidFill>
                        </a:rPr>
                        <a:t>Scenario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Law broken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A pupil copies a paid game from a friend's console onto his own without buying it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Copyright, Designs and Patents Act 1988 (software piracy)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A sports club installs one single-user licence on all five of its office laptops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Copyright, Designs and Patents Act 1988 (licence infringement)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Someone guesses a teacher's password and changes pupils' marks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Computer Misuse Act 1990 (sections 1 and 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An online shop in Newry refuses a refund on unopened headphones returned within 10 days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Consumer Contracts Regulations 2013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A gamer sends a friend a link that installs spyware to steal their account login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Computer Misuse Act 1990 (section 3, then sections 1/2 when the login is used)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down)">
                                      <p:cBhvr>
                                        <p:cTn id="14"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Graphic spid="19" grpId="0">
        <p:bldAsOne/>
      </p:bldGraphic>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1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500" b="1" dirty="0">
                <a:solidFill>
                  <a:srgbClr val="15221C"/>
                </a:solidFill>
              </a:rPr>
              <a:t>A secondary school installs a single-user licence for a design package on 30 PCs in its ICT suite. Which law has it broken?</a:t>
            </a:r>
            <a:endParaRPr lang="en-US" sz="1500" dirty="0"/>
          </a:p>
        </p:txBody>
      </p:sp>
      <p:sp>
        <p:nvSpPr>
          <p:cNvPr id="7" name="trig:k1"/>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Computer Misuse Act 1990</a:t>
            </a:r>
            <a:endParaRPr lang="en-US" sz="1400" dirty="0"/>
          </a:p>
        </p:txBody>
      </p:sp>
      <p:sp>
        <p:nvSpPr>
          <p:cNvPr id="8" name="on:k1"/>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2"/>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Copyright, Designs and Patents Act 1988</a:t>
            </a:r>
            <a:endParaRPr lang="en-US" sz="1400" dirty="0"/>
          </a:p>
        </p:txBody>
      </p:sp>
      <p:sp>
        <p:nvSpPr>
          <p:cNvPr id="10" name="on:k2"/>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3"/>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Consumer Contracts Regulations 2013</a:t>
            </a:r>
            <a:endParaRPr lang="en-US" sz="1400" dirty="0"/>
          </a:p>
        </p:txBody>
      </p:sp>
      <p:sp>
        <p:nvSpPr>
          <p:cNvPr id="12" name="on:k3"/>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4"/>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Data Protection Act 2018</a:t>
            </a:r>
            <a:endParaRPr lang="en-US" sz="1400" dirty="0"/>
          </a:p>
        </p:txBody>
      </p:sp>
      <p:sp>
        <p:nvSpPr>
          <p:cNvPr id="14" name="on:k4"/>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2"/>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B: Copyright, Designs and Patents Act 1988  –  Using software on more computers than the licence allows is a licensing infringement under the Copyright, Designs and Patents Act 1988.</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2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How long is the cooling-off period for most goods bought online under the Consumer Contracts Regulations 2013?</a:t>
            </a:r>
            <a:endParaRPr lang="en-US" sz="1700" dirty="0"/>
          </a:p>
        </p:txBody>
      </p:sp>
      <p:sp>
        <p:nvSpPr>
          <p:cNvPr id="7" name="trig:k5"/>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7 days</a:t>
            </a:r>
            <a:endParaRPr lang="en-US" sz="1600" dirty="0"/>
          </a:p>
        </p:txBody>
      </p:sp>
      <p:sp>
        <p:nvSpPr>
          <p:cNvPr id="8" name="on:k5"/>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6"/>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28 days</a:t>
            </a:r>
            <a:endParaRPr lang="en-US" sz="1600" dirty="0"/>
          </a:p>
        </p:txBody>
      </p:sp>
      <p:sp>
        <p:nvSpPr>
          <p:cNvPr id="10" name="on:k6"/>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7"/>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14 days</a:t>
            </a:r>
            <a:endParaRPr lang="en-US" sz="1600" dirty="0"/>
          </a:p>
        </p:txBody>
      </p:sp>
      <p:sp>
        <p:nvSpPr>
          <p:cNvPr id="12" name="on:k7"/>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8"/>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30 days</a:t>
            </a:r>
            <a:endParaRPr lang="en-US" sz="1600" dirty="0"/>
          </a:p>
        </p:txBody>
      </p:sp>
      <p:sp>
        <p:nvSpPr>
          <p:cNvPr id="14" name="on:k8"/>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7"/>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C: 14 days  –  Consumers can cancel within 14 days, counted from the day after the goods are delivered.</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3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Guessing a friend's password and reading their messages, without changing anything, is…</a:t>
            </a:r>
            <a:endParaRPr lang="en-US" sz="1700" dirty="0"/>
          </a:p>
        </p:txBody>
      </p:sp>
      <p:sp>
        <p:nvSpPr>
          <p:cNvPr id="7" name="trig:k9"/>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unauthorised access under the Computer Misuse Act 1990</a:t>
            </a:r>
            <a:endParaRPr lang="en-US" sz="1400" dirty="0"/>
          </a:p>
        </p:txBody>
      </p:sp>
      <p:sp>
        <p:nvSpPr>
          <p:cNvPr id="8" name="on:k9"/>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10"/>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legal because nothing was changed</a:t>
            </a:r>
            <a:endParaRPr lang="en-US" sz="1400" dirty="0"/>
          </a:p>
        </p:txBody>
      </p:sp>
      <p:sp>
        <p:nvSpPr>
          <p:cNvPr id="10" name="on:k10"/>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11"/>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a breach of copyright</a:t>
            </a:r>
            <a:endParaRPr lang="en-US" sz="1400" dirty="0"/>
          </a:p>
        </p:txBody>
      </p:sp>
      <p:sp>
        <p:nvSpPr>
          <p:cNvPr id="12" name="on:k11"/>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12"/>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a consumer rights issue</a:t>
            </a:r>
            <a:endParaRPr lang="en-US" sz="1400" dirty="0"/>
          </a:p>
        </p:txBody>
      </p:sp>
      <p:sp>
        <p:nvSpPr>
          <p:cNvPr id="14" name="on:k12"/>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9"/>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A: unauthorised access under the Computer Misuse Act 1990  –  Section 1 of the Computer Misuse Act 1990 makes unauthorised access an offence even if no data is altered.</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4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practice is banned by the Consumer Contracts Regulations 2013?</a:t>
            </a:r>
            <a:endParaRPr lang="en-US" sz="1700" dirty="0"/>
          </a:p>
        </p:txBody>
      </p:sp>
      <p:sp>
        <p:nvSpPr>
          <p:cNvPr id="7" name="trig:k13"/>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Charging for delivery</a:t>
            </a:r>
            <a:endParaRPr lang="en-US" sz="1600" dirty="0"/>
          </a:p>
        </p:txBody>
      </p:sp>
      <p:sp>
        <p:nvSpPr>
          <p:cNvPr id="8" name="on:k13"/>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14"/>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Selling digital games</a:t>
            </a:r>
            <a:endParaRPr lang="en-US" sz="1600" dirty="0"/>
          </a:p>
        </p:txBody>
      </p:sp>
      <p:sp>
        <p:nvSpPr>
          <p:cNvPr id="10" name="on:k14"/>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15"/>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Asking for a delivery address</a:t>
            </a:r>
            <a:endParaRPr lang="en-US" sz="1600" dirty="0"/>
          </a:p>
        </p:txBody>
      </p:sp>
      <p:sp>
        <p:nvSpPr>
          <p:cNvPr id="12" name="on:k15"/>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16"/>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Pre-ticked boxes for extra charges</a:t>
            </a:r>
            <a:endParaRPr lang="en-US" sz="1600" dirty="0"/>
          </a:p>
        </p:txBody>
      </p:sp>
      <p:sp>
        <p:nvSpPr>
          <p:cNvPr id="14" name="on:k16"/>
          <p:cNvSpPr/>
          <p:nvPr/>
        </p:nvSpPr>
        <p:spPr>
          <a:xfrm>
            <a:off x="822960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16"/>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D: Pre-ticked boxes for extra charges  –  Extra payments need the customer's active consent, so pre-ticked boxes are not allowed.</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6" restart="whenNotActive" fill="hold" evtFilter="cancelBubble" nodeType="interactiveSeq">
                <p:stCondLst>
                  <p:cond evt="onClick" delay="0">
                    <p:tgtEl>
                      <p:spTgt spid="11"/>
                    </p:tgtEl>
                  </p:cond>
                </p:stCondLst>
                <p:endSync evt="end" delay="0">
                  <p:rtn val="all"/>
                </p:endSync>
                <p:childTnLst>
                  <p:par>
                    <p:cTn id="5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3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5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of these can usually be returned within the cooling-off period?</a:t>
            </a:r>
            <a:endParaRPr lang="en-US" sz="1700" dirty="0"/>
          </a:p>
        </p:txBody>
      </p:sp>
      <p:sp>
        <p:nvSpPr>
          <p:cNvPr id="7" name="trig:k17"/>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A game download that has been started</a:t>
            </a:r>
            <a:endParaRPr lang="en-US" sz="1600" dirty="0"/>
          </a:p>
        </p:txBody>
      </p:sp>
      <p:sp>
        <p:nvSpPr>
          <p:cNvPr id="8" name="on:k17"/>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18"/>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Unworn trainers in their box</a:t>
            </a:r>
            <a:endParaRPr lang="en-US" sz="1600" dirty="0"/>
          </a:p>
        </p:txBody>
      </p:sp>
      <p:sp>
        <p:nvSpPr>
          <p:cNvPr id="10" name="on:k18"/>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19"/>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A hoodie printed with your name</a:t>
            </a:r>
            <a:endParaRPr lang="en-US" sz="1600" dirty="0"/>
          </a:p>
        </p:txBody>
      </p:sp>
      <p:sp>
        <p:nvSpPr>
          <p:cNvPr id="12" name="on:k19"/>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20"/>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An unsealed Blu-ray</a:t>
            </a:r>
            <a:endParaRPr lang="en-US" sz="1600" dirty="0"/>
          </a:p>
        </p:txBody>
      </p:sp>
      <p:sp>
        <p:nvSpPr>
          <p:cNvPr id="14" name="on:k20"/>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18"/>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B: Unworn trainers in their box  –  Downloads that have begun, personalised goods and unsealed discs are exceptions; ordinary unused goods can be returned.</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6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Software that secretly records keystrokes and sends them to a criminal is called…</a:t>
            </a:r>
            <a:endParaRPr lang="en-US" sz="1700" dirty="0"/>
          </a:p>
        </p:txBody>
      </p:sp>
      <p:sp>
        <p:nvSpPr>
          <p:cNvPr id="7" name="trig:k21"/>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a firewall</a:t>
            </a:r>
            <a:endParaRPr lang="en-US" sz="1600" dirty="0"/>
          </a:p>
        </p:txBody>
      </p:sp>
      <p:sp>
        <p:nvSpPr>
          <p:cNvPr id="8" name="on:k21"/>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22"/>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freeware</a:t>
            </a:r>
            <a:endParaRPr lang="en-US" sz="1600" dirty="0"/>
          </a:p>
        </p:txBody>
      </p:sp>
      <p:sp>
        <p:nvSpPr>
          <p:cNvPr id="10" name="on:k22"/>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23"/>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spyware</a:t>
            </a:r>
            <a:endParaRPr lang="en-US" sz="1600" dirty="0"/>
          </a:p>
        </p:txBody>
      </p:sp>
      <p:sp>
        <p:nvSpPr>
          <p:cNvPr id="12" name="on:k23"/>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24"/>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a licence key</a:t>
            </a:r>
            <a:endParaRPr lang="en-US" sz="1600" dirty="0"/>
          </a:p>
        </p:txBody>
      </p:sp>
      <p:sp>
        <p:nvSpPr>
          <p:cNvPr id="14" name="on:k24"/>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23"/>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C: spyware  –  Spyware monitors a user without their knowledge; installing it is an unauthorised act under the Computer Misuse Act 1990.</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7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500" b="1" dirty="0">
                <a:solidFill>
                  <a:srgbClr val="15221C"/>
                </a:solidFill>
              </a:rPr>
              <a:t>A hacker gets into an online bank account in order to transfer money. Which section of the Computer Misuse Act 1990 best fits?</a:t>
            </a:r>
            <a:endParaRPr lang="en-US" sz="1500" dirty="0"/>
          </a:p>
        </p:txBody>
      </p:sp>
      <p:sp>
        <p:nvSpPr>
          <p:cNvPr id="7" name="trig:k25"/>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A   </a:t>
            </a:r>
            <a:pPr algn="l" indent="0" marL="0">
              <a:buNone/>
            </a:pPr>
            <a:r>
              <a:rPr lang="en-US" sz="1250" dirty="0">
                <a:solidFill>
                  <a:srgbClr val="15221C"/>
                </a:solidFill>
              </a:rPr>
              <a:t>Section 2 – unauthorised access with intent to commit further offences</a:t>
            </a:r>
            <a:endParaRPr lang="en-US" sz="1250" dirty="0"/>
          </a:p>
        </p:txBody>
      </p:sp>
      <p:sp>
        <p:nvSpPr>
          <p:cNvPr id="8" name="on:k25"/>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26"/>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B   </a:t>
            </a:r>
            <a:pPr algn="l" indent="0" marL="0">
              <a:buNone/>
            </a:pPr>
            <a:r>
              <a:rPr lang="en-US" sz="1250" dirty="0">
                <a:solidFill>
                  <a:srgbClr val="15221C"/>
                </a:solidFill>
              </a:rPr>
              <a:t>Section 1 – unauthorised access only</a:t>
            </a:r>
            <a:endParaRPr lang="en-US" sz="1250" dirty="0"/>
          </a:p>
        </p:txBody>
      </p:sp>
      <p:sp>
        <p:nvSpPr>
          <p:cNvPr id="10" name="on:k26"/>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27"/>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C   </a:t>
            </a:r>
            <a:pPr algn="l" indent="0" marL="0">
              <a:buNone/>
            </a:pPr>
            <a:r>
              <a:rPr lang="en-US" sz="1250" dirty="0">
                <a:solidFill>
                  <a:srgbClr val="15221C"/>
                </a:solidFill>
              </a:rPr>
              <a:t>Section 3A – supplying hacking tools</a:t>
            </a:r>
            <a:endParaRPr lang="en-US" sz="1250" dirty="0"/>
          </a:p>
        </p:txBody>
      </p:sp>
      <p:sp>
        <p:nvSpPr>
          <p:cNvPr id="12" name="on:k27"/>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28"/>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D   </a:t>
            </a:r>
            <a:pPr algn="l" indent="0" marL="0">
              <a:buNone/>
            </a:pPr>
            <a:r>
              <a:rPr lang="en-US" sz="1250" dirty="0">
                <a:solidFill>
                  <a:srgbClr val="15221C"/>
                </a:solidFill>
              </a:rPr>
              <a:t>It is not covered by the Act</a:t>
            </a:r>
            <a:endParaRPr lang="en-US" sz="1250" dirty="0"/>
          </a:p>
        </p:txBody>
      </p:sp>
      <p:sp>
        <p:nvSpPr>
          <p:cNvPr id="14" name="on:k28"/>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25"/>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A: Section 2 – unauthorised access with intent to commit further offences  –  The access is made in order to commit fraud, which is a further offence, so section 2 applies.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8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Under UK law, copyright in an original piece of software…</a:t>
            </a:r>
            <a:endParaRPr lang="en-US" sz="1700" dirty="0"/>
          </a:p>
        </p:txBody>
      </p:sp>
      <p:sp>
        <p:nvSpPr>
          <p:cNvPr id="7" name="trig:k29"/>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must be registered with the government</a:t>
            </a:r>
            <a:endParaRPr lang="en-US" sz="1400" dirty="0"/>
          </a:p>
        </p:txBody>
      </p:sp>
      <p:sp>
        <p:nvSpPr>
          <p:cNvPr id="8" name="on:k29"/>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30"/>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only applies if the © symbol is used</a:t>
            </a:r>
            <a:endParaRPr lang="en-US" sz="1400" dirty="0"/>
          </a:p>
        </p:txBody>
      </p:sp>
      <p:sp>
        <p:nvSpPr>
          <p:cNvPr id="10" name="on:k30"/>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31"/>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lasts for exactly 10 years</a:t>
            </a:r>
            <a:endParaRPr lang="en-US" sz="1400" dirty="0"/>
          </a:p>
        </p:txBody>
      </p:sp>
      <p:sp>
        <p:nvSpPr>
          <p:cNvPr id="12" name="on:k31"/>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32"/>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applies automatically when it is created</a:t>
            </a:r>
            <a:endParaRPr lang="en-US" sz="1400" dirty="0"/>
          </a:p>
        </p:txBody>
      </p:sp>
      <p:sp>
        <p:nvSpPr>
          <p:cNvPr id="14" name="on:k32"/>
          <p:cNvSpPr/>
          <p:nvPr/>
        </p:nvSpPr>
        <p:spPr>
          <a:xfrm>
            <a:off x="822960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32"/>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D: applies automatically when it is created  –  Copyright arises automatically; for software it normally lasts for the author's life plus 70 years.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6" restart="whenNotActive" fill="hold" evtFilter="cancelBubble" nodeType="interactiveSeq">
                <p:stCondLst>
                  <p:cond evt="onClick" delay="0">
                    <p:tgtEl>
                      <p:spTgt spid="11"/>
                    </p:tgtEl>
                  </p:cond>
                </p:stCondLst>
                <p:endSync evt="end" delay="0">
                  <p:rtn val="all"/>
                </p:endSync>
                <p:childTnLst>
                  <p:par>
                    <p:cTn id="5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3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answers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3291840"/>
                <a:gridCol w="4389120"/>
              </a:tblGrid>
              <a:tr h="0">
                <a:tc>
                  <a:txBody>
                    <a:bodyPr/>
                    <a:lstStyle/>
                    <a:p>
                      <a:pPr indent="0" marL="0">
                        <a:buNone/>
                      </a:pPr>
                      <a:r>
                        <a:rPr lang="en-US" sz="1400" b="1" dirty="0">
                          <a:solidFill>
                            <a:srgbClr val="FFFFFF"/>
                          </a:solidFill>
                        </a:rPr>
                        <a:t>Q</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Answer</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Why</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400" b="1" dirty="0">
                          <a:solidFill>
                            <a:srgbClr val="15221C"/>
                          </a:solidFill>
                        </a:rPr>
                        <a:t>1</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B  Copyright, Designs and Patents Act 1988</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Using software on more computers than the licence allows is a licensing infringement under the Copyright, Designs and Patents Act 1988.</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2</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  14 days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Consumers can cancel within 14 days, counted from the day after the goods are delivered.</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3</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A  unauthorised access under the Computer Misuse Act 1990</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Section 1 of the Computer Misuse Act 1990 makes unauthorised access an offence even if no data is altered.</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4</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D  Pre-ticked boxes for extra charges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Extra payments need the customer's active consent, so pre-ticked boxes are not allowed.</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5</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B  Unworn trainers in their box</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Downloads that have begun, personalised goods and unsealed discs are exceptions; ordinary unused goods can be returned.</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6</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  spyware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Spyware monitors a user without their knowledge; installing it is an unauthorised act under the Computer Misuse Act 1990.</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7</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A  Section 2 – unauthorised access with intent to commit further offences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The access is made in order to commit fraud, which is a further offence, so section 2 applies.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8</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D  applies automatically when it is created</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Copyright arises automatically; for software it normally lasts for the author's life plus 70 years.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wipe(down)">
                                      <p:cBhvr>
                                        <p:cTn id="14"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28"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the exam</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1097280"/>
                <a:gridCol w="822960"/>
                <a:gridCol w="4937760"/>
              </a:tblGrid>
              <a:tr h="0">
                <a:tc>
                  <a:txBody>
                    <a:bodyPr/>
                    <a:lstStyle/>
                    <a:p>
                      <a:pPr indent="0" marL="0">
                        <a:buNone/>
                      </a:pPr>
                      <a:r>
                        <a:rPr lang="en-US" sz="1300" b="1" dirty="0">
                          <a:solidFill>
                            <a:srgbClr val="FFFFFF"/>
                          </a:solidFill>
                        </a:rPr>
                        <a:t>Paper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Question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Marks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tested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Unit 1 2019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Q1(d)–(e)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Consumer law; data protection rights (MCQ)</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Q10(b)–(e)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Cybercrime, access rights, DPA principles, encryption, legislation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8</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RSI, monitor ergonomics, copyright, ICO, DPA principles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5</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Copyright, DPA principles, DPO and data controller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Q11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6</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Legislation matching, online harms, protection methods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2025</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Consumer law title; data, computer misuse and copyright scenarios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100" i="1" dirty="0">
                <a:solidFill>
                  <a:srgbClr val="56675E"/>
                </a:solidFill>
              </a:rPr>
              <a:t>Papers and mark schemes: ccea.org.uk → GCSE Digital Technology → Past Papers &amp; Mark Schemes.</a:t>
            </a:r>
            <a:endParaRPr lang="en-US" sz="11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wipe(down)">
                                      <p:cBhvr>
                                        <p:cTn id="14"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25" grpId="0" animBg="1"/>
      <p:bldGraphic spid="29"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6949440" cy="320040"/>
          </a:xfrm>
          <a:prstGeom prst="rect">
            <a:avLst/>
          </a:prstGeom>
          <a:noFill/>
          <a:ln/>
        </p:spPr>
        <p:txBody>
          <a:bodyPr wrap="square" rtlCol="0"/>
          <a:lstStyle/>
          <a:p>
            <a:pPr indent="0" marL="0">
              <a:buNone/>
            </a:pPr>
            <a:r>
              <a:rPr lang="en-US" sz="1200" b="1" spc="200" kern="0" dirty="0">
                <a:solidFill>
                  <a:srgbClr val="F5E6DA"/>
                </a:solidFill>
              </a:rPr>
              <a:t>UNIT 1: DIGITAL TECHNOLOGY  ·  L22</a:t>
            </a:r>
            <a:endParaRPr lang="en-US" sz="1200" dirty="0"/>
          </a:p>
        </p:txBody>
      </p:sp>
      <p:sp>
        <p:nvSpPr>
          <p:cNvPr id="3" name="Text 0"/>
          <p:cNvSpPr/>
          <p:nvPr>
            <p:ph idx="101" type="title" hasCustomPrompt="1"/>
          </p:nvPr>
        </p:nvSpPr>
        <p:spPr>
          <a:xfrm>
            <a:off x="548640" y="960120"/>
            <a:ext cx="7132320" cy="1371600"/>
          </a:xfrm>
          <a:prstGeom prst="rect">
            <a:avLst/>
          </a:prstGeom>
          <a:noFill/>
          <a:ln/>
        </p:spPr>
        <p:txBody>
          <a:bodyPr wrap="square" rtlCol="0" anchor="t"/>
          <a:lstStyle/>
          <a:p>
            <a:pPr algn="l" indent="0" marL="0">
              <a:buNone/>
            </a:pPr>
            <a:r>
              <a:rPr lang="en-US" sz="2400" b="1" dirty="0">
                <a:solidFill>
                  <a:srgbClr val="FFFFFF"/>
                </a:solidFill>
              </a:rPr>
              <a:t>Legislation 2: Data protection (UK GDPR and the Data Protection Act 2018)</a:t>
            </a:r>
            <a:endParaRPr lang="en-US" sz="3800" dirty="0"/>
          </a:p>
        </p:txBody>
      </p:sp>
      <p:sp>
        <p:nvSpPr>
          <p:cNvPr id="4" name="Text 0"/>
          <p:cNvSpPr/>
          <p:nvPr>
            <p:ph idx="102" type="body" hasCustomPrompt="1"/>
          </p:nvPr>
        </p:nvSpPr>
        <p:spPr>
          <a:xfrm>
            <a:off x="548640" y="2514600"/>
            <a:ext cx="7680960" cy="2011680"/>
          </a:xfrm>
          <a:prstGeom prst="rect">
            <a:avLst/>
          </a:prstGeom>
          <a:noFill/>
          <a:ln/>
        </p:spPr>
        <p:txBody>
          <a:bodyPr wrap="square" rtlCol="0" anchor="t"/>
          <a:lstStyle/>
          <a:p>
            <a:pPr indent="0" marL="0">
              <a:buNone/>
            </a:pPr>
            <a:r>
              <a:rPr lang="en-US" sz="1600" b="1" dirty="0">
                <a:solidFill>
                  <a:srgbClr val="F5E6DA"/>
                </a:solidFill>
              </a:rPr>
              <a:t>Learning objectives</a:t>
            </a:r>
            <a:endParaRPr lang="en-US" sz="1600" dirty="0"/>
          </a:p>
          <a:p>
            <a:pPr marL="203200" indent="-203200">
              <a:spcAft>
                <a:spcPts val="600"/>
              </a:spcAft>
              <a:buSzPct val="100000"/>
              <a:buChar char="•"/>
            </a:pPr>
            <a:r>
              <a:rPr lang="en-US" sz="1600" dirty="0">
                <a:solidFill>
                  <a:srgbClr val="E4ECE6"/>
                </a:solidFill>
              </a:rPr>
              <a:t>Explain what personal data and special category data are, with examples</a:t>
            </a:r>
            <a:endParaRPr lang="en-US" sz="1600" dirty="0"/>
          </a:p>
          <a:p>
            <a:pPr marL="203200" indent="-203200">
              <a:spcAft>
                <a:spcPts val="600"/>
              </a:spcAft>
              <a:buSzPct val="100000"/>
              <a:buChar char="•"/>
            </a:pPr>
            <a:r>
              <a:rPr lang="en-US" sz="1600" dirty="0">
                <a:solidFill>
                  <a:srgbClr val="E4ECE6"/>
                </a:solidFill>
              </a:rPr>
              <a:t>State and apply the data protection principles to a scenario</a:t>
            </a:r>
            <a:endParaRPr lang="en-US" sz="1600" dirty="0"/>
          </a:p>
          <a:p>
            <a:pPr marL="203200" indent="-203200">
              <a:spcAft>
                <a:spcPts val="600"/>
              </a:spcAft>
              <a:buSzPct val="100000"/>
              <a:buChar char="•"/>
            </a:pPr>
            <a:r>
              <a:rPr lang="en-US" sz="1600" dirty="0">
                <a:solidFill>
                  <a:srgbClr val="E4ECE6"/>
                </a:solidFill>
              </a:rPr>
              <a:t>Describe the rights of a data subject, including a subject access request</a:t>
            </a:r>
            <a:endParaRPr lang="en-US" sz="1600" dirty="0"/>
          </a:p>
          <a:p>
            <a:pPr marL="203200" indent="-203200">
              <a:spcAft>
                <a:spcPts val="600"/>
              </a:spcAft>
              <a:buSzPct val="100000"/>
              <a:buChar char="•"/>
            </a:pPr>
            <a:r>
              <a:rPr lang="en-US" sz="1600" dirty="0">
                <a:solidFill>
                  <a:srgbClr val="E4ECE6"/>
                </a:solidFill>
              </a:rPr>
              <a:t>Describe the roles of the data controller, Data Protection Officer and the regulator</a:t>
            </a:r>
            <a:endParaRPr lang="en-US" sz="1600" dirty="0"/>
          </a:p>
        </p:txBody>
      </p:sp>
      <p:sp>
        <p:nvSpPr>
          <p:cNvPr id="5" name="chip"/>
          <p:cNvSpPr/>
          <p:nvPr/>
        </p:nvSpPr>
        <p:spPr>
          <a:xfrm>
            <a:off x="7818120" y="502920"/>
            <a:ext cx="685800" cy="685800"/>
          </a:xfrm>
          <a:prstGeom prst="roundRect">
            <a:avLst>
              <a:gd name="adj" fmla="val 12000"/>
            </a:avLst>
          </a:prstGeom>
          <a:solidFill>
            <a:srgbClr val="1D6B53"/>
          </a:solidFill>
          <a:ln w="12700">
            <a:solidFill>
              <a:srgbClr val="1D6B53"/>
            </a:solidFill>
            <a:prstDash val="solid"/>
          </a:ln>
        </p:spPr>
      </p:sp>
      <p:sp>
        <p:nvSpPr>
          <p:cNvPr id="6" name="Shape 4"/>
          <p:cNvSpPr/>
          <p:nvPr/>
        </p:nvSpPr>
        <p:spPr>
          <a:xfrm>
            <a:off x="8023860" y="420624"/>
            <a:ext cx="82296" cy="82296"/>
          </a:xfrm>
          <a:prstGeom prst="rect">
            <a:avLst/>
          </a:prstGeom>
          <a:solidFill>
            <a:srgbClr val="A95A24"/>
          </a:solidFill>
          <a:ln w="12700">
            <a:solidFill>
              <a:srgbClr val="A95A24"/>
            </a:solidFill>
            <a:prstDash val="solid"/>
          </a:ln>
        </p:spPr>
      </p:sp>
      <p:sp>
        <p:nvSpPr>
          <p:cNvPr id="7" name="Shape 5"/>
          <p:cNvSpPr/>
          <p:nvPr/>
        </p:nvSpPr>
        <p:spPr>
          <a:xfrm>
            <a:off x="8023860" y="1188720"/>
            <a:ext cx="82296" cy="82296"/>
          </a:xfrm>
          <a:prstGeom prst="rect">
            <a:avLst/>
          </a:prstGeom>
          <a:solidFill>
            <a:srgbClr val="A95A24"/>
          </a:solidFill>
          <a:ln w="12700">
            <a:solidFill>
              <a:srgbClr val="A95A24"/>
            </a:solidFill>
            <a:prstDash val="solid"/>
          </a:ln>
        </p:spPr>
      </p:sp>
      <p:sp>
        <p:nvSpPr>
          <p:cNvPr id="8" name="Shape 6"/>
          <p:cNvSpPr/>
          <p:nvPr/>
        </p:nvSpPr>
        <p:spPr>
          <a:xfrm>
            <a:off x="7735824" y="708660"/>
            <a:ext cx="82296" cy="82296"/>
          </a:xfrm>
          <a:prstGeom prst="rect">
            <a:avLst/>
          </a:prstGeom>
          <a:solidFill>
            <a:srgbClr val="A95A24"/>
          </a:solidFill>
          <a:ln w="12700">
            <a:solidFill>
              <a:srgbClr val="A95A24"/>
            </a:solidFill>
            <a:prstDash val="solid"/>
          </a:ln>
        </p:spPr>
      </p:sp>
      <p:sp>
        <p:nvSpPr>
          <p:cNvPr id="9" name="Shape 7"/>
          <p:cNvSpPr/>
          <p:nvPr/>
        </p:nvSpPr>
        <p:spPr>
          <a:xfrm>
            <a:off x="8503920" y="708660"/>
            <a:ext cx="82296" cy="82296"/>
          </a:xfrm>
          <a:prstGeom prst="rect">
            <a:avLst/>
          </a:prstGeom>
          <a:solidFill>
            <a:srgbClr val="A95A24"/>
          </a:solidFill>
          <a:ln w="12700">
            <a:solidFill>
              <a:srgbClr val="A95A24"/>
            </a:solidFill>
            <a:prstDash val="solid"/>
          </a:ln>
        </p:spPr>
      </p:sp>
      <p:sp>
        <p:nvSpPr>
          <p:cNvPr id="10" name="Shape 8"/>
          <p:cNvSpPr/>
          <p:nvPr/>
        </p:nvSpPr>
        <p:spPr>
          <a:xfrm>
            <a:off x="8243316" y="420624"/>
            <a:ext cx="82296" cy="82296"/>
          </a:xfrm>
          <a:prstGeom prst="rect">
            <a:avLst/>
          </a:prstGeom>
          <a:solidFill>
            <a:srgbClr val="A95A24"/>
          </a:solidFill>
          <a:ln w="12700">
            <a:solidFill>
              <a:srgbClr val="A95A24"/>
            </a:solidFill>
            <a:prstDash val="solid"/>
          </a:ln>
        </p:spPr>
      </p:sp>
      <p:sp>
        <p:nvSpPr>
          <p:cNvPr id="11" name="Shape 9"/>
          <p:cNvSpPr/>
          <p:nvPr/>
        </p:nvSpPr>
        <p:spPr>
          <a:xfrm>
            <a:off x="8243316" y="1188720"/>
            <a:ext cx="82296" cy="82296"/>
          </a:xfrm>
          <a:prstGeom prst="rect">
            <a:avLst/>
          </a:prstGeom>
          <a:solidFill>
            <a:srgbClr val="A95A24"/>
          </a:solidFill>
          <a:ln w="12700">
            <a:solidFill>
              <a:srgbClr val="A95A24"/>
            </a:solidFill>
            <a:prstDash val="solid"/>
          </a:ln>
        </p:spPr>
      </p:sp>
      <p:sp>
        <p:nvSpPr>
          <p:cNvPr id="12" name="Shape 10"/>
          <p:cNvSpPr/>
          <p:nvPr/>
        </p:nvSpPr>
        <p:spPr>
          <a:xfrm>
            <a:off x="7735824" y="928116"/>
            <a:ext cx="82296" cy="82296"/>
          </a:xfrm>
          <a:prstGeom prst="rect">
            <a:avLst/>
          </a:prstGeom>
          <a:solidFill>
            <a:srgbClr val="A95A24"/>
          </a:solidFill>
          <a:ln w="12700">
            <a:solidFill>
              <a:srgbClr val="A95A24"/>
            </a:solidFill>
            <a:prstDash val="solid"/>
          </a:ln>
        </p:spPr>
      </p:sp>
      <p:sp>
        <p:nvSpPr>
          <p:cNvPr id="13" name="Shape 11"/>
          <p:cNvSpPr/>
          <p:nvPr/>
        </p:nvSpPr>
        <p:spPr>
          <a:xfrm>
            <a:off x="8503920" y="928116"/>
            <a:ext cx="82296" cy="82296"/>
          </a:xfrm>
          <a:prstGeom prst="rect">
            <a:avLst/>
          </a:prstGeom>
          <a:solidFill>
            <a:srgbClr val="A95A24"/>
          </a:solidFill>
          <a:ln w="12700">
            <a:solidFill>
              <a:srgbClr val="A95A24"/>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6" presetID="10" presetClass="entr" presetSubtype="0" fill="hold" grpId="0"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45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5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45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50"/>
                                        <p:tgtEl>
                                          <p:spTgt spid="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45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childTnLst>
                                </p:cTn>
                              </p:par>
                            </p:childTnLst>
                          </p:cTn>
                        </p:par>
                        <p:par>
                          <p:cTn id="53"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350"/>
                                        <p:tgtEl>
                                          <p:spTgt spid="4">
                                            <p:txEl>
                                              <p:pRg st="0" end="0"/>
                                            </p:txEl>
                                          </p:spTgt>
                                        </p:tgtEl>
                                      </p:cBhvr>
                                    </p:animEffect>
                                  </p:childTnLst>
                                </p:cTn>
                              </p:par>
                            </p:childTnLst>
                          </p:cTn>
                        </p:par>
                        <p:par>
                          <p:cTn id="54"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350"/>
                                        <p:tgtEl>
                                          <p:spTgt spid="4">
                                            <p:txEl>
                                              <p:pRg st="1" end="1"/>
                                            </p:txEl>
                                          </p:spTgt>
                                        </p:tgtEl>
                                      </p:cBhvr>
                                    </p:animEffect>
                                  </p:childTnLst>
                                </p:cTn>
                              </p:par>
                            </p:childTnLst>
                          </p:cTn>
                        </p:par>
                        <p:par>
                          <p:cTn id="55" fill="hold">
                            <p:stCondLst>
                              <p:cond delay="1050"/>
                            </p:stCondLst>
                            <p:childTnLst>
                              <p:par>
                                <p:cTn id="15" presetID="10" presetClass="entr" presetSubtype="0" fill="hold" grpId="0"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350"/>
                                        <p:tgtEl>
                                          <p:spTgt spid="4">
                                            <p:txEl>
                                              <p:pRg st="2" end="2"/>
                                            </p:txEl>
                                          </p:spTgt>
                                        </p:tgtEl>
                                      </p:cBhvr>
                                    </p:animEffect>
                                  </p:childTnLst>
                                </p:cTn>
                              </p:par>
                            </p:childTnLst>
                          </p:cTn>
                        </p:par>
                        <p:par>
                          <p:cTn id="56" fill="hold">
                            <p:stCondLst>
                              <p:cond delay="1350"/>
                            </p:stCondLst>
                            <p:childTnLst>
                              <p:par>
                                <p:cTn id="18" presetID="10" presetClass="entr" presetSubtype="0" fill="hold" grpId="0" nodeType="after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350"/>
                                        <p:tgtEl>
                                          <p:spTgt spid="4">
                                            <p:txEl>
                                              <p:pRg st="3" end="3"/>
                                            </p:txEl>
                                          </p:spTgt>
                                        </p:tgtEl>
                                      </p:cBhvr>
                                    </p:animEffect>
                                  </p:childTnLst>
                                </p:cTn>
                              </p:par>
                            </p:childTnLst>
                          </p:cTn>
                        </p:par>
                        <p:par>
                          <p:cTn id="57" fill="hold">
                            <p:stCondLst>
                              <p:cond delay="165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35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this lesson</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200" i="1" dirty="0">
                <a:solidFill>
                  <a:srgbClr val="56675E"/>
                </a:solidFill>
              </a:rPr>
              <a:t>Tap a button to jump straight there. The ☰ Menu button on every slide brings you back here.</a:t>
            </a:r>
            <a:endParaRPr lang="en-US" sz="1200" dirty="0"/>
          </a:p>
        </p:txBody>
      </p:sp>
      <p:sp>
        <p:nvSpPr>
          <p:cNvPr id="7" name="btn">
            <a:hlinkClick r:id="rId2" action="ppaction://hlinksldjump"/>
          </p:cNvPr>
          <p:cNvSpPr/>
          <p:nvPr/>
        </p:nvSpPr>
        <p:spPr>
          <a:xfrm>
            <a:off x="45720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2" action="ppaction://hlinksldjump" tooltip="The big picture">
                  <a:extLst>
                    <a:ext uri="{A12FA001-AC4F-418D-AE19-62706E023703}">
                      <ahyp:hlinkClr xmlns:ahyp="http://schemas.microsoft.com/office/drawing/2018/hyperlinkcolor" val="tx"/>
                    </a:ext>
                  </a:extLst>
                </a:hlinkClick>
              </a:rPr>
              <a:t>The big picture</a:t>
            </a:r>
            <a:endParaRPr lang="en-US" sz="1500" dirty="0"/>
          </a:p>
        </p:txBody>
      </p:sp>
      <p:sp>
        <p:nvSpPr>
          <p:cNvPr id="8" name="btn">
            <a:hlinkClick r:id="rId3" action="ppaction://hlinksldjump"/>
          </p:cNvPr>
          <p:cNvSpPr/>
          <p:nvPr/>
        </p:nvSpPr>
        <p:spPr>
          <a:xfrm>
            <a:off x="45720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3" action="ppaction://hlinksldjump" tooltip="Why data protection law exists">
                  <a:extLst>
                    <a:ext uri="{A12FA001-AC4F-418D-AE19-62706E023703}">
                      <ahyp:hlinkClr xmlns:ahyp="http://schemas.microsoft.com/office/drawing/2018/hyperlinkcolor" val="tx"/>
                    </a:ext>
                  </a:extLst>
                </a:hlinkClick>
              </a:rPr>
              <a:t>Why data protection law exists</a:t>
            </a:r>
            <a:endParaRPr lang="en-US" sz="1500" dirty="0"/>
          </a:p>
        </p:txBody>
      </p:sp>
      <p:sp>
        <p:nvSpPr>
          <p:cNvPr id="9" name="btn">
            <a:hlinkClick r:id="rId4" action="ppaction://hlinksldjump"/>
          </p:cNvPr>
          <p:cNvSpPr/>
          <p:nvPr/>
        </p:nvSpPr>
        <p:spPr>
          <a:xfrm>
            <a:off x="45720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4" action="ppaction://hlinksldjump" tooltip="Which law applies now?">
                  <a:extLst>
                    <a:ext uri="{A12FA001-AC4F-418D-AE19-62706E023703}">
                      <ahyp:hlinkClr xmlns:ahyp="http://schemas.microsoft.com/office/drawing/2018/hyperlinkcolor" val="tx"/>
                    </a:ext>
                  </a:extLst>
                </a:hlinkClick>
              </a:rPr>
              <a:t>Which law applies now?</a:t>
            </a:r>
            <a:endParaRPr lang="en-US" sz="1500" dirty="0"/>
          </a:p>
        </p:txBody>
      </p:sp>
      <p:sp>
        <p:nvSpPr>
          <p:cNvPr id="10" name="btn">
            <a:hlinkClick r:id="rId5" action="ppaction://hlinksldjump"/>
          </p:cNvPr>
          <p:cNvSpPr/>
          <p:nvPr/>
        </p:nvSpPr>
        <p:spPr>
          <a:xfrm>
            <a:off x="45720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5" action="ppaction://hlinksldjump" tooltip="Key people and terms">
                  <a:extLst>
                    <a:ext uri="{A12FA001-AC4F-418D-AE19-62706E023703}">
                      <ahyp:hlinkClr xmlns:ahyp="http://schemas.microsoft.com/office/drawing/2018/hyperlinkcolor" val="tx"/>
                    </a:ext>
                  </a:extLst>
                </a:hlinkClick>
              </a:rPr>
              <a:t>Key people and terms</a:t>
            </a:r>
            <a:endParaRPr lang="en-US" sz="1500" dirty="0"/>
          </a:p>
        </p:txBody>
      </p:sp>
      <p:sp>
        <p:nvSpPr>
          <p:cNvPr id="11" name="btn">
            <a:hlinkClick r:id="rId6" action="ppaction://hlinksldjump"/>
          </p:cNvPr>
          <p:cNvSpPr/>
          <p:nvPr/>
        </p:nvSpPr>
        <p:spPr>
          <a:xfrm>
            <a:off x="457200" y="3269633"/>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6" action="ppaction://hlinksldjump" tooltip="Special category data">
                  <a:extLst>
                    <a:ext uri="{A12FA001-AC4F-418D-AE19-62706E023703}">
                      <ahyp:hlinkClr xmlns:ahyp="http://schemas.microsoft.com/office/drawing/2018/hyperlinkcolor" val="tx"/>
                    </a:ext>
                  </a:extLst>
                </a:hlinkClick>
              </a:rPr>
              <a:t>Special category data</a:t>
            </a:r>
            <a:endParaRPr lang="en-US" sz="1500" dirty="0"/>
          </a:p>
        </p:txBody>
      </p:sp>
      <p:sp>
        <p:nvSpPr>
          <p:cNvPr id="12" name="btn">
            <a:hlinkClick r:id="rId7" action="ppaction://hlinksldjump"/>
          </p:cNvPr>
          <p:cNvSpPr/>
          <p:nvPr/>
        </p:nvSpPr>
        <p:spPr>
          <a:xfrm>
            <a:off x="457200" y="3755571"/>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7" action="ppaction://hlinksldjump" tooltip="The data protection principles">
                  <a:extLst>
                    <a:ext uri="{A12FA001-AC4F-418D-AE19-62706E023703}">
                      <ahyp:hlinkClr xmlns:ahyp="http://schemas.microsoft.com/office/drawing/2018/hyperlinkcolor" val="tx"/>
                    </a:ext>
                  </a:extLst>
                </a:hlinkClick>
              </a:rPr>
              <a:t>The data protection principles</a:t>
            </a:r>
            <a:endParaRPr lang="en-US" sz="1500" dirty="0"/>
          </a:p>
        </p:txBody>
      </p:sp>
      <p:sp>
        <p:nvSpPr>
          <p:cNvPr id="13" name="btn">
            <a:hlinkClick r:id="rId8" action="ppaction://hlinksldjump"/>
          </p:cNvPr>
          <p:cNvSpPr/>
          <p:nvPr/>
        </p:nvSpPr>
        <p:spPr>
          <a:xfrm>
            <a:off x="457200" y="424151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8" action="ppaction://hlinksldjump" tooltip="Accountability and the old eight principles">
                  <a:extLst>
                    <a:ext uri="{A12FA001-AC4F-418D-AE19-62706E023703}">
                      <ahyp:hlinkClr xmlns:ahyp="http://schemas.microsoft.com/office/drawing/2018/hyperlinkcolor" val="tx"/>
                    </a:ext>
                  </a:extLst>
                </a:hlinkClick>
              </a:rPr>
              <a:t>Accountability and the old eight principles</a:t>
            </a:r>
            <a:endParaRPr lang="en-US" sz="1300" dirty="0"/>
          </a:p>
        </p:txBody>
      </p:sp>
      <p:sp>
        <p:nvSpPr>
          <p:cNvPr id="14" name="btn">
            <a:hlinkClick r:id="rId9" action="ppaction://hlinksldjump"/>
          </p:cNvPr>
          <p:cNvSpPr/>
          <p:nvPr/>
        </p:nvSpPr>
        <p:spPr>
          <a:xfrm>
            <a:off x="464058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9" action="ppaction://hlinksldjump" tooltip="Rights of the data subject">
                  <a:extLst>
                    <a:ext uri="{A12FA001-AC4F-418D-AE19-62706E023703}">
                      <ahyp:hlinkClr xmlns:ahyp="http://schemas.microsoft.com/office/drawing/2018/hyperlinkcolor" val="tx"/>
                    </a:ext>
                  </a:extLst>
                </a:hlinkClick>
              </a:rPr>
              <a:t>Rights of the data subject</a:t>
            </a:r>
            <a:endParaRPr lang="en-US" sz="1500" dirty="0"/>
          </a:p>
        </p:txBody>
      </p:sp>
      <p:sp>
        <p:nvSpPr>
          <p:cNvPr id="15" name="btn">
            <a:hlinkClick r:id="rId10" action="ppaction://hlinksldjump"/>
          </p:cNvPr>
          <p:cNvSpPr/>
          <p:nvPr/>
        </p:nvSpPr>
        <p:spPr>
          <a:xfrm>
            <a:off x="464058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0" action="ppaction://hlinksldjump" tooltip="Responsibilities">
                  <a:extLst>
                    <a:ext uri="{A12FA001-AC4F-418D-AE19-62706E023703}">
                      <ahyp:hlinkClr xmlns:ahyp="http://schemas.microsoft.com/office/drawing/2018/hyperlinkcolor" val="tx"/>
                    </a:ext>
                  </a:extLst>
                </a:hlinkClick>
              </a:rPr>
              <a:t>Responsibilities</a:t>
            </a:r>
            <a:endParaRPr lang="en-US" sz="1500" dirty="0"/>
          </a:p>
        </p:txBody>
      </p:sp>
      <p:sp>
        <p:nvSpPr>
          <p:cNvPr id="16" name="btn">
            <a:hlinkClick r:id="rId11" action="ppaction://hlinksldjump"/>
          </p:cNvPr>
          <p:cNvSpPr/>
          <p:nvPr/>
        </p:nvSpPr>
        <p:spPr>
          <a:xfrm>
            <a:off x="464058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1" action="ppaction://hlinksldjump" tooltip="How organisations comply">
                  <a:extLst>
                    <a:ext uri="{A12FA001-AC4F-418D-AE19-62706E023703}">
                      <ahyp:hlinkClr xmlns:ahyp="http://schemas.microsoft.com/office/drawing/2018/hyperlinkcolor" val="tx"/>
                    </a:ext>
                  </a:extLst>
                </a:hlinkClick>
              </a:rPr>
              <a:t>How organisations comply</a:t>
            </a:r>
            <a:endParaRPr lang="en-US" sz="1500" dirty="0"/>
          </a:p>
        </p:txBody>
      </p:sp>
      <p:sp>
        <p:nvSpPr>
          <p:cNvPr id="17" name="btn">
            <a:hlinkClick r:id="rId12" action="ppaction://hlinksldjump"/>
          </p:cNvPr>
          <p:cNvSpPr/>
          <p:nvPr/>
        </p:nvSpPr>
        <p:spPr>
          <a:xfrm>
            <a:off x="464058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12" action="ppaction://hlinksldjump" tooltip="Worked example: a data breach at a sports club">
                  <a:extLst>
                    <a:ext uri="{A12FA001-AC4F-418D-AE19-62706E023703}">
                      <ahyp:hlinkClr xmlns:ahyp="http://schemas.microsoft.com/office/drawing/2018/hyperlinkcolor" val="tx"/>
                    </a:ext>
                  </a:extLst>
                </a:hlinkClick>
              </a:rPr>
              <a:t>Worked example: a data breach at a sports club</a:t>
            </a:r>
            <a:endParaRPr lang="en-US" sz="1300" dirty="0"/>
          </a:p>
        </p:txBody>
      </p:sp>
      <p:sp>
        <p:nvSpPr>
          <p:cNvPr id="18" name="btn">
            <a:hlinkClick r:id="rId13" action="ppaction://hlinksldjump"/>
          </p:cNvPr>
          <p:cNvSpPr/>
          <p:nvPr/>
        </p:nvSpPr>
        <p:spPr>
          <a:xfrm>
            <a:off x="4640580" y="3269633"/>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3" action="ppaction://hlinksldjump" tooltip="Exit quiz">
                  <a:extLst>
                    <a:ext uri="{A12FA001-AC4F-418D-AE19-62706E023703}">
                      <ahyp:hlinkClr xmlns:ahyp="http://schemas.microsoft.com/office/drawing/2018/hyperlinkcolor" val="tx"/>
                    </a:ext>
                  </a:extLst>
                </a:hlinkClick>
              </a:rPr>
              <a:t>Exit quiz</a:t>
            </a:r>
            <a:endParaRPr lang="en-US" sz="1500" dirty="0"/>
          </a:p>
        </p:txBody>
      </p:sp>
      <p:sp>
        <p:nvSpPr>
          <p:cNvPr id="19" name="btn">
            <a:hlinkClick r:id="rId14" action="ppaction://hlinksldjump"/>
          </p:cNvPr>
          <p:cNvSpPr/>
          <p:nvPr/>
        </p:nvSpPr>
        <p:spPr>
          <a:xfrm>
            <a:off x="4640580" y="3755571"/>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4" action="ppaction://hlinksldjump" tooltip="↑  Topic menu">
                  <a:extLst>
                    <a:ext uri="{A12FA001-AC4F-418D-AE19-62706E023703}">
                      <ahyp:hlinkClr xmlns:ahyp="http://schemas.microsoft.com/office/drawing/2018/hyperlinkcolor" val="tx"/>
                    </a:ext>
                  </a:extLst>
                </a:hlinkClick>
              </a:rPr>
              <a:t>↑  Topic menu</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5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The big picture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pic>
        <p:nvPicPr>
          <p:cNvPr id="5" name="anim:auto" descr="Data Protection Act roles and its eight principles">    </p:cNvPr>
          <p:cNvPicPr>
            <a:picLocks noChangeAspect="1"/>
          </p:cNvPicPr>
          <p:nvPr/>
        </p:nvPicPr>
        <p:blipFill>
          <a:blip r:embed="rId2"/>
          <a:stretch>
            <a:fillRect/>
          </a:stretch>
        </p:blipFill>
        <p:spPr>
          <a:xfrm>
            <a:off x="1682496" y="1143000"/>
            <a:ext cx="5779008" cy="3250692"/>
          </a:xfrm>
          <a:prstGeom prst="rect">
            <a:avLst/>
          </a:prstGeom>
        </p:spPr>
      </p:pic>
      <p:sp>
        <p:nvSpPr>
          <p:cNvPr id="6" name="Text 2"/>
          <p:cNvSpPr txBox="1"/>
          <p:nvPr/>
        </p:nvSpPr>
        <p:spPr>
          <a:xfrm>
            <a:off x="457200" y="4434840"/>
            <a:ext cx="8229600" cy="320040"/>
          </a:xfrm>
          <a:prstGeom prst="rect">
            <a:avLst/>
          </a:prstGeom>
          <a:noFill/>
          <a:ln/>
        </p:spPr>
        <p:txBody>
          <a:bodyPr wrap="square" lIns="0" tIns="0" rIns="0" bIns="0" rtlCol="0" anchor="ctr"/>
          <a:lstStyle/>
          <a:p>
            <a:pPr algn="ctr" indent="0" marL="0">
              <a:buNone/>
            </a:pPr>
            <a:r>
              <a:rPr lang="en-US" sz="1200" i="1" dirty="0">
                <a:solidFill>
                  <a:srgbClr val="56675E"/>
                </a:solidFill>
              </a:rPr>
              <a:t>Data Protection Act roles and its eight principles</a:t>
            </a:r>
            <a:endParaRPr lang="en-US" sz="1200" dirty="0"/>
          </a:p>
        </p:txBody>
      </p:sp>
      <p:sp>
        <p:nvSpPr>
          <p:cNvPr id="8" name="btn">
            <a:hlinkClick r:id="rId3"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3"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Why data protection law exists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5221C"/>
                </a:solidFill>
              </a:rPr>
              <a:t>Schools, shops, hospitals and apps hold huge amounts of personal data – data about a living person who can be identified from it</a:t>
            </a:r>
            <a:endParaRPr lang="en-US" sz="1700" dirty="0"/>
          </a:p>
          <a:p>
            <a:pPr marL="203200" indent="-203200">
              <a:spcAft>
                <a:spcPts val="600"/>
              </a:spcAft>
              <a:buSzPct val="100000"/>
              <a:buChar char="•"/>
            </a:pPr>
            <a:r>
              <a:rPr lang="en-US" sz="1700" dirty="0">
                <a:solidFill>
                  <a:srgbClr val="15221C"/>
                </a:solidFill>
              </a:rPr>
              <a:t>Examples: name, address, date of birth, photo, email, exam results, location data, an online identifier such as an IP address</a:t>
            </a:r>
            <a:endParaRPr lang="en-US" sz="1700" dirty="0"/>
          </a:p>
          <a:p>
            <a:pPr marL="203200" indent="-203200">
              <a:spcAft>
                <a:spcPts val="600"/>
              </a:spcAft>
              <a:buSzPct val="100000"/>
              <a:buChar char="•"/>
            </a:pPr>
            <a:r>
              <a:rPr lang="en-US" sz="1700" dirty="0">
                <a:solidFill>
                  <a:srgbClr val="15221C"/>
                </a:solidFill>
              </a:rPr>
              <a:t>If it is lost, stolen or misused, people can suffer identity theft, fraud, embarrassment or discrimination</a:t>
            </a:r>
            <a:endParaRPr lang="en-US" sz="1700" dirty="0"/>
          </a:p>
          <a:p>
            <a:pPr marL="203200" indent="-203200">
              <a:spcAft>
                <a:spcPts val="600"/>
              </a:spcAft>
              <a:buSzPct val="100000"/>
              <a:buChar char="•"/>
            </a:pPr>
            <a:r>
              <a:rPr lang="en-US" sz="1700" dirty="0">
                <a:solidFill>
                  <a:srgbClr val="15221C"/>
                </a:solidFill>
              </a:rPr>
              <a:t>The law controls how personal data is collected, stored, used and shared, and gives people rights over their own data</a:t>
            </a:r>
            <a:endParaRPr lang="en-US" sz="1700" dirty="0"/>
          </a:p>
          <a:p>
            <a:pPr marL="203200" indent="-203200">
              <a:spcAft>
                <a:spcPts val="600"/>
              </a:spcAft>
              <a:buSzPct val="100000"/>
              <a:buChar char="•"/>
            </a:pPr>
            <a:r>
              <a:rPr lang="en-US" sz="1700" dirty="0">
                <a:solidFill>
                  <a:srgbClr val="15221C"/>
                </a:solidFill>
              </a:rPr>
              <a:t>Organisations that break it can be fined up to £17.5 million or 4% of worldwide yearly turnover, whichever is higher</a:t>
            </a:r>
            <a:endParaRPr lang="en-US" sz="17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Which law applies now?</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5221C"/>
                </a:solidFill>
              </a:rPr>
              <a:t>The Data Protection Act 1998 (named in the CCEA specification and older textbooks) was replaced in May 2018</a:t>
            </a:r>
            <a:endParaRPr lang="en-US" sz="1600" dirty="0"/>
          </a:p>
          <a:p>
            <a:pPr marL="203200" indent="-203200">
              <a:spcAft>
                <a:spcPts val="600"/>
              </a:spcAft>
              <a:buSzPct val="100000"/>
              <a:buChar char="•"/>
            </a:pPr>
            <a:r>
              <a:rPr lang="en-US" sz="1600" dirty="0">
                <a:solidFill>
                  <a:srgbClr val="15221C"/>
                </a:solidFill>
              </a:rPr>
              <a:t>Current UK law: the UK GDPR together with the Data Protection Act 2018 – this applies in Northern Ireland as in the rest of the UK</a:t>
            </a:r>
            <a:endParaRPr lang="en-US" sz="1600" dirty="0"/>
          </a:p>
          <a:p>
            <a:pPr marL="203200" indent="-203200">
              <a:spcAft>
                <a:spcPts val="600"/>
              </a:spcAft>
              <a:buSzPct val="100000"/>
              <a:buChar char="•"/>
            </a:pPr>
            <a:r>
              <a:rPr lang="en-US" sz="1600" dirty="0">
                <a:solidFill>
                  <a:srgbClr val="15221C"/>
                </a:solidFill>
              </a:rPr>
              <a:t>The Data (Use and Access) Act 2025 updated these laws, e.g. organisations must now have a way to handle data protection complaints</a:t>
            </a:r>
            <a:endParaRPr lang="en-US" sz="1600" dirty="0"/>
          </a:p>
          <a:p>
            <a:pPr marL="203200" indent="-203200">
              <a:spcAft>
                <a:spcPts val="600"/>
              </a:spcAft>
              <a:buSzPct val="100000"/>
              <a:buChar char="•"/>
            </a:pPr>
            <a:r>
              <a:rPr lang="en-US" sz="1600" dirty="0">
                <a:solidFill>
                  <a:srgbClr val="15221C"/>
                </a:solidFill>
              </a:rPr>
              <a:t>The ideas are the same as in the 1998 Act: data must be handled fairly, kept accurate and secure, and used only for its stated purpose</a:t>
            </a:r>
            <a:endParaRPr lang="en-US" sz="1600" dirty="0"/>
          </a:p>
          <a:p>
            <a:pPr marL="203200" indent="-203200">
              <a:spcAft>
                <a:spcPts val="600"/>
              </a:spcAft>
              <a:buSzPct val="100000"/>
              <a:buChar char="•"/>
            </a:pPr>
            <a:r>
              <a:rPr lang="en-US" sz="1600" dirty="0">
                <a:solidFill>
                  <a:srgbClr val="15221C"/>
                </a:solidFill>
              </a:rPr>
              <a:t>In the exam, name the law accurately – 'the Data Protection Act 2018' or 'the UK GDPR' – and recent mark schemes also credit the 1998 Act principles</a:t>
            </a:r>
            <a:endParaRPr lang="en-US" sz="16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Key people and terms (1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88533"/>
                <a:gridCol w="5012267"/>
                <a:gridCol w="1828800"/>
              </a:tblGrid>
              <a:tr h="0">
                <a:tc>
                  <a:txBody>
                    <a:bodyPr/>
                    <a:lstStyle/>
                    <a:p>
                      <a:pPr indent="0" marL="0">
                        <a:buNone/>
                      </a:pPr>
                      <a:r>
                        <a:rPr lang="en-US" sz="1300" b="1" dirty="0">
                          <a:solidFill>
                            <a:srgbClr val="FFFFFF"/>
                          </a:solidFill>
                        </a:rPr>
                        <a:t>Term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Meaning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Data subject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The living person the personal data is about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 pupil, a patient, a customer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Data controller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The organisation (or person) that decides why and how personal data is processed, and is responsible for following the law</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 school, a GP practice, a bank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Data processor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An organisation that processes data on behalf of the controller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 company that runs the school's online payment system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Data Protection Officer (DPO)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Person who advises the organisation on the law and checks it is being followed; required for public bodies such as schools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The named DPO for a school or district council</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wipe(down)">
                                      <p:cBhvr>
                                        <p:cTn id="14"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3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Key people and terms (2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88533"/>
                <a:gridCol w="5012267"/>
                <a:gridCol w="1828800"/>
              </a:tblGrid>
              <a:tr h="0">
                <a:tc>
                  <a:txBody>
                    <a:bodyPr/>
                    <a:lstStyle/>
                    <a:p>
                      <a:pPr indent="0" marL="0">
                        <a:buNone/>
                      </a:pPr>
                      <a:r>
                        <a:rPr lang="en-US" sz="1300" b="1" dirty="0">
                          <a:solidFill>
                            <a:srgbClr val="FFFFFF"/>
                          </a:solidFill>
                        </a:rPr>
                        <a:t>Term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Meaning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Information Commission (formerly the ICO)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The independent UK regulator that enforces data protection law; it took over from the Information Commission (formerly the ICO) on 30 September 2026</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Investigates complaints and fines organisations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wipe(down)">
                                      <p:cBhvr>
                                        <p:cTn id="14"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36"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Special category data</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5221C"/>
                </a:solidFill>
              </a:rPr>
              <a:t>Some personal data is more sensitive, because misuse could lead to discrimination or serious harm</a:t>
            </a:r>
            <a:endParaRPr lang="en-US" sz="1800" dirty="0"/>
          </a:p>
          <a:p>
            <a:pPr marL="203200" indent="-203200">
              <a:spcAft>
                <a:spcPts val="600"/>
              </a:spcAft>
              <a:buSzPct val="100000"/>
              <a:buChar char="•"/>
            </a:pPr>
            <a:r>
              <a:rPr lang="en-US" sz="1800" dirty="0">
                <a:solidFill>
                  <a:srgbClr val="15221C"/>
                </a:solidFill>
              </a:rPr>
              <a:t>Special category data includes racial or ethnic origin, religious beliefs, political opinions, trade union membership, health, sex life or sexual orientation, genetic and biometric data</a:t>
            </a:r>
            <a:endParaRPr lang="en-US" sz="1800" dirty="0"/>
          </a:p>
          <a:p>
            <a:pPr marL="203200" indent="-203200">
              <a:spcAft>
                <a:spcPts val="600"/>
              </a:spcAft>
              <a:buSzPct val="100000"/>
              <a:buChar char="•"/>
            </a:pPr>
            <a:r>
              <a:rPr lang="en-US" sz="1800" dirty="0">
                <a:solidFill>
                  <a:srgbClr val="15221C"/>
                </a:solidFill>
              </a:rPr>
              <a:t>In the 1998 Act this was called sensitive personal data</a:t>
            </a:r>
            <a:endParaRPr lang="en-US" sz="1800" dirty="0"/>
          </a:p>
          <a:p>
            <a:pPr marL="203200" indent="-203200">
              <a:spcAft>
                <a:spcPts val="600"/>
              </a:spcAft>
              <a:buSzPct val="100000"/>
              <a:buChar char="•"/>
            </a:pPr>
            <a:r>
              <a:rPr lang="en-US" sz="1800" dirty="0">
                <a:solidFill>
                  <a:srgbClr val="15221C"/>
                </a:solidFill>
              </a:rPr>
              <a:t>It needs extra protection and a stronger legal reason before it can be processed, e.g. a school recording a pupil's medical condition to keep them safe</a:t>
            </a:r>
            <a:endParaRPr lang="en-US" sz="1800" dirty="0"/>
          </a:p>
          <a:p>
            <a:pPr marL="203200" indent="-203200">
              <a:spcAft>
                <a:spcPts val="600"/>
              </a:spcAft>
              <a:buSzPct val="100000"/>
              <a:buChar char="•"/>
            </a:pPr>
            <a:r>
              <a:rPr lang="en-US" sz="1800" dirty="0">
                <a:solidFill>
                  <a:srgbClr val="15221C"/>
                </a:solidFill>
              </a:rPr>
              <a:t>Criminal records are also protected by extra rules</a:t>
            </a:r>
            <a:endParaRPr lang="en-US" sz="18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The data protection principles (1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83036"/>
                <a:gridCol w="3371161"/>
                <a:gridCol w="2875402"/>
              </a:tblGrid>
              <a:tr h="0">
                <a:tc>
                  <a:txBody>
                    <a:bodyPr/>
                    <a:lstStyle/>
                    <a:p>
                      <a:pPr indent="0" marL="0">
                        <a:buNone/>
                      </a:pPr>
                      <a:r>
                        <a:rPr lang="en-US" sz="1300" b="1" dirty="0">
                          <a:solidFill>
                            <a:srgbClr val="FFFFFF"/>
                          </a:solidFill>
                        </a:rPr>
                        <a:t>Principle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Personal data must be…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Lawfulness, fairness and transparency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processed legally and fairly, and people must be told how it is used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 gym's privacy notice explains what it collects and why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Purpose limitation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collected for a stated purpose and not used for something different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Addresses for a school trip are not sold to a travel firm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Data minimisation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adequate, relevant and limited to what is needed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A youth club does not ask members for their religion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Accuracy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accurate and kept up to date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 pupil's new address is updated straight away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Storage limitation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kept no longer than necessary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Unsuccessful job applications are deleted after a set time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wipe(down)">
                                      <p:cBhvr>
                                        <p:cTn id="14"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38"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The data protection principles (2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83036"/>
                <a:gridCol w="3371161"/>
                <a:gridCol w="2875402"/>
              </a:tblGrid>
              <a:tr h="0">
                <a:tc>
                  <a:txBody>
                    <a:bodyPr/>
                    <a:lstStyle/>
                    <a:p>
                      <a:pPr indent="0" marL="0">
                        <a:buNone/>
                      </a:pPr>
                      <a:r>
                        <a:rPr lang="en-US" sz="1300" b="1" dirty="0">
                          <a:solidFill>
                            <a:srgbClr val="FFFFFF"/>
                          </a:solidFill>
                        </a:rPr>
                        <a:t>Principle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Personal data must be…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Integrity and confidentiality (security)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kept secure against unauthorised access, loss or damage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Passwords, encryption, access levels, backups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down)">
                                      <p:cBhvr>
                                        <p:cTn id="14" dur="6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39"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Accountability and the old eight principles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A seventh principle, accountability, says the controller must be able to prove it follows the other principles, e.g. by keeping records and policies</a:t>
            </a:r>
            <a:endParaRPr lang="en-US" sz="1500" dirty="0"/>
          </a:p>
          <a:p>
            <a:pPr marL="203200" indent="-203200">
              <a:spcAft>
                <a:spcPts val="600"/>
              </a:spcAft>
              <a:buSzPct val="100000"/>
              <a:buChar char="•"/>
            </a:pPr>
            <a:r>
              <a:rPr lang="en-US" sz="1500" dirty="0">
                <a:solidFill>
                  <a:srgbClr val="15221C"/>
                </a:solidFill>
              </a:rPr>
              <a:t>Old principles 1–5 and 7 match the new ones: fair and lawful, specified purpose, adequate and not excessive, accurate, not kept too long, kept secure</a:t>
            </a:r>
            <a:endParaRPr lang="en-US" sz="1500" dirty="0"/>
          </a:p>
          <a:p>
            <a:pPr marL="203200" indent="-203200">
              <a:spcAft>
                <a:spcPts val="600"/>
              </a:spcAft>
              <a:buSzPct val="100000"/>
              <a:buChar char="•"/>
            </a:pPr>
            <a:r>
              <a:rPr lang="en-US" sz="1500" dirty="0">
                <a:solidFill>
                  <a:srgbClr val="15221C"/>
                </a:solidFill>
              </a:rPr>
              <a:t>Old principle 6 (processed in line with the data subject's rights) is now covered by the rights in the UK GDPR</a:t>
            </a:r>
            <a:endParaRPr lang="en-US" sz="1500" dirty="0"/>
          </a:p>
          <a:p>
            <a:pPr marL="203200" indent="-203200">
              <a:spcAft>
                <a:spcPts val="600"/>
              </a:spcAft>
              <a:buSzPct val="100000"/>
              <a:buChar char="•"/>
            </a:pPr>
            <a:r>
              <a:rPr lang="en-US" sz="1500" dirty="0">
                <a:solidFill>
                  <a:srgbClr val="15221C"/>
                </a:solidFill>
              </a:rPr>
              <a:t>Old principle 8 (not transferred outside the European Economic Area without adequate protection) is now a rule that data must not leave the UK without adequate protection</a:t>
            </a:r>
            <a:endParaRPr lang="en-US" sz="1500" dirty="0"/>
          </a:p>
          <a:p>
            <a:pPr marL="203200" indent="-203200">
              <a:spcAft>
                <a:spcPts val="600"/>
              </a:spcAft>
              <a:buSzPct val="100000"/>
              <a:buChar char="•"/>
            </a:pPr>
            <a:r>
              <a:rPr lang="en-US" sz="1500" dirty="0">
                <a:solidFill>
                  <a:srgbClr val="15221C"/>
                </a:solidFill>
              </a:rPr>
              <a:t>Either set of wording earns credit if it is clearly stated and applied to the scenario</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Rights of the data subject</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42382"/>
                <a:gridCol w="6187218"/>
              </a:tblGrid>
              <a:tr h="0">
                <a:tc>
                  <a:txBody>
                    <a:bodyPr/>
                    <a:lstStyle/>
                    <a:p>
                      <a:pPr indent="0" marL="0">
                        <a:buNone/>
                      </a:pPr>
                      <a:r>
                        <a:rPr lang="en-US" sz="1300" b="1" dirty="0">
                          <a:solidFill>
                            <a:srgbClr val="FFFFFF"/>
                          </a:solidFill>
                        </a:rPr>
                        <a:t>Right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means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To be informed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To be told what data is collected, why, and how long it is kept (usually in a privacy notice)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Of access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To see a copy of their data – a subject access request, normally answered free within one month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To rectification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To have inaccurate or incomplete data corrected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To erasure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To have data deleted in some cases, e.g. when it is no longer needed ('right to be forgotten')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To object / restrict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To stop data being used for direct marketing, or limit how it is used while a problem is checked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To complain and claim compensation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To complain to the organisation and then the Information Commission, and to claim compensation for harm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wipe(down)">
                                      <p:cBhvr>
                                        <p:cTn id="14"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41"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Responsibilities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Data controller: follow all the principles; pay the data protection fee to the regulator; keep data secure; answer subject access requests; correct wrong data</a:t>
            </a:r>
            <a:endParaRPr lang="en-US" sz="1500" dirty="0"/>
          </a:p>
          <a:p>
            <a:pPr marL="203200" indent="-203200">
              <a:spcAft>
                <a:spcPts val="600"/>
              </a:spcAft>
              <a:buSzPct val="100000"/>
              <a:buChar char="•"/>
            </a:pPr>
            <a:r>
              <a:rPr lang="en-US" sz="1500" dirty="0">
                <a:solidFill>
                  <a:srgbClr val="15221C"/>
                </a:solidFill>
              </a:rPr>
              <a:t>Data controller: report serious data breaches to the regulator within 72 hours; tell affected people if they are at high risk; handle complaints</a:t>
            </a:r>
            <a:endParaRPr lang="en-US" sz="1500" dirty="0"/>
          </a:p>
          <a:p>
            <a:pPr marL="203200" indent="-203200">
              <a:spcAft>
                <a:spcPts val="600"/>
              </a:spcAft>
              <a:buSzPct val="100000"/>
              <a:buChar char="•"/>
            </a:pPr>
            <a:r>
              <a:rPr lang="en-US" sz="1500" dirty="0">
                <a:solidFill>
                  <a:srgbClr val="15221C"/>
                </a:solidFill>
              </a:rPr>
              <a:t>Data Protection Officer: advises staff on the law, trains them, monitors compliance and is the contact for the regulator and data subjects</a:t>
            </a:r>
            <a:endParaRPr lang="en-US" sz="1500" dirty="0"/>
          </a:p>
          <a:p>
            <a:pPr marL="203200" indent="-203200">
              <a:spcAft>
                <a:spcPts val="600"/>
              </a:spcAft>
              <a:buSzPct val="100000"/>
              <a:buChar char="•"/>
            </a:pPr>
            <a:r>
              <a:rPr lang="en-US" sz="1500" dirty="0">
                <a:solidFill>
                  <a:srgbClr val="15221C"/>
                </a:solidFill>
              </a:rPr>
              <a:t>Information Commission: keeps a public register of organisations that pay the fee; gives advice and promotes good practice</a:t>
            </a:r>
            <a:endParaRPr lang="en-US" sz="1500" dirty="0"/>
          </a:p>
          <a:p>
            <a:pPr marL="203200" indent="-203200">
              <a:spcAft>
                <a:spcPts val="600"/>
              </a:spcAft>
              <a:buSzPct val="100000"/>
              <a:buChar char="•"/>
            </a:pPr>
            <a:r>
              <a:rPr lang="en-US" sz="1500" dirty="0">
                <a:solidFill>
                  <a:srgbClr val="15221C"/>
                </a:solidFill>
              </a:rPr>
              <a:t>Information Commission: investigates complaints and breaches; can carry out audits, order changes (enforcement notices) and issue fines</a:t>
            </a:r>
            <a:endParaRPr lang="en-US" sz="1500" dirty="0"/>
          </a:p>
          <a:p>
            <a:pPr marL="203200" indent="-203200">
              <a:spcAft>
                <a:spcPts val="600"/>
              </a:spcAft>
              <a:buSzPct val="100000"/>
              <a:buChar char="•"/>
            </a:pPr>
            <a:r>
              <a:rPr lang="en-US" sz="1500" dirty="0">
                <a:solidFill>
                  <a:srgbClr val="15221C"/>
                </a:solidFill>
              </a:rPr>
              <a:t>Data subjects should also be told their rights so that they can use them</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How organisations comply</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Security: strong passwords, two-factor authentication, encryption on laptops and USB drives, firewalls and anti-malware</a:t>
            </a:r>
            <a:endParaRPr lang="en-US" sz="1500" dirty="0"/>
          </a:p>
          <a:p>
            <a:pPr marL="203200" indent="-203200">
              <a:spcAft>
                <a:spcPts val="600"/>
              </a:spcAft>
              <a:buSzPct val="100000"/>
              <a:buChar char="•"/>
            </a:pPr>
            <a:r>
              <a:rPr lang="en-US" sz="1500" dirty="0">
                <a:solidFill>
                  <a:srgbClr val="15221C"/>
                </a:solidFill>
              </a:rPr>
              <a:t>Access rights: staff only see the data they need for their job, e.g. office staff see contact details, not medical notes</a:t>
            </a:r>
            <a:endParaRPr lang="en-US" sz="1500" dirty="0"/>
          </a:p>
          <a:p>
            <a:pPr marL="203200" indent="-203200">
              <a:spcAft>
                <a:spcPts val="600"/>
              </a:spcAft>
              <a:buSzPct val="100000"/>
              <a:buChar char="•"/>
            </a:pPr>
            <a:r>
              <a:rPr lang="en-US" sz="1500" dirty="0">
                <a:solidFill>
                  <a:srgbClr val="15221C"/>
                </a:solidFill>
              </a:rPr>
              <a:t>Backups so data is not lost, and secure deletion or shredding when it is no longer needed</a:t>
            </a:r>
            <a:endParaRPr lang="en-US" sz="1500" dirty="0"/>
          </a:p>
          <a:p>
            <a:pPr marL="203200" indent="-203200">
              <a:spcAft>
                <a:spcPts val="600"/>
              </a:spcAft>
              <a:buSzPct val="100000"/>
              <a:buChar char="•"/>
            </a:pPr>
            <a:r>
              <a:rPr lang="en-US" sz="1500" dirty="0">
                <a:solidFill>
                  <a:srgbClr val="15221C"/>
                </a:solidFill>
              </a:rPr>
              <a:t>Accuracy checks: e.g. sending families a data collection sheet each September to confirm details</a:t>
            </a:r>
            <a:endParaRPr lang="en-US" sz="1500" dirty="0"/>
          </a:p>
          <a:p>
            <a:pPr marL="203200" indent="-203200">
              <a:spcAft>
                <a:spcPts val="600"/>
              </a:spcAft>
              <a:buSzPct val="100000"/>
              <a:buChar char="•"/>
            </a:pPr>
            <a:r>
              <a:rPr lang="en-US" sz="1500" dirty="0">
                <a:solidFill>
                  <a:srgbClr val="15221C"/>
                </a:solidFill>
              </a:rPr>
              <a:t>Staff training and clear policies, e.g. not leaving screens unlocked or emailing pupil lists to the wrong person</a:t>
            </a:r>
            <a:endParaRPr lang="en-US" sz="1500" dirty="0"/>
          </a:p>
          <a:p>
            <a:pPr marL="203200" indent="-203200">
              <a:spcAft>
                <a:spcPts val="600"/>
              </a:spcAft>
              <a:buSzPct val="100000"/>
              <a:buChar char="•"/>
            </a:pPr>
            <a:r>
              <a:rPr lang="en-US" sz="1500" dirty="0">
                <a:solidFill>
                  <a:srgbClr val="15221C"/>
                </a:solidFill>
              </a:rPr>
              <a:t>Privacy notices and consent forms, e.g. asking parents before pupils' photos are posted on social media</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300" b="1" dirty="0">
                <a:solidFill>
                  <a:srgbClr val="11503E"/>
                </a:solidFill>
              </a:rPr>
              <a:t>Worked example: a data breach at a sports club (1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033049"/>
                <a:gridCol w="4196551"/>
              </a:tblGrid>
              <a:tr h="0">
                <a:tc>
                  <a:txBody>
                    <a:bodyPr/>
                    <a:lstStyle/>
                    <a:p>
                      <a:pPr indent="0" marL="0">
                        <a:buNone/>
                      </a:pPr>
                      <a:r>
                        <a:rPr lang="en-US" sz="1300" b="1" dirty="0">
                          <a:solidFill>
                            <a:srgbClr val="FFFFFF"/>
                          </a:solidFill>
                        </a:rPr>
                        <a:t>What happened at a Lisburn hockey club</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Principle or duty involved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Membership forms asked for each player's religion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Data minimisation – the club does not need this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Players' emails were used to advertise a partner's betting company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Purpose limitation – data used for a different purpose without consent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An unencrypted laptop holding medical details was stolen from a car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Security – and health is special category data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The club still keeps details of players who left ten years ago</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Storage limitation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A parent asked to see her son's records and heard nothing for three months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Right of access – a reply is normally due within one month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6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44"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300" b="1" dirty="0">
                <a:solidFill>
                  <a:srgbClr val="11503E"/>
                </a:solidFill>
              </a:rPr>
              <a:t>Worked example: a data breach at a sports club (2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033049"/>
                <a:gridCol w="4196551"/>
              </a:tblGrid>
              <a:tr h="0">
                <a:tc>
                  <a:txBody>
                    <a:bodyPr/>
                    <a:lstStyle/>
                    <a:p>
                      <a:pPr indent="0" marL="0">
                        <a:buNone/>
                      </a:pPr>
                      <a:r>
                        <a:rPr lang="en-US" sz="1300" b="1" dirty="0">
                          <a:solidFill>
                            <a:srgbClr val="FFFFFF"/>
                          </a:solidFill>
                        </a:rPr>
                        <a:t>What happened at a Lisburn hockey club</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Principle or duty involved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The club did not report the laptop theft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Controller's duty to report a serious breach to the regulator within 72 hours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wipe(down)">
                                      <p:cBhvr>
                                        <p:cTn id="14" dur="6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45"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1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Under data protection law, who is the 'data subject'?</a:t>
            </a:r>
            <a:endParaRPr lang="en-US" sz="1700" dirty="0"/>
          </a:p>
        </p:txBody>
      </p:sp>
      <p:sp>
        <p:nvSpPr>
          <p:cNvPr id="7" name="trig:k33"/>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The organisation that decides how the data is used</a:t>
            </a:r>
            <a:endParaRPr lang="en-US" sz="1400" dirty="0"/>
          </a:p>
        </p:txBody>
      </p:sp>
      <p:sp>
        <p:nvSpPr>
          <p:cNvPr id="8" name="on:k33"/>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34"/>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The regulator that enforces the law</a:t>
            </a:r>
            <a:endParaRPr lang="en-US" sz="1400" dirty="0"/>
          </a:p>
        </p:txBody>
      </p:sp>
      <p:sp>
        <p:nvSpPr>
          <p:cNvPr id="10" name="on:k34"/>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35"/>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The living person the data is about</a:t>
            </a:r>
            <a:endParaRPr lang="en-US" sz="1400" dirty="0"/>
          </a:p>
        </p:txBody>
      </p:sp>
      <p:sp>
        <p:nvSpPr>
          <p:cNvPr id="12" name="on:k35"/>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36"/>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The company that stores the data for an organisation</a:t>
            </a:r>
            <a:endParaRPr lang="en-US" sz="1400" dirty="0"/>
          </a:p>
        </p:txBody>
      </p:sp>
      <p:sp>
        <p:nvSpPr>
          <p:cNvPr id="14" name="on:k36"/>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35"/>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C: The living person the data is about  –  The data subject is the identifiable living individual whom the personal data describes.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2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body enforces data protection law in the UK?</a:t>
            </a:r>
            <a:endParaRPr lang="en-US" sz="1700" dirty="0"/>
          </a:p>
        </p:txBody>
      </p:sp>
      <p:sp>
        <p:nvSpPr>
          <p:cNvPr id="7" name="trig:k37"/>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The Information Commission</a:t>
            </a:r>
            <a:endParaRPr lang="en-US" sz="1600" dirty="0"/>
          </a:p>
        </p:txBody>
      </p:sp>
      <p:sp>
        <p:nvSpPr>
          <p:cNvPr id="8" name="on:k37"/>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38"/>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The police only</a:t>
            </a:r>
            <a:endParaRPr lang="en-US" sz="1600" dirty="0"/>
          </a:p>
        </p:txBody>
      </p:sp>
      <p:sp>
        <p:nvSpPr>
          <p:cNvPr id="10" name="on:k38"/>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39"/>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The data subject</a:t>
            </a:r>
            <a:endParaRPr lang="en-US" sz="1600" dirty="0"/>
          </a:p>
        </p:txBody>
      </p:sp>
      <p:sp>
        <p:nvSpPr>
          <p:cNvPr id="12" name="on:k39"/>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40"/>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CCEA</a:t>
            </a:r>
            <a:endParaRPr lang="en-US" sz="1600" dirty="0"/>
          </a:p>
        </p:txBody>
      </p:sp>
      <p:sp>
        <p:nvSpPr>
          <p:cNvPr id="14" name="on:k40"/>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37"/>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A: The Information Commission  –  The Information Commission (formerly the ICO), which replaced the Information Commissioner's Office in September 2026, investigates complaints and issues fines.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3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A gym asks for your blood group even though it has no need for it. Which principle is broken?</a:t>
            </a:r>
            <a:endParaRPr lang="en-US" sz="1700" dirty="0"/>
          </a:p>
        </p:txBody>
      </p:sp>
      <p:sp>
        <p:nvSpPr>
          <p:cNvPr id="7" name="trig:k41"/>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Security</a:t>
            </a:r>
            <a:endParaRPr lang="en-US" sz="1600" dirty="0"/>
          </a:p>
        </p:txBody>
      </p:sp>
      <p:sp>
        <p:nvSpPr>
          <p:cNvPr id="8" name="on:k41"/>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42"/>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Accuracy</a:t>
            </a:r>
            <a:endParaRPr lang="en-US" sz="1600" dirty="0"/>
          </a:p>
        </p:txBody>
      </p:sp>
      <p:sp>
        <p:nvSpPr>
          <p:cNvPr id="10" name="on:k42"/>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43"/>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Storage limitation</a:t>
            </a:r>
            <a:endParaRPr lang="en-US" sz="1600" dirty="0"/>
          </a:p>
        </p:txBody>
      </p:sp>
      <p:sp>
        <p:nvSpPr>
          <p:cNvPr id="12" name="on:k43"/>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44"/>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Data minimisation</a:t>
            </a:r>
            <a:endParaRPr lang="en-US" sz="1600" dirty="0"/>
          </a:p>
        </p:txBody>
      </p:sp>
      <p:sp>
        <p:nvSpPr>
          <p:cNvPr id="14" name="on:k44"/>
          <p:cNvSpPr/>
          <p:nvPr/>
        </p:nvSpPr>
        <p:spPr>
          <a:xfrm>
            <a:off x="822960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44"/>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D: Data minimisation  –  Data collected must be adequate, relevant and limited to what is needed (not excessive).</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6" restart="whenNotActive" fill="hold" evtFilter="cancelBubble" nodeType="interactiveSeq">
                <p:stCondLst>
                  <p:cond evt="onClick" delay="0">
                    <p:tgtEl>
                      <p:spTgt spid="11"/>
                    </p:tgtEl>
                  </p:cond>
                </p:stCondLst>
                <p:endSync evt="end" delay="0">
                  <p:rtn val="all"/>
                </p:endSync>
                <p:childTnLst>
                  <p:par>
                    <p:cTn id="5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3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4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A request to see the personal data an organisation holds about you is called a…</a:t>
            </a:r>
            <a:endParaRPr lang="en-US" sz="1700" dirty="0"/>
          </a:p>
        </p:txBody>
      </p:sp>
      <p:sp>
        <p:nvSpPr>
          <p:cNvPr id="7" name="trig:k45"/>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data breach</a:t>
            </a:r>
            <a:endParaRPr lang="en-US" sz="1600" dirty="0"/>
          </a:p>
        </p:txBody>
      </p:sp>
      <p:sp>
        <p:nvSpPr>
          <p:cNvPr id="8" name="on:k45"/>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46"/>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subject access request</a:t>
            </a:r>
            <a:endParaRPr lang="en-US" sz="1600" dirty="0"/>
          </a:p>
        </p:txBody>
      </p:sp>
      <p:sp>
        <p:nvSpPr>
          <p:cNvPr id="10" name="on:k46"/>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47"/>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privacy notice</a:t>
            </a:r>
            <a:endParaRPr lang="en-US" sz="1600" dirty="0"/>
          </a:p>
        </p:txBody>
      </p:sp>
      <p:sp>
        <p:nvSpPr>
          <p:cNvPr id="12" name="on:k47"/>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48"/>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licence request</a:t>
            </a:r>
            <a:endParaRPr lang="en-US" sz="1600" dirty="0"/>
          </a:p>
        </p:txBody>
      </p:sp>
      <p:sp>
        <p:nvSpPr>
          <p:cNvPr id="14" name="on:k48"/>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46"/>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B: subject access request  –  A subject access request must normally be answered within one month and free of charge.</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5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of these is special category data?</a:t>
            </a:r>
            <a:endParaRPr lang="en-US" sz="1700" dirty="0"/>
          </a:p>
        </p:txBody>
      </p:sp>
      <p:sp>
        <p:nvSpPr>
          <p:cNvPr id="7" name="trig:k49"/>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Home address</a:t>
            </a:r>
            <a:endParaRPr lang="en-US" sz="1600" dirty="0"/>
          </a:p>
        </p:txBody>
      </p:sp>
      <p:sp>
        <p:nvSpPr>
          <p:cNvPr id="8" name="on:k49"/>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50"/>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Email address</a:t>
            </a:r>
            <a:endParaRPr lang="en-US" sz="1600" dirty="0"/>
          </a:p>
        </p:txBody>
      </p:sp>
      <p:sp>
        <p:nvSpPr>
          <p:cNvPr id="10" name="on:k50"/>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51"/>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Religious beliefs</a:t>
            </a:r>
            <a:endParaRPr lang="en-US" sz="1600" dirty="0"/>
          </a:p>
        </p:txBody>
      </p:sp>
      <p:sp>
        <p:nvSpPr>
          <p:cNvPr id="12" name="on:k51"/>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52"/>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Date of birth</a:t>
            </a:r>
            <a:endParaRPr lang="en-US" sz="1600" dirty="0"/>
          </a:p>
        </p:txBody>
      </p:sp>
      <p:sp>
        <p:nvSpPr>
          <p:cNvPr id="14" name="on:k52"/>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51"/>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C: Religious beliefs  –  Religious beliefs are special category data because misuse could lead to discrimination; the others are ordinary personal data.</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49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6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Within how many hours must a serious personal data breach be reported to the regulator?</a:t>
            </a:r>
            <a:endParaRPr lang="en-US" sz="1700" dirty="0"/>
          </a:p>
        </p:txBody>
      </p:sp>
      <p:sp>
        <p:nvSpPr>
          <p:cNvPr id="7" name="trig:k53"/>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24</a:t>
            </a:r>
            <a:endParaRPr lang="en-US" sz="1600" dirty="0"/>
          </a:p>
        </p:txBody>
      </p:sp>
      <p:sp>
        <p:nvSpPr>
          <p:cNvPr id="8" name="on:k53"/>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54"/>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72</a:t>
            </a:r>
            <a:endParaRPr lang="en-US" sz="1600" dirty="0"/>
          </a:p>
        </p:txBody>
      </p:sp>
      <p:sp>
        <p:nvSpPr>
          <p:cNvPr id="10" name="on:k54"/>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55"/>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48</a:t>
            </a:r>
            <a:endParaRPr lang="en-US" sz="1600" dirty="0"/>
          </a:p>
        </p:txBody>
      </p:sp>
      <p:sp>
        <p:nvSpPr>
          <p:cNvPr id="12" name="on:k55"/>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56"/>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168</a:t>
            </a:r>
            <a:endParaRPr lang="en-US" sz="1600" dirty="0"/>
          </a:p>
        </p:txBody>
      </p:sp>
      <p:sp>
        <p:nvSpPr>
          <p:cNvPr id="14" name="on:k56"/>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54"/>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B: 72  –  Controllers must report a reportable breach within 72 hours of becoming aware of it.</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7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A school emails a list of pupils' addresses to a local takeaway for a marketing campaign. Which principle is broken?</a:t>
            </a:r>
            <a:endParaRPr lang="en-US" sz="1700" dirty="0"/>
          </a:p>
        </p:txBody>
      </p:sp>
      <p:sp>
        <p:nvSpPr>
          <p:cNvPr id="7" name="trig:k57"/>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Purpose limitation</a:t>
            </a:r>
            <a:endParaRPr lang="en-US" sz="1600" dirty="0"/>
          </a:p>
        </p:txBody>
      </p:sp>
      <p:sp>
        <p:nvSpPr>
          <p:cNvPr id="8" name="on:k57"/>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58"/>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Accuracy</a:t>
            </a:r>
            <a:endParaRPr lang="en-US" sz="1600" dirty="0"/>
          </a:p>
        </p:txBody>
      </p:sp>
      <p:sp>
        <p:nvSpPr>
          <p:cNvPr id="10" name="on:k58"/>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59"/>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Accountability</a:t>
            </a:r>
            <a:endParaRPr lang="en-US" sz="1600" dirty="0"/>
          </a:p>
        </p:txBody>
      </p:sp>
      <p:sp>
        <p:nvSpPr>
          <p:cNvPr id="12" name="on:k59"/>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60"/>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Storage limitation</a:t>
            </a:r>
            <a:endParaRPr lang="en-US" sz="1600" dirty="0"/>
          </a:p>
        </p:txBody>
      </p:sp>
      <p:sp>
        <p:nvSpPr>
          <p:cNvPr id="14" name="on:k60"/>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57"/>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A: Purpose limitation  –  The data was collected for school purposes and must not be used for a different purpose such as marketing.</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8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person advises an organisation on data protection and checks that it follows the law?</a:t>
            </a:r>
            <a:endParaRPr lang="en-US" sz="1700" dirty="0"/>
          </a:p>
        </p:txBody>
      </p:sp>
      <p:sp>
        <p:nvSpPr>
          <p:cNvPr id="7" name="trig:k61"/>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The data subject</a:t>
            </a:r>
            <a:endParaRPr lang="en-US" sz="1600" dirty="0"/>
          </a:p>
        </p:txBody>
      </p:sp>
      <p:sp>
        <p:nvSpPr>
          <p:cNvPr id="8" name="on:k61"/>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62"/>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The network manager</a:t>
            </a:r>
            <a:endParaRPr lang="en-US" sz="1600" dirty="0"/>
          </a:p>
        </p:txBody>
      </p:sp>
      <p:sp>
        <p:nvSpPr>
          <p:cNvPr id="10" name="on:k62"/>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63"/>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The Data Protection Officer</a:t>
            </a:r>
            <a:endParaRPr lang="en-US" sz="1600" dirty="0"/>
          </a:p>
        </p:txBody>
      </p:sp>
      <p:sp>
        <p:nvSpPr>
          <p:cNvPr id="12" name="on:k63"/>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64"/>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The data processor</a:t>
            </a:r>
            <a:endParaRPr lang="en-US" sz="1600" dirty="0"/>
          </a:p>
        </p:txBody>
      </p:sp>
      <p:sp>
        <p:nvSpPr>
          <p:cNvPr id="14" name="on:k64"/>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63"/>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C: The Data Protection Officer  –  Public bodies such as schools must appoint a Data Protection Officer to monitor compliance.</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answers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3291840"/>
                <a:gridCol w="4389120"/>
              </a:tblGrid>
              <a:tr h="0">
                <a:tc>
                  <a:txBody>
                    <a:bodyPr/>
                    <a:lstStyle/>
                    <a:p>
                      <a:pPr indent="0" marL="0">
                        <a:buNone/>
                      </a:pPr>
                      <a:r>
                        <a:rPr lang="en-US" sz="1400" b="1" dirty="0">
                          <a:solidFill>
                            <a:srgbClr val="FFFFFF"/>
                          </a:solidFill>
                        </a:rPr>
                        <a:t>Q</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Answer</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Why</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400" b="1" dirty="0">
                          <a:solidFill>
                            <a:srgbClr val="15221C"/>
                          </a:solidFill>
                        </a:rPr>
                        <a:t>1</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C  The living person the data is about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The data subject is the identifiable living individual whom the personal data describes.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2</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A  The Information Commission</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The Information Commission (formerly the ICO), which replaced the Information Commissioner's Office in September 2026, investigates complaints and issues fines.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3</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D  Data minimisation</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Data collected must be adequate, relevant and limited to what is needed (not excessive).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4</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B  subject access request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A subject access request must normally be answered within one month and free of charge.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5</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C  Religious beliefs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Religious beliefs are special category data because misuse could lead to discrimination; the others are ordinary personal data.</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6</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B  72</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Controllers must report a reportable breach within 72 hours of becoming aware of it.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7</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A  Purpose limitation</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The data was collected for school purposes and must not be used for a different purpose such as marketing.</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8</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  The Data Protection Officer</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Public bodies such as schools must appoint a Data Protection Officer to monitor compliance.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down)">
                                      <p:cBhvr>
                                        <p:cTn id="14" dur="6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54" grpId="0">
        <p:bldAsOne/>
      </p:bldGraphic>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the exam</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1097280"/>
                <a:gridCol w="822960"/>
                <a:gridCol w="4937760"/>
              </a:tblGrid>
              <a:tr h="0">
                <a:tc>
                  <a:txBody>
                    <a:bodyPr/>
                    <a:lstStyle/>
                    <a:p>
                      <a:pPr indent="0" marL="0">
                        <a:buNone/>
                      </a:pPr>
                      <a:r>
                        <a:rPr lang="en-US" sz="1300" b="1" dirty="0">
                          <a:solidFill>
                            <a:srgbClr val="FFFFFF"/>
                          </a:solidFill>
                        </a:rPr>
                        <a:t>Paper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Question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Marks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tested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Unit 1 2019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Q1(d)–(e)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Consumer law; data protection rights (MCQ)</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Q10(b)–(e)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Cybercrime, access rights, DPA principles, encryption, legislation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8</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RSI, monitor ergonomics, copyright, ICO, DPA principles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5</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Copyright, DPA principles, DPO and data controller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Q11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6</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Legislation matching, online harms, protection methods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2025</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Consumer law title; data, computer misuse and copyright scenarios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100" i="1" dirty="0">
                <a:solidFill>
                  <a:srgbClr val="56675E"/>
                </a:solidFill>
              </a:rPr>
              <a:t>Papers and mark schemes: ccea.org.uk → GCSE Digital Technology → Past Papers &amp; Mark Schemes.</a:t>
            </a:r>
            <a:endParaRPr lang="en-US" sz="11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wipe(down)">
                                      <p:cBhvr>
                                        <p:cTn id="14" dur="6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25" grpId="0" animBg="1"/>
      <p:bldGraphic spid="55" grpId="0">
        <p:bldAsOne/>
      </p:bldGraphic>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6949440" cy="320040"/>
          </a:xfrm>
          <a:prstGeom prst="rect">
            <a:avLst/>
          </a:prstGeom>
          <a:noFill/>
          <a:ln/>
        </p:spPr>
        <p:txBody>
          <a:bodyPr wrap="square" rtlCol="0"/>
          <a:lstStyle/>
          <a:p>
            <a:pPr indent="0" marL="0">
              <a:buNone/>
            </a:pPr>
            <a:r>
              <a:rPr lang="en-US" sz="1200" b="1" spc="200" kern="0" dirty="0">
                <a:solidFill>
                  <a:srgbClr val="F5E6DA"/>
                </a:solidFill>
              </a:rPr>
              <a:t>UNIT 1: DIGITAL TECHNOLOGY  ·  L23</a:t>
            </a:r>
            <a:endParaRPr lang="en-US" sz="1200" dirty="0"/>
          </a:p>
        </p:txBody>
      </p:sp>
      <p:sp>
        <p:nvSpPr>
          <p:cNvPr id="3" name="Text 0"/>
          <p:cNvSpPr/>
          <p:nvPr>
            <p:ph idx="101" type="title" hasCustomPrompt="1"/>
          </p:nvPr>
        </p:nvSpPr>
        <p:spPr>
          <a:xfrm>
            <a:off x="548640" y="960120"/>
            <a:ext cx="7132320" cy="1371600"/>
          </a:xfrm>
          <a:prstGeom prst="rect">
            <a:avLst/>
          </a:prstGeom>
          <a:noFill/>
          <a:ln/>
        </p:spPr>
        <p:txBody>
          <a:bodyPr wrap="square" rtlCol="0" anchor="t"/>
          <a:lstStyle/>
          <a:p>
            <a:pPr algn="l" indent="0" marL="0">
              <a:buNone/>
            </a:pPr>
            <a:r>
              <a:rPr lang="en-US" sz="3200" b="1" dirty="0">
                <a:solidFill>
                  <a:srgbClr val="FFFFFF"/>
                </a:solidFill>
              </a:rPr>
              <a:t>Ethics, employment and health and safety</a:t>
            </a:r>
            <a:endParaRPr lang="en-US" sz="3800" dirty="0"/>
          </a:p>
        </p:txBody>
      </p:sp>
      <p:sp>
        <p:nvSpPr>
          <p:cNvPr id="4" name="Text 0"/>
          <p:cNvSpPr/>
          <p:nvPr>
            <p:ph idx="102" type="body" hasCustomPrompt="1"/>
          </p:nvPr>
        </p:nvSpPr>
        <p:spPr>
          <a:xfrm>
            <a:off x="548640" y="2514600"/>
            <a:ext cx="7680960" cy="2011680"/>
          </a:xfrm>
          <a:prstGeom prst="rect">
            <a:avLst/>
          </a:prstGeom>
          <a:noFill/>
          <a:ln/>
        </p:spPr>
        <p:txBody>
          <a:bodyPr wrap="square" rtlCol="0" anchor="t"/>
          <a:lstStyle/>
          <a:p>
            <a:pPr indent="0" marL="0">
              <a:buNone/>
            </a:pPr>
            <a:r>
              <a:rPr lang="en-US" sz="1600" b="1" dirty="0">
                <a:solidFill>
                  <a:srgbClr val="F5E6DA"/>
                </a:solidFill>
              </a:rPr>
              <a:t>Learning objectives</a:t>
            </a:r>
            <a:endParaRPr lang="en-US" sz="1600" dirty="0"/>
          </a:p>
          <a:p>
            <a:pPr marL="203200" indent="-203200">
              <a:spcAft>
                <a:spcPts val="600"/>
              </a:spcAft>
              <a:buSzPct val="100000"/>
              <a:buChar char="•"/>
            </a:pPr>
            <a:r>
              <a:rPr lang="en-US" sz="1600" dirty="0">
                <a:solidFill>
                  <a:srgbClr val="E4ECE6"/>
                </a:solidFill>
              </a:rPr>
              <a:t>Describe examples of internet and social media misuse and how personal data is collected without people realising</a:t>
            </a:r>
            <a:endParaRPr lang="en-US" sz="1600" dirty="0"/>
          </a:p>
          <a:p>
            <a:pPr marL="203200" indent="-203200">
              <a:spcAft>
                <a:spcPts val="600"/>
              </a:spcAft>
              <a:buSzPct val="100000"/>
              <a:buChar char="•"/>
            </a:pPr>
            <a:r>
              <a:rPr lang="en-US" sz="1600" dirty="0">
                <a:solidFill>
                  <a:srgbClr val="E4ECE6"/>
                </a:solidFill>
              </a:rPr>
              <a:t>Weigh up the benefits and concerns of GPS and tracking</a:t>
            </a:r>
            <a:endParaRPr lang="en-US" sz="1600" dirty="0"/>
          </a:p>
          <a:p>
            <a:pPr marL="203200" indent="-203200">
              <a:spcAft>
                <a:spcPts val="600"/>
              </a:spcAft>
              <a:buSzPct val="100000"/>
              <a:buChar char="•"/>
            </a:pPr>
            <a:r>
              <a:rPr lang="en-US" sz="1600" dirty="0">
                <a:solidFill>
                  <a:srgbClr val="E4ECE6"/>
                </a:solidFill>
              </a:rPr>
              <a:t>Describe four impacts of digital technology on employment, with examples</a:t>
            </a:r>
            <a:endParaRPr lang="en-US" sz="1600" dirty="0"/>
          </a:p>
          <a:p>
            <a:pPr marL="203200" indent="-203200">
              <a:spcAft>
                <a:spcPts val="600"/>
              </a:spcAft>
              <a:buSzPct val="100000"/>
              <a:buChar char="•"/>
            </a:pPr>
            <a:r>
              <a:rPr lang="en-US" sz="1600" dirty="0">
                <a:solidFill>
                  <a:srgbClr val="E4ECE6"/>
                </a:solidFill>
              </a:rPr>
              <a:t>Describe the causes of RSI, back strain and eye strain and how employees and employers can reduce them</a:t>
            </a:r>
            <a:endParaRPr lang="en-US" sz="1600" dirty="0"/>
          </a:p>
        </p:txBody>
      </p:sp>
      <p:sp>
        <p:nvSpPr>
          <p:cNvPr id="5" name="chip"/>
          <p:cNvSpPr/>
          <p:nvPr/>
        </p:nvSpPr>
        <p:spPr>
          <a:xfrm>
            <a:off x="7818120" y="502920"/>
            <a:ext cx="685800" cy="685800"/>
          </a:xfrm>
          <a:prstGeom prst="roundRect">
            <a:avLst>
              <a:gd name="adj" fmla="val 12000"/>
            </a:avLst>
          </a:prstGeom>
          <a:solidFill>
            <a:srgbClr val="1D6B53"/>
          </a:solidFill>
          <a:ln w="12700">
            <a:solidFill>
              <a:srgbClr val="1D6B53"/>
            </a:solidFill>
            <a:prstDash val="solid"/>
          </a:ln>
        </p:spPr>
      </p:sp>
      <p:sp>
        <p:nvSpPr>
          <p:cNvPr id="6" name="Shape 4"/>
          <p:cNvSpPr/>
          <p:nvPr/>
        </p:nvSpPr>
        <p:spPr>
          <a:xfrm>
            <a:off x="8023860" y="420624"/>
            <a:ext cx="82296" cy="82296"/>
          </a:xfrm>
          <a:prstGeom prst="rect">
            <a:avLst/>
          </a:prstGeom>
          <a:solidFill>
            <a:srgbClr val="A95A24"/>
          </a:solidFill>
          <a:ln w="12700">
            <a:solidFill>
              <a:srgbClr val="A95A24"/>
            </a:solidFill>
            <a:prstDash val="solid"/>
          </a:ln>
        </p:spPr>
      </p:sp>
      <p:sp>
        <p:nvSpPr>
          <p:cNvPr id="7" name="Shape 5"/>
          <p:cNvSpPr/>
          <p:nvPr/>
        </p:nvSpPr>
        <p:spPr>
          <a:xfrm>
            <a:off x="8023860" y="1188720"/>
            <a:ext cx="82296" cy="82296"/>
          </a:xfrm>
          <a:prstGeom prst="rect">
            <a:avLst/>
          </a:prstGeom>
          <a:solidFill>
            <a:srgbClr val="A95A24"/>
          </a:solidFill>
          <a:ln w="12700">
            <a:solidFill>
              <a:srgbClr val="A95A24"/>
            </a:solidFill>
            <a:prstDash val="solid"/>
          </a:ln>
        </p:spPr>
      </p:sp>
      <p:sp>
        <p:nvSpPr>
          <p:cNvPr id="8" name="Shape 6"/>
          <p:cNvSpPr/>
          <p:nvPr/>
        </p:nvSpPr>
        <p:spPr>
          <a:xfrm>
            <a:off x="7735824" y="708660"/>
            <a:ext cx="82296" cy="82296"/>
          </a:xfrm>
          <a:prstGeom prst="rect">
            <a:avLst/>
          </a:prstGeom>
          <a:solidFill>
            <a:srgbClr val="A95A24"/>
          </a:solidFill>
          <a:ln w="12700">
            <a:solidFill>
              <a:srgbClr val="A95A24"/>
            </a:solidFill>
            <a:prstDash val="solid"/>
          </a:ln>
        </p:spPr>
      </p:sp>
      <p:sp>
        <p:nvSpPr>
          <p:cNvPr id="9" name="Shape 7"/>
          <p:cNvSpPr/>
          <p:nvPr/>
        </p:nvSpPr>
        <p:spPr>
          <a:xfrm>
            <a:off x="8503920" y="708660"/>
            <a:ext cx="82296" cy="82296"/>
          </a:xfrm>
          <a:prstGeom prst="rect">
            <a:avLst/>
          </a:prstGeom>
          <a:solidFill>
            <a:srgbClr val="A95A24"/>
          </a:solidFill>
          <a:ln w="12700">
            <a:solidFill>
              <a:srgbClr val="A95A24"/>
            </a:solidFill>
            <a:prstDash val="solid"/>
          </a:ln>
        </p:spPr>
      </p:sp>
      <p:sp>
        <p:nvSpPr>
          <p:cNvPr id="10" name="Shape 8"/>
          <p:cNvSpPr/>
          <p:nvPr/>
        </p:nvSpPr>
        <p:spPr>
          <a:xfrm>
            <a:off x="8243316" y="420624"/>
            <a:ext cx="82296" cy="82296"/>
          </a:xfrm>
          <a:prstGeom prst="rect">
            <a:avLst/>
          </a:prstGeom>
          <a:solidFill>
            <a:srgbClr val="A95A24"/>
          </a:solidFill>
          <a:ln w="12700">
            <a:solidFill>
              <a:srgbClr val="A95A24"/>
            </a:solidFill>
            <a:prstDash val="solid"/>
          </a:ln>
        </p:spPr>
      </p:sp>
      <p:sp>
        <p:nvSpPr>
          <p:cNvPr id="11" name="Shape 9"/>
          <p:cNvSpPr/>
          <p:nvPr/>
        </p:nvSpPr>
        <p:spPr>
          <a:xfrm>
            <a:off x="8243316" y="1188720"/>
            <a:ext cx="82296" cy="82296"/>
          </a:xfrm>
          <a:prstGeom prst="rect">
            <a:avLst/>
          </a:prstGeom>
          <a:solidFill>
            <a:srgbClr val="A95A24"/>
          </a:solidFill>
          <a:ln w="12700">
            <a:solidFill>
              <a:srgbClr val="A95A24"/>
            </a:solidFill>
            <a:prstDash val="solid"/>
          </a:ln>
        </p:spPr>
      </p:sp>
      <p:sp>
        <p:nvSpPr>
          <p:cNvPr id="12" name="Shape 10"/>
          <p:cNvSpPr/>
          <p:nvPr/>
        </p:nvSpPr>
        <p:spPr>
          <a:xfrm>
            <a:off x="7735824" y="928116"/>
            <a:ext cx="82296" cy="82296"/>
          </a:xfrm>
          <a:prstGeom prst="rect">
            <a:avLst/>
          </a:prstGeom>
          <a:solidFill>
            <a:srgbClr val="A95A24"/>
          </a:solidFill>
          <a:ln w="12700">
            <a:solidFill>
              <a:srgbClr val="A95A24"/>
            </a:solidFill>
            <a:prstDash val="solid"/>
          </a:ln>
        </p:spPr>
      </p:sp>
      <p:sp>
        <p:nvSpPr>
          <p:cNvPr id="13" name="Shape 11"/>
          <p:cNvSpPr/>
          <p:nvPr/>
        </p:nvSpPr>
        <p:spPr>
          <a:xfrm>
            <a:off x="8503920" y="928116"/>
            <a:ext cx="82296" cy="82296"/>
          </a:xfrm>
          <a:prstGeom prst="rect">
            <a:avLst/>
          </a:prstGeom>
          <a:solidFill>
            <a:srgbClr val="A95A24"/>
          </a:solidFill>
          <a:ln w="12700">
            <a:solidFill>
              <a:srgbClr val="A95A24"/>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6" presetID="10" presetClass="entr" presetSubtype="0" fill="hold" grpId="0" nodeType="after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3" presetID="10" presetClass="entr" presetSubtype="0" fill="hold" grpId="0" nodeType="with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45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5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45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50"/>
                                        <p:tgtEl>
                                          <p:spTgt spid="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45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childTnLst>
                                </p:cTn>
                              </p:par>
                            </p:childTnLst>
                          </p:cTn>
                        </p:par>
                        <p:par>
                          <p:cTn id="53"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350"/>
                                        <p:tgtEl>
                                          <p:spTgt spid="4">
                                            <p:txEl>
                                              <p:pRg st="0" end="0"/>
                                            </p:txEl>
                                          </p:spTgt>
                                        </p:tgtEl>
                                      </p:cBhvr>
                                    </p:animEffect>
                                  </p:childTnLst>
                                </p:cTn>
                              </p:par>
                            </p:childTnLst>
                          </p:cTn>
                        </p:par>
                        <p:par>
                          <p:cTn id="54"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350"/>
                                        <p:tgtEl>
                                          <p:spTgt spid="4">
                                            <p:txEl>
                                              <p:pRg st="1" end="1"/>
                                            </p:txEl>
                                          </p:spTgt>
                                        </p:tgtEl>
                                      </p:cBhvr>
                                    </p:animEffect>
                                  </p:childTnLst>
                                </p:cTn>
                              </p:par>
                            </p:childTnLst>
                          </p:cTn>
                        </p:par>
                        <p:par>
                          <p:cTn id="55" fill="hold">
                            <p:stCondLst>
                              <p:cond delay="1050"/>
                            </p:stCondLst>
                            <p:childTnLst>
                              <p:par>
                                <p:cTn id="15" presetID="10" presetClass="entr" presetSubtype="0" fill="hold" grpId="0"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350"/>
                                        <p:tgtEl>
                                          <p:spTgt spid="4">
                                            <p:txEl>
                                              <p:pRg st="2" end="2"/>
                                            </p:txEl>
                                          </p:spTgt>
                                        </p:tgtEl>
                                      </p:cBhvr>
                                    </p:animEffect>
                                  </p:childTnLst>
                                </p:cTn>
                              </p:par>
                            </p:childTnLst>
                          </p:cTn>
                        </p:par>
                        <p:par>
                          <p:cTn id="56" fill="hold">
                            <p:stCondLst>
                              <p:cond delay="1350"/>
                            </p:stCondLst>
                            <p:childTnLst>
                              <p:par>
                                <p:cTn id="18" presetID="10" presetClass="entr" presetSubtype="0" fill="hold" grpId="0" nodeType="after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350"/>
                                        <p:tgtEl>
                                          <p:spTgt spid="4">
                                            <p:txEl>
                                              <p:pRg st="3" end="3"/>
                                            </p:txEl>
                                          </p:spTgt>
                                        </p:tgtEl>
                                      </p:cBhvr>
                                    </p:animEffect>
                                  </p:childTnLst>
                                </p:cTn>
                              </p:par>
                            </p:childTnLst>
                          </p:cTn>
                        </p:par>
                        <p:par>
                          <p:cTn id="57" fill="hold">
                            <p:stCondLst>
                              <p:cond delay="165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35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this lesson</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200" i="1" dirty="0">
                <a:solidFill>
                  <a:srgbClr val="56675E"/>
                </a:solidFill>
              </a:rPr>
              <a:t>Tap a button to jump straight there. The ☰ Menu button on every slide brings you back here.</a:t>
            </a:r>
            <a:endParaRPr lang="en-US" sz="1200" dirty="0"/>
          </a:p>
        </p:txBody>
      </p:sp>
      <p:sp>
        <p:nvSpPr>
          <p:cNvPr id="7" name="btn">
            <a:hlinkClick r:id="rId2" action="ppaction://hlinksldjump"/>
          </p:cNvPr>
          <p:cNvSpPr/>
          <p:nvPr/>
        </p:nvSpPr>
        <p:spPr>
          <a:xfrm>
            <a:off x="45720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2" action="ppaction://hlinksldjump" tooltip="The big picture">
                  <a:extLst>
                    <a:ext uri="{A12FA001-AC4F-418D-AE19-62706E023703}">
                      <ahyp:hlinkClr xmlns:ahyp="http://schemas.microsoft.com/office/drawing/2018/hyperlinkcolor" val="tx"/>
                    </a:ext>
                  </a:extLst>
                </a:hlinkClick>
              </a:rPr>
              <a:t>The big picture</a:t>
            </a:r>
            <a:endParaRPr lang="en-US" sz="1500" dirty="0"/>
          </a:p>
        </p:txBody>
      </p:sp>
      <p:sp>
        <p:nvSpPr>
          <p:cNvPr id="8" name="btn">
            <a:hlinkClick r:id="rId3" action="ppaction://hlinksldjump"/>
          </p:cNvPr>
          <p:cNvSpPr/>
          <p:nvPr/>
        </p:nvSpPr>
        <p:spPr>
          <a:xfrm>
            <a:off x="45720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3" action="ppaction://hlinksldjump" tooltip="Internet misuse">
                  <a:extLst>
                    <a:ext uri="{A12FA001-AC4F-418D-AE19-62706E023703}">
                      <ahyp:hlinkClr xmlns:ahyp="http://schemas.microsoft.com/office/drawing/2018/hyperlinkcolor" val="tx"/>
                    </a:ext>
                  </a:extLst>
                </a:hlinkClick>
              </a:rPr>
              <a:t>Internet misuse</a:t>
            </a:r>
            <a:endParaRPr lang="en-US" sz="1500" dirty="0"/>
          </a:p>
        </p:txBody>
      </p:sp>
      <p:sp>
        <p:nvSpPr>
          <p:cNvPr id="9" name="btn">
            <a:hlinkClick r:id="rId4" action="ppaction://hlinksldjump"/>
          </p:cNvPr>
          <p:cNvSpPr/>
          <p:nvPr/>
        </p:nvSpPr>
        <p:spPr>
          <a:xfrm>
            <a:off x="45720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4" action="ppaction://hlinksldjump" tooltip="Access to personal information">
                  <a:extLst>
                    <a:ext uri="{A12FA001-AC4F-418D-AE19-62706E023703}">
                      <ahyp:hlinkClr xmlns:ahyp="http://schemas.microsoft.com/office/drawing/2018/hyperlinkcolor" val="tx"/>
                    </a:ext>
                  </a:extLst>
                </a:hlinkClick>
              </a:rPr>
              <a:t>Access to personal information</a:t>
            </a:r>
            <a:endParaRPr lang="en-US" sz="1500" dirty="0"/>
          </a:p>
        </p:txBody>
      </p:sp>
      <p:sp>
        <p:nvSpPr>
          <p:cNvPr id="10" name="btn">
            <a:hlinkClick r:id="rId5" action="ppaction://hlinksldjump"/>
          </p:cNvPr>
          <p:cNvSpPr/>
          <p:nvPr/>
        </p:nvSpPr>
        <p:spPr>
          <a:xfrm>
            <a:off x="45720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5" action="ppaction://hlinksldjump" tooltip="Social media misuse">
                  <a:extLst>
                    <a:ext uri="{A12FA001-AC4F-418D-AE19-62706E023703}">
                      <ahyp:hlinkClr xmlns:ahyp="http://schemas.microsoft.com/office/drawing/2018/hyperlinkcolor" val="tx"/>
                    </a:ext>
                  </a:extLst>
                </a:hlinkClick>
              </a:rPr>
              <a:t>Social media misuse</a:t>
            </a:r>
            <a:endParaRPr lang="en-US" sz="1500" dirty="0"/>
          </a:p>
        </p:txBody>
      </p:sp>
      <p:sp>
        <p:nvSpPr>
          <p:cNvPr id="11" name="btn">
            <a:hlinkClick r:id="rId6" action="ppaction://hlinksldjump"/>
          </p:cNvPr>
          <p:cNvSpPr/>
          <p:nvPr/>
        </p:nvSpPr>
        <p:spPr>
          <a:xfrm>
            <a:off x="457200" y="3269633"/>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6" action="ppaction://hlinksldjump" tooltip="GPS and tracking">
                  <a:extLst>
                    <a:ext uri="{A12FA001-AC4F-418D-AE19-62706E023703}">
                      <ahyp:hlinkClr xmlns:ahyp="http://schemas.microsoft.com/office/drawing/2018/hyperlinkcolor" val="tx"/>
                    </a:ext>
                  </a:extLst>
                </a:hlinkClick>
              </a:rPr>
              <a:t>GPS and tracking</a:t>
            </a:r>
            <a:endParaRPr lang="en-US" sz="1500" dirty="0"/>
          </a:p>
        </p:txBody>
      </p:sp>
      <p:sp>
        <p:nvSpPr>
          <p:cNvPr id="12" name="btn">
            <a:hlinkClick r:id="rId7" action="ppaction://hlinksldjump"/>
          </p:cNvPr>
          <p:cNvSpPr/>
          <p:nvPr/>
        </p:nvSpPr>
        <p:spPr>
          <a:xfrm>
            <a:off x="457200" y="3755571"/>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7" action="ppaction://hlinksldjump" tooltip="Security of personal data">
                  <a:extLst>
                    <a:ext uri="{A12FA001-AC4F-418D-AE19-62706E023703}">
                      <ahyp:hlinkClr xmlns:ahyp="http://schemas.microsoft.com/office/drawing/2018/hyperlinkcolor" val="tx"/>
                    </a:ext>
                  </a:extLst>
                </a:hlinkClick>
              </a:rPr>
              <a:t>Security of personal data</a:t>
            </a:r>
            <a:endParaRPr lang="en-US" sz="1500" dirty="0"/>
          </a:p>
        </p:txBody>
      </p:sp>
      <p:sp>
        <p:nvSpPr>
          <p:cNvPr id="13" name="btn">
            <a:hlinkClick r:id="rId8" action="ppaction://hlinksldjump"/>
          </p:cNvPr>
          <p:cNvSpPr/>
          <p:nvPr/>
        </p:nvSpPr>
        <p:spPr>
          <a:xfrm>
            <a:off x="457200" y="424151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8" action="ppaction://hlinksldjump" tooltip="Impact on employment">
                  <a:extLst>
                    <a:ext uri="{A12FA001-AC4F-418D-AE19-62706E023703}">
                      <ahyp:hlinkClr xmlns:ahyp="http://schemas.microsoft.com/office/drawing/2018/hyperlinkcolor" val="tx"/>
                    </a:ext>
                  </a:extLst>
                </a:hlinkClick>
              </a:rPr>
              <a:t>Impact on employment</a:t>
            </a:r>
            <a:endParaRPr lang="en-US" sz="1500" dirty="0"/>
          </a:p>
        </p:txBody>
      </p:sp>
      <p:sp>
        <p:nvSpPr>
          <p:cNvPr id="14" name="btn">
            <a:hlinkClick r:id="rId9" action="ppaction://hlinksldjump"/>
          </p:cNvPr>
          <p:cNvSpPr/>
          <p:nvPr/>
        </p:nvSpPr>
        <p:spPr>
          <a:xfrm>
            <a:off x="4640580" y="1325880"/>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9" action="ppaction://hlinksldjump" tooltip="Teleworking: working from home using ICT">
                  <a:extLst>
                    <a:ext uri="{A12FA001-AC4F-418D-AE19-62706E023703}">
                      <ahyp:hlinkClr xmlns:ahyp="http://schemas.microsoft.com/office/drawing/2018/hyperlinkcolor" val="tx"/>
                    </a:ext>
                  </a:extLst>
                </a:hlinkClick>
              </a:rPr>
              <a:t>Teleworking: working from home using ICT</a:t>
            </a:r>
            <a:endParaRPr lang="en-US" sz="1300" dirty="0"/>
          </a:p>
        </p:txBody>
      </p:sp>
      <p:sp>
        <p:nvSpPr>
          <p:cNvPr id="15" name="btn">
            <a:hlinkClick r:id="rId10" action="ppaction://hlinksldjump"/>
          </p:cNvPr>
          <p:cNvSpPr/>
          <p:nvPr/>
        </p:nvSpPr>
        <p:spPr>
          <a:xfrm>
            <a:off x="4640580" y="1811818"/>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0" action="ppaction://hlinksldjump" tooltip="Health problems from computer use">
                  <a:extLst>
                    <a:ext uri="{A12FA001-AC4F-418D-AE19-62706E023703}">
                      <ahyp:hlinkClr xmlns:ahyp="http://schemas.microsoft.com/office/drawing/2018/hyperlinkcolor" val="tx"/>
                    </a:ext>
                  </a:extLst>
                </a:hlinkClick>
              </a:rPr>
              <a:t>Health problems from computer use</a:t>
            </a:r>
            <a:endParaRPr lang="en-US" sz="1500" dirty="0"/>
          </a:p>
        </p:txBody>
      </p:sp>
      <p:sp>
        <p:nvSpPr>
          <p:cNvPr id="16" name="btn">
            <a:hlinkClick r:id="rId11" action="ppaction://hlinksldjump"/>
          </p:cNvPr>
          <p:cNvSpPr/>
          <p:nvPr/>
        </p:nvSpPr>
        <p:spPr>
          <a:xfrm>
            <a:off x="4640580" y="2297757"/>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1" action="ppaction://hlinksldjump" tooltip="Prevention: employee and employer">
                  <a:extLst>
                    <a:ext uri="{A12FA001-AC4F-418D-AE19-62706E023703}">
                      <ahyp:hlinkClr xmlns:ahyp="http://schemas.microsoft.com/office/drawing/2018/hyperlinkcolor" val="tx"/>
                    </a:ext>
                  </a:extLst>
                </a:hlinkClick>
              </a:rPr>
              <a:t>Prevention: employee and employer</a:t>
            </a:r>
            <a:endParaRPr lang="en-US" sz="1500" dirty="0"/>
          </a:p>
        </p:txBody>
      </p:sp>
      <p:sp>
        <p:nvSpPr>
          <p:cNvPr id="17" name="btn">
            <a:hlinkClick r:id="rId12" action="ppaction://hlinksldjump"/>
          </p:cNvPr>
          <p:cNvSpPr/>
          <p:nvPr/>
        </p:nvSpPr>
        <p:spPr>
          <a:xfrm>
            <a:off x="4640580" y="2783695"/>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500" dirty="0">
                <a:solidFill>
                  <a:srgbClr val="15221C"/>
                </a:solidFill>
                <a:hlinkClick r:id="rId12" action="ppaction://hlinksldjump" tooltip="The law and a safe workstation">
                  <a:extLst>
                    <a:ext uri="{A12FA001-AC4F-418D-AE19-62706E023703}">
                      <ahyp:hlinkClr xmlns:ahyp="http://schemas.microsoft.com/office/drawing/2018/hyperlinkcolor" val="tx"/>
                    </a:ext>
                  </a:extLst>
                </a:hlinkClick>
              </a:rPr>
              <a:t>The law and a safe workstation</a:t>
            </a:r>
            <a:endParaRPr lang="en-US" sz="1500" dirty="0"/>
          </a:p>
        </p:txBody>
      </p:sp>
      <p:sp>
        <p:nvSpPr>
          <p:cNvPr id="18" name="btn">
            <a:hlinkClick r:id="rId13" action="ppaction://hlinksldjump"/>
          </p:cNvPr>
          <p:cNvSpPr/>
          <p:nvPr/>
        </p:nvSpPr>
        <p:spPr>
          <a:xfrm>
            <a:off x="4640580" y="3269633"/>
            <a:ext cx="4046220" cy="394498"/>
          </a:xfrm>
          <a:prstGeom prst="roundRect">
            <a:avLst>
              <a:gd name="adj" fmla="val 18543"/>
            </a:avLst>
          </a:prstGeom>
          <a:solidFill>
            <a:srgbClr val="F3F6F1"/>
          </a:solidFill>
          <a:ln w="12700">
            <a:solidFill>
              <a:srgbClr val="D5DDD5"/>
            </a:solidFill>
          </a:ln>
        </p:spPr>
        <p:txBody>
          <a:bodyPr wrap="square" lIns="127000" tIns="127000" rIns="127000" bIns="127000" rtlCol="0" anchor="ctr"/>
          <a:lstStyle/>
          <a:p>
            <a:pPr algn="l" indent="0" marL="0">
              <a:buNone/>
            </a:pPr>
            <a:r>
              <a:rPr lang="en-US" sz="1300" dirty="0">
                <a:solidFill>
                  <a:srgbClr val="15221C"/>
                </a:solidFill>
                <a:hlinkClick r:id="rId13" action="ppaction://hlinksldjump" tooltip="Worked example: a call centre in Belfast">
                  <a:extLst>
                    <a:ext uri="{A12FA001-AC4F-418D-AE19-62706E023703}">
                      <ahyp:hlinkClr xmlns:ahyp="http://schemas.microsoft.com/office/drawing/2018/hyperlinkcolor" val="tx"/>
                    </a:ext>
                  </a:extLst>
                </a:hlinkClick>
              </a:rPr>
              <a:t>Worked example: a call centre in Belfast</a:t>
            </a:r>
            <a:endParaRPr lang="en-US" sz="1300" dirty="0"/>
          </a:p>
        </p:txBody>
      </p:sp>
      <p:sp>
        <p:nvSpPr>
          <p:cNvPr id="19" name="btn">
            <a:hlinkClick r:id="rId14" action="ppaction://hlinksldjump"/>
          </p:cNvPr>
          <p:cNvSpPr/>
          <p:nvPr/>
        </p:nvSpPr>
        <p:spPr>
          <a:xfrm>
            <a:off x="4640580" y="3755571"/>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4" action="ppaction://hlinksldjump" tooltip="Exit quiz">
                  <a:extLst>
                    <a:ext uri="{A12FA001-AC4F-418D-AE19-62706E023703}">
                      <ahyp:hlinkClr xmlns:ahyp="http://schemas.microsoft.com/office/drawing/2018/hyperlinkcolor" val="tx"/>
                    </a:ext>
                  </a:extLst>
                </a:hlinkClick>
              </a:rPr>
              <a:t>Exit quiz</a:t>
            </a:r>
            <a:endParaRPr lang="en-US" sz="1500" dirty="0"/>
          </a:p>
        </p:txBody>
      </p:sp>
      <p:sp>
        <p:nvSpPr>
          <p:cNvPr id="20" name="btn">
            <a:hlinkClick r:id="rId15" action="ppaction://hlinksldjump"/>
          </p:cNvPr>
          <p:cNvSpPr/>
          <p:nvPr/>
        </p:nvSpPr>
        <p:spPr>
          <a:xfrm>
            <a:off x="4640580" y="4241510"/>
            <a:ext cx="4046220" cy="394498"/>
          </a:xfrm>
          <a:prstGeom prst="roundRect">
            <a:avLst>
              <a:gd name="adj" fmla="val 18543"/>
            </a:avLst>
          </a:prstGeom>
          <a:solidFill>
            <a:srgbClr val="11503E"/>
          </a:solidFill>
          <a:ln w="12700">
            <a:solidFill>
              <a:srgbClr val="11503E"/>
            </a:solidFill>
          </a:ln>
        </p:spPr>
        <p:txBody>
          <a:bodyPr wrap="square" lIns="127000" tIns="127000" rIns="127000" bIns="127000" rtlCol="0" anchor="ctr"/>
          <a:lstStyle/>
          <a:p>
            <a:pPr algn="l" indent="0" marL="0">
              <a:buNone/>
            </a:pPr>
            <a:r>
              <a:rPr lang="en-US" sz="1500" b="1" dirty="0">
                <a:solidFill>
                  <a:srgbClr val="FFFFFF"/>
                </a:solidFill>
                <a:hlinkClick r:id="rId15" action="ppaction://hlinksldjump" tooltip="↑  Topic menu">
                  <a:extLst>
                    <a:ext uri="{A12FA001-AC4F-418D-AE19-62706E023703}">
                      <ahyp:hlinkClr xmlns:ahyp="http://schemas.microsoft.com/office/drawing/2018/hyperlinkcolor" val="tx"/>
                    </a:ext>
                  </a:extLst>
                </a:hlinkClick>
              </a:rPr>
              <a:t>↑  Topic menu</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cond evt="onBegin" delay="0">
                          <p:tn val="2"/>
                        </p:cond>
                      </p:stCondLst>
                      <p:childTnLst>
                        <p:par>
                          <p:cTn id="6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The big picture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pic>
        <p:nvPicPr>
          <p:cNvPr id="5" name="anim:auto" descr="A correctly set-up computer workstation">    </p:cNvPr>
          <p:cNvPicPr>
            <a:picLocks noChangeAspect="1"/>
          </p:cNvPicPr>
          <p:nvPr/>
        </p:nvPicPr>
        <p:blipFill>
          <a:blip r:embed="rId2"/>
          <a:stretch>
            <a:fillRect/>
          </a:stretch>
        </p:blipFill>
        <p:spPr>
          <a:xfrm>
            <a:off x="1682496" y="1143000"/>
            <a:ext cx="5779008" cy="3250692"/>
          </a:xfrm>
          <a:prstGeom prst="rect">
            <a:avLst/>
          </a:prstGeom>
        </p:spPr>
      </p:pic>
      <p:sp>
        <p:nvSpPr>
          <p:cNvPr id="6" name="Text 2"/>
          <p:cNvSpPr txBox="1"/>
          <p:nvPr/>
        </p:nvSpPr>
        <p:spPr>
          <a:xfrm>
            <a:off x="457200" y="4434840"/>
            <a:ext cx="8229600" cy="320040"/>
          </a:xfrm>
          <a:prstGeom prst="rect">
            <a:avLst/>
          </a:prstGeom>
          <a:noFill/>
          <a:ln/>
        </p:spPr>
        <p:txBody>
          <a:bodyPr wrap="square" lIns="0" tIns="0" rIns="0" bIns="0" rtlCol="0" anchor="ctr"/>
          <a:lstStyle/>
          <a:p>
            <a:pPr algn="ctr" indent="0" marL="0">
              <a:buNone/>
            </a:pPr>
            <a:r>
              <a:rPr lang="en-US" sz="1200" i="1" dirty="0">
                <a:solidFill>
                  <a:srgbClr val="56675E"/>
                </a:solidFill>
              </a:rPr>
              <a:t>A correctly set-up computer workstation</a:t>
            </a:r>
            <a:endParaRPr lang="en-US" sz="1200" dirty="0"/>
          </a:p>
        </p:txBody>
      </p:sp>
      <p:sp>
        <p:nvSpPr>
          <p:cNvPr id="8" name="btn">
            <a:hlinkClick r:id="rId3"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3"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Internet misuse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21C"/>
                </a:solidFill>
              </a:rPr>
              <a:t>Stealing usernames and passwords, then using the accounts to buy things or steal money</a:t>
            </a:r>
            <a:endParaRPr lang="en-US" sz="1500" dirty="0"/>
          </a:p>
          <a:p>
            <a:pPr marL="203200" indent="-203200">
              <a:spcAft>
                <a:spcPts val="600"/>
              </a:spcAft>
              <a:buSzPct val="100000"/>
              <a:buChar char="•"/>
            </a:pPr>
            <a:r>
              <a:rPr lang="en-US" sz="1500" dirty="0">
                <a:solidFill>
                  <a:srgbClr val="15221C"/>
                </a:solidFill>
              </a:rPr>
              <a:t>Phishing: fake emails, texts or adverts that look official and trick people into giving personal details</a:t>
            </a:r>
            <a:endParaRPr lang="en-US" sz="1500" dirty="0"/>
          </a:p>
          <a:p>
            <a:pPr marL="203200" indent="-203200">
              <a:spcAft>
                <a:spcPts val="600"/>
              </a:spcAft>
              <a:buSzPct val="100000"/>
              <a:buChar char="•"/>
            </a:pPr>
            <a:r>
              <a:rPr lang="en-US" sz="1500" dirty="0">
                <a:solidFill>
                  <a:srgbClr val="15221C"/>
                </a:solidFill>
              </a:rPr>
              <a:t>Piracy (illegal downloads) and plagiarism – copying work and handing it in as your own</a:t>
            </a:r>
            <a:endParaRPr lang="en-US" sz="1500" dirty="0"/>
          </a:p>
          <a:p>
            <a:pPr marL="203200" indent="-203200">
              <a:spcAft>
                <a:spcPts val="600"/>
              </a:spcAft>
              <a:buSzPct val="100000"/>
              <a:buChar char="•"/>
            </a:pPr>
            <a:r>
              <a:rPr lang="en-US" sz="1500" dirty="0">
                <a:solidFill>
                  <a:srgbClr val="15221C"/>
                </a:solidFill>
              </a:rPr>
              <a:t>Websites that promote violence, hatred or harmful behaviour; illegal content on the dark web (hidden, encrypted sites)</a:t>
            </a:r>
            <a:endParaRPr lang="en-US" sz="1500" dirty="0"/>
          </a:p>
          <a:p>
            <a:pPr marL="203200" indent="-203200">
              <a:spcAft>
                <a:spcPts val="600"/>
              </a:spcAft>
              <a:buSzPct val="100000"/>
              <a:buChar char="•"/>
            </a:pPr>
            <a:r>
              <a:rPr lang="en-US" sz="1500" dirty="0">
                <a:solidFill>
                  <a:srgbClr val="15221C"/>
                </a:solidFill>
              </a:rPr>
              <a:t>Spreading fake news – false or misleading stories – which can mislead people quickly</a:t>
            </a:r>
            <a:endParaRPr lang="en-US" sz="1500" dirty="0"/>
          </a:p>
          <a:p>
            <a:pPr marL="203200" indent="-203200">
              <a:spcAft>
                <a:spcPts val="600"/>
              </a:spcAft>
              <a:buSzPct val="100000"/>
              <a:buChar char="•"/>
            </a:pPr>
            <a:r>
              <a:rPr lang="en-US" sz="1500" dirty="0">
                <a:solidFill>
                  <a:srgbClr val="15221C"/>
                </a:solidFill>
              </a:rPr>
              <a:t>Staff using work time for personal browsing, which is why employers have an acceptable use policy that staff must agree to</a:t>
            </a:r>
            <a:endParaRPr lang="en-US" sz="15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Access to personal information</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5221C"/>
                </a:solidFill>
              </a:rPr>
              <a:t>Much of our data is collected without us fully noticing it</a:t>
            </a:r>
            <a:endParaRPr lang="en-US" sz="1700" dirty="0"/>
          </a:p>
          <a:p>
            <a:pPr marL="203200" indent="-203200">
              <a:spcAft>
                <a:spcPts val="600"/>
              </a:spcAft>
              <a:buSzPct val="100000"/>
              <a:buChar char="•"/>
            </a:pPr>
            <a:r>
              <a:rPr lang="en-US" sz="1700" dirty="0">
                <a:solidFill>
                  <a:srgbClr val="15221C"/>
                </a:solidFill>
              </a:rPr>
              <a:t>Loyalty cards record what we buy so shops can target their advertising</a:t>
            </a:r>
            <a:endParaRPr lang="en-US" sz="1700" dirty="0"/>
          </a:p>
          <a:p>
            <a:pPr marL="203200" indent="-203200">
              <a:spcAft>
                <a:spcPts val="600"/>
              </a:spcAft>
              <a:buSzPct val="100000"/>
              <a:buChar char="•"/>
            </a:pPr>
            <a:r>
              <a:rPr lang="en-US" sz="1700" dirty="0">
                <a:solidFill>
                  <a:srgbClr val="15221C"/>
                </a:solidFill>
              </a:rPr>
              <a:t>Card payments and online shopping reveal spending patterns, which may be shared with or sold to other companies</a:t>
            </a:r>
            <a:endParaRPr lang="en-US" sz="1700" dirty="0"/>
          </a:p>
          <a:p>
            <a:pPr marL="203200" indent="-203200">
              <a:spcAft>
                <a:spcPts val="600"/>
              </a:spcAft>
              <a:buSzPct val="100000"/>
              <a:buChar char="•"/>
            </a:pPr>
            <a:r>
              <a:rPr lang="en-US" sz="1700" dirty="0">
                <a:solidFill>
                  <a:srgbClr val="15221C"/>
                </a:solidFill>
              </a:rPr>
              <a:t>Phones and apps can record our location; websites use cookies to track what we look at</a:t>
            </a:r>
            <a:endParaRPr lang="en-US" sz="1700" dirty="0"/>
          </a:p>
          <a:p>
            <a:pPr marL="203200" indent="-203200">
              <a:spcAft>
                <a:spcPts val="600"/>
              </a:spcAft>
              <a:buSzPct val="100000"/>
              <a:buChar char="•"/>
            </a:pPr>
            <a:r>
              <a:rPr lang="en-US" sz="1700" dirty="0">
                <a:solidFill>
                  <a:srgbClr val="15221C"/>
                </a:solidFill>
              </a:rPr>
              <a:t>CCTV cameras record people in town centres, shops and on buses</a:t>
            </a:r>
            <a:endParaRPr lang="en-US" sz="1700" dirty="0"/>
          </a:p>
          <a:p>
            <a:pPr marL="203200" indent="-203200">
              <a:spcAft>
                <a:spcPts val="600"/>
              </a:spcAft>
              <a:buSzPct val="100000"/>
              <a:buChar char="•"/>
            </a:pPr>
            <a:r>
              <a:rPr lang="en-US" sz="1700" dirty="0">
                <a:solidFill>
                  <a:srgbClr val="15221C"/>
                </a:solidFill>
              </a:rPr>
              <a:t>Ethical questions: did people really agree? Who is the data shared with? Is it fair to build a detailed profile of someone?</a:t>
            </a:r>
            <a:endParaRPr lang="en-US" sz="17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59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Social media misuse (1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23672"/>
                <a:gridCol w="6205928"/>
              </a:tblGrid>
              <a:tr h="0">
                <a:tc>
                  <a:txBody>
                    <a:bodyPr/>
                    <a:lstStyle/>
                    <a:p>
                      <a:pPr indent="0" marL="0">
                        <a:buNone/>
                      </a:pPr>
                      <a:r>
                        <a:rPr lang="en-US" sz="1300" b="1" dirty="0">
                          <a:solidFill>
                            <a:srgbClr val="FFFFFF"/>
                          </a:solidFill>
                        </a:rPr>
                        <a:t>Misuse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is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Cyberbullying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Repeatedly using technology to hurt, threaten or embarrass a particular person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Trolling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Deliberately posting offensive or provocative comments to upset people or start arguments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Hate speech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Posting racist, sectarian or religious hatred, even though platforms ban it in their terms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Identity theft / fake profiles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Creating an account pretending to be someone else, sometimes to commit a crime in their name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Oversharing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Leaving addresses, phone numbers, school or location public, so strangers can find you</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wipe(down)">
                                      <p:cBhvr>
                                        <p:cTn id="14" dur="6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1" grpId="0">
        <p:bldAsOne/>
      </p:bldGraphic>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Social media misuse (2 of 2)</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23672"/>
                <a:gridCol w="6205928"/>
              </a:tblGrid>
              <a:tr h="0">
                <a:tc>
                  <a:txBody>
                    <a:bodyPr/>
                    <a:lstStyle/>
                    <a:p>
                      <a:pPr indent="0" marL="0">
                        <a:buNone/>
                      </a:pPr>
                      <a:r>
                        <a:rPr lang="en-US" sz="1300" b="1" dirty="0">
                          <a:solidFill>
                            <a:srgbClr val="FFFFFF"/>
                          </a:solidFill>
                        </a:rPr>
                        <a:t>Misuse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is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Sharing without consent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Posting photos or videos of other people without their permission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wipe(down)">
                                      <p:cBhvr>
                                        <p:cTn id="14" dur="6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2" grpId="0">
        <p:bldAsOne/>
      </p:bldGraphic>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GPS and tracking</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114800"/>
                <a:gridCol w="4114800"/>
              </a:tblGrid>
              <a:tr h="0">
                <a:tc>
                  <a:txBody>
                    <a:bodyPr/>
                    <a:lstStyle/>
                    <a:p>
                      <a:pPr indent="0" marL="0">
                        <a:buNone/>
                      </a:pPr>
                      <a:r>
                        <a:rPr lang="en-US" sz="1300" b="1" dirty="0">
                          <a:solidFill>
                            <a:srgbClr val="FFFFFF"/>
                          </a:solidFill>
                        </a:rPr>
                        <a:t>Benefits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Concerns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Sat-nav and map apps help people find their way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Location can be tracked without a person knowing or agreeing – an invasion of privacy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Parents can locate a child; lost phones can be found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Stalking or controlling behaviour by sharing someone's live location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Electronic tags monitor offenders; trackers help find people with dementia who wander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Employers may monitor staff all day, including outside work hours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Bus, taxi and delivery tracking tells customers when to expect them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Apps may sell location data to advertisers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Emergency services can find a caller quickly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Geotagged photos and posts can reveal where you live or go to school</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animEffect transition="in" filter="wipe(down)">
                                      <p:cBhvr>
                                        <p:cTn id="14" dur="6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3" grpId="0">
        <p:bldAsOne/>
      </p:bldGraphic>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Security of personal data</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5221C"/>
                </a:solidFill>
              </a:rPr>
              <a:t>Data breaches can expose millions of records, leading to identity theft and fraud</a:t>
            </a:r>
            <a:endParaRPr lang="en-US" sz="1800" dirty="0"/>
          </a:p>
          <a:p>
            <a:pPr marL="203200" indent="-203200">
              <a:spcAft>
                <a:spcPts val="600"/>
              </a:spcAft>
              <a:buSzPct val="100000"/>
              <a:buChar char="•"/>
            </a:pPr>
            <a:r>
              <a:rPr lang="en-US" sz="1800" dirty="0">
                <a:solidFill>
                  <a:srgbClr val="15221C"/>
                </a:solidFill>
              </a:rPr>
              <a:t>Cloud services may store our data on servers in other countries, where privacy laws can be weaker than in the UK</a:t>
            </a:r>
            <a:endParaRPr lang="en-US" sz="1800" dirty="0"/>
          </a:p>
          <a:p>
            <a:pPr marL="203200" indent="-203200">
              <a:spcAft>
                <a:spcPts val="600"/>
              </a:spcAft>
              <a:buSzPct val="100000"/>
              <a:buChar char="•"/>
            </a:pPr>
            <a:r>
              <a:rPr lang="en-US" sz="1800" dirty="0">
                <a:solidFill>
                  <a:srgbClr val="15221C"/>
                </a:solidFill>
              </a:rPr>
              <a:t>Companies may share data with partners without clear permission, and it can then be misused</a:t>
            </a:r>
            <a:endParaRPr lang="en-US" sz="1800" dirty="0"/>
          </a:p>
          <a:p>
            <a:pPr marL="203200" indent="-203200">
              <a:spcAft>
                <a:spcPts val="600"/>
              </a:spcAft>
              <a:buSzPct val="100000"/>
              <a:buChar char="•"/>
            </a:pPr>
            <a:r>
              <a:rPr lang="en-US" sz="1800" dirty="0">
                <a:solidFill>
                  <a:srgbClr val="15221C"/>
                </a:solidFill>
              </a:rPr>
              <a:t>Organisations have a duty to keep data secure – but people also need to protect themselves</a:t>
            </a:r>
            <a:endParaRPr lang="en-US" sz="1800" dirty="0"/>
          </a:p>
          <a:p>
            <a:pPr marL="203200" indent="-203200">
              <a:spcAft>
                <a:spcPts val="600"/>
              </a:spcAft>
              <a:buSzPct val="100000"/>
              <a:buChar char="•"/>
            </a:pPr>
            <a:r>
              <a:rPr lang="en-US" sz="1800" dirty="0">
                <a:solidFill>
                  <a:srgbClr val="15221C"/>
                </a:solidFill>
              </a:rPr>
              <a:t>Good habits: strong unique passwords, two-factor authentication, privacy settings, thinking before you post</a:t>
            </a:r>
            <a:endParaRPr lang="en-US" sz="18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45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childTnLst>
                          </p:cTn>
                        </p:par>
                      </p:childTnLst>
                    </p:cTn>
                  </p:par>
                  <p:par>
                    <p:cTn id="38" fill="hold">
                      <p:stCondLst>
                        <p:cond delay="indefinite"/>
                      </p:stCondLst>
                      <p:childTnLst>
                        <p:par>
                          <p:cTn id="39"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Impact on employment</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63154"/>
                <a:gridCol w="2244436"/>
                <a:gridCol w="4922010"/>
              </a:tblGrid>
              <a:tr h="0">
                <a:tc>
                  <a:txBody>
                    <a:bodyPr/>
                    <a:lstStyle/>
                    <a:p>
                      <a:pPr indent="0" marL="0">
                        <a:buNone/>
                      </a:pPr>
                      <a:r>
                        <a:rPr lang="en-US" sz="1300" b="1" dirty="0">
                          <a:solidFill>
                            <a:srgbClr val="FFFFFF"/>
                          </a:solidFill>
                        </a:rPr>
                        <a:t>Impact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means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Examples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Increased job opportunities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New jobs in the digital and computing sector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Software engineers, app and web designers, game developers, cyber security analysts, database administrators, data scientists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Job displacement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Jobs lost or changed because technology now does the work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Self-service tills; robots painting cars; automated warehouses; online banking replacing branch staff; chatbots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Changes in work patterns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How, when and where people work has changed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Teleworking and hybrid working; video calls; shift work in 24-hour call centres; staff in other countries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Need for upskilling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Workers must keep learning new digital skills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Office staff trained on new software; factory workers trained to maintain robots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down)">
                                      <p:cBhvr>
                                        <p:cTn id="14" dur="6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5" grpId="0">
        <p:bldAsOne/>
      </p:bldGraphic>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Teleworking: working from home using ICT</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789168"/>
                <a:gridCol w="4440432"/>
              </a:tblGrid>
              <a:tr h="0">
                <a:tc>
                  <a:txBody>
                    <a:bodyPr/>
                    <a:lstStyle/>
                    <a:p>
                      <a:pPr indent="0" marL="0">
                        <a:buNone/>
                      </a:pPr>
                      <a:r>
                        <a:rPr lang="en-US" sz="1300" b="1" dirty="0">
                          <a:solidFill>
                            <a:srgbClr val="FFFFFF"/>
                          </a:solidFill>
                        </a:rPr>
                        <a:t>Advantages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Disadvantages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No commute, saving time and travel costs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Can feel isolated from colleagues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Flexible hours to fit around family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Harder to switch off – home and work life blur together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Less traffic and pollution, lowering the carbon footprint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Distractions at home; needs self-discipline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Employer saves on office space and can recruit from further away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Employer has less direct supervision; needs secure remote access (e.g. VPN)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Made possible by broadband, laptops, cloud apps and video calls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Poor broadband in some rural areas of NI makes it difficult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6"/>
                                        </p:tgtEl>
                                        <p:attrNameLst>
                                          <p:attrName>style.visibility</p:attrName>
                                        </p:attrNameLst>
                                      </p:cBhvr>
                                      <p:to>
                                        <p:strVal val="visible"/>
                                      </p:to>
                                    </p:set>
                                    <p:animEffect transition="in" filter="wipe(down)">
                                      <p:cBhvr>
                                        <p:cTn id="14" dur="6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6" grpId="0">
        <p:bldAsOne/>
      </p:bldGraphic>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Health problems from computer use</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999547"/>
                <a:gridCol w="3431777"/>
                <a:gridCol w="3798277"/>
              </a:tblGrid>
              <a:tr h="0">
                <a:tc>
                  <a:txBody>
                    <a:bodyPr/>
                    <a:lstStyle/>
                    <a:p>
                      <a:pPr indent="0" marL="0">
                        <a:buNone/>
                      </a:pPr>
                      <a:r>
                        <a:rPr lang="en-US" sz="1300" b="1" dirty="0">
                          <a:solidFill>
                            <a:srgbClr val="FFFFFF"/>
                          </a:solidFill>
                        </a:rPr>
                        <a:t>Problem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Cause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Symptoms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RSI (repetitive strain injury)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Repeating the same movements, e.g. typing or using a mouse for long periods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Pain, aching, swelling and stiffness in wrists, hands, arms, neck or shoulders; can lead to carpal tunnel syndrome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Back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Poor posture, an unsuitable chair, sitting still for a long time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Back and neck pain; can lead to long-term mobility problems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Eye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Looking at a screen for long periods, glare, reflections, poor lighting, screen too bright or too close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Headaches, blurred vision, tired or dry eyes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7"/>
                                        </p:tgtEl>
                                        <p:attrNameLst>
                                          <p:attrName>style.visibility</p:attrName>
                                        </p:attrNameLst>
                                      </p:cBhvr>
                                      <p:to>
                                        <p:strVal val="visible"/>
                                      </p:to>
                                    </p:set>
                                    <p:animEffect transition="in" filter="wipe(down)">
                                      <p:cBhvr>
                                        <p:cTn id="14" dur="6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7" grpId="0">
        <p:bldAsOne/>
      </p:bldGraphic>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Prevention: employee and employer</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74073"/>
                <a:gridCol w="3638707"/>
                <a:gridCol w="4216820"/>
              </a:tblGrid>
              <a:tr h="0">
                <a:tc>
                  <a:txBody>
                    <a:bodyPr/>
                    <a:lstStyle/>
                    <a:p>
                      <a:pPr indent="0" marL="0">
                        <a:buNone/>
                      </a:pPr>
                      <a:r>
                        <a:rPr lang="en-US" sz="1300" b="1" dirty="0">
                          <a:solidFill>
                            <a:srgbClr val="FFFFFF"/>
                          </a:solidFill>
                        </a:rPr>
                        <a:t>Problem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Employee should…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Employer should…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RSI</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Take regular breaks; use a wrist rest; keep wrists straight; learn keyboard shortcuts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Provide ergonomic keyboards and mice and wrist rests; plan work so it includes breaks or changes of task</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Back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Sit back in the chair with feet flat (or on a footrest); adjust the chair; get up and move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Provide adjustable swivel chairs with back support and footrests; train staff in good posture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Eye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Take screen breaks (e.g. every 20 minutes look 20 feet away for 20 seconds); adjust brightness; avoid glare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Provide anti-glare screens, blinds and good lighting; tilting or swivel monitors; pay for eye tests for regular screen users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68"/>
                                        </p:tgtEl>
                                        <p:attrNameLst>
                                          <p:attrName>style.visibility</p:attrName>
                                        </p:attrNameLst>
                                      </p:cBhvr>
                                      <p:to>
                                        <p:strVal val="visible"/>
                                      </p:to>
                                    </p:set>
                                    <p:animEffect transition="in" filter="wipe(down)">
                                      <p:cBhvr>
                                        <p:cTn id="14" dur="6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68" grpId="0">
        <p:bldAsOne/>
      </p:bldGraphic>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The law and a safe workstation</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content card"/>
          <p:cNvSpPr/>
          <p:nvPr/>
        </p:nvSpPr>
        <p:spPr>
          <a:xfrm>
            <a:off x="457200" y="1188720"/>
            <a:ext cx="8229600" cy="3429000"/>
          </a:xfrm>
          <a:prstGeom prst="roundRect">
            <a:avLst>
              <a:gd name="adj" fmla="val 2667"/>
            </a:avLst>
          </a:prstGeom>
          <a:solidFill>
            <a:srgbClr val="F3F6F1"/>
          </a:solidFill>
          <a:ln w="12700">
            <a:solidFill>
              <a:srgbClr val="E4ECE6"/>
            </a:solidFill>
            <a:prstDash val="solid"/>
          </a:ln>
        </p:spPr>
      </p:sp>
      <p:sp>
        <p:nvSpPr>
          <p:cNvPr id="6" name="anim:para"/>
          <p:cNvSpPr txBox="1"/>
          <p:nvPr/>
        </p:nvSpPr>
        <p:spPr>
          <a:xfrm>
            <a:off x="731520" y="1353312"/>
            <a:ext cx="7680960" cy="31089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5221C"/>
                </a:solidFill>
              </a:rPr>
              <a:t>Health and Safety at Work (Northern Ireland) Order 1978: employers must provide a safe workplace and a health and safety policy that staff know about (the NI equivalent of the GB 1974 Act)</a:t>
            </a:r>
            <a:endParaRPr lang="en-US" sz="1400" dirty="0"/>
          </a:p>
          <a:p>
            <a:pPr marL="203200" indent="-203200">
              <a:spcAft>
                <a:spcPts val="600"/>
              </a:spcAft>
              <a:buSzPct val="100000"/>
              <a:buChar char="•"/>
            </a:pPr>
            <a:r>
              <a:rPr lang="en-US" sz="1400" dirty="0">
                <a:solidFill>
                  <a:srgbClr val="15221C"/>
                </a:solidFill>
              </a:rPr>
              <a:t>Health and Safety (Display Screen Equipment) Regulations (Northern Ireland) 1992: employers must assess workstations, reduce risks and plan breaks for regular screen users</a:t>
            </a:r>
            <a:endParaRPr lang="en-US" sz="1400" dirty="0"/>
          </a:p>
          <a:p>
            <a:pPr marL="203200" indent="-203200">
              <a:spcAft>
                <a:spcPts val="600"/>
              </a:spcAft>
              <a:buSzPct val="100000"/>
              <a:buChar char="•"/>
            </a:pPr>
            <a:r>
              <a:rPr lang="en-US" sz="1400" dirty="0">
                <a:solidFill>
                  <a:srgbClr val="15221C"/>
                </a:solidFill>
              </a:rPr>
              <a:t>They must provide free eye tests on request for regular screen users, and glasses if needed specially for screen work</a:t>
            </a:r>
            <a:endParaRPr lang="en-US" sz="1400" dirty="0"/>
          </a:p>
          <a:p>
            <a:pPr marL="203200" indent="-203200">
              <a:spcAft>
                <a:spcPts val="600"/>
              </a:spcAft>
              <a:buSzPct val="100000"/>
              <a:buChar char="•"/>
            </a:pPr>
            <a:r>
              <a:rPr lang="en-US" sz="1400" dirty="0">
                <a:solidFill>
                  <a:srgbClr val="15221C"/>
                </a:solidFill>
              </a:rPr>
              <a:t>Ideal set-up: top of monitor at or just below eye level, about an arm's length away; elbows about 90°; wrists straight; feet flat</a:t>
            </a:r>
            <a:endParaRPr lang="en-US" sz="1400" dirty="0"/>
          </a:p>
          <a:p>
            <a:pPr marL="203200" indent="-203200">
              <a:spcAft>
                <a:spcPts val="600"/>
              </a:spcAft>
              <a:buSzPct val="100000"/>
              <a:buChar char="•"/>
            </a:pPr>
            <a:r>
              <a:rPr lang="en-US" sz="1400" dirty="0">
                <a:solidFill>
                  <a:srgbClr val="15221C"/>
                </a:solidFill>
              </a:rPr>
              <a:t>Other safety: tidy cables to avoid trips, PAT testing of electrical equipment, no food or drink near computers, air conditioning</a:t>
            </a:r>
            <a:endParaRPr lang="en-US" sz="1400" dirty="0"/>
          </a:p>
          <a:p>
            <a:pPr marL="203200" indent="-203200">
              <a:spcAft>
                <a:spcPts val="600"/>
              </a:spcAft>
              <a:buSzPct val="100000"/>
              <a:buChar char="•"/>
            </a:pPr>
            <a:r>
              <a:rPr lang="en-US" sz="1400" dirty="0">
                <a:solidFill>
                  <a:srgbClr val="15221C"/>
                </a:solidFill>
              </a:rPr>
              <a:t>Keep the right fire extinguisher nearby – CO₂ for electrical fires, never water</a:t>
            </a:r>
            <a:endParaRPr lang="en-US" sz="14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400"/>
                                        <p:tgtEl>
                                          <p:spTgt spid="6">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4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build="p"/>
      <p:bldP spid="7"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2600" b="1" dirty="0">
                <a:solidFill>
                  <a:srgbClr val="11503E"/>
                </a:solidFill>
              </a:rPr>
              <a:t>Worked example: a call centre in Belfast</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32185"/>
                <a:gridCol w="681742"/>
                <a:gridCol w="2483489"/>
                <a:gridCol w="2532185"/>
              </a:tblGrid>
              <a:tr h="0">
                <a:tc>
                  <a:txBody>
                    <a:bodyPr/>
                    <a:lstStyle/>
                    <a:p>
                      <a:pPr indent="0" marL="0">
                        <a:buNone/>
                      </a:pPr>
                      <a:r>
                        <a:rPr lang="en-US" sz="1300" b="1" dirty="0">
                          <a:solidFill>
                            <a:srgbClr val="FFFFFF"/>
                          </a:solidFill>
                        </a:rPr>
                        <a:t>What staff report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Likely problem</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One employee measure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One employer measure</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Aching wrists after typing all shift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RSI</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Take short breaks and keep wrists straight</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Supply ergonomic keyboards and wrist rests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Headaches by late afternoon; sun reflects on screens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Eye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Adjust screen brightness and look away regularly</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Fit blinds and anti-glare screens; offer eye tests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Sore lower back from old fixed chairs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Back strain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Sit upright, use the backrest, stand up and stretch</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Buy adjustable chairs with lumbar support; footrests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Cables trailing across the floor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Trip hazard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Report it and do not overload sockets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Use cable trays and carry out PAT testing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69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wipe(down)">
                                      <p:cBhvr>
                                        <p:cTn id="14" dur="6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70" grpId="0">
        <p:bldAsOne/>
      </p:bldGraphic>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1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health problem is most likely to be caused by typing for long periods every day?</a:t>
            </a:r>
            <a:endParaRPr lang="en-US" sz="1700" dirty="0"/>
          </a:p>
        </p:txBody>
      </p:sp>
      <p:sp>
        <p:nvSpPr>
          <p:cNvPr id="7" name="trig:k65"/>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Eye strain</a:t>
            </a:r>
            <a:endParaRPr lang="en-US" sz="1600" dirty="0"/>
          </a:p>
        </p:txBody>
      </p:sp>
      <p:sp>
        <p:nvSpPr>
          <p:cNvPr id="8" name="on:k65"/>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66"/>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Hearing loss</a:t>
            </a:r>
            <a:endParaRPr lang="en-US" sz="1600" dirty="0"/>
          </a:p>
        </p:txBody>
      </p:sp>
      <p:sp>
        <p:nvSpPr>
          <p:cNvPr id="10" name="on:k66"/>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67"/>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Back strain</a:t>
            </a:r>
            <a:endParaRPr lang="en-US" sz="1600" dirty="0"/>
          </a:p>
        </p:txBody>
      </p:sp>
      <p:sp>
        <p:nvSpPr>
          <p:cNvPr id="12" name="on:k67"/>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68"/>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RSI</a:t>
            </a:r>
            <a:endParaRPr lang="en-US" sz="1600" dirty="0"/>
          </a:p>
        </p:txBody>
      </p:sp>
      <p:sp>
        <p:nvSpPr>
          <p:cNvPr id="14" name="on:k68"/>
          <p:cNvSpPr/>
          <p:nvPr/>
        </p:nvSpPr>
        <p:spPr>
          <a:xfrm>
            <a:off x="822960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68"/>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D: RSI  –  Repetitive strain injury comes from repeating the same movements, such as typing or clicking.</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6" restart="whenNotActive" fill="hold" evtFilter="cancelBubble" nodeType="interactiveSeq">
                <p:stCondLst>
                  <p:cond evt="onClick" delay="0">
                    <p:tgtEl>
                      <p:spTgt spid="11"/>
                    </p:tgtEl>
                  </p:cond>
                </p:stCondLst>
                <p:endSync evt="end" delay="0">
                  <p:rtn val="all"/>
                </p:endSync>
                <p:childTnLst>
                  <p:par>
                    <p:cTn id="5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3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2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A supermarket installs self-service tills and needs fewer checkout staff. This is an example of…</a:t>
            </a:r>
            <a:endParaRPr lang="en-US" sz="1700" dirty="0"/>
          </a:p>
        </p:txBody>
      </p:sp>
      <p:sp>
        <p:nvSpPr>
          <p:cNvPr id="7" name="trig:k69"/>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upskilling</a:t>
            </a:r>
            <a:endParaRPr lang="en-US" sz="1600" dirty="0"/>
          </a:p>
        </p:txBody>
      </p:sp>
      <p:sp>
        <p:nvSpPr>
          <p:cNvPr id="8" name="on:k69"/>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70"/>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job displacement</a:t>
            </a:r>
            <a:endParaRPr lang="en-US" sz="1600" dirty="0"/>
          </a:p>
        </p:txBody>
      </p:sp>
      <p:sp>
        <p:nvSpPr>
          <p:cNvPr id="10" name="on:k70"/>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71"/>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teleworking</a:t>
            </a:r>
            <a:endParaRPr lang="en-US" sz="1600" dirty="0"/>
          </a:p>
        </p:txBody>
      </p:sp>
      <p:sp>
        <p:nvSpPr>
          <p:cNvPr id="12" name="on:k71"/>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72"/>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phishing</a:t>
            </a:r>
            <a:endParaRPr lang="en-US" sz="1600" dirty="0"/>
          </a:p>
        </p:txBody>
      </p:sp>
      <p:sp>
        <p:nvSpPr>
          <p:cNvPr id="14" name="on:k72"/>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70"/>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B: job displacement  –  Job displacement is when technology takes over work previously done by people.</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3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is an employer measure to reduce back strain?</a:t>
            </a:r>
            <a:endParaRPr lang="en-US" sz="1700" dirty="0"/>
          </a:p>
        </p:txBody>
      </p:sp>
      <p:sp>
        <p:nvSpPr>
          <p:cNvPr id="7" name="trig:k73"/>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Provide adjustable chairs with back support</a:t>
            </a:r>
            <a:endParaRPr lang="en-US" sz="1400" dirty="0"/>
          </a:p>
        </p:txBody>
      </p:sp>
      <p:sp>
        <p:nvSpPr>
          <p:cNvPr id="8" name="on:k73"/>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74"/>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Take regular breaks</a:t>
            </a:r>
            <a:endParaRPr lang="en-US" sz="1400" dirty="0"/>
          </a:p>
        </p:txBody>
      </p:sp>
      <p:sp>
        <p:nvSpPr>
          <p:cNvPr id="10" name="on:k74"/>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75"/>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Blink more often</a:t>
            </a:r>
            <a:endParaRPr lang="en-US" sz="1400" dirty="0"/>
          </a:p>
        </p:txBody>
      </p:sp>
      <p:sp>
        <p:nvSpPr>
          <p:cNvPr id="12" name="on:k75"/>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76"/>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Keep wrists straight</a:t>
            </a:r>
            <a:endParaRPr lang="en-US" sz="1400" dirty="0"/>
          </a:p>
        </p:txBody>
      </p:sp>
      <p:sp>
        <p:nvSpPr>
          <p:cNvPr id="14" name="on:k76"/>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73"/>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A: Provide adjustable chairs with back support  –  Employers supply ergonomic furniture; taking breaks and posture are things the employee does.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4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Office staff attending a course to learn a new database package is an example of…</a:t>
            </a:r>
            <a:endParaRPr lang="en-US" sz="1700" dirty="0"/>
          </a:p>
        </p:txBody>
      </p:sp>
      <p:sp>
        <p:nvSpPr>
          <p:cNvPr id="7" name="trig:k77"/>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job displacement</a:t>
            </a:r>
            <a:endParaRPr lang="en-US" sz="1600" dirty="0"/>
          </a:p>
        </p:txBody>
      </p:sp>
      <p:sp>
        <p:nvSpPr>
          <p:cNvPr id="8" name="on:k77"/>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78"/>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teleworking</a:t>
            </a:r>
            <a:endParaRPr lang="en-US" sz="1600" dirty="0"/>
          </a:p>
        </p:txBody>
      </p:sp>
      <p:sp>
        <p:nvSpPr>
          <p:cNvPr id="10" name="on:k78"/>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79"/>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upskilling</a:t>
            </a:r>
            <a:endParaRPr lang="en-US" sz="1600" dirty="0"/>
          </a:p>
        </p:txBody>
      </p:sp>
      <p:sp>
        <p:nvSpPr>
          <p:cNvPr id="12" name="on:k79"/>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80"/>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data minimisation</a:t>
            </a:r>
            <a:endParaRPr lang="en-US" sz="1600" dirty="0"/>
          </a:p>
        </p:txBody>
      </p:sp>
      <p:sp>
        <p:nvSpPr>
          <p:cNvPr id="14" name="on:k80"/>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79"/>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C: upskilling  –  Upskilling means training workers in new skills so they can keep up with technology.</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5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of these is an ethical concern about GPS tracking?</a:t>
            </a:r>
            <a:endParaRPr lang="en-US" sz="1700" dirty="0"/>
          </a:p>
        </p:txBody>
      </p:sp>
      <p:sp>
        <p:nvSpPr>
          <p:cNvPr id="7" name="trig:k81"/>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Finding a lost phone</a:t>
            </a:r>
            <a:endParaRPr lang="en-US" sz="1600" dirty="0"/>
          </a:p>
        </p:txBody>
      </p:sp>
      <p:sp>
        <p:nvSpPr>
          <p:cNvPr id="8" name="on:k81"/>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82"/>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Getting delivery updates</a:t>
            </a:r>
            <a:endParaRPr lang="en-US" sz="1600" dirty="0"/>
          </a:p>
        </p:txBody>
      </p:sp>
      <p:sp>
        <p:nvSpPr>
          <p:cNvPr id="10" name="on:k82"/>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83"/>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Better navigation</a:t>
            </a:r>
            <a:endParaRPr lang="en-US" sz="1600" dirty="0"/>
          </a:p>
        </p:txBody>
      </p:sp>
      <p:sp>
        <p:nvSpPr>
          <p:cNvPr id="12" name="on:k83"/>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84"/>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Location being tracked without consent</a:t>
            </a:r>
            <a:endParaRPr lang="en-US" sz="1600" dirty="0"/>
          </a:p>
        </p:txBody>
      </p:sp>
      <p:sp>
        <p:nvSpPr>
          <p:cNvPr id="14" name="on:k84"/>
          <p:cNvSpPr/>
          <p:nvPr/>
        </p:nvSpPr>
        <p:spPr>
          <a:xfrm>
            <a:off x="822960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84"/>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D: Location being tracked without consent  –  Tracking without consent invades privacy and could allow stalking; the others are benefits.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6" restart="whenNotActive" fill="hold" evtFilter="cancelBubble" nodeType="interactiveSeq">
                <p:stCondLst>
                  <p:cond evt="onClick" delay="0">
                    <p:tgtEl>
                      <p:spTgt spid="11"/>
                    </p:tgtEl>
                  </p:cond>
                </p:stCondLst>
                <p:endSync evt="end" delay="0">
                  <p:rtn val="all"/>
                </p:endSync>
                <p:childTnLst>
                  <p:par>
                    <p:cTn id="5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3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00"/>
                                  <p:tgtEl>
                                    <p:spTgt spid="15"/>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6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An email that looks as if it is from your bank asks you to 'confirm' your password. This is…</a:t>
            </a:r>
            <a:endParaRPr lang="en-US" sz="1700" dirty="0"/>
          </a:p>
        </p:txBody>
      </p:sp>
      <p:sp>
        <p:nvSpPr>
          <p:cNvPr id="7" name="trig:k85"/>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A   </a:t>
            </a:r>
            <a:pPr algn="l" indent="0" marL="0">
              <a:buNone/>
            </a:pPr>
            <a:r>
              <a:rPr lang="en-US" sz="1600" dirty="0">
                <a:solidFill>
                  <a:srgbClr val="15221C"/>
                </a:solidFill>
              </a:rPr>
              <a:t>phishing</a:t>
            </a:r>
            <a:endParaRPr lang="en-US" sz="1600" dirty="0"/>
          </a:p>
        </p:txBody>
      </p:sp>
      <p:sp>
        <p:nvSpPr>
          <p:cNvPr id="8" name="on:k85"/>
          <p:cNvSpPr/>
          <p:nvPr/>
        </p:nvSpPr>
        <p:spPr>
          <a:xfrm>
            <a:off x="404622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86"/>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B   </a:t>
            </a:r>
            <a:pPr algn="l" indent="0" marL="0">
              <a:buNone/>
            </a:pPr>
            <a:r>
              <a:rPr lang="en-US" sz="1600" dirty="0">
                <a:solidFill>
                  <a:srgbClr val="15221C"/>
                </a:solidFill>
              </a:rPr>
              <a:t>trolling</a:t>
            </a:r>
            <a:endParaRPr lang="en-US" sz="1600" dirty="0"/>
          </a:p>
        </p:txBody>
      </p:sp>
      <p:sp>
        <p:nvSpPr>
          <p:cNvPr id="10" name="on:k86"/>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87"/>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C   </a:t>
            </a:r>
            <a:pPr algn="l" indent="0" marL="0">
              <a:buNone/>
            </a:pPr>
            <a:r>
              <a:rPr lang="en-US" sz="1600" dirty="0">
                <a:solidFill>
                  <a:srgbClr val="15221C"/>
                </a:solidFill>
              </a:rPr>
              <a:t>teleworking</a:t>
            </a:r>
            <a:endParaRPr lang="en-US" sz="1600" dirty="0"/>
          </a:p>
        </p:txBody>
      </p:sp>
      <p:sp>
        <p:nvSpPr>
          <p:cNvPr id="12" name="on:k87"/>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88"/>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600" b="1" dirty="0">
                <a:solidFill>
                  <a:srgbClr val="A95A24"/>
                </a:solidFill>
              </a:rPr>
              <a:t>D   </a:t>
            </a:r>
            <a:pPr algn="l" indent="0" marL="0">
              <a:buNone/>
            </a:pPr>
            <a:r>
              <a:rPr lang="en-US" sz="1600" dirty="0">
                <a:solidFill>
                  <a:srgbClr val="15221C"/>
                </a:solidFill>
              </a:rPr>
              <a:t>piracy</a:t>
            </a:r>
            <a:endParaRPr lang="en-US" sz="1600" dirty="0"/>
          </a:p>
        </p:txBody>
      </p:sp>
      <p:sp>
        <p:nvSpPr>
          <p:cNvPr id="14" name="on:k88"/>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85"/>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400" b="1" dirty="0">
                <a:solidFill>
                  <a:srgbClr val="2C7A4B"/>
                </a:solidFill>
              </a:rPr>
              <a:t>✓  A: phishing  –  Phishing uses official-looking messages to trick people into revealing personal details.</a:t>
            </a:r>
            <a:endParaRPr lang="en-US" sz="14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9" restart="whenNotActive" fill="hold" evtFilter="cancelBubble" nodeType="interactiveSeq">
                <p:stCondLst>
                  <p:cond evt="onClick" delay="0">
                    <p:tgtEl>
                      <p:spTgt spid="7"/>
                    </p:tgtEl>
                  </p:cond>
                </p:stCondLst>
                <p:endSync evt="end" delay="0">
                  <p:rtn val="all"/>
                </p:endSync>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00"/>
                                  <p:tgtEl>
                                    <p:spTgt spid="15"/>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7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law requires employers to assess computer workstations and offer eye tests to regular screen users?</a:t>
            </a:r>
            <a:endParaRPr lang="en-US" sz="1700" dirty="0"/>
          </a:p>
        </p:txBody>
      </p:sp>
      <p:sp>
        <p:nvSpPr>
          <p:cNvPr id="7" name="trig:k89"/>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A   </a:t>
            </a:r>
            <a:pPr algn="l" indent="0" marL="0">
              <a:buNone/>
            </a:pPr>
            <a:r>
              <a:rPr lang="en-US" sz="1250" dirty="0">
                <a:solidFill>
                  <a:srgbClr val="15221C"/>
                </a:solidFill>
              </a:rPr>
              <a:t>Computer Misuse Act 1990</a:t>
            </a:r>
            <a:endParaRPr lang="en-US" sz="1250" dirty="0"/>
          </a:p>
        </p:txBody>
      </p:sp>
      <p:sp>
        <p:nvSpPr>
          <p:cNvPr id="8" name="on:k89"/>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90"/>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B   </a:t>
            </a:r>
            <a:pPr algn="l" indent="0" marL="0">
              <a:buNone/>
            </a:pPr>
            <a:r>
              <a:rPr lang="en-US" sz="1250" dirty="0">
                <a:solidFill>
                  <a:srgbClr val="15221C"/>
                </a:solidFill>
              </a:rPr>
              <a:t>Health and Safety (Display Screen Equipment) Regulations (NI) 1992</a:t>
            </a:r>
            <a:endParaRPr lang="en-US" sz="1250" dirty="0"/>
          </a:p>
        </p:txBody>
      </p:sp>
      <p:sp>
        <p:nvSpPr>
          <p:cNvPr id="10" name="on:k90"/>
          <p:cNvSpPr/>
          <p:nvPr/>
        </p:nvSpPr>
        <p:spPr>
          <a:xfrm>
            <a:off x="8229600" y="2441448"/>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91"/>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C   </a:t>
            </a:r>
            <a:pPr algn="l" indent="0" marL="0">
              <a:buNone/>
            </a:pPr>
            <a:r>
              <a:rPr lang="en-US" sz="1250" dirty="0">
                <a:solidFill>
                  <a:srgbClr val="15221C"/>
                </a:solidFill>
              </a:rPr>
              <a:t>Consumer Contracts Regulations 2013</a:t>
            </a:r>
            <a:endParaRPr lang="en-US" sz="1250" dirty="0"/>
          </a:p>
        </p:txBody>
      </p:sp>
      <p:sp>
        <p:nvSpPr>
          <p:cNvPr id="12" name="on:k91"/>
          <p:cNvSpPr/>
          <p:nvPr/>
        </p:nvSpPr>
        <p:spPr>
          <a:xfrm>
            <a:off x="404622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92"/>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250" b="1" dirty="0">
                <a:solidFill>
                  <a:srgbClr val="A95A24"/>
                </a:solidFill>
              </a:rPr>
              <a:t>D   </a:t>
            </a:r>
            <a:pPr algn="l" indent="0" marL="0">
              <a:buNone/>
            </a:pPr>
            <a:r>
              <a:rPr lang="en-US" sz="1250" dirty="0">
                <a:solidFill>
                  <a:srgbClr val="15221C"/>
                </a:solidFill>
              </a:rPr>
              <a:t>Copyright, Designs and Patents Act 1988</a:t>
            </a:r>
            <a:endParaRPr lang="en-US" sz="1250" dirty="0"/>
          </a:p>
        </p:txBody>
      </p:sp>
      <p:sp>
        <p:nvSpPr>
          <p:cNvPr id="14" name="on:k92"/>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90"/>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B: Health and Safety (Display Screen Equipment) Regulations (NI) 1992  –  In Northern Ireland, the Health and Safety (Display Screen Equipment) Regulations (NI) 1992 cover people who use screens regularly at work (Great Britain has matching 1992 Regulations).</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4" restart="whenNotActive" fill="hold" evtFilter="cancelBubble" nodeType="interactiveSeq">
                <p:stCondLst>
                  <p:cond evt="onClick" delay="0">
                    <p:tgtEl>
                      <p:spTgt spid="9"/>
                    </p:tgtEl>
                  </p:cond>
                </p:stCondLst>
                <p:endSync evt="end" delay="0">
                  <p:rtn val="all"/>
                </p:endSync>
                <p:childTnLst>
                  <p:par>
                    <p:cTn id="55"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00"/>
                                  <p:tgtEl>
                                    <p:spTgt spid="12"/>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question 8 of 8</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sp>
        <p:nvSpPr>
          <p:cNvPr id="5" name="Text 2"/>
          <p:cNvSpPr txBox="1"/>
          <p:nvPr/>
        </p:nvSpPr>
        <p:spPr>
          <a:xfrm>
            <a:off x="457200" y="987552"/>
            <a:ext cx="8229600" cy="256032"/>
          </a:xfrm>
          <a:prstGeom prst="rect">
            <a:avLst/>
          </a:prstGeom>
          <a:noFill/>
          <a:ln/>
        </p:spPr>
        <p:txBody>
          <a:bodyPr wrap="square" lIns="0" tIns="0" rIns="0" bIns="0" rtlCol="0" anchor="ctr"/>
          <a:lstStyle/>
          <a:p>
            <a:pPr indent="0" marL="0">
              <a:buNone/>
            </a:pPr>
            <a:r>
              <a:rPr lang="en-US" sz="1200" i="1" dirty="0">
                <a:solidFill>
                  <a:srgbClr val="56675E"/>
                </a:solidFill>
              </a:rPr>
              <a:t>Tap an answer to check it. Presenting? Click to reveal the answer.</a:t>
            </a:r>
            <a:endParaRPr lang="en-US" sz="1200" dirty="0"/>
          </a:p>
        </p:txBody>
      </p:sp>
      <p:sp>
        <p:nvSpPr>
          <p:cNvPr id="6" name="Text 3"/>
          <p:cNvSpPr txBox="1"/>
          <p:nvPr/>
        </p:nvSpPr>
        <p:spPr>
          <a:xfrm>
            <a:off x="457200" y="1280160"/>
            <a:ext cx="8229600" cy="868680"/>
          </a:xfrm>
          <a:prstGeom prst="rect">
            <a:avLst/>
          </a:prstGeom>
          <a:noFill/>
          <a:ln/>
        </p:spPr>
        <p:txBody>
          <a:bodyPr wrap="square" lIns="0" tIns="0" rIns="0" bIns="0" rtlCol="0" anchor="ctr"/>
          <a:lstStyle/>
          <a:p>
            <a:pPr indent="0" marL="0">
              <a:buNone/>
            </a:pPr>
            <a:r>
              <a:rPr lang="en-US" sz="1700" b="1" dirty="0">
                <a:solidFill>
                  <a:srgbClr val="15221C"/>
                </a:solidFill>
              </a:rPr>
              <a:t>Which of these is an advantage of teleworking for an employee?</a:t>
            </a:r>
            <a:endParaRPr lang="en-US" sz="1700" dirty="0"/>
          </a:p>
        </p:txBody>
      </p:sp>
      <p:sp>
        <p:nvSpPr>
          <p:cNvPr id="7" name="trig:k93"/>
          <p:cNvSpPr/>
          <p:nvPr/>
        </p:nvSpPr>
        <p:spPr>
          <a:xfrm>
            <a:off x="45720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A   </a:t>
            </a:r>
            <a:pPr algn="l" indent="0" marL="0">
              <a:buNone/>
            </a:pPr>
            <a:r>
              <a:rPr lang="en-US" sz="1400" dirty="0">
                <a:solidFill>
                  <a:srgbClr val="15221C"/>
                </a:solidFill>
              </a:rPr>
              <a:t>It is easier to switch off from work</a:t>
            </a:r>
            <a:endParaRPr lang="en-US" sz="1400" dirty="0"/>
          </a:p>
        </p:txBody>
      </p:sp>
      <p:sp>
        <p:nvSpPr>
          <p:cNvPr id="8" name="on:k93"/>
          <p:cNvSpPr/>
          <p:nvPr/>
        </p:nvSpPr>
        <p:spPr>
          <a:xfrm>
            <a:off x="404622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9" name="trig:k94"/>
          <p:cNvSpPr/>
          <p:nvPr/>
        </p:nvSpPr>
        <p:spPr>
          <a:xfrm>
            <a:off x="4640580" y="2258568"/>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B   </a:t>
            </a:r>
            <a:pPr algn="l" indent="0" marL="0">
              <a:buNone/>
            </a:pPr>
            <a:r>
              <a:rPr lang="en-US" sz="1400" dirty="0">
                <a:solidFill>
                  <a:srgbClr val="15221C"/>
                </a:solidFill>
              </a:rPr>
              <a:t>Closer supervision by a manager</a:t>
            </a:r>
            <a:endParaRPr lang="en-US" sz="1400" dirty="0"/>
          </a:p>
        </p:txBody>
      </p:sp>
      <p:sp>
        <p:nvSpPr>
          <p:cNvPr id="10" name="on:k94"/>
          <p:cNvSpPr/>
          <p:nvPr/>
        </p:nvSpPr>
        <p:spPr>
          <a:xfrm>
            <a:off x="8229600" y="2441448"/>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rig:k95"/>
          <p:cNvSpPr/>
          <p:nvPr/>
        </p:nvSpPr>
        <p:spPr>
          <a:xfrm>
            <a:off x="45720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C   </a:t>
            </a:r>
            <a:pPr algn="l" indent="0" marL="0">
              <a:buNone/>
            </a:pPr>
            <a:r>
              <a:rPr lang="en-US" sz="1400" dirty="0">
                <a:solidFill>
                  <a:srgbClr val="15221C"/>
                </a:solidFill>
              </a:rPr>
              <a:t>No time or money spent commuting</a:t>
            </a:r>
            <a:endParaRPr lang="en-US" sz="1400" dirty="0"/>
          </a:p>
        </p:txBody>
      </p:sp>
      <p:sp>
        <p:nvSpPr>
          <p:cNvPr id="12" name="on:k95"/>
          <p:cNvSpPr/>
          <p:nvPr/>
        </p:nvSpPr>
        <p:spPr>
          <a:xfrm>
            <a:off x="4046220" y="3300984"/>
            <a:ext cx="384048" cy="384048"/>
          </a:xfrm>
          <a:prstGeom prst="ellipse">
            <a:avLst/>
          </a:prstGeom>
          <a:solidFill>
            <a:srgbClr val="2C7A4B"/>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rig:k96"/>
          <p:cNvSpPr/>
          <p:nvPr/>
        </p:nvSpPr>
        <p:spPr>
          <a:xfrm>
            <a:off x="4640580" y="3118104"/>
            <a:ext cx="4046220" cy="749808"/>
          </a:xfrm>
          <a:prstGeom prst="roundRect">
            <a:avLst>
              <a:gd name="adj" fmla="val 9756"/>
            </a:avLst>
          </a:prstGeom>
          <a:solidFill>
            <a:srgbClr val="F3F6F1"/>
          </a:solidFill>
          <a:ln w="12700">
            <a:solidFill>
              <a:srgbClr val="C9D3CB"/>
            </a:solidFill>
          </a:ln>
        </p:spPr>
        <p:txBody>
          <a:bodyPr wrap="square" lIns="127000" tIns="127000" rIns="127000" bIns="127000" rtlCol="0" anchor="ctr"/>
          <a:lstStyle/>
          <a:p>
            <a:pPr algn="l" indent="0" marL="0">
              <a:buNone/>
            </a:pPr>
            <a:r>
              <a:rPr lang="en-US" sz="1400" b="1" dirty="0">
                <a:solidFill>
                  <a:srgbClr val="A95A24"/>
                </a:solidFill>
              </a:rPr>
              <a:t>D   </a:t>
            </a:r>
            <a:pPr algn="l" indent="0" marL="0">
              <a:buNone/>
            </a:pPr>
            <a:r>
              <a:rPr lang="en-US" sz="1400" dirty="0">
                <a:solidFill>
                  <a:srgbClr val="15221C"/>
                </a:solidFill>
              </a:rPr>
              <a:t>More face-to-face contact with colleagues</a:t>
            </a:r>
            <a:endParaRPr lang="en-US" sz="1400" dirty="0"/>
          </a:p>
        </p:txBody>
      </p:sp>
      <p:sp>
        <p:nvSpPr>
          <p:cNvPr id="14" name="on:k96"/>
          <p:cNvSpPr/>
          <p:nvPr/>
        </p:nvSpPr>
        <p:spPr>
          <a:xfrm>
            <a:off x="8229600" y="3300984"/>
            <a:ext cx="384048" cy="384048"/>
          </a:xfrm>
          <a:prstGeom prst="ellipse">
            <a:avLst/>
          </a:prstGeom>
          <a:solidFill>
            <a:srgbClr val="B0352D"/>
          </a:solidFill>
          <a:ln w="19050">
            <a:solidFill>
              <a:srgbClr val="FFFFFF"/>
            </a:solid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anim:reveal on:k95"/>
          <p:cNvSpPr/>
          <p:nvPr/>
        </p:nvSpPr>
        <p:spPr>
          <a:xfrm>
            <a:off x="457200" y="3977640"/>
            <a:ext cx="8229600" cy="457200"/>
          </a:xfrm>
          <a:prstGeom prst="roundRect">
            <a:avLst>
              <a:gd name="adj" fmla="val 16000"/>
            </a:avLst>
          </a:prstGeom>
          <a:solidFill>
            <a:srgbClr val="E1F1E7"/>
          </a:solidFill>
          <a:ln w="12700">
            <a:solidFill>
              <a:srgbClr val="2C7A4B"/>
            </a:solidFill>
          </a:ln>
        </p:spPr>
        <p:txBody>
          <a:bodyPr wrap="square" lIns="127000" tIns="127000" rIns="127000" bIns="127000" rtlCol="0" anchor="ctr"/>
          <a:lstStyle/>
          <a:p>
            <a:pPr algn="l" indent="0" marL="0">
              <a:buNone/>
            </a:pPr>
            <a:r>
              <a:rPr lang="en-US" sz="1200" b="1" dirty="0">
                <a:solidFill>
                  <a:srgbClr val="2C7A4B"/>
                </a:solidFill>
              </a:rPr>
              <a:t>✓  C: No time or money spent commuting  –  Working from home removes the daily commute; the other options are usually disadvantages or untrue.</a:t>
            </a:r>
            <a:endParaRPr lang="en-US" sz="1200" dirty="0"/>
          </a:p>
        </p:txBody>
      </p:sp>
      <p:sp>
        <p:nvSpPr>
          <p:cNvPr id="1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450"/>
                                        <p:tgtEl>
                                          <p:spTgt spid="25"/>
                                        </p:tgtEl>
                                      </p:cBhvr>
                                    </p:animEffect>
                                  </p:childTnLst>
                                </p:cTn>
                              </p:par>
                            </p:childTnLst>
                          </p:cTn>
                        </p:par>
                      </p:childTnLst>
                    </p:cTn>
                  </p:par>
                  <p:par>
                    <p:cTn id="41" fill="hold">
                      <p:stCondLst>
                        <p:cond delay="indefinite"/>
                      </p:stCondLst>
                      <p:childTnLst>
                        <p:par>
                          <p:cTn id="4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6" restart="whenNotActive" fill="hold" evtFilter="cancelBubble" nodeType="interactiveSeq">
                <p:stCondLst>
                  <p:cond evt="onClick" delay="0">
                    <p:tgtEl>
                      <p:spTgt spid="7"/>
                    </p:tgtEl>
                  </p:cond>
                </p:stCondLst>
                <p:endSync evt="end" delay="0">
                  <p:rtn val="all"/>
                </p:endSync>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childTnLst>
              </p:cTn>
              <p:nextCondLst>
                <p:cond evt="onClick" delay="0">
                  <p:tgtEl>
                    <p:spTgt spid="7"/>
                  </p:tgtEl>
                </p:cond>
              </p:nextCondLst>
            </p:seq>
            <p:seq concurrent="1" nextAc="seek">
              <p:cTn id="51" restart="whenNotActive" fill="hold" evtFilter="cancelBubble" nodeType="interactiveSeq">
                <p:stCondLst>
                  <p:cond evt="onClick" delay="0">
                    <p:tgtEl>
                      <p:spTgt spid="9"/>
                    </p:tgtEl>
                  </p:cond>
                </p:stCondLst>
                <p:endSync evt="end" delay="0">
                  <p:rtn val="all"/>
                </p:endSync>
                <p:childTnLst>
                  <p:par>
                    <p:cTn id="52"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00"/>
                                  <p:tgtEl>
                                    <p:spTgt spid="10"/>
                                  </p:tgtEl>
                                </p:cBhvr>
                              </p:animEffect>
                            </p:childTnLst>
                          </p:cTn>
                        </p:par>
                      </p:childTnLst>
                    </p:cTn>
                  </p:par>
                </p:childTnLst>
              </p:cTn>
              <p:nextCondLst>
                <p:cond evt="onClick" delay="0">
                  <p:tgtEl>
                    <p:spTgt spid="9"/>
                  </p:tgtEl>
                </p:cond>
              </p:nextCondLst>
            </p:seq>
            <p:seq concurrent="1" nextAc="seek">
              <p:cTn id="59" restart="whenNotActive" fill="hold" evtFilter="cancelBubble" nodeType="interactiveSeq">
                <p:stCondLst>
                  <p:cond evt="onClick" delay="0">
                    <p:tgtEl>
                      <p:spTgt spid="11"/>
                    </p:tgtEl>
                  </p:cond>
                </p:stCondLst>
                <p:endSync evt="end" delay="0">
                  <p:rtn val="all"/>
                </p:endSync>
                <p:childTnLst>
                  <p:par>
                    <p:cTn id="60"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3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childTnLst>
                    </p:cTn>
                  </p:par>
                </p:childTnLst>
              </p:cTn>
              <p:nextCondLst>
                <p:cond evt="onClick" delay="0">
                  <p:tgtEl>
                    <p:spTgt spid="11"/>
                  </p:tgtEl>
                </p:cond>
              </p:nextCondLst>
            </p:seq>
            <p:seq concurrent="1" nextAc="seek">
              <p:cTn id="64" restart="whenNotActive" fill="hold" evtFilter="cancelBubble" nodeType="interactiveSeq">
                <p:stCondLst>
                  <p:cond evt="onClick" delay="0">
                    <p:tgtEl>
                      <p:spTgt spid="13"/>
                    </p:tgtEl>
                  </p:cond>
                </p:stCondLst>
                <p:endSync evt="end" delay="0">
                  <p:rtn val="all"/>
                </p:endSync>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00"/>
                                  <p:tgtEl>
                                    <p:spTgt spid="14"/>
                                  </p:tgtEl>
                                </p:cBhvr>
                              </p:animEffect>
                            </p:childTnLst>
                          </p:cTn>
                        </p:par>
                      </p:childTnLst>
                    </p:cTn>
                  </p:par>
                </p:childTnLst>
              </p:cTn>
              <p:nextCondLst>
                <p:cond evt="onClick" delay="0">
                  <p:tgtEl>
                    <p:spTgt spid="13"/>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Exit quiz answers</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3291840"/>
                <a:gridCol w="4389120"/>
              </a:tblGrid>
              <a:tr h="0">
                <a:tc>
                  <a:txBody>
                    <a:bodyPr/>
                    <a:lstStyle/>
                    <a:p>
                      <a:pPr indent="0" marL="0">
                        <a:buNone/>
                      </a:pPr>
                      <a:r>
                        <a:rPr lang="en-US" sz="1400" b="1" dirty="0">
                          <a:solidFill>
                            <a:srgbClr val="FFFFFF"/>
                          </a:solidFill>
                        </a:rPr>
                        <a:t>Q</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Answer</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400" b="1" dirty="0">
                          <a:solidFill>
                            <a:srgbClr val="FFFFFF"/>
                          </a:solidFill>
                        </a:rPr>
                        <a:t>Why</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400" b="1" dirty="0">
                          <a:solidFill>
                            <a:srgbClr val="15221C"/>
                          </a:solidFill>
                        </a:rPr>
                        <a:t>1</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D  RSI</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Repetitive strain injury comes from repeating the same movements, such as typing or clicking.</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2</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B  job displacement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Job displacement is when technology takes over work previously done by people.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3</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A  Provide adjustable chairs with back support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Employers supply ergonomic furniture; taking breaks and posture are things the employee does.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4</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  upskilling</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Upskilling means training workers in new skills so they can keep up with technology.</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5</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D  Location being tracked without consent</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Tracking without consent invades privacy and could allow stalking; the others are benefits.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6</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A  phishing</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Phishing uses official-looking messages to trick people into revealing personal details.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5221C"/>
                          </a:solidFill>
                        </a:rPr>
                        <a:t>7</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B  Health and Safety (Display Screen Equipment) Regulations (NI) 1992</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400" dirty="0">
                          <a:solidFill>
                            <a:srgbClr val="15221C"/>
                          </a:solidFill>
                        </a:rPr>
                        <a:t>In Northern Ireland, the Health and Safety (Display Screen Equipment) Regulations (NI) 1992 cover people who use screens regularly at work (Great Britain has matching 1992 Regulations).</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400" b="1" dirty="0">
                          <a:solidFill>
                            <a:srgbClr val="15221C"/>
                          </a:solidFill>
                        </a:rPr>
                        <a:t>8</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C  No time or money spent commuting</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400" dirty="0">
                          <a:solidFill>
                            <a:srgbClr val="15221C"/>
                          </a:solidFill>
                        </a:rPr>
                        <a:t>Working from home removes the daily commute; the other options are usually disadvantages or untrue.</a:t>
                      </a:r>
                      <a:endParaRPr lang="en-US" sz="14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50"/>
                                        <p:tgtEl>
                                          <p:spTgt spid="25"/>
                                        </p:tgtEl>
                                      </p:cBhvr>
                                    </p:animEffect>
                                  </p:childTnLst>
                                </p:cTn>
                              </p:par>
                            </p:childTnLst>
                          </p:cTn>
                        </p:par>
                        <p:par>
                          <p:cTn id="23"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79"/>
                                        </p:tgtEl>
                                        <p:attrNameLst>
                                          <p:attrName>style.visibility</p:attrName>
                                        </p:attrNameLst>
                                      </p:cBhvr>
                                      <p:to>
                                        <p:strVal val="visible"/>
                                      </p:to>
                                    </p:set>
                                    <p:animEffect transition="in" filter="wipe(down)">
                                      <p:cBhvr>
                                        <p:cTn id="14" dur="6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25" grpId="0" animBg="1"/>
      <p:bldGraphic spid="79" grpId="0">
        <p:bldAsOne/>
      </p:bldGraphic>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7406640" cy="731520"/>
          </a:xfrm>
          <a:prstGeom prst="rect">
            <a:avLst/>
          </a:prstGeom>
          <a:noFill/>
          <a:ln/>
        </p:spPr>
        <p:txBody>
          <a:bodyPr wrap="square" rtlCol="0" anchor="ctr"/>
          <a:lstStyle/>
          <a:p>
            <a:pPr algn="l" indent="0" marL="0">
              <a:buNone/>
            </a:pPr>
            <a:r>
              <a:rPr lang="en-US" sz="3000" b="1" dirty="0">
                <a:solidFill>
                  <a:srgbClr val="11503E"/>
                </a:solidFill>
              </a:rPr>
              <a:t>In the exam</a:t>
            </a:r>
            <a:endParaRPr lang="en-US" sz="3000" dirty="0"/>
          </a:p>
        </p:txBody>
      </p:sp>
      <p:sp>
        <p:nvSpPr>
          <p:cNvPr id="3" name="topic icon"/>
          <p:cNvSpPr/>
          <p:nvPr/>
        </p:nvSpPr>
        <p:spPr>
          <a:xfrm>
            <a:off x="8092440" y="347472"/>
            <a:ext cx="621792" cy="621792"/>
          </a:xfrm>
          <a:prstGeom prst="ellipse">
            <a:avLst/>
          </a:prstGeom>
          <a:solidFill>
            <a:srgbClr val="E4ECE6"/>
          </a:solidFill>
          <a:ln w="12700">
            <a:solidFill>
              <a:srgbClr val="E4ECE6"/>
            </a:solidFill>
            <a:prstDash val="solid"/>
          </a:ln>
        </p:spPr>
      </p:sp>
      <p:pic>
        <p:nvPicPr>
          <p:cNvPr id="4" name="Image 0" descr="topic icon">    </p:cNvPr>
          <p:cNvPicPr>
            <a:picLocks noChangeAspect="1"/>
          </p:cNvPicPr>
          <p:nvPr/>
        </p:nvPicPr>
        <p:blipFill>
          <a:blip r:embed="rId1"/>
          <a:stretch>
            <a:fillRect/>
          </a:stretch>
        </p:blipFill>
        <p:spPr>
          <a:xfrm>
            <a:off x="8229600" y="484632"/>
            <a:ext cx="347472" cy="347472"/>
          </a:xfrm>
          <a:prstGeom prst="rect">
            <a:avLst/>
          </a:prstGeom>
        </p:spPr>
      </p:pic>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1097280"/>
                <a:gridCol w="822960"/>
                <a:gridCol w="4937760"/>
              </a:tblGrid>
              <a:tr h="0">
                <a:tc>
                  <a:txBody>
                    <a:bodyPr/>
                    <a:lstStyle/>
                    <a:p>
                      <a:pPr indent="0" marL="0">
                        <a:buNone/>
                      </a:pPr>
                      <a:r>
                        <a:rPr lang="en-US" sz="1300" b="1" dirty="0">
                          <a:solidFill>
                            <a:srgbClr val="FFFFFF"/>
                          </a:solidFill>
                        </a:rPr>
                        <a:t>Paper</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Question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Marks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c>
                  <a:txBody>
                    <a:bodyPr/>
                    <a:lstStyle/>
                    <a:p>
                      <a:pPr indent="0" marL="0">
                        <a:buNone/>
                      </a:pPr>
                      <a:r>
                        <a:rPr lang="en-US" sz="1300" b="1" dirty="0">
                          <a:solidFill>
                            <a:srgbClr val="FFFFFF"/>
                          </a:solidFill>
                        </a:rPr>
                        <a:t>What it tested</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11503E"/>
                    </a:solidFill>
                  </a:tcPr>
                </a:tc>
              </a:tr>
              <a:tr h="0">
                <a:tc>
                  <a:txBody>
                    <a:bodyPr/>
                    <a:lstStyle/>
                    <a:p>
                      <a:pPr indent="0" marL="0">
                        <a:buNone/>
                      </a:pPr>
                      <a:r>
                        <a:rPr lang="en-US" sz="1300" b="1" dirty="0">
                          <a:solidFill>
                            <a:srgbClr val="15221C"/>
                          </a:solidFill>
                        </a:rPr>
                        <a:t>Unit 1 2022</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8</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RSI, monitor ergonomics, copyright, ICO, DPA principles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2023</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Q11(a)</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6</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Impacts on employment (QWC)</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Q9</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7</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Input devices, health risks, gaming and internet risks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8</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Key term matching</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5221C"/>
                          </a:solidFill>
                        </a:rPr>
                        <a:t>Unit 1 2024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Q11</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6</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c>
                  <a:txBody>
                    <a:bodyPr/>
                    <a:lstStyle/>
                    <a:p>
                      <a:pPr indent="0" marL="0">
                        <a:buNone/>
                      </a:pPr>
                      <a:r>
                        <a:rPr lang="en-US" sz="1300" dirty="0">
                          <a:solidFill>
                            <a:srgbClr val="15221C"/>
                          </a:solidFill>
                        </a:rPr>
                        <a:t>Legislation matching, online harms, protection methods</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E4ECE6"/>
                    </a:solidFill>
                  </a:tcPr>
                </a:tc>
              </a:tr>
              <a:tr h="0">
                <a:tc>
                  <a:txBody>
                    <a:bodyPr/>
                    <a:lstStyle/>
                    <a:p>
                      <a:pPr indent="0" marL="0">
                        <a:buNone/>
                      </a:pPr>
                      <a:r>
                        <a:rPr lang="en-US" sz="1300" b="1" dirty="0">
                          <a:solidFill>
                            <a:srgbClr val="15221C"/>
                          </a:solidFill>
                        </a:rPr>
                        <a:t>Unit 1 2025</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Q10</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4</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c>
                  <a:txBody>
                    <a:bodyPr/>
                    <a:lstStyle/>
                    <a:p>
                      <a:pPr indent="0" marL="0">
                        <a:buNone/>
                      </a:pPr>
                      <a:r>
                        <a:rPr lang="en-US" sz="1300" dirty="0">
                          <a:solidFill>
                            <a:srgbClr val="15221C"/>
                          </a:solidFill>
                        </a:rPr>
                        <a:t>RSI/posture causes and ergonomic prevention</a:t>
                      </a:r>
                      <a:endParaRPr lang="en-US" sz="1300" dirty="0"/>
                    </a:p>
                  </a:txBody>
                  <a:tcPr marL="54864" marR="54864" marT="54864" marB="54864" anchor="ctr">
                    <a:lnL w="6350" cap="flat" cmpd="sng" algn="ctr">
                      <a:solidFill>
                        <a:srgbClr val="D5DDD5"/>
                      </a:solidFill>
                      <a:prstDash val="solid"/>
                      <a:round/>
                      <a:headEnd type="none" w="med" len="med"/>
                      <a:tailEnd type="none" w="med" len="med"/>
                    </a:lnL>
                    <a:lnR w="6350" cap="flat" cmpd="sng" algn="ctr">
                      <a:solidFill>
                        <a:srgbClr val="D5DDD5"/>
                      </a:solidFill>
                      <a:prstDash val="solid"/>
                      <a:round/>
                      <a:headEnd type="none" w="med" len="med"/>
                      <a:tailEnd type="none" w="med" len="med"/>
                    </a:lnR>
                    <a:lnT w="6350" cap="flat" cmpd="sng" algn="ctr">
                      <a:solidFill>
                        <a:srgbClr val="D5DDD5"/>
                      </a:solidFill>
                      <a:prstDash val="solid"/>
                      <a:round/>
                      <a:headEnd type="none" w="med" len="med"/>
                      <a:tailEnd type="none" w="med" len="med"/>
                    </a:lnT>
                    <a:lnB w="6350" cap="flat" cmpd="sng" algn="ctr">
                      <a:solidFill>
                        <a:srgbClr val="D5DDD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100" i="1" dirty="0">
                <a:solidFill>
                  <a:srgbClr val="56675E"/>
                </a:solidFill>
              </a:rPr>
              <a:t>3 more past questions on the website. Papers and mark schemes: ccea.org.uk → GCSE Digital Technology → Past Papers &amp; Mark Schemes.</a:t>
            </a:r>
            <a:endParaRPr lang="en-US" sz="1100" dirty="0"/>
          </a:p>
        </p:txBody>
      </p:sp>
      <p:sp>
        <p:nvSpPr>
          <p:cNvPr id="7" name="btn">
            <a:hlinkClick r:id="rId2" action="ppaction://hlinksldjump"/>
          </p:cNvPr>
          <p:cNvSpPr/>
          <p:nvPr/>
        </p:nvSpPr>
        <p:spPr>
          <a:xfrm>
            <a:off x="7333488" y="4718304"/>
            <a:ext cx="804672" cy="292608"/>
          </a:xfrm>
          <a:prstGeom prst="roundRect">
            <a:avLst>
              <a:gd name="adj" fmla="val 50000"/>
            </a:avLst>
          </a:prstGeom>
          <a:solidFill>
            <a:srgbClr val="E4ECE6"/>
          </a:solidFill>
          <a:ln w="12700">
            <a:solidFill>
              <a:srgbClr val="E4ECE6"/>
            </a:solidFill>
          </a:ln>
        </p:spPr>
        <p:txBody>
          <a:bodyPr wrap="square" lIns="0" tIns="0" rIns="0" bIns="0" rtlCol="0" anchor="ctr"/>
          <a:lstStyle/>
          <a:p>
            <a:pPr algn="ctr" indent="0" marL="0">
              <a:buNone/>
            </a:pPr>
            <a:r>
              <a:rPr lang="en-US" sz="1100" b="1" dirty="0">
                <a:solidFill>
                  <a:srgbClr val="11503E"/>
                </a:solidFill>
                <a:hlinkClick r:id="rId2" action="ppaction://hlinksldjump" tooltip="Back to the menu">
                  <a:extLst>
                    <a:ext uri="{A12FA001-AC4F-418D-AE19-62706E023703}">
                      <ahyp:hlinkClr xmlns:ahyp="http://schemas.microsoft.com/office/drawing/2018/hyperlinkcolor" val="tx"/>
                    </a:ext>
                  </a:extLst>
                </a:hlinkClick>
              </a:rPr>
              <a:t>☰  Menu</a:t>
            </a:r>
            <a:endParaRPr lang="en-US" sz="11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6675E"/>
                </a:solidFill>
              </a:defRPr>
            </a:lvl1pPr>
          </a:lstStyle>
          <a:p>
            <a:pPr algn="r"/>
            <a:fld id="{F7021451-1387-4CA6-816F-3879F97B5CBC}" type="slidenum">
              <a:rPr b="0" lang="en-US"/>
              <a:t>79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cond evt="onBegin" delay="0">
                          <p:tn val="2"/>
                        </p:cond>
                      </p:stCondLst>
                      <p:childTnLst>
                        <p:par>
                          <p:cTn id="2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par>
                          <p:cTn id="26" fill="hold">
                            <p:stCondLst>
                              <p:cond delay="450"/>
                            </p:stCondLst>
                            <p:childTnLst>
                              <p:par>
                                <p:cTn id="12" presetID="22" presetClass="entr" presetSubtype="4" fill="hold" grpId="0" nodeType="afterEffect">
                                  <p:stCondLst>
                                    <p:cond delay="0"/>
                                  </p:stCondLst>
                                  <p:childTnLst>
                                    <p:set>
                                      <p:cBhvr>
                                        <p:cTn id="13" dur="1" fill="hold">
                                          <p:stCondLst>
                                            <p:cond delay="0"/>
                                          </p:stCondLst>
                                        </p:cTn>
                                        <p:tgtEl>
                                          <p:spTgt spid="80"/>
                                        </p:tgtEl>
                                        <p:attrNameLst>
                                          <p:attrName>style.visibility</p:attrName>
                                        </p:attrNameLst>
                                      </p:cBhvr>
                                      <p:to>
                                        <p:strVal val="visible"/>
                                      </p:to>
                                    </p:set>
                                    <p:animEffect transition="in" filter="wipe(down)">
                                      <p:cBhvr>
                                        <p:cTn id="14" dur="6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25" grpId="0" animBg="1"/>
      <p:bldGraphic spid="80" grpId="0">
        <p:bldAsOne/>
      </p:bldGraphic>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legal and environmental impact</dc:title>
  <dc:subject>Unit 1: Digital Technology – Ethical, legal and environmental impact</dc:subject>
  <dc:creator>Digital Technology Hub</dc:creator>
  <cp:lastModifiedBy>Digital Technology Hub</cp:lastModifiedBy>
  <cp:revision>1</cp:revision>
  <dcterms:created xsi:type="dcterms:W3CDTF">2026-10-30T13:15:41Z</dcterms:created>
  <dcterms:modified xsi:type="dcterms:W3CDTF">2026-10-30T13:15:41Z</dcterms:modified>
</cp:coreProperties>
</file>