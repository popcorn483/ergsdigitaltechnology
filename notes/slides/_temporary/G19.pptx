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cff43c78-9bf7-4417-6b8d-c8b480f6dfe6}">
          <p14:sldIdLst>
            <p14:sldId id="256"/>
            <p14:sldId id="257"/>
            <p14:sldId id="258"/>
          </p14:sldIdLst>
        </p14:section>
        <p14:section name="IS05 · SQL data definition and data manipulation" id="{e2ffcb3a-8dd0-f120-b93b-9f905fc78aa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IS06 · SQL queries: SELECT, aggregates, grouping and joins" id="{be1f72f3-c4b1-970b-a6d1-e7c957fcf5ce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IS07 · Multi-user databases: transactions, ACID, locking and distributed databas" id="{4132db8a-3673-db5d-e39b-d326f6a7bda5}">
          <p14:sldIdLst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IS08 · Big data, data warehousing, data mining and analytics" id="{7addee79-881b-e621-73fb-980a295c912c}">
          <p14:sldIdLst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Use SQL data definition language (DDL) to create tables with data types, primary keys and foreign keys | Use SQL data manipulation language (DML) to insert, update and delete records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Write SQL SELECT queries using WHERE, ORDER BY, AND, OR, LIKE and BETWEEN | Use aggregate functions with GROUP BY | Write queries that join two or three tables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transactions and the ACID properties | Describe record locking, deadlock and how deadlock is handled | Explain commit and rollback | Compare client–server and distributed databases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characteristics of big data | Explain data warehousing, including extract–transform–load | Describe data mining techniques and the use of analytics in organisations | Discuss privacy issues arising from big data and data mining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23.xml"/><Relationship Id="rId5" Type="http://schemas.openxmlformats.org/officeDocument/2006/relationships/slide" Target="slide43.xml"/><Relationship Id="rId6" Type="http://schemas.openxmlformats.org/officeDocument/2006/relationships/slide" Target="slide60.xml"/><Relationship Id="rId1" Type="http://schemas.openxmlformats.org/officeDocument/2006/relationships/image" Target="../media/image-2-1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1.xml"/><Relationship Id="rId7" Type="http://schemas.openxmlformats.org/officeDocument/2006/relationships/slide" Target="slide13.xml"/><Relationship Id="rId8" Type="http://schemas.openxmlformats.org/officeDocument/2006/relationships/slide" Target="slide15.xml"/><Relationship Id="rId9" Type="http://schemas.openxmlformats.org/officeDocument/2006/relationships/slide" Target="slide16.xml"/><Relationship Id="rId10" Type="http://schemas.openxmlformats.org/officeDocument/2006/relationships/slide" Target="slide17.xml"/><Relationship Id="rId11" Type="http://schemas.openxmlformats.org/officeDocument/2006/relationships/slide" Target="slide2.xml"/><Relationship Id="rId1" Type="http://schemas.openxmlformats.org/officeDocument/2006/relationships/image" Target="../media/image-5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3" Type="http://schemas.openxmlformats.org/officeDocument/2006/relationships/slide" Target="slide26.xml"/><Relationship Id="rId4" Type="http://schemas.openxmlformats.org/officeDocument/2006/relationships/slide" Target="slide28.xml"/><Relationship Id="rId5" Type="http://schemas.openxmlformats.org/officeDocument/2006/relationships/slide" Target="slide30.xml"/><Relationship Id="rId6" Type="http://schemas.openxmlformats.org/officeDocument/2006/relationships/slide" Target="slide31.xml"/><Relationship Id="rId7" Type="http://schemas.openxmlformats.org/officeDocument/2006/relationships/slide" Target="slide33.xml"/><Relationship Id="rId8" Type="http://schemas.openxmlformats.org/officeDocument/2006/relationships/slide" Target="slide34.xml"/><Relationship Id="rId9" Type="http://schemas.openxmlformats.org/officeDocument/2006/relationships/slide" Target="slide36.xml"/><Relationship Id="rId10" Type="http://schemas.openxmlformats.org/officeDocument/2006/relationships/slide" Target="slide37.xml"/><Relationship Id="rId11" Type="http://schemas.openxmlformats.org/officeDocument/2006/relationships/slide" Target="slide2.xml"/><Relationship Id="rId1" Type="http://schemas.openxmlformats.org/officeDocument/2006/relationships/image" Target="../media/image-24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3" Type="http://schemas.openxmlformats.org/officeDocument/2006/relationships/slide" Target="slide46.xml"/><Relationship Id="rId4" Type="http://schemas.openxmlformats.org/officeDocument/2006/relationships/slide" Target="slide48.xml"/><Relationship Id="rId5" Type="http://schemas.openxmlformats.org/officeDocument/2006/relationships/slide" Target="slide49.xml"/><Relationship Id="rId6" Type="http://schemas.openxmlformats.org/officeDocument/2006/relationships/slide" Target="slide50.xml"/><Relationship Id="rId7" Type="http://schemas.openxmlformats.org/officeDocument/2006/relationships/slide" Target="slide51.xml"/><Relationship Id="rId8" Type="http://schemas.openxmlformats.org/officeDocument/2006/relationships/slide" Target="slide52.xml"/><Relationship Id="rId9" Type="http://schemas.openxmlformats.org/officeDocument/2006/relationships/slide" Target="slide53.xml"/><Relationship Id="rId10" Type="http://schemas.openxmlformats.org/officeDocument/2006/relationships/slide" Target="slide54.xml"/><Relationship Id="rId11" Type="http://schemas.openxmlformats.org/officeDocument/2006/relationships/slide" Target="slide2.xml"/><Relationship Id="rId1" Type="http://schemas.openxmlformats.org/officeDocument/2006/relationships/image" Target="../media/image-44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44.xml"/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62.xml"/><Relationship Id="rId3" Type="http://schemas.openxmlformats.org/officeDocument/2006/relationships/slide" Target="slide63.xml"/><Relationship Id="rId4" Type="http://schemas.openxmlformats.org/officeDocument/2006/relationships/slide" Target="slide64.xml"/><Relationship Id="rId5" Type="http://schemas.openxmlformats.org/officeDocument/2006/relationships/slide" Target="slide65.xml"/><Relationship Id="rId6" Type="http://schemas.openxmlformats.org/officeDocument/2006/relationships/slide" Target="slide66.xml"/><Relationship Id="rId7" Type="http://schemas.openxmlformats.org/officeDocument/2006/relationships/slide" Target="slide67.xml"/><Relationship Id="rId8" Type="http://schemas.openxmlformats.org/officeDocument/2006/relationships/slide" Target="slide68.xml"/><Relationship Id="rId9" Type="http://schemas.openxmlformats.org/officeDocument/2006/relationships/slide" Target="slide69.xml"/><Relationship Id="rId10" Type="http://schemas.openxmlformats.org/officeDocument/2006/relationships/slide" Target="slide70.xml"/><Relationship Id="rId11" Type="http://schemas.openxmlformats.org/officeDocument/2006/relationships/slide" Target="slide2.xml"/><Relationship Id="rId1" Type="http://schemas.openxmlformats.org/officeDocument/2006/relationships/image" Target="../media/image-61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61.xml"/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image" Target="../media/image-6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image" Target="../media/image-6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image" Target="../media/image-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image" Target="../media/image-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image" Target="../media/image-6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image" Target="../media/image-6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image" Target="../media/image-7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image" Target="../media/image-7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image" Target="../media/image-7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image" Target="../media/image-7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image" Target="../media/image-7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image" Target="../media/image-7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SQL and database management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IS05  SQL data definition and data manipulation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IS06  SQL queries: SELECT, aggregates, grouping and joins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IS07  Multi-user databases: transactions, ACID, locking and distributed databases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IS08  Big data, data warehousing, data mining and analytics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3" action="ppaction://hlinksldjump" tooltip="IS05  SQL data definition and data manipul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IS05  SQL data definition and data manipulation</a:t>
            </a:r>
            <a:endParaRPr lang="en-US" sz="13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IS06  SQL queries: SELECT, aggregates, grouping and joi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IS06  SQL queries: SELECT, aggregates, grouping and joins</a:t>
            </a:r>
            <a:endParaRPr lang="en-US" sz="12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5" action="ppaction://hlinksldjump" tooltip="IS07  Multi-user databases: transactions, ACID, locking and distributed databa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IS07  Multi-user databases: transactions, ACID, locking and distributed databases</a:t>
            </a:r>
            <a:endParaRPr lang="en-US" sz="1200" dirty="0"/>
          </a:p>
        </p:txBody>
      </p:sp>
      <p:sp>
        <p:nvSpPr>
          <p:cNvPr id="10" name="btn">
            <a:hlinkClick r:id="rId6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6" action="ppaction://hlinksldjump" tooltip="IS08  Big data, data warehousing, data mining and analytic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IS08  Big data, data warehousing, data mining and analytics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IS05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 SQL data definition language (DDL) to create tables with data types, primary keys and foreign keys; Use SQL data manipulation language (DML) to insert, update and delete records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IS06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Write SQL SELECT queries using WHERE, ORDER BY, AND, OR, LIKE and BETWEEN; Use aggregate functions with GROUP BY; Write queries that join two or three tables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IS07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transactions and the ACID properties; Describe record locking, deadlock and how deadlock is handled; Explain commit and rollback; Compare client–server and distributed databases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IS08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characteristics of big data; Explain data warehousing, including extract–transform–load; Describe data mining techniques and the use of analytics in organisations; Discuss privacy issues arising from big data and data mining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IS05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SQL data definition and data manipulation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CREATE TABLE statements with suitable data types and constraints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INSERT, UPDATE and DELETE statements correctly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danger of UPDATE and DELETE without a WHERE clause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SQL: one language, two job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SQL: one language, two jobs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Common SQL data typ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Common SQL data types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CREATE TABLE with key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 TABLE with keys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Composite keys in SQ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Composite keys in SQL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INSERT INT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INSERT INTO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UPDATE and DELE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UPDATE and DELETE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Changing structure: ALTER and DRO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Changing structure: ALTER and DROP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SQL split into data definition language for structure and data manipulation language for data, with an example of each comma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SQL split into data definition language for structure and data manipulation language for data, with an example of each command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SQL: one language, two jobs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Structured Query Language (SQL) is the standard language for relational databases.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definition language (DDL) defines structure: CREATE TABLE, ALTER TABLE, DROP TABLE.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manipulation language (DML) works with the data: SELECT, INSERT, UPDATE, DELETE.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SQL is declarative: you say what you want, and the DBMS decides how to get it.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Keywords are written in capitals by convention; statements end with a semicolon.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Common SQL data types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99138"/>
                <a:gridCol w="3545058"/>
                <a:gridCol w="278540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Stores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field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INT / INTEGER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Whole numbers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Qty 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DECIMAL(p,s)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Exact decimals, e.g. money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UnitPrice DECIMAL(6,2)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CHAR(n)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Fixed-length 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Postcode CHAR(8)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VARCHAR(n)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Variable-length text up to 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Surname VARCHAR(30)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DATE / DATETIME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Dates and times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OrderDate DATE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BOOLEAN / BIT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True or false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Paid BIT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CREATE TABLE with keys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Define each field with a name, data type and optional constraints such as NOT NULL.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PRIMARY KEY enforces entity integrity; FOREIGN KEY … REFERENCES enforces referential integrity.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Create parent tables (Customer) before child tables (CustOrder) that refer to them.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CREATE TABLE with keys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Customer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CustID    VARCHAR(6) 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CustName  VARCHAR(40)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CustTown  VARCHAR(30),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(CustID)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CustOrder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OrderNo   INT    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OrderDate DATE   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CustID    VARCHAR(6)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(OrderNo),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(CustID) REFERENCES Customer(CustID)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Composite keys in SQL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link table lists both fields inside PRIMARY KEY ( , 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part of the composite key is also a foreign key to its own parent table.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CHECK constraint can add a validation rule.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Composite keys in SQL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OrderLine 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OrderNo   INT        NOT NULL,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ProductID VARCHAR(5) NOT NULL,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Qty       INT        NOT NULL CHECK (Qty &gt; 0),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(OrderNo, ProductID),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(OrderNo)   REFERENCES CustOrder(OrderNo),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(ProductID) REFERENCES Product(ProductID)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INSERT INTO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Adds a new record; list the fields, then the values in the same order.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Text and dates go in single quotes; numbers do not.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DBMS rejects the row if it breaks a key, NOT NULL or CHECK rule.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INSERT INTO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Customer (CustID, CustName, CustTown)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('C101', 'Niamh Maguire', 'Enniskillen');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CustOrder (OrderNo, OrderDate, CustID)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(5001, '2026-10-12', 'C101');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UPDATE and DELETE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UPDATE changes values in existing records; SET lists the changes; WHERE chooses the records.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DELETE removes whole records that match WHERE.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Without WHERE, every record in the table is changed or deleted – a classic and costly mistake.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UnitPrice = UnitPrice * 1.05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Category = 'Veg';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Customer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CustTown = 'Lisnaskea'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CustID = 'C101';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OrderLine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OrderNo = 5001 AND ProductID = 'P07';</a:t>
            </a:r>
            <a:endParaRPr lang="en-US" sz="11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Changing structure: ALTER and DROP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ALTER TABLE Customer ADD Phone VARCHAR(15); adds a field to an existing table.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DROP TABLE removes the table and all of its data – DDL, not DML.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Referential integrity may stop a DELETE or DROP if child records depend on the parent.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Access to DDL commands is normally restricted to the database administrator.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SQL command adds a new record?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UPDATE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ALTER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INSERT INTO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CREATE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INSERT INTO  –  INSERT INTO … VALUES …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data type is most suitable for a price such as 12.49?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DECIMAL(6,2)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CHAR(5)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BOOLEAN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DECIMAL(6,2)  –  Exact decimal with two decimal places.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ALTER TABLE do?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Changes the structure of an existing table</a:t>
            </a:r>
            <a:endParaRPr lang="en-US" sz="14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Changes values in records</a:t>
            </a:r>
            <a:endParaRPr lang="en-US" sz="14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Deletes a table</a:t>
            </a:r>
            <a:endParaRPr lang="en-US" sz="14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Sorts a table</a:t>
            </a:r>
            <a:endParaRPr lang="en-US" sz="14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Changes the structure of an existing table  –  It is DDL that modifies structure.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clause of UPDATE says what the new values are?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WHERE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VALUES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FROM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SET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SET  –  UPDATE table SET field = value WHERE …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constraint acts as a presence check?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CHECK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NOT NULL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REFERENCES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UNIQUE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NOT NULL  –  NOT NULL forbids empty values.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INSERT INTO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INSERT INTO … VALUES …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DECIMAL(6,2)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Exact decimal with two decimal places.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Changes the structure of an existing table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is DDL that modifies structure.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SET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UPDATE table SET field = value WHERE …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NOT NULL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NOT NULL forbids empty values.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3" grpId="0">
        <p:bldAsOne/>
      </p:bldGraphic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IS06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SQL queries: SELECT, aggregates, grouping and joins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single-table SELECT queries with conditions and sorting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COUNT, SUM, AVG, MIN and MAX with GROUP BY and HAVING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Join two or three tables using primary key–foreign key matches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SELECT … FROM … WHERE … ORDER B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SELECT … FROM … WHERE … ORDER BY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LIKE, BETWEEN and 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LIKE, BETWEEN and IN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Aggregate fun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Aggregate functions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GROUP BY and HAV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GROUP BY and HAVING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Joining two tab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Joining two tables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Joining three tab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Joining three tables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Common mistak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Common mistakes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order in which a DBMS logically processes an SQL query: FROM and JOIN, WHERE, GROUP BY, HAVING, SELECT, then ORDER B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order in which a DBMS logically processes an SQL query: FROM and JOIN, WHERE, GROUP BY, HAVING, SELECT, then ORDER BY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SELECT … FROM … WHERE … ORDER BY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SELECT lists the fields to show (* means all fields).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WHERE filters rows; ORDER BY sorts the results ASC (default) or DESC.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Conditions use = &lt;&gt; &lt; &gt; &lt;= &gt;= and combine with AND, OR, NOT and brackets.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SELECT … FROM … WHERE … ORDER BY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Surname, Forename, Merits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Pupil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YearGroup = 13 AND (House = 'Erne' OR House = 'Fermanagh')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Merits DESC, Surname ASC;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LIKE, BETWEEN and IN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LIKE matches a pattern: % means any number of characters, _ means exactly one.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BETWEEN is inclusive at both ends.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tests membership of a list.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LIKE, BETWEEN and IN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Customer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Postcode LIKE 'BT74%';          -- starts with BT74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ProductName, UnitPrice FROM Product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UnitPrice BETWEEN 2.00 AND 5.00; -- 2 and 5 included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Pupil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House IN ('Erne', 'Lough');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Aggregate functions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908313"/>
                <a:gridCol w="2146852"/>
                <a:gridCol w="41744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Returns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COUNT(*)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Number of rows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SELECT COUNT(*) FROM CustOrder;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SUM(field)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Total of values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SELECT SUM(Qty) FROM OrderLine;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AVG(field)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Mean value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SELECT AVG(UnitPrice) FROM Product;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MIN / MAX(field)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Smallest / largest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SELECT MAX(Merits) FROM Pupil;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1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GROUP BY and HAVING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GROUP BY produces one result row per group, e.g. per house.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non-aggregated field in SELECT must appear in GROUP BY.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HAVING filters groups after aggregation; WHERE filters rows before.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GROUP BY and HAVING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House, COUNT(*) AS Pupils, AVG(Merits) AS AvgMerits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Pupil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YearGroup &gt;= 12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House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COUNT(*) &gt; 10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AvgMerits DESC;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Joining two tables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join recombines normalised tables by matching a foreign key with its primary key.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Prefix fields with the table name (or an alias) when the name appears in both tables.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older WHERE-join style gives the same result and is also accepted.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c.CustName, o.OrderNo, o.OrderDate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CustOrder o ON c.CustID = o.CustID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c.CustTown = 'Enniskillen'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o.OrderDate;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equivalent WHERE-join style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Customer.CustName, CustOrder.OrderNo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Customer, CustOrder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Customer.CustID = CustOrder.CustID;</a:t>
            </a:r>
            <a:endParaRPr lang="en-US" sz="11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Joining three tables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Follow the relationships in the ER diagram: Customer → CustOrder → OrderLine → Product.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extra table needs one more join condition (n tables need n − 1 conditions).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Aggregates work across joins: total spent per customer.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Joining three tables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c.CustName, SUM(ol.Qty * p.UnitPrice) AS TotalSpent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CustOrder o  ON c.CustID = o.CustID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OrderLine ol ON o.OrderNo = ol.OrderNo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Product p    ON ol.ProductID = p.ProductID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c.CustName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TotalSpent DESC;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Forgetting the join condition gives a Cartesian product: every row matched with every row.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Using WHERE with an aggregate (WHERE COUNT(*) &gt; 3) instead of HAVING.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Putting quotes round numbers or leaving them off text and dates.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Ambiguous field names such as CustID without a table prefix.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Writing = with a wildcard: use LIKE 'Mc%' not = 'Mc%'.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query finds surnames starting with Mc?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WHERE Surname = 'Mc%'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WHERE Surname LIKE 'Mc%'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WHERE Surname LIKE '%Mc'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WHERE Surname IN 'Mc'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WHERE Surname LIKE 'Mc%'  –  LIKE with % after the prefix.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function returns the number of rows?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SUM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AVG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MAX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COUNT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2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COUNT  –  COUNT(*) counts rows.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clause produces one result row per house?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ORDER BY House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GROUP BY House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HAVING House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WHERE House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GROUP BY House  –  GROUP BY creates groups.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Customer and CustOrder are joined on…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Customer.CustID = CustOrder.CustID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Customer.CustName = CustOrder.OrderNo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any field with the same type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 condition is needed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Customer.CustID = CustOrder.CustID  –  Foreign key matched to primary key.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clause order is correct?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SELECT, WHERE, FROM, ORDER BY</a:t>
            </a:r>
            <a:endParaRPr lang="en-US" sz="14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SELECT, FROM, GROUP BY, WHERE</a:t>
            </a:r>
            <a:endParaRPr lang="en-US" sz="14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SELECT, FROM, WHERE, GROUP BY, HAVING, ORDER BY</a:t>
            </a:r>
            <a:endParaRPr lang="en-US" sz="14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FROM, SELECT, HAVING, WHERE</a:t>
            </a:r>
            <a:endParaRPr lang="en-US" sz="14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SELECT, FROM, WHERE, GROUP BY, HAVING, ORDER BY  –  That is the standard order.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WHERE Surname LIKE 'Mc%'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LIKE with % after the prefix.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COUNT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COUNT(*) counts rows.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GROUP BY House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GROUP BY creates groups.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Customer.CustID = CustOrder.CustID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Foreign key matched to primary key.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SELECT, FROM, WHERE, GROUP BY, HAVING, ORDER BY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That is the standard order.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3" grpId="0">
        <p:bldAsOne/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IS07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Multi-user databases: transactions, ACID, locking and distributed databases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each ACID property with an example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locking prevents the lost update problem and how deadlock can arise and be resolved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client–server and distributed database architectures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ACID proper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ACID properties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The lost update probl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lost update problem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Record lock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Record locking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Deadlo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Deadlock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Client–server databa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Client–server databases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Distributed databa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Distributed databases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Deadlock: transaction T1 holds a lock on record X and waits for Y while T2 holds Y and waits for X; the DBMS rolls one back. ACID properties listed alongsi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Deadlock: transaction T1 holds a lock on record X and waits for Y while T2 holds Y and waits for X; the DBMS rolls one back. ACID properties listed alongside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Transactions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transaction is a group of database operations that must be treated as one single logical unit of work.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transferring £50 from savings to current account = debit one account AND credit the other.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any step fails, none of the changes should be kept.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COMMIT makes all the changes permanent; ROLLBACK undoes all changes since the transaction began.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Transactions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TRANSACTION;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 SET Balance = Balance - 50 WHERE AccNo = 'S123';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 SET Balance = Balance + 50 WHERE AccNo = 'C123';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   -- or ROLLBACK if an error occurred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ACID properties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76596"/>
                <a:gridCol w="4612769"/>
                <a:gridCol w="30402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Bank transfer 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Atomicity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All of the transaction happens or none of it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Never debit without the credit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Consistency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Takes the database from one valid state to another, obeying all rules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Total money is unchanged; no negative balance if forbidden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Isolation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Concurrent transactions do not interfere; the result is as if they ran one after another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second withdrawal cannot see a half-finished transfer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Durability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Once committed, changes survive power cuts and crashes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transfer is still there after a server restart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9" grpId="0">
        <p:bldAsOne/>
      </p:bldGraphic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lost update problem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User A reads Balance = 100. User B reads Balance = 100.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writes 100 − 30 = 70. B writes 100 − 20 = 80.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A's update has been overwritten: the balance should be 50.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Caused by concurrent access without control – breaks isolation.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Record locking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When a transaction reads a record to update it, the DBMS locks that record.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Other transactions must wait until the lock is released at COMMIT or ROLLBACK.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Shared (read) locks allow many readers; exclusive (write) locks allow one writer only.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Locking at record level allows more concurrency than locking a whole table.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Drawback: users may wait, and locking can cause deadlock.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Deadlock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Transaction 1 locks record X and waits for record 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Transaction 2 locks record Y and waits for record X.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Neither can continue: each waits for the other forever.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DBMS detects the cycle and chooses a victim to roll back, then restarts it later.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Prevention: lock all records needed at the start, or always lock records in the same order; timestamp ordering is an alternative.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Client–server databases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database and DBMS run on a central server; client applications send requests (SQL) over the network.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Only the results are sent back, reducing network traffic compared with sending whole files.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Central control of security, integrity, backup and concurrency.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Drawbacks: server is a single point of failure and a possible bottleneck; needs specialist staff.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Distributed databases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55878"/>
                <a:gridCol w="73737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Distributed database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Definition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logical database stored across several sites connected by a network, appearing to users as a single database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Fragmentation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Tables split by rows (e.g. each region's customers) or by columns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Replication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Copies of data held at several sites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Local data is fast to access; no single point of failure; scales across sites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Complex to keep replicas consistent; harder security; distributed transactions need two-phase commit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4" grpId="0">
        <p:bldAsOne/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ACID property ensures a debit is never made without its matching credit?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Isolation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Durability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Atomicity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Consistency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Atomicity  –  All or nothing.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User A's update is overwritten by user B's update. This is the…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deadlock problem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lost update problem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Cartesian product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update anomaly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lost update problem  –  Concurrent writes without locking.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does a DBMS usually resolve deadlock?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Deletes both records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Rolls back one transaction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Commits both transactions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Turns off locking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Rolls back one transaction  –  One victim is aborted and restarted.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Storing copies of the same data at several sites is…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fragmentation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normalisation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indexing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replication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replication  –  Replication improves availability.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makes all changes in a transaction permanent?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COMMIT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ROLLBACK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LOCK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SELECT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COMMIT  –  COMMIT ends the transaction successfully.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Atomicity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All or nothing.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lost update problem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Concurrent writes without locking.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Rolls back one transaction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One victim is aborted and restarted.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replication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Replication improves availability.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COMMIT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COMMIT ends the transaction successfully.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0" grpId="0">
        <p:bldAsOne/>
      </p:bldGraphic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IS08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Big data, data warehousing, data mining and analytics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big data using volume, velocity, variety, veracity and value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a data warehouse is built and how it differs from an operational database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the benefits of data mining for an organisation against privacy concerns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at is big data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big data?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The Vs of big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Vs of big data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Data warehous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warehousing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6" action="ppaction://hlinksldjump" tooltip="Operational database vs data warehou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Operational database vs data warehouse</a:t>
            </a:r>
            <a:endParaRPr lang="en-US" sz="13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Data min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mining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Analytics in organisa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Analytics in organisations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Privacy and ethical issu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Privacy and ethical issues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Data from operational sources is extracted, transformed and loaded into a data warehouse, then analysed with OLAP and data mining to support decis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Data from operational sources is extracted, transformed and loaded into a data warehouse, then analysed with OLAP and data mining to support decisions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big data?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sets so large, fast-arriving or varied that traditional relational databases and tools cannot process them efficiently.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Sources: social media, sensors and IoT devices, card transactions, web logs, GPS, CCTV.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Often unstructured: text, images, video, audio rather than neat tables.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Processed with distributed storage and parallel processing across many servers, e.g. NoSQL databases.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Value comes from finding patterns that support better decisions.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Vs of big data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65018"/>
                <a:gridCol w="4239491"/>
                <a:gridCol w="33250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Volume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Huge quantity of data (terabytes to petabytes)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 Translink smart-card tap for years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Velocity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Speed at which data arrives and must be processed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Live sensor readings from wind turbines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Variety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Many types and formats, structured and unstructured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Tweets, photos, transaction records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Veracity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Trustworthiness and accuracy of the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Fake reviews, faulty sensors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Useful insight that can be gained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Predicting which routes need extra buses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5" grpId="0">
        <p:bldAsOne/>
      </p:bldGraphic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warehousing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data warehouse is a large store of historical data copied from many operational systems, organised for analysis rather than day-to-day processing.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Built by ETL: extract data from sources, transform it (clean, convert formats, remove duplicates), load it into the warehouse.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Data is subject-oriented, integrated, time-variant (historic) and non-volatile (read-only once loaded).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Often denormalised (e.g. a star schema) so analytical queries need fewer joins.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Analysed with OLAP (online analytical processing): slicing and drilling down by time, place or product.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Operational database vs data warehouse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29148"/>
                <a:gridCol w="3583858"/>
                <a:gridCol w="371659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Operational (OLTP) database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warehouse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Run daily transactions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Analysis and decision-making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Current, changing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Historical, read-only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Design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Normalised to 3NF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Often denormalised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Queries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Many short updates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Few, large, complex reads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Operational staff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Managers and analysts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7" grpId="0">
        <p:bldAsOne/>
      </p:bldGraphic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mining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mining is searching large data sets to discover previously unknown patterns, relationships and trends.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Association: customers who buy X also buy Y (market basket analysis).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Classification: assign records to known groups, e.g. likely to default on a loan.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Clustering: find natural groups not known in advance, e.g. customer segments.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Anomaly detection: spot unusual transactions, e.g. card fraud; regression and forecasting predict values.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Analytics in organisations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Descriptive analytics: what happened? (dashboards and reports).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Predictive analytics: what is likely to happen? (forecasting demand, churn).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Prescriptive analytics: what should we do? (optimise stock levels, pricing).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Benefits: targeted marketing, better stock control, fraud detection, improved services, competitive advantage.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Costs: specialist staff (data scientists), storage and processing power, data quality work.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Privacy and ethical issues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collected for one purpose may be used for another, breaching purpose limitation under UK GDPR.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Combining anonymised data sets can re-identify individuals.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Profiling and automated decisions can be biased or discriminatory.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Large stores of personal data are attractive targets for hackers.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Organisations must be transparent, minimise data, secure it and respect data subjects' rights.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V describes the trustworthiness of data?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Volume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Velocity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Veracity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Variety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Veracity  –  Veracity = accuracy and reliability.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the T in ETL stand for?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Transmit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Transform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Transfer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Test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Transform  –  Data is cleaned and converted.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Finding unusual card transactions that may be fraud is…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anomaly detection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association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normalisation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replication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anomaly detection  –  Outliers are flagged.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feature of a data warehouse?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Current data only</a:t>
            </a:r>
            <a:endParaRPr lang="en-US" sz="14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Fully normalised for updates</a:t>
            </a:r>
            <a:endParaRPr lang="en-US" sz="14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Used for daily order entry</a:t>
            </a:r>
            <a:endParaRPr lang="en-US" sz="14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Historical, integrated data for analysis</a:t>
            </a:r>
            <a:endParaRPr lang="en-US" sz="14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7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Historical, integrated data for analysis  –  Time-variant and integrated.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'What should we do?' is answered by…</a:t>
            </a:r>
            <a:endParaRPr lang="en-US" sz="1700" dirty="0"/>
          </a:p>
        </p:txBody>
      </p:sp>
      <p:sp>
        <p:nvSpPr>
          <p:cNvPr id="7" name="trig:k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descriptive analytics</a:t>
            </a:r>
            <a:endParaRPr lang="en-US" sz="1600" dirty="0"/>
          </a:p>
        </p:txBody>
      </p:sp>
      <p:sp>
        <p:nvSpPr>
          <p:cNvPr id="8" name="on:k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prescriptive analytics</a:t>
            </a:r>
            <a:endParaRPr lang="en-US" sz="1600" dirty="0"/>
          </a:p>
        </p:txBody>
      </p:sp>
      <p:sp>
        <p:nvSpPr>
          <p:cNvPr id="10" name="on:k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index</a:t>
            </a:r>
            <a:endParaRPr lang="en-US" sz="1600" dirty="0"/>
          </a:p>
        </p:txBody>
      </p:sp>
      <p:sp>
        <p:nvSpPr>
          <p:cNvPr id="12" name="on:k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transaction log</a:t>
            </a:r>
            <a:endParaRPr lang="en-US" sz="1600" dirty="0"/>
          </a:p>
        </p:txBody>
      </p:sp>
      <p:sp>
        <p:nvSpPr>
          <p:cNvPr id="14" name="on:k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prescriptive analytics  –  Prescriptive analytics recommends actions.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Veracity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Veracity = accuracy and reliability.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Transform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Data is cleaned and converted.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anomaly detection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Outliers are flagged.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Historical, integrated data for analysis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Time-variant and integrated.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prescriptive analytics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Prescriptive analytics recommends actions.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6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and database management</dc:title>
  <dc:subject>A2 1: Information Systems – SQL and database management</dc:subject>
  <dc:creator>Digital Technology Hub</dc:creator>
  <cp:lastModifiedBy>Digital Technology Hub</cp:lastModifiedBy>
  <cp:revision>1</cp:revision>
  <dcterms:created xsi:type="dcterms:W3CDTF">2026-10-30T13:16:13Z</dcterms:created>
  <dcterms:modified xsi:type="dcterms:W3CDTF">2026-10-30T13:16:13Z</dcterms:modified>
</cp:coreProperties>
</file>