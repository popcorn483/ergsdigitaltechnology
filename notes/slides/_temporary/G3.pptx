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d73e198b-f8d8-a0bd-c57e-09cda9a6ae55}">
          <p14:sldIdLst>
            <p14:sldId id="256"/>
            <p14:sldId id="257"/>
            <p14:sldId id="258"/>
          </p14:sldIdLst>
        </p14:section>
        <p14:section name="AP06 · System design: storyboarding, prototyping and data design" id="{1717cd4c-1c84-dff8-2e5c-099915fc5f26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AP07 · Testing and test plans" id="{ea3f68e8-9670-27dd-4016-8257333950d6}">
          <p14:sldIdLst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the purpose of systems design, development and testing and the contents of a design document | Describe the use of storyboarding in developing the user interface | Describe the use of prototyping in the design of the user interface and the data model | Describe the design of inputs, outputs and user interfaces, applying principles of human–computer interaction (HCI) | Describe the design of data structures and the use of a data dictionary | Explain the role of validation and verification in design and describe common validation checks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Explain the importance of testing throughout the development of a system in ensuring system quality | Describe unit and integration testing, including black-box and white-box approaches | Distinguish between system, acceptance, alpha and beta testing | Describe the purpose of a test plan and its main components | Distinguish between normal, boundary (extreme) and erroneous (invalid) test data and select examples for a given rule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32.xml"/><Relationship Id="rId1" Type="http://schemas.openxmlformats.org/officeDocument/2006/relationships/image" Target="../media/image-2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14.xml"/><Relationship Id="rId11" Type="http://schemas.openxmlformats.org/officeDocument/2006/relationships/slide" Target="slide16.xml"/><Relationship Id="rId12" Type="http://schemas.openxmlformats.org/officeDocument/2006/relationships/slide" Target="slide17.xml"/><Relationship Id="rId13" Type="http://schemas.openxmlformats.org/officeDocument/2006/relationships/slide" Target="slide18.xml"/><Relationship Id="rId14" Type="http://schemas.openxmlformats.org/officeDocument/2006/relationships/slide" Target="slide19.xml"/><Relationship Id="rId15" Type="http://schemas.openxmlformats.org/officeDocument/2006/relationships/slide" Target="slide20.xml"/><Relationship Id="rId16" Type="http://schemas.openxmlformats.org/officeDocument/2006/relationships/slide" Target="slide22.xml"/><Relationship Id="rId17" Type="http://schemas.openxmlformats.org/officeDocument/2006/relationships/slide" Target="slide2.xml"/><Relationship Id="rId1" Type="http://schemas.openxmlformats.org/officeDocument/2006/relationships/image" Target="../media/image-5-1.png"/><Relationship Id="rId18" Type="http://schemas.openxmlformats.org/officeDocument/2006/relationships/slideLayout" Target="../slideLayouts/slideLayout3.xml"/><Relationship Id="rId1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3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3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3" Type="http://schemas.openxmlformats.org/officeDocument/2006/relationships/slide" Target="slide35.xml"/><Relationship Id="rId4" Type="http://schemas.openxmlformats.org/officeDocument/2006/relationships/slide" Target="slide36.xml"/><Relationship Id="rId5" Type="http://schemas.openxmlformats.org/officeDocument/2006/relationships/slide" Target="slide37.xml"/><Relationship Id="rId6" Type="http://schemas.openxmlformats.org/officeDocument/2006/relationships/slide" Target="slide38.xml"/><Relationship Id="rId7" Type="http://schemas.openxmlformats.org/officeDocument/2006/relationships/slide" Target="slide40.xml"/><Relationship Id="rId8" Type="http://schemas.openxmlformats.org/officeDocument/2006/relationships/slide" Target="slide41.xml"/><Relationship Id="rId9" Type="http://schemas.openxmlformats.org/officeDocument/2006/relationships/slide" Target="slide42.xml"/><Relationship Id="rId10" Type="http://schemas.openxmlformats.org/officeDocument/2006/relationships/slide" Target="slide43.xml"/><Relationship Id="rId11" Type="http://schemas.openxmlformats.org/officeDocument/2006/relationships/slide" Target="slide44.xml"/><Relationship Id="rId12" Type="http://schemas.openxmlformats.org/officeDocument/2006/relationships/slide" Target="slide46.xml"/><Relationship Id="rId13" Type="http://schemas.openxmlformats.org/officeDocument/2006/relationships/slide" Target="slide47.xml"/><Relationship Id="rId14" Type="http://schemas.openxmlformats.org/officeDocument/2006/relationships/slide" Target="slide48.xml"/><Relationship Id="rId15" Type="http://schemas.openxmlformats.org/officeDocument/2006/relationships/slide" Target="slide49.xml"/><Relationship Id="rId16" Type="http://schemas.openxmlformats.org/officeDocument/2006/relationships/slide" Target="slide51.xml"/><Relationship Id="rId17" Type="http://schemas.openxmlformats.org/officeDocument/2006/relationships/slide" Target="slide2.xml"/><Relationship Id="rId1" Type="http://schemas.openxmlformats.org/officeDocument/2006/relationships/image" Target="../media/image-33-1.png"/><Relationship Id="rId18" Type="http://schemas.openxmlformats.org/officeDocument/2006/relationships/slideLayout" Target="../slideLayouts/slideLayout3.xml"/><Relationship Id="rId19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3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3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3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3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3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4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4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4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4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4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4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4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4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4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5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5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5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5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5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5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5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5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5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5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6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1: APPROACHES TO SYSTEMS DEVELOPMENT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System design, development and testing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AP06  System design: storyboarding, prototyping and data design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AP07  Testing and test plans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3" action="ppaction://hlinksldjump" tooltip="AP06  System design: storyboarding, prototyping and data desig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AP06  System design: storyboarding, prototyping and data design</a:t>
            </a:r>
            <a:endParaRPr lang="en-US" sz="1200" dirty="0"/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4" action="ppaction://hlinksldjump" tooltip="AP07  Testing and test pla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AP07  Testing and test plans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AP06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the purpose of systems design, development and testing and the contents of a design document; Describe the use of storyboarding in developing the user interface; Describe the use of prototyping in the design of the user interface and the data model; Describe the design of inputs, outputs and user interfaces, applying principles of human–computer interaction (HCI); Describe the design of data structures and the use of a data dictionary; Explain the role of validation and verification in design and describe common validation checks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AP07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Explain the importance of testing throughout the development of a system in ensuring system quality; Describe unit and integration testing, including black-box and white-box approaches; Distinguish between system, acceptance, alpha and beta testing; Describe the purpose of a test plan and its main components; Distinguish between normal, boundary (extreme) and erroneous (invalid) test data and select examples for a given rule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7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1: APPROACHES TO SYSTEMS DEVELOPMENT  ·  AP06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System design: storyboarding, prototyping and data design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what the design phase produces and how it leads into development and testing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how storyboards and prototypes are used to get user feedback, with advantages and disadvantages of each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Apply HCI principles to evaluate and design input screens and outputs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Produce a data dictionary entry for a data item, including a precise validation rule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Distinguish between validation and verification with examples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Design, development and tes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Design, development and testing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What goes in the design document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goes in the design document?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Storyboarding the user interfa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Storyboarding the user interface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Worked example: canteen pre-order app (version 1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canteen pre-order app (version 1)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Worked example: feedback changes the story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feedback changes the storyboard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Storyboarding: pros and c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Storyboarding: pros and cons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Prototyp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Prototyping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Prototyping the interface and the data mod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Prototyping the interface and the data model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Prototyping: pros and c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Prototyping: pros and cons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324612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HCI principles for interface desig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HCI principles for interface design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324612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Input and output desig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Input and output design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Data structures and the data dictiona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structures and the data dictionary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5" action="ppaction://hlinksldjump" tooltip="Validation and verific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Validation and verification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6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2" name="btn">
            <a:hlinkClick r:id="rId17" action="ppaction://hlinksldjump"/>
          </p:cNvPr>
          <p:cNvSpPr/>
          <p:nvPr/>
        </p:nvSpPr>
        <p:spPr>
          <a:xfrm>
            <a:off x="603504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7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An annotated input screen design for registering a pet, with numbered HCI features, beside part of its data dictiona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An annotated input screen design for registering a pet, with numbered HCI features, beside part of its data dictionary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Design, development and testing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Design: a creative stage that plans how the new system will meet the user requirements found during analysis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Design can only start once analysis is complete – the designer must understand what the system is for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Development: programmers turn the design into code, usually as a set of linked modules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Testing: modules are checked on their own and as they are joined, to make sure they match the specification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good design cuts errors, development time and the cost of later maintenance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What goes in the design document?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User interface design: screen layouts, menus and navigation between screens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Input design (data to capture and how) and output design, including printed or on-screen reports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Data structures: tables, files, records, arrays and the data dictionary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Validation and verification required for each data item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Algorithms for key processes, security/access levels and an initial test plan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Used by programmers to build, testers to test and maintenance staff to understand the system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Storyboarding the user interface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Borrowed from film-making, where scenes are planned as a series of sketches before filming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 software, each screen or page is sketched as a frame showing what it contains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Every input and output on each screen is identified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Arrows show navigation: which button or link leads to which screen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Designers walk users through the storyboard to spot awkward routes and missing features early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Worked example: canteen pre-order app (version 1)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50587"/>
                <a:gridCol w="2188723"/>
                <a:gridCol w="2538919"/>
                <a:gridCol w="24513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Screen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Inputs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Outputs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Leads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Log in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Pupil ID, PIN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Error message if wrong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Today’s menu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Today’s menu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Tap a dish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Dishes, prices, allergens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Dish details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Dish details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Quantity, ‘Add to basket’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Description, price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Basket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Basket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Remove item, ‘Pay’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Items, total, balance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Confirmation or Today’s menu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Confirmation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‘Done’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Order number, collection 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Log in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1" grpId="0">
        <p:bldAsOne/>
      </p:bldGraphic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Worked example: feedback changes the storyboard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Year 9 test group in a Newry school walks through the storyboard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Problem 1: adding three dishes means going Menu → Details → Basket → Menu three times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Problem 2: there is no way to see allergens before opening each dish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Change: add a ‘+’ button and allergen icons on the menu screen; Dish details becomes optional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Result: a typical order drops from about 10 taps to 4 – found before any code was written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Storyboarding: pros and cons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777521"/>
                <a:gridCol w="445207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Disadvantages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Quick and cheap to produce, even on 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Not interactive – users cannot click through it like real software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Promotes early communication between designers and users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Gives only limited detail about each screen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Users need no technical knowledge to understand 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Cannot show speed, responsiveness or true usability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Feedback on navigation and functions is gained early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Users may imagine the finished system differently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Changes are cheap because nothing has been built yet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Usually needs a prototype later to judge real usability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3" grpId="0">
        <p:bldAsOne/>
      </p:bldGraphic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Prototyping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 prototype is an early, incomplete, working model of the software shown to users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Gives users the ‘look and feel’ of the system so they can react to something real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Often has stubs: menu options or buttons that exist but do nothing yet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Little or no validation – it may only work with perfectly correct input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Throw-away prototypes are discarded after feedback; evolutionary prototypes are refined into the final system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Both designers and programmers benefit from feedback before full development starts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Prototyping the interface and the data model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Interface: try out menu layouts, colour schemes and screen designs and collect users’ opinions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Interface: client and developer check that the prototype meets the agreed requirements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Data model: focus on the inputs needed, the outputs required and the processing between them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Data model: this reveals the tables (entities) and relationships the system needs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Canteen example: Pupil, Dish, Order and OrderLine tables emerge from the inputs and the receipt output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Prototyping the interface and the data model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Prototype main menu: only option 1 is built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Console.WriteLine("1. View today's menu");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Console.WriteLine("2. Order history");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Console.WriteLine("3. Top up balance");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choice = Console.ReadLine();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(choice == "1")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Console.WriteLine("Chicken curry £2.40 | Pasta bake £2.10");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Console.WriteLine("Coming soon"); // stub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Prototyping: pros and cons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212000"/>
                <a:gridCol w="401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Disadvantages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Improves the quality of the requirements given to developers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Can be expensive, so developers may resist big changes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Problems, refinements and enhancements are found earlier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Users may accept an early version and better ideas are lost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Users are involved, so feedback is fuller and they feel ownership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Users may focus on appearance and forget accuracy and security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 working model reduces misunderstandings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Too much time can be spent polishing the prototype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Users help shape the interface, giving a better product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Users may expect the real system to be ready very soon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7" grpId="0">
        <p:bldAsOne/>
      </p:bldGraphic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HCI principles for interface design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43608"/>
                <a:gridCol w="68859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Principle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means in practice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Consistency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Same layout, colours, button positions and wording on every screen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Feedback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Confirm actions and give clear, helpful error messages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Error prevention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Drop-down lists, date pickers and validation; confirm before deleting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Low memory load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Show options rather than making users remember codes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Accessibility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Good contrast, scalable text, keyboard use, screen-reader labels, not colour alone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Suit the user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Shortcuts for experts; guidance and help for novices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8" grpId="0">
        <p:bldAsOne/>
      </p:bldGraphic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Input and output design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Input design: decide what data to capture, the method (keyboard, barcode, form, sensor) and the layout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Reduce typing and errors with drop-down lists, option buttons, date pickers and sensible defaults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Output design: decide content, format and medium of screens, reports and documents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Match outputs to the audience, e.g. a summary chart for the principal, a detailed list for the canteen manager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Designs are shown as annotated sketches, wireframes, storyboards or prototypes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Data structures and the data dictionary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77686"/>
                <a:gridCol w="881743"/>
                <a:gridCol w="1567543"/>
                <a:gridCol w="3722914"/>
                <a:gridCol w="97971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Length / format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Validation rule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PupilID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6, format LL9999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Presence; format; unique (primary key)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NW4821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DateOfBirth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Date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dd/mm/yyyy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Range: age 11 to 19 on 1 September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14/03/2011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Postcode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6–8 characters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Format: starts BT, then 1–2 digits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BT35 6AB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Balance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Currency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2 d.p.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Range 0.00 to 100.00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12.60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FreeMeals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Boolean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Yes/No only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False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CollectBy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Time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hh:mm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Lookup: 12:40 or 13:20 only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12:40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20" grpId="0">
        <p:bldAsOne/>
      </p:bldGraphic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Validation and verification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Validation: automatic checks by the system that data is sensible and obeys rules – it cannot prove data is correct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Checks: presence, type, range, length, format, lookup (list), check digit, consistency (cross-field)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Verification: checks data has been entered or copied accurately, e.g. typing a password twice, proof-reading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Validation rules are decided at design time and recorded in the data dictionary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Validation and verification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Console.Write("Top-up amount (£): 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input = Console.ReadLine();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 amount;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(input == "")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Console.WriteLine("Presence check failed: enter an amount");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(!decimal.TryParse(input, out amount))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Console.WriteLine("Type check failed: enter a number");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(amount &lt; 1 || amount &gt; 50)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Console.WriteLine("Range check failed: £1 to £50 only");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Console.WriteLine("Accepted: £" + amount.ToString("0.00"));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1C"/>
                </a:solidFill>
              </a:rPr>
              <a:t>A designer sketches every screen of a new app, lists the inputs and outputs on each and draws arrows showing how users move between them. What technique is this?</a:t>
            </a:r>
            <a:endParaRPr lang="en-US" sz="15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Prototyping</a:t>
            </a:r>
            <a:endParaRPr lang="en-US" sz="160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Storyboarding</a:t>
            </a:r>
            <a:endParaRPr lang="en-US" sz="160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Black-box testing</a:t>
            </a:r>
            <a:endParaRPr lang="en-US" sz="160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Data conversion</a:t>
            </a:r>
            <a:endParaRPr lang="en-US" sz="160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Storyboarding  –  A storyboard is a sequence of screen sketches showing contents and navigation; it is not a working model.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 disadvantage of prototyping rather than an advantage?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Problems are found earlier</a:t>
            </a:r>
            <a:endParaRPr lang="en-US" sz="140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Users are more involved</a:t>
            </a:r>
            <a:endParaRPr lang="en-US" sz="140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Users may expect the finished system to be ready very soon</a:t>
            </a:r>
            <a:endParaRPr lang="en-US" sz="140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Misunderstandings are reduced</a:t>
            </a:r>
            <a:endParaRPr lang="en-US" sz="140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Users may expect the finished system to be ready very soon  –  Seeing something that looks finished can give users unrealistic expectations of how quickly the real system can be delivered.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 a prototype, a ‘Print report’ button that displays ‘Coming soon’ is an example of a…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stub</a:t>
            </a:r>
            <a:endParaRPr lang="en-US" sz="16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check digit</a:t>
            </a:r>
            <a:endParaRPr lang="en-US" sz="16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storyboard</a:t>
            </a:r>
            <a:endParaRPr lang="en-US" sz="16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patch</a:t>
            </a:r>
            <a:endParaRPr lang="en-US" sz="16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stub  –  A stub is a placeholder for functionality that has not been built yet.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check ensures a field has not been left blank?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Range</a:t>
            </a:r>
            <a:endParaRPr lang="en-US" sz="16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Format</a:t>
            </a:r>
            <a:endParaRPr lang="en-US" sz="16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Type</a:t>
            </a:r>
            <a:endParaRPr lang="en-US" sz="16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Presence</a:t>
            </a:r>
            <a:endParaRPr lang="en-US" sz="16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Presence  –  A presence check makes data entry in that field compulsory.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Checking that a follow-up date is after the appointment date is a…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length check</a:t>
            </a:r>
            <a:endParaRPr lang="en-US" sz="160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consistency (cross-field) check</a:t>
            </a:r>
            <a:endParaRPr lang="en-US" sz="160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check digit</a:t>
            </a:r>
            <a:endParaRPr lang="en-US" sz="160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type check</a:t>
            </a:r>
            <a:endParaRPr lang="en-US" sz="160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consistency (cross-field) check  –  It compares the values of two fields with each other.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HCI principle is shown by placing the Save button in the same place on every screen?</a:t>
            </a:r>
            <a:endParaRPr lang="en-US" sz="1700" dirty="0"/>
          </a:p>
        </p:txBody>
      </p:sp>
      <p:sp>
        <p:nvSpPr>
          <p:cNvPr id="7" name="trig:k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Feedback</a:t>
            </a:r>
            <a:endParaRPr lang="en-US" sz="1600" dirty="0"/>
          </a:p>
        </p:txBody>
      </p:sp>
      <p:sp>
        <p:nvSpPr>
          <p:cNvPr id="8" name="on:k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Accessibility</a:t>
            </a:r>
            <a:endParaRPr lang="en-US" sz="1600" dirty="0"/>
          </a:p>
        </p:txBody>
      </p:sp>
      <p:sp>
        <p:nvSpPr>
          <p:cNvPr id="10" name="on:k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Consistency</a:t>
            </a:r>
            <a:endParaRPr lang="en-US" sz="1600" dirty="0"/>
          </a:p>
        </p:txBody>
      </p:sp>
      <p:sp>
        <p:nvSpPr>
          <p:cNvPr id="12" name="on:k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Verification</a:t>
            </a:r>
            <a:endParaRPr lang="en-US" sz="1600" dirty="0"/>
          </a:p>
        </p:txBody>
      </p:sp>
      <p:sp>
        <p:nvSpPr>
          <p:cNvPr id="14" name="on:k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Consistency  –  Users learn where controls are and can work faster with fewer mistakes.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Proof-reading data on screen against the original paper form is…</a:t>
            </a:r>
            <a:endParaRPr lang="en-US" sz="1700" dirty="0"/>
          </a:p>
        </p:txBody>
      </p:sp>
      <p:sp>
        <p:nvSpPr>
          <p:cNvPr id="7" name="trig:k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verification</a:t>
            </a:r>
            <a:endParaRPr lang="en-US" sz="1600" dirty="0"/>
          </a:p>
        </p:txBody>
      </p:sp>
      <p:sp>
        <p:nvSpPr>
          <p:cNvPr id="8" name="on:k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validation</a:t>
            </a:r>
            <a:endParaRPr lang="en-US" sz="1600" dirty="0"/>
          </a:p>
        </p:txBody>
      </p:sp>
      <p:sp>
        <p:nvSpPr>
          <p:cNvPr id="10" name="on:k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normalisation</a:t>
            </a:r>
            <a:endParaRPr lang="en-US" sz="1600" dirty="0"/>
          </a:p>
        </p:txBody>
      </p:sp>
      <p:sp>
        <p:nvSpPr>
          <p:cNvPr id="12" name="on:k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encryption</a:t>
            </a:r>
            <a:endParaRPr lang="en-US" sz="1600" dirty="0"/>
          </a:p>
        </p:txBody>
      </p:sp>
      <p:sp>
        <p:nvSpPr>
          <p:cNvPr id="14" name="on:k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verification  –  It checks the data was copied accurately from the source.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How can prototyping help design the data model?</a:t>
            </a:r>
            <a:endParaRPr lang="en-US" sz="1700" dirty="0"/>
          </a:p>
        </p:txBody>
      </p:sp>
      <p:sp>
        <p:nvSpPr>
          <p:cNvPr id="7" name="trig:k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encrypts the tables</a:t>
            </a:r>
            <a:endParaRPr lang="en-US" sz="1250" dirty="0"/>
          </a:p>
        </p:txBody>
      </p:sp>
      <p:sp>
        <p:nvSpPr>
          <p:cNvPr id="8" name="on:k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removes the need for a data dictionary</a:t>
            </a:r>
            <a:endParaRPr lang="en-US" sz="1250" dirty="0"/>
          </a:p>
        </p:txBody>
      </p:sp>
      <p:sp>
        <p:nvSpPr>
          <p:cNvPr id="10" name="on:k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tests the hardware</a:t>
            </a:r>
            <a:endParaRPr lang="en-US" sz="1250" dirty="0"/>
          </a:p>
        </p:txBody>
      </p:sp>
      <p:sp>
        <p:nvSpPr>
          <p:cNvPr id="12" name="on:k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Focusing on inputs, outputs and processes reveals the tables and relationships needed</a:t>
            </a:r>
            <a:endParaRPr lang="en-US" sz="1250" dirty="0"/>
          </a:p>
        </p:txBody>
      </p:sp>
      <p:sp>
        <p:nvSpPr>
          <p:cNvPr id="14" name="on:k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3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Focusing on inputs, outputs and processes reveals the tables and relationships needed  –  Working out what goes in and comes out shows what data must be stored and how it is related.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 limitation of a storyboard?</a:t>
            </a:r>
            <a:endParaRPr lang="en-US" sz="1700" dirty="0"/>
          </a:p>
        </p:txBody>
      </p:sp>
      <p:sp>
        <p:nvSpPr>
          <p:cNvPr id="7" name="trig:k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needs specialist knowledge to read</a:t>
            </a:r>
            <a:endParaRPr lang="en-US" sz="1400" dirty="0"/>
          </a:p>
        </p:txBody>
      </p:sp>
      <p:sp>
        <p:nvSpPr>
          <p:cNvPr id="8" name="on:k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cannot show how responsive the system will be</a:t>
            </a:r>
            <a:endParaRPr lang="en-US" sz="1400" dirty="0"/>
          </a:p>
        </p:txBody>
      </p:sp>
      <p:sp>
        <p:nvSpPr>
          <p:cNvPr id="10" name="on:k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is expensive to produce</a:t>
            </a:r>
            <a:endParaRPr lang="en-US" sz="1400" dirty="0"/>
          </a:p>
        </p:txBody>
      </p:sp>
      <p:sp>
        <p:nvSpPr>
          <p:cNvPr id="12" name="on:k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can only be made after coding</a:t>
            </a:r>
            <a:endParaRPr lang="en-US" sz="1400" dirty="0"/>
          </a:p>
        </p:txBody>
      </p:sp>
      <p:sp>
        <p:nvSpPr>
          <p:cNvPr id="14" name="on:k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It cannot show how responsive the system will be  –  Sketches cannot convey speed or responsiveness, so usability can only be partly judged.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Storyboarding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storyboard is a sequence of screen sketches showing contents and navigation; it is not a working model.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Users may expect the finished system to be ready very soon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Seeing something that looks finished can give users unrealistic expectations of how quickly the real system can be delivered.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stub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stub is a placeholder for functionality that has not been built yet.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Presence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presence check makes data entry in that field compulsory.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consistency (cross-field) check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compares the values of two fields with each other.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Consistency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Users learn where controls are and can work faster with fewer mistakes.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verification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checks the data was copied accurately from the source.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Focusing on inputs, outputs and processes reveals the tables and relationships needed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Working out what goes in and comes out shows what data must be stored and how it is related.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It cannot show how responsive the system will be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Sketches cannot convey speed or responsiveness, so usability can only be partly judged.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2" grpId="0">
        <p:bldAsOne/>
      </p:bldGraphic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1: APPROACHES TO SYSTEMS DEVELOPMENT  ·  AP07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Testing and test plans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why testing happens at every stage and why unit testing alone is not enough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each stage of testing, who carries it out and where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Compare black-box and white-box testing using an example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Write a test plan with normal, boundary and erroneous data and specific expected outcomes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Why test – and why all the way through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test – and why all the way through?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The stages of tes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stages of testing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Unit testing: black box and white bo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Unit testing: black box and white box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Worked example: a water bill modu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a water bill module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Integration tes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Integration testing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System, alpha and beta tes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System, alpha and beta testing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Acceptance tes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Acceptance testing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What a test plan is fo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a test plan is for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Components of a test pl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Components of a test plan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324612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Normal, boundary and erroneous da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Normal, boundary and erroneous data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324612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Worked example: cinema ticket categor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cinema ticket categories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Worked example: test plan for the ticket modu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test plan for the ticket module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5" action="ppaction://hlinksldjump" tooltip="Finding the bug from a failed t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Finding the bug from a failed test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6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2" name="btn">
            <a:hlinkClick r:id="rId17" action="ppaction://hlinksldjump"/>
          </p:cNvPr>
          <p:cNvSpPr/>
          <p:nvPr/>
        </p:nvSpPr>
        <p:spPr>
          <a:xfrm>
            <a:off x="603504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7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Levels of testing from unit to acceptance, and normal, boundary and erroneous test data on a number line for a valid range of 1 to 1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Levels of testing from unit to acceptance, and normal, boundary and erroneous test data on a number line for a valid range of 1 to 10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Why test – and why all the way through?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To find and remove errors before the system is used for real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To show the system meets the user requirements and the specification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To give the client confidence before they accept and pay for the system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Testing is ongoing: each unit, each join between units, then the whole system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An error found late costs far more to fix than one found early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Testing shows the presence of errors; it can never prove there are none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stages of testing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18457"/>
                <a:gridCol w="4180114"/>
                <a:gridCol w="333102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is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Usually by / where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Each module or subroutine on its own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Programmer, in-house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Integration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Tested units joined, checking data passes correctly between them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Developer, in-house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System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Whole integrated system against the agreed specification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Developer’s test team, in-house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Alpha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Final in-house phase before handover, following a test plan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Developer’s staff, in-house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Beta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Pre-release version in a realistic setting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Selected external users, without developers present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Acceptance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Live environment, real volumes of data, against the requirements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Client / end users, who then sign off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7" grpId="0">
        <p:bldAsOne/>
      </p:bldGraphic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Unit testing: black box and white box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88761"/>
                <a:gridCol w="3372787"/>
                <a:gridCol w="29680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Black-box (functional)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White-box (structural, ‘glass box’)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Can the tester see the code?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 – only what it should do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Yes – full access to the code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Tests are based 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Inputs and expected outputs from the specification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Paths, branches and loops in the code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Typical tester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Independent or non-technical testers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Programmers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Good at finding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Missing or wrong functions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Errors in particular paths, unreachable code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Techniques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Normal, boundary and erroneous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Dry runs, trace tables, testing every branch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8" grpId="0">
        <p:bldAsOne/>
      </p:bldGraphic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a water bill module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council module charges £1.50 per cubic metre (m³) for households, or £1.20 per m³ for businesses using over 100 m³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Black box: enter usage and type, compare the bill with the expected bill – e.g. household 10 m³ → £15.00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White box: the tester sees three branches and writes a test for each one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Branch tests: household 10 → £15.00; business 80 → £120.00; business 200 → £240.00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Boundary at the branch: business 100 → £150.00 and business 101 → £121.20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a water bill module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 Bill(decimal m3, bool business)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(!business)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m3 * 1.50m;          // branch 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if (m3 &lt;= 100)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m3 * 1.50m;          // branch 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m3 * 1.20m;          // branch 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Console.WriteLine(Bill(10, false));  // 15.00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Console.WriteLine(Bill(100, true));  // 150.00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Console.WriteLine(Bill(101, true));  // 121.20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Integration testing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Units that each work alone may still fail when joined – problems appear at the interfaces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Example: a booking unit stores dates as day/month/year but the billing unit reads month/day/year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So 04/07/2026 (4 July) is read as 7 April – each unit passed its own tests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Fixing it means changing a unit, re-running its unit tests, then integrating again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Prevention: agree data formats early, in the data dictionary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System, alpha and beta testing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System testing: the complete system checked against its agreed specification – essentially black-box testing of the whole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Alpha testing: the final in-house phase by the developer, including unit, integration and system tests, following a test plan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Small adjustments are still possible once alpha testing ends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Beta testing: a pre-release version given to a group of potential users in a realistic environment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Beta testers work without the developers present and report faults – a form of external user acceptance testing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Acceptance testing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final test, after system testing, when the software is ready to hand over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End users try it out in their real working setting, using genuine data at realistic volumes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Checks the system meets their requirements and works with the organisation’s other systems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Users report problems; once these are resolved they sign off the software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Sign-off means the contract is formally complete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What a test plan is for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Testing is systematic, not random: the plan lists every test before testing starts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Aim: test thoroughly, especially the vulnerable points such as limits and unusual paths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Should cover the requirements, performance against the design, every pathway and every validation routine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Written by the test designer; carried out and completed by the tester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systems analyst can supply test data (especially boundaries) and check results against the specification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Components of a test plan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79479"/>
                <a:gridCol w="5548045"/>
                <a:gridCol w="12020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Content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Completed by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Test number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1, 2, 3…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Test designer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Part of system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e.g. Ticket-price module, age input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Test designer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What is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Type of data and purpose, e.g. ‘Boundary – lowest valid age’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Test designer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Test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exact value(s) to enter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Test designer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Expected outcome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Precise result, e.g. ‘Price £4.00 shown’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Test designer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Actual outcome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What really happened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Tester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5" grpId="0">
        <p:bldAsOne/>
      </p:bldGraphic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Components of a test plan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79479"/>
                <a:gridCol w="5548045"/>
                <a:gridCol w="12020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Content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Completed by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Pass / Fail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PASS if actual = expected, otherwise FAIL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Tester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6" grpId="0">
        <p:bldAsOne/>
      </p:bldGraphic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Normal, boundary and erroneous data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Normal (valid): typical data that should be accepted and processed, correct in type and format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Boundary (extreme): valid values at the very edges of the range – the most likely place for errors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Erroneous (invalid/exceptional): wrong in type, format or range – it should be rejected with a message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Many testers also test just outside each limit; record these as invalid data that should be rejected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 marks rule 0–100 whole numbers: normal 43, 72; boundary 0, 100; erroneous −5, 101, 55.5, ‘sixty’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cinema ticket categories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214203"/>
                <a:gridCol w="2158584"/>
                <a:gridCol w="3507698"/>
                <a:gridCol w="13491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Age rule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Normal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Boundary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Child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 to 15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 and 15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Adult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16 to 59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16 and 59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Senior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60 to 110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72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60 and 110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Erroneous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Must be rejected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2, 111, 12.5, ‘ten’, blank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8" grpId="0">
        <p:bldAsOne/>
      </p:bldGraphic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Worked example: test plan for the ticket module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61109"/>
                <a:gridCol w="2431473"/>
                <a:gridCol w="561109"/>
                <a:gridCol w="2057400"/>
                <a:gridCol w="2057400"/>
                <a:gridCol w="56110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No.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What is tested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Expected outcome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Actual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P/F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Normal – child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Child ticket £5.50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Child ticket £5.50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Boundary – top of child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Child ticket £5.50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Adult ticket £8.50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FAIL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Boundary – bottom of adult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16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Adult ticket £8.50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Adult ticket £8.50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Erroneous – decimal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12.5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‘Enter a whole number’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‘Enter a whole number’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Erroneous – text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ten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‘Enter a whole number’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Program crashed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FAIL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9" grpId="0">
        <p:bldAsOne/>
      </p:bldGraphic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Finding the bug from a failed test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Test 2 failed: age 15 gave an adult ticket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Cause: the programmer wrote age &lt; 15 instead of age &lt;= 15 (an off-by-one error)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Test 5 failed: int.Parse crashes on text, so int.TryParse is used instead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After fixing, re-run every test, not just the failed ones (regression testing)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Finding the bug from a failed test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Console.Write("Age: ");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(!int.TryParse(Console.ReadLine(), out age) || age &lt; 3 || age &gt; 110)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Console.WriteLine("Enter a whole number from 3 to 110");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(age &lt;= 15)   // was age &lt; 15 – failed test 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Console.WriteLine("Child ticket £5.50");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(age &lt;= 59)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Console.WriteLine("Adult ticket £8.50");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Console.WriteLine("Senior ticket £6.00");</a:t>
            </a:r>
            <a:endParaRPr lang="en-US" sz="14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1C"/>
                </a:solidFill>
              </a:rPr>
              <a:t>Two modules each pass their own tests, but when joined one reads dates as day/month/year and the other as month/day/year. Which stage of testing should find this?</a:t>
            </a:r>
            <a:endParaRPr lang="en-US" sz="1500" dirty="0"/>
          </a:p>
        </p:txBody>
      </p:sp>
      <p:sp>
        <p:nvSpPr>
          <p:cNvPr id="7" name="trig:k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Unit testing</a:t>
            </a:r>
            <a:endParaRPr lang="en-US" sz="1600" dirty="0"/>
          </a:p>
        </p:txBody>
      </p:sp>
      <p:sp>
        <p:nvSpPr>
          <p:cNvPr id="8" name="on:k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Integration testing</a:t>
            </a:r>
            <a:endParaRPr lang="en-US" sz="1600" dirty="0"/>
          </a:p>
        </p:txBody>
      </p:sp>
      <p:sp>
        <p:nvSpPr>
          <p:cNvPr id="10" name="on:k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Beta testing</a:t>
            </a:r>
            <a:endParaRPr lang="en-US" sz="1600" dirty="0"/>
          </a:p>
        </p:txBody>
      </p:sp>
      <p:sp>
        <p:nvSpPr>
          <p:cNvPr id="12" name="on:k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White-box testing of one module</a:t>
            </a:r>
            <a:endParaRPr lang="en-US" sz="1600" dirty="0"/>
          </a:p>
        </p:txBody>
      </p:sp>
      <p:sp>
        <p:nvSpPr>
          <p:cNvPr id="14" name="on:k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Integration testing  –  The fault lies at the interface between units, which is exactly what integration testing checks.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games studio releases a pre-release version to 2 000 volunteer players who play at home and report bugs. This is…</a:t>
            </a:r>
            <a:endParaRPr lang="en-US" sz="1700" dirty="0"/>
          </a:p>
        </p:txBody>
      </p:sp>
      <p:sp>
        <p:nvSpPr>
          <p:cNvPr id="7" name="trig:k4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alpha testing</a:t>
            </a:r>
            <a:endParaRPr lang="en-US" sz="1600" dirty="0"/>
          </a:p>
        </p:txBody>
      </p:sp>
      <p:sp>
        <p:nvSpPr>
          <p:cNvPr id="8" name="on:k4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acceptance testing</a:t>
            </a:r>
            <a:endParaRPr lang="en-US" sz="1600" dirty="0"/>
          </a:p>
        </p:txBody>
      </p:sp>
      <p:sp>
        <p:nvSpPr>
          <p:cNvPr id="10" name="on:k4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beta testing</a:t>
            </a:r>
            <a:endParaRPr lang="en-US" sz="1600" dirty="0"/>
          </a:p>
        </p:txBody>
      </p:sp>
      <p:sp>
        <p:nvSpPr>
          <p:cNvPr id="12" name="on:k4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unit testing</a:t>
            </a:r>
            <a:endParaRPr lang="en-US" sz="1600" dirty="0"/>
          </a:p>
        </p:txBody>
      </p:sp>
      <p:sp>
        <p:nvSpPr>
          <p:cNvPr id="14" name="on:k4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beta testing  –  External potential users test a near-final version in a realistic environment, without developers present.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Testing a single subroutine on its own is…</a:t>
            </a:r>
            <a:endParaRPr lang="en-US" sz="1700" dirty="0"/>
          </a:p>
        </p:txBody>
      </p:sp>
      <p:sp>
        <p:nvSpPr>
          <p:cNvPr id="7" name="trig:k4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unit testing</a:t>
            </a:r>
            <a:endParaRPr lang="en-US" sz="1600" dirty="0"/>
          </a:p>
        </p:txBody>
      </p:sp>
      <p:sp>
        <p:nvSpPr>
          <p:cNvPr id="8" name="on:k4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4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system testing</a:t>
            </a:r>
            <a:endParaRPr lang="en-US" sz="1600" dirty="0"/>
          </a:p>
        </p:txBody>
      </p:sp>
      <p:sp>
        <p:nvSpPr>
          <p:cNvPr id="10" name="on:k4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acceptance testing</a:t>
            </a:r>
            <a:endParaRPr lang="en-US" sz="1600" dirty="0"/>
          </a:p>
        </p:txBody>
      </p:sp>
      <p:sp>
        <p:nvSpPr>
          <p:cNvPr id="12" name="on:k4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beta testing</a:t>
            </a:r>
            <a:endParaRPr lang="en-US" sz="1600" dirty="0"/>
          </a:p>
        </p:txBody>
      </p:sp>
      <p:sp>
        <p:nvSpPr>
          <p:cNvPr id="14" name="on:k4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unit testing  –  One unit or module is tested in isolation.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testing approach designs tests so that every branch of an IF statement is run?</a:t>
            </a:r>
            <a:endParaRPr lang="en-US" sz="1700" dirty="0"/>
          </a:p>
        </p:txBody>
      </p:sp>
      <p:sp>
        <p:nvSpPr>
          <p:cNvPr id="7" name="trig:k4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Black-box</a:t>
            </a:r>
            <a:endParaRPr lang="en-US" sz="1600" dirty="0"/>
          </a:p>
        </p:txBody>
      </p:sp>
      <p:sp>
        <p:nvSpPr>
          <p:cNvPr id="8" name="on:k4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Beta</a:t>
            </a:r>
            <a:endParaRPr lang="en-US" sz="1600" dirty="0"/>
          </a:p>
        </p:txBody>
      </p:sp>
      <p:sp>
        <p:nvSpPr>
          <p:cNvPr id="10" name="on:k5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Acceptance</a:t>
            </a:r>
            <a:endParaRPr lang="en-US" sz="1600" dirty="0"/>
          </a:p>
        </p:txBody>
      </p:sp>
      <p:sp>
        <p:nvSpPr>
          <p:cNvPr id="12" name="on:k5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White-box</a:t>
            </a:r>
            <a:endParaRPr lang="en-US" sz="1600" dirty="0"/>
          </a:p>
        </p:txBody>
      </p:sp>
      <p:sp>
        <p:nvSpPr>
          <p:cNvPr id="14" name="on:k5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5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White-box  –  White-box testing uses the internal structure of the code.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Valid range 10 to 20 whole numbers. Which is erroneous data?</a:t>
            </a:r>
            <a:endParaRPr lang="en-US" sz="1700" dirty="0"/>
          </a:p>
        </p:txBody>
      </p:sp>
      <p:sp>
        <p:nvSpPr>
          <p:cNvPr id="7" name="trig:k5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15</a:t>
            </a:r>
            <a:endParaRPr lang="en-US" sz="1600" dirty="0"/>
          </a:p>
        </p:txBody>
      </p:sp>
      <p:sp>
        <p:nvSpPr>
          <p:cNvPr id="8" name="on:k5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</a:t>
            </a:r>
            <a:endParaRPr lang="en-US" sz="1600" dirty="0"/>
          </a:p>
        </p:txBody>
      </p:sp>
      <p:sp>
        <p:nvSpPr>
          <p:cNvPr id="10" name="on:k5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twelve</a:t>
            </a:r>
            <a:endParaRPr lang="en-US" sz="1600" dirty="0"/>
          </a:p>
        </p:txBody>
      </p:sp>
      <p:sp>
        <p:nvSpPr>
          <p:cNvPr id="12" name="on:k5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5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20</a:t>
            </a:r>
            <a:endParaRPr lang="en-US" sz="1600" dirty="0"/>
          </a:p>
        </p:txBody>
      </p:sp>
      <p:sp>
        <p:nvSpPr>
          <p:cNvPr id="14" name="on:k5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twelve  –  Text in a numeric field is the wrong type, so it should be rejected.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test is carried out by end users with real volumes of data, before they sign off the system?</a:t>
            </a:r>
            <a:endParaRPr lang="en-US" sz="1700" dirty="0"/>
          </a:p>
        </p:txBody>
      </p:sp>
      <p:sp>
        <p:nvSpPr>
          <p:cNvPr id="7" name="trig:k5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Acceptance</a:t>
            </a:r>
            <a:endParaRPr lang="en-US" sz="1600" dirty="0"/>
          </a:p>
        </p:txBody>
      </p:sp>
      <p:sp>
        <p:nvSpPr>
          <p:cNvPr id="8" name="on:k5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5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Alpha</a:t>
            </a:r>
            <a:endParaRPr lang="en-US" sz="1600" dirty="0"/>
          </a:p>
        </p:txBody>
      </p:sp>
      <p:sp>
        <p:nvSpPr>
          <p:cNvPr id="10" name="on:k5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Integration</a:t>
            </a:r>
            <a:endParaRPr lang="en-US" sz="1600" dirty="0"/>
          </a:p>
        </p:txBody>
      </p:sp>
      <p:sp>
        <p:nvSpPr>
          <p:cNvPr id="12" name="on:k5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Unit</a:t>
            </a:r>
            <a:endParaRPr lang="en-US" sz="1600" dirty="0"/>
          </a:p>
        </p:txBody>
      </p:sp>
      <p:sp>
        <p:nvSpPr>
          <p:cNvPr id="14" name="on:k6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Acceptance  –  Acceptance testing is the final test by the client in a live environment.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Grades: Fail 0–39, Pass 40–59. Which pair are both boundary values?</a:t>
            </a:r>
            <a:endParaRPr lang="en-US" sz="1700" dirty="0"/>
          </a:p>
        </p:txBody>
      </p:sp>
      <p:sp>
        <p:nvSpPr>
          <p:cNvPr id="7" name="trig:k6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20 and 50</a:t>
            </a:r>
            <a:endParaRPr lang="en-US" sz="1600" dirty="0"/>
          </a:p>
        </p:txBody>
      </p:sp>
      <p:sp>
        <p:nvSpPr>
          <p:cNvPr id="8" name="on:k6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39 and 40</a:t>
            </a:r>
            <a:endParaRPr lang="en-US" sz="1600" dirty="0"/>
          </a:p>
        </p:txBody>
      </p:sp>
      <p:sp>
        <p:nvSpPr>
          <p:cNvPr id="10" name="on:k6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6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41 and 58</a:t>
            </a:r>
            <a:endParaRPr lang="en-US" sz="1600" dirty="0"/>
          </a:p>
        </p:txBody>
      </p:sp>
      <p:sp>
        <p:nvSpPr>
          <p:cNvPr id="12" name="on:k6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−1 and 101</a:t>
            </a:r>
            <a:endParaRPr lang="en-US" sz="1600" dirty="0"/>
          </a:p>
        </p:txBody>
      </p:sp>
      <p:sp>
        <p:nvSpPr>
          <p:cNvPr id="14" name="on:k6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39 and 40  –  39 and 40 sit either side of the Fail/Pass edge, where off-by-one errors occur.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Who normally completes the ‘Actual outcome’ and ‘PASS/FAIL’ columns of a test plan?</a:t>
            </a:r>
            <a:endParaRPr lang="en-US" sz="1700" dirty="0"/>
          </a:p>
        </p:txBody>
      </p:sp>
      <p:sp>
        <p:nvSpPr>
          <p:cNvPr id="7" name="trig:k6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client’s accountant</a:t>
            </a:r>
            <a:endParaRPr lang="en-US" sz="1400" dirty="0"/>
          </a:p>
        </p:txBody>
      </p:sp>
      <p:sp>
        <p:nvSpPr>
          <p:cNvPr id="8" name="on:k6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test designer, before testing</a:t>
            </a:r>
            <a:endParaRPr lang="en-US" sz="1400" dirty="0"/>
          </a:p>
        </p:txBody>
      </p:sp>
      <p:sp>
        <p:nvSpPr>
          <p:cNvPr id="10" name="on:k6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tester, while carrying out the tests</a:t>
            </a:r>
            <a:endParaRPr lang="en-US" sz="1400" dirty="0"/>
          </a:p>
        </p:txBody>
      </p:sp>
      <p:sp>
        <p:nvSpPr>
          <p:cNvPr id="12" name="on:k6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6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beta testers’ manager</a:t>
            </a:r>
            <a:endParaRPr lang="en-US" sz="1400" dirty="0"/>
          </a:p>
        </p:txBody>
      </p:sp>
      <p:sp>
        <p:nvSpPr>
          <p:cNvPr id="14" name="on:k6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The tester, while carrying out the tests  –  The designer writes the expected outcome in advance; the tester records what actually happened.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System testing checks the complete system against…</a:t>
            </a:r>
            <a:endParaRPr lang="en-US" sz="1700" dirty="0"/>
          </a:p>
        </p:txBody>
      </p:sp>
      <p:sp>
        <p:nvSpPr>
          <p:cNvPr id="7" name="trig:k6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competitors’ products</a:t>
            </a:r>
            <a:endParaRPr lang="en-US" sz="1600" dirty="0"/>
          </a:p>
        </p:txBody>
      </p:sp>
      <p:sp>
        <p:nvSpPr>
          <p:cNvPr id="8" name="on:k6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agreed specification</a:t>
            </a:r>
            <a:endParaRPr lang="en-US" sz="1600" dirty="0"/>
          </a:p>
        </p:txBody>
      </p:sp>
      <p:sp>
        <p:nvSpPr>
          <p:cNvPr id="10" name="on:k7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7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old system’s source code</a:t>
            </a:r>
            <a:endParaRPr lang="en-US" sz="1600" dirty="0"/>
          </a:p>
        </p:txBody>
      </p:sp>
      <p:sp>
        <p:nvSpPr>
          <p:cNvPr id="12" name="on:k7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7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hardware warranty</a:t>
            </a:r>
            <a:endParaRPr lang="en-US" sz="1600" dirty="0"/>
          </a:p>
        </p:txBody>
      </p:sp>
      <p:sp>
        <p:nvSpPr>
          <p:cNvPr id="14" name="on:k7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the agreed specification  –  System testing judges whether the integrated system complies with its specification.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Integration testing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fault lies at the interface between units, which is exactly what integration testing checks.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beta testing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External potential users test a near-final version in a realistic environment, without developers present.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unit testing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One unit or module is tested in isolation.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White-box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White-box testing uses the internal structure of the code.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twelve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Text in a numeric field is the wrong type, so it should be rejected.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Acceptance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Acceptance testing is the final test by the client in a live environment.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39 and 40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39 and 40 sit either side of the Fail/Pass edge, where off-by-one errors occur.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The tester, while carrying out the tests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designer writes the expected outcome in advance; the tester records what actually happened.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the agreed specification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System testing judges whether the integrated system complies with its specification.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61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design, development and testing</dc:title>
  <dc:subject>AS 1: Approaches to Systems Development – System design, development and testing</dc:subject>
  <dc:creator>Digital Technology Hub</dc:creator>
  <cp:lastModifiedBy>Digital Technology Hub</cp:lastModifiedBy>
  <cp:revision>1</cp:revision>
  <dcterms:created xsi:type="dcterms:W3CDTF">2026-10-30T13:15:53Z</dcterms:created>
  <dcterms:modified xsi:type="dcterms:W3CDTF">2026-10-30T13:15:53Z</dcterms:modified>
</cp:coreProperties>
</file>