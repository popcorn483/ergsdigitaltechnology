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</p:sldIdLst>
  <p:notesMasterIdLst>
    <p:notesMasterId r:id="rId1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fd283a52-fd2b-5d5f-6539-aa70204a5f54}">
          <p14:sldIdLst>
            <p14:sldId id="256"/>
            <p14:sldId id="257"/>
            <p14:sldId id="258"/>
            <p14:sldId id="259"/>
          </p14:sldIdLst>
        </p14:section>
        <p14:section name="L01 · Data, information and units of storage" id="{9fb2a290-06e5-7e7b-3a94-aac9524d5e9f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L02 · Data types" id="{4ae5ed27-b207-15fa-242b-eba01361e99a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L03 · Representing images: pixels, resolution, bitmap and vector" id="{fc8ef63b-cff8-daeb-7f70-ce7c254774f4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  <p14:section name="L04 · Representing sound; buffering and streaming" id="{3a83069e-65a7-2eae-bb94-8a703fe35024}">
          <p14:sldIdLst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</p14:sldIdLst>
        </p14:section>
        <p14:section name="L05 · Data portability, file formats and compression" id="{37998196-0067-6e1e-a62a-311f041a53fc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notesMaster" Target="notesMasters/notes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difference between information and data | Describe how data is stored in bit, nibble, byte, kilobyte, megabyte, gigabyte and terabyte | Explain how characters are represented in binary using a character set such as ASCII | Calculate conversions between units of storage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Identify the following data types: numeric (integer and real), date/time, character and string | Explain why data must be defined as a particular data type before it is processed | Select and justify the most appropriate data type for a given item of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how pixels are used in image representation | Demonstrate understanding of how image resolution affects file size | Describe how vector-based graphics and bitmap graphics are stored | Describe the difference between vector-based and bitmap graphics | Calculate the file size of a bitmap image from its resolution and colour depth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need for analogue-to-digital conversion in sound recording | Describe factors that affect sound quality when recording sound, including sample rate, bit depth and bit rate | Calculate the bit rate and file size of a sound recording | Demonstrate understanding of how buffering and streaming are used to support the transfer of moving image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Demonstrate understanding of data portability and the following file formats that support it: jpeg, tiff, png, pict, gif, txt, csv, rtf, mp3, mp4, midi, mpeg, avi, pdf, wav and wma | Choose and justify a suitable file format for a given purpose | Demonstrate understanding of the need for data compression | Describe lossy and lossless compression and give examples of each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GCSE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29.xml"/><Relationship Id="rId5" Type="http://schemas.openxmlformats.org/officeDocument/2006/relationships/slide" Target="slide52.xml"/><Relationship Id="rId6" Type="http://schemas.openxmlformats.org/officeDocument/2006/relationships/slide" Target="slide78.xml"/><Relationship Id="rId7" Type="http://schemas.openxmlformats.org/officeDocument/2006/relationships/slide" Target="slide102.xml"/><Relationship Id="rId1" Type="http://schemas.openxmlformats.org/officeDocument/2006/relationships/image" Target="../media/image-2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8.xml"/><Relationship Id="rId4" Type="http://schemas.openxmlformats.org/officeDocument/2006/relationships/slide" Target="slide9.xml"/><Relationship Id="rId5" Type="http://schemas.openxmlformats.org/officeDocument/2006/relationships/slide" Target="slide10.xml"/><Relationship Id="rId6" Type="http://schemas.openxmlformats.org/officeDocument/2006/relationships/slide" Target="slide11.xml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2.xml"/><Relationship Id="rId1" Type="http://schemas.openxmlformats.org/officeDocument/2006/relationships/image" Target="../media/image-6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7.xml"/><Relationship Id="rId9" Type="http://schemas.openxmlformats.org/officeDocument/2006/relationships/slide" Target="slide38.xml"/><Relationship Id="rId10" Type="http://schemas.openxmlformats.org/officeDocument/2006/relationships/slide" Target="slide39.xml"/><Relationship Id="rId11" Type="http://schemas.openxmlformats.org/officeDocument/2006/relationships/slide" Target="slide40.xml"/><Relationship Id="rId12" Type="http://schemas.openxmlformats.org/officeDocument/2006/relationships/slide" Target="slide41.xml"/><Relationship Id="rId13" Type="http://schemas.openxmlformats.org/officeDocument/2006/relationships/slide" Target="slide42.xml"/><Relationship Id="rId14" Type="http://schemas.openxmlformats.org/officeDocument/2006/relationships/slide" Target="slide2.xml"/><Relationship Id="rId1" Type="http://schemas.openxmlformats.org/officeDocument/2006/relationships/image" Target="../media/image-30-1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3" Type="http://schemas.openxmlformats.org/officeDocument/2006/relationships/slide" Target="slide55.xml"/><Relationship Id="rId4" Type="http://schemas.openxmlformats.org/officeDocument/2006/relationships/slide" Target="slide56.xml"/><Relationship Id="rId5" Type="http://schemas.openxmlformats.org/officeDocument/2006/relationships/slide" Target="slide57.xml"/><Relationship Id="rId6" Type="http://schemas.openxmlformats.org/officeDocument/2006/relationships/slide" Target="slide58.xml"/><Relationship Id="rId7" Type="http://schemas.openxmlformats.org/officeDocument/2006/relationships/slide" Target="slide59.xml"/><Relationship Id="rId8" Type="http://schemas.openxmlformats.org/officeDocument/2006/relationships/slide" Target="slide60.xml"/><Relationship Id="rId9" Type="http://schemas.openxmlformats.org/officeDocument/2006/relationships/slide" Target="slide61.xml"/><Relationship Id="rId10" Type="http://schemas.openxmlformats.org/officeDocument/2006/relationships/slide" Target="slide62.xml"/><Relationship Id="rId11" Type="http://schemas.openxmlformats.org/officeDocument/2006/relationships/slide" Target="slide63.xml"/><Relationship Id="rId12" Type="http://schemas.openxmlformats.org/officeDocument/2006/relationships/slide" Target="slide64.xml"/><Relationship Id="rId13" Type="http://schemas.openxmlformats.org/officeDocument/2006/relationships/slide" Target="slide65.xml"/><Relationship Id="rId14" Type="http://schemas.openxmlformats.org/officeDocument/2006/relationships/slide" Target="slide66.xml"/><Relationship Id="rId15" Type="http://schemas.openxmlformats.org/officeDocument/2006/relationships/slide" Target="slide67.xml"/><Relationship Id="rId16" Type="http://schemas.openxmlformats.org/officeDocument/2006/relationships/slide" Target="slide2.xml"/><Relationship Id="rId1" Type="http://schemas.openxmlformats.org/officeDocument/2006/relationships/image" Target="../media/image-53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6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image" Target="../media/image-7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3" Type="http://schemas.openxmlformats.org/officeDocument/2006/relationships/slide" Target="slide81.xml"/><Relationship Id="rId4" Type="http://schemas.openxmlformats.org/officeDocument/2006/relationships/slide" Target="slide82.xml"/><Relationship Id="rId5" Type="http://schemas.openxmlformats.org/officeDocument/2006/relationships/slide" Target="slide83.xml"/><Relationship Id="rId6" Type="http://schemas.openxmlformats.org/officeDocument/2006/relationships/slide" Target="slide84.xml"/><Relationship Id="rId7" Type="http://schemas.openxmlformats.org/officeDocument/2006/relationships/slide" Target="slide85.xml"/><Relationship Id="rId8" Type="http://schemas.openxmlformats.org/officeDocument/2006/relationships/slide" Target="slide86.xml"/><Relationship Id="rId9" Type="http://schemas.openxmlformats.org/officeDocument/2006/relationships/slide" Target="slide87.xml"/><Relationship Id="rId10" Type="http://schemas.openxmlformats.org/officeDocument/2006/relationships/slide" Target="slide88.xml"/><Relationship Id="rId11" Type="http://schemas.openxmlformats.org/officeDocument/2006/relationships/slide" Target="slide89.xml"/><Relationship Id="rId12" Type="http://schemas.openxmlformats.org/officeDocument/2006/relationships/slide" Target="slide90.xml"/><Relationship Id="rId13" Type="http://schemas.openxmlformats.org/officeDocument/2006/relationships/slide" Target="slide91.xml"/><Relationship Id="rId14" Type="http://schemas.openxmlformats.org/officeDocument/2006/relationships/slide" Target="slide92.xml"/><Relationship Id="rId15" Type="http://schemas.openxmlformats.org/officeDocument/2006/relationships/slide" Target="slide2.xml"/><Relationship Id="rId1" Type="http://schemas.openxmlformats.org/officeDocument/2006/relationships/image" Target="../media/image-79-1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79.xml"/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8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9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10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image" Target="../media/image-10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104.xml"/><Relationship Id="rId3" Type="http://schemas.openxmlformats.org/officeDocument/2006/relationships/slide" Target="slide105.xml"/><Relationship Id="rId4" Type="http://schemas.openxmlformats.org/officeDocument/2006/relationships/slide" Target="slide106.xml"/><Relationship Id="rId5" Type="http://schemas.openxmlformats.org/officeDocument/2006/relationships/slide" Target="slide107.xml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slide" Target="slide111.xml"/><Relationship Id="rId10" Type="http://schemas.openxmlformats.org/officeDocument/2006/relationships/slide" Target="slide112.xml"/><Relationship Id="rId11" Type="http://schemas.openxmlformats.org/officeDocument/2006/relationships/slide" Target="slide113.xml"/><Relationship Id="rId12" Type="http://schemas.openxmlformats.org/officeDocument/2006/relationships/slide" Target="slide114.xml"/><Relationship Id="rId13" Type="http://schemas.openxmlformats.org/officeDocument/2006/relationships/slide" Target="slide115.xml"/><Relationship Id="rId14" Type="http://schemas.openxmlformats.org/officeDocument/2006/relationships/slide" Target="slide116.xml"/><Relationship Id="rId15" Type="http://schemas.openxmlformats.org/officeDocument/2006/relationships/slide" Target="slide2.xml"/><Relationship Id="rId1" Type="http://schemas.openxmlformats.org/officeDocument/2006/relationships/image" Target="../media/image-103-1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0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0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0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0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0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103.xml"/><Relationship Id="rId1" Type="http://schemas.openxmlformats.org/officeDocument/2006/relationships/image" Target="../media/image-1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Digital data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L01  Data, information and units of storage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L02  Data types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L03  Representing images: pixels, resolution, bitmap and vector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L04  Representing sound; buffering and streaming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L05  Data portability, file formats and compression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L01  Data, information and units of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L01  Data, information and units of storage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5720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4" action="ppaction://hlinksldjump" tooltip="L02  Data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L02  Data types</a:t>
            </a:r>
            <a:endParaRPr lang="en-US" sz="1500" dirty="0"/>
          </a:p>
        </p:txBody>
      </p:sp>
      <p:sp>
        <p:nvSpPr>
          <p:cNvPr id="9" name="btn">
            <a:hlinkClick r:id="rId5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5" action="ppaction://hlinksldjump" tooltip="L03  Representing images: pixels, resolution, bitmap and ve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L03  Representing images: pixels, resolution, bitmap and vector</a:t>
            </a:r>
            <a:endParaRPr lang="en-US" sz="1200" dirty="0"/>
          </a:p>
        </p:txBody>
      </p:sp>
      <p:sp>
        <p:nvSpPr>
          <p:cNvPr id="10" name="btn">
            <a:hlinkClick r:id="rId6" action="ppaction://hlinksldjump"/>
          </p:cNvPr>
          <p:cNvSpPr/>
          <p:nvPr/>
        </p:nvSpPr>
        <p:spPr>
          <a:xfrm>
            <a:off x="464058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6" action="ppaction://hlinksldjump" tooltip="L04  Representing sound; buffering and strea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L04  Representing sound; buffering and streaming</a:t>
            </a:r>
            <a:endParaRPr lang="en-US" sz="1300" dirty="0"/>
          </a:p>
        </p:txBody>
      </p:sp>
      <p:sp>
        <p:nvSpPr>
          <p:cNvPr id="11" name="btn">
            <a:hlinkClick r:id="rId7" action="ppaction://hlinksldjump"/>
          </p:cNvPr>
          <p:cNvSpPr/>
          <p:nvPr/>
        </p:nvSpPr>
        <p:spPr>
          <a:xfrm>
            <a:off x="4640580" y="2642616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7" action="ppaction://hlinksldjump" tooltip="L05  Data portability, file formats and comp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L05  Data portability, file formats and compression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difference between information and data; Describe how data is stored in bit, nibble, byte, kilobyte, megabyte, gigabyte and terabyte; Explain how characters are represented in binary using a character set such as ASCII; Calculate conversions between units of storage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Identify the following data types: numeric (integer and real), date/time, character and string; Explain why data must be defined as a particular data type before it is processed; Select and justify the most appropriate data type for a given item of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how pixels are used in image representation; Demonstrate understanding of how image resolution affects file size; Describe how vector-based graphics and bitmap graphics are stored; Describe the difference between vector-based and bitmap graphics; Calculate the file size of a bitmap image from its resolution and colour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6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need for analogue-to-digital conversion in sound recording; Describe factors that affect sound quality when recording sound, including sample rate, bit depth and bit rate; Calculate the bit rate and file size of a sound recording; Demonstrate understanding of how buffering and streaming are used to support the transfer of moving image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Demonstrate understanding of data portability and the following file formats that support it: jpeg, tiff, png, pict, gif, txt, csv, rtf, mp3, mp4, midi, mpeg, avi, pdf, wav and wma; Choose and justify a suitable file format for a given purpose; Demonstrate understanding of the need for data compression; Describe lossy and lossless compression and give examples of each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5" grpId="0">
        <p:bldAsOne/>
      </p:bldGraphic>
      <p:bldP spid="7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Data, information and units of storage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data and information and explain how processing turns one into the other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computers store everything in binary and how ASCII represents characters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Order the units of storage from bit to terabyte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Convert between units of storage and work out how many files will fit on a device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Data or inform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or information?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rom data to inform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data to information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Why computers use bi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computers use binary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Characters and ASCI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Characters and ASCII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Units of stor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Units of storage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Converting between uni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Converting between units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orked example: convers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conversions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Worked example: will it fit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will it fit?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1000 or 1024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1000 or 1024?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Units of storage as a staircase from bit to terabyte, with the multiplier between each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Units of storage as a staircase from bit to terabyte, with the multiplier between each step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or information?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Data: raw facts and figures with no meaning or context, e.g. 18, 22, 19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Information: data that has been processed and given context, so it has meaning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'Belfast maximum temperatures on Mon, Tue and Wed this week: 18°C, 22°C, 19°C'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Information = data + context (processing adds the meaning)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same data can give different information in different contexts: 140526 could be a date (14/05/26) or a product code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data to information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information system is hardware and software working together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takes data as input, processes it, and outputs information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school canteen till records each item sold (data)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At the end of the week the system produces 'Most popular lunch: chicken wrap, 312 sold' (information)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Input → Process → Output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computers use binary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Inside a computer are billions of tiny switches (transistors) that are either on or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= 1 and off = 0, so data is stored using the binary number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One binary digit (0 or 1) is called a bit – the smallest unit of storage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Text, numbers, images, sound and video are all stored as patterns of bits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Characters and ASCII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character is a letter, digit, punctuation mark or symbol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 is stored as one byte (8 bits)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character set gives every character its own unique binary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ASCII is a commonly used character set: 'A' = 01000001, 'B' = 01000010, 'a' = 01100001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Upper and lower case letters have different codes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'Belfast' has 7 characters = 7 bytes = 56 bits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Units of storage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85900"/>
                <a:gridCol w="2286000"/>
                <a:gridCol w="4457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Roughly enough for…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0 or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 or no, on or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Nibble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 bits (half a byte)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hexadecimal digit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Byte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character, e.g. 'K'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Kilobyte (KB)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bytes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short plain-text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Megabyte (MB)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KB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1 minute of MP3 music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Gigabyte (GB)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About 20 minutes of HD 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Terabyte (TB)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1024 GB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typical laptop or external hard drive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Converting between units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Bits → bytes: divide by 8. Bytes → bits: multiply by 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Going UP to a bigger unit (e.g. KB → MB): divide by 1024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Going DOWN to a smaller unit (e.g. GB → MB): multiply by 1024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Skip two units? Use 1024 twice, e.g. 1 GB = 1024 × 1024 = 1 048 576 KB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Always show your working and write the unit with your answer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conversions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 3 GB to MB: 3 × 1024 = 3072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Convert 6144 KB to MB: 6144 ÷ 1024 = 6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file is 6400 bits. In bytes: 6400 ÷ 8 = 800 bytes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How many bits in 5 KB? 5 × 1024 = 5120 bytes, then 5120 × 8 = 40 960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How many nibbles in 4096 bits? 4096 ÷ 4 = 1024 nibbles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will it fit?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Orla has a 64 GB phone with all its space free. Each photo she takes is about 4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1 – same units: 64 GB × 1024 = 65 536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2 – divide: 65 536 ÷ 4 = 16 384 photos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32 GB USB stick and 512 MB video clips: 32 × 1024 = 32 768 MB; 32 768 ÷ 512 = 64 clips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 rule: change both sizes into the SAME unit before dividing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1000 or 1024?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Computers work in binary, so units go up in powers of 2: 2¹⁰ = 1024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CCEA questions use 1024 – use it in the exam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 manufacturers advertise storage using 1000, which is why a new '1 TB' drive can show slightly less free space than expected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'Describe the difference' between data and information: define BOTH and give an example of each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Your example of information must show the context, not just the numbers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Learn the order: bit, nibble, byte, KB, MB, GB, TB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Calculations: show each step, and check your answer is sensible (a bigger unit gives a smaller number)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information rather than data?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14, 17, 21</a:t>
            </a:r>
            <a:endParaRPr lang="en-US" sz="14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Q7X</a:t>
            </a:r>
            <a:endParaRPr lang="en-US" sz="14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Sam scored 17 out of 20 in the maths test</a:t>
            </a:r>
            <a:endParaRPr lang="en-US" sz="14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01101</a:t>
            </a:r>
            <a:endParaRPr lang="en-US" sz="14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Sam scored 17 out of 20 in the maths test  –  It has context – we know whose score it is and what it is out of – so it has meaning.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phone has 64 GB of free space. Each photo is 4 MB. About how many photos will fit?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256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16 384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65 536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16 384  –  64 × 1024 = 65 536 MB, then 65 536 ÷ 4 = 16 384 photos.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bits make one byte?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8  –  A byte is 8 bits. Four bits is a nibble.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unit is the largest?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Gigabyte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Megabyte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Kilobyte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Terabyte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Terabyte  –  A terabyte is 1024 GB.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2 MB in KB?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2048 KB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1024 KB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 KB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2000 KB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2048 KB  –  Going to a smaller unit, multiply: 2 × 1024 = 2048 KB.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file is 6400 bits. How many bytes is that?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51 200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6.25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800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1600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800  –  Divide bits by 8 to get bytes: 6400 ÷ 8 = 800.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does a computer use a character set such as ASCII?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compress text files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give each character a unique binary code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check spelling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translate between languages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To give each character a unique binary code  –  Computers can only store binary, so each character needs its own agreed binary code.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Roughly how much video would 1 GB hold?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About 20 minutes of HD video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About 1 second of HD video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About 20 hours of HD video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About 1 minute of audio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About 20 minutes of HD video  –  A gigabyte (1024 MB) is around 20 minutes of HD video; 1 MB is roughly a minute of MP3 music.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bytes are needed to store the word 'Strabane'?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</a:t>
            </a:r>
            <a:endParaRPr lang="en-US" sz="16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</a:t>
            </a:r>
            <a:endParaRPr lang="en-US" sz="16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8  –  S-t-r-a-b-a-n-e is 8 characters, and each character takes 1 byte, so 8 bytes (64 bits).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Sam scored 17 out of 20 in the maths test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has context – we know whose score it is and what it is out of – so it has meaning.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16 384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64 × 1024 = 65 536 MB, then 65 536 ÷ 4 = 16 384 photos.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byte is 8 bits. Four bits is a nibble.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Terabyte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terabyte is 1024 GB.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2048 KB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Going to a smaller unit, multiply: 2 × 1024 = 2048 KB.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800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Divide bits by 8 to get bytes: 6400 ÷ 8 = 800.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give each character a unique binary code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Computers can only store binary, so each character needs its own agreed binary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About 20 minutes of HD video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gigabyte (1024 MB) is around 20 minutes of HD video; 1 MB is roughly a minute of MP3 music.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S-t-r-a-b-a-n-e is 8 characters, and each character takes 1 byte, so 8 bytes (64 bits).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8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Q2(a)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and information with examples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Q2(b)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 in a nibble; KB in an MB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Bits, nibble, byte; data types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 and byte, data types, data in context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Boot process, OS roles, storage conversion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types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Name and describe the five data types in the specification and give an example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choosing the correct data type matters for storage, processing and validation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the most suitable data type for an item of data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Recognise common date and time formats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Why data types mat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data types matter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The five data typ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five data types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Numeric: integer and re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Numeric: integer and real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Date/time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Date/time formats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Character and st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Character and string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Trick ite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Trick items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hoosing a data type –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data type – method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0" action="ppaction://hlinksldjump" tooltip="Worked example: leisure centre membershi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leisure centre membership</a:t>
            </a:r>
            <a:endParaRPr lang="en-US" sz="13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11" action="ppaction://hlinksldjump" tooltip="Data types in programs and databas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types in programs and databases</a:t>
            </a:r>
            <a:endParaRPr lang="en-US" sz="13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3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pupil record with each field matched to its data typ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pupil record with each field matched to its data type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data types matter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data type tells the computer what kind of data an item is, e.g. a whole number or text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must be given a type BEFORE it is processed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controls what you can do with the data: add numbers, sort dates into order, join text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helps the computer store the data efficiently, using the right amount of space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It allows validation: a type check rejects data of the wrong kind, e.g. 'ten' in a number field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five data types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37424"/>
                <a:gridCol w="4750420"/>
                <a:gridCol w="23417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Integer (numeric)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number, positive or negative, no decimal 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15, -3, 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Real (numeric)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that can have a decimal or fractional part, positive or negative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1.62, -4.6, 3.99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Date/time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date and/or a time, stored so it can be sorted and calculated with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12/09/2026, 15:45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single letter, digit or symbol from the character set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F, Y, 7, #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sequence of characters; the length can vary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Enniskillen, BT74 6AA, 07700 900123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4" grpId="0">
        <p:bldAsOne/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Numeric: integer and real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Integer: whole numbers only, e.g. number of pupils in a class (28) or a team's goal difference (-1)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Real: can include decimal parts, e.g. a height of 1.75 m or a temperature of -2.5 °C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Real numbers also include whole numbers: 7 is real as well as integer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Which are integers? 7.25, -3, -61, 4.8, 512 → -3, -61 and 512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C#, int stores integers and double stores real numbers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Date/time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34332"/>
                <a:gridCol w="66952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(Saturday 12 September 2026, 3:45:30 pm)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Long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Saturday, 12 September 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Medium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12-Sep-2026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Short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12/09/2026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Long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15:45:30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Medium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03:45 PM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Short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15:45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Character and string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Character: exactly ONE letter, digit or symbol, e.g. a grade 'A' or a shirt size 'M'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 is stored using its code from the character set, e.g. ASCII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String: a sequence of characters, such as a word, name or address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string has a variable length: 'Ann' is 3 characters, 'Londonderry' is 11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Digits inside a string are treated as text, not as numbers to calculate with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Trick items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Phone numbers → string: the leading zero would be lost as an integer, they can contain spaces, and you never do maths on them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Postcodes → string: they mix letters, digits and a space (BT74 6AA)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Prices → real (or currency in a database): £3.99 needs a decimal part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Age in years → integer; date of birth → date/time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Yes/No answers: character (Y/N) in the Unit 1 list; databases also offer a Yes/No (Boolean) field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data type –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1. Will I do calculations with it? If yes → numeric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2. Does it need a decimal point? Yes → real; no → integer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3. Is it a date or a time? → date/time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4. Is it always exactly one character? → character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5. Otherwise → string (this includes 'numbers' like phone numbers and IDs with leading zeros)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leisure centre membership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90584"/>
                <a:gridCol w="1334530"/>
                <a:gridCol w="1000897"/>
                <a:gridCol w="40035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Sample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Member name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Aoife McCann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Several letters and a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Mobile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07700 900456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Leading zero, no calculations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Date joined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03/03/2026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Date/time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Sorted and used to find renewal date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Visits this month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number, will be totalled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Monthly fee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24.50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Money needs a decimal part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Junior member?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Character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 one letter, Y or 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0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types in programs and databases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Programs declare a type for each variable, as in the pseudocode below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Databases use similar field types, sometimes with different names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Access names: Short Text (string), Number, Currency, Date/Time, Yes/No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CCEA mark schemes credit currency and Yes/No in database questions</a:t>
            </a:r>
            <a:endParaRPr lang="en-US" sz="16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pupils AS INTEGER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lunchPrice AS REAL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dateOfBirth AS DATE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grade AS CHARACTER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surname AS STRING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pupils ← 28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lunchPrice ← 2.85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← 'A'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surname ← "O'Neill"</a:t>
            </a:r>
            <a:endParaRPr lang="en-US" sz="15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Give the exact name: 'integer' or 'real', not just 'number', unless the question says numeric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Justify with a reason linked to the data: 'it has a decimal part', 'it starts with 0'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'Describe' a data type: say what it stores AND give a suitable example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 not say a phone number is an integer – this is the most common mistake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is best for a postcode such as BT74 6AA?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Character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String  –  A postcode mixes letters, digits and a space, so it is a string.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a mobile phone number not stored as an integer?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is too long to store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Integers cannot be sorted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uses less storage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leading zero would be lost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The leading zero would be lost  –  Integers drop leading zeros, so 07700 900123 would become 7700900123. Phone numbers are also never used in calculations.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type should store a height of 1.75 m?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Character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Date/time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Real  –  It has a decimal part, so it must be real.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field stores a single letter for shirt size (S, M or L). Which data type?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String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Character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Integer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Real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Character  –  It is always exactly one character.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item should be stored as an integer?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Price of a ticket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Number of goals scored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Phone number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Team name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Number of goals scored  –  Goals are counted in whole numbers and may be added up.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'int' and 'double' are both examples of which kind of data type?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Text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Date/time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Numeric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Boolean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Numeric  –  Both store numbers: int for whole numbers and double for real numbers.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 short date format?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Saturday, 12 September 2026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12-Sep-2026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15:45:30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12/09/2026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12/09/2026  –  dd/mm/yyyy is the short date format; 12-Sep-2026 is a medium date.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reason for defining a data type before processing?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makes the data more interesting to read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decides what processing can be done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allows a type check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helps the data be stored efficiently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makes the data more interesting to read  –  Data types control processing, storage and validation – not how interesting the data is.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String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postcode mixes letters, digits and a space, so it is a string.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The leading zero would be lost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Integers drop leading zeros, so 07700 900123 would become 7700900123. Phone numbers are also never used in calculations.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Real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has a decimal part, so it must be real.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Character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always exactly one character.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Number of goals scored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Goals are counted in whole numbers and may be added up.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Numeric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Both store numbers: int for whole numbers and double for real numbers.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12/09/2026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dd/mm/yyyy is the short date format; 12-Sep-2026 is a medium date.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makes the data more interesting to read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types control processing, storage and validation – not how interesting the data is.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1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Q2(a)–(c)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Relational database terms, relationships, data types, key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Bits, nibble, byte; data types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 and byte, data types, data in context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Field names and data types, database terms, key field, query design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types, validation checks, data 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1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52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Representing images: pixels, resolution, bitmap and vector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a bitmap image is made of pixels, each stored as a binary colour 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resolution and colour depth affect image quality and file size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the file size of a simple bitmap image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bitmap and vector graphics, giving a suitable use for each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a pixe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pixel?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Colour depth: bits per pix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Colour depth: bits per pixel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How many bits do I nee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many bits do I need?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Resolu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Resolution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Calculating file siz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Calculating file size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two imag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two images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How a bitmap is stor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a bitmap is stored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Pixel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Pixelation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Vector graphic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Vector graphics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Bitmap vs ve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Bitmap vs vector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choosing a typ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choosing a type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Exam tip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 tips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itmap image as a grid of pixels compared with a vector circle stored as an ob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Bitmap image as a grid of pixels compared with a vector circle stored as an object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a pixel?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Pixel = picture element: the smallest single point of a digital image that a screen can show and an editor can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bitmap image is a grid of pixels; together they make the complete picture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pixel has its own colour, stored as a binary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pixel's position is given like (x, y) coordinates: across first, then down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number of pixels on a screen depends on the screen size and the graphics card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Colour depth: bits per pixel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52330"/>
                <a:gridCol w="3309730"/>
                <a:gridCol w="366753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 per pixel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Number of colours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2¹ =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Black and white icon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2² =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 pixel-art emoji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2⁴ = 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Early computer games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2⁸ = 256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GIF images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2²⁴ = 16 777 216 (about 16.7 million)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Photos (8 bits each for red, green, blue)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many bits do I need?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extra bit DOUBLES the number of colours available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 find the bits needed: find the smallest power of 2 that is at least the number of colours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4 colours → 2 bits (00, 01, 10, 11)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5 colours → 3 bits (2 bits only gives 4 codes; 3 bits gives 8)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256 colours → 8 bits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Resolution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Resolution = how many pixels an image has, written width × height, e.g. 1280 × 720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First number = pixels across (horizontal); second = pixels down (vertical)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Higher resolution → more pixels → more detail and a sharper image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More pixels → more data to store → larger file size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Print and screen resolution can also be given as pixels per inch (ppi) or dots per inch (dpi)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Calculating file size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 size (bits) = width × height × colour depth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Then ÷ 8 for bytes, ÷ 1024 for KB, ÷ 1024 again for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Doubling the width AND the height gives 4 times as many pixels, so 4 times the file size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Doubling the colour depth doubles the file size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is the image data only; a real file also stores metadata and may be compressed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two images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Pixel emoji: 10 × 10 pixels, 4 colours → 2 bits per pixel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10 × 10 × 2 = 200 bits; 200 ÷ 8 = 25 bytes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School website banner: 1280 × 720 pixels, 24-bit colour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1280 × 720 = 921 600 pixels; × 24 = 22 118 400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÷ 8 = 2 764 800 bytes; ÷ 1024 = 2700 KB; ÷ 1024 ≈ 2.64 MB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How a bitmap is stored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colour code of EVERY pixel is stored, row by row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Metadata (data about the data) is also stored: width, height and colour depth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Without the width, the computer would not know where each row ends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Photos from a phone camera or a scanner are bitmaps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Bitmap files are often large and can be slow to load, so they are often compressed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Pixelation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you zoom in or enlarge a bitmap, each pixel is simply made bigger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pixels become visible as small square blocks – this is pixelation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No new detail is added, so the image looks blocky and jagged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This is why a small, low-resolution photo looks poor printed on a large poster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Vector graphics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NOT a grid of pixels: stores a list of objects such as lines, curves, circles and shapes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object is stored with its properties: position (coordinates), size, line colour, line thickness, fill colour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shapes are mathematical, so they are redrawn (recalculated) at any size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Can be enlarged without losing quality – no pixelation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object can be edited separately: move it, resize it or recolour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Usually smaller files. Suits logos, diagrams, maps and fonts; not photographs. Example format: SVG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Bitmap vs vector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34530"/>
                <a:gridCol w="4337222"/>
                <a:gridCol w="25578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Bitmap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Stored 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Grid of pixels, each with a colour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Objects with properties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Enlarging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Pixelates, loses quality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Stays sharp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 size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Larger; grows with resolution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Usually smaller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Editing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 individual pixels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Edit whole objects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Photographs, scanned images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Logos, diagrams, maps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File formats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JPEG, PNG, GIF, TIFF, BMP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SVG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5" grpId="0">
        <p:bldAsOne/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choosing a type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Fermanagh GAA club needs a new crest for shirts, a website and a pitch-side banner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Choose vector: the crest can be scaled from a tiny website icon to a large banner without pixelating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file stays small and colours can be changed easily for an away kit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club's team photo from the final must be a bitmap – it is a photograph with millions of colour variations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Exam tips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'Describe two differences' needs BOTH sides of each difference: bitmap does X, whereas vector does 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Link resolution to BOTH quality and file size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 calculations, write the formula, show each step and label the units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Vector stores objects AND their properties – name at least two properties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when a bitmap image is enlarged a lot?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stays sharp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becomes a vector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It becomes pixelated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file size halves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It becomes pixelated  –  Each pixel is made bigger, so the pixels show as visible blocks.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image is best stored as a vector graphic?</a:t>
            </a:r>
            <a:endParaRPr lang="en-US" sz="1700" dirty="0"/>
          </a:p>
        </p:txBody>
      </p:sp>
      <p:sp>
        <p:nvSpPr>
          <p:cNvPr id="7" name="trig:k7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school logo</a:t>
            </a:r>
            <a:endParaRPr lang="en-US" sz="1600" dirty="0"/>
          </a:p>
        </p:txBody>
      </p:sp>
      <p:sp>
        <p:nvSpPr>
          <p:cNvPr id="8" name="on:k7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holiday photograph</a:t>
            </a:r>
            <a:endParaRPr lang="en-US" sz="1600" dirty="0"/>
          </a:p>
        </p:txBody>
      </p:sp>
      <p:sp>
        <p:nvSpPr>
          <p:cNvPr id="10" name="on:k7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scanned X-ray</a:t>
            </a:r>
            <a:endParaRPr lang="en-US" sz="1600" dirty="0"/>
          </a:p>
        </p:txBody>
      </p:sp>
      <p:sp>
        <p:nvSpPr>
          <p:cNvPr id="12" name="on:k7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webcam image</a:t>
            </a:r>
            <a:endParaRPr lang="en-US" sz="1600" dirty="0"/>
          </a:p>
        </p:txBody>
      </p:sp>
      <p:sp>
        <p:nvSpPr>
          <p:cNvPr id="14" name="on:k7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A school logo  –  A logo is built from shapes and must scale to any size without losing quality.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 bitmap image store for each pixel?</a:t>
            </a:r>
            <a:endParaRPr lang="en-US" sz="1700" dirty="0"/>
          </a:p>
        </p:txBody>
      </p:sp>
      <p:sp>
        <p:nvSpPr>
          <p:cNvPr id="7" name="trig:k7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shape</a:t>
            </a:r>
            <a:endParaRPr lang="en-US" sz="1600" dirty="0"/>
          </a:p>
        </p:txBody>
      </p:sp>
      <p:sp>
        <p:nvSpPr>
          <p:cNvPr id="8" name="on:k7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colour value in binary</a:t>
            </a:r>
            <a:endParaRPr lang="en-US" sz="1600" dirty="0"/>
          </a:p>
        </p:txBody>
      </p:sp>
      <p:sp>
        <p:nvSpPr>
          <p:cNvPr id="10" name="on:k7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line thickness</a:t>
            </a:r>
            <a:endParaRPr lang="en-US" sz="1600" dirty="0"/>
          </a:p>
        </p:txBody>
      </p:sp>
      <p:sp>
        <p:nvSpPr>
          <p:cNvPr id="12" name="on:k7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list of coordinates for curves</a:t>
            </a:r>
            <a:endParaRPr lang="en-US" sz="1600" dirty="0"/>
          </a:p>
        </p:txBody>
      </p:sp>
      <p:sp>
        <p:nvSpPr>
          <p:cNvPr id="14" name="on:k8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 colour value in binary  –  Every pixel has its own binary colour code.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Increasing the resolution of an image will…</a:t>
            </a:r>
            <a:endParaRPr lang="en-US" sz="1700" dirty="0"/>
          </a:p>
        </p:txBody>
      </p:sp>
      <p:sp>
        <p:nvSpPr>
          <p:cNvPr id="7" name="trig:k8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reduce the file size</a:t>
            </a:r>
            <a:endParaRPr lang="en-US" sz="1600" dirty="0"/>
          </a:p>
        </p:txBody>
      </p:sp>
      <p:sp>
        <p:nvSpPr>
          <p:cNvPr id="8" name="on:k8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not change the file size</a:t>
            </a:r>
            <a:endParaRPr lang="en-US" sz="1600" dirty="0"/>
          </a:p>
        </p:txBody>
      </p:sp>
      <p:sp>
        <p:nvSpPr>
          <p:cNvPr id="10" name="on:k8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8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turn it into a vector</a:t>
            </a:r>
            <a:endParaRPr lang="en-US" sz="1600" dirty="0"/>
          </a:p>
        </p:txBody>
      </p:sp>
      <p:sp>
        <p:nvSpPr>
          <p:cNvPr id="12" name="on:k8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increase the file size</a:t>
            </a:r>
            <a:endParaRPr lang="en-US" sz="1600" dirty="0"/>
          </a:p>
        </p:txBody>
      </p:sp>
      <p:sp>
        <p:nvSpPr>
          <p:cNvPr id="14" name="on:k8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8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increase the file size  –  More pixels means more colour codes to store.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How many colours can a 2-bit colour image use?</a:t>
            </a:r>
            <a:endParaRPr lang="en-US" sz="1700" dirty="0"/>
          </a:p>
        </p:txBody>
      </p:sp>
      <p:sp>
        <p:nvSpPr>
          <p:cNvPr id="7" name="trig:k8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on:k8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8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on:k8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8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2" name="on:k8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8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</a:t>
            </a:r>
            <a:endParaRPr lang="en-US" sz="1600" dirty="0"/>
          </a:p>
        </p:txBody>
      </p:sp>
      <p:sp>
        <p:nvSpPr>
          <p:cNvPr id="14" name="on:k8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4  –  2 bits give 4 combinations: 00, 01, 10, 11.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10 × 10 image uses 4 colours. What is the size of the image data?</a:t>
            </a:r>
            <a:endParaRPr lang="en-US" sz="1700" dirty="0"/>
          </a:p>
        </p:txBody>
      </p:sp>
      <p:sp>
        <p:nvSpPr>
          <p:cNvPr id="7" name="trig:k8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25 bytes</a:t>
            </a:r>
            <a:endParaRPr lang="en-US" sz="1600" dirty="0"/>
          </a:p>
        </p:txBody>
      </p:sp>
      <p:sp>
        <p:nvSpPr>
          <p:cNvPr id="8" name="on:k8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100 bytes</a:t>
            </a:r>
            <a:endParaRPr lang="en-US" sz="1600" dirty="0"/>
          </a:p>
        </p:txBody>
      </p:sp>
      <p:sp>
        <p:nvSpPr>
          <p:cNvPr id="10" name="on:k9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200 bytes</a:t>
            </a:r>
            <a:endParaRPr lang="en-US" sz="1600" dirty="0"/>
          </a:p>
        </p:txBody>
      </p:sp>
      <p:sp>
        <p:nvSpPr>
          <p:cNvPr id="12" name="on:k9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40 bytes</a:t>
            </a:r>
            <a:endParaRPr lang="en-US" sz="1600" dirty="0"/>
          </a:p>
        </p:txBody>
      </p:sp>
      <p:sp>
        <p:nvSpPr>
          <p:cNvPr id="14" name="on:k9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8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25 bytes  –  4 colours need 2 bits: 10 × 10 × 2 = 200 bits, and 200 ÷ 8 = 25 bytes.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metadata stored with a bitmap image?</a:t>
            </a:r>
            <a:endParaRPr lang="en-US" sz="1700" dirty="0"/>
          </a:p>
        </p:txBody>
      </p:sp>
      <p:sp>
        <p:nvSpPr>
          <p:cNvPr id="7" name="trig:k9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colour of pixel 1</a:t>
            </a:r>
            <a:endParaRPr lang="en-US" sz="1600" dirty="0"/>
          </a:p>
        </p:txBody>
      </p:sp>
      <p:sp>
        <p:nvSpPr>
          <p:cNvPr id="8" name="on:k9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9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image's width and height</a:t>
            </a:r>
            <a:endParaRPr lang="en-US" sz="1600" dirty="0"/>
          </a:p>
        </p:txBody>
      </p:sp>
      <p:sp>
        <p:nvSpPr>
          <p:cNvPr id="10" name="on:k9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9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fill colour of a circle</a:t>
            </a:r>
            <a:endParaRPr lang="en-US" sz="1600" dirty="0"/>
          </a:p>
        </p:txBody>
      </p:sp>
      <p:sp>
        <p:nvSpPr>
          <p:cNvPr id="12" name="on:k9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9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printer used</a:t>
            </a:r>
            <a:endParaRPr lang="en-US" sz="1600" dirty="0"/>
          </a:p>
        </p:txBody>
      </p:sp>
      <p:sp>
        <p:nvSpPr>
          <p:cNvPr id="14" name="on:k9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image's width and height  –  Metadata describes the image, e.g. its dimensions, so it can be rebuilt correctly.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property stored in a vector graphic?</a:t>
            </a:r>
            <a:endParaRPr lang="en-US" sz="1700" dirty="0"/>
          </a:p>
        </p:txBody>
      </p:sp>
      <p:sp>
        <p:nvSpPr>
          <p:cNvPr id="7" name="trig:k9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Fill colour of a shape</a:t>
            </a:r>
            <a:endParaRPr lang="en-US" sz="1600" dirty="0"/>
          </a:p>
        </p:txBody>
      </p:sp>
      <p:sp>
        <p:nvSpPr>
          <p:cNvPr id="8" name="on:k9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9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Pixel colour depth</a:t>
            </a:r>
            <a:endParaRPr lang="en-US" sz="1600" dirty="0"/>
          </a:p>
        </p:txBody>
      </p:sp>
      <p:sp>
        <p:nvSpPr>
          <p:cNvPr id="10" name="on:k9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9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Number of pixels per inch</a:t>
            </a:r>
            <a:endParaRPr lang="en-US" sz="1600" dirty="0"/>
          </a:p>
        </p:txBody>
      </p:sp>
      <p:sp>
        <p:nvSpPr>
          <p:cNvPr id="12" name="on:k9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Compression ratio</a:t>
            </a:r>
            <a:endParaRPr lang="en-US" sz="1600" dirty="0"/>
          </a:p>
        </p:txBody>
      </p:sp>
      <p:sp>
        <p:nvSpPr>
          <p:cNvPr id="14" name="on:k10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Fill colour of a shape  –  Vectors store object properties such as position, size, line colour and fill colour.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file type is a vector graphic?</a:t>
            </a:r>
            <a:endParaRPr lang="en-US" sz="1700" dirty="0"/>
          </a:p>
        </p:txBody>
      </p:sp>
      <p:sp>
        <p:nvSpPr>
          <p:cNvPr id="7" name="trig:k10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JPEG</a:t>
            </a:r>
            <a:endParaRPr lang="en-US" sz="1600" dirty="0"/>
          </a:p>
        </p:txBody>
      </p:sp>
      <p:sp>
        <p:nvSpPr>
          <p:cNvPr id="8" name="on:k10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PNG</a:t>
            </a:r>
            <a:endParaRPr lang="en-US" sz="1600" dirty="0"/>
          </a:p>
        </p:txBody>
      </p:sp>
      <p:sp>
        <p:nvSpPr>
          <p:cNvPr id="10" name="on:k10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GIF</a:t>
            </a:r>
            <a:endParaRPr lang="en-US" sz="1600" dirty="0"/>
          </a:p>
        </p:txBody>
      </p:sp>
      <p:sp>
        <p:nvSpPr>
          <p:cNvPr id="12" name="on:k10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0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SVG</a:t>
            </a:r>
            <a:endParaRPr lang="en-US" sz="1600" dirty="0"/>
          </a:p>
        </p:txBody>
      </p:sp>
      <p:sp>
        <p:nvSpPr>
          <p:cNvPr id="14" name="on:k10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0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SVG  –  SVG (Scalable Vector Graphics) stores lines, curves and shapes.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It becomes pixelated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pixel is made bigger, so the pixels show as visible blocks.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school logo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logo is built from shapes and must scale to any size without losing quality.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 colour value in binary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Every pixel has its own binary colour code.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increase the file size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More pixels means more colour codes to store.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2 bits give 4 combinations: 00, 01, 10, 11.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25 bytes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4 colours need 2 bits: 10 × 10 × 2 = 200 bits, and 200 ÷ 8 = 25 bytes.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image's width and height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Metadata describes the image, e.g. its dimensions, so it can be rebuilt correctly.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Fill colour of a shape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Vectors store object properties such as position, size, line colour and fill colour.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SVG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SVG (Scalable Vector Graphics) stores lines, curves and shapes.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77" grpId="0">
        <p:bldAsOne/>
      </p:bldGraphic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Q4(a)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Image file type, compression, resolution, ppi/dpi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 vs vector, resolution, buffering, sample rate, ADC, compression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 vs vector; sound file size calculation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78" grpId="0">
        <p:bldAsOne/>
      </p:bldGraphic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Representing sound; buffering and streaming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sound must be converted from analogue to digital and describe what an ADC does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sample rate, bit depth and bit rate affect quality and file size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the bit rate and the file size of a simple sound recording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streaming and buffering let a video play while it downloads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Sound is analogu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Sound is analogue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From microphone to bina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microphone to binary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Sampling and sample r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Sampling and sample rate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Bit dep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 depth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5221C"/>
                </a:solidFill>
                <a:hlinkClick r:id="rId7" action="ppaction://hlinksldjump" tooltip="Comparing sample rate and bit dep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sample rate and bit depth</a:t>
            </a:r>
            <a:endParaRPr lang="en-US" sz="13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Bit r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 rate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Worked example: bit rat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bit rate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Worked example: file siz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file size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Stream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Streaming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Buff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Buffering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3" action="ppaction://hlinksldjump" tooltip="Streaming vs downloa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Streaming vs downloading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464058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5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A sound wave sampled at regular intervals, with sample rate on the time axis and bit depth as the number of leve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A sound wave sampled at regular intervals, with sample rate on the time axis and bit depth as the number of levels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Sound is analogue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Sound travels as a wave of vibrations in the air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analogue signal changes smoothly and continuously, with no gaps or steps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Computers can only store and process digital data: binary 0s and 1s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 sound must be converted from analogue to digital before a computer can store, edit or play it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microphone to binary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1. A microphone (input device) picks up the sound wave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2. It turns the vibrations into an analogue electrical signal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3. An analogue-to-digital converter (ADC) measures the signal at regular time intervals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4. Each measurement (a sample) is rounded to the nearest whole-number level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5. Each level is stored as a binary number, so the sound is now digital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To play it back, a digital-to-analogue converter turns the numbers back into a signal for the speakers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Sampling and sample rate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sample is one measurement of the height (amplitude) of the sound wave at one instant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Sample rate = the number of samples taken every second, measured in hertz (Hz)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CD-quality audio uses 44 100 samples per second (44.1 kHz)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Low sample rate: changes in the wave between samples are missed, so the sound is less like the original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Higher sample rate: the wave's shape is captured more accurately, but there are more numbers to store, so the file is bigger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Bit depth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 depth = how many bits are given to each sample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 bits give 2ⁿ possible levels: 8 bits = 256 levels, 16 bits = 65 536 levels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CDs use 16-bit samples; DVD and studio audio often use 24 bits (16 777 216 levels)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More levels means each sample is rounded less, so it is recorded more accurately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Higher bit depth: better quality and a larger file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sample rate and bit depth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00783"/>
                <a:gridCol w="2976664"/>
                <a:gridCol w="38521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Sample 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it measures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How often the wave is measured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How precisely each measurement is stored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Hertz (samples per second)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Bits per sample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Typical CD value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44 100 Hz (44.1 kHz)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16 bits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If increased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Better quality, bigger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Better quality, bigger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If too low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Sound loses detail between samples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Samples rounded roughly, adds hiss and noise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86" grpId="0">
        <p:bldAsOne/>
      </p:bldGraphic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Bit rate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 rate = the amount of data (in bits) processed for each second of sound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one channel: bit rate = sample rate × bit depth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Stereo has 2 channels (left and right), so multiply by 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Measured in bits per second (bps) or kilobits per second (kbps)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Compressed music is often 128–320 kbps: a higher bit rate usually means better quality and a bigger file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bit rate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voice memo on a phone: sample rate 8 000 Hz, bit depth 8 bits, mono (1 channel)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Bit rate = 8 000 × 8 = 64 000 bits per second = 64 kbps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CD audio: 44 100 × 16 = 705 600 bps for one channel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CD stereo: 705 600 × 2 = 1 411 200 bps, about 1 411 kbps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That is about 11 times the bit rate of a 128 kbps MP3 (1 411 200 ÷ 128 000 ≈ 11)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file size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 size (bits) = sample rate × bit depth × channels × length in seconds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Ciara records a 1-minute mono voice note for her Irish oral: 8 000 Hz, 8-bit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8 000 × 8 × 1 × 60 = 3 840 000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÷ 8 = 480 000 bytes; ÷ 1024 = 468.75 KB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10-second CD-quality stereo clip: 44 100 × 16 × 2 × 10 = 14 112 000 bits = 1 764 000 bytes ≈ 1.68 MB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Streaming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Downloading: the whole file is copied and saved on the device before you watch or listen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Streaming: the video or audio plays while it is still being received from the internet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You can start watching almost straight away without waiting for the full file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The file is not normally kept permanently, so it uses little storage space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Needs a working internet connection all the time; quality depends on its speed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Examples: BBC iPlayer, YouTube, Netflix, Spotify, watching an Ulster Rugby match online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Buffering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buffer is a part of memory set aside to hold data temporarily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While you watch one part of a video, the next part is downloaded into the buffer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connection slows or drops for a moment, playback carries on using the data already in the buffer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 buffer runs empty, playback pauses while more data arrives: the spinning 'buffering' icon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Many services lower the picture quality on slow connections to keep the buffer topped up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Streaming vs downloading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79479"/>
                <a:gridCol w="3143892"/>
                <a:gridCol w="36062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Streaming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Downloading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Start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Plays almost immediately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wait for the whole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Storage used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Little: only the buffer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whole file is saved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Internet needed?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Yes, all the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to download; can then play offline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Interruptions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Can pause if the buffer empties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None once the file is saved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Uses data every time it is watched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Downloaded once, watched many times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92" grpId="0">
        <p:bldAsOne/>
      </p:bldGraphic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an analogue-to-digital converter (ADC) do when sound is recorded?</a:t>
            </a:r>
            <a:endParaRPr lang="en-US" sz="1700" dirty="0"/>
          </a:p>
        </p:txBody>
      </p:sp>
      <p:sp>
        <p:nvSpPr>
          <p:cNvPr id="7" name="trig:k10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Converts digital data into sound for the speakers</a:t>
            </a:r>
            <a:endParaRPr lang="en-US" sz="1250" dirty="0"/>
          </a:p>
        </p:txBody>
      </p:sp>
      <p:sp>
        <p:nvSpPr>
          <p:cNvPr id="8" name="on:k10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Compresses the sound file to make it smaller</a:t>
            </a:r>
            <a:endParaRPr lang="en-US" sz="1250" dirty="0"/>
          </a:p>
        </p:txBody>
      </p:sp>
      <p:sp>
        <p:nvSpPr>
          <p:cNvPr id="10" name="on:k10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0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Samples the analogue signal and turns each sample into a binary number</a:t>
            </a:r>
            <a:endParaRPr lang="en-US" sz="1250" dirty="0"/>
          </a:p>
        </p:txBody>
      </p:sp>
      <p:sp>
        <p:nvSpPr>
          <p:cNvPr id="12" name="on:k10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0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Stores the next part of a song in memory</a:t>
            </a:r>
            <a:endParaRPr lang="en-US" sz="1250" dirty="0"/>
          </a:p>
        </p:txBody>
      </p:sp>
      <p:sp>
        <p:nvSpPr>
          <p:cNvPr id="14" name="on:k10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0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Samples the analogue signal and turns each sample into a binary number  –  An ADC measures the analogue signal at regular intervals and stores each measurement in binary. Converting back for speakers is done by a DAC.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bit rate of a mono sound sampled at 8 000 Hz with an 8-bit depth?</a:t>
            </a:r>
            <a:endParaRPr lang="en-US" sz="1700" dirty="0"/>
          </a:p>
        </p:txBody>
      </p:sp>
      <p:sp>
        <p:nvSpPr>
          <p:cNvPr id="7" name="trig:k10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16 000 bps</a:t>
            </a:r>
            <a:endParaRPr lang="en-US" sz="1600" dirty="0"/>
          </a:p>
        </p:txBody>
      </p:sp>
      <p:sp>
        <p:nvSpPr>
          <p:cNvPr id="8" name="on:k10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64 000 bps</a:t>
            </a:r>
            <a:endParaRPr lang="en-US" sz="1600" dirty="0"/>
          </a:p>
        </p:txBody>
      </p:sp>
      <p:sp>
        <p:nvSpPr>
          <p:cNvPr id="10" name="on:k1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8 008 bps</a:t>
            </a:r>
            <a:endParaRPr lang="en-US" sz="1600" dirty="0"/>
          </a:p>
        </p:txBody>
      </p:sp>
      <p:sp>
        <p:nvSpPr>
          <p:cNvPr id="12" name="on:k1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1 000 bps</a:t>
            </a:r>
            <a:endParaRPr lang="en-US" sz="1600" dirty="0"/>
          </a:p>
        </p:txBody>
      </p:sp>
      <p:sp>
        <p:nvSpPr>
          <p:cNvPr id="14" name="on:k1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64 000 bps  –  Bit rate = sample rate × bit depth = 8 000 × 8 = 64 000 bits per second.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unit of sample rate?</a:t>
            </a:r>
            <a:endParaRPr lang="en-US" sz="1700" dirty="0"/>
          </a:p>
        </p:txBody>
      </p:sp>
      <p:sp>
        <p:nvSpPr>
          <p:cNvPr id="7" name="trig:k1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Hertz (Hz)</a:t>
            </a:r>
            <a:endParaRPr lang="en-US" sz="1600" dirty="0"/>
          </a:p>
        </p:txBody>
      </p:sp>
      <p:sp>
        <p:nvSpPr>
          <p:cNvPr id="8" name="on:k1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Bits</a:t>
            </a:r>
            <a:endParaRPr lang="en-US" sz="1600" dirty="0"/>
          </a:p>
        </p:txBody>
      </p:sp>
      <p:sp>
        <p:nvSpPr>
          <p:cNvPr id="10" name="on:k1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Bytes</a:t>
            </a:r>
            <a:endParaRPr lang="en-US" sz="1600" dirty="0"/>
          </a:p>
        </p:txBody>
      </p:sp>
      <p:sp>
        <p:nvSpPr>
          <p:cNvPr id="12" name="on:k1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Pixels</a:t>
            </a:r>
            <a:endParaRPr lang="en-US" sz="1600" dirty="0"/>
          </a:p>
        </p:txBody>
      </p:sp>
      <p:sp>
        <p:nvSpPr>
          <p:cNvPr id="14" name="on:k1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Hertz (Hz)  –  Sample rate is samples per second, which is measured in hertz.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change makes each sample more accurate?</a:t>
            </a:r>
            <a:endParaRPr lang="en-US" sz="1700" dirty="0"/>
          </a:p>
        </p:txBody>
      </p:sp>
      <p:sp>
        <p:nvSpPr>
          <p:cNvPr id="7" name="trig:k1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Lower sample rate</a:t>
            </a:r>
            <a:endParaRPr lang="en-US" sz="1600" dirty="0"/>
          </a:p>
        </p:txBody>
      </p:sp>
      <p:sp>
        <p:nvSpPr>
          <p:cNvPr id="8" name="on:k1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Fewer channels</a:t>
            </a:r>
            <a:endParaRPr lang="en-US" sz="1600" dirty="0"/>
          </a:p>
        </p:txBody>
      </p:sp>
      <p:sp>
        <p:nvSpPr>
          <p:cNvPr id="10" name="on:k1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Lower bit rate</a:t>
            </a:r>
            <a:endParaRPr lang="en-US" sz="1600" dirty="0"/>
          </a:p>
        </p:txBody>
      </p:sp>
      <p:sp>
        <p:nvSpPr>
          <p:cNvPr id="12" name="on:k1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Higher bit depth</a:t>
            </a:r>
            <a:endParaRPr lang="en-US" sz="1600" dirty="0"/>
          </a:p>
        </p:txBody>
      </p:sp>
      <p:sp>
        <p:nvSpPr>
          <p:cNvPr id="14" name="on:k1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Higher bit depth  –  More bits per sample give more possible levels, so each sample is rounded less.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some detail lost when sound is sampled?</a:t>
            </a:r>
            <a:endParaRPr lang="en-US" sz="1700" dirty="0"/>
          </a:p>
        </p:txBody>
      </p:sp>
      <p:sp>
        <p:nvSpPr>
          <p:cNvPr id="7" name="trig:k1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microphone is digital</a:t>
            </a:r>
            <a:endParaRPr lang="en-US" sz="1400" dirty="0"/>
          </a:p>
        </p:txBody>
      </p:sp>
      <p:sp>
        <p:nvSpPr>
          <p:cNvPr id="8" name="on:k1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What the wave does between samples is not recorded</a:t>
            </a:r>
            <a:endParaRPr lang="en-US" sz="1400" dirty="0"/>
          </a:p>
        </p:txBody>
      </p:sp>
      <p:sp>
        <p:nvSpPr>
          <p:cNvPr id="10" name="on:k1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Binary cannot store numbers</a:t>
            </a:r>
            <a:endParaRPr lang="en-US" sz="1400" dirty="0"/>
          </a:p>
        </p:txBody>
      </p:sp>
      <p:sp>
        <p:nvSpPr>
          <p:cNvPr id="12" name="on:k1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buffer is too small</a:t>
            </a:r>
            <a:endParaRPr lang="en-US" sz="1400" dirty="0"/>
          </a:p>
        </p:txBody>
      </p:sp>
      <p:sp>
        <p:nvSpPr>
          <p:cNvPr id="14" name="on:k1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What the wave does between samples is not recorded  –  Only the readings at each sample point are kept; changes between them are lost.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10-second stereo clip is recorded at 44 100 Hz with 16-bit samples. How many bits is it?</a:t>
            </a:r>
            <a:endParaRPr lang="en-US" sz="1700" dirty="0"/>
          </a:p>
        </p:txBody>
      </p:sp>
      <p:sp>
        <p:nvSpPr>
          <p:cNvPr id="7" name="trig:k1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705 600</a:t>
            </a:r>
            <a:endParaRPr lang="en-US" sz="1600" dirty="0"/>
          </a:p>
        </p:txBody>
      </p:sp>
      <p:sp>
        <p:nvSpPr>
          <p:cNvPr id="8" name="on:k1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1 411 200</a:t>
            </a:r>
            <a:endParaRPr lang="en-US" sz="1600" dirty="0"/>
          </a:p>
        </p:txBody>
      </p:sp>
      <p:sp>
        <p:nvSpPr>
          <p:cNvPr id="10" name="on:k1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7 056 000</a:t>
            </a:r>
            <a:endParaRPr lang="en-US" sz="1600" dirty="0"/>
          </a:p>
        </p:txBody>
      </p:sp>
      <p:sp>
        <p:nvSpPr>
          <p:cNvPr id="12" name="on:k1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14 112 000</a:t>
            </a:r>
            <a:endParaRPr lang="en-US" sz="1600" dirty="0"/>
          </a:p>
        </p:txBody>
      </p:sp>
      <p:sp>
        <p:nvSpPr>
          <p:cNvPr id="14" name="on:k1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14 112 000  –  44 100 × 16 × 2 channels × 10 s = 14 112 000 bits.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buffer?</a:t>
            </a:r>
            <a:endParaRPr lang="en-US" sz="1700" dirty="0"/>
          </a:p>
        </p:txBody>
      </p:sp>
      <p:sp>
        <p:nvSpPr>
          <p:cNvPr id="7" name="trig:k1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cable that speeds up downloads</a:t>
            </a:r>
            <a:endParaRPr lang="en-US" sz="1400" dirty="0"/>
          </a:p>
        </p:txBody>
      </p:sp>
      <p:sp>
        <p:nvSpPr>
          <p:cNvPr id="8" name="on:k1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compressed video format</a:t>
            </a:r>
            <a:endParaRPr lang="en-US" sz="1400" dirty="0"/>
          </a:p>
        </p:txBody>
      </p:sp>
      <p:sp>
        <p:nvSpPr>
          <p:cNvPr id="10" name="on:k1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Memory that temporarily holds data before it is used</a:t>
            </a:r>
            <a:endParaRPr lang="en-US" sz="1400" dirty="0"/>
          </a:p>
        </p:txBody>
      </p:sp>
      <p:sp>
        <p:nvSpPr>
          <p:cNvPr id="12" name="on:k1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microphone</a:t>
            </a:r>
            <a:endParaRPr lang="en-US" sz="1400" dirty="0"/>
          </a:p>
        </p:txBody>
      </p:sp>
      <p:sp>
        <p:nvSpPr>
          <p:cNvPr id="14" name="on:k1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Memory that temporarily holds data before it is used  –  When streaming, the buffer stores the next section of the video ahead of playback.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8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happens when a streamed video stops and shows a loading icon?</a:t>
            </a:r>
            <a:endParaRPr lang="en-US" sz="1700" dirty="0"/>
          </a:p>
        </p:txBody>
      </p:sp>
      <p:sp>
        <p:nvSpPr>
          <p:cNvPr id="7" name="trig:k1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buffer has run out of data</a:t>
            </a:r>
            <a:endParaRPr lang="en-US" sz="1600" dirty="0"/>
          </a:p>
        </p:txBody>
      </p:sp>
      <p:sp>
        <p:nvSpPr>
          <p:cNvPr id="8" name="on:k1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file has finished downloading</a:t>
            </a:r>
            <a:endParaRPr lang="en-US" sz="1600" dirty="0"/>
          </a:p>
        </p:txBody>
      </p:sp>
      <p:sp>
        <p:nvSpPr>
          <p:cNvPr id="10" name="on:k1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bit depth is too high</a:t>
            </a:r>
            <a:endParaRPr lang="en-US" sz="1600" dirty="0"/>
          </a:p>
        </p:txBody>
      </p:sp>
      <p:sp>
        <p:nvSpPr>
          <p:cNvPr id="12" name="on:k1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ADC has stopped working</a:t>
            </a:r>
            <a:endParaRPr lang="en-US" sz="1600" dirty="0"/>
          </a:p>
        </p:txBody>
      </p:sp>
      <p:sp>
        <p:nvSpPr>
          <p:cNvPr id="14" name="on:k1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The buffer has run out of data  –  Playback pauses when the buffer empties, until enough new data arrives.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Samples the analogue signal and turns each sample into a binary number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An ADC measures the analogue signal at regular intervals and stores each measurement in binary. Converting back for speakers is done by a DAC.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64 000 bps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Bit rate = sample rate × bit depth = 8 000 × 8 = 64 000 bits per second.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Hertz (Hz)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Sample rate is samples per second, which is measured in hertz.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Higher bit depth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More bits per sample give more possible levels, so each sample is rounded less.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What the wave does between samples is not recorded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Only the readings at each sample point are kept; changes between them are lost.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14 112 000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44 100 × 16 × 2 channels × 10 s = 14 112 000 bits.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Memory that temporarily holds data before it is used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When streaming, the buffer stores the next section of the video ahead of playback.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buffer has run out of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Playback pauses when the buffer empties, until enough new data arrives.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1" grpId="0">
        <p:bldAsOne/>
      </p:bldGraphic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2019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Q4(b)–(c)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Streaming and buffering; capturing sound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Key term matching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MCQ: storage, bit rate, real-time, compression, buffering, ADC, big data,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 vs vector, resolution, buffering, sample rate, ADC, compression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Compression, video formats, bit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 vs vector; sound file size calculation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1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102" grpId="0">
        <p:bldAsOne/>
      </p:bldGraphic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UNIT 1: DIGITAL TECHNOLOGY  ·  L05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portability, file formats and compression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Define data portability and explain why standard file formats support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purpose and typical use of each of the 16 file formats in the specification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 suitable file format for a task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data is compressed and compare lossy and lossless compression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5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3" action="ppaction://hlinksldjump" tooltip="Data portabil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portability</a:t>
            </a:r>
            <a:endParaRPr lang="en-US" sz="15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4" action="ppaction://hlinksldjump" tooltip="Why portability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portability matters</a:t>
            </a:r>
            <a:endParaRPr lang="en-US" sz="15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5" action="ppaction://hlinksldjump" tooltip="Image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formats</a:t>
            </a:r>
            <a:endParaRPr lang="en-US" sz="15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6" action="ppaction://hlinksldjump" tooltip="Text and document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Text and document formats</a:t>
            </a:r>
            <a:endParaRPr lang="en-US" sz="15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7" action="ppaction://hlinksldjump" tooltip="Audio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Audio formats</a:t>
            </a:r>
            <a:endParaRPr lang="en-US" sz="15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45720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8" action="ppaction://hlinksldjump" tooltip="Video forma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Video formats</a:t>
            </a:r>
            <a:endParaRPr lang="en-US" sz="15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4640580" y="132588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9" action="ppaction://hlinksldjump" tooltip="Choosing a forma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format</a:t>
            </a:r>
            <a:endParaRPr lang="en-US" sz="15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4640580" y="1811818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0" action="ppaction://hlinksldjump" tooltip="Why compress data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compress data?</a:t>
            </a:r>
            <a:endParaRPr lang="en-US" sz="15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4640580" y="2297757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1" action="ppaction://hlinksldjump" tooltip="Lossy comp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Lossy compression</a:t>
            </a:r>
            <a:endParaRPr lang="en-US" sz="15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4640580" y="2783695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2" action="ppaction://hlinksldjump" tooltip="Lossless compres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Lossless compression</a:t>
            </a:r>
            <a:endParaRPr lang="en-US" sz="15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4640580" y="3269633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13" action="ppaction://hlinksldjump" tooltip="Worked example: how much smaller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how much smaller?</a:t>
            </a:r>
            <a:endParaRPr lang="en-US" sz="15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4640580" y="3755571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4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5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4640580" y="4241510"/>
            <a:ext cx="4046220" cy="394498"/>
          </a:xfrm>
          <a:prstGeom prst="roundRect">
            <a:avLst>
              <a:gd name="adj" fmla="val 1854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hlinkClick r:id="rId15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Lossless compression restores every block of data; lossy compression permanently removes s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Lossless compression restores every block of data; lossy compression permanently removes some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portability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portability: being able to move data from one computer or application to another without having to type it in again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Also credited as interoperability or compatibility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Works because the data is saved in a standard file format that many programs can open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Example: a club exports its member list from a database as csv, then opens it in a spreadsheet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file extension (e.g. .csv, .pdf) tells the computer which format a file uses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portability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People use different devices and operating systems: Windows, macOS, Android, iOS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Organisations share data with others, e.g. a school sending results to a council or exam board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Saves time and avoids typing errors because data is not re-entered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Users can change software without losing old work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Choosing the wrong format can lose formatting, quality or the data itself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Image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5021"/>
                <a:gridCol w="5135270"/>
                <a:gridCol w="269930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facts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jpeg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Lossy compression; user can choose the level; millions of colours; small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Photographs, web pages, social media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Lossless compression; keeps quality; supports transparency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Logos, web graphics, screenshots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gif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Limited to 256 colours; lossless; can hold a series of images to animate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Simple animations, icons, simple graphics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Bitmap; keeps high quality; large files; moves between Windows and Apple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Printing, publishing, scanned images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pict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Apple's standard graphics format; can hold bitmap and vector graphics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Older Apple Mac graphics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8" grpId="0">
        <p:bldAsOne/>
      </p:bldGraphic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Text and document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8357"/>
                <a:gridCol w="4696239"/>
                <a:gridCol w="32650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facts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Plain text only, no formatting; opens in any text editor or word processor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Notes, program code, simple 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csv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Comma-separated values: one record per line, fields separated by commas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Moving tables between spreadsheets and databases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rtf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Rich Text Format: text with basic formatting (fonts, bold, italics)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Sharing documents between different word processors and operating systems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pdf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Portable Document Format (Adobe): fonts, images and layout look the same on any device; usually read-only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Forms, leaflets, letters, documents to print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09" grpId="0">
        <p:bldAsOne/>
      </p:bldGraphic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Audio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8800"/>
                <a:gridCol w="5119200"/>
                <a:gridCol w="272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facts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mp3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Lossy compressed audio; much smaller than wav; quality close to the original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Music, podcasts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wav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Uncompressed audio; high quality; large files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Recording and editing sound, sound effects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wma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Windows Media Audio: Microsoft's compressed audio 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Audio on Windows Media Player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midi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Stores instructions (notes, instrument, timing), not recorded sound; very small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Electronic keyboards, composing music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10" grpId="0">
        <p:bldAsOne/>
      </p:bldGraphic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Video formats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85763"/>
                <a:gridCol w="5657850"/>
                <a:gridCol w="21859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facts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Typical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mp4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Compresses video and sound; can also hold still images and subtitles; supports streaming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Online video, phones, social media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mpeg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Named after the Moving Picture Experts Group, who set standards for compressing video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DVDs, digital broadcasting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avi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Audio Video Interleave: Microsoft format with audio and video kept in sync; often large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Video on Windows PCs, editing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11" grpId="0">
        <p:bldAsOne/>
      </p:bldGraphic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format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Holiday photo for Instagram → jpeg (small file, millions of colours)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School crest with a see-through background → png (lossless, transparency)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Poster sent to a printer in Belfast → tiff or pdf (high quality / fixed layout)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 results sent from a database to a spreadsheet → csv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Song for a phone → mp3; raw recording to edit → wav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Always justify: say what the format does that suits the task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compress data?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Compression: making a file smaller by encoding its data more efficiently or removing some of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Smaller files take up less storage space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Smaller files upload and download faster, so web pages load quicker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Less bandwidth is needed, so streaming is smoother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Email and websites often limit attachment or upload sizes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Lossy compression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Removes some data permanently, e.g. detail or colours the eye or ear is unlikely to notice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Gives much smaller files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Quality is reduced, and the original can never be fully rebuilt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Higher compression = smaller file but worse quality (e.g. blocky jpegs)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jpeg, mp3, mp4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Suits photos, music and video, where a small loss is acceptable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Lossless compression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Makes the file smaller without losing any data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file can be decompressed back to exactly the original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Files are not reduced as much as with lossy compression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Examples: zip files (e.g. WinZip), png, gif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Must be used for text, spreadsheets and program files: losing even one bit could change a mark or stop a program working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how much smaller?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3-minute song as CD-quality wav: 44 100 × 16 × 2 × 180 = 254 016 000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÷ 8 = 31 752 000 bytes ≈ 30.3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same song as a 128 kbps mp3: 128 000 × 180 = 23 040 000 bits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÷ 8 = 2 880 000 bytes ≈ 2.75 MB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mp3 is about 11 times smaller (254 016 000 ÷ 23 040 000 ≈ 11), so it is quicker to download and many more songs fit on a phone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meant by data portability?</a:t>
            </a:r>
            <a:endParaRPr lang="en-US" sz="1700" dirty="0"/>
          </a:p>
        </p:txBody>
      </p:sp>
      <p:sp>
        <p:nvSpPr>
          <p:cNvPr id="7" name="trig:k1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Carrying a laptop between rooms</a:t>
            </a:r>
            <a:endParaRPr lang="en-US" sz="1250" dirty="0"/>
          </a:p>
        </p:txBody>
      </p:sp>
      <p:sp>
        <p:nvSpPr>
          <p:cNvPr id="8" name="on:k1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Moving data between computers or applications without re-entering it</a:t>
            </a:r>
            <a:endParaRPr lang="en-US" sz="1250" dirty="0"/>
          </a:p>
        </p:txBody>
      </p:sp>
      <p:sp>
        <p:nvSpPr>
          <p:cNvPr id="10" name="on:k1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Making a file as small as possible</a:t>
            </a:r>
            <a:endParaRPr lang="en-US" sz="1250" dirty="0"/>
          </a:p>
        </p:txBody>
      </p:sp>
      <p:sp>
        <p:nvSpPr>
          <p:cNvPr id="12" name="on:k1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Storing data in the cloud</a:t>
            </a:r>
            <a:endParaRPr lang="en-US" sz="1250" dirty="0"/>
          </a:p>
        </p:txBody>
      </p:sp>
      <p:sp>
        <p:nvSpPr>
          <p:cNvPr id="14" name="on:k1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Moving data between computers or applications without re-entering it  –  Portability means data can be transferred and opened elsewhere without being typed in again.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audio format stores musical instructions rather than recorded sound?</a:t>
            </a:r>
            <a:endParaRPr lang="en-US" sz="1700" dirty="0"/>
          </a:p>
        </p:txBody>
      </p:sp>
      <p:sp>
        <p:nvSpPr>
          <p:cNvPr id="7" name="trig:k1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wav</a:t>
            </a:r>
            <a:endParaRPr lang="en-US" sz="1600" dirty="0"/>
          </a:p>
        </p:txBody>
      </p:sp>
      <p:sp>
        <p:nvSpPr>
          <p:cNvPr id="8" name="on:k1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mp3</a:t>
            </a:r>
            <a:endParaRPr lang="en-US" sz="1600" dirty="0"/>
          </a:p>
        </p:txBody>
      </p:sp>
      <p:sp>
        <p:nvSpPr>
          <p:cNvPr id="10" name="on:k1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wma</a:t>
            </a:r>
            <a:endParaRPr lang="en-US" sz="1600" dirty="0"/>
          </a:p>
        </p:txBody>
      </p:sp>
      <p:sp>
        <p:nvSpPr>
          <p:cNvPr id="12" name="on:k1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midi</a:t>
            </a:r>
            <a:endParaRPr lang="en-US" sz="1600" dirty="0"/>
          </a:p>
        </p:txBody>
      </p:sp>
      <p:sp>
        <p:nvSpPr>
          <p:cNvPr id="14" name="on:k1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midi  –  midi stores which notes to play, on which instrument and for how long.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stores data with each field separated by a comma?</a:t>
            </a:r>
            <a:endParaRPr lang="en-US" sz="1700" dirty="0"/>
          </a:p>
        </p:txBody>
      </p:sp>
      <p:sp>
        <p:nvSpPr>
          <p:cNvPr id="7" name="trig:k1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rtf</a:t>
            </a:r>
            <a:endParaRPr lang="en-US" sz="1600" dirty="0"/>
          </a:p>
        </p:txBody>
      </p:sp>
      <p:sp>
        <p:nvSpPr>
          <p:cNvPr id="8" name="on:k1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csv</a:t>
            </a:r>
            <a:endParaRPr lang="en-US" sz="1600" dirty="0"/>
          </a:p>
        </p:txBody>
      </p:sp>
      <p:sp>
        <p:nvSpPr>
          <p:cNvPr id="10" name="on:k1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tiff</a:t>
            </a:r>
            <a:endParaRPr lang="en-US" sz="1600" dirty="0"/>
          </a:p>
        </p:txBody>
      </p:sp>
      <p:sp>
        <p:nvSpPr>
          <p:cNvPr id="12" name="on:k1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wma</a:t>
            </a:r>
            <a:endParaRPr lang="en-US" sz="1600" dirty="0"/>
          </a:p>
        </p:txBody>
      </p:sp>
      <p:sp>
        <p:nvSpPr>
          <p:cNvPr id="14" name="on:k1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csv  –  csv means comma-separated values.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image format supports simple animation?</a:t>
            </a:r>
            <a:endParaRPr lang="en-US" sz="1700" dirty="0"/>
          </a:p>
        </p:txBody>
      </p:sp>
      <p:sp>
        <p:nvSpPr>
          <p:cNvPr id="7" name="trig:k1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gif</a:t>
            </a:r>
            <a:endParaRPr lang="en-US" sz="1600" dirty="0"/>
          </a:p>
        </p:txBody>
      </p:sp>
      <p:sp>
        <p:nvSpPr>
          <p:cNvPr id="8" name="on:k1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tiff</a:t>
            </a:r>
            <a:endParaRPr lang="en-US" sz="1600" dirty="0"/>
          </a:p>
        </p:txBody>
      </p:sp>
      <p:sp>
        <p:nvSpPr>
          <p:cNvPr id="10" name="on:k1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jpeg</a:t>
            </a:r>
            <a:endParaRPr lang="en-US" sz="1600" dirty="0"/>
          </a:p>
        </p:txBody>
      </p:sp>
      <p:sp>
        <p:nvSpPr>
          <p:cNvPr id="12" name="on:k1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pict</a:t>
            </a:r>
            <a:endParaRPr lang="en-US" sz="1600" dirty="0"/>
          </a:p>
        </p:txBody>
      </p:sp>
      <p:sp>
        <p:nvSpPr>
          <p:cNvPr id="14" name="on:k1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gif  –  gif can store a series of images that play one after another.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Lossy compression…</a:t>
            </a:r>
            <a:endParaRPr lang="en-US" sz="1700" dirty="0"/>
          </a:p>
        </p:txBody>
      </p:sp>
      <p:sp>
        <p:nvSpPr>
          <p:cNvPr id="7" name="trig:k1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keeps every bit of the original</a:t>
            </a:r>
            <a:endParaRPr lang="en-US" sz="1600" dirty="0"/>
          </a:p>
        </p:txBody>
      </p:sp>
      <p:sp>
        <p:nvSpPr>
          <p:cNvPr id="8" name="on:k1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always increases file size</a:t>
            </a:r>
            <a:endParaRPr lang="en-US" sz="1600" dirty="0"/>
          </a:p>
        </p:txBody>
      </p:sp>
      <p:sp>
        <p:nvSpPr>
          <p:cNvPr id="10" name="on:k1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permanently removes some data</a:t>
            </a:r>
            <a:endParaRPr lang="en-US" sz="1600" dirty="0"/>
          </a:p>
        </p:txBody>
      </p:sp>
      <p:sp>
        <p:nvSpPr>
          <p:cNvPr id="12" name="on:k1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is used for program files</a:t>
            </a:r>
            <a:endParaRPr lang="en-US" sz="1600" dirty="0"/>
          </a:p>
        </p:txBody>
      </p:sp>
      <p:sp>
        <p:nvSpPr>
          <p:cNvPr id="14" name="on:k1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5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permanently removes some data  –  Removed data cannot be restored, so quality is reduced.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keeps a document's layout the same on any device?</a:t>
            </a:r>
            <a:endParaRPr lang="en-US" sz="1700" dirty="0"/>
          </a:p>
        </p:txBody>
      </p:sp>
      <p:sp>
        <p:nvSpPr>
          <p:cNvPr id="7" name="trig:k1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txt</a:t>
            </a:r>
            <a:endParaRPr lang="en-US" sz="1600" dirty="0"/>
          </a:p>
        </p:txBody>
      </p:sp>
      <p:sp>
        <p:nvSpPr>
          <p:cNvPr id="8" name="on:k1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csv</a:t>
            </a:r>
            <a:endParaRPr lang="en-US" sz="1600" dirty="0"/>
          </a:p>
        </p:txBody>
      </p:sp>
      <p:sp>
        <p:nvSpPr>
          <p:cNvPr id="10" name="on:k1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midi</a:t>
            </a:r>
            <a:endParaRPr lang="en-US" sz="1600" dirty="0"/>
          </a:p>
        </p:txBody>
      </p:sp>
      <p:sp>
        <p:nvSpPr>
          <p:cNvPr id="12" name="on:k1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pdf</a:t>
            </a:r>
            <a:endParaRPr lang="en-US" sz="1600" dirty="0"/>
          </a:p>
        </p:txBody>
      </p:sp>
      <p:sp>
        <p:nvSpPr>
          <p:cNvPr id="14" name="on:k1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pdf  –  Portable Document Format keeps fonts, images and layout fixed.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contains no formatting and can be opened by any word processor?</a:t>
            </a:r>
            <a:endParaRPr lang="en-US" sz="1700" dirty="0"/>
          </a:p>
        </p:txBody>
      </p:sp>
      <p:sp>
        <p:nvSpPr>
          <p:cNvPr id="7" name="trig:k1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txt</a:t>
            </a:r>
            <a:endParaRPr lang="en-US" sz="1600" dirty="0"/>
          </a:p>
        </p:txBody>
      </p:sp>
      <p:sp>
        <p:nvSpPr>
          <p:cNvPr id="8" name="on:k1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rtf</a:t>
            </a:r>
            <a:endParaRPr lang="en-US" sz="1600" dirty="0"/>
          </a:p>
        </p:txBody>
      </p:sp>
      <p:sp>
        <p:nvSpPr>
          <p:cNvPr id="10" name="on:k1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pdf</a:t>
            </a:r>
            <a:endParaRPr lang="en-US" sz="1600" dirty="0"/>
          </a:p>
        </p:txBody>
      </p:sp>
      <p:sp>
        <p:nvSpPr>
          <p:cNvPr id="12" name="on:k1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pict</a:t>
            </a:r>
            <a:endParaRPr lang="en-US" sz="1600" dirty="0"/>
          </a:p>
        </p:txBody>
      </p:sp>
      <p:sp>
        <p:nvSpPr>
          <p:cNvPr id="14" name="on:k1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txt  –  Plain text (txt) has no formatting at all.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is best for a logo that needs a transparent background and no loss of quality?</a:t>
            </a:r>
            <a:endParaRPr lang="en-US" sz="1700" dirty="0"/>
          </a:p>
        </p:txBody>
      </p:sp>
      <p:sp>
        <p:nvSpPr>
          <p:cNvPr id="7" name="trig:k1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jpeg</a:t>
            </a:r>
            <a:endParaRPr lang="en-US" sz="1600" dirty="0"/>
          </a:p>
        </p:txBody>
      </p:sp>
      <p:sp>
        <p:nvSpPr>
          <p:cNvPr id="8" name="on:k1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mp4</a:t>
            </a:r>
            <a:endParaRPr lang="en-US" sz="1600" dirty="0"/>
          </a:p>
        </p:txBody>
      </p:sp>
      <p:sp>
        <p:nvSpPr>
          <p:cNvPr id="10" name="on:k1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png</a:t>
            </a:r>
            <a:endParaRPr lang="en-US" sz="1600" dirty="0"/>
          </a:p>
        </p:txBody>
      </p:sp>
      <p:sp>
        <p:nvSpPr>
          <p:cNvPr id="12" name="on:k1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1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csv</a:t>
            </a:r>
            <a:endParaRPr lang="en-US" sz="1600" dirty="0"/>
          </a:p>
        </p:txBody>
      </p:sp>
      <p:sp>
        <p:nvSpPr>
          <p:cNvPr id="14" name="on:k1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png  –  png uses lossless compression and supports transparency.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format was created by Microsoft to play audio and video in sync?</a:t>
            </a:r>
            <a:endParaRPr lang="en-US" sz="1700" dirty="0"/>
          </a:p>
        </p:txBody>
      </p:sp>
      <p:sp>
        <p:nvSpPr>
          <p:cNvPr id="7" name="trig:k1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mp3</a:t>
            </a:r>
            <a:endParaRPr lang="en-US" sz="1600" dirty="0"/>
          </a:p>
        </p:txBody>
      </p:sp>
      <p:sp>
        <p:nvSpPr>
          <p:cNvPr id="8" name="on:k1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avi</a:t>
            </a:r>
            <a:endParaRPr lang="en-US" sz="1600" dirty="0"/>
          </a:p>
        </p:txBody>
      </p:sp>
      <p:sp>
        <p:nvSpPr>
          <p:cNvPr id="10" name="on:k1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midi</a:t>
            </a:r>
            <a:endParaRPr lang="en-US" sz="1600" dirty="0"/>
          </a:p>
        </p:txBody>
      </p:sp>
      <p:sp>
        <p:nvSpPr>
          <p:cNvPr id="12" name="on:k1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wav</a:t>
            </a:r>
            <a:endParaRPr lang="en-US" sz="1600" dirty="0"/>
          </a:p>
        </p:txBody>
      </p:sp>
      <p:sp>
        <p:nvSpPr>
          <p:cNvPr id="14" name="on:k1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avi  –  avi (Audio Video Interleave) was created by Microsoft for Windows.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Moving data between computers or applications without re-entering it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Portability means data can be transferred and opened elsewhere without being typed in again.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midi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midi stores which notes to play, on which instrument and for how long.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csv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csv means comma-separated values.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gif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gif can store a series of images that play one after another.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permanently removes some data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Removed data cannot be restored, so quality is reduced.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pdf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Portable Document Format keeps fonts, images and layout fixed.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txt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Plain text (txt) has no formatting at all.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png uses lossless compression and supports transparency.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avi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avi (Audio Video Interleave) was created by Microsoft for Windows.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126" grpId="0">
        <p:bldAsOne/>
      </p:bldGraphic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the exam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82296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Q10(a)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File formats; lossy and lossless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MCQ: storage, bit rate, real-time, compression, buffering, ADC, big data,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portability; JPEG and TIFF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Bitmap vs vector, resolution, buffering, sample rate, ADC, compression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Compression, video formats, bit depth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Unit 1 2025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portability and file formats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675E"/>
                </a:solidFill>
              </a:rPr>
              <a:t>3 more past questions on the website. Papers and mark schemes: ccea.org.uk → GCSE Digital Technology → Past Papers &amp; Mark Schemes.</a:t>
            </a:r>
            <a:endParaRPr lang="en-US" sz="11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25" grpId="0" animBg="1"/>
      <p:bldGraphic spid="127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126</Slides>
  <Notes>126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subject>Unit 1: Digital Technology – Digital data</dc:subject>
  <dc:creator>Digital Technology Hub</dc:creator>
  <cp:lastModifiedBy>Digital Technology Hub</cp:lastModifiedBy>
  <cp:revision>1</cp:revision>
  <dcterms:created xsi:type="dcterms:W3CDTF">2026-10-30T13:15:32Z</dcterms:created>
  <dcterms:modified xsi:type="dcterms:W3CDTF">2026-10-30T13:15:32Z</dcterms:modified>
</cp:coreProperties>
</file>