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9264ca4a-c0ee-560f-22ed-477c3065d978}">
          <p14:sldIdLst>
            <p14:sldId id="256"/>
            <p14:sldId id="257"/>
            <p14:sldId id="258"/>
          </p14:sldIdLst>
        </p14:section>
        <p14:section name="AP10 · The waterfall model, iterative and spiral development" id="{9b47b2c1-619d-371a-33d5-a9a8100cc8a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AP11 · Prototyping, RAD and Agile methods" id="{9b847312-cd68-948d-d65f-6a48d2427d32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main features of the waterfall model of systems development | Describe each stage of the waterfall model and the deliverable it produces | Describe the involvement of users when a system is developed using the waterfall model | Describe iterative development and the spiral model, including the role of risk analysis | Evaluate the waterfall model, including its advantages and disadvantages, and its suitability for different projects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prototyping, including throwaway and evolutionary prototyping | Describe the main features and phases of Rapid Application Development (RAD), including user involvement | Describe the main features of the Agile approach, including product and release backlogs, sprints, the Scrum team, daily Scrums and burn down charts | Describe extreme programming (XP) practices such as pair programming and test-driven development | Evaluate the waterfall model, RAD and Agile and recommend an approach for a given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0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2.xml"/><Relationship Id="rId1" Type="http://schemas.openxmlformats.org/officeDocument/2006/relationships/image" Target="../media/image-5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3" Type="http://schemas.openxmlformats.org/officeDocument/2006/relationships/slide" Target="slide33.xml"/><Relationship Id="rId4" Type="http://schemas.openxmlformats.org/officeDocument/2006/relationships/slide" Target="slide34.xml"/><Relationship Id="rId5" Type="http://schemas.openxmlformats.org/officeDocument/2006/relationships/slide" Target="slide35.xml"/><Relationship Id="rId6" Type="http://schemas.openxmlformats.org/officeDocument/2006/relationships/slide" Target="slide36.xml"/><Relationship Id="rId7" Type="http://schemas.openxmlformats.org/officeDocument/2006/relationships/slide" Target="slide37.xml"/><Relationship Id="rId8" Type="http://schemas.openxmlformats.org/officeDocument/2006/relationships/slide" Target="slide38.xml"/><Relationship Id="rId9" Type="http://schemas.openxmlformats.org/officeDocument/2006/relationships/slide" Target="slide39.xml"/><Relationship Id="rId10" Type="http://schemas.openxmlformats.org/officeDocument/2006/relationships/slide" Target="slide40.xml"/><Relationship Id="rId11" Type="http://schemas.openxmlformats.org/officeDocument/2006/relationships/slide" Target="slide42.xml"/><Relationship Id="rId12" Type="http://schemas.openxmlformats.org/officeDocument/2006/relationships/slide" Target="slide44.xml"/><Relationship Id="rId13" Type="http://schemas.openxmlformats.org/officeDocument/2006/relationships/slide" Target="slide45.xml"/><Relationship Id="rId14" Type="http://schemas.openxmlformats.org/officeDocument/2006/relationships/slide" Target="slide46.xml"/><Relationship Id="rId15" Type="http://schemas.openxmlformats.org/officeDocument/2006/relationships/slide" Target="slide47.xml"/><Relationship Id="rId16" Type="http://schemas.openxmlformats.org/officeDocument/2006/relationships/slide" Target="slide48.xml"/><Relationship Id="rId17" Type="http://schemas.openxmlformats.org/officeDocument/2006/relationships/slide" Target="slide2.xml"/><Relationship Id="rId1" Type="http://schemas.openxmlformats.org/officeDocument/2006/relationships/image" Target="../media/image-31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Alternative development approaches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AP10  The waterfall model, iterative and spiral development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AP11  Prototyping, RAD and Agile methods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AP10  The waterfall model, iterative and spiral develop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AP10  The waterfall model, iterative and spiral development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AP11  Prototyping, RAD and Agile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AP11  Prototyping, RAD and Agile methods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main features of the waterfall model of systems development; Describe each stage of the waterfall model and the deliverable it produces; Describe the involvement of users when a system is developed using the waterfall model; Describe iterative development and the spiral model, including the role of risk analysis; Evaluate the waterfall model, including its advantages and disadvantages, and its suitability for different projects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prototyping, including throwaway and evolutionary prototyping; Describe the main features and phases of Rapid Application Development (RAD), including user involvement; Describe the main features of the Agile approach, including product and release backlogs, sprints, the Scrum team, daily Scrums and burn down charts; Describe extreme programming (XP) practices such as pair programming and test-driven development; Evaluate the waterfall model, RAD and Agile and recommend an approach for a given project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waterfall model, iterative and spiral development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five stages of the waterfall model and the deliverable from each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when users are involved in a waterfall project and why that matters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the advantages and disadvantages of the waterfall model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iterative development and the four quadrants of the spiral model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Recommend a suitable development model for a given project and justify the choice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there is more than one approa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there is more than one approach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The waterfall model: main fea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waterfall model: main features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Stages and deliverab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Stages and deliverables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here the user fits 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Where the user fits in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Advantages of the waterfall mod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Advantages of the waterfall model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Disadvantages of the waterfall mod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Disadvantages of the waterfall model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Worked example: a missed requir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missed requirement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Making the waterfall model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Making the waterfall model work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Iterative develop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Iterative development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The spiral model (Boehm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spiral model (Boehm)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Spiral model: strengths and weaknes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Spiral model: strengths and weaknesses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hoosing a mod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model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waterfall model as a cascade of sequential stages beside the spiral model with its four quadrants and risk analysis in every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waterfall model as a cascade of sequential stages beside the spiral model with its four quadrants and risk analysis in every loop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there is more than one approach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development methodology is a structured way of getting from an identified need to a working, installed system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 single methodology is perfect: each has strengths that suit some projects and weaknesses that rule it out for others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Approaches differ in how strictly stages are ordered, how often users are involved and how easily requirements can change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This lesson: the traditional waterfall model, plus iterative development and the risk-driven spiral model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Next lesson: Rapid Application Development (RAD), prototyping and Agile (Scrum and XP)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waterfall model: main features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classic, traditional model, widely described from the 1970s onwards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sequence of distinct stages: requirements (analysis), design, implementation, testing, maintenance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stage must be completed and verified (signed off) before the next stage begins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stage ends with a deliverable that becomes the input to the next stage – work ‘flows down’ like a waterfall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an error is found later, an earlier stage may have to be revisited, which is slow and expensive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Stages and deliverables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84490"/>
                <a:gridCol w="4922378"/>
                <a:gridCol w="24227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Requirements (analysis)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Analyst uses fact-finding (interviews, questionnaires, observation, document inspection) to establish complete user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System specification: clear, unambiguous, complete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Processes, inputs and outputs, software units and how they interact, user interfaces and hardware needs are designed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Design document precise enough to code from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Implementation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team of programmers writes the code, each given specific tasks, working to the design document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 code (with unit testing as it is written)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Testing (verification)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whole system is tested against the specification using a test plan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Tested system and test results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Stages and deliverables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84490"/>
                <a:gridCol w="4922378"/>
                <a:gridCol w="24227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Maintenance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Installation, data migration from any old system, support, then corrections and improvements over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Working system kept in use and updated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Where the user fits in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Users are mainly involved at the start, when the analyst gathers their requirements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They return near the end, for acceptance testing to check the system works as they intended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Between these points the users usually see nothing working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 any misunderstanding about what the user wanted may not be noticed until testing – when it is costly to fix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no current system exists, users’ stated requirements are the analyst’s main source of information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Advantages of the waterfall model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Distinct stages give clear milestones, so progress is easy to measure and manage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deliverable can be formally signed off, and the client can be invoiced stage by stage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Thorough documentation is produced, which helps later maintenance and new staff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Specialist staff can work on the same stage across many projects (e.g. analysts move to the next project’s analysis)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Costs and timescales are easier to estimate when requirements are stable and well understood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Disadvantages of the waterfall model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Inflexible: changing requirements once a stage is signed off means going back up the waterfall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handover between stages is a point where misunderstandings can enter and travel a long way undetected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Errors made in requirements are often found only at testing, when they are most expensive to correct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Users wait a long time to see working software, and receive no benefit until the end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Staff who specialise in one stage have narrower skills and are harder to move between tasks than multi-skilled Agile teams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missed requirement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1864"/>
                <a:gridCol w="7227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happens in a Derry leisure centre booking project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Analyst records adult and junior prices; nobody mentions the council’s free sessions for over-65s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Price table and payment screens are designed with only two ticket types – signed off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Implementation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Programmers build exactly what the design says; the code is correct to the 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During acceptance testing, reception staff try to book a free over-65 swim – impossible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Specification, database design, screens, code and test plan must all be revisited: weeks of rework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 error introduced at the first handover cost far more to fix because it was found four stages later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5" grpId="0">
        <p:bldAsOne/>
      </p:bldGraphic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Making the waterfall model work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Consult every group of stakeholders during requirements, not just managers – the people who will use the system daily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Get each deliverable formally signed off before moving on, and do not change it informally afterwards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change control: any agreed change is recorded, costed and tracked through all later stages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Carry out quality assurance during implementation, e.g. code reviews and unit testing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Write the test plan from the specification so the system can be verified against what was agreed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Iterative development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system is built through repeated cycles (iterations) of planning, analysis, design, coding and testing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iteration produces a working version or increment that users can review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User feedback from one iteration shapes the requirements for the next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Misunderstandings surface early, and some useful functionality can be delivered before the whole system is finished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Needs good communication with users and careful control so the scope does not keep growing each cycle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spiral model (Boehm)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risk-driven iterative model proposed by Barry Boehm in the 1980s; each loop of the spiral is one iteration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Quadrant 1: determine the objectives, alternatives and constraints for this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Quadrant 2: evaluate alternatives, identify and resolve risks – risk analysis, often by building a prototype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Quadrant 3: develop and test the next level of the product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Quadrant 4: review with the client and plan the next iteration; the spiral widens as cost and detail grow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Spiral model: strengths and weaknesses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685466"/>
                <a:gridCol w="35441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Weaknesses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High-risk issues are identified and tackled early, before large sums are spent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Risk analysis needs specialist expertise and adds 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Requirements can be refined on every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be hard to manage and to know when to stop looping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 see prototypes and give regular feedback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Too costly and complex for small, low-risk projects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Suits large, complex, high-risk or novel systems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Success depends heavily on the quality of the risk analysis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9" grpId="0">
        <p:bldAsOne/>
      </p:bldGraphic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model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379041"/>
                <a:gridCol w="926511"/>
                <a:gridCol w="3924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Suitable model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Software for a medical device that must meet fixed regulations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Waterfall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Stable requirements; full documentation and formal sign-off are required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new emergency-call dispatch system for a whole region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Spiral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Large, complex and safety-related; risks must be analysed repeatedly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new customer app for a start-up with unclear needs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Iterative / Agile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Requirements will change; early feedback is essential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Payroll update for a known change in tax rules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Waterfall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Small, well understood, fixed deadline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Online timetabling tool for a group of NI schools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Iterative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Core needs known, but details improve with teacher feedback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best describes the waterfall model?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Stages repeat in short cycles with constant user feedback</a:t>
            </a:r>
            <a:endParaRPr lang="en-US" sz="125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prototype is refined until it becomes the final system</a:t>
            </a:r>
            <a:endParaRPr lang="en-US" sz="125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Distinct stages are completed in sequence, each signed off before the next begins</a:t>
            </a:r>
            <a:endParaRPr lang="en-US" sz="125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team works in fixed-length sprints from a product backlog</a:t>
            </a:r>
            <a:endParaRPr lang="en-US" sz="125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Distinct stages are completed in sequence, each signed off before the next begins  –  Waterfall is sequential: each stage produces a deliverable and is completed before the next starts.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During which two stages are users mainly involved in a waterfall project?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Requirements and acceptance testing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Design and implementation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Implementation and maintenance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Design and testing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Requirements and acceptance testing  –  Users give their requirements at the start and test the finished system near the end; between these they see little.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deliverable of the design stage?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system specification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test results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design document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product backlog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 design document  –  The design document describes processes, data, interfaces and hardware precisely enough to code from.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are errors in the requirements stage so costly in the waterfall model?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Programmers refuse to change code</a:t>
            </a:r>
            <a:endParaRPr lang="en-US" sz="125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may not be found until testing, after design and code are built on them</a:t>
            </a:r>
            <a:endParaRPr lang="en-US" sz="125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Requirements are never documented</a:t>
            </a:r>
            <a:endParaRPr lang="en-US" sz="125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Testing is skipped in waterfall</a:t>
            </a:r>
            <a:endParaRPr lang="en-US" sz="125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They may not be found until testing, after design and code are built on them  –  The error flows down through design and code, so much more work has to be redone.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distinctive feature of the spiral model is…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 documentation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pair programming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direct changeover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risk analysis in every loop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risk analysis in every loop  –  Boehm’s model is risk-driven: risks are identified and resolved in each loop.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project is best suited to the waterfall model?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start-up app with unclear needs</a:t>
            </a:r>
            <a:endParaRPr lang="en-US" sz="14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payroll change for a known new tax rule</a:t>
            </a:r>
            <a:endParaRPr lang="en-US" sz="14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An experimental game with changing features</a:t>
            </a:r>
            <a:endParaRPr lang="en-US" sz="14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new product where users want weekly releases</a:t>
            </a:r>
            <a:endParaRPr lang="en-US" sz="14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 payroll change for a known new tax rule  –  Small, well-understood projects with stable requirements suit a sequential approach.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Each repeated cycle in iterative development is called…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milestone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deliverable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iteration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handover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an iteration  –  Each iteration produces a version that users can review.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advantage of the waterfall model?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Clear milestones allow the client to be invoiced stage by stage</a:t>
            </a:r>
            <a:endParaRPr lang="en-US" sz="125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Requirements can change easily at any point</a:t>
            </a:r>
            <a:endParaRPr lang="en-US" sz="125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Users see working software from the first week</a:t>
            </a:r>
            <a:endParaRPr lang="en-US" sz="125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No documentation is needed</a:t>
            </a:r>
            <a:endParaRPr lang="en-US" sz="125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Clear milestones allow the client to be invoiced stage by stage  –  Distinct, signed-off stages make progress and payment easy to manage.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disadvantage of the spiral model is that it…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cannot handle risk</a:t>
            </a:r>
            <a:endParaRPr lang="en-US" sz="14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has no user involvement</a:t>
            </a:r>
            <a:endParaRPr lang="en-US" sz="14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never uses prototypes</a:t>
            </a:r>
            <a:endParaRPr lang="en-US" sz="14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can be expensive and needs risk-analysis expertise</a:t>
            </a:r>
            <a:endParaRPr lang="en-US" sz="14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can be expensive and needs risk-analysis expertise  –  Repeated risk analysis adds cost and requires skilled staff.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Distinct stages are completed in sequence, each signed off before the next begins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Waterfall is sequential: each stage produces a deliverable and is completed before the next starts.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Requirements and acceptance testing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Users give their requirements at the start and test the finished system near the end; between these they see little.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 design document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design document describes processes, data, interfaces and hardware precisely enough to code from.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They may not be found until testing, after design and code are built on them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error flows down through design and code, so much more work has to be redone.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risk analysis in every loop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Boehm’s model is risk-driven: risks are identified and resolved in each loop.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payroll change for a known new tax rule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Small, well-understood projects with stable requirements suit a sequential approach.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an iteration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iteration produces a version that users can review.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Clear milestones allow the client to be invoiced stage by stage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Distinct, signed-off stages make progress and payment easy to manage.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can be expensive and needs risk-analysis expertise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Repeated risk analysis adds cost and requires skilled staff.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0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Prototyping, RAD and Agile methods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throwaway and evolutionary prototyping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four phases of RAD and explain how timeboxing and prioritised requirements work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an Agile project uses backlogs, sprints, Scrum roles, daily Scrums and burn down charts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Interpret a burn down chart to judge whether a sprint is on schedule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waterfall, RAD and Agile for a given scenario and justify a recommendation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Prototyp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Prototyping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Throwaway v. evolutio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Throwaway v. evolutionary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Rapid Application Development (RA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Rapid Application Development (RAD)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The four phases of RA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four phases of RAD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RAD: evalu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RAD: evaluation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Agile: princip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Agile: principles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Backlogs and spri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Backlogs and sprints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The Scrum te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Scrum team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orked example: a burn down ch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burn down chart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Extreme programming (XP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Extreme programming (XP)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Agile: evalu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Agile: evaluation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omparing the three approach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the three approaches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Choosing an approach: worked examp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an approach: worked example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Scrum framework: a product backlog feeds sprint planning, the team works in a 1–4 week sprint with daily stand-ups, producing an increment that is review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Scrum framework: a product backlog feeds sprint planning, the team works in a 1–4 week sprint with daily stand-ups, producing an increment that is reviewed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Prototyping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prototype is an early model of all or part of a system, built quickly so users can see and try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Often a mock-up with little real functionality – enough to show screens, menus and reports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Helps users clarify requirements they find hard to describe, especially the user interface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Throwaway prototyping: used to agree requirements, then discarded; the real system is built properly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Evolutionary prototyping: refined repeatedly in response to feedback until it becomes the final system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Throwaway v. evolutionary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98764"/>
                <a:gridCol w="3291840"/>
                <a:gridCol w="443899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Throwaway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Evolutionary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Clarify requirements, try out interface ideas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Grow into the final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Built with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Quick tools: wireframes, mock-ups, simple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Production tools and coding standards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Advantage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 and cheap; requirements agreed before the expensive build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Effort is not wasted; users get a working system sooner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Effort is discarded; users may think the system is almost finished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Early quick decisions can leave a poorly structured, hard-to-maintain system; scope creep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5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Rapid Application Development (RAD)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Developed by James Martin in the late 1980s and set out in his 1991 book; aims to deliver working applications much faster than waterfall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project is split into a series of builds, each developed and refined with users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strict, fixed timescale (timeboxing) that cannot be overrun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Requirements are ranked by priority; if time runs out, ‘desirable add-ons’ are dropped, not the deadline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Far more user involvement than waterfall: prototypes are delivered to users frequently for feedback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Reuses components and uses tools such as GUI builders to speed up construction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four phases of RAD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14978"/>
                <a:gridCol w="71146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Requirements planning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Users, managers and developers meet to agree scope and key requirements; more flexible than waterfall because changes are expected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 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and analysts work together on prototypes (mock-ups) to design functions and try alternative interfaces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Construction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Programming, with software continually refined in response to user feedback on real screens and reports; modules integrated and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Cutover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Transition from old to new system: final testing, data conversion, changeover and user training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RAD: evaluation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310743"/>
                <a:gridCol w="3918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System is built, delivered and in use much sooner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skilled practitioners trained in the 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Continual user involvement means errors and misunderstandings are found early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must commit significant time to workshops and reviews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Final system closely matches what users want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be expensive, because it is used when speed is essential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Fixed deadline is protected by dropping low-priority features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Less suitable for large, safety-critical or hard-to-modularise systems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8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Agile: principles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Popularised by the Manifesto for Agile Software Development (2001), drawing on several earlier methods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Values individuals and interactions, working software, customer collaboration and responding to change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Early and continuous delivery of working software in short iterations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Close collaboration between the team and the customer throughout the project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Changes to requirements are welcomed, even late in development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Requirements are often written as user stories: ‘As a [user], I want [feature] so that [benefit]’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Backlogs and sprints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Product backlog: the prioritised ‘wish list’ of everything the product should eventually do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Release planning: features for the next release are moved from the product backlog into a release backlog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Release backlog items are broken into work items, estimated and put in priority order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sprint is a fixed period of a few weeks that delivers a working increment of the product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Completed tasks are removed from the backlog; the product backlog becomes a ‘to-do’ list of what remains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Scrum team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27342"/>
                <a:gridCol w="71022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 / event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Scrum team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Small, multi-skilled group (developers, testers, customer input) able to analyse, design, build and test; everyone contributes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Scrum master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Makes sure the team works effectively, removes obstacles, arranges meetings, monitors progress (similar to a project manager)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Product owner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Voice of the client: prioritises backlog items, stops unrealistic items being added, accountable for delivering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Daily Scrum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About 15 minutes, often standing: what did I do yesterday? what will I do today? what obstacles are in my way?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Sprint review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Team shows the completed increment to the product owner and notes unfinished 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Scrum team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27342"/>
                <a:gridCol w="71022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 / event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Sprint retrospective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Team reflects on the process (not the product): what went well and what to improve next sprint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burn down chart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Belfast team’s 10-day sprint for a GAA club membership app has 60 story points of work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Ideal line falls evenly: 60 ÷ 10 = 6 points per day, so ideal remaining on day d = 60 − 6d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Day 4: ideal 60 − 24 = 36 remaining; actual 40 → 4 points behind, so the Scrum master investigates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blocked task is resolved and a tester is moved to help; by day 9 the gap is down to 1 point (ideal 6, actual 7)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Day 10: 0 remaining – the sprint finishes on schedule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burn down chart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60, days = 10;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actual = { 60, 53, 48, 44, 40, 34, 30, 22, 14, 7, 0 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day = 0; day &lt;= days; day++)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ideal = total - (total / days) * day;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status = actual[day] &gt; ideal ? "behind" : "on track";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Console.WriteLine($"Day {day}: ideal {ideal}, actual {actual[day]} ({status})");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Extreme programming (XP)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Agile method focused on technical practices and code quality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Pair programming: two programmers at one computer – one writes, one reviews, roles swap regularly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Test-driven development: automated tests are written before the code they test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Small, frequent releases; continuous integration; refactoring; collective code ownership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on-site customer is available to answer questions and write user stories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Agile: evaluation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786626"/>
                <a:gridCol w="44429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Project can start quickly with the most important requirements, then evolve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Hard to estimate accurately how long tasks will take and allocate staff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Working deliverables are produced early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Quality of estimates depends heavily on the experience of the Scrum master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Ongoing contact with the customer reduces misunderstandings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Documentation may be less detailed than in traditional methods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Multi-skilled team members can be moved to tasks that are running late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a customer who can commit time throughout; fixed price and scope are hard to agree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6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the three approaches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25685"/>
                <a:gridCol w="2509736"/>
                <a:gridCol w="2101174"/>
                <a:gridCol w="23930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Waterfall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Structure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Sequential stages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Four phases with repeated prototypes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Repeated sprints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 involvement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Requirements and testing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Continual, through prototypes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Continual; customer on the team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Changing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Difficult and costly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Expected and encouraged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Welcomed at any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Delivery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system at the end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Quickly, within a fixed timebox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Working increments every few weeks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Documentation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Extensive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Lighter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Lighter; may be poorer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Best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Stable, well-understood, regulated projects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Interface-heavy systems needed fast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Evolving requirements, available 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7" grpId="0">
        <p:bldAsOne/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an approach: worked example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Scenario: a Newry garden centre wants stock, supplier and customer records plus automatic receipts; owner is on site daily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Requirements are fairly clear but the owner has not used such a system and will think of extras once he sees it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Waterfall: workable but risky – the owner sees nothing until testing, and late ideas are costly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RAD: good fit – prototypes of stock and receipt screens, fixed deadline before the spring season, extras dropped if needed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Agile: also suitable if the owner can act as product owner; core stock features in sprint 1, mail-order list later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full-marks answer chooses one and justifies it from the scenario, not from general features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RAD, what happens if time is running out before the deadline?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deadline is moved back</a:t>
            </a:r>
            <a:endParaRPr lang="en-US" sz="14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Lower-priority ‘desirable’ requirements are dropped</a:t>
            </a:r>
            <a:endParaRPr lang="en-US" sz="14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project returns to the requirements phase</a:t>
            </a:r>
            <a:endParaRPr lang="en-US" sz="14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More prototypes are built</a:t>
            </a:r>
            <a:endParaRPr lang="en-US" sz="14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Lower-priority ‘desirable’ requirements are dropped  –  RAD timeboxes the project; requirements are ranked so add-ons are sacrificed, not the deadline.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an Agile project, who is responsible for removing obstacles that slow the team down?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product owner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customer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Scrum master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tester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The Scrum master  –  The Scrum master facilitates the team, arranges meetings, monitors progress and removes obstacles.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the correct order of the four RAD phases?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User design, requirements, cutover, construction</a:t>
            </a:r>
            <a:endParaRPr lang="en-US" sz="14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Requirements, construction, user design, cutover</a:t>
            </a:r>
            <a:endParaRPr lang="en-US" sz="14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Requirements, user design, construction, cutover</a:t>
            </a:r>
            <a:endParaRPr lang="en-US" sz="14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Construction, user design, requirements, cutover</a:t>
            </a:r>
            <a:endParaRPr lang="en-US" sz="14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Requirements, user design, construction, cutover  –  Requirements planning, then user design with prototypes, then construction, then cutover to the new system.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prototype that is refined until it becomes the final system is…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evolutionary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throwaway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burn down chart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release backlog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evolutionary  –  It evolves through repeated refinement in response to feedback.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 burn down chart show?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critical path through a project</a:t>
            </a:r>
            <a:endParaRPr lang="en-US" sz="14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Work remaining in a sprint plotted against time</a:t>
            </a:r>
            <a:endParaRPr lang="en-US" sz="14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Who made each change to the code</a:t>
            </a:r>
            <a:endParaRPr lang="en-US" sz="14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cost of each feature</a:t>
            </a:r>
            <a:endParaRPr lang="en-US" sz="14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Work remaining in a sprint plotted against time  –  It compares actual work remaining with the ideal straight-line burn down.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Who acts as the voice of the client and sets priorities in the backlog?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Scrum master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Tester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Systems analyst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Product owner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Product owner  –  The product owner represents the client and is accountable for the team delivering value.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short daily meeting where members say what they did, what they will do and any obstacles is the…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sprint retrospective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sprint review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release planning meeting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daily Scrum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daily Scrum  –  The daily Scrum lasts about 15 minutes and is often held standing.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extreme programming practice?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Pair programming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Parallel running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Feasibility study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Direct changeover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Pair programming  –  XP focuses on engineering practices such as pair programming and test-driven development.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recognised disadvantage of Agile?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Users see nothing until the end</a:t>
            </a:r>
            <a:endParaRPr lang="en-US" sz="14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Requirements can never change</a:t>
            </a:r>
            <a:endParaRPr lang="en-US" sz="14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Task times can be hard to estimate accurately</a:t>
            </a:r>
            <a:endParaRPr lang="en-US" sz="14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There is no customer involvement</a:t>
            </a:r>
            <a:endParaRPr lang="en-US" sz="14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Task times can be hard to estimate accurately  –  Estimates are difficult and depend on the Scrum master’s experience.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10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‘As a member, I want to book a class online so that I don’t have to phone’ is a…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test plan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user story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Gantt chart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flow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user story  –  User stories capture requirements from the user’s point of view in Agile.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Lower-priority ‘desirable’ requirements are dropped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RAD timeboxes the project; requirements are ranked so add-ons are sacrificed, not the deadline.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Scrum master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Scrum master facilitates the team, arranges meetings, monitors progress and removes obstacles.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Requirements, user design, construction, cutover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Requirements planning, then user design with prototypes, then construction, then cutover to the new system.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evolutionary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evolves through repeated refinement in response to feedback.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Work remaining in a sprint plotted against time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compares actual work remaining with the ideal straight-line burn down.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Product owner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product owner represents the client and is accountable for the team delivering value.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daily Scrum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daily Scrum lasts about 15 minutes and is often held standing.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Pair programming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XP focuses on engineering practices such as pair programming and test-driven development.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Task times can be hard to estimate accurately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Estimates are difficult and depend on the Scrum master’s experience.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user story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User stories capture requirements from the user’s point of view in Agile.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9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Alternative development approaches</dc:title>
  <dc:subject>AS 1: Approaches to Systems Development – Alternative development approaches</dc:subject>
  <dc:creator>Digital Technology Hub</dc:creator>
  <cp:lastModifiedBy>Digital Technology Hub</cp:lastModifiedBy>
  <cp:revision>1</cp:revision>
  <dcterms:created xsi:type="dcterms:W3CDTF">2026-10-30T13:15:55Z</dcterms:created>
  <dcterms:modified xsi:type="dcterms:W3CDTF">2026-10-30T13:15:55Z</dcterms:modified>
</cp:coreProperties>
</file>