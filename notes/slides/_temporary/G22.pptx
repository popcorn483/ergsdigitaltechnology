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ca11a514-ba14-d207-1be2-7f271aa1d0ef}">
          <p14:sldIdLst>
            <p14:sldId id="256"/>
            <p14:sldId id="257"/>
            <p14:sldId id="258"/>
          </p14:sldIdLst>
        </p14:section>
        <p14:section name="IS15 · Types of information system" id="{162d63b1-26bc-0527-9d62-d1d9d372b96c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S16 · Artificial intelligence, machine learning and emerging technologies" id="{e98c51d0-d3b5-44b5-4fe0-218b2ab83877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characteristics and purpose of transaction processing systems (TPS) | Describe management information systems (MIS) and decision support systems (DSS) | Describe expert systems, including the knowledge base, inference engine and user 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artificial intelligence and machine learning, including supervised, unsupervised and reinforcement learning | Describe emerging technologies including the Internet of Things and robotics | Evaluate the impact of these technologies on organisations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0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2.xm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3" Type="http://schemas.openxmlformats.org/officeDocument/2006/relationships/slide" Target="slide23.xml"/><Relationship Id="rId4" Type="http://schemas.openxmlformats.org/officeDocument/2006/relationships/slide" Target="slide24.xml"/><Relationship Id="rId5" Type="http://schemas.openxmlformats.org/officeDocument/2006/relationships/slide" Target="slide25.xml"/><Relationship Id="rId6" Type="http://schemas.openxmlformats.org/officeDocument/2006/relationships/slide" Target="slide26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29.xml"/><Relationship Id="rId10" Type="http://schemas.openxmlformats.org/officeDocument/2006/relationships/slide" Target="slide30.xml"/><Relationship Id="rId11" Type="http://schemas.openxmlformats.org/officeDocument/2006/relationships/slide" Target="slide2.xml"/><Relationship Id="rId1" Type="http://schemas.openxmlformats.org/officeDocument/2006/relationships/image" Target="../media/image-21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Information systems in organisations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IS15  Types of information system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IS16  Artificial intelligence, machine learning and emerging technologies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3" action="ppaction://hlinksldjump" tooltip="IS15  Types of information syst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IS15  Types of information system</a:t>
            </a:r>
            <a:endParaRPr lang="en-US" sz="15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IS16  Artificial intelligence, machine learning and emerging technolog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IS16  Artificial intelligence, machine learning and emerging technologies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characteristics and purpose of transaction processing systems (TPS); Describe management information systems (MIS) and decision support systems (DSS); Describe expert systems, including the knowledge base, inference engine and user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artificial intelligence and machine learning, including supervised, unsupervised and reinforcement learning; Describe emerging technologies including the Internet of Things and robotics; Evaluate the impact of these technologies on organisations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Types of information system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Match types of information system to the levels of management they serve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 TPS, MIS and DSS work together using an example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components of an expert system and evaluate its use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3" action="ppaction://hlinksldjump" tooltip="Information systems and levels of manag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Information systems and levels of management</a:t>
            </a:r>
            <a:endParaRPr lang="en-US" sz="13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ransaction processing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 processing systems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Management information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Management information systems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Decision support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Decision support systems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Expert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Expert systems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Evaluating expert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expert systems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9" action="ppaction://hlinksldjump" tooltip="Case study: Lough Erne Hotels gro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study: Lough Erne Hotels group</a:t>
            </a:r>
            <a:endParaRPr lang="en-US" sz="13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information pyramid: TPS at the operational level, MIS at the tactical level and DSS at the strategic level, with data flowing upwards; and the three components of an expert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information pyramid: TPS at the operational level, MIS at the tactical level and DSS at the strategic level, with data flowing upwards; and the three components of an expert system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Information systems and levels of management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86429"/>
                <a:gridCol w="2776251"/>
                <a:gridCol w="2181340"/>
                <a:gridCol w="16855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Information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Typical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Strategic (directors)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Long-term, unstructured: open a new store?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Summarised, external and internal, forecasts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DSS / executive information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Tactical (middle managers)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Medium-term, semi-structured: staffing levels next month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Summary reports, exceptions, trends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Operational (supervisors, staff)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Day-to-day, structured: reorder stock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Detailed, current, internal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8" grpId="0">
        <p:bldAsOne/>
      </p:bldGraphic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Transaction processing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TPS records and processes the routine transactions of an organisation: sales, payments, bookings, orders.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Real-time (online) processing updates records immediately, e.g. a cinema seat booking or bank withdrawal.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Batch processing collects transactions and processes them together later, e.g. payroll or utility billing overnight.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Must be fast, reliable, accurate and secure; uses ACID transactions.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TPS is the main source of data for higher-level systems.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Management information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MIS takes data from TPSs and produces regular, structured reports for middle managers.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Report types: scheduled (weekly sales by branch), exception (stores below target), on-demand (ad hoc query).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Supports tactical decisions such as staffing, budgeting and stock policy.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Information should be relevant, accurate, timely, complete and appropriately summarised.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Limitation: mostly internal, historic data and fixed reports.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Decision support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DSS helps managers make semi-structured or unstructured decisions using data, models and interactive tools.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Components: a database (internal and external data), a model base (financial, statistical, forecasting models) and a user interface.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What-if analysis: 'What happens to profit if fuel prices rise 10%?'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Goal seeking: 'What price gives £50 000 profit?' Also scenario comparison and forecasting.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DSS supports, not replaces, the human decision-maker.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Expert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expert system emulates the decision-making of a human expert in a narrow domain.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Knowledge base: facts and rules (IF … THEN …) collected from experts by a knowledge engineer.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Inference engine: applies the rules to the facts entered, using forward chaining (from data to conclusion) or backward chaining (from a hypothesis to supporting data).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User interface: asks questions and presents conclusions; an explanation facility shows the reasoning used.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medical diagnosis support, fault diagnosis in machinery, credit approval, legal advice.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expert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556861"/>
                <a:gridCol w="46727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Expertise available 24/7 and in many places at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Lacks common sense and cannot handle situations outside its rules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Consistent answers; does not tire or forget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Expensive and slow to build; knowledge from experts hard to capture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Can preserve knowledge of retiring experts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Must be kept up to date as knowledge changes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Explanation facility supports training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Responsibility unclear if advice is wrong; users may over-trust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Case study: Lough Erne Hotels group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TPS: room bookings and restaurant payments recorded in real time; payroll processed in batch.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MIS: weekly occupancy report per hotel and an exception report when occupancy falls below 60%.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DSS: the board models 'what if we add 40 rooms in Enniskillen?' using forecasts and tourism data.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Expert system: front desk tool that recommends room upgrades or flags possibly fraudulent bookings.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cinema seat booking updated immediately is an example of…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batch processing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real-time transaction processing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DSS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expert system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real-time transaction processing  –  Each transaction processed at once.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system produces weekly sales reports for each branch?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MIS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TPS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Expert system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Hypervisor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MIS  –  Scheduled summary reports are MIS outputs.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'What would profit be if we cut prices by 5%?' uses…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exception report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forward chaining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knowledge base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what-if analysis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what-if analysis  –  A DSS feature.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part of an expert system shows how a conclusion was reached?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Knowledge base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Explanation facility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Transaction log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Model base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Explanation facility  –  It justifies the advice.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Who builds the knowledge base by interviewing experts?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Database administrator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Network manager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Knowledge engineer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subject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Knowledge engineer  –  Knowledge engineers capture expertise.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real-time transaction processing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transaction processed at once.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MIS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Scheduled summary reports are MIS outputs.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what-if analysis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DSS feature.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Explanation facility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justifies the advice.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Knowledge engineer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Knowledge engineers capture expertise.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Artificial intelligence, machine learning and emerging technologies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what artificial intelligence and machine learning are and how a model is trained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Internet of Things and robotics with organisational examples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benefits and risks of AI and emerging technologies for organisations and employees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Artificial intellige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Artificial intelligence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Machine lear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Types of machine lear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Types of machine learning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Internet of Things and robot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 of Things and robotics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Impact on organisations: benefi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 on organisations: benefits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8" action="ppaction://hlinksldjump" tooltip="Impact on organisations: risks and iss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 on organisations: risks and issues</a:t>
            </a:r>
            <a:endParaRPr lang="en-US" sz="13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Evaluating an AI propos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an AI proposal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machine learning cycle of training data, training, testing on unseen data, deployment and monitoring, with the three types of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machine learning cycle of training data, training, testing on unseen data, deployment and monitoring, with the three types of learning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Artificial intelligence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Artificial intelligence (AI): computer systems that perform tasks normally needing human intelligence – recognising speech and images, understanding language, making decisions.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Narrow AI performs one specific task well (all current AI); general AI would match humans across any task (not yet achieved).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Rule-based AI (expert systems) follows rules written by people; machine learning learns patterns from data.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Generative AI produces new text, images or code from patterns learned from huge training data sets.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Machine learning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Machine learning (ML): algorithms improve their performance at a task by learning from data rather than being explicitly programmed.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Training: the algorithm is given training data and adjusts the model's parameters to reduce errors.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Testing: the model is evaluated on separate data it has not seen, to check it generalises.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Deployment: the trained model makes predictions on new data.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Neural networks – layers of connected nodes with weighted links – underpin deep learning for images and language.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Types of machine learning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101926"/>
                <a:gridCol w="43047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learns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Supervised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From labelled examples (input and correct output)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Emails labelled spam/not spam; predicting house prices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Unsupervised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Finds structure in unlabelled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Clustering customers into segments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Reinforcement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Trial and error, rewarded for good actions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robot learning to walk; game-playing AI; optimising traffic lights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6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Internet of Things and robotics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Internet of Things (IoT): everyday physical objects with sensors, processors and network connections that collect and exchange data.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smart meters, wearable health monitors, sensors tracking cattle on Fermanagh farms, smart heating in schools.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Robotics: programmable machines that sense, process and act in the physical world.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Industrial robots in manufacturing; warehouse picking robots; surgical robots; autonomous delivery drones and vehicles.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AI + IoT + robotics combine: sensors feed data to ML models which control robots in real time.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Impact on organisations: benefits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Automation of repetitive tasks increases productivity and reduces errors.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Better decisions from predictive analytics, e.g. demand forecasting, predictive maintenance from IoT sensor data.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24/7 customer service with chatbots; personalised recommendations increase sales.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Robots work in dangerous environments and with high precision.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New products, services and business models, giving competitive advantage.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Impact on organisations: risks and issues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57678"/>
                <a:gridCol w="59719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Explanation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Employment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Routine jobs replaced; new jobs need new skills – retraining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Algorithmic bias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Models trained on biased data make unfair decisions, e.g. in recruitment or credit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Transparency and accountability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'Black box' models are hard to explain; who is responsible for errors?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Security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IoT devices often have weak security and can be hijacked into botnets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Privacy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 amounts of personal data collected and analysed; must comply with UK GDPR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 and reliance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 set-up costs, specialist staff, dependence on suppliers and data quality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9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an AI proposal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What problem does it solve and how will success be measured?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Is there enough good-quality, unbiased training data, and is its use lawful?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Can decisions be explained to customers and regulators? Is a human in the loop?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What are the effects on staff, and how will they be retrained?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 the benefits outweigh costs and risks? Pilot first, monitor continuously.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Grouping customers into segments without predefined labels is…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supervised learning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reinforcement learning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unsupervised learning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expert system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unsupervised learning  –  Clustering of unlabelled data.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IoT example?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spreadsheet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smart meter sending readings to the supplier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printed report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USB stick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smart meter sending readings to the supplier  –  Connected sensor device.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recruitment AI rejects more women because past hiring data favoured men. This is…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overfitting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redundancy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encryption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algorithmic bias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algorithmic bias  –  Biased training data produces biased output.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happens during training?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model adjusts its parameters to reduce errors on training data</a:t>
            </a:r>
            <a:endParaRPr lang="en-US" sz="125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model is deleted</a:t>
            </a:r>
            <a:endParaRPr lang="en-US" sz="125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Data is normalised to 3NF</a:t>
            </a:r>
            <a:endParaRPr lang="en-US" sz="125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Users enter rules by hand</a:t>
            </a:r>
            <a:endParaRPr lang="en-US" sz="125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The model adjusts its parameters to reduce errors on training data  –  Parameters are tuned.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likely impact of automation on employment?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No jobs change</a:t>
            </a:r>
            <a:endParaRPr lang="en-US" sz="14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Routine jobs decline and new skilled jobs appear</a:t>
            </a:r>
            <a:endParaRPr lang="en-US" sz="14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All jobs disappear</a:t>
            </a:r>
            <a:endParaRPr lang="en-US" sz="14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Wages always rise</a:t>
            </a:r>
            <a:endParaRPr lang="en-US" sz="14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Routine jobs decline and new skilled jobs appear  –  Jobs shift; retraining is needed.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unsupervised learning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Clustering of unlabelled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smart meter sending readings to the supplier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Connected sensor device.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algorithmic bias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Biased training data produces biased output.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model adjusts its parameters to reduce errors on training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Parameters are tuned.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Routine jobs decline and new skilled jobs appear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Jobs shift; retraining is needed.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 in organisations</dc:title>
  <dc:subject>A2 1: Information Systems – Information systems in organisations</dc:subject>
  <dc:creator>Digital Technology Hub</dc:creator>
  <cp:lastModifiedBy>Digital Technology Hub</cp:lastModifiedBy>
  <cp:revision>1</cp:revision>
  <dcterms:created xsi:type="dcterms:W3CDTF">2026-10-30T13:16:16Z</dcterms:created>
  <dcterms:modified xsi:type="dcterms:W3CDTF">2026-10-30T13:16:16Z</dcterms:modified>
</cp:coreProperties>
</file>