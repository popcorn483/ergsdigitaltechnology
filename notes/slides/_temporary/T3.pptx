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258697a0-baf7-2135-2cc1-55594632ecaa}">
          <p14:sldIdLst>
            <p14:sldId id="256"/>
            <p14:sldId id="257"/>
            <p14:sldId id="258"/>
            <p14:sldId id="259"/>
          </p14:sldIdLst>
        </p14:section>
        <p14:section name="L08 · Database concepts" id="{098b68c3-21fa-6746-7ff1-83785b1c5bbd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L09 · Database data types and validation" id="{96e98a51-f3e8-eebe-148f-83a344fe4d50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L10 · Queries, logical operators and big data" id="{9378bc5a-81f5-aa55-6097-b1fac11ff780}">
          <p14:sldIdLst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Demonstrate understanding of and explain basic database concepts such as table, record, field, key field, query, form, report, macro, relationship and importing data | Explain the difference between a flat file and a relational database | Explain how a primary key and a foreign key are used to create a relationship between tables | Describe one-to-one, one-to-many and many-to-many relationships and the purpose of referential integrity | Describe the purpose of queries, forms, reports and macros in a database application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Identify and use appropriate data types when creating a database structure | Justify the choice of data type for a field | Demonstrate understanding of the need for data validation | Describe the following types of validation checks: presence, length, type, format and range | Write simple validation rules for database fields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Extract data from a database structure using simple query structures and using the following logical operators: &lt;, &gt;, =, &lt;=, &gt;=, AND, OR and BETWEEN | Predict the records returned by a query with given criteria | Demonstrate understanding of big data, referring to volume, velocity and variety | Describe the difference between structured and unstructured data | Demonstrate understanding of the need for data analytics to interpret big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0.xml"/><Relationship Id="rId5" Type="http://schemas.openxmlformats.org/officeDocument/2006/relationships/slide" Target="slide55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3" Type="http://schemas.openxmlformats.org/officeDocument/2006/relationships/slide" Target="slide8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2.xml"/><Relationship Id="rId1" Type="http://schemas.openxmlformats.org/officeDocument/2006/relationships/image" Target="../media/image-6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3" Type="http://schemas.openxmlformats.org/officeDocument/2006/relationships/slide" Target="slide33.xml"/><Relationship Id="rId4" Type="http://schemas.openxmlformats.org/officeDocument/2006/relationships/slide" Target="slide34.xml"/><Relationship Id="rId5" Type="http://schemas.openxmlformats.org/officeDocument/2006/relationships/slide" Target="slide36.xml"/><Relationship Id="rId6" Type="http://schemas.openxmlformats.org/officeDocument/2006/relationships/slide" Target="slide37.xml"/><Relationship Id="rId7" Type="http://schemas.openxmlformats.org/officeDocument/2006/relationships/slide" Target="slide38.xml"/><Relationship Id="rId8" Type="http://schemas.openxmlformats.org/officeDocument/2006/relationships/slide" Target="slide39.xml"/><Relationship Id="rId9" Type="http://schemas.openxmlformats.org/officeDocument/2006/relationships/slide" Target="slide40.xml"/><Relationship Id="rId10" Type="http://schemas.openxmlformats.org/officeDocument/2006/relationships/slide" Target="slide41.xml"/><Relationship Id="rId11" Type="http://schemas.openxmlformats.org/officeDocument/2006/relationships/slide" Target="slide43.xml"/><Relationship Id="rId12" Type="http://schemas.openxmlformats.org/officeDocument/2006/relationships/slide" Target="slide44.xml"/><Relationship Id="rId13" Type="http://schemas.openxmlformats.org/officeDocument/2006/relationships/slide" Target="slide45.xml"/><Relationship Id="rId14" Type="http://schemas.openxmlformats.org/officeDocument/2006/relationships/slide" Target="slide2.xml"/><Relationship Id="rId1" Type="http://schemas.openxmlformats.org/officeDocument/2006/relationships/image" Target="../media/image-31-1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3" Type="http://schemas.openxmlformats.org/officeDocument/2006/relationships/slide" Target="slide58.xml"/><Relationship Id="rId4" Type="http://schemas.openxmlformats.org/officeDocument/2006/relationships/slide" Target="slide59.xml"/><Relationship Id="rId5" Type="http://schemas.openxmlformats.org/officeDocument/2006/relationships/slide" Target="slide60.xml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slide" Target="slide64.xml"/><Relationship Id="rId9" Type="http://schemas.openxmlformats.org/officeDocument/2006/relationships/slide" Target="slide65.xml"/><Relationship Id="rId10" Type="http://schemas.openxmlformats.org/officeDocument/2006/relationships/slide" Target="slide66.xml"/><Relationship Id="rId11" Type="http://schemas.openxmlformats.org/officeDocument/2006/relationships/slide" Target="slide67.xml"/><Relationship Id="rId12" Type="http://schemas.openxmlformats.org/officeDocument/2006/relationships/slide" Target="slide68.xml"/><Relationship Id="rId13" Type="http://schemas.openxmlformats.org/officeDocument/2006/relationships/slide" Target="slide69.xml"/><Relationship Id="rId14" Type="http://schemas.openxmlformats.org/officeDocument/2006/relationships/slide" Target="slide2.xml"/><Relationship Id="rId1" Type="http://schemas.openxmlformats.org/officeDocument/2006/relationships/image" Target="../media/image-56-1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image" Target="../media/image-7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Database applications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L08  Database concepts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L09  Database data types and validation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L10  Queries, logical operators and big data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3" action="ppaction://hlinksldjump" tooltip="L08  Database concep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L08  Database concepts</a:t>
            </a:r>
            <a:endParaRPr lang="en-US" sz="15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L09  Database data types and valid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L09  Database data types and validation</a:t>
            </a:r>
            <a:endParaRPr lang="en-US" sz="13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5" action="ppaction://hlinksldjump" tooltip="L10  Queries, logical operators and big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L10  Queries, logical operators and big 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L08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Demonstrate understanding of and explain basic database concepts such as table, record, field, key field, query, form, report, macro, relationship and importing data; Explain the difference between a flat file and a relational database; Explain how a primary key and a foreign key are used to create a relationship between tables; Describe one-to-one, one-to-many and many-to-many relationships and the purpose of referential integrity; Describe the purpose of queries, forms, reports and macros in a database 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L09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Identify and use appropriate data types when creating a database structure; Justify the choice of data type for a field; Demonstrate understanding of the need for data validation; Describe the following types of validation checks: presence, length, type, format and range; Write simple validation rules for database fields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6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Extract data from a database structure using simple query structures and using the following logical operators: &lt;, &gt;, =, &lt;=, &gt;=, AND, OR and BETWEEN; Predict the records returned by a query with given criteria; Demonstrate understanding of big data, referring to volume, velocity and variety; Describe the difference between structured and unstructured data; Demonstrate understanding of the need for data analytics to interpret big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7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L08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Database concepts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table, record, field and key field and identify them in a given table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a key field must be unique and choose a suitable key field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tables are linked by a relationship using a primary key and a foreign key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queries, forms, reports and macros are used for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what importing data means and why it is useful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is a databas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database?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Tables, records and fiel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Tables, records and fields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orked example: Erne Valley Swimming Cl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Erne Valley Swimming Club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Reading the examp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Reading the example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Key fiel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fields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Flat file or relational databas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 file or relational database?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Relationships and foreign key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Relationships and foreign keys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Types of relationshi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Types of relationship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Referential integ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Referential integrity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Database tools: query, form, rep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Database tools: query, form, report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Macro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Importing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Importing data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database table showing a record, a field and the key f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database table showing a record, a field and the key field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database?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database is an organised, structured collection of related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can be stored, searched, sorted and printed quickly and accurately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a school MIS holding pupil records, a GP surgery's patient records, a sports club's members list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Database software: Microsoft Access, LibreOffice Base, MySQL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database is more than a store – it has tools (queries, forms, reports, macros) to work with the data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Tables, records and fields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Table: holds data about one type of thing (an entity), e.g. Members – arranged in rows and columns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Record: all the data about one person or item – one row of the table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Field: one item of data stored for every record – one column, e.g. Surname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Field name: the column heading that identifies the field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field is given a data type (text, number, date/time and so on)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Erne Valley Swimming Club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97033"/>
                <a:gridCol w="1346662"/>
                <a:gridCol w="1346662"/>
                <a:gridCol w="1645920"/>
                <a:gridCol w="897775"/>
                <a:gridCol w="17955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MemberID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Surname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FirstName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DateOfBirth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Squad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SW001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Maguire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Orla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14/03/2011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Junior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07700 900123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SW002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Gallagher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Conor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02/11/2009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Senior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07700 900456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SW003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Maguire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Ciara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21/06/2012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Junior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07700 900123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SW004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Thompson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Ben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30/01/2010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Senior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07700 900789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Reading the example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table is called Members; it has 4 records and 6 fields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One record: SW002, Gallagher, Conor, 02/11/2009, Senior, 07700 900456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One field: Squad (Junior or Senior for every member)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Key field: MemberID – no two members share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Surname, Phone and Squad cannot be key fields: two sisters share 'Maguire' and the same phone number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Key fields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Key field (primary key): a field that uniquely identifies each record in a table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Its value must be unique and must never be left empty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Good key fields: PupilID, MemberID, health and care number, order number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Poor key fields: names, dates of birth, towns – these can be repeated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Composite key: a primary key made from two or more fields together, e.g. MemberID + SessionDate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Flat file or relational database?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Flat file: all the data is held in one two-dimensional table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Problem: the same details are typed again and again (data redundancy), e.g. a member's phone number on every booking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Repeated data wastes storage and leads to inconsistency when one copy is updated and another is not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Relational database: data is split into several linked tables, each about one entity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fact is stored once, so it is easier to keep data accurate and up to date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Relationships and foreign keys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relationship links two tables using a field they have in common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primary key of one table is stored in the other table, where it is called a foreign key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Members (MemberID primary key) → Lessons (MemberID foreign key)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words: one member can book many lessons, but each lesson booking is for one member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foreign key does not have to be unique – the same MemberID can appear on many bookings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Types of relationship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97527"/>
                <a:gridCol w="4738255"/>
                <a:gridCol w="249381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One-to-one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record links to exactly one record in the other table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pupil has one locker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One-to-many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record links to many records in the other table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doctor has many patients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Many-to-many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 records link to many records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 pupils take many subjects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Diagram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'many' end is shown with ∞ (Access) or a crow's foot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∞ at the Patient end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Referential integrity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Referential integrity is a rule set on a relationship to keep the linked tables consistent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foreign key value must match a primary key that already exists, e.g. no booking for member SW099 if SW099 is not in Members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also stops a member being deleted while their bookings still exist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Optional extra: cascade delete removes the linked bookings when the member is deleted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Result: no 'orphan' records that point to nothing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Database tools: query, form, report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6693"/>
                <a:gridCol w="5264899"/>
                <a:gridCol w="265800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Club 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Query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Searches the tables and extracts only the records that match criteria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All Junior squad members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On-screen layout for entering, editing and viewing records, often one at a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New member sign-up screen with a drop-down for Squad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Presents data from a table or query in a formatted, printable layout, with grouping, sorting and totals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Printed register of members grouped by squad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Macros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macro is a small stored program that carries out a series of database actions automatically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Usually run by clicking a button on a form, e.g. 'Add new member', 'Print register'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Can open forms, run queries, print reports, add, update or delete records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saves time on repetitive tasks, fewer mistakes, easier for users with little database skill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Importing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Importing: bringing data into the database from another file instead of typing it in again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Common sources: csv (comma-separated values) files and spreadsheet worksheets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the club imports a csv of new members exported from its online sign-up form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much faster than retyping and avoids transcription errors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 first: column headings must match the fields and data must suit each field's data type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 database table, what is one row called?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field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record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query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macro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record  –  A row holds all the data about one person or item, which is a record. A column is a field.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swimming club stores Surname, Squad, DateOfBirth and MemberID. Which is the best key field?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MemberID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Surname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Squad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DateOfBirth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MemberID  –  MemberID is created to be unique for every member. Names, squads and dates can be shared.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 query used for?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Entering data one record at a time</a:t>
            </a:r>
            <a:endParaRPr lang="en-US" sz="14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Printing a formatted summary</a:t>
            </a:r>
            <a:endParaRPr lang="en-US" sz="14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Searching for records that match criteria</a:t>
            </a:r>
            <a:endParaRPr lang="en-US" sz="14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Recording keystrokes</a:t>
            </a:r>
            <a:endParaRPr lang="en-US" sz="14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Searching for records that match criteria  –  A query checks each record and returns only those that meet the criteria.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set of stored instructions that runs a database task automatically when a button is clicked is a…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relationship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field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macro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macro  –  Macros automate repetitive tasks such as adding a record or printing a report.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When the primary key of one table appears as a field in a second table, it is called a…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composite key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foreign key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lookup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macro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foreign key  –  It is a foreign key in the second table, and it creates the link between the tables.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One doctor has many patients; each patient has one doctor. Where does the ∞ or crow's foot go?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At the Doctor end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At both ends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At the Patient end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Nowhere – it is one-to-one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At the Patient end  –  The symbol goes at the 'many' end, which is the Patient table.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problem with storing everything in a flat file?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Data is repeated, wasting space and causing inconsistencies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be printed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be sorted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have a key field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Data is repeated, wasting space and causing inconsistencies  –  Data redundancy means the same details are stored many times, and copies can get out of step.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tool would present club members grouped by squad, ready to print?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Macro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Relationship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Report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Report  –  A report formats data from a table or query, and can group, sort and total it.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record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row holds all the data about one person or item, which is a record. A column is a field.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MemberID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MemberID is created to be unique for every member. Names, squads and dates can be shared.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Searching for records that match criteria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query checks each record and returns only those that meet the criteria.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macro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Macros automate repetitive tasks such as adding a record or printing a report.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foreign key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is a foreign key in the second table, and it creates the link between the tables.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At the Patient end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symbol goes at the 'many' end, which is the Patient table.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Data is repeated, wasting space and causing inconsistencies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 redundancy means the same details are stored many times, and copies can get out of step.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Report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report formats data from a table or query, and can group, sort and total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9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Q2(a)–(c)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Relational database terms, relationships, data types, key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Database tools, field types, importing csv, 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Database concepts; validation rules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Field names and data types, database terms, key field, query 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term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types, validation checks, data processing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2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30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L09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Database data types and validation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and justify a suitable data type for each field in a table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validation is needed and what it cannot do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presence, length, type, format and range checks with examples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validation rules and input masks for database fields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difference between validation and verification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y data types mat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data types matter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Common data types (1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Common data types (1)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Common data types (2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Common data types (2)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6" action="ppaction://hlinksldjump" tooltip="Worked example: Bangor summer sailing ca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Bangor summer sailing camp</a:t>
            </a:r>
            <a:endParaRPr lang="en-US" sz="13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What is validation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validation?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Five validation chec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Five validation checks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Setting up checks in Acc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Setting up checks in Access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10" action="ppaction://hlinksldjump" tooltip="Worked example: writing validation ru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writing validation rules</a:t>
            </a:r>
            <a:endParaRPr lang="en-US" sz="13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1" action="ppaction://hlinksldjump" tooltip="Input masks for format chec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Input masks for format checks</a:t>
            </a:r>
            <a:endParaRPr lang="en-US" sz="15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Validation vs verif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vs verification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3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Five validation checks applied to form fields, with passes and failu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Five validation checks applied to form fields, with passes and failures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data types matter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a table is designed, every field is given a name and a data type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data type says what kind of data the field can hold, e.g. text, number or date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controls what can be entered, how much storage is used and what can be done with the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Dates stored as Date/Time can be sorted in date order and used in date calculations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Numbers stored as Number or Currency can be added, averaged and totalled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Common data types (1)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05118"/>
                <a:gridCol w="5809129"/>
                <a:gridCol w="18153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Short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Letters, or a mix of letters and numbers, up to 255 characters; numbers not used in calculations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Surname, Postcode, PhoneNumber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Long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 amounts of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ProductDescription, Notes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Numeric data used in calculations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DaysBooked, GoalsScored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Currency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Money values, shown with two decimal places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TicketPrice, MonthlyFee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Date/Time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Dates and times, often picked from a pop-up calendar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DateOfBirth, BookingDate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5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Common data types (1)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05118"/>
                <a:gridCol w="5809129"/>
                <a:gridCol w="18153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AutoNumber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number created automatically for each new record, usually the key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BookingID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Common data types (2)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76925"/>
                <a:gridCol w="5329003"/>
                <a:gridCol w="202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Yes/No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of two values (Boolean): Yes/No, True/False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FeesPaid, PhotoConsent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OLE Object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Object Linking and Embedding: a file made in other software, e.g. a spreadsheet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MedicalForm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Hyperlink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web address (URL) or email address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Website, Email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Attachment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Files attached to a record, e.g. a digital photo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MemberPhoto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Calculated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result of a calculation using other fields in the record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TotalCost = [Quantity]*[Price]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Lookup Wizard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list of values chosen from a drop-down list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Squad: Junior, Senior, Masters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Bangor summer sailing camp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22218"/>
                <a:gridCol w="1496291"/>
                <a:gridCol w="56110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CamperID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AutoNumber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Unique number created automatically – the key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ParentPhone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Short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Starts with 0, has spaces and is never used in a calculation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StartDate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Date/Time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be sorted and checked against today's 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DaysBooked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Number (integer)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number used to work out the 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DailyFee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Currency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Money with two decimal places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PhotoConsent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Yes/No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two possible answers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8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validation?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Validation: an automatic check by the computer, at the input stage, that data is sensible, reasonable and within acceptable limits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Data that breaks the rule is rejected and an error message explains why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reduces input errors, so the database is more accurate and reliable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Validation cannot prove data is correct – a valid but wrong date of birth is still accepted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Many candidates in 2025 were unsure that validation cannot tell if data is correct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Five validation checks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27017"/>
                <a:gridCol w="4467497"/>
                <a:gridCol w="31350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Presence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Makes sure a field is not left blank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Surname must be entered for every camper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the number of characters is within limits or exact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CamperCode must be exactly 7 characters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the data is the correct 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DaysBooked must be a number, not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the data matches a set pattern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Postcode like BT74 7AB; email contains @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a value is between a lower and an upper limit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DaysBooked from 1 to 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Setting up checks in Access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Presence: set Required to Yes, or use the validation rule Is Not Null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Length: set Field Size, or use a rule such as Len([CamperCode])=7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Type: chosen automatically by the data type – a Number field rejects letters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Format: an input mask controls the pattern of characters, e.g. for a postcode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Range: a rule such as &gt;=1 And &lt;=5, or Between 1 And 5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Validation text: the error message shown, e.g. 'Campers can book from 1 to 5 days'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writing validation rules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Rules are typed into the Validation Rule property of the field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 each one aloud: 'DaysBooked must be at least 1 and at most 5'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writing validation rules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Range check: book 1 to 5 days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&gt;=1 And &lt;=5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range check written with BETWEEN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 1 And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Range check: exam mark 0 to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&gt;=0 And &lt;=100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Length check: password at least 8 characters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Len([Password])&gt;=8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Length check: exactly 7 characters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Len([CamperCode])=7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Presence 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Not 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Format check: email must contain @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"*@*"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Input masks for format checks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input mask is a pattern that each character typed must fit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Access: L = a letter is required, 0 = a digit is required, 9 = a digit is optional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NI postcode mask: "BT"09 0LL accepts BT74 7AB; the optional 9 also allows one-digit districts such as BT1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Student code mask: LL0000 accepts EN2041 but rejects E20411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Input masks stop wrong patterns being typed, but cannot check the postcode really exists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vs verification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84094"/>
                <a:gridCol w="3042877"/>
                <a:gridCol w="47026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data is sensible and follows rules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data has been entered or copied accurately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Done by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computer, automatically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user or the computer comparing two entries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Methods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Presence, length, type, format, range checks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Double entry (type the email twice); visual check against the source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Limit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Valid data can still be wrong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Both entries can contain the same mistake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validation check makes sure a field is not left empty?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Range check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Presence check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Format check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Type check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Presence check  –  A presence check rejects a blank field. In Access set Required to Yes or use Is Not Null.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type is best for a monthly club fee of £24.99?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Currency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Number (integer)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Short Text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Date/Time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Currency  –  Currency is for money and stores two decimal places. An integer would lose the pence.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Checking that an email address contains an @ symbol is a…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type check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range check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format check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presence check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format check  –  It checks that the data follows a pattern.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about validation is true?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guarantees data is correct</a:t>
            </a:r>
            <a:endParaRPr lang="en-US" sz="14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carried out by a person reading the data</a:t>
            </a:r>
            <a:endParaRPr lang="en-US" sz="14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encrypts the data</a:t>
            </a:r>
            <a:endParaRPr lang="en-US" sz="14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tell if data is correct, only if it is sensible</a:t>
            </a:r>
            <a:endParaRPr lang="en-US" sz="14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It cannot tell if data is correct, only if it is sensible  –  Valid data can still be wrong, for example a mistyped but possible date of birth.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validation rule accepts a group of 5 to 20 people, including 5 and 20?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&gt;5 And &lt;20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&lt;5 Or &gt;20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&gt;=5 And &lt;=20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Len([GroupSize])&gt;4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&gt;=5 And &lt;=20  –  &gt;= and &lt;= include the boundary values. Between 5 And 20 would also work.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type stores a file made in other software, such as a spreadsheet, using object linking and embedding?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Hyperlink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Calculated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Lookup Wizard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OLE Object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OLE Object  –  OLE stands for Object Linking and Embedding.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type automatically creates a new sequential number for each record?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AutoNumber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Number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Yes/No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Short Text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AutoNumber  –  AutoNumber is often used for the key field.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an Access input mask, what does the character L mean?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digit is required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letter is required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lower-case letter is optional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Any character is allowed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letter is required  –  L = letter required, 0 = digit required, 9 = digit optional.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Presence check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presence check rejects a blank field. In Access set Required to Yes or use Is Not Null.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Currency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Currency is for money and stores two decimal places. An integer would lose the pence.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format check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checks that the data follows a pattern.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It cannot tell if data is correct, only if it is sensible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Valid data can still be wrong, for example a mistyped but possible date of birth.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&gt;=5 And &lt;=20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&gt;= and &lt;= include the boundary values. Between 5 And 20 would also work.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OLE Object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OLE stands for Object Linking and Embedding.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AutoNumber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AutoNumber is often used for the key field.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letter is required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 = letter required, 0 = digit required, 9 = digit optional.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4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Q2(g)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Presence and range checks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Database tools, field types, importing csv, 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Database concepts; validation rules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types, validation checks, data processing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5" grpId="0">
        <p:bldAsOne/>
      </p:bldGraphic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Queries, logical operators and big data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query criteria using comparison operators and AND, OR and BETWEEN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Set up a query in a query design grid and predict which records it returns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big data using volume, velocity and variety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Tell structured and unstructured data apart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data analytics is needed to make use of big data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Queries and criteri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Queries and criteria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Comparison operat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Comparison operators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Logical (Boolean) operat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Logical (Boolean) operators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6" action="ppaction://hlinksldjump" tooltip="Worked example: Fermanagh Junior Football Leag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Fermanagh Junior Football League</a:t>
            </a:r>
            <a:endParaRPr lang="en-US" sz="13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Predicting the resul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Predicting the results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The query design gri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query design grid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Big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 data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0" action="ppaction://hlinksldjump" tooltip="The three V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three Vs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1" action="ppaction://hlinksldjump" tooltip="Structured and unstructured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Structured and unstructured data</a:t>
            </a:r>
            <a:endParaRPr lang="en-US" sz="15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Data analyt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analytics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3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Venn diagrams: AND returns records in both sets, OR returns records in eith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Venn diagrams: AND returns records in both sets, OR returns records in either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Queries and criteria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query searches a database and extracts only the records that meet the criteria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Criteria are the conditions the data must meet, e.g. Town = "Omagh"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record is tested: if the condition is true the record is included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Text values go in quotation marks; numbers do not; Access puts dates between # signs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the exact values stored in the table – "Cat" will not find "Cats"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Comparison operators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89686"/>
                <a:gridCol w="2669059"/>
                <a:gridCol w="2224216"/>
                <a:gridCol w="24466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criteria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Matches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=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Equal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Town = "Enniskillen"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Enniskillen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&lt;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Less than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Price &lt; 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9.99, but not 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&gt;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Greater than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Goals &gt; 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 or more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&lt;=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Less than or equal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Age &lt;= 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 and under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&gt;=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Greater than or equal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Score &gt;= 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50 and over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&lt;&gt;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 equal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Squad &lt;&gt; "Senior"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Everyone except Senior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Logical (Boolean) operators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Logical operators combine conditions; each condition gives a Boolean result: true or false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AND: both conditions must be true – the results list usually gets smaller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OR: at least one condition must be true – the results list usually gets bigger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BETWEEN: the value lies within a range, including both end values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Price BETWEEN 5 AND 10 gives the same records as Price &gt;= 5 AND Price &lt;= 10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Fermanagh Junior Football League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88123"/>
                <a:gridCol w="1688123"/>
                <a:gridCol w="2321169"/>
                <a:gridCol w="1266092"/>
                <a:gridCol w="12660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PlayerID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Surname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Club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Goals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P01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Murphy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Lisnaskea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P02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Wilson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Enniskillen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P03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Reilly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Lisnaskea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P04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Corrigan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Irvinestown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P05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Hamilton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Enniskillen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2" grpId="0">
        <p:bldAsOne/>
      </p:bldGraphic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Predicting the results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the Players table on the previous slide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line shows the criteria, then the PlayerIDs it returns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Predicting the results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 &gt; 8                              -&gt; P01, P04, P05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                               -&gt; P02, P04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Club = "Lisnaskea" AND Goals &gt; 10        -&gt; P01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Club = "Lisnaskea" OR Club = "Irvinestown" -&gt; P01, P03, P04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BETWEEN 13 AND 14                  -&gt; P01, P03, P05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 &gt;= 12                            -&gt; P01, P05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Club &lt;&gt; "Enniskillen"                  -&gt; P01, P03, P04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query design grid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Field row: choose the fields to use; Table row: shows which table each comes from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Sort row: Ascending or Descending; Show tick box: whether the field appears in the results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Criteria row: type the condition under the field it applies to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Criteria on the same row = AND; criteria on different rows (Criteria and Or) = OR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Dates: Between #01/03/2026# And #31/03/2026# finds all of March 2026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Fields from linked tables can be used in one query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Big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Big data: data sets so large, fast-changing and mixed that normal database software cannot store or process them in a reasonable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Collected by supermarkets, social media, banks, phone networks, hospitals and smart devices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Described by the three Vs: volume, velocity and variety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Big data has little value until it is analysed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three Vs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3907"/>
                <a:gridCol w="3837114"/>
                <a:gridCol w="39885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Volume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huge amount of data – terabytes and petabytes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loyalty-card purchase in every UK supermarket, every day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Velocity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speed at which data is created and must be processed, often in real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Card payments checked for fraud in under a second; live traffic sensor readings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Variety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many different types and formats of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Text, photos, video, GPS locations, sensor readings, tables of sales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7" grpId="0">
        <p:bldAsOne/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Structured and unstructured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Structured data: organised in a fixed format such as tables of rows and columns, so it is easy to search and analyse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names, dates of birth, addresses, card numbers, exam results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Unstructured data: no fixed format, so normal database tools cannot easily process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social media posts, emails, essays, photos, videos, voice recordings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Most big data is unstructured, which adds to the variety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analytics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analytics: using algorithms, programs or artificial intelligence to find patterns, trends and relationships in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mining: searching large data sets to discover patterns that were not known before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Needs specialist software, powerful computers (often in the cloud) and skilled data analysts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Uses: shop offers, streaming recommendations, spotting bank fraud, planning hospital staffing, managing traffic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Lets organisations make better decisions based on evidence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operator finds values from 10 to 20, including 10 and 20?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OR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BETWEEN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&lt;&gt;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BETWEEN  –  BETWEEN includes both end values: BETWEEN 10 AND 20.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 three Vs of big data describes the speed at which data is created and processed?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Velocity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Volume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Variety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Velocity  –  Velocity is speed. Volume is the amount and variety is the different types.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Town = "Omagh" AND Age &gt; 15 returns records where…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either condition is true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neither condition is true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only Town is checked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both conditions are true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7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both conditions are true  –  AND needs both conditions to be true.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Social media posts, videos and GPS data collected together are an example of…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volume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variety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velocity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variety  –  They are many different types and formats of data.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Does Score &gt;= 50 return a record with a score of exactly 50?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Yes</a:t>
            </a:r>
            <a:endParaRPr lang="en-US" sz="16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</a:t>
            </a:r>
            <a:endParaRPr lang="en-US" sz="16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Only with OR</a:t>
            </a:r>
            <a:endParaRPr lang="en-US" sz="16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Only with BETWEEN</a:t>
            </a:r>
            <a:endParaRPr lang="en-US" sz="16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Yes  –  &gt;= means greater than or equal to, so 50 is included.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criteria finds every player except those in the Senior squad?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Squad = "Senior"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Squad &gt; "Senior"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Squad &lt;&gt; "Senior"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Squad BETWEEN "Senior"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Squad &lt;&gt; "Senior"  –  &lt;&gt; means not equal to.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unstructured data?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table of dates of birth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Customer addresses in a database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list of exam marks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Video clips and social media posts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9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Video clips and social media posts  –  Unstructured data has no fixed format of fields and records.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data analytics?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Typing data into a form</a:t>
            </a:r>
            <a:endParaRPr lang="en-US" sz="125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Backing up a database</a:t>
            </a:r>
            <a:endParaRPr lang="en-US" sz="125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Using software to find patterns, trends and relationships in data</a:t>
            </a:r>
            <a:endParaRPr lang="en-US" sz="125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Checking data as it is entered</a:t>
            </a:r>
            <a:endParaRPr lang="en-US" sz="125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Using software to find patterns, trends and relationships in data  –  Analytics turns large amounts of raw data into useful information for decisions.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BETWEEN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BETWEEN includes both end values: BETWEEN 10 AND 20.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Velocity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Velocity is speed. Volume is the amount and variety is the different types.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both conditions are true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AND needs both conditions to be true.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variety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They are many different types and formats of 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Yes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&gt;= means greater than or equal to, so 50 is included.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Squad &lt;&gt; "Senior"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&lt;&gt; means not equal to.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Video clips and social media posts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Unstructured data has no fixed format of fields and records.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Using software to find patterns, trends and relationships in data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Analytics turns large amounts of raw data into useful information for decisions.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8" grpId="0">
        <p:bldAsOne/>
      </p:bldGraphic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Q3(d)–(f)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Query criteria, reports, sorting, relationship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Q2(d)–(f)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Export to csv, queries, grouping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Q8(b)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Big data: volume, velocity, variety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MCQ: storage, bit rate, real-time, compression, buffering, ADC, big data,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Field names and data types, database terms, key field, query 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79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applications</dc:title>
  <dc:subject>Unit 1: Digital Technology – Database applications</dc:subject>
  <dc:creator>Digital Technology Hub</dc:creator>
  <cp:lastModifiedBy>Digital Technology Hub</cp:lastModifiedBy>
  <cp:revision>1</cp:revision>
  <dcterms:created xsi:type="dcterms:W3CDTF">2026-10-30T13:15:35Z</dcterms:created>
  <dcterms:modified xsi:type="dcterms:W3CDTF">2026-10-30T13:15:35Z</dcterms:modified>
</cp:coreProperties>
</file>