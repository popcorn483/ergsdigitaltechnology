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07221aa5-2f41-6deb-3cc1-2dde01798fe9}">
          <p14:sldIdLst>
            <p14:sldId id="256"/>
            <p14:sldId id="257"/>
            <p14:sldId id="258"/>
          </p14:sldIdLst>
        </p14:section>
        <p14:section name="L11 · Spreadsheets 1: structure, formatting, formulae and cell referencing" id="{1d2bab72-855e-d41b-1166-78ebdad6be6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L12 · Spreadsheets 2: IF, VLOOKUP, validation, templates, modelling, charts and " id="{423f5521-67bb-e065-506f-bb31496f4589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basic structures of spreadsheet software: workbooks, worksheets, cells, rows, columns and ranges | Describe and use data types; enter text, numbers and formulae; format cells, rows and columns | Create and replicate formulae using arithmetic operators | Use simple functions (SUM, AVERAGE, MAX, MIN, COUNT, COUNTIF) and relative and absolute cell referencing | Improve worksheet presentation with headers and footers, and select areas of a spreadsheet for 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and use conditional formatting and data validation | Describe and use templates, headers and footers, and importing data; create a simple template for others to use | Use IF statements (including nested IF) and VLOOKUPs | Use a spreadsheet for data modelling and what-if analysis | Create, label and format charts | Create simple macros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9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18.xml"/><Relationship Id="rId15" Type="http://schemas.openxmlformats.org/officeDocument/2006/relationships/slide" Target="slide2.xml"/><Relationship Id="rId1" Type="http://schemas.openxmlformats.org/officeDocument/2006/relationships/image" Target="../media/image-5-1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Relationship Id="rId13" Type="http://schemas.openxmlformats.org/officeDocument/2006/relationships/slide" Target="slide42.xml"/><Relationship Id="rId14" Type="http://schemas.openxmlformats.org/officeDocument/2006/relationships/slide" Target="slide43.xml"/><Relationship Id="rId15" Type="http://schemas.openxmlformats.org/officeDocument/2006/relationships/slide" Target="slide44.xml"/><Relationship Id="rId16" Type="http://schemas.openxmlformats.org/officeDocument/2006/relationships/slide" Target="slide2.xml"/><Relationship Id="rId1" Type="http://schemas.openxmlformats.org/officeDocument/2006/relationships/image" Target="../media/image-30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Spreadsheet applications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L11  Spreadsheets 1: structure, formatting, formulae and cell referencing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L12  Spreadsheets 2: IF, VLOOKUP, validation, templates, modelling, charts and macros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L11  Spreadsheets 1: structure, formatting, formulae and cell referenc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L11  Spreadsheets 1: structure, formatting, formulae and cell referencing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L12  Spreadsheets 2: IF, VLOOKUP, validation, templates, modelling, charts and macro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L12  Spreadsheets 2: IF, VLOOKUP, validation, templates, modelling, charts and macros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basic structures of spreadsheet software: workbooks, worksheets, cells, rows, columns and ranges; Describe and use data types; enter text, numbers and formulae; format cells, rows and columns; Create and replicate formulae using arithmetic operators; Use simple functions (SUM, AVERAGE, MAX, MIN, COUNT, COUNTIF) and relative and absolute cell referencing; Improve worksheet presentation with headers and footers, and select areas of a spreadsheet for printing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and use conditional formatting and data validation; Describe and use templates, headers and footers, and importing data; create a simple template for others to use; Use IF statements (including nested IF) and VLOOKUPs; Use a spreadsheet for data modelling and what-if analysis; Create, label and format charts; Create simple macros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Spreadsheets 1: structure, formatting, formulae and cell referencing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cells, rows, columns, ranges and worksheets, and give a cell reference correctly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 suitable data format for a column and describe formatting that improves presentation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formulae and simple functions using the correct symbols and range syntax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and use relative and absolute cell references when replicating formulae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a spreadshee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spreadsheet?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What can a cell hold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can a cell hold?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Data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formats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Formatting and pres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Formatting and presentation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Writing formula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Writing formulae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Simple fun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Simple functions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Worked example: school tuck sho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school tuck shop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0" action="ppaction://hlinksldjump" tooltip="Tuck shop: using the fun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Tuck shop: using the functions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1" action="ppaction://hlinksldjump" tooltip="Replicating formulae: relative referen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Replicating formulae: relative references</a:t>
            </a:r>
            <a:endParaRPr lang="en-US" sz="13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Absolute referen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Absolute references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3" action="ppaction://hlinksldjump" tooltip="Relative or absolut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Relative or absolute?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464058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5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Spreadsheet formulas copied down: relative references change, the absolute reference stays fix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Spreadsheet formulas copied down: relative references change, the absolute reference stays fixed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spreadsheet?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spreadsheet file (a workbook) holds one or more worksheets; each worksheet is a separate tab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worksheet is a grid of columns (lettered A, B, C…) and rows (numbered 1, 2, 3…)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cell is where a column meets a row; its cell reference gives the column letter first, then the row number, e.g. H8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range is a block of cells written first cell:last cell, e.g. B2:B10 or G4:G12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Main purpose: carry out calculations and recalculate automatically when data changes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can a cell hold?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21031"/>
                <a:gridCol w="1442301"/>
                <a:gridCol w="46662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Label (text)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Surname, Item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Identifies what a row or column contains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Value (number)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45, 2.20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be used in calculations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Date or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05/09/2026, 15:30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Stored as numbers, so they can be sorted and subtracted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Formula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=B2*C2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Starts with =; the cell shows the 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Reference to another cell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=Sheet2!B4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Shows whatever is in that cell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formats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67543"/>
                <a:gridCol w="2155371"/>
                <a:gridCol w="45066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Displays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Good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General / 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24.06 or 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Quantities, scores (choose decimal places)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Currency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£24.06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Prices, costs, totals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Percentage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20% (stored as 0.2)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Discounts, VAT rate, attendance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29/10/2026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Booking date, date of birth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15:30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 times, lap times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BT74 6DN, 07700 900123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Postcodes, phone numbers (keeps the leading 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Formatting and presentation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Cell formatting: font, size, bold, alignment, borders, fill colour, number format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Merge and centre: combine several cells into one and centre a title across them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Wrap text: long text continues on extra lines inside the cell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Rows and columns: change width and height, insert or delete, freeze panes so headings stay visible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Headers and footers: text at the top or bottom of each printed page, e.g. title, date, file name, page number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Print area: print only a selected range; Show Formulas prints the formulae as evidence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Writing formulae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Golden rule: every formula starts with an equals sign =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Operators: + add, - subtract, * multiply, / divide, ^ power; brackets are worked out first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=B2*C2 multiplies; =C5-B5 subtracts B5 from C5; =A3/A4 divides A3 by A4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Use cell references, not typed numbers, so the result updates when the data changes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Common error: writing x for multiply or ÷ for divide – examiners do not credit these</a:t>
            </a:r>
            <a:endParaRPr lang="en-US" sz="15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=B2*C2        Price × Quantity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=D7-D8        Budget minus spent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=(B2+C2)/2    Mean of two cells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=B2*(1-$F$1)  Price after a discount in F1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Simple functions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82639"/>
                <a:gridCol w="4667534"/>
                <a:gridCol w="25794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Adds all the numbers in a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=SUM(D2:D6)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AVERAGE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Finds the mean of a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=AVERAGE(D2:D6)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Returns the largest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=MAX(D2:D6)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Returns the smallest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=MIN(D2:D6)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COUNT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Counts the cells that contain numbers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=COUNT(C2:C6)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COUNTIF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Counts the cells that meet a condition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=COUNTIF(D2:D6,"&gt;20")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school tuck shop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1645920"/>
                <a:gridCol w="1152144"/>
                <a:gridCol w="987552"/>
                <a:gridCol w="3456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 Item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 Price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 Qty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 Takings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Crisps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£0.60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=B2*C2 → £27.00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Water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£0.80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=B3*C3 → £24.00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Cereal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£0.75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=B4*C4 → £16.50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Toastie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£2.20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=B5*C5 → £39.60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Fruit cup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£1.10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=B6*C6 → £13.20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=SUM(D2:D6) → £120.30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Tuck shop: using the functions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=AVERAGE(D2:D6) gives £24.06 – the mean takings per item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=MAX(D2:D6) gives £39.60 (toasties); =MIN(D2:D6) gives £13.20 (fruit cups)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=COUNT(C2:C6) gives 5 – five cells hold numbers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=COUNTIF(D2:D6,"&gt;20") gives 3 – crisps, water and toasties took more than £20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Change C5 from 18 to 25 and D5, D7 and the AVERAGE all update instantly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Replicating formulae: relative references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Replicate = copy one formula into the cells below it or beside it, by dragging the fill handle or using Fill Down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fill handle is the small square at the bottom right of the selected cell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Relative references change to match the new row or column: =B2*C2 becomes =B3*C3, =B4*C4…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Saves time and avoids typing errors – one correct formula gives a whole column of correct results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Absolute references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absolute reference stays the same when a formula is replicated; it is written with $ signs, e.g. $F$1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it when every formula must use one fixed cell, e.g. a VAT rate, discount rate or exchange rate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Shop sheet: F1 holds the VAT rate 20%; H2 has =G2*(1+$F$1); filled down, H3 has =G3*(1+$F$1)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the $ signs H3 would contain =G3*(1+F2); F2 is empty, so no VAT is added – a wrong answer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Press F4 while editing a reference to add the $ signs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Relative or absolute?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30392"/>
                <a:gridCol w="1630392"/>
                <a:gridCol w="4968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Formula in row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Copied to row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=B2*C2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=B3*C3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Both relative – each row uses its own price and quantity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=G2*(1+$F$1)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=G3*(1+$F$1)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$F$1 is absolute – one VAT rate for every row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=D2*(1-$H$1)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=D3*(1-$H$1)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$H$1 holds one discount rate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=IF(G2&lt;100,$H$1,$H$2)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=IF(G3&lt;100,$H$1,$H$2)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 changes each row; the two fixed rates in H1 and H2 stay locked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cell reference identifies column D, row 7?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7D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D7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D:7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$7$D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D7  –  The column letter is always given first, then the row number.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tuck shop sheet, which function finds the smallest value in D2 to D6?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=SMALL(D2:D6)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=MIN(D2:D6)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=LOW(D2:D6)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=MIN(D2,D6)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=MIN(D2:D6)  –  MIN returns the lowest value; a colon (not a comma) shows the whole range D2 to D6.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Every formula must start with…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+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#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$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=  –  A formula always begins with an equals sign.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absolute reference?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B2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B$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#B2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$B$2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$B$2  –  The $ signs fix both the column and the row.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=B4/C4 replicated to row 5 becomes…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=B5/C5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=B4/C4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=C4/D4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=$B$5/$C$5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=B5/C5  –  Relative references change by one row when copied down one row.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cell formatted as Percentage holds 0.2. What does it show?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0.2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0.2%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£0.20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20%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20%  –  Percentage format multiplies the stored value by 100 for display.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=D1-C1 does what?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Subtracts D1 from C1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Adds C1 and D1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Subtracts C1 from D1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Finds the difference between columns C and D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Subtracts C1 from D1  –  It takes the contents of C1 away from D1.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E2 contains =D2*(1-H1) and is filled down. What is in E3?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=D3*(1-$H$1)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=D2*(1-H2)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=D3*(1-H1)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=D3*(1-H2)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=D3*(1-H2)  –  Both references are relative, so H1 becomes H2 – a blank cell, so no discount is applied.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Cells D2:D6 hold 27, 24, 16.5, 39.6 and 13.2. What does =COUNTIF(D2:D6,"&gt;20") return?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90.6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3  –  Three values (27, 24 and 39.6) are greater than 20.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column letter is always given first, then the row number.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=MIN(D2:D6)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MIN returns the lowest value; a colon (not a comma) shows the whole range D2 to D6.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=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formula always begins with an equals sign.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$B$2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$ signs fix both the column and the row.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=B5/C5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Relative references change by one row when copied down one row.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20%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Percentage format multiplies the stored value by 100 for display.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Subtracts C1 from D1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takes the contents of C1 away from D1.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=D3*(1-H2)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Both references are relative, so H1 becomes H2 – a blank cell, so no discount is applied.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Three values (27, 24 and 39.6) are greater than 20.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8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Q8(a)–(e)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Formatting, formulae, absolute references, chart ranges and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Q3(a)–(i)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Formatting, AVERAGE, replication, referencing, templates, validation, nested IF, MAX, ranges, macros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Currency, merge and centre, formulae, ranges, nested IF, VLOOKUP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Merge and centre, SUM, formulae, absolute references, IF, charts, template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SUM, subtraction, wrap text, absolute references, chart ranges and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Spreadsheet features, ranges, SUM, IF with absolute reference, lookup functions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29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Spreadsheets 2: IF, VLOOKUP, validation, templates, modelling, charts and macros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IF, nested IF and VLOOKUP functions and explain what each part does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conditional formatting, data validation and templates, and explain why they help users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a spreadsheet model to answer what-if questions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Choose, create and label a suitable chart, and describe what a macro is and why it is useful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The IF fun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IF function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IF that calculat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IF that calculates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Nested 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Nested IF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VLOOK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VLOOKUP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Worked example: leisure centre pri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leisure centre prices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Conditional format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Conditional formatting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Data valid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validation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Templates and impor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Templates and importing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Data modelling and what-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modelling and what-if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Model: Saturday sports ca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Model: Saturday sports camp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Char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Charts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Macro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four parts of a VLOOKUP formula and the row it matches in a lookup 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four parts of a VLOOKUP formula and the row it matches in a lookup table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IF function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IF tests a condition and gives one result if it is TRUE and a different result if it is FALSE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=IF(condition, value_if_true, value_if_false)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=IF(C2&gt;=50,"Pass","Fail") – text results go in double quotes; numbers and formulae do not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Comparison operators: =  &lt;&gt;  &gt;  &lt;  &gt;=  &lt;=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Watch the boundary: =IF(B2&gt;10,"Yes","No") gives No when B2 is 10, because 10 is not greater than 10</a:t>
            </a:r>
            <a:endParaRPr lang="en-US" sz="15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 &gt;= 50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show "Pass"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show "Fail"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=IF(C2&gt;=50,"Pass","Fail")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IF that calculates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true or false part can be a number, a cell reference or a calculation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Online shop: free delivery on orders of £50 or more, otherwise the charge in K1: =IF(J2&gt;=50,0,$K$1)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J2 = £62.00 → 0;  J2 = £35.50 → £4.95;  J2 = £50.00 → 0 (&gt;= includes 50)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Exchange rates: =IF(H5&lt;100,$H$1,$H$2) picks the base rate (H1) or the bonus rate (H2)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$ on fixed cells so the IF can be replicated down the column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Nested IF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nested IF puts one IF inside another to choose between three or more results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=IF(B2&gt;=80,"Distinction",IF(B2&gt;=65,"Merit","Fail"))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80 → Distinction; 79 → Merit; 65 → Merit; 64 → Fail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the highest boundary first; each IF needs its own closing bracket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Common error: putting the inner IF in the wrong part, or missing quotation marks around text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VLOOKUP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Vertical lookup: searches the FIRST column of a lookup table for a value, then returns a value from a chosen column in the same row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=VLOOKUP(lookup_value, table_range, column_number, FALSE)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lookup_value: what to find, e.g. B2; table_range: the lookup table, e.g. $G$20:$I$24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column_number: which column of the table to return (1 = the first column of the table)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FALSE: exact match only – if the value is not found the result is #N/A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Absolute references on the table so the formula can be replicated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leisure centre prices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47404"/>
                <a:gridCol w="1197033"/>
                <a:gridCol w="4937760"/>
                <a:gridCol w="10474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 Activity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 Price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Swimming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£4.20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Gym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£6.50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Badminton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£8.00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SQ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Squash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£7.50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Climbing wall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£9.00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Booking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B20 = BD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=VLOOKUP(B20,$G$20:$I$24,3,FALSE)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→ £8.00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Conditional formatting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Changes a cell's appearance automatically (fill colour, font colour, bold, icons) when a condition is met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bus booking sheet shows any group bigger than 8 in red so staff know a second minibus is needed; other cells keep their normal format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Stock sheet: red fill when stock is below 5 so the manager sees what to reorder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Better than colouring cells by hand: it updates itself when the data changes and nothing is missed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validation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Controls what can be entered in a cell, so data is sensible and within acceptable limits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Range check: a whole number from 1 to 16 for the number of seats booked on a minibus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Type check (whole number, decimal, date), length check, and drop-down lists of allowed choices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message guides the user; error alert pops up if invalid data is entered, asking them to try again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Limitation: validation cannot check that data is correct – 7 may be allowed when the true value is 8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Templates and importing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template is a ready-made spreadsheet with layout, formatting, formulae and labels set up; users add only their data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Benefits: saves time, every copy looks the same, fewer errors; protect the formula cells so they cannot be overwritten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Excel saves templates as .xltx; a new file is opened from it so the template stays unchanged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Importing: bringing data in from another source (database table, text file, web) using a wizard of step-by-step dialogue boxes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Files often need to be CSV (comma-separated values) first; importing avoids retyping and typing errors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modelling and what-if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model represents a real situation using values (inputs) and formulae (rules) that calculate the outputs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What-if analysis: change an input and see how the outputs change, e.g. 'What if we raise ticket prices?'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Changing the formulae changes the rules of the model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quick, cheap and safe to test many options before deciding; helps predict and plan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Limitation: the model is only as good as its data and rules – people may not behave as predicted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Model: Saturday sports camp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172891"/>
                <a:gridCol w="705394"/>
                <a:gridCol w="2351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 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 B: what if £38?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Price per child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£38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Children booked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Income =Price*Children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£4,200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£3,990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Fixed costs (hall, coaches)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£1,500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£1,500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 per child £18: total =Fixed+18*Children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£3,660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£3,390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Profit =Income-Costs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£540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£600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Charts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89686"/>
                <a:gridCol w="4522573"/>
                <a:gridCol w="28173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Column / bar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Comparing categories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Sales of each tuck shop item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Trends over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Monthly attendance at a youth club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Pie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Parts of a whole (percentages)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How a club's budget is spent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Scatter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Relationship between two variables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Hours revised against test mark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Must have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Title, axis titles with units, legend if more than one series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labels and colour to help reading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Macros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macro is a small program that stores a sequence of actions so they can be replayed with one click or a shortcut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Created by recording the steps (Developer tab &gt; Record Macro) or written in a script editor (VBA)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clear the order form for the next customer; sort the data and print the report; add today's date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Assign the macro to a button so less experienced users can run it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Benefits: saves time on repeated tasks, fewer mistakes, steps done the same way every time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Save the workbook as macro-enabled (.xlsm), or the macro is lost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=IF(B2&gt;10,"Yes","No") shows what if B2 is 10?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Yes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No  –  10 is not greater than 10, so the condition is false and the third part, No, is shown.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=VLOOKUP(B2,$G$2:$H$6,2,FALSE), what does the 2 tell the spreadsheet?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Which column of the table to search</a:t>
            </a:r>
            <a:endParaRPr lang="en-US" sz="14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How many rows to check</a:t>
            </a:r>
            <a:endParaRPr lang="en-US" sz="14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Which column of the table to return a value from</a:t>
            </a:r>
            <a:endParaRPr lang="en-US" sz="14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Where to put the answer</a:t>
            </a:r>
            <a:endParaRPr lang="en-US" sz="14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Which column of the table to return a value from  –  VLOOKUP always searches the first column; the column number says which column the answer comes from.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Turning a cell red when stock is below 5 is…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conditional formatting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macro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VLOOKUP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template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conditional formatting  –  The format depends on a condition and updates automatically.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Best chart to show temperature changes over a month?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Pie chart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Scatter graph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 graph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 chart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Line graph  –  Line graphs show trends over time.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Peter scores 70. What does =IF(B2&gt;=80,"Distinction",IF(B2&gt;=65,"Merit","Fail")) show?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Distinction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Merit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Fail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70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Merit  –  70 is not &gt;= 80, so the inner IF is used; 70 is &gt;= 65, so Merit.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Validation tab sets the message shown when invalid data is entered?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Settings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Input Message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Conditional Formatting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 Alert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Error Alert  –  The Error Alert asks the user to retry with valid data.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file type must you use to save a workbook containing a macro?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.xlsm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.xlsx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.csv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.xltx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.xlsm  –  A macro-enabled workbook (.xlsm); saving as .xlsx discards the macro.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Changing the price in a model to see the effect on profit is called…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importing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conditional formatting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what-if analysis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what-if analysis  –  Testing changes to inputs is what-if analysis.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J2 holds £50.00. What does =IF(J2&gt;=50,0,4.95) return?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4.95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50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FALSE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0  –  &gt;= includes 50, so the condition is true and 0 (free delivery) is returned.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No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10 is not greater than 10, so the condition is false and the third part, No, is shown.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Which column of the table to return a value from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VLOOKUP always searches the first column; the column number says which column the answer comes from.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conditional formatting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format depends on a condition and updates automatically.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Line graph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Line graphs show trends over time.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Merit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70 is not &gt;= 80, so the inner IF is used; 70 is &gt;= 65, so Merit.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Error Alert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Error Alert asks the user to retry with valid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.xlsm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macro-enabled workbook (.xlsm); saving as .xlsx discards the macro.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what-if analysis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Testing changes to inputs is what-if analysis.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&gt;= includes 50, so the condition is true and 0 (free delivery) is returned.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4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Q3(a)–(i)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Formatting, AVERAGE, replication, referencing, templates, validation, nested IF, MAX, ranges, macros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Currency, merge and centre, formulae, ranges, nested IF, VLOOKUP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Merge and centre, SUM, formulae, absolute references, IF, charts, template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SUM, subtraction, wrap text, absolute references, chart ranges and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Spreadsheet functions, CPU purpose and components, immediate-access 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Spreadsheet features, ranges, SUM, IF with absolute reference, lookup functions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3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5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applications</dc:title>
  <dc:subject>Unit 1: Digital Technology – Spreadsheet applications</dc:subject>
  <dc:creator>Digital Technology Hub</dc:creator>
  <cp:lastModifiedBy>Digital Technology Hub</cp:lastModifiedBy>
  <cp:revision>1</cp:revision>
  <dcterms:created xsi:type="dcterms:W3CDTF">2026-10-30T13:15:36Z</dcterms:created>
  <dcterms:modified xsi:type="dcterms:W3CDTF">2026-10-30T13:15:36Z</dcterms:modified>
</cp:coreProperties>
</file>