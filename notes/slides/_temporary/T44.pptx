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</p:sldIdLst>
  <p:notesMasterIdLst>
    <p:notesMasterId r:id="rId1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9503de7d-1e16-babb-5c58-974f9e8a44b2}">
          <p14:sldIdLst>
            <p14:sldId id="256"/>
            <p14:sldId id="257"/>
            <p14:sldId id="258"/>
          </p14:sldIdLst>
        </p14:section>
        <p14:section name="D14 · Variables, constants, operators, input, output and assignment" id="{7a23f973-f713-d995-2024-c5e83b7063a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D15 · Selection: IF, ELSE IF and nested IF" id="{56f538ff-f1cf-54dd-97fd-e2ee2eb6d8b7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D16 · Iteration: FOR, WHILE and REPEAT loops" id="{4c11a01e-9552-407b-5753-e5b8587fccb8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D17 · One-dimensional arrays" id="{f80ee404-7924-489e-542e-e7136c227a04}">
          <p14:sldIdLst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</p14:sldIdLst>
        </p14:section>
        <p14:section name="D18 · String manipulation" id="{f2bbfa51-ed22-1af5-bc8e-8b12a531aba7}">
          <p14:sldIdLst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</p14:sldIdLst>
        </p14:section>
        <p14:section name="D19 · Subroutines: user-defined functions and procedures" id="{d6ac6a2c-f86d-ea63-4a51-779d65ec9c71}">
          <p14:sldIdLst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</p14:sldIdLst>
        </p14:section>
        <p14:section name="D20 · Basic file handling" id="{9030d015-635f-2261-18f2-8937ef6b2c2d}">
          <p14:sldIdLst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notesMaster" Target="notesMasters/notesMaster1.xml"/><Relationship Id="rId129" Type="http://schemas.openxmlformats.org/officeDocument/2006/relationships/presProps" Target="presProps.xml"/><Relationship Id="rId130" Type="http://schemas.openxmlformats.org/officeDocument/2006/relationships/viewProps" Target="viewProps.xml"/><Relationship Id="rId131" Type="http://schemas.openxmlformats.org/officeDocument/2006/relationships/theme" Target="theme/theme1.xml"/><Relationship Id="rId1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Demonstrate understanding of and use the functionality of variables, constants, and Boolean and arithmetic operators | Input, output and assignment statements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Controlling the flow of a program through sequence, selection and iteration (selection)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Controlling the flow of a program through sequence, selection and iteration (iteration)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One-dimensional array structures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String manipulation functions, including splitting, concatenating, character searching and substring searching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Building reusable code that utilises user-defined functions or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Basic file handling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22.xml"/><Relationship Id="rId5" Type="http://schemas.openxmlformats.org/officeDocument/2006/relationships/slide" Target="slide40.xml"/><Relationship Id="rId6" Type="http://schemas.openxmlformats.org/officeDocument/2006/relationships/slide" Target="slide57.xml"/><Relationship Id="rId7" Type="http://schemas.openxmlformats.org/officeDocument/2006/relationships/slide" Target="slide74.xml"/><Relationship Id="rId8" Type="http://schemas.openxmlformats.org/officeDocument/2006/relationships/slide" Target="slide93.xml"/><Relationship Id="rId9" Type="http://schemas.openxmlformats.org/officeDocument/2006/relationships/slide" Target="slide110.xml"/><Relationship Id="rId1" Type="http://schemas.openxmlformats.org/officeDocument/2006/relationships/image" Target="../media/image-2-1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" Target="slide14.xml"/><Relationship Id="rId9" Type="http://schemas.openxmlformats.org/officeDocument/2006/relationships/slide" Target="slide15.xml"/><Relationship Id="rId10" Type="http://schemas.openxmlformats.org/officeDocument/2006/relationships/slide" Target="slide2.xml"/><Relationship Id="rId1" Type="http://schemas.openxmlformats.org/officeDocument/2006/relationships/image" Target="../media/image-5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3" Type="http://schemas.openxmlformats.org/officeDocument/2006/relationships/slide" Target="slide25.xml"/><Relationship Id="rId4" Type="http://schemas.openxmlformats.org/officeDocument/2006/relationships/slide" Target="slide26.xml"/><Relationship Id="rId5" Type="http://schemas.openxmlformats.org/officeDocument/2006/relationships/slide" Target="slide27.xml"/><Relationship Id="rId6" Type="http://schemas.openxmlformats.org/officeDocument/2006/relationships/slide" Target="slide29.xml"/><Relationship Id="rId7" Type="http://schemas.openxmlformats.org/officeDocument/2006/relationships/slide" Target="slide30.xml"/><Relationship Id="rId8" Type="http://schemas.openxmlformats.org/officeDocument/2006/relationships/slide" Target="slide32.xml"/><Relationship Id="rId9" Type="http://schemas.openxmlformats.org/officeDocument/2006/relationships/slide" Target="slide33.xml"/><Relationship Id="rId10" Type="http://schemas.openxmlformats.org/officeDocument/2006/relationships/slide" Target="slide2.xml"/><Relationship Id="rId1" Type="http://schemas.openxmlformats.org/officeDocument/2006/relationships/image" Target="../media/image-23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3" Type="http://schemas.openxmlformats.org/officeDocument/2006/relationships/slide" Target="slide43.xml"/><Relationship Id="rId4" Type="http://schemas.openxmlformats.org/officeDocument/2006/relationships/slide" Target="slide44.xml"/><Relationship Id="rId5" Type="http://schemas.openxmlformats.org/officeDocument/2006/relationships/slide" Target="slide45.xml"/><Relationship Id="rId6" Type="http://schemas.openxmlformats.org/officeDocument/2006/relationships/slide" Target="slide47.xml"/><Relationship Id="rId7" Type="http://schemas.openxmlformats.org/officeDocument/2006/relationships/slide" Target="slide48.xml"/><Relationship Id="rId8" Type="http://schemas.openxmlformats.org/officeDocument/2006/relationships/slide" Target="slide49.xml"/><Relationship Id="rId9" Type="http://schemas.openxmlformats.org/officeDocument/2006/relationships/slide" Target="slide50.xml"/><Relationship Id="rId10" Type="http://schemas.openxmlformats.org/officeDocument/2006/relationships/slide" Target="slide2.xml"/><Relationship Id="rId1" Type="http://schemas.openxmlformats.org/officeDocument/2006/relationships/image" Target="../media/image-41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59.xml"/><Relationship Id="rId3" Type="http://schemas.openxmlformats.org/officeDocument/2006/relationships/slide" Target="slide60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slide" Target="slide63.xml"/><Relationship Id="rId7" Type="http://schemas.openxmlformats.org/officeDocument/2006/relationships/slide" Target="slide64.xml"/><Relationship Id="rId8" Type="http://schemas.openxmlformats.org/officeDocument/2006/relationships/slide" Target="slide66.xml"/><Relationship Id="rId9" Type="http://schemas.openxmlformats.org/officeDocument/2006/relationships/slide" Target="slide67.xml"/><Relationship Id="rId10" Type="http://schemas.openxmlformats.org/officeDocument/2006/relationships/slide" Target="slide2.xml"/><Relationship Id="rId1" Type="http://schemas.openxmlformats.org/officeDocument/2006/relationships/image" Target="../media/image-58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6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image" Target="../media/image-7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76.xml"/><Relationship Id="rId3" Type="http://schemas.openxmlformats.org/officeDocument/2006/relationships/slide" Target="slide77.xml"/><Relationship Id="rId4" Type="http://schemas.openxmlformats.org/officeDocument/2006/relationships/slide" Target="slide79.xml"/><Relationship Id="rId5" Type="http://schemas.openxmlformats.org/officeDocument/2006/relationships/slide" Target="slide80.xml"/><Relationship Id="rId6" Type="http://schemas.openxmlformats.org/officeDocument/2006/relationships/slide" Target="slide82.xml"/><Relationship Id="rId7" Type="http://schemas.openxmlformats.org/officeDocument/2006/relationships/slide" Target="slide84.xml"/><Relationship Id="rId8" Type="http://schemas.openxmlformats.org/officeDocument/2006/relationships/slide" Target="slide85.xml"/><Relationship Id="rId9" Type="http://schemas.openxmlformats.org/officeDocument/2006/relationships/slide" Target="slide86.xml"/><Relationship Id="rId10" Type="http://schemas.openxmlformats.org/officeDocument/2006/relationships/slide" Target="slide2.xml"/><Relationship Id="rId1" Type="http://schemas.openxmlformats.org/officeDocument/2006/relationships/image" Target="../media/image-75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7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7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8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8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8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8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8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8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8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8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8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8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9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9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image" Target="../media/image-9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" Target="slide95.xml"/><Relationship Id="rId3" Type="http://schemas.openxmlformats.org/officeDocument/2006/relationships/slide" Target="slide96.xml"/><Relationship Id="rId4" Type="http://schemas.openxmlformats.org/officeDocument/2006/relationships/slide" Target="slide97.xml"/><Relationship Id="rId5" Type="http://schemas.openxmlformats.org/officeDocument/2006/relationships/slide" Target="slide99.xml"/><Relationship Id="rId6" Type="http://schemas.openxmlformats.org/officeDocument/2006/relationships/slide" Target="slide100.xml"/><Relationship Id="rId7" Type="http://schemas.openxmlformats.org/officeDocument/2006/relationships/slide" Target="slide101.xml"/><Relationship Id="rId8" Type="http://schemas.openxmlformats.org/officeDocument/2006/relationships/slide" Target="slide102.xml"/><Relationship Id="rId9" Type="http://schemas.openxmlformats.org/officeDocument/2006/relationships/slide" Target="slide103.xml"/><Relationship Id="rId10" Type="http://schemas.openxmlformats.org/officeDocument/2006/relationships/slide" Target="slide2.xml"/><Relationship Id="rId1" Type="http://schemas.openxmlformats.org/officeDocument/2006/relationships/image" Target="../media/image-94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94.xml"/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9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9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9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9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10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10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10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10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10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10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10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10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10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image" Target="../media/image-10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" Target="slide112.xml"/><Relationship Id="rId3" Type="http://schemas.openxmlformats.org/officeDocument/2006/relationships/slide" Target="slide113.xml"/><Relationship Id="rId4" Type="http://schemas.openxmlformats.org/officeDocument/2006/relationships/slide" Target="slide114.xml"/><Relationship Id="rId5" Type="http://schemas.openxmlformats.org/officeDocument/2006/relationships/slide" Target="slide115.xml"/><Relationship Id="rId6" Type="http://schemas.openxmlformats.org/officeDocument/2006/relationships/slide" Target="slide116.xml"/><Relationship Id="rId7" Type="http://schemas.openxmlformats.org/officeDocument/2006/relationships/slide" Target="slide118.xml"/><Relationship Id="rId8" Type="http://schemas.openxmlformats.org/officeDocument/2006/relationships/slide" Target="slide119.xml"/><Relationship Id="rId9" Type="http://schemas.openxmlformats.org/officeDocument/2006/relationships/slide" Target="slide120.xml"/><Relationship Id="rId10" Type="http://schemas.openxmlformats.org/officeDocument/2006/relationships/slide" Target="slide2.xml"/><Relationship Id="rId1" Type="http://schemas.openxmlformats.org/officeDocument/2006/relationships/image" Target="../media/image-111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1" Type="http://schemas.openxmlformats.org/officeDocument/2006/relationships/image" Target="../media/image-112-1.png"/><Relationship Id="rId2" Type="http://schemas.openxmlformats.org/officeDocument/2006/relationships/image" Target="../media/image-11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" Target="slide111.xml"/><Relationship Id="rId1" Type="http://schemas.openxmlformats.org/officeDocument/2006/relationships/image" Target="../media/image-1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Programming constructs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D14  Variables, constants, operators, input, output and assignment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D15  Selection: IF, ELSE IF and nested IF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D16  Iteration: FOR, WHILE and REPEAT loops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D17  One-dimensional arrays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D18  String manipulation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D19  Subroutines: user-defined functions and procedures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CE6"/>
                </a:solidFill>
              </a:rPr>
              <a:t>D20  Basic file handling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D14  Variables, constants, operators, input, output and assign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D14  Variables, constants, operators, input, output and assignment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D15  Selection: IF, ELSE IF and nested 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D15  Selection: IF, ELSE IF and nested IF</a:t>
            </a:r>
            <a:endParaRPr lang="en-US" sz="13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5" action="ppaction://hlinksldjump" tooltip="D16  Iteration: FOR, WHILE and REPEAT loo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D16  Iteration: FOR, WHILE and REPEAT loops</a:t>
            </a:r>
            <a:endParaRPr lang="en-US" sz="1300" dirty="0"/>
          </a:p>
        </p:txBody>
      </p:sp>
      <p:sp>
        <p:nvSpPr>
          <p:cNvPr id="10" name="btn">
            <a:hlinkClick r:id="rId6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6" action="ppaction://hlinksldjump" tooltip="D17  One-dimensional array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D17  One-dimensional arrays</a:t>
            </a:r>
            <a:endParaRPr lang="en-US" sz="1500" dirty="0"/>
          </a:p>
        </p:txBody>
      </p:sp>
      <p:sp>
        <p:nvSpPr>
          <p:cNvPr id="11" name="btn">
            <a:hlinkClick r:id="rId7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7" action="ppaction://hlinksldjump" tooltip="D18  String manipul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D18  String manipulation</a:t>
            </a:r>
            <a:endParaRPr lang="en-US" sz="1500" dirty="0"/>
          </a:p>
        </p:txBody>
      </p:sp>
      <p:sp>
        <p:nvSpPr>
          <p:cNvPr id="12" name="btn">
            <a:hlinkClick r:id="rId8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8" action="ppaction://hlinksldjump" tooltip="D19  Subroutines: user-defined functions and procedu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D19  Subroutines: user-defined functions and procedures</a:t>
            </a:r>
            <a:endParaRPr lang="en-US" sz="1200" dirty="0"/>
          </a:p>
        </p:txBody>
      </p:sp>
      <p:sp>
        <p:nvSpPr>
          <p:cNvPr id="13" name="btn">
            <a:hlinkClick r:id="rId9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D20  Basic file handl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D20  Basic file handling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Demonstrate understanding of and use the functionality of variables, constants, and Boolean and arithmetic operators; Input, output and assignment statements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Controlling the flow of a program through sequence, selection and iteration (selection)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Controlling the flow of a program through sequence, selection and iteration (iteration)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D17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One-dimensional array structures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 manipulation functions, including splitting, concatenating, character searching and substring searching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Building reusable code that utilises user-defined functions or methods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Basic file handling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D14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Variables, constants, operators, input, output and assignment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difference between a variable and a constant and the benefits of constants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input, output and assignment statements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arithmetic operators including DIV, MOD and powers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Variab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Variables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Consta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Constants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Input, output, assign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Input, output, assignment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Arithmetic operato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Arithmetic operators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Using MOD and DIV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Using MOD and DIV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Relational and Boolean operato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Relational and Boolean operators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variable whose value changes compared with a constant, and DIV and MO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variable whose value changes compared with a constant, and DIV and MOD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Variables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variable is a named location in memory that stores a value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value can change while the program runs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meaningful identifiers: totalCost, not x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Must be given a value (initialised) before it is used – e.g. total ← 0 before a running total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Constants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constant is a named value that does not change while the program runs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Examples: const double VAT_RATE = 0.2; const double MILES_TO_KM = 1.609; const int MAX_PUPILS = 30;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Benefits: improves readability (a name not a 'magic number'); easier maintenance – change it in one place; prevents the value being changed by mistake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2025 examiners: many explained what a constant is instead of giving an advantage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Input, output, assignment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Input: takes data from the user (keyboard) into a variable – Console.ReadLine()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Output: displays data/results on screen – Console.WriteLine()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Assignment: stores a value in a variable – ← in pseudocode, = in C#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statement in C# ends with a semicolon ;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Input, output, assignment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 MILES_TO_KM = 1.609;          // constant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Console.Write("Name: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Console.ReadLine();          // input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Console.Write("Miles walked: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miles = Convert.ToDouble(Console.ReadLine());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km = miles * MILES_TO_KM;           // assignment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Console.WriteLine(name + " walked " + Math.Round(km, 2) + " km");   // output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Arithmetic operators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51314"/>
                <a:gridCol w="1306286"/>
                <a:gridCol w="2220686"/>
                <a:gridCol w="23513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Pseudocode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C#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→ result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Add / subtract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+  -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+  -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 + 2 → 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Multiply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*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*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 * 2 → 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Divide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/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/ (with a double)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7.0 / 2 → 3.5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Integer division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DIV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/ (both int)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 / 2 →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Modulo (remainder)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7 % 2 →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Power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^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Math.Pow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Math.Pow(2, 3) →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2" grpId="0">
        <p:bldAsOne/>
      </p:bldGraphic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Using MOD and DIV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MOD finds remainders: n MOD 2 = 0 means n is even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DIV gives whole groups: 47 pupils DIV 12 per minibus = 3 full buses, 47 MOD 12 = 11 left over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Order of operations: brackets, powers, × ÷, + −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Using MOD and DIV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pupils = 47;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buses = pupils / 12;      // DIV: both int, so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leftOver = pupils % 12;   // MOD: 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Console.WriteLine(buses + " full buses, " + leftOver + " pupils left");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Relational and Boolean operators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== equal to, != not equal to, &lt;, &gt;, &lt;=, &gt;=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&amp;&amp; (AND), || (OR), ! (NOT) combine conditions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Remember: = assigns, == compares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value should be a constant?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pupil's score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VAT rate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running total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user's name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The VAT rate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14 MOD 4?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3.5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2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14 DIV 4?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3.5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3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an assignment?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OUTPUT total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total ← total + 1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IF total &gt; 10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INPUT total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total ← total + 1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An advantage of a constant is…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changes automatically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only needs updating in one place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uses no memory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speeds up the CPU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it only needs updating in one place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VAT rate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total ← total + 1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it only needs updating in one place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1" grpId="0">
        <p:bldAsOne/>
      </p:bldGraphic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types, range and presence checks, extending a program, IDE features, translation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Variables and constants; miles-to-km algorithm with running total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types; constants and a benefit; sales total and average algorithm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Tent hire algorithm; Boolean; constants; validation true/false; Y/N validation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Graphic spid="22" grpId="0">
        <p:bldAsOne/>
      </p:bldGraphic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D15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Selection: IF, ELSE IF and nested IF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sequence and selection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IF, IF–ELSE and multi-branch selection in pseudocode and C#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tiered-pricing algorithms using single-condition IFs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Sequence and sele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Sequence and selection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IF and IF–EL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IF and IF–ELSE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Multi-branch: ELSE 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Multi-branch: ELSE IF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Single-condition IFs (exam style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Single-condition IFs (exam style)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Nested 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Nested IF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Testing sele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Testing selection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Flowchart of an IF, ELSE IF, ELSE price calcul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Flowchart of an IF, ELSE IF, ELSE price calculation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Sequence and selection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Sequence: statements run one after another in order – order matters (calculate a total before outputting it)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Selection: the program chooses which statements to run depending on whether a condition is True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Implemented with if, if–else and else if statements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IF and IF–ELSE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mark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 &gt;= 50 THEN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"Pass"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"Fail"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1500" dirty="0"/>
          </a:p>
        </p:txBody>
      </p:sp>
      <p:sp>
        <p:nvSpPr>
          <p:cNvPr id="8" name="code block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572768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Console.Write("Mark: 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 = Convert.ToInt32(Console.ReadLine());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(mark &gt;= 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Console.WriteLine("Pass");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Console.WriteLine("Fail");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Multi-branch: ELSE IF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Conditions are checked in order – the first True branch runs and the rest are skipped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 a later condition does not need to repeat earlier checks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else has no condition and comes last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Multi-branch: ELSE IF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Console.Write("Hours booked: 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hours = Convert.ToInt32(Console.ReadLine());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rate;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(hours &lt;=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rate = 40;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(hours &lt;= 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rate = 35;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rate = 30;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cost = hours * rate;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Console.WriteLine("Cost: £" + cost);</a:t>
            </a:r>
            <a:endParaRPr lang="en-US" sz="11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Single-condition IFs (exam style)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Some questions say 'use only one condition in each IF' – you must follow this (2025 Q3 examiners)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separate IFs with one comparison each, or an ELSE IF chain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Every bullet point in the question usually earns a mark – tick them off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numPupils &lt; 20 THEN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costPerPupil ← 15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numPupils &gt;= 20 THEN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costPerPupil ← 12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← numPupils * costPerPupil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total</a:t>
            </a:r>
            <a:endParaRPr lang="en-US" sz="15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Nested IF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IF inside another IF – the inner condition is only tested if the outer one is True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Useful when a second decision depends on the first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Nested IF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Console.Write("Member? Y/N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member = Console.ReadLine();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Console.Write("Age: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Convert.ToInt32(Console.ReadLine());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(member == "Y")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(age &lt; 18)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Console.WriteLine("Junior member price £3");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Console.WriteLine("Member price £5");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Console.WriteLine("Visitor price £8");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Testing selection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 every branch: a value for each band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 the boundaries: e.g. hours = 2, 3, 5, 6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Common errors: using &gt; where &gt;= is needed; using = instead of ==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x = 15. IF x &gt; 10 AND x &lt; 20 THEN OUTPUT 'Yes' ELSE 'No'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Yes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Error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Nothing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Yes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C#, which keywords add another condition after an if?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else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else if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then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elif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else if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int score = 50; if (score &gt; 50) "Merit" else if (score &gt;= 40) "Pass" else "Fail"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Merit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Pass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Fail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Merit Pass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Pass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An IF inside another IF is…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loop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nested IF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function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array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nested IF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construct runs statements in order?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Sequence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Selection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Iteration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Recursion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Sequence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Yes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else if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Pass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nested IF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Sequence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9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Candle shop billing algorithm; storing data in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Dry-run a nested IF (shape calculator)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Travel insurance cost algorithm; validation; real data type; WHILE range-check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 type, compound AND, IF output, NOT/AND table, bubble sort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Musician hire algorithm; variables and data types; IDE aids; syntax vs logic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Tent hire algorithm; Boolean; constants; validation true/false; Y/N validation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5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40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D16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Iteration: FOR, WHILE and REPEAT loops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bounded (count-controlled) and unbounded (condition-controlled) iteration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FOR and WHILE loops including running totals and counters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sentinel values and avoid infinite loops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Ite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Iteration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FOR loo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loops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WHILE loo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WHILE loops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REPEAT…UNTI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REPEAT…UNTIL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Running totals and count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Running totals and counters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Infinite loops and erro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Infinite loops and errors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Flowchart of a WHILE loop with a sentinel value, and a FOR loop count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Flowchart of a WHILE loop with a sentinel value, and a FOR loop counting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Iteration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Iteration means repeating a block of code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Bounded (count-controlled): repeats a known number of times – FOR loop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Unbounded (condition-controlled): repeats until a condition changes – WHILE or REPEAT UNTIL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Avoids writing the same statements many times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FOR loops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←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count ← 1 TO 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mark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← total + mark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count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total / 5</a:t>
            </a:r>
            <a:endParaRPr lang="en-US" sz="1500" dirty="0"/>
          </a:p>
        </p:txBody>
      </p:sp>
      <p:sp>
        <p:nvSpPr>
          <p:cNvPr id="8" name="code block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572768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count = 1; count &lt;= 5; count++)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Console.Write("Mark: 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mark = Convert.ToInt32(Console.ReadLine());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mark;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Console.WriteLine("Average: " + (double)total / 5);</a:t>
            </a:r>
            <a:endParaRPr lang="en-US" sz="1000" dirty="0"/>
          </a:p>
        </p:txBody>
      </p:sp>
      <p:sp>
        <p:nvSpPr>
          <p:cNvPr id="11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WHILE loops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condition is checked before each repeat – the loop may run zero times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loop variable must be initialised before the loop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Something inside the loop must eventually make the condition False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WHILE loops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Console.Write("Inches (0 to stop):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inches = Convert.ToInt32(Console.ReadLine());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(inches != 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Console.WriteLine(inches * 2.54 + " cm");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Console.Write("Inches (0 to stop):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inches = Convert.ToInt32(Console.ReadLine());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Console.WriteLine("Goodbye");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REPEAT…UNTIL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Condition checked at the end – the loop always runs at least once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C# uses do … while: it repeats WHILE the condition is true (REPEAT UNTIL stops when it becomes true)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answer;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Console.Write("Continue? Y/N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 = Console.ReadLine();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(answer != "Y" &amp;&amp; answer != "N");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Console.WriteLine("You chose " + answer);</a:t>
            </a:r>
            <a:endParaRPr lang="en-US" sz="12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Running totals and counters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Running total: total ← total + value inside the loop; initialise total ← 0 before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Counter: count ← count + 1 to count how many items meet a condition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Calculations using the total (e.g. average) and final outputs go AFTER the loop (2025 examiners: outputs inside the loop got no credit)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Infinite loops and errors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infinite loop never ends because its condition never becomes False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Causes: forgetting to change the loop variable; wrong comparison (e.g. while inches &gt; 0 when the stop value is 0)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Off-by-one errors: for (int i = 1; i &lt; 10; i++) stops at 9 – use &lt;= 10 to include 10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Dry run loops carefully, checking the condition each time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loop is count-controlled?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WHILE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REPEAT UNTIL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IF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FOR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times does for (int i = 3; i &lt; 7; i++) run?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4  –  i = 3, 4, 5, 6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x ← 10; WHILE x &gt; 0: x ← x - 3; OUTPUT x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-2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-1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-2  –  10, 7, 4, 1, -2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Where should the output of a final total go?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Inside the loop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After the loop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Before the loop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 the condition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After the loop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loop that never ends is…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nested loop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infinite loop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bounded loop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sentinel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an infinite loop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FOR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4  – i = 3, 4, 5, 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-2  – 10, 7, 4, 1, -2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After the loop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an infinite loop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6" grpId="0">
        <p:bldAsOne/>
      </p:bldGraphic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Sequence, selection, iteration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types; constants and a benefit; sales total and average algorithm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Tracing FOR and WHILE loops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Arrays, pseudocode, FOR/WHILE totals, minimum, bubble sort, linear and binary search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Loop output, nested loops, loop count, infinite loop, fixing a condition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Array properties, initialise, count, WHILE totals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1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57" grpId="0">
        <p:bldAsOne/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D17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One-dimensional arrays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an array and its index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Initialise, access, update and loop through an array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arrays with running totals, counts, maximum and minimum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at is an array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an array?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Creating and acces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Creating and accessing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Initialising with a loo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Initialising with a loop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Total, count, ave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Total, count, average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Using a WHILE loop with an arr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Using a WHILE loop with an array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Finding the minimum or maximu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Finding the minimum or maximum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n array of five votes showing elements and zero-based inde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An array of five votes showing elements and zero-based indexes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an array?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array is a data structure that stores many values of the same data type under one name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value is an element; its position is its index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Indexes start at 0 (zero-indexed) – the first element is cars[0]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index is the position, not the value stored there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C#, an array has a fixed size set when it is created: int[] cars = new int[7];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Creating and accessing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votes[5]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votes[0] ← 12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votes[2]</a:t>
            </a:r>
            <a:endParaRPr lang="en-US" sz="1500" dirty="0"/>
          </a:p>
        </p:txBody>
      </p:sp>
      <p:sp>
        <p:nvSpPr>
          <p:cNvPr id="8" name="code block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572768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votes = { 12, 30, 25, 18, 27 };   // 5 elements, indexes 0-4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Console.WriteLine(votes[0]);      // 12 – first element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Console.WriteLine(votes[4]);      // 27 – last element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votes[2] = 26;                    // update the third element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Console.WriteLine(votes.Length);  // 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names = new string[3];   // empty array of 3 strings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names[0] = "Ali";</a:t>
            </a:r>
            <a:endParaRPr lang="en-US" sz="1000" dirty="0"/>
          </a:p>
        </p:txBody>
      </p:sp>
      <p:sp>
        <p:nvSpPr>
          <p:cNvPr id="11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Initialising with a loop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2024 Q7(c)(i), 2023 Q9(a)(iii), 2025 Q8(b)(i): set every element to 0 – you must use a loop when asked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the array name given in the question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sales = new int[8];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8; i++)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sales[i] =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Total, count, average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cars = { 120, 95, 143, 101, 88, 60, 72 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busyDays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cars.Length; i++)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cars[i];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(cars[i] &gt; 100)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busyDays = busyDays + 1;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Console.WriteLine("Total: " + total);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Console.WriteLine("Average: " + (double)total / cars.Length);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Console.WriteLine("Busy days: " + busyDays);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Using a WHILE loop with an array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a counter as the index; increase it inside the loop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Condition: index &lt; length of array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Outputs after the loop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Using a WHILE loop with an array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tickets = { 105, 98, 120, 87 };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 tickets.Length)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tickets[i];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+ 1;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Console.WriteLine("Tickets sold: " + total);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Console.WriteLine("Money collected: £" + total * 2);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Finding the minimum or maximum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Start with the first element as the 'best so far'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Loop through the rest, replacing it when a smaller (or larger) value is found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heights = { 151, 163, 148, 170, 159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tallest = heights[0];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 heights.Length;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(heights[i] &gt; tallest)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tallest = heights[i];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Console.WriteLine("Tallest: " + tallest);</a:t>
            </a:r>
            <a:endParaRPr lang="en-US" sz="11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string[] names = { "Ali", "Bea", "Cal" }; names[1] is…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Ali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Bea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Cal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Error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Bea  –  Zero-indexed.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The index of the first element is…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-1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Its value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0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loop processes every element of a 10-element array?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 (int i = 0; i &lt; 10; i++)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 (int i = 1; i &lt; 10; i++)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 (int i = 0; i &lt;= 10; i++)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while (i &gt; 10)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for (int i = 0; i &lt; 10; i++)  –  Indexes 0 to 9; i &lt;= 10 would go out of bounds.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To find the largest value you should start with…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largest = 0 always</a:t>
            </a:r>
            <a:endParaRPr lang="en-US" sz="16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largest = the first element</a:t>
            </a:r>
            <a:endParaRPr lang="en-US" sz="16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largest = the last index</a:t>
            </a:r>
            <a:endParaRPr lang="en-US" sz="16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largest = array.Length</a:t>
            </a:r>
            <a:endParaRPr lang="en-US" sz="16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largest = the first element  –  Safer than 0.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int[] arr = { 3, 6, 9 }; arr[0] + arr[2] =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</a:t>
            </a:r>
            <a:endParaRPr lang="en-US" sz="16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</a:t>
            </a:r>
            <a:endParaRPr lang="en-US" sz="16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15</a:t>
            </a:r>
            <a:endParaRPr lang="en-US" sz="16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18</a:t>
            </a:r>
            <a:endParaRPr lang="en-US" sz="16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12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Bea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Zero-indexed.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for (int i = 0; i &lt; 10; i++)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Indexes 0 to 9; i &lt;= 10 would go out of bounds.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largest = the first element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Safer than 0.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12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3" grpId="0">
        <p:bldAsOne/>
      </p:bldGraphic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Array indexing; weekly totals and average algorithm; functions and their benefits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Arrays: update, reset to zero, find maximum; bubble sort steps; searching sorted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Arrays, pseudocode, FOR/WHILE totals, minimum, bubble sort, linear and binary search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Array properties, initialise, count, WHILE totals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74" grpId="0">
        <p:bldAsOne/>
      </p:bldGraphic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D18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String manipulation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concatenation, Length, indexing and Substring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Split strings and search for characters and substrings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Apply string functions to validation problems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String basi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 basics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Concaten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Concatenation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Substring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Substrings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Search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Searching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Splitting and ca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Splitting and case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Strings for valid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Strings for validation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String indexes, Substring, IndexOf and Length for the word Belfa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String indexes, Substring, IndexOf and Length for the word Belfast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String basics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string is a sequence of characters, written in quotation marks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character has an index starting at 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Length property gives the number of characters (2022 Q4(c)(iii))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Compare strings with ==; for alphabetical order use string.Compare(a, b)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String basics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"Enniskillen";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Console.WriteLine(name.Length);              // 11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Console.WriteLine(name[0]);                  // 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Console.WriteLine(name[name.Length - 1]);    // n (last character)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Concatenation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Joining strings together with + (2022 Q4(c)(i)–(ii))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Numbers are converted to text automatically when joined to a string with + (or use ToString())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first = "Aoife";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surname = "Taylor";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year = 22;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username = first[0] + surname + year;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Console.WriteLine(username);    // ATaylor22</a:t>
            </a:r>
            <a:endParaRPr lang="en-US" sz="11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Substrings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substring is part of a string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Substring(start, length) – start index and number of characters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Substring(start) – from start to the end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Substrings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postcode = "BT74 6AA";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Console.WriteLine(postcode.Substring(0, 2));   // BT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Console.WriteLine(postcode.Substring(5));      // 6AA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Searching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Character/substring search: Contains() returns true/false; IndexOf() returns the position or -1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StartsWith() and EndsWith() check the beginning and end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Searching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email = "j.smith@school.ni";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Console.WriteLine(email.Contains("@"));      //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Console.WriteLine(email.IndexOf("@"));       // 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Console.WriteLine(email.IndexOf("xyz"));     // -1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Splitting and case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Split(',') breaks a string into an array of parts at a separator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ToUpper()/ToLower() change case – useful to compare inputs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line = "Murphy,11B,87";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parts = line.Split(',');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Console.WriteLine(parts[0]);    // Murphy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Console.WriteLine(parts[2]);    // 87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Console.Write("Y/N? 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answer = Console.ReadLine().ToUpper();</a:t>
            </a:r>
            <a:endParaRPr lang="en-US" sz="11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Strings for validation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Length check: password.Length &gt;= 8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Format check: password must end with a symbol – check password[password.Length - 1]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Presence check: name != ""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2023 Q5: password rules using length, presence and format checks plus two string functions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"Bel" + "fast" =</a:t>
            </a:r>
            <a:endParaRPr lang="en-US" sz="1700" dirty="0"/>
          </a:p>
        </p:txBody>
      </p:sp>
      <p:sp>
        <p:nvSpPr>
          <p:cNvPr id="7" name="trig:k8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Bel fast</a:t>
            </a:r>
            <a:endParaRPr lang="en-US" sz="1600" dirty="0"/>
          </a:p>
        </p:txBody>
      </p:sp>
      <p:sp>
        <p:nvSpPr>
          <p:cNvPr id="8" name="on:k8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Belfast</a:t>
            </a:r>
            <a:endParaRPr lang="en-US" sz="1600" dirty="0"/>
          </a:p>
        </p:txBody>
      </p:sp>
      <p:sp>
        <p:nvSpPr>
          <p:cNvPr id="10" name="on:k8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8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fastBel</a:t>
            </a:r>
            <a:endParaRPr lang="en-US" sz="1600" dirty="0"/>
          </a:p>
        </p:txBody>
      </p:sp>
      <p:sp>
        <p:nvSpPr>
          <p:cNvPr id="12" name="on:k8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Error</a:t>
            </a:r>
            <a:endParaRPr lang="en-US" sz="1600" dirty="0"/>
          </a:p>
        </p:txBody>
      </p:sp>
      <p:sp>
        <p:nvSpPr>
          <p:cNvPr id="14" name="on:k8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Belfast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"Derry".Length =</a:t>
            </a:r>
            <a:endParaRPr lang="en-US" sz="1700" dirty="0"/>
          </a:p>
        </p:txBody>
      </p:sp>
      <p:sp>
        <p:nvSpPr>
          <p:cNvPr id="7" name="trig:k8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8" name="on:k8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</a:t>
            </a:r>
            <a:endParaRPr lang="en-US" sz="1600" dirty="0"/>
          </a:p>
        </p:txBody>
      </p:sp>
      <p:sp>
        <p:nvSpPr>
          <p:cNvPr id="10" name="on:k8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8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</a:t>
            </a:r>
            <a:endParaRPr lang="en-US" sz="1600" dirty="0"/>
          </a:p>
        </p:txBody>
      </p:sp>
      <p:sp>
        <p:nvSpPr>
          <p:cNvPr id="12" name="on:k8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</a:t>
            </a:r>
            <a:endParaRPr lang="en-US" sz="1600" dirty="0"/>
          </a:p>
        </p:txBody>
      </p:sp>
      <p:sp>
        <p:nvSpPr>
          <p:cNvPr id="14" name="on:k8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5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"Antrim".Substring(2, 2) =</a:t>
            </a:r>
            <a:endParaRPr lang="en-US" sz="1700" dirty="0"/>
          </a:p>
        </p:txBody>
      </p:sp>
      <p:sp>
        <p:nvSpPr>
          <p:cNvPr id="7" name="trig:k8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nt</a:t>
            </a:r>
            <a:endParaRPr lang="en-US" sz="1600" dirty="0"/>
          </a:p>
        </p:txBody>
      </p:sp>
      <p:sp>
        <p:nvSpPr>
          <p:cNvPr id="8" name="on:k8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</a:t>
            </a:r>
            <a:endParaRPr lang="en-US" sz="1600" dirty="0"/>
          </a:p>
        </p:txBody>
      </p:sp>
      <p:sp>
        <p:nvSpPr>
          <p:cNvPr id="10" name="on:k9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tri</a:t>
            </a:r>
            <a:endParaRPr lang="en-US" sz="1600" dirty="0"/>
          </a:p>
        </p:txBody>
      </p:sp>
      <p:sp>
        <p:nvSpPr>
          <p:cNvPr id="12" name="on:k9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ntr</a:t>
            </a:r>
            <a:endParaRPr lang="en-US" sz="1600" dirty="0"/>
          </a:p>
        </p:txBody>
      </p:sp>
      <p:sp>
        <p:nvSpPr>
          <p:cNvPr id="14" name="on:k9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tr  –  Start at index 2, take 2 characters.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"a,b,c".Split(',') gives…</a:t>
            </a:r>
            <a:endParaRPr lang="en-US" sz="1700" dirty="0"/>
          </a:p>
        </p:txBody>
      </p:sp>
      <p:sp>
        <p:nvSpPr>
          <p:cNvPr id="7" name="trig:k9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"abc"</a:t>
            </a:r>
            <a:endParaRPr lang="en-US" sz="1600" dirty="0"/>
          </a:p>
        </p:txBody>
      </p:sp>
      <p:sp>
        <p:nvSpPr>
          <p:cNvPr id="8" name="on:k9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array {"a", "b", "c"}</a:t>
            </a:r>
            <a:endParaRPr lang="en-US" sz="1600" dirty="0"/>
          </a:p>
        </p:txBody>
      </p:sp>
      <p:sp>
        <p:nvSpPr>
          <p:cNvPr id="10" name="on:k9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on:k9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{"a,b,c"}</a:t>
            </a:r>
            <a:endParaRPr lang="en-US" sz="1600" dirty="0"/>
          </a:p>
        </p:txBody>
      </p:sp>
      <p:sp>
        <p:nvSpPr>
          <p:cNvPr id="14" name="on:k9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an array {"a", "b", "c"}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"jo@ni.uk".Contains("@") returns…</a:t>
            </a:r>
            <a:endParaRPr lang="en-US" sz="1700" dirty="0"/>
          </a:p>
        </p:txBody>
      </p:sp>
      <p:sp>
        <p:nvSpPr>
          <p:cNvPr id="7" name="trig:k9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true</a:t>
            </a:r>
            <a:endParaRPr lang="en-US" sz="1600" dirty="0"/>
          </a:p>
        </p:txBody>
      </p:sp>
      <p:sp>
        <p:nvSpPr>
          <p:cNvPr id="8" name="on:k9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9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false</a:t>
            </a:r>
            <a:endParaRPr lang="en-US" sz="1600" dirty="0"/>
          </a:p>
        </p:txBody>
      </p:sp>
      <p:sp>
        <p:nvSpPr>
          <p:cNvPr id="10" name="on:k9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on:k9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-1</a:t>
            </a:r>
            <a:endParaRPr lang="en-US" sz="1600" dirty="0"/>
          </a:p>
        </p:txBody>
      </p:sp>
      <p:sp>
        <p:nvSpPr>
          <p:cNvPr id="14" name="on:k10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true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Belfast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tr  – Start at index 2, take 2 characters.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an array {"a", "b", "c"}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true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92" grpId="0">
        <p:bldAsOne/>
      </p:bldGraphic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Tiered pricing algorithm; validation loop 1–50; data types; string functions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Length, presence and format checks; string functions for a password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93" grpId="0">
        <p:bldAsOne/>
      </p:bldGraphic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D19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Subroutines: user-defined functions and procedures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Define subroutine, procedure and function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functions with parameters and return values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benefits of user-defined functions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Subroutin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Subroutines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Parameters and return val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Parameters and return values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A proced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procedure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Example: biggest of thre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Example: biggest of three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Benefits of user-defined fun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Benefits of user-defined functions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8" action="ppaction://hlinksldjump" tooltip="Built-in and mathematical fun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Built-in and mathematical functions</a:t>
            </a:r>
            <a:endParaRPr lang="en-US" sz="13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main program passing arguments into a function and receiving the return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main program passing arguments into a function and receiving the return value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Subroutines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subroutine is a named block of code that carries out a specific task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is defined once and can be called many times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Procedure: carries out a task, does not return a value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Function: carries out a task and returns a single value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OOP, subroutines inside a class are called methods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Parameters and return values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Parameters are the inputs a subroutine needs, listed with their data types in its definition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Arguments are the actual values passed when it is called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return type (double, int, string, bool) says what a function sends back; return sends the value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Parameters and return values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AddVat(double price, double rate)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price + price * rate;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total = AddVat(40, 0.2);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Console.WriteLine(total);      // 48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 procedure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procedure has the return type void – it does a job but returns nothing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ShowMenu()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Console.WriteLine("1. Book a lesson");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Console.WriteLine("2. Cancel a lesson");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Console.WriteLine("3. Quit");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ShowMenu();</a:t>
            </a:r>
            <a:endParaRPr lang="en-US" sz="11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Example: biggest of three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Biggest(int a, int b, int c)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big = a;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 &gt; big) big = b;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 &gt; big) big = c;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big;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Console.WriteLine(Biggest(4, 19, 7));   // 19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Benefits of user-defined functions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Code is written once and reused – shorter programs, less repetition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Easier to test and debug: each function can be tested on its own (unit testing)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Easier to maintain: fix or change it in one place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Supports decomposition: different programmers can write different functions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Makes programs easier to read – the name describes the task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Functions can be reused in other programs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Built-in and mathematical functions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Built-in: Console.WriteLine(), Console.ReadLine(), Convert.ToInt32(), text.Length, ToUpper()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Mathematical: Math.Abs(), Math.Round(x, 2), Math.Sqrt(), Math.Pow(), and random numbers with new Random().Next(1, 7)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User-defined: written by the programmer, e.g. static int Biggest(int a, int b, int c)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subroutine that returns a value is a…</a:t>
            </a:r>
            <a:endParaRPr lang="en-US" sz="1700" dirty="0"/>
          </a:p>
        </p:txBody>
      </p:sp>
      <p:sp>
        <p:nvSpPr>
          <p:cNvPr id="7" name="trig:k10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procedure</a:t>
            </a:r>
            <a:endParaRPr lang="en-US" sz="1600" dirty="0"/>
          </a:p>
        </p:txBody>
      </p:sp>
      <p:sp>
        <p:nvSpPr>
          <p:cNvPr id="8" name="on:k10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function</a:t>
            </a:r>
            <a:endParaRPr lang="en-US" sz="1600" dirty="0"/>
          </a:p>
        </p:txBody>
      </p:sp>
      <p:sp>
        <p:nvSpPr>
          <p:cNvPr id="10" name="on:k10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0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loop</a:t>
            </a:r>
            <a:endParaRPr lang="en-US" sz="1600" dirty="0"/>
          </a:p>
        </p:txBody>
      </p:sp>
      <p:sp>
        <p:nvSpPr>
          <p:cNvPr id="12" name="on:k10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constant</a:t>
            </a:r>
            <a:endParaRPr lang="en-US" sz="1600" dirty="0"/>
          </a:p>
        </p:txBody>
      </p:sp>
      <p:sp>
        <p:nvSpPr>
          <p:cNvPr id="14" name="on:k10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function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static int Total(int a, int b), a and b are…</a:t>
            </a:r>
            <a:endParaRPr lang="en-US" sz="1700" dirty="0"/>
          </a:p>
        </p:txBody>
      </p:sp>
      <p:sp>
        <p:nvSpPr>
          <p:cNvPr id="7" name="trig:k10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return values</a:t>
            </a:r>
            <a:endParaRPr lang="en-US" sz="1600" dirty="0"/>
          </a:p>
        </p:txBody>
      </p:sp>
      <p:sp>
        <p:nvSpPr>
          <p:cNvPr id="8" name="on:k10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parameters</a:t>
            </a:r>
            <a:endParaRPr lang="en-US" sz="1600" dirty="0"/>
          </a:p>
        </p:txBody>
      </p:sp>
      <p:sp>
        <p:nvSpPr>
          <p:cNvPr id="10" name="on:k10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0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constants</a:t>
            </a:r>
            <a:endParaRPr lang="en-US" sz="1600" dirty="0"/>
          </a:p>
        </p:txBody>
      </p:sp>
      <p:sp>
        <p:nvSpPr>
          <p:cNvPr id="12" name="on:k10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indexes</a:t>
            </a:r>
            <a:endParaRPr lang="en-US" sz="1600" dirty="0"/>
          </a:p>
        </p:txBody>
      </p:sp>
      <p:sp>
        <p:nvSpPr>
          <p:cNvPr id="14" name="on:k10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parameters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benefit of functions?</a:t>
            </a:r>
            <a:endParaRPr lang="en-US" sz="1700" dirty="0"/>
          </a:p>
        </p:txBody>
      </p:sp>
      <p:sp>
        <p:nvSpPr>
          <p:cNvPr id="7" name="trig:k10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Code is repeated many times</a:t>
            </a:r>
            <a:endParaRPr lang="en-US" sz="1600" dirty="0"/>
          </a:p>
        </p:txBody>
      </p:sp>
      <p:sp>
        <p:nvSpPr>
          <p:cNvPr id="8" name="on:k10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Each part can be tested separately</a:t>
            </a:r>
            <a:endParaRPr lang="en-US" sz="1600" dirty="0"/>
          </a:p>
        </p:txBody>
      </p:sp>
      <p:sp>
        <p:nvSpPr>
          <p:cNvPr id="10" name="on:k1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Programs run without a CPU</a:t>
            </a:r>
            <a:endParaRPr lang="en-US" sz="1600" dirty="0"/>
          </a:p>
        </p:txBody>
      </p:sp>
      <p:sp>
        <p:nvSpPr>
          <p:cNvPr id="12" name="on:k1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They remove the need for variables</a:t>
            </a:r>
            <a:endParaRPr lang="en-US" sz="1600" dirty="0"/>
          </a:p>
        </p:txBody>
      </p:sp>
      <p:sp>
        <p:nvSpPr>
          <p:cNvPr id="14" name="on:k1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Each part can be tested separately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keyword sends a value back from a C# function?</a:t>
            </a:r>
            <a:endParaRPr lang="en-US" sz="1700" dirty="0"/>
          </a:p>
        </p:txBody>
      </p:sp>
      <p:sp>
        <p:nvSpPr>
          <p:cNvPr id="7" name="trig:k1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Console.WriteLine</a:t>
            </a:r>
            <a:endParaRPr lang="en-US" sz="1600" dirty="0"/>
          </a:p>
        </p:txBody>
      </p:sp>
      <p:sp>
        <p:nvSpPr>
          <p:cNvPr id="8" name="on:k1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return</a:t>
            </a:r>
            <a:endParaRPr lang="en-US" sz="1600" dirty="0"/>
          </a:p>
        </p:txBody>
      </p:sp>
      <p:sp>
        <p:nvSpPr>
          <p:cNvPr id="10" name="on:k1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void</a:t>
            </a:r>
            <a:endParaRPr lang="en-US" sz="1600" dirty="0"/>
          </a:p>
        </p:txBody>
      </p:sp>
      <p:sp>
        <p:nvSpPr>
          <p:cNvPr id="12" name="on:k1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static</a:t>
            </a:r>
            <a:endParaRPr lang="en-US" sz="1600" dirty="0"/>
          </a:p>
        </p:txBody>
      </p:sp>
      <p:sp>
        <p:nvSpPr>
          <p:cNvPr id="14" name="on:k1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return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Math.Round() is an example of a…</a:t>
            </a:r>
            <a:endParaRPr lang="en-US" sz="1700" dirty="0"/>
          </a:p>
        </p:txBody>
      </p:sp>
      <p:sp>
        <p:nvSpPr>
          <p:cNvPr id="7" name="trig:k1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user-defined function</a:t>
            </a:r>
            <a:endParaRPr lang="en-US" sz="1600" dirty="0"/>
          </a:p>
        </p:txBody>
      </p:sp>
      <p:sp>
        <p:nvSpPr>
          <p:cNvPr id="8" name="on:k1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built-in function</a:t>
            </a:r>
            <a:endParaRPr lang="en-US" sz="1600" dirty="0"/>
          </a:p>
        </p:txBody>
      </p:sp>
      <p:sp>
        <p:nvSpPr>
          <p:cNvPr id="10" name="on:k1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procedure</a:t>
            </a:r>
            <a:endParaRPr lang="en-US" sz="1600" dirty="0"/>
          </a:p>
        </p:txBody>
      </p:sp>
      <p:sp>
        <p:nvSpPr>
          <p:cNvPr id="12" name="on:k1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class</a:t>
            </a:r>
            <a:endParaRPr lang="en-US" sz="1600" dirty="0"/>
          </a:p>
        </p:txBody>
      </p:sp>
      <p:sp>
        <p:nvSpPr>
          <p:cNvPr id="14" name="on:k1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built-in function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function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parameters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Each part can be tested separately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return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built-in function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9" grpId="0">
        <p:bldAsOne/>
      </p:bldGraphic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Array indexing; weekly totals and average algorithm; functions and their benefits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Decomposition and abstraction; flowchart symbols; syntax/logic errors; functions; menu validation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110" grpId="0">
        <p:bldAsOne/>
      </p:bldGraphic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D20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Basic file handling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programs store data in files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Open, write to, append to, read and close a text file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Process records read from a file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y use files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use files?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Three ste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Three steps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Writing and append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Writing and appending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Read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Reading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File handling fun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 handling functions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Errors with fi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Errors with files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Opening, reading or writing, and closing a text file, with read, write and append mod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Opening, reading or writing, and closing a text file, with read, write and append modes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use files?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Variables are held in RAM, which is volatile – data is lost when the program ends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Saving to a file gives persistent storage on non-volatile media (disk/SSD)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can be loaded next time or shared with other programs and users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2023 Q6(b): explain how orders could be stored for later reports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Three steps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82296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1. Open the file, choosing a mode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2. Read from it or write to it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3. Close it – always, or data may be lost or the file left locked</a:t>
            </a:r>
            <a:endParaRPr lang="en-US" sz="1500" dirty="0"/>
          </a:p>
        </p:txBody>
      </p:sp>
      <p:graphicFrame>
        <p:nvGraphicFramePr>
          <p:cNvPr id="1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75713"/>
          <a:ext cx="8229600" cy="914400"/>
        </p:xfrm>
        <a:graphic>
          <a:graphicData uri="http://schemas.openxmlformats.org/drawingml/2006/table">
            <a:tbl>
              <a:tblPr/>
              <a:tblGrid>
                <a:gridCol w="498764"/>
                <a:gridCol w="2992582"/>
                <a:gridCol w="47382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C#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new StreamReader("scores.txt")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Read from the start of an existing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Write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new StreamWriter("scores.txt")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Create a new file or overwrite an existing 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Append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new StreamWriter("scores.txt", true)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 to the end of the file without deleting existing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6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7" grpId="0" animBg="1"/>
      <p:bldP spid="25" grpId="0" animBg="1"/>
      <p:bldGraphic spid="115" grpId="0">
        <p:bldAsOne/>
      </p:bldGraphic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Writing and appending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StreamWriter sw = new StreamWriter("scores.txt");        // write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sw.WriteLine("Aoife,87");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sw.WriteLine("Ben,74");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sw.Close();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StreamWriter sa = new StreamWriter("scores.txt", true);  // append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sa.WriteLine("Cara,91");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sa.Close();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Reading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Run 'Writing and appending' first – files are kept while this page is open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ReadLine() returns null at the end of the file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Reading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StreamReader sr = new StreamReader("scores.txt");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line = sr.ReadLine();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(line != null)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string[] parts = line.Split(',');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Console.WriteLine(parts[0] + " scored " + parts[1]);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 = sr.ReadLine();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sr.Close();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File handling functions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Open: new StreamReader(...) / new StreamWriter(...) opens or creates a file (add using System.IO; at the top)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ReadLine() reads one line; ReadToEnd() reads the whole file; File.ReadAllLines() reads every line into an array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WriteLine() writes a line of text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Close() closes the file – always do this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Also: append mode, File.Exists() to check a file exists, File.Delete() to delete one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2022 Q9(a): name and describe two file handling functions other than read and write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Errors with files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Opening a file that does not exist for reading causes an execution (run-time) error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Trap it with try … catch (FileNotFoundException), or check File.Exists() first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Opening a StreamWriter without append (true) overwrites all existing data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C# statement opens scores.txt to add data to the end?</a:t>
            </a:r>
            <a:endParaRPr lang="en-US" sz="1700" dirty="0"/>
          </a:p>
        </p:txBody>
      </p:sp>
      <p:sp>
        <p:nvSpPr>
          <p:cNvPr id="7" name="trig:k1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new StreamReader("scores.txt")</a:t>
            </a:r>
            <a:endParaRPr lang="en-US" sz="1600" dirty="0"/>
          </a:p>
        </p:txBody>
      </p:sp>
      <p:sp>
        <p:nvSpPr>
          <p:cNvPr id="8" name="on:k1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new StreamWriter("scores.txt")</a:t>
            </a:r>
            <a:endParaRPr lang="en-US" sz="1600" dirty="0"/>
          </a:p>
        </p:txBody>
      </p:sp>
      <p:sp>
        <p:nvSpPr>
          <p:cNvPr id="10" name="on:k1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new StreamWriter("scores.txt", true)</a:t>
            </a:r>
            <a:endParaRPr lang="en-US" sz="1600" dirty="0"/>
          </a:p>
        </p:txBody>
      </p:sp>
      <p:sp>
        <p:nvSpPr>
          <p:cNvPr id="12" name="on:k1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File.Delete("scores.txt")</a:t>
            </a:r>
            <a:endParaRPr lang="en-US" sz="1600" dirty="0"/>
          </a:p>
        </p:txBody>
      </p:sp>
      <p:sp>
        <p:nvSpPr>
          <p:cNvPr id="14" name="on:k1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new StreamWriter("scores.txt", true)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are files used?</a:t>
            </a:r>
            <a:endParaRPr lang="en-US" sz="1700" dirty="0"/>
          </a:p>
        </p:txBody>
      </p:sp>
      <p:sp>
        <p:nvSpPr>
          <p:cNvPr id="7" name="trig:k1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 make programs faster</a:t>
            </a:r>
            <a:endParaRPr lang="en-US" sz="1600" dirty="0"/>
          </a:p>
        </p:txBody>
      </p:sp>
      <p:sp>
        <p:nvSpPr>
          <p:cNvPr id="8" name="on:k1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 store data permanently</a:t>
            </a:r>
            <a:endParaRPr lang="en-US" sz="1600" dirty="0"/>
          </a:p>
        </p:txBody>
      </p:sp>
      <p:sp>
        <p:nvSpPr>
          <p:cNvPr id="10" name="on:k1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 translate code</a:t>
            </a:r>
            <a:endParaRPr lang="en-US" sz="1600" dirty="0"/>
          </a:p>
        </p:txBody>
      </p:sp>
      <p:sp>
        <p:nvSpPr>
          <p:cNvPr id="12" name="on:k1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 create loops</a:t>
            </a:r>
            <a:endParaRPr lang="en-US" sz="1600" dirty="0"/>
          </a:p>
        </p:txBody>
      </p:sp>
      <p:sp>
        <p:nvSpPr>
          <p:cNvPr id="14" name="on:k1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To store data permanently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should happen after writing to a file?</a:t>
            </a:r>
            <a:endParaRPr lang="en-US" sz="1700" dirty="0"/>
          </a:p>
        </p:txBody>
      </p:sp>
      <p:sp>
        <p:nvSpPr>
          <p:cNvPr id="7" name="trig:k1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Delete it</a:t>
            </a:r>
            <a:endParaRPr lang="en-US" sz="1600" dirty="0"/>
          </a:p>
        </p:txBody>
      </p:sp>
      <p:sp>
        <p:nvSpPr>
          <p:cNvPr id="8" name="on:k1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Close it</a:t>
            </a:r>
            <a:endParaRPr lang="en-US" sz="1600" dirty="0"/>
          </a:p>
        </p:txBody>
      </p:sp>
      <p:sp>
        <p:nvSpPr>
          <p:cNvPr id="10" name="on:k1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Compile it</a:t>
            </a:r>
            <a:endParaRPr lang="en-US" sz="1600" dirty="0"/>
          </a:p>
        </p:txBody>
      </p:sp>
      <p:sp>
        <p:nvSpPr>
          <p:cNvPr id="12" name="on:k1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Reopen it in w mode</a:t>
            </a:r>
            <a:endParaRPr lang="en-US" sz="1600" dirty="0"/>
          </a:p>
        </p:txBody>
      </p:sp>
      <p:sp>
        <p:nvSpPr>
          <p:cNvPr id="14" name="on:k1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Close it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Opening an existing file with new StreamWriter("data.txt") will…</a:t>
            </a:r>
            <a:endParaRPr lang="en-US" sz="1700" dirty="0"/>
          </a:p>
        </p:txBody>
      </p:sp>
      <p:sp>
        <p:nvSpPr>
          <p:cNvPr id="7" name="trig:k1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add to it</a:t>
            </a:r>
            <a:endParaRPr lang="en-US" sz="1600" dirty="0"/>
          </a:p>
        </p:txBody>
      </p:sp>
      <p:sp>
        <p:nvSpPr>
          <p:cNvPr id="8" name="on:k1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overwrite it</a:t>
            </a:r>
            <a:endParaRPr lang="en-US" sz="1600" dirty="0"/>
          </a:p>
        </p:txBody>
      </p:sp>
      <p:sp>
        <p:nvSpPr>
          <p:cNvPr id="10" name="on:k1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read it</a:t>
            </a:r>
            <a:endParaRPr lang="en-US" sz="1600" dirty="0"/>
          </a:p>
        </p:txBody>
      </p:sp>
      <p:sp>
        <p:nvSpPr>
          <p:cNvPr id="12" name="on:k1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lock it forever</a:t>
            </a:r>
            <a:endParaRPr lang="en-US" sz="1600" dirty="0"/>
          </a:p>
        </p:txBody>
      </p:sp>
      <p:sp>
        <p:nvSpPr>
          <p:cNvPr id="14" name="on:k1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overwrite it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splits a CSV line into fields?</a:t>
            </a:r>
            <a:endParaRPr lang="en-US" sz="1700" dirty="0"/>
          </a:p>
        </p:txBody>
      </p:sp>
      <p:sp>
        <p:nvSpPr>
          <p:cNvPr id="7" name="trig:k1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line.Split(',')</a:t>
            </a:r>
            <a:endParaRPr lang="en-US" sz="1600" dirty="0"/>
          </a:p>
        </p:txBody>
      </p:sp>
      <p:sp>
        <p:nvSpPr>
          <p:cNvPr id="8" name="on:k1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line.Length</a:t>
            </a:r>
            <a:endParaRPr lang="en-US" sz="1600" dirty="0"/>
          </a:p>
        </p:txBody>
      </p:sp>
      <p:sp>
        <p:nvSpPr>
          <p:cNvPr id="10" name="on:k1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sr.Close()</a:t>
            </a:r>
            <a:endParaRPr lang="en-US" sz="1600" dirty="0"/>
          </a:p>
        </p:txBody>
      </p:sp>
      <p:sp>
        <p:nvSpPr>
          <p:cNvPr id="12" name="on:k1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line.ToUpper()</a:t>
            </a:r>
            <a:endParaRPr lang="en-US" sz="1600" dirty="0"/>
          </a:p>
        </p:txBody>
      </p:sp>
      <p:sp>
        <p:nvSpPr>
          <p:cNvPr id="14" name="on:k1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line.Split(',')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new StreamWriter("scores.txt", true)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To store data permanently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Close it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overwrite it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line.Split(',')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26" grpId="0">
        <p:bldAsOne/>
      </p:bldGraphic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File handling functions; three error types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Candle shop billing algorithm; storing data in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127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126</Slides>
  <Notes>126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126</vt:i4>
      </vt:variant>
    </vt:vector>
  </HeadingPairs>
  <TitlesOfParts>
    <vt:vector size="1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constructs</dc:title>
  <dc:subject>Unit 4: Digital Development Concepts – Programming constructs</dc:subject>
  <dc:creator>Digital Technology Hub</dc:creator>
  <cp:lastModifiedBy>Digital Technology Hub</cp:lastModifiedBy>
  <cp:revision>1</cp:revision>
  <dcterms:created xsi:type="dcterms:W3CDTF">2026-10-30T13:15:46Z</dcterms:created>
  <dcterms:modified xsi:type="dcterms:W3CDTF">2026-10-30T13:15:46Z</dcterms:modified>
</cp:coreProperties>
</file>