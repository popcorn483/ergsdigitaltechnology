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notesMasterIdLst>
    <p:notesMasterId r:id="rId1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eee78e84-3865-5b32-7d9b-95d1351f848e}">
          <p14:sldIdLst>
            <p14:sldId id="256"/>
            <p14:sldId id="257"/>
            <p14:sldId id="258"/>
            <p14:sldId id="259"/>
            <p14:sldId id="260"/>
          </p14:sldIdLst>
        </p14:section>
        <p14:section name="FD08 · Internal components: CPU, registers, buses, I/O controllers and the Von N" id="{d81bf7cd-c9c6-b762-8cf4-78d93a4c1d41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FD09 · The fetch–decode–execute cycle, pipelining and processor performance" id="{cc4f824f-e982-767f-63d6-9b44f4f37f6d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FD10 · Main memory, cache and secondary storage" id="{7c803b19-3d68-c060-350d-94bcc42e98cd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</p14:sldIdLst>
        </p14:section>
        <p14:section name="FD11 · Alternative architectures: parallel, multicore, Harvard, RISC and CISC, G" id="{60b8fdf6-5d07-582e-462c-00bf59dce6be}">
          <p14:sldIdLst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notesMaster" Target="notesMasters/notesMaster1.xml"/><Relationship Id="rId120" Type="http://schemas.openxmlformats.org/officeDocument/2006/relationships/presProps" Target="presProps.xml"/><Relationship Id="rId121" Type="http://schemas.openxmlformats.org/officeDocument/2006/relationships/viewProps" Target="viewProps.xml"/><Relationship Id="rId122" Type="http://schemas.openxmlformats.org/officeDocument/2006/relationships/theme" Target="theme/theme1.xml"/><Relationship Id="rId1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internal components of a computer system: processor, clock, main memory, buses, I/O controllers, registers and ports | Describe the tasks performed by the control unit, the arithmetic logic unit (ALU) and the registers | Describe the purpose of the program counter (PC), memory address register (MAR), memory data register (MDR), current instruction register (CIR) and accumulator (ACC) | Describe the function and direction of the address, data and control buses | Calculate the maximum addressable memory, or an unknown bus width, from the address bus width, data bus width and memory size | Explain why peripherals are connected through I/O controllers and ports | Describe the Von Neumann (stored-program) architecture and its main limitation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fetch–execute cycle, including the fetch, decode and execute stages and the roles of the registers and buses | Describe how pipelining overlaps the stages of the cycle, and calculate the time units needed with and without pipelining | Evaluate the factors that influence the speed of processing: processor type (word size, number of cores) and clock speed | Explain how cache size, bus width and the amount of RAM also affect performance | Explain why clock speed alone is not a good measure of performance, and describe benchmark measures such as MIPS and FLOPS | Interpret a computer specification, such as '64-bit 3.2 GHz quad-core'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main memory, distinguishing between RAM and ROM, and explain the uses of each | Describe the purpose of cache memory, how a cache controller uses it, and the levels of cache | Explain how virtual memory is used and its effect on performance | Explain the need for secondary storage and the factors that influence the choice of storage device | Describe magnetic, optical and flash (solid-state) secondary storage media, including how data is stored and accessed | Evaluate the use of secondary storage media for common applications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parallel processing and multi-core processors, and explain their benefits and limitations | Compare the Harvard and Von Neumann architectures and identify where each is used | Compare reduced instruction set computers (RISC) and complex instruction set computers (CISC) | Describe the use of graphics processing units (GPUs) and other co-processors for graphics and general-purpose parallel processing | Evaluate the choice of processor architecture for a given application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35.xml"/><Relationship Id="rId5" Type="http://schemas.openxmlformats.org/officeDocument/2006/relationships/slide" Target="slide63.xml"/><Relationship Id="rId6" Type="http://schemas.openxmlformats.org/officeDocument/2006/relationships/slide" Target="slide89.xml"/><Relationship Id="rId1" Type="http://schemas.openxmlformats.org/officeDocument/2006/relationships/image" Target="../media/image-2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" Target="slide10.xml"/><Relationship Id="rId5" Type="http://schemas.openxmlformats.org/officeDocument/2006/relationships/slide" Target="slide11.xml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18.xml"/><Relationship Id="rId12" Type="http://schemas.openxmlformats.org/officeDocument/2006/relationships/slide" Target="slide19.xml"/><Relationship Id="rId13" Type="http://schemas.openxmlformats.org/officeDocument/2006/relationships/slide" Target="slide20.xml"/><Relationship Id="rId14" Type="http://schemas.openxmlformats.org/officeDocument/2006/relationships/slide" Target="slide21.xml"/><Relationship Id="rId15" Type="http://schemas.openxmlformats.org/officeDocument/2006/relationships/slide" Target="slide23.xml"/><Relationship Id="rId16" Type="http://schemas.openxmlformats.org/officeDocument/2006/relationships/slide" Target="slide24.xml"/><Relationship Id="rId17" Type="http://schemas.openxmlformats.org/officeDocument/2006/relationships/slide" Target="slide25.xml"/><Relationship Id="rId18" Type="http://schemas.openxmlformats.org/officeDocument/2006/relationships/slide" Target="slide2.xml"/><Relationship Id="rId1" Type="http://schemas.openxmlformats.org/officeDocument/2006/relationships/image" Target="../media/image-7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3" Type="http://schemas.openxmlformats.org/officeDocument/2006/relationships/slide" Target="slide38.xml"/><Relationship Id="rId4" Type="http://schemas.openxmlformats.org/officeDocument/2006/relationships/slide" Target="slide39.xml"/><Relationship Id="rId5" Type="http://schemas.openxmlformats.org/officeDocument/2006/relationships/slide" Target="slide40.xml"/><Relationship Id="rId6" Type="http://schemas.openxmlformats.org/officeDocument/2006/relationships/slide" Target="slide41.xml"/><Relationship Id="rId7" Type="http://schemas.openxmlformats.org/officeDocument/2006/relationships/slide" Target="slide42.xml"/><Relationship Id="rId8" Type="http://schemas.openxmlformats.org/officeDocument/2006/relationships/slide" Target="slide43.xml"/><Relationship Id="rId9" Type="http://schemas.openxmlformats.org/officeDocument/2006/relationships/slide" Target="slide45.xml"/><Relationship Id="rId10" Type="http://schemas.openxmlformats.org/officeDocument/2006/relationships/slide" Target="slide46.xml"/><Relationship Id="rId11" Type="http://schemas.openxmlformats.org/officeDocument/2006/relationships/slide" Target="slide47.xml"/><Relationship Id="rId12" Type="http://schemas.openxmlformats.org/officeDocument/2006/relationships/slide" Target="slide48.xml"/><Relationship Id="rId13" Type="http://schemas.openxmlformats.org/officeDocument/2006/relationships/slide" Target="slide49.xml"/><Relationship Id="rId14" Type="http://schemas.openxmlformats.org/officeDocument/2006/relationships/slide" Target="slide51.xml"/><Relationship Id="rId15" Type="http://schemas.openxmlformats.org/officeDocument/2006/relationships/slide" Target="slide52.xml"/><Relationship Id="rId16" Type="http://schemas.openxmlformats.org/officeDocument/2006/relationships/slide" Target="slide53.xml"/><Relationship Id="rId17" Type="http://schemas.openxmlformats.org/officeDocument/2006/relationships/slide" Target="slide2.xml"/><Relationship Id="rId1" Type="http://schemas.openxmlformats.org/officeDocument/2006/relationships/image" Target="../media/image-36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65.xml"/><Relationship Id="rId3" Type="http://schemas.openxmlformats.org/officeDocument/2006/relationships/slide" Target="slide66.xml"/><Relationship Id="rId4" Type="http://schemas.openxmlformats.org/officeDocument/2006/relationships/slide" Target="slide67.xml"/><Relationship Id="rId5" Type="http://schemas.openxmlformats.org/officeDocument/2006/relationships/slide" Target="slide68.xml"/><Relationship Id="rId6" Type="http://schemas.openxmlformats.org/officeDocument/2006/relationships/slide" Target="slide69.xml"/><Relationship Id="rId7" Type="http://schemas.openxmlformats.org/officeDocument/2006/relationships/slide" Target="slide70.xml"/><Relationship Id="rId8" Type="http://schemas.openxmlformats.org/officeDocument/2006/relationships/slide" Target="slide71.xml"/><Relationship Id="rId9" Type="http://schemas.openxmlformats.org/officeDocument/2006/relationships/slide" Target="slide72.xml"/><Relationship Id="rId10" Type="http://schemas.openxmlformats.org/officeDocument/2006/relationships/slide" Target="slide73.xml"/><Relationship Id="rId11" Type="http://schemas.openxmlformats.org/officeDocument/2006/relationships/slide" Target="slide74.xml"/><Relationship Id="rId12" Type="http://schemas.openxmlformats.org/officeDocument/2006/relationships/slide" Target="slide75.xml"/><Relationship Id="rId13" Type="http://schemas.openxmlformats.org/officeDocument/2006/relationships/slide" Target="slide76.xml"/><Relationship Id="rId14" Type="http://schemas.openxmlformats.org/officeDocument/2006/relationships/slide" Target="slide77.xml"/><Relationship Id="rId15" Type="http://schemas.openxmlformats.org/officeDocument/2006/relationships/slide" Target="slide78.xml"/><Relationship Id="rId16" Type="http://schemas.openxmlformats.org/officeDocument/2006/relationships/slide" Target="slide79.xml"/><Relationship Id="rId17" Type="http://schemas.openxmlformats.org/officeDocument/2006/relationships/slide" Target="slide2.xml"/><Relationship Id="rId1" Type="http://schemas.openxmlformats.org/officeDocument/2006/relationships/image" Target="../media/image-64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4.xml"/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7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8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8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8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8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8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8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8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8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image" Target="../media/image-8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91.xml"/><Relationship Id="rId3" Type="http://schemas.openxmlformats.org/officeDocument/2006/relationships/slide" Target="slide92.xml"/><Relationship Id="rId4" Type="http://schemas.openxmlformats.org/officeDocument/2006/relationships/slide" Target="slide93.xml"/><Relationship Id="rId5" Type="http://schemas.openxmlformats.org/officeDocument/2006/relationships/slide" Target="slide94.xml"/><Relationship Id="rId6" Type="http://schemas.openxmlformats.org/officeDocument/2006/relationships/slide" Target="slide95.xml"/><Relationship Id="rId7" Type="http://schemas.openxmlformats.org/officeDocument/2006/relationships/slide" Target="slide96.xml"/><Relationship Id="rId8" Type="http://schemas.openxmlformats.org/officeDocument/2006/relationships/slide" Target="slide98.xml"/><Relationship Id="rId9" Type="http://schemas.openxmlformats.org/officeDocument/2006/relationships/slide" Target="slide99.xml"/><Relationship Id="rId10" Type="http://schemas.openxmlformats.org/officeDocument/2006/relationships/slide" Target="slide100.xml"/><Relationship Id="rId11" Type="http://schemas.openxmlformats.org/officeDocument/2006/relationships/slide" Target="slide102.xml"/><Relationship Id="rId12" Type="http://schemas.openxmlformats.org/officeDocument/2006/relationships/slide" Target="slide104.xml"/><Relationship Id="rId13" Type="http://schemas.openxmlformats.org/officeDocument/2006/relationships/slide" Target="slide105.xml"/><Relationship Id="rId14" Type="http://schemas.openxmlformats.org/officeDocument/2006/relationships/slide" Target="slide106.xml"/><Relationship Id="rId15" Type="http://schemas.openxmlformats.org/officeDocument/2006/relationships/slide" Target="slide107.xml"/><Relationship Id="rId16" Type="http://schemas.openxmlformats.org/officeDocument/2006/relationships/slide" Target="slide108.xml"/><Relationship Id="rId17" Type="http://schemas.openxmlformats.org/officeDocument/2006/relationships/slide" Target="slide2.xml"/><Relationship Id="rId1" Type="http://schemas.openxmlformats.org/officeDocument/2006/relationships/image" Target="../media/image-90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90.xml"/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9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9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9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9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9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9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9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9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0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image" Target="../media/image-1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Architecture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FD08  Internal components: CPU, registers, buses, I/O controllers and the Von Neumann architecture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FD09  The fetch–decode–execute cycle, pipelining and processor performance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FD10  Main memory, cache and secondary storage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FD11  Alternative architectures: parallel, multicore, Harvard, RISC and CISC, GPUs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FD08  Internal components: CPU, registers, buses, I/O controllers and the Von Neumann archite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FD08  Internal components: CPU, registers, buses, I/O controllers and the Von Neumann architecture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FD09  The fetch–decode–execute cycle, pipelining and processor perform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FD09  The fetch–decode–execute cycle, pipelining and processor performance</a:t>
            </a:r>
            <a:endParaRPr lang="en-US" sz="12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5" action="ppaction://hlinksldjump" tooltip="FD10  Main memory, cache and secondary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FD10  Main memory, cache and secondary storage</a:t>
            </a:r>
            <a:endParaRPr lang="en-US" sz="13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6" action="ppaction://hlinksldjump" tooltip="FD11  Alternative architectures: parallel, multicore, Harvard, RISC and CISC, GP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FD11  Alternative architectures: parallel, multicore, Harvard, RISC and CISC, GPUs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(1 of 3)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FD08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internal components of a computer system: processor, clock, main memory, buses, I/O controllers, registers and ports; Describe the tasks performed by the control unit, the arithmetic logic unit (ALU) and the registers; Describe the purpose of the program counter (PC), memory address register (MAR), memory data register (MDR), current instruction register (CIR) and accumulator (ACC); Describe the function and direction of the address, data and control buses; Calculate the maximum addressable memory, or an unknown bus width, from the address bus width, data bus width and memory size; Explain why peripherals are connected through I/O controllers and ports; Describe the Von Neumann (stored-program) architecture and its main limitation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6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(2 of 3)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FD09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fetch–execute cycle, including the fetch, decode and execute stages and the roles of the registers and buses; Describe how pipelining overlaps the stages of the cycle, and calculate the time units needed with and without pipelining; Evaluate the factors that influence the speed of processing: processor type (word size, number of cores) and clock speed; Explain how cache size, bus width and the amount of RAM also affect performance; Explain why clock speed alone is not a good measure of performance, and describe benchmark measures such as MIPS and FLOPS; Interpret a computer specification, such as '64-bit 3.2 GHz quad-core'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main memory, distinguishing between RAM and ROM, and explain the uses of each; Describe the purpose of cache memory, how a cache controller uses it, and the levels of cache; Explain how virtual memory is used and its effect on performance; Explain the need for secondary storage and the factors that influence the choice of storage device; Describe magnetic, optical and flash (solid-state) secondary storage media, including how data is stored and accessed; Evaluate the use of secondary storage media for common applications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6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(3 of 3)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parallel processing and multi-core processors, and explain their benefits and limitations; Compare the Harvard and Von Neumann architectures and identify where each is used; Compare reduced instruction set computers (RISC) and complex instruction set computers (CISC); Describe the use of graphics processing units (GPUs) and other co-processors for graphics and general-purpose parallel processing; Evaluate the choice of processor architecture for a given 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6" grpId="0">
        <p:bldAsOne/>
      </p:bldGraphic>
      <p:bldP spid="7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FD08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Internal components: CPU, registers, buses, I/O controllers and the Von Neumann architecture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the control unit, ALU, clock and registers each do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job of each special-purpose register and each bus, including the direction it carries signals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Calculate maximum addressable memory, or a missing bus width, showing the working in powers of two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peripherals connect through I/O controllers and ports rather than directly to the system bus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stored-program concept and the Von Neumann bottleneck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The Von Neumann (stored-program) mod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Von Neumann (stored-program) model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Inside the case: the motherbo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Inside the case: the motherboard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The control unit and the clo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control unit and the clock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The ALU and regis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ALU and registers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Special-purpose regis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Special-purpose registers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Registers in action: a short progr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Registers in action: a short program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The system bu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system bus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Reading and writing memory using the bu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Reading and writing memory using the buses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Bus width and addressable mem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 width and addressable memory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orked example: a till in a Belfast sho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till in a Belfast shop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orked example: finding the address bus widt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finding the address bus width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hecking the calculation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Checking the calculation in C#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I/O controll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I/O controllers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Ports and US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Ports and USB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Von Neumann architecture: a CPU containing the control unit, ALU, clock and registers, connected to a single main memory holding instructions and data by the address, data and control bu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Von Neumann architecture: a CPU containing the control unit, ALU, clock and registers, connected to a single main memory holding instructions and data by the address, data and control buses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Von Neumann (stored-program) model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Program instructions and data are both stored, in binary, in the same main memory – the stored-program concept.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single processor fetches instructions from memory one at a time and executes them in sequence.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Input devices supply data, output devices present results and secondary storage keeps files when the power is off.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All components communicate over one shared system bus made of address, data and control lines.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Advantage: one general-purpose machine can run any program simply by loading different instructions into memory.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Limitation: instructions and data must take turns on the shared bus – the Von Neumann bottleneck.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Inside the case: the motherboard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motherboard is the main printed circuit board that links every internal component.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holds the CPU socket (with heat sink and fan above), slots for memory modules and connectors for internal drives.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Expansion slots accept extra cards, such as a graphics card, sound card or network card, to add functionality.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Tracks on the board form the buses; I/O controllers and external ports are built in along the edge.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Memory slots mean RAM can be upgraded later without replacing the whole computer.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control unit and the clock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Task 1: runs the fetch–execute cycle – fetches each instruction from memory, decodes it and directs its execution, using the ALU when needed.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Task 2: sends control signals that coordinate and monitor the hardware so that software commands are carried out in the right order.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Task 3: controls the movement of data into and out of the processor, including input and output.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clock generates a steady stream of pulses; every action in the processor is timed to these pulses.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Clock speed is measured in hertz (cycles per second), e.g. 3.6 GHz is 3.6 billion cycles per second.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ALU and registers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ALU takes values from registers, performs the operation chosen by the control unit and puts the result back in a register.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Arithmetic operations: add, subtract, multiply, divide (and shifts).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Logical operations: AND, OR, NOT and comparisons such as &lt;, &gt; and =, which make selection and loops possible.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register is a single, very fast storage location inside the CPU holding data, an instruction or an address.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All data must be loaded into a register before the ALU can process it.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Only machine code and assembly language handle registers directly; a C# compiler generates that code for you.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Special-purpose registers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27583"/>
                <a:gridCol w="4711148"/>
                <a:gridCol w="1490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holds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Remember it by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Program counter (PC)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address of the next instruction to be fetched; incremented after each fetch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Points to what comes next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Memory address register (MAR)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address of the memory location about to be read from or written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Always an address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Memory data register (MDR)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or an instruction just read from memory, or waiting to be written to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Two-way buffer to memory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Current instruction register (CIR)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instruction currently being decoded and executed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What is happening now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Accumulator (ACC)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result of calculations and logic carried out by the ALU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Running total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Registers in action: a short program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instruction has an opcode (what to do) and an operand (the address or value to use).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LDA, ADD and STA all use the accumulator as the working register.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read or write of address 20, 21 or 22 passes through the MAR (address) and the MDR (data).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Registers in action: a short program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 20    // ACC &lt;- contents of address 20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21    // ACC &lt;- ACC + contents of address 21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 22    // contents of address 22 &lt;- ACC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HLT       // stop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system bus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4987636"/>
                <a:gridCol w="25561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carries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Address bus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address of the memory location or I/O device to be used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Unidirectional: CPU to memory/I/O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bus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and instructions between CPU, memory and I/O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Bidirectional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Control bus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Signals such as memory read, memory write, clock, interrupt request, bus request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Bidirectional overall (each line one way)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7" grpId="0">
        <p:bldAsOne/>
      </p:bldGraphic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Reading and writing memory using the buses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Read: the CPU puts the address on the address bus (from the MAR) and the control unit sends a read signal on the control bus.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Read: memory places the contents of that location on the data bus and they are copied into the MDR.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Write: the address goes on the address bus and the data to be stored goes on the data bus (from the MDR).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Write: the control unit sends a write signal on the control bus.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Write: memory copies the value from the data bus into the addressed location, overwriting what was there.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Bus width and addressable memory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Bus width = the number of parallel lines; each line carries one bit.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An address bus with n lines gives 2ⁿ addresses (0 to 2ⁿ − 1). One extra line doubles the number of locations.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Each location holds as many bits as the data bus carries, so: maximum memory (bits) = 2^(address bus width) × data bus width.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Convert: ÷ 8 for bytes, then ÷ 2¹⁰ for KB, ÷ 2²⁰ for MB, ÷ 2³⁰ for GB (binary multiples, as used in this course).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wider data bus also moves more bits per transfer, so it helps performance.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Most computers have less than the maximum: RAM is costly, most software does not need it and some addresses are used for I/O ports.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till in a Belfast shop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till's processor has a 24-bit address bus and a 16-bit data bus. What is its maximum addressable memory?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Locations = 2²⁴ = 16 777 216.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Bits = 2²⁴ × 16 = 2²⁴ × 2⁴ = 2²⁸ bits.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Bytes = 2²⁸ ÷ 2³ = 2²⁵ bytes.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MB = 2²⁵ ÷ 2²⁰ = 2⁵ = 32 MB.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 the logic: if it needed 64 MB, one more address line (25 bits) would be enough, because each extra line doubles capacity.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finding the address bus width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library laptop in Derry~Londonderry has 8 GB of RAM and a 64-bit data bus. What address bus width is needed?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Memory in bits = 8 × 2³⁰ × 8 = 2³ × 2³⁰ × 2³ = 2³⁶ bits.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2^(address width) × 64 = 2³⁶, so 2^(address width) × 2⁶ = 2³⁶.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2^(address width) = 2³⁶ ÷ 2⁶ = 2³⁰.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Address bus width = 30 bits.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Tip: write every number as a power of two first; then multiplying means adding indices and dividing means subtracting them.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Checking the calculation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1L &lt;&lt; n shifts a 1 left n places, which is the same as 2ⁿ, stored as a long so it does not overflow.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 a 30-bit address bus and 64-bit data bus the program prints 8 GB, matching the worked example.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Try changing addressBits to 31 and confirm that the answer doubles.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Checking the calculation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addressBits = 30;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dataBits = 64;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locations = 1L &lt;&lt; addressBits;            // 2^30 locations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totalBytes = locations * (dataBits / 8);  // each location holds 8 bytes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gigabytes = totalBytes / Math.Pow(2, 30);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Console.WriteLine($"Locations: {locations}");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Console.WriteLine($"Maximum memory: {gigabytes} GB");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I/O controllers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Peripherals differ in speed, voltage and complexity, so the CPU does not drive them directly.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I/O controller sits between the system bus and the device; it may be on the motherboard or on an expansion card.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Three parts: an interface to the system bus, electronics that signal to the device, and an I/O port for exchanging data.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Tasks: protocol conversion, voltage conversion, buffering data between fast CPU and slow device, data format conversion.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One controller can manage several devices, and a computer usually has several controllers.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Ports and USB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port is the physical connection point where a peripheral's cable plugs into the computer.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Older PCs had a separate dedicated port for each device: keyboard, mouse, printer, monitor and so 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USB (Universal Serial Bus) is a standard defining cables, connectors and protocols for data and power in one connection.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Each USB generation is faster than the last; USB4 reaches tens of gigabits per second.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Connector shapes include USB-A, micro-USB and the reversible USB-C now used on most phones and laptops.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Connectors for frequently plugged devices are designed for around 10 000 insertions; standard USB-A is rated much lower.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register holds the address of the next instruction to be fetched?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Memory address register (MAR)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Current instruction register (CIR)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Program counter (PC)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Accumulator (ACC)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Program counter (PC)  –  The program counter holds the address of the next instruction and is incremented after each fetch. The MAR holds whichever address is being accessed right now.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games console's processor has 32 address lines and a 64-bit data bus. What is the most memory it can address?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 GB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32 GB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64 GB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 GB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32 GB  –  2³² × 64 bits = 2³² × 2⁶ = 2³⁸ bits = 2³⁵ bytes = 2⁵ GB = 32 GB.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bus carries signals such as 'memory write' and 'interrupt request'?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Control bus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bus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Address bus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Expansion bus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Control bus  –  Command and timing signals travel on the control bus.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locations can a 16-bit address bus access?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32 768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65 536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65 536  –  2¹⁶ = 65 536 locations, numbered 0 to 65 535.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Von Neumann bottleneck?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Running out of RAM</a:t>
            </a:r>
            <a:endParaRPr lang="en-US" sz="14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Instructions and data competing for one shared bus</a:t>
            </a:r>
            <a:endParaRPr lang="en-US" sz="14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processor overheating</a:t>
            </a:r>
            <a:endParaRPr lang="en-US" sz="14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Having too few registers</a:t>
            </a:r>
            <a:endParaRPr lang="en-US" sz="14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Instructions and data competing for one shared bus  –  Because instructions and data share one memory and bus, they cannot be fetched at the same time, so the CPU can be left waiting.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register acts as a two-way buffer between the processor and memory?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CIR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PC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MDR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MAR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MDR  –  The MDR holds data just read from memory or waiting to be written to it.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NOT a task of an I/O controller?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Voltage conversion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Decoding program instructions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Buffering data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Protocol conversion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Decoding program instructions  –  Decoding instructions is the control unit's job; I/O controllers convert voltages, protocols and data formats and buffer data.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computer has 16 GB of RAM and a 64-bit data bus. What is the address bus width?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31 bits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32 bits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34 bits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28 bits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31 bits  –  16 × 2³⁰ × 8 = 2³⁷ bits; 2³⁷ ÷ 2⁶ = 2³¹, so 31 address lines.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component decodes instructions?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ALU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Clock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MDR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Control unit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Control unit  –  The control unit decodes each instruction and issues the signals needed to execute it.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Program counter (PC)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program counter holds the address of the next instruction and is incremented after each fetch. The MAR holds whichever address is being accessed right now.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32 GB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2³² × 64 bits = 2³² × 2⁶ = 2³⁸ bits = 2³⁵ bytes = 2⁵ GB = 32 GB.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Control bus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Command and timing signals travel on the control bus.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65 536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2¹⁶ = 65 536 locations, numbered 0 to 65 535.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Instructions and data competing for one shared bus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Because instructions and data share one memory and bus, they cannot be fetched at the same time, so the CPU can be left waiting.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MDR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MDR holds data just read from memory or waiting to be written to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Decoding program instructions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Decoding instructions is the control unit's job; I/O controllers convert voltages, protocols and data formats and buffer 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31 bits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16 × 2³⁰ × 8 = 2³⁷ bits; 2³⁷ ÷ 2⁶ = 2³¹, so 31 address lines.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Control unit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control unit decodes each instruction and issues the signals needed to execute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5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FD09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fetch–decode–execute cycle, pipelining and processor performance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each stage of the fetch–decode–execute cycle in the correct order, naming the registers and buses used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Draw a pipelining diagram and work out how many time units a set of instructions needs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clock speed, cores, word size, cache, bus width and RAM affect processing speed, and the limits of each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Interpret a processor specification and justify why clock speed alone does not decide performance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The cycle at a gl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cycle at a glance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Stage 1: fet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Stage 1: fetch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Stage 2: de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Stage 2: decode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Stage 3: execu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Stage 3: execute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Register transfer summ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Register transfer summary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Simulating the cycle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Simulating the cycle in C#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Trace of the simu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Trace of the simulation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Pipeli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Pipelining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Pipelining diagram: three instru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Pipelining diagram: three instructions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lock spe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Clock speed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Processor type: word size and co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Processor type: word size and cores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orked example: choosing laptops for an Omagh schoo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choosing laptops for an Omagh school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Measuring performance: benchmar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Measuring performance: benchmarks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fetch-decode-execute cycle shown as a loop with the register transfers at each stage, and the factors that affect processor perform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fetch-decode-execute cycle shown as a loop with the register transfers at each stage, and the factors that affect processor performance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cycle at a glance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Before a program runs, the operating system loads its instructions and data from secondary storage into RAM.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CPU then repeats three stages for every instruction: fetch, decode, execute.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cycle runs continuously from switch-on to shut-down, billions of times per second.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Despite the common name 'fetch–execute cycle', there are three stages, not two.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when you open a game, its code is copied into RAM and the CPU fetches, decodes and executes it from there.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Stage 1: fetch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PC holds the address of the next instruction (at start-up, the address of the first one).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contents of the PC are copied into the MAR.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PC is incremented so that it points to the following instruction.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address in the MAR is put onto the address bus, and the control unit sends a read signal on the control bus.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instruction at that address travels along the data bus into the MDR.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instruction is copied from the MDR into the CIR.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Stage 2: decode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control unit interprets the instruction held in the CIR.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splits the instruction into the opcode (the operation, e.g. ADD) and the operand (the data or the address of the data).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processor family understands its own instruction set, so machine code for one family will not run on another.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control unit prepares the registers and circuits needed to carry the instruction out.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Stage 3: execute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control unit sends the signals that carry out the instruction.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operand is an address, it goes to the MAR and the data comes back through the MDR (or is written out through it).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Arithmetic and logic are performed by the ALU; the result is stored in the accumulator.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jump/branch instruction loads a new address into the PC, so the next fetch comes from elsewhere in the program.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cycle then starts again with the next fetch.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Register transfer summary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00783"/>
                <a:gridCol w="4289898"/>
                <a:gridCol w="253891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Register transfer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Buses used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MAR ← [PC]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PC ← [PC] + 1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MDR ← [Memory[MAR]]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Address, control (read),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CIR ← [MDR]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 splits [CIR] into opcode and operand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Execute (ADD 21)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MAR ← 21; MDR ← [Memory[21]]; ACC ← [ACC] + [MDR]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Address, control (read),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Simulating the cycle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instruction is stored as opcode × 100 + address: 104 means LDA 4, 205 means ADD 5, 306 means STA 6, 0 means HLT.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loop pass performs fetch (MAR, MDR, PC, CIR), decode (split the number) and execute.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Trace it: ACC becomes 7, then 12, and 12 is stored in address 6 before the program halts.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Simulating the cycle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memory = { 104, 205, 306, 0, 7, 5, 0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pc = 0, acc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mar = pc;                 // fetch: MAR &lt;- PC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mdr = memory[mar];        // MDR &lt;- memory[MAR]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pc++;                         // PC &lt;- PC + 1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cir = mdr;                // CIR &lt;- MDR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opcode = cir / 100, operand = cir % 100;   // decode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(opcode == 0) break;                        // HLT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(opcode == 1) acc = memory[operand];        // LDA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(opcode == 2) acc += memory[operand];  // ADD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(opcode == 3) memory[operand] = acc;   // STA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Console.WriteLine($"PC={pc} CIR={cir} ACC={acc}");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Console.WriteLine($"Address 6 holds {memory[6]}");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Trace of the simulation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15617"/>
                <a:gridCol w="715617"/>
                <a:gridCol w="2027583"/>
                <a:gridCol w="1669774"/>
                <a:gridCol w="2027583"/>
                <a:gridCol w="10734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CIR (instruction)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PC after fetch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 after execute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Memory[6]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104 (LDA 4)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205 (ADD 5)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306 (STA 6)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 (HLT)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6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Pipelining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Without pipelining, each instruction is fetched, decoded and executed before the next fetch begins: 3 time units each.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With pipelining, the next instruction is fetched while the current one is being decoded, and so on.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Once the pipeline is full, one instruction finishes every time unit.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For n instructions and 3 stages: sequential = 3n units; pipelined = n + 2 units.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4 instructions: 12 units without pipelining, 6 with it. 3 instructions: 9 units versus 5.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branch can make the instructions already fetched useless, so the pipeline is flushed and some time is lost.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Pipelining diagram: three instructions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2228850"/>
                <a:gridCol w="2228850"/>
                <a:gridCol w="22288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unit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Instruction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Instruction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Instruction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Execute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Execute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Execute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8" grpId="0">
        <p:bldAsOne/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Clock speed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clock sends regular pulses; each step of the cycle takes one or more clock cycles.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Clock speed is the number of cycles per second, in hertz: 1 MHz = 10⁶ Hz, 1 GHz = 10⁹ Hz.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Example: 3.2 GHz = 3.2 × 10⁹ = 3 200 000 000 cycles per second; one cycle lasts 1 ÷ 3.2 × 10⁹ s = 0.3125 ns.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faster clock means more instructions per second, if nothing else is holding the CPU back.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Limit: faster clocks use more power and produce more heat; overheating can damage the chip, so cooling is needed.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Clock speed only compares fairly between similar processors – designs differ in work done per cycle.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Processor type: word size and cores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66800"/>
                <a:gridCol w="4229100"/>
                <a:gridCol w="2933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 on performance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Word size (32-bit vs 64-bit)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64-bit CPU handles 64 bits in one operation and can address far more than the 4 GB limit of 32-bit addressing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a 64-bit operating system and software to benefit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Software compatibility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32-bit software runs on a 64-bit CPU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Programs compiled for 64-bit cannot run on a 32-bit CPU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Number of cores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core runs its own instruction stream, so several threads or programs run at once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helps software written in parallel threads; cores share cache and memory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Cache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instructions and data kept beside the CPU, so fewer slow RAM accesses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Expensive; gains shrink as cache grows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bus width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bits moved per transfer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Wider buses cost more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0" grpId="0">
        <p:bldAsOne/>
      </p:bldGraphic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Processor type: word size and cores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66800"/>
                <a:gridCol w="4229100"/>
                <a:gridCol w="2933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 on performance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Amount of 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Less swapping to slow secondary storage (virtual memory)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gain once RAM exceeds what programs need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1" grpId="0">
        <p:bldAsOne/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choosing laptops for an Omagh school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Spec A: 64-bit, 3.0 GHz dual-core, 8 MB cache, 8 GB RAM. Spec B: 64-bit, 2.4 GHz quad-core, 12 MB cache, 16 GB RAM.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64-bit: works with 64-bit words and can use more than 4 GB of RAM.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runs 3.0 × 10⁹ cycles per second per core; B runs 2.4 × 10⁹, so A is quicker on a single-threaded task.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 has four cores, more cache and twice the RAM, so it copes better with video editing and many open programs.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Verdict for a media studies class: B, because the software is multi-threaded and memory-hungry.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Higher clock speed did not decide the answer – the whole specification and the workload did.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Measuring performance: benchmarks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Clock speed ignores architecture: instructions per cycle, pipelining, cores and cache all differ between designs.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benchmark runs a standard set of tasks on different computers and compares the results.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MIPS (millions of instructions per second) measures how quickly general instructions are executed.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FLOPS (floating-point operations per second) measures arithmetic on real numbers – important for science, graphics and AI.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These measure the processor; they say nothing about the speed of the hard disk or network.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the fetch stage, what happens immediately after the contents of the program counter are copied into the MAR?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instruction is decoded</a:t>
            </a:r>
            <a:endParaRPr lang="en-US" sz="14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PC is incremented to point to the next instruction</a:t>
            </a:r>
            <a:endParaRPr lang="en-US" sz="14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ALU adds the operand to the accumulator</a:t>
            </a:r>
            <a:endParaRPr lang="en-US" sz="14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CIR is cleared</a:t>
            </a:r>
            <a:endParaRPr lang="en-US" sz="14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 PC is incremented to point to the next instruction  –  The PC is incremented straight away so it is ready for the next cycle, while the address in the MAR is used to read the current instruction.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can a 2.8 GHz processor sometimes outperform a 3.4 GHz processor?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Lower clock speeds always run cooler and so faster</a:t>
            </a:r>
            <a:endParaRPr lang="en-US" sz="125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may complete more instructions per cycle, or have more cores and cache</a:t>
            </a:r>
            <a:endParaRPr lang="en-US" sz="125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Clock speed is measured differently on each chip</a:t>
            </a:r>
            <a:endParaRPr lang="en-US" sz="125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3.4 GHz chip must be 32-bit</a:t>
            </a:r>
            <a:endParaRPr lang="en-US" sz="125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It may complete more instructions per cycle, or have more cores and cache  –  Architecture matters: instructions per cycle, cores, cache and pipelining all affect real performance, so clock speed only compares like with like.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register receives the instruction from memory via the data bus?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MAR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PC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MDR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MDR  –  The data bus delivers the contents of memory into the MDR; it is then copied into the CIR.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3.5 GHz processor performs how many cycles per second?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3.5 million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350 million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3.5 billion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35 billion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3.5 billion  –  Giga means 10⁹, so 3.5 × 10⁹ cycles per second.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time units do five instructions need with a three-stage pipeline?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15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7  –  n + 2 = 5 + 2 = 7, compared with 3 × 5 = 15 without pipelining.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During decoding, what is the opcode?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address of the next instruction</a:t>
            </a:r>
            <a:endParaRPr lang="en-US" sz="125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data value used by the instruction</a:t>
            </a:r>
            <a:endParaRPr lang="en-US" sz="125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register that stores the result</a:t>
            </a:r>
            <a:endParaRPr lang="en-US" sz="125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part of the instruction that says which operation to perform</a:t>
            </a:r>
            <a:endParaRPr lang="en-US" sz="125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The part of the instruction that says which operation to perform  –  The opcode identifies the operation; the operand is the data or address it works 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change would most help a computer that keeps swapping data to virtual memory?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faster clock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More cores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More RAM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wider address bus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More RAM  –  More RAM means less data has to be moved out to slow secondary storage.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 jump instruction change during execution?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program counter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accumulator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MDR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clock speed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The program counter  –  Loading a new address into the PC makes the next fetch come from a different place in the program.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benchmark measure is most relevant for a scientific simulation using real numbers?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MIPS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Hz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Word size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FLOPS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7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FLOPS  –  FLOPS counts floating-point (real-number) operations per second.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PC is incremented to point to the next instruction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PC is incremented straight away so it is ready for the next cycle, while the address in the MAR is used to read the current instruction.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may complete more instructions per cycle, or have more cores and cache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Architecture matters: instructions per cycle, cores, cache and pipelining all affect real performance, so clock speed only compares like with like.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MDR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data bus delivers the contents of memory into the MDR; it is then copied into the CIR.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3.5 billion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Giga means 10⁹, so 3.5 × 10⁹ cycles per second.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 + 2 = 5 + 2 = 7, compared with 3 × 5 = 15 without pipelining.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The part of the instruction that says which operation to perform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opcode identifies the operation; the operand is the data or address it works 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More RAM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More RAM means less data has to be moved out to slow secondary storage.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program counter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Loading a new address into the PC makes the next fetch come from a different place in the program.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FLOPS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FLOPS counts floating-point (real-number) operations per second.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3" grpId="0">
        <p:bldAsOne/>
      </p:bldGraphic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Main memory, cache and secondary storage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RAM, ROM and cache in terms of volatility, speed, size and use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the cache controller uses cache to reduce waiting time, and how virtual memory works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secondary storage is needed and describe how magnetic, optical and flash media store data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Recommend and justify a storage medium for a given scenario using speed, capacity, durability, portability, reliability and cost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Main memory: RAM and R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 memory: RAM and ROM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Why main memory mat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main memory matters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Cache mem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Cache memory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How the CPU uses cach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the CPU uses cache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The memory hierarch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memory hierarchy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Virtual mem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Virtual memory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Why we need secondary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we need secondary storage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Magnetic storage: hard dis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Magnetic storage: hard disks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riting to a hard disk, and magnetic tap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Writing to a hard disk, and magnetic tape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Optical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Optical storage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Flash (solid-state)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Flash (solid-state) storage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omparing secondary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secondary storage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Worked example: storage for a Fermanagh vet pract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storage for a Fermanagh vet practice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memory hierarchy from registers to magnetic and optical storage: faster and more expensive at the top, larger at the bottom, with virtual memory linking RAM and secondary stor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memory hierarchy from registers to magnetic and optical storage: faster and more expensive at the top, larger at the bottom, with virtual memory linking RAM and secondary storage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Main memory: RAM and ROM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90042"/>
                <a:gridCol w="3423514"/>
                <a:gridCol w="401604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Volatile?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 – contents lost when power is off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– contents kept without power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Read/write?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 and write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 only in normal use; contents fixed when made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Holds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Operating system, programs and data currently in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Fixed start-up firmware (bootstrap loader), embedded programs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Gigabytes (e.g. 8–32 GB in a PC)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 – megabytes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Word document being edited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 controlling a dishwasher or microwave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7" grpId="0">
        <p:bldAsOne/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main memory matters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Main memory (immediate access store) is the storage the processor can address directly.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Programs and data are copied from secondary storage into RAM because secondary storage is far too slow to run from.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At power-on RAM is empty, so the instructions that start the computer must be held in non-volatile ROM.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More RAM lets more programs and data stay in memory at once, so the computer responds faster.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RAM modules plug into slots on the motherboard, so memory can usually be upgraded.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Cache memory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RAM is fast compared with a disk, but still too slow to keep up with the processor.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Cache is a small amount of very fast (and expensive) memory on or beside the CPU.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Task 1: holds instructions and data that are used frequently.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Task 2: reads ahead – the cache controller predicts which addresses are needed next and pre-fetches them.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Prediction works well for program code, because the next instruction is usually in the next address.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More cache means less waiting, but a more expensive processor.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the CPU uses cache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1. The CPU checks whether the data or instruction it needs is already in the cache.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2. Cache hit: the cache controller predicted correctly, so the item is supplied from cache straight away.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3. Cache miss: the item is fetched from RAM and copied into the cache before it is processed.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4. The cache controller may then pre-fetch the neighbouring addresses, expecting them to be needed soon.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Levels: L1 is smallest and fastest, inside each core; L2 is larger; L3 is larger still and shared between cores.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memory hierarchy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99138"/>
                <a:gridCol w="1688123"/>
                <a:gridCol w="2532185"/>
                <a:gridCol w="1160585"/>
                <a:gridCol w="9495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Capacity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 per GB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Volatile?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Registers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Fastest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Bytes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L1 / L2 / L3 cache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fast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KB to MB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RAM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GB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SSD (flash)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Medium–fast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Hundreds of GB to TB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Hard disk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Slower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Magnetic tape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Slowest (serial)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Tens of TB per cartridge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1" grpId="0">
        <p:bldAsOne/>
      </p:bldGraphic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Virtual memory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When RAM is full, the operating system uses part of secondary storage as an extension of RAM.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Memory is divided into pages; pages not currently needed are moved out to the disk to free RAM.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When a page on the disk is needed again it is swapped back in, and another page may be moved out.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Advantage: more or larger programs can be open than physical RAM alone allows.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Disadvantage: secondary storage is far slower than RAM, so the computer slows down.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Disk thrashing: so much swapping that the computer spends more time moving pages than processing. Fix: add RAM.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we need secondary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RAM is volatile, so anything needed after shut-down must be saved to non-volatile secondary storage.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Capacity: far more space than RAM for the operating system, applications and files.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Portability: removable media let data be carried between computers.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Security: copies can be kept as backups, including off-site in case of fire or theft.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Internal storage (inside the case) is faster as it connects directly to the motherboard; external storage, usually via USB, is portable.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Magnetic storage: hard disks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One or more rigid platters coated in magnetic material, mounted on a spindle in a sealed case.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Each surface is divided into concentric tracks, and each track into sectors.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Platters spin at thousands of revolutions per minute; read/write heads on an actuator arm move across them.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Bits are stored as tiny regions magnetised in one of two directions, representing 0 and 1.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Direct access, very large capacity (many TB) and low cost per GB – but moving parts can be damaged by knocks.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Floppy disks used the same idea on a flexible disc; they held only 1.44 MB and are now obsolete.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Writing to a hard disk, and magnetic tape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operating system checks its file system table to find free space for the file.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data is passed to the disk controller while the platters spin.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actuator arm moves the head to the correct track; when the required sector passes under it, the data is written.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Magnetic tape stores data serially: to reach a file the tape must wind past everything before it.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Tape is very cheap per GB with huge capacity, so large organisations use it for archives and backups.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Tape is unsuitable when individual files must be found quickly.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Optical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laser burns or alters marks (pits) on the reflective layer of a spinning disc; a weaker laser reads the reflections back.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CD about 650–700 MB; DVD 4.7 GB (about 8.5 GB dual-layer); Blu-ray 25 GB per layer, up to 128 GB with four layers.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-ROM: written at manufacture, read only. -R: recordable once by the user. -RW: can be erased and rewritten many times.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Direct access, cheap and light, easy to post – but slower than hard disks and flash, and easily scratched.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Blu-ray has a hard coating that resists scratches; it is used for HD films and games.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Writing requires a drive that can record ('burn') discs; a read-only drive cannot back up to disc.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Flash (solid-state)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Data is held as electrical charges trapped in semiconductor memory cells – non-volatile, with no moving parts.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USB memory sticks and memory cards (SD, microSD) are small, light, robust and portable.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Reading a USB stick: a driver is loaded, the stick's file table is read, the computer sends the address and the stick returns the data.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SSDs replace hard disks inside computers: faster access, less power, silent, shock resistant, smaller.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Drawbacks: higher cost per GB than a hard disk and a limited number of write cycles per cell.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SSDs are now the usual main drive in laptops and many desktops.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secondary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96351"/>
                <a:gridCol w="1962443"/>
                <a:gridCol w="2089052"/>
                <a:gridCol w="1709225"/>
                <a:gridCol w="17725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Hard disk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Optical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Flash / SSD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Access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Direct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Serial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Direct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Direct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Slow to find data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Fastest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Capacity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Cost per GB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Durability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Moving parts; damaged by knocks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Wears with repeated rewriting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Scratches easily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Robust; limited write cycles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Portability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External models portable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Cartridges can be stored off-site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portable, easy to post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portable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8" grpId="0">
        <p:bldAsOne/>
      </p:bldGraphic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storage for a Fermanagh vet practice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Archive 8 TB of old patient records kept for legal reasons: magnetic tape – huge capacity at the lowest cost, and speed of access is not important.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Run the booking system on the reception PC: SSD – fastest access, so records open instantly.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Take X-ray images to a specialist at a weekly clinic: encrypted USB flash drive – small, robust, rewritable, no moving parts.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Send a 300 MB welcome video to new clients by post: DVD-R – cheap, flat, written once so it cannot be altered.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Each choice is linked to the scenario's main need: capacity, speed, portability or cost.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must the instructions that start a PC be held in ROM rather than RAM?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ROM is faster than RAM</a:t>
            </a:r>
            <a:endParaRPr lang="en-US" sz="125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RAM is empty when the computer is switched on, but ROM keeps its contents</a:t>
            </a:r>
            <a:endParaRPr lang="en-US" sz="125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ROM has a larger capacity than RAM</a:t>
            </a:r>
            <a:endParaRPr lang="en-US" sz="125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RAM cannot hold program instructions</a:t>
            </a:r>
            <a:endParaRPr lang="en-US" sz="125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RAM is empty when the computer is switched on, but ROM keeps its contents  –  RAM is volatile, so at power-on there is nothing in it; non-volatile ROM still holds the start-up firmware.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delivery company's drivers record signatures on handheld devices that are often dropped. Which storage is most suitable?</a:t>
            </a:r>
            <a:endParaRPr lang="en-US" sz="15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Hard disk drive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Magnetic tape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Flash memory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DVD-RW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Flash memory  –  Flash memory has no moving parts, so it survives knocks, and it is small and uses little power.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disk thrashing?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Defragmenting a disk</a:t>
            </a:r>
            <a:endParaRPr lang="en-US" sz="14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Excessive swapping of pages between RAM and disk</a:t>
            </a:r>
            <a:endParaRPr lang="en-US" sz="14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crashed hard disk head</a:t>
            </a:r>
            <a:endParaRPr lang="en-US" sz="14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Formatting a disk</a:t>
            </a:r>
            <a:endParaRPr lang="en-US" sz="14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Excessive swapping of pages between RAM and disk  –  The system spends more time swapping pages than processing, so it becomes very slow.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storage is best for distributing a film to thousands of customers cheaply?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SSD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Magnetic tape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Hard disk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Optical disc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8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Optical disc  –  Optical discs are cheap to mass-produce, light to post and can be made read-only.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fastest?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RAM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L1 cache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SSD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Hard disk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L1 cache  –  Level 1 cache is inside the core and is faster than RAM and any secondary storage.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it mean when the cache controller 'reads ahead'?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deletes data the CPU has finished with</a:t>
            </a:r>
            <a:endParaRPr lang="en-US" sz="140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pre-fetches the data it predicts will be needed next</a:t>
            </a:r>
            <a:endParaRPr lang="en-US" sz="140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copies the cache to secondary storage</a:t>
            </a:r>
            <a:endParaRPr lang="en-US" sz="140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reads the next file from the hard disk</a:t>
            </a:r>
            <a:endParaRPr lang="en-US" sz="140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It pre-fetches the data it predicts will be needed next  –  It predicts likely addresses, often the next ones in sequence, and loads them into cache before they are requested.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SSDs compared with hard disks?</a:t>
            </a:r>
            <a:endParaRPr lang="en-US" sz="1700" dirty="0"/>
          </a:p>
        </p:txBody>
      </p:sp>
      <p:sp>
        <p:nvSpPr>
          <p:cNvPr id="7" name="trig:k9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Higher cost per gigabyte</a:t>
            </a:r>
            <a:endParaRPr lang="en-US" sz="1600" dirty="0"/>
          </a:p>
        </p:txBody>
      </p:sp>
      <p:sp>
        <p:nvSpPr>
          <p:cNvPr id="8" name="on:k9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9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Moving parts</a:t>
            </a:r>
            <a:endParaRPr lang="en-US" sz="1600" dirty="0"/>
          </a:p>
        </p:txBody>
      </p:sp>
      <p:sp>
        <p:nvSpPr>
          <p:cNvPr id="10" name="on:k9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Slower access</a:t>
            </a:r>
            <a:endParaRPr lang="en-US" sz="1600" dirty="0"/>
          </a:p>
        </p:txBody>
      </p:sp>
      <p:sp>
        <p:nvSpPr>
          <p:cNvPr id="12" name="on:k9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Higher power use</a:t>
            </a:r>
            <a:endParaRPr lang="en-US" sz="1600" dirty="0"/>
          </a:p>
        </p:txBody>
      </p:sp>
      <p:sp>
        <p:nvSpPr>
          <p:cNvPr id="14" name="on:k10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Higher cost per gigabyte  –  SSDs cost more per GB; they are faster, use less power and have no moving parts.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medium is most suitable for archiving 50 TB of records that are rarely accessed?</a:t>
            </a:r>
            <a:endParaRPr lang="en-US" sz="1700" dirty="0"/>
          </a:p>
        </p:txBody>
      </p:sp>
      <p:sp>
        <p:nvSpPr>
          <p:cNvPr id="7" name="trig:k10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USB flash drive</a:t>
            </a:r>
            <a:endParaRPr lang="en-US" sz="1600" dirty="0"/>
          </a:p>
        </p:txBody>
      </p:sp>
      <p:sp>
        <p:nvSpPr>
          <p:cNvPr id="8" name="on:k10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Blu-ray disc</a:t>
            </a:r>
            <a:endParaRPr lang="en-US" sz="1600" dirty="0"/>
          </a:p>
        </p:txBody>
      </p:sp>
      <p:sp>
        <p:nvSpPr>
          <p:cNvPr id="10" name="on:k10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SSD</a:t>
            </a:r>
            <a:endParaRPr lang="en-US" sz="1600" dirty="0"/>
          </a:p>
        </p:txBody>
      </p:sp>
      <p:sp>
        <p:nvSpPr>
          <p:cNvPr id="12" name="on:k10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Magnetic tape</a:t>
            </a:r>
            <a:endParaRPr lang="en-US" sz="1600" dirty="0"/>
          </a:p>
        </p:txBody>
      </p:sp>
      <p:sp>
        <p:nvSpPr>
          <p:cNvPr id="14" name="on:k10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0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Magnetic tape  –  Tape offers huge capacity at the lowest cost per GB; slow serial access does not matter for rarely used archives.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On a hard disk, what are tracks?</a:t>
            </a:r>
            <a:endParaRPr lang="en-US" sz="1700" dirty="0"/>
          </a:p>
        </p:txBody>
      </p:sp>
      <p:sp>
        <p:nvSpPr>
          <p:cNvPr id="7" name="trig:k10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Concentric circles on each platter surface</a:t>
            </a:r>
            <a:endParaRPr lang="en-US" sz="1400" dirty="0"/>
          </a:p>
        </p:txBody>
      </p:sp>
      <p:sp>
        <p:nvSpPr>
          <p:cNvPr id="8" name="on:k10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Pie-shaped wedges of a disc</a:t>
            </a:r>
            <a:endParaRPr lang="en-US" sz="1400" dirty="0"/>
          </a:p>
        </p:txBody>
      </p:sp>
      <p:sp>
        <p:nvSpPr>
          <p:cNvPr id="10" name="on:k10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arms that hold the heads</a:t>
            </a:r>
            <a:endParaRPr lang="en-US" sz="1400" dirty="0"/>
          </a:p>
        </p:txBody>
      </p:sp>
      <p:sp>
        <p:nvSpPr>
          <p:cNvPr id="12" name="on:k10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cables to the motherboard</a:t>
            </a:r>
            <a:endParaRPr lang="en-US" sz="1400" dirty="0"/>
          </a:p>
        </p:txBody>
      </p:sp>
      <p:sp>
        <p:nvSpPr>
          <p:cNvPr id="14" name="on:k10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Concentric circles on each platter surface  –  Tracks are concentric circles; each is divided into sectors.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RAM is empty when the computer is switched on, but ROM keeps its contents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RAM is volatile, so at power-on there is nothing in it; non-volatile ROM still holds the start-up firmware.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Flash memory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Flash memory has no moving parts, so it survives knocks, and it is small and uses little power.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Excessive swapping of pages between RAM and disk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system spends more time swapping pages than processing, so it becomes very slow.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Optical disc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Optical discs are cheap to mass-produce, light to post and can be made read-only.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L1 cache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Level 1 cache is inside the core and is faster than RAM and any secondary storage.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pre-fetches the data it predicts will be needed next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predicts likely addresses, often the next ones in sequence, and loads them into cache before they are requested.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Higher cost per gigabyte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SSDs cost more per GB; they are faster, use less power and have no moving parts.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Magnetic tape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Tape offers huge capacity at the lowest cost per GB; slow serial access does not matter for rarely used archives.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Concentric circles on each platter surface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Tracks are concentric circles; each is divided into sectors.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89" grpId="0">
        <p:bldAsOne/>
      </p:bldGraphic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Alternative architectures: parallel, multicore, Harvard, RISC and CISC, GPUs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parallel processing and multi-core processors increase throughput and why the gains are limited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Harvard and Von Neumann architectures, giving typical uses of each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RISC and CISC processors and link their features to power use, pipelining and program size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GPUs suit graphics, machine learning and other highly parallel tasks, and choose an architecture for a scenario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look beyond Von Neumann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look beyond Von Neumann?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Parallel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Parallel processing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Multi-core process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Multi-core processors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orked example: how much faster with more cores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how much faster with more cores?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Splitting work across threads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Splitting work across threads in C#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Harvard versus Von Neuman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Harvard versus Von Neumann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Harvard in practice: embedded 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Harvard in practice: embedded systems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RISC and CIS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RISC and CISC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One task, two instruction se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 task, two instruction sets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hy RISC suits phones and CISC suited P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RISC suits phones and CISC suited PCs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Graphics processing units (GPU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Graphics processing units (GPUs)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PU versus GP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CPU versus GPU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Choosing an archite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an architecture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Von Neumann architecture with one shared memory and bus compared with Harvard architecture with separate instruction and data memories, plus RISC and CISC and GPU summar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Von Neumann architecture with one shared memory and bus compared with Harvard architecture with separate instruction and data memories, plus RISC and CISC and GPU summaries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look beyond Von Neumann?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basic Von Neumann machine has one processor that fetches and executes one instruction at a time over one shared bus.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Raising clock speed further is limited by heat and power use.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Designers instead increase the work done per second in other ways.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 more at once: parallel processing, multi-core chips and GPUs.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Remove the shared-bus bottleneck: the Harvard architecture.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Simplify instructions so they pipeline well: RISC.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Parallel processing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Parallel processing uses two or more processors or cores to work on different parts of a task at the same time.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task is split into independent threads; results are combined at the end.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Works well when the parts do not depend on each other: rendering separate frames, serving many web users, processing many images.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Sequential tasks gain nothing: if step 2 needs the answer from step 1, they cannot run together.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Overheads: dividing the work, coordinating cores and combining results all take time.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Software and operating systems must be written specially to use parallelism.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Multi-core processors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multi-core processor has two or more complete cores on one chip: dual-core, quad-core, octa-core and beyond.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Each core has its own control unit, ALU, registers and L1 cache; L3 cache is usually shared.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operating system schedules different programs or threads on different cores.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Benefits: better multitasking and faster multi-threaded software without a higher clock speed, so less heat per unit of work.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Limits: single-threaded programs use only one core; cores compete for shared cache, memory and bus.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how much faster with more cores?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photo-processing job for a Lisburn wedding photographer takes 100 s on one core; 80 s of it can run in parallel, 20 s cannot.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On 4 cores: 20 s + 80 ÷ 4 = 20 + 20 = 40 s, a speed-up of 100 ÷ 40 = 2.5 times.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On 8 cores: 20 + 80 ÷ 8 = 20 + 10 = 30 s, a speed-up of 100 ÷ 30 ≈ 3.3 times.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However many cores are added, it can never take less than the 20 s sequential part, so the speed-up is limited to 5 times.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Doubling cores from 4 to 8 saved only 10 s: the sequential part limits the gain (and real overheads make it worse).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Splitting work across threads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Parallel.For shares the loop's iterations between the available cores.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This works because each image can be processed independently of the others.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each step depended on the previous one, the work could not be split like this.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Splitting work across threads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System.Threading.Tasks;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brightness = new int[8];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image is processed on whichever core is free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Parallel.For(0, brightness.Length, i =&gt;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brightness[i] = (i + 1) * 10;   // stand-in for slow image processing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Console.WriteLine($"Cores available: {Environment.ProcessorCount}");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Console.WriteLine(string.Join(", ", brightness));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Harvard versus Von Neumann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65785"/>
                <a:gridCol w="2674620"/>
                <a:gridCol w="49891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Von Neumann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Harvard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memory holds both instructions and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Separate memories for instructions and for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shared set of buses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Separate buses for instructions and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Instruction and data fetched one after the other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Instruction and data can be fetched at the same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Benefits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Simpler and cheaper; memory used flexibly for either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Faster; each memory can differ in size, word length and type (e.g. program in flash, data in RAM)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Drawbacks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Von Neumann bottleneck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complex; unused instruction memory cannot be used for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General-purpose PCs, laptops, servers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Embedded systems, microcontrollers, digital signal processors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99" grpId="0">
        <p:bldAsOne/>
      </p:bldGraphic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Harvard in practice: embedded 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embedded system is a computer built into a larger device to do one dedicated job.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a central heating controller, a car's anti-lock brakes, a contactless card reader, a smart meter.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fixed program sits in non-volatile instruction memory; a small RAM holds sensor readings and variables.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Fetching instructions and data together gives quick, predictable response times.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Modern PCs are hybrids: Von Neumann main memory, but separate L1 caches for instructions and data inside each core.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RISC and CISC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4114800"/>
                <a:gridCol w="30861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CISC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Instruction set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 set of simple instructions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 set including complex, multi-step instructions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Clock cycles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Most instructions take one cycle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Complex instructions take several cycles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Instruction 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Fixed length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Variable length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Program length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instructions in compiled code; compiler does more 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Fewer instructions; one may do several operations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Hardware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Simpler circuitry, more general registers, easy to pipeline, lower power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More complex circuitry, harder to pipeline, more power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1" grpId="0">
        <p:bldAsOne/>
      </p:bldGraphic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RISC and CISC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4114800"/>
                <a:gridCol w="30861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CISC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ARM chips in phones, tablets, many laptops, Raspberry Pi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Intel and AMD x86 in most desktop PCs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2" grpId="0">
        <p:bldAsOne/>
      </p:bldGraphic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One task, two instruction sets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Task: multiply the values at addresses 20 and 21 and store the result in 22.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CISC: one complex instruction can read memory, multiply and write back, taking several clock cycles.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RISC: only load and store instructions touch memory; arithmetic works on registers, each step taking about one cycle.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RISC version has more instructions, but each is simple, fixed length and easy to pipeline.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One task, two instruction sets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CISC style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 22, 20, 21     // memory[22] &lt;- memory[20] * memory[21]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RISC style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 R1, 20        // R1 &lt;- memory[20]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 R2, 21        // R2 &lt;- memory[21]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   R3, R1, R2    // R3 &lt;- R1 * R2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R3, 22        // memory[22] &lt;- R3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Why RISC suits phones and CISC suited PCs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Simpler circuits need fewer transistors, so a RISC chip uses less power and produces less heat: longer battery life, no fan.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Fixed-length, single-cycle instructions keep a pipeline flowing smoothly.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CISC was designed when memory was expensive: fewer, more powerful instructions meant smaller programs.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Backward compatibility keeps x86 in PCs: decades of Windows software expects it.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gap has narrowed: modern x86 chips convert complex instructions into simple RISC-like steps internally, and ARM chips now power many laptops.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Graphics processing units (GPUs)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GPU contains hundreds or thousands of simple cores designed to perform the same operation on many data items at once.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This is SIMD – single instruction, multiple data.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Graphics suits this: every pixel or vertex in a frame needs the same calculation.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General-purpose uses: machine learning, video encoding, scientific modelling and weather forecasting.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Weak at sequential, branching work, so the CPU still runs the operating system and general programs.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GPU is one kind of co-processor; others include sound processors and the neural engines in phone chips.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CPU versus GPU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25748"/>
                <a:gridCol w="2975317"/>
                <a:gridCol w="32285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CPU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GPU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few powerful, complex cores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Hundreds to thousands of simple cores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Best 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Varied, sequential tasks with lots of decisions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same operation applied to large amounts of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Control logic and cache per core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Operating system, word processing, databases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3D graphics, video, AI training, simulations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Measure often quoted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Clock speed, cores, benchmark scores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FLOPS (floating-point operations per second)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7" grpId="0">
        <p:bldAsOne/>
      </p:bldGraphic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an architecture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96788"/>
                <a:gridCol w="2825087"/>
                <a:gridCol w="38077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Suitable 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Fitness tracker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RISC microcontroller with Harvard-style memory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low power, small fixed program, quick response to sensors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Office desktop PC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Multi-core x86 (CISC), Von Neumann main memory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General purpose and runs existing Windows software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Training an AI model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GPU / many-core parallel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Huge numbers of identical calculations on large data sets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Washing machine controller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Harvard microcontroller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 in flash, data in small RAM, fetched together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Smartphone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Multi-core ARM (RISC) with built-in GPU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Long battery life, little heat, smooth graphics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8" grpId="0">
        <p:bldAsOne/>
      </p:bldGraphic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a smartphone usually use a RISC processor rather than a CISC one?</a:t>
            </a:r>
            <a:endParaRPr lang="en-US" sz="1700" dirty="0"/>
          </a:p>
        </p:txBody>
      </p:sp>
      <p:sp>
        <p:nvSpPr>
          <p:cNvPr id="7" name="trig:k10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RISC chips have more complex instructions</a:t>
            </a:r>
            <a:endParaRPr lang="en-US" sz="1250" dirty="0"/>
          </a:p>
        </p:txBody>
      </p:sp>
      <p:sp>
        <p:nvSpPr>
          <p:cNvPr id="8" name="on:k10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RISC chips use simpler circuitry, so they need less power and produce less heat</a:t>
            </a:r>
            <a:endParaRPr lang="en-US" sz="1250" dirty="0"/>
          </a:p>
        </p:txBody>
      </p:sp>
      <p:sp>
        <p:nvSpPr>
          <p:cNvPr id="10" name="on:k1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RISC chips cannot run apps</a:t>
            </a:r>
            <a:endParaRPr lang="en-US" sz="1250" dirty="0"/>
          </a:p>
        </p:txBody>
      </p:sp>
      <p:sp>
        <p:nvSpPr>
          <p:cNvPr id="12" name="on:k1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RISC chips use the Von Neumann bottleneck</a:t>
            </a:r>
            <a:endParaRPr lang="en-US" sz="1250" dirty="0"/>
          </a:p>
        </p:txBody>
      </p:sp>
      <p:sp>
        <p:nvSpPr>
          <p:cNvPr id="14" name="on:k1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RISC chips use simpler circuitry, so they need less power and produce less heat  –  Fewer transistors and simple single-cycle instructions mean lower power use and longer battery life.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task takes 100 s on one core, and 40 s of it must run sequentially. What is the shortest time it could take with unlimited cores?</a:t>
            </a:r>
            <a:endParaRPr lang="en-US" sz="1500" dirty="0"/>
          </a:p>
        </p:txBody>
      </p:sp>
      <p:sp>
        <p:nvSpPr>
          <p:cNvPr id="7" name="trig:k1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 s</a:t>
            </a:r>
            <a:endParaRPr lang="en-US" sz="1600" dirty="0"/>
          </a:p>
        </p:txBody>
      </p:sp>
      <p:sp>
        <p:nvSpPr>
          <p:cNvPr id="8" name="on:k1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 s</a:t>
            </a:r>
            <a:endParaRPr lang="en-US" sz="1600" dirty="0"/>
          </a:p>
        </p:txBody>
      </p:sp>
      <p:sp>
        <p:nvSpPr>
          <p:cNvPr id="10" name="on:k1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40 s</a:t>
            </a:r>
            <a:endParaRPr lang="en-US" sz="1600" dirty="0"/>
          </a:p>
        </p:txBody>
      </p:sp>
      <p:sp>
        <p:nvSpPr>
          <p:cNvPr id="12" name="on:k1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60 s</a:t>
            </a:r>
            <a:endParaRPr lang="en-US" sz="1600" dirty="0"/>
          </a:p>
        </p:txBody>
      </p:sp>
      <p:sp>
        <p:nvSpPr>
          <p:cNvPr id="14" name="on:k1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40 s  –  Only the 60 s parallel part can shrink; the 40 s sequential part always remains.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architecture uses separate memories for instructions and data?</a:t>
            </a:r>
            <a:endParaRPr lang="en-US" sz="1700" dirty="0"/>
          </a:p>
        </p:txBody>
      </p:sp>
      <p:sp>
        <p:nvSpPr>
          <p:cNvPr id="7" name="trig:k1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Von Neumann</a:t>
            </a:r>
            <a:endParaRPr lang="en-US" sz="1600" dirty="0"/>
          </a:p>
        </p:txBody>
      </p:sp>
      <p:sp>
        <p:nvSpPr>
          <p:cNvPr id="8" name="on:k1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Harvard</a:t>
            </a:r>
            <a:endParaRPr lang="en-US" sz="1600" dirty="0"/>
          </a:p>
        </p:txBody>
      </p:sp>
      <p:sp>
        <p:nvSpPr>
          <p:cNvPr id="10" name="on:k1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CISC</a:t>
            </a:r>
            <a:endParaRPr lang="en-US" sz="1600" dirty="0"/>
          </a:p>
        </p:txBody>
      </p:sp>
      <p:sp>
        <p:nvSpPr>
          <p:cNvPr id="12" name="on:k1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Multi-core</a:t>
            </a:r>
            <a:endParaRPr lang="en-US" sz="1600" dirty="0"/>
          </a:p>
        </p:txBody>
      </p:sp>
      <p:sp>
        <p:nvSpPr>
          <p:cNvPr id="14" name="on:k1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Harvard  –  Harvard separates instruction and data memory and buses so both can be accessed at once.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characteristic of RISC?</a:t>
            </a:r>
            <a:endParaRPr lang="en-US" sz="1700" dirty="0"/>
          </a:p>
        </p:txBody>
      </p:sp>
      <p:sp>
        <p:nvSpPr>
          <p:cNvPr id="7" name="trig:k1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Variable-length complex instructions</a:t>
            </a:r>
            <a:endParaRPr lang="en-US" sz="1400" dirty="0"/>
          </a:p>
        </p:txBody>
      </p:sp>
      <p:sp>
        <p:nvSpPr>
          <p:cNvPr id="8" name="on:k1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Many cycles per instruction</a:t>
            </a:r>
            <a:endParaRPr lang="en-US" sz="1400" dirty="0"/>
          </a:p>
        </p:txBody>
      </p:sp>
      <p:sp>
        <p:nvSpPr>
          <p:cNvPr id="10" name="on:k1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Few registers</a:t>
            </a:r>
            <a:endParaRPr lang="en-US" sz="1400" dirty="0"/>
          </a:p>
        </p:txBody>
      </p:sp>
      <p:sp>
        <p:nvSpPr>
          <p:cNvPr id="12" name="on:k1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Simple instructions that are easy to pipeline</a:t>
            </a:r>
            <a:endParaRPr lang="en-US" sz="1400" dirty="0"/>
          </a:p>
        </p:txBody>
      </p:sp>
      <p:sp>
        <p:nvSpPr>
          <p:cNvPr id="14" name="on:k1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Simple instructions that are easy to pipeline  –  Simple, fixed-length, single-cycle instructions keep a pipeline flowing.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are GPUs suited to image rendering?</a:t>
            </a:r>
            <a:endParaRPr lang="en-US" sz="1700" dirty="0"/>
          </a:p>
        </p:txBody>
      </p:sp>
      <p:sp>
        <p:nvSpPr>
          <p:cNvPr id="7" name="trig:k1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They have more cache per core than CPUs</a:t>
            </a:r>
            <a:endParaRPr lang="en-US" sz="1400" dirty="0"/>
          </a:p>
        </p:txBody>
      </p:sp>
      <p:sp>
        <p:nvSpPr>
          <p:cNvPr id="8" name="on:k1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They use the Harvard architecture</a:t>
            </a:r>
            <a:endParaRPr lang="en-US" sz="1400" dirty="0"/>
          </a:p>
        </p:txBody>
      </p:sp>
      <p:sp>
        <p:nvSpPr>
          <p:cNvPr id="10" name="on:k1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same calculation is applied to many pixels in parallel</a:t>
            </a:r>
            <a:endParaRPr lang="en-US" sz="1400" dirty="0"/>
          </a:p>
        </p:txBody>
      </p:sp>
      <p:sp>
        <p:nvSpPr>
          <p:cNvPr id="12" name="on:k1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They are CISC processors</a:t>
            </a:r>
            <a:endParaRPr lang="en-US" sz="1400" dirty="0"/>
          </a:p>
        </p:txBody>
      </p:sp>
      <p:sp>
        <p:nvSpPr>
          <p:cNvPr id="14" name="on:k1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2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The same calculation is applied to many pixels in parallel  –  SIMD processing across thousands of cores suits identical per-pixel calculations.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device most likely uses a Harvard microcontroller?</a:t>
            </a:r>
            <a:endParaRPr lang="en-US" sz="1700" dirty="0"/>
          </a:p>
        </p:txBody>
      </p:sp>
      <p:sp>
        <p:nvSpPr>
          <p:cNvPr id="7" name="trig:k1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Microwave oven controller</a:t>
            </a:r>
            <a:endParaRPr lang="en-US" sz="1600" dirty="0"/>
          </a:p>
        </p:txBody>
      </p:sp>
      <p:sp>
        <p:nvSpPr>
          <p:cNvPr id="8" name="on:k1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Web server</a:t>
            </a:r>
            <a:endParaRPr lang="en-US" sz="1600" dirty="0"/>
          </a:p>
        </p:txBody>
      </p:sp>
      <p:sp>
        <p:nvSpPr>
          <p:cNvPr id="10" name="on:k1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Desktop PC</a:t>
            </a:r>
            <a:endParaRPr lang="en-US" sz="1600" dirty="0"/>
          </a:p>
        </p:txBody>
      </p:sp>
      <p:sp>
        <p:nvSpPr>
          <p:cNvPr id="12" name="on:k1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Cloud database</a:t>
            </a:r>
            <a:endParaRPr lang="en-US" sz="1600" dirty="0"/>
          </a:p>
        </p:txBody>
      </p:sp>
      <p:sp>
        <p:nvSpPr>
          <p:cNvPr id="14" name="on:k1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2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Microwave oven controller  –  It is an embedded system with a fixed program and small data memory.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Most desktop PCs use which instruction set approach?</a:t>
            </a:r>
            <a:endParaRPr lang="en-US" sz="1700" dirty="0"/>
          </a:p>
        </p:txBody>
      </p:sp>
      <p:sp>
        <p:nvSpPr>
          <p:cNvPr id="7" name="trig:k1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RISC only</a:t>
            </a:r>
            <a:endParaRPr lang="en-US" sz="1600" dirty="0"/>
          </a:p>
        </p:txBody>
      </p:sp>
      <p:sp>
        <p:nvSpPr>
          <p:cNvPr id="8" name="on:k1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CISC (x86)</a:t>
            </a:r>
            <a:endParaRPr lang="en-US" sz="1600" dirty="0"/>
          </a:p>
        </p:txBody>
      </p:sp>
      <p:sp>
        <p:nvSpPr>
          <p:cNvPr id="10" name="on:k1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Harvard</a:t>
            </a:r>
            <a:endParaRPr lang="en-US" sz="1600" dirty="0"/>
          </a:p>
        </p:txBody>
      </p:sp>
      <p:sp>
        <p:nvSpPr>
          <p:cNvPr id="12" name="on:k1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SIMD</a:t>
            </a:r>
            <a:endParaRPr lang="en-US" sz="1600" dirty="0"/>
          </a:p>
        </p:txBody>
      </p:sp>
      <p:sp>
        <p:nvSpPr>
          <p:cNvPr id="14" name="on:k1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CISC (x86)  –  Intel and AMD x86 processors are CISC.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 co-processor?</a:t>
            </a:r>
            <a:endParaRPr lang="en-US" sz="1700" dirty="0"/>
          </a:p>
        </p:txBody>
      </p:sp>
      <p:sp>
        <p:nvSpPr>
          <p:cNvPr id="7" name="trig:k1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backup CPU used if the main one fails</a:t>
            </a:r>
            <a:endParaRPr lang="en-US" sz="1250" dirty="0"/>
          </a:p>
        </p:txBody>
      </p:sp>
      <p:sp>
        <p:nvSpPr>
          <p:cNvPr id="8" name="on:k1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second operating system</a:t>
            </a:r>
            <a:endParaRPr lang="en-US" sz="1250" dirty="0"/>
          </a:p>
        </p:txBody>
      </p:sp>
      <p:sp>
        <p:nvSpPr>
          <p:cNvPr id="10" name="on:k1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processor that takes over a specific type of work from the CPU</a:t>
            </a:r>
            <a:endParaRPr lang="en-US" sz="1250" dirty="0"/>
          </a:p>
        </p:txBody>
      </p:sp>
      <p:sp>
        <p:nvSpPr>
          <p:cNvPr id="12" name="on:k1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register inside the ALU</a:t>
            </a:r>
            <a:endParaRPr lang="en-US" sz="1250" dirty="0"/>
          </a:p>
        </p:txBody>
      </p:sp>
      <p:sp>
        <p:nvSpPr>
          <p:cNvPr id="14" name="on:k1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 processor that takes over a specific type of work from the CPU  –  Examples include GPUs, sound processors and neural engines.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about multi-core processors is correct?</a:t>
            </a:r>
            <a:endParaRPr lang="en-US" sz="1700" dirty="0"/>
          </a:p>
        </p:txBody>
      </p:sp>
      <p:sp>
        <p:nvSpPr>
          <p:cNvPr id="7" name="trig:k1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Each core can execute its own stream of instructions at the same time</a:t>
            </a:r>
            <a:endParaRPr lang="en-US" sz="1250" dirty="0"/>
          </a:p>
        </p:txBody>
      </p:sp>
      <p:sp>
        <p:nvSpPr>
          <p:cNvPr id="8" name="on:k1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All cores must run the same instruction</a:t>
            </a:r>
            <a:endParaRPr lang="en-US" sz="1250" dirty="0"/>
          </a:p>
        </p:txBody>
      </p:sp>
      <p:sp>
        <p:nvSpPr>
          <p:cNvPr id="10" name="on:k1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Single-threaded programs use every core</a:t>
            </a:r>
            <a:endParaRPr lang="en-US" sz="1250" dirty="0"/>
          </a:p>
        </p:txBody>
      </p:sp>
      <p:sp>
        <p:nvSpPr>
          <p:cNvPr id="12" name="on:k1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They remove the need for cache</a:t>
            </a:r>
            <a:endParaRPr lang="en-US" sz="1250" dirty="0"/>
          </a:p>
        </p:txBody>
      </p:sp>
      <p:sp>
        <p:nvSpPr>
          <p:cNvPr id="14" name="on:k1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Each core can execute its own stream of instructions at the same time  –  Cores are independent processing units; single-threaded software uses only one of them.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RISC chips use simpler circuitry, so they need less power and produce less heat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Fewer transistors and simple single-cycle instructions mean lower power use and longer battery life.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40 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Only the 60 s parallel part can shrink; the 40 s sequential part always remains.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Harvard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Harvard separates instruction and data memory and buses so both can be accessed at once.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Simple instructions that are easy to pipeline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Simple, fixed-length, single-cycle instructions keep a pipeline flowing.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same calculation is applied to many pixels in parallel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SIMD processing across thousands of cores suits identical per-pixel calculations.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Microwave oven controller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is an embedded system with a fixed program and small data memory.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CISC (x86)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Intel and AMD x86 processors are CISC.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 processor that takes over a specific type of work from the CPU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Examples include GPUs, sound processors and neural engines.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Each core can execute its own stream of instructions at the same time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Cores are independent processing units; single-threaded software uses only one of them.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18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117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</dc:title>
  <dc:subject>AS 2: Fundamentals of Digital Technology – Architecture</dc:subject>
  <dc:creator>Digital Technology Hub</dc:creator>
  <cp:lastModifiedBy>Digital Technology Hub</cp:lastModifiedBy>
  <cp:revision>1</cp:revision>
  <dcterms:created xsi:type="dcterms:W3CDTF">2026-10-30T13:16:06Z</dcterms:created>
  <dcterms:modified xsi:type="dcterms:W3CDTF">2026-10-30T13:16:06Z</dcterms:modified>
</cp:coreProperties>
</file>