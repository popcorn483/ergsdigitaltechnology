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</p:sldIdLst>
  <p:notesMasterIdLst>
    <p:notesMasterId r:id="rId1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20418ab4-0487-e91c-6179-f41c31789fa4}">
          <p14:sldIdLst>
            <p14:sldId id="256"/>
            <p14:sldId id="257"/>
            <p14:sldId id="258"/>
            <p14:sldId id="259"/>
            <p14:sldId id="260"/>
          </p14:sldIdLst>
        </p14:section>
        <p14:section name="FD01 · Number systems: bits, bytes, binary, denary, hexadecimal and BCD" id="{76729412-5872-27b1-cf0e-79d074f6da0a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FD02 · Negative numbers and binary arithmetic" id="{e85e77e1-2ef1-1993-7af0-fa60b6af680e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FD03 · Real numbers: fixed-point and floating-point" id="{b49151f0-57cb-1da6-7f88-e4b4ad7ec134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FD04 · Character sets and error detection" id="{a8aea5fc-9c9a-2bbd-b032-52b884209102}">
          <p14:sldIdLst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</p14:sldIdLst>
        </p14:section>
        <p14:section name="FD05 · Representing images and sound" id="{9491c981-f165-bd3b-aed6-5275518a12de}">
          <p14:sldIdLst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notesMaster" Target="notesMasters/notesMaster1.xml"/><Relationship Id="rId150" Type="http://schemas.openxmlformats.org/officeDocument/2006/relationships/presProps" Target="presProps.xml"/><Relationship Id="rId151" Type="http://schemas.openxmlformats.org/officeDocument/2006/relationships/viewProps" Target="viewProps.xml"/><Relationship Id="rId152" Type="http://schemas.openxmlformats.org/officeDocument/2006/relationships/theme" Target="theme/theme1.xml"/><Relationship Id="rId1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terms bit, nibble, byte, kilobyte, megabyte, gigabyte and terabyte | Demonstrate that 2ⁿ different values can be represented with n bits | Convert unsigned integers between denary and binary (up to 8 bits), showing working | Convert between binary, denary and hexadecimal and explain why hexadecimal is used | Describe binary-coded decimal (BCD) and its 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Perform binary addition of unsigned integers, showing carries | Represent signed integers using sign and magnitude and explain its limitations | Demonstrate how the two's complement system represents positive and negative numbers using 8 bits | Convert between denary and 8-bit two's complement in both directions | Perform addition and subtraction using two's complement | Explain overflow and recognise when it occurs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Represent real numbers in fixed-point binary and convert between fixed-point and denary | Explain floating-point representation using a two's complement mantissa and exponent | Convert between denary and normalised floating-point binary | Normalise floating-point numbers and explain the purpose of normalisation | Explain the trade-off between range and precision and compare fixed-point with floating-point | Describe rounding errors, overflow and underflow with real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what a character set is and why an agreed standard is needed for text to be exchanged between computers | Demonstrate how ASCII, extended ASCII and Unicode are used to represent characters | Compare character sets in terms of the number of characters represented and the storage required | Describe how odd and even parity bits are used to detect transmission errors, and their limitations | Explain the purpose of a check digit and how it differs from a parity bit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how bitmap images are represented using pixels, resolution, colour depth and the RGB colour model | Explain the purpose of metadata stored with an image file | Compare bitmap and vector graphics and select the appropriate type for a task | Describe how sound is digitised by sampling, including sampling rate and sample resolution | Calculate the file sizes of uncompressed images and sound files and convert between units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34.xml"/><Relationship Id="rId5" Type="http://schemas.openxmlformats.org/officeDocument/2006/relationships/slide" Target="slide62.xml"/><Relationship Id="rId6" Type="http://schemas.openxmlformats.org/officeDocument/2006/relationships/slide" Target="slide91.xml"/><Relationship Id="rId7" Type="http://schemas.openxmlformats.org/officeDocument/2006/relationships/slide" Target="slide120.xml"/><Relationship Id="rId1" Type="http://schemas.openxmlformats.org/officeDocument/2006/relationships/image" Target="../media/image-2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0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18.xml"/><Relationship Id="rId12" Type="http://schemas.openxmlformats.org/officeDocument/2006/relationships/slide" Target="slide19.xml"/><Relationship Id="rId13" Type="http://schemas.openxmlformats.org/officeDocument/2006/relationships/slide" Target="slide20.xml"/><Relationship Id="rId14" Type="http://schemas.openxmlformats.org/officeDocument/2006/relationships/slide" Target="slide21.xml"/><Relationship Id="rId15" Type="http://schemas.openxmlformats.org/officeDocument/2006/relationships/slide" Target="slide22.xml"/><Relationship Id="rId16" Type="http://schemas.openxmlformats.org/officeDocument/2006/relationships/slide" Target="slide23.xml"/><Relationship Id="rId17" Type="http://schemas.openxmlformats.org/officeDocument/2006/relationships/slide" Target="slide24.xml"/><Relationship Id="rId18" Type="http://schemas.openxmlformats.org/officeDocument/2006/relationships/slide" Target="slide2.xml"/><Relationship Id="rId1" Type="http://schemas.openxmlformats.org/officeDocument/2006/relationships/image" Target="../media/image-7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slide" Target="slide38.xml"/><Relationship Id="rId5" Type="http://schemas.openxmlformats.org/officeDocument/2006/relationships/slide" Target="slide39.xml"/><Relationship Id="rId6" Type="http://schemas.openxmlformats.org/officeDocument/2006/relationships/slide" Target="slide40.xml"/><Relationship Id="rId7" Type="http://schemas.openxmlformats.org/officeDocument/2006/relationships/slide" Target="slide41.xml"/><Relationship Id="rId8" Type="http://schemas.openxmlformats.org/officeDocument/2006/relationships/slide" Target="slide42.xml"/><Relationship Id="rId9" Type="http://schemas.openxmlformats.org/officeDocument/2006/relationships/slide" Target="slide44.xml"/><Relationship Id="rId10" Type="http://schemas.openxmlformats.org/officeDocument/2006/relationships/slide" Target="slide45.xml"/><Relationship Id="rId11" Type="http://schemas.openxmlformats.org/officeDocument/2006/relationships/slide" Target="slide47.xml"/><Relationship Id="rId12" Type="http://schemas.openxmlformats.org/officeDocument/2006/relationships/slide" Target="slide48.xml"/><Relationship Id="rId13" Type="http://schemas.openxmlformats.org/officeDocument/2006/relationships/slide" Target="slide50.xml"/><Relationship Id="rId14" Type="http://schemas.openxmlformats.org/officeDocument/2006/relationships/slide" Target="slide51.xml"/><Relationship Id="rId15" Type="http://schemas.openxmlformats.org/officeDocument/2006/relationships/slide" Target="slide52.xml"/><Relationship Id="rId16" Type="http://schemas.openxmlformats.org/officeDocument/2006/relationships/slide" Target="slide2.xml"/><Relationship Id="rId1" Type="http://schemas.openxmlformats.org/officeDocument/2006/relationships/image" Target="../media/image-3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3" Type="http://schemas.openxmlformats.org/officeDocument/2006/relationships/slide" Target="slide65.xml"/><Relationship Id="rId4" Type="http://schemas.openxmlformats.org/officeDocument/2006/relationships/slide" Target="slide66.xml"/><Relationship Id="rId5" Type="http://schemas.openxmlformats.org/officeDocument/2006/relationships/slide" Target="slide67.xml"/><Relationship Id="rId6" Type="http://schemas.openxmlformats.org/officeDocument/2006/relationships/slide" Target="slide68.xml"/><Relationship Id="rId7" Type="http://schemas.openxmlformats.org/officeDocument/2006/relationships/slide" Target="slide69.xml"/><Relationship Id="rId8" Type="http://schemas.openxmlformats.org/officeDocument/2006/relationships/slide" Target="slide70.xml"/><Relationship Id="rId9" Type="http://schemas.openxmlformats.org/officeDocument/2006/relationships/slide" Target="slide71.xml"/><Relationship Id="rId10" Type="http://schemas.openxmlformats.org/officeDocument/2006/relationships/slide" Target="slide73.xml"/><Relationship Id="rId11" Type="http://schemas.openxmlformats.org/officeDocument/2006/relationships/slide" Target="slide74.xml"/><Relationship Id="rId12" Type="http://schemas.openxmlformats.org/officeDocument/2006/relationships/slide" Target="slide75.xml"/><Relationship Id="rId13" Type="http://schemas.openxmlformats.org/officeDocument/2006/relationships/slide" Target="slide76.xml"/><Relationship Id="rId14" Type="http://schemas.openxmlformats.org/officeDocument/2006/relationships/slide" Target="slide78.xml"/><Relationship Id="rId15" Type="http://schemas.openxmlformats.org/officeDocument/2006/relationships/slide" Target="slide80.xml"/><Relationship Id="rId16" Type="http://schemas.openxmlformats.org/officeDocument/2006/relationships/slide" Target="slide81.xml"/><Relationship Id="rId17" Type="http://schemas.openxmlformats.org/officeDocument/2006/relationships/slide" Target="slide2.xml"/><Relationship Id="rId1" Type="http://schemas.openxmlformats.org/officeDocument/2006/relationships/image" Target="../media/image-63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9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93.xml"/><Relationship Id="rId3" Type="http://schemas.openxmlformats.org/officeDocument/2006/relationships/slide" Target="slide94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slide" Target="slide97.xml"/><Relationship Id="rId7" Type="http://schemas.openxmlformats.org/officeDocument/2006/relationships/slide" Target="slide99.xml"/><Relationship Id="rId8" Type="http://schemas.openxmlformats.org/officeDocument/2006/relationships/slide" Target="slide100.xml"/><Relationship Id="rId9" Type="http://schemas.openxmlformats.org/officeDocument/2006/relationships/slide" Target="slide101.xml"/><Relationship Id="rId10" Type="http://schemas.openxmlformats.org/officeDocument/2006/relationships/slide" Target="slide102.xml"/><Relationship Id="rId11" Type="http://schemas.openxmlformats.org/officeDocument/2006/relationships/slide" Target="slide103.xml"/><Relationship Id="rId12" Type="http://schemas.openxmlformats.org/officeDocument/2006/relationships/slide" Target="slide104.xml"/><Relationship Id="rId13" Type="http://schemas.openxmlformats.org/officeDocument/2006/relationships/slide" Target="slide105.xml"/><Relationship Id="rId14" Type="http://schemas.openxmlformats.org/officeDocument/2006/relationships/slide" Target="slide106.xml"/><Relationship Id="rId15" Type="http://schemas.openxmlformats.org/officeDocument/2006/relationships/slide" Target="slide107.xml"/><Relationship Id="rId16" Type="http://schemas.openxmlformats.org/officeDocument/2006/relationships/slide" Target="slide108.xml"/><Relationship Id="rId17" Type="http://schemas.openxmlformats.org/officeDocument/2006/relationships/slide" Target="slide110.xml"/><Relationship Id="rId18" Type="http://schemas.openxmlformats.org/officeDocument/2006/relationships/slide" Target="slide2.xml"/><Relationship Id="rId1" Type="http://schemas.openxmlformats.org/officeDocument/2006/relationships/image" Target="../media/image-92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9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9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9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9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9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9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0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image" Target="../media/image-1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122.xml"/><Relationship Id="rId3" Type="http://schemas.openxmlformats.org/officeDocument/2006/relationships/slide" Target="slide123.xml"/><Relationship Id="rId4" Type="http://schemas.openxmlformats.org/officeDocument/2006/relationships/slide" Target="slide124.xml"/><Relationship Id="rId5" Type="http://schemas.openxmlformats.org/officeDocument/2006/relationships/slide" Target="slide125.xml"/><Relationship Id="rId6" Type="http://schemas.openxmlformats.org/officeDocument/2006/relationships/slide" Target="slide126.xml"/><Relationship Id="rId7" Type="http://schemas.openxmlformats.org/officeDocument/2006/relationships/slide" Target="slide127.xml"/><Relationship Id="rId8" Type="http://schemas.openxmlformats.org/officeDocument/2006/relationships/slide" Target="slide128.xml"/><Relationship Id="rId9" Type="http://schemas.openxmlformats.org/officeDocument/2006/relationships/slide" Target="slide129.xml"/><Relationship Id="rId10" Type="http://schemas.openxmlformats.org/officeDocument/2006/relationships/slide" Target="slide130.xml"/><Relationship Id="rId11" Type="http://schemas.openxmlformats.org/officeDocument/2006/relationships/slide" Target="slide131.xml"/><Relationship Id="rId12" Type="http://schemas.openxmlformats.org/officeDocument/2006/relationships/slide" Target="slide132.xml"/><Relationship Id="rId13" Type="http://schemas.openxmlformats.org/officeDocument/2006/relationships/slide" Target="slide133.xml"/><Relationship Id="rId14" Type="http://schemas.openxmlformats.org/officeDocument/2006/relationships/slide" Target="slide134.xml"/><Relationship Id="rId15" Type="http://schemas.openxmlformats.org/officeDocument/2006/relationships/slide" Target="slide135.xml"/><Relationship Id="rId16" Type="http://schemas.openxmlformats.org/officeDocument/2006/relationships/slide" Target="slide137.xml"/><Relationship Id="rId17" Type="http://schemas.openxmlformats.org/officeDocument/2006/relationships/slide" Target="slide138.xml"/><Relationship Id="rId18" Type="http://schemas.openxmlformats.org/officeDocument/2006/relationships/slide" Target="slide2.xml"/><Relationship Id="rId1" Type="http://schemas.openxmlformats.org/officeDocument/2006/relationships/image" Target="../media/image-121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121.xml"/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" Target="slide121.xml"/><Relationship Id="rId1" Type="http://schemas.openxmlformats.org/officeDocument/2006/relationships/image" Target="../media/image-1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representation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FD01  Number systems: bits, bytes, binary, denary, hexadecimal and BCD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FD02  Negative numbers and binary arithmetic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FD03  Real numbers: fixed-point and floating-point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FD04  Character sets and error detection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FD05  Representing images and sound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FD01  Number systems: bits, bytes, binary, denary, hexadecimal and BC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FD01  Number systems: bits, bytes, binary, denary, hexadecimal and BCD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FD02  Negative numbers and binary arithmeti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FD02  Negative numbers and binary arithmetic</a:t>
            </a:r>
            <a:endParaRPr lang="en-US" sz="13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5" action="ppaction://hlinksldjump" tooltip="FD03  Real numbers: fixed-point and floating-po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FD03  Real numbers: fixed-point and floating-point</a:t>
            </a:r>
            <a:endParaRPr lang="en-US" sz="12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6" action="ppaction://hlinksldjump" tooltip="FD04  Character sets and error det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FD04  Character sets and error detection</a:t>
            </a:r>
            <a:endParaRPr lang="en-US" sz="1300" dirty="0"/>
          </a:p>
        </p:txBody>
      </p:sp>
      <p:sp>
        <p:nvSpPr>
          <p:cNvPr id="11" name="btn">
            <a:hlinkClick r:id="rId7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7" action="ppaction://hlinksldjump" tooltip="FD05  Representing images and soun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FD05  Representing images and sound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terms bit, nibble, byte, kilobyte, megabyte, gigabyte and terabyte; Demonstrate that 2ⁿ different values can be represented with n bits; Convert unsigned integers between denary and binary (up to 8 bits), showing working; Convert between binary, denary and hexadecimal and explain why hexadecimal is used; Describe binary-coded decimal (BCD) and its 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Perform binary addition of unsigned integers, showing carries; Represent signed integers using sign and magnitude and explain its limitations; Demonstrate how the two's complement system represents positive and negative numbers using 8 bits; Convert between denary and 8-bit two's complement in both directions; Perform addition and subtraction using two's complement; Explain overflow and recognise when it occurs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Represent real numbers in fixed-point binary and convert between fixed-point and denary; Explain floating-point representation using a two's complement mantissa and exponent; Convert between denary and normalised floating-point binary; Normalise floating-point numbers and explain the purpose of normalisation; Explain the trade-off between range and precision and compare fixed-point with floating-point; Describe rounding errors, overflow and underflow with real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what a character set is and why an agreed standard is needed for text to be exchanged between computers; Demonstrate how ASCII, extended ASCII and Unicode are used to represent characters; Compare character sets in terms of the number of characters represented and the storage required; Describe how odd and even parity bits are used to detect transmission errors, and their limitations; Explain the purpose of a check digit and how it differs from a parity 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6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(3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how bitmap images are represented using pixels, resolution, colour depth and the RGB colour model; Explain the purpose of metadata stored with an image file; Compare bitmap and vector graphics and select the appropriate type for a task; Describe how sound is digitised by sampling, including sampling rate and sample resolution; Calculate the file sizes of uncompressed images and sound files and convert between units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6" grpId="0">
        <p:bldAsOne/>
      </p:bldGraphic>
      <p:bldP spid="7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Number systems: bits, bytes, binary, denary, hexadecimal and BCD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the units of storage from bit to terabyte and convert between them using powers of 2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Work out how many values n bits can represent and the minimum number of bits needed for a range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confidently between binary, denary and hexadecimal, showing every step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Represent a denary number in BCD and explain where and why BCD is used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technicians use hexadecimal instead of binary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computers use bi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computers use binary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Units of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Units of storage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Using the uni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the units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How many values can n bits hold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many values can n bits hold?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Place value in three ba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Place value in three bases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Binary to de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to denary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Denary to binary: subtraction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Denary to binary: subtraction method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Denary to binary: division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Denary to binary: division method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Hexadecimal convers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Hexadecimal conversions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hy use hexadecimal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use hexadecimal?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a website col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website colour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Binary-coded decimal (BC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Binary-coded decimal (BCD)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orked example: a station clo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station clock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Model chain: one number, four fo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chain: one number, four forms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173 converted to binary using place values, split into nibbles to give hexadecimal AD, and stored digit by digit in binary-coded dec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173 converted to binary using place values, split into nibbles to give hexadecimal AD, and stored digit by digit in binary-coded decimal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computers use binary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processor is built from billions of transistors, and each one is either switched on or off, so data is held using just two states: 1 and 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bit (binary digit) is the smallest unit of data and stores a single 0 or 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Bits are grouped: 4 bits make a nibble and 8 bits make a byte. One byte is enough to hold the code for one ASCII character.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Text, numbers, images, sound and program instructions are all stored as patterns of bits; the meaning depends on how the pattern is interpreted.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Units of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89413"/>
                <a:gridCol w="3526971"/>
                <a:gridCol w="1603169"/>
                <a:gridCol w="17100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 a power of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Roughly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 (B)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2³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Kilobyte (KB)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2¹⁰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thousand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Megabyte (MB)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KB = 1 048 576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2²⁰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million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Gigabyte (GB)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MB = 1 073 741 824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2³⁰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billion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Terabyte (TB)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GB = 1 099 511 627 776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2⁴⁰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trillion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the units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Moving up one unit: divide by 1024. Moving down one unit: multiply by 1024.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4 GB memory stick holds 4 × 2³⁰ = 4 294 967 296 bytes – about 4 billion.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how many 512 MB backups fit on that stick? 4 GB = 4 × 1024 = 4096 MB, and 4096 ÷ 512 = 8.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Bits to bytes: divide by 8. A 64 000-bit message is 8000 bytes.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Note: drive makers and the IEC use 1 KB = 1000 bytes (and 1 KiB = 1024 bytes); CCEA mark schemes credit 1 KB = 1024 bytes.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many values can n bits hold?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96291"/>
                <a:gridCol w="3927764"/>
                <a:gridCol w="28055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Bits (n)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Different values (2ⁿ)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Unsigned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63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255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1023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16 777 216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 to 16 777 215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Place value in three bases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77880"/>
                <a:gridCol w="2077375"/>
                <a:gridCol w="3036163"/>
                <a:gridCol w="14381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Digits 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Column values (right to left)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Example: 237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Denary (base 10)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0–9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1, 10, 100, 1000 (10⁰, 10¹, 10², 10³)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2×100 + 3×10 + 7×1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Binary (base 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0, 1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1, 2, 4, 8, 16, 32, 64, 128 (2⁰ to 2⁷)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11101101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Hexadecimal (base 16)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0–9, A–F (A = 10 … F = 15)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1, 16, 256, 4096 (16⁰ to 16³)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 = 14×16 + 13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to denary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70927"/>
                <a:gridCol w="2083443"/>
                <a:gridCol w="625033"/>
                <a:gridCol w="625033"/>
                <a:gridCol w="625033"/>
                <a:gridCol w="625033"/>
                <a:gridCol w="625033"/>
                <a:gridCol w="625033"/>
                <a:gridCol w="6250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Place value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Binary 10011101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Weighting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Sum of weightings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128 + 16 + 8 + 4 + 1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 157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Denary to binary: subtraction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the place values 128 to 1. Put a 1 under the largest value that fits, subtract it, and repeat with what is left.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214: 214 − 128 = 86; 86 − 64 = 22; 22 − 16 = 6; 6 − 4 = 2; 2 − 2 = 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1s go under 128, 64, 16, 4 and 2; every other column is 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Answer: 214 = 11010110. Check: 128 + 64 + 16 + 4 + 2 = 214.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Quick check: an even number always ends in 0 and an odd number always ends in 1.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Denary to binary: division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Divide by 2 repeatedly, writing down each remainder, until the quotient is 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214 → 107 r0 → 53 r1 → 26 r1 → 13 r0 → 6 r1 → 3 r0 → 1 r1 → 0 r1.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the remainders from the last one to the first: 11010110. The code below does exactly this.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Denary to binary: division method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214;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bits = "";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&gt;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(n % 2) + bits;   // remainder becomes the next bit on the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 / 2;               // integer division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 = bits.PadLeft(8, '0');  // add leading zeros to make a full byte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Console.WriteLine(bits);      // 11010110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Console.WriteLine(Convert.ToInt32(bits, 2));  // back to 214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Hexadecimal conversions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16 = 2⁴, so one hex digit stands for exactly one nibble. Binary → hex: split into nibbles from the right and convert each.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10110111 → 1011 | 0111 → 11 | 7 → B7.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Hex → denary: first digit × 16, plus the second digit. B7 = 11 × 16 + 7 = 176 + 7 = 183.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Denary → hex: divide by 16; the quotient is the first digit and the remainder the second. 94 ÷ 16 = 5 r 14 → 5E.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Hex → binary: write each digit as 4 bits. 5E → 0101 1110.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use hexadecimal?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is far shorter than binary – two hex digits per byte – so it is quicker to read, write and remember.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People make fewer copying errors with 'C8' than with '11001000'.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converts to and from binary much more easily than denary does, because each digit maps to one nibble.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Seen in colour codes (#1A6B53), MAC addresses, memory addresses, error codes and machine-code dumps.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does not save memory: the computer still stores and processes everything in binary. Hex is purely for humans.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website colour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84859"/>
                <a:gridCol w="1212783"/>
                <a:gridCol w="1299411"/>
                <a:gridCol w="17325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café in Newry picks the brand colour #1A6B53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Hex → denary (first digit × 16 + second)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1×16 + 10 = 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6×16 + 11 = 107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5×16 + 3 = 83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Hex → binary (one nibble per digit)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0001 1010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0110 1011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0101 0011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Bits needed for the whole colour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→ 24 bits in total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Binary-coded decimal (BCD)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BCD each denary digit is coded separately as its own 4-bit nibble.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59 in BCD is 0101 1001 (5 then 9); in pure binary it is 00111011.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Only 0000 to 1001 are used, so 1010 to 1111 are invalid in BCD and some storage is wasted.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Easy to convert digit by digit for display, and decimal values such as money can be held exactly.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in digital clocks, calculators, seven-segment displays, electricity meters and some financial systems.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station clock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70746"/>
                <a:gridCol w="2763672"/>
                <a:gridCol w="1289713"/>
                <a:gridCol w="11054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Display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Digits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BCD nibbles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19:45 at a Translink bus station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1, 9, 4, 5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0001 1001 : 0100 0101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23:58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2, 3, 5, 8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0010 0011 : 0101 1000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Same time as minutes since midnight in pure binary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1185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10010100001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Why the clock uses BCD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nibble drives one display digit directly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conversion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Costs 5 extra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3" grpId="0">
        <p:bldAsOne/>
      </p:bldGraphic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Model chain: one number, four forms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Denary 173 → binary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128 + 32 + 8 + 4 + 1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10101101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Binary 10101101 → hex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1010 = 10 = A; 1101 = 13 = 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Hex AD → denary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 × 16 + 13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Denary 173 → BCD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| 7 |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0001 0111 0011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4" grpId="0">
        <p:bldAsOne/>
      </p:bldGraphic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different values can be represented with 8 bits?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255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512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256  –  2⁸ = 256 different values, which as unsigned integers run from 0 to 255.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hexadecimal value 3F in denary?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48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36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315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63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63  –  3 × 16 + 15 = 48 + 15 = 63.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binary number 11010010 in hexadecimal?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D2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C2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2D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B2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D2  –  Split into nibbles from the right: 1101 = 13 = D and 0010 = 2, giving D2.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BCD representation of 82?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01010010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1000 0001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1000 0010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0101 0010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1000 0010  –  Each digit is coded separately: 8 = 1000 and 2 = 0010.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NOT a common use of hexadecimal?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HTML colour codes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MAC addresses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Memory addresses in error dumps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Storing text in RAM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Storing text in RAM  –  Text is stored in binary using a character set; hex is only a human-readable notation for viewing values.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minimum number of bits needed to store 300 as an unsigned integer?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9  –  2⁸ = 256 is too small; 2⁹ = 512 is enough.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Using the definition credited by CCEA, how many bytes are in a kilobyte?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1024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1000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1 048 576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1024  –  A kilobyte is 2¹⁰ = 1024 bytes; 1 048 576 bytes is a megabyte.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file is 2 MB. How many kilobytes is that?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2000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2048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1024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2048  –  Moving down one unit means multiplying by 1024: 2 × 1024 = 2048 KB.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214 in 8-bit binary?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11010110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11010101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10110110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11100110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11010110  –  128 + 64 + 16 + 4 + 2 = 214, giving 11010110.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256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2⁸ = 256 different values, which as unsigned integers run from 0 to 255.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63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 × 16 + 15 = 48 + 15 = 63.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Split into nibbles from the right: 1101 = 13 = D and 0010 = 2, giving D2.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1000 0010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digit is coded separately: 8 = 1000 and 2 = 0010.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Storing text in 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Text is stored in binary using a character set; hex is only a human-readable notation for viewing values.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2⁸ = 256 is too small; 2⁹ = 512 is enough.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1024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kilobyte is 2¹⁰ = 1024 bytes; 1 048 576 bytes is a megabyte.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2048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Moving down one unit means multiplying by 1024: 2 × 1024 = 2048 KB.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11010110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128 + 64 + 16 + 4 + 2 = 214, giving 11010110.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4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Negative numbers and binary arithmetic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Add binary numbers using the four addition rules and show the carries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Represent negative integers in sign and magnitude and in two's complement, and state the range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between denary and 8-bit two's complement, checking each answer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Subtract by adding the two's complement and explain why the final carry is discarded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overflow in unsigned and signed arithmetic and explain its consequences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Binary addition ru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addition rules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orked example: adding sco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adding scores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Sign and magnitu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and magnitude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Two's complement: the ide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Two's complement: the idea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Denary to two's compl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Denary to two's complement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Two's complement to de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Two's complement to denary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orked example: a frosty mor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frosty morning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Subtraction: add the negati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Subtraction: add the negative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Overfl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Overflow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onsequences of overfl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Consequences of overflow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Comparing the two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two methods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ommon errors to avoi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errors to avoid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orming -19 in 8-bit two's complement by inverting the bits of +19 and adding 1, and an example of overflow when two positive numbers give a negative res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Forming -19 in 8-bit two's complement by inverting the bits of +19 and adding 1, and an example of overflow when two positive numbers give a negative result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addition rules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20278"/>
                <a:gridCol w="1192696"/>
                <a:gridCol w="2385391"/>
                <a:gridCol w="14312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 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Carry to next column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Denary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+ 0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+ 1 or 1 + 0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+ 1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 = 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+ 1 + 1 (with a carry in)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=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adding scores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Ulster Schools quiz team scores 91 in round one and 54 in round two. Add them in 8-bit binary.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  01011011 (91) + 00110110 (54)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 right to left: 1+0=1; 1+1=0 c1; 0+1+1=0 c1; 1+0+1=0 c1; 1+1+1=1 c1; 0+1+1=0 c1; 1+0+1=0 c1; 0+0+1=1.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Result: 10010001. Check: 128 + 16 + 1 = 145 = 91 + 54.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the carries in a row under the sum – they often earn a method mark.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Sign and magnitude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MSB is a sign bit (0 = positive, 1 = negative); the remaining bits give the size (magnitude).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+19 = 00010011 and −19 = 10010011 in 8 bits.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8-bit range: −127 to +127. In general, n bits give −(2ⁿ⁻¹ − 1) to +(2ⁿ⁻¹ − 1).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Problem 1: there are two zeros, 00000000 (+0) and 10000000 (−0), which wastes a pattern and complicates comparisons.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Problem 2: ordinary addition fails. 5 + (−3): 00000101 + 10000011 = 10001000, which reads as −8, not +2.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Two's complement: the idea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20471"/>
                <a:gridCol w="726141"/>
                <a:gridCol w="726141"/>
                <a:gridCol w="726141"/>
                <a:gridCol w="726141"/>
                <a:gridCol w="726141"/>
                <a:gridCol w="726141"/>
                <a:gridCol w="726141"/>
                <a:gridCol w="7261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Place value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−128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+5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−1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−71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−128 (most negative)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+127 (most positive)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Denary to two's complement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1. Write the positive value in binary. 2. Pad with leading zeros to 8 bits. 3. Invert every bit. 4. Add 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−82: 82 = 1010010 → 01010010 → invert 10101101 → add 1 → 10101110.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 with place values: −128 + 32 + 8 + 4 + 2 = −82.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Second check: 01010010 + 10101110 = 1 00000000; ignore the carry out and the answer is 0, as x + (−x) should be.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Shortcut: from the right, copy bits up to and including the first 1, then invert all the bits to its left.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Two's complement to denary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MSB is 0, convert as normal unsigned binary.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MSB is 1, the number is negative: add −128 to the place values of the other 1s.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10111001: −128 + 32 + 16 + 8 + 1 = −71.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Alternative: invert and add 1 to find the magnitude. 10111001 → 01000110 → 01000111 = 71, so the value is −71.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Two's complement to denary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raw = 0b1011_1001;               // the stored 8 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sbyte value = unchecked((sbyte)raw);   // read them as two's complement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Console.WriteLine(raw);                // 185 if read as unsigned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Console.WriteLine(value);              // -71 if read as signed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frosty morning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82065"/>
                <a:gridCol w="3362632"/>
                <a:gridCol w="88490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weather station near Enniskillen logs −6 °C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 = 00000110 → invert 11111001 → add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11111010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 midday it is 9 degrees warmer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00001001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11111010 + 00001001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1 00000011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Discard the carry out of the MSB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8-bit 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00000011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−6 + 9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+3 °C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Subtraction: add the negative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− B is worked out as A + (two's complement of B), so the CPU needs only an adder circuit.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45 − 19: 00101101 + 11101101 = 1 00011010. Discard the carry: 00011010 = 26.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38 − 52: 00100110 + 11001100 = 11110010 (no carry). −128 + 64 + 32 + 16 + 2 = −14.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carry out of the MSB in two's complement is simply discarded; on its own it does not mean the answer is wrong.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Subtraction: add the negative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45, b = 19;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negB = (~b + 1) &amp; 0xFF;      // invert, add 1, keep 8 bits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(a + negB) &amp; 0xFF;     // add, then discard the carry 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Console.WriteLine(Convert.ToString(negB, 2));  // 11101101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Console.WriteLine(sum);                        // 26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Overflow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Overflow: the result of a calculation is too large (or too negative) to fit in the bits available.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Unsigned: a carry out of the MSB means overflow. 200 + 100 = 300 &gt; 255; the 8-bit result 00101100 reads as 44.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Two's complement: two positives giving a negative, or two negatives giving a positive, means overflow.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100 + 50: 01100100 + 00110010 = 10010110, which reads as −106 because 150 &gt; 127.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−100 + (−50): 10011100 + 11001110 = 1 01101010, which reads as +106 because −150 &lt; −128.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Adding a positive and a negative can never overflow.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Consequences of overflow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processor sets an overflow flag in the status register so that software can detect the error.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it is ignored, the program carries on with a wrong value, which may give incorrect results, a crash or unsafe behaviour.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Programmers prevent it by choosing a data type with enough bits or by checking results.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C# below shows the same 8 bits wrapping round silently, and a checked block catching the error instead.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Consequences of overflow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sbyte a = 100, b = 50;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sbyte wrapped = unchecked((sbyte)(a + b));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Console.WriteLine(wrapped);        // -106: overflow has happened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sbyte safe = checked((sbyte)(a + b));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Console.WriteLine(safe);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(OverflowException)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Console.WriteLine("Overflow detected");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two methods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48790"/>
                <a:gridCol w="3600450"/>
                <a:gridCol w="2880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Sign and magnitude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Two's complement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8-bit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−127 to +127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−128 to +127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n-bit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−(2ⁿ⁻¹ − 1) to +(2ⁿ⁻¹ − 1)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−2ⁿ⁻¹ to +(2ⁿ⁻¹ − 1)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Zero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 zeros (+0 and −0)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zero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Arithmetic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special rules for mixed signs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Normal binary addition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Subtraction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separate subtractor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 the two's complement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Reading negatives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Easy for people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Harder for people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errors to avoid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Forgetting to pad to 8 bits before inverting: for −26, pad 11010 to 00011010 first, then invert (11100101) and add 1, giving 11100110.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Inverting but forgetting to add 1 (that gives one's complement, which is out by one).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Treating the MSB as +128 when the question says two's complement.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Calling a discarded carry 'overflow' in two's complement – check the signs instead.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Stating the range as −128 to +128: there is no +128 in 8-bit two's complement.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denary value does 11110110 represent in 8-bit two's complement?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−10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246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−118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−9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−10  –  −128 + 64 + 32 + 16 + 4 + 2 = −10. The value 246 would be the unsigned reading.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two's complement preferred to sign and magnitude in processors?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easier for people to read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uses fewer bits for each number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Subtraction can be done using the same adder circuit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 store real numbers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Subtraction can be done using the same adder circuit  –  A − B becomes A + (−B), so only an adder is needed, and there is a single zero.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range of 8-bit sign and magnitude?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−128 to +127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 to 255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−128 to +128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−127 to +127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−127 to +127  –  One bit is the sign, so the other 7 bits give 0–127 in each direction.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addition overflows in 8-bit two's complement?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00010000 + 00010000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01100000 + 00110000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11110000 + 00000100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10000000 + 01111111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01100000 + 00110000  –  96 + 48 = 144, which is greater than 127, so the result appears negative.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1 + 1 + 1 in binary addition?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 carry 1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carry 0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 carry 1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carry 1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 carry 1  –  3 is 11 in binary: write 1 in this column and carry 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−82 in 8-bit two's complement?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11010010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10101110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10101101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01010010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10101110  –  82 = 01010010; invert to 10101101; add 1 to get 10101110.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the subtraction 45 − 19 using 8-bit two's complement, what happens to the ninth bit produced?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discarded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shows overflow has occurred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becomes the sign bit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added back to the LSB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It is discarded  –  The carry out of the MSB is discarded; 00011010 = 26 is correct.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unsigned 8-bit result of 200 + 100?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300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00101100 (44) because of overflow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11111111 (255)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error with no stored result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00101100 (44) because of overflow  –  300 needs 9 bits; only the lower 8 bits, 00101100 = 44, are kept.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different values can 8-bit two's complement represent?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255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127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256  –  Still 2⁸ = 256 patterns: −128 to +127 inclusive.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−10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−128 + 64 + 32 + 16 + 4 + 2 = −10. The value 246 would be the unsigned reading.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Subtraction can be done using the same adder circuit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− B becomes A + (−B), so only an adder is needed, and there is a single zero.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−127 to +127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bit is the sign, so the other 7 bits give 0–127 in each direction.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01100000 + 00110000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96 + 48 = 144, which is greater than 127, so the result appears negative.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 carry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 is 11 in binary: write 1 in this column and carry 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10101110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82 = 01010010; invert to 10101101; add 1 to get 10101110.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is discarded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carry out of the MSB is discarded; 00011010 = 26 is correct.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00101100 (44) because of overflow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300 needs 9 bits; only the lower 8 bits, 00101100 = 44, are kept.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256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Still 2⁸ = 256 patterns: −128 to +127 inclusive.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2" grpId="0">
        <p:bldAsOne/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Real numbers: fixed-point and floating-point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between denary and fixed-point binary with a given binary point position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floating-point numbers (two's complement mantissa and exponent) to denary and back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Normalise a floating-point number and explain why normalisation is used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the split of bits between mantissa and exponent affects range and precision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some real numbers cannot be stored exactly and the effect this has on programs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Storing real numb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Storing real numbers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Fixed-point bi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Fixed-point binary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Fixed point: converting and its limi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Fixed point: converting and its limits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Floating point: the ide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Floating point: the idea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orked example: positive val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positive value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s: negative mantissa and negative expon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examples: negative mantissa and negative exponent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Decoding floating point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Decoding floating point in C#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Normalis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Normalisation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a fitness track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fitness tracker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Negative denary to floating po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Negative denary to floating point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Range versus preci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Range versus precision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Errors with real numb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Errors with real numbers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Floating point in real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Floating point in real systems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floating-point number with an 8-bit two's complement mantissa and 4-bit exponent; the exponent of 3 moves the binary point three places right to give 6.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floating-point number with an 8-bit two's complement mantissa and 4-bit exponent; the exponent of 3 moves the binary point three places right to give 6.5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Storing real numbers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 numbers have a fractional part: 6.75 km run, £3.49, 0.0004 seconds, 37.2 °C.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Integers alone cannot hold these, so computers extend place value to the right of a binary point.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Columns after the point are worth ½, ¼, ⅛, 1/16 … (2⁻¹, 2⁻², 2⁻³, 2⁻⁴ …).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 approaches: fixed point (the point never moves) and floating point (the point moves according to an exponent).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Fixed-point binary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45894"/>
                <a:gridCol w="1979271"/>
                <a:gridCol w="625033"/>
                <a:gridCol w="625033"/>
                <a:gridCol w="625033"/>
                <a:gridCol w="625033"/>
                <a:gridCol w="625033"/>
                <a:gridCol w="625033"/>
                <a:gridCol w="625033"/>
                <a:gridCol w="7292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Place value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1/16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0110.1010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Weighting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0.125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 + 2 + 0.5 + 0.125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 6.625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7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Fixed point: converting and its limits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Denary → fixed point (4.4): 9.375 = 8 + 1 + 0.25 + 0.125 → 1001.0110.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4.4 format the step size (precision) is 1/16 = 0.0625 and the largest unsigned value is 1111.1111 = 15.9375.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Moving the point right increases range but reduces precision; moving it left does the opposite.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Signed fixed point uses two's complement: 1101.1000 = −8 + 4 + 1 + 0.5 = −2.5.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Fast and simple, with the same absolute precision everywhere, but it cannot hold very large and very small values at once.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Floating point: the idea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Like standard form in science (6.02 × 10²³), but in binary: value = mantissa × 2^exponent.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mantissa holds the significant bits. It is a two's complement fraction with the binary point just after the sign bit.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exponent is a two's complement integer saying how many places, and which way, to move the binary point.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Positive exponent: move the point right. Negative exponent: move the point left.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these examples: 8-bit mantissa then 4-bit exponent, e.g. 0.1101000 0011.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positive value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731329"/>
                <a:gridCol w="24982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Given (8-bit mantissa, 4-bit exponent)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0.1101000   0011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1. Exponent to denary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0011 = +3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2. Move the binary point 3 places right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0110.1000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3. Convert using place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+ 2 + 0.5 = 6.5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0" grpId="0">
        <p:bldAsOne/>
      </p:bldGraphic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examples: negative mantissa and negative exponent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39143"/>
                <a:gridCol w="36445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1.0110000   0010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0.1100000   1110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0010 = +2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1110 = −8 + 4 + 2 = −2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Move the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 places right: 101.10000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 places left: 0.0011000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Place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MSB now worth −4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¼ column is 0, ⅛ and 1/16 are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−4 + 1 + 0.5 = −2.5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0.125 + 0.0625 = 0.1875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1" grpId="0">
        <p:bldAsOne/>
      </p:bldGraphic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Decoding floating point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program applies the same steps: the mantissa's first bit is worth −1, then ½, ¼, ⅛ …; the exponent's first bit is negative.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Change m and e to check your own answers.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Decoding floating point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 = "01101000";   // mantissa 0.1101000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e = "0011";       // exponent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mant = -(m[0] - '0');          // sign bit is worth 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m.Length;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mant += (m[i] - '0') * Math.Pow(2, -i);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exp = Convert.ToInt32(e, 2);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(e[0] == '1') exp -= 1 &lt;&lt; e.Length;   // two's complement exponent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Console.WriteLine(mant * Math.Pow(2, exp)); // 6.5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Normalisation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normalised mantissa starts 0.1 (positive) or 1.0 (negative): the first two bits differ.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 normalise, shift the mantissa left until the first two bits differ and subtract 1 from the exponent for each shift.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Positive: 0.0010110 × 2^0110 → shift left 2 → 0.1011000 × 2^0100 (both equal 11).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Negative: 1.1101000 × 2^0011 → shift left 2 → 1.0100000 × 2^0001 (both equal −1.5).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Why: no bits are wasted on repeated leading 0s or 1s, so precision is maximised, and each value has one unique representation.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fitness tracker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970352"/>
                <a:gridCol w="3259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runner in Belfast logs 6.75 km; store it in normalised 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6.75 = 4 + 2 + 0.5 + 0.25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1. Write in binary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110.11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2. Move the point so the number starts 0.1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0.11011 × 2³ (point moved 3 places left)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3. Fill the 8-bit mantissa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0.1101100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4. Exponent 3 in 4-bit two's complement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Answer (check: 0110.1100 = 6.75)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0.1101100   0011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5" grpId="0">
        <p:bldAsOne/>
      </p:bldGraphic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Negative denary to floating point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−5.25: first find +5.25 = 101.01 = 0.1010100 × 2³.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Take the two's complement of the mantissa: invert 0.1010100 → 1.0101011, then add 1 → 1.0101100.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exponent is unchanged: 0011. Answer: 1.0101100 0011.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Check: move the point 3 right → 1010.1100 = −8 + 2 + 0.5 + 0.25 = −5.25.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result starts 1.0, so it is already normalised.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Range versus precision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65684"/>
                <a:gridCol w="6063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Choice (total bits fixed)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More bits in the mantissa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Greater precision (more significant bits), smaller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More bits in the exponent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Greater range (larger and smaller magnitudes), less precision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8-bit mantissa, 4-bit exponent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Largest value 0.1111111 × 2⁷ = 127; smallest positive normalised 0.1 × 2⁻⁸ ≈ 0.00195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6-bit mantissa, 6-bit exponent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Largest value just under 2³¹ (over 2 billion), but only 5 significant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Fixed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Constant absolute precision; small range; 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7" grpId="0">
        <p:bldAsOne/>
      </p:bldGraphic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Range versus precision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65684"/>
                <a:gridCol w="6063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Choice (total bits fixed)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Floating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wide range; precision relative to size; slower, more complex hardware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Errors with real numbers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Rounding error: 0.1 is a recurring fraction in binary (0.000110011…), so it is stored approximately.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4.4 fixed point, 0.1 rounds to the nearest step, 0000.0010 = 0.125: absolute error 0.025, relative error 25%.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Overflow: the exponent needed is larger than the exponent field can hold. Underflow: the value is too close to zero, so it is stored as 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Money is often stored as an integer number of pence, or as a decimal type, to avoid these errors.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Errors with real numbers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10; i++) total = total + 0.1;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Console.WriteLine(total == 1.0);   // False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Console.WriteLine(total);          // 0.9999999999999999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pounds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10; i++) pounds = pounds + 0.1m;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Console.WriteLine(pounds == 1.0m); // True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Floating point in real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 processors use the IEEE 754 standard: a 32-bit float has 1 sign bit, 8 exponent bits and 23 mantissa bits; a 64-bit double has 1, 11 and 52.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IEEE 754 stores the sign separately and uses a biased exponent, but the principles of range, precision and normalisation are the same.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C#, float gives about 7 significant denary digits and double about 15–16; decimal is a base-10 type designed for money.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Games, scientific models and sensors use floating point; tills and banking systems avoid it for currency.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floating point, what is the main effect of using more bits for the exponent and fewer for the mantissa?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Greater precision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Faster processing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Greater range but less precision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Fewer rounding errors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Greater range but less precision  –  The exponent controls how far the point can move, so range increases; fewer mantissa bits means less precision.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are floating-point numbers normalised?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make them positive</a:t>
            </a:r>
            <a:endParaRPr lang="en-US" sz="14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maximise precision and give a unique representation</a:t>
            </a:r>
            <a:endParaRPr lang="en-US" sz="14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increase the range of the exponent</a:t>
            </a:r>
            <a:endParaRPr lang="en-US" sz="14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convert them to fixed point</a:t>
            </a:r>
            <a:endParaRPr lang="en-US" sz="14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To maximise precision and give a unique representation  –  Removing redundant leading bits uses the whole mantissa for significant bits, and each value then has only one form.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0.1100000 0010 (8-bit mantissa, 4-bit exponent) in denary?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0.75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1.5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3  –  Exponent +2: move the point two places right to get 011.00000 = 3.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mantissa is normalised?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0.0110000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1.1010000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0.1010000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1.1100000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0.1010000  –  The first two bits must differ: positive normalised mantissas start 0.1.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0110.0100 represent in unsigned 4.4 fixed point?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6.25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6.4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6.5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100.25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6.25  –  4 + 2 + 0.25 = 6.25.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underflow?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number too large to store</a:t>
            </a:r>
            <a:endParaRPr lang="en-US" sz="14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carry out of the MSB</a:t>
            </a:r>
            <a:endParaRPr lang="en-US" sz="14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rounding error in BCD</a:t>
            </a:r>
            <a:endParaRPr lang="en-US" sz="14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number too close to zero to represent</a:t>
            </a:r>
            <a:endParaRPr lang="en-US" sz="14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9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A number too close to zero to represent  –  The exponent cannot go negative enough, so the value is stored as zero.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0.1100000 1110 in denary?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0.1875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0.75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−0.25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0.1875  –  Exponent 1110 = −2, so move the point two places left: 0.0011 = 0.125 + 0.0625 = 0.1875.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Normalise 0.0010110 0110. What is the new exponent?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1000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0100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0101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0110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0100  –  The mantissa is shifted left 2 places, so the exponent falls from 6 to 4 (0100).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money often stored as an integer number of pence?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uses less memory than any other type</a:t>
            </a:r>
            <a:endParaRPr lang="en-US" sz="125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Values such as £0.10 cannot be stored exactly as binary fractions</a:t>
            </a:r>
            <a:endParaRPr lang="en-US" sz="125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Integers cannot overflow</a:t>
            </a:r>
            <a:endParaRPr lang="en-US" sz="125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Floating point cannot store negative numbers</a:t>
            </a:r>
            <a:endParaRPr lang="en-US" sz="125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Values such as £0.10 cannot be stored exactly as binary fractions  –  Binary fractions such as 0.1 recur, causing rounding errors; whole pence are exact.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Greater range but less precision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exponent controls how far the point can move, so range increases; fewer mantissa bits means less precision.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maximise precision and give a unique representation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Removing redundant leading bits uses the whole mantissa for significant bits, and each value then has only one form.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Exponent +2: move the point two places right to get 011.00000 = 3.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0.1010000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first two bits must differ: positive normalised mantissas start 0.1.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6.25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4 + 2 + 0.25 = 6.25.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 number too close to zero to represent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exponent cannot go negative enough, so the value is stored as zero.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0.1875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Exponent 1110 = −2, so move the point two places left: 0.0011 = 0.125 + 0.0625 = 0.1875.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0100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mantissa is shifted left 2 places, so the exponent falls from 6 to 4 (0100).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Values such as £0.10 cannot be stored exactly as binary fractions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Binary fractions such as 0.1 recur, causing rounding errors; whole pence are exact.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1" grpId="0">
        <p:bldAsOne/>
      </p:bldGraphic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Character sets and error detection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 character set maps each character to a unique binary code, and use the ordering of ASCII codes to work out unknown codes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ASCII, extended ASCII and Unicode (UTF-8, UTF-16, UTF-32) in terms of range of characters and bytes needed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Add and check odd or even parity bits and explain why a single parity bit cannot catch every error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 check digit catches keying errors such as transpositions, and how this differs from parity checking of transmitted data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computers need character s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computers need character sets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How 7-bit ASCII is organis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7-bit ASCII is organised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using the order of cod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using the order of codes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Characters as numbers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Characters as numbers in C#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Extended ASCII and code p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Extended ASCII and code pages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Uni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Unicode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Comparing character s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character sets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storing an Irish na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storing an Irish name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Parity bi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Parity bits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parity on a ticket machine lin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parity on a ticket machine link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Limits of parity and other chec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Limits of parity and other checks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heck digits: how they differ from pa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digits: how they differ from parity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orked example: even parity on a whole wo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even parity on a whole word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Calculating even parity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Calculating even parity in C#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n even parity bit added to the ASCII code for C, and a modulus-11 check digit calculation for an ISBN-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An even parity bit added to the ASCII code for C, and a modulus-11 check digit calculation for an ISBN-10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computers need character sets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Computers can only store binary, so every letter, digit, symbol and space must be stored as a number.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character set is an agreed list of characters that a system can represent, with a unique binary code for each one.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Sender and receiver must use the same character set, otherwise the same bytes are displayed as the wrong characters.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When you press a key, the keyboard sends a code; it is stored in binary, processed, then turned back into a shape (glyph) on screen.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Character sets also include non-printing control characters, such as carriage return, line feed, tab and escape.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7-bit ASCII is organised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55464"/>
                <a:gridCol w="2033195"/>
                <a:gridCol w="48409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Codes (denary)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– 31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Control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e.g. 9 = tab, 10 = line feed, 13 = carriage return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first printable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48 – 57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Digits '0' to '9'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'0' is 48, so the digit '7' is 55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65 – 90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Upper-case 'A' to 'Z'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'A' is 65 (1000001)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97 – 122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Lower-case 'a' to 'z'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is 32 more than its capital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127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Highest code: 7 bits give 2⁷ = 128 codes (0–127)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6" grpId="0">
        <p:bldAsOne/>
      </p:bldGraphic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using the order of codes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Codes run in alphabetical order, which is why text can be sorted by comparing codes.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If 'A' = 65, then 'D' = 65 + 3 = 68 and 'a' = 65 + 32 = 97. In binary, 'A' is 1000001 and 'a' is 1100001: only one bit differs.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town name 'Erne' is stored as 69, 114, 110, 101, i.e. 01000101 01110010 01101110 01100101: 4 bytes.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plain text file holding only 'Erne' is therefore 4 bytes; a word-processed file is far larger because it also stores formatting.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digit '7' is code 55, not the value 7, so joining the text '7' and '1' gives '71', not 8.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Characters as numbers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C# a char is stored as a number, so it can be cast to an int to show its code and back again.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Convert.ToString(n, 2) shows the binary pattern; PadLeft adds the leading zeros to make a full byte.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Characters as numbers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letter = 'A';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code = letter;                      // implicit conversion: 65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Console.WriteLine(code);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lower = (char)(code + 32);         // 97 is 'a'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Console.WriteLine(lower);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bits = Convert.ToString(code, 2).PadLeft(8, '0');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Console.WriteLine(bits);                // 01000001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Console.WriteLine("7" + "1");           // text joins: 71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Console.WriteLine('7' - '0');           // 55 - 48 = 7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Extended ASCII and code pages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ASCII uses only 7 bits of a byte. The spare eighth bit can be used as a parity bit or to double the codes to 2⁸ = 256.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 extended ASCII, codes 0–127 are the same as ASCII (with a leading 0) and codes 128–255 hold accented letters and symbols.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There is no single extended ASCII: different code pages (e.g. ISO 8859-1, Windows-1252) use 128–255 for different characters.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 ISO 8859-1, 'é' is 233; open the file with another code page and a different symbol appears instead.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256 codes are still far too few for languages such as Chinese, Japanese, Arabic or Hindi.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Unicode gives every character in almost every writing system its own code point, written like U+0041 for 'A'.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has space for over 1.1 million code points; well over 140,000 are assigned, including symbols and emoji.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first 128 Unicode code points are the same as ASCII, so ASCII text is valid Unicode.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UTF-8 stores each character in 1 to 4 bytes: 1 byte for ASCII characters, 2 for 'é' or 'á', 3 for '€', 4 for most emoji.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UTF-16 uses 2 or 4 bytes per character and UTF-32 always uses 4 bytes. Some textbooks say UTF-8 is 16-bit: it is not.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character sets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19508"/>
                <a:gridCol w="2344746"/>
                <a:gridCol w="2758525"/>
                <a:gridCol w="22068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Extended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Bits per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(stored in a byte)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8–32 depending on encoding and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 of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2⁷ = 128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2⁸ = 256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Over 1.1 million possible code points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Coverage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English letters, digits, punctuation, control codes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Adds accented letters and symbols for one group of languages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Almost all world languages, maths symbols, emoji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byte per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byte per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1–4 bytes per character (UTF-8)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Main drawback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accents or other alphabets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Code pages clash between countries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Larger files for non-Latin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2" grpId="0">
        <p:bldAsOne/>
      </p:bldGraphic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storing an Irish name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96219"/>
                <a:gridCol w="3105509"/>
                <a:gridCol w="3027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Encoding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Bytes for 'Seán Ó Néill' (12 characters)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7-bit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Cannot be stored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á, Ó and é are not in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Extended ASCII (ISO 8859-1)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byte each; fadas are in codes 128–255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UTF-8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 ASCII characters × 1 + 3 accented ×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UTF-16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24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characters × 2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UTF-32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48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characters × 4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3" grpId="0">
        <p:bldAsOne/>
      </p:bldGraphic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Parity bits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parity bit is one extra bit added to each group of data bits, often making 7-bit ASCII up to a full byte.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Even parity: the parity bit is chosen so the total number of 1s (including the parity bit) is even. Odd parity: the total is odd.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Sender and receiver must agree in advance which type of parity is used, or the check is meaningless.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receiver counts the 1s in each byte. If the count is wrong for the agreed parity, the byte is corrupt and is re-sent.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 these examples the parity bit is the leftmost (most significant) bit; some systems append it on the right. The count works the same.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parity on a ticket machine link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914400"/>
                <a:gridCol w="487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Count of 1s and 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Character 'T' (code 84)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1010100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Three 1s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Add even parity 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1 1010100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Parity bit 1 makes four 1s: send 11010100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Received correctly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11010100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Four 1s, even: accepted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One bit corrupted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11000100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Three 1s, odd: error detected, re-send requested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Two bits corrupted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11000110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Four 1s, even: error NOT detected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Same 'T' with odd parity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01010100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Parity bit 0 keeps three 1s, odd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5" grpId="0">
        <p:bldAsOne/>
      </p:bldGraphic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Limits of parity and other checks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58800"/>
                <a:gridCol w="4216400"/>
                <a:gridCol w="345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Parity 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Extra bit makes the count of 1s even or odd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Misses an even number of flipped bits; cannot say which bit is wrong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Checksum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value calculated from a block of data is sent with it and recalculated on arrival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Some combinations of errors can cancel 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Echo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Receiver sends the data back so the sender can compare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Doubles the traffic; the error may happen on the return trip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 digit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Extra digit calculated from the other digits of a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Shows the code is valid, not that it is the right record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6" grpId="0">
        <p:bldAsOne/>
      </p:bldGraphic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Check digits: how they differ from parity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check digit is an extra digit calculated from the other digits of a code number and added to the end, e.g. ISBNs, barcodes and membership numbers.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When the code is keyed in or scanned, the computer recalculates the digit; if the result does not match, the code is rejected.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Parity protects bits while data is transmitted; a check digit protects a whole code number at data entry, catching mistyped and transposed digits.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Modulus 11 method (weightings from 2 on the right, remainder after dividing by 11, X for 10) is taught and practised in full in FD07.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Like parity, a check digit only detects errors: a valid code can still belong to the wrong customer.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even parity on a whole word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31437"/>
                <a:gridCol w="1427584"/>
                <a:gridCol w="2015412"/>
                <a:gridCol w="285516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7-bit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Number of 1s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Byte sent (parity bit on the left)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 (69)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1000101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3, odd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11000101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 (114)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1110010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4, even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01110010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 (110)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1101110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5, odd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11101110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 (101)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1100101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4, even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01100101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'n' arrives as 11101010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bits 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Five 1s in the byte: odd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Error detected; 'n' is re-sent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8" grpId="0">
        <p:bldAsOne/>
      </p:bldGraphic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Calculating even parity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character's code is converted to 7 bits and the 1s are counted.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count % 2 is 0 for an even count, so the parity bit is 0; an odd count needs a parity bit of 1 to make the total even.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Calculating even parity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word = "Erne";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(char c in word)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bits = Convert.ToString((int)c, 2).PadLeft(7, '0');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ones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(char b in bits)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 == '1') ones++;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parity = (ones % 2 == 0) ? '0' : '1';   // even parity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Console.WriteLine($"{c}: {parity}{bits}");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E: 11000101  r: 01110010  n: 11101110  e: 01100101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different characters can 7-bit ASCII represent?</a:t>
            </a:r>
            <a:endParaRPr lang="en-US" sz="1700" dirty="0"/>
          </a:p>
        </p:txBody>
      </p:sp>
      <p:sp>
        <p:nvSpPr>
          <p:cNvPr id="7" name="trig:k10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</a:t>
            </a:r>
            <a:endParaRPr lang="en-US" sz="1600" dirty="0"/>
          </a:p>
        </p:txBody>
      </p:sp>
      <p:sp>
        <p:nvSpPr>
          <p:cNvPr id="8" name="on:k10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</a:t>
            </a:r>
            <a:endParaRPr lang="en-US" sz="1600" dirty="0"/>
          </a:p>
        </p:txBody>
      </p:sp>
      <p:sp>
        <p:nvSpPr>
          <p:cNvPr id="10" name="on:k1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2" name="on:k1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65,536</a:t>
            </a:r>
            <a:endParaRPr lang="en-US" sz="1600" dirty="0"/>
          </a:p>
        </p:txBody>
      </p:sp>
      <p:sp>
        <p:nvSpPr>
          <p:cNvPr id="14" name="on:k1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128  –  7 bits give 2⁷ = 128 codes, numbered 0 to 127.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ASCII code for 'G' is 71. What is the ASCII code for 'g'?</a:t>
            </a:r>
            <a:endParaRPr lang="en-US" sz="1700" dirty="0"/>
          </a:p>
        </p:txBody>
      </p:sp>
      <p:sp>
        <p:nvSpPr>
          <p:cNvPr id="7" name="trig:k1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71</a:t>
            </a:r>
            <a:endParaRPr lang="en-US" sz="1600" dirty="0"/>
          </a:p>
        </p:txBody>
      </p:sp>
      <p:sp>
        <p:nvSpPr>
          <p:cNvPr id="8" name="on:k1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97</a:t>
            </a:r>
            <a:endParaRPr lang="en-US" sz="1600" dirty="0"/>
          </a:p>
        </p:txBody>
      </p:sp>
      <p:sp>
        <p:nvSpPr>
          <p:cNvPr id="10" name="on:k1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103</a:t>
            </a:r>
            <a:endParaRPr lang="en-US" sz="1600" dirty="0"/>
          </a:p>
        </p:txBody>
      </p:sp>
      <p:sp>
        <p:nvSpPr>
          <p:cNvPr id="12" name="on:k1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135</a:t>
            </a:r>
            <a:endParaRPr lang="en-US" sz="1600" dirty="0"/>
          </a:p>
        </p:txBody>
      </p:sp>
      <p:sp>
        <p:nvSpPr>
          <p:cNvPr id="14" name="on:k1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103  –  Lower-case letters are 32 more than their capitals: 71 + 32 = 103.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byte is correct if ODD parity is being used?</a:t>
            </a:r>
            <a:endParaRPr lang="en-US" sz="1700" dirty="0"/>
          </a:p>
        </p:txBody>
      </p:sp>
      <p:sp>
        <p:nvSpPr>
          <p:cNvPr id="7" name="trig:k1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11000011</a:t>
            </a:r>
            <a:endParaRPr lang="en-US" sz="1600" dirty="0"/>
          </a:p>
        </p:txBody>
      </p:sp>
      <p:sp>
        <p:nvSpPr>
          <p:cNvPr id="8" name="on:k1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01100110</a:t>
            </a:r>
            <a:endParaRPr lang="en-US" sz="1600" dirty="0"/>
          </a:p>
        </p:txBody>
      </p:sp>
      <p:sp>
        <p:nvSpPr>
          <p:cNvPr id="10" name="on:k1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10110101</a:t>
            </a:r>
            <a:endParaRPr lang="en-US" sz="1600" dirty="0"/>
          </a:p>
        </p:txBody>
      </p:sp>
      <p:sp>
        <p:nvSpPr>
          <p:cNvPr id="12" name="on:k1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11110000</a:t>
            </a:r>
            <a:endParaRPr lang="en-US" sz="1600" dirty="0"/>
          </a:p>
        </p:txBody>
      </p:sp>
      <p:sp>
        <p:nvSpPr>
          <p:cNvPr id="14" name="on:k1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10110101  –  10110101 has five 1s, an odd number; each of the others has four.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byte arrives as 11100101 on a link that uses even parity. What should the receiver do?</a:t>
            </a:r>
            <a:endParaRPr lang="en-US" sz="1700" dirty="0"/>
          </a:p>
        </p:txBody>
      </p:sp>
      <p:sp>
        <p:nvSpPr>
          <p:cNvPr id="7" name="trig:k1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Ask for the byte to be sent again</a:t>
            </a:r>
            <a:endParaRPr lang="en-US" sz="1600" dirty="0"/>
          </a:p>
        </p:txBody>
      </p:sp>
      <p:sp>
        <p:nvSpPr>
          <p:cNvPr id="8" name="on:k1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 the byte as correct</a:t>
            </a:r>
            <a:endParaRPr lang="en-US" sz="1600" dirty="0"/>
          </a:p>
        </p:txBody>
      </p:sp>
      <p:sp>
        <p:nvSpPr>
          <p:cNvPr id="10" name="on:k1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Flip the parity bit to correct it</a:t>
            </a:r>
            <a:endParaRPr lang="en-US" sz="1600" dirty="0"/>
          </a:p>
        </p:txBody>
      </p:sp>
      <p:sp>
        <p:nvSpPr>
          <p:cNvPr id="12" name="on:k1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Switch to odd parity</a:t>
            </a:r>
            <a:endParaRPr lang="en-US" sz="1600" dirty="0"/>
          </a:p>
        </p:txBody>
      </p:sp>
      <p:sp>
        <p:nvSpPr>
          <p:cNvPr id="14" name="on:k1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Ask for the byte to be sent again  –  11100101 contains five 1s, an odd number, so the byte is corrupt; parity cannot show which bit is wrong, so the byte is re-sent.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UTF-8 described as backwards compatible with ASCII?</a:t>
            </a:r>
            <a:endParaRPr lang="en-US" sz="1700" dirty="0"/>
          </a:p>
        </p:txBody>
      </p:sp>
      <p:sp>
        <p:nvSpPr>
          <p:cNvPr id="7" name="trig:k1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only uses 7 bits</a:t>
            </a:r>
            <a:endParaRPr lang="en-US" sz="1250" dirty="0"/>
          </a:p>
        </p:txBody>
      </p:sp>
      <p:sp>
        <p:nvSpPr>
          <p:cNvPr id="8" name="on:k1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has no control characters</a:t>
            </a:r>
            <a:endParaRPr lang="en-US" sz="1250" dirty="0"/>
          </a:p>
        </p:txBody>
      </p:sp>
      <p:sp>
        <p:nvSpPr>
          <p:cNvPr id="10" name="on:k1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adds a parity bit to each byte</a:t>
            </a:r>
            <a:endParaRPr lang="en-US" sz="1250" dirty="0"/>
          </a:p>
        </p:txBody>
      </p:sp>
      <p:sp>
        <p:nvSpPr>
          <p:cNvPr id="12" name="on:k1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Its first 128 codes are identical to ASCII and each takes one byte</a:t>
            </a:r>
            <a:endParaRPr lang="en-US" sz="1250" dirty="0"/>
          </a:p>
        </p:txBody>
      </p:sp>
      <p:sp>
        <p:nvSpPr>
          <p:cNvPr id="14" name="on:k1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Its first 128 codes are identical to ASCII and each takes one byte  –  Any valid ASCII file is also a valid UTF-8 file.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error would a single even parity bit NOT detect?</a:t>
            </a:r>
            <a:endParaRPr lang="en-US" sz="1700" dirty="0"/>
          </a:p>
        </p:txBody>
      </p:sp>
      <p:sp>
        <p:nvSpPr>
          <p:cNvPr id="7" name="trig:k1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Two bits flipped in the same byte</a:t>
            </a:r>
            <a:endParaRPr lang="en-US" sz="1600" dirty="0"/>
          </a:p>
        </p:txBody>
      </p:sp>
      <p:sp>
        <p:nvSpPr>
          <p:cNvPr id="8" name="on:k1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One data bit flipped</a:t>
            </a:r>
            <a:endParaRPr lang="en-US" sz="1600" dirty="0"/>
          </a:p>
        </p:txBody>
      </p:sp>
      <p:sp>
        <p:nvSpPr>
          <p:cNvPr id="10" name="on:k1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Three bits flipped in the same byte</a:t>
            </a:r>
            <a:endParaRPr lang="en-US" sz="1600" dirty="0"/>
          </a:p>
        </p:txBody>
      </p:sp>
      <p:sp>
        <p:nvSpPr>
          <p:cNvPr id="12" name="on:k1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parity bit itself flipped</a:t>
            </a:r>
            <a:endParaRPr lang="en-US" sz="1600" dirty="0"/>
          </a:p>
        </p:txBody>
      </p:sp>
      <p:sp>
        <p:nvSpPr>
          <p:cNvPr id="14" name="on:k1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Two bits flipped in the same byte  –  An even number of flips leaves the count of 1s even, so the byte still passes the check.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error is a check digit designed to catch?</a:t>
            </a:r>
            <a:endParaRPr lang="en-US" sz="1700" dirty="0"/>
          </a:p>
        </p:txBody>
      </p:sp>
      <p:sp>
        <p:nvSpPr>
          <p:cNvPr id="7" name="trig:k1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bit flipped by interference on a cable</a:t>
            </a:r>
            <a:endParaRPr lang="en-US" sz="1400" dirty="0"/>
          </a:p>
        </p:txBody>
      </p:sp>
      <p:sp>
        <p:nvSpPr>
          <p:cNvPr id="8" name="on:k1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virus hidden in an email attachment</a:t>
            </a:r>
            <a:endParaRPr lang="en-US" sz="1400" dirty="0"/>
          </a:p>
        </p:txBody>
      </p:sp>
      <p:sp>
        <p:nvSpPr>
          <p:cNvPr id="10" name="on:k1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Two digits of a membership number typed in the wrong order</a:t>
            </a:r>
            <a:endParaRPr lang="en-US" sz="1400" dirty="0"/>
          </a:p>
        </p:txBody>
      </p:sp>
      <p:sp>
        <p:nvSpPr>
          <p:cNvPr id="12" name="on:k1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file saved in the wrong folder</a:t>
            </a:r>
            <a:endParaRPr lang="en-US" sz="1400" dirty="0"/>
          </a:p>
        </p:txBody>
      </p:sp>
      <p:sp>
        <p:nvSpPr>
          <p:cNvPr id="14" name="on:k1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Two digits of a membership number typed in the wrong order  –  The check digit is recalculated when a code is entered, so mistyped and transposed digits are rejected; bits flipped in transmission are caught by parity or checksums.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bytes does the character 'é' take in UTF-8?</a:t>
            </a:r>
            <a:endParaRPr lang="en-US" sz="1700" dirty="0"/>
          </a:p>
        </p:txBody>
      </p:sp>
      <p:sp>
        <p:nvSpPr>
          <p:cNvPr id="7" name="trig:k1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on:k1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n:k1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on:k1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on:k1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  –  Characters from U+0080 to U+07FF, including accented Latin letters, use two bytes in UTF-8.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problem with extended ASCII that Unicode solves?</a:t>
            </a:r>
            <a:endParaRPr lang="en-US" sz="1700" dirty="0"/>
          </a:p>
        </p:txBody>
      </p:sp>
      <p:sp>
        <p:nvSpPr>
          <p:cNvPr id="7" name="trig:k1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store digits</a:t>
            </a:r>
            <a:endParaRPr lang="en-US" sz="1250" dirty="0"/>
          </a:p>
        </p:txBody>
      </p:sp>
      <p:sp>
        <p:nvSpPr>
          <p:cNvPr id="8" name="on:k1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uses too many bytes per character</a:t>
            </a:r>
            <a:endParaRPr lang="en-US" sz="1250" dirty="0"/>
          </a:p>
        </p:txBody>
      </p:sp>
      <p:sp>
        <p:nvSpPr>
          <p:cNvPr id="10" name="on:k1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store control characters</a:t>
            </a:r>
            <a:endParaRPr lang="en-US" sz="1250" dirty="0"/>
          </a:p>
        </p:txBody>
      </p:sp>
      <p:sp>
        <p:nvSpPr>
          <p:cNvPr id="12" name="on:k1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Codes 128–255 mean different characters on different code pages</a:t>
            </a:r>
            <a:endParaRPr lang="en-US" sz="1250" dirty="0"/>
          </a:p>
        </p:txBody>
      </p:sp>
      <p:sp>
        <p:nvSpPr>
          <p:cNvPr id="14" name="on:k1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Codes 128–255 mean different characters on different code pages  –  Unicode gives each character one code point used everywhere, so text displays correctly worldwide.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128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7 bits give 2⁷ = 128 codes, numbered 0 to 127.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103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Lower-case letters are 32 more than their capitals: 71 + 32 = 103.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10110101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10110101 has five 1s, an odd number; each of the others has four.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Ask for the byte to be sent again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11100101 contains five 1s, an odd number, so the byte is corrupt; parity cannot show which bit is wrong, so the byte is re-sent.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Its first 128 codes are identical to ASCII and each takes one byte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Any valid ASCII file is also a valid UTF-8 file.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Two bits flipped in the same byte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even number of flips leaves the count of 1s even, so the byte still passes the check.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Two digits of a membership number typed in the wrong order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check digit is recalculated when a code is entered, so mistyped and transposed digits are rejected; bits flipped in transmission are caught by parity or checksums.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Characters from U+0080 to U+07FF, including accented Latin letters, use two bytes in UTF-8.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Codes 128–255 mean different characters on different code pages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Unicode gives each character one code point used everywhere, so text displays correctly worldwide.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20" grpId="0">
        <p:bldAsOne/>
      </p:bldGraphic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Representing images and sound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pixels, resolution and colour depth determine the quality and file size of a bitmap image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the uncompressed size of an image from its pixel dimensions or from inches and dpi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bitmap and vector graphics and justify which suits a given use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an ADC samples a sound wave and calculate uncompressed sound file sizes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From analogue to digi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analogue to digital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Bitmap im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Bitmap images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a 1-bit 8 × 8 ic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1-bit 8 × 8 icon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Colour depth and RG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Colour depth and RGB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Meta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Metadata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Calculating image file siz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Calculating image file size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orked example: scanning a photo for a Derry exhib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scanning a photo for a Derry exhibition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Vector graph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 graphics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Bitmap or vector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Bitmap or vector?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Sampling soun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Sampling sound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Effect of the sampling setting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Effect of the sampling settings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alculating sound file siz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Calculating sound file size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hecking file sizes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 file sizes in C#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File formats and compression (link forwar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 formats and compression (link forward)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bitmap as a grid of pixels with the image file-size formula, and a sound wave sampled at regular intervals with the sound file-size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bitmap as a grid of pixels with the image file-size formula, and a sound wave sampled at regular intervals with the sound file-size formula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analogue to digital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Real-world images and sounds are analogue: colours and sound pressure vary continuously.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computer can only store discrete binary values, so analogue data must be measured and digitised.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Images are split into a grid of pixels and each pixel's colour is stored as a binary number.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Sound is measured (sampled) at regular time intervals and each measurement is stored as a binary number.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both cases, more detail in the measurements means higher quality but a bigger file.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Bitmap images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bitmap is a two-dimensional grid of pixels (picture elements); each pixel holds a single colour.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Resolution is the number of pixels, given as width × height (e.g. 1920 × 1080), or as dots per inch (dpi) for printing.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Typical dpi: around 72 for screen graphics, 150 for desktop printing and 300 or more for commercial print.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More pixels capture finer detail. Enlarging a bitmap beyond its resolution makes the pixels visible: this is pixelation.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Bitmaps suit photographs and scanned images, where colour changes continuously.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1-bit 8 × 8 icon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70927"/>
                <a:gridCol w="3020992"/>
                <a:gridCol w="34376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Pixels (1 = black, 0 = white)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Byte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□ □ ■ ■ ■ ■ □ □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00111100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□ ■ □ □ □ □ ■ □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01000010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■ □ ■ □ □ ■ □ ■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10100101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■ □ □ □ □ □ □ ■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10000001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■ □ ■ ■ ■ ■ □ ■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10111101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Rows 6–8 and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□■□□□□■□ / □□■■■■□□ / blank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× 8 × 1 bit = 64 bits = 8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26" grpId="0">
        <p:bldAsOne/>
      </p:bldGraphic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Colour depth and RGB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Colour depth (bit depth) is the number of bits used for each pixel. n bits give 2ⁿ possible colours.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1 bit = 2 colours; 4 bits = 16; 8 bits = 256; 16 bits = 65,536; 24 bits = 16,777,216 (about 16.8 million).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Screens mix red, green and blue light. 24-bit 'true colour' uses one byte (0–255) for each of R, G and B.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Examples: R255 G0 B0 is pure red; R0 G0 B0 is black; R255 G255 B255 is white.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About 16.8 million colours is roughly as many as the human eye can tell apart, so 24-bit is used for photographs.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Each extra bit per pixel doubles the number of colours and adds one bit for every pixel in the image.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Metadata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Metadata is data about data. An image file stores it in a header alongside the pixel data.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Essential metadata: width and height in pixels, and colour depth. Without these the bytes cannot be rebuilt into the right grid.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Files may also hold resolution in dpi, file format and compression method, and a colour palette (e.g. GIF).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Cameras and phones add EXIF data: date, time, camera model, exposure settings and often GPS location.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Metadata adds a little to file size; exam calculations usually ignore it unless told otherwise.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Privacy: GPS metadata in a photo posted online can reveal where someone lives, so many sites strip it.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Calculating image file size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39548"/>
                <a:gridCol w="48900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Example: 1024 × 768 pixels, 24-bit colour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Pixels = width × height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× 768 = 786,432 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Bits = pixels × colour depth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786,432 × 24 = 18,874,368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Bytes = bits ÷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18,874,368 ÷ 8 = 2,359,296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KB = bytes ÷ 1024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2,359,296 ÷ 1024 = 2304 KB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MB = KB ÷ 1024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2304 ÷ 1024 = 2.25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29" grpId="0">
        <p:bldAsOne/>
      </p:bldGraphic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scanning a photo for a Derry exhibition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04446"/>
                <a:gridCol w="50251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 6 × 4 inch photo scanned at 200 dpi, 24-bit colour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Width in 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 × 200 = 1200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Height in 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× 200 = 800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1200 × 800 = 960,000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Bytes (24 bits = 3 bytes per pixel)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960,000 × 3 = 2,880,000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KB and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2,880,000 ÷ 1024 = 2812.5 KB; ÷ 1024 ≈ 2.75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many fit on a 32 GB card at 4000 × 3000?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36,000,000 bytes each; 32 × 1024³ ÷ 36,000,000 ≈ 954.4, so 954 photos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30" grpId="0">
        <p:bldAsOne/>
      </p:bldGraphic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Vector graphics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vector graphic is stored as a list of objects (lines, circles, rectangles, curves, text) and their properties.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Properties include coordinates, radius or size, line colour, line width and fill colour.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image is redrawn from these instructions every time, so it can be scaled to any size without pixelation.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File size depends on the number of objects, not the display size, so simple designs give very small files.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Ideal for logos, icons, fonts, maps, charts and technical drawings. SVG is the standard vector format for the web.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Not suitable for photographs: continuous variations of colour cannot be described efficiently as shapes.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Bitmap or vector?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29624"/>
                <a:gridCol w="3259248"/>
                <a:gridCol w="33407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Bitmap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is stored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colour of every pixel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Objects and their mathematical properties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Enlarging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Pixelates and looks blocky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Stays sharp at any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File size depends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Resolution × colour depth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and complexity of objects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Photographs, scans, realistic images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Logos, signs, icons, diagrams, fonts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Editing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Edit individual pixels (e.g. retouching)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Move, resize or recolour whole objects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 formats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BMP, PNG, GIF, JPEG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SVG, PDF drawings, 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32" grpId="0">
        <p:bldAsOne/>
      </p:bldGraphic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Sampling sound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Sound is a pressure wave; a microphone turns it into a continuously varying (analogue) voltage.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An analogue-to-digital converter (ADC) measures the amplitude at regular intervals and stores each sample as a binary number.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Sampling rate: the number of samples per second, in hertz (Hz). CD audio uses 44,100 Hz (44.1 kHz).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Sample resolution (bit depth): bits per sample. CD audio uses 16 bits, giving 65,536 possible amplitude levels.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Nyquist theorem: sample at least twice the highest frequency to be captured. Human hearing reaches about 20 kHz, hence 44.1 kHz.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For playback, a digital-to-analogue converter (DAC) turns the samples back into a voltage for the speaker.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Effect of the sampling settings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58028"/>
                <a:gridCol w="4403098"/>
                <a:gridCol w="25684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 on quality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 on file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Higher sampling rate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Wave measured more often; higher frequencies captured, closer to the original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samples per second: size rises in proportion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Higher sample resolution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amplitude recorded more precisely; less quantisation noise, wider dynamic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bits per sample: size rises in proportion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Stereo instead of mono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Separate left and right channels give a sense of direction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 channels: size doubles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Longer recording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change in quality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Size rises in proportion to duration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Too low a sampling rate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 notes lost or distorted (aliasing)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34" grpId="0">
        <p:bldAsOne/>
      </p:bldGraphic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Calculating sound file size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82400"/>
                <a:gridCol w="4147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Example: 3-minute song, 44,100 Hz, 16-bit, stereo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Seconds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× 60 = 180 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Bits = rate × resolution × channels × seconds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44,100 × 16 × 2 × 180 = 254,016,000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Bytes = bits ÷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31,752,000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KB = bytes ÷ 1024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31,007.8125 KB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MB = KB ÷ 1024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≈ 30.3 MB, about 10 MB per minute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Second example: 30 s bus-stop announcement, 16 kHz, 8-bit, mono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16,000 × 8 × 1 × 30 = 3,840,000 bits = 480,000 bytes = 468.75 KB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35" grpId="0">
        <p:bldAsOne/>
      </p:bldGraphic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Checking file sizes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formulas translate directly into code, which is a handy way to check exam working.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long (64-bit) for bit counts: a three-minute song is 254,016,000 bits and larger values soon pass the int limit of about 2.1 billion.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Checking file sizes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width = 1024, height = 768, depth = 24;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imageBits = width * height * depth;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imageMB = imageBits / 8.0 / 1024 / 1024;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Console.WriteLine("Image: " + imageMB + " MB");          // 2.25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rate = 44100, res = 16, channels = 2, secs = 180;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soundBits = rate * res * channels * secs;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soundMB = soundBits / 8.0 / 1024 / 1024;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Console.WriteLine("Sound: " + Math.Round(soundMB, 1) + " MB");   // 30.3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File formats and compression (link forward)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BMP and WAV store data uncompressed, so they give the full sizes calculated in this lesson.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PNG and GIF use lossless compression: the original is rebuilt exactly. GIF limits each image to a palette of 256 colours.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JPEG (images) and MP3 (audio) use lossy compression: detail people are unlikely to notice is discarded, giving much smaller files.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Compression is covered in detail with data file formats; here, focus on why uncompressed files are so large.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colours can be represented with a colour depth of 4 bits?</a:t>
            </a:r>
            <a:endParaRPr lang="en-US" sz="1700" dirty="0"/>
          </a:p>
        </p:txBody>
      </p:sp>
      <p:sp>
        <p:nvSpPr>
          <p:cNvPr id="7" name="trig:k1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on:k1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0" name="on:k1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2" name="on:k1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4" name="on:k1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16  –  Each pixel can take 2⁴ = 16 different values, so 16 colours.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uncompressed size of a 100 × 100 pixel image with 24-bit colour?</a:t>
            </a:r>
            <a:endParaRPr lang="en-US" sz="1700" dirty="0"/>
          </a:p>
        </p:txBody>
      </p:sp>
      <p:sp>
        <p:nvSpPr>
          <p:cNvPr id="7" name="trig:k1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30,000 bytes</a:t>
            </a:r>
            <a:endParaRPr lang="en-US" sz="1600" dirty="0"/>
          </a:p>
        </p:txBody>
      </p:sp>
      <p:sp>
        <p:nvSpPr>
          <p:cNvPr id="8" name="on:k1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240,000 bytes</a:t>
            </a:r>
            <a:endParaRPr lang="en-US" sz="1600" dirty="0"/>
          </a:p>
        </p:txBody>
      </p:sp>
      <p:sp>
        <p:nvSpPr>
          <p:cNvPr id="10" name="on:k1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10,000 bytes</a:t>
            </a:r>
            <a:endParaRPr lang="en-US" sz="1600" dirty="0"/>
          </a:p>
        </p:txBody>
      </p:sp>
      <p:sp>
        <p:nvSpPr>
          <p:cNvPr id="12" name="on:k1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2,400 bytes</a:t>
            </a:r>
            <a:endParaRPr lang="en-US" sz="1600" dirty="0"/>
          </a:p>
        </p:txBody>
      </p:sp>
      <p:sp>
        <p:nvSpPr>
          <p:cNvPr id="14" name="on:k1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30,000 bytes  –  10,000 pixels × 24 bits = 240,000 bits; ÷ 8 = 30,000 bytes.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term describes the number of bits used to store each sound sample?</a:t>
            </a:r>
            <a:endParaRPr lang="en-US" sz="1700" dirty="0"/>
          </a:p>
        </p:txBody>
      </p:sp>
      <p:sp>
        <p:nvSpPr>
          <p:cNvPr id="7" name="trig:k1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Sampling rate</a:t>
            </a:r>
            <a:endParaRPr lang="en-US" sz="1600" dirty="0"/>
          </a:p>
        </p:txBody>
      </p:sp>
      <p:sp>
        <p:nvSpPr>
          <p:cNvPr id="8" name="on:k1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Sample resolution</a:t>
            </a:r>
            <a:endParaRPr lang="en-US" sz="1600" dirty="0"/>
          </a:p>
        </p:txBody>
      </p:sp>
      <p:sp>
        <p:nvSpPr>
          <p:cNvPr id="10" name="on:k1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Number of channels</a:t>
            </a:r>
            <a:endParaRPr lang="en-US" sz="1600" dirty="0"/>
          </a:p>
        </p:txBody>
      </p:sp>
      <p:sp>
        <p:nvSpPr>
          <p:cNvPr id="12" name="on:k1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Dots per inch</a:t>
            </a:r>
            <a:endParaRPr lang="en-US" sz="1600" dirty="0"/>
          </a:p>
        </p:txBody>
      </p:sp>
      <p:sp>
        <p:nvSpPr>
          <p:cNvPr id="14" name="on:k1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Sample resolution  –  Sample resolution is also called bit depth.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best reason to store a road sign design as a vector graphic?</a:t>
            </a:r>
            <a:endParaRPr lang="en-US" sz="1700" dirty="0"/>
          </a:p>
        </p:txBody>
      </p:sp>
      <p:sp>
        <p:nvSpPr>
          <p:cNvPr id="7" name="trig:k1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looks more like a photograph</a:t>
            </a:r>
            <a:endParaRPr lang="en-US" sz="1400" dirty="0"/>
          </a:p>
        </p:txBody>
      </p:sp>
      <p:sp>
        <p:nvSpPr>
          <p:cNvPr id="8" name="on:k1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records light and shade more accurately</a:t>
            </a:r>
            <a:endParaRPr lang="en-US" sz="1400" dirty="0"/>
          </a:p>
        </p:txBody>
      </p:sp>
      <p:sp>
        <p:nvSpPr>
          <p:cNvPr id="10" name="on:k1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always contains GPS metadata</a:t>
            </a:r>
            <a:endParaRPr lang="en-US" sz="1400" dirty="0"/>
          </a:p>
        </p:txBody>
      </p:sp>
      <p:sp>
        <p:nvSpPr>
          <p:cNvPr id="12" name="on:k1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 be printed at any size without losing quality</a:t>
            </a:r>
            <a:endParaRPr lang="en-US" sz="1400" dirty="0"/>
          </a:p>
        </p:txBody>
      </p:sp>
      <p:sp>
        <p:nvSpPr>
          <p:cNvPr id="14" name="on:k1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 can be printed at any size without losing quality  –  Signs are produced at many sizes, and a vector is redrawn sharply at each one.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converts the analogue signal from a microphone into digital samples?</a:t>
            </a:r>
            <a:endParaRPr lang="en-US" sz="1700" dirty="0"/>
          </a:p>
        </p:txBody>
      </p:sp>
      <p:sp>
        <p:nvSpPr>
          <p:cNvPr id="7" name="trig:k1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DAC</a:t>
            </a:r>
            <a:endParaRPr lang="en-US" sz="1600" dirty="0"/>
          </a:p>
        </p:txBody>
      </p:sp>
      <p:sp>
        <p:nvSpPr>
          <p:cNvPr id="8" name="on:k1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ALU</a:t>
            </a:r>
            <a:endParaRPr lang="en-US" sz="1600" dirty="0"/>
          </a:p>
        </p:txBody>
      </p:sp>
      <p:sp>
        <p:nvSpPr>
          <p:cNvPr id="10" name="on:k1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ADC</a:t>
            </a:r>
            <a:endParaRPr lang="en-US" sz="1600" dirty="0"/>
          </a:p>
        </p:txBody>
      </p:sp>
      <p:sp>
        <p:nvSpPr>
          <p:cNvPr id="12" name="on:k1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GPU</a:t>
            </a:r>
            <a:endParaRPr lang="en-US" sz="1600" dirty="0"/>
          </a:p>
        </p:txBody>
      </p:sp>
      <p:sp>
        <p:nvSpPr>
          <p:cNvPr id="14" name="on:k1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ADC  –  An analogue-to-digital converter measures the signal at regular intervals.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1-minute mono recording is made at 8,000 Hz with 8-bit samples. What is its size?</a:t>
            </a:r>
            <a:endParaRPr lang="en-US" sz="1700" dirty="0"/>
          </a:p>
        </p:txBody>
      </p:sp>
      <p:sp>
        <p:nvSpPr>
          <p:cNvPr id="7" name="trig:k1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480,000 bytes</a:t>
            </a:r>
            <a:endParaRPr lang="en-US" sz="1600" dirty="0"/>
          </a:p>
        </p:txBody>
      </p:sp>
      <p:sp>
        <p:nvSpPr>
          <p:cNvPr id="8" name="on:k1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64,000 bytes</a:t>
            </a:r>
            <a:endParaRPr lang="en-US" sz="1600" dirty="0"/>
          </a:p>
        </p:txBody>
      </p:sp>
      <p:sp>
        <p:nvSpPr>
          <p:cNvPr id="10" name="on:k1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3,840,000 bytes</a:t>
            </a:r>
            <a:endParaRPr lang="en-US" sz="1600" dirty="0"/>
          </a:p>
        </p:txBody>
      </p:sp>
      <p:sp>
        <p:nvSpPr>
          <p:cNvPr id="12" name="on:k1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60,000 bytes</a:t>
            </a:r>
            <a:endParaRPr lang="en-US" sz="1600" dirty="0"/>
          </a:p>
        </p:txBody>
      </p:sp>
      <p:sp>
        <p:nvSpPr>
          <p:cNvPr id="14" name="on:k1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480,000 bytes  –  8,000 × 8 × 1 × 60 = 3,840,000 bits; ÷ 8 = 480,000 bytes.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item of metadata is essential for displaying a bitmap correctly?</a:t>
            </a:r>
            <a:endParaRPr lang="en-US" sz="1700" dirty="0"/>
          </a:p>
        </p:txBody>
      </p:sp>
      <p:sp>
        <p:nvSpPr>
          <p:cNvPr id="7" name="trig:k1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camera model</a:t>
            </a:r>
            <a:endParaRPr lang="en-US" sz="1600" dirty="0"/>
          </a:p>
        </p:txBody>
      </p:sp>
      <p:sp>
        <p:nvSpPr>
          <p:cNvPr id="8" name="on:k1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image width in pixels</a:t>
            </a:r>
            <a:endParaRPr lang="en-US" sz="1600" dirty="0"/>
          </a:p>
        </p:txBody>
      </p:sp>
      <p:sp>
        <p:nvSpPr>
          <p:cNvPr id="10" name="on:k1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GPS location</a:t>
            </a:r>
            <a:endParaRPr lang="en-US" sz="1600" dirty="0"/>
          </a:p>
        </p:txBody>
      </p:sp>
      <p:sp>
        <p:nvSpPr>
          <p:cNvPr id="12" name="on:k1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date taken</a:t>
            </a:r>
            <a:endParaRPr lang="en-US" sz="1600" dirty="0"/>
          </a:p>
        </p:txBody>
      </p:sp>
      <p:sp>
        <p:nvSpPr>
          <p:cNvPr id="14" name="on:k1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image width in pixels  –  Width (with height and colour depth) tells software how to arrange the bits into rows of pixels.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CD audio use a sampling rate of 44,100 Hz?</a:t>
            </a:r>
            <a:endParaRPr lang="en-US" sz="1700" dirty="0"/>
          </a:p>
        </p:txBody>
      </p:sp>
      <p:sp>
        <p:nvSpPr>
          <p:cNvPr id="7" name="trig:k1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more than twice the highest frequency people can hear</a:t>
            </a:r>
            <a:endParaRPr lang="en-US" sz="1400" dirty="0"/>
          </a:p>
        </p:txBody>
      </p:sp>
      <p:sp>
        <p:nvSpPr>
          <p:cNvPr id="8" name="on:k1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gives 65,536 amplitude levels</a:t>
            </a:r>
            <a:endParaRPr lang="en-US" sz="1400" dirty="0"/>
          </a:p>
        </p:txBody>
      </p:sp>
      <p:sp>
        <p:nvSpPr>
          <p:cNvPr id="10" name="on:k1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matches the number of pixels on a CD</a:t>
            </a:r>
            <a:endParaRPr lang="en-US" sz="1400" dirty="0"/>
          </a:p>
        </p:txBody>
      </p:sp>
      <p:sp>
        <p:nvSpPr>
          <p:cNvPr id="12" name="on:k1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the maximum an ADC can manage</a:t>
            </a:r>
            <a:endParaRPr lang="en-US" sz="1400" dirty="0"/>
          </a:p>
        </p:txBody>
      </p:sp>
      <p:sp>
        <p:nvSpPr>
          <p:cNvPr id="14" name="on:k1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 is more than twice the highest frequency people can hear  –  Human hearing reaches about 20 kHz; Nyquist requires at least 40 kHz to reproduce 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photo is 1200 × 800 pixels with 24-bit colour. What is its size in bytes?</a:t>
            </a:r>
            <a:endParaRPr lang="en-US" sz="1700" dirty="0"/>
          </a:p>
        </p:txBody>
      </p:sp>
      <p:sp>
        <p:nvSpPr>
          <p:cNvPr id="7" name="trig:k1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960,000</a:t>
            </a:r>
            <a:endParaRPr lang="en-US" sz="1600" dirty="0"/>
          </a:p>
        </p:txBody>
      </p:sp>
      <p:sp>
        <p:nvSpPr>
          <p:cNvPr id="8" name="on:k1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23,040,000</a:t>
            </a:r>
            <a:endParaRPr lang="en-US" sz="1600" dirty="0"/>
          </a:p>
        </p:txBody>
      </p:sp>
      <p:sp>
        <p:nvSpPr>
          <p:cNvPr id="10" name="on:k1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2,880,000</a:t>
            </a:r>
            <a:endParaRPr lang="en-US" sz="1600" dirty="0"/>
          </a:p>
        </p:txBody>
      </p:sp>
      <p:sp>
        <p:nvSpPr>
          <p:cNvPr id="12" name="on:k1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7,680,000</a:t>
            </a:r>
            <a:endParaRPr lang="en-US" sz="1600" dirty="0"/>
          </a:p>
        </p:txBody>
      </p:sp>
      <p:sp>
        <p:nvSpPr>
          <p:cNvPr id="14" name="on:k1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2,880,000  –  960,000 pixels × 3 bytes = 2,880,000 bytes (23,040,000 is the size in bits).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pixel can take 2⁴ = 16 different values, so 16 colours.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30,000 bytes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10,000 pixels × 24 bits = 240,000 bits; ÷ 8 = 30,000 bytes.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Sample resolution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Sample resolution is also called bit depth.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can be printed at any size without losing quality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Signs are produced at many sizes, and a vector is redrawn sharply at each one.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ADC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analogue-to-digital converter measures the signal at regular intervals.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480,000 bytes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8,000 × 8 × 1 × 60 = 3,840,000 bits; ÷ 8 = 480,000 bytes.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image width in pixels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Width (with height and colour depth) tells software how to arrange the bits into rows of pixels.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is more than twice the highest frequency people can hear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Human hearing reaches about 20 kHz; Nyquist requires at least 40 kHz to reproduce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2,880,000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960,000 pixels × 3 bytes = 2,880,000 bytes (23,040,000 is the size in bits).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48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147</Slides>
  <Notes>147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</dc:title>
  <dc:subject>AS 2: Fundamentals of Digital Technology – Data representation</dc:subject>
  <dc:creator>Digital Technology Hub</dc:creator>
  <cp:lastModifiedBy>Digital Technology Hub</cp:lastModifiedBy>
  <cp:revision>1</cp:revision>
  <dcterms:created xsi:type="dcterms:W3CDTF">2026-10-30T13:16:03Z</dcterms:created>
  <dcterms:modified xsi:type="dcterms:W3CDTF">2026-10-30T13:16:03Z</dcterms:modified>
</cp:coreProperties>
</file>