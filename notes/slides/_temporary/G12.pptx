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</p:sldIdLst>
  <p:notesMasterIdLst>
    <p:notesMasterId r:id="rId6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opic overview" id="{5e9bfcc4-5df2-9fcc-ba1e-86c08d2f55fa}">
          <p14:sldIdLst>
            <p14:sldId id="256"/>
            <p14:sldId id="257"/>
            <p14:sldId id="258"/>
          </p14:sldIdLst>
        </p14:section>
        <p14:section name="FD06 · Data, information and knowledge; quality of information; validation and v" id="{37401109-56d9-0f28-a53d-4279d8d18b59}">
          <p14:sldIdLst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7"/>
            <p14:sldId id="278"/>
            <p14:sldId id="279"/>
            <p14:sldId id="280"/>
            <p14:sldId id="281"/>
            <p14:sldId id="282"/>
            <p14:sldId id="283"/>
            <p14:sldId id="284"/>
            <p14:sldId id="285"/>
            <p14:sldId id="286"/>
          </p14:sldIdLst>
        </p14:section>
        <p14:section name="FD07 · Check digits, batch totals, data capture and processing methods" id="{5db9c2c9-7f17-8251-5a82-74f9ff291e2b}">
          <p14:sldIdLst>
            <p14:sldId id="287"/>
            <p14:sldId id="288"/>
            <p14:sldId id="289"/>
            <p14:sldId id="290"/>
            <p14:sldId id="291"/>
            <p14:sldId id="292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notesMaster" Target="notesMasters/notesMaster1.xml"/><Relationship Id="rId62" Type="http://schemas.openxmlformats.org/officeDocument/2006/relationships/presProps" Target="presProps.xml"/><Relationship Id="rId63" Type="http://schemas.openxmlformats.org/officeDocument/2006/relationships/viewProps" Target="viewProps.xml"/><Relationship Id="rId64" Type="http://schemas.openxmlformats.org/officeDocument/2006/relationships/theme" Target="theme/theme1.xml"/><Relationship Id="rId6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lesson below is its own section in PowerPoint (View → Slide Sorter shows them). To split this deck by specification point, right-click a section → Move Section, or delete the sections you do not need.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Specification: Distinguish between data, information and knowledge by using examples | Describe how the quality of information is affected by accuracy, relevance, being up to date, completeness, presentation and reliability | Describe and apply the range, type, length, format, presence and lookup validation checks | Explain the purpose of the verification methods double entry and proofreading | Explain the limitations of data validation and data verification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menu: each button jumps to that part of the lesson in Slide Show. The ☰ Menu button on each slide returns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diagram in your own words before you read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Specification: Explain the purpose of check digits and calculate and check a Modulus 11 check digit | Explain the purpose of batch totals, control totals and hash totals and apply them to a batch of documents | Describe manual and automated methods of data capture | Describe batch and real-time processing, distinguishing real-time transaction (online) processing from real-time control, and select an appropriate method for a given application | Explain multitasking, multi-user and multithreading in the context of processing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Lesson menu: each button jumps to that part of the lesson in Slide Show. The ☰ Menu button on each slide returns here.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diagram in your own words before you read 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150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rgbClr val="F5E6DA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E4ECE6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rgbClr val="11503E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7316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6675E"/>
                </a:solidFill>
              </a:rPr>
              <a:t>CCEA GCE Digital Technology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rgbClr val="0E1D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548640"/>
            <a:ext cx="731520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200" kern="0" dirty="0">
                <a:solidFill>
                  <a:srgbClr val="F5E6DA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868680"/>
            <a:ext cx="78638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rgbClr val="FFFFFF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783080"/>
            <a:ext cx="7863840" cy="2834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rgbClr val="E4ECE6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E4ECE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32.xml"/><Relationship Id="rId1" Type="http://schemas.openxmlformats.org/officeDocument/2006/relationships/image" Target="../media/image-2-1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image" Target="../media/image-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" Target="slide6.xml"/><Relationship Id="rId3" Type="http://schemas.openxmlformats.org/officeDocument/2006/relationships/slide" Target="slide7.xml"/><Relationship Id="rId4" Type="http://schemas.openxmlformats.org/officeDocument/2006/relationships/slide" Target="slide8.xml"/><Relationship Id="rId5" Type="http://schemas.openxmlformats.org/officeDocument/2006/relationships/slide" Target="slide9.xml"/><Relationship Id="rId6" Type="http://schemas.openxmlformats.org/officeDocument/2006/relationships/slide" Target="slide10.xml"/><Relationship Id="rId7" Type="http://schemas.openxmlformats.org/officeDocument/2006/relationships/slide" Target="slide11.xml"/><Relationship Id="rId8" Type="http://schemas.openxmlformats.org/officeDocument/2006/relationships/slide" Target="slide13.xml"/><Relationship Id="rId9" Type="http://schemas.openxmlformats.org/officeDocument/2006/relationships/slide" Target="slide14.xml"/><Relationship Id="rId10" Type="http://schemas.openxmlformats.org/officeDocument/2006/relationships/slide" Target="slide15.xml"/><Relationship Id="rId11" Type="http://schemas.openxmlformats.org/officeDocument/2006/relationships/slide" Target="slide16.xml"/><Relationship Id="rId12" Type="http://schemas.openxmlformats.org/officeDocument/2006/relationships/slide" Target="slide18.xml"/><Relationship Id="rId13" Type="http://schemas.openxmlformats.org/officeDocument/2006/relationships/slide" Target="slide19.xml"/><Relationship Id="rId14" Type="http://schemas.openxmlformats.org/officeDocument/2006/relationships/slide" Target="slide20.xml"/><Relationship Id="rId15" Type="http://schemas.openxmlformats.org/officeDocument/2006/relationships/slide" Target="slide21.xml"/><Relationship Id="rId16" Type="http://schemas.openxmlformats.org/officeDocument/2006/relationships/slide" Target="slide22.xml"/><Relationship Id="rId17" Type="http://schemas.openxmlformats.org/officeDocument/2006/relationships/slide" Target="slide2.xml"/><Relationship Id="rId1" Type="http://schemas.openxmlformats.org/officeDocument/2006/relationships/image" Target="../media/image-5-1.png"/><Relationship Id="rId18" Type="http://schemas.openxmlformats.org/officeDocument/2006/relationships/slideLayout" Target="../slideLayouts/slideLayout3.xml"/><Relationship Id="rId1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5.xml"/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1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2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3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" Target="slide5.xml"/><Relationship Id="rId1" Type="http://schemas.openxmlformats.org/officeDocument/2006/relationships/image" Target="../media/image-3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" Target="slide34.xml"/><Relationship Id="rId3" Type="http://schemas.openxmlformats.org/officeDocument/2006/relationships/slide" Target="slide35.xml"/><Relationship Id="rId4" Type="http://schemas.openxmlformats.org/officeDocument/2006/relationships/slide" Target="slide36.xml"/><Relationship Id="rId5" Type="http://schemas.openxmlformats.org/officeDocument/2006/relationships/slide" Target="slide37.xml"/><Relationship Id="rId6" Type="http://schemas.openxmlformats.org/officeDocument/2006/relationships/slide" Target="slide38.xml"/><Relationship Id="rId7" Type="http://schemas.openxmlformats.org/officeDocument/2006/relationships/slide" Target="slide39.xml"/><Relationship Id="rId8" Type="http://schemas.openxmlformats.org/officeDocument/2006/relationships/slide" Target="slide40.xml"/><Relationship Id="rId9" Type="http://schemas.openxmlformats.org/officeDocument/2006/relationships/slide" Target="slide41.xml"/><Relationship Id="rId10" Type="http://schemas.openxmlformats.org/officeDocument/2006/relationships/slide" Target="slide42.xml"/><Relationship Id="rId11" Type="http://schemas.openxmlformats.org/officeDocument/2006/relationships/slide" Target="slide43.xml"/><Relationship Id="rId12" Type="http://schemas.openxmlformats.org/officeDocument/2006/relationships/slide" Target="slide44.xml"/><Relationship Id="rId13" Type="http://schemas.openxmlformats.org/officeDocument/2006/relationships/slide" Target="slide46.xml"/><Relationship Id="rId14" Type="http://schemas.openxmlformats.org/officeDocument/2006/relationships/slide" Target="slide47.xml"/><Relationship Id="rId15" Type="http://schemas.openxmlformats.org/officeDocument/2006/relationships/slide" Target="slide48.xml"/><Relationship Id="rId16" Type="http://schemas.openxmlformats.org/officeDocument/2006/relationships/slide" Target="slide49.xml"/><Relationship Id="rId17" Type="http://schemas.openxmlformats.org/officeDocument/2006/relationships/slide" Target="slide50.xml"/><Relationship Id="rId18" Type="http://schemas.openxmlformats.org/officeDocument/2006/relationships/slide" Target="slide2.xml"/><Relationship Id="rId1" Type="http://schemas.openxmlformats.org/officeDocument/2006/relationships/image" Target="../media/image-33-1.png"/><Relationship Id="rId19" Type="http://schemas.openxmlformats.org/officeDocument/2006/relationships/slideLayout" Target="../slideLayouts/slideLayout3.xml"/><Relationship Id="rId20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" Target="slide33.xml"/><Relationship Id="rId1" Type="http://schemas.openxmlformats.org/officeDocument/2006/relationships/image" Target="../media/image-34-1.png"/><Relationship Id="rId2" Type="http://schemas.openxmlformats.org/officeDocument/2006/relationships/image" Target="../media/image-34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slide" Target="slide33.xml"/><Relationship Id="rId1" Type="http://schemas.openxmlformats.org/officeDocument/2006/relationships/image" Target="../media/image-3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" Target="slide33.xml"/><Relationship Id="rId1" Type="http://schemas.openxmlformats.org/officeDocument/2006/relationships/image" Target="../media/image-3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slide" Target="slide33.xml"/><Relationship Id="rId1" Type="http://schemas.openxmlformats.org/officeDocument/2006/relationships/image" Target="../media/image-3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slide" Target="slide33.xml"/><Relationship Id="rId1" Type="http://schemas.openxmlformats.org/officeDocument/2006/relationships/image" Target="../media/image-3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slide" Target="slide33.xml"/><Relationship Id="rId1" Type="http://schemas.openxmlformats.org/officeDocument/2006/relationships/image" Target="../media/image-3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slide" Target="slide33.xml"/><Relationship Id="rId1" Type="http://schemas.openxmlformats.org/officeDocument/2006/relationships/image" Target="../media/image-4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slide" Target="slide33.xml"/><Relationship Id="rId1" Type="http://schemas.openxmlformats.org/officeDocument/2006/relationships/image" Target="../media/image-4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slide" Target="slide33.xml"/><Relationship Id="rId1" Type="http://schemas.openxmlformats.org/officeDocument/2006/relationships/image" Target="../media/image-4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slide" Target="slide33.xml"/><Relationship Id="rId1" Type="http://schemas.openxmlformats.org/officeDocument/2006/relationships/image" Target="../media/image-4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slide" Target="slide33.xml"/><Relationship Id="rId1" Type="http://schemas.openxmlformats.org/officeDocument/2006/relationships/image" Target="../media/image-4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slide" Target="slide33.xml"/><Relationship Id="rId1" Type="http://schemas.openxmlformats.org/officeDocument/2006/relationships/image" Target="../media/image-4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slide" Target="slide33.xml"/><Relationship Id="rId1" Type="http://schemas.openxmlformats.org/officeDocument/2006/relationships/image" Target="../media/image-4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slide" Target="slide33.xml"/><Relationship Id="rId1" Type="http://schemas.openxmlformats.org/officeDocument/2006/relationships/image" Target="../media/image-4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slide" Target="slide33.xml"/><Relationship Id="rId1" Type="http://schemas.openxmlformats.org/officeDocument/2006/relationships/image" Target="../media/image-4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slide" Target="slide33.xml"/><Relationship Id="rId1" Type="http://schemas.openxmlformats.org/officeDocument/2006/relationships/image" Target="../media/image-4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slide" Target="slide33.xml"/><Relationship Id="rId1" Type="http://schemas.openxmlformats.org/officeDocument/2006/relationships/image" Target="../media/image-50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slide" Target="slide33.xml"/><Relationship Id="rId1" Type="http://schemas.openxmlformats.org/officeDocument/2006/relationships/image" Target="../media/image-51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slide" Target="slide33.xml"/><Relationship Id="rId1" Type="http://schemas.openxmlformats.org/officeDocument/2006/relationships/image" Target="../media/image-52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slide" Target="slide33.xml"/><Relationship Id="rId1" Type="http://schemas.openxmlformats.org/officeDocument/2006/relationships/image" Target="../media/image-53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slide" Target="slide33.xml"/><Relationship Id="rId1" Type="http://schemas.openxmlformats.org/officeDocument/2006/relationships/image" Target="../media/image-54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slide" Target="slide33.xml"/><Relationship Id="rId1" Type="http://schemas.openxmlformats.org/officeDocument/2006/relationships/image" Target="../media/image-55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slide" Target="slide33.xml"/><Relationship Id="rId1" Type="http://schemas.openxmlformats.org/officeDocument/2006/relationships/image" Target="../media/image-5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" Target="slide33.xml"/><Relationship Id="rId1" Type="http://schemas.openxmlformats.org/officeDocument/2006/relationships/image" Target="../media/image-57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slide" Target="slide33.xml"/><Relationship Id="rId1" Type="http://schemas.openxmlformats.org/officeDocument/2006/relationships/image" Target="../media/image-58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slide" Target="slide33.xml"/><Relationship Id="rId1" Type="http://schemas.openxmlformats.org/officeDocument/2006/relationships/image" Target="../media/image-59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AS 2: FUNDAMENTALS OF DIGITAL TECHNOLOGY  ·  TOPIC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</a:rPr>
              <a:t>Data and information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Lessons in this topic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FD06  Data, information and knowledge; quality of information; validation and verification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FD07  Check digits, batch totals, data capture and processing methods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4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Topic menu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45720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5221C"/>
                </a:solidFill>
                <a:hlinkClick r:id="rId2" action="ppaction://hlinksldjump" tooltip="Specification map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Specification map</a:t>
            </a:r>
            <a:endParaRPr lang="en-US" sz="1500" dirty="0"/>
          </a:p>
        </p:txBody>
      </p:sp>
      <p:sp>
        <p:nvSpPr>
          <p:cNvPr id="7" name="btn">
            <a:hlinkClick r:id="rId3" action="ppaction://hlinksldjump"/>
          </p:cNvPr>
          <p:cNvSpPr/>
          <p:nvPr/>
        </p:nvSpPr>
        <p:spPr>
          <a:xfrm>
            <a:off x="457200" y="1984248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3" action="ppaction://hlinksldjump" tooltip="FD06  Data, information and knowledge; quality of information; validation and verifica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FD06  Data, information and knowledge; quality of information; validation and verification</a:t>
            </a:r>
            <a:endParaRPr lang="en-US" sz="1200" dirty="0"/>
          </a:p>
        </p:txBody>
      </p:sp>
      <p:sp>
        <p:nvSpPr>
          <p:cNvPr id="8" name="btn">
            <a:hlinkClick r:id="rId4" action="ppaction://hlinksldjump"/>
          </p:cNvPr>
          <p:cNvSpPr/>
          <p:nvPr/>
        </p:nvSpPr>
        <p:spPr>
          <a:xfrm>
            <a:off x="4640580" y="1325880"/>
            <a:ext cx="4046220" cy="566928"/>
          </a:xfrm>
          <a:prstGeom prst="roundRect">
            <a:avLst>
              <a:gd name="adj" fmla="val 12903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4" action="ppaction://hlinksldjump" tooltip="FD07  Check digits, batch totals, data capture and processing method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FD07  Check digits, batch totals, data capture and processing methods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2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Specification map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722376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Lesson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Specification: students should be able to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FD06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Distinguish between data, information and knowledge by using examples; Describe how the quality of information is affected by accuracy, relevance, being up to date, completeness, presentation and reliability; Describe and apply the range, type, length, format, presence and lookup validation checks; Explain the purpose of the verification methods double entry and proofreading; Explain the limitations of data validation and data verification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FD07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Explain the purpose of check digits and calculate and check a Modulus 11 check digit; Explain the purpose of batch totals, control totals and hash totals and apply them to a batch of documents; Describe manual and automated methods of data capture; Describe batch and real-time processing, distinguishing real-time transaction (online) processing from real-time control, and select an appropriate method for a given application; Explain multitasking, multi-user and multithreading in the context of processing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Graphic spid="4" grpId="0">
        <p:bldAsOne/>
      </p:bldGraphic>
      <p:bldP spid="7" grpId="0" animBg="1"/>
      <p:bldP spid="2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AS 2: FUNDAMENTALS OF DIGITAL TECHNOLOGY  ·  FD06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Data, information and knowledge; quality of information; validation and verification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Learning objectives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Use one real example to show how raw data becomes information and then knowledge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Evaluate the quality of information using accuracy, relevance, currency, completeness, presentation and reliability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Choose and describe a suitable validation check, with its exact rule, for a given field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Compare validation with verification and explain why neither can guarantee that data is correct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3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6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this lesson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457200" y="132588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2" action="ppaction://hlinksldjump" tooltip="The big pictu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big picture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457200" y="1892808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3" action="ppaction://hlinksldjump" tooltip="Data, information, knowledg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Data, information, knowledge</a:t>
            </a:r>
            <a:endParaRPr lang="en-US" sz="1200" dirty="0"/>
          </a:p>
        </p:txBody>
      </p:sp>
      <p:sp>
        <p:nvSpPr>
          <p:cNvPr id="9" name="btn">
            <a:hlinkClick r:id="rId4" action="ppaction://hlinksldjump"/>
          </p:cNvPr>
          <p:cNvSpPr/>
          <p:nvPr/>
        </p:nvSpPr>
        <p:spPr>
          <a:xfrm>
            <a:off x="457200" y="2459736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4" action="ppaction://hlinksldjump" tooltip="From data to information to knowledg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From data to information to knowledge</a:t>
            </a:r>
            <a:endParaRPr lang="en-US" sz="1200" dirty="0"/>
          </a:p>
        </p:txBody>
      </p:sp>
      <p:sp>
        <p:nvSpPr>
          <p:cNvPr id="10" name="btn">
            <a:hlinkClick r:id="rId5" action="ppaction://hlinksldjump"/>
          </p:cNvPr>
          <p:cNvSpPr/>
          <p:nvPr/>
        </p:nvSpPr>
        <p:spPr>
          <a:xfrm>
            <a:off x="457200" y="3026664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5" action="ppaction://hlinksldjump" tooltip="Worked example: rugby club fitness test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Worked example: rugby club fitness testing</a:t>
            </a:r>
            <a:endParaRPr lang="en-US" sz="1200" dirty="0"/>
          </a:p>
        </p:txBody>
      </p:sp>
      <p:sp>
        <p:nvSpPr>
          <p:cNvPr id="11" name="btn">
            <a:hlinkClick r:id="rId6" action="ppaction://hlinksldjump"/>
          </p:cNvPr>
          <p:cNvSpPr/>
          <p:nvPr/>
        </p:nvSpPr>
        <p:spPr>
          <a:xfrm>
            <a:off x="457200" y="3593592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6" action="ppaction://hlinksldjump" tooltip="Garbage in, garbage out (GIGO)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Garbage in, garbage out (GIGO)</a:t>
            </a:r>
            <a:endParaRPr lang="en-US" sz="1200" dirty="0"/>
          </a:p>
        </p:txBody>
      </p:sp>
      <p:sp>
        <p:nvSpPr>
          <p:cNvPr id="12" name="btn">
            <a:hlinkClick r:id="rId7" action="ppaction://hlinksldjump"/>
          </p:cNvPr>
          <p:cNvSpPr/>
          <p:nvPr/>
        </p:nvSpPr>
        <p:spPr>
          <a:xfrm>
            <a:off x="457200" y="416052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7" action="ppaction://hlinksldjump" tooltip="Six factors that affect the quality of informa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Six factors that affect the quality of information</a:t>
            </a:r>
            <a:endParaRPr lang="en-US" sz="1200" dirty="0"/>
          </a:p>
        </p:txBody>
      </p:sp>
      <p:sp>
        <p:nvSpPr>
          <p:cNvPr id="13" name="btn">
            <a:hlinkClick r:id="rId8" action="ppaction://hlinksldjump"/>
          </p:cNvPr>
          <p:cNvSpPr/>
          <p:nvPr/>
        </p:nvSpPr>
        <p:spPr>
          <a:xfrm>
            <a:off x="3246120" y="132588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8" action="ppaction://hlinksldjump" tooltip="The value of informa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value of information</a:t>
            </a:r>
            <a:endParaRPr lang="en-US" sz="1200" dirty="0"/>
          </a:p>
        </p:txBody>
      </p:sp>
      <p:sp>
        <p:nvSpPr>
          <p:cNvPr id="14" name="btn">
            <a:hlinkClick r:id="rId9" action="ppaction://hlinksldjump"/>
          </p:cNvPr>
          <p:cNvSpPr/>
          <p:nvPr/>
        </p:nvSpPr>
        <p:spPr>
          <a:xfrm>
            <a:off x="3246120" y="1892808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9" action="ppaction://hlinksldjump" tooltip="Valida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Validation</a:t>
            </a:r>
            <a:endParaRPr lang="en-US" sz="1200" dirty="0"/>
          </a:p>
        </p:txBody>
      </p:sp>
      <p:sp>
        <p:nvSpPr>
          <p:cNvPr id="15" name="btn">
            <a:hlinkClick r:id="rId10" action="ppaction://hlinksldjump"/>
          </p:cNvPr>
          <p:cNvSpPr/>
          <p:nvPr/>
        </p:nvSpPr>
        <p:spPr>
          <a:xfrm>
            <a:off x="3246120" y="2459736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0" action="ppaction://hlinksldjump" tooltip="Validation checks and their rule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Validation checks and their rules</a:t>
            </a:r>
            <a:endParaRPr lang="en-US" sz="1200" dirty="0"/>
          </a:p>
        </p:txBody>
      </p:sp>
      <p:sp>
        <p:nvSpPr>
          <p:cNvPr id="16" name="btn">
            <a:hlinkClick r:id="rId11" action="ppaction://hlinksldjump"/>
          </p:cNvPr>
          <p:cNvSpPr/>
          <p:nvPr/>
        </p:nvSpPr>
        <p:spPr>
          <a:xfrm>
            <a:off x="3246120" y="3026664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1" action="ppaction://hlinksldjump" tooltip="Validation in C#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Validation in C#</a:t>
            </a:r>
            <a:endParaRPr lang="en-US" sz="1200" dirty="0"/>
          </a:p>
        </p:txBody>
      </p:sp>
      <p:sp>
        <p:nvSpPr>
          <p:cNvPr id="17" name="btn">
            <a:hlinkClick r:id="rId12" action="ppaction://hlinksldjump"/>
          </p:cNvPr>
          <p:cNvSpPr/>
          <p:nvPr/>
        </p:nvSpPr>
        <p:spPr>
          <a:xfrm>
            <a:off x="3246120" y="3593592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2" action="ppaction://hlinksldjump" tooltip="Combining check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Combining checks</a:t>
            </a:r>
            <a:endParaRPr lang="en-US" sz="1200" dirty="0"/>
          </a:p>
        </p:txBody>
      </p:sp>
      <p:sp>
        <p:nvSpPr>
          <p:cNvPr id="18" name="btn">
            <a:hlinkClick r:id="rId13" action="ppaction://hlinksldjump"/>
          </p:cNvPr>
          <p:cNvSpPr/>
          <p:nvPr/>
        </p:nvSpPr>
        <p:spPr>
          <a:xfrm>
            <a:off x="3246120" y="416052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3" action="ppaction://hlinksldjump" tooltip="Verifica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Verification</a:t>
            </a:r>
            <a:endParaRPr lang="en-US" sz="1200" dirty="0"/>
          </a:p>
        </p:txBody>
      </p:sp>
      <p:sp>
        <p:nvSpPr>
          <p:cNvPr id="19" name="btn">
            <a:hlinkClick r:id="rId14" action="ppaction://hlinksldjump"/>
          </p:cNvPr>
          <p:cNvSpPr/>
          <p:nvPr/>
        </p:nvSpPr>
        <p:spPr>
          <a:xfrm>
            <a:off x="6035040" y="132588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4" action="ppaction://hlinksldjump" tooltip="Validation or verification?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Validation or verification?</a:t>
            </a:r>
            <a:endParaRPr lang="en-US" sz="1200" dirty="0"/>
          </a:p>
        </p:txBody>
      </p:sp>
      <p:sp>
        <p:nvSpPr>
          <p:cNvPr id="20" name="btn">
            <a:hlinkClick r:id="rId15" action="ppaction://hlinksldjump"/>
          </p:cNvPr>
          <p:cNvSpPr/>
          <p:nvPr/>
        </p:nvSpPr>
        <p:spPr>
          <a:xfrm>
            <a:off x="6035040" y="1892808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5" action="ppaction://hlinksldjump" tooltip="Limitations of validation and verifica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Limitations of validation and verification</a:t>
            </a:r>
            <a:endParaRPr lang="en-US" sz="1200" dirty="0"/>
          </a:p>
        </p:txBody>
      </p:sp>
      <p:sp>
        <p:nvSpPr>
          <p:cNvPr id="21" name="btn">
            <a:hlinkClick r:id="rId16" action="ppaction://hlinksldjump"/>
          </p:cNvPr>
          <p:cNvSpPr/>
          <p:nvPr/>
        </p:nvSpPr>
        <p:spPr>
          <a:xfrm>
            <a:off x="6035040" y="2459736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16" action="ppaction://hlinksldjump" tooltip="Exit qui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Exit quiz</a:t>
            </a:r>
            <a:endParaRPr lang="en-US" sz="1200" dirty="0"/>
          </a:p>
        </p:txBody>
      </p:sp>
      <p:sp>
        <p:nvSpPr>
          <p:cNvPr id="22" name="btn">
            <a:hlinkClick r:id="rId17" action="ppaction://hlinksldjump"/>
          </p:cNvPr>
          <p:cNvSpPr/>
          <p:nvPr/>
        </p:nvSpPr>
        <p:spPr>
          <a:xfrm>
            <a:off x="6035040" y="3026664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17" action="ppaction://hlinksldjump" tooltip="↑  Topic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 Topic menu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big picture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pic>
        <p:nvPicPr>
          <p:cNvPr id="5" name="anim:auto" descr="Data becomes information when it is processed and given context, and information becomes knowledge when it is interpreted and applied; validation and verification compare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496" y="1143000"/>
            <a:ext cx="5779008" cy="325069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Data becomes information when it is processed and given context, and information becomes knowledge when it is interpreted and applied; validation and verification compared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3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8" grpId="0" animBg="1"/>
      <p:bldP spid="2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Data, information, knowledge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390197"/>
                <a:gridCol w="3582714"/>
                <a:gridCol w="425669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Term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Meaning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Example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Data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Raw facts and figures with no context, so no meaning on their own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BT74 6DQ, 07:42, 14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Information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Data that has been processed and given context so that it has meaning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The 07:42 Translink bus from Enniskillen (BT74) was 14 minutes late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Knowledge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The result of applying a rule (or experience) to information so that an informed decision can be made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Rule: if the bus is more than 10 minutes late, pupils are not marked late. So the pupils on that bus are not marked late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8" grpId="0">
        <p:bldAsOne/>
      </p:bldGraphic>
      <p:bldP spid="2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From data to information to knowledge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Data can be numbers, text, dates, codes, images or sound – anything that can be stored – but without context we cannot tell what it means.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Information = data + context + meaning. Processing (sorting, calculating, labelling, summarising) adds the context.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Knowledge comes from applying a rule, or a set of rules, to information so that a better, informed decision can be made.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The same data can produce different information in different contexts: 120 could be a speed limit, a weight or a mark.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Organisations collect data to produce information that supports decisions at every level, from daily stock orders to long-term plans.</a:t>
            </a:r>
            <a:endParaRPr lang="en-US" sz="16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Worked example: rugby club fitness testing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765544"/>
                <a:gridCol w="4720856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Level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What the club sees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Data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11.2   9.6   12.4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Just numbers – no context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Information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Bleep-test levels for three U16 players: Ciarán 11.2, Josh 9.6, Ellie 12.4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Labels and context give the numbers meaning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Rule applied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Any player below level 10 joins the extra conditioning group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 rule set by the coach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Knowledge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Josh needs to join the extra conditioning group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The rule turns information into a decision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10" grpId="0">
        <p:bldAsOne/>
      </p:bldGraphic>
      <p:bldP spid="2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Garbage in, garbage out (GIGO)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Information can only be as good as the data it is produced from: poor input gives poor output, however good the system is.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Transcription error: data is mistyped on entry, e.g. 1500 entered instead of 150 tins in a stock system.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Transposition error: two characters swap places, e.g. a patient number 40719 entered as 47019.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Incorrect formulae: a spreadsheet total that misses a row; cross-check totals calculated two different ways.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Biased collection: badly worded or poorly targeted surveys, e.g. only asking people who already use a service.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Bad information can be worse than none, because decisions are made with false confidence.</a:t>
            </a:r>
            <a:endParaRPr lang="en-US" sz="15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1503E"/>
                </a:solidFill>
              </a:rPr>
              <a:t>Six factors that affect the quality of information (1 of 2)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3257550"/>
                <a:gridCol w="382905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Factor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Meaning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What goes wrong without it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Accurate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Recorded exactly, free from errors; estimates are flagged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 hospital doses medicine using a wrongly recorded weight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Relevant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Only what this user needs for this purpose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 principal gets 40 pages of raw data instead of a one-page summary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Up to date (current)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Reflects the situation now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 café orders stock using last month's sales, not this week's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Complete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Nothing needed for the decision is missing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 re-order alert gives the product but not the size or pack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Well-presented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Easy to understand; suitable format (chart, map, audio)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 table of 300 bus times when a route map would be clearer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12" grpId="0">
        <p:bldAsOne/>
      </p:bldGraphic>
      <p:bldP spid="2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1503E"/>
                </a:solidFill>
              </a:rPr>
              <a:t>Six factors that affect the quality of information (2 of 2)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3257550"/>
                <a:gridCol w="382905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Factor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Meaning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What goes wrong without it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Reliable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From a trustworthy, authoritative, verified source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 rumour on social media is reported as fact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13" grpId="0">
        <p:bldAsOne/>
      </p:bldGraphic>
      <p:bldP spid="2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value of information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Information has value when it improves decisions, saves cost, improves customer service or gives an advantage over competitors.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Customer data can be used to plan stock, target marketing or personalise services.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Its value falls if it is late, inaccurate, incomplete or equally available to competitors.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Collecting, storing and securing information costs money, so its value must outweigh its cost.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Personal data must be processed lawfully under the UK GDPR and the Data Protection Act 2018.</a:t>
            </a:r>
            <a:endParaRPr lang="en-US" sz="17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Validation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Validation is an automatic check, made by software as data is entered, that the input obeys set rules and is reasonable and sensible.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It rejects impossible or unreasonable data, e.g. an age of -3 or 470.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It does NOT check that data is correct: an age of 34 typed as 43 is still valid.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Validation and verification are two separate procedures; both are used to protect data integrity.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Checks: range, type, length, format, presence, lookup and check digit (check digits are covered in the next lesson).</a:t>
            </a:r>
            <a:endParaRPr lang="en-US" sz="17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Validation checks and their rules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627017"/>
                <a:gridCol w="3291840"/>
                <a:gridCol w="3526971"/>
                <a:gridCol w="783771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Check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What it tests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Example rule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Rejected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Range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Value lies between a lower and upper limit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Shoe size &gt;= 1 AND &lt;= 15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22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Type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Data is the correct data type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Number of tickets is an integer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two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Length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Correct number of characters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Mobile number is exactly 11 characters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0771234567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Format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Data matches a pattern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School code: 2 letters then 4 digits (LL9999)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1234AB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Presence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Something has been entered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Email address must not be blank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(empty)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Lookup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Value is in a list or file of valid values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Form class is one of 11A, 11B, 11C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11Z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16" grpId="0">
        <p:bldAsOne/>
      </p:bldGraphic>
      <p:bldP spid="2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Validation in C#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Each check is a condition; the first failure produces a clear message so the user can correct the input.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int.TryParse performs the type check without crashing on input such as "ten".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Array.IndexOf performs a lookup check against a list of valid values.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0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Validation in C# – code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de block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008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C#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72768"/>
            <a:ext cx="790956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string[] forms = { "11A", "11B", "11C" };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Console.Write("Form class: ");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form = Console.ReadLine() ?? "";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(form == "") Console.WriteLine("Presence check failed");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 if (Array.IndexOf(forms, form) == -1) Console.WriteLine("Lookup check failed");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 Console.WriteLine("Form class accepted");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Console.Write("Year group (8-14): ");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input = Console.ReadLine() ?? "";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(input == "") Console.WriteLine("Presence check failed");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 if (!int.TryParse(input, out int year)) Console.WriteLine("Type check failed");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 if (year &lt; 8 || year &gt; 14) Console.WriteLine("Range check failed");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 Console.WriteLine("Year group accepted");</a:t>
            </a:r>
            <a:endParaRPr lang="en-US" sz="1200" dirty="0"/>
          </a:p>
        </p:txBody>
      </p:sp>
      <p:sp>
        <p:nvSpPr>
          <p:cNvPr id="8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7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2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Combining checks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A single check rarely validates a field fully. A format check accepts 45/33/87 as DD/MM/YY although no such date exists.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A date normally needs a format check plus range checks on the day (1–31) and month (1–12) – or a routine that checks the date exists.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Even then, 31/04/2025 passes a 1–31 day check although April has 30 days.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A UK postcode needs a format check (several valid patterns) and a length check (5 to 7 characters without the space).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Choose the check that fits the rule in the question, and state the rule using the actual field and values.</a:t>
            </a:r>
            <a:endParaRPr lang="en-US" sz="17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Verification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Verification checks that data has been entered or copied accurately, so that the copy exactly matches the original source.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Double entry: data is entered twice and the computer compares the two; any difference is flagged (e.g. new passwords, email addresses).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Proofreading (visual check): the entered data is compared by eye with the source document, ideally by a different person.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On-screen confirmation: the user is shown the details and asked 'Is this correct?' before submitting.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Backups and copied files are verified by comparing the copy with the original; transmission uses parity bits and checksums.</a:t>
            </a:r>
            <a:endParaRPr lang="en-US" sz="17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Validation or verification?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5154804"/>
                <a:gridCol w="1989574"/>
                <a:gridCol w="108522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Situation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Check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Mark must be 0 to 100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Range check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Validation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Email typed into two boxes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Double entry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Verification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Postcode matches a pattern such as LL9 9LL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Format check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Validation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Pharmacist compares a printed label with the prescription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Proofreading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Verification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Form tutor must be on the staff list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Lookup check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Validation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Booking summary shown with 'Confirm details?'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On-screen confirmation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Verification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Graphic spid="21" grpId="0">
        <p:bldAsOne/>
      </p:bldGraphic>
      <p:bldP spid="2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Limitations of validation and verification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Validation only checks that data is reasonable, not that it is true: a valid but wrong value is accepted.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Verification only checks the copy against the source: if the source document is wrong, the copy is wrong too.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Double entry doubles the input workload and the same mistake can be typed twice.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Proofreading is slow and costly for large volumes and errors are missed when people rush or tire.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Together they reduce errors but can never eliminate them, so important data may need further checks.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1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A school records the value 14 for a pupil. Which of these turns that data into information?</a:t>
            </a:r>
            <a:endParaRPr lang="en-US" sz="1700" dirty="0"/>
          </a:p>
        </p:txBody>
      </p:sp>
      <p:sp>
        <p:nvSpPr>
          <p:cNvPr id="7" name="trig:k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Storing 14 as an integer</a:t>
            </a:r>
            <a:endParaRPr lang="en-US" sz="1400" dirty="0"/>
          </a:p>
        </p:txBody>
      </p:sp>
      <p:sp>
        <p:nvSpPr>
          <p:cNvPr id="8" name="on:k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Labelling it 'Days absent this term: 14'</a:t>
            </a:r>
            <a:endParaRPr lang="en-US" sz="1400" dirty="0"/>
          </a:p>
        </p:txBody>
      </p:sp>
      <p:sp>
        <p:nvSpPr>
          <p:cNvPr id="10" name="on:k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Typing 14 twice to check it</a:t>
            </a:r>
            <a:endParaRPr lang="en-US" sz="1400" dirty="0"/>
          </a:p>
        </p:txBody>
      </p:sp>
      <p:sp>
        <p:nvSpPr>
          <p:cNvPr id="12" name="on:k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Rounding 14 to 10</a:t>
            </a:r>
            <a:endParaRPr lang="en-US" sz="1400" dirty="0"/>
          </a:p>
        </p:txBody>
      </p:sp>
      <p:sp>
        <p:nvSpPr>
          <p:cNvPr id="14" name="on:k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2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B: Labelling it 'Days absent this term: 14'  –  Adding context (what the 14 measures) gives the data meaning, which makes it information.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2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Why would validation NOT detect that a customer's age has been typed as 34 instead of 43?</a:t>
            </a:r>
            <a:endParaRPr lang="en-US" sz="1700" dirty="0"/>
          </a:p>
        </p:txBody>
      </p:sp>
      <p:sp>
        <p:nvSpPr>
          <p:cNvPr id="7" name="trig:k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Validation only runs on text fields</a:t>
            </a:r>
            <a:endParaRPr lang="en-US" sz="1250" dirty="0"/>
          </a:p>
        </p:txBody>
      </p:sp>
      <p:sp>
        <p:nvSpPr>
          <p:cNvPr id="8" name="on:k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Validation only checks data after it has been stored</a:t>
            </a:r>
            <a:endParaRPr lang="en-US" sz="1250" dirty="0"/>
          </a:p>
        </p:txBody>
      </p:sp>
      <p:sp>
        <p:nvSpPr>
          <p:cNvPr id="10" name="on:k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34 is still a sensible, reasonable age, so it passes the rules</a:t>
            </a:r>
            <a:endParaRPr lang="en-US" sz="1250" dirty="0"/>
          </a:p>
        </p:txBody>
      </p:sp>
      <p:sp>
        <p:nvSpPr>
          <p:cNvPr id="12" name="on:k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Ages cannot be validated</a:t>
            </a:r>
            <a:endParaRPr lang="en-US" sz="1250" dirty="0"/>
          </a:p>
        </p:txBody>
      </p:sp>
      <p:sp>
        <p:nvSpPr>
          <p:cNvPr id="14" name="on:k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7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C: 34 is still a sensible, reasonable age, so it passes the rules  –  Validation checks reasonableness against rules, not truth; both values are valid ages.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3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Typing an email address into two boxes so they can be compared is…</a:t>
            </a:r>
            <a:endParaRPr lang="en-US" sz="1700" dirty="0"/>
          </a:p>
        </p:txBody>
      </p:sp>
      <p:sp>
        <p:nvSpPr>
          <p:cNvPr id="7" name="trig:k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 format check</a:t>
            </a:r>
            <a:endParaRPr lang="en-US" sz="1600" dirty="0"/>
          </a:p>
        </p:txBody>
      </p:sp>
      <p:sp>
        <p:nvSpPr>
          <p:cNvPr id="8" name="on:k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 range check</a:t>
            </a:r>
            <a:endParaRPr lang="en-US" sz="1600" dirty="0"/>
          </a:p>
        </p:txBody>
      </p:sp>
      <p:sp>
        <p:nvSpPr>
          <p:cNvPr id="10" name="on:k1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a lookup check</a:t>
            </a:r>
            <a:endParaRPr lang="en-US" sz="1600" dirty="0"/>
          </a:p>
        </p:txBody>
      </p:sp>
      <p:sp>
        <p:nvSpPr>
          <p:cNvPr id="12" name="on:k1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verification by double entry</a:t>
            </a:r>
            <a:endParaRPr lang="en-US" sz="1600" dirty="0"/>
          </a:p>
        </p:txBody>
      </p:sp>
      <p:sp>
        <p:nvSpPr>
          <p:cNvPr id="14" name="on:k1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12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D: verification by double entry  –  Double entry checks the data has been entered accurately, which is verification.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4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check would ensure that a mobile number contains exactly 11 characters?</a:t>
            </a:r>
            <a:endParaRPr lang="en-US" sz="1700" dirty="0"/>
          </a:p>
        </p:txBody>
      </p:sp>
      <p:sp>
        <p:nvSpPr>
          <p:cNvPr id="7" name="trig:k1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Length check</a:t>
            </a:r>
            <a:endParaRPr lang="en-US" sz="1600" dirty="0"/>
          </a:p>
        </p:txBody>
      </p:sp>
      <p:sp>
        <p:nvSpPr>
          <p:cNvPr id="8" name="on:k1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1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Range check</a:t>
            </a:r>
            <a:endParaRPr lang="en-US" sz="1600" dirty="0"/>
          </a:p>
        </p:txBody>
      </p:sp>
      <p:sp>
        <p:nvSpPr>
          <p:cNvPr id="10" name="on:k1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Presence check</a:t>
            </a:r>
            <a:endParaRPr lang="en-US" sz="1600" dirty="0"/>
          </a:p>
        </p:txBody>
      </p:sp>
      <p:sp>
        <p:nvSpPr>
          <p:cNvPr id="12" name="on:k1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1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Lookup check</a:t>
            </a:r>
            <a:endParaRPr lang="en-US" sz="1600" dirty="0"/>
          </a:p>
        </p:txBody>
      </p:sp>
      <p:sp>
        <p:nvSpPr>
          <p:cNvPr id="14" name="on:k1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3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Length check  –  A length check tests the number of characters entered.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5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A café uses last month's sales figures to order this week's stock. Which quality factor is lacking?</a:t>
            </a:r>
            <a:endParaRPr lang="en-US" sz="1700" dirty="0"/>
          </a:p>
        </p:txBody>
      </p:sp>
      <p:sp>
        <p:nvSpPr>
          <p:cNvPr id="7" name="trig:k1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Presentation</a:t>
            </a:r>
            <a:endParaRPr lang="en-US" sz="1600" dirty="0"/>
          </a:p>
        </p:txBody>
      </p:sp>
      <p:sp>
        <p:nvSpPr>
          <p:cNvPr id="8" name="on:k1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1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Reliability</a:t>
            </a:r>
            <a:endParaRPr lang="en-US" sz="1600" dirty="0"/>
          </a:p>
        </p:txBody>
      </p:sp>
      <p:sp>
        <p:nvSpPr>
          <p:cNvPr id="10" name="on:k1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1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Up to date (currency)</a:t>
            </a:r>
            <a:endParaRPr lang="en-US" sz="1600" dirty="0"/>
          </a:p>
        </p:txBody>
      </p:sp>
      <p:sp>
        <p:nvSpPr>
          <p:cNvPr id="12" name="on:k1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2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Relevance</a:t>
            </a:r>
            <a:endParaRPr lang="en-US" sz="1600" dirty="0"/>
          </a:p>
        </p:txBody>
      </p:sp>
      <p:sp>
        <p:nvSpPr>
          <p:cNvPr id="14" name="on:k2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19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C: Up to date (currency)  –  The figures no longer reflect current sales, so the information is out of date.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6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A club only accepts membership numbers that exist in its members file. This is a…</a:t>
            </a:r>
            <a:endParaRPr lang="en-US" sz="1700" dirty="0"/>
          </a:p>
        </p:txBody>
      </p:sp>
      <p:sp>
        <p:nvSpPr>
          <p:cNvPr id="7" name="trig:k2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type check</a:t>
            </a:r>
            <a:endParaRPr lang="en-US" sz="1600" dirty="0"/>
          </a:p>
        </p:txBody>
      </p:sp>
      <p:sp>
        <p:nvSpPr>
          <p:cNvPr id="8" name="on:k2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2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lookup check</a:t>
            </a:r>
            <a:endParaRPr lang="en-US" sz="1600" dirty="0"/>
          </a:p>
        </p:txBody>
      </p:sp>
      <p:sp>
        <p:nvSpPr>
          <p:cNvPr id="10" name="on:k2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2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format check</a:t>
            </a:r>
            <a:endParaRPr lang="en-US" sz="1600" dirty="0"/>
          </a:p>
        </p:txBody>
      </p:sp>
      <p:sp>
        <p:nvSpPr>
          <p:cNvPr id="12" name="on:k2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2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proofreading check</a:t>
            </a:r>
            <a:endParaRPr lang="en-US" sz="1600" dirty="0"/>
          </a:p>
        </p:txBody>
      </p:sp>
      <p:sp>
        <p:nvSpPr>
          <p:cNvPr id="14" name="on:k2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22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lookup check  –  The entry is compared with a file of valid values.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7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statement about verification is true?</a:t>
            </a:r>
            <a:endParaRPr lang="en-US" sz="1700" dirty="0"/>
          </a:p>
        </p:txBody>
      </p:sp>
      <p:sp>
        <p:nvSpPr>
          <p:cNvPr id="7" name="trig:k2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It checks the data matches the original source</a:t>
            </a:r>
            <a:endParaRPr lang="en-US" sz="1400" dirty="0"/>
          </a:p>
        </p:txBody>
      </p:sp>
      <p:sp>
        <p:nvSpPr>
          <p:cNvPr id="8" name="on:k2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2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It checks the data is within set limits</a:t>
            </a:r>
            <a:endParaRPr lang="en-US" sz="1400" dirty="0"/>
          </a:p>
        </p:txBody>
      </p:sp>
      <p:sp>
        <p:nvSpPr>
          <p:cNvPr id="10" name="on:k2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2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It is always carried out automatically by software</a:t>
            </a:r>
            <a:endParaRPr lang="en-US" sz="1400" dirty="0"/>
          </a:p>
        </p:txBody>
      </p:sp>
      <p:sp>
        <p:nvSpPr>
          <p:cNvPr id="12" name="on:k2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2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It guarantees the source document is correct</a:t>
            </a:r>
            <a:endParaRPr lang="en-US" sz="1400" dirty="0"/>
          </a:p>
        </p:txBody>
      </p:sp>
      <p:sp>
        <p:nvSpPr>
          <p:cNvPr id="14" name="on:k2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25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A: It checks the data matches the original source  –  Verification compares the entered or copied data with the source; it cannot correct an error in the source.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8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A news site reports a claim from one unverified social-media post. Which quality factor is most at risk?</a:t>
            </a:r>
            <a:endParaRPr lang="en-US" sz="1700" dirty="0"/>
          </a:p>
        </p:txBody>
      </p:sp>
      <p:sp>
        <p:nvSpPr>
          <p:cNvPr id="7" name="trig:k2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Completeness</a:t>
            </a:r>
            <a:endParaRPr lang="en-US" sz="1600" dirty="0"/>
          </a:p>
        </p:txBody>
      </p:sp>
      <p:sp>
        <p:nvSpPr>
          <p:cNvPr id="8" name="on:k2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3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Presentation</a:t>
            </a:r>
            <a:endParaRPr lang="en-US" sz="1600" dirty="0"/>
          </a:p>
        </p:txBody>
      </p:sp>
      <p:sp>
        <p:nvSpPr>
          <p:cNvPr id="10" name="on:k3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3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Currency</a:t>
            </a:r>
            <a:endParaRPr lang="en-US" sz="1600" dirty="0"/>
          </a:p>
        </p:txBody>
      </p:sp>
      <p:sp>
        <p:nvSpPr>
          <p:cNvPr id="12" name="on:k3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3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Reliability</a:t>
            </a:r>
            <a:endParaRPr lang="en-US" sz="1600" dirty="0"/>
          </a:p>
        </p:txBody>
      </p:sp>
      <p:sp>
        <p:nvSpPr>
          <p:cNvPr id="14" name="on:k3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32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D: Reliability  –  Reliable information comes from trustworthy, authoritative sources that have been verified.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9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What does GIGO mean?</a:t>
            </a:r>
            <a:endParaRPr lang="en-US" sz="1700" dirty="0"/>
          </a:p>
        </p:txBody>
      </p:sp>
      <p:sp>
        <p:nvSpPr>
          <p:cNvPr id="7" name="trig:k3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Good input gives good output</a:t>
            </a:r>
            <a:endParaRPr lang="en-US" sz="1250" dirty="0"/>
          </a:p>
        </p:txBody>
      </p:sp>
      <p:sp>
        <p:nvSpPr>
          <p:cNvPr id="8" name="on:k3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3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Poor-quality input data produces poor-quality output information</a:t>
            </a:r>
            <a:endParaRPr lang="en-US" sz="1250" dirty="0"/>
          </a:p>
        </p:txBody>
      </p:sp>
      <p:sp>
        <p:nvSpPr>
          <p:cNvPr id="10" name="on:k3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3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Graphics in, graphics out</a:t>
            </a:r>
            <a:endParaRPr lang="en-US" sz="1250" dirty="0"/>
          </a:p>
        </p:txBody>
      </p:sp>
      <p:sp>
        <p:nvSpPr>
          <p:cNvPr id="12" name="on:k3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3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250" dirty="0">
                <a:solidFill>
                  <a:srgbClr val="15221C"/>
                </a:solidFill>
              </a:rPr>
              <a:t>Data is processed in the order it arrives</a:t>
            </a:r>
            <a:endParaRPr lang="en-US" sz="1250" dirty="0"/>
          </a:p>
        </p:txBody>
      </p:sp>
      <p:sp>
        <p:nvSpPr>
          <p:cNvPr id="14" name="on:k3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34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B: Poor-quality input data produces poor-quality output information  –  Garbage in, garbage out: no system can produce good information from bad data.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 answers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291840"/>
                <a:gridCol w="4389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Answer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Labelling it 'Days absent this term: 14'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Adding context (what the 14 measures) gives the data meaning, which makes it information.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34 is still a sensible, reasonable age, so it passes the rules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Validation checks reasonableness against rules, not truth; both values are valid ages.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verification by double entry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Double entry checks the data has been entered accurately, which is verification.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Length check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length check tests the number of characters entered.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Up to date (currency)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The figures no longer reflect current sales, so the information is out of date.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lookup check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The entry is compared with a file of valid values.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It checks the data matches the original source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Verification compares the entered or copied data with the source; it cannot correct an error in the source.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Reliability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Reliable information comes from trustworthy, authoritative sources that have been verified.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9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Poor-quality input data produces poor-quality output information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Garbage in, garbage out: no system can produce good information from bad data.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32" grpId="0">
        <p:bldAsOne/>
      </p:bldGraphic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548640" y="640080"/>
            <a:ext cx="6949440" cy="320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5E6DA"/>
                </a:solidFill>
              </a:rPr>
              <a:t>AS 2: FUNDAMENTALS OF DIGITAL TECHNOLOGY  ·  FD07</a:t>
            </a:r>
            <a:endParaRPr lang="en-US" sz="12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548640" y="960120"/>
            <a:ext cx="71323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Check digits, batch totals, data capture and processing methods</a:t>
            </a:r>
            <a:endParaRPr lang="en-US" sz="3800" dirty="0"/>
          </a:p>
        </p:txBody>
      </p:sp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2514600"/>
            <a:ext cx="768096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5E6DA"/>
                </a:solidFill>
              </a:rPr>
              <a:t>Learning objectives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Calculate a Modulus 11 check digit and use it to show that a transposition error has been detected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Use batch, control and hash totals to check that every document in a batch has been entered exactly once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Compare manual and automated data capture methods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E4ECE6"/>
                </a:solidFill>
              </a:rPr>
              <a:t>Describe batch processing, real-time transaction (online) processing and real-time control, and justify which suits a scenario</a:t>
            </a:r>
            <a:endParaRPr lang="en-US" sz="1600" dirty="0"/>
          </a:p>
        </p:txBody>
      </p:sp>
      <p:sp>
        <p:nvSpPr>
          <p:cNvPr id="5" name="chip"/>
          <p:cNvSpPr/>
          <p:nvPr/>
        </p:nvSpPr>
        <p:spPr>
          <a:xfrm>
            <a:off x="7818120" y="502920"/>
            <a:ext cx="685800" cy="685800"/>
          </a:xfrm>
          <a:prstGeom prst="roundRect">
            <a:avLst>
              <a:gd name="adj" fmla="val 12000"/>
            </a:avLst>
          </a:prstGeom>
          <a:solidFill>
            <a:srgbClr val="1D6B53"/>
          </a:solidFill>
          <a:ln w="12700">
            <a:solidFill>
              <a:srgbClr val="1D6B5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023860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023860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35824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0" y="70866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43316" y="420624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243316" y="1188720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35824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503920" y="928116"/>
            <a:ext cx="82296" cy="82296"/>
          </a:xfrm>
          <a:prstGeom prst="rect">
            <a:avLst/>
          </a:prstGeom>
          <a:solidFill>
            <a:srgbClr val="A95A24"/>
          </a:solidFill>
          <a:ln w="12700">
            <a:solidFill>
              <a:srgbClr val="A95A24"/>
            </a:solidFill>
            <a:prstDash val="solid"/>
          </a:ln>
        </p:spPr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5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5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7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5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5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35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35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65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build="p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In this lesson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 button to jump straight there. The ☰ Menu button on every slide brings you back here.</a:t>
            </a:r>
            <a:endParaRPr lang="en-US" sz="12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457200" y="132588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2" action="ppaction://hlinksldjump" tooltip="The big pictur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big picture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457200" y="1892808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3" action="ppaction://hlinksldjump" tooltip="Check digits: purpose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Check digits: purpose</a:t>
            </a:r>
            <a:endParaRPr lang="en-US" sz="1200" dirty="0"/>
          </a:p>
        </p:txBody>
      </p:sp>
      <p:sp>
        <p:nvSpPr>
          <p:cNvPr id="9" name="btn">
            <a:hlinkClick r:id="rId4" action="ppaction://hlinksldjump"/>
          </p:cNvPr>
          <p:cNvSpPr/>
          <p:nvPr/>
        </p:nvSpPr>
        <p:spPr>
          <a:xfrm>
            <a:off x="457200" y="2459736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4" action="ppaction://hlinksldjump" tooltip="The Modulus 11 method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The Modulus 11 method</a:t>
            </a:r>
            <a:endParaRPr lang="en-US" sz="1200" dirty="0"/>
          </a:p>
        </p:txBody>
      </p:sp>
      <p:sp>
        <p:nvSpPr>
          <p:cNvPr id="10" name="btn">
            <a:hlinkClick r:id="rId5" action="ppaction://hlinksldjump"/>
          </p:cNvPr>
          <p:cNvSpPr/>
          <p:nvPr/>
        </p:nvSpPr>
        <p:spPr>
          <a:xfrm>
            <a:off x="457200" y="3026664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5" action="ppaction://hlinksldjump" tooltip="Worked example: patient number 360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Worked example: patient number 3604</a:t>
            </a:r>
            <a:endParaRPr lang="en-US" sz="1200" dirty="0"/>
          </a:p>
        </p:txBody>
      </p:sp>
      <p:sp>
        <p:nvSpPr>
          <p:cNvPr id="11" name="btn">
            <a:hlinkClick r:id="rId6" action="ppaction://hlinksldjump"/>
          </p:cNvPr>
          <p:cNvSpPr/>
          <p:nvPr/>
        </p:nvSpPr>
        <p:spPr>
          <a:xfrm>
            <a:off x="457200" y="3593592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6" action="ppaction://hlinksldjump" tooltip="Checking a number and catching a transpositi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Checking a number and catching a transposition</a:t>
            </a:r>
            <a:endParaRPr lang="en-US" sz="1200" dirty="0"/>
          </a:p>
        </p:txBody>
      </p:sp>
      <p:sp>
        <p:nvSpPr>
          <p:cNvPr id="12" name="btn">
            <a:hlinkClick r:id="rId7" action="ppaction://hlinksldjump"/>
          </p:cNvPr>
          <p:cNvSpPr/>
          <p:nvPr/>
        </p:nvSpPr>
        <p:spPr>
          <a:xfrm>
            <a:off x="457200" y="416052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7" action="ppaction://hlinksldjump" tooltip="When the check digit is X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When the check digit is X</a:t>
            </a:r>
            <a:endParaRPr lang="en-US" sz="1200" dirty="0"/>
          </a:p>
        </p:txBody>
      </p:sp>
      <p:sp>
        <p:nvSpPr>
          <p:cNvPr id="13" name="btn">
            <a:hlinkClick r:id="rId8" action="ppaction://hlinksldjump"/>
          </p:cNvPr>
          <p:cNvSpPr/>
          <p:nvPr/>
        </p:nvSpPr>
        <p:spPr>
          <a:xfrm>
            <a:off x="3246120" y="132588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8" action="ppaction://hlinksldjump" tooltip="Modulus 11 in C#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Modulus 11 in C#</a:t>
            </a:r>
            <a:endParaRPr lang="en-US" sz="1200" dirty="0"/>
          </a:p>
        </p:txBody>
      </p:sp>
      <p:sp>
        <p:nvSpPr>
          <p:cNvPr id="14" name="btn">
            <a:hlinkClick r:id="rId9" action="ppaction://hlinksldjump"/>
          </p:cNvPr>
          <p:cNvSpPr/>
          <p:nvPr/>
        </p:nvSpPr>
        <p:spPr>
          <a:xfrm>
            <a:off x="3246120" y="1892808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9" action="ppaction://hlinksldjump" tooltip="Batch, control and hash total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Batch, control and hash totals</a:t>
            </a:r>
            <a:endParaRPr lang="en-US" sz="1200" dirty="0"/>
          </a:p>
        </p:txBody>
      </p:sp>
      <p:sp>
        <p:nvSpPr>
          <p:cNvPr id="15" name="btn">
            <a:hlinkClick r:id="rId10" action="ppaction://hlinksldjump"/>
          </p:cNvPr>
          <p:cNvSpPr/>
          <p:nvPr/>
        </p:nvSpPr>
        <p:spPr>
          <a:xfrm>
            <a:off x="3246120" y="2459736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0" action="ppaction://hlinksldjump" tooltip="Worked example: youth football club fee form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Worked example: youth football club fee forms</a:t>
            </a:r>
            <a:endParaRPr lang="en-US" sz="1200" dirty="0"/>
          </a:p>
        </p:txBody>
      </p:sp>
      <p:sp>
        <p:nvSpPr>
          <p:cNvPr id="16" name="btn">
            <a:hlinkClick r:id="rId11" action="ppaction://hlinksldjump"/>
          </p:cNvPr>
          <p:cNvSpPr/>
          <p:nvPr/>
        </p:nvSpPr>
        <p:spPr>
          <a:xfrm>
            <a:off x="3246120" y="3026664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1" action="ppaction://hlinksldjump" tooltip="What the totals revea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What the totals reveal</a:t>
            </a:r>
            <a:endParaRPr lang="en-US" sz="1200" dirty="0"/>
          </a:p>
        </p:txBody>
      </p:sp>
      <p:sp>
        <p:nvSpPr>
          <p:cNvPr id="17" name="btn">
            <a:hlinkClick r:id="rId12" action="ppaction://hlinksldjump"/>
          </p:cNvPr>
          <p:cNvSpPr/>
          <p:nvPr/>
        </p:nvSpPr>
        <p:spPr>
          <a:xfrm>
            <a:off x="3246120" y="3593592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2" action="ppaction://hlinksldjump" tooltip="Data capture method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Data capture methods</a:t>
            </a:r>
            <a:endParaRPr lang="en-US" sz="1200" dirty="0"/>
          </a:p>
        </p:txBody>
      </p:sp>
      <p:sp>
        <p:nvSpPr>
          <p:cNvPr id="18" name="btn">
            <a:hlinkClick r:id="rId13" action="ppaction://hlinksldjump"/>
          </p:cNvPr>
          <p:cNvSpPr/>
          <p:nvPr/>
        </p:nvSpPr>
        <p:spPr>
          <a:xfrm>
            <a:off x="3246120" y="416052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3" action="ppaction://hlinksldjump" tooltip="Batch process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Batch processing</a:t>
            </a:r>
            <a:endParaRPr lang="en-US" sz="1200" dirty="0"/>
          </a:p>
        </p:txBody>
      </p:sp>
      <p:sp>
        <p:nvSpPr>
          <p:cNvPr id="19" name="btn">
            <a:hlinkClick r:id="rId14" action="ppaction://hlinksldjump"/>
          </p:cNvPr>
          <p:cNvSpPr/>
          <p:nvPr/>
        </p:nvSpPr>
        <p:spPr>
          <a:xfrm>
            <a:off x="6035040" y="1325880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4" action="ppaction://hlinksldjump" tooltip="Real-time processing: transaction and control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Real-time processing: transaction and control</a:t>
            </a:r>
            <a:endParaRPr lang="en-US" sz="1200" dirty="0"/>
          </a:p>
        </p:txBody>
      </p:sp>
      <p:sp>
        <p:nvSpPr>
          <p:cNvPr id="20" name="btn">
            <a:hlinkClick r:id="rId15" action="ppaction://hlinksldjump"/>
          </p:cNvPr>
          <p:cNvSpPr/>
          <p:nvPr/>
        </p:nvSpPr>
        <p:spPr>
          <a:xfrm>
            <a:off x="6035040" y="1892808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5" action="ppaction://hlinksldjump" tooltip="Comparing processing methods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Comparing processing methods</a:t>
            </a:r>
            <a:endParaRPr lang="en-US" sz="1200" dirty="0"/>
          </a:p>
        </p:txBody>
      </p:sp>
      <p:sp>
        <p:nvSpPr>
          <p:cNvPr id="21" name="btn">
            <a:hlinkClick r:id="rId16" action="ppaction://hlinksldjump"/>
          </p:cNvPr>
          <p:cNvSpPr/>
          <p:nvPr/>
        </p:nvSpPr>
        <p:spPr>
          <a:xfrm>
            <a:off x="6035040" y="2459736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F3F6F1"/>
          </a:solidFill>
          <a:ln w="12700">
            <a:solidFill>
              <a:srgbClr val="D5DDD5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5221C"/>
                </a:solidFill>
                <a:hlinkClick r:id="rId16" action="ppaction://hlinksldjump" tooltip="Multitasking, multi-user and multithreading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Multitasking, multi-user and multithreading</a:t>
            </a:r>
            <a:endParaRPr lang="en-US" sz="1200" dirty="0"/>
          </a:p>
        </p:txBody>
      </p:sp>
      <p:sp>
        <p:nvSpPr>
          <p:cNvPr id="22" name="btn">
            <a:hlinkClick r:id="rId17" action="ppaction://hlinksldjump"/>
          </p:cNvPr>
          <p:cNvSpPr/>
          <p:nvPr/>
        </p:nvSpPr>
        <p:spPr>
          <a:xfrm>
            <a:off x="6035040" y="3026664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17" action="ppaction://hlinksldjump" tooltip="Exit quiz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Exit quiz</a:t>
            </a:r>
            <a:endParaRPr lang="en-US" sz="1200" dirty="0"/>
          </a:p>
        </p:txBody>
      </p:sp>
      <p:sp>
        <p:nvSpPr>
          <p:cNvPr id="23" name="btn">
            <a:hlinkClick r:id="rId18" action="ppaction://hlinksldjump"/>
          </p:cNvPr>
          <p:cNvSpPr/>
          <p:nvPr/>
        </p:nvSpPr>
        <p:spPr>
          <a:xfrm>
            <a:off x="6035040" y="3593592"/>
            <a:ext cx="2651760" cy="475488"/>
          </a:xfrm>
          <a:prstGeom prst="roundRect">
            <a:avLst>
              <a:gd name="adj" fmla="val 15385"/>
            </a:avLst>
          </a:prstGeom>
          <a:solidFill>
            <a:srgbClr val="11503E"/>
          </a:solidFill>
          <a:ln w="12700">
            <a:solidFill>
              <a:srgbClr val="11503E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hlinkClick r:id="rId18" action="ppaction://hlinksldjump" tooltip="↑  Topic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↑  Topic menu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6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big picture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pic>
        <p:nvPicPr>
          <p:cNvPr id="5" name="anim:auto" descr="Batch processing collects transactions and updates the master file later; transaction processing updates it immediately with record locking; real-time processing uses a feedback loop from sensor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2496" y="1143000"/>
            <a:ext cx="5779008" cy="3250692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44348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Batch processing collects transactions and updates the master file later; transaction processing updates it immediately with record locking; real-time processing uses a feedback loop from sensors</a:t>
            </a:r>
            <a:endParaRPr lang="en-US" sz="1200" dirty="0"/>
          </a:p>
        </p:txBody>
      </p:sp>
      <p:sp>
        <p:nvSpPr>
          <p:cNvPr id="8" name="btn">
            <a:hlinkClick r:id="rId3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3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4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8" grpId="0" animBg="1"/>
      <p:bldP spid="2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Check digits: purpose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check digit is an extra digit added to the end of a code number, calculated from the other digits.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When the number is entered or scanned, the computer recalculates the check digit and compares it with the one entered.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If they differ, the number has been mistyped or misread and is rejected.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Used on barcodes (EAN-13), ISBNs, bank card numbers and many account and patient numbers.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Modulus 11 detects every single-digit error and every transposition of two digits – it is a validation check.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The Modulus 11 method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1. Give each digit a weighting: 2 for the rightmost digit, rising by 1 for each digit to the left (n digits: n+1 down to 2).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2. Multiply each digit by its weighting and add the products to get the checksum.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3. Divide the checksum by 11 and find the remainder (checksum MOD 11).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4. Remainder 0 → check digit 0. Remainder 1 → check digit X (stands for 10). Otherwise check digit = 11 − remainder.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5. Append the check digit to the number. Because it may be X, the full code is stored as a string.</a:t>
            </a:r>
            <a:endParaRPr lang="en-US" sz="16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15221C"/>
                </a:solidFill>
              </a:rPr>
              <a:t>The old ISBN-10 book numbers (used until 2007) used this method.</a:t>
            </a:r>
            <a:endParaRPr lang="en-US" sz="16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Worked example: patient number 3604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810512"/>
                <a:gridCol w="641908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Step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Working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Weightings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5   4   3   2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Digits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3   6   0   4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Products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15   24   0   8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Checksum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15 + 24 + 0 + 8 = 47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Remainder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47 ÷ 11 = 4 remainder 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Check digit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11 − 3 = 8, so the full number is 36048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38" grpId="0">
        <p:bldAsOne/>
      </p:bldGraphic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Checking a number and catching a transposition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842448"/>
                <a:gridCol w="2579427"/>
                <a:gridCol w="3807725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Correct: 36048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Transposed: 63048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Weightings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5 4 3 2 1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5 4 3 2 1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Products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15 + 24 + 0 + 8 + 8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30 + 12 + 0 + 8 + 8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Checksum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55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58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55 or 58 MOD 11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Result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Remainder 0: accepted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Remainder not 0: error detected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39" grpId="0">
        <p:bldAsOne/>
      </p:bldGraphic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When the check digit is X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Number 1205: weightings 5, 4, 3, 2 give 5 + 8 + 0 + 10 = 23.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23 ÷ 11 = 2 remainder 1. A remainder of 1 gives X (standing for 10), so the full number is 1205X.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Check: X counts as 10 with weighting 1: 5 + 8 + 0 + 10 + 10 = 33, and 33 MOD 11 = 0, so it is valid.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 check digit only shows the number is consistent; it cannot show it belongs to the right person.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Modulus 11 in C#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anim:para"/>
          <p:cNvSpPr txBox="1"/>
          <p:nvPr/>
        </p:nvSpPr>
        <p:spPr>
          <a:xfrm>
            <a:off x="457200" y="1188720"/>
            <a:ext cx="384048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Each character is converted to its digit value with c - '0'.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The weighting starts at Length + 1 and falls by one for each digit.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% gives the remainder after dividing by 11.</a:t>
            </a:r>
            <a:endParaRPr lang="en-US" sz="1800" dirty="0"/>
          </a:p>
        </p:txBody>
      </p:sp>
      <p:sp>
        <p:nvSpPr>
          <p:cNvPr id="6" name="anim:wipe"/>
          <p:cNvSpPr/>
          <p:nvPr/>
        </p:nvSpPr>
        <p:spPr>
          <a:xfrm>
            <a:off x="4526280" y="1188720"/>
            <a:ext cx="4160520" cy="3429000"/>
          </a:xfrm>
          <a:prstGeom prst="roundRect">
            <a:avLst>
              <a:gd name="adj" fmla="val 2133"/>
            </a:avLst>
          </a:prstGeom>
          <a:solidFill>
            <a:srgbClr val="0E1D17"/>
          </a:solidFill>
          <a:ln w="12700">
            <a:solidFill>
              <a:srgbClr val="0E1D17"/>
            </a:solidFill>
            <a:prstDash val="solid"/>
          </a:ln>
        </p:spPr>
      </p:sp>
      <p:sp>
        <p:nvSpPr>
          <p:cNvPr id="7" name="anim:with"/>
          <p:cNvSpPr txBox="1"/>
          <p:nvPr/>
        </p:nvSpPr>
        <p:spPr>
          <a:xfrm>
            <a:off x="4709160" y="129844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E39A63"/>
                </a:solidFill>
              </a:rPr>
              <a:t>C#</a:t>
            </a:r>
            <a:endParaRPr lang="en-US" sz="900" dirty="0"/>
          </a:p>
        </p:txBody>
      </p:sp>
      <p:sp>
        <p:nvSpPr>
          <p:cNvPr id="8" name="anim:with"/>
          <p:cNvSpPr txBox="1"/>
          <p:nvPr/>
        </p:nvSpPr>
        <p:spPr>
          <a:xfrm>
            <a:off x="4709160" y="1572768"/>
            <a:ext cx="38404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number = "3604";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weight = number.Length + 1;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total = 0;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foreach (char c in number)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 += (c - '0') * weight;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weight--;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 remainder = total % 11;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string check;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(remainder == 0) check = "0";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 if (remainder == 1) check = "X";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else check = (11 - remainder).ToString();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5EEE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Console.WriteLine(number + check);   // 36048</a:t>
            </a:r>
            <a:endParaRPr lang="en-US" sz="1100" dirty="0"/>
          </a:p>
        </p:txBody>
      </p:sp>
      <p:sp>
        <p:nvSpPr>
          <p:cNvPr id="9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build="p"/>
      <p:bldP spid="6" grpId="0" animBg="1"/>
      <p:bldP spid="7" grpId="0" animBg="1"/>
      <p:bldP spid="8" grpId="0" animBg="1"/>
      <p:bldP spid="9" grpId="0" animBg="1"/>
      <p:bldP spid="25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Batch, control and hash totals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Used when many paper documents are keyed in as a batch, to check each document has been entered exactly once.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Batch total: the number of documents, counted by hand and compared with the computer's count.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Control total: the sum of a field that has a meaning, e.g. total fees paid or total hours worked.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Hash total: the sum of a field with no meaning, e.g. the total of all member ID numbers.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If the manual total and the computer total differ, a document has been missed, duplicated or mistyped.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Choose a field whose values differ between documents, or the total adds nothing to the batch total.</a:t>
            </a:r>
            <a:endParaRPr lang="en-US" sz="15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Worked example: youth football club fee forms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4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753849"/>
                <a:gridCol w="6475751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Member ID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Fee (£)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2041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30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1187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45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3502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30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2876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60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1950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45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Manual totals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Batch 5 / Control (fees) £210 / Hash (IDs) 11556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43" grpId="0">
        <p:bldAsOne/>
      </p:bldGraphic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What the totals reveal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4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2664823"/>
                <a:gridCol w="470263"/>
                <a:gridCol w="548640"/>
                <a:gridCol w="470263"/>
                <a:gridCol w="4075611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Mistake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Batch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Control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Hash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Detected?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None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210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11556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All match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Form 3502 missed out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180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8054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Yes – and 11556 − 8054 = 3502 names the missing form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5221C"/>
                          </a:solidFill>
                        </a:rPr>
                        <a:t>3502 missed AND 2041 entered twice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210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10095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5221C"/>
                          </a:solidFill>
                        </a:rPr>
                        <a:t>Only the hash total differs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44" grpId="0">
        <p:bldAsOne/>
      </p:bldGraphic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Data capture methods (1 of 2)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881051"/>
                <a:gridCol w="2586446"/>
                <a:gridCol w="2174966"/>
                <a:gridCol w="158713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Example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Strength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Weakness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Manual keying from a form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Paper application form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Cheap, flexible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Slow; transcription errors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Online forms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School trip sign-up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Validation at entry; no re-keying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Needs device and internet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OMR (optical mark recognition)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Multiple-choice answer sheets, lottery slips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Fast and accurate for marks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Only marks, not free text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Barcodes / QR codes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Supermarket tills, parcels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Very fast; check digit validates scan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Damaged codes fail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Card readers (chip, contactless)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Shop payments, library cards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Fast, secure, no typing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Card can be lost or cloned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45" grpId="0">
        <p:bldAsOne/>
      </p:bldGraphic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Data capture methods (2 of 2)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881051"/>
                <a:gridCol w="2586446"/>
                <a:gridCol w="2174966"/>
                <a:gridCol w="1587137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Method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Example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Strength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Weakness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Sensors / data logging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Weather station on Lough Erne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Continuous, unattended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Needs calibration and power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46" grpId="0">
        <p:bldAsOne/>
      </p:bldGraphic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Batch processing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Data is collected over a period into a transaction file and processed all at once, later, without human interaction.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The transaction file is validated (including batch totals) and sorted into the same key order as the master file, then used to update it.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Examples: payroll, utility and credit card bills, end-of-day stock re-ordering, overnight bank updates.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Advantages: efficient for large, regular jobs; runs overnight when the system is quiet; easy to schedule and back up.</a:t>
            </a:r>
            <a:endParaRPr lang="en-US" sz="17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700" dirty="0">
                <a:solidFill>
                  <a:srgbClr val="15221C"/>
                </a:solidFill>
              </a:rPr>
              <a:t>Disadvantages: the master file is out of date between runs; errors are found only after the run.</a:t>
            </a:r>
            <a:endParaRPr lang="en-US" sz="17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Real-time processing: transaction and control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Real-time processing: each transaction or input is processed as soon as it occurs, so the master file is always up to date.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Real-time transaction (online) processing: the user waits a few seconds for each transaction, e.g. cinema and flight bookings, cash machines, online shopping, password changes.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Record locking stops two users updating the same record at once, preventing double-booking and lost updates.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Real-time control: sensor input is processed within a guaranteed, very short time so the output can affect the next input.</a:t>
            </a:r>
            <a:endParaRPr lang="en-US" sz="15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500" dirty="0">
                <a:solidFill>
                  <a:srgbClr val="15221C"/>
                </a:solidFill>
              </a:rPr>
              <a:t>Examples: anti-lock brakes, traffic lights, heart monitors, autopilots. Control systems must be highly reliable, often with duplicated hardware.</a:t>
            </a:r>
            <a:endParaRPr lang="en-US" sz="15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Comparing processing methods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4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662545"/>
                <a:gridCol w="1995055"/>
                <a:gridCol w="2493818"/>
                <a:gridCol w="2078182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Batch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Real-time transaction (online)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Real-time control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When processed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Later, in a group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As each transaction occurs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Immediately, continuously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Master file currency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Out of date between runs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Always current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Always current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User interaction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None during processing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User waits for response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Often none; sensors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Response time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Hours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Seconds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Milliseconds, guaranteed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5221C"/>
                          </a:solidFill>
                        </a:rPr>
                        <a:t>Example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Monthly payroll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Concert ticket booking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5221C"/>
                          </a:solidFill>
                        </a:rPr>
                        <a:t>Airbag controller</a:t>
                      </a:r>
                      <a:endParaRPr lang="en-US" sz="13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49" grpId="0">
        <p:bldAsOne/>
      </p:bldGraphic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1503E"/>
                </a:solidFill>
              </a:rPr>
              <a:t>Multitasking, multi-user and multithreading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content card"/>
          <p:cNvSpPr/>
          <p:nvPr/>
        </p:nvSpPr>
        <p:spPr>
          <a:xfrm>
            <a:off x="457200" y="1188720"/>
            <a:ext cx="8229600" cy="3429000"/>
          </a:xfrm>
          <a:prstGeom prst="roundRect">
            <a:avLst>
              <a:gd name="adj" fmla="val 2667"/>
            </a:avLst>
          </a:prstGeom>
          <a:solidFill>
            <a:srgbClr val="F3F6F1"/>
          </a:solidFill>
          <a:ln w="12700">
            <a:solidFill>
              <a:srgbClr val="E4ECE6"/>
            </a:solidFill>
            <a:prstDash val="solid"/>
          </a:ln>
        </p:spPr>
      </p:sp>
      <p:sp>
        <p:nvSpPr>
          <p:cNvPr id="6" name="anim:para"/>
          <p:cNvSpPr txBox="1"/>
          <p:nvPr/>
        </p:nvSpPr>
        <p:spPr>
          <a:xfrm>
            <a:off x="731520" y="1353312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Multitasking: one processor appears to run several programs at once by switching rapidly between them using time slices.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Multi-user: many users share one system's resources at the same time, each with their own session and permissions (e.g. a school file server).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Multithreading: one program is split into threads that run concurrently, e.g. a browser loading images while you scroll.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On a multicore processor, threads can truly run in parallel.</a:t>
            </a:r>
            <a:endParaRPr lang="en-US" sz="1800" dirty="0"/>
          </a:p>
          <a:p>
            <a:pPr marL="203200" indent="-203200">
              <a:spcAft>
                <a:spcPts val="600"/>
              </a:spcAft>
              <a:buSzPct val="100000"/>
              <a:buChar char="•"/>
            </a:pPr>
            <a:r>
              <a:rPr lang="en-US" sz="1800" dirty="0">
                <a:solidFill>
                  <a:srgbClr val="15221C"/>
                </a:solidFill>
              </a:rPr>
              <a:t>All three rely on the operating system to share processor time, memory and devices fairly and securely.</a:t>
            </a:r>
            <a:endParaRPr lang="en-US" sz="1800" dirty="0"/>
          </a:p>
        </p:txBody>
      </p:sp>
      <p:sp>
        <p:nvSpPr>
          <p:cNvPr id="7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6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build="p"/>
      <p:bldP spid="7" grpId="0" animBg="1"/>
      <p:bldP spid="25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1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Using Modulus 11, the checksum for a base number is 47. What is the check digit?</a:t>
            </a:r>
            <a:endParaRPr lang="en-US" sz="1700" dirty="0"/>
          </a:p>
        </p:txBody>
      </p:sp>
      <p:sp>
        <p:nvSpPr>
          <p:cNvPr id="7" name="trig:k3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3</a:t>
            </a:r>
            <a:endParaRPr lang="en-US" sz="1600" dirty="0"/>
          </a:p>
        </p:txBody>
      </p:sp>
      <p:sp>
        <p:nvSpPr>
          <p:cNvPr id="8" name="on:k3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3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8</a:t>
            </a:r>
            <a:endParaRPr lang="en-US" sz="1600" dirty="0"/>
          </a:p>
        </p:txBody>
      </p:sp>
      <p:sp>
        <p:nvSpPr>
          <p:cNvPr id="10" name="on:k3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3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X</a:t>
            </a:r>
            <a:endParaRPr lang="en-US" sz="1600" dirty="0"/>
          </a:p>
        </p:txBody>
      </p:sp>
      <p:sp>
        <p:nvSpPr>
          <p:cNvPr id="12" name="on:k3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4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0</a:t>
            </a:r>
            <a:endParaRPr lang="en-US" sz="1600" dirty="0"/>
          </a:p>
        </p:txBody>
      </p:sp>
      <p:sp>
        <p:nvSpPr>
          <p:cNvPr id="14" name="on:k4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38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8  –  47 ÷ 11 = 4 remainder 3, and 11 − 3 = 8.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50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2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application best suits real-time processing?</a:t>
            </a:r>
            <a:endParaRPr lang="en-US" sz="1700" dirty="0"/>
          </a:p>
        </p:txBody>
      </p:sp>
      <p:sp>
        <p:nvSpPr>
          <p:cNvPr id="7" name="trig:k4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Payroll</a:t>
            </a:r>
            <a:endParaRPr lang="en-US" sz="1600" dirty="0"/>
          </a:p>
        </p:txBody>
      </p:sp>
      <p:sp>
        <p:nvSpPr>
          <p:cNvPr id="8" name="on:k4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4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Monthly bank statements</a:t>
            </a:r>
            <a:endParaRPr lang="en-US" sz="1600" dirty="0"/>
          </a:p>
        </p:txBody>
      </p:sp>
      <p:sp>
        <p:nvSpPr>
          <p:cNvPr id="10" name="on:k4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4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Car airbag deployment</a:t>
            </a:r>
            <a:endParaRPr lang="en-US" sz="1600" dirty="0"/>
          </a:p>
        </p:txBody>
      </p:sp>
      <p:sp>
        <p:nvSpPr>
          <p:cNvPr id="12" name="on:k4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4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Exam result processing</a:t>
            </a:r>
            <a:endParaRPr lang="en-US" sz="1600" dirty="0"/>
          </a:p>
        </p:txBody>
      </p:sp>
      <p:sp>
        <p:nvSpPr>
          <p:cNvPr id="14" name="on:k4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43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C: Car airbag deployment  –  It must respond within milliseconds, so the output affects what happens next.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51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3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The total of all the staff ID numbers on a batch of timesheets is a…</a:t>
            </a:r>
            <a:endParaRPr lang="en-US" sz="1700" dirty="0"/>
          </a:p>
        </p:txBody>
      </p:sp>
      <p:sp>
        <p:nvSpPr>
          <p:cNvPr id="7" name="trig:k4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batch total</a:t>
            </a:r>
            <a:endParaRPr lang="en-US" sz="1600" dirty="0"/>
          </a:p>
        </p:txBody>
      </p:sp>
      <p:sp>
        <p:nvSpPr>
          <p:cNvPr id="8" name="on:k4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4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control total</a:t>
            </a:r>
            <a:endParaRPr lang="en-US" sz="1600" dirty="0"/>
          </a:p>
        </p:txBody>
      </p:sp>
      <p:sp>
        <p:nvSpPr>
          <p:cNvPr id="10" name="on:k4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4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check digit</a:t>
            </a:r>
            <a:endParaRPr lang="en-US" sz="1600" dirty="0"/>
          </a:p>
        </p:txBody>
      </p:sp>
      <p:sp>
        <p:nvSpPr>
          <p:cNvPr id="12" name="on:k4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4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hash total</a:t>
            </a:r>
            <a:endParaRPr lang="en-US" sz="1600" dirty="0"/>
          </a:p>
        </p:txBody>
      </p:sp>
      <p:sp>
        <p:nvSpPr>
          <p:cNvPr id="14" name="on:k4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5" name="anim:reveal on:k48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D: hash total  –  A total with no meaning is a hash total.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52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6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7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5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0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6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4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What does record locking prevent?</a:t>
            </a:r>
            <a:endParaRPr lang="en-US" sz="1700" dirty="0"/>
          </a:p>
        </p:txBody>
      </p:sp>
      <p:sp>
        <p:nvSpPr>
          <p:cNvPr id="7" name="trig:k4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Viruses</a:t>
            </a:r>
            <a:endParaRPr lang="en-US" sz="1400" dirty="0"/>
          </a:p>
        </p:txBody>
      </p:sp>
      <p:sp>
        <p:nvSpPr>
          <p:cNvPr id="8" name="on:k4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5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Two users updating the same record at once</a:t>
            </a:r>
            <a:endParaRPr lang="en-US" sz="1400" dirty="0"/>
          </a:p>
        </p:txBody>
      </p:sp>
      <p:sp>
        <p:nvSpPr>
          <p:cNvPr id="10" name="on:k5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5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Data being deleted by backups</a:t>
            </a:r>
            <a:endParaRPr lang="en-US" sz="1400" dirty="0"/>
          </a:p>
        </p:txBody>
      </p:sp>
      <p:sp>
        <p:nvSpPr>
          <p:cNvPr id="12" name="on:k5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5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Unauthorised logins</a:t>
            </a:r>
            <a:endParaRPr lang="en-US" sz="1400" dirty="0"/>
          </a:p>
        </p:txBody>
      </p:sp>
      <p:sp>
        <p:nvSpPr>
          <p:cNvPr id="14" name="on:k5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50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Two users updating the same record at once  –  It stops lost updates and double-booking.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53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5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What are the Modulus 11 weightings for the four-digit base number 9150?</a:t>
            </a:r>
            <a:endParaRPr lang="en-US" sz="1700" dirty="0"/>
          </a:p>
        </p:txBody>
      </p:sp>
      <p:sp>
        <p:nvSpPr>
          <p:cNvPr id="7" name="trig:k53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5, 4, 3, 2</a:t>
            </a:r>
            <a:endParaRPr lang="en-US" sz="1600" dirty="0"/>
          </a:p>
        </p:txBody>
      </p:sp>
      <p:sp>
        <p:nvSpPr>
          <p:cNvPr id="8" name="on:k53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54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1, 2, 3, 4</a:t>
            </a:r>
            <a:endParaRPr lang="en-US" sz="1600" dirty="0"/>
          </a:p>
        </p:txBody>
      </p:sp>
      <p:sp>
        <p:nvSpPr>
          <p:cNvPr id="10" name="on:k54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55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4, 3, 2, 1</a:t>
            </a:r>
            <a:endParaRPr lang="en-US" sz="1600" dirty="0"/>
          </a:p>
        </p:txBody>
      </p:sp>
      <p:sp>
        <p:nvSpPr>
          <p:cNvPr id="12" name="on:k55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56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2, 3, 4, 5</a:t>
            </a:r>
            <a:endParaRPr lang="en-US" sz="1600" dirty="0"/>
          </a:p>
        </p:txBody>
      </p:sp>
      <p:sp>
        <p:nvSpPr>
          <p:cNvPr id="14" name="on:k56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53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5, 4, 3, 2  –  Weightings start at 2 on the right and rise by 1 to the left.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54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6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is a feature of batch processing?</a:t>
            </a:r>
            <a:endParaRPr lang="en-US" sz="1700" dirty="0"/>
          </a:p>
        </p:txBody>
      </p:sp>
      <p:sp>
        <p:nvSpPr>
          <p:cNvPr id="7" name="trig:k57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The user waits for each result</a:t>
            </a:r>
            <a:endParaRPr lang="en-US" sz="1400" dirty="0"/>
          </a:p>
        </p:txBody>
      </p:sp>
      <p:sp>
        <p:nvSpPr>
          <p:cNvPr id="8" name="on:k57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58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Processing happens without user interaction</a:t>
            </a:r>
            <a:endParaRPr lang="en-US" sz="1400" dirty="0"/>
          </a:p>
        </p:txBody>
      </p:sp>
      <p:sp>
        <p:nvSpPr>
          <p:cNvPr id="10" name="on:k58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1" name="trig:k59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Response in milliseconds</a:t>
            </a:r>
            <a:endParaRPr lang="en-US" sz="1400" dirty="0"/>
          </a:p>
        </p:txBody>
      </p:sp>
      <p:sp>
        <p:nvSpPr>
          <p:cNvPr id="12" name="on:k59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60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It relies on record locking</a:t>
            </a:r>
            <a:endParaRPr lang="en-US" sz="1400" dirty="0"/>
          </a:p>
        </p:txBody>
      </p:sp>
      <p:sp>
        <p:nvSpPr>
          <p:cNvPr id="14" name="on:k60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58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B: Processing happens without user interaction  –  Batches run unattended, often overnight.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55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1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7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A web browser downloads images while the user scrolls. This is an example of…</a:t>
            </a:r>
            <a:endParaRPr lang="en-US" sz="1700" dirty="0"/>
          </a:p>
        </p:txBody>
      </p:sp>
      <p:sp>
        <p:nvSpPr>
          <p:cNvPr id="7" name="trig:k61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multithreading</a:t>
            </a:r>
            <a:endParaRPr lang="en-US" sz="1600" dirty="0"/>
          </a:p>
        </p:txBody>
      </p:sp>
      <p:sp>
        <p:nvSpPr>
          <p:cNvPr id="8" name="on:k61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9" name="trig:k62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batch processing</a:t>
            </a:r>
            <a:endParaRPr lang="en-US" sz="1600" dirty="0"/>
          </a:p>
        </p:txBody>
      </p:sp>
      <p:sp>
        <p:nvSpPr>
          <p:cNvPr id="10" name="on:k62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63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OMR</a:t>
            </a:r>
            <a:endParaRPr lang="en-US" sz="1600" dirty="0"/>
          </a:p>
        </p:txBody>
      </p:sp>
      <p:sp>
        <p:nvSpPr>
          <p:cNvPr id="12" name="on:k63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3" name="trig:k64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multi-user</a:t>
            </a:r>
            <a:endParaRPr lang="en-US" sz="1600" dirty="0"/>
          </a:p>
        </p:txBody>
      </p:sp>
      <p:sp>
        <p:nvSpPr>
          <p:cNvPr id="14" name="on:k64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61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A: multithreading  –  One program, several threads running concurrently.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56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9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0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4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3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8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data capture method suits a lottery ticket?</a:t>
            </a:r>
            <a:endParaRPr lang="en-US" sz="1700" dirty="0"/>
          </a:p>
        </p:txBody>
      </p:sp>
      <p:sp>
        <p:nvSpPr>
          <p:cNvPr id="7" name="trig:k65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Keying</a:t>
            </a:r>
            <a:endParaRPr lang="en-US" sz="1600" dirty="0"/>
          </a:p>
        </p:txBody>
      </p:sp>
      <p:sp>
        <p:nvSpPr>
          <p:cNvPr id="8" name="on:k65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66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Voice input</a:t>
            </a:r>
            <a:endParaRPr lang="en-US" sz="1600" dirty="0"/>
          </a:p>
        </p:txBody>
      </p:sp>
      <p:sp>
        <p:nvSpPr>
          <p:cNvPr id="10" name="on:k66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67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OMR</a:t>
            </a:r>
            <a:endParaRPr lang="en-US" sz="1600" dirty="0"/>
          </a:p>
        </p:txBody>
      </p:sp>
      <p:sp>
        <p:nvSpPr>
          <p:cNvPr id="12" name="on:k67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68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600" dirty="0">
                <a:solidFill>
                  <a:srgbClr val="15221C"/>
                </a:solidFill>
              </a:rPr>
              <a:t>OCR of handwriting</a:t>
            </a:r>
            <a:endParaRPr lang="en-US" sz="1600" dirty="0"/>
          </a:p>
        </p:txBody>
      </p:sp>
      <p:sp>
        <p:nvSpPr>
          <p:cNvPr id="14" name="on:k68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67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C7A4B"/>
                </a:solidFill>
              </a:rPr>
              <a:t>✓  C: OMR  –  Players mark boxes in fixed positions, which OMR reads.</a:t>
            </a:r>
            <a:endParaRPr lang="en-US" sz="14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57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quiz: question 9 of 9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98755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6675E"/>
                </a:solidFill>
              </a:rPr>
              <a:t>Tap an answer to check it. Presenting? Click to reveal the answer.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280160"/>
            <a:ext cx="8229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5221C"/>
                </a:solidFill>
              </a:rPr>
              <a:t>Which mistake would a batch total NOT detect?</a:t>
            </a:r>
            <a:endParaRPr lang="en-US" sz="1700" dirty="0"/>
          </a:p>
        </p:txBody>
      </p:sp>
      <p:sp>
        <p:nvSpPr>
          <p:cNvPr id="7" name="trig:k69"/>
          <p:cNvSpPr/>
          <p:nvPr/>
        </p:nvSpPr>
        <p:spPr>
          <a:xfrm>
            <a:off x="45720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A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One form missed out</a:t>
            </a:r>
            <a:endParaRPr lang="en-US" sz="1400" dirty="0"/>
          </a:p>
        </p:txBody>
      </p:sp>
      <p:sp>
        <p:nvSpPr>
          <p:cNvPr id="8" name="on:k69"/>
          <p:cNvSpPr/>
          <p:nvPr/>
        </p:nvSpPr>
        <p:spPr>
          <a:xfrm>
            <a:off x="404622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9" name="trig:k70"/>
          <p:cNvSpPr/>
          <p:nvPr/>
        </p:nvSpPr>
        <p:spPr>
          <a:xfrm>
            <a:off x="4640580" y="2258568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B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One form entered twice</a:t>
            </a:r>
            <a:endParaRPr lang="en-US" sz="1400" dirty="0"/>
          </a:p>
        </p:txBody>
      </p:sp>
      <p:sp>
        <p:nvSpPr>
          <p:cNvPr id="10" name="on:k70"/>
          <p:cNvSpPr/>
          <p:nvPr/>
        </p:nvSpPr>
        <p:spPr>
          <a:xfrm>
            <a:off x="8229600" y="2441448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1" name="trig:k71"/>
          <p:cNvSpPr/>
          <p:nvPr/>
        </p:nvSpPr>
        <p:spPr>
          <a:xfrm>
            <a:off x="45720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C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One form missed and another entered twice</a:t>
            </a:r>
            <a:endParaRPr lang="en-US" sz="1400" dirty="0"/>
          </a:p>
        </p:txBody>
      </p:sp>
      <p:sp>
        <p:nvSpPr>
          <p:cNvPr id="12" name="on:k71"/>
          <p:cNvSpPr/>
          <p:nvPr/>
        </p:nvSpPr>
        <p:spPr>
          <a:xfrm>
            <a:off x="4046220" y="3300984"/>
            <a:ext cx="384048" cy="384048"/>
          </a:xfrm>
          <a:prstGeom prst="ellipse">
            <a:avLst/>
          </a:prstGeom>
          <a:solidFill>
            <a:srgbClr val="2C7A4B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✓</a:t>
            </a:r>
            <a:endParaRPr lang="en-US" sz="1600" dirty="0"/>
          </a:p>
        </p:txBody>
      </p:sp>
      <p:sp>
        <p:nvSpPr>
          <p:cNvPr id="13" name="trig:k72"/>
          <p:cNvSpPr/>
          <p:nvPr/>
        </p:nvSpPr>
        <p:spPr>
          <a:xfrm>
            <a:off x="4640580" y="3118104"/>
            <a:ext cx="4046220" cy="749808"/>
          </a:xfrm>
          <a:prstGeom prst="roundRect">
            <a:avLst>
              <a:gd name="adj" fmla="val 9756"/>
            </a:avLst>
          </a:prstGeom>
          <a:solidFill>
            <a:srgbClr val="F3F6F1"/>
          </a:solidFill>
          <a:ln w="12700">
            <a:solidFill>
              <a:srgbClr val="C9D3C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95A24"/>
                </a:solidFill>
              </a:rPr>
              <a:t>D   </a:t>
            </a:r>
            <a:pPr algn="l" indent="0" marL="0">
              <a:buNone/>
            </a:pPr>
            <a:r>
              <a:rPr lang="en-US" sz="1400" dirty="0">
                <a:solidFill>
                  <a:srgbClr val="15221C"/>
                </a:solidFill>
              </a:rPr>
              <a:t>Two forms missed out</a:t>
            </a:r>
            <a:endParaRPr lang="en-US" sz="1400" dirty="0"/>
          </a:p>
        </p:txBody>
      </p:sp>
      <p:sp>
        <p:nvSpPr>
          <p:cNvPr id="14" name="on:k72"/>
          <p:cNvSpPr/>
          <p:nvPr/>
        </p:nvSpPr>
        <p:spPr>
          <a:xfrm>
            <a:off x="8229600" y="3300984"/>
            <a:ext cx="384048" cy="384048"/>
          </a:xfrm>
          <a:prstGeom prst="ellipse">
            <a:avLst/>
          </a:prstGeom>
          <a:solidFill>
            <a:srgbClr val="B0352D"/>
          </a:solidFill>
          <a:ln w="19050">
            <a:solidFill>
              <a:srgbClr val="FFFFFF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✗</a:t>
            </a:r>
            <a:endParaRPr lang="en-US" sz="1600" dirty="0"/>
          </a:p>
        </p:txBody>
      </p:sp>
      <p:sp>
        <p:nvSpPr>
          <p:cNvPr id="15" name="anim:reveal on:k71"/>
          <p:cNvSpPr/>
          <p:nvPr/>
        </p:nvSpPr>
        <p:spPr>
          <a:xfrm>
            <a:off x="457200" y="3977640"/>
            <a:ext cx="8229600" cy="457200"/>
          </a:xfrm>
          <a:prstGeom prst="roundRect">
            <a:avLst>
              <a:gd name="adj" fmla="val 16000"/>
            </a:avLst>
          </a:prstGeom>
          <a:solidFill>
            <a:srgbClr val="E1F1E7"/>
          </a:solidFill>
          <a:ln w="12700">
            <a:solidFill>
              <a:srgbClr val="2C7A4B"/>
            </a:solidFill>
          </a:ln>
        </p:spPr>
        <p:txBody>
          <a:bodyPr wrap="square" lIns="127000" tIns="127000" rIns="127000" bIns="1270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C7A4B"/>
                </a:solidFill>
              </a:rPr>
              <a:t>✓  C: One form missed and another entered twice  –  The count of forms is unchanged, so the batch total still matches.</a:t>
            </a:r>
            <a:endParaRPr lang="en-US" sz="1200" dirty="0"/>
          </a:p>
        </p:txBody>
      </p:sp>
      <p:sp>
        <p:nvSpPr>
          <p:cNvPr id="1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58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4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46" restart="whenNotActive" fill="hold" evtFilter="cancelBubble" nodeType="interactiveSeq">
                <p:stCondLst>
                  <p:cond evt="onClick" delay="0">
                    <p:tgtEl>
                      <p:spTgt spid="7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7" fill="hold">
                      <p:stCondLst>
                        <p:cond delay="0"/>
                      </p:stCondLst>
                      <p:childTnLst>
                        <p:par>
                          <p:cTn id="4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45" dur="3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7"/>
                  </p:tgtEl>
                </p:cond>
              </p:nextCondLst>
            </p:seq>
            <p:seq concurrent="1" nextAc="seek">
              <p:cTn id="51" restart="whenNotActive" fill="hold" evtFilter="cancelBubble" nodeType="interactiveSeq">
                <p:stCondLst>
                  <p:cond evt="onClick" delay="0">
                    <p:tgtEl>
                      <p:spTgt spid="9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2" fill="hold">
                      <p:stCondLst>
                        <p:cond delay="0"/>
                      </p:stCondLst>
                      <p:childTnLst>
                        <p:par>
                          <p:cTn id="4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49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0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0" dur="300"/>
                                  <p:tgtEl>
                                    <p:spTgt spid="10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9"/>
                  </p:tgtEl>
                </p:cond>
              </p:nextCondLst>
            </p:seq>
            <p:seq concurrent="1" nextAc="seek">
              <p:cTn id="59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0" fill="hold">
                      <p:stCondLst>
                        <p:cond delay="0"/>
                      </p:stCondLst>
                      <p:childTnLst>
                        <p:par>
                          <p:cTn id="5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5" dur="300"/>
                                  <p:tgtEl>
                                    <p:spTgt spid="12"/>
                                  </p:tgtEl>
                                </p:cBhvr>
                              </p:animEffect>
                            </p:childTnLst>
                          </p:cTn>
                        </p:par>
                        <p:par>
                          <p:cTn id="56" presetID="10" presetClass="entr" presetSubtype="0" fill="hold" grpId="0" nodeType="with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57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58" dur="300"/>
                                  <p:tgtEl>
                                    <p:spTgt spid="1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64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65" fill="hold">
                      <p:stCondLst>
                        <p:cond delay="0"/>
                      </p:stCondLst>
                      <p:childTnLst>
                        <p:par>
                          <p:cTn id="6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6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1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63" dur="300"/>
                                  <p:tgtEl>
                                    <p:spTgt spid="1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25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92608"/>
            <a:ext cx="7406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1503E"/>
                </a:solidFill>
              </a:rPr>
              <a:t>Exit quiz answers</a:t>
            </a:r>
            <a:endParaRPr lang="en-US" sz="3000" dirty="0"/>
          </a:p>
        </p:txBody>
      </p:sp>
      <p:sp>
        <p:nvSpPr>
          <p:cNvPr id="3" name="topic icon"/>
          <p:cNvSpPr/>
          <p:nvPr/>
        </p:nvSpPr>
        <p:spPr>
          <a:xfrm>
            <a:off x="8092440" y="347472"/>
            <a:ext cx="621792" cy="621792"/>
          </a:xfrm>
          <a:prstGeom prst="ellipse">
            <a:avLst/>
          </a:prstGeom>
          <a:solidFill>
            <a:srgbClr val="E4ECE6"/>
          </a:solidFill>
          <a:ln w="12700">
            <a:solidFill>
              <a:srgbClr val="E4ECE6"/>
            </a:solidFill>
            <a:prstDash val="solid"/>
          </a:ln>
        </p:spPr>
      </p:sp>
      <p:pic>
        <p:nvPicPr>
          <p:cNvPr id="4" name="Image 0" descr="topic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0" y="484632"/>
            <a:ext cx="347472" cy="347472"/>
          </a:xfrm>
          <a:prstGeom prst="rect">
            <a:avLst/>
          </a:prstGeom>
        </p:spPr>
      </p:pic>
      <p:graphicFrame>
        <p:nvGraphicFramePr>
          <p:cNvPr id="6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3291840"/>
                <a:gridCol w="43891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Q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Answer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Why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503E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1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8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47 ÷ 11 = 4 remainder 3, and 11 − 3 = 8.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Car airbag deployment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It must respond within milliseconds, so the output affects what happens next.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3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D  hash total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total with no meaning is a hash total.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4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Two users updating the same record at once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It stops lost updates and double-booking.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5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5, 4, 3, 2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Weightings start at 2 on the right and rise by 1 to the left.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6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  Processing happens without user interaction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Batches run unattended, often overnight.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7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A  multithreading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One program, several threads running concurrently.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8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OMR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Players mark boxes in fixed positions, which OMR reads.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5221C"/>
                          </a:solidFill>
                        </a:rPr>
                        <a:t>9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C  One form missed and another entered twice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5221C"/>
                          </a:solidFill>
                        </a:rPr>
                        <a:t>The count of forms is unchanged, so the batch total still matches.</a:t>
                      </a:r>
                      <a:endParaRPr lang="en-US" sz="1400" dirty="0"/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D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ECE6"/>
                    </a:solidFill>
                  </a:tcPr>
                </a:tc>
              </a:tr>
            </a:tbl>
          </a:graphicData>
        </a:graphic>
      </p:graphicFrame>
      <p:sp>
        <p:nvSpPr>
          <p:cNvPr id="6" name="btn">
            <a:hlinkClick r:id="rId2" action="ppaction://hlinksldjump"/>
          </p:cNvPr>
          <p:cNvSpPr/>
          <p:nvPr/>
        </p:nvSpPr>
        <p:spPr>
          <a:xfrm>
            <a:off x="7333488" y="4718304"/>
            <a:ext cx="804672" cy="292608"/>
          </a:xfrm>
          <a:prstGeom prst="roundRect">
            <a:avLst>
              <a:gd name="adj" fmla="val 50000"/>
            </a:avLst>
          </a:prstGeom>
          <a:solidFill>
            <a:srgbClr val="E4ECE6"/>
          </a:solidFill>
          <a:ln w="12700">
            <a:solidFill>
              <a:srgbClr val="E4ECE6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03E"/>
                </a:solidFill>
                <a:hlinkClick r:id="rId2" action="ppaction://hlinksldjump" tooltip="Back to the menu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☰  Menu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6675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59</a:t>
            </a:fld>
            <a:endParaRPr lang="en-US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21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" dur="4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" dur="4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450"/>
                            </p:stCondLst>
                            <p:childTnLst>
                              <p:par>
                                <p:cTn id="1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6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  <p:bldP spid="25" grpId="0" animBg="1"/>
      <p:bldGraphic spid="60" grpId="0">
        <p:bldAsOne/>
      </p:bldGraphic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59</Slides>
  <Notes>59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and information</dc:title>
  <dc:subject>AS 2: Fundamentals of Digital Technology – Data and information</dc:subject>
  <dc:creator>Digital Technology Hub</dc:creator>
  <cp:lastModifiedBy>Digital Technology Hub</cp:lastModifiedBy>
  <cp:revision>1</cp:revision>
  <dcterms:created xsi:type="dcterms:W3CDTF">2026-10-30T13:16:05Z</dcterms:created>
  <dcterms:modified xsi:type="dcterms:W3CDTF">2026-10-30T13:16:05Z</dcterms:modified>
</cp:coreProperties>
</file>