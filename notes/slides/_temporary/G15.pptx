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c60b9f2f-f494-1f10-c911-d5fde86f389d}">
          <p14:sldIdLst>
            <p14:sldId id="256"/>
            <p14:sldId id="257"/>
            <p14:sldId id="258"/>
            <p14:sldId id="259"/>
          </p14:sldIdLst>
        </p14:section>
        <p14:section name="FD14 · Operating systems and utility programs" id="{c11cf046-f288-a01f-3c05-e3f60ad061cd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FD15 · Translators, application software and processing systems" id="{f2ce5aef-4728-6f73-1951-9a62e5074d69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purpose of an operating system and its main components: user interface, application interface, kernel and hardware interface | Describe different types of operating system: single user, multi-user, multiprogramming, multiprocessing, multitasking and multithreading | Explain memory management (paging and segmentation), process scheduling and the handling of interrupts | Describe file management, device management using drivers, and the security functions of an operating system | Explain the need for utility programs | Describe common utility programs: data compression, file backup, archive software and disk defragmenters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purpose of assemblers, compilers and interpreters, the stages of compilation and the use of intermediate code | Explain what is meant by application software and the difference between generic and special purpose software | Compare the use of custom-built software with off-the-shelf software | Explain how application software can be delivered on different platforms, for example downloaded to a device or accessed using the web | Evaluate different methods of obtaining software: proprietary and open source | Describe batch processing and real-time processing and evaluate their use for common applications | Describe the input, output and processing involved in ATMs, point of sale (POS) terminals and smartphones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3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3" Type="http://schemas.openxmlformats.org/officeDocument/2006/relationships/slide" Target="slide8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5.xml"/><Relationship Id="rId10" Type="http://schemas.openxmlformats.org/officeDocument/2006/relationships/slide" Target="slide16.xml"/><Relationship Id="rId11" Type="http://schemas.openxmlformats.org/officeDocument/2006/relationships/slide" Target="slide17.xml"/><Relationship Id="rId12" Type="http://schemas.openxmlformats.org/officeDocument/2006/relationships/slide" Target="slide18.xml"/><Relationship Id="rId13" Type="http://schemas.openxmlformats.org/officeDocument/2006/relationships/slide" Target="slide19.xml"/><Relationship Id="rId14" Type="http://schemas.openxmlformats.org/officeDocument/2006/relationships/slide" Target="slide20.xml"/><Relationship Id="rId15" Type="http://schemas.openxmlformats.org/officeDocument/2006/relationships/slide" Target="slide21.xml"/><Relationship Id="rId16" Type="http://schemas.openxmlformats.org/officeDocument/2006/relationships/slide" Target="slide22.xml"/><Relationship Id="rId17" Type="http://schemas.openxmlformats.org/officeDocument/2006/relationships/slide" Target="slide23.xml"/><Relationship Id="rId18" Type="http://schemas.openxmlformats.org/officeDocument/2006/relationships/slide" Target="slide2.xml"/><Relationship Id="rId1" Type="http://schemas.openxmlformats.org/officeDocument/2006/relationships/image" Target="../media/image-6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3" Type="http://schemas.openxmlformats.org/officeDocument/2006/relationships/slide" Target="slide36.xml"/><Relationship Id="rId4" Type="http://schemas.openxmlformats.org/officeDocument/2006/relationships/slide" Target="slide37.xml"/><Relationship Id="rId5" Type="http://schemas.openxmlformats.org/officeDocument/2006/relationships/slide" Target="slide38.xml"/><Relationship Id="rId6" Type="http://schemas.openxmlformats.org/officeDocument/2006/relationships/slide" Target="slide39.xml"/><Relationship Id="rId7" Type="http://schemas.openxmlformats.org/officeDocument/2006/relationships/slide" Target="slide40.xml"/><Relationship Id="rId8" Type="http://schemas.openxmlformats.org/officeDocument/2006/relationships/slide" Target="slide41.xml"/><Relationship Id="rId9" Type="http://schemas.openxmlformats.org/officeDocument/2006/relationships/slide" Target="slide42.xml"/><Relationship Id="rId10" Type="http://schemas.openxmlformats.org/officeDocument/2006/relationships/slide" Target="slide44.xml"/><Relationship Id="rId11" Type="http://schemas.openxmlformats.org/officeDocument/2006/relationships/slide" Target="slide45.xml"/><Relationship Id="rId12" Type="http://schemas.openxmlformats.org/officeDocument/2006/relationships/slide" Target="slide46.xml"/><Relationship Id="rId13" Type="http://schemas.openxmlformats.org/officeDocument/2006/relationships/slide" Target="slide48.xml"/><Relationship Id="rId14" Type="http://schemas.openxmlformats.org/officeDocument/2006/relationships/slide" Target="slide49.xml"/><Relationship Id="rId15" Type="http://schemas.openxmlformats.org/officeDocument/2006/relationships/slide" Target="slide51.xml"/><Relationship Id="rId16" Type="http://schemas.openxmlformats.org/officeDocument/2006/relationships/slide" Target="slide52.xml"/><Relationship Id="rId17" Type="http://schemas.openxmlformats.org/officeDocument/2006/relationships/slide" Target="slide53.xml"/><Relationship Id="rId18" Type="http://schemas.openxmlformats.org/officeDocument/2006/relationships/slide" Target="slide2.xml"/><Relationship Id="rId1" Type="http://schemas.openxmlformats.org/officeDocument/2006/relationships/image" Target="../media/image-34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Software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FD14  Operating systems and utility programs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FD15  Translators, application software and processing systems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FD14  Operating systems and utility progra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FD14  Operating systems and utility programs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FD15  Translators, application software and processing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FD15  Translators, application software and processing systems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purpose of an operating system and its main components: user interface, application interface, kernel and hardware interface; Describe different types of operating system: single user, multi-user, multiprogramming, multiprocessing, multitasking and multithreading; Explain memory management (paging and segmentation), process scheduling and the handling of interrupts; Describe file management, device management using drivers, and the security functions of an operating system; Explain the need for utility programs; Describe common utility programs: data compression, file backup, archive software and disk defragmenters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6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purpose of assemblers, compilers and interpreters, the stages of compilation and the use of intermediate code; Explain what is meant by application software and the difference between generic and special purpose software; Compare the use of custom-built software with off-the-shelf software; Explain how application software can be delivered on different platforms, for example downloaded to a device or accessed using the web; Evaluate different methods of obtaining software: proprietary and open source; Describe batch processing and real-time processing and evaluate their use for common applications; Describe the input, output and processing involved in ATMs, point of sale (POS) terminals and smartphones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7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Operating systems and utility programs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what an operating system is for and describe the job of each of its main parts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single user, multi-user, multiprogramming, multitasking, multiprocessing and multithreading systems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the OS manages memory, schedules processes and handles interrupts, and trace a round-robin schedule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utility programs are needed and describe compression, backup, archiving and defragmentation tools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System software and the operating syst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software and the operating system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Inside an operating syst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Inside an operating system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Single user and multi-user operating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Single user and multi-user operating systems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Multi-user systems: time-slicing and secu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Multi-user systems: time-slicing and security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Four ways to run more than one progr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Four ways to run more than one program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Multithreading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Multithreading in C#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Memory management: paging and segment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Memory management: paging and segmentation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Process schedul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 scheduling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orked example: round robin, 2 ms time slice (A needs 5 ms, B 2 ms, C 4 m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round robin, 2 ms time slice (A needs 5 ms, B 2 ms, C 4 ms)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Interrup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Interrupts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Files, devices and secu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Files, devices and security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Utility progra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Utility programs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Disk defragment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 defragmentation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Worked example: backup and archiving at a Co. Tyrone schoo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backup and archiving at a Co. Tyrone school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operating system sits between applications and hardware and provides memory management, scheduling, interrupt handling, file and device management and security; an interrupt saves registers, runs the service routine and restores th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operating system sits between applications and hardware and provides memory management, scheduling, interrupt handling, file and device management and security; an interrupt saves registers, runs the service routine and restores them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System software and the operating system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Software divides into system software, which runs the computer itself, and application software, which carries out the user's own tasks.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System software is made up of the operating system (OS) and utility programs.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An OS manages all of the computer's hardware and software resources and is the interface between the hardware, application programs and the user.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It is the first program loaded when the computer is switched on; without it, applications have no way to use the hardware.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An OS is written for a particular processor's instruction set. Examples: Windows, macOS, Linux, Android, iOS.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Inside an operating system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36984"/>
                <a:gridCol w="70926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Accepts input from the user and returns output as information, through a command line interface or a graphical user interface (GUI)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Application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Provides services that programs can call, and holds a device driver for each device so software can control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Kernel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core of the OS: loads and unloads programs in memory and allocates memory, storage and processor time efficiently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Hardware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Communicates with the physical components: the CPU, main memory and peripheral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Single user and multi-user operating 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33856"/>
                <a:gridCol w="4718304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Single user, single 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person runs one program at a time; there is no way to tell users apart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Early PC systems such as MS-DOS; simple embedded controllers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Single user, multitasking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person can have several programs open; the OS gives each its share of resources and the user switches between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Windows laptop downloading a file while the user types an essay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Multi-user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 users share one computer at the same time, each through their own terminal, each appearing to have the machine to themselves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mainframe processing a bank's transactions; a Linux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Multi-user systems: time-slicing and security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OS shares processor time between users by time-slicing: each user's task runs for a short slice, then the next task gets a turn.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Slices last only milliseconds, so each user feels as if they have the whole computer to themselves.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Memory, storage and data requests must be allocated so that each user gets enough to work efficiently.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Each user's files and data are protected from other users by accounts, passwords and access rights.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multi-user OS needs more memory and is far more complex than a single user OS.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Four ways to run more than one program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80060"/>
                <a:gridCol w="4894256"/>
                <a:gridCol w="27552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point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Multiprogramming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Several programs are held in main memory but only one executes at a time; when it has to wait (e.g. for I/O) the OS switches to another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Keeps the CPU busy and gives an illusion of parallelism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Multitasking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Several tasks share the CPU and memory; the OS allocates resources and switches between tasks, often by time-slicing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general form of multiprogramming used on PCs and phones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Multiprocessing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workload is divided between two or more processors or cores that execute at the same moment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 parallel processing; main benefit is speed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Multithreading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process runs several threads, each a separate path of execution sharing the process's memory and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Serves several users or requests without loading extra copies of the program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Multithreading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thread is a separate path of execution inside a process, and threads share the same variables.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Here two threads each add 1 to a shared counter 100,000 times, so the correct total is 200,000.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the lock, both threads can read the same old value and one update is lost (a race condition), leaving the total below 200,000.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two threads each hold a resource that the other is waiting for, neither can continue: this is deadlock.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Multithreading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System.Threading;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counter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key = new object();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a = new Thread(AddMany);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b = new Thread(AddMany);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a.Start(); b.Start();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a.Join(); b.Join();          // wait for both threads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Console.WriteLine(counter);  // 200000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AddMany()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100000; i++)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lock (key) { counter++; }  // one thread at a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Memory management: paging and segmentation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91319"/>
                <a:gridCol w="3930555"/>
                <a:gridCol w="38077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Paging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Segmentation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Division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Memory split into fixed-size pages (e.g. 4 KB)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 split into variable-size logical segments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Based 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Physical size, ignoring program structure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Logical structure, e.g. a subroutine or a data array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Mapping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page table maps each page to a frame in 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segment table holds each segment's base address and length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Benefit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Pages fit any free frame, so no gaps form between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Matches program structure; segments can be shared or protected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Drawback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Wasted space in a part-filled last page (internal fragmentation)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Unusable gaps between segments (external fragmentation)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Process scheduling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scheduler, part of the kernel, decides which process uses the CPU next and for how long.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Aims: keep the CPU busy, maximise throughput, be fair to every process and respond quickly to interactive users.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Round robin: each process gets a fixed time slice in turn, then rejoins the back of the queue if it is unfinished.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First come, first served runs processes to completion in arrival order; shortest job first runs the shortest process next.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Priority scheduling runs higher-priority processes first, as real-time systems must (e.g. an alarm before a routine log).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03E"/>
                </a:solidFill>
              </a:rPr>
              <a:t>Worked example: round robin, 2 ms time slice (A needs 5 ms, B 2 ms, C 4 ms)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22218"/>
                <a:gridCol w="872836"/>
                <a:gridCol w="623454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(ms)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Running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still needed afterwards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to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3, B 2, C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 to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 finishes at 4 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 to 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3, C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6 to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1, C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8 to 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 finishes at 10 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10 to 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finishes at 11 ms (needs only 1 ms of its slice)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Interrupts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 interrupt is a signal to the processor that an event needs attention: a key press, a printer out of paper, a timer, or a hardware fault.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CPU checks for interrupts at the end of each fetch–decode–execute cycle.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If the interrupt has a higher priority than the current task, the register contents are saved on the stack.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matching interrupt service routine (ISR) runs; then the registers are restored and the original task carries 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Interrupts let the CPU respond to events without wasting time constantly checking (polling) every device.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Files, devices and security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38948"/>
                <a:gridCol w="72906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the OS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File management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Organises files into folders; records names, locations and permissions; handles create, open, save and delete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Device management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Uses device drivers to turn general OS requests into device-specific instructions; manages buffers and queues such as print spooling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Security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 accounts and passwords, access rights, encryption, firewall, updates and activity logs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Provides a GUI or command line through which the user controls the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Utility programs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Utility programs are system software that perform specific tasks to manage the computer, its devices or its programs.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They are needed because the OS alone does not keep the system efficient, secure and recoverable; many utilities are now built into the 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Data compression: encodes files in fewer bits, saving storage space and reducing transfer times; a means to an end, not a task in itself.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Backup: makes exact copies of files or databases so the originals can be restored after loss, corruption or attack.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Others include antivirus, encryption, disk clean-up and file managers.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Disk defragmentation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On a magnetic hard disk, a file is saved as a chain of clusters; the file system's table (e.g. the FAT) records which clusters are free.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Deleting a file only marks its clusters as free; the data stays until it is overwritten.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After many saves and deletions, files are scattered in fragments, so the read head must move further and access slows.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defragmenter moves data so each file occupies contiguous clusters and the free space is gathered together. It can take hours.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SSDs have no moving head, so they should not be defragmented; the OS uses TRIM to manage them instead.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03E"/>
                </a:solidFill>
              </a:rPr>
              <a:t>Worked example: backup and archiving at a Co. Tyrone school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network manager runs a scheduled backup every night: exact copies of pupil work and the MIS database go to an off-site cloud store.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If ransomware encrypts a shared drive, files are restored from the most recent clean backup.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At the end of each year, departed pupils' folders are archived: many files are combined, compressed and moved to cheaper storage.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archive stores metadata (file names, lengths, timestamps, access control lists) so every file can be rebuilt exactly.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manager sets the schedule, location, retention period and who may access archives, and keeps the software needed to unarchive them.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bank's mainframe lets thousands of staff work at once, each appearing to have the computer to themselves. Which technique makes this possible?</a:t>
            </a:r>
            <a:endParaRPr lang="en-US" sz="15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Defragmentation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Time-slicing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compression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Segmentation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Time-slicing  –  Time-slicing gives each user's task a very short turn on the processor in rotation, so every user seems to have exclusive use.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happens to the contents of the processor's registers when a higher-priority interrupt is serviced?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They are deleted</a:t>
            </a:r>
            <a:endParaRPr lang="en-US" sz="14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They are sent to the printer</a:t>
            </a:r>
            <a:endParaRPr lang="en-US" sz="14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They are written to the hard disk as a file</a:t>
            </a:r>
            <a:endParaRPr lang="en-US" sz="14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They are saved on the stack and restored afterwards</a:t>
            </a:r>
            <a:endParaRPr lang="en-US" sz="14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They are saved on the stack and restored afterwards  –  Saving the registers on the stack lets the interrupted task resume exactly where it stopped once the ISR has finished.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term describes several threads running within a single process and sharing its memory?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Multithreading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Multiprocessing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Multiprogramming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Spooling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Multithreading  –  Each thread is a separate path of execution, but all threads share the process's memory and code.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part of the operating system loads programs into memory and allocates processor time?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User interface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Hardware interface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Kernel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Device driver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Kernel  –  The kernel is the core of the OS that manages memory, storage and processor allocation.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Round robin, 2 ms slices: X needs 3 ms and Y needs 2 ms, X first. When does X finish?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ms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 ms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 ms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 ms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5 ms  –  X runs 0–2 ms (1 ms left), Y runs 2–4 ms and finishes, then X runs 4–5 ms and finishes at 5 ms.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benefit of a multiprocessing system?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Speed through true parallel processing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Smaller file sizes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Fewer interrupts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 need for drivers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Speed through true parallel processing  –  Work is divided between several processors or cores that execute at the same time.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memory management technique divides a program into variable-sized logical units?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Paging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Segmentation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Spooling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Caching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Segmentation  –  Segments follow the program's logical structure, such as a subroutine or an array, so their sizes vary.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a disk defragmenter speed up file access on a magnetic hard disk?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compresses every file</a:t>
            </a:r>
            <a:endParaRPr lang="en-US" sz="14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deletes unused programs</a:t>
            </a:r>
            <a:endParaRPr lang="en-US" sz="14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places each file's clusters next to each other</a:t>
            </a:r>
            <a:endParaRPr lang="en-US" sz="14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adds more RAM</a:t>
            </a:r>
            <a:endParaRPr lang="en-US" sz="14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It places each file's clusters next to each other  –  Contiguous clusters mean the read head moves less, so the file is read more quickly.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utility combines many files into one file, storing metadata so each can be rebuilt later?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Disk defragmenter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Device driver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Antivirus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File archiving program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File archiving program  –  An archiver concatenates files, often compresses them, and records names, lengths and attributes for reconstruction.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Time-slicing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Time-slicing gives each user's task a very short turn on the processor in rotation, so every user seems to have exclusive use.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They are saved on the stack and restored afterwards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Saving the registers on the stack lets the interrupted task resume exactly where it stopped once the ISR has finished.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Multithreading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thread is a separate path of execution, but all threads share the process's memory and code.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Kernel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kernel is the core of the OS that manages memory, storage and processor allocation.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5 ms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X runs 0–2 ms (1 ms left), Y runs 2–4 ms and finishes, then X runs 4–5 ms and finishes at 5 ms.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Speed through true parallel processing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Work is divided between several processors or cores that execute at the same time.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Segmentation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Segments follow the program's logical structure, such as a subroutine or an array, so their sizes vary.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It places each file's clusters next to each other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Contiguous clusters mean the read head moves less, so the file is read more quickly.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File archiving program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 archiver concatenates files, often compresses them, and records names, lengths and attributes for reconstruction.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3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Translators, application software and processing systems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assemblers, compilers and interpreters and put the stages of compilation in order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differences between generic and special purpose software and weigh up custom-built against off-the-shelf software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proprietary and open source software and the ways software is delivered to different platforms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between batch and real-time processing for an application and justify the choice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Identify the input, processing and output of ATMs, POS terminals and smartphones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Translators: assembler, compiler, interpre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Translators: assembler, compiler, interpreter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Stages of compi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Stages of compilation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Intermediate code and cross-platform soft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Intermediate code and cross-platform software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Application software: generic or special purpo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 software: generic or special purpose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Custom-built versus off-the-shel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Custom-built versus off-the-shelf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Delivering software: download or we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Delivering software: download or web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Proprietary and open source soft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Proprietary and open source software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orked example: software for a Fermanagh GAA cl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software for a Fermanagh GAA club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Batch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 processing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A batch run with a control total (C#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batch run with a control total (C#)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Real-time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Real-time processing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Evaluating batch and real-time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batch and real-time processing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ATMs and POS terminals: input, processing,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ATMs and POS terminals: input, processing, output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Smartphones: input, processing,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Smartphones: input, processing, output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stages of compilation from source code to object code, and how C# is compiled to Common Intermediate Language and then just-in-time compiled to machine 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stages of compilation from source code to object code, and how C# is compiled to Common Intermediate Language and then just-in-time compiled to machine code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Translators: assembler, compiler, interpreter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56930"/>
                <a:gridCol w="2449741"/>
                <a:gridCol w="2296633"/>
                <a:gridCol w="252629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Assembler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Compiler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Interpreter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Translates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Assembly language mnemonics into machine code, mostly one-to-one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whole high-level program into object code before it 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High-level code one statement at a time, executing each as it goes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Executable machine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 executable that runs without the compiler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executable; translated again every run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Reported after assembling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Listed together after compiling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Stops at the first error found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Speed of finished program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Slower, as translation happens at run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Source code hidden?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Yes, only the executable is distributed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No, the source must be supplied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Stages of compilation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61121"/>
                <a:gridCol w="72684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Lexical analysis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Removes white space and comments; splits the code into tokens (keywords, identifiers, operators); builds the symbol table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Syntax analysis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the tokens follow the grammar rules of the language; builds a parse tree; reports syntax 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Semantic checks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meaning, e.g. that variables are declared and types are compatible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Code generation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Produces object code (machine code or intermediate code) from the parse tree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Optimisation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Improves the code so it runs faster or uses less memory, e.g. removing redundant instructions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8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Intermediate code and cross-platform software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platform is the hardware (processor type) and/or operating system that software runs on; Windows and macOS are different platforms even on the same x86 chips.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Software compiled to machine code for one platform must be rewritten or recompiled for another, because each OS offers a different API.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Java source is compiled to bytecode, machine code for an imaginary processor; each platform has its own Java Virtual Machine (JVM) to run it, so one file works anywhere a JVM exists.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C# compiles to Common Intermediate Language (CIL); the .NET runtime's just-in-time (JIT) compiler turns it into native machine code as it runs.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Web apps are cross-platform in a different way: they run in any modern browser on any OS.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Application software: generic or special purpose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94911"/>
                <a:gridCol w="3123282"/>
                <a:gridCol w="451140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Generic software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Special purpose software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 different tasks without modification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Performs one specific job or meets a unique business need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Word processor, spreadsheet, presentation software, web 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Payroll package, GP appointment system, vet's practice manager, a bus fleet tracking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produced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Written once and sold off-the-shelf in large numbers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May be bought for a market sector or custom-built for one client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wide range of users and organisations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particular industry or a single organisation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Custom-built versus off-the-shelf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5685"/>
                <a:gridCol w="4114800"/>
                <a:gridCol w="37091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Custom-built (bespoke)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Off-the-shelf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exactly what the organisation needs, optimised for its processes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May lack some needed features and include many unused ones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Expensive: developers' time paid by one client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Cheaper: development cost spread over many buyers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Long wait while it is analysed, written and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Available immediately, though set-up and configuration take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Tested by one team; hidden bugs may appear later, e.g. at a date change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Widely used, so most bugs have been found and fixed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Developers on hand to fix problems; little online help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 user base: forums, tutorials, training courses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Delivering software: download or web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60128"/>
                <a:gridCol w="4708916"/>
                <a:gridCol w="28605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Downloaded and installed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Accessed through the web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it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 installation package is downloaded and configures the program for the device; it runs on local resources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Runs on the publisher's servers; the user works through a 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Device needs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Enough storage, memory and processing power; the correct platform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Little local capability, but a reliable internet connection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Offline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Updates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 or IT staff must install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Applied on the server for everyone at once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pricing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One-off licence fee, or a subscription that disables features if not renewed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Renewable subscription, often per user per year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Proprietary and open source software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86697"/>
                <a:gridCol w="2831690"/>
                <a:gridCol w="49112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Proprietary (closed source)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Open source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Source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Kept secret; protected by copyright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Supplied with the program; may be studied and 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Licence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Restricts copying and modification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Allows use, modification and redistribution; copyleft licences (e.g. GPL) require changed versions to stay open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a fee or subscription; freeware is free but still closed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free; firms may charge for support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Official updates, documentation and technical support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Community forums; paid support for some products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Risks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Locked in to the vendor; support ends if it stops trading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May be less polished, documented or tested; many versions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Proprietary and open source software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86697"/>
                <a:gridCol w="2831690"/>
                <a:gridCol w="49112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Proprietary (closed source)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Open source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Windows, Microsoft 365, Adobe Photoshop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Linux, LibreOffice, Firefox, VLC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4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software for a Fermanagh GAA club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Need 1: letters, fixture lists and accounts. Generic office software suits; a free open source suite or a web-based suite keeps costs low.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Need 2: membership and match-day ticketing. Off-the-shelf web-based club software is ready now, tested and supported for a small subscription.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bespoke system would fit exactly but cost far more and take months, which a volunteer-run club cannot justify.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Delivered through the web, volunteers can use it on any laptop or phone, and updates happen automatically.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Decision: off-the-shelf, web-delivered software; review if the club's needs become unusual.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Batch processing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Transactions are collected over a period in a transaction file, then processed together as one batch job at a set time.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same processing is applied to every record, and once set up the job runs without human intervention.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Often run overnight or off-peak, when the system is less busy.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Validation such as control totals and batch totals checks that no transactions have been lost or added.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master file is only up to date after the batch has run.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Uses: payroll, utility and credit card bills, end-of-day stock reordering, bank clearing of cheques.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 batch run with a control total (C#)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transaction file holds the day's sales; the master file holds stock levels.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Tills counted 22 items, so the control total is 22; the batch is rejected if the transactions do not add up to 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Here 3 + 10 + 5 + 4 = 22, so the batch runs and prints item 0: 32, item 1: 21, item 2: 50.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 batch run with a control total (C#)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stock = { 40, 25, 60 };            // master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item, int qty)[] sales =             // transaction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(0, 3), (2, 10), (0, 5), (1, 4)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controlTotal = 22;                    // counted at the tills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s in sales) sum += s.qty;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(sum != controlTotal)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Console.WriteLine("Control total mismatch: batch rejected");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s in sales) stock[s.item] -= s.qty;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stock.Length;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Console.WriteLine($"Item {i}: {stock[i]}");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Real-time processing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Each transaction is processed as soon as it happens, so the master file is always up to date.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Two kinds (also in FD07): real-time transaction (online) processing, e.g. bookings and ATMs, where the user waits seconds, and real-time control, e.g. traffic lights reacting to sensors.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Uses: online orders and stock checks, bank balances after a withdrawal, password changes, traffic lights, heart monitors, seat booking.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Many requests can arrive at once, so scheduling algorithms give priority to the most urgent (a cardiac alarm before a low-battery warning).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Needs constantly available, powerful and often duplicated hardware, so it costs more than batch processing.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Evaluating batch and real-time processing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14550"/>
                <a:gridCol w="42862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Monthly payroll for a council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Same calculation for every employee, needed only once a month; run off-peak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Electricity or credit card bills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Readings or transactions collected over a period; one bill per 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Booking seats at a concert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Real-time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seat must be removed at once to stop it being sold twice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Cash withdrawal at an ATM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Real-time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Balance must be checked and updated immediately to stop overspending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Hospital patient monitoring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Real-time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Life-critical: alarms must sound within seconds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0" grpId="0">
        <p:bldAsOne/>
      </p:bldGraphic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Evaluating batch and real-time processing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14550"/>
                <a:gridCol w="42862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Overall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Batch: cheap, efficient, controllable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Real-time: up to date and responsive, but costly and complex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1" grpId="0">
        <p:bldAsOne/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ATMs and POS terminals: input, processing, output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82283"/>
                <a:gridCol w="3377242"/>
                <a:gridCol w="42700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 terminal with EFTPOS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Input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Card reader (chip or contactless), keypad or touchscreen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Barcode scanner, touchscreen, electronic scales, card reader and PIN pad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Input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Card details, PIN, menu choice, amount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Product codes, weights, quantities, card details, PIN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Processing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Validate PIN with the card issuer's bank, look up account, check balance, deduct amount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Look up price in database, calculate total and weighed prices, update stock, contact bank to authorise payment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Output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Screen, cash dispenser, receipt printer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Customer and operator displays, receipt printer, beeps for 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Processing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Real-time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Real-time sale; stock reordering may be batch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2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Smartphones: input, processing, output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Input: multi-touch screen (taps, swipes, pinches) and on-screen keyboard; microphone for voice assistants; cameras, also used for QR codes and face unlock.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More input: fingerprint sensor; accelerometer and gyroscope for orientation; GPS, compass and barometer; data received over Wi-Fi, 4G and 5G.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Processing: a mobile OS (Android, based on open source Linux, or Apple's iOS) manages resources and runs apps.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One app runs in the foreground; others are mostly suspended in memory to save power, though some still receive notifications.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Output: the touchscreen, speakers or Bluetooth headphones, vibration alerts, and NFC to pay contactlessly at an EFTPOS terminal.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health trust's payroll is calculated once a month for every employee, overnight and without staff intervention. What type of processing is this?</a:t>
            </a:r>
            <a:endParaRPr lang="en-US" sz="15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Real-time processing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Interactive processing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Batch processing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Multithreading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Batch processing  –  Data is gathered over the month and processed together as one job at a scheduled time, which is batch processing.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the defining feature of open source software?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Its source code is available and may be modified</a:t>
            </a:r>
            <a:endParaRPr lang="en-US" sz="14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always free and never sold</a:t>
            </a:r>
            <a:endParaRPr lang="en-US" sz="14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has no licence of any kind</a:t>
            </a:r>
            <a:endParaRPr lang="en-US" sz="14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only runs on Linux</a:t>
            </a:r>
            <a:endParaRPr lang="en-US" sz="14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Its source code is available and may be modified  –  Open source software is released with its source code under a licence that allows changes; some open source products are sold or offer paid support.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stage of compilation removes comments and splits code into tokens?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Code generation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Lexical analysis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Optimisation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Syntax analysis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Lexical analysis  –  Lexical analysis is the first stage; it also builds the symbol table.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advantage of custom-built software over off-the-shelf software?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available immediately</a:t>
            </a:r>
            <a:endParaRPr lang="en-US" sz="14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cheaper</a:t>
            </a:r>
            <a:endParaRPr lang="en-US" sz="14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has large online user forums</a:t>
            </a:r>
            <a:endParaRPr lang="en-US" sz="14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does exactly what the organisation needs</a:t>
            </a:r>
            <a:endParaRPr lang="en-US" sz="14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It does exactly what the organisation needs  –  Bespoke software is written to the client's own requirements, but it costs more and takes longer.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application most needs real-time processing?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Printing quarterly gas bills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Booking seats on a flight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Calculating annual tax returns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Producing monthly bank statements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Booking seats on a flight  –  A seat must be removed immediately once sold, otherwise it could be sold twice.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happens in the processing stage at an ATM?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Inserting the card</a:t>
            </a:r>
            <a:endParaRPr lang="en-US" sz="14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Dispensing the cash</a:t>
            </a:r>
            <a:endParaRPr lang="en-US" sz="14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Checking the amount against the account balance</a:t>
            </a:r>
            <a:endParaRPr lang="en-US" sz="14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Printing a receipt</a:t>
            </a:r>
            <a:endParaRPr lang="en-US" sz="14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Checking the amount against the account balance  –  Inserting the card is input; dispensing cash and printing are output; the balance check is processing.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a web application described as cross-platform?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runs in a browser on any operating system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written in assembly language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installed separately for each device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always open source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It runs in a browser on any operating system  –  Processing is done mostly on the server and the interface runs in a browser, so the OS of the client does not matter.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smartphone component lets it pay contactlessly at an EFTPOS terminal?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Gyroscope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Barometer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Fingerprint sensor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NFC antenna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NFC antenna  –  Near-field communication transfers payment details over a few centimetres.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about off-the-shelf software is true?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written for one client</a:t>
            </a:r>
            <a:endParaRPr lang="en-US" sz="14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has usually been widely tested by many users</a:t>
            </a:r>
            <a:endParaRPr lang="en-US" sz="14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never needs configuring</a:t>
            </a:r>
            <a:endParaRPr lang="en-US" sz="14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always fits a business exactly</a:t>
            </a:r>
            <a:endParaRPr lang="en-US" sz="14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It has usually been widely tested by many users  –  Large numbers of users mean most bugs have been found and fixed, though it may still need setting up and may not fit exactly.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Batch processing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 is gathered over the month and processed together as one job at a scheduled time, which is batch processing.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Its source code is available and may be modified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Open source software is released with its source code under a licence that allows changes; some open source products are sold or offer paid support.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Lexical analysis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Lexical analysis is the first stage; it also builds the symbol table.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It does exactly what the organisation needs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Bespoke software is written to the client's own requirements, but it costs more and takes longer.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Booking seats on a flight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seat must be removed immediately once sold, otherwise it could be sold twice.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Checking the amount against the account balance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Inserting the card is input; dispensing cash and printing are output; the balance check is processing.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It runs in a browser on any operating system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Processing is done mostly on the server and the interface runs in a browser, so the OS of the client does not matter.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NFC antenna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Near-field communication transfers payment details over a few centimetres.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has usually been widely tested by many users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Large numbers of users mean most bugs have been found and fixed, though it may still need setting up and may not fit exactly.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3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</dc:title>
  <dc:subject>AS 2: Fundamentals of Digital Technology – Software</dc:subject>
  <dc:creator>Digital Technology Hub</dc:creator>
  <cp:lastModifiedBy>Digital Technology Hub</cp:lastModifiedBy>
  <cp:revision>1</cp:revision>
  <dcterms:created xsi:type="dcterms:W3CDTF">2026-10-30T13:16:08Z</dcterms:created>
  <dcterms:modified xsi:type="dcterms:W3CDTF">2026-10-30T13:16:08Z</dcterms:modified>
</cp:coreProperties>
</file>