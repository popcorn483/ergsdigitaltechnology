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ae64143e-785d-ace5-6d0c-30e73a0c6c46}">
          <p14:sldIdLst>
            <p14:sldId id="256"/>
            <p14:sldId id="257"/>
            <p14:sldId id="258"/>
          </p14:sldIdLst>
        </p14:section>
        <p14:section name="AP14 · Threats to data, archiving and the need for backup" id="{93765845-0033-60cb-2960-8b5314dd826c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AP15 · Protecting systems: security measures, backup methods and disaster recove" id="{fa9bdbc8-b30b-a3d7-4081-004d028206a2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main deliberate threats to data: malware (viruses, worms, Trojans, ransomware and spyware), hacking, social engineering and denial of service | Describe internal and accidental threats, including insider misuse, human error, hardware failure and natural disasters, and their consequences for organisations | Explain why data is archived, including the advantages and disadvantages of archiving | Explain the difference between archiving data and backing up data | Explain the need for backup and recovery, including the use of restore points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purpose and content of a security policy | Describe access control and authentication methods, encryption and firewalls | Evaluate methods of backup: full backup, differential backup and incremental backup | Describe how a system is restored using each method of backup | Explain the purpose of a disaster recovery plan | Describe the contents of a typical disaster recovery plan, including recovery point and recovery time objectives, and how plans are tested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31.xml"/><Relationship Id="rId1" Type="http://schemas.openxmlformats.org/officeDocument/2006/relationships/image" Target="../media/image-2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2" Type="http://schemas.openxmlformats.org/officeDocument/2006/relationships/slide" Target="slide16.xml"/><Relationship Id="rId13" Type="http://schemas.openxmlformats.org/officeDocument/2006/relationships/slide" Target="slide17.xml"/><Relationship Id="rId14" Type="http://schemas.openxmlformats.org/officeDocument/2006/relationships/slide" Target="slide18.xml"/><Relationship Id="rId15" Type="http://schemas.openxmlformats.org/officeDocument/2006/relationships/slide" Target="slide19.xml"/><Relationship Id="rId16" Type="http://schemas.openxmlformats.org/officeDocument/2006/relationships/slide" Target="slide20.xml"/><Relationship Id="rId17" Type="http://schemas.openxmlformats.org/officeDocument/2006/relationships/slide" Target="slide21.xml"/><Relationship Id="rId18" Type="http://schemas.openxmlformats.org/officeDocument/2006/relationships/slide" Target="slide2.xml"/><Relationship Id="rId1" Type="http://schemas.openxmlformats.org/officeDocument/2006/relationships/image" Target="../media/image-5-1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3" Type="http://schemas.openxmlformats.org/officeDocument/2006/relationships/slide" Target="slide34.xml"/><Relationship Id="rId4" Type="http://schemas.openxmlformats.org/officeDocument/2006/relationships/slide" Target="slide35.xml"/><Relationship Id="rId5" Type="http://schemas.openxmlformats.org/officeDocument/2006/relationships/slide" Target="slide36.xml"/><Relationship Id="rId6" Type="http://schemas.openxmlformats.org/officeDocument/2006/relationships/slide" Target="slide37.xml"/><Relationship Id="rId7" Type="http://schemas.openxmlformats.org/officeDocument/2006/relationships/slide" Target="slide38.xml"/><Relationship Id="rId8" Type="http://schemas.openxmlformats.org/officeDocument/2006/relationships/slide" Target="slide39.xml"/><Relationship Id="rId9" Type="http://schemas.openxmlformats.org/officeDocument/2006/relationships/slide" Target="slide40.xml"/><Relationship Id="rId10" Type="http://schemas.openxmlformats.org/officeDocument/2006/relationships/slide" Target="slide42.xml"/><Relationship Id="rId11" Type="http://schemas.openxmlformats.org/officeDocument/2006/relationships/slide" Target="slide43.xml"/><Relationship Id="rId12" Type="http://schemas.openxmlformats.org/officeDocument/2006/relationships/slide" Target="slide44.xml"/><Relationship Id="rId13" Type="http://schemas.openxmlformats.org/officeDocument/2006/relationships/slide" Target="slide45.xml"/><Relationship Id="rId14" Type="http://schemas.openxmlformats.org/officeDocument/2006/relationships/slide" Target="slide46.xml"/><Relationship Id="rId15" Type="http://schemas.openxmlformats.org/officeDocument/2006/relationships/slide" Target="slide47.xml"/><Relationship Id="rId16" Type="http://schemas.openxmlformats.org/officeDocument/2006/relationships/slide" Target="slide48.xml"/><Relationship Id="rId17" Type="http://schemas.openxmlformats.org/officeDocument/2006/relationships/slide" Target="slide49.xml"/><Relationship Id="rId18" Type="http://schemas.openxmlformats.org/officeDocument/2006/relationships/slide" Target="slide2.xml"/><Relationship Id="rId1" Type="http://schemas.openxmlformats.org/officeDocument/2006/relationships/image" Target="../media/image-32-1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5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5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5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5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5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5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5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5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Security issues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AP14  Threats to data, archiving and the need for backup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AP15  Protecting systems: security measures, backup methods and disaster recovery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3" action="ppaction://hlinksldjump" tooltip="AP14  Threats to data, archiving and the need for backu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AP14  Threats to data, archiving and the need for backup</a:t>
            </a:r>
            <a:endParaRPr lang="en-US" sz="12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4" action="ppaction://hlinksldjump" tooltip="AP15  Protecting systems: security measures, backup methods and disaster recove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AP15  Protecting systems: security measures, backup methods and disaster recovery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AP14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main deliberate threats to data: malware (viruses, worms, Trojans, ransomware and spyware), hacking, social engineering and denial of service; Describe internal and accidental threats, including insider misuse, human error, hardware failure and natural disasters, and their consequences for organisations; Explain why data is archived, including the advantages and disadvantages of archiving; Explain the difference between archiving data and backing up data; Explain the need for backup and recovery, including the use of restore points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AP15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purpose and content of a security policy; Describe access control and authentication methods, encryption and firewalls; Evaluate methods of backup: full backup, differential backup and incremental backup; Describe how a system is restored using each method of backup; Explain the purpose of a disaster recovery plan; Describe the contents of a typical disaster recovery plan, including recovery point and recovery time objectives, and how plans are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AP14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Threats to data, archiving and the need for backup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Distinguish between types of malware by how they spread and what they do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hacking, social engineering and denial of service attacks work and the harm they cause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internal and accidental threats and apply their consequences to a given organisation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inactive data is archived and weigh up the advantages and disadvantages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current data must be backed up and how a restore point is used to recover a system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Why data needs protec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data needs protecting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Types of malwa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Types of malware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Hack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Hacking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Phishing and social engineer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Phishing and social engineering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Denial of servi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Denial of service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Insider and accidental threa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Insider and accidental threats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Active and inactive da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Active and inactive data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What archiving involv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archiving involves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Archiving: advantages and disadvantag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Archiving: advantages and disadvantages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Worked example: a GAA club in County Tyron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 GAA club in County Tyrone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Archiving is not backing u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Archiving is not backing up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The need for backup and recove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need for backup and recovery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Restore points and transaction log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Restore points and transaction logs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6" action="ppaction://hlinksldjump" tooltip="Worked example: how much work could be lost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how much work could be lost?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3" name="btn">
            <a:hlinkClick r:id="rId18" action="ppaction://hlinksldjump"/>
          </p:cNvPr>
          <p:cNvSpPr/>
          <p:nvPr/>
        </p:nvSpPr>
        <p:spPr>
          <a:xfrm>
            <a:off x="603504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8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Threats to an information system grouped as external deliberate attacks, insider threats and accidental lo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Threats to an information system grouped as external deliberate attacks, insider threats and accidental loss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data needs protecting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Data is often the most valuable asset an organisation owns: customer records, payment details, designs, medical histories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Deliberate threats: malware, hacking, social engineering, denial of service and malicious insiders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Accidental threats: human error, hardware failure, power cuts, fire and flood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Consequences: lost revenue, downtime, fines and enforcement under the UK GDPR and Data Protection Act 2018, damaged reputation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Protection has two sides: reduce the chance of loss, and make sure data can be recovered when loss happens anyway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Types of malware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41942"/>
                <a:gridCol w="4412255"/>
                <a:gridCol w="287540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it spreads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Virus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Attaches to a host file or program; spreads when a user runs or shares the host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Replicates and may corrupt, delete or encrypt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Worm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Self-replicates across networks without user action, exploiting unpatched vulnerabilities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Uses up bandwidth; often carries a damaging payload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Trojan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Disguised as useful software that the user chooses to install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Opens a back door or steals data; does not self-replicate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Ransomware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Often arrives through phishing attachments or unpatched systems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Encrypts files and demands payment for the decryption key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Spyware / keylogger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Bundled with free downloads or installed by a Trojan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Secretly records activity such as keystrokes and passwords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9" grpId="0">
        <p:bldAsOne/>
      </p:bldGraphic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Hacking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Hacking is gaining unauthorised access to a computer system or its data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It is an offence under the Computer Misuse Act 1990 (as amended in 2006 and 2015), whether or not damage is done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Methods: exploiting unpatched software, brute-force or dictionary attacks on weak passwords, SQL injection through poorly validated web forms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Aims: steal, alter or delete data, plant malware, or use the system to attack others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Ethical (white-hat) hackers carry out penetration testing with the owner’s written permission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Phishing and social engineering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Social engineering manipulates people, not machines, into handing over information or access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Phishing: bulk fake emails or websites copying a trusted brand to harvest log-ins or card details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Spear phishing targets a named person using researched details; smishing uses SMS; vishing uses phone calls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Pretexting invents a believable story; shoulder surfing means watching someone type a PIN or password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Relies on urgency, fear and trust, so staff training matters as much as any software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Denial of service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denial of service (DoS) attack floods a server or network with requests until genuine users cannot get through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distributed attack (DDoS) uses a botnet of thousands of compromised devices, so blocking one address does not stop 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Effects: website or online service unavailable, lost sales, frustrated customers, damaged reputation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Usually no data is stolen, but a DDoS can be used to distract staff while another attack takes place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Insider and accidental threats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32477"/>
                <a:gridCol w="2800649"/>
                <a:gridCol w="469647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Threat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Consequence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Malicious insider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departing sales rep copies the customer database to a USB stick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breach, regulator investigation, customers lost to a rival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Careless insider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receptionist emails a list of patients to the wrong address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Personal data breach that may need reporting to the Information Commission (formerly the ICO) within 72 hours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Human error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file is overwritten with an older version or deleted by mistake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Lost work unless a recent backup exists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Hardware failure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server hard disk or power supply fails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loss and downtime until repaired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Natural disaster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River Erne floods a ground-floor server room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Systems unavailable for days without off-site backups and a recovery plan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3" grpId="0">
        <p:bldAsOne/>
      </p:bldGraphic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Active and inactive data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Active (current) data is needed for day-to-day work and must be available immediately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Inactive data is no longer used routinely but may be needed later for reference, legal or audit reasons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Example: a school needs current pupils’ records daily, but only occasionally looks up pupils who left years ago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Keeping everything in the live system slows searches, reports and backups and uses expensive fast storage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 inactive data is moved out of the live system and archived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archiving involves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 archiving moves inactive data from the live system to separate, secure, long-term storage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archive is indexed so that records can be found again quickly when needed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Archived data must be complete and well structured so it still makes sense years later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Archive storage is usually cheaper and slower: tape, high-capacity disks or a low-cost cloud storage tier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UK GDPR still applies: personal data may only be kept as long as necessary, then must be securely deleted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Archiving: advantages and disadvantages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422710"/>
                <a:gridCol w="380689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Live system holds fewer records, so searches, reports and processing run faster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Archived data is not immediately available; time is spent finding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Backups of the live system are smaller and quicker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Access to archived data can be slow once located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Older data is kept for reference, audit or legal compliance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Archive must be maintained, indexed and kept secure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Cheaper storage media can be used for rarely accessed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If the index is poor, records may be hard or impossible to find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Historical data can be analysed for long-term trends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Retention periods must be managed to stay within data protection law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6" grpId="0">
        <p:bldAsOne/>
      </p:bldGraphic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a GAA club in County Tyrone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club database holds about 5,000 people who have ever been members, but only around 400 are current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Every mailing, fee reminder and fixture text has to work through the whole table, which is slow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Records of people inactive for three seasons are moved to an archive file, indexed by surname and year joined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Day-to-day jobs now process about 400 records; the nightly backup shrinks too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When a former player rejoins, the secretary searches the archive index and restores the record to the live table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Archiving is not backing up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61307"/>
                <a:gridCol w="3453493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Archiving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Backing 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What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Inactive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Current (live)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Long-term retention for reference or compliance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Recovery if live data is lost or corrupted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Original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Removed from the live 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Stays in the live system; a copy is made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How often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Periodically, e.g. end of year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Frequently, e.g. nightly or hourly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Storage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Cheap, slower media; indexed for retrieval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Separate media, ideally off-site, ready for fast restore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8" grpId="0">
        <p:bldAsOne/>
      </p:bldGraphic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need for backup and recovery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backup is a copy of current data kept separately so it can be used if the original is lost or corrupted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 recovery means using backed-up data to return the system to a previously correct state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Losing live data has an immediate effect: orders, bookings or patient notes simply disappear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more often backups are taken, the less work is lost when something goes wrong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Backups are usually automated (e.g. overnight) so they do not rely on someone remembering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Restore points and transaction logs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restore point records the exact state of a system at the moment a backup was taken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Recovery returns the system to the most recent good restore point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Changes made since then are lost unless they were also recorded, e.g. in a transaction log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Re-applying the logged transactions in order brings the system fully up to date (roll forward)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Windows System Restore creates restore points for system files and settings, but it does not back up personal files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how much work could be lost?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Derry pharmacy backs up its dispensing system every night at 23:00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server fails at 16:00 the next day: 23:00 to 16:00 is 17 hours of changes since the last restore point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Without a transaction log, every prescription recorded in those 17 hours must be re-entered from paper or memory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With hourly backups, at most 1 hour of changes could be lost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With a transaction log stored on a separate device, the logged changes can be replayed, so little or nothing is lost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1C"/>
                </a:solidFill>
              </a:rPr>
              <a:t>A sports club moves the records of members who left more than five years ago from its live database into separate, indexed storage. What is this process called?</a:t>
            </a:r>
            <a:endParaRPr lang="en-US" sz="15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Backing up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 archiving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 recovery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Encryption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Data archiving  –  Archiving moves inactive data out of the live system into long-term storage from which it can still be retrieved.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type of malware spreads across a network on its own by exploiting unpatched vulnerabilities?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Trojan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Spyware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Worm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Adware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Worm  –  A worm is self-replicating and does not need a host file or user action.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malware encrypts a victim’s files and demands payment for the key?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Ransomware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Keylogger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Worm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Rootkit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Ransomware  –  Ransomware holds data to ransom; recent offline backups are the main defence.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phone call claiming to be from the bank’s fraud team asks for your PIN. This is…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worm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DDoS attack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brute-force attack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vishing (social engineering)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vishing (social engineering)  –  Vishing is voice phishing: it manipulates the person rather than the technology.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UK law makes unauthorised access to computer material an offence?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Copyright, Designs and Patents Act 1988</a:t>
            </a:r>
            <a:endParaRPr lang="en-US" sz="14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Freedom of Information Act 2000</a:t>
            </a:r>
            <a:endParaRPr lang="en-US" sz="14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Computer Misuse Act 1990</a:t>
            </a:r>
            <a:endParaRPr lang="en-US" sz="14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Equality Act 2010</a:t>
            </a:r>
            <a:endParaRPr lang="en-US" sz="14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Computer Misuse Act 1990  –  Section 1 of the Computer Misuse Act 1990 covers unauthorised access.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disadvantage of archiving data?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Archived data is not immediately available and can be slow to access</a:t>
            </a:r>
            <a:endParaRPr lang="en-US" sz="125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live system becomes slower</a:t>
            </a:r>
            <a:endParaRPr lang="en-US" sz="125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Backups of the live system take longer</a:t>
            </a:r>
            <a:endParaRPr lang="en-US" sz="125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Older data cannot be kept for legal reasons</a:t>
            </a:r>
            <a:endParaRPr lang="en-US" sz="125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Archived data is not immediately available and can be slow to access  –  Archived data must be searched for and retrieved, and access to it may be slow.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a restore point record?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list of users allowed to restore files</a:t>
            </a:r>
            <a:endParaRPr lang="en-US" sz="14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state of the system at the moment it was backed up</a:t>
            </a:r>
            <a:endParaRPr lang="en-US" sz="14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time limit for recovering each system</a:t>
            </a:r>
            <a:endParaRPr lang="en-US" sz="14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Which files are inactive</a:t>
            </a:r>
            <a:endParaRPr lang="en-US" sz="14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The state of the system at the moment it was backed up  –  Recovery returns the system exactly to that recorded state.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1C"/>
                </a:solidFill>
              </a:rPr>
              <a:t>A shop backs up at 22:00 each night. The server fails at 14:00 the next day and there is no transaction log. How many hours of changes are lost?</a:t>
            </a:r>
            <a:endParaRPr lang="en-US" sz="15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8</a:t>
            </a:r>
            <a:endParaRPr lang="en-US" sz="16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</a:t>
            </a:r>
            <a:endParaRPr lang="en-US" sz="16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14</a:t>
            </a:r>
            <a:endParaRPr lang="en-US" sz="16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16</a:t>
            </a:r>
            <a:endParaRPr lang="en-US" sz="16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3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16  –  From 22:00 to 14:00 is 16 hours, all of it after the last restore point.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key difference between backing up and archiving?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Backups are only made once a year</a:t>
            </a:r>
            <a:endParaRPr lang="en-US" sz="125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Archiving copies current data and leaves it in place</a:t>
            </a:r>
            <a:endParaRPr lang="en-US" sz="125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Backing up copies current data so it can be restored; archiving moves inactive data out for long-term storage</a:t>
            </a:r>
            <a:endParaRPr lang="en-US" sz="125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Archives are always stored on the same server as the live data</a:t>
            </a:r>
            <a:endParaRPr lang="en-US" sz="125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Backing up copies current data so it can be restored; archiving moves inactive data out for long-term storage  –  A backup is a recovery copy of live data; an archive is long-term storage of data no longer in active use.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Data archiving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Archiving moves inactive data out of the live system into long-term storage from which it can still be retrieved.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Worm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worm is self-replicating and does not need a host file or user action.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Ransomware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Ransomware holds data to ransom; recent offline backups are the main defence.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vishing (social engineering)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Vishing is voice phishing: it manipulates the person rather than the technology.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Computer Misuse Act 1990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Section 1 of the Computer Misuse Act 1990 covers unauthorised access.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Archived data is not immediately available and can be slow to access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Archived data must be searched for and retrieved, and access to it may be slow.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The state of the system at the moment it was backed up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Recovery returns the system exactly to that recorded state.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16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From 22:00 to 14:00 is 16 hours, all of it after the last restore point.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Backing up copies current data so it can be restored; archiving moves inactive data out for long-term storage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backup is a recovery copy of live data; an archive is long-term storage of data no longer in active use.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1" grpId="0">
        <p:bldAsOne/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AP15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Protecting systems: security measures, backup methods and disaster recovery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a security policy, authentication, access rights, encryption and firewalls protect data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how full, differential and incremental backups work and evaluate each one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the steps needed to restore a system from each type of backup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an organisation needs a disaster recovery plan and describe its contents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recovery point and recovery time objectives and how a plan is tested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Security polic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Security policy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Access control and authentic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 control and authentication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Encryp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Encryption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Firewalls and other technical measur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Firewalls and other technical measures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Three methods of backu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Three methods of backup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Worked example: backup sizes over a wee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backup sizes over a week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Which files does each method copy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Which files does each method copy?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Evaluating the backup method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Evaluating the backup methods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Restoring a syste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Restoring a system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Worked example: a Coleraine garden cent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 Coleraine garden centre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Good backup practi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Good backup practice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Disaster recovery and the DR pl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Disaster recovery and the DR plan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Recovery objectives for a Belfast online retail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Recovery objectives for a Belfast online retailer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6" action="ppaction://hlinksldjump" tooltip="Achieving the objectives and testing the pl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Achieving the objectives and testing the plan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3" name="btn">
            <a:hlinkClick r:id="rId18" action="ppaction://hlinksldjump"/>
          </p:cNvPr>
          <p:cNvSpPr/>
          <p:nvPr/>
        </p:nvSpPr>
        <p:spPr>
          <a:xfrm>
            <a:off x="603504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8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Layers of protection around data – policy and training, network defences, authentication and access rights, encryption – alongside the 3-2-1 backup rule and disaster recove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Layers of protection around data – policy and training, network defences, authentication and access rights, encryption – alongside the 3-2-1 backup rule and disaster recovery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Security policy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formal document setting out how an organisation protects its systems and data and what staff must do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Typical contents: acceptable use, password rules, access levels, personal devices and removable media, remote working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Also: how to report incidents, backup procedures, staff training and the disciplinary action for breaches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Helps the organisation meet its duties under the UK GDPR and Data Protection Act 2018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Only works if it is communicated to staff, enforced and reviewed regularly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Access control and authentication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Identification (a user ID) says who you claim to be; authentication proves 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Factors: something you know (password, PIN), something you have (phone, smart card), something you are (fingerprint, face)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Multi-factor authentication (MFA) combines two or more factor types, so a stolen password alone is not enough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Access rights give each user only what their job needs (least privilege), e.g. read-only rather than read/write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Audit logs record who accessed what and when, deterring and detecting misuse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Encryption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Encryption uses an algorithm and a key to turn plaintext into ciphertext; only the correct key decrypts 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Symmetric: the same key encrypts and decrypts; fast, but the key must be shared securely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Asymmetric: a public key encrypts and only the matching private key decrypts; used to set up HTTPS (TLS) connections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Protects data in transit (HTTPS, VPNs) and at rest (encrypted laptops, USB drives, backups)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Stolen encrypted data is unreadable, but encryption does not stop it being copied or deleted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Firewalls and other technical measures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firewall checks network traffic against rules (IP address, port, protocol) and blocks anything not permitted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Hardware firewalls protect the network boundary; software firewalls protect individual devices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Anti-malware software detects and removes known malware and suspicious behaviour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Patching software promptly closes the vulnerabilities that worms and hackers exploit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Physical security: locked server rooms, swipe-card entry and CCTV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Three methods of backup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62787"/>
                <a:gridCol w="4694738"/>
                <a:gridCol w="28720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is copied each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Restore needs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Full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Every file on the 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Only the latest full backup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Differential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All files changed since the last full backup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Last full backup + the most recent differential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Incremental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Only files altered since the most recent backup, whether that was full or incremental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Last full backup + every incremental since, in order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9" grpId="0">
        <p:bldAsOne/>
      </p:bldGraphic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backup sizes over a week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Newry accountancy firm holds 200 GB of data; about 10 GB of different files changes each day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Full backup every day for 7 days: 7 × 200 = 1,400 GB stored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Full on day 0, then 6 differentials: 200 + (10 + 20 + 30 + 40 + 50 + 60) = 200 + 210 = 410 GB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Full on day 0, then 6 incrementals: 200 + (6 × 10) = 260 GB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differential grows because it holds every change since the full; each incremental stays at about one day’s changes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Which files does each method copy?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Backup software compares each file’s last-modified time with the time of an earlier backup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Incremental compares with the last backup of any kind; differential compares with the last full backup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Which files does each method copy?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file IN system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backupType = "FULL" THEN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COPY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backupType = "DIFFERENTIAL" AND file.modified &gt; lastFullTime THEN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COPY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backupType = "INCREMENTAL" AND file.modified &gt; lastBackupTime THEN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COPY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FOR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backupType = "FULL" THEN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lastFullTime ← now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IF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lastBackupTime ← now</a:t>
            </a:r>
            <a:endParaRPr lang="en-US" sz="13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Evaluating the backup methods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91319"/>
                <a:gridCol w="3725839"/>
                <a:gridCol w="401244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Full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Everything copied at once; whole system restored from one backup; simplest, fastest restore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Slowest to create; most storage; recopies unchanged files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Differential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Quicker to create than full; restore needs only two backups, so faster than incremental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Grows larger each day; slower restore than full as the newest copy of each file must be picked out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Incremental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Fastest to create; least storage of the three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Slowest, most complex restore; one corrupt incremental breaks the chain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3" grpId="0">
        <p:bldAsOne/>
      </p:bldGraphic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Restoring a system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Restores must be planned so that downtime (time the system cannot be used) is as short as possible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Full: replace the files with the latest full backup; the simplest and usually quickest restore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Differential: restore the last full backup, then the latest differential, which holds the newest copy of every changed file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Incremental: restore the last full backup, then every incremental in date order, so later copies overwrite earlier ones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Finally re-apply transactions logged since the last backup to bring data fully up to date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a Coleraine garden centre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Full backup every Saturday at 20:00; incremental backup at 20:00 on each of the other six nights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The server fails on Wednesday at 10:30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Restore Saturday’s full backup, then Sunday’s, Monday’s and Tuesday’s incrementals, in that order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The system is now as it was at 20:00 on Tuesday; 14½ hours of changes remain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Replay the transactions logged since 20:00 on Tuesday to bring stock and sales up to date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If they used differentials instead: restore Saturday’s full backup, then only Tuesday’s differential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Good backup practice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Store at least one copy off-site or in the cloud, so a fire or flood cannot destroy the data and its backups together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common rule: 3 copies of the data, on 2 different types of media, 1 of them off-site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Keep at least one copy offline or unchangeable so ransomware cannot encrypt the backups too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Encrypt backups, because a lost backup tape or drive is a data breach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Automate backups, check that they completed, and regularly test that data can actually be restored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Disaster recovery and the DR plan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Disaster recovery is how an organisation recovers its systems after a catastrophic incident, more serious than one lost file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Causes: accidents (fire, major corruption), natural events (flood, storm), deliberate acts (hacking, terrorism)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Disasters cannot be avoided; the plan aims to minimise their effects and resume work quickly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Core contents of a DR plan: the critical data, the key people and their roles, how backup and recovery are done, and a fallback site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It is written when a system is set up and kept up to date as the system changes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Recovery objectives for a Belfast online retailer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532185"/>
                <a:gridCol w="2622620"/>
                <a:gridCol w="307479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System to recover (RPO list)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Recovery time objective (RTO)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Online shop and payments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 hours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Every hour offline is lost sales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Order dispatch 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24 hours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Customers expect next-day delivery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Stock control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48 hours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Short gaps can be covered manually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Payroll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 days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Staff are paid monthly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Management reports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7 days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Useful but not urgent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8" grpId="0">
        <p:bldAsOne/>
      </p:bldGraphic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Achieving the objectives and testing the plan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Techniques: regular off-site backups; private online storage for fast restores; cloud-hosted servers that can be started on demand; standby staff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An alternative site: hot (ready to run at once), warm (equipment but needs data) or cold (premises only)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Walk-through test: staff talk through the plan step by step so everyone knows their role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Simulation test: systems are deliberately switched off and actually recovered, exposing weaknesses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business continuity plan is wider: keeping the whole organisation running, including staff, premises, suppliers and communication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1C"/>
                </a:solidFill>
              </a:rPr>
              <a:t>A business takes a full backup on Sunday and backs up only the files changed since the previous night’s backup on each other night. Which backup method is used on those other nights?</a:t>
            </a:r>
            <a:endParaRPr lang="en-US" sz="15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Full</a:t>
            </a:r>
            <a:endParaRPr lang="en-US" sz="16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Differential</a:t>
            </a:r>
            <a:endParaRPr lang="en-US" sz="16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Mirror</a:t>
            </a:r>
            <a:endParaRPr lang="en-US" sz="16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Incremental</a:t>
            </a:r>
            <a:endParaRPr lang="en-US" sz="16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4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Incremental  –  Copying only changes since the last backup of any type is incremental.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of these should a disaster recovery plan identify?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colour scheme of the company website</a:t>
            </a:r>
            <a:endParaRPr lang="en-US" sz="14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fallback location where staff can keep working</a:t>
            </a:r>
            <a:endParaRPr lang="en-US" sz="14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marketing budget for next year</a:t>
            </a:r>
            <a:endParaRPr lang="en-US" sz="14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Each customer’s favourite products</a:t>
            </a:r>
            <a:endParaRPr lang="en-US" sz="14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A fallback location where staff can keep working  –  The core contents are the critical data, the key staff and their roles, how backups are taken and restored, and a fallback site.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password plus a code sent to your phone is an example of…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multi-factor authentication</a:t>
            </a:r>
            <a:endParaRPr lang="en-US" sz="16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biometrics</a:t>
            </a:r>
            <a:endParaRPr lang="en-US" sz="16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encryption</a:t>
            </a:r>
            <a:endParaRPr lang="en-US" sz="16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firewall</a:t>
            </a:r>
            <a:endParaRPr lang="en-US" sz="16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multi-factor authentication  –  It combines something you know with something you have.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backup method needs only the last full backup and one other backup to restore?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Incremental</a:t>
            </a:r>
            <a:endParaRPr lang="en-US" sz="16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Differential</a:t>
            </a:r>
            <a:endParaRPr lang="en-US" sz="16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Transaction log</a:t>
            </a:r>
            <a:endParaRPr lang="en-US" sz="16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Partial</a:t>
            </a:r>
            <a:endParaRPr lang="en-US" sz="16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Differential  –  The latest differential holds every change since the last full backup.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backup method is fastest to create and uses the least storage?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Full</a:t>
            </a:r>
            <a:endParaRPr lang="en-US" sz="16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Differential</a:t>
            </a:r>
            <a:endParaRPr lang="en-US" sz="16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Incremental</a:t>
            </a:r>
            <a:endParaRPr lang="en-US" sz="16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All are the same</a:t>
            </a:r>
            <a:endParaRPr lang="en-US" sz="16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Incremental  –  Each incremental copies only one period’s changes, but restoring is slowest.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1C"/>
                </a:solidFill>
              </a:rPr>
              <a:t>A full backup is taken on day 0 of 100 GB. 5 GB of different files changes each day. How large is the differential backup on day 4?</a:t>
            </a:r>
            <a:endParaRPr lang="en-US" sz="15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5 GB</a:t>
            </a:r>
            <a:endParaRPr lang="en-US" sz="16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 GB</a:t>
            </a:r>
            <a:endParaRPr lang="en-US" sz="16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20 GB</a:t>
            </a:r>
            <a:endParaRPr lang="en-US" sz="16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105 GB</a:t>
            </a:r>
            <a:endParaRPr lang="en-US" sz="16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20 GB  –  A differential holds all changes since the full backup: 4 days × 5 GB = 20 GB.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disaster recovery planning, the recovery time objective is…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time limit for recovering a part of the system</a:t>
            </a:r>
            <a:endParaRPr lang="en-US" sz="14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time a backup takes to run</a:t>
            </a:r>
            <a:endParaRPr lang="en-US" sz="14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date the plan was written</a:t>
            </a:r>
            <a:endParaRPr lang="en-US" sz="14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time a firewall takes to block a packet</a:t>
            </a:r>
            <a:endParaRPr lang="en-US" sz="14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the time limit for recovering a part of the system  –  Each system to be recovered is given a time limit based on how critical it is.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device or software filters traffic using rules on ports and IP addresses?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Backup server</a:t>
            </a:r>
            <a:endParaRPr lang="en-US" sz="160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Anti-malware</a:t>
            </a:r>
            <a:endParaRPr lang="en-US" sz="160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Router table</a:t>
            </a:r>
            <a:endParaRPr lang="en-US" sz="160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Firewall</a:t>
            </a:r>
            <a:endParaRPr lang="en-US" sz="160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6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Firewall  –  A firewall enforces rules on what traffic may pass.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should at least one backup be kept off-site?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makes the backup run faster</a:t>
            </a:r>
            <a:endParaRPr lang="en-US" sz="125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So that a fire or flood at the main site does not destroy the backups too</a:t>
            </a:r>
            <a:endParaRPr lang="en-US" sz="125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Because off-site backups cannot be encrypted</a:t>
            </a:r>
            <a:endParaRPr lang="en-US" sz="125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So that the backup does not need testing</a:t>
            </a:r>
            <a:endParaRPr lang="en-US" sz="125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So that a fire or flood at the main site does not destroy the backups too  –  Backups stored with the live system share the same physical risks.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10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Staff talk through each step of the disaster recovery plan in a meeting without switching any systems off. This is a…</a:t>
            </a:r>
            <a:endParaRPr lang="en-US" sz="1700" dirty="0"/>
          </a:p>
        </p:txBody>
      </p:sp>
      <p:sp>
        <p:nvSpPr>
          <p:cNvPr id="7" name="trig:k7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simulation test</a:t>
            </a:r>
            <a:endParaRPr lang="en-US" sz="1600" dirty="0"/>
          </a:p>
        </p:txBody>
      </p:sp>
      <p:sp>
        <p:nvSpPr>
          <p:cNvPr id="8" name="on:k7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penetration test</a:t>
            </a:r>
            <a:endParaRPr lang="en-US" sz="1600" dirty="0"/>
          </a:p>
        </p:txBody>
      </p:sp>
      <p:sp>
        <p:nvSpPr>
          <p:cNvPr id="10" name="on:k7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walk-through (theoretical) test</a:t>
            </a:r>
            <a:endParaRPr lang="en-US" sz="1600" dirty="0"/>
          </a:p>
        </p:txBody>
      </p:sp>
      <p:sp>
        <p:nvSpPr>
          <p:cNvPr id="12" name="on:k7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7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load test</a:t>
            </a:r>
            <a:endParaRPr lang="en-US" sz="1600" dirty="0"/>
          </a:p>
        </p:txBody>
      </p:sp>
      <p:sp>
        <p:nvSpPr>
          <p:cNvPr id="14" name="on:k7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walk-through (theoretical) test  –  A walk-through checks that people know their roles; a simulation actually disables systems.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Incremental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Copying only changes since the last backup of any type is incremental.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 fallback location where staff can keep working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core contents are the critical data, the key staff and their roles, how backups are taken and restored, and a fallback site.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multi-factor authentication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combines something you know with something you have.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Differential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latest differential holds every change since the last full backup.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Incremental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Each incremental copies only one period’s changes, but restoring is slowest.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20 GB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differential holds all changes since the full backup: 4 days × 5 GB = 20 GB.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the time limit for recovering a part of the system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Each system to be recovered is given a time limit based on how critical it is.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Firewall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firewall enforces rules on what traffic may pass.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So that a fire or flood at the main site does not destroy the backups too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Backups stored with the live system share the same physical risks.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walk-through (theoretical) test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walk-through checks that people know their roles; a simulation actually disables systems.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0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issues</dc:title>
  <dc:subject>AS 1: Approaches to Systems Development – Security issues</dc:subject>
  <dc:creator>Digital Technology Hub</dc:creator>
  <cp:lastModifiedBy>Digital Technology Hub</cp:lastModifiedBy>
  <cp:revision>1</cp:revision>
  <dcterms:created xsi:type="dcterms:W3CDTF">2026-10-30T13:15:57Z</dcterms:created>
  <dcterms:modified xsi:type="dcterms:W3CDTF">2026-10-30T13:15:57Z</dcterms:modified>
</cp:coreProperties>
</file>