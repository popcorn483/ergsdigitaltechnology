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03c3928a-fabd-6cf7-0c09-2a6f2423d55f}">
          <p14:sldIdLst>
            <p14:sldId id="256"/>
            <p14:sldId id="257"/>
            <p14:sldId id="258"/>
          </p14:sldIdLst>
        </p14:section>
        <p14:section name="FD16 · How the internet and the web work" id="{3522fdc0-49a9-44c3-be1a-f736f5019fe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FD17 · Web applications, intranets and web security" id="{b05a78f8-6659-a535-ba4c-5b3a589ee97d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terms Internet, World Wide Web (WWW), website, web page, web browser, web server, web hosting and internet service provider (ISP) | Explain Internet Protocol (IP) addresses and how domain names are organised, including the role of the Domain Name System (DNS) | Explain Uniform Resource Locators (URLs), HTTP, HTTPS and File Transfer Protocol (FTP) | Explain the use of cookies, sessions and caches with the stateless HTTP protocol | Explain how a search engine works | Describe the role of the ITU and W3C (and the IETF) in agreeing web standards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Compare client-side and server-side scripting and describe how dynamic web pages are generated using server-side scripts and databases | Compare web applications with native applications | Describe web-based services: e-services, e-government and portals | Evaluate the use of an intranet by an organisation | Evaluate methods of ensuring security over the internet: encryption (including public and private keys), HTTPS, Secure Sockets Layer (SSL/TLS), digital signatures and digital certificates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1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7.xml"/><Relationship Id="rId14" Type="http://schemas.openxmlformats.org/officeDocument/2006/relationships/slide" Target="slide18.xml"/><Relationship Id="rId15" Type="http://schemas.openxmlformats.org/officeDocument/2006/relationships/slide" Target="slide19.xml"/><Relationship Id="rId16" Type="http://schemas.openxmlformats.org/officeDocument/2006/relationships/slide" Target="slide20.xml"/><Relationship Id="rId17" Type="http://schemas.openxmlformats.org/officeDocument/2006/relationships/slide" Target="slide21.xml"/><Relationship Id="rId18" Type="http://schemas.openxmlformats.org/officeDocument/2006/relationships/slide" Target="slide2.xml"/><Relationship Id="rId1" Type="http://schemas.openxmlformats.org/officeDocument/2006/relationships/image" Target="../media/image-5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3" Type="http://schemas.openxmlformats.org/officeDocument/2006/relationships/slide" Target="slide34.xml"/><Relationship Id="rId4" Type="http://schemas.openxmlformats.org/officeDocument/2006/relationships/slide" Target="slide35.xml"/><Relationship Id="rId5" Type="http://schemas.openxmlformats.org/officeDocument/2006/relationships/slide" Target="slide36.xml"/><Relationship Id="rId6" Type="http://schemas.openxmlformats.org/officeDocument/2006/relationships/slide" Target="slide37.xml"/><Relationship Id="rId7" Type="http://schemas.openxmlformats.org/officeDocument/2006/relationships/slide" Target="slide39.xml"/><Relationship Id="rId8" Type="http://schemas.openxmlformats.org/officeDocument/2006/relationships/slide" Target="slide40.xml"/><Relationship Id="rId9" Type="http://schemas.openxmlformats.org/officeDocument/2006/relationships/slide" Target="slide42.xml"/><Relationship Id="rId10" Type="http://schemas.openxmlformats.org/officeDocument/2006/relationships/slide" Target="slide43.xml"/><Relationship Id="rId11" Type="http://schemas.openxmlformats.org/officeDocument/2006/relationships/slide" Target="slide44.xml"/><Relationship Id="rId12" Type="http://schemas.openxmlformats.org/officeDocument/2006/relationships/slide" Target="slide45.xml"/><Relationship Id="rId13" Type="http://schemas.openxmlformats.org/officeDocument/2006/relationships/slide" Target="slide46.xml"/><Relationship Id="rId14" Type="http://schemas.openxmlformats.org/officeDocument/2006/relationships/slide" Target="slide47.xml"/><Relationship Id="rId15" Type="http://schemas.openxmlformats.org/officeDocument/2006/relationships/slide" Target="slide48.xml"/><Relationship Id="rId16" Type="http://schemas.openxmlformats.org/officeDocument/2006/relationships/slide" Target="slide49.xml"/><Relationship Id="rId17" Type="http://schemas.openxmlformats.org/officeDocument/2006/relationships/slide" Target="slide50.xml"/><Relationship Id="rId18" Type="http://schemas.openxmlformats.org/officeDocument/2006/relationships/slide" Target="slide2.xml"/><Relationship Id="rId1" Type="http://schemas.openxmlformats.org/officeDocument/2006/relationships/image" Target="../media/image-32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Web applications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FD16  How the internet and the web work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FD17  Web applications, intranets and web security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FD16  How the internet and the web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FD16  How the internet and the web work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FD17  Web applications, intranets and web secu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FD17  Web applications, intranets and web security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terms Internet, World Wide Web (WWW), website, web page, web browser, web server, web hosting and internet service provider (ISP); Explain Internet Protocol (IP) addresses and how domain names are organised, including the role of the Domain Name System (DNS); Explain Uniform Resource Locators (URLs), HTTP, HTTPS and File Transfer Protocol (FTP); Explain the use of cookies, sessions and caches with the stateless HTTP protocol; Explain how a search engine works; Describe the role of the ITU and W3C (and the IETF) in agreeing web standards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FD17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Compare client-side and server-side scripting and describe how dynamic web pages are generated using server-side scripts and databases; Compare web applications with native applications; Describe web-based services: e-services, e-government and portals; Evaluate the use of an intranet by an organisation; Evaluate methods of ensuring security over the internet: encryption (including public and private keys), HTTPS, Secure Sockets Layer (SSL/TLS), digital signatures and digital certificates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FD16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How the internet and the web work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the Internet from the World Wide Web and explain how websites are connected, hosted and uploaded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Convert an IPv4 address between binary and dotted decimal and break a domain name into its parts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Describe, in order, what happens when a URL is typed into a browser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cookies, sessions and caches overcome the limits of a stateless protocol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three parts of a search engine and the bodies that set web standards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The Internet and the World Wide We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Internet and the World Wide Web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Key web ter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web terms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IP addres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 addresses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orked example: writing an IPv4 add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writing an IPv4 address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Domain names and D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Domain names and DNS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Taking apart a domain name: www.belfastzoo.co.u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Taking apart a domain name: www.belfastzoo.co.uk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UR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URLs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From URL to p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 URL to page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HTTP, HTTPS and FT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HTTP, HTTPS and FTP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Stateless HTTP: cookies and sess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Stateless HTTP: cookies and sessions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Cach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Caching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eb hosting and publishing a si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hosting and publishing a site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Search engin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engines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Who sets web standards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sets web standards?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Loading a web page: the browser asks DNS for the IP address of the domain name, then sends an HTTPS request to the web server, which returns the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Loading a web page: the browser asks DNS for the IP address of the domain name, then sends an HTTPS request to the web server, which returns the page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Internet and the World Wide Web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Internet is a global network of interconnected networks, so any connected device can communicate with any other: the cables, routers and protocols.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Its rules, TCP/IP, let incompatible early networks such as ARPANET (US), NPL (England) and CYCLADES (France) work together; the NPL network pioneered packet switching.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World Wide Web is a service that runs on the Internet: an open collection of linked pages, each with a unique address, viewed in a browser.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Tim Berners-Lee proposed the Web at CERN in 1989; CERN made it free for anyone to use in 1993.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Email, online gaming and video calls use the Internet but are not part of the Web.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Key web terms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46034"/>
                <a:gridCol w="738356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Web page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single hypertext document on the Web, viewed in a 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Website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set of related web pages sharing a common domain name and served by the same web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Web 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Client application that requests pages, receives them and displays them graphically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Web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Computer and software that stores web content and returns pages in response to HTTP requests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Web hosting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service that rents space on its servers so others can publish websites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company that connects homes and businesses to the Internet through its Point of Presence (POP)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IP addresses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device on the Internet must be uniquely addressable: an IP address is a numeric address for one device.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dynamic address is assigned each time a device connects; a static address is permanent (useful for servers).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IPv4 uses 32 bits, about 4.3 billion addresses (2^32), which is no longer enough for all devices.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IPv6 uses 128 bits, about 3.4 × 10^38 addresses, written as eight groups of four hexadecimal digits separated by colons.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 IPv6: 2001:0db8:85a3:0000:0000:8a2e:0370:7334 (leading zeros in a group may be left out).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writing an IPv4 address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32-bit address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01010110001011111100000100001100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Split into four 8-bit octets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01010110 . 00101111 . 11000001 . 00001100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Octet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64 + 16 + 4 + 2 = 86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Octet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32 + 8 + 4 + 2 + 1 = 47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Octet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128 + 64 + 1 = 193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Octet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 + 4 = 12, so the address is 86.47.193.12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Domain names and DNS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domain name is a human-readable name made of labels separated by full stops, which maps to an IP address.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Read from right to left: the last label is the top-level domain (TLD), e.g. .uk, .ie, .com, .org; each label to its left is a sub-domain of the part to its right.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Earlier labels identify the organisation and often the server's purpose, e.g. www for a web server; www is not compulsory.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Some country TLDs have strict rules: a .ie name needs a real connection to the island of Ireland.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Domain Name System (DNS) is a distributed directory of DNS servers that translates domain names into IP addresses and shares updates when addresses change.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Taking apart a domain name: www.belfastzoo.co.uk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97741"/>
                <a:gridCol w="61318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Top-level domain: the United Kingdom country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co.uk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Second-level domain: UK commercial organisations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belfastzoo.co.uk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registered domain belonging to the organisation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www.belfastzoo.co.uk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Sub-domain naming the organisation's web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Other common second levels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ac.uk (universities), gov.uk (government), org.uk (non-profit organisations)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URLs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2084832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Part of URL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Protocol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https://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Rules used to fetch the resource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Domain name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www.translink.co.uk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Name of the web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/timetables/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Folder (directory) on the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File name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metro.html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page to retrieve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Query (optional)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?route=12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sent to the server with the request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4" grpId="0">
        <p:bldAsOne/>
      </p:bldGraphic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From URL to page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1. The browser checks its cache for the page and for the domain's IP address.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2. If needed, it asks a DNS resolver, which queries DNS servers (root, then .uk, then co.uk, then the domain's own server) until the IP address is returned.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3. The browser connects to the web server at that IP address and sends an HTTP GET request; with HTTPS the connection is first encrypted using TLS.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4. The server replies with a status code (200 OK, 404 Not Found) and the HTML of the page.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5. The browser requests the linked CSS, scripts and images, then renders the page on screen.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HTTP, HTTPS and FTP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36713"/>
                <a:gridCol w="1744317"/>
                <a:gridCol w="2728291"/>
                <a:gridCol w="32202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HTTP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HTTPS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FTP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Browser requests and receives web pages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HTTP over an encrypted TLS connection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Transfers any file between computers, e.g. uploading a website to a host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Security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Plain text: readable if intercepted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Encrypted; server identity checked with a digital certificate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Username and password sent unencrypted; SFTP or FTPS secure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Default 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443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Old or internal sites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All public sites, essential for logins and payments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Web developers publishing pages; anonymous FTP for public downloads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Stateless HTTP: cookies and sessions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HTTP is stateless: each request is independent of all previous ones, which makes it simple to implement and efficient on the network.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But a site such as online banking must remember that a user has already logged in.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cookie is a small piece of text sent by a website and stored by the browser, then returned with every request to that site.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session variable is held on the server for the length of the visit; the browser keeps only a session ID, usually in a cookie.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Sessions are more secure because the data stays on the server. Non-essential cookies need consent under UK PECR and UK GDPR.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Caching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Without caching, logos, menus and pictures that appear on every page would be downloaded again and again.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cache is temporary storage of web content that is checked before a request goes to the web server.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Browser cache: on the user's device, holding items that user has already fetched.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Proxy cache: a shared server, e.g. in a school, holding content many users request, which saves Internet bandwidth.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Pages that change often, such as live scores, tell the browser not to cache them or to keep them only for a short time.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Web hosting and publishing a site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ISP connects you to the Internet; a web host stores your website so others can reach 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Hosting packages typically include server storage space, a traffic (bandwidth) limit, email addresses and domain name registration.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They often add database support, backups and security, and traffic analysis tools.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Files are uploaded to the host with FTP (or SFTP) after a username and password are authenticated; visitors then view them with HTTP(S).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Search engines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7571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Web crawler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Starts from seed pages, follows every link it finds and adds unvisited pages to its list, aiming to visit as much of the Web as possible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Index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Stores what the crawler found on each page (text, images, video, metadata) in a dictionary-like structure linking words to pages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Query engine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Takes the user's search terms, finds matching pages in the index and ranks them so the best appear first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Ranking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Google's PageRank scores a page more highly when many pages link to it, especially highly ranked ones; modern engines combine many signals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Metadata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that describes the page but is not visible content, such as its title and description, used in results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Who sets web standards?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4087"/>
                <a:gridCol w="64055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Body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IETF (Internet Engineering Task Force)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Open, volunteer body that develops core Internet standards such as IPv4, IPv6, email and the DNS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ITU (International Telecommunication Union)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 agency; its ITU-T sector standardises how data is transmitted: telecoms links, encoding of video, sound and images, and digital certificates (X.509)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W3C (World Wide Web Consortium)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Founded by Tim Berners-Lee; agrees standards for web content such as HTML, CSS and web accessibility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Why it matters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Common standards mean any browser on any device can display a page in the same way and any device can talk to any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1" grpId="0">
        <p:bldAsOne/>
      </p:bldGraphic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When you type a web address into a browser, what does the Domain Name System do?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Encrypts the page</a:t>
            </a:r>
            <a:endParaRPr lang="en-US" sz="14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Stores the page's images</a:t>
            </a:r>
            <a:endParaRPr lang="en-US" sz="14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Translates the domain name into the server's IP address</a:t>
            </a:r>
            <a:endParaRPr lang="en-US" sz="14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Checks the page for viruses</a:t>
            </a:r>
            <a:endParaRPr lang="en-US" sz="14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Translates the domain name into the server's IP address  –  Devices are contacted by IP address, so DNS servers look up the IP address that matches the domain name.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HTTP need cookies or session variables for online banking?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HTTP cannot carry text</a:t>
            </a:r>
            <a:endParaRPr lang="en-US" sz="125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HTTP is stateless, so the server would not otherwise know the user had logged in</a:t>
            </a:r>
            <a:endParaRPr lang="en-US" sz="125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HTTP only works on intranets</a:t>
            </a:r>
            <a:endParaRPr lang="en-US" sz="125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HTTP deletes pages after viewing</a:t>
            </a:r>
            <a:endParaRPr lang="en-US" sz="125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HTTP is stateless, so the server would not otherwise know the user had logged in  –  Each HTTP request is independent, so state such as a successful login must be stored in a cookie or a session variable.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11000001 in denary, as one octet of an IPv4 address?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192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129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65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193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193  –  128 + 64 + 1 = 193.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protocol would a developer normally use to upload website files to a web host?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FTP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HTTP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DNS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TLS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FTP  –  FTP (or its secure form, SFTP) transfers files to a server after the user logs in.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bits are in an IPv6 address?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32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128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64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128  –  IPv6 uses 128 bits, giving about 3.4 × 10^38 addresses.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search engine component follows links from page to page?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Index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Query engine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Web crawler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Cache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Web crawler  –  The crawler (spider) starts from seed pages and visits every link it finds.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organisation agrees the standards for HTML and CSS?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W3C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ITU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ISP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DNS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W3C  –  The World Wide Web Consortium, founded by Tim Berners-Lee, sets web content standards.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www.stran.ac.uk, what is stran.ac.uk?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top-level domain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protocol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file name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sub-domain of ac.uk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A sub-domain of ac.uk  –  Reading right to left, uk is the TLD, ac.uk sits under uk, and stran.ac.uk sits under ac.uk.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benefit of a browser cache?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Pages already fetched can be shown without downloading them again</a:t>
            </a:r>
            <a:endParaRPr lang="en-US" sz="125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encrypts passwords</a:t>
            </a:r>
            <a:endParaRPr lang="en-US" sz="125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assigns IP addresses</a:t>
            </a:r>
            <a:endParaRPr lang="en-US" sz="125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blocks all cookies</a:t>
            </a:r>
            <a:endParaRPr lang="en-US" sz="125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Pages already fetched can be shown without downloading them again  –  Reusing stored content reduces network traffic and loading time.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Translates the domain name into the server's IP address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Devices are contacted by IP address, so DNS servers look up the IP address that matches the domain name.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HTTP is stateless, so the server would not otherwise know the user had logged in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HTTP request is independent, so state such as a successful login must be stored in a cookie or a session variable.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193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128 + 64 + 1 = 193.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FTP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FTP (or its secure form, SFTP) transfers files to a server after the user logs in.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128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IPv6 uses 128 bits, giving about 3.4 × 10^38 addresses.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Web crawler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crawler (spider) starts from seed pages and visits every link it finds.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W3C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World Wide Web Consortium, founded by Tim Berners-Lee, sets web content standards.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 sub-domain of ac.uk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Reading right to left, uk is the TLD, ac.uk sits under uk, and stran.ac.uk sits under ac.uk.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Pages already fetched can be shown without downloading them again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Reusing stored content reduces network traffic and loading time.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1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FD17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Web applications, intranets and web security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Decide whether a task belongs on the client or the server and explain how a dynamic page is built from a database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Weigh up web apps against native apps for a given purpose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e-services, e-government and portals, and evaluate an intranet for an organisation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public and private keys, TLS/HTTPS, digital certificates and digital signatures keep data secure over the internet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Static and dynamic pag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Static and dynamic pages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Client-side and server-side scrip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Client-side and server-side scripting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How a dynamic page is buil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a dynamic page is built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Server-side script: building HTML from data (C#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Server-side script: building HTML from data (C#)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Validation on both sid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 on both sides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eb apps versus native ap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apps versus native apps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E-services and e-govern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E-services and e-government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Porta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Portals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Intrane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Intranets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orked example: an intranet for a Southern Area hospit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an intranet for a Southern Area hospital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Encryption: symmetric and public ke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Encryption: symmetric and public key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SSL/TLS and HTT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SSL/TLS and HTTPS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Digital certificat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 certificates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Digital signat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 signatures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dynamic web page: client-side script runs in the browser, while the server-side script on the web server queries the database server and builds the HTM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dynamic web page: client-side script runs in the browser, while the server-side script on the web server queries the database server and builds the HTML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Static and dynamic pages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79508"/>
                <a:gridCol w="3020037"/>
                <a:gridCol w="45300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Dynamic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Content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Fixed HTML, the same for every visitor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Generated when requested; can differ for each user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Stored 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Ready-made HTML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Scripts plus data held in a database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Updating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Edit the HTML file by hand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Change the data and the pages update automatically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simple brochure site for a guest house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Online banking, bus timetables, search results, social media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5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Client-side and server-side scripting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02888"/>
                <a:gridCol w="3914078"/>
                <a:gridCol w="35126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Client-side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Server-side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Where it runs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 the user's browser, after the page downloads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 the web server, before the page is 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language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JavaScript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C# (ASP.NET), PHP, Python, JavaScript (Node.js)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Instant form checks, menus, animations, updating part of a page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Database queries, logins, payments, personalised pages, sending emails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Benefits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Immediate response; less load on the server and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Code and database hidden from users; works in any 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Drawbacks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Code visible and can be disabled or altered, so cannot be trusted for security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action needs a round trip to the server; more server load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a dynamic page is built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25294"/>
                <a:gridCol w="1313234"/>
                <a:gridCol w="6391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 submits a form or follows a link carrying a query, e.g. ?club=Armagh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Web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Server-side script receives and validates the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Database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Script runs an SQL query; matching records are returned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Web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Script builds HTML containing the results and sends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Page is displayed; client-side script adds interactivity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Server-side script: building HTML from data (C#)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 a real site the fixtures would come from a database and the club name from the URL's query string.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script picks out the matching records and writes HTML, so every club gets its own page from one script.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Output: &lt;ul&gt;&lt;li&gt;12 Apr: v Newry&lt;/li&gt;&lt;li&gt;26 Apr: v Lurgan&lt;/li&gt;&lt;/ul&gt;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Server-side script: building HTML from data (C#)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System.Text;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Club, string Opponent, string Date)[] fixtures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("Armagh", "Newry", "12 Apr"),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("Omagh", "Strabane", "19 Apr"),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("Armagh", "Lurgan", "26 Apr")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club = "Armagh";              // from ?club=Armagh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html = new StringBuilder("&lt;ul&gt;");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f in fixtures)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(f.Club == club)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html.Append($"&lt;li&gt;{f.Date}: v {f.Opponent}&lt;/li&gt;");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html.Append("&lt;/ul&gt;");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Console.WriteLine(html);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on both sides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Client-side validation gives instant feedback (e.g. 'email address must contain @') and avoids sending unnecessary requests.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Server-side validation is essential because client-side checks can be bypassed by switching off scripts or sending requests directly.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SQL injection: an attacker types SQL into a form field so that it becomes part of the query run on the database.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Defence: parameterised queries keep user input as data, never as SQL commands.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Good practice: validate on the client for usability and on the server for security.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Web apps versus native apps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20938"/>
                <a:gridCol w="3493140"/>
                <a:gridCol w="33155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Web app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Native app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Runs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 a browser, delivered from a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Installed on the device's operating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Platforms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version works on any device with a browser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Separate versions for iOS, Android, Windows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Updates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Instant: update the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 download updates; app store approval may be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Performance and hardware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Slower; more limited access to camera, sensors,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Faster; full access to device features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Offline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Usually needs a connection (progressive web apps can cache)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Works offline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1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Web apps versus native apps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20938"/>
                <a:gridCol w="3493140"/>
                <a:gridCol w="33155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Web app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Native app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Distribution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Share a URL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App stores: visibility, but fees and rules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2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E-services and e-government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E-services: services delivered electronically, usually online: shopping, banking, insurance, live-chat helpdesks, digital newspapers.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Benefits to customers: convenience, 24/7 access, easy price comparison. To providers: wider customer base, extra channel, more data about customers.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Online-only retailers can save the cost of running physical shops.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E-government: government services delivered electronically, e.g. booking an MOT, renewing a driving licence, filing a tax return, public consultations.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Benefits: faster, cheaper and more efficient than paper. Risk: digital exclusion, so offline routes must remain for people without access or skills.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Portals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portal is a website, or single page, giving consistent access to many related services from one place.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Links are often grouped into blocks (portlets) that users can rearrange to suit themselves.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 enterprise portal links to an organisation's services for its staff or clients, often behind a single sign-on.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Examples: a government portal linking to every department's services; a school portal linking to email, timetable, homework and reports.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Benefits: one familiar starting point, less searching, personalised content.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Intranets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Policies, forms, manuals and directories are online; only the latest version is available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Significant cost to set up and keep up to date; staff may be needed to maintain content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Users log in, so each group sees only what is relevant to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Personal data held must comply with UK GDPR and the Data Protection Act 2018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Messaging, wikis, blogs and forums improve internal communication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Weak passwords can let intruders reach confidential material, especially with remote access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Online tools for holiday requests, room booking and staff surveys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Heavy dependence: an outage can seriously disrupt 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Less printing and quicker distribution of information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Staff need training and may resist change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an intranet for a Southern Area hospital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Need: 3,000 staff on shifts across several sites must see current clinical guidelines, rotas and policies.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Benefits: one up-to-date version of each guideline replaces printed folders; rotas and leave requests online; ward messages reach night staff.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Role-based log-ins show nurses, doctors and porters different links and protect patient-related pages.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Risks: setup cost, keeping 2,000 documents current, outages during emergencies, and data protection obligations.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Judgement: worthwhile, provided content owners are assigned, MFA is used for remote access and printed fallbacks of critical guidelines are kept.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Encryption: symmetric and public key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Encryption scrambles plaintext into ciphertext so it is unintelligible to anyone without the key; intercepted data cannot be read.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Symmetric encryption uses the same secret key to encrypt and decrypt. It is fast, but the key must somehow be shared safely.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Public key (asymmetric) encryption uses a mathematically linked pair: data encrypted with one key can only be decrypted with the other.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public key is shared freely; the private key is kept secret by its owner.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To send Niamh a private message, Conor encrypts it with Niamh's public key; only Niamh's private key can decrypt it.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SSL/TLS and HTTPS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SSL (Secure Sockets Layer) has been replaced by TLS (Transport Layer Security), though the name SSL is still widely used.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1. The client says hello: the encryption methods it supports and a random value.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2. The server replies with its chosen method, its own random value and its digital certificate containing its public key.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3. The client checks the certificate, then the two sides agree a shared session key, protected by the server's key pair so eavesdroppers cannot learn it.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4. All further data is encrypted symmetrically with the session key. HTTP carried over TLS is HTTPS: padlock icon, port 443.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Digital certificates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digital certificate is an electronic document that proves a public key belongs to a particular organisation or website.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is issued and digitally signed by a trusted certificate authority (CA) after it has checked the owner's identity.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contains the owner's name and domain, the owner's public key, a serial number, the issuing CA and an expiry date. Never the private key.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Browsers check the CA's signature, the domain name and the expiry date; if any check fails, the user is warned.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Certificates must be renewed regularly, often every year or more frequently.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Digital signatures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digital signature proves who sent a document (authenticity) and that it has not been changed (integrity); the sender cannot deny sending it.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Sender: calculates a hash of the document, then encrypts the hash with their own private key. This is the signature, sent with the document.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Receiver: decrypts the signature with the sender's public key, recalculates the hash of the document received, and compares the two.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If the hashes match, the document is genuine and intact; if one character has changed, the hashes differ.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signature authenticates a document; a certificate authenticates a public key and its owner.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Ciara wants to send a confidential file to Declan using public key encryption. Which key should she use to encrypt it?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Her own private key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Declan's private key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Declan's public key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Her own public key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Declan's public key  –  Only Declan's private key can decrypt data encrypted with Declan's public key, so only he can read it.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 digital signature prove about a document?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That it was sent over Wi-Fi</a:t>
            </a:r>
            <a:endParaRPr lang="en-US" sz="14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Who sent it and that it has not been altered</a:t>
            </a:r>
            <a:endParaRPr lang="en-US" sz="14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That it contains no viruses</a:t>
            </a:r>
            <a:endParaRPr lang="en-US" sz="14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That it is stored in the cloud</a:t>
            </a:r>
            <a:endParaRPr lang="en-US" sz="14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Who sent it and that it has not been altered  –  The signature is a hash encrypted with the sender's private key; checking it confirms authenticity and integrity.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task should always be carried out by a server-side script?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Checking login details against a database</a:t>
            </a:r>
            <a:endParaRPr lang="en-US" sz="14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Highlighting an empty form field as the user types</a:t>
            </a:r>
            <a:endParaRPr lang="en-US" sz="14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Animating a drop-down menu</a:t>
            </a:r>
            <a:endParaRPr lang="en-US" sz="14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Showing a password-strength bar</a:t>
            </a:r>
            <a:endParaRPr lang="en-US" sz="14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Checking login details against a database  –  Database access and authentication must happen on the server, where the code and data cannot be seen or changed by users.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Who issues and signs a digital certificate?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user's ISP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web browser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W3C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certificate authority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A certificate authority  –  A trusted certificate authority verifies the owner's identity and signs the certificate.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advantage of a native app over a web app?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Works on any device with a browser</a:t>
            </a:r>
            <a:endParaRPr lang="en-US" sz="14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Full access to device hardware and works offline</a:t>
            </a:r>
            <a:endParaRPr lang="en-US" sz="14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Updated instantly for all users</a:t>
            </a:r>
            <a:endParaRPr lang="en-US" sz="14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No app store needed</a:t>
            </a:r>
            <a:endParaRPr lang="en-US" sz="14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Full access to device hardware and works offline  –  Native apps are installed on the OS, so they can use sensors and storage directly and run without a connection.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an intranet?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Staff see only the latest documents</a:t>
            </a:r>
            <a:endParaRPr lang="en-US" sz="14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Information can be targeted to groups</a:t>
            </a:r>
            <a:endParaRPr lang="en-US" sz="14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costs a lot to set up and keep up to date</a:t>
            </a:r>
            <a:endParaRPr lang="en-US" sz="14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improves internal communication</a:t>
            </a:r>
            <a:endParaRPr lang="en-US" sz="14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It costs a lot to set up and keep up to date  –  Set-up and maintenance costs are significant, and content needs owners to keep it current.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HTTPS?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HTTP sent over an encrypted TLS connection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faster version of FTP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type of web browser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search engine protocol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HTTP sent over an encrypted TLS connection  –  HTTPS carries HTTP requests and responses through TLS, encrypting the data and authenticating the server.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Renewing a driving licence on a government website is an example of what?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intranet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native app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Symmetric encryption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E-government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E-government  –  E-government means a government providing its services electronically, for example through a website.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TLS use public key encryption only to set up the connection?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Public key encryption cannot encrypt text</a:t>
            </a:r>
            <a:endParaRPr lang="en-US" sz="125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Public key encryption is slow, so a faster symmetric session key encrypts the data</a:t>
            </a:r>
            <a:endParaRPr lang="en-US" sz="125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Browsers do not support symmetric encryption</a:t>
            </a:r>
            <a:endParaRPr lang="en-US" sz="125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makes certificates unnecessary</a:t>
            </a:r>
            <a:endParaRPr lang="en-US" sz="125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Public key encryption is slow, so a faster symmetric session key encrypts the data  –  Asymmetric encryption protects the key exchange; the agreed symmetric key then encrypts the bulk of the data efficiently.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Declan's public key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Only Declan's private key can decrypt data encrypted with Declan's public key, so only he can read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Who sent it and that it has not been altered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signature is a hash encrypted with the sender's private key; checking it confirms authenticity and integrity.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Checking login details against a database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Database access and authentication must happen on the server, where the code and data cannot be seen or changed by users.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 certificate authority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trusted certificate authority verifies the owner's identity and signs the certificate.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Full access to device hardware and works offline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Native apps are installed on the OS, so they can use sensors and storage directly and run without a connection.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It costs a lot to set up and keep up to date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Set-up and maintenance costs are significant, and content needs owners to keep it current.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HTTP sent over an encrypted TLS connection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HTTPS carries HTTP requests and responses through TLS, encrypting the data and authenticating the server.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E-government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E-government means a government providing its services electronically, for example through a website.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Public key encryption is slow, so a faster symmetric session key encrypts the data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Asymmetric encryption protects the key exchange; the agreed symmetric key then encrypts the bulk of the data efficiently.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0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applications</dc:title>
  <dc:subject>AS 2: Fundamentals of Digital Technology – Web applications</dc:subject>
  <dc:creator>Digital Technology Hub</dc:creator>
  <cp:lastModifiedBy>Digital Technology Hub</cp:lastModifiedBy>
  <cp:revision>1</cp:revision>
  <dcterms:created xsi:type="dcterms:W3CDTF">2026-10-30T13:16:09Z</dcterms:created>
  <dcterms:modified xsi:type="dcterms:W3CDTF">2026-10-30T13:16:09Z</dcterms:modified>
</cp:coreProperties>
</file>