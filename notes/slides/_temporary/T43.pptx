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notesMasterIdLst>
    <p:notesMasterId r:id="rId8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72025d14-24bf-17e2-74f1-af4d8bf89876}">
          <p14:sldIdLst>
            <p14:sldId id="256"/>
            <p14:sldId id="257"/>
            <p14:sldId id="258"/>
          </p14:sldIdLst>
        </p14:section>
        <p14:section name="D09 · Computational thinking: abstraction and decomposition" id="{4341d0bb-1316-d3b0-37fc-d381159464d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D10 · Designing algorithms: flowcharts and pseudocode" id="{28c94bbf-fa86-a760-38c0-4407db9150dc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D11 · Sorting algorithms: bubble sort and insertion sort" id="{090428fb-79c1-a76f-817f-2019d5f597a9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D12 · Searching algorithms: linear and binary search" id="{591e35f5-709d-8589-93ad-cbdd56a429d9}">
          <p14:sldIdLst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</p14:sldIdLst>
        </p14:section>
        <p14:section name="D13 · Dry runs, trace tables, data requirements and interfaces" id="{12294fff-39db-ab65-c78d-c918d4d60e10}">
          <p14:sldIdLst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in simple terms the underlying concepts of computational thinking – abstraction and decomposition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Design solutions using algorithms, flow diagrams and pseudo-code | Refine a solution to a problem during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Create and evaluate algorithms, including those for basic sorting | Simple sorting techniques such as the bubble sort and the insertion sort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Create and evaluate algorithms, including those for basic searching | Simple searching techniques such as linear and binary searching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Use a dry run to test a solution | Identify data requirements for a solution and develop an appropriate user interface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19.xml"/><Relationship Id="rId5" Type="http://schemas.openxmlformats.org/officeDocument/2006/relationships/slide" Target="slide35.xml"/><Relationship Id="rId6" Type="http://schemas.openxmlformats.org/officeDocument/2006/relationships/slide" Target="slide53.xml"/><Relationship Id="rId7" Type="http://schemas.openxmlformats.org/officeDocument/2006/relationships/slide" Target="slide69.xml"/><Relationship Id="rId1" Type="http://schemas.openxmlformats.org/officeDocument/2006/relationships/image" Target="../media/image-2-1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2.xml"/><Relationship Id="rId1" Type="http://schemas.openxmlformats.org/officeDocument/2006/relationships/image" Target="../media/image-5-1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3" Type="http://schemas.openxmlformats.org/officeDocument/2006/relationships/slide" Target="slide22.xml"/><Relationship Id="rId4" Type="http://schemas.openxmlformats.org/officeDocument/2006/relationships/slide" Target="slide23.xml"/><Relationship Id="rId5" Type="http://schemas.openxmlformats.org/officeDocument/2006/relationships/slide" Target="slide24.xml"/><Relationship Id="rId6" Type="http://schemas.openxmlformats.org/officeDocument/2006/relationships/slide" Target="slide25.xml"/><Relationship Id="rId7" Type="http://schemas.openxmlformats.org/officeDocument/2006/relationships/slide" Target="slide26.xml"/><Relationship Id="rId8" Type="http://schemas.openxmlformats.org/officeDocument/2006/relationships/slide" Target="slide27.xml"/><Relationship Id="rId9" Type="http://schemas.openxmlformats.org/officeDocument/2006/relationships/slide" Target="slide28.xml"/><Relationship Id="rId10" Type="http://schemas.openxmlformats.org/officeDocument/2006/relationships/slide" Target="slide2.xml"/><Relationship Id="rId1" Type="http://schemas.openxmlformats.org/officeDocument/2006/relationships/image" Target="../media/image-20-1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3" Type="http://schemas.openxmlformats.org/officeDocument/2006/relationships/slide" Target="slide38.xml"/><Relationship Id="rId4" Type="http://schemas.openxmlformats.org/officeDocument/2006/relationships/slide" Target="slide39.xml"/><Relationship Id="rId5" Type="http://schemas.openxmlformats.org/officeDocument/2006/relationships/slide" Target="slide40.xml"/><Relationship Id="rId6" Type="http://schemas.openxmlformats.org/officeDocument/2006/relationships/slide" Target="slide41.xml"/><Relationship Id="rId7" Type="http://schemas.openxmlformats.org/officeDocument/2006/relationships/slide" Target="slide43.xml"/><Relationship Id="rId8" Type="http://schemas.openxmlformats.org/officeDocument/2006/relationships/slide" Target="slide44.xml"/><Relationship Id="rId9" Type="http://schemas.openxmlformats.org/officeDocument/2006/relationships/slide" Target="slide45.xml"/><Relationship Id="rId10" Type="http://schemas.openxmlformats.org/officeDocument/2006/relationships/slide" Target="slide46.xml"/><Relationship Id="rId11" Type="http://schemas.openxmlformats.org/officeDocument/2006/relationships/slide" Target="slide2.xml"/><Relationship Id="rId1" Type="http://schemas.openxmlformats.org/officeDocument/2006/relationships/image" Target="../media/image-36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55.xml"/><Relationship Id="rId3" Type="http://schemas.openxmlformats.org/officeDocument/2006/relationships/slide" Target="slide56.xml"/><Relationship Id="rId4" Type="http://schemas.openxmlformats.org/officeDocument/2006/relationships/slide" Target="slide58.xml"/><Relationship Id="rId5" Type="http://schemas.openxmlformats.org/officeDocument/2006/relationships/slide" Target="slide59.xml"/><Relationship Id="rId6" Type="http://schemas.openxmlformats.org/officeDocument/2006/relationships/slide" Target="slide60.xml"/><Relationship Id="rId7" Type="http://schemas.openxmlformats.org/officeDocument/2006/relationships/slide" Target="slide61.xml"/><Relationship Id="rId8" Type="http://schemas.openxmlformats.org/officeDocument/2006/relationships/slide" Target="slide62.xml"/><Relationship Id="rId9" Type="http://schemas.openxmlformats.org/officeDocument/2006/relationships/slide" Target="slide2.xml"/><Relationship Id="rId1" Type="http://schemas.openxmlformats.org/officeDocument/2006/relationships/image" Target="../media/image-54-1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54.xml"/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image" Target="../media/image-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image" Target="../media/image-6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image" Target="../media/image-6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image" Target="../media/image-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image" Target="../media/image-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image" Target="../media/image-6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71.xml"/><Relationship Id="rId3" Type="http://schemas.openxmlformats.org/officeDocument/2006/relationships/slide" Target="slide72.xml"/><Relationship Id="rId4" Type="http://schemas.openxmlformats.org/officeDocument/2006/relationships/slide" Target="slide73.xml"/><Relationship Id="rId5" Type="http://schemas.openxmlformats.org/officeDocument/2006/relationships/slide" Target="slide74.xml"/><Relationship Id="rId6" Type="http://schemas.openxmlformats.org/officeDocument/2006/relationships/slide" Target="slide76.xml"/><Relationship Id="rId7" Type="http://schemas.openxmlformats.org/officeDocument/2006/relationships/slide" Target="slide77.xml"/><Relationship Id="rId8" Type="http://schemas.openxmlformats.org/officeDocument/2006/relationships/slide" Target="slide78.xml"/><Relationship Id="rId9" Type="http://schemas.openxmlformats.org/officeDocument/2006/relationships/slide" Target="slide79.xml"/><Relationship Id="rId10" Type="http://schemas.openxmlformats.org/officeDocument/2006/relationships/slide" Target="slide2.xml"/><Relationship Id="rId1" Type="http://schemas.openxmlformats.org/officeDocument/2006/relationships/image" Target="../media/image-70-1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70.xml"/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image" Target="../media/image-7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image" Target="../media/image-7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image" Target="../media/image-7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image" Target="../media/image-7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image" Target="../media/image-7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image" Target="../media/image-7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image" Target="../media/image-7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image" Target="../media/image-7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image" Target="../media/image-8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image" Target="../media/image-8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image" Target="../media/image-8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image" Target="../media/image-8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image" Target="../media/image-8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image" Target="../media/image-8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Digital design principles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D09  Computational thinking: abstraction and decomposition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D10  Designing algorithms: flowcharts and pseudocode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D11  Sorting algorithms: bubble sort and insertion sort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D12  Searching algorithms: linear and binary search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D13  Dry runs, trace tables, data requirements and interfaces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D09  Computational thinking: abstraction and decomposi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D09  Computational thinking: abstraction and decomposition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D10  Designing algorithms: flowcharts and pseudo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D10  Designing algorithms: flowcharts and pseudocode</a:t>
            </a:r>
            <a:endParaRPr lang="en-US" sz="12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5" action="ppaction://hlinksldjump" tooltip="D11  Sorting algorithms: bubble sort and insertion so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D11  Sorting algorithms: bubble sort and insertion sort</a:t>
            </a:r>
            <a:endParaRPr lang="en-US" sz="1200" dirty="0"/>
          </a:p>
        </p:txBody>
      </p:sp>
      <p:sp>
        <p:nvSpPr>
          <p:cNvPr id="10" name="btn">
            <a:hlinkClick r:id="rId6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6" action="ppaction://hlinksldjump" tooltip="D12  Searching algorithms: linear and binary sear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D12  Searching algorithms: linear and binary search</a:t>
            </a:r>
            <a:endParaRPr lang="en-US" sz="1200" dirty="0"/>
          </a:p>
        </p:txBody>
      </p:sp>
      <p:sp>
        <p:nvSpPr>
          <p:cNvPr id="11" name="btn">
            <a:hlinkClick r:id="rId7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7" action="ppaction://hlinksldjump" tooltip="D13  Dry runs, trace tables, data requirements and interfa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D13  Dry runs, trace tables, data requirements and interfaces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D09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in simple terms the underlying concepts of computational thinking – abstraction and decomposition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Design solutions using algorithms, flow diagrams and pseudo-code; Refine a solution to a problem during design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Create and evaluate algorithms, including those for basic sorting; Simple sorting techniques such as the bubble sort and the insertion sort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Create and evaluate algorithms, including those for basic searching; Simple searching techniques such as linear and binary searching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 a dry run to test a solution; Identify data requirements for a solution and develop an appropriate user interface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D09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Computational thinking: abstraction and decomposition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Define abstraction and decomposition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Apply both to a real problem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benefits of each for programmers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Computational think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Computational thinking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Abstr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Abstraction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Decomposi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Decomposition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Example: school canteen ap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Example: school canteen app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Exam techniq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 technique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8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Decomposition of a school canteen app into sub-problems, with an abstraction no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Decomposition of a school canteen app into sub-problems, with an abstraction note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Computational thinking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way of approaching problems so a computer can help solve them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Key concepts in the CCEA specification: abstraction and decomposition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They lead to an algorithm – a step-by-step solution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2023 Q4(a) linked all three in a scenario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Abstraction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Removing or hiding details that are not needed to solve the problem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Focus only on what is important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a route map shows stations and lines, not every building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a ticket program needs age and journey type, not the passenger's favourite colour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Benefits: simpler problem, less to code and store, quicker to develop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Decomposition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Breaking a large, complex problem into smaller, more manageable sub-problems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sub-problem can be solved (and tested) separately, then combined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Often shown with a structure diagram (top-down design)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Benefits: easier to understand; work shared across a team; parts reused; errors easier to find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Example: school canteen app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Decompose: log in → view menu → choose items → calculate cost → pay → print receipt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Further decompose 'calculate cost': add item prices → apply meal deal → apply free-meal allowance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Abstract: the app needs item, price, allergy flags – not the food's colour or the cook's name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Exam technique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2019 Q6 was a 6-mark QWC on abstraction and decomposition and their benefits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2022 Q1(d)–(e): pick the correct definitions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Define each term, give an example in context, then a benefit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Removing unnecessary detail is…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decomposition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abstraction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iteration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abstraction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Breaking a problem into sub-problems is…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decomposition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abstraction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compilation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encryption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decomposition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diagram shows decomposition?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Truth table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Structure diagram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Trace table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Pie chart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Structure diagram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benefit of decomposition is…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programs never have errors</a:t>
            </a:r>
            <a:endParaRPr lang="en-US" sz="14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parts can be developed and tested separately</a:t>
            </a:r>
            <a:endParaRPr lang="en-US" sz="14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no algorithm is needed</a:t>
            </a:r>
            <a:endParaRPr lang="en-US" sz="14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removes all data</a:t>
            </a:r>
            <a:endParaRPr lang="en-US" sz="14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parts can be developed and tested separately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The London Underground map is an example of…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abstraction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overflow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iteration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protocol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abstraction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abstraction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decomposition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Structure diagram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parts can be developed and tested separately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abstraction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8" grpId="0">
        <p:bldAsOne/>
      </p:bldGraphic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Abstraction and decomposition (levelled)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Q1(d)–(g)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Abstraction, decomposition, search efficiency, ASCII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Decomposition and abstraction; flowchart symbols; syntax/logic errors; functions; menu validation loop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Graphic spid="19" grpId="0">
        <p:bldAsOne/>
      </p:bldGraphic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Designing algorithms: flowcharts and pseudocode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Define an algorithm and pseudocode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the standard flowchart symbols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and refine algorithms in pseudocode using sequence, selection and iteration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Algorith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Algorithms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Flowchart symbo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Flowchart symbols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Pseudo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Pseudocode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Pseudocode style used he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Pseudocode style used here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Selection in a flowcha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Selection in a flowchart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Refining a desig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Refining a design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Flowchart symbols and a flowchart that turns a fan on above 20 degre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Flowchart symbols and a flowchart that turns a fan on above 20 degrees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Algorithms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algorithm is a precise, step-by-step set of instructions to solve a problem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Can be represented as a flowchart or pseudocode before coding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Built from three constructs: sequence, selection, iteration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Independent of any programming language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Flowchart symbols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89239"/>
                <a:gridCol w="1061884"/>
                <a:gridCol w="477847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Rounded rectangle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Terminator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Start / Stop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Parallelogram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Input/Output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INPUT a value, OUTPUT a result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Rectangle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calculation or assignment, e.g. total ← total + mark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Diamond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Decision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Yes/No question – two exits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Arrow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Flow 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Shows the direction of flow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Rectangle with double sides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Subroutine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Call a predefined procedure/function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4" grpId="0">
        <p:bldAsOne/>
      </p:bldGraphic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Pseudocode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Pseudocode is a language-independent, English-like description of an algorithm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uses programming-style keywords but ignores exact syntax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Easy to convert into any language; lets designers focus on the logic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CCEA accepts any clear, consistent pseudocode – these slides use one common style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Pseudocode style used here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INPUT name / OUTPUT "Hello ", name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total ← total + price (assignment)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… THEN … ELSE … END IF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WHILE condition … END WHILE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 count ← 1 TO 10 … NEXT count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REPEAT … UNTIL condition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←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count ← 1 TO 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distance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← total + distance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count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← total * 1.609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"Total in km: ", km</a:t>
            </a:r>
            <a:endParaRPr lang="en-US" sz="15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Selection in a flowchart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2022 Q8(a): fan control – if temperature &gt; 20 turn fan on, else off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decision diamond has one entry and two labelled exits (Yes/No)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 make it run continuously, loop the flow line back to the input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Refining a design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first design is rarely perfect – walk through it with test values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Refine by adding missing steps (validation, error messages), fixing logic, simplifying repeated steps into loops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Keep a record of refinements – required in Unit 5 controlled assessment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Get feedback from the end user before coding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flowchart symbol represents a decision?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Rectangle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Diamond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Parallelogram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Oval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Diamond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Pseudocode is…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machine code</a:t>
            </a:r>
            <a:endParaRPr lang="en-US" sz="14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language-independent description of an algorithm</a:t>
            </a:r>
            <a:endParaRPr lang="en-US" sz="14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only used in C#</a:t>
            </a:r>
            <a:endParaRPr lang="en-US" sz="14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type of flowchart</a:t>
            </a:r>
            <a:endParaRPr lang="en-US" sz="14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 language-independent description of an algorithm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pseudocode, total ← total + 5 is…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selection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assignment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comparison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input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an assignment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symbol is used for INPUT and OUTPUT?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Parallelogram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Diamond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Terminator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Arrow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Parallelogram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Repeating a set of steps is called…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sequence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selection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iteration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abstraction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iteration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Diamond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language-independent description of an algorithm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an assignment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Parallelogram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iteration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4" grpId="0">
        <p:bldAsOne/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 strategies, data types, validation loop, design, discount selection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Flowchart selection and iteration; dry runs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Decomposition and abstraction; flowchart symbols; syntax/logic errors; functions; menu validation loop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Arrays, pseudocode, FOR/WHILE totals, minimum, bubble sort, linear and binary search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35" grpId="0">
        <p:bldAsOne/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D11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Sorting algorithms: bubble sort and insertion sort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a bubble sort and an insertion sort work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Show each pass of a sort on a list of values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the efficiency of the two sorts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y sort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sort?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Bubble so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Bubble sort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Bubble sort: examp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Bubble sort: example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Bubble sort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Bubble sort in C#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Insertion so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Insertion sort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Insertion sort: examp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Insertion sort: example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Comparing the sor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the sorts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Bubble sort passes on 5, 3, 8, 1, 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Bubble sort passes on 5, 3, 8, 1, 4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sort?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Sorting puts data in order: ascending (smallest first) or descending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Sorted data is easier to read and much faster to search (binary search needs sorted data)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Examples: league tables, names in a register, prices low to high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Bubble sort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Compare the first two items; if they are in the wrong order, swap them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Move along one position and compare the next pair – repeat to the end of the list (one pass)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After each pass the largest remaining item 'bubbles' to its correct place at the end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Repeat passes until a whole pass makes no swaps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list of n items needs at most n − 1 passes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Bubble sort: example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34530"/>
                <a:gridCol w="68950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List after the pass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Start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5  3  8  1  4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3  5  1  4  8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3  1  4  5  8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1  3  4  5  8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  3  4  5  8 (no swaps – stop)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1" grpId="0">
        <p:bldAsOne/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Bubble sort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swapped flag stops the sort early when the list is already sorted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Bubble sort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items = { 5, 3, 8, 1, 4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swapped = true;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(swapped)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swapped = false;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items.Length - 1;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(items[i] &gt; items[i + 1])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temp = items[i];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items[i] = items[i + 1];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items[i + 1] = temp;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swapped = true;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Console.WriteLine(string.Join(", ", items));</a:t>
            </a:r>
            <a:endParaRPr lang="en-US" sz="11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Insertion sort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Treat the first item as a sorted sub-list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Take the next item and insert it into the correct position in the sorted part, shifting larger items one place right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Repeat until every item has been inserted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Like sorting a hand of playing cards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Insertion sort: example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81051"/>
                <a:gridCol w="634854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Sorted part | unsorted part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Start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 | 3 8 1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Insert 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 5 | 8 1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Insert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 5 8 | 1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Insert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 3 5 8 |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Insert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1 3 4 5 8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5" grpId="0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the sorts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07200"/>
                <a:gridCol w="3110400"/>
                <a:gridCol w="421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Bubble sort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Insertion sort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Compare and swap neighbours, repeated passes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Insert each item into a growing sorted list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Efficiency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 on large lists – many comparisons and swaps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Usually faster than bubble sort; very quick on nearly sorted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Ease of coding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Very simple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Simple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Memory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Sorts in place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Sorts in place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6" grpId="0">
        <p:bldAsOne/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a bubble sort, which items are compared?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First and last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Adjacent items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Random pairs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Middle item and target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Adjacent items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After pass 1 of an ascending bubble sort on 4 2 5 1: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2 4 1 5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1 2 4 5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2 1 4 5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4 2 1 5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2 4 1 5  –  4&gt;2 swap, 4&lt;5 keep, 5&gt;1 swap.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When does a bubble sort stop?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After one pass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When a pass makes no swaps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When the first item is smallest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Never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When a pass makes no swaps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Insertion sort works by…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halving the list</a:t>
            </a:r>
            <a:endParaRPr lang="en-US" sz="14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inserting each item into its place in a sorted sub-list</a:t>
            </a:r>
            <a:endParaRPr lang="en-US" sz="14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swapping the first and last items</a:t>
            </a:r>
            <a:endParaRPr lang="en-US" sz="14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searching for the middle item</a:t>
            </a:r>
            <a:endParaRPr lang="en-US" sz="14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inserting each item into its place in a sorted sub-list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usually faster on nearly sorted data?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Bubble sort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Insertion sort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Both are identical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Linear search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Insertion sort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Adjacent items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2 4 1 5  – 4&gt;2 swap, 4&lt;5 keep, 5&gt;1 swap.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When a pass makes no swaps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inserting each item into its place in a sorted sub-list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Insertion sort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2" grpId="0">
        <p:bldAsOne/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Linear vs binary search; showing sort passes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Bubble and insertion sort, efficiency (QWC)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Arrays: update, reset to zero, find maximum; bubble sort steps; searching sorted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Arrays, pseudocode, FOR/WHILE totals, minimum, bubble sort, linear and binary search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 type, compound AND, IF output, NOT/AND table, bubble sort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53" grpId="0">
        <p:bldAsOne/>
      </p:bldGraphic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D12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Searching algorithms: linear and binary search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linear and binary search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Trace a binary search to find or not find an item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the efficiency and requirements of each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Linear sear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 search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Binary sear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 search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Binary search: examp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 search: example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Binary search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 search in C#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Comparing search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searches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8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Binary search for 31 in a sorted list, halving the search each ste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Binary search for 31 in a sorted list, halving the search each step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Linear search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Start at the first item and check each item in turn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Stop when the target is found or the end of the list is reached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Works on unsorted or sorted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Simple, but slow for large lists – may need to check every item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Linear search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LinearSearch(int[] items, int target)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items.Length; i++)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(items[i] == target)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i;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data = { 12, 7, 31, 4 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Console.WriteLine(LinearSearch(data, 31));   // 2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Binary search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data MUST be sorted first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Look at the middle item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it is the target – found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the target is smaller, discard the upper half; if larger, discard the lower half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Repeat on the remaining half until found or no items are left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step halves the number of items left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Binary search: example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83771"/>
                <a:gridCol w="3526971"/>
                <a:gridCol w="783771"/>
                <a:gridCol w="31350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List (searching for 31)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Middle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3 8 12 19 27 31 40 52 61 77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31 &gt; 27: keep right half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31 40 52 61 77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31 &lt; 52: keep left half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31 40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Found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0" grpId="0">
        <p:bldAsOne/>
      </p:bldGraphic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Binary search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mid = (low + high) / 2 uses integer division in C#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low and high close in until the target is found or low &gt; high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items = { 3, 8, 12, 19, 27, 31, 40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target = 31;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low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high = items.Length - 1;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found = -1;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(low &lt;= high &amp;&amp; found == -1)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mid = (low + high) / 2;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(items[mid] == target)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found = mid;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(items[mid] &lt; target)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low = mid + 1;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high = mid - 1;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Console.WriteLine("Found at index " + found);</a:t>
            </a:r>
            <a:endParaRPr lang="en-US" sz="11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searches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913860"/>
                <a:gridCol w="2296633"/>
                <a:gridCol w="401910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Linear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Binary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must be sorted?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 every item in turn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 the middle; halve the list each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Large lists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 – up to n checks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 – about 10 checks for 1000 items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Ease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Very simple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More complex to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2" grpId="0">
        <p:bldAsOne/>
      </p:bldGraphic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search requires sorted data?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Linear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Binary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Both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Neither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Binary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The first item a binary search checks is…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first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last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middle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random item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the middle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Searching 1 000 items, which is likely fastest?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Linear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Binary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Bubble sort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Insertion sort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Binary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Linear search on [4, 9, 2, 7] for 7 needs how many comparisons?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7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4  –  Item is last.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After checking the middle item and finding the target is larger, a binary search…</a:t>
            </a:r>
            <a:endParaRPr lang="en-US" sz="1700" dirty="0"/>
          </a:p>
        </p:txBody>
      </p:sp>
      <p:sp>
        <p:nvSpPr>
          <p:cNvPr id="7" name="trig:k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stops</a:t>
            </a:r>
            <a:endParaRPr lang="en-US" sz="1600" dirty="0"/>
          </a:p>
        </p:txBody>
      </p:sp>
      <p:sp>
        <p:nvSpPr>
          <p:cNvPr id="8" name="on:k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discards the lower half</a:t>
            </a:r>
            <a:endParaRPr lang="en-US" sz="1600" dirty="0"/>
          </a:p>
        </p:txBody>
      </p:sp>
      <p:sp>
        <p:nvSpPr>
          <p:cNvPr id="10" name="on:k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discards the upper half</a:t>
            </a:r>
            <a:endParaRPr lang="en-US" sz="1600" dirty="0"/>
          </a:p>
        </p:txBody>
      </p:sp>
      <p:sp>
        <p:nvSpPr>
          <p:cNvPr id="12" name="on:k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restarts</a:t>
            </a:r>
            <a:endParaRPr lang="en-US" sz="1600" dirty="0"/>
          </a:p>
        </p:txBody>
      </p:sp>
      <p:sp>
        <p:nvSpPr>
          <p:cNvPr id="14" name="on:k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discards the lower half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Binary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middle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Binary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4  – Item is last.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discards the lower half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8" grpId="0">
        <p:bldAsOne/>
      </p:bldGraphic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Linear vs binary search; showing sort passes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Q1(d)–(g)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Abstraction, decomposition, search efficiency, ASCII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Arrays: update, reset to zero, find maximum; bubble sort steps; searching sorted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Arrays, pseudocode, FOR/WHILE totals, minimum, bubble sort, linear and binary search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69" grpId="0">
        <p:bldAsOne/>
      </p:bldGraphic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Dry runs, trace tables, data requirements and interfaces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Carry out a dry run using a trace table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Predict the output of an algorithm, including loops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Identify data requirements and design a simple user interface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Dry ru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Dry runs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Trace tab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Trace tables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Trace examp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Trace example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Predicting loop out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Predicting loop output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Data requirem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requirements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Designing a user interfa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Designing a user interface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dry run of a WHILE loop recorded in a trace 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dry run of a WHILE loop recorded in a trace table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Dry runs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dry run is working through an algorithm or program by hand, line by line, without a computer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Used to find logic errors and check expected output before (or without) running code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Helps check every path through the code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2025 examiners: give two points – e.g. finds logic errors AND checks expected output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Trace tables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trace table records the value of each variable (and any output) after each step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One column per variable, one for the condition, one for output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Add a new row each time a value changes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Unbounded (WHILE) loops: carefully check the condition before each repeat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Trace example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598821"/>
                <a:gridCol w="3031958"/>
                <a:gridCol w="259882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 &lt; 20?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5" grpId="0">
        <p:bldAsOne/>
      </p:bldGraphic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Trace example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←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 &lt; 20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← a * 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WHILE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a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Predicting loop output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 loops: write the counter values first, then the work done each time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Nested loops: the inner loop completes fully for each value of the outer loop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2025 Q2(a): candidates who wrote long lists or four numbers lost marks – the loop produced exactly 15, 18, 21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5; i &lt; 8; i++)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Console.WriteLine(i * 3);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requirements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8229600" cy="151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Before coding, list every item of data the solution needs: inputs, outputs and stored/processed values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For each: name, data type, example value, validation rule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This is often called a data dictionary or variable table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Unit 5: specify data requirements as part of your design</a:t>
            </a:r>
            <a:endParaRPr lang="en-US" sz="15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11018"/>
          <a:ext cx="8229600" cy="914400"/>
        </p:xfrm>
        <a:graphic>
          <a:graphicData uri="http://schemas.openxmlformats.org/drawingml/2006/table">
            <a:tbl>
              <a:tblPr/>
              <a:tblGrid>
                <a:gridCol w="2244436"/>
                <a:gridCol w="1745673"/>
                <a:gridCol w="1745673"/>
                <a:gridCol w="249381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Validation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numNights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Integer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Range 1–14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hireCost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45.50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&gt; 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equipment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Boolean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Y/N 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5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7" grpId="0" animBg="1"/>
      <p:bldP spid="25" grpId="0" animBg="1"/>
      <p:bldGraphic spid="78" grpId="0">
        <p:bldAsOne/>
      </p:bldGraphic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Designing a user interface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Clear prompts telling the user what to enter and in what format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Sensible layout, consistent fonts/colours (GUI) or menus (text)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Helpful error messages when input is invalid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Confirmation of output in a readable form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Consider the target user – age, ability, accessibility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output? x ← 3; WHILE x &lt; 30: x ← x * 3; OUTPUT x</a:t>
            </a:r>
            <a:endParaRPr lang="en-US" sz="1700" dirty="0"/>
          </a:p>
        </p:txBody>
      </p:sp>
      <p:sp>
        <p:nvSpPr>
          <p:cNvPr id="7" name="trig:k8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9</a:t>
            </a:r>
            <a:endParaRPr lang="en-US" sz="1600" dirty="0"/>
          </a:p>
        </p:txBody>
      </p:sp>
      <p:sp>
        <p:nvSpPr>
          <p:cNvPr id="8" name="on:k8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27</a:t>
            </a:r>
            <a:endParaRPr lang="en-US" sz="1600" dirty="0"/>
          </a:p>
        </p:txBody>
      </p:sp>
      <p:sp>
        <p:nvSpPr>
          <p:cNvPr id="10" name="on:k8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81</a:t>
            </a:r>
            <a:endParaRPr lang="en-US" sz="1600" dirty="0"/>
          </a:p>
        </p:txBody>
      </p:sp>
      <p:sp>
        <p:nvSpPr>
          <p:cNvPr id="12" name="on:k8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30</a:t>
            </a:r>
            <a:endParaRPr lang="en-US" sz="1600" dirty="0"/>
          </a:p>
        </p:txBody>
      </p:sp>
      <p:sp>
        <p:nvSpPr>
          <p:cNvPr id="14" name="on:k8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81  –  3→9→27→81, then 81 &lt; 30 is false.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trace table records…</a:t>
            </a:r>
            <a:endParaRPr lang="en-US" sz="1700" dirty="0"/>
          </a:p>
        </p:txBody>
      </p:sp>
      <p:sp>
        <p:nvSpPr>
          <p:cNvPr id="7" name="trig:k8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CPU speed</a:t>
            </a:r>
            <a:endParaRPr lang="en-US" sz="1600" dirty="0"/>
          </a:p>
        </p:txBody>
      </p:sp>
      <p:sp>
        <p:nvSpPr>
          <p:cNvPr id="8" name="on:k8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variable values at each step</a:t>
            </a:r>
            <a:endParaRPr lang="en-US" sz="1600" dirty="0"/>
          </a:p>
        </p:txBody>
      </p:sp>
      <p:sp>
        <p:nvSpPr>
          <p:cNvPr id="10" name="on:k8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8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test plan results only</a:t>
            </a:r>
            <a:endParaRPr lang="en-US" sz="1600" dirty="0"/>
          </a:p>
        </p:txBody>
      </p:sp>
      <p:sp>
        <p:nvSpPr>
          <p:cNvPr id="12" name="on:k8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file sizes</a:t>
            </a:r>
            <a:endParaRPr lang="en-US" sz="1600" dirty="0"/>
          </a:p>
        </p:txBody>
      </p:sp>
      <p:sp>
        <p:nvSpPr>
          <p:cNvPr id="14" name="on:k8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variable values at each step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for (int i = 2; i &lt; 5; i++) Console.Write(i + " "); outputs…</a:t>
            </a:r>
            <a:endParaRPr lang="en-US" sz="1700" dirty="0"/>
          </a:p>
        </p:txBody>
      </p:sp>
      <p:sp>
        <p:nvSpPr>
          <p:cNvPr id="7" name="trig:k8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2 3 4 5</a:t>
            </a:r>
            <a:endParaRPr lang="en-US" sz="1600" dirty="0"/>
          </a:p>
        </p:txBody>
      </p:sp>
      <p:sp>
        <p:nvSpPr>
          <p:cNvPr id="8" name="on:k8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2 3 4</a:t>
            </a:r>
            <a:endParaRPr lang="en-US" sz="1600" dirty="0"/>
          </a:p>
        </p:txBody>
      </p:sp>
      <p:sp>
        <p:nvSpPr>
          <p:cNvPr id="10" name="on:k9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9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1 2 3 4</a:t>
            </a:r>
            <a:endParaRPr lang="en-US" sz="1600" dirty="0"/>
          </a:p>
        </p:txBody>
      </p:sp>
      <p:sp>
        <p:nvSpPr>
          <p:cNvPr id="12" name="on:k9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3 4 5</a:t>
            </a:r>
            <a:endParaRPr lang="en-US" sz="1600" dirty="0"/>
          </a:p>
        </p:txBody>
      </p:sp>
      <p:sp>
        <p:nvSpPr>
          <p:cNvPr id="14" name="on:k9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2 3 4  –  The condition i &lt; 5 stops the loop before 5.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dry run is mainly used to find…</a:t>
            </a:r>
            <a:endParaRPr lang="en-US" sz="1700" dirty="0"/>
          </a:p>
        </p:txBody>
      </p:sp>
      <p:sp>
        <p:nvSpPr>
          <p:cNvPr id="7" name="trig:k9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syntax errors</a:t>
            </a:r>
            <a:endParaRPr lang="en-US" sz="1600" dirty="0"/>
          </a:p>
        </p:txBody>
      </p:sp>
      <p:sp>
        <p:nvSpPr>
          <p:cNvPr id="8" name="on:k9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logic errors</a:t>
            </a:r>
            <a:endParaRPr lang="en-US" sz="1600" dirty="0"/>
          </a:p>
        </p:txBody>
      </p:sp>
      <p:sp>
        <p:nvSpPr>
          <p:cNvPr id="10" name="on:k9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9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hardware faults</a:t>
            </a:r>
            <a:endParaRPr lang="en-US" sz="1600" dirty="0"/>
          </a:p>
        </p:txBody>
      </p:sp>
      <p:sp>
        <p:nvSpPr>
          <p:cNvPr id="12" name="on:k9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viruses</a:t>
            </a:r>
            <a:endParaRPr lang="en-US" sz="1600" dirty="0"/>
          </a:p>
        </p:txBody>
      </p:sp>
      <p:sp>
        <p:nvSpPr>
          <p:cNvPr id="14" name="on:k9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logic errors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belongs in data requirements?</a:t>
            </a:r>
            <a:endParaRPr lang="en-US" sz="1700" dirty="0"/>
          </a:p>
        </p:txBody>
      </p:sp>
      <p:sp>
        <p:nvSpPr>
          <p:cNvPr id="7" name="trig:k9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Variable names and data types</a:t>
            </a:r>
            <a:endParaRPr lang="en-US" sz="1600" dirty="0"/>
          </a:p>
        </p:txBody>
      </p:sp>
      <p:sp>
        <p:nvSpPr>
          <p:cNvPr id="8" name="on:k9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9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colour of the PC</a:t>
            </a:r>
            <a:endParaRPr lang="en-US" sz="1600" dirty="0"/>
          </a:p>
        </p:txBody>
      </p:sp>
      <p:sp>
        <p:nvSpPr>
          <p:cNvPr id="10" name="on:k9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CPU clock speed</a:t>
            </a:r>
            <a:endParaRPr lang="en-US" sz="1600" dirty="0"/>
          </a:p>
        </p:txBody>
      </p:sp>
      <p:sp>
        <p:nvSpPr>
          <p:cNvPr id="12" name="on:k9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programmer's name</a:t>
            </a:r>
            <a:endParaRPr lang="en-US" sz="1600" dirty="0"/>
          </a:p>
        </p:txBody>
      </p:sp>
      <p:sp>
        <p:nvSpPr>
          <p:cNvPr id="14" name="on:k10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Variable names and data types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81  – 3→9→27→81, then 81 &lt; 30 is false.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variable values at each step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2 3 4  – The condition i &lt; 5 stops the loop before 5.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logic errors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Variable names and data types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85" grpId="0">
        <p:bldAsOne/>
      </p:bldGraphic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Flowchart selection and iteration; dry runs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Tracing nested selection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Dry-run a nested IF (shape calculator)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Tracing FOR and WHILE loops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Loop output, nested loops, loop count, infinite loop, fixing a condition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Desk checking, trace table, final value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2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86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design principles</dc:title>
  <dc:subject>Unit 4: Digital Development Concepts – Digital design principles</dc:subject>
  <dc:creator>Digital Technology Hub</dc:creator>
  <cp:lastModifiedBy>Digital Technology Hub</cp:lastModifiedBy>
  <cp:revision>1</cp:revision>
  <dcterms:created xsi:type="dcterms:W3CDTF">2026-10-30T13:15:45Z</dcterms:created>
  <dcterms:modified xsi:type="dcterms:W3CDTF">2026-10-30T13:15:45Z</dcterms:modified>
</cp:coreProperties>
</file>