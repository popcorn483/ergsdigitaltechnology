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9cf55d99-9f46-aebd-49c3-24518573c625}">
          <p14:sldIdLst>
            <p14:sldId id="256"/>
            <p14:sldId id="257"/>
            <p14:sldId id="258"/>
          </p14:sldIdLst>
        </p14:section>
        <p14:section name="AP01 · Why develop new systems? Systems, the software crisis and the life cycle" id="{21b05f11-4498-92ef-43ae-61ec3084701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AP02 · User needs, time and cost: the feasibility study and the development team" id="{70079aa4-2837-d21a-b94b-b86193262ac6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characteristics of a system and explain how large systems are made up of sub-systems | Understand that a computer system consists of a user interface, processes and data, and explain the factors that affect the choice of user interface | Explain the reasons why an organisation may need to develop a new information system | Explain the impact of the software crisis and the emergence of software engineering | Describe the stages of the systems development life cycle (SDLC), the purpose of each stage and why a structured approach is used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need for software systems that meet the needs of organisations and/or individuals | Explain the main factors affecting systems development: the user needs, time and cost | Describe the purpose of a feasibility study and explain technical, economic, legal, operational and schedule feasibility | Explain the use of a cost–benefit analysis and describe the content of a feasibility report | Describe the roles of the systems analyst, the project manager and the programmer during systems development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2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7.xml"/><Relationship Id="rId14" Type="http://schemas.openxmlformats.org/officeDocument/2006/relationships/slide" Target="slide18.xml"/><Relationship Id="rId15" Type="http://schemas.openxmlformats.org/officeDocument/2006/relationships/slide" Target="slide20.xml"/><Relationship Id="rId16" Type="http://schemas.openxmlformats.org/officeDocument/2006/relationships/slide" Target="slide21.xml"/><Relationship Id="rId17" Type="http://schemas.openxmlformats.org/officeDocument/2006/relationships/slide" Target="slide22.xml"/><Relationship Id="rId18" Type="http://schemas.openxmlformats.org/officeDocument/2006/relationships/slide" Target="slide2.xml"/><Relationship Id="rId1" Type="http://schemas.openxmlformats.org/officeDocument/2006/relationships/image" Target="../media/image-5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3" Type="http://schemas.openxmlformats.org/officeDocument/2006/relationships/slide" Target="slide35.xml"/><Relationship Id="rId4" Type="http://schemas.openxmlformats.org/officeDocument/2006/relationships/slide" Target="slide36.xml"/><Relationship Id="rId5" Type="http://schemas.openxmlformats.org/officeDocument/2006/relationships/slide" Target="slide37.xml"/><Relationship Id="rId6" Type="http://schemas.openxmlformats.org/officeDocument/2006/relationships/slide" Target="slide38.xml"/><Relationship Id="rId7" Type="http://schemas.openxmlformats.org/officeDocument/2006/relationships/slide" Target="slide39.xml"/><Relationship Id="rId8" Type="http://schemas.openxmlformats.org/officeDocument/2006/relationships/slide" Target="slide40.xml"/><Relationship Id="rId9" Type="http://schemas.openxmlformats.org/officeDocument/2006/relationships/slide" Target="slide41.xml"/><Relationship Id="rId10" Type="http://schemas.openxmlformats.org/officeDocument/2006/relationships/slide" Target="slide42.xml"/><Relationship Id="rId11" Type="http://schemas.openxmlformats.org/officeDocument/2006/relationships/slide" Target="slide43.xml"/><Relationship Id="rId12" Type="http://schemas.openxmlformats.org/officeDocument/2006/relationships/slide" Target="slide44.xml"/><Relationship Id="rId13" Type="http://schemas.openxmlformats.org/officeDocument/2006/relationships/slide" Target="slide45.xml"/><Relationship Id="rId14" Type="http://schemas.openxmlformats.org/officeDocument/2006/relationships/slide" Target="slide46.xml"/><Relationship Id="rId15" Type="http://schemas.openxmlformats.org/officeDocument/2006/relationships/slide" Target="slide47.xml"/><Relationship Id="rId16" Type="http://schemas.openxmlformats.org/officeDocument/2006/relationships/slide" Target="slide49.xml"/><Relationship Id="rId17" Type="http://schemas.openxmlformats.org/officeDocument/2006/relationships/slide" Target="slide50.xml"/><Relationship Id="rId18" Type="http://schemas.openxmlformats.org/officeDocument/2006/relationships/slide" Target="slide2.xml"/><Relationship Id="rId1" Type="http://schemas.openxmlformats.org/officeDocument/2006/relationships/image" Target="../media/image-33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Reasons for systems development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AP01  Why develop new systems? Systems, the software crisis and the life cycle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AP02  User needs, time and cost: the feasibility study and the development team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AP01  Why develop new systems? Systems, the software crisis and the life cyc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AP01  Why develop new systems? Systems, the software crisis and the life cycle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AP02  User needs, time and cost: the feasibility study and the development te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AP02  User needs, time and cost: the feasibility study and the development team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characteristics of a system and explain how large systems are made up of sub-systems; Understand that a computer system consists of a user interface, processes and data, and explain the factors that affect the choice of user interface; Explain the reasons why an organisation may need to develop a new information system; Explain the impact of the software crisis and the emergence of software engineering; Describe the stages of the systems development life cycle (SDLC), the purpose of each stage and why a structured approach is used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AP02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need for software systems that meet the needs of organisations and/or individuals; Explain the main factors affecting systems development: the user needs, time and cost; Describe the purpose of a feasibility study and explain technical, economic, legal, operational and schedule feasibility; Explain the use of a cost–benefit analysis and describe the content of a feasibility report; Describe the roles of the systems analyst, the project manager and the programmer during systems development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develop new systems? Systems, the software crisis and the life cycle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Identify the purpose, need and components of a system, and break a large system into sub-systems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user interface, processes and data of a given computer system and justify a suitable interface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internal and external reasons for developing a new system, applied to a context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causes and consequences of the software crisis and how software engineering responded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each stage of the life cycle, what it produces and why a structured approach reduces risk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is a system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system?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Breaking a large system into sub-sys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Breaking a large system into sub-systems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hat a computer system do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a computer system does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Three elements: UI, processes and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Three elements: UI, processes and data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Choosing a user interfa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user interface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hy develop a new system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develop a new system?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Internal and external trigg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Internal and external triggers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The software crisi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software crisis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Causes and consequences of the crisi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Causes and consequences of the crisis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The response: software enginee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response: software engineering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The systems development life cycle (SDLC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systems development life cycle (SDLC)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Stages and their deliverab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Stages and their deliverables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Why a structured approach mat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a structured approach matters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Worked example: Lakeland Boat Hire, Fermanag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Lakeland Boat Hire, Fermanagh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systems development life cycle: seven stages arranged in a cycle, each labelled with its main deliver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systems development life cycle: seven stages arranged in a cycle, each labelled with its main deliverable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system?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system is a set of interdependent components working together to achieve a goal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Every system has a defined purpose: what it is for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Every system meets a defined need: the problem it solves for an organisation or individual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Every system has components that depend on each other: if one fails, others are affected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Systems may be natural (the water cycle), physical (a road network) or computer-based (online banking)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Systems development normally refers to systems with an element of computer processing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Breaking a large system into sub-systems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2964"/>
                <a:gridCol w="51266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Sub-system of a health trust's computer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Patient administration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Registers patients and holds their contact and GP details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Appointments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Books outpatient clinics and sends text reminders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Pharmacy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Records prescriptions and controls drug stock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Theatre scheduling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Allocates operating theatres, surgeons and equipment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Payroll and HR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Pays staff and keeps employment records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Shared links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Appointments reads patient details; pharmacy is linked to the patient record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a computer system does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Receives data: raw facts and figures with no context, e.g. 07, 42, 2026-11-03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Processes the data: calculates, sorts, searches, validates or updates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Stores the data received and any new data generated by processing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Presents processed data as information: data given context and meaning, e.g. a report or alert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Communicates data between related sub-systems, e.g. sales updating stock levels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Three elements: UI, processes and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54236"/>
                <a:gridCol w="4028716"/>
                <a:gridCol w="35466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Example: school cashless canteen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raw facts entered by users or generated by processes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Pupil ID, account balance, items bought, prices, top-up payments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 interface (UI)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How users put data in and see the results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Fingerprint or card reader at the till; parent app to top up and view purchases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Processes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operations that manipulate the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Identify pupil, check balance is sufficient, deduct cost, record sale, alert parent when balance is 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If it is poor…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Bad data gives unreliable results; a poor UI causes errors and avoidance; poor processing gives wrong or slow results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Wrong price = wrong balance; slow till = long queues at lunch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user interface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UI is the gateway between the user and the system; usability decides whether people will use it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choice depends on the application: how much data must be entered and what output is needed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…the environment: noisy, busy, outdoors, moving vehicle, sterile or dirty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…the characteristics of the users: trained staff or the public, age, skills, disabilities, language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Examples: touchscreen self-service kiosk; barcode scanner at a till; voice output in a satnav; keyboard and forms for detailed records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Interfaces evolve: keyboard and mouse → touch, voice, contactless cards, number-plate and face recognition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develop a new system?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current system cannot cope: more customers, data or transactions than it was built for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New technology creates opportunities, e.g. online booking, mobile apps, cloud hosting or data analytics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Legislation changes, e.g. the UK GDPR or HMRC Making Tax Digital rules change how data is held or reported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Competitive pressure: rivals offer faster, cheaper or more convenient services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existing (legacy) system is unreliable, unsupported by its supplier or too expensive to maintain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Users' needs have changed: the system no longer serves its purpose or meets its need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Internal and external triggers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76344"/>
                <a:gridCol w="41532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Internal triggers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External triggers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Organisation grows or merges with another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New or changed legislation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Managers need better information for decisions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Competitors introduce new services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Staff errors and duplicated data entry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Customers expect online / mobile access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Old hardware fails or software is no longer supported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New technology becomes affordable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Desire to cut costs, e.g. fewer clerical hours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Suppliers or partners require electronic data exchange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software crisis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From the mid-1960s, demand for larger, more complex software grew faster than the industry's ability to build it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Development was informal and unstructured; there were few agreed methods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Projects ran over time and over budget, and many were abandoned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Software was unreliable, of low quality and often did not do what users actually needed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Systems were hard and expensive to maintain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term was widely used after the 1968 NATO Software Engineering Conference in Germany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Causes and consequences of the crisis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784415"/>
                <a:gridCol w="44451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Consequence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Little past experience of similar projects to base estimates 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Crude, inaccurate time and cost estimates; deadlines and budgets missed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Unsophisticated development tools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Software took much longer to write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No tools to help find errors early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Faults found late, slow to locate and expensive to fix; costly maintenance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Imprecise methods for capturing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Systems did not meet user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No specialist testers or formal testing process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Low-quality, less robust software reached users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response: software engineering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Software engineering: building, and later maintaining, software by following a disciplined, systematic engineering process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Modelled on established engineering disciplines such as civil engineering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Aims: quality software, delivered on time, within budget, that meets user requirements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Led to formal life cycles, requirements specifications, design methods and documentation standards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Also: dedicated testing, better programming languages and tools, project management and estimation techniques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The systems development life cycle (SDLC)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structured, staged framework for planning, building and maintaining an information system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Typical stages: feasibility study → analysis → design → development (coding) → testing → implementation → maintenance and evaluation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Each stage has deliverables (documents or products) that are signed off before the next stage starts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Documentation is produced throughout, and the system is handed over to the client at implementation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is a cycle because evaluation and maintenance eventually show the need for a new system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Stages and their deliverables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36038"/>
                <a:gridCol w="3203468"/>
                <a:gridCol w="35900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Main deliverable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Feasibility study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Decide whether the project is worth doing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Feasibility report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Analysis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Investigate the current system and find the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Requirements specification, DFDs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Plan how the new system will meet the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Design specification: inputs, outputs, data, processes, test plan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Development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Build the system: code, database, interfaces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Working software and technical documentation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 the system works and meets the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Completed test plan and results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9" grpId="0">
        <p:bldAsOne/>
      </p:bldGraphic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Stages and their deliverables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36038"/>
                <a:gridCol w="3203468"/>
                <a:gridCol w="359009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Main deliverable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Implementation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Install, convert data, train users, change over, hand over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Live system, user guide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Maintenance and evaluation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Keep the system working and judge its success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Evaluation / post-implementation review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0" grpId="0">
        <p:bldAsOne/>
      </p:bldGraphic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a structured approach matters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Mistakes in defining requirements or design are cheapest to fix early and very expensive once coded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Skipping feasibility risks spending money on a project that can never pay for itself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Clear milestones make progress easy to monitor and costs easier to control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Documentation at each stage supports testing, training and later maintenance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Sign-off at each stage gives the client control and reduces misunderstandings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Drawback: a strict sequence can be slow and inflexible if requirements change (see AP10)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Lakeland Boat Hire, Fermanagh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Problem: a paper diary causes double bookings and there is no record of which boats need servicing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Purpose: let customers hire boats easily; need: avoid double bookings and lost income as the business grows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Elements: UI = booking web page and staff tablet; processes = check availability, take deposit, flag servicing; data = boats, customers, bookings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Feasibility: an online booking system is affordable and could pay for itself through extra bookings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Analysis: interview the owner, observe the booking desk, inspect the diary and invoices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Design → build → test → install with training for seasonal staff → review after the first summer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school's cashless canteen uses fingerprint readers at the tills. In the three-element model of a computer system, the fingerprint reader is part of the…</a:t>
            </a:r>
            <a:endParaRPr lang="en-US" sz="15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processes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user interface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sub-system boundary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user interface  –  The user interface is how users put data into the system and see results; a fingerprint reader is an input device used to identify the pupil.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was a cause of the software crisis of the 1960s?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Too many specialist software testers</a:t>
            </a:r>
            <a:endParaRPr lang="en-US" sz="125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Little past experience on which to base time and cost estimates</a:t>
            </a:r>
            <a:endParaRPr lang="en-US" sz="125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Development tools that were too advanced for programmers</a:t>
            </a:r>
            <a:endParaRPr lang="en-US" sz="125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Users asking for systems that were too small</a:t>
            </a:r>
            <a:endParaRPr lang="en-US" sz="125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Little past experience on which to base time and cost estimates  –  With no history of similar projects, estimates were crude and inaccurate, so projects ran late and over budget.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stage decides whether a project is worth carrying out?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Feasibility study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Analysis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Design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Feasibility study  –  The feasibility study produces a recommendation on whether to proceed.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internal reason for developing a new system?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competitor launches an app</a:t>
            </a:r>
            <a:endParaRPr lang="en-US" sz="14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New legislation is passed</a:t>
            </a:r>
            <a:endParaRPr lang="en-US" sz="14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Customers expect online ordering</a:t>
            </a:r>
            <a:endParaRPr lang="en-US" sz="14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Staff re-enter the same data on three forms</a:t>
            </a:r>
            <a:endParaRPr lang="en-US" sz="14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Staff re-enter the same data on three forms  –  Duplicated data entry is a problem inside the organisation; the others come from outside.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deliverable is produced at the end of analysis?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Test results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User guide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Requirements specification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Feasibility report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Requirements specification  –  Analysis establishes and documents what the new system must do.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a satnav give directions by voice while the car is moving?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Voice output is cheaper than a screen</a:t>
            </a:r>
            <a:endParaRPr lang="en-US" sz="14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driver can keep their eyes on the road</a:t>
            </a:r>
            <a:endParaRPr lang="en-US" sz="14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Touchscreens do not work in cars</a:t>
            </a:r>
            <a:endParaRPr lang="en-US" sz="14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Voice is the only way to show a map</a:t>
            </a:r>
            <a:endParaRPr lang="en-US" sz="14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 driver can keep their eyes on the road  –  The environment (driving) means the interface must not distract the user visually.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Software engineering is best defined as…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disciplined, systematic engineering process for designing, building and maintaining software</a:t>
            </a:r>
            <a:endParaRPr lang="en-US" sz="125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repair of computer hardware</a:t>
            </a:r>
            <a:endParaRPr lang="en-US" sz="125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writing code without a design</a:t>
            </a:r>
            <a:endParaRPr lang="en-US" sz="125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study of computer networks</a:t>
            </a:r>
            <a:endParaRPr lang="en-US" sz="125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 disciplined, systematic engineering process for designing, building and maintaining software  –  It applies engineering discipline to software so it is delivered on time, within budget and to requirements.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 legacy system?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brand-new cloud system</a:t>
            </a:r>
            <a:endParaRPr lang="en-US" sz="14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test version of a system</a:t>
            </a:r>
            <a:endParaRPr lang="en-US" sz="14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system left in a will</a:t>
            </a:r>
            <a:endParaRPr lang="en-US" sz="14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An old system still in use, often hard to maintain</a:t>
            </a:r>
            <a:endParaRPr lang="en-US" sz="14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An old system still in use, often hard to maintain  –  Legacy systems are outdated but still relied upon, and are a common reason for developing a replacement.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main disadvantage of a strict sequential life cycle is that…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there is no documentation</a:t>
            </a:r>
            <a:endParaRPr lang="en-US" sz="14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testing is never done</a:t>
            </a:r>
            <a:endParaRPr lang="en-US" sz="14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inflexible when requirements change</a:t>
            </a:r>
            <a:endParaRPr lang="en-US" sz="14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client cannot sign off stages</a:t>
            </a:r>
            <a:endParaRPr lang="en-US" sz="14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it is inflexible when requirements change  –  Going back to earlier stages to accommodate changed requirements is slow and costly.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user interface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user interface is how users put data into the system and see results; a fingerprint reader is an input device used to identify the pupil.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Little past experience on which to base time and cost estimates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With no history of similar projects, estimates were crude and inaccurate, so projects ran late and over budget.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Feasibility study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feasibility study produces a recommendation on whether to proceed.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Staff re-enter the same data on three forms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Duplicated data entry is a problem inside the organisation; the others come from outside.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Requirements specification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Analysis establishes and documents what the new system must do.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driver can keep their eyes on the road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environment (driving) means the interface must not distract the user visually.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disciplined, systematic engineering process for designing, building and maintaining software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applies engineering discipline to software so it is delivered on time, within budget and to requirements.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An old system still in use, often hard to maintain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Legacy systems are outdated but still relied upon, and are a common reason for developing a replacement.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it is inflexible when requirements change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Going back to earlier stages to accommodate changed requirements is slow and costly.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2" grpId="0">
        <p:bldAsOne/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needs, time and cost: the feasibility study and the development team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a system has to satisfy the organisation as well as its individual users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user needs, time and cost constrain what a development project can deliver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Apply the five TELOS feasibility criteria to a scenario and carry out a simple payback calculation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a feasibility report contains and who uses it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main role and typical duties of the systems analyst, project manager and programmer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ose needs must a system mee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Whose needs must a system meet?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Three factors that affect systems develop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Three factors that affect systems development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Balancing needs, time and co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Balancing needs, time and cost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hat is a feasibility study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feasibility study?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TELOS: five kinds of feasi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TELOS: five kinds of feasibility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Cost–benefit analysi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Cost–benefit analysis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Worked example: payback peri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payback period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The feasibility repo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feasibility report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hy carry out a feasibility study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carry out a feasibility study?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The development team: three key ro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development team: three key roles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Systems analys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Systems analyst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Project manag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manager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Programm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Programmer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Worked example: Fermanagh &amp; Omagh bin-collection 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Fermanagh &amp; Omagh bin-collection app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feasibility study tests a proposed system against five TELOS criteria and produces a feasibility report recommending to proceed, modify or aband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feasibility study tests a proposed system against five TELOS criteria and produces a feasibility report recommending to proceed, modify or abandon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Whose needs must a system meet?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organisation: the system must serve its purpose, e.g. handle thousands of bookings that could never be taken one at a time by phone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individual users: customers and staff must find it accessible, quick and easy to use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If customers find a booking site confusing they take their business to a competitor, so the system fails its purpose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If staff find it awkward they make errors, use workarounds or avoid it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successful system meets the needs of both the organisation that runs it and the people who use it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Three factors that affect systems development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3548"/>
                <a:gridCol w="4094123"/>
                <a:gridCol w="37219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Effect on the project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 needs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What the organisation and its users require the system to do, and how they need to interact with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Defines the scope; requirements must be precise and agreed or the wrong system is built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date by which the system must be operational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Limits how much can be built; features that cannot be ready in time must be cut or delayed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budget available for the project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Limits staff numbers, hardware, software licences, training and 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Balancing needs, time and cost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three factors pull against each other: changing one usually affects the others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More features (user needs) → more time and more cost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tighter deadline → more staff (cost) or fewer features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smaller budget → fewer staff, cheaper hardware, or a smaller system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Example: no point specifying a module that takes a year to build if the system must be live in six months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Cutting testing to save time or money risks poor quality, as in the software crisis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feasibility study?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preliminary investigation carried out before a project is approved, usually by the systems analyst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Decides whether a proposed system is possible, worthwhile and affordable within the time available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Considers alternative solutions, including improving the current system or doing nothing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Ends with a feasibility report and a recommendation to management: proceed, modify or abandon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TELOS: five kinds of feasibility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94560"/>
                <a:gridCol w="5532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consideration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Technical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the technology exist and can we use it?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Hardware, software, network capacity, staff technical skills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Economic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 the benefits outweigh the costs?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Development, hardware, training and running costs v. savings and extra income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Legal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it comply with the law?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UK GDPR and Data Protection Act 2018, Computer Misuse Act 1990 (as amended), copyright, equality and accessibility duties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Operational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Will it work in practice and will people use it?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Staff attitudes, working practices, union concerns, user skills, customer acceptance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Schedule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it be delivered in the time available?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Deadlines such as the start of the tourist season or a change in the law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Cost–benefit analysis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Compares the total expected costs of the new system with its expected benefits over a period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One-off costs: development, hardware, software licences, data conversion, initial training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Ongoing costs: maintenance, support, licence renewals, consumables, further training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Tangible benefits can be measured in money, e.g. reduced staffing hours or fewer stock losses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Intangible benefits are hard to measure, e.g. better customer satisfaction or staff morale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payback period is how long it takes for cumulative benefits to cover cumulative costs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payback period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39702"/>
                <a:gridCol w="3923414"/>
                <a:gridCol w="1626781"/>
                <a:gridCol w="669851"/>
                <a:gridCol w="66985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Costs (£)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5 000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5 000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5 000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Benefits (£)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25 000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25 000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25 000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Net (£)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−40 000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+20 000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+20 000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+20 000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Cumulative (£)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−40 000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−20 000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+20 000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Cumulative reaches 0 at the end of year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Payback = 2 years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feasibility report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Introduction: terms of reference and the problems with the current system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Description of alternative solutions considered (including doing nothing)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TELOS findings for each option, with outline costs and benefits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justified recommendation, plus an outline plan and estimated timescale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Used by senior management or the client to decide whether to commit money to the project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carry out a feasibility study?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Avoids wasting money on projects that are impossible or will never pay back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Identifies risks early, e.g. legal problems or staff resistance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Forces the organisation to compare alternatives, not just the first idea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Checks the project can be delivered within the time and budget constraints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Limitation: it is based on estimates and itself takes time and money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development team: three key roles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53143"/>
                <a:gridCol w="4702629"/>
                <a:gridCol w="28738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Main 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deliverables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Systems analyst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Identify the user and data processing requirements of the new or modified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Feasibility report, requirements and system specification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Project manager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Plan, co-ordinate and control the project so it is delivered on time, within budget and meets its objectives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Project plan and schedule, risk register, progress reports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Programmer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Build and test the system to the analyst's design so that it meets the client's needs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Source code, technical and operational documentation, test results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Systems analyst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Carries out the feasibility study and writes the feasibility report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Liaises with the client and users throughout: the link between the business and the technical team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Fact-finds: interviews, observation, questionnaires and document inspection of any existing system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Analyses the findings to define the user and data processing requirements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Produces the system specification: the detailed proposal for a new, modified or replacement system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Project manager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Plans the project schedule and splits the work into tasks and sub-tasks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Allocates resources (staff, hardware, software) to each task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Identifies and manages risks, e.g. a key programmer leaving or a supplier delay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Monitors progress against milestones and takes action if tasks slip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Controls the budget so the project finishes by its deadline and does not overspend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Reports progress back to the client and keeps stakeholders satisfied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Programmer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Writes or amends source code in a high-level language from module specifications, algorithms or flowcharts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Adds meaningful comments so other programmers can maintain the code later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Tests against a test plan, debugs faults and integrates with existing systems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Writes operational documentation and works with the analyst and project manager to meet requirements on time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Programmer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Module: payback period (spec 4.2 from the analyst)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Input: one-off cost and yearly net saving in pounds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number of whole years until costs are recovered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initialCost = 30000;      // development + hardware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netSavingPerYear = 10000; // savings minus running costs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cumulative = -initialCost;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year = 0;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each year's net saving until the total is no longer negative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(cumulative &lt; 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year++;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cumulative += netSavingPerYear;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Console.WriteLine($"Payback reached in year {year}");</a:t>
            </a:r>
            <a:endParaRPr lang="en-US" sz="12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Fermanagh &amp; Omagh bin-collection app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User needs: residents want collection-day reminders and to report missed bins; the council wants fewer phone calls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Time: must be live before the new collection rota starts in April; cost: fixed budget from the council's digital fund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Analyst: interviews customer-services staff, surveys residents, studies call logs; writes feasibility report and specification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Project manager: schedules app, database and notification tasks; tracks budget; reports to councillors monthly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Programmer: codes the rota lookup and reminder modules, comments and tests them, links to the existing address database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TELOS check: GDPR for resident addresses (legal); older residents may prefer phone, so keep it as an option (operational)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Which member of the development team is mainly responsible for identifying the user and data processing requirements of a new system?</a:t>
            </a:r>
            <a:endParaRPr lang="en-US" sz="15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Project manager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Systems analyst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Programmer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Network technician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Systems analyst  –  The systems analyst investigates the current system and defines the requirements and the system specification.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council system must be live before a new law takes effect in six months. Which factor affecting development does this deadline represent?</a:t>
            </a:r>
            <a:endParaRPr lang="en-US" sz="15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Cost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User needs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Time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Time  –  The time available limits what can be built; a feature taking a year is pointless if the system must be live in six months.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the 'O' in TELOS stand for?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Organisational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Output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Optimal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Operational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Operational  –  Operational feasibility: will it work in practice and be accepted by its users?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tangible benefit?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Saving £12 000 a year on paper and postage</a:t>
            </a:r>
            <a:endParaRPr lang="en-US" sz="14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Better company image</a:t>
            </a:r>
            <a:endParaRPr lang="en-US" sz="14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Happier customers</a:t>
            </a:r>
            <a:endParaRPr lang="en-US" sz="14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Improved decision-making</a:t>
            </a:r>
            <a:endParaRPr lang="en-US" sz="14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Saving £12 000 a year on paper and postage  –  It can be measured in money.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system costs £20 000 and gives a net saving of £5 000 a year. What is the payback period?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 years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 years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 years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 years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4 years  –  20 000 ÷ 5 000 = 4 years.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Who uses the feasibility report to decide whether to go ahead?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Management / the client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End users only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Testers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Programmers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Management / the client  –  Management decide whether to fund the project based on the report's recommendation.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typical duty of a project manager?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Writing source code from module specifications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Interviewing users to find requirements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Splitting the project into tasks and allocating resources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Adding comments to code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Splitting the project into tasks and allocating resources  –  Planning tasks and allocating staff, hardware and software is a project management duty.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a programmer add meaningful comments to source code?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To make the program run faster</a:t>
            </a:r>
            <a:endParaRPr lang="en-US" sz="125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To help other programmers understand and maintain the code later</a:t>
            </a:r>
            <a:endParaRPr lang="en-US" sz="125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To encrypt the code</a:t>
            </a:r>
            <a:endParaRPr lang="en-US" sz="125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Because the compiler requires them</a:t>
            </a:r>
            <a:endParaRPr lang="en-US" sz="125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To help other programmers understand and maintain the code later  –  Comments are ignored by the compiler but make code easier to modify and maintain.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Checking that a new system complies with the UK GDPR is part of…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technical feasibility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schedule feasibility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economic feasibility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legal feasibility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7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legal feasibility  –  Legal feasibility checks compliance with legislation such as data protection law.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Systems analyst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systems analyst investigates the current system and defines the requirements and the system specification.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Time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time available limits what can be built; a feature taking a year is pointless if the system must be live in six months.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Operational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Operational feasibility: will it work in practice and be accepted by its users?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Saving £12 000 a year on paper and postage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can be measured in money.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4 years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20 000 ÷ 5 000 = 4 years.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Management / the client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Management decide whether to fund the project based on the report's recommendation.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Splitting the project into tasks and allocating resources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Planning tasks and allocating staff, hardware and software is a project management duty.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To help other programmers understand and maintain the code later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Comments are ignored by the compiler but make code easier to modify and maintain.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legal feasibility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Legal feasibility checks compliance with legislation such as data protection law.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Reasons for systems development</dc:title>
  <dc:subject>AS 1: Approaches to Systems Development – Reasons for systems development</dc:subject>
  <dc:creator>Digital Technology Hub</dc:creator>
  <cp:lastModifiedBy>Digital Technology Hub</cp:lastModifiedBy>
  <cp:revision>1</cp:revision>
  <dcterms:created xsi:type="dcterms:W3CDTF">2026-10-30T13:15:50Z</dcterms:created>
  <dcterms:modified xsi:type="dcterms:W3CDTF">2026-10-30T13:15:50Z</dcterms:modified>
</cp:coreProperties>
</file>