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notesMasterIdLst>
    <p:notesMasterId r:id="rId5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17148dd4-1213-42a2-d4df-837e5da49199}">
          <p14:sldIdLst>
            <p14:sldId id="256"/>
            <p14:sldId id="257"/>
            <p14:sldId id="258"/>
          </p14:sldIdLst>
        </p14:section>
        <p14:section name="FD12 · User interfaces and HCI design" id="{90fed14c-4ef6-bb4e-4e41-4bf5f7feab3e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FD13 · Data compression and file formats" id="{60e34f42-07a4-48ca-d0a7-47e475e49f55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features of a good user interface | Describe the main features of WIMP (graphical), command line and forms dialogue interfaces | Evaluate WIMP, command line and forms dialogue interfaces for given users and tasks | Describe how text, sound and video can be input using personal computers, laptops, tablets and smartphones | Describe other interfaces (voice, touch, biometric, menu-driven) and principles of HCI design, including accessibility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Explain the need for data compression | Distinguish between lossy and lossless compression and give appropriate uses of each | Describe run-length encoding (RLE) and dictionary-based compression and apply them to simple data | Describe how zipping is used to compress data | Evaluate common data file formats: txt, wav, bitmap, JPEG, MPEG and GIF | Calculate uncompressed file sizes and compression ratios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30.xml"/><Relationship Id="rId1" Type="http://schemas.openxmlformats.org/officeDocument/2006/relationships/image" Target="../media/image-2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18.xml"/><Relationship Id="rId14" Type="http://schemas.openxmlformats.org/officeDocument/2006/relationships/slide" Target="slide19.xml"/><Relationship Id="rId15" Type="http://schemas.openxmlformats.org/officeDocument/2006/relationships/slide" Target="slide20.xml"/><Relationship Id="rId16" Type="http://schemas.openxmlformats.org/officeDocument/2006/relationships/slide" Target="slide2.xml"/><Relationship Id="rId1" Type="http://schemas.openxmlformats.org/officeDocument/2006/relationships/image" Target="../media/image-5-1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3" Type="http://schemas.openxmlformats.org/officeDocument/2006/relationships/slide" Target="slide33.xml"/><Relationship Id="rId4" Type="http://schemas.openxmlformats.org/officeDocument/2006/relationships/slide" Target="slide34.xml"/><Relationship Id="rId5" Type="http://schemas.openxmlformats.org/officeDocument/2006/relationships/slide" Target="slide35.xml"/><Relationship Id="rId6" Type="http://schemas.openxmlformats.org/officeDocument/2006/relationships/slide" Target="slide36.xml"/><Relationship Id="rId7" Type="http://schemas.openxmlformats.org/officeDocument/2006/relationships/slide" Target="slide37.xml"/><Relationship Id="rId8" Type="http://schemas.openxmlformats.org/officeDocument/2006/relationships/slide" Target="slide39.xml"/><Relationship Id="rId9" Type="http://schemas.openxmlformats.org/officeDocument/2006/relationships/slide" Target="slide40.xml"/><Relationship Id="rId10" Type="http://schemas.openxmlformats.org/officeDocument/2006/relationships/slide" Target="slide41.xml"/><Relationship Id="rId11" Type="http://schemas.openxmlformats.org/officeDocument/2006/relationships/slide" Target="slide42.xml"/><Relationship Id="rId12" Type="http://schemas.openxmlformats.org/officeDocument/2006/relationships/slide" Target="slide43.xml"/><Relationship Id="rId13" Type="http://schemas.openxmlformats.org/officeDocument/2006/relationships/slide" Target="slide44.xml"/><Relationship Id="rId14" Type="http://schemas.openxmlformats.org/officeDocument/2006/relationships/slide" Target="slide45.xml"/><Relationship Id="rId15" Type="http://schemas.openxmlformats.org/officeDocument/2006/relationships/slide" Target="slide46.xml"/><Relationship Id="rId16" Type="http://schemas.openxmlformats.org/officeDocument/2006/relationships/slide" Target="slide47.xml"/><Relationship Id="rId17" Type="http://schemas.openxmlformats.org/officeDocument/2006/relationships/slide" Target="slide2.xml"/><Relationship Id="rId1" Type="http://schemas.openxmlformats.org/officeDocument/2006/relationships/image" Target="../media/image-31-1.png"/><Relationship Id="rId18" Type="http://schemas.openxmlformats.org/officeDocument/2006/relationships/slideLayout" Target="../slideLayouts/slideLayout3.xml"/><Relationship Id="rId19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image" Target="../media/image-5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2: FUNDAMENTALS OF DIGITAL TECHNOLOGY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User interface and data compression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FD12  User interfaces and HCI design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FD13  Data compression and file formats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3" action="ppaction://hlinksldjump" tooltip="FD12  User interfaces and HCI desig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FD12  User interfaces and HCI design</a:t>
            </a:r>
            <a:endParaRPr lang="en-US" sz="13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4" action="ppaction://hlinksldjump" tooltip="FD13  Data compression and file forma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FD13  Data compression and file formats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FD12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features of a good user interface; Describe the main features of WIMP (graphical), command line and forms dialogue interfaces; Evaluate WIMP, command line and forms dialogue interfaces for given users and tasks; Describe how text, sound and video can be input using personal computers, laptops, tablets and smartphones; Describe other interfaces (voice, touch, biometric, menu-driven) and principles of HCI design, including accessibility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FD13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Explain the need for data compression; Distinguish between lossy and lossless compression and give appropriate uses of each; Describe run-length encoding (RLE) and dictionary-based compression and apply them to simple data; Describe how zipping is used to compress data; Evaluate common data file formats: txt, wav, bitmap, JPEG, MPEG and GIF; Calculate uncompressed file sizes and compression ratios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2: FUNDAMENTALS OF DIGITAL TECHNOLOGY  ·  FD12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User interfaces and HCI design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the qualities of a good user interface and apply HCI principles such as consistency and feedback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Compare WIMP, command line and forms dialogue interfaces and justify a choice for given users and contexts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text, sound and video are input on PCs, laptops, tablets and smartphones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interfaces can be made accessible to users with a range of needs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What makes a good user interface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makes a good user interface?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Graphical user interface (WIMP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Graphical user interface (WIMP)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WIMP: advantages and disadvantag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WIMP: advantages and disadvantages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Command line interface (CLI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Command line interface (CLI)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324612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A tiny command interpreter in C#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tiny command interpreter in C#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Forms dialogue interfa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Forms dialogue interface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Comparing the three main interfac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Comparing the three main interfaces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Other interfac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Other interfaces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Inputting text, sound and vide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Inputting text, sound and video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603504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HCI design princip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HCI design principles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603504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Accessi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Accessibility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Worked scenario: choosing an interfa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scenario: choosing an interface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5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Six types of user interface with an example user for each, and the key HCI design principl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Six types of user interface with an example user for each, and the key HCI design principles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makes a good user interface?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221C"/>
                </a:solidFill>
              </a:rPr>
              <a:t>The user interface is everything through which a person and a computer exchange information: what they see, hear and touch, and how they give commands.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221C"/>
                </a:solidFill>
              </a:rPr>
              <a:t>Simple: clear, uncluttered and easy to learn, balancing functionality against simplicity so nothing is ambiguous.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221C"/>
                </a:solidFill>
              </a:rPr>
              <a:t>Intuitive and consistent: controls behave as expected and the same way throughout, so learning transfers to new tasks.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221C"/>
                </a:solidFill>
              </a:rPr>
              <a:t>Responsive: keeps up with the user and gives feedback on its status, e.g. a progress bar or spinning icon.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221C"/>
                </a:solidFill>
              </a:rPr>
              <a:t>Forgiving: mistakes are easy to reverse (undo, cancel, confirm before delete) and help is available.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221C"/>
                </a:solidFill>
              </a:rPr>
              <a:t>Attractive: a pleasing layout, typography and colour scheme improves the user experience.</a:t>
            </a:r>
            <a:endParaRPr lang="en-US" sz="14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Graphical user interface (WIMP)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Windows: rectangular areas of the screen in which applications or documents run, so several can be open at once.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Icons: small pictures representing applications, files, folders or devices.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Menus: lists of options the user chooses from (drop-down, pop-up or ribbon).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Pointer: an arrow moved by a mouse, trackpad or finger to point at and select items.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Used by Windows, macOS, Android and iOS, often combined with touch input.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WIMP: advantages and disadvantages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800600"/>
                <a:gridCol w="3429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Disadvantages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Intuitive: users recognise options rather than recall commands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Needs more RAM than other interfaces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Easy to navigate with little training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Uses more storage space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Easy to move data between applications (copy and paste, drag and drop)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Needs a more powerful processor and a good display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Help for novices and shortcut keys for experts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Takes programmers longer to develop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WYSIWYG: see the result before printing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Repetitive tasks can be slow with mouse clicks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0" grpId="0">
        <p:bldAsOne/>
      </p:bldGraphic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Command line interface (CLI)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user types text commands at a prompt; the operating system recognises a fixed set of commands with an exact syntax.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Switches (parameters) after the command modify what it does, e.g. dir /s in Windows lists files in all subfolders too.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Advantages: little processing power, memory or display quality needed; very fast for experts; commands can be scripted to automate tasks.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Disadvantages: commands must be learned and typed precisely; few clues for beginners; a mistyped command can delete data.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Used today mainly by network managers, system administrators and programmers.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 tiny command interpreter in C#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program only recognises exact commands, just like a real command line.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Try 'list' and then 'List' – the second fails, which shows why CLI users must know the precise syntax.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A tiny command interpreter in C#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files = { "timetable.docx", "rota.xlsx" 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Console.Write("&gt; 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command = Console.ReadLine() ?? "";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(command)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"list":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foreach (string f in files) Console.WriteLine(f);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"count":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Console.WriteLine(files.Length + " files");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Console.WriteLine("'" + command + "' is not recognised");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Forms dialogue interface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user completes a structured form on screen using text boxes, drop-down lists, check boxes and radio buttons.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Common online: booking a holiday, ordering a takeaway, applying for a provisional driving licence.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Advantages: easy for beginners; logical layout; few commands to learn; little processing power; data can be validated as it is entered.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Disadvantages: poorly designed forms are slow; only the options provided can be chosen; tedious for experienced users.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Good forms group related fields, mark compulsory fields, use sensible defaults and give clear error messages.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Comparing the three main interfaces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11559"/>
                <a:gridCol w="2267339"/>
                <a:gridCol w="1511559"/>
                <a:gridCol w="293914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WIMP / GUI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Command line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Forms dialogue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Ease for beginners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Speed for experts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Low to medium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Resources needed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Flexibility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Very high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Limited to options given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Input errors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Few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Many, if mistyped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Reduced by validation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Typical user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General office or home user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Network technician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Member of the public booking online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5" grpId="0">
        <p:bldAsOne/>
      </p:bldGraphic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Other interfaces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70021"/>
                <a:gridCol w="3705726"/>
                <a:gridCol w="375385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Interface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Advantage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Disadvantage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Menu-driven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Easy to learn; limits choices so fewer errors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Deep menus are slow; restricted options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Voice (dialogue)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Hands-free; faster than typing; helps users with dyslexia or limited mobility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Background noise, accents and homophones (there/their) cause errors; privacy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Touch-sensitive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Very intuitive; no separate keyboard or mouse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Small targets hard to select; screens get dirty or scratched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Biometric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Unique to the person; nothing to forget or lose; hard to forge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Expensive; stored biometric data raises privacy concerns; some features change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Natural language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 commands to learn; flexible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Language is ambiguous and can be misinterpreted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6" grpId="0">
        <p:bldAsOne/>
      </p:bldGraphic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Inputting text, sound and video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84094"/>
                <a:gridCol w="3146612"/>
                <a:gridCol w="2033195"/>
                <a:gridCol w="256569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Device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Text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Sound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Video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Desktop PC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Full-size keyboard; scanner with OCR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Plug-in or headset microphone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USB webcam; video capture card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Laptop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Built-in keyboard and trackpad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Built-in microphone array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Built-in webcam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Tablet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On-screen keyboard, stylus handwriting recognition, dictation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Built-in microphones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Front and rear cameras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Smartphone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On-screen keyboard, predictive text, swipe typing, speech-to-text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Microphones, voice notes, voice assistants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High-resolution cameras recording to compressed video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7" grpId="0">
        <p:bldAsOne/>
      </p:bldGraphic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HCI design principles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Consistency: the same layout, colours, terminology and controls throughout, so users can transfer what they learn.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Feedback: confirm every action (a sound, progress bar or message) so users know what has happened.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Minimise memory load: recognition rather than recall – show options rather than requiring users to remember them.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Error prevention and recovery: confirm destructive actions, validate input, offer undo and clear error messages.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Suit the user: consider age, experience, the task, the environment and the device.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Accessibility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Visual impairment: screen readers, alt text for images, high contrast, resizable text, colour never the only cue.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Hearing impairment: captions and subtitles, visual alerts instead of sounds.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Motor impairment: keyboard-only navigation, large targets, voice control, switch access.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Cognitive needs: simple language, clear structure, consistent navigation, enough time to complete tasks.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Accessible design benefits everyone and helps organisations meet their duties under disability discrimination law (in Northern Ireland, the Disability Discrimination Act 1995 as amended).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scenario: choosing an interface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305331"/>
                <a:gridCol w="1618938"/>
                <a:gridCol w="330533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User and task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Best interface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Justification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Network technician configuring 50 switches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Command line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Commands can be scripted and repeated quickly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Visitor paying for parking in Belfast city centre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Menu-driven touch screen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 training, few options, quick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Surgeon checking notes during an operation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Voice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Hands are busy and must stay sterile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Parent booking a Saturday leisure-centre swim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Forms dialogue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Guided, validated input with no commands to learn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Pupil editing a school newsletter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WIMP / GUI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Visual layout, drag and drop, WYSIWYG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Staff unlocking a pharmacy drugs cabinet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Biometric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Identity tied to the person; no shared codes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20" grpId="0">
        <p:bldAsOne/>
      </p:bldGraphic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might an experienced programmer prefer a command line interface to a GUI?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has more colourful icons</a:t>
            </a:r>
            <a:endParaRPr lang="en-US" sz="125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is easier for beginners</a:t>
            </a:r>
            <a:endParaRPr lang="en-US" sz="125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Knowing the commands, they can work faster and automate tasks with scripts</a:t>
            </a:r>
            <a:endParaRPr lang="en-US" sz="125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needs a more powerful processor</a:t>
            </a:r>
            <a:endParaRPr lang="en-US" sz="125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Knowing the commands, they can work faster and automate tasks with scripts  –  Experts who know the commands work faster at a CLI and can script repetitive jobs.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WIMP stand for?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Windows, icons, menus, pointer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Web, internet, mail, protocol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Wireless, input, memory, processor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Windows, input, mouse, printer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Windows, icons, menus, pointer  –  These are the four elements of a graphical user interface.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an advantage of a forms dialogue interface?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is the fastest interface for experts</a:t>
            </a:r>
            <a:endParaRPr lang="en-US" sz="14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Data can be validated as it is entered</a:t>
            </a:r>
            <a:endParaRPr lang="en-US" sz="14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offers unlimited options</a:t>
            </a:r>
            <a:endParaRPr lang="en-US" sz="14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needs no screen</a:t>
            </a:r>
            <a:endParaRPr lang="en-US" sz="14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Data can be validated as it is entered  –  Each field can be checked on entry, reducing errors.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HCI principle does 'recognition rather than recall' support?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Feedback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Consistency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Error recovery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Minimising memory load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Minimising memory load  –  Users choose from visible options rather than remembering commands.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feature best helps a deaf user watching a training video?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Alt text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High contrast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Captions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Voice control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Captions  –  Captions present the audio as text.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drawback of a GUI?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Hard for beginners</a:t>
            </a:r>
            <a:endParaRPr lang="en-US" sz="16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Requires memorising syntax</a:t>
            </a:r>
            <a:endParaRPr lang="en-US" sz="16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Cannot display images</a:t>
            </a:r>
            <a:endParaRPr lang="en-US" sz="16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Needs more memory and processing power</a:t>
            </a:r>
            <a:endParaRPr lang="en-US" sz="16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2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Needs more memory and processing power  –  Graphics need more RAM, storage and processing.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spinning wheel appears while a file uploads. Which quality of a good interface does this show?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Responsive feedback</a:t>
            </a:r>
            <a:endParaRPr lang="en-US" sz="16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Biometric security</a:t>
            </a:r>
            <a:endParaRPr lang="en-US" sz="16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Consistency of colour</a:t>
            </a:r>
            <a:endParaRPr lang="en-US" sz="16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Forgiveness</a:t>
            </a:r>
            <a:endParaRPr lang="en-US" sz="16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Responsive feedback  –  The interface tells the user its current status.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input method lets a smartphone user enter text without typing?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Webcam</a:t>
            </a:r>
            <a:endParaRPr lang="en-US" sz="160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Speech-to-text dictation</a:t>
            </a:r>
            <a:endParaRPr lang="en-US" sz="160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Trackpad</a:t>
            </a:r>
            <a:endParaRPr lang="en-US" sz="160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Scanner</a:t>
            </a:r>
            <a:endParaRPr lang="en-US" sz="160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Speech-to-text dictation  –  Speech recognition converts spoken words into text.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interface is most suitable for a surgeon who must keep their hands sterile?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Command line</a:t>
            </a:r>
            <a:endParaRPr lang="en-US" sz="160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Forms dialogue</a:t>
            </a:r>
            <a:endParaRPr lang="en-US" sz="160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Voice</a:t>
            </a:r>
            <a:endParaRPr lang="en-US" sz="160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Touch screen</a:t>
            </a:r>
            <a:endParaRPr lang="en-US" sz="160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Voice  –  Voice control is hands-free.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Knowing the commands, they can work faster and automate tasks with scripts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Experts who know the commands work faster at a CLI and can script repetitive jobs.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Windows, icons, menus, pointer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These are the four elements of a graphical user interface.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Data can be validated as it is entered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Each field can be checked on entry, reducing errors.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Minimising memory load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Users choose from visible options rather than remembering commands.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Captions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Captions present the audio as text.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Needs more memory and processing power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Graphics need more RAM, storage and processing.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Responsive feedback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interface tells the user its current status.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Speech-to-text dictation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Speech recognition converts spoken words into text.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Voice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Voice control is hands-free.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0" grpId="0">
        <p:bldAsOne/>
      </p:bldGraphic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2: FUNDAMENTALS OF DIGITAL TECHNOLOGY  ·  FD13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Data compression and file formats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data is compressed and compare lossy and lossless compression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Apply run-length encoding and dictionary-based compression to simple examples and calculate the saving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Calculate the size of a bitmap image and a compression ratio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Choose and justify a file format and compression method for a given file and purpose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Why compress data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compress data?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Worked example: a bitmap phot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a bitmap photo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Lossy and lossl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Lossy and lossless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How lossy compression decides what to remov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lossy compression decides what to remove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Run-length encoding (RLE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Run-length encoding (RLE)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Worked example: RLE on a pixel row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RLE on a pixel row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Dictionary-based compre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Dictionary-based compression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Worked example: dictionary compre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dictionary compression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Zipp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Zipping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Common file forma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Common file formats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Images: bitmap, GIF and JPE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Images: bitmap, GIF and JPEG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Sound and vide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Sound and video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Choosing a format and metho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Choosing a format and method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Run-length encoding of a row of pixels into 6W 3B 4W, and a comparison of lossless and lossy compression with example forma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Run-length encoding of a row of pixels into 6W 3B 4W, and a comparison of lossless and lossy compression with example formats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compress data?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Compression encodes data using fewer bits than the original representation.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Most files contain redundancy – the same data repeated – which can be stored more efficiently.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Reason 1: smaller files need less storage space on devices and servers.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Reason 2: smaller files take less time to upload, download or stream, and use less bandwidth.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Cost: compressing and decompressing take processing time, and lossy methods lose quality.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Compression ratio = original size ÷ compressed size (e.g. 12 MB → 3 MB gives 4 : 1).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a bitmap photo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88212"/>
                <a:gridCol w="71413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Working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Image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 × 4 inch photo of the Giant's Causeway, scanned at 300 dpi, 24-bit colour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Pixels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(6 × 300) × (4 × 300) = 1800 × 1200 = 2 160 000 pixels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Bytes per pixel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24 bits ÷ 8 = 3 bytes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Bitmap size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2 160 000 × 3 = 6 480 000 bytes ÷ 1024 ÷ 1024 ≈ 6.18 MB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Saved as JPEG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540 000 bytes, so ratio = 6 480 000 ÷ 540 000 = 12 : 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Upload at 8 Mbps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BMP: 6 480 000 × 8 = 51 840 000 bits ÷ 8 000 000 bits/s ≈ 6.5 s; JPEG: 4 320 000 bits ÷ 8 000 000 ≈ 0.5 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5" grpId="0">
        <p:bldAsOne/>
      </p:bldGraphic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Lossy and lossless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227221"/>
                <a:gridCol w="3465095"/>
                <a:gridCol w="35372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Lossless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Lossy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What happens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Redundancy is removed without losing any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judged less important is permanently removed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Restore original?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Yes, exactly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 – an approximation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Typical saving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Moderate (often about 2 : 1)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Large (10 : 1 or more)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Used for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Text, program code, spreadsheets, medical images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Photos, music, video streaming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Formats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ZIP, PNG, GIF, FLAC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JPEG, MP3, AAC, MPEG-4 video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6" grpId="0">
        <p:bldAsOne/>
      </p:bldGraphic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How lossy compression decides what to remove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Perceptual coding removes data people are unlikely to notice.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Images (JPEG): fine detail and subtle colour differences are reduced, because the eye is more sensitive to brightness than colour.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Sound (MP3): frequencies outside human hearing, and quiet sounds masked by louder ones, are removed.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Video (MPEG): only the changes between frames are stored rather than every full frame.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Higher compression gives a smaller file but lower quality; repeated lossy saving degrades quality further (generation loss).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Run-length encoding (RLE)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RLE replaces a run of identical values with a count and one copy of the value.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WWWWWWBBBWWWW (13 characters) → 6W3B4W (6 characters), a ratio of about 2.2 : 1.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Lossless and effective for long runs (simple graphics, icons), but few runs make data larger: ABCD → 1A1B1C1D.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Run-length encoding (RLE)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data = "WWWWWWBBBWWWW";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result = "";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(i &lt; data.Length)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count = 1;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(i + count &lt; data.Length &amp;&amp; data[i + count] == data[i]) count++;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result + count + data[i];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i + count;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Console.WriteLine(result);   // 6W3B4W</a:t>
            </a:r>
            <a:endParaRPr lang="en-US" sz="13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RLE on a pixel row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636044"/>
                <a:gridCol w="559355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Content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Row of a black-and-white icon (32 pixels)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 black, 16 white, 8 black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Uncompressed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BBBBBBBBWWWWWWWWWWWWWWWWBBBBBBBB = 32 characters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8B16W8B = 7 characters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Ratio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32 ÷ 7 ≈ 4.6 : 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Decompress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Read each count and repeat the value that many times – the original is restored exactly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0" grpId="0">
        <p:bldAsOne/>
      </p:bldGraphic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Dictionary-based compression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Repeated words or sequences are stored once in a dictionary and each occurrence is replaced by a short token (index).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dictionary is stored with the file, or rebuilt during decompression, so the original is restored exactly – it is lossless.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Works well on text with repeated words and patterns; more advanced forms (LZ77, LZW) are used in ZIP, GIF and PNG.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Small files may not benefit because the dictionary itself takes space.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dictionary compression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00748"/>
                <a:gridCol w="59288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Content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Original (46 characters)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red bus and the blue bus and the green bus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Dictionary (21 characters)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 the, 2 red, 3 bus, 4 and, 5 blue, 6 green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Tokens (11, one byte each)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1 2 3 4 1 5 3 4 1 6 3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Compressed size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21 + 11 = 32 bytes (spaces restored between words)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Ratio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46 ÷ 32 ≈ 1.4 : 1 – longer texts with more repetition save far more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2" grpId="0">
        <p:bldAsOne/>
      </p:bldGraphic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Zipping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Zipping is a lossless method that compresses one or more files into a single archive with a .zip extension.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Any file type can be zipped, and unzipping restores every file exactly.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Useful for email attachments, archiving old work and sending a whole folder as one file.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Large savings on uncompressed formats such as BMP, WAV and TXT.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Little further saving on JPEG, MP3 or MP4, because they are already compressed.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Common file formats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96348"/>
                <a:gridCol w="954157"/>
                <a:gridCol w="1669774"/>
                <a:gridCol w="2445026"/>
                <a:gridCol w="256429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Format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Compression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Drawback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TXT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Plain text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Any app can open it; simple data exchange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No formatting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WAV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Audio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None (usually)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High-quality recording and editing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About 10 MB per minute of CD-quality stereo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BMP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Bitmap image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Exact pixel data, editing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Very large files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GIF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Image, animation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Lossless, 256-colour palette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Logos, clipart, simple animations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Only 256 colours, poor for photos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JPEG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Image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Lossy, 24-bit colour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Photographs on the web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Loses detail; artefacts at high compression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MPEG (MP4)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Video and audio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Lossy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Streaming and distributing films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Slow to encode; quality loss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4" grpId="0">
        <p:bldAsOne/>
      </p:bldGraphic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Images: bitmap, GIF and JPEG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bitmap divides the image into pixels; each stores a colour as a binary number. Colour depth is the bits per pixel.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24-bit colour = 8 bits each for red, green and blue: 2^24 = 16 777 216 colours.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GIF stores 8 bits per pixel, each an index into a palette of 256 colours chosen from the full 24-bit range for that image.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600 × 400 image: 24-bit BMP = 720 000 bytes; 8-bit palette version = 240 000 bytes + 768-byte palette, before compression.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JPEG keeps 24-bit colour but discards detail the eye barely notices, so it suits photos with continuous shading.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Sound and video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WAV stores uncompressed samples: 44 100 samples/s × 16 bits × 2 channels × 60 s ÷ 8 = 10 584 000 bytes ≈ 10.1 MB per minute.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MP3 at 128 kbps: 128 000 × 60 ÷ 8 = 960 000 bytes per minute – a ratio of about 11 : 1.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MPEG-4 (MP4) holds compressed video and audio together in one stream with everything needed for playback.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MPEG encoding is slow but decoding is fast, so it suits video written once and watched many times (BBC iPlayer, YouTube).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Without compression, 1 s of 1920 × 1080 24-bit video at 25 frames/s would be 155 520 000 bytes.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Choosing a format and method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438400"/>
                <a:gridCol w="1447800"/>
                <a:gridCol w="4343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Choice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Reason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C# source 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TXT, zipped if sent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changed character breaks the program; zip is lossless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Holiday photo for social media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JPEG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Small file; quality loss not noticeable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Club crest with flat colours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GIF (or PNG)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Few colours, sharp edges, lossless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Hospital X-ray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Lossless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Lost detail could affect diagnosis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Podcast recording before editing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WAV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Full quality while editing; compress to MP3 afterwards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School concert video for parents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MP4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Large saving makes streaming practical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7" grpId="0">
        <p:bldAsOne/>
      </p:bldGraphic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6 MB bitmap photo is saved as a 0.5 MB JPEG. What is the compression ratio?</a:t>
            </a:r>
            <a:endParaRPr lang="en-US" sz="17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 : 1</a:t>
            </a:r>
            <a:endParaRPr lang="en-US" sz="16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6 : 1</a:t>
            </a:r>
            <a:endParaRPr lang="en-US" sz="16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12 : 1</a:t>
            </a:r>
            <a:endParaRPr lang="en-US" sz="16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 : 12</a:t>
            </a:r>
            <a:endParaRPr lang="en-US" sz="16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12 : 1  –  Ratio = original ÷ compressed = 6 ÷ 0.5 = 12, written 12 : 1.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file should use lossless compression?</a:t>
            </a:r>
            <a:endParaRPr lang="en-US" sz="17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holiday photo</a:t>
            </a:r>
            <a:endParaRPr lang="en-US" sz="160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C# program</a:t>
            </a:r>
            <a:endParaRPr lang="en-US" sz="160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streamed film</a:t>
            </a:r>
            <a:endParaRPr lang="en-US" sz="160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podcast</a:t>
            </a:r>
            <a:endParaRPr lang="en-US" sz="160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A C# program  –  Every character must be exact or the program will not work.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AAAABBBCCD in RLE?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4A3B2C1D</a:t>
            </a:r>
            <a:endParaRPr lang="en-US" sz="160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A4B3C2D1</a:t>
            </a:r>
            <a:endParaRPr lang="en-US" sz="160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4A3B2CD</a:t>
            </a:r>
            <a:endParaRPr lang="en-US" sz="160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ABCD4321</a:t>
            </a:r>
            <a:endParaRPr lang="en-US" sz="160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4A3B2C1D  –  Count then value for each run.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format uses lossy compression?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ZIP</a:t>
            </a:r>
            <a:endParaRPr lang="en-US" sz="160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GIF</a:t>
            </a:r>
            <a:endParaRPr lang="en-US" sz="160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BMP</a:t>
            </a:r>
            <a:endParaRPr lang="en-US" sz="160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JPEG</a:t>
            </a:r>
            <a:endParaRPr lang="en-US" sz="160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5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JPEG  –  JPEG removes fine detail the eye barely notices.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How many colours can 24-bit colour represent?</a:t>
            </a:r>
            <a:endParaRPr lang="en-US" sz="17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24</a:t>
            </a:r>
            <a:endParaRPr lang="en-US" sz="160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256</a:t>
            </a:r>
            <a:endParaRPr lang="en-US" sz="160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65 536</a:t>
            </a:r>
            <a:endParaRPr lang="en-US" sz="160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16 777 216</a:t>
            </a:r>
            <a:endParaRPr lang="en-US" sz="160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5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16 777 216  –  2^24 = 16 777 216.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data compresses best with RLE?</a:t>
            </a:r>
            <a:endParaRPr lang="en-US" sz="17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photograph of a forest</a:t>
            </a:r>
            <a:endParaRPr lang="en-US" sz="160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Random numbers</a:t>
            </a:r>
            <a:endParaRPr lang="en-US" sz="160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simple black-and-white icon</a:t>
            </a:r>
            <a:endParaRPr lang="en-US" sz="160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Encrypted data</a:t>
            </a:r>
            <a:endParaRPr lang="en-US" sz="160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A simple black-and-white icon  –  Icons have long runs of the same colour.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does zipping an MP4 file save very little space?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MP4 files cannot be zipped</a:t>
            </a:r>
            <a:endParaRPr lang="en-US" sz="160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MP4 is already compressed</a:t>
            </a:r>
            <a:endParaRPr lang="en-US" sz="160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Zipping is lossy</a:t>
            </a:r>
            <a:endParaRPr lang="en-US" sz="160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Zipping only works on text</a:t>
            </a:r>
            <a:endParaRPr lang="en-US" sz="160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The MP4 is already compressed  –  Already-compressed data has little redundancy left to remove.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format is best for a logo with five flat colours and sharp edges?</a:t>
            </a:r>
            <a:endParaRPr lang="en-US" sz="1700" dirty="0"/>
          </a:p>
        </p:txBody>
      </p:sp>
      <p:sp>
        <p:nvSpPr>
          <p:cNvPr id="7" name="trig:k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GIF</a:t>
            </a:r>
            <a:endParaRPr lang="en-US" sz="1600" dirty="0"/>
          </a:p>
        </p:txBody>
      </p:sp>
      <p:sp>
        <p:nvSpPr>
          <p:cNvPr id="8" name="on:k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WAV</a:t>
            </a:r>
            <a:endParaRPr lang="en-US" sz="1600" dirty="0"/>
          </a:p>
        </p:txBody>
      </p:sp>
      <p:sp>
        <p:nvSpPr>
          <p:cNvPr id="10" name="on:k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JPEG</a:t>
            </a:r>
            <a:endParaRPr lang="en-US" sz="1600" dirty="0"/>
          </a:p>
        </p:txBody>
      </p:sp>
      <p:sp>
        <p:nvSpPr>
          <p:cNvPr id="12" name="on:k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TXT</a:t>
            </a:r>
            <a:endParaRPr lang="en-US" sz="1600" dirty="0"/>
          </a:p>
        </p:txBody>
      </p:sp>
      <p:sp>
        <p:nvSpPr>
          <p:cNvPr id="14" name="on:k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GIF  –  GIF's lossless palette suits few colours and keeps edges sharp.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is MPEG well suited to online video services?</a:t>
            </a:r>
            <a:endParaRPr lang="en-US" sz="1700" dirty="0"/>
          </a:p>
        </p:txBody>
      </p:sp>
      <p:sp>
        <p:nvSpPr>
          <p:cNvPr id="7" name="trig:k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Video is encoded once but decoded and watched many times</a:t>
            </a:r>
            <a:endParaRPr lang="en-US" sz="1400" dirty="0"/>
          </a:p>
        </p:txBody>
      </p:sp>
      <p:sp>
        <p:nvSpPr>
          <p:cNvPr id="8" name="on:k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is lossless</a:t>
            </a:r>
            <a:endParaRPr lang="en-US" sz="1400" dirty="0"/>
          </a:p>
        </p:txBody>
      </p:sp>
      <p:sp>
        <p:nvSpPr>
          <p:cNvPr id="10" name="on:k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stores every frame in full</a:t>
            </a:r>
            <a:endParaRPr lang="en-US" sz="1400" dirty="0"/>
          </a:p>
        </p:txBody>
      </p:sp>
      <p:sp>
        <p:nvSpPr>
          <p:cNvPr id="12" name="on:k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only stores audio</a:t>
            </a:r>
            <a:endParaRPr lang="en-US" sz="1400" dirty="0"/>
          </a:p>
        </p:txBody>
      </p:sp>
      <p:sp>
        <p:nvSpPr>
          <p:cNvPr id="14" name="on:k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Video is encoded once but decoded and watched many times  –  Encoding is slow but decoding is fast, which suits content watched many times.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12 : 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Ratio = original ÷ compressed = 6 ÷ 0.5 = 12, written 12 : 1.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 C# program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Every character must be exact or the program will not work.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4A3B2C1D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Count then value for each run.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JPEG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JPEG removes fine detail the eye barely notices.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16 777 216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2^24 = 16 777 216.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A simple black-and-white icon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Icons have long runs of the same colour.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The MP4 is already compressed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Already-compressed data has little redundancy left to remove.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GIF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GIF's lossless palette suits few colours and keeps edges sharp.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Video is encoded once but decoded and watched many times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Encoding is slow but decoding is fast, which suits content watched many times.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7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interface and data compression</dc:title>
  <dc:subject>AS 2: Fundamentals of Digital Technology – User interface and data compression</dc:subject>
  <dc:creator>Digital Technology Hub</dc:creator>
  <cp:lastModifiedBy>Digital Technology Hub</cp:lastModifiedBy>
  <cp:revision>1</cp:revision>
  <dcterms:created xsi:type="dcterms:W3CDTF">2026-10-30T13:16:07Z</dcterms:created>
  <dcterms:modified xsi:type="dcterms:W3CDTF">2026-10-30T13:16:07Z</dcterms:modified>
</cp:coreProperties>
</file>