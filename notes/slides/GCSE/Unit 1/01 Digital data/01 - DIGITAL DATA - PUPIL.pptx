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4" r:id="rId7"/>
    <p:sldId id="268" r:id="rId8"/>
    <p:sldId id="271" r:id="rId9"/>
    <p:sldId id="269" r:id="rId10"/>
    <p:sldId id="272" r:id="rId11"/>
    <p:sldId id="275" r:id="rId12"/>
    <p:sldId id="278" r:id="rId13"/>
    <p:sldId id="279" r:id="rId14"/>
    <p:sldId id="281" r:id="rId15"/>
    <p:sldId id="274" r:id="rId16"/>
    <p:sldId id="293" r:id="rId17"/>
    <p:sldId id="283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1F69B"/>
    <a:srgbClr val="EAFF00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4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F6FC1D-3AA6-4545-A9DB-A6AD4B1B583A}" type="doc">
      <dgm:prSet loTypeId="urn:microsoft.com/office/officeart/2005/8/layout/pyramid1" loCatId="pyramid" qsTypeId="urn:microsoft.com/office/officeart/2005/8/quickstyle/simple1" qsCatId="simple" csTypeId="urn:microsoft.com/office/officeart/2005/8/colors/colorful1" csCatId="colorful" phldr="1"/>
      <dgm:spPr/>
    </dgm:pt>
    <dgm:pt modelId="{DFCEA6B3-56C4-4F9A-8B43-C41FCF43F685}">
      <dgm:prSet phldrT="[Text]" custT="1"/>
      <dgm:spPr/>
      <dgm:t>
        <a:bodyPr/>
        <a:lstStyle/>
        <a:p>
          <a:r>
            <a:rPr lang="en-GB" sz="1800" dirty="0" smtClean="0"/>
            <a:t>BIT</a:t>
          </a:r>
          <a:endParaRPr lang="en-GB" sz="1800" dirty="0"/>
        </a:p>
      </dgm:t>
    </dgm:pt>
    <dgm:pt modelId="{C20BC8AC-9FB4-41BF-BD77-B630105FD7F2}" type="parTrans" cxnId="{F78D8F5D-7481-4B73-B6D3-88F0064BAE17}">
      <dgm:prSet/>
      <dgm:spPr/>
      <dgm:t>
        <a:bodyPr/>
        <a:lstStyle/>
        <a:p>
          <a:endParaRPr lang="en-GB"/>
        </a:p>
      </dgm:t>
    </dgm:pt>
    <dgm:pt modelId="{12783825-B292-4366-9680-5313840BF447}" type="sibTrans" cxnId="{F78D8F5D-7481-4B73-B6D3-88F0064BAE17}">
      <dgm:prSet/>
      <dgm:spPr/>
      <dgm:t>
        <a:bodyPr/>
        <a:lstStyle/>
        <a:p>
          <a:endParaRPr lang="en-GB"/>
        </a:p>
      </dgm:t>
    </dgm:pt>
    <dgm:pt modelId="{11C0975A-C3C9-447A-A253-79AE59E715EA}">
      <dgm:prSet phldrT="[Text]"/>
      <dgm:spPr/>
      <dgm:t>
        <a:bodyPr/>
        <a:lstStyle/>
        <a:p>
          <a:r>
            <a:rPr lang="en-GB" dirty="0" smtClean="0"/>
            <a:t>Nibble</a:t>
          </a:r>
          <a:endParaRPr lang="en-GB" dirty="0"/>
        </a:p>
      </dgm:t>
    </dgm:pt>
    <dgm:pt modelId="{EF8F731D-FB29-47F8-A5E0-6F2E7D1EB6E1}" type="parTrans" cxnId="{CF07CFF6-A34E-4862-8331-7C60E72C5E1D}">
      <dgm:prSet/>
      <dgm:spPr/>
      <dgm:t>
        <a:bodyPr/>
        <a:lstStyle/>
        <a:p>
          <a:endParaRPr lang="en-GB"/>
        </a:p>
      </dgm:t>
    </dgm:pt>
    <dgm:pt modelId="{54C0337D-A951-4C59-816E-19AB62A4F8FF}" type="sibTrans" cxnId="{CF07CFF6-A34E-4862-8331-7C60E72C5E1D}">
      <dgm:prSet/>
      <dgm:spPr/>
      <dgm:t>
        <a:bodyPr/>
        <a:lstStyle/>
        <a:p>
          <a:endParaRPr lang="en-GB"/>
        </a:p>
      </dgm:t>
    </dgm:pt>
    <dgm:pt modelId="{780E1EBF-B68E-4645-AD4C-6986394B7FF8}">
      <dgm:prSet phldrT="[Text]"/>
      <dgm:spPr/>
      <dgm:t>
        <a:bodyPr/>
        <a:lstStyle/>
        <a:p>
          <a:r>
            <a:rPr lang="en-GB" dirty="0" smtClean="0"/>
            <a:t>Byte</a:t>
          </a:r>
          <a:endParaRPr lang="en-GB" dirty="0"/>
        </a:p>
      </dgm:t>
    </dgm:pt>
    <dgm:pt modelId="{BFBBCAB7-1F17-4DCE-A024-5A303B4A9857}" type="parTrans" cxnId="{B02D23F2-7746-4E46-B67A-02650178668B}">
      <dgm:prSet/>
      <dgm:spPr/>
      <dgm:t>
        <a:bodyPr/>
        <a:lstStyle/>
        <a:p>
          <a:endParaRPr lang="en-GB"/>
        </a:p>
      </dgm:t>
    </dgm:pt>
    <dgm:pt modelId="{CC6C5C28-AD7B-4471-AA50-EDEC3F808E4B}" type="sibTrans" cxnId="{B02D23F2-7746-4E46-B67A-02650178668B}">
      <dgm:prSet/>
      <dgm:spPr/>
      <dgm:t>
        <a:bodyPr/>
        <a:lstStyle/>
        <a:p>
          <a:endParaRPr lang="en-GB"/>
        </a:p>
      </dgm:t>
    </dgm:pt>
    <dgm:pt modelId="{47F60E01-DD7B-47CF-9AE8-133146B1C423}">
      <dgm:prSet phldrT="[Text]"/>
      <dgm:spPr/>
      <dgm:t>
        <a:bodyPr/>
        <a:lstStyle/>
        <a:p>
          <a:r>
            <a:rPr lang="en-GB" dirty="0" smtClean="0"/>
            <a:t>Kilobyte</a:t>
          </a:r>
          <a:endParaRPr lang="en-GB" dirty="0"/>
        </a:p>
      </dgm:t>
    </dgm:pt>
    <dgm:pt modelId="{EE0AE13E-BB4F-4CD1-A428-FCEFEA9A4535}" type="parTrans" cxnId="{F60B26A6-A538-4D47-950D-D6DB0A856DF0}">
      <dgm:prSet/>
      <dgm:spPr/>
      <dgm:t>
        <a:bodyPr/>
        <a:lstStyle/>
        <a:p>
          <a:endParaRPr lang="en-GB"/>
        </a:p>
      </dgm:t>
    </dgm:pt>
    <dgm:pt modelId="{14832E77-7094-414F-8B3E-A32BF346073D}" type="sibTrans" cxnId="{F60B26A6-A538-4D47-950D-D6DB0A856DF0}">
      <dgm:prSet/>
      <dgm:spPr/>
      <dgm:t>
        <a:bodyPr/>
        <a:lstStyle/>
        <a:p>
          <a:endParaRPr lang="en-GB"/>
        </a:p>
      </dgm:t>
    </dgm:pt>
    <dgm:pt modelId="{09E979B9-E3F9-402E-BD1F-0D1523AF2F8E}">
      <dgm:prSet phldrT="[Text]"/>
      <dgm:spPr/>
      <dgm:t>
        <a:bodyPr/>
        <a:lstStyle/>
        <a:p>
          <a:r>
            <a:rPr lang="en-GB" dirty="0" smtClean="0"/>
            <a:t>Megabyte</a:t>
          </a:r>
          <a:endParaRPr lang="en-GB" dirty="0"/>
        </a:p>
      </dgm:t>
    </dgm:pt>
    <dgm:pt modelId="{14F47AAF-6644-44E5-805B-8A13DD6A2A6B}" type="parTrans" cxnId="{E3932AB4-C0A1-4E9D-BA8E-041E94906806}">
      <dgm:prSet/>
      <dgm:spPr/>
      <dgm:t>
        <a:bodyPr/>
        <a:lstStyle/>
        <a:p>
          <a:endParaRPr lang="en-GB"/>
        </a:p>
      </dgm:t>
    </dgm:pt>
    <dgm:pt modelId="{2DAC93DA-66AB-490A-A219-FC7B0A190372}" type="sibTrans" cxnId="{E3932AB4-C0A1-4E9D-BA8E-041E94906806}">
      <dgm:prSet/>
      <dgm:spPr/>
      <dgm:t>
        <a:bodyPr/>
        <a:lstStyle/>
        <a:p>
          <a:endParaRPr lang="en-GB"/>
        </a:p>
      </dgm:t>
    </dgm:pt>
    <dgm:pt modelId="{380BCD18-A2C5-4E77-A0F9-D07FAD0D7BD5}">
      <dgm:prSet phldrT="[Text]"/>
      <dgm:spPr/>
      <dgm:t>
        <a:bodyPr/>
        <a:lstStyle/>
        <a:p>
          <a:r>
            <a:rPr lang="en-GB" dirty="0" smtClean="0"/>
            <a:t>Gigabyte</a:t>
          </a:r>
          <a:endParaRPr lang="en-GB" dirty="0"/>
        </a:p>
      </dgm:t>
    </dgm:pt>
    <dgm:pt modelId="{283C0BCD-1916-4A7B-AD7C-7F9B782590BB}" type="parTrans" cxnId="{1F2F7332-DBA4-44D8-A880-154A956A4226}">
      <dgm:prSet/>
      <dgm:spPr/>
      <dgm:t>
        <a:bodyPr/>
        <a:lstStyle/>
        <a:p>
          <a:endParaRPr lang="en-GB"/>
        </a:p>
      </dgm:t>
    </dgm:pt>
    <dgm:pt modelId="{DBC7BECA-8257-4678-8D2A-0903515324D4}" type="sibTrans" cxnId="{1F2F7332-DBA4-44D8-A880-154A956A4226}">
      <dgm:prSet/>
      <dgm:spPr/>
      <dgm:t>
        <a:bodyPr/>
        <a:lstStyle/>
        <a:p>
          <a:endParaRPr lang="en-GB"/>
        </a:p>
      </dgm:t>
    </dgm:pt>
    <dgm:pt modelId="{D6461EF4-8C8B-43D9-8F84-4FD68A9B518E}">
      <dgm:prSet phldrT="[Text]"/>
      <dgm:spPr/>
      <dgm:t>
        <a:bodyPr/>
        <a:lstStyle/>
        <a:p>
          <a:r>
            <a:rPr lang="en-GB" dirty="0" smtClean="0"/>
            <a:t>Terabyte</a:t>
          </a:r>
          <a:endParaRPr lang="en-GB" dirty="0"/>
        </a:p>
      </dgm:t>
    </dgm:pt>
    <dgm:pt modelId="{26DD5670-63D4-4BAE-A69B-27F881C10D0B}" type="parTrans" cxnId="{BEB64F76-4707-41E5-A0D5-7A6F13FBEC5B}">
      <dgm:prSet/>
      <dgm:spPr/>
      <dgm:t>
        <a:bodyPr/>
        <a:lstStyle/>
        <a:p>
          <a:endParaRPr lang="en-GB"/>
        </a:p>
      </dgm:t>
    </dgm:pt>
    <dgm:pt modelId="{623ECF93-224A-4170-A82E-5E5B031E49E6}" type="sibTrans" cxnId="{BEB64F76-4707-41E5-A0D5-7A6F13FBEC5B}">
      <dgm:prSet/>
      <dgm:spPr/>
      <dgm:t>
        <a:bodyPr/>
        <a:lstStyle/>
        <a:p>
          <a:endParaRPr lang="en-GB"/>
        </a:p>
      </dgm:t>
    </dgm:pt>
    <dgm:pt modelId="{2E4407AC-9F91-4C87-9BF3-33ECB0FBAAF7}" type="pres">
      <dgm:prSet presAssocID="{44F6FC1D-3AA6-4545-A9DB-A6AD4B1B583A}" presName="Name0" presStyleCnt="0">
        <dgm:presLayoutVars>
          <dgm:dir/>
          <dgm:animLvl val="lvl"/>
          <dgm:resizeHandles val="exact"/>
        </dgm:presLayoutVars>
      </dgm:prSet>
      <dgm:spPr/>
    </dgm:pt>
    <dgm:pt modelId="{5C968113-C444-4800-8151-4DA55FBF584A}" type="pres">
      <dgm:prSet presAssocID="{DFCEA6B3-56C4-4F9A-8B43-C41FCF43F685}" presName="Name8" presStyleCnt="0"/>
      <dgm:spPr/>
    </dgm:pt>
    <dgm:pt modelId="{AA64A8CE-6E56-4DF8-9931-38D232DEB05C}" type="pres">
      <dgm:prSet presAssocID="{DFCEA6B3-56C4-4F9A-8B43-C41FCF43F685}" presName="level" presStyleLbl="node1" presStyleIdx="0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9B962AB-9EFB-43B9-8D45-E2D46CBCED6D}" type="pres">
      <dgm:prSet presAssocID="{DFCEA6B3-56C4-4F9A-8B43-C41FCF43F685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4907DE4-C604-4658-A500-CE093A19BBEE}" type="pres">
      <dgm:prSet presAssocID="{11C0975A-C3C9-447A-A253-79AE59E715EA}" presName="Name8" presStyleCnt="0"/>
      <dgm:spPr/>
    </dgm:pt>
    <dgm:pt modelId="{6AAAC3FF-556C-496E-88B4-60123DA1DBBA}" type="pres">
      <dgm:prSet presAssocID="{11C0975A-C3C9-447A-A253-79AE59E715EA}" presName="level" presStyleLbl="node1" presStyleIdx="1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ECD6ACA-E187-4DFE-B559-E1BC6F4F5A50}" type="pres">
      <dgm:prSet presAssocID="{11C0975A-C3C9-447A-A253-79AE59E715EA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F2CC2F7-EBF0-4820-9EBC-78A3DD77BCE5}" type="pres">
      <dgm:prSet presAssocID="{780E1EBF-B68E-4645-AD4C-6986394B7FF8}" presName="Name8" presStyleCnt="0"/>
      <dgm:spPr/>
    </dgm:pt>
    <dgm:pt modelId="{46605371-A488-412B-AA0A-6A2C7874EF03}" type="pres">
      <dgm:prSet presAssocID="{780E1EBF-B68E-4645-AD4C-6986394B7FF8}" presName="level" presStyleLbl="node1" presStyleIdx="2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BF07DD6-50A6-4B2E-9569-87D60ABC4B1C}" type="pres">
      <dgm:prSet presAssocID="{780E1EBF-B68E-4645-AD4C-6986394B7FF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0A54E26-6A1D-4188-BD8A-6A6DF94FC766}" type="pres">
      <dgm:prSet presAssocID="{47F60E01-DD7B-47CF-9AE8-133146B1C423}" presName="Name8" presStyleCnt="0"/>
      <dgm:spPr/>
    </dgm:pt>
    <dgm:pt modelId="{4951FA57-91DF-459F-B56B-0CEC0A1EC819}" type="pres">
      <dgm:prSet presAssocID="{47F60E01-DD7B-47CF-9AE8-133146B1C423}" presName="level" presStyleLbl="node1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71B9D27-29C3-46F7-A527-078689950F8F}" type="pres">
      <dgm:prSet presAssocID="{47F60E01-DD7B-47CF-9AE8-133146B1C423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3B6B920-5650-45B3-B8F8-E0AACC35A0C4}" type="pres">
      <dgm:prSet presAssocID="{09E979B9-E3F9-402E-BD1F-0D1523AF2F8E}" presName="Name8" presStyleCnt="0"/>
      <dgm:spPr/>
    </dgm:pt>
    <dgm:pt modelId="{43D4A03B-73E6-47B2-8B89-879FC6B36E61}" type="pres">
      <dgm:prSet presAssocID="{09E979B9-E3F9-402E-BD1F-0D1523AF2F8E}" presName="level" presStyleLbl="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4A1DC30-06F2-4274-AA42-002F3EA43506}" type="pres">
      <dgm:prSet presAssocID="{09E979B9-E3F9-402E-BD1F-0D1523AF2F8E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B505F50-E30B-4A9B-B266-DD1F6FE2DD99}" type="pres">
      <dgm:prSet presAssocID="{380BCD18-A2C5-4E77-A0F9-D07FAD0D7BD5}" presName="Name8" presStyleCnt="0"/>
      <dgm:spPr/>
    </dgm:pt>
    <dgm:pt modelId="{BF3445C8-D70F-4A34-AA31-4EEF0C0D923A}" type="pres">
      <dgm:prSet presAssocID="{380BCD18-A2C5-4E77-A0F9-D07FAD0D7BD5}" presName="level" presStyleLbl="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8B8FE40-F9BC-4E77-A71B-E942917B47BD}" type="pres">
      <dgm:prSet presAssocID="{380BCD18-A2C5-4E77-A0F9-D07FAD0D7BD5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381CAFD-96E4-47A1-82FF-A338F29E7069}" type="pres">
      <dgm:prSet presAssocID="{D6461EF4-8C8B-43D9-8F84-4FD68A9B518E}" presName="Name8" presStyleCnt="0"/>
      <dgm:spPr/>
    </dgm:pt>
    <dgm:pt modelId="{DFA18AAC-024A-4871-9BD2-CF1360C567C3}" type="pres">
      <dgm:prSet presAssocID="{D6461EF4-8C8B-43D9-8F84-4FD68A9B518E}" presName="level" presStyleLbl="node1" presStyleIdx="6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4937426-7804-4F00-A04B-6161222CBEB1}" type="pres">
      <dgm:prSet presAssocID="{D6461EF4-8C8B-43D9-8F84-4FD68A9B518E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2659CA0A-A840-40D5-8A7F-43D7C5B288C4}" type="presOf" srcId="{DFCEA6B3-56C4-4F9A-8B43-C41FCF43F685}" destId="{AA64A8CE-6E56-4DF8-9931-38D232DEB05C}" srcOrd="0" destOrd="0" presId="urn:microsoft.com/office/officeart/2005/8/layout/pyramid1"/>
    <dgm:cxn modelId="{01F29879-801D-4717-8B44-E81F3C9B1BEA}" type="presOf" srcId="{47F60E01-DD7B-47CF-9AE8-133146B1C423}" destId="{4951FA57-91DF-459F-B56B-0CEC0A1EC819}" srcOrd="0" destOrd="0" presId="urn:microsoft.com/office/officeart/2005/8/layout/pyramid1"/>
    <dgm:cxn modelId="{15DE3957-439F-43FF-9302-25FED50696E5}" type="presOf" srcId="{09E979B9-E3F9-402E-BD1F-0D1523AF2F8E}" destId="{E4A1DC30-06F2-4274-AA42-002F3EA43506}" srcOrd="1" destOrd="0" presId="urn:microsoft.com/office/officeart/2005/8/layout/pyramid1"/>
    <dgm:cxn modelId="{9B067EE2-F076-4D51-AD42-33DAFAB52EBD}" type="presOf" srcId="{11C0975A-C3C9-447A-A253-79AE59E715EA}" destId="{AECD6ACA-E187-4DFE-B559-E1BC6F4F5A50}" srcOrd="1" destOrd="0" presId="urn:microsoft.com/office/officeart/2005/8/layout/pyramid1"/>
    <dgm:cxn modelId="{C6BE93DE-F766-47D2-851C-3B49ACF7F8D7}" type="presOf" srcId="{D6461EF4-8C8B-43D9-8F84-4FD68A9B518E}" destId="{74937426-7804-4F00-A04B-6161222CBEB1}" srcOrd="1" destOrd="0" presId="urn:microsoft.com/office/officeart/2005/8/layout/pyramid1"/>
    <dgm:cxn modelId="{B1D0D218-EFEB-4C94-97BB-2E57A407352A}" type="presOf" srcId="{380BCD18-A2C5-4E77-A0F9-D07FAD0D7BD5}" destId="{BF3445C8-D70F-4A34-AA31-4EEF0C0D923A}" srcOrd="0" destOrd="0" presId="urn:microsoft.com/office/officeart/2005/8/layout/pyramid1"/>
    <dgm:cxn modelId="{E96C88A6-6749-4525-A168-DE55C9E4E7F0}" type="presOf" srcId="{47F60E01-DD7B-47CF-9AE8-133146B1C423}" destId="{471B9D27-29C3-46F7-A527-078689950F8F}" srcOrd="1" destOrd="0" presId="urn:microsoft.com/office/officeart/2005/8/layout/pyramid1"/>
    <dgm:cxn modelId="{CF07CFF6-A34E-4862-8331-7C60E72C5E1D}" srcId="{44F6FC1D-3AA6-4545-A9DB-A6AD4B1B583A}" destId="{11C0975A-C3C9-447A-A253-79AE59E715EA}" srcOrd="1" destOrd="0" parTransId="{EF8F731D-FB29-47F8-A5E0-6F2E7D1EB6E1}" sibTransId="{54C0337D-A951-4C59-816E-19AB62A4F8FF}"/>
    <dgm:cxn modelId="{F60B26A6-A538-4D47-950D-D6DB0A856DF0}" srcId="{44F6FC1D-3AA6-4545-A9DB-A6AD4B1B583A}" destId="{47F60E01-DD7B-47CF-9AE8-133146B1C423}" srcOrd="3" destOrd="0" parTransId="{EE0AE13E-BB4F-4CD1-A428-FCEFEA9A4535}" sibTransId="{14832E77-7094-414F-8B3E-A32BF346073D}"/>
    <dgm:cxn modelId="{1F2F7332-DBA4-44D8-A880-154A956A4226}" srcId="{44F6FC1D-3AA6-4545-A9DB-A6AD4B1B583A}" destId="{380BCD18-A2C5-4E77-A0F9-D07FAD0D7BD5}" srcOrd="5" destOrd="0" parTransId="{283C0BCD-1916-4A7B-AD7C-7F9B782590BB}" sibTransId="{DBC7BECA-8257-4678-8D2A-0903515324D4}"/>
    <dgm:cxn modelId="{B02D23F2-7746-4E46-B67A-02650178668B}" srcId="{44F6FC1D-3AA6-4545-A9DB-A6AD4B1B583A}" destId="{780E1EBF-B68E-4645-AD4C-6986394B7FF8}" srcOrd="2" destOrd="0" parTransId="{BFBBCAB7-1F17-4DCE-A024-5A303B4A9857}" sibTransId="{CC6C5C28-AD7B-4471-AA50-EDEC3F808E4B}"/>
    <dgm:cxn modelId="{380AC301-A2EF-4AF5-8241-8E513ECA7E1D}" type="presOf" srcId="{780E1EBF-B68E-4645-AD4C-6986394B7FF8}" destId="{46605371-A488-412B-AA0A-6A2C7874EF03}" srcOrd="0" destOrd="0" presId="urn:microsoft.com/office/officeart/2005/8/layout/pyramid1"/>
    <dgm:cxn modelId="{97D1DEC5-2257-4A19-91DF-3488E8FD8026}" type="presOf" srcId="{11C0975A-C3C9-447A-A253-79AE59E715EA}" destId="{6AAAC3FF-556C-496E-88B4-60123DA1DBBA}" srcOrd="0" destOrd="0" presId="urn:microsoft.com/office/officeart/2005/8/layout/pyramid1"/>
    <dgm:cxn modelId="{EA368815-2290-4271-AC99-327FADB3DCB5}" type="presOf" srcId="{DFCEA6B3-56C4-4F9A-8B43-C41FCF43F685}" destId="{E9B962AB-9EFB-43B9-8D45-E2D46CBCED6D}" srcOrd="1" destOrd="0" presId="urn:microsoft.com/office/officeart/2005/8/layout/pyramid1"/>
    <dgm:cxn modelId="{BEB64F76-4707-41E5-A0D5-7A6F13FBEC5B}" srcId="{44F6FC1D-3AA6-4545-A9DB-A6AD4B1B583A}" destId="{D6461EF4-8C8B-43D9-8F84-4FD68A9B518E}" srcOrd="6" destOrd="0" parTransId="{26DD5670-63D4-4BAE-A69B-27F881C10D0B}" sibTransId="{623ECF93-224A-4170-A82E-5E5B031E49E6}"/>
    <dgm:cxn modelId="{E3932AB4-C0A1-4E9D-BA8E-041E94906806}" srcId="{44F6FC1D-3AA6-4545-A9DB-A6AD4B1B583A}" destId="{09E979B9-E3F9-402E-BD1F-0D1523AF2F8E}" srcOrd="4" destOrd="0" parTransId="{14F47AAF-6644-44E5-805B-8A13DD6A2A6B}" sibTransId="{2DAC93DA-66AB-490A-A219-FC7B0A190372}"/>
    <dgm:cxn modelId="{F78D8F5D-7481-4B73-B6D3-88F0064BAE17}" srcId="{44F6FC1D-3AA6-4545-A9DB-A6AD4B1B583A}" destId="{DFCEA6B3-56C4-4F9A-8B43-C41FCF43F685}" srcOrd="0" destOrd="0" parTransId="{C20BC8AC-9FB4-41BF-BD77-B630105FD7F2}" sibTransId="{12783825-B292-4366-9680-5313840BF447}"/>
    <dgm:cxn modelId="{FE17177C-8CDA-4F40-9C19-8B6963CB8879}" type="presOf" srcId="{380BCD18-A2C5-4E77-A0F9-D07FAD0D7BD5}" destId="{78B8FE40-F9BC-4E77-A71B-E942917B47BD}" srcOrd="1" destOrd="0" presId="urn:microsoft.com/office/officeart/2005/8/layout/pyramid1"/>
    <dgm:cxn modelId="{DE80D93B-6896-406A-8A8E-F3B1139B07B3}" type="presOf" srcId="{780E1EBF-B68E-4645-AD4C-6986394B7FF8}" destId="{0BF07DD6-50A6-4B2E-9569-87D60ABC4B1C}" srcOrd="1" destOrd="0" presId="urn:microsoft.com/office/officeart/2005/8/layout/pyramid1"/>
    <dgm:cxn modelId="{DDF65E6C-9ABA-4CB9-A189-AA2495196512}" type="presOf" srcId="{44F6FC1D-3AA6-4545-A9DB-A6AD4B1B583A}" destId="{2E4407AC-9F91-4C87-9BF3-33ECB0FBAAF7}" srcOrd="0" destOrd="0" presId="urn:microsoft.com/office/officeart/2005/8/layout/pyramid1"/>
    <dgm:cxn modelId="{8A2A8904-2BE4-464F-A9BD-32BA672CCBC5}" type="presOf" srcId="{09E979B9-E3F9-402E-BD1F-0D1523AF2F8E}" destId="{43D4A03B-73E6-47B2-8B89-879FC6B36E61}" srcOrd="0" destOrd="0" presId="urn:microsoft.com/office/officeart/2005/8/layout/pyramid1"/>
    <dgm:cxn modelId="{CD0B402E-F621-46E0-A2A5-10226AB4424D}" type="presOf" srcId="{D6461EF4-8C8B-43D9-8F84-4FD68A9B518E}" destId="{DFA18AAC-024A-4871-9BD2-CF1360C567C3}" srcOrd="0" destOrd="0" presId="urn:microsoft.com/office/officeart/2005/8/layout/pyramid1"/>
    <dgm:cxn modelId="{8C433675-9658-499B-BF70-9B883370E11F}" type="presParOf" srcId="{2E4407AC-9F91-4C87-9BF3-33ECB0FBAAF7}" destId="{5C968113-C444-4800-8151-4DA55FBF584A}" srcOrd="0" destOrd="0" presId="urn:microsoft.com/office/officeart/2005/8/layout/pyramid1"/>
    <dgm:cxn modelId="{92CC7C2F-97AA-4158-AB4F-E5BD97B01A6B}" type="presParOf" srcId="{5C968113-C444-4800-8151-4DA55FBF584A}" destId="{AA64A8CE-6E56-4DF8-9931-38D232DEB05C}" srcOrd="0" destOrd="0" presId="urn:microsoft.com/office/officeart/2005/8/layout/pyramid1"/>
    <dgm:cxn modelId="{D2A3B0D5-6978-4932-BA22-42E508CF9E5A}" type="presParOf" srcId="{5C968113-C444-4800-8151-4DA55FBF584A}" destId="{E9B962AB-9EFB-43B9-8D45-E2D46CBCED6D}" srcOrd="1" destOrd="0" presId="urn:microsoft.com/office/officeart/2005/8/layout/pyramid1"/>
    <dgm:cxn modelId="{4423D9C2-B12B-4EF6-884F-0D1AC5489555}" type="presParOf" srcId="{2E4407AC-9F91-4C87-9BF3-33ECB0FBAAF7}" destId="{84907DE4-C604-4658-A500-CE093A19BBEE}" srcOrd="1" destOrd="0" presId="urn:microsoft.com/office/officeart/2005/8/layout/pyramid1"/>
    <dgm:cxn modelId="{1985F76F-9512-4429-A58C-59B4FD5A7469}" type="presParOf" srcId="{84907DE4-C604-4658-A500-CE093A19BBEE}" destId="{6AAAC3FF-556C-496E-88B4-60123DA1DBBA}" srcOrd="0" destOrd="0" presId="urn:microsoft.com/office/officeart/2005/8/layout/pyramid1"/>
    <dgm:cxn modelId="{CC462B44-0C55-40CC-BDAA-399134136B4A}" type="presParOf" srcId="{84907DE4-C604-4658-A500-CE093A19BBEE}" destId="{AECD6ACA-E187-4DFE-B559-E1BC6F4F5A50}" srcOrd="1" destOrd="0" presId="urn:microsoft.com/office/officeart/2005/8/layout/pyramid1"/>
    <dgm:cxn modelId="{0B292CB7-3C5A-459D-94D8-9B2A602457B9}" type="presParOf" srcId="{2E4407AC-9F91-4C87-9BF3-33ECB0FBAAF7}" destId="{3F2CC2F7-EBF0-4820-9EBC-78A3DD77BCE5}" srcOrd="2" destOrd="0" presId="urn:microsoft.com/office/officeart/2005/8/layout/pyramid1"/>
    <dgm:cxn modelId="{8BFF381B-B8D3-4A1B-A8F1-8F7FACE5CA33}" type="presParOf" srcId="{3F2CC2F7-EBF0-4820-9EBC-78A3DD77BCE5}" destId="{46605371-A488-412B-AA0A-6A2C7874EF03}" srcOrd="0" destOrd="0" presId="urn:microsoft.com/office/officeart/2005/8/layout/pyramid1"/>
    <dgm:cxn modelId="{1EC9A227-70AF-4AA4-A389-50C3DA626AC3}" type="presParOf" srcId="{3F2CC2F7-EBF0-4820-9EBC-78A3DD77BCE5}" destId="{0BF07DD6-50A6-4B2E-9569-87D60ABC4B1C}" srcOrd="1" destOrd="0" presId="urn:microsoft.com/office/officeart/2005/8/layout/pyramid1"/>
    <dgm:cxn modelId="{E714B56A-C6D9-4143-A971-6932B4A39480}" type="presParOf" srcId="{2E4407AC-9F91-4C87-9BF3-33ECB0FBAAF7}" destId="{00A54E26-6A1D-4188-BD8A-6A6DF94FC766}" srcOrd="3" destOrd="0" presId="urn:microsoft.com/office/officeart/2005/8/layout/pyramid1"/>
    <dgm:cxn modelId="{4C78438D-906E-46A3-A9B8-ABA07E063546}" type="presParOf" srcId="{00A54E26-6A1D-4188-BD8A-6A6DF94FC766}" destId="{4951FA57-91DF-459F-B56B-0CEC0A1EC819}" srcOrd="0" destOrd="0" presId="urn:microsoft.com/office/officeart/2005/8/layout/pyramid1"/>
    <dgm:cxn modelId="{C8FE9E08-7C07-4EE1-B2D7-5EBD28EC694E}" type="presParOf" srcId="{00A54E26-6A1D-4188-BD8A-6A6DF94FC766}" destId="{471B9D27-29C3-46F7-A527-078689950F8F}" srcOrd="1" destOrd="0" presId="urn:microsoft.com/office/officeart/2005/8/layout/pyramid1"/>
    <dgm:cxn modelId="{B2585292-136B-4914-82DA-625F588A2736}" type="presParOf" srcId="{2E4407AC-9F91-4C87-9BF3-33ECB0FBAAF7}" destId="{23B6B920-5650-45B3-B8F8-E0AACC35A0C4}" srcOrd="4" destOrd="0" presId="urn:microsoft.com/office/officeart/2005/8/layout/pyramid1"/>
    <dgm:cxn modelId="{47977573-D9A7-475B-BFDA-617BDC36956D}" type="presParOf" srcId="{23B6B920-5650-45B3-B8F8-E0AACC35A0C4}" destId="{43D4A03B-73E6-47B2-8B89-879FC6B36E61}" srcOrd="0" destOrd="0" presId="urn:microsoft.com/office/officeart/2005/8/layout/pyramid1"/>
    <dgm:cxn modelId="{E22DBA64-FD6F-474D-A7CB-9F45E2AA39EB}" type="presParOf" srcId="{23B6B920-5650-45B3-B8F8-E0AACC35A0C4}" destId="{E4A1DC30-06F2-4274-AA42-002F3EA43506}" srcOrd="1" destOrd="0" presId="urn:microsoft.com/office/officeart/2005/8/layout/pyramid1"/>
    <dgm:cxn modelId="{8C4E6271-36D7-40B2-8DCE-3BFB4DAA7688}" type="presParOf" srcId="{2E4407AC-9F91-4C87-9BF3-33ECB0FBAAF7}" destId="{8B505F50-E30B-4A9B-B266-DD1F6FE2DD99}" srcOrd="5" destOrd="0" presId="urn:microsoft.com/office/officeart/2005/8/layout/pyramid1"/>
    <dgm:cxn modelId="{B20C8DB5-6A5B-4F16-970E-87B91561B299}" type="presParOf" srcId="{8B505F50-E30B-4A9B-B266-DD1F6FE2DD99}" destId="{BF3445C8-D70F-4A34-AA31-4EEF0C0D923A}" srcOrd="0" destOrd="0" presId="urn:microsoft.com/office/officeart/2005/8/layout/pyramid1"/>
    <dgm:cxn modelId="{987FEEF7-3E57-454D-B783-DFE762F3AA05}" type="presParOf" srcId="{8B505F50-E30B-4A9B-B266-DD1F6FE2DD99}" destId="{78B8FE40-F9BC-4E77-A71B-E942917B47BD}" srcOrd="1" destOrd="0" presId="urn:microsoft.com/office/officeart/2005/8/layout/pyramid1"/>
    <dgm:cxn modelId="{46BF55C9-134D-42E9-9D84-481CAD63707B}" type="presParOf" srcId="{2E4407AC-9F91-4C87-9BF3-33ECB0FBAAF7}" destId="{B381CAFD-96E4-47A1-82FF-A338F29E7069}" srcOrd="6" destOrd="0" presId="urn:microsoft.com/office/officeart/2005/8/layout/pyramid1"/>
    <dgm:cxn modelId="{A44A28D7-FC89-420C-AFD4-9B5CBA5B7AD2}" type="presParOf" srcId="{B381CAFD-96E4-47A1-82FF-A338F29E7069}" destId="{DFA18AAC-024A-4871-9BD2-CF1360C567C3}" srcOrd="0" destOrd="0" presId="urn:microsoft.com/office/officeart/2005/8/layout/pyramid1"/>
    <dgm:cxn modelId="{78178DF8-2E34-4EEA-BCC1-51527D6E32B0}" type="presParOf" srcId="{B381CAFD-96E4-47A1-82FF-A338F29E7069}" destId="{74937426-7804-4F00-A04B-6161222CBEB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FD087-532A-4A05-988C-C3762503A582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EA6FF-A63B-4C5E-9E9A-9240806AA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388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Standard CD audio (44.1kHz) 44,100 samples per second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EA6FF-A63B-4C5E-9E9A-9240806AAC7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744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83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20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85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50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99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31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36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82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77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90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3374" y="365125"/>
            <a:ext cx="79248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399" y="1876425"/>
            <a:ext cx="11915775" cy="4300538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35C65-3AE7-4A36-8EC3-D55B901D564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8317-CD8A-484C-B02A-B84D46CEB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5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AFF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A1F69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A1F69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A1F69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A1F69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A1F69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828658"/>
            <a:ext cx="12192000" cy="4029342"/>
          </a:xfrm>
          <a:prstGeom prst="rect">
            <a:avLst/>
          </a:prstGeom>
          <a:solidFill>
            <a:srgbClr val="D0CEC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8800" dirty="0" smtClean="0">
                <a:ln w="38100">
                  <a:solidFill>
                    <a:schemeClr val="bg1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DIGITAL DATA</a:t>
            </a:r>
            <a:endParaRPr lang="en-GB" sz="8800" dirty="0">
              <a:ln w="38100">
                <a:solidFill>
                  <a:schemeClr val="bg1"/>
                </a:solidFill>
              </a:ln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4320" y="2115071"/>
            <a:ext cx="2327305" cy="346118"/>
          </a:xfrm>
          <a:noFill/>
        </p:spPr>
        <p:txBody>
          <a:bodyPr>
            <a:normAutofit/>
          </a:bodyPr>
          <a:lstStyle/>
          <a:p>
            <a:r>
              <a:rPr lang="en-GB" sz="1600" dirty="0" smtClean="0">
                <a:solidFill>
                  <a:schemeClr val="bg1">
                    <a:lumMod val="95000"/>
                  </a:schemeClr>
                </a:solidFill>
                <a:latin typeface="LEMON MILK" panose="00000500000000000000" pitchFamily="50" charset="0"/>
              </a:rPr>
              <a:t>Chapter 1 of 10</a:t>
            </a:r>
            <a:endParaRPr lang="en-GB" sz="1600" dirty="0">
              <a:solidFill>
                <a:schemeClr val="bg1">
                  <a:lumMod val="95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85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49" y="257175"/>
            <a:ext cx="4762501" cy="2228850"/>
          </a:xfrm>
        </p:spPr>
        <p:txBody>
          <a:bodyPr/>
          <a:lstStyle/>
          <a:p>
            <a:pPr marL="0" indent="0">
              <a:buNone/>
            </a:pPr>
            <a:r>
              <a:rPr lang="en-GB" sz="5400" u="sng" dirty="0" smtClean="0">
                <a:sym typeface="Wingdings" panose="05000000000000000000" pitchFamily="2" charset="2"/>
              </a:rPr>
              <a:t> </a:t>
            </a:r>
            <a:r>
              <a:rPr lang="en-GB" sz="5400" u="sng" dirty="0" smtClean="0"/>
              <a:t>Data	 		 </a:t>
            </a:r>
            <a:endParaRPr lang="en-GB" u="sng" dirty="0" smtClean="0"/>
          </a:p>
          <a:p>
            <a:pPr marL="0" indent="0">
              <a:buNone/>
            </a:pPr>
            <a:r>
              <a:rPr lang="en-GB" dirty="0" smtClean="0"/>
              <a:t>Unprocessed, raw facts and figures with no meaning or context attached.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638924" y="257175"/>
            <a:ext cx="4762501" cy="2228850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5400" u="sng" dirty="0" smtClean="0">
                <a:sym typeface="Wingdings" panose="05000000000000000000" pitchFamily="2" charset="2"/>
              </a:rPr>
              <a:t> </a:t>
            </a:r>
            <a:r>
              <a:rPr lang="en-GB" sz="5400" u="sng" dirty="0" smtClean="0"/>
              <a:t>Information	 </a:t>
            </a:r>
            <a:endParaRPr lang="en-GB" u="sng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Data which has been given meaning and has been placed in context.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9587" y="3717559"/>
            <a:ext cx="3387778" cy="1983089"/>
          </a:xfrm>
          <a:prstGeom prst="rect">
            <a:avLst/>
          </a:prstGeom>
        </p:spPr>
      </p:pic>
      <p:pic>
        <p:nvPicPr>
          <p:cNvPr id="6" name="Picture 17" descr="db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34012" y="3178669"/>
            <a:ext cx="2994025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467069" y="4601980"/>
            <a:ext cx="308797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69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365125"/>
            <a:ext cx="8410575" cy="1325563"/>
          </a:xfrm>
        </p:spPr>
        <p:txBody>
          <a:bodyPr/>
          <a:lstStyle/>
          <a:p>
            <a:r>
              <a:rPr lang="en-GB" dirty="0" smtClean="0"/>
              <a:t>Storing data on a Computer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We store data in a digital way by using </a:t>
            </a:r>
            <a:r>
              <a:rPr lang="en-GB" b="1" dirty="0" smtClean="0"/>
              <a:t>binary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b="1" dirty="0" smtClean="0"/>
              <a:t>Binary digit (BIT)</a:t>
            </a:r>
            <a:r>
              <a:rPr lang="en-GB" dirty="0" smtClean="0"/>
              <a:t> can be given a value of 1 or 0</a:t>
            </a:r>
          </a:p>
          <a:p>
            <a:r>
              <a:rPr lang="en-GB" dirty="0" smtClean="0"/>
              <a:t>A </a:t>
            </a:r>
            <a:r>
              <a:rPr lang="en-GB" b="1" dirty="0" smtClean="0"/>
              <a:t>nibble</a:t>
            </a:r>
            <a:r>
              <a:rPr lang="en-GB" dirty="0" smtClean="0"/>
              <a:t> is 4 of these bits</a:t>
            </a:r>
          </a:p>
          <a:p>
            <a:r>
              <a:rPr lang="en-GB" dirty="0" smtClean="0"/>
              <a:t>A single character (letter/digit/</a:t>
            </a:r>
            <a:r>
              <a:rPr lang="en-GB" dirty="0" err="1" smtClean="0"/>
              <a:t>etc</a:t>
            </a:r>
            <a:r>
              <a:rPr lang="en-GB" dirty="0" smtClean="0"/>
              <a:t>) can be represented by </a:t>
            </a:r>
            <a:r>
              <a:rPr lang="en-GB" b="1" dirty="0" smtClean="0"/>
              <a:t>1 byte</a:t>
            </a:r>
            <a:r>
              <a:rPr lang="en-GB" dirty="0" smtClean="0"/>
              <a:t> (8 bits)</a:t>
            </a:r>
          </a:p>
          <a:p>
            <a:pPr lvl="1"/>
            <a:r>
              <a:rPr lang="en-GB" dirty="0" smtClean="0"/>
              <a:t>1 Kb = 1024 bytes</a:t>
            </a:r>
          </a:p>
          <a:p>
            <a:pPr lvl="1"/>
            <a:r>
              <a:rPr lang="en-GB" dirty="0" smtClean="0"/>
              <a:t>1 Mb = 1024 Kb</a:t>
            </a:r>
          </a:p>
          <a:p>
            <a:pPr lvl="1"/>
            <a:r>
              <a:rPr lang="en-GB" dirty="0" smtClean="0"/>
              <a:t>1 Gb = 1024 Mb</a:t>
            </a:r>
          </a:p>
          <a:p>
            <a:pPr lvl="1"/>
            <a:r>
              <a:rPr lang="en-GB" dirty="0" smtClean="0"/>
              <a:t>1 Tb = 1024 Gb</a:t>
            </a:r>
          </a:p>
          <a:p>
            <a:r>
              <a:rPr lang="en-GB" dirty="0" smtClean="0"/>
              <a:t>You may have heard these terms used when describing computer memory or capacity of USB’s or Hard drives.</a:t>
            </a:r>
          </a:p>
        </p:txBody>
      </p:sp>
    </p:spTree>
    <p:extLst>
      <p:ext uri="{BB962C8B-B14F-4D97-AF65-F5344CB8AC3E}">
        <p14:creationId xmlns:p14="http://schemas.microsoft.com/office/powerpoint/2010/main" val="191460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5476875" y="619125"/>
            <a:ext cx="6591299" cy="6251575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The smallest unit of digital data is a BIT, which is simply a 1 or a 0.</a:t>
            </a:r>
          </a:p>
          <a:p>
            <a:pPr lvl="1"/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Not very useful on its own, other than “on” or “off”</a:t>
            </a:r>
          </a:p>
          <a:p>
            <a:r>
              <a:rPr lang="en-GB" dirty="0" smtClean="0"/>
              <a:t>A nibble is 4 bits.</a:t>
            </a:r>
          </a:p>
          <a:p>
            <a:pPr lvl="1"/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 Hexadecimal digit can be stored as this.</a:t>
            </a:r>
          </a:p>
          <a:p>
            <a:r>
              <a:rPr lang="en-GB" dirty="0" smtClean="0"/>
              <a:t>A byte is 8 bits. </a:t>
            </a:r>
          </a:p>
          <a:p>
            <a:pPr lvl="1"/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 letter on the keyboard uses 1 of these.</a:t>
            </a:r>
          </a:p>
          <a:p>
            <a:r>
              <a:rPr lang="en-GB" dirty="0" smtClean="0"/>
              <a:t>A kilobyte is 1024 </a:t>
            </a:r>
            <a:r>
              <a:rPr lang="en-GB" b="1" dirty="0" smtClean="0"/>
              <a:t>bytes</a:t>
            </a:r>
          </a:p>
          <a:p>
            <a:pPr lvl="1"/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Probably enough for a text file.</a:t>
            </a:r>
            <a:endParaRPr lang="en-GB" b="1" dirty="0" smtClean="0"/>
          </a:p>
          <a:p>
            <a:r>
              <a:rPr lang="en-GB" dirty="0" smtClean="0"/>
              <a:t>A Megabyte is 1024 Kilobytes</a:t>
            </a:r>
          </a:p>
          <a:p>
            <a:pPr lvl="1"/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Around 1min of audio.</a:t>
            </a:r>
            <a:endParaRPr lang="en-GB" dirty="0" smtClean="0"/>
          </a:p>
          <a:p>
            <a:r>
              <a:rPr lang="en-GB" dirty="0" smtClean="0"/>
              <a:t>A Gigabyte is 1024 Megabytes</a:t>
            </a:r>
          </a:p>
          <a:p>
            <a:pPr lvl="1"/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Around 20mins of HD video</a:t>
            </a:r>
            <a:endParaRPr lang="en-GB" dirty="0" smtClean="0"/>
          </a:p>
          <a:p>
            <a:r>
              <a:rPr lang="en-GB" dirty="0" smtClean="0"/>
              <a:t>A Terabyte is 1024 Gigabytes</a:t>
            </a:r>
          </a:p>
          <a:p>
            <a:pPr lvl="1"/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Around 5-15 modern video games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224385"/>
              </p:ext>
            </p:extLst>
          </p:nvPr>
        </p:nvGraphicFramePr>
        <p:xfrm>
          <a:off x="0" y="365125"/>
          <a:ext cx="5943600" cy="6505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270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Representing Text &amp; Numbers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876425"/>
            <a:ext cx="11915775" cy="2190750"/>
          </a:xfrm>
        </p:spPr>
        <p:txBody>
          <a:bodyPr/>
          <a:lstStyle/>
          <a:p>
            <a:r>
              <a:rPr lang="en-GB" dirty="0" smtClean="0"/>
              <a:t>Much like databases and spreadsheets, computers can store several different </a:t>
            </a:r>
            <a:r>
              <a:rPr lang="en-GB" b="1" dirty="0" smtClean="0"/>
              <a:t>data types</a:t>
            </a:r>
            <a:r>
              <a:rPr lang="en-GB" dirty="0" smtClean="0"/>
              <a:t>. These include:</a:t>
            </a:r>
          </a:p>
          <a:p>
            <a:pPr lvl="1"/>
            <a:r>
              <a:rPr lang="en-GB" dirty="0" smtClean="0"/>
              <a:t>Numeric (</a:t>
            </a:r>
            <a:r>
              <a:rPr lang="en-GB" dirty="0" err="1" smtClean="0"/>
              <a:t>int</a:t>
            </a:r>
            <a:r>
              <a:rPr lang="en-GB" dirty="0" smtClean="0"/>
              <a:t>/double)</a:t>
            </a:r>
          </a:p>
          <a:p>
            <a:pPr lvl="1"/>
            <a:r>
              <a:rPr lang="en-GB" dirty="0" smtClean="0"/>
              <a:t>Date/Time</a:t>
            </a:r>
          </a:p>
          <a:p>
            <a:pPr lvl="1"/>
            <a:r>
              <a:rPr lang="en-GB" dirty="0" smtClean="0"/>
              <a:t>Text (Character/String)</a:t>
            </a:r>
          </a:p>
          <a:p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52399" y="5172075"/>
            <a:ext cx="11915775" cy="1543050"/>
          </a:xfrm>
          <a:prstGeom prst="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 w="38100">
            <a:solidFill>
              <a:schemeClr val="accent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u="sng" dirty="0" smtClean="0">
                <a:solidFill>
                  <a:srgbClr val="002060"/>
                </a:solidFill>
                <a:sym typeface="Wingdings" panose="05000000000000000000" pitchFamily="2" charset="2"/>
              </a:rPr>
              <a:t></a:t>
            </a:r>
            <a:r>
              <a:rPr lang="en-GB" u="sng" dirty="0" smtClean="0">
                <a:solidFill>
                  <a:srgbClr val="002060"/>
                </a:solidFill>
              </a:rPr>
              <a:t> QUICK TASK										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Use the internet to describe and give an example of each of these data types when storing data.</a:t>
            </a: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33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365125"/>
            <a:ext cx="8410575" cy="1325563"/>
          </a:xfrm>
        </p:spPr>
        <p:txBody>
          <a:bodyPr/>
          <a:lstStyle/>
          <a:p>
            <a:r>
              <a:rPr lang="en-GB" dirty="0" smtClean="0"/>
              <a:t>Using Pixels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876425"/>
            <a:ext cx="6800851" cy="4300538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Images use a series of </a:t>
            </a:r>
            <a:r>
              <a:rPr lang="en-GB" b="1" dirty="0" smtClean="0"/>
              <a:t>pixel</a:t>
            </a:r>
            <a:r>
              <a:rPr lang="en-GB" dirty="0" smtClean="0"/>
              <a:t>s, which is the smallest unit of a digital image that can be displayed and edited on a computer screen.</a:t>
            </a:r>
          </a:p>
          <a:p>
            <a:pPr lvl="1"/>
            <a:r>
              <a:rPr lang="en-GB" dirty="0" smtClean="0"/>
              <a:t>Each pixel has its own individual colour and is stored as a series of binary digits.</a:t>
            </a:r>
          </a:p>
          <a:p>
            <a:pPr lvl="1"/>
            <a:r>
              <a:rPr lang="en-GB" dirty="0" smtClean="0"/>
              <a:t>Placing/combining these pixels together form a complete image.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Images have an </a:t>
            </a:r>
            <a:r>
              <a:rPr lang="en-GB" b="1" dirty="0" smtClean="0"/>
              <a:t>image resolution</a:t>
            </a:r>
            <a:r>
              <a:rPr lang="en-GB" dirty="0" smtClean="0"/>
              <a:t>, which refers to the quality of a digital image</a:t>
            </a:r>
          </a:p>
          <a:p>
            <a:pPr lvl="2"/>
            <a:r>
              <a:rPr lang="en-GB" dirty="0" smtClean="0"/>
              <a:t>The greater the resolution, the bigger the file size will be</a:t>
            </a:r>
          </a:p>
          <a:p>
            <a:pPr marL="914400" lvl="2" indent="0">
              <a:buNone/>
            </a:pPr>
            <a:endParaRPr lang="en-GB" dirty="0" smtClean="0"/>
          </a:p>
          <a:p>
            <a:pPr lvl="1"/>
            <a:r>
              <a:rPr lang="en-GB" dirty="0" smtClean="0"/>
              <a:t>A JPEG file uses 24 bits to store each pixel in an image. 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200899" y="1876425"/>
            <a:ext cx="4762501" cy="2228850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4000" u="sng" dirty="0" smtClean="0">
                <a:sym typeface="Wingdings" panose="05000000000000000000" pitchFamily="2" charset="2"/>
              </a:rPr>
              <a:t> </a:t>
            </a:r>
            <a:r>
              <a:rPr lang="en-GB" sz="4000" u="sng" dirty="0" smtClean="0"/>
              <a:t>Pixel	 			</a:t>
            </a:r>
            <a:r>
              <a:rPr lang="en-GB" sz="5400" u="sng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Definition Here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00899" y="4233862"/>
            <a:ext cx="4762501" cy="2228850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4000" u="sng" dirty="0" smtClean="0">
                <a:sym typeface="Wingdings" panose="05000000000000000000" pitchFamily="2" charset="2"/>
              </a:rPr>
              <a:t> </a:t>
            </a:r>
            <a:r>
              <a:rPr lang="en-GB" sz="4000" u="sng" dirty="0" smtClean="0"/>
              <a:t>Image Resolution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Definition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24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Bitmap Images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876424"/>
            <a:ext cx="11915775" cy="4810125"/>
          </a:xfrm>
        </p:spPr>
        <p:txBody>
          <a:bodyPr>
            <a:normAutofit/>
          </a:bodyPr>
          <a:lstStyle/>
          <a:p>
            <a:r>
              <a:rPr lang="en-GB" dirty="0" smtClean="0"/>
              <a:t>What you have just done is fundamentally how </a:t>
            </a:r>
            <a:r>
              <a:rPr lang="en-GB" b="1" dirty="0" smtClean="0"/>
              <a:t>bitmap</a:t>
            </a:r>
            <a:r>
              <a:rPr lang="en-GB" dirty="0" smtClean="0"/>
              <a:t> images work, which use a grid of pixels to make up an image. There’s a </a:t>
            </a:r>
            <a:r>
              <a:rPr lang="en-GB" i="1" dirty="0" smtClean="0"/>
              <a:t>little</a:t>
            </a:r>
            <a:r>
              <a:rPr lang="en-GB" dirty="0" smtClean="0"/>
              <a:t> more to it, but in short we can recreate images using this style.</a:t>
            </a:r>
          </a:p>
          <a:p>
            <a:endParaRPr lang="en-GB" dirty="0"/>
          </a:p>
          <a:p>
            <a:r>
              <a:rPr lang="en-GB" dirty="0" smtClean="0"/>
              <a:t>Computer monitors use pixels, which help from the GPU, to display pixels on screen in their rightful colours (or nearest available match)</a:t>
            </a:r>
          </a:p>
          <a:p>
            <a:endParaRPr lang="en-GB" dirty="0"/>
          </a:p>
          <a:p>
            <a:r>
              <a:rPr lang="en-GB" dirty="0"/>
              <a:t>In order to store an image on a storage device: </a:t>
            </a:r>
          </a:p>
          <a:p>
            <a:pPr lvl="1"/>
            <a:r>
              <a:rPr lang="en-GB" dirty="0"/>
              <a:t>every pixel needs to have its colour code stored; </a:t>
            </a:r>
          </a:p>
          <a:p>
            <a:pPr lvl="1"/>
            <a:r>
              <a:rPr lang="en-GB" dirty="0"/>
              <a:t>metadata such as the dimensions of the image need to be stored in order to allow the image to be reconstructed for the screen display.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536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Bitmap Images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876424"/>
            <a:ext cx="11915775" cy="4810125"/>
          </a:xfrm>
        </p:spPr>
        <p:txBody>
          <a:bodyPr>
            <a:normAutofit/>
          </a:bodyPr>
          <a:lstStyle/>
          <a:p>
            <a:r>
              <a:rPr lang="en-GB" dirty="0" smtClean="0"/>
              <a:t>Made up of a grid of pixels</a:t>
            </a:r>
          </a:p>
          <a:p>
            <a:r>
              <a:rPr lang="en-GB" dirty="0" smtClean="0"/>
              <a:t>Higher the resolution, the higher quality of the image</a:t>
            </a:r>
          </a:p>
          <a:p>
            <a:pPr lvl="1"/>
            <a:r>
              <a:rPr lang="en-GB" dirty="0" smtClean="0"/>
              <a:t>More pixels = better resolution</a:t>
            </a:r>
          </a:p>
          <a:p>
            <a:pPr lvl="1"/>
            <a:r>
              <a:rPr lang="en-GB" dirty="0" smtClean="0"/>
              <a:t>However, will require more storage</a:t>
            </a:r>
          </a:p>
          <a:p>
            <a:r>
              <a:rPr lang="en-GB" dirty="0" smtClean="0"/>
              <a:t>Each pixel can be a different colour, so images can be very complex and detailed</a:t>
            </a:r>
          </a:p>
          <a:p>
            <a:r>
              <a:rPr lang="en-GB" dirty="0" smtClean="0"/>
              <a:t>Bitmap images can be compressed, but the reduced file size may result in lower quality</a:t>
            </a:r>
          </a:p>
          <a:p>
            <a:r>
              <a:rPr lang="en-GB" b="1" dirty="0" err="1" smtClean="0"/>
              <a:t>Pixelation</a:t>
            </a:r>
            <a:r>
              <a:rPr lang="en-GB" dirty="0" smtClean="0"/>
              <a:t> occurs if you zoom in too much</a:t>
            </a:r>
          </a:p>
          <a:p>
            <a:r>
              <a:rPr lang="en-GB" dirty="0" smtClean="0"/>
              <a:t>Example File type: JPEG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9986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Vector Graphics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Doesn’t use a grid of pixels, instead stores information about components that make up the image</a:t>
            </a:r>
          </a:p>
          <a:p>
            <a:pPr lvl="1"/>
            <a:r>
              <a:rPr lang="en-GB" dirty="0" smtClean="0"/>
              <a:t>I.e. lines, curves and shapes</a:t>
            </a:r>
          </a:p>
          <a:p>
            <a:pPr lvl="1"/>
            <a:r>
              <a:rPr lang="en-GB" dirty="0" smtClean="0"/>
              <a:t>Can edit these shapes individually by editing the:</a:t>
            </a:r>
          </a:p>
          <a:p>
            <a:pPr lvl="2"/>
            <a:r>
              <a:rPr lang="en-GB" dirty="0" smtClean="0"/>
              <a:t>Colour</a:t>
            </a:r>
          </a:p>
          <a:p>
            <a:pPr lvl="2"/>
            <a:r>
              <a:rPr lang="en-GB" dirty="0" smtClean="0"/>
              <a:t>Size</a:t>
            </a:r>
          </a:p>
          <a:p>
            <a:pPr lvl="2"/>
            <a:r>
              <a:rPr lang="en-GB" dirty="0" smtClean="0"/>
              <a:t>Position</a:t>
            </a:r>
          </a:p>
          <a:p>
            <a:r>
              <a:rPr lang="en-GB" dirty="0" smtClean="0"/>
              <a:t>Do not depend on resolution for quality</a:t>
            </a:r>
          </a:p>
          <a:p>
            <a:r>
              <a:rPr lang="en-GB" dirty="0" smtClean="0"/>
              <a:t>Require less storage space than bitmap graphics</a:t>
            </a:r>
          </a:p>
          <a:p>
            <a:r>
              <a:rPr lang="en-GB" dirty="0" smtClean="0"/>
              <a:t>Can be easily enlarged without affecting quality of image produced</a:t>
            </a:r>
          </a:p>
          <a:p>
            <a:r>
              <a:rPr lang="en-GB" dirty="0" smtClean="0"/>
              <a:t>Good for logos / shapes rather than detailed photographs</a:t>
            </a:r>
          </a:p>
          <a:p>
            <a:r>
              <a:rPr lang="en-GB" dirty="0" smtClean="0"/>
              <a:t>Example File type: SVG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577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Representing Video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Streaming</a:t>
            </a:r>
            <a:r>
              <a:rPr lang="en-GB" dirty="0" smtClean="0"/>
              <a:t> allows a video to be viewed on a website without  having to download the video completely before starting viewing</a:t>
            </a:r>
          </a:p>
          <a:p>
            <a:pPr lvl="1"/>
            <a:r>
              <a:rPr lang="en-GB" b="1" dirty="0" smtClean="0"/>
              <a:t>Little-no delay</a:t>
            </a:r>
          </a:p>
          <a:p>
            <a:r>
              <a:rPr lang="en-GB" dirty="0" smtClean="0"/>
              <a:t>The user can start watching the video as it is being downloaded in ‘real time’</a:t>
            </a:r>
          </a:p>
          <a:p>
            <a:r>
              <a:rPr lang="en-GB" dirty="0" smtClean="0"/>
              <a:t>A </a:t>
            </a:r>
            <a:r>
              <a:rPr lang="en-GB" b="1" dirty="0" smtClean="0"/>
              <a:t>buffer</a:t>
            </a:r>
            <a:r>
              <a:rPr lang="en-GB" dirty="0" smtClean="0"/>
              <a:t> is part of the memory used to store a downloaded part of the video before it is being watched.</a:t>
            </a:r>
          </a:p>
          <a:p>
            <a:pPr lvl="1"/>
            <a:r>
              <a:rPr lang="en-GB" dirty="0" smtClean="0"/>
              <a:t>As the buffer is being watched, the next part of the video is being downloaded</a:t>
            </a:r>
          </a:p>
          <a:p>
            <a:pPr lvl="1"/>
            <a:r>
              <a:rPr lang="en-GB" dirty="0" smtClean="0"/>
              <a:t>Prevents possible disruptions if there are time delays in downloading/streaming</a:t>
            </a:r>
          </a:p>
          <a:p>
            <a:endParaRPr lang="en-GB" dirty="0"/>
          </a:p>
        </p:txBody>
      </p:sp>
      <p:pic>
        <p:nvPicPr>
          <p:cNvPr id="4" name="Picture 2" descr="Image result for video icon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78" b="98222" l="0" r="100000">
                        <a14:foregroundMark x1="10222" y1="23111" x2="11556" y2="75111"/>
                        <a14:foregroundMark x1="30222" y1="57333" x2="76444" y2="46222"/>
                        <a14:foregroundMark x1="36444" y1="31111" x2="46667" y2="52000"/>
                        <a14:foregroundMark x1="88000" y1="23111" x2="91111" y2="7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2894" y="45123"/>
            <a:ext cx="1738433" cy="173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69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Converting Sound into Digital Format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An </a:t>
            </a:r>
            <a:r>
              <a:rPr lang="en-GB" b="1" dirty="0" smtClean="0"/>
              <a:t>analogue signal </a:t>
            </a:r>
            <a:r>
              <a:rPr lang="en-GB" dirty="0" smtClean="0"/>
              <a:t>is a continuous varying signal that represents a physical quantity such as sound</a:t>
            </a:r>
          </a:p>
          <a:p>
            <a:r>
              <a:rPr lang="en-GB" dirty="0" smtClean="0"/>
              <a:t>Before a computer can understand/use an analogue signal, they must be converted into binary.</a:t>
            </a:r>
          </a:p>
          <a:p>
            <a:r>
              <a:rPr lang="en-GB" dirty="0" smtClean="0"/>
              <a:t>We need to first capture this signal (using a microphone, for example) and recorded as binary using a </a:t>
            </a:r>
            <a:r>
              <a:rPr lang="en-GB" b="1" dirty="0" smtClean="0"/>
              <a:t>analogue to digital converter (ADC)</a:t>
            </a:r>
          </a:p>
          <a:p>
            <a:endParaRPr lang="en-GB" b="1" dirty="0" smtClean="0"/>
          </a:p>
          <a:p>
            <a:r>
              <a:rPr lang="en-GB" dirty="0" smtClean="0"/>
              <a:t>This process of analogue to digital conversion uses </a:t>
            </a:r>
            <a:r>
              <a:rPr lang="en-GB" b="1" dirty="0" smtClean="0"/>
              <a:t>sampling</a:t>
            </a:r>
            <a:r>
              <a:rPr lang="en-GB" dirty="0" smtClean="0"/>
              <a:t> to achieve this.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83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Sampling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An ADC will ‘sample’ (check) the sound level at regular time intervals</a:t>
            </a:r>
          </a:p>
          <a:p>
            <a:r>
              <a:rPr lang="en-GB" dirty="0" smtClean="0"/>
              <a:t>The number of samples per second is known as the </a:t>
            </a:r>
            <a:r>
              <a:rPr lang="en-GB" b="1" dirty="0" smtClean="0"/>
              <a:t>sample rate</a:t>
            </a:r>
            <a:endParaRPr lang="en-GB" dirty="0" smtClean="0"/>
          </a:p>
          <a:p>
            <a:r>
              <a:rPr lang="en-GB" dirty="0" smtClean="0"/>
              <a:t>This ‘sample’ is checked and the level is recorded to the nearest whole number</a:t>
            </a:r>
          </a:p>
          <a:p>
            <a:r>
              <a:rPr lang="en-GB" dirty="0" smtClean="0"/>
              <a:t>We lose quality as we don’t take into account what the sound wave is doing between these samples</a:t>
            </a:r>
          </a:p>
          <a:p>
            <a:r>
              <a:rPr lang="en-GB" dirty="0" smtClean="0"/>
              <a:t>To increase quality, increase the sample rate</a:t>
            </a:r>
          </a:p>
          <a:p>
            <a:pPr lvl="1"/>
            <a:r>
              <a:rPr lang="en-GB" dirty="0" smtClean="0"/>
              <a:t>However, set it too high and the file size will be very high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718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sampling sound example"/>
          <p:cNvPicPr>
            <a:picLocks noChangeAspect="1" noChangeArrowheads="1"/>
          </p:cNvPicPr>
          <p:nvPr/>
        </p:nvPicPr>
        <p:blipFill>
          <a:blip r:embed="rId2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685800" y="129700"/>
            <a:ext cx="12877800" cy="643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sampling sound example"/>
          <p:cNvPicPr>
            <a:picLocks noChangeAspect="1" noChangeArrowheads="1"/>
          </p:cNvPicPr>
          <p:nvPr/>
        </p:nvPicPr>
        <p:blipFill rotWithShape="1"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-2024066" y="3284856"/>
            <a:ext cx="5176837" cy="12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ine Callout 1 5"/>
          <p:cNvSpPr/>
          <p:nvPr/>
        </p:nvSpPr>
        <p:spPr>
          <a:xfrm>
            <a:off x="5048250" y="227330"/>
            <a:ext cx="3009900" cy="533400"/>
          </a:xfrm>
          <a:prstGeom prst="borderCallout1">
            <a:avLst>
              <a:gd name="adj1" fmla="val 18750"/>
              <a:gd name="adj2" fmla="val -8333"/>
              <a:gd name="adj3" fmla="val 101786"/>
              <a:gd name="adj4" fmla="val -532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Height of wave = Amplitude</a:t>
            </a:r>
            <a:endParaRPr lang="en-GB" dirty="0"/>
          </a:p>
        </p:txBody>
      </p:sp>
      <p:sp>
        <p:nvSpPr>
          <p:cNvPr id="7" name="Line Callout 1 6"/>
          <p:cNvSpPr/>
          <p:nvPr/>
        </p:nvSpPr>
        <p:spPr>
          <a:xfrm>
            <a:off x="2314575" y="4304030"/>
            <a:ext cx="3009900" cy="1035845"/>
          </a:xfrm>
          <a:prstGeom prst="borderCallout1">
            <a:avLst>
              <a:gd name="adj1" fmla="val 18750"/>
              <a:gd name="adj2" fmla="val -8333"/>
              <a:gd name="adj3" fmla="val -83487"/>
              <a:gd name="adj4" fmla="val -430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The gap between each sample of sound is known as the sample rate</a:t>
            </a:r>
            <a:endParaRPr lang="en-GB" dirty="0"/>
          </a:p>
        </p:txBody>
      </p:sp>
      <p:sp>
        <p:nvSpPr>
          <p:cNvPr id="8" name="Line Callout 1 7"/>
          <p:cNvSpPr/>
          <p:nvPr/>
        </p:nvSpPr>
        <p:spPr>
          <a:xfrm>
            <a:off x="4743450" y="5397025"/>
            <a:ext cx="3009900" cy="1190625"/>
          </a:xfrm>
          <a:prstGeom prst="borderCallout1">
            <a:avLst>
              <a:gd name="adj1" fmla="val -9469"/>
              <a:gd name="adj2" fmla="val 78376"/>
              <a:gd name="adj3" fmla="val -95480"/>
              <a:gd name="adj4" fmla="val 1056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The closer the samples, the closer the sound will be to the original</a:t>
            </a:r>
            <a:endParaRPr lang="en-GB" dirty="0"/>
          </a:p>
        </p:txBody>
      </p:sp>
      <p:sp>
        <p:nvSpPr>
          <p:cNvPr id="9" name="Line Callout 1 8"/>
          <p:cNvSpPr/>
          <p:nvPr/>
        </p:nvSpPr>
        <p:spPr>
          <a:xfrm>
            <a:off x="8753475" y="682150"/>
            <a:ext cx="3009900" cy="1895475"/>
          </a:xfrm>
          <a:prstGeom prst="borderCallout1">
            <a:avLst>
              <a:gd name="adj1" fmla="val 60129"/>
              <a:gd name="adj2" fmla="val -7384"/>
              <a:gd name="adj3" fmla="val 121037"/>
              <a:gd name="adj4" fmla="val -1108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When the sound is sampled, the computer system will round this reading to the nearest whole number and then store this value as binary.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03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399" y="219075"/>
            <a:ext cx="11915775" cy="6496050"/>
          </a:xfrm>
          <a:prstGeom prst="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 w="38100">
            <a:solidFill>
              <a:schemeClr val="accent4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u="sng" dirty="0" smtClean="0">
                <a:solidFill>
                  <a:srgbClr val="002060"/>
                </a:solidFill>
                <a:sym typeface="Wingdings" panose="05000000000000000000" pitchFamily="2" charset="2"/>
              </a:rPr>
              <a:t></a:t>
            </a:r>
            <a:r>
              <a:rPr lang="en-GB" u="sng" dirty="0" smtClean="0">
                <a:solidFill>
                  <a:srgbClr val="002060"/>
                </a:solidFill>
              </a:rPr>
              <a:t> Question											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Q. Explain how sound is recorded and stored on a computer	</a:t>
            </a: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Sound is recorded using a microphone [1]</a:t>
            </a:r>
          </a:p>
          <a:p>
            <a:pPr marL="0" indent="0">
              <a:buNone/>
            </a:pPr>
            <a:endParaRPr lang="en-GB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As sound is a continuous varying signal, it is in analogue format  [1]</a:t>
            </a:r>
          </a:p>
          <a:p>
            <a:pPr marL="0" indent="0">
              <a:buNone/>
            </a:pPr>
            <a:endParaRPr lang="en-GB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The system will sample the sound [1]</a:t>
            </a:r>
          </a:p>
          <a:p>
            <a:pPr marL="0" indent="0">
              <a:buNone/>
            </a:pPr>
            <a:endParaRPr lang="en-GB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At regular intervals. This is known as the sample rate [1]</a:t>
            </a:r>
          </a:p>
          <a:p>
            <a:pPr marL="0" indent="0">
              <a:buNone/>
            </a:pPr>
            <a:endParaRPr lang="en-GB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Once the system has received this reading, the system will round to the nearest integer [1]</a:t>
            </a:r>
          </a:p>
          <a:p>
            <a:pPr marL="0" indent="0">
              <a:buNone/>
            </a:pPr>
            <a:endParaRPr lang="en-GB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And this value is stored as binary on the PC [1]</a:t>
            </a:r>
          </a:p>
          <a:p>
            <a:pPr marL="0" indent="0">
              <a:buNone/>
            </a:pPr>
            <a:endParaRPr lang="en-GB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This conversion is known as analogue to digital conversion [1]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												[6]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39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Representing Sound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How is sound quality affected?</a:t>
            </a:r>
          </a:p>
          <a:p>
            <a:endParaRPr lang="en-GB" dirty="0" smtClean="0"/>
          </a:p>
          <a:p>
            <a:r>
              <a:rPr lang="en-GB" dirty="0" smtClean="0"/>
              <a:t>There are three main factors that affect the quality of sound:</a:t>
            </a:r>
          </a:p>
          <a:p>
            <a:pPr lvl="1"/>
            <a:r>
              <a:rPr lang="en-GB" b="1" dirty="0" smtClean="0">
                <a:solidFill>
                  <a:srgbClr val="FF0000"/>
                </a:solidFill>
              </a:rPr>
              <a:t>Sample Rate </a:t>
            </a:r>
            <a:r>
              <a:rPr lang="en-GB" dirty="0" smtClean="0"/>
              <a:t>– number of audio sound samples captured per second to represent the sounds digitally, measured in hertz (Hz)</a:t>
            </a:r>
          </a:p>
          <a:p>
            <a:pPr lvl="1"/>
            <a:r>
              <a:rPr lang="en-GB" b="1" dirty="0" smtClean="0">
                <a:solidFill>
                  <a:srgbClr val="FF0000"/>
                </a:solidFill>
              </a:rPr>
              <a:t>Bit Depth </a:t>
            </a:r>
            <a:r>
              <a:rPr lang="en-GB" dirty="0" smtClean="0"/>
              <a:t>– The number of bits used for each sound sample</a:t>
            </a:r>
          </a:p>
          <a:p>
            <a:pPr lvl="1"/>
            <a:r>
              <a:rPr lang="en-GB" b="1" dirty="0" smtClean="0">
                <a:solidFill>
                  <a:srgbClr val="FF0000"/>
                </a:solidFill>
              </a:rPr>
              <a:t>Bit Rate </a:t>
            </a:r>
            <a:r>
              <a:rPr lang="en-GB" dirty="0" smtClean="0"/>
              <a:t>– The quantity of data measured (in bits) that is processed in a given amount of time (usually per second), calculated using the formula Bit Depth x Sample Rate = Bit Rate</a:t>
            </a:r>
          </a:p>
          <a:p>
            <a:endParaRPr lang="en-GB" dirty="0"/>
          </a:p>
        </p:txBody>
      </p:sp>
      <p:pic>
        <p:nvPicPr>
          <p:cNvPr id="4" name="Picture 4" descr="Related image"/>
          <p:cNvPicPr>
            <a:picLocks noChangeAspect="1" noChangeArrowheads="1"/>
          </p:cNvPicPr>
          <p:nvPr/>
        </p:nvPicPr>
        <p:blipFill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399" y="-46151"/>
            <a:ext cx="2148112" cy="214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19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399" y="219075"/>
            <a:ext cx="11915775" cy="6496050"/>
          </a:xfrm>
          <a:prstGeom prst="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 w="38100">
            <a:solidFill>
              <a:schemeClr val="accent4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u="sng" dirty="0" smtClean="0">
                <a:solidFill>
                  <a:srgbClr val="002060"/>
                </a:solidFill>
                <a:sym typeface="Wingdings" panose="05000000000000000000" pitchFamily="2" charset="2"/>
              </a:rPr>
              <a:t></a:t>
            </a:r>
            <a:r>
              <a:rPr lang="en-GB" u="sng" dirty="0" smtClean="0">
                <a:solidFill>
                  <a:srgbClr val="002060"/>
                </a:solidFill>
              </a:rPr>
              <a:t> Question											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Q. Distinguish between sample rate, bit depth and bit rate.	</a:t>
            </a: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The SAMPLE RATE is the quantity of samples taken per second [1]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to represent the sounds digitally. [1]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It is measured in Hertz (Hz). [1]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The BIT DEPTH is the number of bits that is allocated per sample taken [1]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The BIT RATE is the number of bits required to store 1 second of sound. [1]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The unit of measurement is b/s or kb/s [1] 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Bit depth × Sample rate = BIT RATE [1]</a:t>
            </a:r>
          </a:p>
          <a:p>
            <a:pPr marL="0" indent="0">
              <a:buNone/>
            </a:pPr>
            <a:endParaRPr lang="en-GB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												[6]</a:t>
            </a:r>
            <a:endParaRPr lang="en-GB" dirty="0">
              <a:solidFill>
                <a:srgbClr val="002060"/>
              </a:solidFill>
            </a:endParaRPr>
          </a:p>
        </p:txBody>
      </p:sp>
      <p:pic>
        <p:nvPicPr>
          <p:cNvPr id="5" name="Picture 4" descr="Question mark - Free communications icons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98436" y="355116"/>
            <a:ext cx="985069" cy="8602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558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Portability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876425"/>
            <a:ext cx="6906427" cy="4300538"/>
          </a:xfrm>
        </p:spPr>
        <p:txBody>
          <a:bodyPr/>
          <a:lstStyle/>
          <a:p>
            <a:r>
              <a:rPr lang="en-GB" dirty="0" smtClean="0"/>
              <a:t>Different types of data need to be stored using particular formats to ensure data is portable between different applications/computer systems</a:t>
            </a:r>
          </a:p>
          <a:p>
            <a:endParaRPr lang="en-GB" dirty="0" smtClean="0"/>
          </a:p>
          <a:p>
            <a:r>
              <a:rPr lang="en-GB" dirty="0" smtClean="0"/>
              <a:t>In order for computer systems to be able to understand how it should be handling a piece of data, the data needs to be given a file type.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200899" y="1876425"/>
            <a:ext cx="4762501" cy="2228850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4000" u="sng" dirty="0" smtClean="0">
                <a:sym typeface="Wingdings" panose="05000000000000000000" pitchFamily="2" charset="2"/>
              </a:rPr>
              <a:t> </a:t>
            </a:r>
            <a:r>
              <a:rPr lang="en-GB" sz="4000" u="sng" dirty="0" smtClean="0"/>
              <a:t>Data Portability	</a:t>
            </a:r>
            <a:r>
              <a:rPr lang="en-GB" sz="5400" u="sng" dirty="0" smtClean="0"/>
              <a:t> </a:t>
            </a:r>
          </a:p>
          <a:p>
            <a:pPr marL="0" indent="0">
              <a:buNone/>
            </a:pPr>
            <a:r>
              <a:rPr lang="en-GB" dirty="0" smtClean="0"/>
              <a:t>The ability to </a:t>
            </a:r>
            <a:r>
              <a:rPr lang="en-GB" dirty="0" smtClean="0">
                <a:solidFill>
                  <a:srgbClr val="FFFF00"/>
                </a:solidFill>
              </a:rPr>
              <a:t>transfer data </a:t>
            </a:r>
            <a:r>
              <a:rPr lang="en-GB" dirty="0" smtClean="0"/>
              <a:t>from one computer to another or from one software application to another </a:t>
            </a:r>
            <a:r>
              <a:rPr lang="en-GB" dirty="0" smtClean="0">
                <a:solidFill>
                  <a:srgbClr val="FFFF00"/>
                </a:solidFill>
              </a:rPr>
              <a:t>without</a:t>
            </a:r>
            <a:r>
              <a:rPr lang="en-GB" dirty="0" smtClean="0"/>
              <a:t> having to </a:t>
            </a:r>
            <a:r>
              <a:rPr lang="en-GB" dirty="0" smtClean="0">
                <a:solidFill>
                  <a:srgbClr val="FFFF00"/>
                </a:solidFill>
              </a:rPr>
              <a:t>re-enter</a:t>
            </a:r>
            <a:r>
              <a:rPr lang="en-GB" dirty="0" smtClean="0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230924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1632247" y="376017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>
                <a:solidFill>
                  <a:schemeClr val="bg1">
                    <a:lumMod val="95000"/>
                  </a:schemeClr>
                </a:solidFill>
              </a:rPr>
              <a:t>Supports Compression of images. The level of compression can vary and can be controlled by the user. Higher compression = reduce Quality but will reduce file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32247" y="1160805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>
                <a:solidFill>
                  <a:schemeClr val="bg1">
                    <a:lumMod val="95000"/>
                  </a:schemeClr>
                </a:solidFill>
              </a:rPr>
              <a:t>Store Bitmapped images. Allows for portability between windows PC and Apple Mac. Retain their quality but larger file sizes than JPEGs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0791" y="1945595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>
                <a:solidFill>
                  <a:schemeClr val="bg1">
                    <a:lumMod val="95000"/>
                  </a:schemeClr>
                </a:solidFill>
              </a:rPr>
              <a:t>Supports Compression of Bitmapped images. Developed to support sharing of graphics via the internet whilst maintaining quality of image.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0791" y="2730384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>
                <a:solidFill>
                  <a:schemeClr val="bg1">
                    <a:lumMod val="95000"/>
                  </a:schemeClr>
                </a:solidFill>
              </a:rPr>
              <a:t>Standard file format for Apple Graphics. Support graphic interchange between bitmapped and vector based graphics.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0791" y="3515172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Does not degrade quality during compression. Small bitmap file sizes, and can be animated by supporting multiple images being placed in a series.</a:t>
            </a:r>
            <a:endParaRPr lang="en-GB" sz="12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640791" y="4299962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Contains no formatting. Can be opened by any word-processing program to allow for text editing.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0791" y="5084751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 text format file often used by database and spreadsheet applications. Can be easily imported into a spreadsheet as each line represents a new row in an excel spreadsheet.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32247" y="5869539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Used for text based documents and supports basic formatting. Allows for portability between different operating systems as well as word processors.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82955" y="5869536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An Audio compression file format developed for Microsoft Media Player.</a:t>
            </a:r>
            <a:endParaRPr lang="en-GB" sz="1200" b="1" dirty="0" smtClean="0"/>
          </a:p>
        </p:txBody>
      </p:sp>
      <p:sp>
        <p:nvSpPr>
          <p:cNvPr id="31" name="Rectangle 30"/>
          <p:cNvSpPr/>
          <p:nvPr/>
        </p:nvSpPr>
        <p:spPr>
          <a:xfrm>
            <a:off x="5691499" y="2730381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Refers to a group of experts who developed standards for compressing digital video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1499" y="3515171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 multimedia file format created by Microsoft for windows software. Can contain both audio and video content allowing synchronous audio-with-video playback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1499" y="4299960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Developed by Adobe Systems and can be created from a range of files. It captures formatting used so the original fonts/images/</a:t>
            </a:r>
            <a:r>
              <a:rPr lang="en-GB" sz="1200" dirty="0" err="1" smtClean="0"/>
              <a:t>etc</a:t>
            </a:r>
            <a:r>
              <a:rPr lang="en-GB" sz="1200" dirty="0" smtClean="0"/>
              <a:t> of the file are the same. Small file size.</a:t>
            </a:r>
            <a:endParaRPr lang="en-GB" sz="12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82955" y="5084748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 file format standard for storing an audio bit stream on PCs. It is an uncompressed file format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1499" y="376015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Used for </a:t>
            </a:r>
            <a:r>
              <a:rPr lang="en-GB" sz="1200" dirty="0" smtClean="0">
                <a:solidFill>
                  <a:schemeClr val="bg1">
                    <a:lumMod val="95000"/>
                  </a:schemeClr>
                </a:solidFill>
              </a:rPr>
              <a:t>compressing a sound file to decrease </a:t>
            </a:r>
            <a:r>
              <a:rPr lang="en-GB" sz="1200" dirty="0" smtClean="0"/>
              <a:t>file size yet maintain the original level of sound quality when the file is played.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91499" y="1160805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Similar to MP3</a:t>
            </a:r>
            <a:r>
              <a:rPr lang="en-GB" sz="1200" dirty="0" smtClean="0">
                <a:solidFill>
                  <a:schemeClr val="bg1">
                    <a:lumMod val="95000"/>
                  </a:schemeClr>
                </a:solidFill>
              </a:rPr>
              <a:t>, but compresses both sound and video to </a:t>
            </a:r>
            <a:r>
              <a:rPr lang="en-GB" sz="1200" dirty="0" smtClean="0"/>
              <a:t>decrease the storage size. Can also store still images and text subtitles. Allows data streaming across the internet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91499" y="1945594"/>
            <a:ext cx="3871244" cy="63238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 communication protocol that allows sound samples to be interchanged between different musical instruments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911" y="376015"/>
            <a:ext cx="1563880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JPEG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Joint photographic experts group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11" y="1160804"/>
            <a:ext cx="1563880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tiff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Tagged image file format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911" y="1945593"/>
            <a:ext cx="1563880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>
                <a:solidFill>
                  <a:srgbClr val="A1F69B"/>
                </a:solidFill>
                <a:latin typeface="LEMON MILK" panose="00000500000000000000" pitchFamily="50" charset="0"/>
              </a:rPr>
              <a:t>png</a:t>
            </a:r>
            <a:endParaRPr lang="en-GB" dirty="0" smtClean="0">
              <a:solidFill>
                <a:srgbClr val="A1F69B"/>
              </a:solidFill>
              <a:latin typeface="LEMON MILK" panose="00000500000000000000" pitchFamily="50" charset="0"/>
            </a:endParaRP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Portable networks graphics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911" y="2730382"/>
            <a:ext cx="1563880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>
                <a:solidFill>
                  <a:srgbClr val="A1F69B"/>
                </a:solidFill>
                <a:latin typeface="LEMON MILK" panose="00000500000000000000" pitchFamily="50" charset="0"/>
              </a:rPr>
              <a:t>pict</a:t>
            </a:r>
            <a:endParaRPr lang="en-GB" dirty="0" smtClean="0">
              <a:solidFill>
                <a:srgbClr val="A1F69B"/>
              </a:solidFill>
              <a:latin typeface="LEMON MILK" panose="00000500000000000000" pitchFamily="50" charset="0"/>
            </a:endParaRP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picture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911" y="3515171"/>
            <a:ext cx="1563880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gif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Graphics interchange format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911" y="4299960"/>
            <a:ext cx="1563880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txt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text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911" y="5084749"/>
            <a:ext cx="1563880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csv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Comma separated value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911" y="5869538"/>
            <a:ext cx="1563880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rtf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Rich text format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554199" y="376015"/>
            <a:ext cx="2536676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mp3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Moving Picture Experts Group Audio Layer 3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554199" y="1160804"/>
            <a:ext cx="2536675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mp4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Moving Picture Experts Group Audio Layer 4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554199" y="1945593"/>
            <a:ext cx="2536675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midi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Musical instrument digital interface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554199" y="2730382"/>
            <a:ext cx="2536675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mpeg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Moving picture experts group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54199" y="3515171"/>
            <a:ext cx="2536675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>
                <a:solidFill>
                  <a:srgbClr val="A1F69B"/>
                </a:solidFill>
                <a:latin typeface="LEMON MILK" panose="00000500000000000000" pitchFamily="50" charset="0"/>
              </a:rPr>
              <a:t>avi</a:t>
            </a:r>
            <a:endParaRPr lang="en-GB" dirty="0" smtClean="0">
              <a:solidFill>
                <a:srgbClr val="A1F69B"/>
              </a:solidFill>
              <a:latin typeface="LEMON MILK" panose="00000500000000000000" pitchFamily="50" charset="0"/>
            </a:endParaRP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Audio </a:t>
            </a:r>
            <a:r>
              <a:rPr lang="en-GB" sz="700" smtClean="0">
                <a:solidFill>
                  <a:srgbClr val="EAFF00"/>
                </a:solidFill>
                <a:latin typeface="LEMON MILK" panose="00000500000000000000" pitchFamily="50" charset="0"/>
              </a:rPr>
              <a:t>video interleaved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54199" y="4299960"/>
            <a:ext cx="2536675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pdf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text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4199" y="5084749"/>
            <a:ext cx="2536675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A1F69B"/>
                </a:solidFill>
                <a:latin typeface="LEMON MILK" panose="00000500000000000000" pitchFamily="50" charset="0"/>
              </a:rPr>
              <a:t>wav</a:t>
            </a: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Waveform Audio File Format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554199" y="5869538"/>
            <a:ext cx="2536675" cy="632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>
                <a:solidFill>
                  <a:srgbClr val="A1F69B"/>
                </a:solidFill>
                <a:latin typeface="LEMON MILK" panose="00000500000000000000" pitchFamily="50" charset="0"/>
              </a:rPr>
              <a:t>wma</a:t>
            </a:r>
            <a:endParaRPr lang="en-GB" dirty="0" smtClean="0">
              <a:solidFill>
                <a:srgbClr val="A1F69B"/>
              </a:solidFill>
              <a:latin typeface="LEMON MILK" panose="00000500000000000000" pitchFamily="50" charset="0"/>
            </a:endParaRPr>
          </a:p>
          <a:p>
            <a:pPr algn="ctr"/>
            <a:r>
              <a:rPr lang="en-GB" sz="700" dirty="0" smtClean="0">
                <a:solidFill>
                  <a:srgbClr val="EAFF00"/>
                </a:solidFill>
                <a:latin typeface="LEMON MILK" panose="00000500000000000000" pitchFamily="50" charset="0"/>
              </a:rPr>
              <a:t>Windows Media Audio</a:t>
            </a:r>
            <a:endParaRPr lang="en-GB" sz="700" dirty="0">
              <a:solidFill>
                <a:srgbClr val="EAFF00"/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8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Compression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876425"/>
            <a:ext cx="6906427" cy="2228850"/>
          </a:xfrm>
        </p:spPr>
        <p:txBody>
          <a:bodyPr/>
          <a:lstStyle/>
          <a:p>
            <a:r>
              <a:rPr lang="en-GB" dirty="0" smtClean="0"/>
              <a:t>By compressing data, we can </a:t>
            </a:r>
            <a:r>
              <a:rPr lang="en-GB" dirty="0" smtClean="0">
                <a:solidFill>
                  <a:srgbClr val="FF0000"/>
                </a:solidFill>
              </a:rPr>
              <a:t>reduce</a:t>
            </a:r>
            <a:r>
              <a:rPr lang="en-GB" dirty="0" smtClean="0"/>
              <a:t> </a:t>
            </a:r>
            <a:r>
              <a:rPr lang="en-GB" dirty="0" smtClean="0">
                <a:solidFill>
                  <a:srgbClr val="FF0000"/>
                </a:solidFill>
              </a:rPr>
              <a:t>upload/download time </a:t>
            </a:r>
            <a:r>
              <a:rPr lang="en-GB" dirty="0" smtClean="0"/>
              <a:t>and also </a:t>
            </a:r>
            <a:r>
              <a:rPr lang="en-GB" dirty="0" smtClean="0">
                <a:solidFill>
                  <a:srgbClr val="FF0000"/>
                </a:solidFill>
              </a:rPr>
              <a:t>reduce storage </a:t>
            </a:r>
            <a:r>
              <a:rPr lang="en-GB" dirty="0" smtClean="0"/>
              <a:t>requirements.</a:t>
            </a:r>
          </a:p>
          <a:p>
            <a:r>
              <a:rPr lang="en-GB" dirty="0" smtClean="0"/>
              <a:t>There are two main types of data compression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200899" y="1876425"/>
            <a:ext cx="4762501" cy="2228850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4000" u="sng" dirty="0" smtClean="0">
                <a:sym typeface="Wingdings" panose="05000000000000000000" pitchFamily="2" charset="2"/>
              </a:rPr>
              <a:t> </a:t>
            </a:r>
            <a:r>
              <a:rPr lang="en-GB" sz="4000" u="sng" dirty="0" smtClean="0"/>
              <a:t>Data </a:t>
            </a:r>
            <a:r>
              <a:rPr lang="en-GB" sz="4000" u="sng" dirty="0" err="1" smtClean="0"/>
              <a:t>Compresison</a:t>
            </a:r>
            <a:r>
              <a:rPr lang="en-GB" sz="4000" u="sng" dirty="0" smtClean="0"/>
              <a:t>	</a:t>
            </a:r>
            <a:r>
              <a:rPr lang="en-GB" sz="5400" u="sng" dirty="0" smtClean="0"/>
              <a:t> </a:t>
            </a:r>
          </a:p>
          <a:p>
            <a:pPr marL="0" indent="0">
              <a:buNone/>
            </a:pPr>
            <a:r>
              <a:rPr lang="en-GB" dirty="0" smtClean="0"/>
              <a:t>It is used to convert digital data to as small a size as possible while still maintaining the quality of the data contained in the file.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399" y="4291012"/>
            <a:ext cx="5675833" cy="2228850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6600" dirty="0" smtClean="0">
                <a:solidFill>
                  <a:schemeClr val="bg1"/>
                </a:solidFill>
              </a:rPr>
              <a:t>LOSSY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287567" y="4291012"/>
            <a:ext cx="5675833" cy="2228850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A1F69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6600" dirty="0" smtClean="0">
                <a:solidFill>
                  <a:schemeClr val="bg1"/>
                </a:solidFill>
              </a:rPr>
              <a:t>LOSSLESS</a:t>
            </a:r>
            <a:endParaRPr lang="en-GB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77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5"/>
            <a:ext cx="7487540" cy="1325563"/>
          </a:xfrm>
        </p:spPr>
        <p:txBody>
          <a:bodyPr/>
          <a:lstStyle/>
          <a:p>
            <a:pPr algn="l"/>
            <a:r>
              <a:rPr lang="en-GB" dirty="0" err="1" smtClean="0"/>
              <a:t>Lossy</a:t>
            </a:r>
            <a:r>
              <a:rPr lang="en-GB" dirty="0" smtClean="0"/>
              <a:t> Compression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876425"/>
            <a:ext cx="6887087" cy="4300538"/>
          </a:xfrm>
        </p:spPr>
        <p:txBody>
          <a:bodyPr/>
          <a:lstStyle/>
          <a:p>
            <a:r>
              <a:rPr lang="en-GB" dirty="0" smtClean="0"/>
              <a:t>Reduces the file size </a:t>
            </a:r>
            <a:r>
              <a:rPr lang="en-GB" dirty="0" smtClean="0">
                <a:solidFill>
                  <a:srgbClr val="FF0000"/>
                </a:solidFill>
              </a:rPr>
              <a:t>by removing some of the data stored</a:t>
            </a:r>
          </a:p>
          <a:p>
            <a:r>
              <a:rPr lang="en-GB" dirty="0" smtClean="0"/>
              <a:t>For example, removing some of the colours available</a:t>
            </a:r>
          </a:p>
          <a:p>
            <a:r>
              <a:rPr lang="en-GB" dirty="0" smtClean="0"/>
              <a:t>Can result in a small loss of quality</a:t>
            </a:r>
          </a:p>
          <a:p>
            <a:r>
              <a:rPr lang="en-GB" dirty="0" smtClean="0"/>
              <a:t>Once compressed, </a:t>
            </a:r>
            <a:r>
              <a:rPr lang="en-GB" dirty="0" smtClean="0">
                <a:solidFill>
                  <a:srgbClr val="FF0000"/>
                </a:solidFill>
              </a:rPr>
              <a:t>some data is permanently lost</a:t>
            </a:r>
          </a:p>
          <a:p>
            <a:r>
              <a:rPr lang="en-GB" dirty="0" smtClean="0"/>
              <a:t>An example of </a:t>
            </a:r>
            <a:r>
              <a:rPr lang="en-GB" dirty="0" err="1" smtClean="0"/>
              <a:t>lossy</a:t>
            </a:r>
            <a:r>
              <a:rPr lang="en-GB" dirty="0" smtClean="0"/>
              <a:t> compression is JPEG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9486" y="-12017"/>
            <a:ext cx="5152513" cy="687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6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5"/>
            <a:ext cx="7487540" cy="1325563"/>
          </a:xfrm>
        </p:spPr>
        <p:txBody>
          <a:bodyPr/>
          <a:lstStyle/>
          <a:p>
            <a:pPr algn="l"/>
            <a:r>
              <a:rPr lang="en-GB" dirty="0" smtClean="0"/>
              <a:t>Lossless Compression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876425"/>
            <a:ext cx="8205388" cy="4165452"/>
          </a:xfrm>
        </p:spPr>
        <p:txBody>
          <a:bodyPr/>
          <a:lstStyle/>
          <a:p>
            <a:r>
              <a:rPr lang="en-GB" dirty="0" smtClean="0">
                <a:solidFill>
                  <a:srgbClr val="FF0000"/>
                </a:solidFill>
              </a:rPr>
              <a:t>Maintains the quality of the file</a:t>
            </a:r>
            <a:r>
              <a:rPr lang="en-GB" dirty="0" smtClean="0"/>
              <a:t>, so no data is lost using this method.</a:t>
            </a:r>
          </a:p>
          <a:p>
            <a:r>
              <a:rPr lang="en-GB" dirty="0" smtClean="0"/>
              <a:t>For example, using WinZip to zip a file</a:t>
            </a:r>
          </a:p>
          <a:p>
            <a:r>
              <a:rPr lang="en-GB" dirty="0" smtClean="0"/>
              <a:t>The file can be recreated exactly as it was before it was compressed</a:t>
            </a:r>
          </a:p>
          <a:p>
            <a:endParaRPr lang="en-GB" dirty="0"/>
          </a:p>
        </p:txBody>
      </p:sp>
      <p:pic>
        <p:nvPicPr>
          <p:cNvPr id="6" name="Picture 2" descr="Image result for zip 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75575" y="1690688"/>
            <a:ext cx="4486275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15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1634</Words>
  <Application>Microsoft Office PowerPoint</Application>
  <PresentationFormat>Widescreen</PresentationFormat>
  <Paragraphs>220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LEMON MILK</vt:lpstr>
      <vt:lpstr>Wingdings</vt:lpstr>
      <vt:lpstr>Office Theme</vt:lpstr>
      <vt:lpstr>DIGITAL DATA</vt:lpstr>
      <vt:lpstr>PowerPoint Presentation</vt:lpstr>
      <vt:lpstr>Storing data on a Computer</vt:lpstr>
      <vt:lpstr>PowerPoint Presentation</vt:lpstr>
      <vt:lpstr>Representing Text &amp; Numbers</vt:lpstr>
      <vt:lpstr>Using Pixels</vt:lpstr>
      <vt:lpstr>Bitmap Images</vt:lpstr>
      <vt:lpstr>Bitmap Images</vt:lpstr>
      <vt:lpstr>Vector Graphics</vt:lpstr>
      <vt:lpstr>Representing Video</vt:lpstr>
      <vt:lpstr>Converting Sound into Digital Format</vt:lpstr>
      <vt:lpstr>Sampling</vt:lpstr>
      <vt:lpstr>PowerPoint Presentation</vt:lpstr>
      <vt:lpstr>PowerPoint Presentation</vt:lpstr>
      <vt:lpstr>Representing Sound</vt:lpstr>
      <vt:lpstr>PowerPoint Presentation</vt:lpstr>
      <vt:lpstr>Data Portability</vt:lpstr>
      <vt:lpstr>PowerPoint Presentation</vt:lpstr>
      <vt:lpstr>Data Compression</vt:lpstr>
      <vt:lpstr>Lossy Compression</vt:lpstr>
      <vt:lpstr>Lossless Compression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DATA</dc:title>
  <dc:creator>Microsoft account</dc:creator>
  <cp:lastModifiedBy>Microsoft account</cp:lastModifiedBy>
  <cp:revision>25</cp:revision>
  <dcterms:created xsi:type="dcterms:W3CDTF">2026-07-22T10:36:19Z</dcterms:created>
  <dcterms:modified xsi:type="dcterms:W3CDTF">2026-10-30T10:38:15Z</dcterms:modified>
</cp:coreProperties>
</file>