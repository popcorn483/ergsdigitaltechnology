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EBF1"/>
    <a:srgbClr val="0FA0E1"/>
    <a:srgbClr val="FFD200"/>
    <a:srgbClr val="424242"/>
    <a:srgbClr val="1A77FF"/>
    <a:srgbClr val="73BA42"/>
    <a:srgbClr val="0D9F9F"/>
    <a:srgbClr val="85D6CA"/>
    <a:srgbClr val="63BACE"/>
    <a:srgbClr val="0808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67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050E53-8C06-4553-B6CB-FE3B62DFC74B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798F8B-A68B-4333-A19F-2DE2DCF8757F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031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E798F8B-A68B-4333-A19F-2DE2DCF8757F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7464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50900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63BAC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  <a:lvl2pPr>
              <a:defRPr>
                <a:solidFill>
                  <a:schemeClr val="bg2">
                    <a:lumMod val="25000"/>
                  </a:schemeClr>
                </a:solidFill>
              </a:defRPr>
            </a:lvl2pPr>
            <a:lvl3pPr>
              <a:defRPr>
                <a:solidFill>
                  <a:schemeClr val="bg2">
                    <a:lumMod val="25000"/>
                  </a:schemeClr>
                </a:solidFill>
              </a:defRPr>
            </a:lvl3pPr>
            <a:lvl4pPr>
              <a:defRPr>
                <a:solidFill>
                  <a:schemeClr val="bg2">
                    <a:lumMod val="25000"/>
                  </a:schemeClr>
                </a:solidFill>
              </a:defRPr>
            </a:lvl4pPr>
            <a:lvl5pPr>
              <a:defRPr>
                <a:solidFill>
                  <a:schemeClr val="bg2">
                    <a:lumMod val="25000"/>
                  </a:schemeClr>
                </a:solidFill>
              </a:defRPr>
            </a:lvl5pPr>
          </a:lstStyle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82508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94851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6515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69576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2891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3617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0804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0353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4679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65892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F41F2C-0B58-43B9-B6C8-6E321055A646}" type="datetimeFigureOut">
              <a:rPr lang="en-GB" smtClean="0"/>
              <a:t>27/05/2022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9E7612-483E-4EDD-B11B-4588FF02D1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42574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gif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gif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ZDZjaIhzMSM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image" Target="../media/image14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5D6C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Related image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9911" y="-809625"/>
            <a:ext cx="9152128" cy="6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-809625" y="922338"/>
            <a:ext cx="9144000" cy="2387600"/>
          </a:xfrm>
        </p:spPr>
        <p:txBody>
          <a:bodyPr/>
          <a:lstStyle/>
          <a:p>
            <a:r>
              <a:rPr lang="en-GB" dirty="0" smtClean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entury Gothic" panose="020B0502020202020204" pitchFamily="34" charset="0"/>
              </a:rPr>
              <a:t>Digital Applications</a:t>
            </a:r>
            <a:endParaRPr lang="en-GB" dirty="0">
              <a:ln>
                <a:solidFill>
                  <a:schemeClr val="tx1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entury Gothic" panose="020B0502020202020204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38150" y="3211513"/>
            <a:ext cx="9144000" cy="1655762"/>
          </a:xfrm>
        </p:spPr>
        <p:txBody>
          <a:bodyPr/>
          <a:lstStyle/>
          <a:p>
            <a:r>
              <a:rPr lang="en-GB" dirty="0" smtClean="0">
                <a:solidFill>
                  <a:schemeClr val="bg2">
                    <a:lumMod val="25000"/>
                  </a:schemeClr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entury Gothic" panose="020B0502020202020204" pitchFamily="34" charset="0"/>
              </a:rPr>
              <a:t>Mr Butler | Unit 1 | Chapter 10 </a:t>
            </a:r>
            <a:endParaRPr lang="en-GB" dirty="0">
              <a:solidFill>
                <a:schemeClr val="bg2">
                  <a:lumMod val="2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43102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B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mage result for digital applications 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1143794"/>
            <a:ext cx="7620000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What we will be covering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Gaming Applications</a:t>
            </a:r>
          </a:p>
          <a:p>
            <a:r>
              <a:rPr lang="en-GB" dirty="0" smtClean="0"/>
              <a:t>Simulation Applications</a:t>
            </a:r>
          </a:p>
          <a:p>
            <a:r>
              <a:rPr lang="en-GB" dirty="0" smtClean="0"/>
              <a:t>Mobile Applications</a:t>
            </a:r>
          </a:p>
          <a:p>
            <a:r>
              <a:rPr lang="en-GB" dirty="0" smtClean="0"/>
              <a:t>Online Banking</a:t>
            </a:r>
          </a:p>
          <a:p>
            <a:r>
              <a:rPr lang="en-GB" dirty="0" smtClean="0"/>
              <a:t>Online Training</a:t>
            </a:r>
          </a:p>
          <a:p>
            <a:r>
              <a:rPr lang="en-GB" dirty="0" smtClean="0"/>
              <a:t>E-Commerce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2367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195C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7749" b="88312" l="7143" r="98268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01" t="17488" r="8746" b="18933"/>
          <a:stretch/>
        </p:blipFill>
        <p:spPr>
          <a:xfrm>
            <a:off x="7699248" y="3600957"/>
            <a:ext cx="4075326" cy="313869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4136"/>
            <a:ext cx="10515600" cy="1325563"/>
          </a:xfrm>
        </p:spPr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Gaming Applications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3078382"/>
            <a:ext cx="6641892" cy="4351338"/>
          </a:xfrm>
        </p:spPr>
        <p:txBody>
          <a:bodyPr/>
          <a:lstStyle/>
          <a:p>
            <a:r>
              <a:rPr lang="en-GB" dirty="0" smtClean="0">
                <a:solidFill>
                  <a:schemeClr val="tx1"/>
                </a:solidFill>
              </a:rPr>
              <a:t>Electronic games played on devices including:</a:t>
            </a:r>
          </a:p>
          <a:p>
            <a:pPr lvl="1"/>
            <a:r>
              <a:rPr lang="en-GB" dirty="0" smtClean="0">
                <a:solidFill>
                  <a:schemeClr val="tx1"/>
                </a:solidFill>
              </a:rPr>
              <a:t>Game consoles</a:t>
            </a:r>
          </a:p>
          <a:p>
            <a:pPr lvl="1"/>
            <a:r>
              <a:rPr lang="en-GB" dirty="0" smtClean="0">
                <a:solidFill>
                  <a:schemeClr val="tx1"/>
                </a:solidFill>
              </a:rPr>
              <a:t>Mobile Phones</a:t>
            </a:r>
          </a:p>
          <a:p>
            <a:pPr lvl="1"/>
            <a:r>
              <a:rPr lang="en-GB" dirty="0" smtClean="0">
                <a:solidFill>
                  <a:schemeClr val="tx1"/>
                </a:solidFill>
              </a:rPr>
              <a:t>Computers</a:t>
            </a:r>
          </a:p>
          <a:p>
            <a:r>
              <a:rPr lang="en-GB" dirty="0" smtClean="0">
                <a:solidFill>
                  <a:schemeClr val="tx1"/>
                </a:solidFill>
              </a:rPr>
              <a:t>Gaming has developed from the installation of discs on games consoles and playing alone to now using cloud and online multiplayer games.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5363308" y="217567"/>
            <a:ext cx="6731907" cy="369720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/>
              <a:t>Educational gaming applications allow users to apply their knowledge and support their learning within a virtual world.</a:t>
            </a:r>
          </a:p>
          <a:p>
            <a:r>
              <a:rPr lang="en-GB" dirty="0" smtClean="0"/>
              <a:t>Features such as leader boards help motivate individuals to improve their scores</a:t>
            </a:r>
          </a:p>
          <a:p>
            <a:r>
              <a:rPr lang="en-GB" dirty="0" smtClean="0"/>
              <a:t>Can take on different roles within the game and reflect on what happened in certain situations, enhancing learning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47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9F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3BA4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0" y="13741"/>
            <a:ext cx="12192000" cy="6858000"/>
          </a:xfrm>
          <a:prstGeom prst="rect">
            <a:avLst/>
          </a:prstGeom>
          <a:solidFill>
            <a:srgbClr val="1A77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104" name="Picture 8" descr="Image result for select difficulty animated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050" y="-813216"/>
            <a:ext cx="7620000" cy="5715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" y="-32428"/>
            <a:ext cx="10515600" cy="1325563"/>
          </a:xfrm>
        </p:spPr>
        <p:txBody>
          <a:bodyPr/>
          <a:lstStyle/>
          <a:p>
            <a:r>
              <a:rPr lang="en-GB" dirty="0" smtClean="0"/>
              <a:t>Gaming Applications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42821"/>
          </a:xfrm>
        </p:spPr>
        <p:txBody>
          <a:bodyPr/>
          <a:lstStyle/>
          <a:p>
            <a:pPr marL="0" indent="0" algn="ctr">
              <a:buNone/>
            </a:pPr>
            <a:r>
              <a:rPr lang="en-GB" dirty="0" smtClean="0">
                <a:solidFill>
                  <a:schemeClr val="tx1"/>
                </a:solidFill>
              </a:rPr>
              <a:t>These also support training in the workplace.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838200" y="2952385"/>
            <a:ext cx="10515600" cy="106497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 smtClean="0"/>
              <a:t>Games are designed with rules and increasing levels of difficulty – the user must comply with the rules and cannot move to the next level before completing the previous.</a:t>
            </a:r>
            <a:endParaRPr lang="en-GB" dirty="0"/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005590" y="4017364"/>
            <a:ext cx="10515600" cy="884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 smtClean="0"/>
              <a:t>Each level provides new challenges to the user, making games attractive for training purposes.</a:t>
            </a:r>
          </a:p>
          <a:p>
            <a:pPr marL="0" indent="0" algn="ctr">
              <a:buFont typeface="Arial" panose="020B0604020202020204" pitchFamily="34" charset="0"/>
              <a:buNone/>
            </a:pPr>
            <a:endParaRPr lang="en-GB" dirty="0"/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838200" y="5133792"/>
            <a:ext cx="10515600" cy="10649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GB" dirty="0" smtClean="0"/>
              <a:t>They also provide immediate feedback, helping users to evaluate the achievement and make decisions on what to do next.</a:t>
            </a:r>
            <a:endParaRPr lang="en-GB" dirty="0"/>
          </a:p>
        </p:txBody>
      </p:sp>
      <p:pic>
        <p:nvPicPr>
          <p:cNvPr id="4100" name="Picture 4" descr="Image result for training animated.gif"/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-385061" y="2190750"/>
            <a:ext cx="4128385" cy="4762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Image result for levels animated.gif"/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5200" y="4447081"/>
            <a:ext cx="4876800" cy="2438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246544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xit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500"/>
                                        <p:tgtEl>
                                          <p:spTgt spid="410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xit" presetSubtype="2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500"/>
                                        <p:tgtEl>
                                          <p:spTgt spid="410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xit" presetSubtype="8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0-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" dur="500"/>
                                        <p:tgtEl>
                                          <p:spTgt spid="410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2" grpId="0" animBg="1"/>
      <p:bldP spid="3" grpId="0" build="p"/>
      <p:bldP spid="4" grpId="0"/>
      <p:bldP spid="4" grpId="1"/>
      <p:bldP spid="5" grpId="0"/>
      <p:bldP spid="5" grpId="1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The social aspect of Gaming Applications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6267138" cy="4351338"/>
          </a:xfrm>
        </p:spPr>
        <p:txBody>
          <a:bodyPr/>
          <a:lstStyle/>
          <a:p>
            <a:r>
              <a:rPr lang="en-GB" dirty="0" smtClean="0"/>
              <a:t>Gaming allows users to join online gaming groups where they can compete against each other on a global scale.</a:t>
            </a:r>
          </a:p>
          <a:p>
            <a:r>
              <a:rPr lang="en-GB" dirty="0" smtClean="0"/>
              <a:t>They encourage collaboration as a squad can work together to solve a problem.</a:t>
            </a:r>
          </a:p>
          <a:p>
            <a:pPr lvl="1"/>
            <a:r>
              <a:rPr lang="en-GB" dirty="0" smtClean="0"/>
              <a:t>Requires microphones and headsets to communicate in real time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3040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242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Image result for car crash simulation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72" b="100000" l="0" r="9959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1598"/>
          <a:stretch/>
        </p:blipFill>
        <p:spPr bwMode="auto">
          <a:xfrm>
            <a:off x="6154615" y="4328548"/>
            <a:ext cx="5958498" cy="2369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Simulation Applications</a:t>
            </a:r>
            <a:endParaRPr lang="en-GB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279" y="1725523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A simulation uses a computer model to represent a ‘real life’ object</a:t>
            </a:r>
          </a:p>
          <a:p>
            <a:pPr lvl="1"/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Models are created from large volumes of – along with mathematical equations – to create 3D graphics to represent the object</a:t>
            </a:r>
          </a:p>
          <a:p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These objects can then be used to simulate actions and reactions of the real-life objects</a:t>
            </a:r>
          </a:p>
          <a:p>
            <a:pPr lvl="1"/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For example: </a:t>
            </a:r>
          </a:p>
          <a:p>
            <a:pPr lvl="2"/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Car crash simulations</a:t>
            </a:r>
          </a:p>
          <a:p>
            <a:pPr lvl="2"/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</a:rPr>
              <a:t>Architects to create models and test against flooding/earthquakes</a:t>
            </a:r>
          </a:p>
          <a:p>
            <a:pPr lvl="1"/>
            <a:endParaRPr lang="en-GB" dirty="0" smtClean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endParaRPr lang="en-GB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  <a:p>
            <a:r>
              <a:rPr lang="en-GB" dirty="0" smtClean="0">
                <a:solidFill>
                  <a:schemeClr val="accent1">
                    <a:lumMod val="20000"/>
                    <a:lumOff val="80000"/>
                  </a:schemeClr>
                </a:solidFill>
                <a:hlinkClick r:id="rId4"/>
              </a:rPr>
              <a:t>Microsoft AI</a:t>
            </a:r>
            <a:endParaRPr lang="en-GB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4782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78448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6459" y="250031"/>
            <a:ext cx="6571937" cy="1325563"/>
          </a:xfrm>
        </p:spPr>
        <p:txBody>
          <a:bodyPr>
            <a:normAutofit/>
          </a:bodyPr>
          <a:lstStyle/>
          <a:p>
            <a:pPr algn="r"/>
            <a:r>
              <a:rPr lang="en-GB" dirty="0" smtClean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Simulation Applications: Virtual Reality</a:t>
            </a:r>
            <a:endParaRPr lang="en-GB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61154" y="1645745"/>
            <a:ext cx="6107242" cy="4958864"/>
          </a:xfrm>
          <a:solidFill>
            <a:srgbClr val="080808">
              <a:alpha val="60000"/>
            </a:srgbClr>
          </a:solidFill>
        </p:spPr>
        <p:txBody>
          <a:bodyPr>
            <a:normAutofit lnSpcReduction="10000"/>
          </a:bodyPr>
          <a:lstStyle/>
          <a:p>
            <a:r>
              <a:rPr lang="en-GB" b="1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Virtual Reality</a:t>
            </a:r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 uses simulations to create ‘real’ experiences (virtual world)</a:t>
            </a:r>
          </a:p>
          <a:p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Great potential for training people</a:t>
            </a:r>
          </a:p>
          <a:p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Immersive – enters into a 3D world using specialist hardware</a:t>
            </a:r>
          </a:p>
          <a:p>
            <a:pPr lvl="1"/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Uses a range of senses such as vision, hearing and touch to make realistic.</a:t>
            </a:r>
          </a:p>
          <a:p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Can be used to successfully train people for jobs with a high risk of endangering life</a:t>
            </a:r>
          </a:p>
          <a:p>
            <a:pPr lvl="1"/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i.e. training pilots to fly.</a:t>
            </a:r>
          </a:p>
          <a:p>
            <a:pPr lvl="2"/>
            <a:r>
              <a:rPr lang="en-GB" dirty="0" smtClean="0">
                <a:ln>
                  <a:solidFill>
                    <a:schemeClr val="bg2"/>
                  </a:solidFill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Expensive due to fuel cost + airfares so can train for a series of different experiences.</a:t>
            </a:r>
            <a:endParaRPr lang="en-GB" dirty="0">
              <a:ln>
                <a:solidFill>
                  <a:schemeClr val="bg2"/>
                </a:solidFill>
              </a:ln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6938461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2900" y="7937"/>
            <a:ext cx="10515600" cy="1325563"/>
          </a:xfrm>
        </p:spPr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Simulation example: Medical Use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1125" y="1969477"/>
            <a:ext cx="6975475" cy="4888522"/>
          </a:xfrm>
        </p:spPr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Body scanners are used to collect large amounts of data about a person’s internal system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A computer can then produce a 3D model of the whole, or part of, the body – creating a ‘virtual patient’.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This can then be used to brief or train surgeons before the ‘real’ surgery/operation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Can plan and practise a particular operation before actually carrying it out.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098" name="Picture 2" descr="Image result for mri sca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6493" y="2283435"/>
            <a:ext cx="4418021" cy="28864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7014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2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Mobile Phone Applications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0500" y="1825624"/>
            <a:ext cx="5810250" cy="5032375"/>
          </a:xfrm>
        </p:spPr>
        <p:txBody>
          <a:bodyPr>
            <a:normAutofit/>
          </a:bodyPr>
          <a:lstStyle/>
          <a:p>
            <a:r>
              <a:rPr lang="en-GB" dirty="0" smtClean="0"/>
              <a:t>Mobile phones can access a range of apps and hence have become a key necessity in everyday life.</a:t>
            </a:r>
          </a:p>
          <a:p>
            <a:r>
              <a:rPr lang="en-GB" dirty="0" smtClean="0"/>
              <a:t>Great for enhancing digital communication</a:t>
            </a:r>
          </a:p>
          <a:p>
            <a:r>
              <a:rPr lang="en-GB" dirty="0" smtClean="0"/>
              <a:t>Users are slowly moving away from desktop computers to more mobile devices – such as laptops, tablets and mobile phones to carry out daily activities</a:t>
            </a:r>
          </a:p>
          <a:p>
            <a:endParaRPr lang="en-GB" dirty="0"/>
          </a:p>
        </p:txBody>
      </p:sp>
      <p:pic>
        <p:nvPicPr>
          <p:cNvPr id="5124" name="Picture 4" descr="Related imag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0722" y="1768718"/>
            <a:ext cx="5905500" cy="3933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67224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Mobile Phone 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0" y="1615282"/>
            <a:ext cx="5972908" cy="4351338"/>
          </a:xfrm>
        </p:spPr>
        <p:txBody>
          <a:bodyPr/>
          <a:lstStyle/>
          <a:p>
            <a:r>
              <a:rPr lang="en-GB" dirty="0" smtClean="0"/>
              <a:t>In the past, organisations created websites targeted at desktop users, then moved onto making the site mobile-friendly</a:t>
            </a:r>
          </a:p>
          <a:p>
            <a:pPr lvl="1"/>
            <a:r>
              <a:rPr lang="en-GB" dirty="0" smtClean="0"/>
              <a:t>In recent years, companies are now interested in developing apps that can run on mobile phones instead.</a:t>
            </a:r>
          </a:p>
          <a:p>
            <a:pPr lvl="1"/>
            <a:r>
              <a:rPr lang="en-GB" dirty="0" smtClean="0"/>
              <a:t>Smartphones come with pre-loaded apps and users can download further apps.</a:t>
            </a:r>
            <a:endParaRPr lang="en-GB" dirty="0"/>
          </a:p>
        </p:txBody>
      </p:sp>
      <p:pic>
        <p:nvPicPr>
          <p:cNvPr id="6146" name="Picture 2" descr="Image result for mobile applications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20825" y1="28977" x2="29493" y2="83807"/>
                        <a14:foregroundMark x1="36786" y1="85511" x2="18922" y2="90625"/>
                        <a14:foregroundMark x1="16808" y1="89489" x2="13953" y2="25994"/>
                        <a14:foregroundMark x1="51586" y1="62500" x2="51268" y2="65341"/>
                        <a14:foregroundMark x1="81712" y1="36080" x2="85201" y2="39347"/>
                        <a14:foregroundMark x1="72833" y1="13068" x2="75159" y2="16335"/>
                        <a14:foregroundMark x1="17970" y1="91619" x2="20402" y2="92756"/>
                        <a14:foregroundMark x1="23362" y1="92756" x2="35624" y2="89205"/>
                        <a14:foregroundMark x1="20507" y1="93182" x2="23679" y2="92188"/>
                        <a14:foregroundMark x1="33721" y1="90341" x2="38055" y2="8892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7923" y="1873432"/>
            <a:ext cx="6122133" cy="45560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7154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Mobile Applications: An Opportunity for Learning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5777" y="2506662"/>
            <a:ext cx="10515600" cy="4351338"/>
          </a:xfrm>
        </p:spPr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Many applications have been designed for teaching/learning environments: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iTunes U offers teachers opportunities to create/edit/manage online courses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Uses videos, audio clips and books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Combined with cloud technology, students can access these apps from home and school to complete assignments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Can provide training programs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Instant messaging allows users to form groups in </a:t>
            </a:r>
            <a:r>
              <a:rPr lang="en-GB" b="1" dirty="0" smtClean="0">
                <a:solidFill>
                  <a:schemeClr val="bg1"/>
                </a:solidFill>
              </a:rPr>
              <a:t>user forums </a:t>
            </a:r>
            <a:r>
              <a:rPr lang="en-GB" dirty="0" smtClean="0">
                <a:solidFill>
                  <a:schemeClr val="bg1"/>
                </a:solidFill>
              </a:rPr>
              <a:t>or an electronic bulletin board to communicate/share group project work</a:t>
            </a:r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852360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Mobile Applications: Customisation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45770" y="1702502"/>
            <a:ext cx="5597578" cy="5155497"/>
          </a:xfrm>
        </p:spPr>
        <p:txBody>
          <a:bodyPr/>
          <a:lstStyle/>
          <a:p>
            <a:r>
              <a:rPr lang="en-GB" dirty="0" smtClean="0"/>
              <a:t>Developers also encourage users to personalise and customise the settings and layout of the app on their device</a:t>
            </a:r>
          </a:p>
          <a:p>
            <a:r>
              <a:rPr lang="en-GB" dirty="0" smtClean="0"/>
              <a:t>Also have features for searching and filtering data</a:t>
            </a:r>
          </a:p>
          <a:p>
            <a:r>
              <a:rPr lang="en-GB" dirty="0" smtClean="0"/>
              <a:t>App support and App updates must also be provided by app developers.</a:t>
            </a:r>
            <a:endParaRPr lang="en-GB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100000" l="0" r="100000">
                        <a14:foregroundMark x1="5000" y1="87750" x2="93594" y2="87250"/>
                        <a14:foregroundMark x1="95781" y1="88750" x2="95469" y2="6500"/>
                        <a14:foregroundMark x1="94844" y1="8250" x2="5625" y2="11000"/>
                        <a14:foregroundMark x1="9063" y1="19750" x2="90156" y2="15750"/>
                        <a14:foregroundMark x1="35313" y1="41250" x2="62500" y2="64500"/>
                        <a14:foregroundMark x1="33906" y1="80750" x2="12344" y2="77750"/>
                        <a14:foregroundMark x1="2813" y1="61500" x2="3281" y2="29500"/>
                        <a14:foregroundMark x1="36406" y1="4750" x2="65156" y2="375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858" y="1825625"/>
            <a:ext cx="6096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5418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A0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93608" y="166717"/>
            <a:ext cx="3698547" cy="1325563"/>
          </a:xfrm>
        </p:spPr>
        <p:txBody>
          <a:bodyPr/>
          <a:lstStyle/>
          <a:p>
            <a:pPr algn="r"/>
            <a:r>
              <a:rPr lang="en-GB" dirty="0" smtClean="0"/>
              <a:t>Online Banking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834" y="166716"/>
            <a:ext cx="6313098" cy="6518755"/>
          </a:xfrm>
        </p:spPr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Online banking has become a huge aspect of the digital age.</a:t>
            </a:r>
          </a:p>
          <a:p>
            <a:r>
              <a:rPr lang="en-GB" b="1" dirty="0" smtClean="0">
                <a:solidFill>
                  <a:schemeClr val="bg1"/>
                </a:solidFill>
              </a:rPr>
              <a:t>Using the internet to access their bank account via the bank’s secure website</a:t>
            </a:r>
            <a:endParaRPr lang="en-GB" dirty="0" smtClean="0">
              <a:solidFill>
                <a:schemeClr val="bg1"/>
              </a:solidFill>
            </a:endParaRP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Usually requires a username/password and must first register their details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User may also be asked security questions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Once logged in, users have access to a range of activities: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Viewing transactions and bank statements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Paying bills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Transferring money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Setting up regular payments (direct debits / standing orders)</a:t>
            </a:r>
          </a:p>
          <a:p>
            <a:pPr lvl="2"/>
            <a:r>
              <a:rPr lang="en-GB" dirty="0" smtClean="0">
                <a:solidFill>
                  <a:schemeClr val="bg1"/>
                </a:solidFill>
              </a:rPr>
              <a:t>Searching for transactions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82"/>
          <a:stretch/>
        </p:blipFill>
        <p:spPr bwMode="auto">
          <a:xfrm>
            <a:off x="6443932" y="3959352"/>
            <a:ext cx="5664620" cy="2898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00655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B0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Pros and cons of Online Banking for customers</a:t>
            </a:r>
            <a:endParaRPr lang="en-GB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65192634"/>
              </p:ext>
            </p:extLst>
          </p:nvPr>
        </p:nvGraphicFramePr>
        <p:xfrm>
          <a:off x="838200" y="1825623"/>
          <a:ext cx="10515600" cy="4795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8391799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640486156"/>
                    </a:ext>
                  </a:extLst>
                </a:gridCol>
              </a:tblGrid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Pros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Cons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1841541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Access 24/7 as do not need to go during branches opening hours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Require access to</a:t>
                      </a:r>
                      <a:r>
                        <a:rPr lang="en-GB" baseline="0" dirty="0" smtClean="0"/>
                        <a:t> necessary technology to access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977018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Can access when abroad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Need computer skills / worried about fraud </a:t>
                      </a:r>
                      <a:r>
                        <a:rPr lang="en-GB" dirty="0" err="1" smtClean="0"/>
                        <a:t>etc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986520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Faster payments due to ‘faster payment</a:t>
                      </a:r>
                      <a:r>
                        <a:rPr lang="en-GB" baseline="0" dirty="0" smtClean="0"/>
                        <a:t> services’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No face-to-face interaction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798682"/>
                  </a:ext>
                </a:extLst>
              </a:tr>
            </a:tbl>
          </a:graphicData>
        </a:graphic>
      </p:graphicFrame>
      <p:pic>
        <p:nvPicPr>
          <p:cNvPr id="5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2301" y="1978308"/>
            <a:ext cx="831041" cy="83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5730" y="2077272"/>
            <a:ext cx="633111" cy="633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60170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Pros and cons of Online Banking for Banks</a:t>
            </a:r>
            <a:endParaRPr lang="en-GB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99844531"/>
              </p:ext>
            </p:extLst>
          </p:nvPr>
        </p:nvGraphicFramePr>
        <p:xfrm>
          <a:off x="838200" y="1825623"/>
          <a:ext cx="10515600" cy="4795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83917999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640486156"/>
                    </a:ext>
                  </a:extLst>
                </a:gridCol>
              </a:tblGrid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Pros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Cons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1841541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Can save money on staffing/wages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Requires storage of larger personal data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3977018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Can provide online-only products (e-statements) – saves on paper and postage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More</a:t>
                      </a:r>
                      <a:r>
                        <a:rPr lang="en-GB" baseline="0" dirty="0" smtClean="0"/>
                        <a:t> complex security required and will need to be updated regularly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8986520"/>
                  </a:ext>
                </a:extLst>
              </a:tr>
              <a:tr h="1198974">
                <a:tc>
                  <a:txBody>
                    <a:bodyPr/>
                    <a:lstStyle/>
                    <a:p>
                      <a:r>
                        <a:rPr lang="en-GB" dirty="0" smtClean="0"/>
                        <a:t>Can attract a bigger customer base as do not need to live near local</a:t>
                      </a:r>
                      <a:r>
                        <a:rPr lang="en-GB" baseline="0" dirty="0" smtClean="0"/>
                        <a:t> branch</a:t>
                      </a:r>
                      <a:endParaRPr lang="en-GB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 smtClean="0"/>
                        <a:t>Need to employ specialist technical staff to maintain website/apps and update these regularly.</a:t>
                      </a:r>
                      <a:endParaRPr lang="en-GB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11798682"/>
                  </a:ext>
                </a:extLst>
              </a:tr>
            </a:tbl>
          </a:graphicData>
        </a:graphic>
      </p:graphicFrame>
      <p:pic>
        <p:nvPicPr>
          <p:cNvPr id="5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89554" y="1961055"/>
            <a:ext cx="831041" cy="83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8477" y="2060019"/>
            <a:ext cx="633111" cy="633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14007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Online Training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/>
              <a:t>Employers often use Digital Technology to offer online training programs to train employees. </a:t>
            </a:r>
          </a:p>
          <a:p>
            <a:r>
              <a:rPr lang="en-GB" dirty="0" smtClean="0"/>
              <a:t>This allows a more interactive environment.</a:t>
            </a:r>
          </a:p>
          <a:p>
            <a:r>
              <a:rPr lang="en-GB" dirty="0" smtClean="0"/>
              <a:t>Much more accessible due to internet and broadband development.</a:t>
            </a:r>
          </a:p>
          <a:p>
            <a:r>
              <a:rPr lang="en-GB" dirty="0" smtClean="0"/>
              <a:t>More economical in both time and costs than conventional training.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156708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B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Advantages of online training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GB" dirty="0" smtClean="0"/>
              <a:t>Learn at a convenient time and work at their own pace</a:t>
            </a:r>
          </a:p>
          <a:p>
            <a:r>
              <a:rPr lang="en-GB" dirty="0" smtClean="0"/>
              <a:t>No travelling time</a:t>
            </a:r>
          </a:p>
          <a:p>
            <a:pPr lvl="1"/>
            <a:r>
              <a:rPr lang="en-GB" dirty="0" smtClean="0"/>
              <a:t>Different office locations can access the same training</a:t>
            </a:r>
          </a:p>
          <a:p>
            <a:r>
              <a:rPr lang="en-GB" dirty="0" smtClean="0"/>
              <a:t>Employers can monitor employee progress through automatic progress systems (such as end of assessment scores)</a:t>
            </a:r>
          </a:p>
          <a:p>
            <a:r>
              <a:rPr lang="en-GB" dirty="0" smtClean="0"/>
              <a:t>Content is more </a:t>
            </a:r>
            <a:r>
              <a:rPr lang="en-GB" dirty="0" err="1" smtClean="0"/>
              <a:t>attrative</a:t>
            </a:r>
            <a:r>
              <a:rPr lang="en-GB" dirty="0" smtClean="0"/>
              <a:t> due to multimedia assets (animations/graphics/sound/video)</a:t>
            </a:r>
          </a:p>
          <a:p>
            <a:r>
              <a:rPr lang="en-GB" dirty="0" smtClean="0"/>
              <a:t>Compatible on mobile devices</a:t>
            </a:r>
          </a:p>
          <a:p>
            <a:r>
              <a:rPr lang="en-GB" dirty="0" smtClean="0"/>
              <a:t>Virtual reality customisation training programs in the form of work-related simulations offer a highly-interactive and realistic form of training</a:t>
            </a:r>
            <a:endParaRPr lang="en-GB" dirty="0"/>
          </a:p>
        </p:txBody>
      </p:sp>
      <p:pic>
        <p:nvPicPr>
          <p:cNvPr id="4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3" y="1903532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2" y="2412579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2" y="3234997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2" y="4057415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1" y="4879833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21" y="5373079"/>
            <a:ext cx="296203" cy="296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58304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Disadvantages of Online </a:t>
            </a:r>
            <a:r>
              <a:rPr lang="en-GB" dirty="0">
                <a:solidFill>
                  <a:schemeClr val="bg1"/>
                </a:solidFill>
              </a:rPr>
              <a:t>T</a:t>
            </a:r>
            <a:r>
              <a:rPr lang="en-GB" dirty="0" smtClean="0">
                <a:solidFill>
                  <a:schemeClr val="bg1"/>
                </a:solidFill>
              </a:rPr>
              <a:t>raining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smtClean="0">
                <a:solidFill>
                  <a:schemeClr val="bg1"/>
                </a:solidFill>
              </a:rPr>
              <a:t>Traditional training allows opportunities for employees to ask questions face to face – online training is limited to a FAQ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Can feel unsupported and isolated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Does not suit all learning styles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Organisations may not feel like they are in total control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Creating deadlines for training is difficult as employees work at different paces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Over-reliance on technology (needs good internet, electricity, browser </a:t>
            </a:r>
            <a:r>
              <a:rPr lang="en-GB" dirty="0" err="1" smtClean="0">
                <a:solidFill>
                  <a:schemeClr val="bg1"/>
                </a:solidFill>
              </a:rPr>
              <a:t>updates,etc</a:t>
            </a:r>
            <a:r>
              <a:rPr lang="en-GB" dirty="0" smtClean="0">
                <a:solidFill>
                  <a:schemeClr val="bg1"/>
                </a:solidFill>
              </a:rPr>
              <a:t>)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59" y="1945057"/>
            <a:ext cx="253341" cy="253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58" y="3237205"/>
            <a:ext cx="253341" cy="253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60" y="3747953"/>
            <a:ext cx="253341" cy="253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560" y="4247397"/>
            <a:ext cx="253341" cy="253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0254" y="5142281"/>
            <a:ext cx="253341" cy="253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44565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6905"/>
            <a:ext cx="10515600" cy="1325563"/>
          </a:xfrm>
        </p:spPr>
        <p:txBody>
          <a:bodyPr/>
          <a:lstStyle/>
          <a:p>
            <a:r>
              <a:rPr lang="en-GB" dirty="0" smtClean="0"/>
              <a:t>E-Commerce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17757" y="200379"/>
            <a:ext cx="8774243" cy="1468645"/>
          </a:xfrm>
        </p:spPr>
        <p:txBody>
          <a:bodyPr/>
          <a:lstStyle/>
          <a:p>
            <a:r>
              <a:rPr lang="en-GB" dirty="0" smtClean="0"/>
              <a:t>This is the buying and selling of products/services over the internet</a:t>
            </a:r>
          </a:p>
          <a:p>
            <a:r>
              <a:rPr lang="en-GB" dirty="0" smtClean="0"/>
              <a:t>Has become a major impact on shopping globally</a:t>
            </a:r>
          </a:p>
          <a:p>
            <a:endParaRPr lang="en-GB" dirty="0"/>
          </a:p>
        </p:txBody>
      </p:sp>
      <p:pic>
        <p:nvPicPr>
          <p:cNvPr id="1026" name="Picture 2" descr="Image result for tick sign animated .gif"/>
          <p:cNvPicPr>
            <a:picLocks noChangeAspect="1" noChangeArrowheads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0618" y="1807612"/>
            <a:ext cx="831041" cy="8310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2"/>
          <p:cNvSpPr txBox="1">
            <a:spLocks/>
          </p:cNvSpPr>
          <p:nvPr/>
        </p:nvSpPr>
        <p:spPr>
          <a:xfrm>
            <a:off x="132931" y="2136124"/>
            <a:ext cx="5833154" cy="4622768"/>
          </a:xfrm>
          <a:prstGeom prst="rect">
            <a:avLst/>
          </a:prstGeom>
          <a:ln w="38100"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>
                <a:solidFill>
                  <a:schemeClr val="bg1"/>
                </a:solidFill>
              </a:rPr>
              <a:t>More convenient for customers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Less time than travelling to shop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Great for accessibility / young children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Can access more information about products, including reviews and prices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Companies do not need to rent or purchase retail units, but can use out of town warehouses (so products are cheaper)</a:t>
            </a:r>
          </a:p>
          <a:p>
            <a:r>
              <a:rPr lang="en-GB" dirty="0" err="1" smtClean="0">
                <a:solidFill>
                  <a:schemeClr val="bg1"/>
                </a:solidFill>
              </a:rPr>
              <a:t>Scaleable</a:t>
            </a:r>
            <a:r>
              <a:rPr lang="en-GB" dirty="0" smtClean="0">
                <a:solidFill>
                  <a:schemeClr val="bg1"/>
                </a:solidFill>
              </a:rPr>
              <a:t> – can offer products worldwide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Pre-ordering and pay for goods before they are delivered on the release date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6311659" y="2136125"/>
            <a:ext cx="5605521" cy="4480336"/>
          </a:xfrm>
          <a:prstGeom prst="rect">
            <a:avLst/>
          </a:prstGeom>
          <a:ln w="38100"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2">
                    <a:lumMod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 smtClean="0">
                <a:solidFill>
                  <a:schemeClr val="bg1"/>
                </a:solidFill>
              </a:rPr>
              <a:t>Fraud Concerns?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Lots of websites are fake/offer services to scam customers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Do not have hands-on experience and must rely on images/descriptions so may not be as described. 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Returning items is not as easy as with shops</a:t>
            </a:r>
          </a:p>
          <a:p>
            <a:r>
              <a:rPr lang="en-GB" dirty="0" smtClean="0">
                <a:solidFill>
                  <a:schemeClr val="bg1"/>
                </a:solidFill>
              </a:rPr>
              <a:t>Time delay between purchase and delivery. Customers can be offered next-day delivery however this cost is passed onto the customer.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Goods not arriving/lost in post</a:t>
            </a:r>
          </a:p>
          <a:p>
            <a:pPr lvl="1"/>
            <a:r>
              <a:rPr lang="en-GB" dirty="0" smtClean="0">
                <a:solidFill>
                  <a:schemeClr val="bg1"/>
                </a:solidFill>
              </a:rPr>
              <a:t>Delays especially around Christmas/</a:t>
            </a:r>
            <a:r>
              <a:rPr lang="en-GB" dirty="0" err="1" smtClean="0">
                <a:solidFill>
                  <a:schemeClr val="bg1"/>
                </a:solidFill>
              </a:rPr>
              <a:t>etc</a:t>
            </a:r>
            <a:endParaRPr lang="en-GB" dirty="0" smtClean="0">
              <a:solidFill>
                <a:schemeClr val="bg1"/>
              </a:solidFill>
            </a:endParaRP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1028" name="Picture 4" descr="Image result for red cross animated gif"/>
          <p:cNvPicPr>
            <a:picLocks noChangeAspect="1" noChangeArrowheads="1" noCrop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58889" y="1807612"/>
            <a:ext cx="633111" cy="633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51481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1250</Words>
  <Application>Microsoft Office PowerPoint</Application>
  <PresentationFormat>Widescreen</PresentationFormat>
  <Paragraphs>136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Century Gothic</vt:lpstr>
      <vt:lpstr>Office Theme</vt:lpstr>
      <vt:lpstr>Digital Applications</vt:lpstr>
      <vt:lpstr>What we will be covering</vt:lpstr>
      <vt:lpstr>Gaming Applications</vt:lpstr>
      <vt:lpstr>Gaming Applications</vt:lpstr>
      <vt:lpstr>The social aspect of Gaming Applications</vt:lpstr>
      <vt:lpstr>Simulation Applications</vt:lpstr>
      <vt:lpstr>Simulation Applications: Virtual Reality</vt:lpstr>
      <vt:lpstr>Simulation example: Medical Use</vt:lpstr>
      <vt:lpstr>Mobile Phone Applications</vt:lpstr>
      <vt:lpstr>Mobile Phone Applications</vt:lpstr>
      <vt:lpstr>Mobile Applications: An Opportunity for Learning</vt:lpstr>
      <vt:lpstr>Mobile Applications: Customisation</vt:lpstr>
      <vt:lpstr>Online Banking</vt:lpstr>
      <vt:lpstr>Pros and cons of Online Banking for customers</vt:lpstr>
      <vt:lpstr>Pros and cons of Online Banking for Banks</vt:lpstr>
      <vt:lpstr>Online Training</vt:lpstr>
      <vt:lpstr>Advantages of online training</vt:lpstr>
      <vt:lpstr>Disadvantages of Online Training</vt:lpstr>
      <vt:lpstr>E-Commerce</vt:lpstr>
    </vt:vector>
  </TitlesOfParts>
  <Company>C2k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Applications</dc:title>
  <dc:creator>J Butler</dc:creator>
  <cp:lastModifiedBy>J Butler</cp:lastModifiedBy>
  <cp:revision>40</cp:revision>
  <dcterms:created xsi:type="dcterms:W3CDTF">2019-02-01T10:54:56Z</dcterms:created>
  <dcterms:modified xsi:type="dcterms:W3CDTF">2022-05-27T11:36:24Z</dcterms:modified>
</cp:coreProperties>
</file>