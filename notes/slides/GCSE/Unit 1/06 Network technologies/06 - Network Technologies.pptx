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90B7BC-7380-4928-8238-49B84B7B8DFF}">
          <p14:sldIdLst>
            <p14:sldId id="256"/>
            <p14:sldId id="258"/>
            <p14:sldId id="257"/>
            <p14:sldId id="259"/>
            <p14:sldId id="260"/>
            <p14:sldId id="262"/>
            <p14:sldId id="261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735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glow rad="1016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0169"/>
            <a:ext cx="10515600" cy="34767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753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469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21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20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32730"/>
            <a:ext cx="10515600" cy="1325563"/>
          </a:xfrm>
        </p:spPr>
        <p:txBody>
          <a:bodyPr/>
          <a:lstStyle>
            <a:lvl1pPr>
              <a:defRPr>
                <a:effectLst>
                  <a:glow rad="1016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  <p:sp>
        <p:nvSpPr>
          <p:cNvPr id="6" name="Subtitle 2"/>
          <p:cNvSpPr>
            <a:spLocks noGrp="1"/>
          </p:cNvSpPr>
          <p:nvPr>
            <p:ph type="subTitle" idx="4294967295" hasCustomPrompt="1"/>
          </p:nvPr>
        </p:nvSpPr>
        <p:spPr>
          <a:xfrm>
            <a:off x="268941" y="6278563"/>
            <a:ext cx="9144000" cy="1655762"/>
          </a:xfrm>
        </p:spPr>
        <p:txBody>
          <a:bodyPr/>
          <a:lstStyle>
            <a:lvl1pPr marL="228600" indent="-228600">
              <a:defRPr/>
            </a:lvl1pPr>
          </a:lstStyle>
          <a:p>
            <a:pPr marL="0" indent="0">
              <a:buNone/>
            </a:pPr>
            <a:r>
              <a:rPr lang="en-GB" dirty="0" smtClean="0"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Click to Add </a:t>
            </a:r>
            <a:endParaRPr lang="en-GB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2954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277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87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9050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178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6000">
                <a:schemeClr val="accent1">
                  <a:lumMod val="5000"/>
                  <a:lumOff val="95000"/>
                  <a:alpha val="0"/>
                </a:schemeClr>
              </a:gs>
              <a:gs pos="40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224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21B89-22B0-4316-B3CB-EC13B6EF9EC8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1088-8CB2-4F46-974D-54E278D4CC5E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014" y="5378189"/>
            <a:ext cx="10515600" cy="1325563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Network Technologies</a:t>
            </a:r>
            <a:endParaRPr lang="en-GB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25014" y="6289320"/>
            <a:ext cx="9144000" cy="1655762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Digital Technology | Unit 1 Chapter 6</a:t>
            </a:r>
            <a:endParaRPr lang="en-GB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503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a Network?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03351"/>
            <a:ext cx="10515600" cy="3573612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Consists of a number of computers linked together (via cable or using wireless technology)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Allows computers to share resources including hardware and software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Computers can then communicate with each other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A standalone computer is not connected to a network.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88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9000">
                <a:schemeClr val="bg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7738382" y="3429001"/>
            <a:ext cx="3615418" cy="236889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LAN and WAN?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679031"/>
            <a:ext cx="66895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/>
              <a:t>A LAN is known as a Local Area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 smtClean="0"/>
              <a:t>Spread over a small geographical area (i.e. building/office).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8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8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0" y="4243629"/>
            <a:ext cx="72604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/>
              <a:t>A WAN (Wide area Network)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 smtClean="0"/>
              <a:t>Spread over a large geographical area (on a global scale)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 smtClean="0"/>
              <a:t>Requires a telecommunications link, such as fibre optic or satellite.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8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800" dirty="0" smtClean="0"/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1" t="17575" r="6297" b="36789"/>
          <a:stretch/>
        </p:blipFill>
        <p:spPr>
          <a:xfrm>
            <a:off x="6600877" y="2889955"/>
            <a:ext cx="2275011" cy="1479763"/>
          </a:xfrm>
          <a:prstGeom prst="rect">
            <a:avLst/>
          </a:prstGeom>
          <a:effectLst/>
        </p:spPr>
      </p:pic>
      <p:pic>
        <p:nvPicPr>
          <p:cNvPr id="10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1" t="17575" r="6297" b="36789"/>
          <a:stretch/>
        </p:blipFill>
        <p:spPr>
          <a:xfrm>
            <a:off x="9622800" y="2785964"/>
            <a:ext cx="2275011" cy="1479763"/>
          </a:xfrm>
          <a:prstGeom prst="rect">
            <a:avLst/>
          </a:prstGeom>
          <a:effectLst/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1" t="17575" r="6297" b="36789"/>
          <a:stretch/>
        </p:blipFill>
        <p:spPr>
          <a:xfrm>
            <a:off x="7213647" y="3195286"/>
            <a:ext cx="4360614" cy="2836328"/>
          </a:xfrm>
          <a:effectLst/>
        </p:spPr>
      </p:pic>
      <p:sp>
        <p:nvSpPr>
          <p:cNvPr id="11" name="TextBox 10"/>
          <p:cNvSpPr txBox="1"/>
          <p:nvPr/>
        </p:nvSpPr>
        <p:spPr>
          <a:xfrm>
            <a:off x="8838143" y="4243629"/>
            <a:ext cx="1111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WAN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6499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81481E-6 L 0.12995 0.1719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97" y="858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/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Using Networks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318" y="2958349"/>
            <a:ext cx="11705216" cy="3874827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chemeClr val="tx1"/>
                </a:solidFill>
                <a:effectLst/>
              </a:rPr>
              <a:t>Users can save their work on a file server (can be retrieved from any PC on the network)</a:t>
            </a:r>
          </a:p>
          <a:p>
            <a:r>
              <a:rPr lang="en-GB" dirty="0" smtClean="0">
                <a:solidFill>
                  <a:schemeClr val="tx1"/>
                </a:solidFill>
                <a:effectLst/>
              </a:rPr>
              <a:t>Expensive hardware can be shared</a:t>
            </a:r>
          </a:p>
          <a:p>
            <a:r>
              <a:rPr lang="en-GB" dirty="0" smtClean="0">
                <a:solidFill>
                  <a:schemeClr val="tx1"/>
                </a:solidFill>
                <a:effectLst/>
              </a:rPr>
              <a:t>Files on the file server can be shared throughout the organisation</a:t>
            </a:r>
          </a:p>
          <a:p>
            <a:r>
              <a:rPr lang="en-GB" dirty="0" smtClean="0">
                <a:solidFill>
                  <a:schemeClr val="tx1"/>
                </a:solidFill>
                <a:effectLst/>
              </a:rPr>
              <a:t>Backing up of data can be completed at the file server (faster and more efficient than backing up individual computers)</a:t>
            </a:r>
          </a:p>
          <a:p>
            <a:r>
              <a:rPr lang="en-GB" dirty="0" smtClean="0">
                <a:solidFill>
                  <a:schemeClr val="tx1"/>
                </a:solidFill>
                <a:effectLst/>
              </a:rPr>
              <a:t>Security can be managed centrally. </a:t>
            </a:r>
          </a:p>
          <a:p>
            <a:r>
              <a:rPr lang="en-GB" dirty="0" smtClean="0">
                <a:solidFill>
                  <a:schemeClr val="tx1"/>
                </a:solidFill>
                <a:effectLst/>
              </a:rPr>
              <a:t>Updates on the file server allows computers to access software quickly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8" t="7186" r="53582" b="3250"/>
          <a:stretch/>
        </p:blipFill>
        <p:spPr>
          <a:xfrm>
            <a:off x="2187388" y="1299882"/>
            <a:ext cx="1344706" cy="156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8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Using Networks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72" t="3495" r="2617" b="4006"/>
          <a:stretch/>
        </p:blipFill>
        <p:spPr>
          <a:xfrm>
            <a:off x="2124110" y="1248453"/>
            <a:ext cx="1471261" cy="1620253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00318" y="2958349"/>
            <a:ext cx="11705216" cy="3874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>
                <a:solidFill>
                  <a:schemeClr val="tx1"/>
                </a:solidFill>
                <a:effectLst/>
              </a:rPr>
              <a:t>When a virus is installed, it can quickly spread to all computers/organisations software</a:t>
            </a:r>
          </a:p>
          <a:p>
            <a:r>
              <a:rPr lang="en-GB" dirty="0" smtClean="0">
                <a:solidFill>
                  <a:schemeClr val="tx1"/>
                </a:solidFill>
                <a:effectLst/>
              </a:rPr>
              <a:t>If a lot of users are using the system, can slow down dramatically</a:t>
            </a:r>
          </a:p>
          <a:p>
            <a:r>
              <a:rPr lang="en-GB" dirty="0" smtClean="0">
                <a:solidFill>
                  <a:schemeClr val="tx1"/>
                </a:solidFill>
                <a:effectLst/>
              </a:rPr>
              <a:t>Set-up costs are high (file servers, network switches, </a:t>
            </a:r>
            <a:r>
              <a:rPr lang="en-GB" dirty="0" err="1" smtClean="0">
                <a:solidFill>
                  <a:schemeClr val="tx1"/>
                </a:solidFill>
                <a:effectLst/>
              </a:rPr>
              <a:t>etc</a:t>
            </a:r>
            <a:r>
              <a:rPr lang="en-GB" dirty="0" smtClean="0">
                <a:solidFill>
                  <a:schemeClr val="tx1"/>
                </a:solidFill>
                <a:effectLst/>
              </a:rPr>
              <a:t>)</a:t>
            </a:r>
          </a:p>
          <a:p>
            <a:r>
              <a:rPr lang="en-GB" dirty="0" smtClean="0">
                <a:solidFill>
                  <a:schemeClr val="tx1"/>
                </a:solidFill>
                <a:effectLst/>
              </a:rPr>
              <a:t>Additional staff maybe required for maintenance/</a:t>
            </a:r>
            <a:r>
              <a:rPr lang="en-GB" dirty="0" err="1" smtClean="0">
                <a:solidFill>
                  <a:schemeClr val="tx1"/>
                </a:solidFill>
                <a:effectLst/>
              </a:rPr>
              <a:t>etc</a:t>
            </a:r>
            <a:r>
              <a:rPr lang="en-GB" dirty="0" smtClean="0">
                <a:solidFill>
                  <a:schemeClr val="tx1"/>
                </a:solidFill>
                <a:effectLst/>
              </a:rPr>
              <a:t> (increases staff costs)</a:t>
            </a:r>
          </a:p>
        </p:txBody>
      </p:sp>
    </p:spTree>
    <p:extLst>
      <p:ext uri="{BB962C8B-B14F-4D97-AF65-F5344CB8AC3E}">
        <p14:creationId xmlns:p14="http://schemas.microsoft.com/office/powerpoint/2010/main" val="355700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742" y="5399704"/>
            <a:ext cx="10515600" cy="1325563"/>
          </a:xfrm>
        </p:spPr>
        <p:txBody>
          <a:bodyPr/>
          <a:lstStyle/>
          <a:p>
            <a:r>
              <a:rPr lang="en-GB" dirty="0" smtClean="0"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Internet and Intranet</a:t>
            </a:r>
            <a:endParaRPr lang="en-GB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68941" y="6278563"/>
            <a:ext cx="9144000" cy="1655762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As well as the World Wide Web</a:t>
            </a:r>
            <a:endParaRPr lang="en-GB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801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76483"/>
            <a:ext cx="12192000" cy="1325563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chemeClr val="tx1"/>
                </a:solidFill>
                <a:effectLst/>
              </a:rPr>
              <a:t>Is the Internet and the World Wide Web the same?</a:t>
            </a:r>
            <a:endParaRPr lang="en-GB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69111"/>
            <a:ext cx="10515600" cy="3207852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These are </a:t>
            </a:r>
            <a:r>
              <a:rPr lang="en-GB" b="1" dirty="0" smtClean="0">
                <a:solidFill>
                  <a:schemeClr val="tx1"/>
                </a:solidFill>
              </a:rPr>
              <a:t>separate</a:t>
            </a:r>
            <a:r>
              <a:rPr lang="en-GB" dirty="0" smtClean="0">
                <a:solidFill>
                  <a:schemeClr val="tx1"/>
                </a:solidFill>
              </a:rPr>
              <a:t> technologies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However, they work closely together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The internet is an example of </a:t>
            </a:r>
            <a:r>
              <a:rPr lang="en-GB" b="1" dirty="0" smtClean="0">
                <a:solidFill>
                  <a:schemeClr val="tx1"/>
                </a:solidFill>
              </a:rPr>
              <a:t>WAN</a:t>
            </a:r>
            <a:r>
              <a:rPr lang="en-GB" dirty="0" smtClean="0">
                <a:solidFill>
                  <a:schemeClr val="tx1"/>
                </a:solidFill>
              </a:rPr>
              <a:t> (allows information to pass between computers linked to a global network) i.e. it is a method of transporting data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The WWW is an application which uses the internet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35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.00026 -0.287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437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glow rad="101600">
                    <a:schemeClr val="tx1">
                      <a:alpha val="60000"/>
                    </a:schemeClr>
                  </a:glow>
                </a:effectLst>
              </a:rPr>
              <a:t>Website Keywords</a:t>
            </a:r>
            <a:endParaRPr lang="en-GB" dirty="0">
              <a:effectLst>
                <a:glow rad="101600">
                  <a:schemeClr val="tx1">
                    <a:alpha val="60000"/>
                  </a:scheme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700168"/>
            <a:ext cx="12192000" cy="41578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smtClean="0"/>
              <a:t>Each Website:</a:t>
            </a:r>
          </a:p>
          <a:p>
            <a:r>
              <a:rPr lang="en-GB" dirty="0" smtClean="0"/>
              <a:t>Has a unique </a:t>
            </a:r>
            <a:r>
              <a:rPr lang="en-GB" b="1" dirty="0" smtClean="0"/>
              <a:t>URL</a:t>
            </a:r>
            <a:r>
              <a:rPr lang="en-GB" dirty="0" smtClean="0"/>
              <a:t> (Uniform Resource Location)</a:t>
            </a:r>
          </a:p>
          <a:p>
            <a:r>
              <a:rPr lang="en-GB" dirty="0" smtClean="0"/>
              <a:t>Uses a web authoring language such as </a:t>
            </a:r>
            <a:r>
              <a:rPr lang="en-GB" b="1" dirty="0" smtClean="0"/>
              <a:t>HTML</a:t>
            </a:r>
            <a:r>
              <a:rPr lang="en-GB" dirty="0" smtClean="0"/>
              <a:t> (Hypertext </a:t>
            </a:r>
            <a:r>
              <a:rPr lang="en-GB" dirty="0" err="1" smtClean="0"/>
              <a:t>Markup</a:t>
            </a:r>
            <a:r>
              <a:rPr lang="en-GB" dirty="0" smtClean="0"/>
              <a:t> Language)</a:t>
            </a:r>
          </a:p>
          <a:p>
            <a:r>
              <a:rPr lang="en-GB" dirty="0"/>
              <a:t> </a:t>
            </a:r>
            <a:r>
              <a:rPr lang="en-GB" dirty="0" smtClean="0"/>
              <a:t>Webpages are connected using </a:t>
            </a:r>
            <a:r>
              <a:rPr lang="en-GB" b="1" dirty="0" smtClean="0"/>
              <a:t>hyperlinks</a:t>
            </a:r>
            <a:r>
              <a:rPr lang="en-GB" dirty="0" smtClean="0"/>
              <a:t>, with the first page known as a </a:t>
            </a:r>
            <a:r>
              <a:rPr lang="en-GB" b="1" dirty="0" smtClean="0"/>
              <a:t>Home Page</a:t>
            </a:r>
            <a:endParaRPr lang="en-GB" dirty="0"/>
          </a:p>
          <a:p>
            <a:r>
              <a:rPr lang="en-GB" dirty="0" smtClean="0"/>
              <a:t>To allow websites to be accessed using the internet a </a:t>
            </a:r>
            <a:r>
              <a:rPr lang="en-GB" b="1" dirty="0" smtClean="0"/>
              <a:t>communications protocol </a:t>
            </a:r>
            <a:r>
              <a:rPr lang="en-GB" dirty="0" smtClean="0"/>
              <a:t>known as </a:t>
            </a:r>
            <a:r>
              <a:rPr lang="en-GB" b="1" dirty="0" smtClean="0"/>
              <a:t>http</a:t>
            </a:r>
            <a:r>
              <a:rPr lang="en-GB" dirty="0" smtClean="0"/>
              <a:t> (hypertext transfer protocol)</a:t>
            </a:r>
          </a:p>
          <a:p>
            <a:pPr marL="0" indent="0">
              <a:buNone/>
            </a:pPr>
            <a:endParaRPr lang="en-GB" u="sng" dirty="0" smtClean="0"/>
          </a:p>
          <a:p>
            <a:pPr marL="0" indent="0">
              <a:buNone/>
            </a:pPr>
            <a:r>
              <a:rPr lang="en-GB" u="sng" dirty="0" smtClean="0"/>
              <a:t>Word Selection:</a:t>
            </a:r>
          </a:p>
          <a:p>
            <a:pPr marL="0" indent="0">
              <a:buNone/>
            </a:pPr>
            <a:r>
              <a:rPr lang="en-GB" dirty="0" smtClean="0"/>
              <a:t>URL	Http	hyperlinks	Home Page		HTML		communications protocol</a:t>
            </a:r>
          </a:p>
          <a:p>
            <a:pPr marL="0" indent="0">
              <a:buNone/>
            </a:pPr>
            <a:endParaRPr lang="en-GB" u="sng" dirty="0"/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110154" y="3108818"/>
            <a:ext cx="4809393" cy="360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?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5603630" y="3581138"/>
            <a:ext cx="5290039" cy="360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?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4645269" y="4026280"/>
            <a:ext cx="1544515" cy="360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?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10289931" y="4026280"/>
            <a:ext cx="1825869" cy="360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?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7459576" y="4462108"/>
            <a:ext cx="3522102" cy="360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?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637441" y="4822592"/>
            <a:ext cx="4780085" cy="3604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?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156" b="63477" l="2344" r="97461">
                        <a14:backgroundMark x1="16504" y1="51660" x2="15723" y2="51855"/>
                        <a14:backgroundMark x1="30762" y1="51465" x2="29395" y2="49316"/>
                        <a14:backgroundMark x1="42285" y1="50781" x2="41602" y2="51465"/>
                        <a14:backgroundMark x1="42188" y1="48145" x2="41992" y2="55859"/>
                        <a14:backgroundMark x1="80957" y1="51660" x2="82129" y2="541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5439" b="35438"/>
          <a:stretch/>
        </p:blipFill>
        <p:spPr>
          <a:xfrm rot="504975">
            <a:off x="8499099" y="351321"/>
            <a:ext cx="3398145" cy="989635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919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Intranet? What’s the Difference?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992" y="2700169"/>
            <a:ext cx="6963508" cy="3476794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This is a private network owned and managed by an organisation.</a:t>
            </a:r>
          </a:p>
          <a:p>
            <a:r>
              <a:rPr lang="en-GB" dirty="0" smtClean="0"/>
              <a:t>Using Username/passwords, it can only be accessed by people belonging to the organisation.</a:t>
            </a:r>
          </a:p>
          <a:p>
            <a:r>
              <a:rPr lang="en-GB" dirty="0" smtClean="0"/>
              <a:t>In appearance, it is similar to the internet</a:t>
            </a:r>
          </a:p>
          <a:p>
            <a:r>
              <a:rPr lang="en-GB" dirty="0" smtClean="0"/>
              <a:t>C2K/My School network would be an example of an intranet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3"/>
          <a:stretch/>
        </p:blipFill>
        <p:spPr>
          <a:xfrm>
            <a:off x="7009187" y="2936632"/>
            <a:ext cx="5117604" cy="36711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perspective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59790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Internet of Things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347" y="86447"/>
            <a:ext cx="5348653" cy="3476625"/>
          </a:xfrm>
          <a:effectLst>
            <a:glow rad="50800">
              <a:schemeClr val="bg1"/>
            </a:glow>
            <a:outerShdw dist="38100" dir="2700000" algn="tl" rotWithShape="0">
              <a:prstClr val="black"/>
            </a:outerShdw>
          </a:effec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65991" y="2700168"/>
            <a:ext cx="10761785" cy="4157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Used to describe the future impact of the 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	internet on how we live and work</a:t>
            </a:r>
          </a:p>
          <a:p>
            <a:r>
              <a:rPr lang="en-GB" dirty="0" smtClean="0"/>
              <a:t>‘Things’ embedded with circuitry and sensors with network capability which enables these objects to exchange data</a:t>
            </a:r>
          </a:p>
          <a:p>
            <a:r>
              <a:rPr lang="en-GB" dirty="0" smtClean="0"/>
              <a:t>Today, </a:t>
            </a:r>
            <a:r>
              <a:rPr lang="en-GB" b="1" dirty="0" smtClean="0"/>
              <a:t>broadband</a:t>
            </a:r>
            <a:r>
              <a:rPr lang="en-GB" dirty="0" smtClean="0"/>
              <a:t> internet access is available in more locations than ever before</a:t>
            </a:r>
          </a:p>
          <a:p>
            <a:r>
              <a:rPr lang="en-GB" dirty="0" smtClean="0"/>
              <a:t>Greater range of devices using </a:t>
            </a:r>
            <a:r>
              <a:rPr lang="en-GB" dirty="0" err="1" smtClean="0"/>
              <a:t>WiFi</a:t>
            </a:r>
            <a:r>
              <a:rPr lang="en-GB" dirty="0" smtClean="0"/>
              <a:t> technology</a:t>
            </a:r>
          </a:p>
          <a:p>
            <a:r>
              <a:rPr lang="en-GB" dirty="0" smtClean="0"/>
              <a:t>The scope of </a:t>
            </a:r>
            <a:r>
              <a:rPr lang="en-GB" dirty="0" err="1" smtClean="0"/>
              <a:t>IoT</a:t>
            </a:r>
            <a:r>
              <a:rPr lang="en-GB" dirty="0" smtClean="0"/>
              <a:t> is increasing as cost decreases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8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5351295"/>
            <a:ext cx="10515600" cy="1325563"/>
          </a:xfrm>
        </p:spPr>
        <p:txBody>
          <a:bodyPr/>
          <a:lstStyle/>
          <a:p>
            <a:r>
              <a:rPr lang="en-GB" dirty="0" smtClean="0"/>
              <a:t>Network Communications Technology</a:t>
            </a:r>
            <a:endParaRPr lang="en-GB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4294967295"/>
          </p:nvPr>
        </p:nvSpPr>
        <p:spPr>
          <a:xfrm>
            <a:off x="0" y="6287527"/>
            <a:ext cx="9144000" cy="1655762"/>
          </a:xfrm>
        </p:spPr>
        <p:txBody>
          <a:bodyPr/>
          <a:lstStyle/>
          <a:p>
            <a:pPr marL="0" indent="0">
              <a:buNone/>
            </a:pPr>
            <a:r>
              <a:rPr lang="en-GB" dirty="0" err="1" smtClean="0"/>
              <a:t>WiFi</a:t>
            </a:r>
            <a:r>
              <a:rPr lang="en-GB" dirty="0"/>
              <a:t>,</a:t>
            </a:r>
            <a:r>
              <a:rPr lang="en-GB" dirty="0" smtClean="0"/>
              <a:t> Bluetooth and Mobile Communications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993102" y="2222500"/>
            <a:ext cx="3558604" cy="25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6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0833E-6 -2.96296E-6 L -0.34558 -0.1787 C -0.41732 -0.21875 -0.52513 -0.24004 -0.63854 -0.24004 C -0.76719 -0.24004 -0.87045 -0.21875 -0.94232 -0.1787 L -1.28685 -2.96296E-6 " pathEditMode="relative" rAng="0" ptsTypes="AAAAA">
                                      <p:cBhvr>
                                        <p:cTn id="6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49" y="-1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76483"/>
            <a:ext cx="12192000" cy="1325563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chemeClr val="tx1"/>
                </a:solidFill>
                <a:effectLst/>
              </a:rPr>
              <a:t>What does Wi-Fi actually stand for?</a:t>
            </a:r>
            <a:endParaRPr lang="en-GB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69111"/>
            <a:ext cx="10515600" cy="3207852"/>
          </a:xfrm>
        </p:spPr>
        <p:txBody>
          <a:bodyPr>
            <a:normAutofit lnSpcReduction="10000"/>
          </a:bodyPr>
          <a:lstStyle/>
          <a:p>
            <a:r>
              <a:rPr lang="en-GB" dirty="0" smtClean="0">
                <a:solidFill>
                  <a:schemeClr val="tx1"/>
                </a:solidFill>
              </a:rPr>
              <a:t>This stands for </a:t>
            </a:r>
            <a:r>
              <a:rPr lang="en-GB" b="1" dirty="0" smtClean="0">
                <a:solidFill>
                  <a:schemeClr val="tx1"/>
                </a:solidFill>
              </a:rPr>
              <a:t>Wireless fidelity</a:t>
            </a:r>
            <a:endParaRPr lang="en-GB" dirty="0" smtClean="0">
              <a:solidFill>
                <a:schemeClr val="tx1"/>
              </a:solidFill>
            </a:endParaRPr>
          </a:p>
          <a:p>
            <a:r>
              <a:rPr lang="en-GB" dirty="0" smtClean="0"/>
              <a:t>Devices are fitted with a built in wireless adapter, allowing users to connect to a </a:t>
            </a:r>
            <a:r>
              <a:rPr lang="en-GB" dirty="0" err="1" smtClean="0"/>
              <a:t>wi-fi</a:t>
            </a:r>
            <a:r>
              <a:rPr lang="en-GB" dirty="0" smtClean="0"/>
              <a:t> network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Uses radio waves and a wireless router</a:t>
            </a:r>
          </a:p>
          <a:p>
            <a:r>
              <a:rPr lang="en-GB" dirty="0" smtClean="0"/>
              <a:t>No need for cabled connection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Often secured by a username/password</a:t>
            </a:r>
          </a:p>
          <a:p>
            <a:r>
              <a:rPr lang="en-GB" dirty="0" smtClean="0"/>
              <a:t>Data can be transferred up to 54Mb/s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4294674"/>
            <a:ext cx="28575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3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.00026 -0.287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437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Using </a:t>
            </a:r>
            <a:r>
              <a:rPr lang="en-GB" dirty="0" err="1" smtClean="0"/>
              <a:t>Wifi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318" y="2958349"/>
            <a:ext cx="4754282" cy="3874827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chemeClr val="tx1"/>
                </a:solidFill>
                <a:effectLst/>
              </a:rPr>
              <a:t>No need for cabling (you can be flexible and move around)</a:t>
            </a:r>
          </a:p>
          <a:p>
            <a:r>
              <a:rPr lang="en-GB" dirty="0" smtClean="0"/>
              <a:t>Easier to share the network amongst many users</a:t>
            </a:r>
            <a:r>
              <a:rPr lang="en-GB" dirty="0" smtClean="0">
                <a:solidFill>
                  <a:schemeClr val="tx1"/>
                </a:solidFill>
                <a:effectLst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8" t="7186" r="53582" b="3250"/>
          <a:stretch/>
        </p:blipFill>
        <p:spPr>
          <a:xfrm>
            <a:off x="2187388" y="1299882"/>
            <a:ext cx="1344706" cy="15688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72" t="3495" r="2617" b="4006"/>
          <a:stretch/>
        </p:blipFill>
        <p:spPr>
          <a:xfrm>
            <a:off x="8270910" y="1248453"/>
            <a:ext cx="1471261" cy="1620253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6629399" y="2958348"/>
            <a:ext cx="4724401" cy="3874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Signal strength varies depending on how far you are from the wireless router.</a:t>
            </a:r>
          </a:p>
          <a:p>
            <a:r>
              <a:rPr lang="en-GB" dirty="0" smtClean="0"/>
              <a:t>Security? Unsecured </a:t>
            </a:r>
            <a:r>
              <a:rPr lang="en-GB" dirty="0" err="1" smtClean="0"/>
              <a:t>wifi</a:t>
            </a:r>
            <a:r>
              <a:rPr lang="en-GB" dirty="0" smtClean="0"/>
              <a:t> access means criminals don’t have to access the internals of a house – they can do so standing outside.</a:t>
            </a:r>
          </a:p>
        </p:txBody>
      </p:sp>
    </p:spTree>
    <p:extLst>
      <p:ext uri="{BB962C8B-B14F-4D97-AF65-F5344CB8AC3E}">
        <p14:creationId xmlns:p14="http://schemas.microsoft.com/office/powerpoint/2010/main" val="17109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675" y="4953000"/>
            <a:ext cx="6858000" cy="190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Bluetooth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Uses short range wireless technology (radio signals)</a:t>
            </a:r>
          </a:p>
          <a:p>
            <a:r>
              <a:rPr lang="en-GB" dirty="0" smtClean="0"/>
              <a:t>Connects two devices together, allowing data transfer</a:t>
            </a:r>
          </a:p>
          <a:p>
            <a:r>
              <a:rPr lang="en-GB" dirty="0" smtClean="0"/>
              <a:t>Need to be in close proximity</a:t>
            </a:r>
          </a:p>
          <a:p>
            <a:r>
              <a:rPr lang="en-GB" dirty="0" smtClean="0"/>
              <a:t>Have to synchronise first</a:t>
            </a:r>
          </a:p>
          <a:p>
            <a:r>
              <a:rPr lang="en-GB" dirty="0" smtClean="0"/>
              <a:t>No need for router, as the devices pair directly to each other</a:t>
            </a:r>
          </a:p>
          <a:p>
            <a:r>
              <a:rPr lang="en-GB" dirty="0" smtClean="0"/>
              <a:t>Cheap to use</a:t>
            </a:r>
          </a:p>
          <a:p>
            <a:r>
              <a:rPr lang="en-GB" dirty="0" smtClean="0"/>
              <a:t>Uses a lot less power than other wireless technologies</a:t>
            </a:r>
          </a:p>
          <a:p>
            <a:r>
              <a:rPr lang="en-GB" dirty="0" smtClean="0"/>
              <a:t>Uses include hands free phone calls and wireless mouse/keyboard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592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Optical Fibre</a:t>
            </a:r>
            <a:endParaRPr lang="en-GB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8382000" y="195409"/>
            <a:ext cx="4610100" cy="299055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0" y="2700168"/>
            <a:ext cx="11696700" cy="4157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Uses very thin glass strands to send data at very fast transmission speeds</a:t>
            </a:r>
          </a:p>
          <a:p>
            <a:r>
              <a:rPr lang="en-GB" dirty="0" smtClean="0"/>
              <a:t>Data is transmitted as pulses of light</a:t>
            </a:r>
          </a:p>
          <a:p>
            <a:r>
              <a:rPr lang="en-GB" dirty="0" smtClean="0"/>
              <a:t>Each strand carries one data signal – so many strands are sending information at once</a:t>
            </a:r>
          </a:p>
          <a:p>
            <a:r>
              <a:rPr lang="en-GB" dirty="0" smtClean="0"/>
              <a:t>Cannot be interfered with by hackers (unlike copper cables)</a:t>
            </a:r>
          </a:p>
          <a:p>
            <a:r>
              <a:rPr lang="en-GB" dirty="0" smtClean="0"/>
              <a:t>Higher </a:t>
            </a:r>
            <a:r>
              <a:rPr lang="en-GB" b="1" dirty="0" smtClean="0"/>
              <a:t>bandwidth</a:t>
            </a:r>
            <a:r>
              <a:rPr lang="en-GB" dirty="0" smtClean="0"/>
              <a:t> so a large capacity of data can be sent at once.</a:t>
            </a:r>
          </a:p>
          <a:p>
            <a:r>
              <a:rPr lang="en-GB" dirty="0" smtClean="0"/>
              <a:t>Expensive to install as it requires repeaters for data to be sent over long distances.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860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3"/>
          <a:stretch/>
        </p:blipFill>
        <p:spPr>
          <a:xfrm>
            <a:off x="7786321" y="4591050"/>
            <a:ext cx="4408609" cy="2266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Mobile Communications Technology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2G/3G/4G (generation technology) is capable of high speed data access</a:t>
            </a:r>
          </a:p>
          <a:p>
            <a:r>
              <a:rPr lang="en-GB" dirty="0" smtClean="0"/>
              <a:t>Expensive set up/hardware so coverage is focused on high population areas</a:t>
            </a:r>
          </a:p>
          <a:p>
            <a:r>
              <a:rPr lang="en-GB" dirty="0" smtClean="0"/>
              <a:t>5G is more reliable and works across a better range and greater speed than 4G.</a:t>
            </a:r>
          </a:p>
          <a:p>
            <a:r>
              <a:rPr lang="en-GB" dirty="0" smtClean="0"/>
              <a:t>One drawback is that it uses a lot of battery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7881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5351295"/>
            <a:ext cx="10515600" cy="1325563"/>
          </a:xfrm>
        </p:spPr>
        <p:txBody>
          <a:bodyPr/>
          <a:lstStyle/>
          <a:p>
            <a:r>
              <a:rPr lang="en-GB" dirty="0" smtClean="0"/>
              <a:t>Network Resources</a:t>
            </a:r>
            <a:endParaRPr lang="en-GB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4294967295"/>
          </p:nvPr>
        </p:nvSpPr>
        <p:spPr>
          <a:xfrm>
            <a:off x="0" y="6287527"/>
            <a:ext cx="9144000" cy="1655762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Cables, Switches and Routers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993102" y="2222500"/>
            <a:ext cx="3558604" cy="25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5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0833E-6 -2.96296E-6 L -0.34558 -0.1787 C -0.41732 -0.21875 -0.52513 -0.24004 -0.63854 -0.24004 C -0.76719 -0.24004 -0.87045 -0.21875 -0.94232 -0.1787 L -1.28685 -2.96296E-6 " pathEditMode="relative" rAng="0" ptsTypes="AAAAA">
                                      <p:cBhvr>
                                        <p:cTn id="6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49" y="-1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Network Interface Card (NIC)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An electric circuit board that needs to be installed in a computer</a:t>
            </a:r>
          </a:p>
          <a:p>
            <a:r>
              <a:rPr lang="en-GB" dirty="0" smtClean="0"/>
              <a:t>Each computer in a network requires a dedicated NIC to communicate with a file server + other computers</a:t>
            </a:r>
          </a:p>
          <a:p>
            <a:r>
              <a:rPr lang="en-GB" dirty="0" smtClean="0"/>
              <a:t>Provides a ‘port’ on the computer to allow it to connect to the network</a:t>
            </a:r>
          </a:p>
          <a:p>
            <a:r>
              <a:rPr lang="en-GB" dirty="0" smtClean="0"/>
              <a:t>Most laptops are supplied with a wireless network interface card (WNIC) as standard</a:t>
            </a:r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514" y="92564"/>
            <a:ext cx="4807486" cy="291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73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Network Cables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This is the cable that is used to directly connect into the NIC and then another device (such as switch)</a:t>
            </a:r>
          </a:p>
          <a:p>
            <a:r>
              <a:rPr lang="en-GB" dirty="0" smtClean="0"/>
              <a:t>Usually copper</a:t>
            </a:r>
          </a:p>
          <a:p>
            <a:r>
              <a:rPr lang="en-GB" dirty="0" smtClean="0"/>
              <a:t>Cables are classified into categories (depending on speed of transmission) </a:t>
            </a:r>
          </a:p>
          <a:p>
            <a:pPr lvl="1"/>
            <a:r>
              <a:rPr lang="en-GB" dirty="0" smtClean="0"/>
              <a:t>i.e. CAT6 would be faster than CAT5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55" y="0"/>
            <a:ext cx="3574945" cy="21189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66"/>
          <a:stretch/>
        </p:blipFill>
        <p:spPr>
          <a:xfrm>
            <a:off x="8444864" y="4475283"/>
            <a:ext cx="3143398" cy="2382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22271" y="6388855"/>
            <a:ext cx="81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CAT5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420613" y="6098243"/>
            <a:ext cx="81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CAT6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1993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Network Switch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0169"/>
            <a:ext cx="6767146" cy="3476794"/>
          </a:xfrm>
        </p:spPr>
        <p:txBody>
          <a:bodyPr/>
          <a:lstStyle/>
          <a:p>
            <a:r>
              <a:rPr lang="en-GB" dirty="0" smtClean="0"/>
              <a:t>A hardware device which is a single connection point for computers on a network.</a:t>
            </a:r>
          </a:p>
          <a:p>
            <a:r>
              <a:rPr lang="en-GB" dirty="0" smtClean="0"/>
              <a:t>Allows a large number of computers to be connected</a:t>
            </a:r>
          </a:p>
          <a:p>
            <a:r>
              <a:rPr lang="en-GB" dirty="0" smtClean="0"/>
              <a:t>Checks the destination of data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35"/>
          <a:stretch/>
        </p:blipFill>
        <p:spPr>
          <a:xfrm>
            <a:off x="7905750" y="2700169"/>
            <a:ext cx="4297973" cy="4157831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480394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Router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Connects a number of </a:t>
            </a:r>
            <a:r>
              <a:rPr lang="en-GB" b="1" dirty="0" smtClean="0"/>
              <a:t>networks together</a:t>
            </a:r>
            <a:r>
              <a:rPr lang="en-GB" dirty="0" smtClean="0"/>
              <a:t>, either by </a:t>
            </a:r>
            <a:r>
              <a:rPr lang="en-GB" b="1" dirty="0" smtClean="0"/>
              <a:t>cable</a:t>
            </a:r>
            <a:r>
              <a:rPr lang="en-GB" dirty="0" smtClean="0"/>
              <a:t> or </a:t>
            </a:r>
            <a:r>
              <a:rPr lang="en-GB" b="1" dirty="0" smtClean="0"/>
              <a:t>wireless</a:t>
            </a:r>
          </a:p>
          <a:p>
            <a:r>
              <a:rPr lang="en-GB" dirty="0" smtClean="0"/>
              <a:t>Examines the data as it passes and forwards it to the most appropriate </a:t>
            </a:r>
            <a:r>
              <a:rPr lang="en-GB" b="1" dirty="0" smtClean="0"/>
              <a:t>route</a:t>
            </a:r>
            <a:r>
              <a:rPr lang="en-GB" dirty="0" smtClean="0"/>
              <a:t> to its destination</a:t>
            </a:r>
          </a:p>
          <a:p>
            <a:r>
              <a:rPr lang="en-GB" b="1" dirty="0" smtClean="0"/>
              <a:t>IP addresses </a:t>
            </a:r>
            <a:r>
              <a:rPr lang="en-GB" dirty="0" smtClean="0"/>
              <a:t>are used to determine the route</a:t>
            </a:r>
          </a:p>
          <a:p>
            <a:r>
              <a:rPr lang="en-GB" dirty="0" smtClean="0"/>
              <a:t>Some routers can filter incoming and outgoing data using a </a:t>
            </a:r>
            <a:r>
              <a:rPr lang="en-GB" b="1" dirty="0" smtClean="0"/>
              <a:t>firewall</a:t>
            </a:r>
            <a:r>
              <a:rPr lang="en-GB" dirty="0" smtClean="0"/>
              <a:t> feature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39" b="99015" l="2110" r="9514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887" y="158994"/>
            <a:ext cx="3232591" cy="2768844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42293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Router Problem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5336" y="6473018"/>
            <a:ext cx="1485901" cy="5363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 smtClean="0"/>
              <a:t>START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85337" y="5785338"/>
            <a:ext cx="1485901" cy="53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○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09700" y="4355124"/>
            <a:ext cx="1485901" cy="53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A●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00954" y="3201682"/>
            <a:ext cx="1485901" cy="53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C●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075985" y="3125483"/>
            <a:ext cx="1485901" cy="53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●B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785336" y="5785338"/>
            <a:ext cx="1485901" cy="53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●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763354" y="5913612"/>
            <a:ext cx="1529863" cy="61848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○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Packet</a:t>
            </a:r>
            <a:endParaRPr lang="en-GB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2453054" y="4647010"/>
            <a:ext cx="3815861" cy="1278274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453054" y="3613181"/>
            <a:ext cx="2807064" cy="958819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5802921" y="3367041"/>
            <a:ext cx="4730264" cy="68598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711463" y="3517795"/>
            <a:ext cx="3927229" cy="2314392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5763353" y="5778023"/>
            <a:ext cx="1529863" cy="618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○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3" name="TextBox 22"/>
          <p:cNvSpPr txBox="1"/>
          <p:nvPr/>
        </p:nvSpPr>
        <p:spPr>
          <a:xfrm>
            <a:off x="8676167" y="5486400"/>
            <a:ext cx="3253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But how do we get a packet (data) to computer C?</a:t>
            </a:r>
            <a:endParaRPr lang="en-GB" dirty="0"/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774342" y="5780148"/>
            <a:ext cx="1529863" cy="618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○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5774342" y="5792217"/>
            <a:ext cx="1529863" cy="618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○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27" name="TextBox 26"/>
          <p:cNvSpPr txBox="1"/>
          <p:nvPr/>
        </p:nvSpPr>
        <p:spPr>
          <a:xfrm>
            <a:off x="525868" y="5913612"/>
            <a:ext cx="325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Or do we need to go this way?</a:t>
            </a:r>
            <a:endParaRPr lang="en-GB" dirty="0"/>
          </a:p>
        </p:txBody>
      </p:sp>
      <p:sp>
        <p:nvSpPr>
          <p:cNvPr id="28" name="TextBox 27"/>
          <p:cNvSpPr txBox="1"/>
          <p:nvPr/>
        </p:nvSpPr>
        <p:spPr>
          <a:xfrm>
            <a:off x="7442792" y="6226037"/>
            <a:ext cx="4242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So our router will decide to go from A to C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525868" y="2986384"/>
            <a:ext cx="3253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This can get quite complex if the network is very large.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944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209 L -0.35052 -0.2113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26" y="-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0.34453 -0.3868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27" y="-1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96296E-6 L 0.34271 -0.3872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35" y="-19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362 -0.38727 L -0.08203 -0.3777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89" y="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33333E-6 L -0.35235 -0.2090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617" y="-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143 -0.20926 L -0.08203 -0.3766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64" y="-838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22" grpId="0"/>
      <p:bldP spid="23" grpId="0"/>
      <p:bldP spid="23" grpId="1"/>
      <p:bldP spid="24" grpId="0"/>
      <p:bldP spid="24" grpId="1"/>
      <p:bldP spid="25" grpId="0"/>
      <p:bldP spid="25" grpId="1"/>
      <p:bldP spid="27" grpId="0"/>
      <p:bldP spid="27" grpId="1"/>
      <p:bldP spid="28" grpId="0"/>
      <p:bldP spid="28" grpId="1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5351295"/>
            <a:ext cx="10515600" cy="1325563"/>
          </a:xfrm>
        </p:spPr>
        <p:txBody>
          <a:bodyPr/>
          <a:lstStyle/>
          <a:p>
            <a:r>
              <a:rPr lang="en-GB" dirty="0" smtClean="0"/>
              <a:t>Network Topologies</a:t>
            </a:r>
            <a:endParaRPr lang="en-GB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4294967295"/>
          </p:nvPr>
        </p:nvSpPr>
        <p:spPr>
          <a:xfrm>
            <a:off x="0" y="6287527"/>
            <a:ext cx="9144000" cy="1655762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Bus, Star and Ring Networks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993102" y="2222500"/>
            <a:ext cx="3558604" cy="25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2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0833E-6 -2.96296E-6 L -0.34558 -0.1787 C -0.41732 -0.21875 -0.52513 -0.24004 -0.63854 -0.24004 C -0.76719 -0.24004 -0.87045 -0.21875 -0.94232 -0.1787 L -1.28685 -2.96296E-6 " pathEditMode="relative" rAng="0" ptsTypes="AAAAA">
                                      <p:cBhvr>
                                        <p:cTn id="6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49" y="-1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Bus Network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0168"/>
            <a:ext cx="4318591" cy="3926905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Computers are attached to a main cable called a </a:t>
            </a:r>
            <a:r>
              <a:rPr lang="en-GB" b="1" dirty="0" smtClean="0"/>
              <a:t>backbone</a:t>
            </a:r>
          </a:p>
          <a:p>
            <a:r>
              <a:rPr lang="en-GB" b="1" dirty="0" smtClean="0"/>
              <a:t>Data </a:t>
            </a:r>
            <a:r>
              <a:rPr lang="en-GB" dirty="0" smtClean="0"/>
              <a:t>can travel in both directions along the backbone</a:t>
            </a:r>
          </a:p>
          <a:p>
            <a:r>
              <a:rPr lang="en-GB" dirty="0" smtClean="0"/>
              <a:t>A new computer can be added by attaching to the backbone</a:t>
            </a:r>
          </a:p>
          <a:p>
            <a:r>
              <a:rPr lang="en-GB" dirty="0" smtClean="0"/>
              <a:t>Cheapest type of network</a:t>
            </a:r>
          </a:p>
          <a:p>
            <a:endParaRPr lang="en-GB" b="1" dirty="0" smtClean="0"/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791" y="2860212"/>
            <a:ext cx="6810042" cy="3766862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4327451" y="3200400"/>
            <a:ext cx="1648047" cy="1424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5593588" y="5369045"/>
            <a:ext cx="1529863" cy="618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○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158500" y="3666384"/>
            <a:ext cx="1529863" cy="618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○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574" t="61266" r="14311"/>
          <a:stretch/>
        </p:blipFill>
        <p:spPr>
          <a:xfrm>
            <a:off x="11055615" y="4705172"/>
            <a:ext cx="893134" cy="145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0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7.40741E-7 L 0.00092 -0.1349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2 -0.13495 L 0.21719 -0.1349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719 -0.13495 L 0.21719 -0.254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10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7 L -0.00026 0.11343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000"/>
                            </p:stCondLst>
                            <p:childTnLst>
                              <p:par>
                                <p:cTn id="47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0.11343 L -0.20351 0.1150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000"/>
                            </p:stCondLst>
                            <p:childTnLst>
                              <p:par>
                                <p:cTn id="50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351 0.11505 L -0.2026 0.2497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3000"/>
                            </p:stCondLst>
                            <p:childTnLst>
                              <p:par>
                                <p:cTn id="53" presetID="10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9" grpId="1"/>
      <p:bldP spid="9" grpId="2"/>
      <p:bldP spid="9" grpId="3"/>
      <p:bldP spid="9" grpId="4"/>
      <p:bldP spid="10" grpId="0"/>
      <p:bldP spid="10" grpId="1"/>
      <p:bldP spid="10" grpId="2"/>
      <p:bldP spid="10" grpId="3"/>
      <p:bldP spid="10" grpId="4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0168"/>
            <a:ext cx="4305300" cy="3833981"/>
          </a:xfrm>
          <a:solidFill>
            <a:schemeClr val="bg1"/>
          </a:solidFill>
        </p:spPr>
        <p:txBody>
          <a:bodyPr/>
          <a:lstStyle/>
          <a:p>
            <a:r>
              <a:rPr lang="en-GB" dirty="0" smtClean="0"/>
              <a:t>If the cable attaching to the backbone breaks, </a:t>
            </a:r>
          </a:p>
          <a:p>
            <a:pPr marL="0" indent="0">
              <a:buNone/>
            </a:pPr>
            <a:r>
              <a:rPr lang="en-GB" dirty="0" smtClean="0"/>
              <a:t>   only one computer will fail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smtClean="0"/>
              <a:t>If the backbone fails,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The whole network breaks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1344275" y="4829175"/>
            <a:ext cx="295275" cy="209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574" t="73914" r="14311" b="-1"/>
          <a:stretch/>
        </p:blipFill>
        <p:spPr>
          <a:xfrm>
            <a:off x="11055615" y="5181600"/>
            <a:ext cx="893134" cy="982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82100" y="4617158"/>
            <a:ext cx="295275" cy="209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143500" y="2781300"/>
            <a:ext cx="6805249" cy="3914775"/>
          </a:xfrm>
          <a:prstGeom prst="rect">
            <a:avLst/>
          </a:prstGeom>
          <a:solidFill>
            <a:srgbClr val="FF313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74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Star Network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0169"/>
            <a:ext cx="7597061" cy="3476794"/>
          </a:xfrm>
        </p:spPr>
        <p:txBody>
          <a:bodyPr/>
          <a:lstStyle/>
          <a:p>
            <a:r>
              <a:rPr lang="en-GB" dirty="0" smtClean="0"/>
              <a:t>All computers are connected to a central computer, known as a </a:t>
            </a:r>
            <a:r>
              <a:rPr lang="en-GB" b="1" dirty="0" smtClean="0"/>
              <a:t>file server</a:t>
            </a:r>
            <a:r>
              <a:rPr lang="en-GB" dirty="0" smtClean="0"/>
              <a:t>.</a:t>
            </a:r>
          </a:p>
          <a:p>
            <a:r>
              <a:rPr lang="en-GB" dirty="0" smtClean="0"/>
              <a:t>All data on the network passes through the file server</a:t>
            </a:r>
          </a:p>
          <a:p>
            <a:r>
              <a:rPr lang="en-GB" dirty="0" smtClean="0"/>
              <a:t>If one cable breaks, only one PC fails.</a:t>
            </a:r>
          </a:p>
          <a:p>
            <a:r>
              <a:rPr lang="en-GB" dirty="0" smtClean="0"/>
              <a:t>Expensive</a:t>
            </a:r>
            <a:endParaRPr lang="en-GB" dirty="0"/>
          </a:p>
        </p:txBody>
      </p:sp>
      <p:grpSp>
        <p:nvGrpSpPr>
          <p:cNvPr id="22" name="Group 21"/>
          <p:cNvGrpSpPr/>
          <p:nvPr/>
        </p:nvGrpSpPr>
        <p:grpSpPr>
          <a:xfrm>
            <a:off x="7762875" y="184150"/>
            <a:ext cx="4343400" cy="4258791"/>
            <a:chOff x="8260391" y="-42030"/>
            <a:chExt cx="3769684" cy="3696251"/>
          </a:xfrm>
          <a:effectLst>
            <a:glow>
              <a:schemeClr val="accent1">
                <a:satMod val="175000"/>
                <a:alpha val="67000"/>
              </a:schemeClr>
            </a:glow>
          </a:effectLst>
        </p:grpSpPr>
        <p:cxnSp>
          <p:nvCxnSpPr>
            <p:cNvPr id="11" name="Straight Connector 10"/>
            <p:cNvCxnSpPr/>
            <p:nvPr/>
          </p:nvCxnSpPr>
          <p:spPr>
            <a:xfrm>
              <a:off x="8843962" y="1513682"/>
              <a:ext cx="2414588" cy="0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9449908" y="1757875"/>
              <a:ext cx="712752" cy="1271075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 flipV="1">
              <a:off x="10192858" y="1757876"/>
              <a:ext cx="682555" cy="1254617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10137870" y="356420"/>
              <a:ext cx="24790" cy="1372380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38" b="98342" l="10127" r="8966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1413" y="1257239"/>
              <a:ext cx="682495" cy="112885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8260391" y="1124720"/>
              <a:ext cx="893134" cy="992164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9716093" y="-42030"/>
              <a:ext cx="893134" cy="99216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10365416" y="2662057"/>
              <a:ext cx="893134" cy="99216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9003341" y="2630283"/>
              <a:ext cx="893134" cy="99216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11136941" y="1124720"/>
              <a:ext cx="893134" cy="9921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986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Ring Network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0169"/>
            <a:ext cx="6500372" cy="3476794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No central/ controlling computer</a:t>
            </a:r>
          </a:p>
          <a:p>
            <a:r>
              <a:rPr lang="en-GB" dirty="0" smtClean="0"/>
              <a:t>Each computer is attached to two other adjacent computers.</a:t>
            </a:r>
          </a:p>
          <a:p>
            <a:r>
              <a:rPr lang="en-GB" dirty="0" smtClean="0"/>
              <a:t>All data travels in one direction by visiting each computer in turn until it reaches its intended destination</a:t>
            </a:r>
          </a:p>
          <a:p>
            <a:r>
              <a:rPr lang="en-GB" dirty="0" smtClean="0"/>
              <a:t>If a cable fails, then the whole network is affected.</a:t>
            </a:r>
          </a:p>
          <a:p>
            <a:r>
              <a:rPr lang="en-GB" dirty="0" smtClean="0"/>
              <a:t>To add a computer, the cables already attached need to be unattached to join the next.</a:t>
            </a:r>
            <a:endParaRPr lang="en-GB" dirty="0"/>
          </a:p>
        </p:txBody>
      </p:sp>
      <p:grpSp>
        <p:nvGrpSpPr>
          <p:cNvPr id="22" name="Group 21"/>
          <p:cNvGrpSpPr/>
          <p:nvPr/>
        </p:nvGrpSpPr>
        <p:grpSpPr>
          <a:xfrm>
            <a:off x="7610475" y="860425"/>
            <a:ext cx="4343400" cy="4258791"/>
            <a:chOff x="7010400" y="1298575"/>
            <a:chExt cx="4343400" cy="4258791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7682786" y="1870156"/>
              <a:ext cx="1490830" cy="1220898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8380952" y="4817972"/>
              <a:ext cx="1642455" cy="18963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10023407" y="3372411"/>
              <a:ext cx="723076" cy="1445561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 flipV="1">
              <a:off x="9173617" y="1757667"/>
              <a:ext cx="1572867" cy="1333387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8687648" y="1298575"/>
              <a:ext cx="1029062" cy="1143163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9435793" y="4414203"/>
              <a:ext cx="1029062" cy="1143163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10324738" y="2642895"/>
              <a:ext cx="1029062" cy="1143163"/>
            </a:xfrm>
            <a:prstGeom prst="rect">
              <a:avLst/>
            </a:prstGeom>
          </p:spPr>
        </p:pic>
        <p:cxnSp>
          <p:nvCxnSpPr>
            <p:cNvPr id="19" name="Straight Connector 18"/>
            <p:cNvCxnSpPr/>
            <p:nvPr/>
          </p:nvCxnSpPr>
          <p:spPr>
            <a:xfrm flipH="1" flipV="1">
              <a:off x="7524932" y="3295716"/>
              <a:ext cx="851627" cy="1541219"/>
            </a:xfrm>
            <a:prstGeom prst="line">
              <a:avLst/>
            </a:prstGeom>
            <a:ln w="57150"/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7866421" y="4377593"/>
              <a:ext cx="1029062" cy="1143163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1757" b="98522" l="71480" r="860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74" t="73661" r="14311"/>
            <a:stretch/>
          </p:blipFill>
          <p:spPr>
            <a:xfrm>
              <a:off x="7010400" y="2642895"/>
              <a:ext cx="1029062" cy="11431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272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1275</Words>
  <Application>Microsoft Office PowerPoint</Application>
  <PresentationFormat>Widescreen</PresentationFormat>
  <Paragraphs>159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Network Technologies</vt:lpstr>
      <vt:lpstr>What is a Network?</vt:lpstr>
      <vt:lpstr>LAN and WAN?</vt:lpstr>
      <vt:lpstr>Using Networks</vt:lpstr>
      <vt:lpstr>Using Networks</vt:lpstr>
      <vt:lpstr>Internet and Intranet</vt:lpstr>
      <vt:lpstr>Is the Internet and the World Wide Web the same?</vt:lpstr>
      <vt:lpstr>Website Keywords</vt:lpstr>
      <vt:lpstr>Intranet? What’s the Difference?</vt:lpstr>
      <vt:lpstr>The Internet of Things</vt:lpstr>
      <vt:lpstr>Network Communications Technology</vt:lpstr>
      <vt:lpstr>What does Wi-Fi actually stand for?</vt:lpstr>
      <vt:lpstr>Using Wifi</vt:lpstr>
      <vt:lpstr>Bluetooth</vt:lpstr>
      <vt:lpstr>Optical Fibre</vt:lpstr>
      <vt:lpstr>Mobile Communications Technology</vt:lpstr>
      <vt:lpstr>Network Resources</vt:lpstr>
      <vt:lpstr>Network Interface Card (NIC)</vt:lpstr>
      <vt:lpstr>Network Cables</vt:lpstr>
      <vt:lpstr>Network Switch</vt:lpstr>
      <vt:lpstr>Router</vt:lpstr>
      <vt:lpstr>The Router Problem</vt:lpstr>
      <vt:lpstr>Network Topologies</vt:lpstr>
      <vt:lpstr>Bus Network</vt:lpstr>
      <vt:lpstr>PowerPoint Presentation</vt:lpstr>
      <vt:lpstr>Star Network</vt:lpstr>
      <vt:lpstr>Ring Network</vt:lpstr>
    </vt:vector>
  </TitlesOfParts>
  <Company>C2k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Technologies</dc:title>
  <dc:creator>Mr Butler</dc:creator>
  <cp:lastModifiedBy>J Butler</cp:lastModifiedBy>
  <cp:revision>54</cp:revision>
  <dcterms:created xsi:type="dcterms:W3CDTF">2018-01-15T10:15:24Z</dcterms:created>
  <dcterms:modified xsi:type="dcterms:W3CDTF">2022-05-26T14:07:38Z</dcterms:modified>
</cp:coreProperties>
</file>