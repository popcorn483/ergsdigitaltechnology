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64" r:id="rId4"/>
    <p:sldId id="265" r:id="rId5"/>
    <p:sldId id="260" r:id="rId6"/>
    <p:sldId id="266" r:id="rId7"/>
    <p:sldId id="267" r:id="rId8"/>
    <p:sldId id="268" r:id="rId9"/>
    <p:sldId id="269" r:id="rId10"/>
    <p:sldId id="261" r:id="rId11"/>
    <p:sldId id="270" r:id="rId12"/>
    <p:sldId id="271" r:id="rId13"/>
    <p:sldId id="272" r:id="rId14"/>
    <p:sldId id="273" r:id="rId15"/>
    <p:sldId id="275" r:id="rId16"/>
    <p:sldId id="274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6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9F9"/>
    <a:srgbClr val="151C1E"/>
    <a:srgbClr val="FEC53D"/>
    <a:srgbClr val="F7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57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6FD7F-9B45-4EFA-BE25-F4493DEA2D7C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B5344-DBC5-4A58-902D-5E57453BE0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408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Multipart stationary – letting multiple copies be made simultaneously</a:t>
            </a:r>
            <a:r>
              <a:rPr lang="en-GB" baseline="0" dirty="0" smtClean="0"/>
              <a:t> i.e. letting ink feed through multiple pages at once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B5344-DBC5-4A58-902D-5E57453BE0A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323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B5344-DBC5-4A58-902D-5E57453BE0AE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536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B5344-DBC5-4A58-902D-5E57453BE0A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631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B5344-DBC5-4A58-902D-5E57453BE0AE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214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1B5344-DBC5-4A58-902D-5E57453BE0AE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442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38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96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93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537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73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02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17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04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86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46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38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7C1FB-F928-4E7C-97EB-7FDBCF5C43DF}" type="datetimeFigureOut">
              <a:rPr lang="en-GB" smtClean="0"/>
              <a:t>30/10/2026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FA9C2-98D6-4F9B-AEB7-9792732EB1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19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jpe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jpe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GB" sz="7200" dirty="0" smtClean="0">
                <a:latin typeface="Designer" pitchFamily="50" charset="0"/>
              </a:rPr>
              <a:t>Computer Hardware</a:t>
            </a:r>
            <a:endParaRPr lang="en-GB" sz="7200" dirty="0">
              <a:latin typeface="Designer" pitchFamily="50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474662"/>
          </a:xfrm>
        </p:spPr>
        <p:txBody>
          <a:bodyPr>
            <a:normAutofit/>
          </a:bodyPr>
          <a:lstStyle/>
          <a:p>
            <a:r>
              <a:rPr lang="en-GB" dirty="0" smtClean="0">
                <a:latin typeface="Designer" pitchFamily="50" charset="0"/>
              </a:rPr>
              <a:t>Digital Technology | Chapter 5</a:t>
            </a:r>
            <a:endParaRPr lang="en-GB" dirty="0">
              <a:latin typeface="Designer" pitchFamily="50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48" b="88906" l="12631" r="8993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7858" y="3509963"/>
            <a:ext cx="5830982" cy="369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1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/>
        </p:nvSpPr>
        <p:spPr>
          <a:xfrm rot="16200000">
            <a:off x="6965951" y="1631948"/>
            <a:ext cx="4178301" cy="6273797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2617"/>
          </a:xfrm>
          <a:solidFill>
            <a:schemeClr val="accent6">
              <a:lumMod val="5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The</a:t>
            </a:r>
            <a:r>
              <a:rPr lang="en-GB" dirty="0" smtClean="0">
                <a:latin typeface="Designer" pitchFamily="50" charset="0"/>
              </a:rPr>
              <a:t> </a:t>
            </a:r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CPU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" y="864171"/>
            <a:ext cx="12026900" cy="2574132"/>
          </a:xfrm>
        </p:spPr>
        <p:txBody>
          <a:bodyPr>
            <a:normAutofit/>
          </a:bodyPr>
          <a:lstStyle/>
          <a:p>
            <a:r>
              <a:rPr lang="en-GB" sz="2400" dirty="0" smtClean="0"/>
              <a:t>This is known as ‘the brain’ of the computer</a:t>
            </a:r>
          </a:p>
          <a:p>
            <a:r>
              <a:rPr lang="en-GB" sz="2400" dirty="0" smtClean="0"/>
              <a:t>It is a microprocessor, and its main role is to process </a:t>
            </a:r>
            <a:r>
              <a:rPr lang="en-GB" sz="2400" b="1" dirty="0" smtClean="0"/>
              <a:t>programs</a:t>
            </a:r>
            <a:r>
              <a:rPr lang="en-GB" sz="2400" dirty="0" smtClean="0"/>
              <a:t> and data</a:t>
            </a:r>
          </a:p>
          <a:p>
            <a:r>
              <a:rPr lang="en-GB" sz="2400" dirty="0" smtClean="0"/>
              <a:t>This is achieved by repeatedly fetching an instruction from memory and executing it (carrying out the instruction)</a:t>
            </a:r>
          </a:p>
          <a:p>
            <a:r>
              <a:rPr lang="en-GB" sz="2400" dirty="0" smtClean="0"/>
              <a:t>This is known as the </a:t>
            </a:r>
            <a:r>
              <a:rPr lang="en-GB" sz="2400" b="1" dirty="0" smtClean="0"/>
              <a:t>fetch-execute</a:t>
            </a:r>
            <a:r>
              <a:rPr lang="en-GB" sz="2400" dirty="0" smtClean="0"/>
              <a:t> </a:t>
            </a:r>
            <a:r>
              <a:rPr lang="en-GB" sz="2400" dirty="0" smtClean="0">
                <a:solidFill>
                  <a:schemeClr val="bg1"/>
                </a:solidFill>
              </a:rPr>
              <a:t>cycle</a:t>
            </a:r>
          </a:p>
          <a:p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7077075" y="4326492"/>
            <a:ext cx="4984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/>
              <a:t>explain the purpose of the central processing unit (CPU) </a:t>
            </a:r>
          </a:p>
        </p:txBody>
      </p:sp>
      <p:sp>
        <p:nvSpPr>
          <p:cNvPr id="5" name="Rectangle 4"/>
          <p:cNvSpPr/>
          <p:nvPr/>
        </p:nvSpPr>
        <p:spPr>
          <a:xfrm>
            <a:off x="7077075" y="4736803"/>
            <a:ext cx="4984750" cy="20005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CPU Purpose</a:t>
            </a:r>
            <a:r>
              <a:rPr lang="en-GB" sz="2800" u="sng" dirty="0" smtClean="0"/>
              <a:t>			</a:t>
            </a:r>
          </a:p>
          <a:p>
            <a:r>
              <a:rPr lang="en-GB" sz="2400" dirty="0"/>
              <a:t>Manages the functions of a computer by processing data and instructions; carries out the instructions of a computer’s programs.</a:t>
            </a:r>
          </a:p>
        </p:txBody>
      </p:sp>
      <p:pic>
        <p:nvPicPr>
          <p:cNvPr id="1026" name="Picture 2" descr="Cpu - Free electronics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2" y="3326368"/>
            <a:ext cx="3155948" cy="3155948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395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/>
        </p:nvSpPr>
        <p:spPr>
          <a:xfrm rot="16200000">
            <a:off x="6965951" y="1631948"/>
            <a:ext cx="4178301" cy="6273797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2617"/>
          </a:xfrm>
          <a:solidFill>
            <a:schemeClr val="accent6">
              <a:lumMod val="5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The</a:t>
            </a:r>
            <a:r>
              <a:rPr lang="en-GB" dirty="0" smtClean="0">
                <a:latin typeface="Designer" pitchFamily="50" charset="0"/>
              </a:rPr>
              <a:t> </a:t>
            </a:r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CPU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" y="864171"/>
            <a:ext cx="12026900" cy="2574132"/>
          </a:xfrm>
        </p:spPr>
        <p:txBody>
          <a:bodyPr>
            <a:normAutofit/>
          </a:bodyPr>
          <a:lstStyle/>
          <a:p>
            <a:r>
              <a:rPr lang="en-GB" sz="2400" dirty="0"/>
              <a:t>A computer appears to be completing many tasks at once for example playing music while you complete homework or surf the internet. </a:t>
            </a:r>
            <a:r>
              <a:rPr lang="en-GB" sz="2400" dirty="0" smtClean="0"/>
              <a:t>However</a:t>
            </a:r>
            <a:r>
              <a:rPr lang="en-GB" sz="2400" dirty="0"/>
              <a:t>, the </a:t>
            </a:r>
            <a:r>
              <a:rPr lang="en-GB" sz="2400" dirty="0" smtClean="0"/>
              <a:t>CPU is </a:t>
            </a:r>
            <a:r>
              <a:rPr lang="en-GB" sz="2400" dirty="0"/>
              <a:t>only completing one task at a time. </a:t>
            </a:r>
            <a:endParaRPr lang="en-GB" sz="2400" dirty="0" smtClean="0"/>
          </a:p>
          <a:p>
            <a:r>
              <a:rPr lang="en-GB" sz="2400" dirty="0" smtClean="0"/>
              <a:t>The </a:t>
            </a:r>
            <a:r>
              <a:rPr lang="en-GB" sz="2400" dirty="0"/>
              <a:t>central processing unit uses a quartz clock to control how much time is given to each task. </a:t>
            </a:r>
            <a:endParaRPr lang="en-GB" sz="2400" dirty="0" smtClean="0"/>
          </a:p>
          <a:p>
            <a:r>
              <a:rPr lang="en-GB" sz="2400" dirty="0" smtClean="0"/>
              <a:t>With </a:t>
            </a:r>
            <a:r>
              <a:rPr lang="en-GB" sz="2400" dirty="0"/>
              <a:t>each </a:t>
            </a:r>
            <a:r>
              <a:rPr lang="en-GB" sz="2400" dirty="0" smtClean="0"/>
              <a:t>tick of this clock, </a:t>
            </a:r>
            <a:r>
              <a:rPr lang="en-GB" sz="2400" dirty="0"/>
              <a:t>the CPU </a:t>
            </a:r>
            <a:r>
              <a:rPr lang="en-GB" sz="2400" b="1" dirty="0"/>
              <a:t>processes one piece of data </a:t>
            </a:r>
            <a:r>
              <a:rPr lang="en-GB" sz="2400" dirty="0"/>
              <a:t>or </a:t>
            </a:r>
            <a:r>
              <a:rPr lang="en-GB" sz="2400" b="1" dirty="0"/>
              <a:t>executes one </a:t>
            </a:r>
            <a:r>
              <a:rPr lang="en-GB" sz="2400" b="1" dirty="0" smtClean="0"/>
              <a:t>instruction</a:t>
            </a:r>
            <a:r>
              <a:rPr lang="en-GB" sz="2400" dirty="0" smtClean="0"/>
              <a:t> for a particular task. </a:t>
            </a: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7077075" y="4326492"/>
            <a:ext cx="4984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/>
              <a:t>explain the purpose of the central processing unit (CPU) </a:t>
            </a:r>
          </a:p>
        </p:txBody>
      </p:sp>
      <p:sp>
        <p:nvSpPr>
          <p:cNvPr id="5" name="Rectangle 4"/>
          <p:cNvSpPr/>
          <p:nvPr/>
        </p:nvSpPr>
        <p:spPr>
          <a:xfrm>
            <a:off x="7077075" y="4736803"/>
            <a:ext cx="4984750" cy="20005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CPU Purpose</a:t>
            </a:r>
            <a:r>
              <a:rPr lang="en-GB" sz="2800" u="sng" dirty="0" smtClean="0"/>
              <a:t>			</a:t>
            </a:r>
          </a:p>
          <a:p>
            <a:r>
              <a:rPr lang="en-GB" sz="2400" dirty="0"/>
              <a:t>Manages the functions of a computer by processing data and instructions; carries out the instructions of a computer’s programs.</a:t>
            </a:r>
          </a:p>
        </p:txBody>
      </p:sp>
      <p:pic>
        <p:nvPicPr>
          <p:cNvPr id="1026" name="Picture 2" descr="Cpu - Free electronics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2" y="3326368"/>
            <a:ext cx="3155948" cy="3155948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29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68300" y="1822450"/>
            <a:ext cx="2978150" cy="274954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ight Triangle 5"/>
          <p:cNvSpPr/>
          <p:nvPr/>
        </p:nvSpPr>
        <p:spPr>
          <a:xfrm rot="16200000">
            <a:off x="6965951" y="1631948"/>
            <a:ext cx="4178301" cy="6273797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2617"/>
          </a:xfrm>
          <a:solidFill>
            <a:schemeClr val="accent6">
              <a:lumMod val="5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The</a:t>
            </a:r>
            <a:r>
              <a:rPr lang="en-GB" dirty="0" smtClean="0">
                <a:latin typeface="Designer" pitchFamily="50" charset="0"/>
              </a:rPr>
              <a:t> </a:t>
            </a:r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CPU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6061"/>
            <a:ext cx="12026900" cy="488379"/>
          </a:xfrm>
        </p:spPr>
        <p:txBody>
          <a:bodyPr>
            <a:normAutofit/>
          </a:bodyPr>
          <a:lstStyle/>
          <a:p>
            <a:r>
              <a:rPr lang="en-GB" sz="2400" dirty="0" smtClean="0"/>
              <a:t>The CPU has some very important components:</a:t>
            </a:r>
            <a:endParaRPr lang="en-GB" sz="2400" dirty="0"/>
          </a:p>
        </p:txBody>
      </p:sp>
      <p:sp>
        <p:nvSpPr>
          <p:cNvPr id="5" name="Rectangle 4"/>
          <p:cNvSpPr/>
          <p:nvPr/>
        </p:nvSpPr>
        <p:spPr>
          <a:xfrm>
            <a:off x="3584574" y="1114440"/>
            <a:ext cx="8505826" cy="15388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The Arithmetic Logic Unit (ALU)				</a:t>
            </a:r>
            <a:endParaRPr lang="en-GB" sz="2800" u="sng" dirty="0" smtClean="0"/>
          </a:p>
          <a:p>
            <a:r>
              <a:rPr lang="en-GB" sz="2200" dirty="0"/>
              <a:t>The ALU processes all data inside the CPU. Arithmetic logic unit: the part of the CPU that carries out arithmetic calculations and logical operations and comparisons, e.g. AND, OR, NOT and 'greater than'.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800" y="1898650"/>
            <a:ext cx="1390650" cy="125730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Control Unit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1885950" y="1898650"/>
            <a:ext cx="1390650" cy="125730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Arithmetic Logic Unit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431800" y="3238469"/>
            <a:ext cx="2844800" cy="1257300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Immediate Access Store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3584574" y="2901619"/>
            <a:ext cx="8505826" cy="15388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The Control Unit						</a:t>
            </a:r>
            <a:endParaRPr lang="en-GB" sz="2800" u="sng" dirty="0" smtClean="0"/>
          </a:p>
          <a:p>
            <a:r>
              <a:rPr lang="en-GB" sz="2200" dirty="0"/>
              <a:t>The part of the CPU that fetches and decodes instructions and sends control signals so that they are executed, co-ordinating all the other </a:t>
            </a:r>
            <a:r>
              <a:rPr lang="en-GB" sz="2200" dirty="0" smtClean="0"/>
              <a:t>components of the computer.</a:t>
            </a:r>
            <a:endParaRPr lang="en-GB" sz="2200" dirty="0"/>
          </a:p>
        </p:txBody>
      </p:sp>
      <p:sp>
        <p:nvSpPr>
          <p:cNvPr id="13" name="Rectangle 12"/>
          <p:cNvSpPr/>
          <p:nvPr/>
        </p:nvSpPr>
        <p:spPr>
          <a:xfrm>
            <a:off x="3584574" y="4852081"/>
            <a:ext cx="8505826" cy="18774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The Immediate Access Store				</a:t>
            </a:r>
            <a:endParaRPr lang="en-GB" sz="2800" u="sng" dirty="0" smtClean="0"/>
          </a:p>
          <a:p>
            <a:r>
              <a:rPr lang="en-GB" sz="2200" dirty="0" smtClean="0"/>
              <a:t>Each </a:t>
            </a:r>
            <a:r>
              <a:rPr lang="en-GB" sz="2200" dirty="0"/>
              <a:t>piece of data is stored in the </a:t>
            </a:r>
            <a:r>
              <a:rPr lang="en-GB" sz="2200" dirty="0" smtClean="0"/>
              <a:t>RAM chip </a:t>
            </a:r>
            <a:r>
              <a:rPr lang="en-GB" sz="2200" dirty="0"/>
              <a:t>so that the CPU can retrieve data immediately. Main memory that holds the programs and data currently in </a:t>
            </a:r>
            <a:r>
              <a:rPr lang="en-GB" sz="2200" dirty="0" smtClean="0"/>
              <a:t>use. </a:t>
            </a:r>
            <a:r>
              <a:rPr lang="en-GB" sz="2200" dirty="0"/>
              <a:t>Each memory location has a unique address assigned to it.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3500" y="4648198"/>
            <a:ext cx="3419474" cy="213331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 smtClean="0"/>
              <a:t>Registers</a:t>
            </a:r>
            <a:r>
              <a:rPr lang="en-GB" sz="2400" dirty="0" smtClean="0"/>
              <a:t> are </a:t>
            </a:r>
            <a:r>
              <a:rPr lang="en-GB" sz="2400" dirty="0"/>
              <a:t>normally used for a specific purpose, where data or control information is temporarily stored. Some registers are used in the fetch-execute cycle while others may be used by the program being executed. </a:t>
            </a:r>
            <a:endParaRPr lang="en-GB" sz="2400" dirty="0" smtClean="0"/>
          </a:p>
          <a:p>
            <a:r>
              <a:rPr lang="en-GB" sz="2400" dirty="0" smtClean="0"/>
              <a:t>Registers </a:t>
            </a:r>
            <a:r>
              <a:rPr lang="en-GB" sz="2400" dirty="0"/>
              <a:t>are much faster to access because they have to be accessed so often.</a:t>
            </a:r>
          </a:p>
        </p:txBody>
      </p:sp>
    </p:spTree>
    <p:extLst>
      <p:ext uri="{BB962C8B-B14F-4D97-AF65-F5344CB8AC3E}">
        <p14:creationId xmlns:p14="http://schemas.microsoft.com/office/powerpoint/2010/main" val="367467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38135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38135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38135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6013"/>
            <a:ext cx="5900216" cy="5741100"/>
          </a:xfrm>
        </p:spPr>
        <p:txBody>
          <a:bodyPr>
            <a:normAutofit/>
          </a:bodyPr>
          <a:lstStyle/>
          <a:p>
            <a:r>
              <a:rPr lang="en-GB" dirty="0"/>
              <a:t>This stores the </a:t>
            </a:r>
            <a:r>
              <a:rPr lang="en-GB" b="1" dirty="0"/>
              <a:t>address</a:t>
            </a:r>
            <a:r>
              <a:rPr lang="en-GB" dirty="0"/>
              <a:t> (memory location reference) of the </a:t>
            </a:r>
            <a:r>
              <a:rPr lang="en-GB" b="1" dirty="0"/>
              <a:t>next instruction </a:t>
            </a:r>
            <a:r>
              <a:rPr lang="en-GB" dirty="0"/>
              <a:t>to be fetched</a:t>
            </a:r>
          </a:p>
          <a:p>
            <a:endParaRPr lang="en-GB" dirty="0"/>
          </a:p>
          <a:p>
            <a:r>
              <a:rPr lang="en-GB" dirty="0"/>
              <a:t>Many program instructions are ordered, the </a:t>
            </a:r>
            <a:r>
              <a:rPr lang="en-GB" b="1" dirty="0"/>
              <a:t>program counter is incremented by 1 </a:t>
            </a:r>
            <a:r>
              <a:rPr lang="en-GB" dirty="0"/>
              <a:t>each time an instruction is </a:t>
            </a:r>
            <a:r>
              <a:rPr lang="en-GB" dirty="0" smtClean="0"/>
              <a:t>fetched.</a:t>
            </a:r>
            <a:endParaRPr lang="en-GB" dirty="0"/>
          </a:p>
          <a:p>
            <a:endParaRPr lang="en-GB" dirty="0"/>
          </a:p>
          <a:p>
            <a:r>
              <a:rPr lang="en-GB" dirty="0"/>
              <a:t>The program counter always </a:t>
            </a:r>
            <a:r>
              <a:rPr lang="en-GB" b="1" dirty="0"/>
              <a:t>points to the next instruction </a:t>
            </a:r>
            <a:r>
              <a:rPr lang="en-GB" dirty="0"/>
              <a:t>address in </a:t>
            </a:r>
            <a:r>
              <a:rPr lang="en-GB" dirty="0" smtClean="0"/>
              <a:t>sequence.</a:t>
            </a:r>
            <a:endParaRPr lang="en-GB" dirty="0"/>
          </a:p>
          <a:p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REGISTERS: Program Counter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27113"/>
            <a:ext cx="12192000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200" b="1" dirty="0" smtClean="0"/>
              <a:t>📖 Register</a:t>
            </a:r>
            <a:r>
              <a:rPr lang="en-GB" sz="2200" b="1" dirty="0"/>
              <a:t> </a:t>
            </a:r>
            <a:r>
              <a:rPr lang="en-GB" sz="2200" dirty="0" smtClean="0"/>
              <a:t>A very small, fast memory location inside the CPU used for one specific purpose</a:t>
            </a:r>
            <a:endParaRPr lang="en-GB" sz="2200" dirty="0"/>
          </a:p>
        </p:txBody>
      </p:sp>
      <p:sp>
        <p:nvSpPr>
          <p:cNvPr id="6" name="Rectangle 5"/>
          <p:cNvSpPr/>
          <p:nvPr/>
        </p:nvSpPr>
        <p:spPr>
          <a:xfrm>
            <a:off x="6414149" y="799167"/>
            <a:ext cx="5713331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Program Counter			</a:t>
            </a:r>
            <a:endParaRPr lang="en-GB" sz="2800" u="sng" dirty="0" smtClean="0"/>
          </a:p>
          <a:p>
            <a:r>
              <a:rPr lang="en-GB" sz="2400" dirty="0"/>
              <a:t>The register that holds the address of the next instruction to be fetched; it is incremented after each fetch.</a:t>
            </a:r>
            <a:endParaRPr lang="en-GB" sz="2200" dirty="0"/>
          </a:p>
        </p:txBody>
      </p:sp>
      <p:sp>
        <p:nvSpPr>
          <p:cNvPr id="7" name="Rectangle 6"/>
          <p:cNvSpPr/>
          <p:nvPr/>
        </p:nvSpPr>
        <p:spPr>
          <a:xfrm>
            <a:off x="9976304" y="4010804"/>
            <a:ext cx="1914699" cy="604059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00000001</a:t>
            </a:r>
            <a:endParaRPr lang="en-GB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976304" y="4010804"/>
            <a:ext cx="1914699" cy="604059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00000002</a:t>
            </a:r>
            <a:endParaRPr lang="en-GB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976304" y="4010804"/>
            <a:ext cx="1914699" cy="604059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00000003</a:t>
            </a:r>
            <a:endParaRPr lang="en-GB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976303" y="4010803"/>
            <a:ext cx="1914699" cy="604059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00000004</a:t>
            </a:r>
            <a:endParaRPr lang="en-GB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976303" y="4010803"/>
            <a:ext cx="1914699" cy="604059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00000005</a:t>
            </a:r>
            <a:endParaRPr lang="en-GB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976302" y="4010802"/>
            <a:ext cx="1914699" cy="604059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3200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00000006</a:t>
            </a:r>
            <a:endParaRPr lang="en-GB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6734341" y="3219711"/>
            <a:ext cx="2818015" cy="2234739"/>
            <a:chOff x="6907877" y="2261061"/>
            <a:chExt cx="2818015" cy="2234739"/>
          </a:xfrm>
        </p:grpSpPr>
        <p:sp>
          <p:nvSpPr>
            <p:cNvPr id="14" name="Rectangle 13"/>
            <p:cNvSpPr/>
            <p:nvPr/>
          </p:nvSpPr>
          <p:spPr>
            <a:xfrm>
              <a:off x="6907877" y="2261061"/>
              <a:ext cx="2818015" cy="19867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dirty="0" smtClean="0">
                  <a:solidFill>
                    <a:schemeClr val="tx1"/>
                  </a:solidFill>
                </a:rPr>
                <a:t>Processing…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5" name="Trapezoid 14"/>
            <p:cNvSpPr/>
            <p:nvPr/>
          </p:nvSpPr>
          <p:spPr>
            <a:xfrm>
              <a:off x="7217526" y="4247802"/>
              <a:ext cx="2198716" cy="247998"/>
            </a:xfrm>
            <a:prstGeom prst="trapezoid">
              <a:avLst>
                <a:gd name="adj" fmla="val 41667"/>
              </a:avLst>
            </a:prstGeom>
            <a:solidFill>
              <a:schemeClr val="tx1">
                <a:lumMod val="50000"/>
              </a:schemeClr>
            </a:solidFill>
            <a:ln w="76200">
              <a:solidFill>
                <a:schemeClr val="tx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94900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96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920" fill="hold">
                                          <p:stCondLst>
                                            <p:cond delay="192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920" fill="hold">
                                          <p:stCondLst>
                                            <p:cond delay="384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920" fill="hold">
                                          <p:stCondLst>
                                            <p:cond delay="576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920" fill="hold">
                                          <p:stCondLst>
                                            <p:cond delay="768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6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28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703153"/>
            <a:ext cx="5900216" cy="3723959"/>
          </a:xfrm>
        </p:spPr>
        <p:txBody>
          <a:bodyPr>
            <a:normAutofit/>
          </a:bodyPr>
          <a:lstStyle/>
          <a:p>
            <a:r>
              <a:rPr lang="en-GB" dirty="0"/>
              <a:t>Also called MAR</a:t>
            </a:r>
          </a:p>
          <a:p>
            <a:endParaRPr lang="en-GB" dirty="0"/>
          </a:p>
          <a:p>
            <a:r>
              <a:rPr lang="en-GB" dirty="0"/>
              <a:t>All program instructions are stored in a number of memory locations, each of which have a unique address</a:t>
            </a:r>
          </a:p>
          <a:p>
            <a:endParaRPr lang="en-GB" dirty="0"/>
          </a:p>
          <a:p>
            <a:r>
              <a:rPr lang="en-GB" dirty="0"/>
              <a:t>The current instructions’ address is stored (temporarily) in the MAR</a:t>
            </a:r>
          </a:p>
          <a:p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REGISTERS: Memory Address Register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27113"/>
            <a:ext cx="12192000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200" b="1" dirty="0" smtClean="0"/>
              <a:t>📖 Register</a:t>
            </a:r>
            <a:r>
              <a:rPr lang="en-GB" sz="2200" b="1" dirty="0"/>
              <a:t> </a:t>
            </a:r>
            <a:r>
              <a:rPr lang="en-GB" sz="2200" dirty="0" smtClean="0"/>
              <a:t>A very small, fast memory location inside the CPU used for one specific purpose</a:t>
            </a:r>
            <a:endParaRPr lang="en-GB" sz="2200" dirty="0"/>
          </a:p>
        </p:txBody>
      </p:sp>
      <p:sp>
        <p:nvSpPr>
          <p:cNvPr id="6" name="Rectangle 5"/>
          <p:cNvSpPr/>
          <p:nvPr/>
        </p:nvSpPr>
        <p:spPr>
          <a:xfrm>
            <a:off x="93442" y="749991"/>
            <a:ext cx="5713331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Memory Address Register		</a:t>
            </a:r>
            <a:endParaRPr lang="en-GB" sz="2800" u="sng" dirty="0" smtClean="0"/>
          </a:p>
          <a:p>
            <a:r>
              <a:rPr lang="en-GB" sz="2400" dirty="0"/>
              <a:t>The memory address register stores the </a:t>
            </a:r>
            <a:r>
              <a:rPr lang="en-GB" sz="2400" dirty="0" smtClean="0"/>
              <a:t>memory location which is being used (read from/written to) by the current instruction.</a:t>
            </a:r>
            <a:endParaRPr lang="en-GB" sz="22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7"/>
          <a:stretch/>
        </p:blipFill>
        <p:spPr>
          <a:xfrm rot="817397">
            <a:off x="7814695" y="1314816"/>
            <a:ext cx="3726229" cy="48382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3840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703153"/>
            <a:ext cx="8349740" cy="3723959"/>
          </a:xfrm>
        </p:spPr>
        <p:txBody>
          <a:bodyPr>
            <a:normAutofit/>
          </a:bodyPr>
          <a:lstStyle/>
          <a:p>
            <a:r>
              <a:rPr lang="en-GB" dirty="0"/>
              <a:t>Temporarily stores data being fetched from/written to the main memory of the CPU</a:t>
            </a:r>
          </a:p>
          <a:p>
            <a:pPr marL="36576" indent="0">
              <a:buNone/>
            </a:pPr>
            <a:endParaRPr lang="en-GB" dirty="0"/>
          </a:p>
          <a:p>
            <a:r>
              <a:rPr lang="en-GB" dirty="0" smtClean="0"/>
              <a:t>This is the only register that is directly linked between RAM (main memory) and the CPU.</a:t>
            </a:r>
          </a:p>
          <a:p>
            <a:endParaRPr lang="en-GB" dirty="0" smtClean="0"/>
          </a:p>
          <a:p>
            <a:r>
              <a:rPr lang="en-GB" dirty="0" smtClean="0"/>
              <a:t>Any data being sent into the CPU goes into this register</a:t>
            </a:r>
            <a:endParaRPr lang="en-GB" dirty="0"/>
          </a:p>
          <a:p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REGISTERS: Memory Data Register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27113"/>
            <a:ext cx="12192000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200" b="1" dirty="0" smtClean="0"/>
              <a:t>📖 Register</a:t>
            </a:r>
            <a:r>
              <a:rPr lang="en-GB" sz="2200" b="1" dirty="0"/>
              <a:t> </a:t>
            </a:r>
            <a:r>
              <a:rPr lang="en-GB" sz="2200" dirty="0" smtClean="0"/>
              <a:t>A very small, fast memory location inside the CPU used for one specific purpose</a:t>
            </a:r>
            <a:endParaRPr lang="en-GB" sz="2200" dirty="0"/>
          </a:p>
        </p:txBody>
      </p:sp>
      <p:sp>
        <p:nvSpPr>
          <p:cNvPr id="6" name="Rectangle 5"/>
          <p:cNvSpPr/>
          <p:nvPr/>
        </p:nvSpPr>
        <p:spPr>
          <a:xfrm>
            <a:off x="93442" y="749991"/>
            <a:ext cx="6647755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Memory Data Register			</a:t>
            </a:r>
            <a:endParaRPr lang="en-GB" sz="2800" u="sng" dirty="0" smtClean="0"/>
          </a:p>
          <a:p>
            <a:r>
              <a:rPr lang="en-GB" sz="2400" dirty="0"/>
              <a:t>H</a:t>
            </a:r>
            <a:r>
              <a:rPr lang="en-GB" sz="2400" dirty="0" smtClean="0"/>
              <a:t>olds </a:t>
            </a:r>
            <a:r>
              <a:rPr lang="en-GB" sz="2400" dirty="0"/>
              <a:t>the data or instruction being transferred to or from memory; everything moving between the CPU and memory passes through it.</a:t>
            </a:r>
            <a:endParaRPr lang="en-GB" sz="2200" dirty="0"/>
          </a:p>
        </p:txBody>
      </p:sp>
      <p:sp>
        <p:nvSpPr>
          <p:cNvPr id="7" name="Rectangle 6"/>
          <p:cNvSpPr/>
          <p:nvPr/>
        </p:nvSpPr>
        <p:spPr>
          <a:xfrm>
            <a:off x="8524481" y="1006432"/>
            <a:ext cx="2978150" cy="274954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4000" dirty="0" smtClean="0">
                <a:solidFill>
                  <a:schemeClr val="accent4">
                    <a:lumMod val="50000"/>
                  </a:schemeClr>
                </a:solidFill>
              </a:rPr>
              <a:t>CPU</a:t>
            </a:r>
            <a:endParaRPr lang="en-GB" sz="4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24481" y="4659784"/>
            <a:ext cx="2978150" cy="12239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 smtClean="0">
                <a:solidFill>
                  <a:schemeClr val="accent4">
                    <a:lumMod val="50000"/>
                  </a:schemeClr>
                </a:solidFill>
              </a:rPr>
              <a:t>Main Memory</a:t>
            </a:r>
          </a:p>
          <a:p>
            <a:pPr algn="ctr"/>
            <a:r>
              <a:rPr lang="en-GB" sz="2000" dirty="0" smtClean="0">
                <a:solidFill>
                  <a:schemeClr val="accent4">
                    <a:lumMod val="50000"/>
                  </a:schemeClr>
                </a:solidFill>
              </a:rPr>
              <a:t>(RAM)</a:t>
            </a:r>
            <a:endParaRPr lang="en-GB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670114" y="2835409"/>
            <a:ext cx="901051" cy="78882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MDR</a:t>
            </a:r>
            <a:endParaRPr lang="en-GB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8923743" y="3404027"/>
            <a:ext cx="0" cy="1481672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23744" y="4023216"/>
            <a:ext cx="64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755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9950" y="3510762"/>
            <a:ext cx="5574160" cy="2916351"/>
          </a:xfrm>
        </p:spPr>
        <p:txBody>
          <a:bodyPr>
            <a:normAutofit/>
          </a:bodyPr>
          <a:lstStyle/>
          <a:p>
            <a:r>
              <a:rPr lang="en-GB" dirty="0"/>
              <a:t>Temporarily stores the current instruction to be decoded and then executed, having already been fetched from the main memory.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REGISTERS: Instruction Register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27113"/>
            <a:ext cx="12192000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200" b="1" dirty="0" smtClean="0"/>
              <a:t>📖 Register</a:t>
            </a:r>
            <a:r>
              <a:rPr lang="en-GB" sz="2200" b="1" dirty="0"/>
              <a:t> </a:t>
            </a:r>
            <a:r>
              <a:rPr lang="en-GB" sz="2200" dirty="0" smtClean="0"/>
              <a:t>A very small, fast memory location inside the CPU used for one specific purpose</a:t>
            </a:r>
            <a:endParaRPr lang="en-GB" sz="22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3" t="5999" r="19123" b="49295"/>
          <a:stretch/>
        </p:blipFill>
        <p:spPr>
          <a:xfrm>
            <a:off x="-20550" y="1872660"/>
            <a:ext cx="6304547" cy="456414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4" t="24228" r="61628" b="74515"/>
          <a:stretch/>
        </p:blipFill>
        <p:spPr>
          <a:xfrm>
            <a:off x="1086355" y="3709648"/>
            <a:ext cx="3086100" cy="2245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22307" y="3637276"/>
            <a:ext cx="395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Instruction Register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472076" y="3970067"/>
            <a:ext cx="5475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Current Instruction				     </a:t>
            </a:r>
            <a:r>
              <a:rPr lang="en-GB" sz="4400" dirty="0">
                <a:solidFill>
                  <a:srgbClr val="00B050"/>
                </a:solidFill>
              </a:rPr>
              <a:t>✔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46354" y="810327"/>
            <a:ext cx="6647755" cy="12618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Memory Data Register			</a:t>
            </a:r>
            <a:endParaRPr lang="en-GB" sz="2800" u="sng" dirty="0" smtClean="0"/>
          </a:p>
          <a:p>
            <a:r>
              <a:rPr lang="en-GB" sz="2400" dirty="0" smtClean="0"/>
              <a:t>AKA Current Instruction Register. It holds </a:t>
            </a:r>
            <a:r>
              <a:rPr lang="en-GB" sz="2400" dirty="0"/>
              <a:t>the instruction currently being decoded and executed.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88103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4568" y="867679"/>
            <a:ext cx="5319541" cy="5559435"/>
          </a:xfrm>
        </p:spPr>
        <p:txBody>
          <a:bodyPr>
            <a:normAutofit/>
          </a:bodyPr>
          <a:lstStyle/>
          <a:p>
            <a:r>
              <a:rPr lang="en-GB" dirty="0"/>
              <a:t>Part of the </a:t>
            </a:r>
            <a:r>
              <a:rPr lang="en-GB" dirty="0" smtClean="0"/>
              <a:t>ALU</a:t>
            </a:r>
          </a:p>
          <a:p>
            <a:endParaRPr lang="en-GB" dirty="0"/>
          </a:p>
          <a:p>
            <a:r>
              <a:rPr lang="en-GB" dirty="0"/>
              <a:t>When calculations take place on data, the results are initially stored in the accumulator before being transferred and stored in the main memory.</a:t>
            </a:r>
          </a:p>
          <a:p>
            <a:endParaRPr lang="en-GB" dirty="0"/>
          </a:p>
          <a:p>
            <a:r>
              <a:rPr lang="en-GB" dirty="0"/>
              <a:t>Default location to store any calculations performed by the ALU (Arithmetic and Logic Unit)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REGISTERS: Accumulator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27113"/>
            <a:ext cx="12192000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200" b="1" dirty="0" smtClean="0"/>
              <a:t>📖 Register</a:t>
            </a:r>
            <a:r>
              <a:rPr lang="en-GB" sz="2200" b="1" dirty="0"/>
              <a:t> </a:t>
            </a:r>
            <a:r>
              <a:rPr lang="en-GB" sz="2200" dirty="0" smtClean="0"/>
              <a:t>A very small, fast memory location inside the CPU used for one specific purpose</a:t>
            </a:r>
            <a:endParaRPr lang="en-GB" sz="2200" dirty="0"/>
          </a:p>
        </p:txBody>
      </p:sp>
      <p:sp>
        <p:nvSpPr>
          <p:cNvPr id="6" name="Rectangle 5"/>
          <p:cNvSpPr/>
          <p:nvPr/>
        </p:nvSpPr>
        <p:spPr>
          <a:xfrm>
            <a:off x="248945" y="1046059"/>
            <a:ext cx="5886869" cy="12618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Accumulator				</a:t>
            </a:r>
            <a:endParaRPr lang="en-GB" sz="2800" u="sng" dirty="0" smtClean="0"/>
          </a:p>
          <a:p>
            <a:r>
              <a:rPr lang="en-GB" sz="2400" dirty="0"/>
              <a:t>A register in the ALU that holds the result of a calculation before it is stored in memory.</a:t>
            </a:r>
            <a:endParaRPr lang="en-GB" sz="2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40" t="17778" r="10113" b="45263"/>
          <a:stretch/>
        </p:blipFill>
        <p:spPr>
          <a:xfrm>
            <a:off x="287002" y="2721386"/>
            <a:ext cx="5053265" cy="3705726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342149" y="3635785"/>
            <a:ext cx="1700463" cy="97856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86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Speed Run Any Game on a PC : 8 Steps - Instructabl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32"/>
          <a:stretch/>
        </p:blipFill>
        <p:spPr bwMode="auto">
          <a:xfrm>
            <a:off x="4633473" y="620099"/>
            <a:ext cx="7558528" cy="623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20958"/>
            <a:ext cx="7181711" cy="5533121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EC53D"/>
                </a:solidFill>
              </a:rPr>
              <a:t>The CPU clock speed is measured in cycles per second. 1 cycle per second = 1 Hertz. A typical desktop computer is extremely quick, running at </a:t>
            </a:r>
            <a:r>
              <a:rPr lang="en-GB" dirty="0" smtClean="0">
                <a:solidFill>
                  <a:srgbClr val="FEC53D"/>
                </a:solidFill>
              </a:rPr>
              <a:t>3 billion times </a:t>
            </a:r>
            <a:r>
              <a:rPr lang="en-GB" dirty="0">
                <a:solidFill>
                  <a:srgbClr val="FEC53D"/>
                </a:solidFill>
              </a:rPr>
              <a:t>per second or 3GHz. </a:t>
            </a:r>
            <a:endParaRPr lang="en-GB" dirty="0" smtClean="0">
              <a:solidFill>
                <a:srgbClr val="FEC53D"/>
              </a:solidFill>
            </a:endParaRPr>
          </a:p>
          <a:p>
            <a:endParaRPr lang="en-GB" dirty="0" smtClean="0">
              <a:solidFill>
                <a:srgbClr val="FEC53D"/>
              </a:solidFill>
            </a:endParaRPr>
          </a:p>
          <a:p>
            <a:r>
              <a:rPr lang="en-GB" dirty="0" smtClean="0">
                <a:solidFill>
                  <a:srgbClr val="FEC53D"/>
                </a:solidFill>
              </a:rPr>
              <a:t>It </a:t>
            </a:r>
            <a:r>
              <a:rPr lang="en-GB" dirty="0">
                <a:solidFill>
                  <a:srgbClr val="FEC53D"/>
                </a:solidFill>
              </a:rPr>
              <a:t>is this speed that makes it look as though the computer is completing multiple tasks at once. </a:t>
            </a:r>
            <a:endParaRPr lang="en-GB" dirty="0" smtClean="0">
              <a:solidFill>
                <a:srgbClr val="FEC53D"/>
              </a:solidFill>
            </a:endParaRPr>
          </a:p>
          <a:p>
            <a:endParaRPr lang="en-GB" dirty="0">
              <a:solidFill>
                <a:srgbClr val="FEC53D"/>
              </a:solidFill>
            </a:endParaRPr>
          </a:p>
          <a:p>
            <a:r>
              <a:rPr lang="en-GB" dirty="0" smtClean="0">
                <a:solidFill>
                  <a:srgbClr val="FEC53D"/>
                </a:solidFill>
              </a:rPr>
              <a:t>The </a:t>
            </a:r>
            <a:r>
              <a:rPr lang="en-GB" dirty="0">
                <a:solidFill>
                  <a:srgbClr val="FEC53D"/>
                </a:solidFill>
              </a:rPr>
              <a:t>faster the clock speed of a computer the more powerful the computer is, the quicker the central processing unit will work.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Factors affecting the speed of processing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Snip and Round Single Corner Rectangle 4"/>
          <p:cNvSpPr/>
          <p:nvPr/>
        </p:nvSpPr>
        <p:spPr>
          <a:xfrm>
            <a:off x="0" y="6354079"/>
            <a:ext cx="4932420" cy="503921"/>
          </a:xfrm>
          <a:prstGeom prst="snipRoundRect">
            <a:avLst>
              <a:gd name="adj1" fmla="val 0"/>
              <a:gd name="adj2" fmla="val 5000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latin typeface="Designer" pitchFamily="50" charset="0"/>
              </a:rPr>
              <a:t>FACTOR #1: Clock Speed</a:t>
            </a:r>
            <a:endParaRPr lang="en-GB" sz="2400" dirty="0">
              <a:latin typeface="Designer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84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Key Computer Components -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632617"/>
            <a:ext cx="5867400" cy="442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4540"/>
            <a:ext cx="5433005" cy="5319539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Cache memory has extremely fast access</a:t>
            </a:r>
            <a:r>
              <a:rPr lang="en-GB" dirty="0" smtClean="0"/>
              <a:t>, with small capacity.</a:t>
            </a:r>
          </a:p>
          <a:p>
            <a:endParaRPr lang="en-GB" dirty="0" smtClean="0"/>
          </a:p>
          <a:p>
            <a:r>
              <a:rPr lang="en-GB" dirty="0" smtClean="0"/>
              <a:t>The Control Unit automatically checks the cache memory first when fetching an instruction.</a:t>
            </a:r>
          </a:p>
          <a:p>
            <a:endParaRPr lang="en-GB" dirty="0" smtClean="0"/>
          </a:p>
          <a:p>
            <a:r>
              <a:rPr lang="en-GB" dirty="0" smtClean="0"/>
              <a:t>Even faster than checking RAM.</a:t>
            </a:r>
          </a:p>
          <a:p>
            <a:endParaRPr lang="en-GB" dirty="0"/>
          </a:p>
          <a:p>
            <a:r>
              <a:rPr lang="en-GB" dirty="0" smtClean="0"/>
              <a:t>The </a:t>
            </a:r>
            <a:r>
              <a:rPr lang="en-GB" dirty="0"/>
              <a:t>use of cache memory can greatly reduce processing time therefore the greater the Cache size the quicker the processing time.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Factors affecting the speed of processing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Snip and Round Single Corner Rectangle 4"/>
          <p:cNvSpPr/>
          <p:nvPr/>
        </p:nvSpPr>
        <p:spPr>
          <a:xfrm>
            <a:off x="0" y="6354079"/>
            <a:ext cx="4932420" cy="503921"/>
          </a:xfrm>
          <a:prstGeom prst="snipRoundRect">
            <a:avLst>
              <a:gd name="adj1" fmla="val 0"/>
              <a:gd name="adj2" fmla="val 5000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latin typeface="Designer" pitchFamily="50" charset="0"/>
              </a:rPr>
              <a:t>FACTOR #2: Cache Size</a:t>
            </a:r>
            <a:endParaRPr lang="en-GB" sz="2400" dirty="0">
              <a:latin typeface="Designer" pitchFamily="50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33005" y="4768277"/>
            <a:ext cx="6647755" cy="20005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Cache Size					</a:t>
            </a:r>
            <a:endParaRPr lang="en-GB" sz="2800" u="sng" dirty="0" smtClean="0"/>
          </a:p>
          <a:p>
            <a:r>
              <a:rPr lang="en-GB" sz="2400" dirty="0"/>
              <a:t>A small amount of very fast memory inside or next to the CPU that holds frequently used instructions and data, so they need not be fetched from slower RAM.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688853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at is Multi Core CPU? E learning animation vide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0" b="1697"/>
          <a:stretch/>
        </p:blipFill>
        <p:spPr bwMode="auto">
          <a:xfrm>
            <a:off x="4607189" y="632617"/>
            <a:ext cx="7584812" cy="413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4540"/>
            <a:ext cx="5433005" cy="5319539"/>
          </a:xfrm>
        </p:spPr>
        <p:txBody>
          <a:bodyPr>
            <a:normAutofit/>
          </a:bodyPr>
          <a:lstStyle/>
          <a:p>
            <a:r>
              <a:rPr lang="en-GB" dirty="0"/>
              <a:t>Modern computers speed up their clock speed/processing power by containing more than one processor. Some companies call these CPU’s ‘core’. 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Therefore </a:t>
            </a:r>
            <a:r>
              <a:rPr lang="en-GB" dirty="0"/>
              <a:t>a ‘dual core’ device means the computer contains 2 processors, a ‘quad core’ device means the computer contains 4 processors.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Factors affecting the speed of processing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Snip and Round Single Corner Rectangle 4"/>
          <p:cNvSpPr/>
          <p:nvPr/>
        </p:nvSpPr>
        <p:spPr>
          <a:xfrm>
            <a:off x="0" y="6354079"/>
            <a:ext cx="4932420" cy="503921"/>
          </a:xfrm>
          <a:prstGeom prst="snipRoundRect">
            <a:avLst>
              <a:gd name="adj1" fmla="val 0"/>
              <a:gd name="adj2" fmla="val 5000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 smtClean="0">
                <a:latin typeface="Designer" pitchFamily="50" charset="0"/>
              </a:rPr>
              <a:t>FACTOR #3: Cores</a:t>
            </a:r>
            <a:endParaRPr lang="en-GB" sz="2400" dirty="0">
              <a:latin typeface="Designer" pitchFamily="50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33005" y="4768277"/>
            <a:ext cx="6647755" cy="20005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sz="2800" b="1" u="sng" dirty="0" smtClean="0"/>
              <a:t>📖 Processor Core					</a:t>
            </a:r>
            <a:endParaRPr lang="en-GB" sz="2800" u="sng" dirty="0" smtClean="0"/>
          </a:p>
          <a:p>
            <a:r>
              <a:rPr lang="en-GB" sz="2400" dirty="0"/>
              <a:t>An independent processing unit inside a CPU with its own control unit, ALU and registers, so it can process instructions at the same time as other cores.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04225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18990" y="0"/>
            <a:ext cx="6858000" cy="6858000"/>
          </a:xfrm>
          <a:prstGeom prst="ellipse">
            <a:avLst/>
          </a:prstGeom>
          <a:solidFill>
            <a:srgbClr val="F9FF01">
              <a:alpha val="4980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5015010" y="0"/>
            <a:ext cx="6858000" cy="6858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50196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24270" y="1275907"/>
            <a:ext cx="4581759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000" dirty="0" smtClean="0"/>
          </a:p>
          <a:p>
            <a:r>
              <a:rPr lang="en-GB" sz="2000" dirty="0" smtClean="0"/>
              <a:t>Webcam</a:t>
            </a:r>
          </a:p>
          <a:p>
            <a:r>
              <a:rPr lang="en-GB" sz="2000" dirty="0" smtClean="0"/>
              <a:t>	</a:t>
            </a:r>
            <a:r>
              <a:rPr lang="en-GB" sz="2000" dirty="0"/>
              <a:t>	</a:t>
            </a:r>
            <a:r>
              <a:rPr lang="en-GB" sz="2000" dirty="0" smtClean="0"/>
              <a:t>	Keyboard</a:t>
            </a:r>
          </a:p>
          <a:p>
            <a:endParaRPr lang="en-GB" sz="2000" dirty="0" smtClean="0"/>
          </a:p>
          <a:p>
            <a:r>
              <a:rPr lang="en-GB" sz="2000" dirty="0" smtClean="0"/>
              <a:t>	Joystick</a:t>
            </a:r>
          </a:p>
          <a:p>
            <a:endParaRPr lang="en-GB" sz="2000" dirty="0" smtClean="0"/>
          </a:p>
          <a:p>
            <a:endParaRPr lang="en-GB" sz="2000" dirty="0" smtClean="0"/>
          </a:p>
          <a:p>
            <a:endParaRPr lang="en-GB" sz="2000" dirty="0"/>
          </a:p>
          <a:p>
            <a:r>
              <a:rPr lang="en-GB" sz="2000" dirty="0" smtClean="0"/>
              <a:t>Scanner</a:t>
            </a:r>
          </a:p>
          <a:p>
            <a:endParaRPr lang="en-GB" sz="2000" dirty="0"/>
          </a:p>
          <a:p>
            <a:r>
              <a:rPr lang="en-GB" sz="2000" dirty="0" smtClean="0"/>
              <a:t>		Barcode Scanner</a:t>
            </a:r>
          </a:p>
          <a:p>
            <a:endParaRPr lang="en-GB" sz="2000" dirty="0" smtClean="0"/>
          </a:p>
          <a:p>
            <a:endParaRPr lang="en-GB" sz="2000" dirty="0" smtClean="0"/>
          </a:p>
          <a:p>
            <a:endParaRPr lang="en-GB" sz="2000" dirty="0"/>
          </a:p>
          <a:p>
            <a:r>
              <a:rPr lang="en-GB" sz="2000" dirty="0" smtClean="0"/>
              <a:t>	Mouse</a:t>
            </a:r>
          </a:p>
          <a:p>
            <a:endParaRPr lang="en-GB" sz="2000" dirty="0" smtClean="0"/>
          </a:p>
          <a:p>
            <a:r>
              <a:rPr lang="en-GB" sz="2000" dirty="0"/>
              <a:t>	</a:t>
            </a:r>
            <a:r>
              <a:rPr lang="en-GB" sz="2000" dirty="0" smtClean="0"/>
              <a:t>	Graphics Digitiser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5332958" y="2032116"/>
            <a:ext cx="14945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dirty="0" smtClean="0"/>
          </a:p>
          <a:p>
            <a:pPr algn="ctr"/>
            <a:r>
              <a:rPr lang="en-GB" dirty="0" smtClean="0"/>
              <a:t>Camera</a:t>
            </a:r>
          </a:p>
          <a:p>
            <a:pPr algn="ctr"/>
            <a:endParaRPr lang="en-GB" dirty="0"/>
          </a:p>
          <a:p>
            <a:pPr algn="ctr"/>
            <a:endParaRPr lang="en-GB" dirty="0" smtClean="0"/>
          </a:p>
          <a:p>
            <a:pPr algn="ctr"/>
            <a:endParaRPr lang="en-GB" dirty="0" smtClean="0"/>
          </a:p>
          <a:p>
            <a:pPr algn="ctr"/>
            <a:endParaRPr lang="en-GB" dirty="0"/>
          </a:p>
          <a:p>
            <a:pPr algn="ctr"/>
            <a:r>
              <a:rPr lang="en-GB" dirty="0" smtClean="0"/>
              <a:t>Headset</a:t>
            </a:r>
          </a:p>
          <a:p>
            <a:pPr algn="ctr"/>
            <a:endParaRPr lang="en-GB" dirty="0" smtClean="0"/>
          </a:p>
          <a:p>
            <a:pPr algn="ctr"/>
            <a:endParaRPr lang="en-GB" dirty="0"/>
          </a:p>
          <a:p>
            <a:pPr algn="ctr"/>
            <a:endParaRPr lang="en-GB" dirty="0" smtClean="0"/>
          </a:p>
          <a:p>
            <a:pPr algn="ctr"/>
            <a:r>
              <a:rPr lang="en-GB" dirty="0" smtClean="0"/>
              <a:t>Touchscreen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2667000" y="0"/>
            <a:ext cx="1725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Input</a:t>
            </a:r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9344" y="0"/>
            <a:ext cx="22493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Output</a:t>
            </a:r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53775" y="1084776"/>
            <a:ext cx="458175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000" dirty="0" smtClean="0"/>
          </a:p>
          <a:p>
            <a:r>
              <a:rPr lang="en-GB" sz="2000" dirty="0" smtClean="0"/>
              <a:t>Headphones</a:t>
            </a:r>
          </a:p>
          <a:p>
            <a:endParaRPr lang="en-GB" sz="2000" dirty="0" smtClean="0"/>
          </a:p>
          <a:p>
            <a:endParaRPr lang="en-GB" sz="2000" dirty="0" smtClean="0"/>
          </a:p>
          <a:p>
            <a:endParaRPr lang="en-GB" sz="2000" dirty="0"/>
          </a:p>
          <a:p>
            <a:r>
              <a:rPr lang="en-GB" sz="2000" dirty="0" smtClean="0"/>
              <a:t>			Monitor</a:t>
            </a:r>
          </a:p>
          <a:p>
            <a:endParaRPr lang="en-GB" sz="2000" dirty="0" smtClean="0"/>
          </a:p>
          <a:p>
            <a:endParaRPr lang="en-GB" sz="2000" dirty="0" smtClean="0"/>
          </a:p>
          <a:p>
            <a:endParaRPr lang="en-GB" sz="2000" dirty="0" smtClean="0"/>
          </a:p>
          <a:p>
            <a:endParaRPr lang="en-GB" sz="2000" dirty="0"/>
          </a:p>
          <a:p>
            <a:r>
              <a:rPr lang="en-GB" sz="2000" dirty="0" smtClean="0"/>
              <a:t>Inkjet/Laser Printer</a:t>
            </a:r>
          </a:p>
          <a:p>
            <a:endParaRPr lang="en-GB" sz="2000" dirty="0" smtClean="0"/>
          </a:p>
          <a:p>
            <a:endParaRPr lang="en-GB" sz="2000" dirty="0"/>
          </a:p>
          <a:p>
            <a:r>
              <a:rPr lang="en-GB" sz="2000" dirty="0" smtClean="0"/>
              <a:t>			Plotter</a:t>
            </a:r>
          </a:p>
          <a:p>
            <a:endParaRPr lang="en-GB" sz="2000" dirty="0" smtClean="0"/>
          </a:p>
          <a:p>
            <a:endParaRPr lang="en-GB" sz="2000" dirty="0" smtClean="0"/>
          </a:p>
          <a:p>
            <a:endParaRPr lang="en-GB" sz="2000" dirty="0"/>
          </a:p>
          <a:p>
            <a:r>
              <a:rPr lang="en-GB" sz="2000" dirty="0" smtClean="0"/>
              <a:t>	Speakers</a:t>
            </a:r>
          </a:p>
          <a:p>
            <a:endParaRPr lang="en-GB" sz="2000" dirty="0" smtClean="0"/>
          </a:p>
          <a:p>
            <a:endParaRPr lang="en-GB" sz="2000" dirty="0"/>
          </a:p>
          <a:p>
            <a:r>
              <a:rPr lang="en-GB" sz="2000" dirty="0" smtClean="0"/>
              <a:t>		</a:t>
            </a:r>
            <a:endParaRPr lang="en-GB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8"/>
          <a:stretch/>
        </p:blipFill>
        <p:spPr>
          <a:xfrm>
            <a:off x="8106351" y="5324010"/>
            <a:ext cx="1252424" cy="955065"/>
          </a:xfrm>
          <a:prstGeom prst="rect">
            <a:avLst/>
          </a:prstGeom>
        </p:spPr>
      </p:pic>
      <p:pic>
        <p:nvPicPr>
          <p:cNvPr id="4098" name="Picture 2" descr="Webcam - Free computer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856" y="754159"/>
            <a:ext cx="843604" cy="84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Keyboard Clipart Images | Free Download | PNG Transparent Background -  Pngtre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296" y="708940"/>
            <a:ext cx="1465855" cy="146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Joystick Clipart transparent PNG - StickPN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315" y="1714413"/>
            <a:ext cx="830931" cy="81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Scanner Clip Art at Clker.com - vector clip art online, royalty free &amp;  public domai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4" y="2841141"/>
            <a:ext cx="1465624" cy="915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Handheld Barcode Scanners QuickScan 2200 Series - Datalogic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449" y="3105111"/>
            <a:ext cx="1252305" cy="125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9405" y="4583803"/>
            <a:ext cx="711485" cy="91700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630572">
            <a:off x="3282097" y="5140285"/>
            <a:ext cx="1345441" cy="95753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0247" y="3803553"/>
            <a:ext cx="1454334" cy="1454334"/>
          </a:xfrm>
          <a:prstGeom prst="rect">
            <a:avLst/>
          </a:prstGeom>
        </p:spPr>
      </p:pic>
      <p:pic>
        <p:nvPicPr>
          <p:cNvPr id="4120" name="Picture 24" descr="Transparent PNG of Printer PNG picture la 2400x2270 #101566 | PNGim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220" y="2862279"/>
            <a:ext cx="1384483" cy="130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2" name="Picture 26" descr="Computer monitor - Wikipedia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1145" y="1420845"/>
            <a:ext cx="1219881" cy="108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4" name="Picture 28" descr="Headset Transparent PNG Clip Art Image​ | Gallery Yopriceville -  High-Quality Free Images and Transparent PNG Clipart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708" y="866384"/>
            <a:ext cx="593614" cy="619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30" descr="3D Headset with Microphone Transparent Background for Communication  66613614 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508" y="2618604"/>
            <a:ext cx="1196340" cy="1196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8" name="Picture 32" descr="Camera Transparent Clip Art Image​ | Gallery Yopriceville - High-Quality  Free Images and Transparent PNG Clipart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277" y="1420845"/>
            <a:ext cx="927549" cy="904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2" name="Picture 36" descr="Touchscreen 3D Icons - Free Download in PNG, glTF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3859726"/>
            <a:ext cx="1330879" cy="1330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Neon Retro Microphone PNG Clipart, 12x Watercolor Music Clip Art Set,  Printable Mic Clip Art, Digital Download, Transparent PNG, Podcast Art -  Etsy U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44"/>
          <a:stretch/>
        </p:blipFill>
        <p:spPr bwMode="auto">
          <a:xfrm>
            <a:off x="4455795" y="3007994"/>
            <a:ext cx="5429250" cy="385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DEVICE #1: Microphone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55380" y="632616"/>
            <a:ext cx="3436620" cy="622538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55380" y="739140"/>
            <a:ext cx="343662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B050"/>
                </a:solidFill>
                <a:latin typeface="Designer" pitchFamily="50" charset="0"/>
              </a:rPr>
              <a:t>Advantages</a:t>
            </a:r>
            <a:endParaRPr lang="en-GB" dirty="0">
              <a:solidFill>
                <a:srgbClr val="00B05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Allows ease of movement as it is hands-free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Used with voice recognition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Faster to speak than typing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r>
              <a:rPr lang="en-GB" sz="2800" dirty="0" smtClean="0">
                <a:solidFill>
                  <a:srgbClr val="FF0000"/>
                </a:solidFill>
                <a:latin typeface="Designer" pitchFamily="50" charset="0"/>
              </a:rPr>
              <a:t>Disadvantages</a:t>
            </a:r>
            <a:endParaRPr lang="en-GB" dirty="0">
              <a:solidFill>
                <a:srgbClr val="FF000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Wireless microphones have limited range/battery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Recognition of spoken words can be slow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Sound files are much larger than text </a:t>
            </a:r>
            <a:endParaRPr lang="en-GB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9060" y="739139"/>
            <a:ext cx="8580120" cy="2743201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Designer" pitchFamily="50" charset="0"/>
              </a:rPr>
              <a:t>CHRARACTERISTICS</a:t>
            </a:r>
          </a:p>
          <a:p>
            <a:r>
              <a:rPr lang="en-GB" dirty="0" smtClean="0"/>
              <a:t>Input Device </a:t>
            </a:r>
          </a:p>
          <a:p>
            <a:r>
              <a:rPr lang="en-GB" dirty="0" smtClean="0"/>
              <a:t>Has a diaphragm, usually made of plastic inside it.</a:t>
            </a:r>
          </a:p>
          <a:p>
            <a:r>
              <a:rPr lang="en-GB" dirty="0"/>
              <a:t> </a:t>
            </a:r>
            <a:r>
              <a:rPr lang="en-GB" dirty="0" smtClean="0"/>
              <a:t>When a sound wave hits it, the diaphragm moves back and forth</a:t>
            </a:r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99060" y="3977639"/>
            <a:ext cx="5806440" cy="27432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Designer" pitchFamily="50" charset="0"/>
              </a:rPr>
              <a:t>Typical Use</a:t>
            </a:r>
          </a:p>
          <a:p>
            <a:r>
              <a:rPr lang="en-GB" dirty="0" smtClean="0"/>
              <a:t> To input sound into a computer</a:t>
            </a:r>
          </a:p>
          <a:p>
            <a:r>
              <a:rPr lang="en-GB" dirty="0" smtClean="0"/>
              <a:t> To convert sound waves into digital data</a:t>
            </a:r>
          </a:p>
          <a:p>
            <a:r>
              <a:rPr lang="en-GB" dirty="0" smtClean="0"/>
              <a:t> Used during VOIP (Voice over Internet Protocol)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3969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Computer Mouse. Digital Watercolor Painting. Vector Illustration On White  Background. Free Image and Photograph 207557405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140" y="408460"/>
            <a:ext cx="4041775" cy="404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DEVICE #2: Mouse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55380" y="632616"/>
            <a:ext cx="3436620" cy="622538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55380" y="739140"/>
            <a:ext cx="343662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B050"/>
                </a:solidFill>
                <a:latin typeface="Designer" pitchFamily="50" charset="0"/>
              </a:rPr>
              <a:t>Advantages</a:t>
            </a:r>
            <a:endParaRPr lang="en-GB" dirty="0">
              <a:solidFill>
                <a:srgbClr val="00B05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Easy to use, with little-no training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Highly responsive and accurate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92D050"/>
                </a:solidFill>
              </a:rPr>
              <a:t>Can be adjusted to suit users needs, with a wide variety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r>
              <a:rPr lang="en-GB" sz="2800" dirty="0" smtClean="0">
                <a:solidFill>
                  <a:srgbClr val="FF0000"/>
                </a:solidFill>
                <a:latin typeface="Designer" pitchFamily="50" charset="0"/>
              </a:rPr>
              <a:t>Disadvantages</a:t>
            </a:r>
            <a:endParaRPr lang="en-GB" dirty="0">
              <a:solidFill>
                <a:srgbClr val="FF000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Experienced uses find it slower than ‘hot keys’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Requires a flat surface/additional space to operate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Wireless mice need to be close to the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Easily broken</a:t>
            </a:r>
            <a:endParaRPr lang="en-GB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9060" y="739139"/>
            <a:ext cx="5623560" cy="32385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>
                <a:latin typeface="Designer" pitchFamily="50" charset="0"/>
              </a:rPr>
              <a:t>CHRARACTERISTICS</a:t>
            </a:r>
          </a:p>
          <a:p>
            <a:r>
              <a:rPr lang="en-GB" dirty="0" smtClean="0"/>
              <a:t>Input device </a:t>
            </a:r>
          </a:p>
          <a:p>
            <a:r>
              <a:rPr lang="en-GB" dirty="0" smtClean="0"/>
              <a:t>Has one or more finger operated buttons</a:t>
            </a:r>
          </a:p>
          <a:p>
            <a:r>
              <a:rPr lang="en-GB" dirty="0" smtClean="0"/>
              <a:t>Needs to be on a flat surface to operate</a:t>
            </a:r>
          </a:p>
          <a:p>
            <a:r>
              <a:rPr lang="en-GB" dirty="0" smtClean="0"/>
              <a:t>Uses Sensors to detect movement</a:t>
            </a:r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99060" y="3977639"/>
            <a:ext cx="8465820" cy="2743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Designer" pitchFamily="50" charset="0"/>
              </a:rPr>
              <a:t>Typical Use</a:t>
            </a:r>
          </a:p>
          <a:p>
            <a:r>
              <a:rPr lang="en-GB" dirty="0"/>
              <a:t>Controls a pointer on a VDU (Visual Display Unit</a:t>
            </a:r>
            <a:r>
              <a:rPr lang="en-GB" dirty="0" smtClean="0"/>
              <a:t>)</a:t>
            </a:r>
          </a:p>
          <a:p>
            <a:r>
              <a:rPr lang="en-GB" dirty="0" smtClean="0"/>
              <a:t>Allows a user to navigate a user interface, such as clicking on an icon or menu option on screen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804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XPPen Artist 22 Plus Graphics Tablet with 21.5&quot; Fully-lamintaed Screen |  Professional Drawing Tablet with 130% sRGB Color Gamut, X3 Pro Stylus (16K  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" y="3420377"/>
            <a:ext cx="4046220" cy="341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DEVICE #3: Graphics Digitiser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55380" y="632616"/>
            <a:ext cx="3436620" cy="622538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55380" y="739140"/>
            <a:ext cx="343662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B050"/>
                </a:solidFill>
                <a:latin typeface="Designer" pitchFamily="50" charset="0"/>
              </a:rPr>
              <a:t>Advantages</a:t>
            </a:r>
            <a:endParaRPr lang="en-GB" dirty="0">
              <a:solidFill>
                <a:srgbClr val="00B05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Greater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Very ‘natural’ way of drawing/writing</a:t>
            </a:r>
            <a:endParaRPr lang="en-GB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r>
              <a:rPr lang="en-GB" sz="2800" dirty="0" smtClean="0">
                <a:solidFill>
                  <a:srgbClr val="FF0000"/>
                </a:solidFill>
                <a:latin typeface="Designer" pitchFamily="50" charset="0"/>
              </a:rPr>
              <a:t>Disadvantages</a:t>
            </a:r>
            <a:endParaRPr lang="en-GB" dirty="0">
              <a:solidFill>
                <a:srgbClr val="FF000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Can be very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Not suitable for selecting menus/pointing at menu items</a:t>
            </a:r>
            <a:endParaRPr lang="en-GB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9060" y="739139"/>
            <a:ext cx="8580120" cy="3238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latin typeface="Designer" pitchFamily="50" charset="0"/>
              </a:rPr>
              <a:t>CHRARACTERISTICS</a:t>
            </a:r>
          </a:p>
          <a:p>
            <a:r>
              <a:rPr lang="en-GB" dirty="0" smtClean="0"/>
              <a:t>Input device </a:t>
            </a:r>
          </a:p>
          <a:p>
            <a:r>
              <a:rPr lang="en-GB" dirty="0" smtClean="0"/>
              <a:t>Consists of a flat surface where you use a stylus to write or draw with.</a:t>
            </a:r>
          </a:p>
          <a:p>
            <a:r>
              <a:rPr lang="en-GB" dirty="0" smtClean="0"/>
              <a:t>As you draw on the surface an image will appear on the screen of the connected computer</a:t>
            </a:r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3992880" y="3977639"/>
            <a:ext cx="4632959" cy="2743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Designer" pitchFamily="50" charset="0"/>
              </a:rPr>
              <a:t>Typical Use</a:t>
            </a:r>
          </a:p>
          <a:p>
            <a:r>
              <a:rPr lang="en-GB" dirty="0" smtClean="0"/>
              <a:t>Often used by graphic designers and illustrators</a:t>
            </a:r>
          </a:p>
          <a:p>
            <a:r>
              <a:rPr lang="en-GB" dirty="0" smtClean="0"/>
              <a:t>Can be used to capture hand-written signatures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019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Page 2 | Watercolour computer art Vectors - Download Free High-Quality  Vectors | Magnific (formerly Freepik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26380" y="3425266"/>
            <a:ext cx="3429001" cy="342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DEVICE #4: Touch Screen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55380" y="632616"/>
            <a:ext cx="3436620" cy="622538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55380" y="739140"/>
            <a:ext cx="343662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B050"/>
                </a:solidFill>
                <a:latin typeface="Designer" pitchFamily="50" charset="0"/>
              </a:rPr>
              <a:t>Advantages</a:t>
            </a:r>
            <a:endParaRPr lang="en-GB" dirty="0">
              <a:solidFill>
                <a:srgbClr val="00B05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Easy to use (intuitive)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Can see all available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Don’t need excellent ICT skills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Can be adapted for many 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Usually fixed to larger devices so less chance of them being stolen</a:t>
            </a: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endParaRPr lang="en-GB" dirty="0" smtClean="0"/>
          </a:p>
          <a:p>
            <a:r>
              <a:rPr lang="en-GB" sz="2800" dirty="0" smtClean="0">
                <a:solidFill>
                  <a:srgbClr val="FF0000"/>
                </a:solidFill>
                <a:latin typeface="Designer" pitchFamily="50" charset="0"/>
              </a:rPr>
              <a:t>Disadvantages</a:t>
            </a:r>
            <a:endParaRPr lang="en-GB" dirty="0">
              <a:solidFill>
                <a:srgbClr val="FF000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User needs to understand the icons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Limited options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If damaged the touch screen may not respond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Can be easily scratched, get dirty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Difficult to see in bright sunlight</a:t>
            </a:r>
            <a:endParaRPr lang="en-GB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9060" y="739139"/>
            <a:ext cx="8580120" cy="32385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>
                <a:latin typeface="Designer" pitchFamily="50" charset="0"/>
              </a:rPr>
              <a:t>CHRARACTERISTICS</a:t>
            </a:r>
          </a:p>
          <a:p>
            <a:r>
              <a:rPr lang="en-GB" dirty="0" smtClean="0"/>
              <a:t>Both an Input &amp; Output device </a:t>
            </a:r>
          </a:p>
          <a:p>
            <a:r>
              <a:rPr lang="en-GB" dirty="0" smtClean="0"/>
              <a:t>Works by using your finger to touch the screen.</a:t>
            </a:r>
          </a:p>
          <a:p>
            <a:r>
              <a:rPr lang="en-GB" dirty="0" smtClean="0"/>
              <a:t>Touching the screen sends coordinates into the device which are translated into instructions for the device.</a:t>
            </a:r>
          </a:p>
          <a:p>
            <a:r>
              <a:rPr lang="en-GB" dirty="0" smtClean="0"/>
              <a:t>The screen can detect the difference between tapping, swiping and pinching actions.</a:t>
            </a:r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99061" y="3977639"/>
            <a:ext cx="5722619" cy="2743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Designer" pitchFamily="50" charset="0"/>
              </a:rPr>
              <a:t>Typical Use</a:t>
            </a:r>
          </a:p>
          <a:p>
            <a:r>
              <a:rPr lang="en-GB" dirty="0" smtClean="0"/>
              <a:t>Mobile phones, tablets and ATMS</a:t>
            </a:r>
          </a:p>
          <a:p>
            <a:r>
              <a:rPr lang="en-GB" dirty="0" smtClean="0"/>
              <a:t>Museums and galleries</a:t>
            </a:r>
          </a:p>
          <a:p>
            <a:r>
              <a:rPr lang="en-GB" dirty="0" smtClean="0"/>
              <a:t>Paying for tickets in a train station/food outlet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821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DEVICE #5: Speakers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55380" y="632616"/>
            <a:ext cx="3436620" cy="622538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55380" y="739140"/>
            <a:ext cx="343662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B050"/>
                </a:solidFill>
                <a:latin typeface="Designer" pitchFamily="50" charset="0"/>
              </a:rPr>
              <a:t>Advantages</a:t>
            </a:r>
            <a:endParaRPr lang="en-GB" dirty="0">
              <a:solidFill>
                <a:srgbClr val="00B05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Very natural way to communicate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Useful for visually impaired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endParaRPr lang="en-GB" dirty="0" smtClean="0"/>
          </a:p>
          <a:p>
            <a:r>
              <a:rPr lang="en-GB" sz="2800" dirty="0" smtClean="0">
                <a:solidFill>
                  <a:srgbClr val="FF0000"/>
                </a:solidFill>
                <a:latin typeface="Designer" pitchFamily="50" charset="0"/>
              </a:rPr>
              <a:t>Disadvantages</a:t>
            </a:r>
            <a:endParaRPr lang="en-GB" dirty="0">
              <a:solidFill>
                <a:srgbClr val="FF000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External speakers require additional desk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Speakers can distract other users in the same office</a:t>
            </a:r>
            <a:endParaRPr lang="en-GB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9060" y="739139"/>
            <a:ext cx="8580120" cy="3238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latin typeface="Designer" pitchFamily="50" charset="0"/>
              </a:rPr>
              <a:t>CHRARACTERISTICS</a:t>
            </a:r>
          </a:p>
          <a:p>
            <a:r>
              <a:rPr lang="en-GB" dirty="0" smtClean="0"/>
              <a:t>Output device </a:t>
            </a:r>
          </a:p>
          <a:p>
            <a:r>
              <a:rPr lang="en-GB" dirty="0" smtClean="0"/>
              <a:t>Uses audio signals and converts them to sound waves</a:t>
            </a:r>
          </a:p>
          <a:p>
            <a:r>
              <a:rPr lang="en-GB" dirty="0" smtClean="0"/>
              <a:t>Most computers have a small internal speaker, but external speakers connect by USB or wirelessly for better quality audio.</a:t>
            </a:r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99061" y="3977639"/>
            <a:ext cx="5006339" cy="27432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Designer" pitchFamily="50" charset="0"/>
              </a:rPr>
              <a:t>Typical Use</a:t>
            </a:r>
          </a:p>
          <a:p>
            <a:r>
              <a:rPr lang="en-GB" dirty="0" smtClean="0"/>
              <a:t>Used for music, video and games</a:t>
            </a:r>
          </a:p>
          <a:p>
            <a:r>
              <a:rPr lang="en-GB" dirty="0" smtClean="0"/>
              <a:t>Allows for text-to-speech</a:t>
            </a:r>
          </a:p>
          <a:p>
            <a:r>
              <a:rPr lang="en-GB" dirty="0" smtClean="0"/>
              <a:t>Error alerts often use a ‘beep’ from the speaker</a:t>
            </a:r>
            <a:endParaRPr lang="en-GB" dirty="0"/>
          </a:p>
        </p:txBody>
      </p:sp>
      <p:pic>
        <p:nvPicPr>
          <p:cNvPr id="9218" name="Picture 2" descr="Free Speaker Animations | Download in GIF, MP4, and Lottie JSO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903" y="3801071"/>
            <a:ext cx="3261678" cy="326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Free Speaker Animations | Download in GIF, MP4, and Lottie JSON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897880" y="3801071"/>
            <a:ext cx="3261678" cy="326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25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DEVICE #6: Laser Printers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55380" y="632616"/>
            <a:ext cx="3436620" cy="622538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55380" y="739140"/>
            <a:ext cx="343662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B050"/>
                </a:solidFill>
                <a:latin typeface="Designer" pitchFamily="50" charset="0"/>
              </a:rPr>
              <a:t>Advantages</a:t>
            </a:r>
            <a:endParaRPr lang="en-GB" dirty="0">
              <a:solidFill>
                <a:srgbClr val="00B05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Produces high quality prints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Prints very quickly, particularly in bulk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Very quiet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Can get colour laser printouts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endParaRPr lang="en-GB" dirty="0" smtClean="0"/>
          </a:p>
          <a:p>
            <a:r>
              <a:rPr lang="en-GB" sz="2800" dirty="0" smtClean="0">
                <a:solidFill>
                  <a:srgbClr val="FF0000"/>
                </a:solidFill>
                <a:latin typeface="Designer" pitchFamily="50" charset="0"/>
              </a:rPr>
              <a:t>Disadvantages</a:t>
            </a:r>
            <a:endParaRPr lang="en-GB" dirty="0">
              <a:solidFill>
                <a:srgbClr val="FF000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Produces shiny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More suited to text printing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Can be expensive, and refill toner is expensive to purchase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They are non-impact printers, so multipart stationary cannot be used</a:t>
            </a:r>
            <a:endParaRPr lang="en-GB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9060" y="739139"/>
            <a:ext cx="8580120" cy="32385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 smtClean="0">
                <a:latin typeface="Designer" pitchFamily="50" charset="0"/>
              </a:rPr>
              <a:t>CHRARACTERISTICS</a:t>
            </a:r>
          </a:p>
          <a:p>
            <a:r>
              <a:rPr lang="en-GB" dirty="0" smtClean="0"/>
              <a:t>Output device </a:t>
            </a:r>
          </a:p>
          <a:p>
            <a:r>
              <a:rPr lang="en-GB" dirty="0" smtClean="0"/>
              <a:t>Uses a laser beam to ‘write’ the image onto a light sensitive drum. </a:t>
            </a:r>
          </a:p>
          <a:p>
            <a:r>
              <a:rPr lang="en-GB" dirty="0" smtClean="0"/>
              <a:t>The drum uses electrostatics to attract toner to the image of the drum</a:t>
            </a:r>
          </a:p>
          <a:p>
            <a:r>
              <a:rPr lang="en-GB" dirty="0" smtClean="0"/>
              <a:t>Paper is pressed against the drum to transfer the image using heat to seal the toner to the paper</a:t>
            </a:r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99061" y="3977639"/>
            <a:ext cx="5006339" cy="2743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Designer" pitchFamily="50" charset="0"/>
              </a:rPr>
              <a:t>Typical Use</a:t>
            </a:r>
          </a:p>
          <a:p>
            <a:r>
              <a:rPr lang="en-GB" dirty="0" smtClean="0"/>
              <a:t>Used to print documents at high speed</a:t>
            </a:r>
            <a:endParaRPr lang="en-GB" dirty="0"/>
          </a:p>
        </p:txBody>
      </p:sp>
      <p:pic>
        <p:nvPicPr>
          <p:cNvPr id="10244" name="Picture 4" descr="Fax Clipart Cartoon Printer Reprinting Concept Vector, Cartoon Clipart, Printer  Clipart, Fax PNG and Vector with Transparent Background for Free Downlo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088" y="3368279"/>
            <a:ext cx="3994604" cy="399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21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DEVICE #7: 3D Printers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55380" y="632616"/>
            <a:ext cx="3436620" cy="622538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55380" y="739140"/>
            <a:ext cx="343662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B050"/>
                </a:solidFill>
                <a:latin typeface="Designer" pitchFamily="50" charset="0"/>
              </a:rPr>
              <a:t>Advantages</a:t>
            </a:r>
            <a:endParaRPr lang="en-GB" dirty="0">
              <a:solidFill>
                <a:srgbClr val="00B05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Streamlines production and design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Faster than conventional methods of prototyping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Saves time and money at the initial product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Wide variety of print materials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endParaRPr lang="en-GB" dirty="0" smtClean="0"/>
          </a:p>
          <a:p>
            <a:r>
              <a:rPr lang="en-GB" sz="2800" dirty="0" smtClean="0">
                <a:solidFill>
                  <a:srgbClr val="FF0000"/>
                </a:solidFill>
                <a:latin typeface="Designer" pitchFamily="50" charset="0"/>
              </a:rPr>
              <a:t>Disadvantages</a:t>
            </a:r>
            <a:endParaRPr lang="en-GB" dirty="0">
              <a:solidFill>
                <a:srgbClr val="FF000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Equipment very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Price difference between print materials is huge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Limited form of printing – suitable for prototypes nor ‘real’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Non economical for large scale printing</a:t>
            </a:r>
            <a:endParaRPr lang="en-GB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9060" y="739139"/>
            <a:ext cx="8580120" cy="3238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latin typeface="Designer" pitchFamily="50" charset="0"/>
              </a:rPr>
              <a:t>CHRARACTERISTICS</a:t>
            </a:r>
          </a:p>
          <a:p>
            <a:r>
              <a:rPr lang="en-GB" dirty="0" smtClean="0"/>
              <a:t>Output device </a:t>
            </a:r>
          </a:p>
          <a:p>
            <a:r>
              <a:rPr lang="en-GB" dirty="0" smtClean="0"/>
              <a:t>Usually cube shaped with a transparent ‘door’ that can be opened to remove the finished product.</a:t>
            </a:r>
          </a:p>
          <a:p>
            <a:r>
              <a:rPr lang="en-GB" dirty="0" smtClean="0"/>
              <a:t>The product is created in layers by melting its print material through a highly accurate nozzle.</a:t>
            </a:r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99061" y="3977639"/>
            <a:ext cx="5006339" cy="2743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Designer" pitchFamily="50" charset="0"/>
              </a:rPr>
              <a:t>Typical Use</a:t>
            </a:r>
          </a:p>
          <a:p>
            <a:r>
              <a:rPr lang="en-GB" dirty="0" smtClean="0"/>
              <a:t>Prototyping in the medical, Aerospace, Automotive, Jewellery, and Art Industries</a:t>
            </a:r>
          </a:p>
          <a:p>
            <a:r>
              <a:rPr lang="en-GB" dirty="0" smtClean="0"/>
              <a:t>Models and ‘proof of concepts’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981" y="3178930"/>
            <a:ext cx="4340619" cy="434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7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ard disk drive icon color outline vector 15685567 Vector Art at Vecteez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20605">
            <a:off x="-123978" y="3076436"/>
            <a:ext cx="3648075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DEVICE #8: Hard Disk Drive (HDD)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55380" y="632616"/>
            <a:ext cx="3436620" cy="622538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55380" y="739140"/>
            <a:ext cx="343662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B050"/>
                </a:solidFill>
                <a:latin typeface="Designer" pitchFamily="50" charset="0"/>
              </a:rPr>
              <a:t>Advantages</a:t>
            </a:r>
            <a:endParaRPr lang="en-GB" dirty="0">
              <a:solidFill>
                <a:srgbClr val="00B05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High recording density / Large storage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Faster than CD/DVD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Cheap per megabyte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Non-volatile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endParaRPr lang="en-GB" dirty="0" smtClean="0"/>
          </a:p>
          <a:p>
            <a:r>
              <a:rPr lang="en-GB" sz="2800" dirty="0" smtClean="0">
                <a:solidFill>
                  <a:srgbClr val="FF0000"/>
                </a:solidFill>
                <a:latin typeface="Designer" pitchFamily="50" charset="0"/>
              </a:rPr>
              <a:t>Disadvantages</a:t>
            </a:r>
            <a:endParaRPr lang="en-GB" dirty="0">
              <a:solidFill>
                <a:srgbClr val="FF000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Slower than RAM or ROM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Can crash which stops the computer 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Regular crashes can physically damage the surface.</a:t>
            </a:r>
            <a:endParaRPr lang="en-GB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9060" y="739139"/>
            <a:ext cx="8580120" cy="3238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latin typeface="Designer" pitchFamily="50" charset="0"/>
              </a:rPr>
              <a:t>CHRARACTERISTICS</a:t>
            </a:r>
          </a:p>
          <a:p>
            <a:r>
              <a:rPr lang="en-GB" dirty="0" smtClean="0"/>
              <a:t>Storage device </a:t>
            </a:r>
          </a:p>
          <a:p>
            <a:r>
              <a:rPr lang="en-GB" dirty="0" smtClean="0"/>
              <a:t>Ridged magnetic disks enclosed in a sealed container. Recording head (read/write) are very close to the magnetic material</a:t>
            </a:r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3170365" y="3977639"/>
            <a:ext cx="5508815" cy="2743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Designer" pitchFamily="50" charset="0"/>
              </a:rPr>
              <a:t>Typical Use</a:t>
            </a:r>
          </a:p>
          <a:p>
            <a:r>
              <a:rPr lang="en-GB" dirty="0" smtClean="0"/>
              <a:t>Stores all programs, software and operating system used by the computer or user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163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DEVICE #9: High Definition (HD) Storage Media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55380" y="632616"/>
            <a:ext cx="3436620" cy="622538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55380" y="739140"/>
            <a:ext cx="343662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B050"/>
                </a:solidFill>
                <a:latin typeface="Designer" pitchFamily="50" charset="0"/>
              </a:rPr>
              <a:t>Advantages</a:t>
            </a:r>
            <a:endParaRPr lang="en-GB" dirty="0">
              <a:solidFill>
                <a:srgbClr val="00B05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92D050"/>
                </a:solidFill>
              </a:rPr>
              <a:t>Blu-Ray and HDDVD disks </a:t>
            </a:r>
            <a:r>
              <a:rPr lang="en-GB" dirty="0" smtClean="0">
                <a:solidFill>
                  <a:srgbClr val="92D050"/>
                </a:solidFill>
              </a:rPr>
              <a:t>work the </a:t>
            </a:r>
            <a:r>
              <a:rPr lang="en-GB" dirty="0">
                <a:solidFill>
                  <a:srgbClr val="92D050"/>
                </a:solidFill>
              </a:rPr>
              <a:t>same </a:t>
            </a:r>
            <a:r>
              <a:rPr lang="en-GB" dirty="0" smtClean="0">
                <a:solidFill>
                  <a:srgbClr val="92D050"/>
                </a:solidFill>
              </a:rPr>
              <a:t>way as </a:t>
            </a:r>
            <a:r>
              <a:rPr lang="en-GB" dirty="0">
                <a:solidFill>
                  <a:srgbClr val="92D050"/>
                </a:solidFill>
              </a:rPr>
              <a:t>DVD disks but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92D050"/>
                </a:solidFill>
              </a:rPr>
              <a:t>can hold </a:t>
            </a:r>
            <a:r>
              <a:rPr lang="en-GB" dirty="0" smtClean="0">
                <a:solidFill>
                  <a:srgbClr val="92D050"/>
                </a:solidFill>
              </a:rPr>
              <a:t>more high </a:t>
            </a:r>
            <a:r>
              <a:rPr lang="en-GB" dirty="0">
                <a:solidFill>
                  <a:srgbClr val="92D050"/>
                </a:solidFill>
              </a:rPr>
              <a:t>quality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92D050"/>
                </a:solidFill>
              </a:rPr>
              <a:t>Better </a:t>
            </a:r>
            <a:r>
              <a:rPr lang="en-GB" dirty="0" smtClean="0">
                <a:solidFill>
                  <a:srgbClr val="92D050"/>
                </a:solidFill>
              </a:rPr>
              <a:t>picture, better </a:t>
            </a:r>
            <a:r>
              <a:rPr lang="en-GB" dirty="0">
                <a:solidFill>
                  <a:srgbClr val="92D050"/>
                </a:solidFill>
              </a:rPr>
              <a:t>sound </a:t>
            </a:r>
            <a:r>
              <a:rPr lang="en-GB" dirty="0" smtClean="0">
                <a:solidFill>
                  <a:srgbClr val="92D050"/>
                </a:solidFill>
              </a:rPr>
              <a:t>than previous optical media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rgbClr val="92D050"/>
              </a:solidFill>
            </a:endParaRPr>
          </a:p>
          <a:p>
            <a:endParaRPr lang="en-GB" dirty="0" smtClean="0"/>
          </a:p>
          <a:p>
            <a:r>
              <a:rPr lang="en-GB" sz="2800" dirty="0" smtClean="0">
                <a:solidFill>
                  <a:srgbClr val="FF0000"/>
                </a:solidFill>
                <a:latin typeface="Designer" pitchFamily="50" charset="0"/>
              </a:rPr>
              <a:t>Disadvantages</a:t>
            </a:r>
            <a:endParaRPr lang="en-GB" dirty="0">
              <a:solidFill>
                <a:srgbClr val="FF000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You </a:t>
            </a: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need dedicated </a:t>
            </a: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players.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With so </a:t>
            </a: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much data </a:t>
            </a: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it can </a:t>
            </a: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take time </a:t>
            </a: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 load </a:t>
            </a: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 film</a:t>
            </a: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9060" y="739139"/>
            <a:ext cx="8580120" cy="32385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>
                <a:latin typeface="Designer" pitchFamily="50" charset="0"/>
              </a:rPr>
              <a:t>CHRARACTERISTICS</a:t>
            </a:r>
          </a:p>
          <a:p>
            <a:r>
              <a:rPr lang="en-GB" dirty="0" smtClean="0"/>
              <a:t>Storage device </a:t>
            </a:r>
          </a:p>
          <a:p>
            <a:r>
              <a:rPr lang="en-GB" dirty="0"/>
              <a:t>Uses a blue laser (instead of red) which burns much smaller pits onto the surface</a:t>
            </a:r>
          </a:p>
          <a:p>
            <a:r>
              <a:rPr lang="en-GB" dirty="0"/>
              <a:t>Increases density and therefore storage capacity</a:t>
            </a:r>
          </a:p>
          <a:p>
            <a:r>
              <a:rPr lang="en-GB" dirty="0" smtClean="0"/>
              <a:t>Blu-ray </a:t>
            </a:r>
            <a:r>
              <a:rPr lang="en-GB" dirty="0"/>
              <a:t>is an optical disc format used to store </a:t>
            </a:r>
            <a:r>
              <a:rPr lang="en-GB" dirty="0" smtClean="0"/>
              <a:t>high definition </a:t>
            </a:r>
            <a:r>
              <a:rPr lang="en-GB" dirty="0"/>
              <a:t>video as well as games.</a:t>
            </a:r>
            <a:endParaRPr lang="en-GB" dirty="0" smtClean="0"/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99060" y="3977639"/>
            <a:ext cx="5060291" cy="2743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Designer" pitchFamily="50" charset="0"/>
              </a:rPr>
              <a:t>Typical Use</a:t>
            </a:r>
          </a:p>
          <a:p>
            <a:r>
              <a:rPr lang="en-GB" dirty="0"/>
              <a:t>To store large amounts of </a:t>
            </a:r>
            <a:r>
              <a:rPr lang="en-GB" dirty="0" smtClean="0"/>
              <a:t>high quality </a:t>
            </a:r>
            <a:r>
              <a:rPr lang="en-GB" dirty="0"/>
              <a:t>data, such as films.</a:t>
            </a:r>
          </a:p>
        </p:txBody>
      </p:sp>
      <p:pic>
        <p:nvPicPr>
          <p:cNvPr id="13314" name="Picture 2" descr="Mikael's Collection of Animated Spinning Optical Dis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514377" y="3651981"/>
            <a:ext cx="3394515" cy="3394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47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solidFill>
                  <a:schemeClr val="bg1"/>
                </a:solidFill>
                <a:latin typeface="Designer" pitchFamily="50" charset="0"/>
              </a:rPr>
              <a:t>DEVICE #10: Solid State Drive (SSD)</a:t>
            </a:r>
            <a:endParaRPr lang="en-GB" dirty="0">
              <a:solidFill>
                <a:schemeClr val="bg1"/>
              </a:solidFill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55380" y="632616"/>
            <a:ext cx="3436620" cy="6225383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55380" y="739140"/>
            <a:ext cx="343662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rgbClr val="00B050"/>
                </a:solidFill>
                <a:latin typeface="Designer" pitchFamily="50" charset="0"/>
              </a:rPr>
              <a:t>Advantages</a:t>
            </a:r>
            <a:endParaRPr lang="en-GB" dirty="0">
              <a:solidFill>
                <a:srgbClr val="00B05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Faster start up than HDDs.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Less noise as there are no moving parts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Disk defragmentation is not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rgbClr val="92D050"/>
                </a:solidFill>
              </a:rPr>
              <a:t>Less power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>
              <a:solidFill>
                <a:srgbClr val="92D050"/>
              </a:solidFill>
            </a:endParaRPr>
          </a:p>
          <a:p>
            <a:endParaRPr lang="en-GB" dirty="0" smtClean="0"/>
          </a:p>
          <a:p>
            <a:r>
              <a:rPr lang="en-GB" sz="2800" dirty="0" smtClean="0">
                <a:solidFill>
                  <a:srgbClr val="FF0000"/>
                </a:solidFill>
                <a:latin typeface="Designer" pitchFamily="50" charset="0"/>
              </a:rPr>
              <a:t>Disadvantages</a:t>
            </a:r>
            <a:endParaRPr lang="en-GB" dirty="0">
              <a:solidFill>
                <a:srgbClr val="FF0000"/>
              </a:solidFill>
              <a:latin typeface="Designer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Usually come in smaller capacity than HDDs as the cost per megabyte is higher</a:t>
            </a:r>
            <a:endParaRPr lang="en-GB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9060" y="739139"/>
            <a:ext cx="8580120" cy="3238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>
                <a:latin typeface="Designer" pitchFamily="50" charset="0"/>
              </a:rPr>
              <a:t>CHRARACTERISTICS</a:t>
            </a:r>
          </a:p>
          <a:p>
            <a:r>
              <a:rPr lang="en-GB" dirty="0" smtClean="0"/>
              <a:t>Storage device </a:t>
            </a:r>
          </a:p>
          <a:p>
            <a:r>
              <a:rPr lang="en-GB" dirty="0"/>
              <a:t>A collection of memory chips controlled by its own software. The software makes the chips act like a disk drive</a:t>
            </a:r>
            <a:r>
              <a:rPr lang="en-GB" dirty="0" smtClean="0"/>
              <a:t>.</a:t>
            </a:r>
          </a:p>
          <a:p>
            <a:r>
              <a:rPr lang="en-GB" dirty="0" smtClean="0"/>
              <a:t>Non volatile NAND flash memory and has no moving parts</a:t>
            </a:r>
          </a:p>
        </p:txBody>
      </p:sp>
      <p:sp>
        <p:nvSpPr>
          <p:cNvPr id="10" name="Content Placeholder 8"/>
          <p:cNvSpPr txBox="1">
            <a:spLocks/>
          </p:cNvSpPr>
          <p:nvPr/>
        </p:nvSpPr>
        <p:spPr>
          <a:xfrm>
            <a:off x="4124324" y="3977639"/>
            <a:ext cx="4371975" cy="2743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smtClean="0">
                <a:latin typeface="Designer" pitchFamily="50" charset="0"/>
              </a:rPr>
              <a:t>Typical Use</a:t>
            </a:r>
          </a:p>
          <a:p>
            <a:r>
              <a:rPr lang="en-GB" dirty="0" smtClean="0"/>
              <a:t>In most machines, these are replacing traditional hard disk drives</a:t>
            </a:r>
            <a:endParaRPr lang="en-GB" dirty="0"/>
          </a:p>
        </p:txBody>
      </p:sp>
      <p:pic>
        <p:nvPicPr>
          <p:cNvPr id="14338" name="Picture 2" descr="Solid Ssd Storage Cartoon, Cartoon Clipart, Solid, Ssd PNG Transparent  Image and Clipart for Free Downlo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61415"/>
            <a:ext cx="4558651" cy="455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17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560987"/>
            <a:ext cx="12192000" cy="300345"/>
          </a:xfrm>
          <a:solidFill>
            <a:srgbClr val="92D050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 smtClean="0">
                <a:latin typeface="Designer" pitchFamily="50" charset="0"/>
              </a:rPr>
              <a:t>explain the purpose of random access memory (RAM), read only memory (ROM) and cache;</a:t>
            </a:r>
          </a:p>
          <a:p>
            <a:pPr marL="0" indent="0">
              <a:buNone/>
            </a:pPr>
            <a:endParaRPr lang="en-GB" sz="1600" dirty="0">
              <a:latin typeface="Designer" pitchFamily="50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632617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 smtClean="0">
                <a:latin typeface="Designer" pitchFamily="50" charset="0"/>
              </a:rPr>
              <a:t>Memory</a:t>
            </a:r>
            <a:endParaRPr lang="en-GB" dirty="0">
              <a:latin typeface="Designer" pitchFamily="50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6862" y="1555234"/>
            <a:ext cx="4525279" cy="269647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Can </a:t>
            </a:r>
            <a:r>
              <a:rPr lang="en-GB" dirty="0">
                <a:solidFill>
                  <a:schemeClr val="bg1"/>
                </a:solidFill>
              </a:rPr>
              <a:t>be read from or written 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Is </a:t>
            </a:r>
            <a:r>
              <a:rPr lang="en-GB" b="1" dirty="0">
                <a:solidFill>
                  <a:srgbClr val="FFC000"/>
                </a:solidFill>
              </a:rPr>
              <a:t>volatile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</a:rPr>
              <a:t>(contents is lost when power is switched off)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C000"/>
                </a:solidFill>
              </a:rPr>
              <a:t>Used to hold programs and data that are currently being </a:t>
            </a:r>
            <a:r>
              <a:rPr lang="en-GB" dirty="0" smtClean="0">
                <a:solidFill>
                  <a:srgbClr val="FFC000"/>
                </a:solidFill>
              </a:rPr>
              <a:t>used, and will change every time a user switches programs.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Typical </a:t>
            </a:r>
            <a:r>
              <a:rPr lang="en-GB" dirty="0">
                <a:solidFill>
                  <a:schemeClr val="bg1"/>
                </a:solidFill>
              </a:rPr>
              <a:t>RAM size is </a:t>
            </a:r>
            <a:r>
              <a:rPr lang="en-GB" dirty="0" smtClean="0">
                <a:solidFill>
                  <a:schemeClr val="bg1"/>
                </a:solidFill>
              </a:rPr>
              <a:t>16GB</a:t>
            </a:r>
            <a:r>
              <a:rPr lang="en-GB" dirty="0">
                <a:solidFill>
                  <a:schemeClr val="bg1"/>
                </a:solidFill>
              </a:rPr>
              <a:t>. Size can influence the speed of the processor</a:t>
            </a:r>
            <a:r>
              <a:rPr lang="en-GB" dirty="0" smtClean="0">
                <a:solidFill>
                  <a:schemeClr val="bg1"/>
                </a:solidFill>
              </a:rPr>
              <a:t>.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612" b="96578" l="200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413" y="3479663"/>
            <a:ext cx="2463810" cy="1727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861" y="828431"/>
            <a:ext cx="45252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dirty="0" smtClean="0">
                <a:ln>
                  <a:solidFill>
                    <a:schemeClr val="bg1"/>
                  </a:solidFill>
                </a:ln>
                <a:solidFill>
                  <a:schemeClr val="accent6">
                    <a:lumMod val="50000"/>
                  </a:schemeClr>
                </a:solidFill>
                <a:latin typeface="LEMON MILK" panose="00000500000000000000" pitchFamily="50" charset="0"/>
              </a:rPr>
              <a:t>RAM</a:t>
            </a:r>
            <a:endParaRPr lang="en-GB" sz="6600" dirty="0">
              <a:ln>
                <a:solidFill>
                  <a:schemeClr val="bg1"/>
                </a:solidFill>
              </a:ln>
              <a:solidFill>
                <a:schemeClr val="accent6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84850" y="1359420"/>
            <a:ext cx="4525279" cy="2696479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4"/>
                </a:solidFill>
              </a:rPr>
              <a:t>Can be read from, but not written to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Programs are stored permanently, meaning contents cannot be altered.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4"/>
                </a:solidFill>
              </a:rPr>
              <a:t>Non-volatile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4"/>
                </a:solidFill>
              </a:rPr>
              <a:t>Used to store programs that are frequently required by the computer such as the </a:t>
            </a:r>
            <a:r>
              <a:rPr lang="en-GB" dirty="0" smtClean="0">
                <a:solidFill>
                  <a:schemeClr val="accent4"/>
                </a:solidFill>
              </a:rPr>
              <a:t>boot script </a:t>
            </a:r>
            <a:r>
              <a:rPr lang="en-GB" dirty="0" smtClean="0">
                <a:solidFill>
                  <a:schemeClr val="bg1"/>
                </a:solidFill>
              </a:rPr>
              <a:t>(what runs when you turn on the computer, loads the OS)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4849" y="632617"/>
            <a:ext cx="45252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dirty="0" smtClean="0">
                <a:ln>
                  <a:solidFill>
                    <a:schemeClr val="bg1"/>
                  </a:solidFill>
                </a:ln>
                <a:solidFill>
                  <a:schemeClr val="accent4">
                    <a:lumMod val="50000"/>
                  </a:schemeClr>
                </a:solidFill>
                <a:latin typeface="LEMON MILK" panose="00000500000000000000" pitchFamily="50" charset="0"/>
              </a:rPr>
              <a:t>ROM</a:t>
            </a:r>
            <a:endParaRPr lang="en-GB" sz="6600" dirty="0">
              <a:ln>
                <a:solidFill>
                  <a:schemeClr val="bg1"/>
                </a:solidFill>
              </a:ln>
              <a:solidFill>
                <a:schemeClr val="accent4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  <p:pic>
        <p:nvPicPr>
          <p:cNvPr id="15362" name="Picture 2" descr="An In-Depth Exploration of Read-Only Memory and Its Various Typ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7846" y="2905724"/>
            <a:ext cx="1964154" cy="1964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429695" y="4866074"/>
            <a:ext cx="4525279" cy="146612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Memory </a:t>
            </a:r>
            <a:r>
              <a:rPr lang="en-GB" dirty="0" smtClean="0">
                <a:solidFill>
                  <a:schemeClr val="accent4"/>
                </a:solidFill>
              </a:rPr>
              <a:t>used by the 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Similar to RAM in that instructions can be read of written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accent4"/>
                </a:solidFill>
              </a:rPr>
              <a:t>Used to reduce processing time and hold frequently used data</a:t>
            </a:r>
            <a:endParaRPr lang="en-GB" dirty="0">
              <a:solidFill>
                <a:schemeClr val="accent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3089" y="4126109"/>
            <a:ext cx="45252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dirty="0" smtClean="0">
                <a:ln>
                  <a:solidFill>
                    <a:schemeClr val="bg1"/>
                  </a:solidFill>
                </a:ln>
                <a:solidFill>
                  <a:schemeClr val="accent1">
                    <a:lumMod val="50000"/>
                  </a:schemeClr>
                </a:solidFill>
                <a:latin typeface="LEMON MILK" panose="00000500000000000000" pitchFamily="50" charset="0"/>
              </a:rPr>
              <a:t>CACHE</a:t>
            </a:r>
            <a:endParaRPr lang="en-GB" sz="6600" dirty="0">
              <a:ln>
                <a:solidFill>
                  <a:schemeClr val="bg1"/>
                </a:solidFill>
              </a:ln>
              <a:solidFill>
                <a:schemeClr val="accent1">
                  <a:lumMod val="50000"/>
                </a:schemeClr>
              </a:solidFill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59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9" grpId="0"/>
      <p:bldP spid="11" grpId="0" animBg="1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2076</Words>
  <Application>Microsoft Office PowerPoint</Application>
  <PresentationFormat>Widescreen</PresentationFormat>
  <Paragraphs>383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Designer</vt:lpstr>
      <vt:lpstr>LEMON MILK</vt:lpstr>
      <vt:lpstr>Office Theme</vt:lpstr>
      <vt:lpstr>Computer Hardware</vt:lpstr>
      <vt:lpstr>The CPU</vt:lpstr>
      <vt:lpstr>The CPU</vt:lpstr>
      <vt:lpstr>The CPU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Hardware</dc:title>
  <dc:creator>Microsoft account</dc:creator>
  <cp:lastModifiedBy>Microsoft account</cp:lastModifiedBy>
  <cp:revision>38</cp:revision>
  <dcterms:created xsi:type="dcterms:W3CDTF">2026-10-13T20:38:26Z</dcterms:created>
  <dcterms:modified xsi:type="dcterms:W3CDTF">2026-10-30T17:18:34Z</dcterms:modified>
</cp:coreProperties>
</file>