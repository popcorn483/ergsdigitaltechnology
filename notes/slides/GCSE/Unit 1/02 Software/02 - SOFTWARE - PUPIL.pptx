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9" r:id="rId4"/>
    <p:sldId id="261" r:id="rId5"/>
    <p:sldId id="262" r:id="rId6"/>
    <p:sldId id="260" r:id="rId7"/>
    <p:sldId id="267" r:id="rId8"/>
    <p:sldId id="263" r:id="rId9"/>
    <p:sldId id="268" r:id="rId10"/>
    <p:sldId id="269" r:id="rId11"/>
    <p:sldId id="270" r:id="rId12"/>
    <p:sldId id="272" r:id="rId13"/>
    <p:sldId id="273" r:id="rId14"/>
    <p:sldId id="271" r:id="rId15"/>
    <p:sldId id="274" r:id="rId16"/>
    <p:sldId id="275" r:id="rId17"/>
    <p:sldId id="265" r:id="rId18"/>
    <p:sldId id="266" r:id="rId19"/>
    <p:sldId id="276" r:id="rId20"/>
    <p:sldId id="277" r:id="rId21"/>
    <p:sldId id="278" r:id="rId22"/>
    <p:sldId id="279" r:id="rId23"/>
    <p:sldId id="280" r:id="rId24"/>
    <p:sldId id="281" r:id="rId25"/>
    <p:sldId id="285" r:id="rId26"/>
    <p:sldId id="28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CEA1"/>
    <a:srgbClr val="FFCA5A"/>
    <a:srgbClr val="00041C"/>
    <a:srgbClr val="602C08"/>
    <a:srgbClr val="011331"/>
    <a:srgbClr val="022255"/>
    <a:srgbClr val="FFD15B"/>
    <a:srgbClr val="B1510F"/>
    <a:srgbClr val="C0C0C0"/>
    <a:srgbClr val="F072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ACB720-D100-4BCA-8018-F9F33A38F32D}" type="doc">
      <dgm:prSet loTypeId="urn:microsoft.com/office/officeart/2005/8/layout/hList1" loCatId="list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GB"/>
        </a:p>
      </dgm:t>
    </dgm:pt>
    <dgm:pt modelId="{7A432262-9A35-48BD-ACF2-36265B5191D1}">
      <dgm:prSet phldrT="[Text]"/>
      <dgm:spPr/>
      <dgm:t>
        <a:bodyPr/>
        <a:lstStyle/>
        <a:p>
          <a:r>
            <a:rPr lang="en-GB" dirty="0" smtClean="0"/>
            <a:t>Allocating Memory</a:t>
          </a:r>
          <a:endParaRPr lang="en-GB" dirty="0"/>
        </a:p>
      </dgm:t>
    </dgm:pt>
    <dgm:pt modelId="{00DE3C1A-9811-4584-B1A3-6F7F931273F9}" type="parTrans" cxnId="{CE57D165-0169-4441-85FC-CEF5207D4B9D}">
      <dgm:prSet/>
      <dgm:spPr/>
      <dgm:t>
        <a:bodyPr/>
        <a:lstStyle/>
        <a:p>
          <a:endParaRPr lang="en-GB"/>
        </a:p>
      </dgm:t>
    </dgm:pt>
    <dgm:pt modelId="{AD2B4C41-7AC0-4463-B949-F6698CD05AA6}" type="sibTrans" cxnId="{CE57D165-0169-4441-85FC-CEF5207D4B9D}">
      <dgm:prSet/>
      <dgm:spPr/>
      <dgm:t>
        <a:bodyPr/>
        <a:lstStyle/>
        <a:p>
          <a:endParaRPr lang="en-GB"/>
        </a:p>
      </dgm:t>
    </dgm:pt>
    <dgm:pt modelId="{05E5E8A9-D1C3-473A-9F93-7DD215D25F5B}">
      <dgm:prSet/>
      <dgm:spPr/>
      <dgm:t>
        <a:bodyPr/>
        <a:lstStyle/>
        <a:p>
          <a:r>
            <a:rPr lang="en-GB" smtClean="0"/>
            <a:t>The OS organises the use of main memory between programs and data files</a:t>
          </a:r>
          <a:endParaRPr lang="en-GB" dirty="0" smtClean="0"/>
        </a:p>
      </dgm:t>
    </dgm:pt>
    <dgm:pt modelId="{DC59E311-EAE2-4E4E-A192-51B44ABE3898}" type="parTrans" cxnId="{3D8F7691-3ACC-438F-A78D-559EEABA2A6C}">
      <dgm:prSet/>
      <dgm:spPr/>
      <dgm:t>
        <a:bodyPr/>
        <a:lstStyle/>
        <a:p>
          <a:endParaRPr lang="en-GB"/>
        </a:p>
      </dgm:t>
    </dgm:pt>
    <dgm:pt modelId="{2523D59E-C50D-41EF-82D3-BBE6E6E58CA7}" type="sibTrans" cxnId="{3D8F7691-3ACC-438F-A78D-559EEABA2A6C}">
      <dgm:prSet/>
      <dgm:spPr/>
      <dgm:t>
        <a:bodyPr/>
        <a:lstStyle/>
        <a:p>
          <a:endParaRPr lang="en-GB"/>
        </a:p>
      </dgm:t>
    </dgm:pt>
    <dgm:pt modelId="{FC4BB77F-86E2-4911-B0DA-5EADB00EC033}">
      <dgm:prSet/>
      <dgm:spPr/>
      <dgm:t>
        <a:bodyPr/>
        <a:lstStyle/>
        <a:p>
          <a:r>
            <a:rPr lang="en-GB" smtClean="0"/>
            <a:t>Data needs to be transferred from a HDD/SSD to main memory (i.e. RAM) before it can be used.</a:t>
          </a:r>
          <a:endParaRPr lang="en-GB" dirty="0" smtClean="0"/>
        </a:p>
      </dgm:t>
    </dgm:pt>
    <dgm:pt modelId="{359F0303-7244-4B33-BC71-3C22137C4784}" type="parTrans" cxnId="{C574DF76-B1EE-451F-AD44-D8AE764653CE}">
      <dgm:prSet/>
      <dgm:spPr/>
      <dgm:t>
        <a:bodyPr/>
        <a:lstStyle/>
        <a:p>
          <a:endParaRPr lang="en-GB"/>
        </a:p>
      </dgm:t>
    </dgm:pt>
    <dgm:pt modelId="{8407DB7D-4CD0-407E-8A80-35896B7880B0}" type="sibTrans" cxnId="{C574DF76-B1EE-451F-AD44-D8AE764653CE}">
      <dgm:prSet/>
      <dgm:spPr/>
      <dgm:t>
        <a:bodyPr/>
        <a:lstStyle/>
        <a:p>
          <a:endParaRPr lang="en-GB"/>
        </a:p>
      </dgm:t>
    </dgm:pt>
    <dgm:pt modelId="{71AF881B-397F-466F-B108-AF142A2E2BA8}">
      <dgm:prSet/>
      <dgm:spPr/>
      <dgm:t>
        <a:bodyPr/>
        <a:lstStyle/>
        <a:p>
          <a:r>
            <a:rPr lang="en-GB" smtClean="0"/>
            <a:t>Locates free memory in RAM and allocates this to the program/file</a:t>
          </a:r>
          <a:endParaRPr lang="en-GB" dirty="0" smtClean="0"/>
        </a:p>
      </dgm:t>
    </dgm:pt>
    <dgm:pt modelId="{5BDDBCBC-00B0-46E4-A6B2-C009426E2083}" type="parTrans" cxnId="{989F52FC-50FD-4ECC-925C-BA72F4C68F95}">
      <dgm:prSet/>
      <dgm:spPr/>
      <dgm:t>
        <a:bodyPr/>
        <a:lstStyle/>
        <a:p>
          <a:endParaRPr lang="en-GB"/>
        </a:p>
      </dgm:t>
    </dgm:pt>
    <dgm:pt modelId="{EBC28856-54BE-4BB8-B0C1-B84CC24C553F}" type="sibTrans" cxnId="{989F52FC-50FD-4ECC-925C-BA72F4C68F95}">
      <dgm:prSet/>
      <dgm:spPr/>
      <dgm:t>
        <a:bodyPr/>
        <a:lstStyle/>
        <a:p>
          <a:endParaRPr lang="en-GB"/>
        </a:p>
      </dgm:t>
    </dgm:pt>
    <dgm:pt modelId="{B87EE148-EB33-44D7-918C-47F62C545B26}">
      <dgm:prSet/>
      <dgm:spPr/>
      <dgm:t>
        <a:bodyPr/>
        <a:lstStyle/>
        <a:p>
          <a:r>
            <a:rPr lang="en-GB" smtClean="0"/>
            <a:t>Storage</a:t>
          </a:r>
          <a:endParaRPr lang="en-GB" dirty="0" smtClean="0"/>
        </a:p>
      </dgm:t>
    </dgm:pt>
    <dgm:pt modelId="{36BC7BFB-A0B9-4713-B98C-808273B33BFD}" type="parTrans" cxnId="{44101FBC-D916-4AE8-975B-73D41EB80B59}">
      <dgm:prSet/>
      <dgm:spPr/>
      <dgm:t>
        <a:bodyPr/>
        <a:lstStyle/>
        <a:p>
          <a:endParaRPr lang="en-GB"/>
        </a:p>
      </dgm:t>
    </dgm:pt>
    <dgm:pt modelId="{FE2B59B6-4A38-466F-89D2-A78019573971}" type="sibTrans" cxnId="{44101FBC-D916-4AE8-975B-73D41EB80B59}">
      <dgm:prSet/>
      <dgm:spPr/>
      <dgm:t>
        <a:bodyPr/>
        <a:lstStyle/>
        <a:p>
          <a:endParaRPr lang="en-GB"/>
        </a:p>
      </dgm:t>
    </dgm:pt>
    <dgm:pt modelId="{91DE1127-2E46-4B07-88B3-214E1345A15F}">
      <dgm:prSet/>
      <dgm:spPr/>
      <dgm:t>
        <a:bodyPr/>
        <a:lstStyle/>
        <a:p>
          <a:r>
            <a:rPr lang="en-GB" smtClean="0"/>
            <a:t>The OS manages the storage of data and files</a:t>
          </a:r>
          <a:endParaRPr lang="en-GB" dirty="0" smtClean="0"/>
        </a:p>
      </dgm:t>
    </dgm:pt>
    <dgm:pt modelId="{383D1562-8B1B-4C45-9074-249610A7927D}" type="parTrans" cxnId="{DBE1CAD5-1D7F-4271-9429-DAB9C04292A5}">
      <dgm:prSet/>
      <dgm:spPr/>
      <dgm:t>
        <a:bodyPr/>
        <a:lstStyle/>
        <a:p>
          <a:endParaRPr lang="en-GB"/>
        </a:p>
      </dgm:t>
    </dgm:pt>
    <dgm:pt modelId="{73BAD3EA-136E-4A9C-970A-A3531C8E180E}" type="sibTrans" cxnId="{DBE1CAD5-1D7F-4271-9429-DAB9C04292A5}">
      <dgm:prSet/>
      <dgm:spPr/>
      <dgm:t>
        <a:bodyPr/>
        <a:lstStyle/>
        <a:p>
          <a:endParaRPr lang="en-GB"/>
        </a:p>
      </dgm:t>
    </dgm:pt>
    <dgm:pt modelId="{55667E4C-B62F-486E-84AC-A91C3D0786CA}">
      <dgm:prSet/>
      <dgm:spPr/>
      <dgm:t>
        <a:bodyPr/>
        <a:lstStyle/>
        <a:p>
          <a:r>
            <a:rPr lang="en-GB" smtClean="0"/>
            <a:t>Unnecessary files can then be deleted</a:t>
          </a:r>
          <a:endParaRPr lang="en-GB" dirty="0" smtClean="0"/>
        </a:p>
      </dgm:t>
    </dgm:pt>
    <dgm:pt modelId="{AC575A18-75FA-4AB9-92BE-39E05BF8E7A3}" type="parTrans" cxnId="{85FBA02B-AA4A-44AA-8B70-16A7B3C9D4E4}">
      <dgm:prSet/>
      <dgm:spPr/>
      <dgm:t>
        <a:bodyPr/>
        <a:lstStyle/>
        <a:p>
          <a:endParaRPr lang="en-GB"/>
        </a:p>
      </dgm:t>
    </dgm:pt>
    <dgm:pt modelId="{64E5A220-02CC-4C9A-ABF5-9F081DF77F02}" type="sibTrans" cxnId="{85FBA02B-AA4A-44AA-8B70-16A7B3C9D4E4}">
      <dgm:prSet/>
      <dgm:spPr/>
      <dgm:t>
        <a:bodyPr/>
        <a:lstStyle/>
        <a:p>
          <a:endParaRPr lang="en-GB"/>
        </a:p>
      </dgm:t>
    </dgm:pt>
    <dgm:pt modelId="{ABE61A19-92A5-4FB0-9C9B-404A20A31138}">
      <dgm:prSet/>
      <dgm:spPr/>
      <dgm:t>
        <a:bodyPr/>
        <a:lstStyle/>
        <a:p>
          <a:r>
            <a:rPr lang="en-GB" smtClean="0"/>
            <a:t>Processing Time</a:t>
          </a:r>
          <a:endParaRPr lang="en-GB" dirty="0" smtClean="0"/>
        </a:p>
      </dgm:t>
    </dgm:pt>
    <dgm:pt modelId="{9DA77BE4-39CC-45EA-A2D3-108D9F8A6E92}" type="parTrans" cxnId="{2A3D7FAF-4AE0-4879-9E87-F6CC8D91353E}">
      <dgm:prSet/>
      <dgm:spPr/>
      <dgm:t>
        <a:bodyPr/>
        <a:lstStyle/>
        <a:p>
          <a:endParaRPr lang="en-GB"/>
        </a:p>
      </dgm:t>
    </dgm:pt>
    <dgm:pt modelId="{7B00A08D-5068-40B8-A333-0EEE21C32570}" type="sibTrans" cxnId="{2A3D7FAF-4AE0-4879-9E87-F6CC8D91353E}">
      <dgm:prSet/>
      <dgm:spPr/>
      <dgm:t>
        <a:bodyPr/>
        <a:lstStyle/>
        <a:p>
          <a:endParaRPr lang="en-GB"/>
        </a:p>
      </dgm:t>
    </dgm:pt>
    <dgm:pt modelId="{8983D17D-1630-4448-A882-4AFA45A6C66B}">
      <dgm:prSet/>
      <dgm:spPr/>
      <dgm:t>
        <a:bodyPr/>
        <a:lstStyle/>
        <a:p>
          <a:r>
            <a:rPr lang="en-GB" smtClean="0"/>
            <a:t>System software allocates processing time between running programs and the users.</a:t>
          </a:r>
          <a:endParaRPr lang="en-GB" dirty="0" smtClean="0"/>
        </a:p>
      </dgm:t>
    </dgm:pt>
    <dgm:pt modelId="{592C07A1-D578-450C-B0A9-EDDFBBFBE598}" type="parTrans" cxnId="{28A5D301-3B26-4B87-B5CA-EF54D881B4A2}">
      <dgm:prSet/>
      <dgm:spPr/>
      <dgm:t>
        <a:bodyPr/>
        <a:lstStyle/>
        <a:p>
          <a:endParaRPr lang="en-GB"/>
        </a:p>
      </dgm:t>
    </dgm:pt>
    <dgm:pt modelId="{F9357BCB-A29D-4A9A-BBA5-505875D6D3D1}" type="sibTrans" cxnId="{28A5D301-3B26-4B87-B5CA-EF54D881B4A2}">
      <dgm:prSet/>
      <dgm:spPr/>
      <dgm:t>
        <a:bodyPr/>
        <a:lstStyle/>
        <a:p>
          <a:endParaRPr lang="en-GB"/>
        </a:p>
      </dgm:t>
    </dgm:pt>
    <dgm:pt modelId="{CB969277-7C1A-444A-BB3C-90961083162C}">
      <dgm:prSet/>
      <dgm:spPr/>
      <dgm:t>
        <a:bodyPr/>
        <a:lstStyle/>
        <a:p>
          <a:r>
            <a:rPr lang="en-GB" dirty="0" smtClean="0"/>
            <a:t>Uses time slices. More important task gets more time slices.</a:t>
          </a:r>
        </a:p>
      </dgm:t>
    </dgm:pt>
    <dgm:pt modelId="{9E70C243-802A-4846-BD97-50D47A5C2985}" type="parTrans" cxnId="{D98327EA-86F4-4F73-863F-73927BDC03CD}">
      <dgm:prSet/>
      <dgm:spPr/>
      <dgm:t>
        <a:bodyPr/>
        <a:lstStyle/>
        <a:p>
          <a:endParaRPr lang="en-GB"/>
        </a:p>
      </dgm:t>
    </dgm:pt>
    <dgm:pt modelId="{E6E43164-8E80-4110-855C-3E7790AD1578}" type="sibTrans" cxnId="{D98327EA-86F4-4F73-863F-73927BDC03CD}">
      <dgm:prSet/>
      <dgm:spPr/>
      <dgm:t>
        <a:bodyPr/>
        <a:lstStyle/>
        <a:p>
          <a:endParaRPr lang="en-GB"/>
        </a:p>
      </dgm:t>
    </dgm:pt>
    <dgm:pt modelId="{D56FDFDE-706B-45CC-BC0E-D0552F97DBCD}">
      <dgm:prSet/>
      <dgm:spPr/>
      <dgm:t>
        <a:bodyPr/>
        <a:lstStyle/>
        <a:p>
          <a:r>
            <a:rPr lang="en-GB" dirty="0" smtClean="0"/>
            <a:t>System performance includes response time and processor usage.</a:t>
          </a:r>
        </a:p>
      </dgm:t>
    </dgm:pt>
    <dgm:pt modelId="{1786A586-3EF2-4AD0-B449-713C5BA0027F}" type="parTrans" cxnId="{54624CC8-B0EB-4071-85D1-2EE0A74AF15C}">
      <dgm:prSet/>
      <dgm:spPr/>
      <dgm:t>
        <a:bodyPr/>
        <a:lstStyle/>
        <a:p>
          <a:endParaRPr lang="en-GB"/>
        </a:p>
      </dgm:t>
    </dgm:pt>
    <dgm:pt modelId="{865D32A1-B2AB-4416-81DB-D0B4ECBC3D4A}" type="sibTrans" cxnId="{54624CC8-B0EB-4071-85D1-2EE0A74AF15C}">
      <dgm:prSet/>
      <dgm:spPr/>
      <dgm:t>
        <a:bodyPr/>
        <a:lstStyle/>
        <a:p>
          <a:endParaRPr lang="en-GB"/>
        </a:p>
      </dgm:t>
    </dgm:pt>
    <dgm:pt modelId="{081B2A81-8771-4E3D-8892-BE07B03C9D24}">
      <dgm:prSet/>
      <dgm:spPr/>
      <dgm:t>
        <a:bodyPr/>
        <a:lstStyle/>
        <a:p>
          <a:r>
            <a:rPr lang="en-GB" smtClean="0"/>
            <a:t>Monitored by the system software</a:t>
          </a:r>
          <a:endParaRPr lang="en-GB" dirty="0" smtClean="0"/>
        </a:p>
      </dgm:t>
    </dgm:pt>
    <dgm:pt modelId="{2CC1C6EE-22ED-4A6A-A12D-B7D3514B10C9}" type="parTrans" cxnId="{35218C97-B1C1-4595-83B7-5B0E54369766}">
      <dgm:prSet/>
      <dgm:spPr/>
      <dgm:t>
        <a:bodyPr/>
        <a:lstStyle/>
        <a:p>
          <a:endParaRPr lang="en-GB"/>
        </a:p>
      </dgm:t>
    </dgm:pt>
    <dgm:pt modelId="{AE615F07-8298-419E-A12E-AB311D3DC906}" type="sibTrans" cxnId="{35218C97-B1C1-4595-83B7-5B0E54369766}">
      <dgm:prSet/>
      <dgm:spPr/>
      <dgm:t>
        <a:bodyPr/>
        <a:lstStyle/>
        <a:p>
          <a:endParaRPr lang="en-GB"/>
        </a:p>
      </dgm:t>
    </dgm:pt>
    <dgm:pt modelId="{EAAD01AF-2890-4756-83FE-E282C147F30C}" type="pres">
      <dgm:prSet presAssocID="{F2ACB720-D100-4BCA-8018-F9F33A38F32D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6ACD5DFD-41CA-4861-BE2E-B5CB57F5CD0C}" type="pres">
      <dgm:prSet presAssocID="{7A432262-9A35-48BD-ACF2-36265B5191D1}" presName="composite" presStyleCnt="0"/>
      <dgm:spPr/>
    </dgm:pt>
    <dgm:pt modelId="{E818219A-6FC1-454E-BB58-755A08A9E0EC}" type="pres">
      <dgm:prSet presAssocID="{7A432262-9A35-48BD-ACF2-36265B5191D1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FD8B07ED-6802-426A-AE68-B9A0AE906C2E}" type="pres">
      <dgm:prSet presAssocID="{7A432262-9A35-48BD-ACF2-36265B5191D1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CBF5CBD-D2C2-4509-B827-1A08D4258C1F}" type="pres">
      <dgm:prSet presAssocID="{AD2B4C41-7AC0-4463-B949-F6698CD05AA6}" presName="space" presStyleCnt="0"/>
      <dgm:spPr/>
    </dgm:pt>
    <dgm:pt modelId="{C743003F-71D2-4499-94FB-3085E073B081}" type="pres">
      <dgm:prSet presAssocID="{B87EE148-EB33-44D7-918C-47F62C545B26}" presName="composite" presStyleCnt="0"/>
      <dgm:spPr/>
    </dgm:pt>
    <dgm:pt modelId="{6F9B27C6-27A4-4082-9BBD-0B96894F4EE3}" type="pres">
      <dgm:prSet presAssocID="{B87EE148-EB33-44D7-918C-47F62C545B2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78EF947-2D85-4EEF-9BA9-CA2D7B4A578D}" type="pres">
      <dgm:prSet presAssocID="{B87EE148-EB33-44D7-918C-47F62C545B26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770906E3-F866-4B2F-A7EB-C8A22EC1C8B9}" type="pres">
      <dgm:prSet presAssocID="{FE2B59B6-4A38-466F-89D2-A78019573971}" presName="space" presStyleCnt="0"/>
      <dgm:spPr/>
    </dgm:pt>
    <dgm:pt modelId="{F18CB9FF-9531-4CD2-A644-30655B214F13}" type="pres">
      <dgm:prSet presAssocID="{ABE61A19-92A5-4FB0-9C9B-404A20A31138}" presName="composite" presStyleCnt="0"/>
      <dgm:spPr/>
    </dgm:pt>
    <dgm:pt modelId="{B9581370-168A-4868-B8D6-DE86798DF92F}" type="pres">
      <dgm:prSet presAssocID="{ABE61A19-92A5-4FB0-9C9B-404A20A3113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F7BB36A8-79B4-4FEB-83A8-631A45772E37}" type="pres">
      <dgm:prSet presAssocID="{ABE61A19-92A5-4FB0-9C9B-404A20A31138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327C92C4-276B-4556-9378-A317E0841CB3}" type="presOf" srcId="{D56FDFDE-706B-45CC-BC0E-D0552F97DBCD}" destId="{F7BB36A8-79B4-4FEB-83A8-631A45772E37}" srcOrd="0" destOrd="2" presId="urn:microsoft.com/office/officeart/2005/8/layout/hList1"/>
    <dgm:cxn modelId="{2A3D7FAF-4AE0-4879-9E87-F6CC8D91353E}" srcId="{F2ACB720-D100-4BCA-8018-F9F33A38F32D}" destId="{ABE61A19-92A5-4FB0-9C9B-404A20A31138}" srcOrd="2" destOrd="0" parTransId="{9DA77BE4-39CC-45EA-A2D3-108D9F8A6E92}" sibTransId="{7B00A08D-5068-40B8-A333-0EEE21C32570}"/>
    <dgm:cxn modelId="{5EA9A7F1-596F-4294-9BEB-E02367952FB5}" type="presOf" srcId="{91DE1127-2E46-4B07-88B3-214E1345A15F}" destId="{D78EF947-2D85-4EEF-9BA9-CA2D7B4A578D}" srcOrd="0" destOrd="0" presId="urn:microsoft.com/office/officeart/2005/8/layout/hList1"/>
    <dgm:cxn modelId="{83E71A5E-7702-450D-BF94-4A5116C301B0}" type="presOf" srcId="{F2ACB720-D100-4BCA-8018-F9F33A38F32D}" destId="{EAAD01AF-2890-4756-83FE-E282C147F30C}" srcOrd="0" destOrd="0" presId="urn:microsoft.com/office/officeart/2005/8/layout/hList1"/>
    <dgm:cxn modelId="{28A5D301-3B26-4B87-B5CA-EF54D881B4A2}" srcId="{ABE61A19-92A5-4FB0-9C9B-404A20A31138}" destId="{8983D17D-1630-4448-A882-4AFA45A6C66B}" srcOrd="0" destOrd="0" parTransId="{592C07A1-D578-450C-B0A9-EDDFBBFBE598}" sibTransId="{F9357BCB-A29D-4A9A-BBA5-505875D6D3D1}"/>
    <dgm:cxn modelId="{85FBA02B-AA4A-44AA-8B70-16A7B3C9D4E4}" srcId="{B87EE148-EB33-44D7-918C-47F62C545B26}" destId="{55667E4C-B62F-486E-84AC-A91C3D0786CA}" srcOrd="1" destOrd="0" parTransId="{AC575A18-75FA-4AB9-92BE-39E05BF8E7A3}" sibTransId="{64E5A220-02CC-4C9A-ABF5-9F081DF77F02}"/>
    <dgm:cxn modelId="{AF71E526-F02F-4275-837E-4902293AE598}" type="presOf" srcId="{ABE61A19-92A5-4FB0-9C9B-404A20A31138}" destId="{B9581370-168A-4868-B8D6-DE86798DF92F}" srcOrd="0" destOrd="0" presId="urn:microsoft.com/office/officeart/2005/8/layout/hList1"/>
    <dgm:cxn modelId="{35218C97-B1C1-4595-83B7-5B0E54369766}" srcId="{D56FDFDE-706B-45CC-BC0E-D0552F97DBCD}" destId="{081B2A81-8771-4E3D-8892-BE07B03C9D24}" srcOrd="0" destOrd="0" parTransId="{2CC1C6EE-22ED-4A6A-A12D-B7D3514B10C9}" sibTransId="{AE615F07-8298-419E-A12E-AB311D3DC906}"/>
    <dgm:cxn modelId="{1F6486D4-C402-4D97-B4FE-525B50C3A353}" type="presOf" srcId="{FC4BB77F-86E2-4911-B0DA-5EADB00EC033}" destId="{FD8B07ED-6802-426A-AE68-B9A0AE906C2E}" srcOrd="0" destOrd="1" presId="urn:microsoft.com/office/officeart/2005/8/layout/hList1"/>
    <dgm:cxn modelId="{4CE994C6-0355-4DFD-A882-22E358D2ADFB}" type="presOf" srcId="{7A432262-9A35-48BD-ACF2-36265B5191D1}" destId="{E818219A-6FC1-454E-BB58-755A08A9E0EC}" srcOrd="0" destOrd="0" presId="urn:microsoft.com/office/officeart/2005/8/layout/hList1"/>
    <dgm:cxn modelId="{E1067A37-AF37-426C-9574-60052B96102B}" type="presOf" srcId="{71AF881B-397F-466F-B108-AF142A2E2BA8}" destId="{FD8B07ED-6802-426A-AE68-B9A0AE906C2E}" srcOrd="0" destOrd="2" presId="urn:microsoft.com/office/officeart/2005/8/layout/hList1"/>
    <dgm:cxn modelId="{3A788ABC-6F04-4DF2-87FC-9D4CB62A3F3E}" type="presOf" srcId="{CB969277-7C1A-444A-BB3C-90961083162C}" destId="{F7BB36A8-79B4-4FEB-83A8-631A45772E37}" srcOrd="0" destOrd="1" presId="urn:microsoft.com/office/officeart/2005/8/layout/hList1"/>
    <dgm:cxn modelId="{CE57D165-0169-4441-85FC-CEF5207D4B9D}" srcId="{F2ACB720-D100-4BCA-8018-F9F33A38F32D}" destId="{7A432262-9A35-48BD-ACF2-36265B5191D1}" srcOrd="0" destOrd="0" parTransId="{00DE3C1A-9811-4584-B1A3-6F7F931273F9}" sibTransId="{AD2B4C41-7AC0-4463-B949-F6698CD05AA6}"/>
    <dgm:cxn modelId="{D98327EA-86F4-4F73-863F-73927BDC03CD}" srcId="{ABE61A19-92A5-4FB0-9C9B-404A20A31138}" destId="{CB969277-7C1A-444A-BB3C-90961083162C}" srcOrd="1" destOrd="0" parTransId="{9E70C243-802A-4846-BD97-50D47A5C2985}" sibTransId="{E6E43164-8E80-4110-855C-3E7790AD1578}"/>
    <dgm:cxn modelId="{C574DF76-B1EE-451F-AD44-D8AE764653CE}" srcId="{7A432262-9A35-48BD-ACF2-36265B5191D1}" destId="{FC4BB77F-86E2-4911-B0DA-5EADB00EC033}" srcOrd="1" destOrd="0" parTransId="{359F0303-7244-4B33-BC71-3C22137C4784}" sibTransId="{8407DB7D-4CD0-407E-8A80-35896B7880B0}"/>
    <dgm:cxn modelId="{989F52FC-50FD-4ECC-925C-BA72F4C68F95}" srcId="{7A432262-9A35-48BD-ACF2-36265B5191D1}" destId="{71AF881B-397F-466F-B108-AF142A2E2BA8}" srcOrd="2" destOrd="0" parTransId="{5BDDBCBC-00B0-46E4-A6B2-C009426E2083}" sibTransId="{EBC28856-54BE-4BB8-B0C1-B84CC24C553F}"/>
    <dgm:cxn modelId="{158DD561-ACB0-48EC-A419-2A7F9330A356}" type="presOf" srcId="{B87EE148-EB33-44D7-918C-47F62C545B26}" destId="{6F9B27C6-27A4-4082-9BBD-0B96894F4EE3}" srcOrd="0" destOrd="0" presId="urn:microsoft.com/office/officeart/2005/8/layout/hList1"/>
    <dgm:cxn modelId="{54624CC8-B0EB-4071-85D1-2EE0A74AF15C}" srcId="{ABE61A19-92A5-4FB0-9C9B-404A20A31138}" destId="{D56FDFDE-706B-45CC-BC0E-D0552F97DBCD}" srcOrd="2" destOrd="0" parTransId="{1786A586-3EF2-4AD0-B449-713C5BA0027F}" sibTransId="{865D32A1-B2AB-4416-81DB-D0B4ECBC3D4A}"/>
    <dgm:cxn modelId="{D8D69F0F-F603-4754-9EFA-A541E8FD63BB}" type="presOf" srcId="{081B2A81-8771-4E3D-8892-BE07B03C9D24}" destId="{F7BB36A8-79B4-4FEB-83A8-631A45772E37}" srcOrd="0" destOrd="3" presId="urn:microsoft.com/office/officeart/2005/8/layout/hList1"/>
    <dgm:cxn modelId="{9563B61D-649B-4994-A185-F2C634C66E80}" type="presOf" srcId="{55667E4C-B62F-486E-84AC-A91C3D0786CA}" destId="{D78EF947-2D85-4EEF-9BA9-CA2D7B4A578D}" srcOrd="0" destOrd="1" presId="urn:microsoft.com/office/officeart/2005/8/layout/hList1"/>
    <dgm:cxn modelId="{DBE1CAD5-1D7F-4271-9429-DAB9C04292A5}" srcId="{B87EE148-EB33-44D7-918C-47F62C545B26}" destId="{91DE1127-2E46-4B07-88B3-214E1345A15F}" srcOrd="0" destOrd="0" parTransId="{383D1562-8B1B-4C45-9074-249610A7927D}" sibTransId="{73BAD3EA-136E-4A9C-970A-A3531C8E180E}"/>
    <dgm:cxn modelId="{F4B66F67-B5D6-46BD-AD3F-915C8BD2BF04}" type="presOf" srcId="{8983D17D-1630-4448-A882-4AFA45A6C66B}" destId="{F7BB36A8-79B4-4FEB-83A8-631A45772E37}" srcOrd="0" destOrd="0" presId="urn:microsoft.com/office/officeart/2005/8/layout/hList1"/>
    <dgm:cxn modelId="{44101FBC-D916-4AE8-975B-73D41EB80B59}" srcId="{F2ACB720-D100-4BCA-8018-F9F33A38F32D}" destId="{B87EE148-EB33-44D7-918C-47F62C545B26}" srcOrd="1" destOrd="0" parTransId="{36BC7BFB-A0B9-4713-B98C-808273B33BFD}" sibTransId="{FE2B59B6-4A38-466F-89D2-A78019573971}"/>
    <dgm:cxn modelId="{3D8F7691-3ACC-438F-A78D-559EEABA2A6C}" srcId="{7A432262-9A35-48BD-ACF2-36265B5191D1}" destId="{05E5E8A9-D1C3-473A-9F93-7DD215D25F5B}" srcOrd="0" destOrd="0" parTransId="{DC59E311-EAE2-4E4E-A192-51B44ABE3898}" sibTransId="{2523D59E-C50D-41EF-82D3-BBE6E6E58CA7}"/>
    <dgm:cxn modelId="{6FF5AC4D-B34A-4342-B2D1-26DAA85A071C}" type="presOf" srcId="{05E5E8A9-D1C3-473A-9F93-7DD215D25F5B}" destId="{FD8B07ED-6802-426A-AE68-B9A0AE906C2E}" srcOrd="0" destOrd="0" presId="urn:microsoft.com/office/officeart/2005/8/layout/hList1"/>
    <dgm:cxn modelId="{24B4906D-7D75-4475-9830-859AA2BFE0A6}" type="presParOf" srcId="{EAAD01AF-2890-4756-83FE-E282C147F30C}" destId="{6ACD5DFD-41CA-4861-BE2E-B5CB57F5CD0C}" srcOrd="0" destOrd="0" presId="urn:microsoft.com/office/officeart/2005/8/layout/hList1"/>
    <dgm:cxn modelId="{4AE78387-E90D-4CAF-8020-B93DB3D3BB35}" type="presParOf" srcId="{6ACD5DFD-41CA-4861-BE2E-B5CB57F5CD0C}" destId="{E818219A-6FC1-454E-BB58-755A08A9E0EC}" srcOrd="0" destOrd="0" presId="urn:microsoft.com/office/officeart/2005/8/layout/hList1"/>
    <dgm:cxn modelId="{85FB4AA3-FCE6-424F-9AAB-C02C3A4B01B4}" type="presParOf" srcId="{6ACD5DFD-41CA-4861-BE2E-B5CB57F5CD0C}" destId="{FD8B07ED-6802-426A-AE68-B9A0AE906C2E}" srcOrd="1" destOrd="0" presId="urn:microsoft.com/office/officeart/2005/8/layout/hList1"/>
    <dgm:cxn modelId="{D1459C4C-CDCA-48B5-8B83-0455A55C8110}" type="presParOf" srcId="{EAAD01AF-2890-4756-83FE-E282C147F30C}" destId="{6CBF5CBD-D2C2-4509-B827-1A08D4258C1F}" srcOrd="1" destOrd="0" presId="urn:microsoft.com/office/officeart/2005/8/layout/hList1"/>
    <dgm:cxn modelId="{B0AA5550-3F7C-4DB9-937C-170021D5E810}" type="presParOf" srcId="{EAAD01AF-2890-4756-83FE-E282C147F30C}" destId="{C743003F-71D2-4499-94FB-3085E073B081}" srcOrd="2" destOrd="0" presId="urn:microsoft.com/office/officeart/2005/8/layout/hList1"/>
    <dgm:cxn modelId="{0261A238-ED22-4302-B7F5-C5F06BA2DBF7}" type="presParOf" srcId="{C743003F-71D2-4499-94FB-3085E073B081}" destId="{6F9B27C6-27A4-4082-9BBD-0B96894F4EE3}" srcOrd="0" destOrd="0" presId="urn:microsoft.com/office/officeart/2005/8/layout/hList1"/>
    <dgm:cxn modelId="{6F618ADE-7C00-4571-B066-16B4DFDDE57F}" type="presParOf" srcId="{C743003F-71D2-4499-94FB-3085E073B081}" destId="{D78EF947-2D85-4EEF-9BA9-CA2D7B4A578D}" srcOrd="1" destOrd="0" presId="urn:microsoft.com/office/officeart/2005/8/layout/hList1"/>
    <dgm:cxn modelId="{1839E29F-7657-4F5E-9B0D-30AB58EB17A4}" type="presParOf" srcId="{EAAD01AF-2890-4756-83FE-E282C147F30C}" destId="{770906E3-F866-4B2F-A7EB-C8A22EC1C8B9}" srcOrd="3" destOrd="0" presId="urn:microsoft.com/office/officeart/2005/8/layout/hList1"/>
    <dgm:cxn modelId="{BC441A18-5EE5-4973-8FA2-94B00749BF0B}" type="presParOf" srcId="{EAAD01AF-2890-4756-83FE-E282C147F30C}" destId="{F18CB9FF-9531-4CD2-A644-30655B214F13}" srcOrd="4" destOrd="0" presId="urn:microsoft.com/office/officeart/2005/8/layout/hList1"/>
    <dgm:cxn modelId="{622261E5-1B6D-4AAC-8371-2940F4FB9EDA}" type="presParOf" srcId="{F18CB9FF-9531-4CD2-A644-30655B214F13}" destId="{B9581370-168A-4868-B8D6-DE86798DF92F}" srcOrd="0" destOrd="0" presId="urn:microsoft.com/office/officeart/2005/8/layout/hList1"/>
    <dgm:cxn modelId="{0D432953-F13D-472C-B9A6-C43639A5D118}" type="presParOf" srcId="{F18CB9FF-9531-4CD2-A644-30655B214F13}" destId="{F7BB36A8-79B4-4FEB-83A8-631A45772E3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3DE758-A878-48D4-AEF2-15475E4F07E4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CEDC24-C9FE-47F3-AD9B-B4942623DE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0692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TAKE NOTES USING THIS DIAGRAM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CEDC24-C9FE-47F3-AD9B-B4942623DEFE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442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AA37-9074-4AF0-9DF4-92460CFECF65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569EC-93A8-42BF-88BA-A33A302430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2261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AA37-9074-4AF0-9DF4-92460CFECF65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569EC-93A8-42BF-88BA-A33A302430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4680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AA37-9074-4AF0-9DF4-92460CFECF65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569EC-93A8-42BF-88BA-A33A302430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6716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AA37-9074-4AF0-9DF4-92460CFECF65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569EC-93A8-42BF-88BA-A33A302430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9200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AA37-9074-4AF0-9DF4-92460CFECF65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569EC-93A8-42BF-88BA-A33A302430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040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AA37-9074-4AF0-9DF4-92460CFECF65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569EC-93A8-42BF-88BA-A33A302430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878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AA37-9074-4AF0-9DF4-92460CFECF65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569EC-93A8-42BF-88BA-A33A302430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4125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AA37-9074-4AF0-9DF4-92460CFECF65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569EC-93A8-42BF-88BA-A33A302430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0950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AA37-9074-4AF0-9DF4-92460CFECF65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569EC-93A8-42BF-88BA-A33A302430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0441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AA37-9074-4AF0-9DF4-92460CFECF65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569EC-93A8-42BF-88BA-A33A302430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5812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AA37-9074-4AF0-9DF4-92460CFECF65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569EC-93A8-42BF-88BA-A33A302430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9335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40AA37-9074-4AF0-9DF4-92460CFECF65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A569EC-93A8-42BF-88BA-A33A302430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374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jpg"/><Relationship Id="rId5" Type="http://schemas.openxmlformats.org/officeDocument/2006/relationships/image" Target="../media/image44.png"/><Relationship Id="rId4" Type="http://schemas.openxmlformats.org/officeDocument/2006/relationships/image" Target="../media/image43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Free Background Animations | Download in GIF, MP4, and Lottie JSON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7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Free Background Animations | Download in GIF, MP4, and Lottie JSON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999" y="1562100"/>
            <a:ext cx="6857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107950"/>
            <a:ext cx="9144000" cy="1128713"/>
          </a:xfrm>
        </p:spPr>
        <p:txBody>
          <a:bodyPr/>
          <a:lstStyle/>
          <a:p>
            <a:pPr algn="r"/>
            <a:r>
              <a:rPr lang="en-GB" dirty="0" smtClean="0">
                <a:solidFill>
                  <a:schemeClr val="bg1"/>
                </a:solidFill>
                <a:latin typeface="LEMON MILK" panose="00000500000000000000" pitchFamily="50" charset="0"/>
              </a:rPr>
              <a:t>Software</a:t>
            </a:r>
            <a:endParaRPr lang="en-GB" dirty="0">
              <a:solidFill>
                <a:schemeClr val="bg1"/>
              </a:solidFill>
              <a:latin typeface="LEMON MILK" panose="00000500000000000000" pitchFamily="50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26100" y="1011238"/>
            <a:ext cx="9144000" cy="1655762"/>
          </a:xfrm>
        </p:spPr>
        <p:txBody>
          <a:bodyPr/>
          <a:lstStyle/>
          <a:p>
            <a:r>
              <a:rPr lang="en-GB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Digital Technology | Chapter 2</a:t>
            </a:r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0227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3000"/>
            <a:lum/>
          </a:blip>
          <a:srcRect/>
          <a:stretch>
            <a:fillRect t="-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9" y="146051"/>
            <a:ext cx="11125201" cy="673100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latin typeface="LEMON MILK" panose="00000500000000000000" pitchFamily="50" charset="0"/>
              </a:rPr>
              <a:t>What the Specification Says…</a:t>
            </a:r>
            <a:endParaRPr lang="en-GB" dirty="0">
              <a:latin typeface="LEMON MILK" panose="00000500000000000000" pitchFamily="5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599" y="1085850"/>
            <a:ext cx="11801475" cy="34290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r>
              <a:rPr lang="en-GB" dirty="0" smtClean="0"/>
              <a:t>describe the functions of system software, referring to allocating the following: </a:t>
            </a:r>
          </a:p>
          <a:p>
            <a:pPr lvl="1"/>
            <a:r>
              <a:rPr lang="en-GB" dirty="0" smtClean="0"/>
              <a:t>memory; </a:t>
            </a:r>
          </a:p>
          <a:p>
            <a:pPr lvl="1"/>
            <a:r>
              <a:rPr lang="en-GB" dirty="0" smtClean="0"/>
              <a:t>storage;</a:t>
            </a:r>
          </a:p>
          <a:p>
            <a:pPr lvl="1"/>
            <a:r>
              <a:rPr lang="en-GB" dirty="0" smtClean="0"/>
              <a:t>processing time; </a:t>
            </a:r>
          </a:p>
          <a:p>
            <a:r>
              <a:rPr lang="en-GB" dirty="0" smtClean="0"/>
              <a:t>describe the following modes of processing: real-time, batch and multi-user; </a:t>
            </a:r>
          </a:p>
          <a:p>
            <a:r>
              <a:rPr lang="en-GB" dirty="0" smtClean="0"/>
              <a:t>describe the following tasks carried out by the utility applications: disk defragmenting, task scheduling, backup and restoring data; </a:t>
            </a:r>
          </a:p>
          <a:p>
            <a:r>
              <a:rPr lang="en-GB" dirty="0" smtClean="0"/>
              <a:t>describe the role of antivirus software and the importance of regular updates;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458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Software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4351338"/>
          </a:xfrm>
        </p:spPr>
        <p:txBody>
          <a:bodyPr/>
          <a:lstStyle/>
          <a:p>
            <a:r>
              <a:rPr lang="en-GB" dirty="0" smtClean="0"/>
              <a:t>The instructions that control the hardware within or connected to a computer system. This includes the memory, processor and storage devices.</a:t>
            </a:r>
          </a:p>
          <a:p>
            <a:r>
              <a:rPr lang="en-GB" dirty="0" smtClean="0"/>
              <a:t>It falls into two main categories: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571750" y="3417094"/>
            <a:ext cx="7048500" cy="2984500"/>
            <a:chOff x="2571750" y="3873500"/>
            <a:chExt cx="7048500" cy="298450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2"/>
            <a:srcRect t="16165" b="24937"/>
            <a:stretch/>
          </p:blipFill>
          <p:spPr>
            <a:xfrm>
              <a:off x="2571750" y="3873500"/>
              <a:ext cx="7048500" cy="2984500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5549900" y="5727700"/>
              <a:ext cx="977900" cy="7239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0" y="-11906"/>
            <a:ext cx="12192000" cy="6869907"/>
            <a:chOff x="0" y="-11906"/>
            <a:chExt cx="12192000" cy="6869907"/>
          </a:xfrm>
        </p:grpSpPr>
        <p:sp>
          <p:nvSpPr>
            <p:cNvPr id="8" name="Rectangle 7"/>
            <p:cNvSpPr/>
            <p:nvPr/>
          </p:nvSpPr>
          <p:spPr>
            <a:xfrm>
              <a:off x="11925300" y="0"/>
              <a:ext cx="266700" cy="6858000"/>
            </a:xfrm>
            <a:prstGeom prst="rect">
              <a:avLst/>
            </a:prstGeom>
            <a:solidFill>
              <a:srgbClr val="0ACE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-11906"/>
              <a:ext cx="266700" cy="6858000"/>
            </a:xfrm>
            <a:prstGeom prst="rect">
              <a:avLst/>
            </a:prstGeom>
            <a:solidFill>
              <a:srgbClr val="0ACE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0" y="1"/>
              <a:ext cx="12192000" cy="242094"/>
            </a:xfrm>
            <a:prstGeom prst="rect">
              <a:avLst/>
            </a:prstGeom>
            <a:solidFill>
              <a:srgbClr val="0ACE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0" y="6615907"/>
              <a:ext cx="12192000" cy="242094"/>
            </a:xfrm>
            <a:prstGeom prst="rect">
              <a:avLst/>
            </a:prstGeom>
            <a:solidFill>
              <a:srgbClr val="0ACE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47283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Categories of Software</a:t>
            </a:r>
            <a:endParaRPr lang="en-GB" dirty="0"/>
          </a:p>
        </p:txBody>
      </p:sp>
      <p:sp>
        <p:nvSpPr>
          <p:cNvPr id="4" name="Flowchart: Process 3"/>
          <p:cNvSpPr/>
          <p:nvPr/>
        </p:nvSpPr>
        <p:spPr>
          <a:xfrm>
            <a:off x="2214806" y="2548640"/>
            <a:ext cx="1635012" cy="1009739"/>
          </a:xfrm>
          <a:prstGeom prst="flowChartProcess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System Software</a:t>
            </a:r>
            <a:endParaRPr lang="en-GB" dirty="0"/>
          </a:p>
        </p:txBody>
      </p:sp>
      <p:sp>
        <p:nvSpPr>
          <p:cNvPr id="5" name="Flowchart: Process 4"/>
          <p:cNvSpPr/>
          <p:nvPr/>
        </p:nvSpPr>
        <p:spPr>
          <a:xfrm>
            <a:off x="7478241" y="2541185"/>
            <a:ext cx="1699942" cy="1009739"/>
          </a:xfrm>
          <a:prstGeom prst="flowChartProcess">
            <a:avLst/>
          </a:prstGeom>
          <a:solidFill>
            <a:schemeClr val="accent6"/>
          </a:solidFill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Application Software</a:t>
            </a:r>
            <a:endParaRPr lang="en-GB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2026025" y="3833626"/>
            <a:ext cx="8965" cy="658065"/>
          </a:xfrm>
          <a:prstGeom prst="straightConnector1">
            <a:avLst/>
          </a:prstGeom>
          <a:ln w="762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4029634" y="3842589"/>
            <a:ext cx="8965" cy="658065"/>
          </a:xfrm>
          <a:prstGeom prst="straightConnector1">
            <a:avLst/>
          </a:prstGeom>
          <a:ln w="762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lowchart: Process 7"/>
          <p:cNvSpPr/>
          <p:nvPr/>
        </p:nvSpPr>
        <p:spPr>
          <a:xfrm>
            <a:off x="1004047" y="4532752"/>
            <a:ext cx="1972236" cy="651998"/>
          </a:xfrm>
          <a:prstGeom prst="flowChartProcess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Operating System</a:t>
            </a:r>
            <a:endParaRPr lang="en-GB" dirty="0"/>
          </a:p>
        </p:txBody>
      </p:sp>
      <p:sp>
        <p:nvSpPr>
          <p:cNvPr id="9" name="Flowchart: Process 8"/>
          <p:cNvSpPr/>
          <p:nvPr/>
        </p:nvSpPr>
        <p:spPr>
          <a:xfrm>
            <a:off x="3079376" y="4532752"/>
            <a:ext cx="1972236" cy="651998"/>
          </a:xfrm>
          <a:prstGeom prst="flowChartProcess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Utility Software</a:t>
            </a:r>
            <a:endParaRPr lang="en-GB" dirty="0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1990165" y="3842589"/>
            <a:ext cx="2084294" cy="1"/>
          </a:xfrm>
          <a:prstGeom prst="line">
            <a:avLst/>
          </a:prstGeom>
          <a:ln w="762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3003178" y="1881612"/>
            <a:ext cx="8965" cy="65806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8386482" y="1890575"/>
            <a:ext cx="8965" cy="65806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976283" y="1899539"/>
            <a:ext cx="545502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976283" y="3497508"/>
            <a:ext cx="0" cy="336118"/>
          </a:xfrm>
          <a:prstGeom prst="line">
            <a:avLst/>
          </a:prstGeom>
          <a:ln w="762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7377954" y="3833626"/>
            <a:ext cx="8965" cy="658065"/>
          </a:xfrm>
          <a:prstGeom prst="straightConnector1">
            <a:avLst/>
          </a:prstGeom>
          <a:ln w="762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9381563" y="3842589"/>
            <a:ext cx="8965" cy="658065"/>
          </a:xfrm>
          <a:prstGeom prst="straightConnector1">
            <a:avLst/>
          </a:prstGeom>
          <a:ln w="762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Process 16"/>
          <p:cNvSpPr/>
          <p:nvPr/>
        </p:nvSpPr>
        <p:spPr>
          <a:xfrm>
            <a:off x="6355976" y="4532752"/>
            <a:ext cx="1972236" cy="651998"/>
          </a:xfrm>
          <a:prstGeom prst="flowChartProcess">
            <a:avLst/>
          </a:prstGeom>
          <a:solidFill>
            <a:schemeClr val="accent6"/>
          </a:solidFill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Packaged Software</a:t>
            </a:r>
            <a:endParaRPr lang="en-GB" dirty="0"/>
          </a:p>
        </p:txBody>
      </p:sp>
      <p:sp>
        <p:nvSpPr>
          <p:cNvPr id="18" name="Flowchart: Process 17"/>
          <p:cNvSpPr/>
          <p:nvPr/>
        </p:nvSpPr>
        <p:spPr>
          <a:xfrm>
            <a:off x="8431305" y="4532752"/>
            <a:ext cx="1972236" cy="651998"/>
          </a:xfrm>
          <a:prstGeom prst="flowChartProcess">
            <a:avLst/>
          </a:prstGeom>
          <a:solidFill>
            <a:schemeClr val="accent6"/>
          </a:solidFill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Tailored Software</a:t>
            </a:r>
            <a:endParaRPr lang="en-GB" dirty="0"/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7342094" y="3842589"/>
            <a:ext cx="2084294" cy="1"/>
          </a:xfrm>
          <a:prstGeom prst="line">
            <a:avLst/>
          </a:prstGeom>
          <a:ln w="762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5" idx="2"/>
          </p:cNvCxnSpPr>
          <p:nvPr/>
        </p:nvCxnSpPr>
        <p:spPr>
          <a:xfrm>
            <a:off x="8328212" y="3550924"/>
            <a:ext cx="0" cy="282702"/>
          </a:xfrm>
          <a:prstGeom prst="line">
            <a:avLst/>
          </a:prstGeom>
          <a:ln w="762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Swooping Arrow Vector Art, Icons, and Graphics for Free Download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40513">
            <a:off x="1036889" y="2559830"/>
            <a:ext cx="1086553" cy="522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150776" y="1734162"/>
            <a:ext cx="20576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What we HAVE to do to use a computer</a:t>
            </a:r>
            <a:endParaRPr lang="en-GB" dirty="0"/>
          </a:p>
        </p:txBody>
      </p:sp>
      <p:pic>
        <p:nvPicPr>
          <p:cNvPr id="24" name="Picture 2" descr="Swooping Arrow Vector Art, Icons, and Graphics for Free Download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59487" flipH="1">
            <a:off x="9261482" y="2835007"/>
            <a:ext cx="1086553" cy="522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/>
          <p:cNvSpPr txBox="1"/>
          <p:nvPr/>
        </p:nvSpPr>
        <p:spPr>
          <a:xfrm>
            <a:off x="9417423" y="2333095"/>
            <a:ext cx="2057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What we WANT to do on a computer.</a:t>
            </a:r>
            <a:endParaRPr lang="en-GB" dirty="0"/>
          </a:p>
        </p:txBody>
      </p:sp>
      <p:grpSp>
        <p:nvGrpSpPr>
          <p:cNvPr id="26" name="Group 25"/>
          <p:cNvGrpSpPr/>
          <p:nvPr/>
        </p:nvGrpSpPr>
        <p:grpSpPr>
          <a:xfrm>
            <a:off x="0" y="-11906"/>
            <a:ext cx="12192000" cy="6869907"/>
            <a:chOff x="0" y="-11906"/>
            <a:chExt cx="12192000" cy="6869907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27" name="Rectangle 26"/>
            <p:cNvSpPr/>
            <p:nvPr/>
          </p:nvSpPr>
          <p:spPr>
            <a:xfrm>
              <a:off x="11925300" y="0"/>
              <a:ext cx="2667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0" y="-11906"/>
              <a:ext cx="2667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0" y="1"/>
              <a:ext cx="12192000" cy="24209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0" y="6615907"/>
              <a:ext cx="12192000" cy="24209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788016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LEMON MILK" panose="00000500000000000000" pitchFamily="50" charset="0"/>
              </a:rPr>
              <a:t>Software</a:t>
            </a:r>
            <a:endParaRPr lang="en-GB" dirty="0">
              <a:latin typeface="LEMON MILK" panose="00000500000000000000" pitchFamily="5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System Software: </a:t>
            </a:r>
          </a:p>
          <a:p>
            <a:pPr lvl="1"/>
            <a:r>
              <a:rPr lang="en-GB" dirty="0" smtClean="0"/>
              <a:t>The </a:t>
            </a:r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interface between computer hardware and user application programs</a:t>
            </a:r>
          </a:p>
          <a:p>
            <a:pPr lvl="1"/>
            <a:r>
              <a:rPr lang="en-GB" dirty="0" smtClean="0"/>
              <a:t>Enables computer to </a:t>
            </a:r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operate</a:t>
            </a:r>
            <a:r>
              <a:rPr lang="en-GB" dirty="0" smtClean="0"/>
              <a:t> its </a:t>
            </a:r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hardware</a:t>
            </a:r>
            <a:r>
              <a:rPr lang="en-GB" dirty="0" smtClean="0"/>
              <a:t> and </a:t>
            </a:r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application software</a:t>
            </a:r>
          </a:p>
          <a:p>
            <a:r>
              <a:rPr lang="en-GB" dirty="0" smtClean="0"/>
              <a:t>Application Software:</a:t>
            </a:r>
            <a:endParaRPr lang="en-GB" dirty="0" smtClean="0">
              <a:solidFill>
                <a:srgbClr val="FF0000"/>
              </a:solidFill>
            </a:endParaRPr>
          </a:p>
          <a:p>
            <a:pPr lvl="1"/>
            <a:r>
              <a:rPr lang="en-GB" dirty="0" smtClean="0"/>
              <a:t>Enables the computer to </a:t>
            </a:r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do a particular task </a:t>
            </a:r>
            <a:r>
              <a:rPr lang="en-GB" dirty="0" smtClean="0"/>
              <a:t>(i.e. word processing)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7958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594360" y="2965393"/>
            <a:ext cx="11003280" cy="3528513"/>
          </a:xfrm>
          <a:prstGeom prst="ellipse">
            <a:avLst/>
          </a:prstGeom>
          <a:solidFill>
            <a:srgbClr val="308488"/>
          </a:solidFill>
          <a:ln w="76200"/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perspectiveRelaxedModerately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2621280" y="3438868"/>
            <a:ext cx="6949440" cy="29619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76200"/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perspectiveRelaxedModerately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85DCE0"/>
                </a:solidFill>
                <a:latin typeface="LEMON MILK" panose="00000500000000000000" pitchFamily="50" charset="0"/>
              </a:rPr>
              <a:t>The Architecture of Computing</a:t>
            </a:r>
            <a:endParaRPr lang="en-GB" dirty="0">
              <a:solidFill>
                <a:srgbClr val="85DCE0"/>
              </a:solidFill>
              <a:latin typeface="LEMON MILK" panose="00000500000000000000" pitchFamily="5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bg1"/>
                </a:solidFill>
              </a:rPr>
              <a:t>Software comprises of System Software (which manages hardware) and Application Software (which enables users to do tasks).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>
            <a:off x="3729811" y="4480560"/>
            <a:ext cx="4732378" cy="1771518"/>
          </a:xfrm>
          <a:prstGeom prst="ellipse">
            <a:avLst/>
          </a:prstGeom>
          <a:solidFill>
            <a:srgbClr val="FF0000"/>
          </a:solidFill>
          <a:ln w="76200"/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perspectiveRelaxedModerately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50" name="Picture 2" descr="Microsoft Word icon in 3D Fluency Styl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365" y="3108248"/>
            <a:ext cx="1176006" cy="1176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eb Browser 3d Icon Illustration. Stock Illustration - Illustration of  optimization, linkbuilding: 34266542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42" y="4159452"/>
            <a:ext cx="997007" cy="997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icrosoft Excel icon in 3D Fluency Styl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3602" y="3188800"/>
            <a:ext cx="1014899" cy="1014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Database 3D Icon - Download PNG, glTF, FBX for Files &amp; Folders | IconScou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1083" y="4065219"/>
            <a:ext cx="1146118" cy="1146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3D, Windows top brand operating system logos, isolated on transparent  background. 22498242 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229" y="4140003"/>
            <a:ext cx="839702" cy="839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Computer Software 3D Icons - Free Download in PNG, glTF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761" y="4000630"/>
            <a:ext cx="1194988" cy="1194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Cpu Logo PNGs for Free Download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5314" y="5472275"/>
            <a:ext cx="594481" cy="594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7303" y="4940126"/>
            <a:ext cx="967787" cy="967787"/>
          </a:xfrm>
          <a:prstGeom prst="rect">
            <a:avLst/>
          </a:prstGeom>
        </p:spPr>
      </p:pic>
      <p:pic>
        <p:nvPicPr>
          <p:cNvPr id="2066" name="Picture 18" descr="Keyboard And Mouse 3D Icons - Free Download in PNG, glTF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3967" y="4793842"/>
            <a:ext cx="1144953" cy="1144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8"/>
          <p:cNvSpPr/>
          <p:nvPr/>
        </p:nvSpPr>
        <p:spPr>
          <a:xfrm>
            <a:off x="4100526" y="3113864"/>
            <a:ext cx="3916680" cy="507449"/>
          </a:xfrm>
          <a:prstGeom prst="roundRect">
            <a:avLst/>
          </a:prstGeom>
          <a:solidFill>
            <a:schemeClr val="bg1"/>
          </a:solidFill>
          <a:ln>
            <a:solidFill>
              <a:srgbClr val="3084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308488"/>
                </a:solidFill>
              </a:rPr>
              <a:t>Application Software</a:t>
            </a:r>
          </a:p>
          <a:p>
            <a:pPr algn="ctr"/>
            <a:r>
              <a:rPr lang="en-GB" sz="1050" dirty="0" smtClean="0">
                <a:solidFill>
                  <a:srgbClr val="308488"/>
                </a:solidFill>
              </a:rPr>
              <a:t>Word Processors, Web Browsers, Databases, </a:t>
            </a:r>
            <a:r>
              <a:rPr lang="en-GB" sz="1050" dirty="0" err="1" smtClean="0">
                <a:solidFill>
                  <a:srgbClr val="308488"/>
                </a:solidFill>
              </a:rPr>
              <a:t>etc</a:t>
            </a:r>
            <a:endParaRPr lang="en-GB" sz="1050" dirty="0">
              <a:solidFill>
                <a:srgbClr val="308488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770797" y="4019277"/>
            <a:ext cx="2576138" cy="507449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accent2">
                    <a:lumMod val="75000"/>
                  </a:schemeClr>
                </a:solidFill>
              </a:rPr>
              <a:t>System Software</a:t>
            </a:r>
          </a:p>
          <a:p>
            <a:pPr algn="ctr"/>
            <a:r>
              <a:rPr lang="en-GB" sz="1050" dirty="0" smtClean="0">
                <a:solidFill>
                  <a:srgbClr val="308488"/>
                </a:solidFill>
              </a:rPr>
              <a:t>Operating system, device drivers, Utilities</a:t>
            </a:r>
            <a:endParaRPr lang="en-GB" sz="1050" dirty="0">
              <a:solidFill>
                <a:srgbClr val="308488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70144" y="4808185"/>
            <a:ext cx="2051712" cy="507449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Hardware</a:t>
            </a:r>
          </a:p>
          <a:p>
            <a:pPr algn="ctr"/>
            <a:r>
              <a:rPr lang="en-GB" sz="1050" dirty="0" smtClean="0">
                <a:solidFill>
                  <a:srgbClr val="308488"/>
                </a:solidFill>
              </a:rPr>
              <a:t>CPU, Disks, Memory, Peripherals</a:t>
            </a:r>
            <a:endParaRPr lang="en-GB" sz="1050" dirty="0">
              <a:solidFill>
                <a:srgbClr val="308488"/>
              </a:solidFill>
            </a:endParaRPr>
          </a:p>
        </p:txBody>
      </p:sp>
      <p:sp>
        <p:nvSpPr>
          <p:cNvPr id="10" name="Up-Down Arrow 9"/>
          <p:cNvSpPr/>
          <p:nvPr/>
        </p:nvSpPr>
        <p:spPr>
          <a:xfrm rot="20542951">
            <a:off x="4122626" y="3636437"/>
            <a:ext cx="370715" cy="619760"/>
          </a:xfrm>
          <a:prstGeom prst="upDown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Up-Down Arrow 20"/>
          <p:cNvSpPr/>
          <p:nvPr/>
        </p:nvSpPr>
        <p:spPr>
          <a:xfrm rot="1718583">
            <a:off x="7759680" y="3662880"/>
            <a:ext cx="370715" cy="619760"/>
          </a:xfrm>
          <a:prstGeom prst="upDown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Up-Down Arrow 21"/>
          <p:cNvSpPr/>
          <p:nvPr/>
        </p:nvSpPr>
        <p:spPr>
          <a:xfrm rot="6407120">
            <a:off x="9341180" y="4859006"/>
            <a:ext cx="370715" cy="619760"/>
          </a:xfrm>
          <a:prstGeom prst="upDown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Up-Down Arrow 22"/>
          <p:cNvSpPr/>
          <p:nvPr/>
        </p:nvSpPr>
        <p:spPr>
          <a:xfrm rot="4137354">
            <a:off x="2457389" y="4817429"/>
            <a:ext cx="370715" cy="619760"/>
          </a:xfrm>
          <a:prstGeom prst="upDown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Up-Down Arrow 23"/>
          <p:cNvSpPr/>
          <p:nvPr/>
        </p:nvSpPr>
        <p:spPr>
          <a:xfrm rot="4810170">
            <a:off x="3593812" y="5009922"/>
            <a:ext cx="370715" cy="733872"/>
          </a:xfrm>
          <a:prstGeom prst="upDown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Up-Down Arrow 25"/>
          <p:cNvSpPr/>
          <p:nvPr/>
        </p:nvSpPr>
        <p:spPr>
          <a:xfrm rot="13983632">
            <a:off x="7300434" y="4477201"/>
            <a:ext cx="370715" cy="733872"/>
          </a:xfrm>
          <a:prstGeom prst="upDown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Up-Down Arrow 26"/>
          <p:cNvSpPr/>
          <p:nvPr/>
        </p:nvSpPr>
        <p:spPr>
          <a:xfrm rot="4810170">
            <a:off x="8182788" y="5089685"/>
            <a:ext cx="370715" cy="733872"/>
          </a:xfrm>
          <a:prstGeom prst="upDown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493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8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000"/>
                            </p:stCondLst>
                            <p:childTnLst>
                              <p:par>
                                <p:cTn id="8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4" grpId="0" animBg="1"/>
      <p:bldP spid="9" grpId="0" animBg="1"/>
      <p:bldP spid="18" grpId="0" animBg="1"/>
      <p:bldP spid="19" grpId="0" animBg="1"/>
      <p:bldP spid="1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3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2700" y="0"/>
            <a:ext cx="10515600" cy="1325563"/>
          </a:xfrm>
        </p:spPr>
        <p:txBody>
          <a:bodyPr/>
          <a:lstStyle/>
          <a:p>
            <a:r>
              <a:rPr lang="en-GB" dirty="0" smtClean="0">
                <a:solidFill>
                  <a:schemeClr val="bg1"/>
                </a:solidFill>
                <a:latin typeface="LEMON MILK" panose="00000500000000000000" pitchFamily="50" charset="0"/>
              </a:rPr>
              <a:t>Managing the Engine</a:t>
            </a:r>
            <a:endParaRPr lang="en-GB" dirty="0">
              <a:solidFill>
                <a:schemeClr val="bg1"/>
              </a:solidFill>
              <a:latin typeface="LEMON MILK" panose="00000500000000000000" pitchFamily="5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950" y="1244600"/>
            <a:ext cx="10515600" cy="4351338"/>
          </a:xfrm>
        </p:spPr>
        <p:txBody>
          <a:bodyPr/>
          <a:lstStyle/>
          <a:p>
            <a:r>
              <a:rPr lang="en-GB" dirty="0" smtClean="0">
                <a:solidFill>
                  <a:schemeClr val="bg1"/>
                </a:solidFill>
              </a:rPr>
              <a:t>System software interfaces the hardware and application software for efficient execution, and is involved in sending communication signals around the computer.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 smtClean="0">
                <a:solidFill>
                  <a:schemeClr val="bg1"/>
                </a:solidFill>
              </a:rPr>
              <a:t>Operating Systems: Manage memory, CPU, and storage</a:t>
            </a:r>
          </a:p>
          <a:p>
            <a:r>
              <a:rPr lang="en-GB" dirty="0" smtClean="0">
                <a:solidFill>
                  <a:schemeClr val="bg1"/>
                </a:solidFill>
              </a:rPr>
              <a:t>Utility Programs: Perform maintenance tasks (such as security)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" y="161926"/>
            <a:ext cx="1619250" cy="2031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accent2">
                    <a:lumMod val="50000"/>
                  </a:schemeClr>
                </a:solidFill>
                <a:latin typeface="LEMON MILK" panose="00000500000000000000" pitchFamily="50" charset="0"/>
              </a:rPr>
              <a:t>System Software</a:t>
            </a:r>
            <a:endParaRPr lang="en-GB" sz="1100" dirty="0">
              <a:solidFill>
                <a:schemeClr val="accent2">
                  <a:lumMod val="50000"/>
                </a:schemeClr>
              </a:solidFill>
              <a:latin typeface="LEMON MILK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598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r>
              <a:rPr lang="en-GB" sz="4000" dirty="0" smtClean="0">
                <a:solidFill>
                  <a:schemeClr val="bg1"/>
                </a:solidFill>
                <a:latin typeface="LEMON MILK" panose="00000500000000000000" pitchFamily="50" charset="0"/>
              </a:rPr>
              <a:t>The Main Functions of System Software</a:t>
            </a:r>
            <a:endParaRPr lang="en-GB" sz="4000" dirty="0">
              <a:solidFill>
                <a:schemeClr val="bg1"/>
              </a:solidFill>
              <a:latin typeface="LEMON MILK" panose="00000500000000000000" pitchFamily="50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52400" y="161926"/>
            <a:ext cx="1619250" cy="2031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accent2">
                    <a:lumMod val="50000"/>
                  </a:schemeClr>
                </a:solidFill>
                <a:latin typeface="LEMON MILK" panose="00000500000000000000" pitchFamily="50" charset="0"/>
              </a:rPr>
              <a:t>System Software</a:t>
            </a:r>
            <a:endParaRPr lang="en-GB" sz="1100" dirty="0">
              <a:solidFill>
                <a:schemeClr val="accent2">
                  <a:lumMod val="50000"/>
                </a:schemeClr>
              </a:solidFill>
              <a:latin typeface="LEMON MILK" panose="00000500000000000000" pitchFamily="50" charset="0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607409788"/>
              </p:ext>
            </p:extLst>
          </p:nvPr>
        </p:nvGraphicFramePr>
        <p:xfrm>
          <a:off x="285749" y="2095500"/>
          <a:ext cx="11591925" cy="40428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7027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1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Processing Data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So we know computers process data – they take input in, </a:t>
            </a:r>
            <a:r>
              <a:rPr lang="en-GB" i="1" dirty="0" smtClean="0"/>
              <a:t>do something</a:t>
            </a:r>
            <a:r>
              <a:rPr lang="en-GB" dirty="0" smtClean="0"/>
              <a:t> with it, and then output it to the user. And there are different ways a computer can do this:</a:t>
            </a:r>
          </a:p>
          <a:p>
            <a:endParaRPr lang="en-GB" dirty="0"/>
          </a:p>
          <a:p>
            <a:r>
              <a:rPr lang="en-GB" dirty="0" smtClean="0"/>
              <a:t>Immediately process the data as soon as it’s entered – called </a:t>
            </a:r>
            <a:r>
              <a:rPr lang="en-GB" b="1" dirty="0" smtClean="0"/>
              <a:t>real time processing</a:t>
            </a:r>
            <a:endParaRPr lang="en-GB" dirty="0" smtClean="0"/>
          </a:p>
          <a:p>
            <a:r>
              <a:rPr lang="en-GB" dirty="0" smtClean="0"/>
              <a:t>In groups of similar data, processed as a group at once – called </a:t>
            </a:r>
            <a:r>
              <a:rPr lang="en-GB" b="1" dirty="0" smtClean="0"/>
              <a:t>batch processing</a:t>
            </a:r>
            <a:endParaRPr lang="en-GB" dirty="0"/>
          </a:p>
        </p:txBody>
      </p:sp>
      <p:sp>
        <p:nvSpPr>
          <p:cNvPr id="4" name="Rounded Rectangle 3"/>
          <p:cNvSpPr/>
          <p:nvPr/>
        </p:nvSpPr>
        <p:spPr>
          <a:xfrm>
            <a:off x="152400" y="161926"/>
            <a:ext cx="1619250" cy="2031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accent2">
                    <a:lumMod val="50000"/>
                  </a:schemeClr>
                </a:solidFill>
                <a:latin typeface="LEMON MILK" panose="00000500000000000000" pitchFamily="50" charset="0"/>
              </a:rPr>
              <a:t>System Software</a:t>
            </a:r>
            <a:endParaRPr lang="en-GB" sz="1100" dirty="0">
              <a:solidFill>
                <a:schemeClr val="accent2">
                  <a:lumMod val="50000"/>
                </a:schemeClr>
              </a:solidFill>
              <a:latin typeface="LEMON MILK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659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024" y="365125"/>
            <a:ext cx="10010775" cy="1325563"/>
          </a:xfrm>
        </p:spPr>
        <p:txBody>
          <a:bodyPr/>
          <a:lstStyle/>
          <a:p>
            <a:r>
              <a:rPr lang="en-GB" dirty="0" smtClean="0"/>
              <a:t>Real Time Processing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8224" y="1825625"/>
            <a:ext cx="10982325" cy="10509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/>
              <a:t>Processing the data immediately is essential to avoid disastrous results – the output needs to be obtained quickly as it is </a:t>
            </a:r>
            <a:r>
              <a:rPr lang="en-GB" b="1" dirty="0" smtClean="0"/>
              <a:t>time sensitive</a:t>
            </a:r>
            <a:r>
              <a:rPr lang="en-GB" dirty="0" smtClean="0"/>
              <a:t>.</a:t>
            </a:r>
          </a:p>
          <a:p>
            <a:endParaRPr lang="en-GB" dirty="0"/>
          </a:p>
          <a:p>
            <a:pPr marL="0" indent="0">
              <a:buNone/>
            </a:pPr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4" name="Rounded Rectangle 3"/>
          <p:cNvSpPr/>
          <p:nvPr/>
        </p:nvSpPr>
        <p:spPr>
          <a:xfrm>
            <a:off x="152400" y="161926"/>
            <a:ext cx="1619250" cy="2031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accent2">
                    <a:lumMod val="50000"/>
                  </a:schemeClr>
                </a:solidFill>
                <a:latin typeface="LEMON MILK" panose="00000500000000000000" pitchFamily="50" charset="0"/>
              </a:rPr>
              <a:t>System Software</a:t>
            </a:r>
            <a:endParaRPr lang="en-GB" sz="1100" dirty="0">
              <a:solidFill>
                <a:schemeClr val="accent2">
                  <a:lumMod val="50000"/>
                </a:schemeClr>
              </a:solidFill>
              <a:latin typeface="LEMON MILK" panose="00000500000000000000" pitchFamily="50" charset="0"/>
            </a:endParaRPr>
          </a:p>
        </p:txBody>
      </p:sp>
      <p:sp>
        <p:nvSpPr>
          <p:cNvPr id="6" name="Cloud Callout 5"/>
          <p:cNvSpPr/>
          <p:nvPr/>
        </p:nvSpPr>
        <p:spPr>
          <a:xfrm>
            <a:off x="1200150" y="2676526"/>
            <a:ext cx="3600450" cy="2000250"/>
          </a:xfrm>
          <a:prstGeom prst="cloudCallout">
            <a:avLst>
              <a:gd name="adj1" fmla="val -19418"/>
              <a:gd name="adj2" fmla="val 76718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 smtClean="0">
                <a:solidFill>
                  <a:schemeClr val="tx1"/>
                </a:solidFill>
                <a:latin typeface="Ink Free" panose="03080402000500000000" pitchFamily="66" charset="0"/>
              </a:rPr>
              <a:t>Would you need to know exactly where a plane is at any one time?</a:t>
            </a:r>
            <a:endParaRPr lang="en-GB" sz="20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9" name="Cloud Callout 8"/>
          <p:cNvSpPr/>
          <p:nvPr/>
        </p:nvSpPr>
        <p:spPr>
          <a:xfrm flipH="1">
            <a:off x="8134350" y="2876550"/>
            <a:ext cx="3600450" cy="2000250"/>
          </a:xfrm>
          <a:prstGeom prst="cloudCallout">
            <a:avLst>
              <a:gd name="adj1" fmla="val -55397"/>
              <a:gd name="adj2" fmla="val 61956"/>
            </a:avLst>
          </a:prstGeom>
          <a:solidFill>
            <a:schemeClr val="bg1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 smtClean="0">
                <a:solidFill>
                  <a:schemeClr val="tx1"/>
                </a:solidFill>
                <a:latin typeface="Ink Free" panose="03080402000500000000" pitchFamily="66" charset="0"/>
              </a:rPr>
              <a:t>Would it be OK to sell a concert ticket even though it’s sold out?</a:t>
            </a:r>
            <a:endParaRPr lang="en-GB" sz="20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10" name="Cloud Callout 9"/>
          <p:cNvSpPr/>
          <p:nvPr/>
        </p:nvSpPr>
        <p:spPr>
          <a:xfrm>
            <a:off x="4505325" y="4133850"/>
            <a:ext cx="3476625" cy="2276476"/>
          </a:xfrm>
          <a:prstGeom prst="cloudCallout">
            <a:avLst>
              <a:gd name="adj1" fmla="val 68870"/>
              <a:gd name="adj2" fmla="val 6338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 smtClean="0">
                <a:solidFill>
                  <a:schemeClr val="tx1"/>
                </a:solidFill>
                <a:latin typeface="Ink Free" panose="03080402000500000000" pitchFamily="66" charset="0"/>
              </a:rPr>
              <a:t>Playing on console? Would it be ok to have a delay until everyone has pressed a button?</a:t>
            </a:r>
            <a:endParaRPr lang="en-GB" sz="20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899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Real Time Processing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650" y="1825625"/>
            <a:ext cx="11772900" cy="1050925"/>
          </a:xfrm>
        </p:spPr>
        <p:txBody>
          <a:bodyPr>
            <a:normAutofit/>
          </a:bodyPr>
          <a:lstStyle/>
          <a:p>
            <a:r>
              <a:rPr lang="en-GB" dirty="0" smtClean="0"/>
              <a:t>Let’s look at an example:</a:t>
            </a:r>
          </a:p>
          <a:p>
            <a:endParaRPr lang="en-GB" dirty="0"/>
          </a:p>
          <a:p>
            <a:pPr marL="0" indent="0">
              <a:buNone/>
            </a:pPr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4" name="Rounded Rectangle 3"/>
          <p:cNvSpPr/>
          <p:nvPr/>
        </p:nvSpPr>
        <p:spPr>
          <a:xfrm>
            <a:off x="152400" y="161926"/>
            <a:ext cx="1619250" cy="2031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accent2">
                    <a:lumMod val="50000"/>
                  </a:schemeClr>
                </a:solidFill>
                <a:latin typeface="LEMON MILK" panose="00000500000000000000" pitchFamily="50" charset="0"/>
              </a:rPr>
              <a:t>System Software</a:t>
            </a:r>
            <a:endParaRPr lang="en-GB" sz="1100" dirty="0">
              <a:solidFill>
                <a:schemeClr val="accent2">
                  <a:lumMod val="50000"/>
                </a:schemeClr>
              </a:solidFill>
              <a:latin typeface="LEMON MILK" panose="00000500000000000000" pitchFamily="50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9153525" y="3884487"/>
            <a:ext cx="9153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01010111010101000101100111001010101011100101110100100111011101010111010001011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895975" y="2479674"/>
            <a:ext cx="6296025" cy="43116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5" name="Group 14"/>
          <p:cNvGrpSpPr/>
          <p:nvPr/>
        </p:nvGrpSpPr>
        <p:grpSpPr>
          <a:xfrm>
            <a:off x="5246312" y="3395662"/>
            <a:ext cx="1299326" cy="1185497"/>
            <a:chOff x="1028700" y="4337050"/>
            <a:chExt cx="1943100" cy="1772872"/>
          </a:xfrm>
        </p:grpSpPr>
        <p:pic>
          <p:nvPicPr>
            <p:cNvPr id="5124" name="Picture 4" descr="Ticket Free Microsoft Clip Art PNG Transparent Background, Free Download #49038 - FreeIconsPNG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62913">
              <a:off x="1028700" y="4337050"/>
              <a:ext cx="1943100" cy="17728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Rectangle 13"/>
            <p:cNvSpPr/>
            <p:nvPr/>
          </p:nvSpPr>
          <p:spPr>
            <a:xfrm>
              <a:off x="1295400" y="5400675"/>
              <a:ext cx="1419225" cy="200025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tx1"/>
                  </a:solidFill>
                </a:rPr>
                <a:t>#1</a:t>
              </a:r>
              <a:endParaRPr lang="en-GB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398712" y="3548062"/>
            <a:ext cx="1299326" cy="1185497"/>
            <a:chOff x="1028700" y="4337050"/>
            <a:chExt cx="1943100" cy="1772872"/>
          </a:xfrm>
        </p:grpSpPr>
        <p:pic>
          <p:nvPicPr>
            <p:cNvPr id="19" name="Picture 4" descr="Ticket Free Microsoft Clip Art PNG Transparent Background, Free Download #49038 - FreeIconsPNG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62913">
              <a:off x="1028700" y="4337050"/>
              <a:ext cx="1943100" cy="17728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Rectangle 19"/>
            <p:cNvSpPr/>
            <p:nvPr/>
          </p:nvSpPr>
          <p:spPr>
            <a:xfrm>
              <a:off x="1295400" y="5400675"/>
              <a:ext cx="1419225" cy="200025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tx1"/>
                  </a:solidFill>
                </a:rPr>
                <a:t>#2</a:t>
              </a:r>
              <a:endParaRPr lang="en-GB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335401" y="3780750"/>
            <a:ext cx="1299326" cy="1185497"/>
            <a:chOff x="1028700" y="4337050"/>
            <a:chExt cx="1943100" cy="1772872"/>
          </a:xfrm>
        </p:grpSpPr>
        <p:pic>
          <p:nvPicPr>
            <p:cNvPr id="22" name="Picture 4" descr="Ticket Free Microsoft Clip Art PNG Transparent Background, Free Download #49038 - FreeIconsPNG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62913">
              <a:off x="1028700" y="4337050"/>
              <a:ext cx="1943100" cy="17728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Rectangle 22"/>
            <p:cNvSpPr/>
            <p:nvPr/>
          </p:nvSpPr>
          <p:spPr>
            <a:xfrm>
              <a:off x="1295400" y="5400675"/>
              <a:ext cx="1419225" cy="200025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tx1"/>
                  </a:solidFill>
                </a:rPr>
                <a:t>#3</a:t>
              </a:r>
              <a:endParaRPr lang="en-GB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535154" y="3714258"/>
            <a:ext cx="1299326" cy="1185497"/>
            <a:chOff x="1028700" y="4337050"/>
            <a:chExt cx="1943100" cy="1772872"/>
          </a:xfrm>
        </p:grpSpPr>
        <p:pic>
          <p:nvPicPr>
            <p:cNvPr id="25" name="Picture 4" descr="Ticket Free Microsoft Clip Art PNG Transparent Background, Free Download #49038 - FreeIconsPNG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62913">
              <a:off x="1028700" y="4337050"/>
              <a:ext cx="1943100" cy="17728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Rectangle 25"/>
            <p:cNvSpPr/>
            <p:nvPr/>
          </p:nvSpPr>
          <p:spPr>
            <a:xfrm>
              <a:off x="1295400" y="5400675"/>
              <a:ext cx="1419225" cy="200025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tx1"/>
                  </a:solidFill>
                </a:rPr>
                <a:t>#4</a:t>
              </a:r>
              <a:endParaRPr lang="en-GB" dirty="0">
                <a:solidFill>
                  <a:schemeClr val="tx1"/>
                </a:solidFill>
              </a:endParaRPr>
            </a:p>
          </p:txBody>
        </p:sp>
      </p:grpSp>
      <p:pic>
        <p:nvPicPr>
          <p:cNvPr id="5122" name="Picture 2" descr="Server Clipart Images | Free Download | PNG Transparent Background - Pngtre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0" y="2344737"/>
            <a:ext cx="3429000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4712220" y="1975644"/>
            <a:ext cx="2423885" cy="4476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  <a:latin typeface="Ink Free" panose="03080402000500000000" pitchFamily="66" charset="0"/>
              </a:rPr>
              <a:t>CONCERT SERVER</a:t>
            </a:r>
            <a:endParaRPr lang="en-GB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5280" y="4994854"/>
            <a:ext cx="3990242" cy="15577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As soon as data it entered into the computer system, the system starts processing. For example, as someone connects to a booking system, their data is processed immediately.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949977" y="1587744"/>
            <a:ext cx="3990242" cy="15577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Outputs are generated quickly (almost instantly). This allows the results of processing to be produced quickly with little manual work.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473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2.96296E-6 L 1.7569 -0.01435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839" y="-71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2" presetClass="emph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120000">
                                      <p:cBhvr>
                                        <p:cTn id="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2" presetClass="emph" presetSubtype="0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animRot by="120000">
                                      <p:cBhvr>
                                        <p:cTn id="1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" presetID="32" presetClass="emph" presetSubtype="0" fill="hold" nodeType="withEffect">
                                  <p:stCondLst>
                                    <p:cond delay="3750"/>
                                  </p:stCondLst>
                                  <p:childTnLst>
                                    <p:animRot by="120000">
                                      <p:cBhvr>
                                        <p:cTn id="2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01797 0.00185 L 0.18842 -0.64699 " pathEditMode="relative" rAng="0" ptsTypes="AA">
                                      <p:cBhvr>
                                        <p:cTn id="29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16" y="-32454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01797 0.00186 L 0.21524 0.44792 " pathEditMode="relative" rAng="0" ptsTypes="AA">
                                      <p:cBhvr>
                                        <p:cTn id="34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57" y="22292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animMotion origin="layout" path="M 0.01796 0.00185 L 0.13411 0.43658 " pathEditMode="relative" rAng="0" ptsTypes="AA">
                                      <p:cBhvr>
                                        <p:cTn id="36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07" y="21736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nodeType="withEffect">
                                  <p:stCondLst>
                                    <p:cond delay="4250"/>
                                  </p:stCondLst>
                                  <p:childTnLst>
                                    <p:animMotion origin="layout" path="M 0.01797 0.00185 L -0.03867 -0.69144 " pathEditMode="relative" rAng="0" ptsTypes="AA">
                                      <p:cBhvr>
                                        <p:cTn id="38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39" y="-346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Batch Processing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650" y="1825625"/>
            <a:ext cx="6012473" cy="4633790"/>
          </a:xfrm>
        </p:spPr>
        <p:txBody>
          <a:bodyPr>
            <a:normAutofit/>
          </a:bodyPr>
          <a:lstStyle/>
          <a:p>
            <a:r>
              <a:rPr lang="en-GB" dirty="0" smtClean="0"/>
              <a:t>Data is collected, but not ‘sent’ to process.</a:t>
            </a:r>
          </a:p>
          <a:p>
            <a:r>
              <a:rPr lang="en-GB" dirty="0" smtClean="0"/>
              <a:t>These batches can then be processed at a convenient time without disruption.</a:t>
            </a:r>
          </a:p>
          <a:p>
            <a:r>
              <a:rPr lang="en-GB" dirty="0" smtClean="0"/>
              <a:t>Usually programs that implement batch processing tend to have high volumes of data to collect and process.</a:t>
            </a:r>
          </a:p>
          <a:p>
            <a:endParaRPr lang="en-GB" dirty="0"/>
          </a:p>
          <a:p>
            <a:pPr marL="0" indent="0">
              <a:buNone/>
            </a:pPr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4" name="Rounded Rectangle 3"/>
          <p:cNvSpPr/>
          <p:nvPr/>
        </p:nvSpPr>
        <p:spPr>
          <a:xfrm>
            <a:off x="152400" y="161926"/>
            <a:ext cx="1619250" cy="2031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accent2">
                    <a:lumMod val="50000"/>
                  </a:schemeClr>
                </a:solidFill>
                <a:latin typeface="LEMON MILK" panose="00000500000000000000" pitchFamily="50" charset="0"/>
              </a:rPr>
              <a:t>System Software</a:t>
            </a:r>
            <a:endParaRPr lang="en-GB" sz="1100" dirty="0">
              <a:solidFill>
                <a:schemeClr val="accent2">
                  <a:lumMod val="50000"/>
                </a:schemeClr>
              </a:solidFill>
              <a:latin typeface="LEMON MILK" panose="00000500000000000000" pitchFamily="50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43674" y="1352549"/>
            <a:ext cx="1266825" cy="1685925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Transaction File</a:t>
            </a: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6543673" y="3638549"/>
            <a:ext cx="1266825" cy="1685925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Master File</a:t>
            </a:r>
            <a:endParaRPr lang="en-GB" dirty="0"/>
          </a:p>
        </p:txBody>
      </p:sp>
      <p:sp>
        <p:nvSpPr>
          <p:cNvPr id="12" name="Rectangle 11"/>
          <p:cNvSpPr/>
          <p:nvPr/>
        </p:nvSpPr>
        <p:spPr>
          <a:xfrm>
            <a:off x="8610599" y="2456595"/>
            <a:ext cx="1266825" cy="168592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Merge Process</a:t>
            </a:r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10515598" y="2456595"/>
            <a:ext cx="1266825" cy="168592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Updated Master File</a:t>
            </a:r>
            <a:endParaRPr lang="en-GB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7896225" y="2195511"/>
            <a:ext cx="666750" cy="10620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7934323" y="3295650"/>
            <a:ext cx="619127" cy="11858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10001248" y="3299557"/>
            <a:ext cx="3905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289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FFFF00"/>
                </a:solidFill>
              </a:rPr>
              <a:t>Batch Processing: Electricity Billing System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650" y="1825625"/>
            <a:ext cx="11106150" cy="463379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When a reading has been collected, the customer account number and reading are entered onto the computer.</a:t>
            </a:r>
          </a:p>
          <a:p>
            <a:pPr lvl="1"/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This is used to create a </a:t>
            </a:r>
            <a:r>
              <a:rPr lang="en-GB" dirty="0">
                <a:solidFill>
                  <a:srgbClr val="FFFF00"/>
                </a:solidFill>
              </a:rPr>
              <a:t>transaction file</a:t>
            </a: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Using the customer number on the transaction file to match with the master file, all customer information can be retrieved and the calculation of the bill can take place </a:t>
            </a:r>
            <a:r>
              <a:rPr lang="en-GB" sz="1800" dirty="0">
                <a:solidFill>
                  <a:schemeClr val="bg1">
                    <a:lumMod val="95000"/>
                  </a:schemeClr>
                </a:solidFill>
              </a:rPr>
              <a:t>(including discounts/customer loyalty schemes/</a:t>
            </a:r>
            <a:r>
              <a:rPr lang="en-GB" sz="1800" dirty="0" err="1">
                <a:solidFill>
                  <a:schemeClr val="bg1">
                    <a:lumMod val="95000"/>
                  </a:schemeClr>
                </a:solidFill>
              </a:rPr>
              <a:t>etc</a:t>
            </a:r>
            <a:r>
              <a:rPr lang="en-GB" sz="1800" dirty="0">
                <a:solidFill>
                  <a:schemeClr val="bg1">
                    <a:lumMod val="95000"/>
                  </a:schemeClr>
                </a:solidFill>
              </a:rPr>
              <a:t>)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Finally, the ‘batch’ of generated bills is then sent out to customers.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Once a payment is made, the transaction history of the master file can then be updated.</a:t>
            </a:r>
          </a:p>
          <a:p>
            <a:endParaRPr lang="en-GB" dirty="0"/>
          </a:p>
          <a:p>
            <a:pPr marL="0" indent="0">
              <a:buNone/>
            </a:pPr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4" name="Rounded Rectangle 3"/>
          <p:cNvSpPr/>
          <p:nvPr/>
        </p:nvSpPr>
        <p:spPr>
          <a:xfrm>
            <a:off x="152400" y="161926"/>
            <a:ext cx="1619250" cy="2031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accent2">
                    <a:lumMod val="50000"/>
                  </a:schemeClr>
                </a:solidFill>
                <a:latin typeface="LEMON MILK" panose="00000500000000000000" pitchFamily="50" charset="0"/>
              </a:rPr>
              <a:t>System Software</a:t>
            </a:r>
            <a:endParaRPr lang="en-GB" sz="1100" dirty="0">
              <a:solidFill>
                <a:schemeClr val="accent2">
                  <a:lumMod val="50000"/>
                </a:schemeClr>
              </a:solidFill>
              <a:latin typeface="LEMON MILK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645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" y="0"/>
            <a:ext cx="12191999" cy="6886575"/>
            <a:chOff x="1" y="0"/>
            <a:chExt cx="12166599" cy="6886575"/>
          </a:xfrm>
        </p:grpSpPr>
        <p:pic>
          <p:nvPicPr>
            <p:cNvPr id="2050" name="Picture 2" descr="Day and night time background or symbol, period time in day 20514408 Vector  Art at Vecteezy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651"/>
            <a:stretch/>
          </p:blipFill>
          <p:spPr bwMode="auto">
            <a:xfrm>
              <a:off x="8768129" y="0"/>
              <a:ext cx="3398471" cy="68865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" descr="Day and night time background or symbol, period time in day 20514408 Vector  Art at Vecteezy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6571"/>
            <a:stretch/>
          </p:blipFill>
          <p:spPr bwMode="auto">
            <a:xfrm>
              <a:off x="1" y="0"/>
              <a:ext cx="9004300" cy="68865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/>
          <p:cNvGrpSpPr/>
          <p:nvPr/>
        </p:nvGrpSpPr>
        <p:grpSpPr>
          <a:xfrm>
            <a:off x="1" y="0"/>
            <a:ext cx="12191999" cy="6886575"/>
            <a:chOff x="-34467" y="0"/>
            <a:chExt cx="12231383" cy="6886575"/>
          </a:xfrm>
        </p:grpSpPr>
        <p:pic>
          <p:nvPicPr>
            <p:cNvPr id="29" name="Picture 2" descr="Day and night time background or symbol, period time in day 20514408 Vector  Art at Vecteezy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640"/>
            <a:stretch/>
          </p:blipFill>
          <p:spPr bwMode="auto">
            <a:xfrm>
              <a:off x="8797712" y="0"/>
              <a:ext cx="3399204" cy="68865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2" descr="Day and night time background or symbol, period time in day 20514408 Vector  Art at Vecteezy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640" r="46531"/>
            <a:stretch/>
          </p:blipFill>
          <p:spPr bwMode="auto">
            <a:xfrm>
              <a:off x="-34467" y="0"/>
              <a:ext cx="8982139" cy="68865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Batch Processing Example</a:t>
            </a:r>
            <a:endParaRPr lang="en-GB" dirty="0"/>
          </a:p>
        </p:txBody>
      </p:sp>
      <p:sp>
        <p:nvSpPr>
          <p:cNvPr id="4" name="Rounded Rectangle 3"/>
          <p:cNvSpPr/>
          <p:nvPr/>
        </p:nvSpPr>
        <p:spPr>
          <a:xfrm>
            <a:off x="152400" y="161926"/>
            <a:ext cx="1619250" cy="2031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accent2">
                    <a:lumMod val="50000"/>
                  </a:schemeClr>
                </a:solidFill>
                <a:latin typeface="LEMON MILK" panose="00000500000000000000" pitchFamily="50" charset="0"/>
              </a:rPr>
              <a:t>System Software</a:t>
            </a:r>
            <a:endParaRPr lang="en-GB" sz="1100" dirty="0">
              <a:solidFill>
                <a:schemeClr val="accent2">
                  <a:lumMod val="50000"/>
                </a:schemeClr>
              </a:solidFill>
              <a:latin typeface="LEMON MILK" panose="00000500000000000000" pitchFamily="50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2674645" y="2847181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1001011101011010100</a:t>
            </a:r>
            <a:endParaRPr lang="en-GB" dirty="0"/>
          </a:p>
        </p:txBody>
      </p:sp>
      <p:sp>
        <p:nvSpPr>
          <p:cNvPr id="16" name="Rectangle 15"/>
          <p:cNvSpPr/>
          <p:nvPr/>
        </p:nvSpPr>
        <p:spPr>
          <a:xfrm>
            <a:off x="4807470" y="1975644"/>
            <a:ext cx="2423885" cy="4476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  <a:latin typeface="Ink Free" panose="03080402000500000000" pitchFamily="66" charset="0"/>
              </a:rPr>
              <a:t>Electricity Company’s BILLING SERVER</a:t>
            </a:r>
            <a:endParaRPr lang="en-GB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2555" y="1879598"/>
            <a:ext cx="3990242" cy="7902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Throughout the day, data is entering the system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-2651772" y="4065587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1010111001110100110</a:t>
            </a:r>
            <a:endParaRPr lang="en-GB" dirty="0"/>
          </a:p>
        </p:txBody>
      </p:sp>
      <p:sp>
        <p:nvSpPr>
          <p:cNvPr id="32" name="TextBox 31"/>
          <p:cNvSpPr txBox="1"/>
          <p:nvPr/>
        </p:nvSpPr>
        <p:spPr>
          <a:xfrm>
            <a:off x="-2819765" y="3456384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00110110101101010111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242555" y="2740026"/>
            <a:ext cx="2139950" cy="7381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Customer ID: 0001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Meter Reading: 120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46063" y="3504841"/>
            <a:ext cx="2139950" cy="7381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Customer ID: 0010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Meter Reading: 90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46063" y="4269656"/>
            <a:ext cx="2139950" cy="7381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Customer ID: 0005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Meter Reading: 85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5122" name="Picture 2" descr="Server Clipart Images | Free Download | PNG Transparent Background - Pngtre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25" y="2351087"/>
            <a:ext cx="3429000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ctangle 34"/>
          <p:cNvSpPr/>
          <p:nvPr/>
        </p:nvSpPr>
        <p:spPr>
          <a:xfrm>
            <a:off x="7744736" y="4412827"/>
            <a:ext cx="3406659" cy="8936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You’ll notice the server is not processing the data – it’s just collecting it.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38200" y="5094733"/>
            <a:ext cx="3990242" cy="7902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This data is held in the server temporarily and are called </a:t>
            </a:r>
            <a:r>
              <a:rPr lang="en-GB" b="1" dirty="0" smtClean="0">
                <a:solidFill>
                  <a:schemeClr val="tx1"/>
                </a:solidFill>
              </a:rPr>
              <a:t>transaction files</a:t>
            </a:r>
            <a:r>
              <a:rPr lang="en-GB" dirty="0" smtClean="0">
                <a:solidFill>
                  <a:schemeClr val="tx1"/>
                </a:solidFill>
              </a:rPr>
              <a:t>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048625" y="98011"/>
            <a:ext cx="3835197" cy="12664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So, during an off-peak (quieter) period (such as overnight) or when a certain number of batches have been received, the processing will start.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212206" y="2898885"/>
            <a:ext cx="2330735" cy="13554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ELECTRICITY BILL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-----------------------------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Customer: 0001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Address: 64 Zoo Lane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Bill: £50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9614" y="5885014"/>
            <a:ext cx="5932383" cy="9524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The Server has access to the </a:t>
            </a:r>
            <a:r>
              <a:rPr lang="en-GB" b="1" dirty="0" smtClean="0">
                <a:solidFill>
                  <a:schemeClr val="tx1"/>
                </a:solidFill>
              </a:rPr>
              <a:t>Master Files</a:t>
            </a:r>
            <a:r>
              <a:rPr lang="en-GB" dirty="0" smtClean="0">
                <a:solidFill>
                  <a:schemeClr val="tx1"/>
                </a:solidFill>
              </a:rPr>
              <a:t>, which is are semi-permanent files which do not update in the short term and will only update when the processing starts.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873451" y="4313101"/>
            <a:ext cx="2139950" cy="7381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Customer ID: 0001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Meter Reading: 120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873451" y="5176996"/>
            <a:ext cx="2139950" cy="7381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Customer ID: 0005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Meter Reading: 85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861791" y="6040891"/>
            <a:ext cx="2139950" cy="7381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Customer ID: 0010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Meter Reading: 90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108834" y="4303857"/>
            <a:ext cx="2933752" cy="8058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Customer ID: 0001</a:t>
            </a:r>
          </a:p>
          <a:p>
            <a:pPr algn="ctr"/>
            <a:r>
              <a:rPr lang="en-GB" dirty="0" smtClean="0"/>
              <a:t>Reading History: 80, 200</a:t>
            </a:r>
          </a:p>
          <a:p>
            <a:pPr algn="ctr"/>
            <a:r>
              <a:rPr lang="en-GB" dirty="0" smtClean="0"/>
              <a:t>Address: 64 Zoo Lane</a:t>
            </a:r>
            <a:endParaRPr lang="en-GB" dirty="0"/>
          </a:p>
        </p:txBody>
      </p:sp>
      <p:sp>
        <p:nvSpPr>
          <p:cNvPr id="41" name="Rectangle 40"/>
          <p:cNvSpPr/>
          <p:nvPr/>
        </p:nvSpPr>
        <p:spPr>
          <a:xfrm>
            <a:off x="6123603" y="5151890"/>
            <a:ext cx="2933752" cy="8058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Customer ID: 0005</a:t>
            </a:r>
          </a:p>
          <a:p>
            <a:pPr algn="ctr"/>
            <a:r>
              <a:rPr lang="en-GB" dirty="0" smtClean="0"/>
              <a:t>Reading History: 100</a:t>
            </a:r>
          </a:p>
          <a:p>
            <a:pPr algn="ctr"/>
            <a:r>
              <a:rPr lang="en-GB" dirty="0" smtClean="0"/>
              <a:t>Address: 4 </a:t>
            </a:r>
            <a:r>
              <a:rPr lang="en-GB" dirty="0" err="1" smtClean="0"/>
              <a:t>Privit</a:t>
            </a:r>
            <a:r>
              <a:rPr lang="en-GB" dirty="0" smtClean="0"/>
              <a:t> Drive</a:t>
            </a:r>
            <a:endParaRPr lang="en-GB" dirty="0"/>
          </a:p>
        </p:txBody>
      </p:sp>
      <p:sp>
        <p:nvSpPr>
          <p:cNvPr id="42" name="Rectangle 41"/>
          <p:cNvSpPr/>
          <p:nvPr/>
        </p:nvSpPr>
        <p:spPr>
          <a:xfrm>
            <a:off x="6129251" y="5999923"/>
            <a:ext cx="2933752" cy="8058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Customer ID: 0010</a:t>
            </a:r>
          </a:p>
          <a:p>
            <a:pPr algn="ctr"/>
            <a:r>
              <a:rPr lang="en-GB" dirty="0" smtClean="0"/>
              <a:t>Reading History: 300,250</a:t>
            </a:r>
          </a:p>
          <a:p>
            <a:pPr algn="ctr"/>
            <a:r>
              <a:rPr lang="en-GB" dirty="0" smtClean="0"/>
              <a:t>Address: 10 Downing Street</a:t>
            </a:r>
            <a:endParaRPr lang="en-GB" dirty="0"/>
          </a:p>
        </p:txBody>
      </p:sp>
      <p:sp>
        <p:nvSpPr>
          <p:cNvPr id="46" name="Rectangle 45"/>
          <p:cNvSpPr/>
          <p:nvPr/>
        </p:nvSpPr>
        <p:spPr>
          <a:xfrm>
            <a:off x="6105183" y="4303518"/>
            <a:ext cx="2933752" cy="8058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Customer ID: 0001</a:t>
            </a:r>
          </a:p>
          <a:p>
            <a:pPr algn="ctr"/>
            <a:r>
              <a:rPr lang="en-GB" dirty="0" smtClean="0"/>
              <a:t>Reading History: 80, 200,</a:t>
            </a:r>
            <a:r>
              <a:rPr lang="en-GB" dirty="0" smtClean="0">
                <a:solidFill>
                  <a:srgbClr val="FFFF00"/>
                </a:solidFill>
              </a:rPr>
              <a:t>120</a:t>
            </a:r>
          </a:p>
          <a:p>
            <a:pPr algn="ctr"/>
            <a:r>
              <a:rPr lang="en-GB" dirty="0" smtClean="0"/>
              <a:t>Address: 64 Zoo Lane</a:t>
            </a:r>
            <a:endParaRPr lang="en-GB" dirty="0"/>
          </a:p>
        </p:txBody>
      </p:sp>
      <p:sp>
        <p:nvSpPr>
          <p:cNvPr id="47" name="Rectangle 46"/>
          <p:cNvSpPr/>
          <p:nvPr/>
        </p:nvSpPr>
        <p:spPr>
          <a:xfrm>
            <a:off x="6123603" y="5172957"/>
            <a:ext cx="2933752" cy="8058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Customer ID: 0005</a:t>
            </a:r>
          </a:p>
          <a:p>
            <a:pPr algn="ctr"/>
            <a:r>
              <a:rPr lang="en-GB" dirty="0" smtClean="0"/>
              <a:t>Reading History: 100,</a:t>
            </a:r>
            <a:r>
              <a:rPr lang="en-GB" dirty="0" smtClean="0">
                <a:solidFill>
                  <a:srgbClr val="FFFF00"/>
                </a:solidFill>
              </a:rPr>
              <a:t>85</a:t>
            </a:r>
          </a:p>
          <a:p>
            <a:pPr algn="ctr"/>
            <a:r>
              <a:rPr lang="en-GB" dirty="0" smtClean="0"/>
              <a:t>Address: 4 </a:t>
            </a:r>
            <a:r>
              <a:rPr lang="en-GB" dirty="0" err="1" smtClean="0"/>
              <a:t>Privit</a:t>
            </a:r>
            <a:r>
              <a:rPr lang="en-GB" dirty="0" smtClean="0"/>
              <a:t> Drive</a:t>
            </a:r>
            <a:endParaRPr lang="en-GB" dirty="0"/>
          </a:p>
        </p:txBody>
      </p:sp>
      <p:sp>
        <p:nvSpPr>
          <p:cNvPr id="48" name="Rectangle 47"/>
          <p:cNvSpPr/>
          <p:nvPr/>
        </p:nvSpPr>
        <p:spPr>
          <a:xfrm>
            <a:off x="6129251" y="6015135"/>
            <a:ext cx="2933752" cy="8058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Customer ID: 0010</a:t>
            </a:r>
          </a:p>
          <a:p>
            <a:pPr algn="ctr"/>
            <a:r>
              <a:rPr lang="en-GB" dirty="0" smtClean="0"/>
              <a:t>Reading History: 300,250,</a:t>
            </a:r>
            <a:r>
              <a:rPr lang="en-GB" dirty="0" smtClean="0">
                <a:solidFill>
                  <a:srgbClr val="FFFF00"/>
                </a:solidFill>
              </a:rPr>
              <a:t>90</a:t>
            </a:r>
          </a:p>
          <a:p>
            <a:pPr algn="ctr"/>
            <a:r>
              <a:rPr lang="en-GB" dirty="0" smtClean="0"/>
              <a:t>Address: 10 Downing Street</a:t>
            </a:r>
            <a:endParaRPr lang="en-GB" dirty="0"/>
          </a:p>
        </p:txBody>
      </p:sp>
      <p:sp>
        <p:nvSpPr>
          <p:cNvPr id="49" name="Rectangle 48"/>
          <p:cNvSpPr/>
          <p:nvPr/>
        </p:nvSpPr>
        <p:spPr>
          <a:xfrm>
            <a:off x="5212206" y="2886058"/>
            <a:ext cx="2330735" cy="13554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ELECTRICITY BILL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-----------------------------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Customer: 0005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Address: 4 </a:t>
            </a:r>
            <a:r>
              <a:rPr lang="en-GB" dirty="0" err="1" smtClean="0">
                <a:solidFill>
                  <a:schemeClr val="tx1"/>
                </a:solidFill>
              </a:rPr>
              <a:t>Privit</a:t>
            </a:r>
            <a:r>
              <a:rPr lang="en-GB" dirty="0" smtClean="0">
                <a:solidFill>
                  <a:schemeClr val="tx1"/>
                </a:solidFill>
              </a:rPr>
              <a:t> Drive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Bill: £9.75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212474" y="2679051"/>
            <a:ext cx="2330468" cy="173377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ELECTRICITY BILL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-----------------------------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Customer: 0005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Address: 10 Downing Street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Bill: £1.2b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205197" y="1364975"/>
            <a:ext cx="3446700" cy="9524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The Master files are updated using the corresponding transaction files (which are then discarded)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4654223" y="5822222"/>
            <a:ext cx="3446700" cy="9524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Whilst the results of processing (outputs, in this case the bills) are sent out to the customers.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733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1.85185E-6 L 0.63919 0.0541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953" y="270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path" presetSubtype="0" accel="50000" decel="5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58333E-6 4.07407E-6 L 0.63724 0.05069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862" y="25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42" presetClass="path" presetSubtype="0" accel="50000" decel="5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651 -0.01968 L 0.65755 0.04236 " pathEditMode="relative" rAng="0" ptsTypes="AA">
                                      <p:cBhvr>
                                        <p:cTn id="1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552" y="3102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42" presetClass="path" presetSubtype="0" accel="50000" decel="5000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2.29167E-6 -7.40741E-7 L 0.41315 0.04282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51" y="2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42" presetClass="path" presetSubtype="0" accel="50000" decel="5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70833E-6 -4.81481E-6 L 0.41315 0.04283 " pathEditMode="relative" rAng="0" ptsTypes="AA">
                                      <p:cBhvr>
                                        <p:cTn id="4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51" y="2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0"/>
                            </p:stCondLst>
                            <p:childTnLst>
                              <p:par>
                                <p:cTn id="45" presetID="42" presetClass="path" presetSubtype="0" accel="50000" decel="5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70833E-6 1.11111E-6 L 0.41459 -0.06574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29" y="-3287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" presetID="32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120000">
                                      <p:cBhvr>
                                        <p:cTn id="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2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120000">
                                      <p:cBhvr>
                                        <p:cTn id="8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1.11111E-6 L 0.2207 0.0044 " pathEditMode="relative" rAng="0" ptsTypes="AA">
                                      <p:cBhvr>
                                        <p:cTn id="11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29" y="208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1" presetID="42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25E-6 -4.81481E-6 L 0.19141 0.0007 " pathEditMode="relative" rAng="0" ptsTypes="AA">
                                      <p:cBhvr>
                                        <p:cTn id="12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70" y="23"/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9" presetID="42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0833E-6 -7.40741E-7 L 0.19023 0.00255 " pathEditMode="relative" rAng="0" ptsTypes="AA">
                                      <p:cBhvr>
                                        <p:cTn id="13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05" y="116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32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120000">
                                      <p:cBhvr>
                                        <p:cTn id="1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2.22222E-6 L 0.1263 -0.35301 " pathEditMode="relative" rAng="0" ptsTypes="AA">
                                      <p:cBhvr>
                                        <p:cTn id="16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-17662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4.07407E-6 L 0.34453 -0.25139 " pathEditMode="relative" rAng="0" ptsTypes="AA">
                                      <p:cBhvr>
                                        <p:cTn id="169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227" y="-1256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3.7037E-7 L 0.32604 0.34097 " pathEditMode="relative" rAng="0" ptsTypes="AA">
                                      <p:cBhvr>
                                        <p:cTn id="174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302" y="17037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6" grpId="1" animBg="1"/>
      <p:bldP spid="31" grpId="0"/>
      <p:bldP spid="32" grpId="0"/>
      <p:bldP spid="10" grpId="0" animBg="1"/>
      <p:bldP spid="10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11" grpId="0" animBg="1"/>
      <p:bldP spid="11" grpId="1" animBg="1"/>
      <p:bldP spid="39" grpId="1" animBg="1"/>
      <p:bldP spid="39" grpId="2" animBg="1"/>
      <p:bldP spid="43" grpId="0" animBg="1"/>
      <p:bldP spid="43" grpId="1" animBg="1"/>
      <p:bldP spid="43" grpId="2" animBg="1"/>
      <p:bldP spid="43" grpId="3" animBg="1"/>
      <p:bldP spid="44" grpId="0" animBg="1"/>
      <p:bldP spid="44" grpId="1" animBg="1"/>
      <p:bldP spid="44" grpId="2" animBg="1"/>
      <p:bldP spid="44" grpId="3" animBg="1"/>
      <p:bldP spid="45" grpId="0" animBg="1"/>
      <p:bldP spid="45" grpId="1" animBg="1"/>
      <p:bldP spid="45" grpId="2" animBg="1"/>
      <p:bldP spid="45" grpId="3" animBg="1"/>
      <p:bldP spid="12" grpId="0" animBg="1"/>
      <p:bldP spid="12" grpId="1" animBg="1"/>
      <p:bldP spid="41" grpId="0" animBg="1"/>
      <p:bldP spid="41" grpId="1" animBg="1"/>
      <p:bldP spid="42" grpId="0" animBg="1"/>
      <p:bldP spid="42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Batch Processing: Example</a:t>
            </a:r>
            <a:endParaRPr lang="en-GB" dirty="0"/>
          </a:p>
        </p:txBody>
      </p:sp>
      <p:sp>
        <p:nvSpPr>
          <p:cNvPr id="5" name="Rounded Rectangle 4"/>
          <p:cNvSpPr/>
          <p:nvPr/>
        </p:nvSpPr>
        <p:spPr>
          <a:xfrm>
            <a:off x="152400" y="161926"/>
            <a:ext cx="1619250" cy="2031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accent2">
                    <a:lumMod val="50000"/>
                  </a:schemeClr>
                </a:solidFill>
                <a:latin typeface="LEMON MILK" panose="00000500000000000000" pitchFamily="50" charset="0"/>
              </a:rPr>
              <a:t>System Software</a:t>
            </a:r>
            <a:endParaRPr lang="en-GB" sz="1100" dirty="0">
              <a:solidFill>
                <a:schemeClr val="accent2">
                  <a:lumMod val="50000"/>
                </a:schemeClr>
              </a:solidFill>
              <a:latin typeface="LEMON MILK" panose="00000500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C69BAAAF-24CF-635C-A0CA-C5CDE74F7A76}"/>
              </a:ext>
            </a:extLst>
          </p:cNvPr>
          <p:cNvSpPr/>
          <p:nvPr/>
        </p:nvSpPr>
        <p:spPr>
          <a:xfrm>
            <a:off x="-106532" y="-213063"/>
            <a:ext cx="12970276" cy="720866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xmlns="" id="{53B6D890-6E67-1B6A-3542-B78B97BF97C5}"/>
              </a:ext>
            </a:extLst>
          </p:cNvPr>
          <p:cNvSpPr/>
          <p:nvPr/>
        </p:nvSpPr>
        <p:spPr>
          <a:xfrm>
            <a:off x="163600" y="204184"/>
            <a:ext cx="3372975" cy="2483520"/>
          </a:xfrm>
          <a:prstGeom prst="flowChartProcess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xmlns="" id="{BAC4CF00-6D61-15EE-05B9-00DECF89596B}"/>
              </a:ext>
            </a:extLst>
          </p:cNvPr>
          <p:cNvSpPr/>
          <p:nvPr/>
        </p:nvSpPr>
        <p:spPr>
          <a:xfrm>
            <a:off x="31378" y="2850775"/>
            <a:ext cx="3286127" cy="3307976"/>
          </a:xfrm>
          <a:prstGeom prst="flowChartProcess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C0BE0FE1-65D4-566C-ABA2-4635970F92E0}"/>
              </a:ext>
            </a:extLst>
          </p:cNvPr>
          <p:cNvSpPr txBox="1"/>
          <p:nvPr/>
        </p:nvSpPr>
        <p:spPr>
          <a:xfrm>
            <a:off x="176488" y="5125596"/>
            <a:ext cx="2931459" cy="92333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 smtClean="0"/>
              <a:t>Customer ID</a:t>
            </a:r>
            <a:r>
              <a:rPr lang="en-GB" dirty="0"/>
              <a:t>: 001</a:t>
            </a:r>
          </a:p>
          <a:p>
            <a:r>
              <a:rPr lang="en-GB" dirty="0"/>
              <a:t>Name: Mr Butler.</a:t>
            </a:r>
          </a:p>
          <a:p>
            <a:r>
              <a:rPr lang="en-GB" dirty="0"/>
              <a:t>Outstanding Balance: £100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D6AB8B8F-B9CF-F2E5-967E-3DC374F9A851}"/>
              </a:ext>
            </a:extLst>
          </p:cNvPr>
          <p:cNvSpPr txBox="1"/>
          <p:nvPr/>
        </p:nvSpPr>
        <p:spPr>
          <a:xfrm>
            <a:off x="820266" y="1189405"/>
            <a:ext cx="1954306" cy="64633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 smtClean="0"/>
              <a:t>Customer ID</a:t>
            </a:r>
            <a:r>
              <a:rPr lang="en-GB" dirty="0"/>
              <a:t>: 001 Bill: £50</a:t>
            </a:r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xmlns="" id="{CC432099-2488-070E-644B-1C818F035324}"/>
              </a:ext>
            </a:extLst>
          </p:cNvPr>
          <p:cNvSpPr/>
          <p:nvPr/>
        </p:nvSpPr>
        <p:spPr>
          <a:xfrm>
            <a:off x="7709085" y="20719"/>
            <a:ext cx="2433918" cy="3307976"/>
          </a:xfrm>
          <a:prstGeom prst="flowChartProcess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Mr Butler		001</a:t>
            </a:r>
          </a:p>
          <a:p>
            <a:r>
              <a:rPr lang="en-GB" dirty="0">
                <a:solidFill>
                  <a:schemeClr val="tx1"/>
                </a:solidFill>
              </a:rPr>
              <a:t>--------------------------------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Statement</a:t>
            </a:r>
          </a:p>
          <a:p>
            <a:r>
              <a:rPr lang="en-GB" dirty="0">
                <a:solidFill>
                  <a:schemeClr val="tx1"/>
                </a:solidFill>
              </a:rPr>
              <a:t>--------------------------------</a:t>
            </a:r>
          </a:p>
          <a:p>
            <a:r>
              <a:rPr lang="en-GB" sz="1000" dirty="0">
                <a:solidFill>
                  <a:schemeClr val="tx1"/>
                </a:solidFill>
              </a:rPr>
              <a:t>This bill has been automatically generated.</a:t>
            </a:r>
            <a:r>
              <a:rPr lang="en-GB" dirty="0">
                <a:solidFill>
                  <a:schemeClr val="tx1"/>
                </a:solidFill>
              </a:rPr>
              <a:t>	   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	     Total: £150</a:t>
            </a:r>
          </a:p>
          <a:p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E2750B55-F4F0-9B40-208D-1BF9771BB9F3}"/>
              </a:ext>
            </a:extLst>
          </p:cNvPr>
          <p:cNvSpPr txBox="1"/>
          <p:nvPr/>
        </p:nvSpPr>
        <p:spPr>
          <a:xfrm>
            <a:off x="820266" y="1958431"/>
            <a:ext cx="1954306" cy="64633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 smtClean="0"/>
              <a:t>Customer ID: </a:t>
            </a:r>
            <a:r>
              <a:rPr lang="en-GB" dirty="0"/>
              <a:t>002 Bill: £75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2947E89E-6E93-99C3-6D63-6537026D6CEC}"/>
              </a:ext>
            </a:extLst>
          </p:cNvPr>
          <p:cNvSpPr txBox="1"/>
          <p:nvPr/>
        </p:nvSpPr>
        <p:spPr>
          <a:xfrm>
            <a:off x="176488" y="4039195"/>
            <a:ext cx="2931459" cy="92333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 smtClean="0"/>
              <a:t>Customer ID</a:t>
            </a:r>
            <a:r>
              <a:rPr lang="en-GB" dirty="0"/>
              <a:t>: 002</a:t>
            </a:r>
          </a:p>
          <a:p>
            <a:r>
              <a:rPr lang="en-GB" dirty="0"/>
              <a:t>Name: Mr McHugh.</a:t>
            </a:r>
          </a:p>
          <a:p>
            <a:r>
              <a:rPr lang="en-GB" dirty="0"/>
              <a:t>Outstanding Balance: £50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204BEC66-DD49-C3E7-9038-CBDC3C878848}"/>
              </a:ext>
            </a:extLst>
          </p:cNvPr>
          <p:cNvSpPr txBox="1"/>
          <p:nvPr/>
        </p:nvSpPr>
        <p:spPr>
          <a:xfrm>
            <a:off x="187692" y="136525"/>
            <a:ext cx="3372975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Transaction File (Temporary)</a:t>
            </a:r>
          </a:p>
          <a:p>
            <a:r>
              <a:rPr lang="en-GB" i="1" dirty="0"/>
              <a:t>Holds details of transaction, will be discarded after process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16120913-5D10-0ECD-9FEB-EC5C9157DD63}"/>
              </a:ext>
            </a:extLst>
          </p:cNvPr>
          <p:cNvSpPr txBox="1"/>
          <p:nvPr/>
        </p:nvSpPr>
        <p:spPr>
          <a:xfrm>
            <a:off x="4728947" y="282065"/>
            <a:ext cx="17154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Merge Process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D4AF683B-CDA4-BE3E-50D0-41AC33488465}"/>
              </a:ext>
            </a:extLst>
          </p:cNvPr>
          <p:cNvSpPr txBox="1"/>
          <p:nvPr/>
        </p:nvSpPr>
        <p:spPr>
          <a:xfrm>
            <a:off x="20172" y="2818805"/>
            <a:ext cx="314661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Master File </a:t>
            </a:r>
          </a:p>
          <a:p>
            <a:r>
              <a:rPr lang="en-GB" sz="2000" dirty="0">
                <a:solidFill>
                  <a:schemeClr val="bg1"/>
                </a:solidFill>
              </a:rPr>
              <a:t>(Permanent/Semi Permanent)</a:t>
            </a:r>
          </a:p>
          <a:p>
            <a:r>
              <a:rPr lang="en-GB" sz="1600" i="1" dirty="0">
                <a:solidFill>
                  <a:schemeClr val="bg1"/>
                </a:solidFill>
              </a:rPr>
              <a:t>Does not change in short term</a:t>
            </a:r>
          </a:p>
        </p:txBody>
      </p:sp>
      <p:sp>
        <p:nvSpPr>
          <p:cNvPr id="25" name="Flowchart: Process 24">
            <a:extLst>
              <a:ext uri="{FF2B5EF4-FFF2-40B4-BE49-F238E27FC236}">
                <a16:creationId xmlns:a16="http://schemas.microsoft.com/office/drawing/2014/main" xmlns="" id="{3DB309B7-226E-14D9-D814-A2648527FAA3}"/>
              </a:ext>
            </a:extLst>
          </p:cNvPr>
          <p:cNvSpPr/>
          <p:nvPr/>
        </p:nvSpPr>
        <p:spPr>
          <a:xfrm>
            <a:off x="10024422" y="1155841"/>
            <a:ext cx="2433918" cy="3307976"/>
          </a:xfrm>
          <a:prstGeom prst="flowChartProcess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Mr McHugh	002</a:t>
            </a:r>
          </a:p>
          <a:p>
            <a:r>
              <a:rPr lang="en-GB" dirty="0">
                <a:solidFill>
                  <a:schemeClr val="tx1"/>
                </a:solidFill>
              </a:rPr>
              <a:t>--------------------------------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Statement</a:t>
            </a:r>
          </a:p>
          <a:p>
            <a:r>
              <a:rPr lang="en-GB" dirty="0">
                <a:solidFill>
                  <a:schemeClr val="tx1"/>
                </a:solidFill>
              </a:rPr>
              <a:t>--------------------------------</a:t>
            </a:r>
          </a:p>
          <a:p>
            <a:r>
              <a:rPr lang="en-GB" sz="1000" dirty="0">
                <a:solidFill>
                  <a:schemeClr val="tx1"/>
                </a:solidFill>
              </a:rPr>
              <a:t>This bill has been automatically generated.</a:t>
            </a:r>
            <a:r>
              <a:rPr lang="en-GB" dirty="0">
                <a:solidFill>
                  <a:schemeClr val="tx1"/>
                </a:solidFill>
              </a:rPr>
              <a:t>	   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	     Total: £125</a:t>
            </a:r>
          </a:p>
          <a:p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55ADE975-22C5-2141-AD9B-3C7E5447741F}"/>
              </a:ext>
            </a:extLst>
          </p:cNvPr>
          <p:cNvSpPr txBox="1"/>
          <p:nvPr/>
        </p:nvSpPr>
        <p:spPr>
          <a:xfrm>
            <a:off x="7500660" y="3697536"/>
            <a:ext cx="24921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FFFF00"/>
                </a:solidFill>
              </a:rPr>
              <a:t>Result of the processing comes out. Usually in the form of a bill or report</a:t>
            </a:r>
          </a:p>
        </p:txBody>
      </p:sp>
      <p:sp>
        <p:nvSpPr>
          <p:cNvPr id="27" name="Arrow: Right 21">
            <a:extLst>
              <a:ext uri="{FF2B5EF4-FFF2-40B4-BE49-F238E27FC236}">
                <a16:creationId xmlns:a16="http://schemas.microsoft.com/office/drawing/2014/main" xmlns="" id="{B555C4A4-4776-5829-C96E-F95798317705}"/>
              </a:ext>
            </a:extLst>
          </p:cNvPr>
          <p:cNvSpPr/>
          <p:nvPr/>
        </p:nvSpPr>
        <p:spPr>
          <a:xfrm>
            <a:off x="6444353" y="3345695"/>
            <a:ext cx="3403665" cy="440198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Arrow: Right 22">
            <a:extLst>
              <a:ext uri="{FF2B5EF4-FFF2-40B4-BE49-F238E27FC236}">
                <a16:creationId xmlns:a16="http://schemas.microsoft.com/office/drawing/2014/main" xmlns="" id="{45859396-3F1F-9F62-3910-82EDCFA07110}"/>
              </a:ext>
            </a:extLst>
          </p:cNvPr>
          <p:cNvSpPr/>
          <p:nvPr/>
        </p:nvSpPr>
        <p:spPr>
          <a:xfrm flipH="1">
            <a:off x="3253057" y="5145817"/>
            <a:ext cx="2651310" cy="524524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0" name="Picture 6" descr="Trash Can Free Png Image - Transparent Background Trash Can Png Transparent  PNG - 600x600 - Free Download on NicePNG">
            <a:extLst>
              <a:ext uri="{FF2B5EF4-FFF2-40B4-BE49-F238E27FC236}">
                <a16:creationId xmlns:a16="http://schemas.microsoft.com/office/drawing/2014/main" xmlns="" id="{E19CE201-82B9-F1CF-CC08-0005AF928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755" b="90749" l="10000" r="90000">
                        <a14:foregroundMark x1="36707" y1="13510" x2="59390" y2="9692"/>
                        <a14:foregroundMark x1="59390" y1="9692" x2="70854" y2="17915"/>
                        <a14:foregroundMark x1="43049" y1="87959" x2="46341" y2="90749"/>
                        <a14:foregroundMark x1="25854" y1="17181" x2="25854" y2="17181"/>
                        <a14:foregroundMark x1="25244" y1="14831" x2="25732" y2="17034"/>
                        <a14:foregroundMark x1="44756" y1="7048" x2="44756" y2="7048"/>
                        <a14:foregroundMark x1="49146" y1="6755" x2="49146" y2="67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3723" y="4888898"/>
            <a:ext cx="2506593" cy="2081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Arrow: Right 24">
            <a:extLst>
              <a:ext uri="{FF2B5EF4-FFF2-40B4-BE49-F238E27FC236}">
                <a16:creationId xmlns:a16="http://schemas.microsoft.com/office/drawing/2014/main" xmlns="" id="{1CB80F6A-22ED-CE89-96A7-1ABFEEF6AD7D}"/>
              </a:ext>
            </a:extLst>
          </p:cNvPr>
          <p:cNvSpPr/>
          <p:nvPr/>
        </p:nvSpPr>
        <p:spPr>
          <a:xfrm rot="20588420">
            <a:off x="2914988" y="2859029"/>
            <a:ext cx="1247790" cy="461373"/>
          </a:xfrm>
          <a:prstGeom prst="rightArrow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Arrow: Right 25">
            <a:extLst>
              <a:ext uri="{FF2B5EF4-FFF2-40B4-BE49-F238E27FC236}">
                <a16:creationId xmlns:a16="http://schemas.microsoft.com/office/drawing/2014/main" xmlns="" id="{9B6EC9C5-8E88-63F4-35F3-7A56A9D1784B}"/>
              </a:ext>
            </a:extLst>
          </p:cNvPr>
          <p:cNvSpPr/>
          <p:nvPr/>
        </p:nvSpPr>
        <p:spPr>
          <a:xfrm>
            <a:off x="6562469" y="5256289"/>
            <a:ext cx="3157194" cy="535527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8BDEF9D3-F4D6-B39B-CC57-84B87946F61A}"/>
              </a:ext>
            </a:extLst>
          </p:cNvPr>
          <p:cNvSpPr txBox="1"/>
          <p:nvPr/>
        </p:nvSpPr>
        <p:spPr>
          <a:xfrm>
            <a:off x="6806184" y="5757685"/>
            <a:ext cx="3041834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</a:rPr>
              <a:t>Transaction file is then discarded after processing</a:t>
            </a:r>
          </a:p>
        </p:txBody>
      </p:sp>
      <p:sp>
        <p:nvSpPr>
          <p:cNvPr id="36" name="Arrow: Right 24">
            <a:extLst>
              <a:ext uri="{FF2B5EF4-FFF2-40B4-BE49-F238E27FC236}">
                <a16:creationId xmlns:a16="http://schemas.microsoft.com/office/drawing/2014/main" xmlns="" id="{1CB80F6A-22ED-CE89-96A7-1ABFEEF6AD7D}"/>
              </a:ext>
            </a:extLst>
          </p:cNvPr>
          <p:cNvSpPr/>
          <p:nvPr/>
        </p:nvSpPr>
        <p:spPr>
          <a:xfrm rot="1063369">
            <a:off x="3448055" y="1737641"/>
            <a:ext cx="622701" cy="461373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D84323B5-20DE-A13F-1CEE-7E0823CD91A9}"/>
              </a:ext>
            </a:extLst>
          </p:cNvPr>
          <p:cNvSpPr txBox="1"/>
          <p:nvPr/>
        </p:nvSpPr>
        <p:spPr>
          <a:xfrm>
            <a:off x="3382147" y="5460021"/>
            <a:ext cx="2801956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rgbClr val="92D050"/>
                </a:solidFill>
              </a:rPr>
              <a:t>Master file is updated </a:t>
            </a:r>
            <a:r>
              <a:rPr lang="en-GB" sz="2000" dirty="0" smtClean="0">
                <a:solidFill>
                  <a:srgbClr val="92D050"/>
                </a:solidFill>
              </a:rPr>
              <a:t>as a result of </a:t>
            </a:r>
            <a:r>
              <a:rPr lang="en-GB" sz="2000" dirty="0">
                <a:solidFill>
                  <a:srgbClr val="92D050"/>
                </a:solidFill>
              </a:rPr>
              <a:t>the </a:t>
            </a:r>
            <a:r>
              <a:rPr lang="en-GB" sz="2000" dirty="0" smtClean="0">
                <a:solidFill>
                  <a:srgbClr val="92D050"/>
                </a:solidFill>
              </a:rPr>
              <a:t>processing, such as bill history</a:t>
            </a:r>
            <a:endParaRPr lang="en-GB" sz="2000" dirty="0">
              <a:solidFill>
                <a:srgbClr val="92D050"/>
              </a:solidFill>
            </a:endParaRPr>
          </a:p>
        </p:txBody>
      </p:sp>
      <p:sp>
        <p:nvSpPr>
          <p:cNvPr id="37" name="Arrow: Right 22">
            <a:extLst>
              <a:ext uri="{FF2B5EF4-FFF2-40B4-BE49-F238E27FC236}">
                <a16:creationId xmlns:a16="http://schemas.microsoft.com/office/drawing/2014/main" xmlns="" id="{45859396-3F1F-9F62-3910-82EDCFA07110}"/>
              </a:ext>
            </a:extLst>
          </p:cNvPr>
          <p:cNvSpPr/>
          <p:nvPr/>
        </p:nvSpPr>
        <p:spPr>
          <a:xfrm rot="5400000" flipH="1">
            <a:off x="4448860" y="3926090"/>
            <a:ext cx="2651310" cy="524524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Arrow: Right 25">
            <a:extLst>
              <a:ext uri="{FF2B5EF4-FFF2-40B4-BE49-F238E27FC236}">
                <a16:creationId xmlns:a16="http://schemas.microsoft.com/office/drawing/2014/main" xmlns="" id="{9B6EC9C5-8E88-63F4-35F3-7A56A9D1784B}"/>
              </a:ext>
            </a:extLst>
          </p:cNvPr>
          <p:cNvSpPr/>
          <p:nvPr/>
        </p:nvSpPr>
        <p:spPr>
          <a:xfrm rot="16200000">
            <a:off x="5114314" y="3797231"/>
            <a:ext cx="3157194" cy="535527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4" name="Picture 2" descr="Server Clipart Images | Free Download | PNG Transparent Background - Pngtre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2397" y="609541"/>
            <a:ext cx="3978486" cy="3978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1607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Multiuser Systems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00" y="1584324"/>
            <a:ext cx="6168966" cy="5083176"/>
          </a:xfrm>
        </p:spPr>
        <p:txBody>
          <a:bodyPr>
            <a:normAutofit fontScale="92500"/>
          </a:bodyPr>
          <a:lstStyle/>
          <a:p>
            <a:r>
              <a:rPr lang="en-GB" dirty="0"/>
              <a:t>Many users at different computers sharing the processor of a powerful computer.</a:t>
            </a:r>
          </a:p>
          <a:p>
            <a:r>
              <a:rPr lang="en-GB" dirty="0"/>
              <a:t>Known as a ‘</a:t>
            </a:r>
            <a:r>
              <a:rPr lang="en-GB" dirty="0">
                <a:solidFill>
                  <a:srgbClr val="00B050"/>
                </a:solidFill>
              </a:rPr>
              <a:t>time-sharing</a:t>
            </a:r>
            <a:r>
              <a:rPr lang="en-GB" dirty="0"/>
              <a:t>’ system.</a:t>
            </a:r>
          </a:p>
          <a:p>
            <a:r>
              <a:rPr lang="en-GB" dirty="0"/>
              <a:t>The OS switches between computers, giving a lot of processing power (a </a:t>
            </a:r>
            <a:r>
              <a:rPr lang="en-GB" dirty="0">
                <a:solidFill>
                  <a:srgbClr val="00B050"/>
                </a:solidFill>
              </a:rPr>
              <a:t>time slice</a:t>
            </a:r>
            <a:r>
              <a:rPr lang="en-GB" dirty="0"/>
              <a:t>) for a short time before going to the next in line.</a:t>
            </a:r>
          </a:p>
          <a:p>
            <a:r>
              <a:rPr lang="en-GB" dirty="0" smtClean="0"/>
              <a:t>This is sometimes known as a round robin approach to processing</a:t>
            </a:r>
          </a:p>
          <a:p>
            <a:r>
              <a:rPr lang="en-GB" dirty="0" smtClean="0"/>
              <a:t>This is often used in servers and websites</a:t>
            </a:r>
          </a:p>
          <a:p>
            <a:r>
              <a:rPr lang="en-GB" dirty="0" smtClean="0"/>
              <a:t>All users feel as if they are the sole user of the system</a:t>
            </a:r>
            <a:endParaRPr lang="en-GB" dirty="0"/>
          </a:p>
        </p:txBody>
      </p:sp>
      <p:sp>
        <p:nvSpPr>
          <p:cNvPr id="4" name="Rounded Rectangle 3"/>
          <p:cNvSpPr/>
          <p:nvPr/>
        </p:nvSpPr>
        <p:spPr>
          <a:xfrm>
            <a:off x="152400" y="161926"/>
            <a:ext cx="1619250" cy="2031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accent2">
                    <a:lumMod val="50000"/>
                  </a:schemeClr>
                </a:solidFill>
                <a:latin typeface="LEMON MILK" panose="00000500000000000000" pitchFamily="50" charset="0"/>
              </a:rPr>
              <a:t>System Software</a:t>
            </a:r>
            <a:endParaRPr lang="en-GB" sz="1100" dirty="0">
              <a:solidFill>
                <a:schemeClr val="accent2">
                  <a:lumMod val="50000"/>
                </a:schemeClr>
              </a:solidFill>
              <a:latin typeface="LEMON MILK" panose="00000500000000000000" pitchFamily="50" charset="0"/>
            </a:endParaRPr>
          </a:p>
        </p:txBody>
      </p:sp>
      <p:pic>
        <p:nvPicPr>
          <p:cNvPr id="4098" name="Picture 2" descr="User profile - Free computer ic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9118" y="4816475"/>
            <a:ext cx="1031875" cy="103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User profile - Free computer ic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8573" y="5507038"/>
            <a:ext cx="1031875" cy="103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User profile - Free computer ic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7862" y="4816475"/>
            <a:ext cx="1031875" cy="103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/>
          <p:cNvCxnSpPr/>
          <p:nvPr/>
        </p:nvCxnSpPr>
        <p:spPr>
          <a:xfrm flipV="1">
            <a:off x="7333455" y="4471195"/>
            <a:ext cx="1" cy="3452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9276555" y="3429000"/>
            <a:ext cx="0" cy="20760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11219654" y="4471195"/>
            <a:ext cx="1" cy="3452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20755" y="4469610"/>
            <a:ext cx="159781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9634536" y="4456120"/>
            <a:ext cx="159781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8924128" y="3319462"/>
            <a:ext cx="0" cy="11729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9643264" y="3306762"/>
            <a:ext cx="0" cy="11729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0" name="Picture 4" descr="Server data - free Icon PNG, SV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868" y="1939918"/>
            <a:ext cx="1603373" cy="1603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CPU processor icon 3d render concept of computer processor, microprocessor  technology icon illustration 66601677 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279" y="1637638"/>
            <a:ext cx="985090" cy="82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Hdd Drive 3D Icons - Free Download in PNG, glT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1128" y="1749429"/>
            <a:ext cx="7715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Computer RAM isolated 3d render icon illustration 69462830 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9270" y="2455916"/>
            <a:ext cx="704056" cy="7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7064403" y="2527866"/>
            <a:ext cx="1640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latin typeface="LEMON MILK" panose="00000500000000000000" pitchFamily="50" charset="0"/>
              </a:rPr>
              <a:t>Resources</a:t>
            </a:r>
            <a:endParaRPr lang="en-GB" dirty="0">
              <a:latin typeface="LEMON MILK" panose="00000500000000000000" pitchFamily="50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496919" y="5822702"/>
            <a:ext cx="1640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>
                <a:latin typeface="LEMON MILK" panose="00000500000000000000" pitchFamily="50" charset="0"/>
              </a:rPr>
              <a:t>User</a:t>
            </a:r>
            <a:endParaRPr lang="en-GB" dirty="0">
              <a:latin typeface="LEMON MILK" panose="00000500000000000000" pitchFamily="50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14173" y="6513300"/>
            <a:ext cx="1640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>
                <a:latin typeface="LEMON MILK" panose="00000500000000000000" pitchFamily="50" charset="0"/>
              </a:rPr>
              <a:t>User</a:t>
            </a:r>
            <a:endParaRPr lang="en-GB" dirty="0">
              <a:latin typeface="LEMON MILK" panose="00000500000000000000" pitchFamily="50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14718" y="5848350"/>
            <a:ext cx="1640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>
                <a:latin typeface="LEMON MILK" panose="00000500000000000000" pitchFamily="50" charset="0"/>
              </a:rPr>
              <a:t>User</a:t>
            </a:r>
            <a:endParaRPr lang="en-GB" dirty="0">
              <a:latin typeface="LEMON MILK" panose="00000500000000000000" pitchFamily="50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42265" y="1337648"/>
            <a:ext cx="1640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>
                <a:latin typeface="LEMON MILK" panose="00000500000000000000" pitchFamily="50" charset="0"/>
              </a:rPr>
              <a:t>Multiuser System</a:t>
            </a:r>
            <a:endParaRPr lang="en-GB" dirty="0">
              <a:latin typeface="LEMON MILK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5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Utility Software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2025" y="1530350"/>
            <a:ext cx="10029825" cy="4737100"/>
          </a:xfrm>
        </p:spPr>
        <p:txBody>
          <a:bodyPr/>
          <a:lstStyle/>
          <a:p>
            <a:r>
              <a:rPr lang="en-GB" dirty="0" smtClean="0"/>
              <a:t>This is a program that carries out a </a:t>
            </a:r>
            <a:r>
              <a:rPr lang="en-GB" dirty="0" smtClean="0">
                <a:solidFill>
                  <a:srgbClr val="C00000"/>
                </a:solidFill>
              </a:rPr>
              <a:t>specific task </a:t>
            </a:r>
            <a:r>
              <a:rPr lang="en-GB" dirty="0" smtClean="0"/>
              <a:t>to assist the OS.</a:t>
            </a:r>
          </a:p>
          <a:p>
            <a:pPr lvl="1"/>
            <a:r>
              <a:rPr lang="en-GB" dirty="0" smtClean="0">
                <a:solidFill>
                  <a:srgbClr val="C00000"/>
                </a:solidFill>
              </a:rPr>
              <a:t>Disc Defragmentation</a:t>
            </a:r>
          </a:p>
          <a:p>
            <a:pPr lvl="1"/>
            <a:r>
              <a:rPr lang="en-GB" dirty="0" smtClean="0">
                <a:solidFill>
                  <a:srgbClr val="C00000"/>
                </a:solidFill>
              </a:rPr>
              <a:t>Task Scheduling</a:t>
            </a:r>
          </a:p>
          <a:p>
            <a:pPr lvl="1"/>
            <a:r>
              <a:rPr lang="en-GB" dirty="0" smtClean="0">
                <a:solidFill>
                  <a:srgbClr val="C00000"/>
                </a:solidFill>
              </a:rPr>
              <a:t>Data backup / restore</a:t>
            </a:r>
          </a:p>
          <a:p>
            <a:pPr lvl="1"/>
            <a:r>
              <a:rPr lang="en-GB" dirty="0" smtClean="0">
                <a:solidFill>
                  <a:srgbClr val="C00000"/>
                </a:solidFill>
              </a:rPr>
              <a:t>Antivirus</a:t>
            </a:r>
          </a:p>
          <a:p>
            <a:r>
              <a:rPr lang="en-GB" dirty="0" smtClean="0"/>
              <a:t>WinZip and Malwarebytes Antimalware would be an example of utility software</a:t>
            </a:r>
          </a:p>
          <a:p>
            <a:endParaRPr lang="en-GB" dirty="0"/>
          </a:p>
        </p:txBody>
      </p:sp>
      <p:sp>
        <p:nvSpPr>
          <p:cNvPr id="4" name="Rounded Rectangle 3"/>
          <p:cNvSpPr/>
          <p:nvPr/>
        </p:nvSpPr>
        <p:spPr>
          <a:xfrm>
            <a:off x="152400" y="161926"/>
            <a:ext cx="1619250" cy="2031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accent2">
                    <a:lumMod val="50000"/>
                  </a:schemeClr>
                </a:solidFill>
                <a:latin typeface="LEMON MILK" panose="00000500000000000000" pitchFamily="50" charset="0"/>
              </a:rPr>
              <a:t>System Software</a:t>
            </a:r>
            <a:endParaRPr lang="en-GB" sz="1100" dirty="0">
              <a:solidFill>
                <a:schemeClr val="accent2">
                  <a:lumMod val="50000"/>
                </a:schemeClr>
              </a:solidFill>
              <a:latin typeface="LEMON MILK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868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Defragmentation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141" y="1476375"/>
            <a:ext cx="5618660" cy="5292725"/>
          </a:xfrm>
        </p:spPr>
        <p:txBody>
          <a:bodyPr>
            <a:normAutofit fontScale="92500"/>
          </a:bodyPr>
          <a:lstStyle/>
          <a:p>
            <a:r>
              <a:rPr lang="en-GB" dirty="0" smtClean="0"/>
              <a:t>A computer stores its files on a disk, and even though large disks may not have a single continuous block of empty space to hold a single file, computers ‘break up’ a file into little parts, or </a:t>
            </a:r>
            <a:r>
              <a:rPr lang="en-GB" b="1" dirty="0" smtClean="0">
                <a:solidFill>
                  <a:srgbClr val="FF0000"/>
                </a:solidFill>
              </a:rPr>
              <a:t>fragments</a:t>
            </a:r>
          </a:p>
          <a:p>
            <a:endParaRPr lang="en-GB" dirty="0" smtClean="0"/>
          </a:p>
          <a:p>
            <a:r>
              <a:rPr lang="en-GB" dirty="0" smtClean="0"/>
              <a:t>This means that a hard disk has to search for all the files until it can recreate the file on screen.</a:t>
            </a:r>
          </a:p>
          <a:p>
            <a:endParaRPr lang="en-GB" dirty="0" smtClean="0"/>
          </a:p>
          <a:p>
            <a:r>
              <a:rPr lang="en-US" dirty="0" smtClean="0"/>
              <a:t>Defragmentation speeds up saving and reading time when accessing files.</a:t>
            </a:r>
          </a:p>
          <a:p>
            <a:endParaRPr lang="en-GB" dirty="0"/>
          </a:p>
        </p:txBody>
      </p:sp>
      <p:grpSp>
        <p:nvGrpSpPr>
          <p:cNvPr id="13" name="Group 12"/>
          <p:cNvGrpSpPr/>
          <p:nvPr/>
        </p:nvGrpSpPr>
        <p:grpSpPr>
          <a:xfrm>
            <a:off x="6147012" y="1027906"/>
            <a:ext cx="3543300" cy="5114926"/>
            <a:chOff x="7414193" y="582614"/>
            <a:chExt cx="3543300" cy="5114926"/>
          </a:xfrm>
        </p:grpSpPr>
        <p:pic>
          <p:nvPicPr>
            <p:cNvPr id="6146" name="Picture 2" descr="Hard Drive - Openclipart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14193" y="582614"/>
              <a:ext cx="3543300" cy="51149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6643" y="853736"/>
              <a:ext cx="3038400" cy="3038400"/>
            </a:xfrm>
            <a:prstGeom prst="rect">
              <a:avLst/>
            </a:prstGeom>
          </p:spPr>
        </p:pic>
      </p:grpSp>
      <p:sp>
        <p:nvSpPr>
          <p:cNvPr id="14" name="Rectangle 13"/>
          <p:cNvSpPr/>
          <p:nvPr/>
        </p:nvSpPr>
        <p:spPr>
          <a:xfrm>
            <a:off x="6298038" y="404321"/>
            <a:ext cx="3241248" cy="5710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  <a:latin typeface="LEMON MILK" panose="00000500000000000000" pitchFamily="50" charset="0"/>
              </a:rPr>
              <a:t>Hard drive</a:t>
            </a:r>
            <a:endParaRPr lang="en-GB" dirty="0">
              <a:solidFill>
                <a:schemeClr val="tx1"/>
              </a:solidFill>
              <a:latin typeface="LEMON MILK" panose="00000500000000000000" pitchFamily="50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817100" y="1119642"/>
            <a:ext cx="2204434" cy="5710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  <a:latin typeface="LEMON MILK" panose="00000500000000000000" pitchFamily="50" charset="0"/>
              </a:rPr>
              <a:t>TRACK</a:t>
            </a:r>
            <a:endParaRPr lang="en-GB" dirty="0">
              <a:solidFill>
                <a:schemeClr val="tx1"/>
              </a:solidFill>
              <a:latin typeface="LEMON MILK" panose="00000500000000000000" pitchFamily="50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292" y="1299028"/>
            <a:ext cx="3038400" cy="3038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938" y="1299028"/>
            <a:ext cx="3038400" cy="30384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9817100" y="1874159"/>
            <a:ext cx="2216001" cy="5710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  <a:latin typeface="LEMON MILK" panose="00000500000000000000" pitchFamily="50" charset="0"/>
              </a:rPr>
              <a:t>Track sector</a:t>
            </a:r>
            <a:endParaRPr lang="en-GB" dirty="0">
              <a:solidFill>
                <a:schemeClr val="tx1"/>
              </a:solidFill>
              <a:latin typeface="LEMON MILK" panose="00000500000000000000" pitchFamily="50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817100" y="2638842"/>
            <a:ext cx="2204434" cy="5710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85DC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  <a:latin typeface="LEMON MILK" panose="00000500000000000000" pitchFamily="50" charset="0"/>
              </a:rPr>
              <a:t>Cluster</a:t>
            </a:r>
            <a:endParaRPr lang="en-GB" dirty="0">
              <a:solidFill>
                <a:schemeClr val="tx1"/>
              </a:solidFill>
              <a:latin typeface="LEMON MILK" panose="00000500000000000000" pitchFamily="50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768" y="1299028"/>
            <a:ext cx="3038400" cy="30384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768" y="1299028"/>
            <a:ext cx="3038400" cy="30384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9817100" y="3345714"/>
            <a:ext cx="2204434" cy="5710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  <a:latin typeface="LEMON MILK" panose="00000500000000000000" pitchFamily="50" charset="0"/>
              </a:rPr>
              <a:t>Disk Sector</a:t>
            </a:r>
            <a:endParaRPr lang="en-GB" dirty="0">
              <a:solidFill>
                <a:schemeClr val="tx1"/>
              </a:solidFill>
              <a:latin typeface="LEMON MILK" panose="00000500000000000000" pitchFamily="50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995178">
            <a:off x="6402715" y="1299028"/>
            <a:ext cx="3038400" cy="30384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9817100" y="4052586"/>
            <a:ext cx="2204434" cy="68451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  <a:latin typeface="LEMON MILK" panose="00000500000000000000" pitchFamily="50" charset="0"/>
              </a:rPr>
              <a:t>Fragmented Disk</a:t>
            </a:r>
            <a:endParaRPr lang="en-GB" dirty="0">
              <a:solidFill>
                <a:schemeClr val="tx1"/>
              </a:solidFill>
              <a:latin typeface="LEMON MILK" panose="00000500000000000000" pitchFamily="50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122" y="1291488"/>
            <a:ext cx="3036886" cy="3036886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817100" y="4872926"/>
            <a:ext cx="2216001" cy="68451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  <a:latin typeface="LEMON MILK" panose="00000500000000000000" pitchFamily="50" charset="0"/>
              </a:rPr>
              <a:t>Defragmented Disk</a:t>
            </a:r>
            <a:endParaRPr lang="en-GB" dirty="0">
              <a:solidFill>
                <a:schemeClr val="tx1"/>
              </a:solidFill>
              <a:latin typeface="LEMON MILK" panose="00000500000000000000" pitchFamily="50" charset="0"/>
            </a:endParaRPr>
          </a:p>
        </p:txBody>
      </p:sp>
      <p:pic>
        <p:nvPicPr>
          <p:cNvPr id="7" name="Picture 2" descr="Hard Drive - Openclipart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532"/>
          <a:stretch/>
        </p:blipFill>
        <p:spPr bwMode="auto">
          <a:xfrm>
            <a:off x="6147012" y="3415505"/>
            <a:ext cx="3543300" cy="273486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6298038" y="6243790"/>
            <a:ext cx="2134762" cy="525310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  <a:latin typeface="LEMON MILK" panose="00000500000000000000" pitchFamily="50" charset="0"/>
              </a:rPr>
              <a:t>The Drive head</a:t>
            </a:r>
            <a:endParaRPr lang="en-GB" dirty="0">
              <a:solidFill>
                <a:schemeClr val="tx1"/>
              </a:solidFill>
              <a:latin typeface="LEMON MILK" panose="00000500000000000000" pitchFamily="50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7531100" y="4421188"/>
            <a:ext cx="317500" cy="182260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52400" y="161926"/>
            <a:ext cx="1619250" cy="2031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accent2">
                    <a:lumMod val="50000"/>
                  </a:schemeClr>
                </a:solidFill>
                <a:latin typeface="LEMON MILK" panose="00000500000000000000" pitchFamily="50" charset="0"/>
              </a:rPr>
              <a:t>System Software</a:t>
            </a:r>
            <a:endParaRPr lang="en-GB" sz="1100" dirty="0">
              <a:solidFill>
                <a:schemeClr val="accent2">
                  <a:lumMod val="50000"/>
                </a:schemeClr>
              </a:solidFill>
              <a:latin typeface="LEMON MILK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925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Defragmentation</a:t>
            </a:r>
            <a:endParaRPr lang="en-GB" dirty="0"/>
          </a:p>
        </p:txBody>
      </p:sp>
      <p:sp>
        <p:nvSpPr>
          <p:cNvPr id="4" name="Rounded Rectangle 3"/>
          <p:cNvSpPr/>
          <p:nvPr/>
        </p:nvSpPr>
        <p:spPr>
          <a:xfrm>
            <a:off x="152400" y="161926"/>
            <a:ext cx="1619250" cy="2031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accent2">
                    <a:lumMod val="50000"/>
                  </a:schemeClr>
                </a:solidFill>
                <a:latin typeface="LEMON MILK" panose="00000500000000000000" pitchFamily="50" charset="0"/>
              </a:rPr>
              <a:t>System Software</a:t>
            </a:r>
            <a:endParaRPr lang="en-GB" sz="1100" dirty="0">
              <a:solidFill>
                <a:schemeClr val="accent2">
                  <a:lumMod val="50000"/>
                </a:schemeClr>
              </a:solidFill>
              <a:latin typeface="LEMON MILK" panose="00000500000000000000" pitchFamily="50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xmlns="" id="{CE292AD1-DC77-44D9-8BC6-17849E090E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3046863"/>
              </p:ext>
            </p:extLst>
          </p:nvPr>
        </p:nvGraphicFramePr>
        <p:xfrm>
          <a:off x="351639" y="4390867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xmlns="" val="71963307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xmlns="" val="375381537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xmlns="" val="269977985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xmlns="" val="71394276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xmlns="" val="279009084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xmlns="" val="143813548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xmlns="" val="357237963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xmlns="" val="348218872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xmlns="" val="214520822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xmlns="" val="745141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A7C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A7C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A7C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A7C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B1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B2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B3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B4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&lt;FREE&gt;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&lt;FREE&gt;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22601126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xmlns="" id="{4B596ACA-86F7-4796-93BC-FCE38ABF319F}"/>
              </a:ext>
            </a:extLst>
          </p:cNvPr>
          <p:cNvSpPr/>
          <p:nvPr/>
        </p:nvSpPr>
        <p:spPr>
          <a:xfrm>
            <a:off x="8086987" y="3850547"/>
            <a:ext cx="3145872" cy="149940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xmlns="" id="{D7276E9B-F781-4BEA-BEA4-9CCED86CA8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6288909"/>
              </p:ext>
            </p:extLst>
          </p:nvPr>
        </p:nvGraphicFramePr>
        <p:xfrm>
          <a:off x="351639" y="2096294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xmlns="" val="71963307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xmlns="" val="375381537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xmlns="" val="269977985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xmlns="" val="71394276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xmlns="" val="279009084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xmlns="" val="143813548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xmlns="" val="357237963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xmlns="" val="348218872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xmlns="" val="214520822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xmlns="" val="745141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A7C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B3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A7C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A7C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B2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A7C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&lt;FREE&gt;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B1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B4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&lt;FREE&gt;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22601126"/>
                  </a:ext>
                </a:extLst>
              </a:tr>
            </a:tbl>
          </a:graphicData>
        </a:graphic>
      </p:graphicFrame>
      <p:sp>
        <p:nvSpPr>
          <p:cNvPr id="9" name="Arrow: Curved Up 6">
            <a:extLst>
              <a:ext uri="{FF2B5EF4-FFF2-40B4-BE49-F238E27FC236}">
                <a16:creationId xmlns:a16="http://schemas.microsoft.com/office/drawing/2014/main" xmlns="" id="{E1295E5E-D0F4-409A-9637-3C9490CF4F17}"/>
              </a:ext>
            </a:extLst>
          </p:cNvPr>
          <p:cNvSpPr/>
          <p:nvPr/>
        </p:nvSpPr>
        <p:spPr>
          <a:xfrm>
            <a:off x="838200" y="2604035"/>
            <a:ext cx="2072780" cy="478173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Arrow: Curved Up 7">
            <a:extLst>
              <a:ext uri="{FF2B5EF4-FFF2-40B4-BE49-F238E27FC236}">
                <a16:creationId xmlns:a16="http://schemas.microsoft.com/office/drawing/2014/main" xmlns="" id="{4339F45A-6974-48DD-9FE5-6A75AC1F0CE1}"/>
              </a:ext>
            </a:extLst>
          </p:cNvPr>
          <p:cNvSpPr/>
          <p:nvPr/>
        </p:nvSpPr>
        <p:spPr>
          <a:xfrm>
            <a:off x="3002209" y="2604035"/>
            <a:ext cx="3591538" cy="478173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Arrow: Curved Up 8">
            <a:extLst>
              <a:ext uri="{FF2B5EF4-FFF2-40B4-BE49-F238E27FC236}">
                <a16:creationId xmlns:a16="http://schemas.microsoft.com/office/drawing/2014/main" xmlns="" id="{6AAAEEC9-EC97-4F11-AFCB-E865345DF9EA}"/>
              </a:ext>
            </a:extLst>
          </p:cNvPr>
          <p:cNvSpPr/>
          <p:nvPr/>
        </p:nvSpPr>
        <p:spPr>
          <a:xfrm flipH="1">
            <a:off x="3947020" y="2547197"/>
            <a:ext cx="2072780" cy="32554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Arrow: Curved Up 9">
            <a:extLst>
              <a:ext uri="{FF2B5EF4-FFF2-40B4-BE49-F238E27FC236}">
                <a16:creationId xmlns:a16="http://schemas.microsoft.com/office/drawing/2014/main" xmlns="" id="{A2B6B31F-153E-446C-B88B-A97F19C457F1}"/>
              </a:ext>
            </a:extLst>
          </p:cNvPr>
          <p:cNvSpPr/>
          <p:nvPr/>
        </p:nvSpPr>
        <p:spPr>
          <a:xfrm>
            <a:off x="595968" y="4871783"/>
            <a:ext cx="1200674" cy="478173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Arrow: Curved Up 10">
            <a:extLst>
              <a:ext uri="{FF2B5EF4-FFF2-40B4-BE49-F238E27FC236}">
                <a16:creationId xmlns:a16="http://schemas.microsoft.com/office/drawing/2014/main" xmlns="" id="{8FBCE68F-7E3A-4072-A3BF-7BF2D9E5CF49}"/>
              </a:ext>
            </a:extLst>
          </p:cNvPr>
          <p:cNvSpPr/>
          <p:nvPr/>
        </p:nvSpPr>
        <p:spPr>
          <a:xfrm>
            <a:off x="1874590" y="4871782"/>
            <a:ext cx="1200674" cy="478173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Arrow: Curved Up 11">
            <a:extLst>
              <a:ext uri="{FF2B5EF4-FFF2-40B4-BE49-F238E27FC236}">
                <a16:creationId xmlns:a16="http://schemas.microsoft.com/office/drawing/2014/main" xmlns="" id="{2B53554B-B4C4-4F6A-95E5-6F3D2D4446AD}"/>
              </a:ext>
            </a:extLst>
          </p:cNvPr>
          <p:cNvSpPr/>
          <p:nvPr/>
        </p:nvSpPr>
        <p:spPr>
          <a:xfrm>
            <a:off x="3153212" y="4871782"/>
            <a:ext cx="1200674" cy="478173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6427693" y="1244529"/>
            <a:ext cx="1004047" cy="73365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7270A38F-6C74-4E1C-9354-A1A5A03744BE}"/>
              </a:ext>
            </a:extLst>
          </p:cNvPr>
          <p:cNvSpPr txBox="1"/>
          <p:nvPr/>
        </p:nvSpPr>
        <p:spPr>
          <a:xfrm>
            <a:off x="7517142" y="657135"/>
            <a:ext cx="2887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95000"/>
                  </a:schemeClr>
                </a:solidFill>
              </a:rPr>
              <a:t>Block in memory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7490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3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Task Scheduling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The operating system </a:t>
            </a:r>
            <a:r>
              <a:rPr lang="en-GB" dirty="0">
                <a:solidFill>
                  <a:srgbClr val="FFFF00"/>
                </a:solidFill>
              </a:rPr>
              <a:t>schedules programs to run at particular times</a:t>
            </a: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  <a:p>
            <a:pPr lvl="1"/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For example, you may set some programs to run every week / once a day, or even launch programs on start up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Task scheduling might be set to </a:t>
            </a:r>
            <a:r>
              <a:rPr lang="en-GB" dirty="0" err="1" smtClean="0">
                <a:solidFill>
                  <a:srgbClr val="FFFF00"/>
                </a:solidFill>
              </a:rPr>
              <a:t>autorun</a:t>
            </a:r>
            <a:r>
              <a:rPr lang="en-GB" dirty="0" smtClean="0">
                <a:solidFill>
                  <a:srgbClr val="FFFF00"/>
                </a:solidFill>
              </a:rPr>
              <a:t> </a:t>
            </a:r>
            <a:r>
              <a:rPr lang="en-GB" dirty="0">
                <a:solidFill>
                  <a:srgbClr val="FFFF00"/>
                </a:solidFill>
              </a:rPr>
              <a:t>a program at a set time</a:t>
            </a:r>
          </a:p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It can give you an alert message before executing a </a:t>
            </a:r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job</a:t>
            </a:r>
          </a:p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These tasks might be to </a:t>
            </a:r>
            <a:r>
              <a:rPr lang="en-GB" dirty="0" smtClean="0">
                <a:solidFill>
                  <a:srgbClr val="FFFF00"/>
                </a:solidFill>
              </a:rPr>
              <a:t>run virus checks or backups/updates </a:t>
            </a:r>
            <a:r>
              <a:rPr lang="en-GB" dirty="0" err="1" smtClean="0">
                <a:solidFill>
                  <a:schemeClr val="bg1">
                    <a:lumMod val="95000"/>
                  </a:schemeClr>
                </a:solidFill>
              </a:rPr>
              <a:t>etc</a:t>
            </a:r>
            <a:endParaRPr lang="en-GB" dirty="0">
              <a:solidFill>
                <a:schemeClr val="bg1">
                  <a:lumMod val="95000"/>
                </a:schemeClr>
              </a:solidFill>
            </a:endParaRPr>
          </a:p>
          <a:p>
            <a:endParaRPr lang="en-GB" dirty="0"/>
          </a:p>
        </p:txBody>
      </p:sp>
      <p:sp>
        <p:nvSpPr>
          <p:cNvPr id="4" name="Rounded Rectangle 3"/>
          <p:cNvSpPr/>
          <p:nvPr/>
        </p:nvSpPr>
        <p:spPr>
          <a:xfrm>
            <a:off x="152400" y="161926"/>
            <a:ext cx="1619250" cy="2031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accent2">
                    <a:lumMod val="50000"/>
                  </a:schemeClr>
                </a:solidFill>
                <a:latin typeface="LEMON MILK" panose="00000500000000000000" pitchFamily="50" charset="0"/>
              </a:rPr>
              <a:t>System Software</a:t>
            </a:r>
            <a:endParaRPr lang="en-GB" sz="1100" dirty="0">
              <a:solidFill>
                <a:schemeClr val="accent2">
                  <a:lumMod val="50000"/>
                </a:schemeClr>
              </a:solidFill>
              <a:latin typeface="LEMON MILK" panose="00000500000000000000" pitchFamily="50" charset="0"/>
            </a:endParaRPr>
          </a:p>
        </p:txBody>
      </p:sp>
      <p:pic>
        <p:nvPicPr>
          <p:cNvPr id="5" name="Picture 4" descr="Image result for your pc will restart in">
            <a:extLst>
              <a:ext uri="{FF2B5EF4-FFF2-40B4-BE49-F238E27FC236}">
                <a16:creationId xmlns:a16="http://schemas.microsoft.com/office/drawing/2014/main" xmlns="" id="{CEDDD468-4BC8-4C35-ACD9-565C91EA8A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50" b="24044"/>
          <a:stretch/>
        </p:blipFill>
        <p:spPr bwMode="auto">
          <a:xfrm>
            <a:off x="5648325" y="4986034"/>
            <a:ext cx="6057900" cy="1688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6227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7175" y="238125"/>
            <a:ext cx="11687175" cy="64198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Data Backup and Restore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 can be backup up to other hard disks, magnetic tape or to servers on the internet (</a:t>
            </a:r>
            <a:r>
              <a:rPr lang="en-GB" dirty="0">
                <a:solidFill>
                  <a:srgbClr val="FF0000"/>
                </a:solidFill>
              </a:rPr>
              <a:t>cloud backup</a:t>
            </a:r>
            <a:r>
              <a:rPr lang="en-GB" dirty="0"/>
              <a:t>)</a:t>
            </a:r>
          </a:p>
          <a:p>
            <a:r>
              <a:rPr lang="en-GB" dirty="0"/>
              <a:t>When everything on a hard disk is backed up, it is known as a </a:t>
            </a:r>
            <a:r>
              <a:rPr lang="en-GB" dirty="0">
                <a:solidFill>
                  <a:srgbClr val="FF0000"/>
                </a:solidFill>
              </a:rPr>
              <a:t>full backup</a:t>
            </a:r>
          </a:p>
          <a:p>
            <a:r>
              <a:rPr lang="en-GB" dirty="0"/>
              <a:t>This will take a long time, and so we may choose to only backup the data when it has changed. This is called an </a:t>
            </a:r>
            <a:r>
              <a:rPr lang="en-GB" dirty="0">
                <a:solidFill>
                  <a:srgbClr val="FF0000"/>
                </a:solidFill>
              </a:rPr>
              <a:t>incremental backup</a:t>
            </a:r>
          </a:p>
          <a:p>
            <a:endParaRPr lang="en-GB" dirty="0"/>
          </a:p>
        </p:txBody>
      </p:sp>
      <p:sp>
        <p:nvSpPr>
          <p:cNvPr id="4" name="Rounded Rectangle 3"/>
          <p:cNvSpPr/>
          <p:nvPr/>
        </p:nvSpPr>
        <p:spPr>
          <a:xfrm>
            <a:off x="152400" y="161926"/>
            <a:ext cx="1619250" cy="2031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accent2">
                    <a:lumMod val="50000"/>
                  </a:schemeClr>
                </a:solidFill>
                <a:latin typeface="LEMON MILK" panose="00000500000000000000" pitchFamily="50" charset="0"/>
              </a:rPr>
              <a:t>System Software</a:t>
            </a:r>
            <a:endParaRPr lang="en-GB" sz="1100" dirty="0">
              <a:solidFill>
                <a:schemeClr val="accent2">
                  <a:lumMod val="50000"/>
                </a:schemeClr>
              </a:solidFill>
              <a:latin typeface="LEMON MILK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815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Quick Question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06100" cy="2331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Q. Why do we need to backup our data?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Ans. We need to backup our data in case it gets damaged, lost or stolen. 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We </a:t>
            </a:r>
            <a:r>
              <a:rPr lang="en-GB" dirty="0"/>
              <a:t>should keep a backup in case</a:t>
            </a:r>
            <a:r>
              <a:rPr lang="en-GB" dirty="0" smtClean="0"/>
              <a:t>:</a:t>
            </a:r>
            <a:endParaRPr lang="en-GB" dirty="0"/>
          </a:p>
        </p:txBody>
      </p:sp>
      <p:grpSp>
        <p:nvGrpSpPr>
          <p:cNvPr id="7" name="Group 6"/>
          <p:cNvGrpSpPr/>
          <p:nvPr/>
        </p:nvGrpSpPr>
        <p:grpSpPr>
          <a:xfrm>
            <a:off x="6688135" y="3982918"/>
            <a:ext cx="1622425" cy="1965544"/>
            <a:chOff x="6688135" y="3982918"/>
            <a:chExt cx="1622425" cy="1965544"/>
          </a:xfrm>
        </p:grpSpPr>
        <p:pic>
          <p:nvPicPr>
            <p:cNvPr id="7170" name="Picture 2" descr="Free Vectors | HDD failure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39742" y="3982918"/>
              <a:ext cx="1319213" cy="13192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6688135" y="5302131"/>
              <a:ext cx="16224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latin typeface="LEMON MILK" panose="00000500000000000000" pitchFamily="50" charset="0"/>
                </a:rPr>
                <a:t>The hard drive fails</a:t>
              </a:r>
              <a:endParaRPr lang="en-GB" dirty="0">
                <a:latin typeface="LEMON MILK" panose="00000500000000000000" pitchFamily="50" charset="0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518685" y="4140780"/>
            <a:ext cx="2281240" cy="1807682"/>
            <a:chOff x="3518685" y="4140780"/>
            <a:chExt cx="2281240" cy="1807682"/>
          </a:xfrm>
        </p:grpSpPr>
        <p:pic>
          <p:nvPicPr>
            <p:cNvPr id="7172" name="Picture 4" descr="11,420 Infected Pc Royalty-Free Images, Stock Photos &amp; Pictures |  Shutterstock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9167"/>
            <a:stretch/>
          </p:blipFill>
          <p:spPr bwMode="auto">
            <a:xfrm>
              <a:off x="3688548" y="4140780"/>
              <a:ext cx="1847850" cy="11216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3518685" y="5302131"/>
              <a:ext cx="22812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latin typeface="LEMON MILK" panose="00000500000000000000" pitchFamily="50" charset="0"/>
                </a:rPr>
                <a:t>A virus infects the data</a:t>
              </a:r>
              <a:endParaRPr lang="en-GB" dirty="0">
                <a:latin typeface="LEMON MILK" panose="00000500000000000000" pitchFamily="50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0" y="4384610"/>
            <a:ext cx="3260718" cy="2111271"/>
            <a:chOff x="0" y="4384610"/>
            <a:chExt cx="3260718" cy="2111271"/>
          </a:xfrm>
        </p:grpSpPr>
        <p:pic>
          <p:nvPicPr>
            <p:cNvPr id="7174" name="Picture 6" descr="Delete data throw in trash | Premium Vector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3247" y="4384610"/>
              <a:ext cx="2054225" cy="17129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/>
            <p:cNvSpPr txBox="1"/>
            <p:nvPr/>
          </p:nvSpPr>
          <p:spPr>
            <a:xfrm>
              <a:off x="0" y="5849550"/>
              <a:ext cx="32607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latin typeface="LEMON MILK" panose="00000500000000000000" pitchFamily="50" charset="0"/>
                </a:rPr>
                <a:t>Users accidentally delete the data</a:t>
              </a:r>
              <a:endParaRPr lang="en-GB" dirty="0">
                <a:latin typeface="LEMON MILK" panose="00000500000000000000" pitchFamily="50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8596312" y="4397067"/>
            <a:ext cx="3595688" cy="2205223"/>
            <a:chOff x="8596312" y="4397067"/>
            <a:chExt cx="3595688" cy="2205223"/>
          </a:xfrm>
        </p:grpSpPr>
        <p:pic>
          <p:nvPicPr>
            <p:cNvPr id="7176" name="Picture 8" descr="5,692 Server On Fire Royalty-Free Images, Stock Photos &amp; Pictures |  Shutterstock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548"/>
            <a:stretch/>
          </p:blipFill>
          <p:spPr bwMode="auto">
            <a:xfrm>
              <a:off x="9595644" y="4397067"/>
              <a:ext cx="1597025" cy="1331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/>
            <p:cNvSpPr txBox="1"/>
            <p:nvPr/>
          </p:nvSpPr>
          <p:spPr>
            <a:xfrm>
              <a:off x="8596312" y="5955959"/>
              <a:ext cx="35956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latin typeface="LEMON MILK" panose="00000500000000000000" pitchFamily="50" charset="0"/>
                </a:rPr>
                <a:t>A fire destroys the data storage facility</a:t>
              </a:r>
              <a:endParaRPr lang="en-GB" dirty="0">
                <a:latin typeface="LEMON MILK" panose="00000500000000000000" pitchFamily="50" charset="0"/>
              </a:endParaRPr>
            </a:p>
          </p:txBody>
        </p:sp>
      </p:grpSp>
      <p:sp>
        <p:nvSpPr>
          <p:cNvPr id="12" name="Rounded Rectangular Callout 11"/>
          <p:cNvSpPr/>
          <p:nvPr/>
        </p:nvSpPr>
        <p:spPr>
          <a:xfrm>
            <a:off x="603247" y="1598483"/>
            <a:ext cx="11144250" cy="928687"/>
          </a:xfrm>
          <a:prstGeom prst="wedgeRoundRectCallout">
            <a:avLst>
              <a:gd name="adj1" fmla="val -53397"/>
              <a:gd name="adj2" fmla="val 33782"/>
              <a:gd name="adj3" fmla="val 16667"/>
            </a:avLst>
          </a:prstGeom>
          <a:noFill/>
          <a:ln w="57150">
            <a:solidFill>
              <a:srgbClr val="602C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595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Anti-Virus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5612" y="365125"/>
            <a:ext cx="3333750" cy="2457450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174" y="1062348"/>
            <a:ext cx="4095750" cy="29527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94" y="3213994"/>
            <a:ext cx="4752975" cy="27908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526" y="2443942"/>
            <a:ext cx="5105535" cy="321996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1115174"/>
            <a:ext cx="3810000" cy="1752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91617" l="10000" r="90000">
                        <a14:foregroundMark x1="41333" y1="53892" x2="42000" y2="32635"/>
                        <a14:foregroundMark x1="55500" y1="7186" x2="62667" y2="3593"/>
                        <a14:foregroundMark x1="66500" y1="6587" x2="74167" y2="13174"/>
                        <a14:foregroundMark x1="85167" y1="61078" x2="85000" y2="48503"/>
                        <a14:foregroundMark x1="76833" y1="91018" x2="75833" y2="91617"/>
                        <a14:foregroundMark x1="81333" y1="29940" x2="78667" y2="20359"/>
                        <a14:foregroundMark x1="77333" y1="18563" x2="65167" y2="479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612" y="1429412"/>
            <a:ext cx="5715000" cy="318135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52400" y="161926"/>
            <a:ext cx="1619250" cy="2031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accent2">
                    <a:lumMod val="50000"/>
                  </a:schemeClr>
                </a:solidFill>
                <a:latin typeface="LEMON MILK" panose="00000500000000000000" pitchFamily="50" charset="0"/>
              </a:rPr>
              <a:t>System Software</a:t>
            </a:r>
            <a:endParaRPr lang="en-GB" sz="1100" dirty="0">
              <a:solidFill>
                <a:schemeClr val="accent2">
                  <a:lumMod val="50000"/>
                </a:schemeClr>
              </a:solidFill>
              <a:latin typeface="LEMON MILK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899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xit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" presetClass="exit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" presetClass="exit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" presetClass="exit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3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Anti-Virus</a:t>
            </a:r>
            <a:endParaRPr lang="en-GB" dirty="0"/>
          </a:p>
        </p:txBody>
      </p:sp>
      <p:sp>
        <p:nvSpPr>
          <p:cNvPr id="4" name="Rounded Rectangle 3"/>
          <p:cNvSpPr/>
          <p:nvPr/>
        </p:nvSpPr>
        <p:spPr>
          <a:xfrm>
            <a:off x="152400" y="161926"/>
            <a:ext cx="1619250" cy="2031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accent2">
                    <a:lumMod val="50000"/>
                  </a:schemeClr>
                </a:solidFill>
                <a:latin typeface="LEMON MILK" panose="00000500000000000000" pitchFamily="50" charset="0"/>
              </a:rPr>
              <a:t>System Software</a:t>
            </a:r>
            <a:endParaRPr lang="en-GB" sz="1100" dirty="0">
              <a:solidFill>
                <a:schemeClr val="accent2">
                  <a:lumMod val="50000"/>
                </a:schemeClr>
              </a:solidFill>
              <a:latin typeface="LEMON MILK" panose="00000500000000000000" pitchFamily="50" charset="0"/>
            </a:endParaRPr>
          </a:p>
        </p:txBody>
      </p:sp>
      <p:sp>
        <p:nvSpPr>
          <p:cNvPr id="6" name="Rounded Rectangular Callout 5"/>
          <p:cNvSpPr/>
          <p:nvPr/>
        </p:nvSpPr>
        <p:spPr>
          <a:xfrm>
            <a:off x="457200" y="1690688"/>
            <a:ext cx="4432300" cy="1547812"/>
          </a:xfrm>
          <a:prstGeom prst="wedgeRoundRectCallout">
            <a:avLst>
              <a:gd name="adj1" fmla="val -58082"/>
              <a:gd name="adj2" fmla="val 34603"/>
              <a:gd name="adj3" fmla="val 16667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 smtClean="0">
                <a:solidFill>
                  <a:schemeClr val="tx1"/>
                </a:solidFill>
                <a:latin typeface="Ink Free" panose="03080402000500000000" pitchFamily="66" charset="0"/>
              </a:rPr>
              <a:t>Is it important to keep software up to date?</a:t>
            </a:r>
            <a:endParaRPr lang="en-GB" sz="28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7" name="Rounded Rectangular Callout 6"/>
          <p:cNvSpPr/>
          <p:nvPr/>
        </p:nvSpPr>
        <p:spPr>
          <a:xfrm flipH="1">
            <a:off x="4909343" y="3375423"/>
            <a:ext cx="6489700" cy="2093912"/>
          </a:xfrm>
          <a:prstGeom prst="wedgeRoundRectCallout">
            <a:avLst>
              <a:gd name="adj1" fmla="val -58082"/>
              <a:gd name="adj2" fmla="val 34603"/>
              <a:gd name="adj3" fmla="val 16667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Ink Free" panose="03080402000500000000" pitchFamily="66" charset="0"/>
              </a:rPr>
              <a:t>New viruses are created all the time to take advantage of security flaws in software. Software updates often ‘patch’ these security </a:t>
            </a:r>
            <a:r>
              <a:rPr lang="en-GB" sz="2800" dirty="0" smtClean="0">
                <a:solidFill>
                  <a:schemeClr val="tx1"/>
                </a:solidFill>
                <a:latin typeface="Ink Free" panose="03080402000500000000" pitchFamily="66" charset="0"/>
              </a:rPr>
              <a:t>risks.</a:t>
            </a:r>
            <a:endParaRPr lang="en-GB" sz="28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6616700" y="161926"/>
            <a:ext cx="5422900" cy="1057275"/>
            <a:chOff x="6375400" y="365125"/>
            <a:chExt cx="5422900" cy="1057275"/>
          </a:xfrm>
        </p:grpSpPr>
        <p:sp>
          <p:nvSpPr>
            <p:cNvPr id="8" name="Rectangle 7"/>
            <p:cNvSpPr/>
            <p:nvPr/>
          </p:nvSpPr>
          <p:spPr>
            <a:xfrm>
              <a:off x="6375400" y="365125"/>
              <a:ext cx="5422900" cy="105727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F072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79500" lvl="1"/>
              <a:r>
                <a:rPr lang="en-GB" dirty="0">
                  <a:solidFill>
                    <a:schemeClr val="tx1"/>
                  </a:solidFill>
                </a:rPr>
                <a:t>A virus is a malicious software program designed to copy itself onto a computer in order to obtain, alter or delete stored data</a:t>
              </a:r>
            </a:p>
          </p:txBody>
        </p:sp>
        <p:pic>
          <p:nvPicPr>
            <p:cNvPr id="10242" name="Picture 2" descr="Dictionary - Free education icons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2400" y="492918"/>
              <a:ext cx="801687" cy="8016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oup 10"/>
          <p:cNvGrpSpPr/>
          <p:nvPr/>
        </p:nvGrpSpPr>
        <p:grpSpPr>
          <a:xfrm>
            <a:off x="152400" y="5611019"/>
            <a:ext cx="5422900" cy="1057275"/>
            <a:chOff x="6375400" y="365125"/>
            <a:chExt cx="5422900" cy="1057275"/>
          </a:xfrm>
        </p:grpSpPr>
        <p:sp>
          <p:nvSpPr>
            <p:cNvPr id="12" name="Rectangle 11"/>
            <p:cNvSpPr/>
            <p:nvPr/>
          </p:nvSpPr>
          <p:spPr>
            <a:xfrm>
              <a:off x="6375400" y="365125"/>
              <a:ext cx="5422900" cy="105727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F072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79500" lvl="1"/>
              <a:r>
                <a:rPr lang="en-GB" dirty="0" smtClean="0">
                  <a:solidFill>
                    <a:schemeClr val="tx1"/>
                  </a:solidFill>
                </a:rPr>
                <a:t>Antivirus is a piece of utility software that is responsible for detecting, blocking and quarantining computer viruses.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pic>
          <p:nvPicPr>
            <p:cNvPr id="13" name="Picture 2" descr="Dictionary - Free education icons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2400" y="492918"/>
              <a:ext cx="801687" cy="8016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37489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5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Application Software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89200"/>
          </a:xfrm>
        </p:spPr>
        <p:txBody>
          <a:bodyPr/>
          <a:lstStyle/>
          <a:p>
            <a:r>
              <a:rPr lang="en-GB" dirty="0" smtClean="0"/>
              <a:t>Application software is a </a:t>
            </a:r>
            <a:r>
              <a:rPr lang="en-GB" dirty="0"/>
              <a:t>program or set of programs designed to perform specific user-oriented tasks, allowing the end user to complete daily activities, solve problems, or process </a:t>
            </a:r>
            <a:r>
              <a:rPr lang="en-GB" dirty="0" smtClean="0"/>
              <a:t>data.</a:t>
            </a:r>
          </a:p>
          <a:p>
            <a:endParaRPr lang="en-GB" dirty="0"/>
          </a:p>
          <a:p>
            <a:r>
              <a:rPr lang="en-GB" dirty="0" smtClean="0"/>
              <a:t>It is built to complete certain jobs, including:</a:t>
            </a:r>
          </a:p>
          <a:p>
            <a:pPr lvl="1"/>
            <a:endParaRPr lang="en-GB" dirty="0"/>
          </a:p>
        </p:txBody>
      </p:sp>
      <p:sp>
        <p:nvSpPr>
          <p:cNvPr id="6" name="Rounded Rectangle 5"/>
          <p:cNvSpPr/>
          <p:nvPr/>
        </p:nvSpPr>
        <p:spPr>
          <a:xfrm>
            <a:off x="152400" y="161926"/>
            <a:ext cx="2120900" cy="20319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accent2">
                    <a:lumMod val="50000"/>
                  </a:schemeClr>
                </a:solidFill>
                <a:latin typeface="LEMON MILK" panose="00000500000000000000" pitchFamily="50" charset="0"/>
              </a:rPr>
              <a:t>Application Software</a:t>
            </a:r>
            <a:endParaRPr lang="en-GB" sz="1100" dirty="0">
              <a:solidFill>
                <a:schemeClr val="accent2">
                  <a:lumMod val="50000"/>
                </a:schemeClr>
              </a:solidFill>
              <a:latin typeface="LEMON MILK" panose="00000500000000000000" pitchFamily="50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333895" y="4245968"/>
            <a:ext cx="2281240" cy="1566486"/>
            <a:chOff x="1333895" y="4245968"/>
            <a:chExt cx="2281240" cy="1566486"/>
          </a:xfrm>
        </p:grpSpPr>
        <p:pic>
          <p:nvPicPr>
            <p:cNvPr id="2050" name="Picture 2" descr="Word processing - Free computer icons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3900" y="4245968"/>
              <a:ext cx="961231" cy="961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/>
            <p:cNvSpPr txBox="1"/>
            <p:nvPr/>
          </p:nvSpPr>
          <p:spPr>
            <a:xfrm>
              <a:off x="1333895" y="5166123"/>
              <a:ext cx="22812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latin typeface="LEMON MILK" panose="00000500000000000000" pitchFamily="50" charset="0"/>
                </a:rPr>
                <a:t>Word processing</a:t>
              </a:r>
              <a:endParaRPr lang="en-GB" dirty="0">
                <a:latin typeface="LEMON MILK" panose="00000500000000000000" pitchFamily="50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615135" y="5020469"/>
            <a:ext cx="2281240" cy="1643283"/>
            <a:chOff x="3615135" y="5020469"/>
            <a:chExt cx="2281240" cy="1643283"/>
          </a:xfrm>
        </p:grpSpPr>
        <p:pic>
          <p:nvPicPr>
            <p:cNvPr id="2054" name="Picture 6" descr="Spreadsheet - Free business icons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0224" y="5020469"/>
              <a:ext cx="931069" cy="9310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/>
            <p:cNvSpPr txBox="1"/>
            <p:nvPr/>
          </p:nvSpPr>
          <p:spPr>
            <a:xfrm>
              <a:off x="3615135" y="6017421"/>
              <a:ext cx="22812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latin typeface="LEMON MILK" panose="00000500000000000000" pitchFamily="50" charset="0"/>
                </a:rPr>
                <a:t>Spreadsheet Applications</a:t>
              </a:r>
              <a:endParaRPr lang="en-GB" dirty="0">
                <a:latin typeface="LEMON MILK" panose="00000500000000000000" pitchFamily="50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992810" y="4154289"/>
            <a:ext cx="2281240" cy="1790918"/>
            <a:chOff x="5992810" y="4154289"/>
            <a:chExt cx="2281240" cy="1790918"/>
          </a:xfrm>
        </p:grpSpPr>
        <p:pic>
          <p:nvPicPr>
            <p:cNvPr id="2052" name="Picture 4" descr="Database - Free seo and web icons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1137" y="4154289"/>
              <a:ext cx="1144587" cy="11445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/>
            <p:cNvSpPr txBox="1"/>
            <p:nvPr/>
          </p:nvSpPr>
          <p:spPr>
            <a:xfrm>
              <a:off x="5992810" y="5298876"/>
              <a:ext cx="22812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latin typeface="LEMON MILK" panose="00000500000000000000" pitchFamily="50" charset="0"/>
                </a:rPr>
                <a:t>Database Applications</a:t>
              </a:r>
              <a:endParaRPr lang="en-GB" dirty="0">
                <a:latin typeface="LEMON MILK" panose="00000500000000000000" pitchFamily="50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8615759" y="5018088"/>
            <a:ext cx="2281240" cy="1833363"/>
            <a:chOff x="8615759" y="5018088"/>
            <a:chExt cx="2281240" cy="1833363"/>
          </a:xfrm>
        </p:grpSpPr>
        <p:pic>
          <p:nvPicPr>
            <p:cNvPr id="2056" name="Picture 8" descr="Video game - Free computer icons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30507" y="5018088"/>
              <a:ext cx="1251744" cy="12517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/>
            <p:cNvSpPr txBox="1"/>
            <p:nvPr/>
          </p:nvSpPr>
          <p:spPr>
            <a:xfrm>
              <a:off x="8615759" y="6205120"/>
              <a:ext cx="22812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latin typeface="LEMON MILK" panose="00000500000000000000" pitchFamily="50" charset="0"/>
                </a:rPr>
                <a:t>Computer Games</a:t>
              </a:r>
              <a:endParaRPr lang="en-GB" dirty="0">
                <a:latin typeface="LEMON MILK" panose="00000500000000000000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8542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0"/>
              </a:schemeClr>
            </a:gs>
            <a:gs pos="79000">
              <a:schemeClr val="accent1">
                <a:lumMod val="50000"/>
              </a:schemeClr>
            </a:gs>
            <a:gs pos="42000">
              <a:schemeClr val="accent5">
                <a:lumMod val="75000"/>
              </a:schemeClr>
            </a:gs>
            <a:gs pos="100000">
              <a:schemeClr val="tx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Packaged Vs Tailored Software</a:t>
            </a:r>
            <a:endParaRPr lang="en-GB" dirty="0"/>
          </a:p>
        </p:txBody>
      </p:sp>
      <p:sp>
        <p:nvSpPr>
          <p:cNvPr id="4" name="Rounded Rectangle 3"/>
          <p:cNvSpPr/>
          <p:nvPr/>
        </p:nvSpPr>
        <p:spPr>
          <a:xfrm>
            <a:off x="152400" y="161926"/>
            <a:ext cx="2120900" cy="20319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>
                <a:solidFill>
                  <a:schemeClr val="accent2">
                    <a:lumMod val="50000"/>
                  </a:schemeClr>
                </a:solidFill>
                <a:latin typeface="LEMON MILK" panose="00000500000000000000" pitchFamily="50" charset="0"/>
              </a:rPr>
              <a:t>Application Software</a:t>
            </a:r>
            <a:endParaRPr lang="en-GB" sz="1100" dirty="0">
              <a:solidFill>
                <a:schemeClr val="accent2">
                  <a:lumMod val="50000"/>
                </a:schemeClr>
              </a:solidFill>
              <a:latin typeface="LEMON MILK" panose="00000500000000000000" pitchFamily="50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52400" y="2212848"/>
            <a:ext cx="5382768" cy="4169664"/>
            <a:chOff x="670560" y="2011680"/>
            <a:chExt cx="4264152" cy="4169664"/>
          </a:xfrm>
        </p:grpSpPr>
        <p:sp>
          <p:nvSpPr>
            <p:cNvPr id="5" name="Rectangle 4"/>
            <p:cNvSpPr/>
            <p:nvPr/>
          </p:nvSpPr>
          <p:spPr>
            <a:xfrm>
              <a:off x="1042416" y="2551176"/>
              <a:ext cx="3520440" cy="363016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GB" dirty="0" smtClean="0"/>
            </a:p>
            <a:p>
              <a:pPr algn="ctr"/>
              <a:r>
                <a:rPr lang="en-GB" dirty="0" smtClean="0"/>
                <a:t>Packaged software is a program that is developed for common users.</a:t>
              </a:r>
            </a:p>
            <a:p>
              <a:pPr algn="ctr"/>
              <a:endParaRPr lang="en-GB" dirty="0" smtClean="0"/>
            </a:p>
            <a:p>
              <a:pPr algn="ctr"/>
              <a:r>
                <a:rPr lang="en-GB" dirty="0" smtClean="0"/>
                <a:t>It’s low cost, and sometimes freeware</a:t>
              </a:r>
            </a:p>
            <a:p>
              <a:pPr algn="ctr"/>
              <a:endParaRPr lang="en-GB" dirty="0"/>
            </a:p>
            <a:p>
              <a:pPr algn="ctr"/>
              <a:endParaRPr lang="en-GB" dirty="0"/>
            </a:p>
          </p:txBody>
        </p:sp>
        <p:sp>
          <p:nvSpPr>
            <p:cNvPr id="6" name="Up Ribbon 5"/>
            <p:cNvSpPr/>
            <p:nvPr/>
          </p:nvSpPr>
          <p:spPr>
            <a:xfrm>
              <a:off x="670560" y="2011680"/>
              <a:ext cx="4264152" cy="685800"/>
            </a:xfrm>
            <a:prstGeom prst="ribbon2">
              <a:avLst>
                <a:gd name="adj1" fmla="val 16667"/>
                <a:gd name="adj2" fmla="val 75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latin typeface="LEMON MILK" panose="00000500000000000000" pitchFamily="50" charset="0"/>
                </a:rPr>
                <a:t>PACKAGED SOFTWARE</a:t>
              </a:r>
              <a:endParaRPr lang="en-GB" dirty="0">
                <a:latin typeface="LEMON MILK" panose="00000500000000000000" pitchFamily="50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685167" y="1600200"/>
            <a:ext cx="5129784" cy="4782312"/>
            <a:chOff x="670560" y="2011680"/>
            <a:chExt cx="4264152" cy="4782312"/>
          </a:xfrm>
        </p:grpSpPr>
        <p:sp>
          <p:nvSpPr>
            <p:cNvPr id="9" name="Rectangle 8"/>
            <p:cNvSpPr/>
            <p:nvPr/>
          </p:nvSpPr>
          <p:spPr>
            <a:xfrm>
              <a:off x="1042416" y="2551176"/>
              <a:ext cx="3520440" cy="42428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GB" dirty="0" smtClean="0"/>
            </a:p>
            <a:p>
              <a:pPr algn="ctr"/>
              <a:r>
                <a:rPr lang="en-GB" dirty="0">
                  <a:solidFill>
                    <a:schemeClr val="tx1"/>
                  </a:solidFill>
                </a:rPr>
                <a:t>Tailored software is a program that is developed for a specific organisation or person</a:t>
              </a:r>
              <a:r>
                <a:rPr lang="en-GB" dirty="0" smtClean="0">
                  <a:solidFill>
                    <a:schemeClr val="tx1"/>
                  </a:solidFill>
                </a:rPr>
                <a:t>.</a:t>
              </a:r>
            </a:p>
            <a:p>
              <a:pPr algn="ctr"/>
              <a:endParaRPr lang="en-GB" dirty="0">
                <a:solidFill>
                  <a:schemeClr val="tx1"/>
                </a:solidFill>
              </a:endParaRPr>
            </a:p>
            <a:p>
              <a:pPr algn="ctr"/>
              <a:r>
                <a:rPr lang="en-GB" dirty="0" smtClean="0">
                  <a:solidFill>
                    <a:schemeClr val="tx1"/>
                  </a:solidFill>
                </a:rPr>
                <a:t>It usually comes with high cost as cost to build is usually on one user/company.</a:t>
              </a:r>
            </a:p>
            <a:p>
              <a:pPr algn="ctr"/>
              <a:endParaRPr lang="en-GB" dirty="0">
                <a:solidFill>
                  <a:schemeClr val="tx1"/>
                </a:solidFill>
              </a:endParaRPr>
            </a:p>
            <a:p>
              <a:pPr algn="ctr"/>
              <a:r>
                <a:rPr lang="en-GB" dirty="0">
                  <a:solidFill>
                    <a:schemeClr val="tx1"/>
                  </a:solidFill>
                </a:rPr>
                <a:t>Documentation is not readily </a:t>
              </a:r>
              <a:r>
                <a:rPr lang="en-GB" dirty="0" smtClean="0">
                  <a:solidFill>
                    <a:schemeClr val="tx1"/>
                  </a:solidFill>
                </a:rPr>
                <a:t>available, as again it’s usually linked to one company using it</a:t>
              </a:r>
            </a:p>
            <a:p>
              <a:pPr algn="ctr"/>
              <a:endParaRPr lang="en-GB" dirty="0">
                <a:solidFill>
                  <a:schemeClr val="tx1"/>
                </a:solidFill>
              </a:endParaRPr>
            </a:p>
            <a:p>
              <a:pPr marL="1079500"/>
              <a:r>
                <a:rPr lang="en-GB" dirty="0" smtClean="0">
                  <a:solidFill>
                    <a:schemeClr val="tx1"/>
                  </a:solidFill>
                </a:rPr>
                <a:t>For example, database management system for a school or bank</a:t>
              </a:r>
              <a:endParaRPr lang="en-GB" dirty="0">
                <a:solidFill>
                  <a:schemeClr val="tx1"/>
                </a:solidFill>
              </a:endParaRPr>
            </a:p>
            <a:p>
              <a:pPr algn="ctr"/>
              <a:endParaRPr lang="en-GB" dirty="0"/>
            </a:p>
            <a:p>
              <a:pPr algn="ctr"/>
              <a:endParaRPr lang="en-GB" dirty="0"/>
            </a:p>
          </p:txBody>
        </p:sp>
        <p:sp>
          <p:nvSpPr>
            <p:cNvPr id="10" name="Up Ribbon 9"/>
            <p:cNvSpPr/>
            <p:nvPr/>
          </p:nvSpPr>
          <p:spPr>
            <a:xfrm>
              <a:off x="670560" y="2011680"/>
              <a:ext cx="4264152" cy="685800"/>
            </a:xfrm>
            <a:prstGeom prst="ribbon2">
              <a:avLst>
                <a:gd name="adj1" fmla="val 16667"/>
                <a:gd name="adj2" fmla="val 7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tx1"/>
                  </a:solidFill>
                  <a:latin typeface="LEMON MILK" panose="00000500000000000000" pitchFamily="50" charset="0"/>
                </a:rPr>
                <a:t>Tailored</a:t>
              </a:r>
              <a:r>
                <a:rPr lang="en-GB" dirty="0" smtClean="0">
                  <a:latin typeface="LEMON MILK" panose="00000500000000000000" pitchFamily="50" charset="0"/>
                </a:rPr>
                <a:t> </a:t>
              </a:r>
              <a:r>
                <a:rPr lang="en-GB" dirty="0" smtClean="0">
                  <a:solidFill>
                    <a:schemeClr val="tx1"/>
                  </a:solidFill>
                  <a:latin typeface="LEMON MILK" panose="00000500000000000000" pitchFamily="50" charset="0"/>
                </a:rPr>
                <a:t>SOFTWARE</a:t>
              </a:r>
              <a:endParaRPr lang="en-GB" dirty="0">
                <a:solidFill>
                  <a:schemeClr val="tx1"/>
                </a:solidFill>
                <a:latin typeface="LEMON MILK" panose="00000500000000000000" pitchFamily="50" charset="0"/>
              </a:endParaRPr>
            </a:p>
          </p:txBody>
        </p:sp>
      </p:grpSp>
      <p:pic>
        <p:nvPicPr>
          <p:cNvPr id="11" name="Picture 2" descr="Microsoft Word icon in 3D Fluency Styl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434128"/>
            <a:ext cx="1176006" cy="1176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Microsoft Excel icon in 3D Fluency Styl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117" y="5012463"/>
            <a:ext cx="1168881" cy="1168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Database 3D Icon - Download PNG, glTF, FBX for Files &amp; Folders | IconScou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066" y="5540741"/>
            <a:ext cx="736543" cy="736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3D Adobe Photoshop logo using Blender - - - #blender #blender3d #3d #3dart  #portfolio #design #adobe #photoshop #adobephotoshop #3ddesign #logoseries  #adobelogo #logo #3dlogo #the3dguy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961" y="4261104"/>
            <a:ext cx="2270493" cy="2270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067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1928</Words>
  <Application>Microsoft Office PowerPoint</Application>
  <PresentationFormat>Widescreen</PresentationFormat>
  <Paragraphs>319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Ink Free</vt:lpstr>
      <vt:lpstr>LEMON MILK</vt:lpstr>
      <vt:lpstr>Office Theme</vt:lpstr>
      <vt:lpstr>Software</vt:lpstr>
      <vt:lpstr>What the Specification Says…</vt:lpstr>
      <vt:lpstr>Software</vt:lpstr>
      <vt:lpstr>The Categories of Software</vt:lpstr>
      <vt:lpstr>Software</vt:lpstr>
      <vt:lpstr>The Architecture of Computing</vt:lpstr>
      <vt:lpstr>Managing the Engine</vt:lpstr>
      <vt:lpstr>The Main Functions of System Software</vt:lpstr>
      <vt:lpstr>Processing Data</vt:lpstr>
      <vt:lpstr>Real Time Processing</vt:lpstr>
      <vt:lpstr>Real Time Processing</vt:lpstr>
      <vt:lpstr>Batch Processing</vt:lpstr>
      <vt:lpstr>Batch Processing: Electricity Billing System</vt:lpstr>
      <vt:lpstr>Batch Processing Example</vt:lpstr>
      <vt:lpstr>Batch Processing: Example</vt:lpstr>
      <vt:lpstr>Multiuser Systems</vt:lpstr>
      <vt:lpstr>Utility Software</vt:lpstr>
      <vt:lpstr>Defragmentation</vt:lpstr>
      <vt:lpstr>Defragmentation</vt:lpstr>
      <vt:lpstr>Task Scheduling</vt:lpstr>
      <vt:lpstr>Data Backup and Restore</vt:lpstr>
      <vt:lpstr>Quick Question</vt:lpstr>
      <vt:lpstr>Anti-Virus</vt:lpstr>
      <vt:lpstr>Anti-Virus</vt:lpstr>
      <vt:lpstr>Application Software</vt:lpstr>
      <vt:lpstr>Packaged Vs Tailored Software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</dc:title>
  <dc:creator>Microsoft account</dc:creator>
  <cp:lastModifiedBy>Microsoft account</cp:lastModifiedBy>
  <cp:revision>43</cp:revision>
  <dcterms:created xsi:type="dcterms:W3CDTF">2026-08-21T18:21:38Z</dcterms:created>
  <dcterms:modified xsi:type="dcterms:W3CDTF">2026-08-22T19:28:29Z</dcterms:modified>
</cp:coreProperties>
</file>