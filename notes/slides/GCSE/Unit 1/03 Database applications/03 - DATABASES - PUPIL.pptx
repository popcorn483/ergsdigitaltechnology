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88" r:id="rId3"/>
    <p:sldId id="289" r:id="rId4"/>
    <p:sldId id="257" r:id="rId5"/>
    <p:sldId id="287" r:id="rId6"/>
    <p:sldId id="258" r:id="rId7"/>
    <p:sldId id="295" r:id="rId8"/>
    <p:sldId id="259" r:id="rId9"/>
    <p:sldId id="260" r:id="rId10"/>
    <p:sldId id="261" r:id="rId11"/>
    <p:sldId id="262" r:id="rId12"/>
    <p:sldId id="263" r:id="rId13"/>
    <p:sldId id="290" r:id="rId14"/>
    <p:sldId id="291" r:id="rId15"/>
    <p:sldId id="292" r:id="rId16"/>
    <p:sldId id="293" r:id="rId17"/>
    <p:sldId id="294" r:id="rId18"/>
    <p:sldId id="264" r:id="rId19"/>
    <p:sldId id="265" r:id="rId20"/>
    <p:sldId id="267" r:id="rId21"/>
    <p:sldId id="268" r:id="rId22"/>
    <p:sldId id="269" r:id="rId23"/>
    <p:sldId id="270" r:id="rId24"/>
    <p:sldId id="271" r:id="rId25"/>
    <p:sldId id="272" r:id="rId26"/>
    <p:sldId id="273" r:id="rId27"/>
    <p:sldId id="274" r:id="rId28"/>
    <p:sldId id="277" r:id="rId29"/>
    <p:sldId id="276" r:id="rId30"/>
    <p:sldId id="279" r:id="rId31"/>
    <p:sldId id="278" r:id="rId32"/>
    <p:sldId id="284" r:id="rId33"/>
    <p:sldId id="280" r:id="rId34"/>
    <p:sldId id="283" r:id="rId35"/>
    <p:sldId id="281" r:id="rId36"/>
    <p:sldId id="282" r:id="rId37"/>
    <p:sldId id="286" r:id="rId38"/>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B34F"/>
    <a:srgbClr val="7E89ED"/>
    <a:srgbClr val="A14326"/>
    <a:srgbClr val="3F2504"/>
    <a:srgbClr val="EDCC1A"/>
    <a:srgbClr val="8FD7F0"/>
    <a:srgbClr val="A499AA"/>
    <a:srgbClr val="AEA9EC"/>
    <a:srgbClr val="653F37"/>
    <a:srgbClr val="9685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09" autoAdjust="0"/>
    <p:restoredTop sz="94660"/>
  </p:normalViewPr>
  <p:slideViewPr>
    <p:cSldViewPr snapToGrid="0">
      <p:cViewPr varScale="1">
        <p:scale>
          <a:sx n="151" d="100"/>
          <a:sy n="151" d="100"/>
        </p:scale>
        <p:origin x="930" y="15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6.svg"/><Relationship Id="rId1" Type="http://schemas.openxmlformats.org/officeDocument/2006/relationships/image" Target="../media/image9.png"/><Relationship Id="rId6" Type="http://schemas.openxmlformats.org/officeDocument/2006/relationships/image" Target="../media/image10.svg"/><Relationship Id="rId5" Type="http://schemas.openxmlformats.org/officeDocument/2006/relationships/image" Target="../media/image11.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svg"/><Relationship Id="rId1" Type="http://schemas.openxmlformats.org/officeDocument/2006/relationships/image" Target="../media/image15.png"/><Relationship Id="rId6" Type="http://schemas.openxmlformats.org/officeDocument/2006/relationships/image" Target="../media/image21.svg"/><Relationship Id="rId5" Type="http://schemas.openxmlformats.org/officeDocument/2006/relationships/image" Target="../media/image17.png"/><Relationship Id="rId4" Type="http://schemas.openxmlformats.org/officeDocument/2006/relationships/image" Target="../media/image19.svg"/></Relationships>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svg"/><Relationship Id="rId1" Type="http://schemas.openxmlformats.org/officeDocument/2006/relationships/image" Target="../media/image20.png"/><Relationship Id="rId4" Type="http://schemas.openxmlformats.org/officeDocument/2006/relationships/image" Target="../media/image27.svg"/></Relationships>
</file>

<file path=ppt/diagrams/_rels/data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6.svg"/><Relationship Id="rId1" Type="http://schemas.openxmlformats.org/officeDocument/2006/relationships/image" Target="../media/image28.png"/><Relationship Id="rId6" Type="http://schemas.openxmlformats.org/officeDocument/2006/relationships/image" Target="../media/image40.svg"/><Relationship Id="rId5" Type="http://schemas.openxmlformats.org/officeDocument/2006/relationships/image" Target="../media/image30.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CFE414-3375-428D-848D-4A0512C7F537}"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41BDE066-F82A-47C9-855D-83258EB655CF}">
      <dgm:prSet custT="1"/>
      <dgm:spPr/>
      <dgm:t>
        <a:bodyPr/>
        <a:lstStyle/>
        <a:p>
          <a:pPr>
            <a:lnSpc>
              <a:spcPct val="100000"/>
            </a:lnSpc>
            <a:defRPr cap="all"/>
          </a:pPr>
          <a:r>
            <a:rPr lang="en-GB" sz="1400"/>
            <a:t>Allows tables and results from queries to be presented in a user-friendly way</a:t>
          </a:r>
          <a:endParaRPr lang="en-US" sz="1400"/>
        </a:p>
      </dgm:t>
    </dgm:pt>
    <dgm:pt modelId="{9E062181-2CFE-4A98-9B79-3264C8644CEB}" type="parTrans" cxnId="{47899F16-1886-4694-8D33-915D4438F9CE}">
      <dgm:prSet/>
      <dgm:spPr/>
      <dgm:t>
        <a:bodyPr/>
        <a:lstStyle/>
        <a:p>
          <a:endParaRPr lang="en-US" sz="2000"/>
        </a:p>
      </dgm:t>
    </dgm:pt>
    <dgm:pt modelId="{853A7577-F4B4-482C-BEF9-1D09012B8D0A}" type="sibTrans" cxnId="{47899F16-1886-4694-8D33-915D4438F9CE}">
      <dgm:prSet/>
      <dgm:spPr/>
      <dgm:t>
        <a:bodyPr/>
        <a:lstStyle/>
        <a:p>
          <a:endParaRPr lang="en-US" sz="2000"/>
        </a:p>
      </dgm:t>
    </dgm:pt>
    <dgm:pt modelId="{ED7A3DDC-4C45-468B-BDFC-08C2A9D0B009}">
      <dgm:prSet custT="1"/>
      <dgm:spPr/>
      <dgm:t>
        <a:bodyPr/>
        <a:lstStyle/>
        <a:p>
          <a:pPr>
            <a:lnSpc>
              <a:spcPct val="100000"/>
            </a:lnSpc>
            <a:defRPr cap="all"/>
          </a:pPr>
          <a:r>
            <a:rPr lang="en-GB" sz="1400"/>
            <a:t>Layout of report can be customised</a:t>
          </a:r>
          <a:endParaRPr lang="en-US" sz="1400"/>
        </a:p>
      </dgm:t>
    </dgm:pt>
    <dgm:pt modelId="{FF8841EF-5A4C-4D70-843C-98AA49D537F3}" type="parTrans" cxnId="{412186A6-3CA3-41FB-B8E8-77CB796B229F}">
      <dgm:prSet/>
      <dgm:spPr/>
      <dgm:t>
        <a:bodyPr/>
        <a:lstStyle/>
        <a:p>
          <a:endParaRPr lang="en-US" sz="2000"/>
        </a:p>
      </dgm:t>
    </dgm:pt>
    <dgm:pt modelId="{D913D317-71E7-4F64-AB08-3476BF4C7CFC}" type="sibTrans" cxnId="{412186A6-3CA3-41FB-B8E8-77CB796B229F}">
      <dgm:prSet/>
      <dgm:spPr/>
      <dgm:t>
        <a:bodyPr/>
        <a:lstStyle/>
        <a:p>
          <a:endParaRPr lang="en-US" sz="2000"/>
        </a:p>
      </dgm:t>
    </dgm:pt>
    <dgm:pt modelId="{E311C583-D9AF-4146-9135-186052214DB4}">
      <dgm:prSet custT="1"/>
      <dgm:spPr/>
      <dgm:t>
        <a:bodyPr/>
        <a:lstStyle/>
        <a:p>
          <a:pPr>
            <a:lnSpc>
              <a:spcPct val="100000"/>
            </a:lnSpc>
            <a:defRPr cap="all"/>
          </a:pPr>
          <a:r>
            <a:rPr lang="en-GB" sz="1400"/>
            <a:t>Easy to read and draw conclusions</a:t>
          </a:r>
          <a:endParaRPr lang="en-US" sz="1400"/>
        </a:p>
      </dgm:t>
    </dgm:pt>
    <dgm:pt modelId="{0C70BB5A-A62A-4118-A6C2-5E3D3A3FC746}" type="parTrans" cxnId="{D9F0C41B-32CE-4118-B84A-7AE721F4DDE0}">
      <dgm:prSet/>
      <dgm:spPr/>
      <dgm:t>
        <a:bodyPr/>
        <a:lstStyle/>
        <a:p>
          <a:endParaRPr lang="en-US" sz="2000"/>
        </a:p>
      </dgm:t>
    </dgm:pt>
    <dgm:pt modelId="{91F544B7-C717-472B-8359-DB28DF599EB8}" type="sibTrans" cxnId="{D9F0C41B-32CE-4118-B84A-7AE721F4DDE0}">
      <dgm:prSet/>
      <dgm:spPr/>
      <dgm:t>
        <a:bodyPr/>
        <a:lstStyle/>
        <a:p>
          <a:endParaRPr lang="en-US" sz="2000"/>
        </a:p>
      </dgm:t>
    </dgm:pt>
    <dgm:pt modelId="{D00877FA-FF9A-4523-96BF-2177BD53A9AC}">
      <dgm:prSet custT="1"/>
      <dgm:spPr/>
      <dgm:t>
        <a:bodyPr/>
        <a:lstStyle/>
        <a:p>
          <a:pPr>
            <a:lnSpc>
              <a:spcPct val="100000"/>
            </a:lnSpc>
            <a:defRPr cap="all"/>
          </a:pPr>
          <a:r>
            <a:rPr lang="en-GB" sz="1400" dirty="0"/>
            <a:t>Data can be presented by grouping similar data or even sorting in ascending/descending order</a:t>
          </a:r>
          <a:endParaRPr lang="en-US" sz="1400" dirty="0"/>
        </a:p>
      </dgm:t>
    </dgm:pt>
    <dgm:pt modelId="{219CF313-EB5D-4FD6-A09F-DA4B1EEB565A}" type="parTrans" cxnId="{50EAFEAD-CAAB-4ABC-A442-C83515A2A0BA}">
      <dgm:prSet/>
      <dgm:spPr/>
      <dgm:t>
        <a:bodyPr/>
        <a:lstStyle/>
        <a:p>
          <a:endParaRPr lang="en-US" sz="2000"/>
        </a:p>
      </dgm:t>
    </dgm:pt>
    <dgm:pt modelId="{9BD983C8-AC53-4EE7-954F-16D96C70C341}" type="sibTrans" cxnId="{50EAFEAD-CAAB-4ABC-A442-C83515A2A0BA}">
      <dgm:prSet/>
      <dgm:spPr/>
      <dgm:t>
        <a:bodyPr/>
        <a:lstStyle/>
        <a:p>
          <a:endParaRPr lang="en-US" sz="2000"/>
        </a:p>
      </dgm:t>
    </dgm:pt>
    <dgm:pt modelId="{3F0F14D0-EC2B-4A27-BF3C-C1F1FE552BE7}" type="pres">
      <dgm:prSet presAssocID="{47CFE414-3375-428D-848D-4A0512C7F537}" presName="root" presStyleCnt="0">
        <dgm:presLayoutVars>
          <dgm:dir/>
          <dgm:resizeHandles val="exact"/>
        </dgm:presLayoutVars>
      </dgm:prSet>
      <dgm:spPr/>
      <dgm:t>
        <a:bodyPr/>
        <a:lstStyle/>
        <a:p>
          <a:endParaRPr lang="en-GB"/>
        </a:p>
      </dgm:t>
    </dgm:pt>
    <dgm:pt modelId="{EEC747D2-AB42-4B18-B50A-38A8CDEE41C2}" type="pres">
      <dgm:prSet presAssocID="{41BDE066-F82A-47C9-855D-83258EB655CF}" presName="compNode" presStyleCnt="0"/>
      <dgm:spPr/>
    </dgm:pt>
    <dgm:pt modelId="{98A0D669-1346-4B88-B25B-E79F4ADCABE5}" type="pres">
      <dgm:prSet presAssocID="{41BDE066-F82A-47C9-855D-83258EB655CF}" presName="iconBgRect" presStyleLbl="bgShp" presStyleIdx="0" presStyleCnt="4"/>
      <dgm:spPr/>
    </dgm:pt>
    <dgm:pt modelId="{0EBE6873-C42D-4BD7-B853-CCB231620137}" type="pres">
      <dgm:prSet presAssocID="{41BDE066-F82A-47C9-855D-83258EB655CF}"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GB"/>
        </a:p>
      </dgm:t>
      <dgm:extLst>
        <a:ext uri="{E40237B7-FDA0-4F09-8148-C483321AD2D9}">
          <dgm14:cNvPr xmlns:dgm14="http://schemas.microsoft.com/office/drawing/2010/diagram" id="0" name="" descr="Statistics"/>
        </a:ext>
      </dgm:extLst>
    </dgm:pt>
    <dgm:pt modelId="{6746B942-71E9-4490-979F-4EEF30E0282A}" type="pres">
      <dgm:prSet presAssocID="{41BDE066-F82A-47C9-855D-83258EB655CF}" presName="spaceRect" presStyleCnt="0"/>
      <dgm:spPr/>
    </dgm:pt>
    <dgm:pt modelId="{468EDBA1-0E2F-4743-92A1-CAE8A2BBB0C6}" type="pres">
      <dgm:prSet presAssocID="{41BDE066-F82A-47C9-855D-83258EB655CF}" presName="textRect" presStyleLbl="revTx" presStyleIdx="0" presStyleCnt="4">
        <dgm:presLayoutVars>
          <dgm:chMax val="1"/>
          <dgm:chPref val="1"/>
        </dgm:presLayoutVars>
      </dgm:prSet>
      <dgm:spPr/>
      <dgm:t>
        <a:bodyPr/>
        <a:lstStyle/>
        <a:p>
          <a:endParaRPr lang="en-GB"/>
        </a:p>
      </dgm:t>
    </dgm:pt>
    <dgm:pt modelId="{C31DF4C4-7AE6-4663-83F5-4B3A7A2FCDED}" type="pres">
      <dgm:prSet presAssocID="{853A7577-F4B4-482C-BEF9-1D09012B8D0A}" presName="sibTrans" presStyleCnt="0"/>
      <dgm:spPr/>
    </dgm:pt>
    <dgm:pt modelId="{72B6EFFD-E665-4D33-A9DF-88EA7292C610}" type="pres">
      <dgm:prSet presAssocID="{ED7A3DDC-4C45-468B-BDFC-08C2A9D0B009}" presName="compNode" presStyleCnt="0"/>
      <dgm:spPr/>
    </dgm:pt>
    <dgm:pt modelId="{1AFC485D-7073-4C9E-8343-B0E6C187571B}" type="pres">
      <dgm:prSet presAssocID="{ED7A3DDC-4C45-468B-BDFC-08C2A9D0B009}" presName="iconBgRect" presStyleLbl="bgShp" presStyleIdx="1" presStyleCnt="4"/>
      <dgm:spPr/>
    </dgm:pt>
    <dgm:pt modelId="{A9A7454B-95D4-4964-BA04-3FADC82E9AB4}" type="pres">
      <dgm:prSet presAssocID="{ED7A3DDC-4C45-468B-BDFC-08C2A9D0B00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GB"/>
        </a:p>
      </dgm:t>
      <dgm:extLst>
        <a:ext uri="{E40237B7-FDA0-4F09-8148-C483321AD2D9}">
          <dgm14:cNvPr xmlns:dgm14="http://schemas.microsoft.com/office/drawing/2010/diagram" id="0" name="" descr="House"/>
        </a:ext>
      </dgm:extLst>
    </dgm:pt>
    <dgm:pt modelId="{20E0AA59-ACAE-4E73-A3E6-5A51A2A93068}" type="pres">
      <dgm:prSet presAssocID="{ED7A3DDC-4C45-468B-BDFC-08C2A9D0B009}" presName="spaceRect" presStyleCnt="0"/>
      <dgm:spPr/>
    </dgm:pt>
    <dgm:pt modelId="{78C5B5A5-E2DA-4A20-8EA6-96E1B9711748}" type="pres">
      <dgm:prSet presAssocID="{ED7A3DDC-4C45-468B-BDFC-08C2A9D0B009}" presName="textRect" presStyleLbl="revTx" presStyleIdx="1" presStyleCnt="4">
        <dgm:presLayoutVars>
          <dgm:chMax val="1"/>
          <dgm:chPref val="1"/>
        </dgm:presLayoutVars>
      </dgm:prSet>
      <dgm:spPr/>
      <dgm:t>
        <a:bodyPr/>
        <a:lstStyle/>
        <a:p>
          <a:endParaRPr lang="en-GB"/>
        </a:p>
      </dgm:t>
    </dgm:pt>
    <dgm:pt modelId="{983ABDCA-4163-499B-B5BB-AF9A8074471A}" type="pres">
      <dgm:prSet presAssocID="{D913D317-71E7-4F64-AB08-3476BF4C7CFC}" presName="sibTrans" presStyleCnt="0"/>
      <dgm:spPr/>
    </dgm:pt>
    <dgm:pt modelId="{00632FE4-C476-4EFF-BD73-8BA3D8D13D27}" type="pres">
      <dgm:prSet presAssocID="{E311C583-D9AF-4146-9135-186052214DB4}" presName="compNode" presStyleCnt="0"/>
      <dgm:spPr/>
    </dgm:pt>
    <dgm:pt modelId="{9717A34B-71C2-48F4-B57A-95304A150A56}" type="pres">
      <dgm:prSet presAssocID="{E311C583-D9AF-4146-9135-186052214DB4}" presName="iconBgRect" presStyleLbl="bgShp" presStyleIdx="2" presStyleCnt="4"/>
      <dgm:spPr/>
    </dgm:pt>
    <dgm:pt modelId="{15D7B416-13BB-477A-B2E5-4FE3C9C94082}" type="pres">
      <dgm:prSet presAssocID="{E311C583-D9AF-4146-9135-186052214DB4}"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t>
        <a:bodyPr/>
        <a:lstStyle/>
        <a:p>
          <a:endParaRPr lang="en-GB"/>
        </a:p>
      </dgm:t>
      <dgm:extLst>
        <a:ext uri="{E40237B7-FDA0-4F09-8148-C483321AD2D9}">
          <dgm14:cNvPr xmlns:dgm14="http://schemas.microsoft.com/office/drawing/2010/diagram" id="0" name="" descr="Pencil"/>
        </a:ext>
      </dgm:extLst>
    </dgm:pt>
    <dgm:pt modelId="{B43D834B-C528-44EB-A647-9B4ABDA7D990}" type="pres">
      <dgm:prSet presAssocID="{E311C583-D9AF-4146-9135-186052214DB4}" presName="spaceRect" presStyleCnt="0"/>
      <dgm:spPr/>
    </dgm:pt>
    <dgm:pt modelId="{4C75DB3D-3D1C-4B81-B8A9-3B38D1F62A94}" type="pres">
      <dgm:prSet presAssocID="{E311C583-D9AF-4146-9135-186052214DB4}" presName="textRect" presStyleLbl="revTx" presStyleIdx="2" presStyleCnt="4">
        <dgm:presLayoutVars>
          <dgm:chMax val="1"/>
          <dgm:chPref val="1"/>
        </dgm:presLayoutVars>
      </dgm:prSet>
      <dgm:spPr/>
      <dgm:t>
        <a:bodyPr/>
        <a:lstStyle/>
        <a:p>
          <a:endParaRPr lang="en-GB"/>
        </a:p>
      </dgm:t>
    </dgm:pt>
    <dgm:pt modelId="{7EAD8FD3-7CCD-4562-8A45-32FD266F00E8}" type="pres">
      <dgm:prSet presAssocID="{91F544B7-C717-472B-8359-DB28DF599EB8}" presName="sibTrans" presStyleCnt="0"/>
      <dgm:spPr/>
    </dgm:pt>
    <dgm:pt modelId="{CC97C4D0-0079-4F2A-A230-53070F37BEC6}" type="pres">
      <dgm:prSet presAssocID="{D00877FA-FF9A-4523-96BF-2177BD53A9AC}" presName="compNode" presStyleCnt="0"/>
      <dgm:spPr/>
    </dgm:pt>
    <dgm:pt modelId="{0DFB034D-1B4D-4945-9E5B-E6C2DB5E2226}" type="pres">
      <dgm:prSet presAssocID="{D00877FA-FF9A-4523-96BF-2177BD53A9AC}" presName="iconBgRect" presStyleLbl="bgShp" presStyleIdx="3" presStyleCnt="4"/>
      <dgm:spPr/>
    </dgm:pt>
    <dgm:pt modelId="{7AB38531-CD21-429E-A831-661C9336D5DB}" type="pres">
      <dgm:prSet presAssocID="{D00877FA-FF9A-4523-96BF-2177BD53A9AC}"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dgm:spPr>
      <dgm:t>
        <a:bodyPr/>
        <a:lstStyle/>
        <a:p>
          <a:endParaRPr lang="en-GB"/>
        </a:p>
      </dgm:t>
      <dgm:extLst>
        <a:ext uri="{E40237B7-FDA0-4F09-8148-C483321AD2D9}">
          <dgm14:cNvPr xmlns:dgm14="http://schemas.microsoft.com/office/drawing/2010/diagram" id="0" name="" descr="Table"/>
        </a:ext>
      </dgm:extLst>
    </dgm:pt>
    <dgm:pt modelId="{9396E245-F853-4B33-A928-58EDFA3D4122}" type="pres">
      <dgm:prSet presAssocID="{D00877FA-FF9A-4523-96BF-2177BD53A9AC}" presName="spaceRect" presStyleCnt="0"/>
      <dgm:spPr/>
    </dgm:pt>
    <dgm:pt modelId="{C05BDA8B-FE19-4108-B30C-3E002D6F622E}" type="pres">
      <dgm:prSet presAssocID="{D00877FA-FF9A-4523-96BF-2177BD53A9AC}" presName="textRect" presStyleLbl="revTx" presStyleIdx="3" presStyleCnt="4">
        <dgm:presLayoutVars>
          <dgm:chMax val="1"/>
          <dgm:chPref val="1"/>
        </dgm:presLayoutVars>
      </dgm:prSet>
      <dgm:spPr/>
      <dgm:t>
        <a:bodyPr/>
        <a:lstStyle/>
        <a:p>
          <a:endParaRPr lang="en-GB"/>
        </a:p>
      </dgm:t>
    </dgm:pt>
  </dgm:ptLst>
  <dgm:cxnLst>
    <dgm:cxn modelId="{DAC6C82F-F1F7-4564-BFBB-F047F8C7CCF6}" type="presOf" srcId="{ED7A3DDC-4C45-468B-BDFC-08C2A9D0B009}" destId="{78C5B5A5-E2DA-4A20-8EA6-96E1B9711748}" srcOrd="0" destOrd="0" presId="urn:microsoft.com/office/officeart/2018/5/layout/IconCircleLabelList"/>
    <dgm:cxn modelId="{47899F16-1886-4694-8D33-915D4438F9CE}" srcId="{47CFE414-3375-428D-848D-4A0512C7F537}" destId="{41BDE066-F82A-47C9-855D-83258EB655CF}" srcOrd="0" destOrd="0" parTransId="{9E062181-2CFE-4A98-9B79-3264C8644CEB}" sibTransId="{853A7577-F4B4-482C-BEF9-1D09012B8D0A}"/>
    <dgm:cxn modelId="{D9F0C41B-32CE-4118-B84A-7AE721F4DDE0}" srcId="{47CFE414-3375-428D-848D-4A0512C7F537}" destId="{E311C583-D9AF-4146-9135-186052214DB4}" srcOrd="2" destOrd="0" parTransId="{0C70BB5A-A62A-4118-A6C2-5E3D3A3FC746}" sibTransId="{91F544B7-C717-472B-8359-DB28DF599EB8}"/>
    <dgm:cxn modelId="{42BAA422-3B4B-44E1-8DB9-218CBB320240}" type="presOf" srcId="{E311C583-D9AF-4146-9135-186052214DB4}" destId="{4C75DB3D-3D1C-4B81-B8A9-3B38D1F62A94}" srcOrd="0" destOrd="0" presId="urn:microsoft.com/office/officeart/2018/5/layout/IconCircleLabelList"/>
    <dgm:cxn modelId="{A6130831-FB1F-4E98-97E6-606B9CEBD629}" type="presOf" srcId="{D00877FA-FF9A-4523-96BF-2177BD53A9AC}" destId="{C05BDA8B-FE19-4108-B30C-3E002D6F622E}" srcOrd="0" destOrd="0" presId="urn:microsoft.com/office/officeart/2018/5/layout/IconCircleLabelList"/>
    <dgm:cxn modelId="{50EAFEAD-CAAB-4ABC-A442-C83515A2A0BA}" srcId="{47CFE414-3375-428D-848D-4A0512C7F537}" destId="{D00877FA-FF9A-4523-96BF-2177BD53A9AC}" srcOrd="3" destOrd="0" parTransId="{219CF313-EB5D-4FD6-A09F-DA4B1EEB565A}" sibTransId="{9BD983C8-AC53-4EE7-954F-16D96C70C341}"/>
    <dgm:cxn modelId="{326FEDC5-33A0-4F50-AC7B-6343758766F8}" type="presOf" srcId="{47CFE414-3375-428D-848D-4A0512C7F537}" destId="{3F0F14D0-EC2B-4A27-BF3C-C1F1FE552BE7}" srcOrd="0" destOrd="0" presId="urn:microsoft.com/office/officeart/2018/5/layout/IconCircleLabelList"/>
    <dgm:cxn modelId="{A03DEAF9-A4E6-4B5F-B61A-205D09577036}" type="presOf" srcId="{41BDE066-F82A-47C9-855D-83258EB655CF}" destId="{468EDBA1-0E2F-4743-92A1-CAE8A2BBB0C6}" srcOrd="0" destOrd="0" presId="urn:microsoft.com/office/officeart/2018/5/layout/IconCircleLabelList"/>
    <dgm:cxn modelId="{412186A6-3CA3-41FB-B8E8-77CB796B229F}" srcId="{47CFE414-3375-428D-848D-4A0512C7F537}" destId="{ED7A3DDC-4C45-468B-BDFC-08C2A9D0B009}" srcOrd="1" destOrd="0" parTransId="{FF8841EF-5A4C-4D70-843C-98AA49D537F3}" sibTransId="{D913D317-71E7-4F64-AB08-3476BF4C7CFC}"/>
    <dgm:cxn modelId="{D05ED975-E705-49A9-9002-E137C1660369}" type="presParOf" srcId="{3F0F14D0-EC2B-4A27-BF3C-C1F1FE552BE7}" destId="{EEC747D2-AB42-4B18-B50A-38A8CDEE41C2}" srcOrd="0" destOrd="0" presId="urn:microsoft.com/office/officeart/2018/5/layout/IconCircleLabelList"/>
    <dgm:cxn modelId="{379CC967-BD62-4517-A48F-96AA52288BC3}" type="presParOf" srcId="{EEC747D2-AB42-4B18-B50A-38A8CDEE41C2}" destId="{98A0D669-1346-4B88-B25B-E79F4ADCABE5}" srcOrd="0" destOrd="0" presId="urn:microsoft.com/office/officeart/2018/5/layout/IconCircleLabelList"/>
    <dgm:cxn modelId="{73B35880-62D4-4C71-B696-1AA233C0D8CC}" type="presParOf" srcId="{EEC747D2-AB42-4B18-B50A-38A8CDEE41C2}" destId="{0EBE6873-C42D-4BD7-B853-CCB231620137}" srcOrd="1" destOrd="0" presId="urn:microsoft.com/office/officeart/2018/5/layout/IconCircleLabelList"/>
    <dgm:cxn modelId="{0250B265-6278-4905-96FD-32574540E350}" type="presParOf" srcId="{EEC747D2-AB42-4B18-B50A-38A8CDEE41C2}" destId="{6746B942-71E9-4490-979F-4EEF30E0282A}" srcOrd="2" destOrd="0" presId="urn:microsoft.com/office/officeart/2018/5/layout/IconCircleLabelList"/>
    <dgm:cxn modelId="{5E4D9462-00E7-48B7-B055-F1D2CAA1A26A}" type="presParOf" srcId="{EEC747D2-AB42-4B18-B50A-38A8CDEE41C2}" destId="{468EDBA1-0E2F-4743-92A1-CAE8A2BBB0C6}" srcOrd="3" destOrd="0" presId="urn:microsoft.com/office/officeart/2018/5/layout/IconCircleLabelList"/>
    <dgm:cxn modelId="{541403E7-DC56-4AF8-BC51-F84F9E833E90}" type="presParOf" srcId="{3F0F14D0-EC2B-4A27-BF3C-C1F1FE552BE7}" destId="{C31DF4C4-7AE6-4663-83F5-4B3A7A2FCDED}" srcOrd="1" destOrd="0" presId="urn:microsoft.com/office/officeart/2018/5/layout/IconCircleLabelList"/>
    <dgm:cxn modelId="{2A12436C-573F-469A-A45F-A1BCF78A8066}" type="presParOf" srcId="{3F0F14D0-EC2B-4A27-BF3C-C1F1FE552BE7}" destId="{72B6EFFD-E665-4D33-A9DF-88EA7292C610}" srcOrd="2" destOrd="0" presId="urn:microsoft.com/office/officeart/2018/5/layout/IconCircleLabelList"/>
    <dgm:cxn modelId="{388FFE0C-63C5-4FBA-AE8F-BC1EF15AEA2B}" type="presParOf" srcId="{72B6EFFD-E665-4D33-A9DF-88EA7292C610}" destId="{1AFC485D-7073-4C9E-8343-B0E6C187571B}" srcOrd="0" destOrd="0" presId="urn:microsoft.com/office/officeart/2018/5/layout/IconCircleLabelList"/>
    <dgm:cxn modelId="{36CE5968-618D-4F8F-81D3-DEE2CFC64304}" type="presParOf" srcId="{72B6EFFD-E665-4D33-A9DF-88EA7292C610}" destId="{A9A7454B-95D4-4964-BA04-3FADC82E9AB4}" srcOrd="1" destOrd="0" presId="urn:microsoft.com/office/officeart/2018/5/layout/IconCircleLabelList"/>
    <dgm:cxn modelId="{6246ACF4-46C0-4580-B911-DE304779ECB5}" type="presParOf" srcId="{72B6EFFD-E665-4D33-A9DF-88EA7292C610}" destId="{20E0AA59-ACAE-4E73-A3E6-5A51A2A93068}" srcOrd="2" destOrd="0" presId="urn:microsoft.com/office/officeart/2018/5/layout/IconCircleLabelList"/>
    <dgm:cxn modelId="{506C6E6B-C4AE-4EB5-8530-E337520015DD}" type="presParOf" srcId="{72B6EFFD-E665-4D33-A9DF-88EA7292C610}" destId="{78C5B5A5-E2DA-4A20-8EA6-96E1B9711748}" srcOrd="3" destOrd="0" presId="urn:microsoft.com/office/officeart/2018/5/layout/IconCircleLabelList"/>
    <dgm:cxn modelId="{E40AC094-DA02-464A-92F0-B16E9BEDD00F}" type="presParOf" srcId="{3F0F14D0-EC2B-4A27-BF3C-C1F1FE552BE7}" destId="{983ABDCA-4163-499B-B5BB-AF9A8074471A}" srcOrd="3" destOrd="0" presId="urn:microsoft.com/office/officeart/2018/5/layout/IconCircleLabelList"/>
    <dgm:cxn modelId="{0C0BA416-FBC5-492F-929C-CC470E48E152}" type="presParOf" srcId="{3F0F14D0-EC2B-4A27-BF3C-C1F1FE552BE7}" destId="{00632FE4-C476-4EFF-BD73-8BA3D8D13D27}" srcOrd="4" destOrd="0" presId="urn:microsoft.com/office/officeart/2018/5/layout/IconCircleLabelList"/>
    <dgm:cxn modelId="{C0B28A61-AFA4-44EE-A40A-988E96D63034}" type="presParOf" srcId="{00632FE4-C476-4EFF-BD73-8BA3D8D13D27}" destId="{9717A34B-71C2-48F4-B57A-95304A150A56}" srcOrd="0" destOrd="0" presId="urn:microsoft.com/office/officeart/2018/5/layout/IconCircleLabelList"/>
    <dgm:cxn modelId="{19B8D409-D065-4B18-A7B5-438F5A4A9203}" type="presParOf" srcId="{00632FE4-C476-4EFF-BD73-8BA3D8D13D27}" destId="{15D7B416-13BB-477A-B2E5-4FE3C9C94082}" srcOrd="1" destOrd="0" presId="urn:microsoft.com/office/officeart/2018/5/layout/IconCircleLabelList"/>
    <dgm:cxn modelId="{F0F68840-41A7-4E86-9A55-F2FD51B8903E}" type="presParOf" srcId="{00632FE4-C476-4EFF-BD73-8BA3D8D13D27}" destId="{B43D834B-C528-44EB-A647-9B4ABDA7D990}" srcOrd="2" destOrd="0" presId="urn:microsoft.com/office/officeart/2018/5/layout/IconCircleLabelList"/>
    <dgm:cxn modelId="{46A1666A-027C-4FC6-B775-B311B83AC7A0}" type="presParOf" srcId="{00632FE4-C476-4EFF-BD73-8BA3D8D13D27}" destId="{4C75DB3D-3D1C-4B81-B8A9-3B38D1F62A94}" srcOrd="3" destOrd="0" presId="urn:microsoft.com/office/officeart/2018/5/layout/IconCircleLabelList"/>
    <dgm:cxn modelId="{C7FC6809-22A4-4A09-8720-6AA7B53A9B9A}" type="presParOf" srcId="{3F0F14D0-EC2B-4A27-BF3C-C1F1FE552BE7}" destId="{7EAD8FD3-7CCD-4562-8A45-32FD266F00E8}" srcOrd="5" destOrd="0" presId="urn:microsoft.com/office/officeart/2018/5/layout/IconCircleLabelList"/>
    <dgm:cxn modelId="{F7F700DF-3351-48EE-AF2D-4270E1B58D11}" type="presParOf" srcId="{3F0F14D0-EC2B-4A27-BF3C-C1F1FE552BE7}" destId="{CC97C4D0-0079-4F2A-A230-53070F37BEC6}" srcOrd="6" destOrd="0" presId="urn:microsoft.com/office/officeart/2018/5/layout/IconCircleLabelList"/>
    <dgm:cxn modelId="{2A9A5758-635B-4FBB-9C14-DC034B0E41CB}" type="presParOf" srcId="{CC97C4D0-0079-4F2A-A230-53070F37BEC6}" destId="{0DFB034D-1B4D-4945-9E5B-E6C2DB5E2226}" srcOrd="0" destOrd="0" presId="urn:microsoft.com/office/officeart/2018/5/layout/IconCircleLabelList"/>
    <dgm:cxn modelId="{F617DCE7-6D47-412E-A6A9-48A22BE45875}" type="presParOf" srcId="{CC97C4D0-0079-4F2A-A230-53070F37BEC6}" destId="{7AB38531-CD21-429E-A831-661C9336D5DB}" srcOrd="1" destOrd="0" presId="urn:microsoft.com/office/officeart/2018/5/layout/IconCircleLabelList"/>
    <dgm:cxn modelId="{67D16DC4-40E4-4031-BD23-33644FBCA65C}" type="presParOf" srcId="{CC97C4D0-0079-4F2A-A230-53070F37BEC6}" destId="{9396E245-F853-4B33-A928-58EDFA3D4122}" srcOrd="2" destOrd="0" presId="urn:microsoft.com/office/officeart/2018/5/layout/IconCircleLabelList"/>
    <dgm:cxn modelId="{6D46D295-E168-4B2E-A1A4-FC52F8DB8E30}" type="presParOf" srcId="{CC97C4D0-0079-4F2A-A230-53070F37BEC6}" destId="{C05BDA8B-FE19-4108-B30C-3E002D6F622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5CB143-BA8C-4ED0-9D6E-429AD33A808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3C18F38-4466-4792-BF65-CC994951C6E7}">
      <dgm:prSet/>
      <dgm:spPr/>
      <dgm:t>
        <a:bodyPr/>
        <a:lstStyle/>
        <a:p>
          <a:pPr>
            <a:lnSpc>
              <a:spcPct val="100000"/>
            </a:lnSpc>
          </a:pPr>
          <a:r>
            <a:rPr lang="en-GB" dirty="0"/>
            <a:t>It is possible to link tables together in a database by using </a:t>
          </a:r>
          <a:r>
            <a:rPr lang="en-GB" b="1" dirty="0"/>
            <a:t>relationships</a:t>
          </a:r>
          <a:endParaRPr lang="en-US" dirty="0"/>
        </a:p>
      </dgm:t>
    </dgm:pt>
    <dgm:pt modelId="{9839EEFE-0EF4-4A2A-B1D1-4CC7DA641D35}" type="parTrans" cxnId="{73A3B969-F8B5-4E4C-AD8C-901F0A994F1C}">
      <dgm:prSet/>
      <dgm:spPr/>
      <dgm:t>
        <a:bodyPr/>
        <a:lstStyle/>
        <a:p>
          <a:endParaRPr lang="en-US"/>
        </a:p>
      </dgm:t>
    </dgm:pt>
    <dgm:pt modelId="{3FDAD360-6808-4CC6-AFE4-3DA18FEBDEA4}" type="sibTrans" cxnId="{73A3B969-F8B5-4E4C-AD8C-901F0A994F1C}">
      <dgm:prSet/>
      <dgm:spPr/>
      <dgm:t>
        <a:bodyPr/>
        <a:lstStyle/>
        <a:p>
          <a:endParaRPr lang="en-US"/>
        </a:p>
      </dgm:t>
    </dgm:pt>
    <dgm:pt modelId="{119B6D2F-CC47-4599-83DE-2C90C7930C6C}">
      <dgm:prSet/>
      <dgm:spPr/>
      <dgm:t>
        <a:bodyPr/>
        <a:lstStyle/>
        <a:p>
          <a:pPr>
            <a:lnSpc>
              <a:spcPct val="100000"/>
            </a:lnSpc>
          </a:pPr>
          <a:r>
            <a:rPr lang="en-GB"/>
            <a:t>To do this, common fields have to appear in each table to allow the link to be made</a:t>
          </a:r>
          <a:endParaRPr lang="en-US"/>
        </a:p>
      </dgm:t>
    </dgm:pt>
    <dgm:pt modelId="{82EE22EE-7788-4C8F-897F-FBF8DAB71F2A}" type="parTrans" cxnId="{4314F27D-0ACB-4FB3-BCE2-AA256111E02A}">
      <dgm:prSet/>
      <dgm:spPr/>
      <dgm:t>
        <a:bodyPr/>
        <a:lstStyle/>
        <a:p>
          <a:endParaRPr lang="en-US"/>
        </a:p>
      </dgm:t>
    </dgm:pt>
    <dgm:pt modelId="{BD0E4CBA-1F76-4C82-9DC8-738BC5249D75}" type="sibTrans" cxnId="{4314F27D-0ACB-4FB3-BCE2-AA256111E02A}">
      <dgm:prSet/>
      <dgm:spPr/>
      <dgm:t>
        <a:bodyPr/>
        <a:lstStyle/>
        <a:p>
          <a:endParaRPr lang="en-US"/>
        </a:p>
      </dgm:t>
    </dgm:pt>
    <dgm:pt modelId="{5D5E90BB-1097-41FC-9564-2D260F4AA3A6}">
      <dgm:prSet/>
      <dgm:spPr/>
      <dgm:t>
        <a:bodyPr/>
        <a:lstStyle/>
        <a:p>
          <a:pPr>
            <a:lnSpc>
              <a:spcPct val="100000"/>
            </a:lnSpc>
          </a:pPr>
          <a:r>
            <a:rPr lang="en-GB"/>
            <a:t>The key field of one table needs to be stored in another table as a non-key field – known as a </a:t>
          </a:r>
          <a:r>
            <a:rPr lang="en-GB" b="1"/>
            <a:t>foreign key</a:t>
          </a:r>
          <a:endParaRPr lang="en-US"/>
        </a:p>
      </dgm:t>
    </dgm:pt>
    <dgm:pt modelId="{902BFE36-5B5F-4DD4-A51B-EB1045A6C31E}" type="parTrans" cxnId="{C7B6BCC7-D678-4CB3-9A3D-E36A481A2348}">
      <dgm:prSet/>
      <dgm:spPr/>
      <dgm:t>
        <a:bodyPr/>
        <a:lstStyle/>
        <a:p>
          <a:endParaRPr lang="en-US"/>
        </a:p>
      </dgm:t>
    </dgm:pt>
    <dgm:pt modelId="{760C3E51-2ACD-4ED3-8282-45FD09EA6BD9}" type="sibTrans" cxnId="{C7B6BCC7-D678-4CB3-9A3D-E36A481A2348}">
      <dgm:prSet/>
      <dgm:spPr/>
      <dgm:t>
        <a:bodyPr/>
        <a:lstStyle/>
        <a:p>
          <a:endParaRPr lang="en-US"/>
        </a:p>
      </dgm:t>
    </dgm:pt>
    <dgm:pt modelId="{CC26392D-1FD1-420E-8F46-B5E12E1E6E20}">
      <dgm:prSet/>
      <dgm:spPr/>
      <dgm:t>
        <a:bodyPr/>
        <a:lstStyle/>
        <a:p>
          <a:pPr>
            <a:lnSpc>
              <a:spcPct val="100000"/>
            </a:lnSpc>
          </a:pPr>
          <a:r>
            <a:rPr lang="en-GB" dirty="0"/>
            <a:t>There are three types of relationships;</a:t>
          </a:r>
          <a:endParaRPr lang="en-US" dirty="0"/>
        </a:p>
      </dgm:t>
    </dgm:pt>
    <dgm:pt modelId="{2434F6DB-A8E5-4EE7-9AC9-C50EEEB19790}" type="parTrans" cxnId="{ADF22E3C-EDB4-49CA-99B0-3627B6D3B6CD}">
      <dgm:prSet/>
      <dgm:spPr/>
      <dgm:t>
        <a:bodyPr/>
        <a:lstStyle/>
        <a:p>
          <a:endParaRPr lang="en-US"/>
        </a:p>
      </dgm:t>
    </dgm:pt>
    <dgm:pt modelId="{B05B9480-B810-47D7-A41A-AA06E3AED69A}" type="sibTrans" cxnId="{ADF22E3C-EDB4-49CA-99B0-3627B6D3B6CD}">
      <dgm:prSet/>
      <dgm:spPr/>
      <dgm:t>
        <a:bodyPr/>
        <a:lstStyle/>
        <a:p>
          <a:endParaRPr lang="en-US"/>
        </a:p>
      </dgm:t>
    </dgm:pt>
    <dgm:pt modelId="{0F24EBA8-F7A5-4EBA-9A2C-E17146D8E023}">
      <dgm:prSet custT="1"/>
      <dgm:spPr/>
      <dgm:t>
        <a:bodyPr/>
        <a:lstStyle/>
        <a:p>
          <a:pPr>
            <a:lnSpc>
              <a:spcPct val="100000"/>
            </a:lnSpc>
          </a:pPr>
          <a:r>
            <a:rPr lang="en-GB" sz="1400" b="1" dirty="0" smtClean="0"/>
            <a:t>One-to-One</a:t>
          </a:r>
        </a:p>
        <a:p>
          <a:pPr>
            <a:lnSpc>
              <a:spcPct val="100000"/>
            </a:lnSpc>
          </a:pPr>
          <a:r>
            <a:rPr lang="en-GB" sz="1400" dirty="0" smtClean="0"/>
            <a:t>one record maps to exactly one record in another table</a:t>
          </a:r>
          <a:endParaRPr lang="en-US" sz="1400" dirty="0"/>
        </a:p>
      </dgm:t>
    </dgm:pt>
    <dgm:pt modelId="{7795D3B6-39B9-4982-AA0C-83248E4E6AAF}" type="parTrans" cxnId="{6E4F7D10-2F45-47D3-B1D6-A4AC1A3DDE8A}">
      <dgm:prSet/>
      <dgm:spPr/>
      <dgm:t>
        <a:bodyPr/>
        <a:lstStyle/>
        <a:p>
          <a:endParaRPr lang="en-US"/>
        </a:p>
      </dgm:t>
    </dgm:pt>
    <dgm:pt modelId="{25A003F2-075F-42DF-A901-7863F93E6064}" type="sibTrans" cxnId="{6E4F7D10-2F45-47D3-B1D6-A4AC1A3DDE8A}">
      <dgm:prSet/>
      <dgm:spPr/>
      <dgm:t>
        <a:bodyPr/>
        <a:lstStyle/>
        <a:p>
          <a:endParaRPr lang="en-US"/>
        </a:p>
      </dgm:t>
    </dgm:pt>
    <dgm:pt modelId="{CECC2D57-0942-4D53-BF1A-EDE4CFF8C8F6}">
      <dgm:prSet custT="1"/>
      <dgm:spPr/>
      <dgm:t>
        <a:bodyPr/>
        <a:lstStyle/>
        <a:p>
          <a:pPr>
            <a:lnSpc>
              <a:spcPct val="100000"/>
            </a:lnSpc>
          </a:pPr>
          <a:r>
            <a:rPr lang="en-GB" sz="1400" b="1" dirty="0" smtClean="0"/>
            <a:t>One-to-Many</a:t>
          </a:r>
        </a:p>
        <a:p>
          <a:pPr>
            <a:lnSpc>
              <a:spcPct val="100000"/>
            </a:lnSpc>
          </a:pPr>
          <a:r>
            <a:rPr lang="en-GB" sz="1400" b="0" dirty="0" smtClean="0"/>
            <a:t>One record maps to many records in another table</a:t>
          </a:r>
          <a:endParaRPr lang="en-US" sz="1400" b="0" dirty="0"/>
        </a:p>
      </dgm:t>
    </dgm:pt>
    <dgm:pt modelId="{6BCB3846-1FC1-4E92-8589-E7A5155587F8}" type="parTrans" cxnId="{6DD0079E-0849-4235-AB3D-A72F1B12A09C}">
      <dgm:prSet/>
      <dgm:spPr/>
      <dgm:t>
        <a:bodyPr/>
        <a:lstStyle/>
        <a:p>
          <a:endParaRPr lang="en-US"/>
        </a:p>
      </dgm:t>
    </dgm:pt>
    <dgm:pt modelId="{0827B42F-9046-4D57-9BE4-AFAE3632134F}" type="sibTrans" cxnId="{6DD0079E-0849-4235-AB3D-A72F1B12A09C}">
      <dgm:prSet/>
      <dgm:spPr/>
      <dgm:t>
        <a:bodyPr/>
        <a:lstStyle/>
        <a:p>
          <a:endParaRPr lang="en-US"/>
        </a:p>
      </dgm:t>
    </dgm:pt>
    <dgm:pt modelId="{9F0416EA-A52D-4D73-B575-1442A13596BE}">
      <dgm:prSet custT="1"/>
      <dgm:spPr/>
      <dgm:t>
        <a:bodyPr/>
        <a:lstStyle/>
        <a:p>
          <a:pPr>
            <a:lnSpc>
              <a:spcPct val="100000"/>
            </a:lnSpc>
          </a:pPr>
          <a:r>
            <a:rPr lang="en-GB" sz="1400" b="1" dirty="0"/>
            <a:t>Many-to-Many </a:t>
          </a:r>
          <a:endParaRPr lang="en-GB" sz="1400" b="1" dirty="0" smtClean="0"/>
        </a:p>
        <a:p>
          <a:pPr>
            <a:lnSpc>
              <a:spcPct val="100000"/>
            </a:lnSpc>
          </a:pPr>
          <a:r>
            <a:rPr lang="en-GB" sz="1400" dirty="0" smtClean="0"/>
            <a:t>Many records map to many, resolved through a junction table</a:t>
          </a:r>
          <a:endParaRPr lang="en-US" sz="1400" dirty="0"/>
        </a:p>
      </dgm:t>
    </dgm:pt>
    <dgm:pt modelId="{E0C0947B-019F-4F75-A332-9D663D27806F}" type="parTrans" cxnId="{F1C2AB26-BC83-41A0-B42D-4182C60254C1}">
      <dgm:prSet/>
      <dgm:spPr/>
      <dgm:t>
        <a:bodyPr/>
        <a:lstStyle/>
        <a:p>
          <a:endParaRPr lang="en-US"/>
        </a:p>
      </dgm:t>
    </dgm:pt>
    <dgm:pt modelId="{9D682D84-6291-429F-8B79-DECD6736AC8D}" type="sibTrans" cxnId="{F1C2AB26-BC83-41A0-B42D-4182C60254C1}">
      <dgm:prSet/>
      <dgm:spPr/>
      <dgm:t>
        <a:bodyPr/>
        <a:lstStyle/>
        <a:p>
          <a:endParaRPr lang="en-US"/>
        </a:p>
      </dgm:t>
    </dgm:pt>
    <dgm:pt modelId="{0FE63D74-F2FC-4E0F-B086-B59F7E5C5D97}" type="pres">
      <dgm:prSet presAssocID="{2B5CB143-BA8C-4ED0-9D6E-429AD33A808D}" presName="root" presStyleCnt="0">
        <dgm:presLayoutVars>
          <dgm:dir/>
          <dgm:resizeHandles val="exact"/>
        </dgm:presLayoutVars>
      </dgm:prSet>
      <dgm:spPr/>
      <dgm:t>
        <a:bodyPr/>
        <a:lstStyle/>
        <a:p>
          <a:endParaRPr lang="en-GB"/>
        </a:p>
      </dgm:t>
    </dgm:pt>
    <dgm:pt modelId="{9914757A-7286-4F9D-9BB2-917C2D72D957}" type="pres">
      <dgm:prSet presAssocID="{D3C18F38-4466-4792-BF65-CC994951C6E7}" presName="compNode" presStyleCnt="0"/>
      <dgm:spPr/>
    </dgm:pt>
    <dgm:pt modelId="{2D0A138C-6122-4C0D-8970-16692B4CD71E}" type="pres">
      <dgm:prSet presAssocID="{D3C18F38-4466-4792-BF65-CC994951C6E7}" presName="bgRect" presStyleLbl="bgShp" presStyleIdx="0" presStyleCnt="3"/>
      <dgm:spPr/>
    </dgm:pt>
    <dgm:pt modelId="{7EFC0195-84FF-4522-B880-723353EA94DD}" type="pres">
      <dgm:prSet presAssocID="{D3C18F38-4466-4792-BF65-CC994951C6E7}" presName="iconRect"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GB"/>
        </a:p>
      </dgm:t>
      <dgm:extLst>
        <a:ext uri="{E40237B7-FDA0-4F09-8148-C483321AD2D9}">
          <dgm14:cNvPr xmlns:dgm14="http://schemas.microsoft.com/office/drawing/2010/diagram" id="0" name="" descr="Database"/>
        </a:ext>
      </dgm:extLst>
    </dgm:pt>
    <dgm:pt modelId="{19273EA8-B8D3-4D91-90AB-42964E802B2C}" type="pres">
      <dgm:prSet presAssocID="{D3C18F38-4466-4792-BF65-CC994951C6E7}" presName="spaceRect" presStyleCnt="0"/>
      <dgm:spPr/>
    </dgm:pt>
    <dgm:pt modelId="{22204092-EC18-4723-80E5-37CF439680EE}" type="pres">
      <dgm:prSet presAssocID="{D3C18F38-4466-4792-BF65-CC994951C6E7}" presName="parTx" presStyleLbl="revTx" presStyleIdx="0" presStyleCnt="5">
        <dgm:presLayoutVars>
          <dgm:chMax val="0"/>
          <dgm:chPref val="0"/>
        </dgm:presLayoutVars>
      </dgm:prSet>
      <dgm:spPr/>
      <dgm:t>
        <a:bodyPr/>
        <a:lstStyle/>
        <a:p>
          <a:endParaRPr lang="en-GB"/>
        </a:p>
      </dgm:t>
    </dgm:pt>
    <dgm:pt modelId="{158B2782-EDF7-45AA-BA42-1004A0C580A0}" type="pres">
      <dgm:prSet presAssocID="{3FDAD360-6808-4CC6-AFE4-3DA18FEBDEA4}" presName="sibTrans" presStyleCnt="0"/>
      <dgm:spPr/>
    </dgm:pt>
    <dgm:pt modelId="{C0AE0762-CB00-4319-A91F-2C00AB2B92B1}" type="pres">
      <dgm:prSet presAssocID="{119B6D2F-CC47-4599-83DE-2C90C7930C6C}" presName="compNode" presStyleCnt="0"/>
      <dgm:spPr/>
    </dgm:pt>
    <dgm:pt modelId="{D04582A8-6D36-46F2-A235-2DD8FA8AE272}" type="pres">
      <dgm:prSet presAssocID="{119B6D2F-CC47-4599-83DE-2C90C7930C6C}" presName="bgRect" presStyleLbl="bgShp" presStyleIdx="1" presStyleCnt="3"/>
      <dgm:spPr/>
    </dgm:pt>
    <dgm:pt modelId="{1C090927-6E07-43A6-B10A-5B32F7A15BC0}" type="pres">
      <dgm:prSet presAssocID="{119B6D2F-CC47-4599-83DE-2C90C7930C6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GB"/>
        </a:p>
      </dgm:t>
      <dgm:extLst>
        <a:ext uri="{E40237B7-FDA0-4F09-8148-C483321AD2D9}">
          <dgm14:cNvPr xmlns:dgm14="http://schemas.microsoft.com/office/drawing/2010/diagram" id="0" name="" descr="Flowchart"/>
        </a:ext>
      </dgm:extLst>
    </dgm:pt>
    <dgm:pt modelId="{B7152D30-7F58-4110-B018-0081DAD453B5}" type="pres">
      <dgm:prSet presAssocID="{119B6D2F-CC47-4599-83DE-2C90C7930C6C}" presName="spaceRect" presStyleCnt="0"/>
      <dgm:spPr/>
    </dgm:pt>
    <dgm:pt modelId="{231C7042-7155-4D01-A96C-1D7C55078373}" type="pres">
      <dgm:prSet presAssocID="{119B6D2F-CC47-4599-83DE-2C90C7930C6C}" presName="parTx" presStyleLbl="revTx" presStyleIdx="1" presStyleCnt="5">
        <dgm:presLayoutVars>
          <dgm:chMax val="0"/>
          <dgm:chPref val="0"/>
        </dgm:presLayoutVars>
      </dgm:prSet>
      <dgm:spPr/>
      <dgm:t>
        <a:bodyPr/>
        <a:lstStyle/>
        <a:p>
          <a:endParaRPr lang="en-GB"/>
        </a:p>
      </dgm:t>
    </dgm:pt>
    <dgm:pt modelId="{41B271AF-6EE2-4F04-BC32-DD64A4E32407}" type="pres">
      <dgm:prSet presAssocID="{119B6D2F-CC47-4599-83DE-2C90C7930C6C}" presName="desTx" presStyleLbl="revTx" presStyleIdx="2" presStyleCnt="5">
        <dgm:presLayoutVars/>
      </dgm:prSet>
      <dgm:spPr/>
      <dgm:t>
        <a:bodyPr/>
        <a:lstStyle/>
        <a:p>
          <a:endParaRPr lang="en-GB"/>
        </a:p>
      </dgm:t>
    </dgm:pt>
    <dgm:pt modelId="{87CFA946-C8E3-4783-8016-D908935A2A99}" type="pres">
      <dgm:prSet presAssocID="{BD0E4CBA-1F76-4C82-9DC8-738BC5249D75}" presName="sibTrans" presStyleCnt="0"/>
      <dgm:spPr/>
    </dgm:pt>
    <dgm:pt modelId="{6CF9BE64-DC02-4BD9-9231-81D370D69169}" type="pres">
      <dgm:prSet presAssocID="{CC26392D-1FD1-420E-8F46-B5E12E1E6E20}" presName="compNode" presStyleCnt="0"/>
      <dgm:spPr/>
    </dgm:pt>
    <dgm:pt modelId="{53A96AC3-7389-4E57-8277-CC05B2D92420}" type="pres">
      <dgm:prSet presAssocID="{CC26392D-1FD1-420E-8F46-B5E12E1E6E20}" presName="bgRect" presStyleLbl="bgShp" presStyleIdx="2" presStyleCnt="3" custLinFactNeighborX="-806" custLinFactNeighborY="1312"/>
      <dgm:spPr/>
    </dgm:pt>
    <dgm:pt modelId="{F4DB4EA9-7799-4B12-9295-52AF43CC879A}" type="pres">
      <dgm:prSet presAssocID="{CC26392D-1FD1-420E-8F46-B5E12E1E6E20}"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t>
        <a:bodyPr/>
        <a:lstStyle/>
        <a:p>
          <a:endParaRPr lang="en-GB"/>
        </a:p>
      </dgm:t>
      <dgm:extLst>
        <a:ext uri="{E40237B7-FDA0-4F09-8148-C483321AD2D9}">
          <dgm14:cNvPr xmlns:dgm14="http://schemas.microsoft.com/office/drawing/2010/diagram" id="0" name="" descr="Circles with Lines"/>
        </a:ext>
      </dgm:extLst>
    </dgm:pt>
    <dgm:pt modelId="{DA55BDB4-DD62-4F47-926A-EB32E3F4812D}" type="pres">
      <dgm:prSet presAssocID="{CC26392D-1FD1-420E-8F46-B5E12E1E6E20}" presName="spaceRect" presStyleCnt="0"/>
      <dgm:spPr/>
    </dgm:pt>
    <dgm:pt modelId="{58F5731B-0669-4C8B-A712-1C490BAD6202}" type="pres">
      <dgm:prSet presAssocID="{CC26392D-1FD1-420E-8F46-B5E12E1E6E20}" presName="parTx" presStyleLbl="revTx" presStyleIdx="3" presStyleCnt="5">
        <dgm:presLayoutVars>
          <dgm:chMax val="0"/>
          <dgm:chPref val="0"/>
        </dgm:presLayoutVars>
      </dgm:prSet>
      <dgm:spPr/>
      <dgm:t>
        <a:bodyPr/>
        <a:lstStyle/>
        <a:p>
          <a:endParaRPr lang="en-GB"/>
        </a:p>
      </dgm:t>
    </dgm:pt>
    <dgm:pt modelId="{DD77AC63-939E-4EEC-BCB7-BA9CED532940}" type="pres">
      <dgm:prSet presAssocID="{CC26392D-1FD1-420E-8F46-B5E12E1E6E20}" presName="desTx" presStyleLbl="revTx" presStyleIdx="4" presStyleCnt="5" custScaleX="113631">
        <dgm:presLayoutVars/>
      </dgm:prSet>
      <dgm:spPr/>
      <dgm:t>
        <a:bodyPr/>
        <a:lstStyle/>
        <a:p>
          <a:endParaRPr lang="en-GB"/>
        </a:p>
      </dgm:t>
    </dgm:pt>
  </dgm:ptLst>
  <dgm:cxnLst>
    <dgm:cxn modelId="{4314F27D-0ACB-4FB3-BCE2-AA256111E02A}" srcId="{2B5CB143-BA8C-4ED0-9D6E-429AD33A808D}" destId="{119B6D2F-CC47-4599-83DE-2C90C7930C6C}" srcOrd="1" destOrd="0" parTransId="{82EE22EE-7788-4C8F-897F-FBF8DAB71F2A}" sibTransId="{BD0E4CBA-1F76-4C82-9DC8-738BC5249D75}"/>
    <dgm:cxn modelId="{F1C2AB26-BC83-41A0-B42D-4182C60254C1}" srcId="{CC26392D-1FD1-420E-8F46-B5E12E1E6E20}" destId="{9F0416EA-A52D-4D73-B575-1442A13596BE}" srcOrd="2" destOrd="0" parTransId="{E0C0947B-019F-4F75-A332-9D663D27806F}" sibTransId="{9D682D84-6291-429F-8B79-DECD6736AC8D}"/>
    <dgm:cxn modelId="{AD592B58-A3BA-4E0F-A511-C648A7032B6C}" type="presOf" srcId="{CECC2D57-0942-4D53-BF1A-EDE4CFF8C8F6}" destId="{DD77AC63-939E-4EEC-BCB7-BA9CED532940}" srcOrd="0" destOrd="1" presId="urn:microsoft.com/office/officeart/2018/2/layout/IconVerticalSolidList"/>
    <dgm:cxn modelId="{B5775E88-0C74-4D05-BE44-A1B3376DFE4C}" type="presOf" srcId="{0F24EBA8-F7A5-4EBA-9A2C-E17146D8E023}" destId="{DD77AC63-939E-4EEC-BCB7-BA9CED532940}" srcOrd="0" destOrd="0" presId="urn:microsoft.com/office/officeart/2018/2/layout/IconVerticalSolidList"/>
    <dgm:cxn modelId="{2AB5590E-E054-43A7-9305-4792F2F6DA4D}" type="presOf" srcId="{D3C18F38-4466-4792-BF65-CC994951C6E7}" destId="{22204092-EC18-4723-80E5-37CF439680EE}" srcOrd="0" destOrd="0" presId="urn:microsoft.com/office/officeart/2018/2/layout/IconVerticalSolidList"/>
    <dgm:cxn modelId="{1191B63C-2CB6-4B84-8F55-27194E6D8522}" type="presOf" srcId="{2B5CB143-BA8C-4ED0-9D6E-429AD33A808D}" destId="{0FE63D74-F2FC-4E0F-B086-B59F7E5C5D97}" srcOrd="0" destOrd="0" presId="urn:microsoft.com/office/officeart/2018/2/layout/IconVerticalSolidList"/>
    <dgm:cxn modelId="{DC0646A7-D87A-4619-8A0E-82D6B4FE2DF5}" type="presOf" srcId="{CC26392D-1FD1-420E-8F46-B5E12E1E6E20}" destId="{58F5731B-0669-4C8B-A712-1C490BAD6202}" srcOrd="0" destOrd="0" presId="urn:microsoft.com/office/officeart/2018/2/layout/IconVerticalSolidList"/>
    <dgm:cxn modelId="{6DD0079E-0849-4235-AB3D-A72F1B12A09C}" srcId="{CC26392D-1FD1-420E-8F46-B5E12E1E6E20}" destId="{CECC2D57-0942-4D53-BF1A-EDE4CFF8C8F6}" srcOrd="1" destOrd="0" parTransId="{6BCB3846-1FC1-4E92-8589-E7A5155587F8}" sibTransId="{0827B42F-9046-4D57-9BE4-AFAE3632134F}"/>
    <dgm:cxn modelId="{6E4F7D10-2F45-47D3-B1D6-A4AC1A3DDE8A}" srcId="{CC26392D-1FD1-420E-8F46-B5E12E1E6E20}" destId="{0F24EBA8-F7A5-4EBA-9A2C-E17146D8E023}" srcOrd="0" destOrd="0" parTransId="{7795D3B6-39B9-4982-AA0C-83248E4E6AAF}" sibTransId="{25A003F2-075F-42DF-A901-7863F93E6064}"/>
    <dgm:cxn modelId="{ADF22E3C-EDB4-49CA-99B0-3627B6D3B6CD}" srcId="{2B5CB143-BA8C-4ED0-9D6E-429AD33A808D}" destId="{CC26392D-1FD1-420E-8F46-B5E12E1E6E20}" srcOrd="2" destOrd="0" parTransId="{2434F6DB-A8E5-4EE7-9AC9-C50EEEB19790}" sibTransId="{B05B9480-B810-47D7-A41A-AA06E3AED69A}"/>
    <dgm:cxn modelId="{73A3B969-F8B5-4E4C-AD8C-901F0A994F1C}" srcId="{2B5CB143-BA8C-4ED0-9D6E-429AD33A808D}" destId="{D3C18F38-4466-4792-BF65-CC994951C6E7}" srcOrd="0" destOrd="0" parTransId="{9839EEFE-0EF4-4A2A-B1D1-4CC7DA641D35}" sibTransId="{3FDAD360-6808-4CC6-AFE4-3DA18FEBDEA4}"/>
    <dgm:cxn modelId="{F5E919CA-53E4-4675-876C-4B6A8500944B}" type="presOf" srcId="{119B6D2F-CC47-4599-83DE-2C90C7930C6C}" destId="{231C7042-7155-4D01-A96C-1D7C55078373}" srcOrd="0" destOrd="0" presId="urn:microsoft.com/office/officeart/2018/2/layout/IconVerticalSolidList"/>
    <dgm:cxn modelId="{867AEC33-DA3E-45BE-8570-CBFA6C8BBC3F}" type="presOf" srcId="{5D5E90BB-1097-41FC-9564-2D260F4AA3A6}" destId="{41B271AF-6EE2-4F04-BC32-DD64A4E32407}" srcOrd="0" destOrd="0" presId="urn:microsoft.com/office/officeart/2018/2/layout/IconVerticalSolidList"/>
    <dgm:cxn modelId="{C7B6BCC7-D678-4CB3-9A3D-E36A481A2348}" srcId="{119B6D2F-CC47-4599-83DE-2C90C7930C6C}" destId="{5D5E90BB-1097-41FC-9564-2D260F4AA3A6}" srcOrd="0" destOrd="0" parTransId="{902BFE36-5B5F-4DD4-A51B-EB1045A6C31E}" sibTransId="{760C3E51-2ACD-4ED3-8282-45FD09EA6BD9}"/>
    <dgm:cxn modelId="{474BE44D-B2FA-4F85-8473-CEC15D3F4A50}" type="presOf" srcId="{9F0416EA-A52D-4D73-B575-1442A13596BE}" destId="{DD77AC63-939E-4EEC-BCB7-BA9CED532940}" srcOrd="0" destOrd="2" presId="urn:microsoft.com/office/officeart/2018/2/layout/IconVerticalSolidList"/>
    <dgm:cxn modelId="{239316F5-44DA-456E-ADFF-613D87859941}" type="presParOf" srcId="{0FE63D74-F2FC-4E0F-B086-B59F7E5C5D97}" destId="{9914757A-7286-4F9D-9BB2-917C2D72D957}" srcOrd="0" destOrd="0" presId="urn:microsoft.com/office/officeart/2018/2/layout/IconVerticalSolidList"/>
    <dgm:cxn modelId="{FA160AE7-76DA-499A-A86D-D14ECEF31C8A}" type="presParOf" srcId="{9914757A-7286-4F9D-9BB2-917C2D72D957}" destId="{2D0A138C-6122-4C0D-8970-16692B4CD71E}" srcOrd="0" destOrd="0" presId="urn:microsoft.com/office/officeart/2018/2/layout/IconVerticalSolidList"/>
    <dgm:cxn modelId="{00AE838D-4F84-4B21-9255-42C4C0BA9223}" type="presParOf" srcId="{9914757A-7286-4F9D-9BB2-917C2D72D957}" destId="{7EFC0195-84FF-4522-B880-723353EA94DD}" srcOrd="1" destOrd="0" presId="urn:microsoft.com/office/officeart/2018/2/layout/IconVerticalSolidList"/>
    <dgm:cxn modelId="{F2C0374F-02D6-4D14-B2BC-7042D0F54A80}" type="presParOf" srcId="{9914757A-7286-4F9D-9BB2-917C2D72D957}" destId="{19273EA8-B8D3-4D91-90AB-42964E802B2C}" srcOrd="2" destOrd="0" presId="urn:microsoft.com/office/officeart/2018/2/layout/IconVerticalSolidList"/>
    <dgm:cxn modelId="{D8231E7C-F4D0-4F40-BFFD-23155ED59F72}" type="presParOf" srcId="{9914757A-7286-4F9D-9BB2-917C2D72D957}" destId="{22204092-EC18-4723-80E5-37CF439680EE}" srcOrd="3" destOrd="0" presId="urn:microsoft.com/office/officeart/2018/2/layout/IconVerticalSolidList"/>
    <dgm:cxn modelId="{F3F0415C-448C-4F44-8DEC-958EFF0F040F}" type="presParOf" srcId="{0FE63D74-F2FC-4E0F-B086-B59F7E5C5D97}" destId="{158B2782-EDF7-45AA-BA42-1004A0C580A0}" srcOrd="1" destOrd="0" presId="urn:microsoft.com/office/officeart/2018/2/layout/IconVerticalSolidList"/>
    <dgm:cxn modelId="{990ABFD2-B50A-42CD-AB40-B24375CDAC0A}" type="presParOf" srcId="{0FE63D74-F2FC-4E0F-B086-B59F7E5C5D97}" destId="{C0AE0762-CB00-4319-A91F-2C00AB2B92B1}" srcOrd="2" destOrd="0" presId="urn:microsoft.com/office/officeart/2018/2/layout/IconVerticalSolidList"/>
    <dgm:cxn modelId="{4EF5CE9A-933E-427E-B46F-681EC08CCFE4}" type="presParOf" srcId="{C0AE0762-CB00-4319-A91F-2C00AB2B92B1}" destId="{D04582A8-6D36-46F2-A235-2DD8FA8AE272}" srcOrd="0" destOrd="0" presId="urn:microsoft.com/office/officeart/2018/2/layout/IconVerticalSolidList"/>
    <dgm:cxn modelId="{48298CAC-DE2D-470B-BC4D-F9D932CB83A1}" type="presParOf" srcId="{C0AE0762-CB00-4319-A91F-2C00AB2B92B1}" destId="{1C090927-6E07-43A6-B10A-5B32F7A15BC0}" srcOrd="1" destOrd="0" presId="urn:microsoft.com/office/officeart/2018/2/layout/IconVerticalSolidList"/>
    <dgm:cxn modelId="{8ACB5043-C1A0-4C82-9E1E-BA93DE9E33C2}" type="presParOf" srcId="{C0AE0762-CB00-4319-A91F-2C00AB2B92B1}" destId="{B7152D30-7F58-4110-B018-0081DAD453B5}" srcOrd="2" destOrd="0" presId="urn:microsoft.com/office/officeart/2018/2/layout/IconVerticalSolidList"/>
    <dgm:cxn modelId="{28CBCB1B-7873-47E8-A70A-298DCBC6A058}" type="presParOf" srcId="{C0AE0762-CB00-4319-A91F-2C00AB2B92B1}" destId="{231C7042-7155-4D01-A96C-1D7C55078373}" srcOrd="3" destOrd="0" presId="urn:microsoft.com/office/officeart/2018/2/layout/IconVerticalSolidList"/>
    <dgm:cxn modelId="{D311405B-07B8-4A85-9094-985B0086EB81}" type="presParOf" srcId="{C0AE0762-CB00-4319-A91F-2C00AB2B92B1}" destId="{41B271AF-6EE2-4F04-BC32-DD64A4E32407}" srcOrd="4" destOrd="0" presId="urn:microsoft.com/office/officeart/2018/2/layout/IconVerticalSolidList"/>
    <dgm:cxn modelId="{A67CDEB2-F515-4E0C-8BFC-19D39804B8E0}" type="presParOf" srcId="{0FE63D74-F2FC-4E0F-B086-B59F7E5C5D97}" destId="{87CFA946-C8E3-4783-8016-D908935A2A99}" srcOrd="3" destOrd="0" presId="urn:microsoft.com/office/officeart/2018/2/layout/IconVerticalSolidList"/>
    <dgm:cxn modelId="{DC1940AB-1D7E-4E8B-BD68-11563E16E6F7}" type="presParOf" srcId="{0FE63D74-F2FC-4E0F-B086-B59F7E5C5D97}" destId="{6CF9BE64-DC02-4BD9-9231-81D370D69169}" srcOrd="4" destOrd="0" presId="urn:microsoft.com/office/officeart/2018/2/layout/IconVerticalSolidList"/>
    <dgm:cxn modelId="{CF963376-EEC3-43BE-9B99-AB6783F036B8}" type="presParOf" srcId="{6CF9BE64-DC02-4BD9-9231-81D370D69169}" destId="{53A96AC3-7389-4E57-8277-CC05B2D92420}" srcOrd="0" destOrd="0" presId="urn:microsoft.com/office/officeart/2018/2/layout/IconVerticalSolidList"/>
    <dgm:cxn modelId="{91C93043-F114-425A-B9CD-45D9AE2706C0}" type="presParOf" srcId="{6CF9BE64-DC02-4BD9-9231-81D370D69169}" destId="{F4DB4EA9-7799-4B12-9295-52AF43CC879A}" srcOrd="1" destOrd="0" presId="urn:microsoft.com/office/officeart/2018/2/layout/IconVerticalSolidList"/>
    <dgm:cxn modelId="{C674473C-2780-4BEE-A31D-174BF720EA48}" type="presParOf" srcId="{6CF9BE64-DC02-4BD9-9231-81D370D69169}" destId="{DA55BDB4-DD62-4F47-926A-EB32E3F4812D}" srcOrd="2" destOrd="0" presId="urn:microsoft.com/office/officeart/2018/2/layout/IconVerticalSolidList"/>
    <dgm:cxn modelId="{C700366A-444F-4DD3-8FDC-F6BEA1ECF3FC}" type="presParOf" srcId="{6CF9BE64-DC02-4BD9-9231-81D370D69169}" destId="{58F5731B-0669-4C8B-A712-1C490BAD6202}" srcOrd="3" destOrd="0" presId="urn:microsoft.com/office/officeart/2018/2/layout/IconVerticalSolidList"/>
    <dgm:cxn modelId="{90699A2B-D4B4-4128-BA8F-4314E7846BD7}" type="presParOf" srcId="{6CF9BE64-DC02-4BD9-9231-81D370D69169}" destId="{DD77AC63-939E-4EEC-BCB7-BA9CED53294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838AAE-CD3E-41AB-B653-78D5595EDA4F}"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212EC7EC-06A5-409A-9FB1-A206E42ED08C}">
      <dgm:prSet custT="1"/>
      <dgm:spPr/>
      <dgm:t>
        <a:bodyPr/>
        <a:lstStyle/>
        <a:p>
          <a:pPr>
            <a:defRPr b="1"/>
          </a:pPr>
          <a:r>
            <a:rPr lang="en-GB" sz="2800"/>
            <a:t>Best to use a spreadsheet for importing data</a:t>
          </a:r>
          <a:endParaRPr lang="en-US" sz="2800"/>
        </a:p>
      </dgm:t>
    </dgm:pt>
    <dgm:pt modelId="{1A54F56F-292F-47E4-A7AF-C037171F8866}" type="parTrans" cxnId="{75C65F01-099C-4AB0-9493-16E96FC01D35}">
      <dgm:prSet/>
      <dgm:spPr/>
      <dgm:t>
        <a:bodyPr/>
        <a:lstStyle/>
        <a:p>
          <a:endParaRPr lang="en-US" sz="3600"/>
        </a:p>
      </dgm:t>
    </dgm:pt>
    <dgm:pt modelId="{4DA50022-D184-4903-9D3C-16E729C32296}" type="sibTrans" cxnId="{75C65F01-099C-4AB0-9493-16E96FC01D35}">
      <dgm:prSet/>
      <dgm:spPr/>
      <dgm:t>
        <a:bodyPr/>
        <a:lstStyle/>
        <a:p>
          <a:endParaRPr lang="en-US" sz="3600"/>
        </a:p>
      </dgm:t>
    </dgm:pt>
    <dgm:pt modelId="{EA9A88EE-6A09-4ABB-9C72-3BF920765B70}">
      <dgm:prSet custT="1"/>
      <dgm:spPr/>
      <dgm:t>
        <a:bodyPr/>
        <a:lstStyle/>
        <a:p>
          <a:pPr>
            <a:buFont typeface="Arial" panose="020B0604020202020204" pitchFamily="34" charset="0"/>
            <a:buChar char="•"/>
          </a:pPr>
          <a:r>
            <a:rPr lang="en-GB" sz="2000" dirty="0"/>
            <a:t>Offers easy manipulation of data</a:t>
          </a:r>
          <a:endParaRPr lang="en-US" sz="2000" dirty="0"/>
        </a:p>
      </dgm:t>
    </dgm:pt>
    <dgm:pt modelId="{B9267D9D-11F9-4E8A-A344-F0BC9F154365}" type="parTrans" cxnId="{7F199A8C-3D37-4043-963A-4512F6D82643}">
      <dgm:prSet/>
      <dgm:spPr/>
      <dgm:t>
        <a:bodyPr/>
        <a:lstStyle/>
        <a:p>
          <a:endParaRPr lang="en-US" sz="3600"/>
        </a:p>
      </dgm:t>
    </dgm:pt>
    <dgm:pt modelId="{5446F789-4695-42DF-95BD-4AFB5431F008}" type="sibTrans" cxnId="{7F199A8C-3D37-4043-963A-4512F6D82643}">
      <dgm:prSet/>
      <dgm:spPr/>
      <dgm:t>
        <a:bodyPr/>
        <a:lstStyle/>
        <a:p>
          <a:endParaRPr lang="en-US" sz="3600"/>
        </a:p>
      </dgm:t>
    </dgm:pt>
    <dgm:pt modelId="{6E47BD1E-2B3F-42E5-BBD0-DAC58DCCF382}">
      <dgm:prSet custT="1"/>
      <dgm:spPr/>
      <dgm:t>
        <a:bodyPr/>
        <a:lstStyle/>
        <a:p>
          <a:pPr>
            <a:buFont typeface="Arial" panose="020B0604020202020204" pitchFamily="34" charset="0"/>
            <a:buChar char="•"/>
          </a:pPr>
          <a:r>
            <a:rPr lang="en-GB" sz="2000" dirty="0"/>
            <a:t>Allows analysis of numerical data</a:t>
          </a:r>
          <a:endParaRPr lang="en-US" sz="2000" dirty="0"/>
        </a:p>
      </dgm:t>
    </dgm:pt>
    <dgm:pt modelId="{4F5A4C13-7677-4CEE-8D97-D02EFDD366B4}" type="parTrans" cxnId="{E826BB3A-6162-4D5A-8A7E-1F7BF495B5A0}">
      <dgm:prSet/>
      <dgm:spPr/>
      <dgm:t>
        <a:bodyPr/>
        <a:lstStyle/>
        <a:p>
          <a:endParaRPr lang="en-US" sz="3600"/>
        </a:p>
      </dgm:t>
    </dgm:pt>
    <dgm:pt modelId="{318A0BB4-46D0-46D6-BFA8-C36FAA26D9E6}" type="sibTrans" cxnId="{E826BB3A-6162-4D5A-8A7E-1F7BF495B5A0}">
      <dgm:prSet/>
      <dgm:spPr/>
      <dgm:t>
        <a:bodyPr/>
        <a:lstStyle/>
        <a:p>
          <a:endParaRPr lang="en-US" sz="3600"/>
        </a:p>
      </dgm:t>
    </dgm:pt>
    <dgm:pt modelId="{D40F50E9-CC92-49A7-930E-C35945C5C3A4}">
      <dgm:prSet custT="1"/>
      <dgm:spPr/>
      <dgm:t>
        <a:bodyPr/>
        <a:lstStyle/>
        <a:p>
          <a:pPr>
            <a:defRPr b="1"/>
          </a:pPr>
          <a:r>
            <a:rPr lang="en-GB" sz="2800"/>
            <a:t>A database can store several linked tables which makes consolidating and organising data even easier</a:t>
          </a:r>
          <a:endParaRPr lang="en-US" sz="2800"/>
        </a:p>
      </dgm:t>
    </dgm:pt>
    <dgm:pt modelId="{FB3CF5DE-AFCF-4CD0-AEB6-9264FC2DDC28}" type="parTrans" cxnId="{5B416CE4-5A48-40DC-82BA-6116277592DA}">
      <dgm:prSet/>
      <dgm:spPr/>
      <dgm:t>
        <a:bodyPr/>
        <a:lstStyle/>
        <a:p>
          <a:endParaRPr lang="en-US" sz="3600"/>
        </a:p>
      </dgm:t>
    </dgm:pt>
    <dgm:pt modelId="{3EFCF137-70A4-4C7F-A498-0C91B328C20E}" type="sibTrans" cxnId="{5B416CE4-5A48-40DC-82BA-6116277592DA}">
      <dgm:prSet/>
      <dgm:spPr/>
      <dgm:t>
        <a:bodyPr/>
        <a:lstStyle/>
        <a:p>
          <a:endParaRPr lang="en-US" sz="3600"/>
        </a:p>
      </dgm:t>
    </dgm:pt>
    <dgm:pt modelId="{2AB07B57-12AD-4D63-916E-340BF3B878C7}" type="pres">
      <dgm:prSet presAssocID="{4B838AAE-CD3E-41AB-B653-78D5595EDA4F}" presName="root" presStyleCnt="0">
        <dgm:presLayoutVars>
          <dgm:dir/>
          <dgm:resizeHandles val="exact"/>
        </dgm:presLayoutVars>
      </dgm:prSet>
      <dgm:spPr/>
      <dgm:t>
        <a:bodyPr/>
        <a:lstStyle/>
        <a:p>
          <a:endParaRPr lang="en-GB"/>
        </a:p>
      </dgm:t>
    </dgm:pt>
    <dgm:pt modelId="{059F5616-A9B2-41FD-836E-213471C6DFC5}" type="pres">
      <dgm:prSet presAssocID="{212EC7EC-06A5-409A-9FB1-A206E42ED08C}" presName="compNode" presStyleCnt="0"/>
      <dgm:spPr/>
    </dgm:pt>
    <dgm:pt modelId="{6FD4FD48-E596-4F1D-82DB-D6FC8AEDEE88}" type="pres">
      <dgm:prSet presAssocID="{212EC7EC-06A5-409A-9FB1-A206E42ED08C}" presName="iconRect" presStyleLbl="node1" presStyleIdx="0" presStyleCnt="2" custLinFactNeighborX="81857" custLinFactNeighborY="122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GB"/>
        </a:p>
      </dgm:t>
      <dgm:extLst>
        <a:ext uri="{E40237B7-FDA0-4F09-8148-C483321AD2D9}">
          <dgm14:cNvPr xmlns:dgm14="http://schemas.microsoft.com/office/drawing/2010/diagram" id="0" name="" descr="Database"/>
        </a:ext>
      </dgm:extLst>
    </dgm:pt>
    <dgm:pt modelId="{D21AEDEB-3BF9-4982-84C9-830635AB1B65}" type="pres">
      <dgm:prSet presAssocID="{212EC7EC-06A5-409A-9FB1-A206E42ED08C}" presName="iconSpace" presStyleCnt="0"/>
      <dgm:spPr/>
    </dgm:pt>
    <dgm:pt modelId="{DBC01B98-10E4-41CD-A9C7-ED45C9C348FB}" type="pres">
      <dgm:prSet presAssocID="{212EC7EC-06A5-409A-9FB1-A206E42ED08C}" presName="parTx" presStyleLbl="revTx" presStyleIdx="0" presStyleCnt="4">
        <dgm:presLayoutVars>
          <dgm:chMax val="0"/>
          <dgm:chPref val="0"/>
        </dgm:presLayoutVars>
      </dgm:prSet>
      <dgm:spPr/>
      <dgm:t>
        <a:bodyPr/>
        <a:lstStyle/>
        <a:p>
          <a:endParaRPr lang="en-GB"/>
        </a:p>
      </dgm:t>
    </dgm:pt>
    <dgm:pt modelId="{0D90F078-8C25-44FF-89B4-0451C17A2552}" type="pres">
      <dgm:prSet presAssocID="{212EC7EC-06A5-409A-9FB1-A206E42ED08C}" presName="txSpace" presStyleCnt="0"/>
      <dgm:spPr/>
    </dgm:pt>
    <dgm:pt modelId="{BA1F939F-0D85-4C18-A501-42BB91F17E88}" type="pres">
      <dgm:prSet presAssocID="{212EC7EC-06A5-409A-9FB1-A206E42ED08C}" presName="desTx" presStyleLbl="revTx" presStyleIdx="1" presStyleCnt="4" custLinFactY="-7982" custLinFactNeighborX="-1360" custLinFactNeighborY="-100000">
        <dgm:presLayoutVars/>
      </dgm:prSet>
      <dgm:spPr/>
      <dgm:t>
        <a:bodyPr/>
        <a:lstStyle/>
        <a:p>
          <a:endParaRPr lang="en-GB"/>
        </a:p>
      </dgm:t>
    </dgm:pt>
    <dgm:pt modelId="{FF382635-9977-43DD-B1DC-48F987BD14F2}" type="pres">
      <dgm:prSet presAssocID="{4DA50022-D184-4903-9D3C-16E729C32296}" presName="sibTrans" presStyleCnt="0"/>
      <dgm:spPr/>
    </dgm:pt>
    <dgm:pt modelId="{826529C3-0C15-43B6-8767-A9634F22BA56}" type="pres">
      <dgm:prSet presAssocID="{D40F50E9-CC92-49A7-930E-C35945C5C3A4}" presName="compNode" presStyleCnt="0"/>
      <dgm:spPr/>
    </dgm:pt>
    <dgm:pt modelId="{BE1E9133-BF44-4211-9973-E30CF0F15267}" type="pres">
      <dgm:prSet presAssocID="{D40F50E9-CC92-49A7-930E-C35945C5C3A4}" presName="iconRect" presStyleLbl="node1" presStyleIdx="1" presStyleCnt="2" custLinFactNeighborX="94685" custLinFactNeighborY="305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GB"/>
        </a:p>
      </dgm:t>
      <dgm:extLst>
        <a:ext uri="{E40237B7-FDA0-4F09-8148-C483321AD2D9}">
          <dgm14:cNvPr xmlns:dgm14="http://schemas.microsoft.com/office/drawing/2010/diagram" id="0" name="" descr="Flowchart"/>
        </a:ext>
      </dgm:extLst>
    </dgm:pt>
    <dgm:pt modelId="{8115D547-3CD3-43F7-ACFF-C2E2C3D50CB4}" type="pres">
      <dgm:prSet presAssocID="{D40F50E9-CC92-49A7-930E-C35945C5C3A4}" presName="iconSpace" presStyleCnt="0"/>
      <dgm:spPr/>
    </dgm:pt>
    <dgm:pt modelId="{14D222DD-3722-417A-B436-49F52ECF9789}" type="pres">
      <dgm:prSet presAssocID="{D40F50E9-CC92-49A7-930E-C35945C5C3A4}" presName="parTx" presStyleLbl="revTx" presStyleIdx="2" presStyleCnt="4">
        <dgm:presLayoutVars>
          <dgm:chMax val="0"/>
          <dgm:chPref val="0"/>
        </dgm:presLayoutVars>
      </dgm:prSet>
      <dgm:spPr/>
      <dgm:t>
        <a:bodyPr/>
        <a:lstStyle/>
        <a:p>
          <a:endParaRPr lang="en-GB"/>
        </a:p>
      </dgm:t>
    </dgm:pt>
    <dgm:pt modelId="{D9FC5299-9BC3-4EEC-9C6F-27D202F95156}" type="pres">
      <dgm:prSet presAssocID="{D40F50E9-CC92-49A7-930E-C35945C5C3A4}" presName="txSpace" presStyleCnt="0"/>
      <dgm:spPr/>
    </dgm:pt>
    <dgm:pt modelId="{8EE25597-A601-4F04-9340-8EB1F71C4F00}" type="pres">
      <dgm:prSet presAssocID="{D40F50E9-CC92-49A7-930E-C35945C5C3A4}" presName="desTx" presStyleLbl="revTx" presStyleIdx="3" presStyleCnt="4">
        <dgm:presLayoutVars/>
      </dgm:prSet>
      <dgm:spPr/>
    </dgm:pt>
  </dgm:ptLst>
  <dgm:cxnLst>
    <dgm:cxn modelId="{E826BB3A-6162-4D5A-8A7E-1F7BF495B5A0}" srcId="{212EC7EC-06A5-409A-9FB1-A206E42ED08C}" destId="{6E47BD1E-2B3F-42E5-BBD0-DAC58DCCF382}" srcOrd="1" destOrd="0" parTransId="{4F5A4C13-7677-4CEE-8D97-D02EFDD366B4}" sibTransId="{318A0BB4-46D0-46D6-BFA8-C36FAA26D9E6}"/>
    <dgm:cxn modelId="{7ACFEB17-C14E-4810-8D19-6644F069F2BB}" type="presOf" srcId="{4B838AAE-CD3E-41AB-B653-78D5595EDA4F}" destId="{2AB07B57-12AD-4D63-916E-340BF3B878C7}" srcOrd="0" destOrd="0" presId="urn:microsoft.com/office/officeart/2018/2/layout/IconLabelDescriptionList"/>
    <dgm:cxn modelId="{7FE78DA9-50C9-4336-8E7F-9F606C6150C4}" type="presOf" srcId="{D40F50E9-CC92-49A7-930E-C35945C5C3A4}" destId="{14D222DD-3722-417A-B436-49F52ECF9789}" srcOrd="0" destOrd="0" presId="urn:microsoft.com/office/officeart/2018/2/layout/IconLabelDescriptionList"/>
    <dgm:cxn modelId="{75C65F01-099C-4AB0-9493-16E96FC01D35}" srcId="{4B838AAE-CD3E-41AB-B653-78D5595EDA4F}" destId="{212EC7EC-06A5-409A-9FB1-A206E42ED08C}" srcOrd="0" destOrd="0" parTransId="{1A54F56F-292F-47E4-A7AF-C037171F8866}" sibTransId="{4DA50022-D184-4903-9D3C-16E729C32296}"/>
    <dgm:cxn modelId="{5B416CE4-5A48-40DC-82BA-6116277592DA}" srcId="{4B838AAE-CD3E-41AB-B653-78D5595EDA4F}" destId="{D40F50E9-CC92-49A7-930E-C35945C5C3A4}" srcOrd="1" destOrd="0" parTransId="{FB3CF5DE-AFCF-4CD0-AEB6-9264FC2DDC28}" sibTransId="{3EFCF137-70A4-4C7F-A498-0C91B328C20E}"/>
    <dgm:cxn modelId="{95F6A806-1B00-4A6B-A547-67E9C2F40627}" type="presOf" srcId="{6E47BD1E-2B3F-42E5-BBD0-DAC58DCCF382}" destId="{BA1F939F-0D85-4C18-A501-42BB91F17E88}" srcOrd="0" destOrd="1" presId="urn:microsoft.com/office/officeart/2018/2/layout/IconLabelDescriptionList"/>
    <dgm:cxn modelId="{03C6299E-56E9-46C2-8F47-D168BBA34C1C}" type="presOf" srcId="{212EC7EC-06A5-409A-9FB1-A206E42ED08C}" destId="{DBC01B98-10E4-41CD-A9C7-ED45C9C348FB}" srcOrd="0" destOrd="0" presId="urn:microsoft.com/office/officeart/2018/2/layout/IconLabelDescriptionList"/>
    <dgm:cxn modelId="{7F199A8C-3D37-4043-963A-4512F6D82643}" srcId="{212EC7EC-06A5-409A-9FB1-A206E42ED08C}" destId="{EA9A88EE-6A09-4ABB-9C72-3BF920765B70}" srcOrd="0" destOrd="0" parTransId="{B9267D9D-11F9-4E8A-A344-F0BC9F154365}" sibTransId="{5446F789-4695-42DF-95BD-4AFB5431F008}"/>
    <dgm:cxn modelId="{B85B5471-9BEC-46F7-BD57-2F722FBD9A40}" type="presOf" srcId="{EA9A88EE-6A09-4ABB-9C72-3BF920765B70}" destId="{BA1F939F-0D85-4C18-A501-42BB91F17E88}" srcOrd="0" destOrd="0" presId="urn:microsoft.com/office/officeart/2018/2/layout/IconLabelDescriptionList"/>
    <dgm:cxn modelId="{FF88CBDC-83E4-4ACF-96F4-AC4E3CB69620}" type="presParOf" srcId="{2AB07B57-12AD-4D63-916E-340BF3B878C7}" destId="{059F5616-A9B2-41FD-836E-213471C6DFC5}" srcOrd="0" destOrd="0" presId="urn:microsoft.com/office/officeart/2018/2/layout/IconLabelDescriptionList"/>
    <dgm:cxn modelId="{05626EF1-6144-4AD2-AC17-88FA5CEC7348}" type="presParOf" srcId="{059F5616-A9B2-41FD-836E-213471C6DFC5}" destId="{6FD4FD48-E596-4F1D-82DB-D6FC8AEDEE88}" srcOrd="0" destOrd="0" presId="urn:microsoft.com/office/officeart/2018/2/layout/IconLabelDescriptionList"/>
    <dgm:cxn modelId="{75693094-E6F8-4F0A-9423-609D9A02DF2C}" type="presParOf" srcId="{059F5616-A9B2-41FD-836E-213471C6DFC5}" destId="{D21AEDEB-3BF9-4982-84C9-830635AB1B65}" srcOrd="1" destOrd="0" presId="urn:microsoft.com/office/officeart/2018/2/layout/IconLabelDescriptionList"/>
    <dgm:cxn modelId="{4DC0D7BF-D7E6-41A2-89E4-453D058C0682}" type="presParOf" srcId="{059F5616-A9B2-41FD-836E-213471C6DFC5}" destId="{DBC01B98-10E4-41CD-A9C7-ED45C9C348FB}" srcOrd="2" destOrd="0" presId="urn:microsoft.com/office/officeart/2018/2/layout/IconLabelDescriptionList"/>
    <dgm:cxn modelId="{9AAF284C-6D5D-4B8D-B67D-9635C9B502C9}" type="presParOf" srcId="{059F5616-A9B2-41FD-836E-213471C6DFC5}" destId="{0D90F078-8C25-44FF-89B4-0451C17A2552}" srcOrd="3" destOrd="0" presId="urn:microsoft.com/office/officeart/2018/2/layout/IconLabelDescriptionList"/>
    <dgm:cxn modelId="{7F313309-EF6D-4B2F-8E47-D26C760A0D14}" type="presParOf" srcId="{059F5616-A9B2-41FD-836E-213471C6DFC5}" destId="{BA1F939F-0D85-4C18-A501-42BB91F17E88}" srcOrd="4" destOrd="0" presId="urn:microsoft.com/office/officeart/2018/2/layout/IconLabelDescriptionList"/>
    <dgm:cxn modelId="{EEECB580-A7DA-4E3A-BC64-8B8AC0C5B9CF}" type="presParOf" srcId="{2AB07B57-12AD-4D63-916E-340BF3B878C7}" destId="{FF382635-9977-43DD-B1DC-48F987BD14F2}" srcOrd="1" destOrd="0" presId="urn:microsoft.com/office/officeart/2018/2/layout/IconLabelDescriptionList"/>
    <dgm:cxn modelId="{38640EA4-CD6F-4E6F-B0E0-4EE22DC4D739}" type="presParOf" srcId="{2AB07B57-12AD-4D63-916E-340BF3B878C7}" destId="{826529C3-0C15-43B6-8767-A9634F22BA56}" srcOrd="2" destOrd="0" presId="urn:microsoft.com/office/officeart/2018/2/layout/IconLabelDescriptionList"/>
    <dgm:cxn modelId="{B040BDD8-472A-48AF-87E7-5ACE6DA7FEB8}" type="presParOf" srcId="{826529C3-0C15-43B6-8767-A9634F22BA56}" destId="{BE1E9133-BF44-4211-9973-E30CF0F15267}" srcOrd="0" destOrd="0" presId="urn:microsoft.com/office/officeart/2018/2/layout/IconLabelDescriptionList"/>
    <dgm:cxn modelId="{52899B80-7AF6-4197-9436-31CAC540BC31}" type="presParOf" srcId="{826529C3-0C15-43B6-8767-A9634F22BA56}" destId="{8115D547-3CD3-43F7-ACFF-C2E2C3D50CB4}" srcOrd="1" destOrd="0" presId="urn:microsoft.com/office/officeart/2018/2/layout/IconLabelDescriptionList"/>
    <dgm:cxn modelId="{A24CDD45-4FF4-4004-9CF7-9689D3F351E7}" type="presParOf" srcId="{826529C3-0C15-43B6-8767-A9634F22BA56}" destId="{14D222DD-3722-417A-B436-49F52ECF9789}" srcOrd="2" destOrd="0" presId="urn:microsoft.com/office/officeart/2018/2/layout/IconLabelDescriptionList"/>
    <dgm:cxn modelId="{21536C44-7DDF-4667-89BB-3F41FAE2EBE0}" type="presParOf" srcId="{826529C3-0C15-43B6-8767-A9634F22BA56}" destId="{D9FC5299-9BC3-4EEC-9C6F-27D202F95156}" srcOrd="3" destOrd="0" presId="urn:microsoft.com/office/officeart/2018/2/layout/IconLabelDescriptionList"/>
    <dgm:cxn modelId="{5B8DC040-D128-4EE0-8494-8A12549B9869}" type="presParOf" srcId="{826529C3-0C15-43B6-8767-A9634F22BA56}" destId="{8EE25597-A601-4F04-9340-8EB1F71C4F0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2B00953-EC67-47E3-80A6-6962B91F2D1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7D708E7-5A27-4147-8DB1-134461A45D02}">
      <dgm:prSet/>
      <dgm:spPr/>
      <dgm:t>
        <a:bodyPr/>
        <a:lstStyle/>
        <a:p>
          <a:r>
            <a:rPr lang="en-GB" b="1" i="0" dirty="0" smtClean="0"/>
            <a:t>A check that ensures data has been entered into a required field and that no field is left blank.</a:t>
          </a:r>
          <a:endParaRPr lang="en-US" b="1" dirty="0"/>
        </a:p>
      </dgm:t>
    </dgm:pt>
    <dgm:pt modelId="{8B33354B-FE0F-412A-95ED-021E7EDA448E}" type="parTrans" cxnId="{58E8A6B4-3772-40CC-9382-9F757BD5A471}">
      <dgm:prSet/>
      <dgm:spPr/>
      <dgm:t>
        <a:bodyPr/>
        <a:lstStyle/>
        <a:p>
          <a:endParaRPr lang="en-US"/>
        </a:p>
      </dgm:t>
    </dgm:pt>
    <dgm:pt modelId="{8098FB37-6C01-4C54-A8D3-05AEF5EA7F11}" type="sibTrans" cxnId="{58E8A6B4-3772-40CC-9382-9F757BD5A471}">
      <dgm:prSet/>
      <dgm:spPr/>
      <dgm:t>
        <a:bodyPr/>
        <a:lstStyle/>
        <a:p>
          <a:endParaRPr lang="en-US"/>
        </a:p>
      </dgm:t>
    </dgm:pt>
    <dgm:pt modelId="{5375AFFB-404E-47DF-A336-897D3608E33A}">
      <dgm:prSet/>
      <dgm:spPr/>
      <dgm:t>
        <a:bodyPr/>
        <a:lstStyle/>
        <a:p>
          <a:r>
            <a:rPr lang="en-GB"/>
            <a:t>Mainly used when we complete an online form</a:t>
          </a:r>
          <a:endParaRPr lang="en-US"/>
        </a:p>
      </dgm:t>
    </dgm:pt>
    <dgm:pt modelId="{AEE98C40-1624-4085-ADD4-8B359E55D81C}" type="parTrans" cxnId="{C8340C16-3A10-4979-B975-C41A10B5C05D}">
      <dgm:prSet/>
      <dgm:spPr/>
      <dgm:t>
        <a:bodyPr/>
        <a:lstStyle/>
        <a:p>
          <a:endParaRPr lang="en-US"/>
        </a:p>
      </dgm:t>
    </dgm:pt>
    <dgm:pt modelId="{55B73820-D9A2-4726-8BFB-553F29BBACE6}" type="sibTrans" cxnId="{C8340C16-3A10-4979-B975-C41A10B5C05D}">
      <dgm:prSet/>
      <dgm:spPr/>
      <dgm:t>
        <a:bodyPr/>
        <a:lstStyle/>
        <a:p>
          <a:endParaRPr lang="en-US"/>
        </a:p>
      </dgm:t>
    </dgm:pt>
    <dgm:pt modelId="{2D4C45F1-D0BE-47C5-BAFC-DA415EDAE3AF}">
      <dgm:prSet/>
      <dgm:spPr/>
      <dgm:t>
        <a:bodyPr/>
        <a:lstStyle/>
        <a:p>
          <a:r>
            <a:rPr lang="en-GB"/>
            <a:t>This can be achieved using </a:t>
          </a:r>
          <a:r>
            <a:rPr lang="en-GB" b="1"/>
            <a:t>required</a:t>
          </a:r>
          <a:r>
            <a:rPr lang="en-GB"/>
            <a:t> being set to Yes and </a:t>
          </a:r>
          <a:r>
            <a:rPr lang="en-GB" b="1"/>
            <a:t>Allow Zero Length </a:t>
          </a:r>
          <a:r>
            <a:rPr lang="en-GB"/>
            <a:t>to be set to No</a:t>
          </a:r>
          <a:endParaRPr lang="en-US"/>
        </a:p>
      </dgm:t>
    </dgm:pt>
    <dgm:pt modelId="{F14C34E7-7406-4CBB-A958-B092CFA92550}" type="parTrans" cxnId="{0B2F8821-D142-4212-AF29-3B4BCAE6882A}">
      <dgm:prSet/>
      <dgm:spPr/>
      <dgm:t>
        <a:bodyPr/>
        <a:lstStyle/>
        <a:p>
          <a:endParaRPr lang="en-US"/>
        </a:p>
      </dgm:t>
    </dgm:pt>
    <dgm:pt modelId="{37660C81-F9AF-488C-8776-925A15C17300}" type="sibTrans" cxnId="{0B2F8821-D142-4212-AF29-3B4BCAE6882A}">
      <dgm:prSet/>
      <dgm:spPr/>
      <dgm:t>
        <a:bodyPr/>
        <a:lstStyle/>
        <a:p>
          <a:endParaRPr lang="en-US"/>
        </a:p>
      </dgm:t>
    </dgm:pt>
    <dgm:pt modelId="{13B865BD-1E04-4A39-A107-82EDC0A68ACA}" type="pres">
      <dgm:prSet presAssocID="{F2B00953-EC67-47E3-80A6-6962B91F2D18}" presName="vert0" presStyleCnt="0">
        <dgm:presLayoutVars>
          <dgm:dir/>
          <dgm:animOne val="branch"/>
          <dgm:animLvl val="lvl"/>
        </dgm:presLayoutVars>
      </dgm:prSet>
      <dgm:spPr/>
      <dgm:t>
        <a:bodyPr/>
        <a:lstStyle/>
        <a:p>
          <a:endParaRPr lang="en-GB"/>
        </a:p>
      </dgm:t>
    </dgm:pt>
    <dgm:pt modelId="{1241A945-0B8A-4FEA-829D-B1FBA62129FE}" type="pres">
      <dgm:prSet presAssocID="{F7D708E7-5A27-4147-8DB1-134461A45D02}" presName="thickLine" presStyleLbl="alignNode1" presStyleIdx="0" presStyleCnt="3"/>
      <dgm:spPr/>
    </dgm:pt>
    <dgm:pt modelId="{BBB778CC-E705-4CD6-894A-1F9C345ABE28}" type="pres">
      <dgm:prSet presAssocID="{F7D708E7-5A27-4147-8DB1-134461A45D02}" presName="horz1" presStyleCnt="0"/>
      <dgm:spPr/>
    </dgm:pt>
    <dgm:pt modelId="{2B55BC6C-7CAE-42B2-BBC0-C6D54CDD8B1F}" type="pres">
      <dgm:prSet presAssocID="{F7D708E7-5A27-4147-8DB1-134461A45D02}" presName="tx1" presStyleLbl="revTx" presStyleIdx="0" presStyleCnt="3"/>
      <dgm:spPr/>
      <dgm:t>
        <a:bodyPr/>
        <a:lstStyle/>
        <a:p>
          <a:endParaRPr lang="en-GB"/>
        </a:p>
      </dgm:t>
    </dgm:pt>
    <dgm:pt modelId="{5E7998F8-3D6B-4D7E-BF5D-FECC4D20CE61}" type="pres">
      <dgm:prSet presAssocID="{F7D708E7-5A27-4147-8DB1-134461A45D02}" presName="vert1" presStyleCnt="0"/>
      <dgm:spPr/>
    </dgm:pt>
    <dgm:pt modelId="{EE6B4EE1-9E5F-4A3D-A20B-1A5522FDCF47}" type="pres">
      <dgm:prSet presAssocID="{5375AFFB-404E-47DF-A336-897D3608E33A}" presName="thickLine" presStyleLbl="alignNode1" presStyleIdx="1" presStyleCnt="3"/>
      <dgm:spPr/>
    </dgm:pt>
    <dgm:pt modelId="{602E7C01-BBE5-416B-8976-68569C02F94D}" type="pres">
      <dgm:prSet presAssocID="{5375AFFB-404E-47DF-A336-897D3608E33A}" presName="horz1" presStyleCnt="0"/>
      <dgm:spPr/>
    </dgm:pt>
    <dgm:pt modelId="{37426908-D264-4EE5-85B3-5BEBCBE6AF39}" type="pres">
      <dgm:prSet presAssocID="{5375AFFB-404E-47DF-A336-897D3608E33A}" presName="tx1" presStyleLbl="revTx" presStyleIdx="1" presStyleCnt="3"/>
      <dgm:spPr/>
      <dgm:t>
        <a:bodyPr/>
        <a:lstStyle/>
        <a:p>
          <a:endParaRPr lang="en-GB"/>
        </a:p>
      </dgm:t>
    </dgm:pt>
    <dgm:pt modelId="{C3E7D724-0EDE-4EF0-8AD0-CFBA8A3F27F1}" type="pres">
      <dgm:prSet presAssocID="{5375AFFB-404E-47DF-A336-897D3608E33A}" presName="vert1" presStyleCnt="0"/>
      <dgm:spPr/>
    </dgm:pt>
    <dgm:pt modelId="{7606185E-1344-4322-AB0C-62ED7539A454}" type="pres">
      <dgm:prSet presAssocID="{2D4C45F1-D0BE-47C5-BAFC-DA415EDAE3AF}" presName="thickLine" presStyleLbl="alignNode1" presStyleIdx="2" presStyleCnt="3"/>
      <dgm:spPr/>
    </dgm:pt>
    <dgm:pt modelId="{53CD5FAA-4EDA-4600-A64B-9598C3F3EE46}" type="pres">
      <dgm:prSet presAssocID="{2D4C45F1-D0BE-47C5-BAFC-DA415EDAE3AF}" presName="horz1" presStyleCnt="0"/>
      <dgm:spPr/>
    </dgm:pt>
    <dgm:pt modelId="{B6C20866-3290-4243-8C51-03DE63DA915A}" type="pres">
      <dgm:prSet presAssocID="{2D4C45F1-D0BE-47C5-BAFC-DA415EDAE3AF}" presName="tx1" presStyleLbl="revTx" presStyleIdx="2" presStyleCnt="3"/>
      <dgm:spPr/>
      <dgm:t>
        <a:bodyPr/>
        <a:lstStyle/>
        <a:p>
          <a:endParaRPr lang="en-GB"/>
        </a:p>
      </dgm:t>
    </dgm:pt>
    <dgm:pt modelId="{92AC1BD2-C673-4B7D-8F3F-7FC75D43D773}" type="pres">
      <dgm:prSet presAssocID="{2D4C45F1-D0BE-47C5-BAFC-DA415EDAE3AF}" presName="vert1" presStyleCnt="0"/>
      <dgm:spPr/>
    </dgm:pt>
  </dgm:ptLst>
  <dgm:cxnLst>
    <dgm:cxn modelId="{87A8B064-6AFD-41A9-A9F2-2BCE55D8BE2A}" type="presOf" srcId="{F7D708E7-5A27-4147-8DB1-134461A45D02}" destId="{2B55BC6C-7CAE-42B2-BBC0-C6D54CDD8B1F}" srcOrd="0" destOrd="0" presId="urn:microsoft.com/office/officeart/2008/layout/LinedList"/>
    <dgm:cxn modelId="{58E8A6B4-3772-40CC-9382-9F757BD5A471}" srcId="{F2B00953-EC67-47E3-80A6-6962B91F2D18}" destId="{F7D708E7-5A27-4147-8DB1-134461A45D02}" srcOrd="0" destOrd="0" parTransId="{8B33354B-FE0F-412A-95ED-021E7EDA448E}" sibTransId="{8098FB37-6C01-4C54-A8D3-05AEF5EA7F11}"/>
    <dgm:cxn modelId="{0FF9F173-3EE5-4BE5-A9AF-911997FC5FFE}" type="presOf" srcId="{5375AFFB-404E-47DF-A336-897D3608E33A}" destId="{37426908-D264-4EE5-85B3-5BEBCBE6AF39}" srcOrd="0" destOrd="0" presId="urn:microsoft.com/office/officeart/2008/layout/LinedList"/>
    <dgm:cxn modelId="{C8340C16-3A10-4979-B975-C41A10B5C05D}" srcId="{F2B00953-EC67-47E3-80A6-6962B91F2D18}" destId="{5375AFFB-404E-47DF-A336-897D3608E33A}" srcOrd="1" destOrd="0" parTransId="{AEE98C40-1624-4085-ADD4-8B359E55D81C}" sibTransId="{55B73820-D9A2-4726-8BFB-553F29BBACE6}"/>
    <dgm:cxn modelId="{EF7F28EA-3ECE-4914-A0F1-68D68E4A1678}" type="presOf" srcId="{F2B00953-EC67-47E3-80A6-6962B91F2D18}" destId="{13B865BD-1E04-4A39-A107-82EDC0A68ACA}" srcOrd="0" destOrd="0" presId="urn:microsoft.com/office/officeart/2008/layout/LinedList"/>
    <dgm:cxn modelId="{0B2F8821-D142-4212-AF29-3B4BCAE6882A}" srcId="{F2B00953-EC67-47E3-80A6-6962B91F2D18}" destId="{2D4C45F1-D0BE-47C5-BAFC-DA415EDAE3AF}" srcOrd="2" destOrd="0" parTransId="{F14C34E7-7406-4CBB-A958-B092CFA92550}" sibTransId="{37660C81-F9AF-488C-8776-925A15C17300}"/>
    <dgm:cxn modelId="{EE3414B7-A9F5-444F-A728-B3DD0FADAF0D}" type="presOf" srcId="{2D4C45F1-D0BE-47C5-BAFC-DA415EDAE3AF}" destId="{B6C20866-3290-4243-8C51-03DE63DA915A}" srcOrd="0" destOrd="0" presId="urn:microsoft.com/office/officeart/2008/layout/LinedList"/>
    <dgm:cxn modelId="{75BE5869-8045-442D-A2D0-14B057F44390}" type="presParOf" srcId="{13B865BD-1E04-4A39-A107-82EDC0A68ACA}" destId="{1241A945-0B8A-4FEA-829D-B1FBA62129FE}" srcOrd="0" destOrd="0" presId="urn:microsoft.com/office/officeart/2008/layout/LinedList"/>
    <dgm:cxn modelId="{C70C126B-9A23-49DA-B39C-EA20A44581F8}" type="presParOf" srcId="{13B865BD-1E04-4A39-A107-82EDC0A68ACA}" destId="{BBB778CC-E705-4CD6-894A-1F9C345ABE28}" srcOrd="1" destOrd="0" presId="urn:microsoft.com/office/officeart/2008/layout/LinedList"/>
    <dgm:cxn modelId="{63F23235-4F56-4DCD-8848-CC7A71AA0E7B}" type="presParOf" srcId="{BBB778CC-E705-4CD6-894A-1F9C345ABE28}" destId="{2B55BC6C-7CAE-42B2-BBC0-C6D54CDD8B1F}" srcOrd="0" destOrd="0" presId="urn:microsoft.com/office/officeart/2008/layout/LinedList"/>
    <dgm:cxn modelId="{224B40A0-2A6E-4494-8BAD-9CF0CE252950}" type="presParOf" srcId="{BBB778CC-E705-4CD6-894A-1F9C345ABE28}" destId="{5E7998F8-3D6B-4D7E-BF5D-FECC4D20CE61}" srcOrd="1" destOrd="0" presId="urn:microsoft.com/office/officeart/2008/layout/LinedList"/>
    <dgm:cxn modelId="{D2B28CD7-3E2A-41C3-A34D-F7A8176894E7}" type="presParOf" srcId="{13B865BD-1E04-4A39-A107-82EDC0A68ACA}" destId="{EE6B4EE1-9E5F-4A3D-A20B-1A5522FDCF47}" srcOrd="2" destOrd="0" presId="urn:microsoft.com/office/officeart/2008/layout/LinedList"/>
    <dgm:cxn modelId="{F29A12CF-9A19-4038-9A3A-6EF0116C0AAF}" type="presParOf" srcId="{13B865BD-1E04-4A39-A107-82EDC0A68ACA}" destId="{602E7C01-BBE5-416B-8976-68569C02F94D}" srcOrd="3" destOrd="0" presId="urn:microsoft.com/office/officeart/2008/layout/LinedList"/>
    <dgm:cxn modelId="{68CB7FE0-DAB4-4FAF-BC85-33FE80D626B0}" type="presParOf" srcId="{602E7C01-BBE5-416B-8976-68569C02F94D}" destId="{37426908-D264-4EE5-85B3-5BEBCBE6AF39}" srcOrd="0" destOrd="0" presId="urn:microsoft.com/office/officeart/2008/layout/LinedList"/>
    <dgm:cxn modelId="{D223BC99-5173-4A15-9DEC-A711CCFEF951}" type="presParOf" srcId="{602E7C01-BBE5-416B-8976-68569C02F94D}" destId="{C3E7D724-0EDE-4EF0-8AD0-CFBA8A3F27F1}" srcOrd="1" destOrd="0" presId="urn:microsoft.com/office/officeart/2008/layout/LinedList"/>
    <dgm:cxn modelId="{FC07CB34-1206-492B-9FDE-FE27CCB000F8}" type="presParOf" srcId="{13B865BD-1E04-4A39-A107-82EDC0A68ACA}" destId="{7606185E-1344-4322-AB0C-62ED7539A454}" srcOrd="4" destOrd="0" presId="urn:microsoft.com/office/officeart/2008/layout/LinedList"/>
    <dgm:cxn modelId="{800DFA7B-3DE0-4C23-8D33-F481E37D97AB}" type="presParOf" srcId="{13B865BD-1E04-4A39-A107-82EDC0A68ACA}" destId="{53CD5FAA-4EDA-4600-A64B-9598C3F3EE46}" srcOrd="5" destOrd="0" presId="urn:microsoft.com/office/officeart/2008/layout/LinedList"/>
    <dgm:cxn modelId="{B4A07D0D-8752-4D37-9C94-6ECE6213C79D}" type="presParOf" srcId="{53CD5FAA-4EDA-4600-A64B-9598C3F3EE46}" destId="{B6C20866-3290-4243-8C51-03DE63DA915A}" srcOrd="0" destOrd="0" presId="urn:microsoft.com/office/officeart/2008/layout/LinedList"/>
    <dgm:cxn modelId="{3A2B5E8D-6E9B-4501-AC27-A75C49314AF2}" type="presParOf" srcId="{53CD5FAA-4EDA-4600-A64B-9598C3F3EE46}" destId="{92AC1BD2-C673-4B7D-8F3F-7FC75D43D77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EB08948-6059-4CD4-B83F-FAF8DFB1295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5D0B793-611A-4122-A0BC-E2BD7DF5D4BE}">
      <dgm:prSet/>
      <dgm:spPr/>
      <dgm:t>
        <a:bodyPr/>
        <a:lstStyle/>
        <a:p>
          <a:pPr>
            <a:lnSpc>
              <a:spcPct val="100000"/>
            </a:lnSpc>
          </a:pPr>
          <a:r>
            <a:rPr lang="en-GB" dirty="0"/>
            <a:t>Ensures data entered matches the predetermined </a:t>
          </a:r>
          <a:r>
            <a:rPr lang="en-GB" dirty="0" smtClean="0"/>
            <a:t>pattern or structure.</a:t>
          </a:r>
          <a:endParaRPr lang="en-US" dirty="0"/>
        </a:p>
      </dgm:t>
    </dgm:pt>
    <dgm:pt modelId="{D84F7439-E408-4568-ACFC-0F3B7857CA95}" type="parTrans" cxnId="{153FE035-A5BD-40EF-A014-AA2C15AB7A1C}">
      <dgm:prSet/>
      <dgm:spPr/>
      <dgm:t>
        <a:bodyPr/>
        <a:lstStyle/>
        <a:p>
          <a:endParaRPr lang="en-US"/>
        </a:p>
      </dgm:t>
    </dgm:pt>
    <dgm:pt modelId="{00B96FA2-4291-4430-840A-9F51423899F1}" type="sibTrans" cxnId="{153FE035-A5BD-40EF-A014-AA2C15AB7A1C}">
      <dgm:prSet/>
      <dgm:spPr/>
      <dgm:t>
        <a:bodyPr/>
        <a:lstStyle/>
        <a:p>
          <a:endParaRPr lang="en-US"/>
        </a:p>
      </dgm:t>
    </dgm:pt>
    <dgm:pt modelId="{2270278D-07B3-466F-8A0B-901B294F1109}">
      <dgm:prSet/>
      <dgm:spPr/>
      <dgm:t>
        <a:bodyPr/>
        <a:lstStyle/>
        <a:p>
          <a:pPr>
            <a:lnSpc>
              <a:spcPct val="100000"/>
            </a:lnSpc>
          </a:pPr>
          <a:r>
            <a:rPr lang="en-GB"/>
            <a:t>We can use an </a:t>
          </a:r>
          <a:r>
            <a:rPr lang="en-GB" b="1"/>
            <a:t>input mask</a:t>
          </a:r>
          <a:r>
            <a:rPr lang="en-GB"/>
            <a:t> to ensure input is entered the same way for every record.</a:t>
          </a:r>
          <a:endParaRPr lang="en-US"/>
        </a:p>
      </dgm:t>
    </dgm:pt>
    <dgm:pt modelId="{7E6822A2-CCA1-4D41-B4B4-D1E7B5DDE082}" type="parTrans" cxnId="{3853AB9F-2091-464D-BEA0-9721BA62675B}">
      <dgm:prSet/>
      <dgm:spPr/>
      <dgm:t>
        <a:bodyPr/>
        <a:lstStyle/>
        <a:p>
          <a:endParaRPr lang="en-US"/>
        </a:p>
      </dgm:t>
    </dgm:pt>
    <dgm:pt modelId="{EB1018CC-CEAD-4C48-998A-DF616F9C2B42}" type="sibTrans" cxnId="{3853AB9F-2091-464D-BEA0-9721BA62675B}">
      <dgm:prSet/>
      <dgm:spPr/>
      <dgm:t>
        <a:bodyPr/>
        <a:lstStyle/>
        <a:p>
          <a:endParaRPr lang="en-US"/>
        </a:p>
      </dgm:t>
    </dgm:pt>
    <dgm:pt modelId="{19D73B7D-5C21-451D-B6FB-D67A58D48694}">
      <dgm:prSet/>
      <dgm:spPr/>
      <dgm:t>
        <a:bodyPr/>
        <a:lstStyle/>
        <a:p>
          <a:pPr>
            <a:lnSpc>
              <a:spcPct val="100000"/>
            </a:lnSpc>
          </a:pPr>
          <a:r>
            <a:rPr lang="en-GB"/>
            <a:t>Imagine how many ways we can display the date, for example:</a:t>
          </a:r>
          <a:endParaRPr lang="en-US"/>
        </a:p>
      </dgm:t>
    </dgm:pt>
    <dgm:pt modelId="{272AF328-A549-4DFF-9398-3EE04AEAE640}" type="parTrans" cxnId="{8B7A06A8-00AC-422B-823D-C91AA4C29FE7}">
      <dgm:prSet/>
      <dgm:spPr/>
      <dgm:t>
        <a:bodyPr/>
        <a:lstStyle/>
        <a:p>
          <a:endParaRPr lang="en-US"/>
        </a:p>
      </dgm:t>
    </dgm:pt>
    <dgm:pt modelId="{132CDBD5-4358-4E37-8D93-9489FB57BA6F}" type="sibTrans" cxnId="{8B7A06A8-00AC-422B-823D-C91AA4C29FE7}">
      <dgm:prSet/>
      <dgm:spPr/>
      <dgm:t>
        <a:bodyPr/>
        <a:lstStyle/>
        <a:p>
          <a:endParaRPr lang="en-US"/>
        </a:p>
      </dgm:t>
    </dgm:pt>
    <dgm:pt modelId="{2C748CD2-C69B-46D7-A6F3-BFE400458CD6}" type="pres">
      <dgm:prSet presAssocID="{3EB08948-6059-4CD4-B83F-FAF8DFB12951}" presName="root" presStyleCnt="0">
        <dgm:presLayoutVars>
          <dgm:dir/>
          <dgm:resizeHandles val="exact"/>
        </dgm:presLayoutVars>
      </dgm:prSet>
      <dgm:spPr/>
      <dgm:t>
        <a:bodyPr/>
        <a:lstStyle/>
        <a:p>
          <a:endParaRPr lang="en-GB"/>
        </a:p>
      </dgm:t>
    </dgm:pt>
    <dgm:pt modelId="{79AE3B6A-B77F-435E-B122-7752DF10A3EF}" type="pres">
      <dgm:prSet presAssocID="{D5D0B793-611A-4122-A0BC-E2BD7DF5D4BE}" presName="compNode" presStyleCnt="0"/>
      <dgm:spPr/>
    </dgm:pt>
    <dgm:pt modelId="{7C1D0818-CC9F-421F-B0DF-8CFD8D698B20}" type="pres">
      <dgm:prSet presAssocID="{D5D0B793-611A-4122-A0BC-E2BD7DF5D4BE}" presName="bgRect" presStyleLbl="bgShp" presStyleIdx="0" presStyleCnt="3"/>
      <dgm:spPr/>
    </dgm:pt>
    <dgm:pt modelId="{6FF5FB16-1A07-4CAD-BDA0-7B5B470C7924}" type="pres">
      <dgm:prSet presAssocID="{D5D0B793-611A-4122-A0BC-E2BD7DF5D4BE}" presName="iconRect"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GB"/>
        </a:p>
      </dgm:t>
      <dgm:extLst>
        <a:ext uri="{E40237B7-FDA0-4F09-8148-C483321AD2D9}">
          <dgm14:cNvPr xmlns:dgm14="http://schemas.microsoft.com/office/drawing/2010/diagram" id="0" name="" descr="Maze"/>
        </a:ext>
      </dgm:extLst>
    </dgm:pt>
    <dgm:pt modelId="{04A5AD02-AFDE-4A9C-8E22-45BC30E5CA3B}" type="pres">
      <dgm:prSet presAssocID="{D5D0B793-611A-4122-A0BC-E2BD7DF5D4BE}" presName="spaceRect" presStyleCnt="0"/>
      <dgm:spPr/>
    </dgm:pt>
    <dgm:pt modelId="{013EBDA5-FC42-442E-80EB-651F0F5E7CD7}" type="pres">
      <dgm:prSet presAssocID="{D5D0B793-611A-4122-A0BC-E2BD7DF5D4BE}" presName="parTx" presStyleLbl="revTx" presStyleIdx="0" presStyleCnt="3">
        <dgm:presLayoutVars>
          <dgm:chMax val="0"/>
          <dgm:chPref val="0"/>
        </dgm:presLayoutVars>
      </dgm:prSet>
      <dgm:spPr/>
      <dgm:t>
        <a:bodyPr/>
        <a:lstStyle/>
        <a:p>
          <a:endParaRPr lang="en-GB"/>
        </a:p>
      </dgm:t>
    </dgm:pt>
    <dgm:pt modelId="{E30140A6-9102-418D-B63A-D4B55F684113}" type="pres">
      <dgm:prSet presAssocID="{00B96FA2-4291-4430-840A-9F51423899F1}" presName="sibTrans" presStyleCnt="0"/>
      <dgm:spPr/>
    </dgm:pt>
    <dgm:pt modelId="{3739662F-1819-4856-956A-09107EC28114}" type="pres">
      <dgm:prSet presAssocID="{2270278D-07B3-466F-8A0B-901B294F1109}" presName="compNode" presStyleCnt="0"/>
      <dgm:spPr/>
    </dgm:pt>
    <dgm:pt modelId="{986402E9-6248-4359-B653-FC4A14550925}" type="pres">
      <dgm:prSet presAssocID="{2270278D-07B3-466F-8A0B-901B294F1109}" presName="bgRect" presStyleLbl="bgShp" presStyleIdx="1" presStyleCnt="3"/>
      <dgm:spPr/>
    </dgm:pt>
    <dgm:pt modelId="{A3A309FD-BA71-403A-9B97-F754A7E102A1}" type="pres">
      <dgm:prSet presAssocID="{2270278D-07B3-466F-8A0B-901B294F1109}"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GB"/>
        </a:p>
      </dgm:t>
      <dgm:extLst>
        <a:ext uri="{E40237B7-FDA0-4F09-8148-C483321AD2D9}">
          <dgm14:cNvPr xmlns:dgm14="http://schemas.microsoft.com/office/drawing/2010/diagram" id="0" name="" descr="Party Mask"/>
        </a:ext>
      </dgm:extLst>
    </dgm:pt>
    <dgm:pt modelId="{3277D02C-9BBC-46E3-8E64-D2F49D8D2841}" type="pres">
      <dgm:prSet presAssocID="{2270278D-07B3-466F-8A0B-901B294F1109}" presName="spaceRect" presStyleCnt="0"/>
      <dgm:spPr/>
    </dgm:pt>
    <dgm:pt modelId="{12044424-2A38-460D-B6C8-934C7B407EC9}" type="pres">
      <dgm:prSet presAssocID="{2270278D-07B3-466F-8A0B-901B294F1109}" presName="parTx" presStyleLbl="revTx" presStyleIdx="1" presStyleCnt="3">
        <dgm:presLayoutVars>
          <dgm:chMax val="0"/>
          <dgm:chPref val="0"/>
        </dgm:presLayoutVars>
      </dgm:prSet>
      <dgm:spPr/>
      <dgm:t>
        <a:bodyPr/>
        <a:lstStyle/>
        <a:p>
          <a:endParaRPr lang="en-GB"/>
        </a:p>
      </dgm:t>
    </dgm:pt>
    <dgm:pt modelId="{0CA28658-9D23-4543-8B10-40BBDE77FFE0}" type="pres">
      <dgm:prSet presAssocID="{EB1018CC-CEAD-4C48-998A-DF616F9C2B42}" presName="sibTrans" presStyleCnt="0"/>
      <dgm:spPr/>
    </dgm:pt>
    <dgm:pt modelId="{8899FDF4-46F2-4318-BC91-3193C17BAFCD}" type="pres">
      <dgm:prSet presAssocID="{19D73B7D-5C21-451D-B6FB-D67A58D48694}" presName="compNode" presStyleCnt="0"/>
      <dgm:spPr/>
    </dgm:pt>
    <dgm:pt modelId="{87532CCE-EBD7-445C-A784-D12244EED110}" type="pres">
      <dgm:prSet presAssocID="{19D73B7D-5C21-451D-B6FB-D67A58D48694}" presName="bgRect" presStyleLbl="bgShp" presStyleIdx="2" presStyleCnt="3"/>
      <dgm:spPr/>
    </dgm:pt>
    <dgm:pt modelId="{504158E3-967B-403F-A9B6-9D265ED1653D}" type="pres">
      <dgm:prSet presAssocID="{19D73B7D-5C21-451D-B6FB-D67A58D48694}"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t>
        <a:bodyPr/>
        <a:lstStyle/>
        <a:p>
          <a:endParaRPr lang="en-GB"/>
        </a:p>
      </dgm:t>
      <dgm:extLst>
        <a:ext uri="{E40237B7-FDA0-4F09-8148-C483321AD2D9}">
          <dgm14:cNvPr xmlns:dgm14="http://schemas.microsoft.com/office/drawing/2010/diagram" id="0" name="" descr="Flip Calendar"/>
        </a:ext>
      </dgm:extLst>
    </dgm:pt>
    <dgm:pt modelId="{255241D1-3E2E-414C-BE7C-B4511EAE3993}" type="pres">
      <dgm:prSet presAssocID="{19D73B7D-5C21-451D-B6FB-D67A58D48694}" presName="spaceRect" presStyleCnt="0"/>
      <dgm:spPr/>
    </dgm:pt>
    <dgm:pt modelId="{A7D46D31-AEF7-4C3F-A388-8152D43EF95D}" type="pres">
      <dgm:prSet presAssocID="{19D73B7D-5C21-451D-B6FB-D67A58D48694}" presName="parTx" presStyleLbl="revTx" presStyleIdx="2" presStyleCnt="3">
        <dgm:presLayoutVars>
          <dgm:chMax val="0"/>
          <dgm:chPref val="0"/>
        </dgm:presLayoutVars>
      </dgm:prSet>
      <dgm:spPr/>
      <dgm:t>
        <a:bodyPr/>
        <a:lstStyle/>
        <a:p>
          <a:endParaRPr lang="en-GB"/>
        </a:p>
      </dgm:t>
    </dgm:pt>
  </dgm:ptLst>
  <dgm:cxnLst>
    <dgm:cxn modelId="{3853AB9F-2091-464D-BEA0-9721BA62675B}" srcId="{3EB08948-6059-4CD4-B83F-FAF8DFB12951}" destId="{2270278D-07B3-466F-8A0B-901B294F1109}" srcOrd="1" destOrd="0" parTransId="{7E6822A2-CCA1-4D41-B4B4-D1E7B5DDE082}" sibTransId="{EB1018CC-CEAD-4C48-998A-DF616F9C2B42}"/>
    <dgm:cxn modelId="{8B7A06A8-00AC-422B-823D-C91AA4C29FE7}" srcId="{3EB08948-6059-4CD4-B83F-FAF8DFB12951}" destId="{19D73B7D-5C21-451D-B6FB-D67A58D48694}" srcOrd="2" destOrd="0" parTransId="{272AF328-A549-4DFF-9398-3EE04AEAE640}" sibTransId="{132CDBD5-4358-4E37-8D93-9489FB57BA6F}"/>
    <dgm:cxn modelId="{6A08096E-032E-4392-90F0-CBF54D231C76}" type="presOf" srcId="{19D73B7D-5C21-451D-B6FB-D67A58D48694}" destId="{A7D46D31-AEF7-4C3F-A388-8152D43EF95D}" srcOrd="0" destOrd="0" presId="urn:microsoft.com/office/officeart/2018/2/layout/IconVerticalSolidList"/>
    <dgm:cxn modelId="{153FE035-A5BD-40EF-A014-AA2C15AB7A1C}" srcId="{3EB08948-6059-4CD4-B83F-FAF8DFB12951}" destId="{D5D0B793-611A-4122-A0BC-E2BD7DF5D4BE}" srcOrd="0" destOrd="0" parTransId="{D84F7439-E408-4568-ACFC-0F3B7857CA95}" sibTransId="{00B96FA2-4291-4430-840A-9F51423899F1}"/>
    <dgm:cxn modelId="{498EB6C7-017C-4668-8BF4-E2D27967D225}" type="presOf" srcId="{3EB08948-6059-4CD4-B83F-FAF8DFB12951}" destId="{2C748CD2-C69B-46D7-A6F3-BFE400458CD6}" srcOrd="0" destOrd="0" presId="urn:microsoft.com/office/officeart/2018/2/layout/IconVerticalSolidList"/>
    <dgm:cxn modelId="{0515D1C3-0AE7-45A1-A6AB-B8A34EF22C45}" type="presOf" srcId="{2270278D-07B3-466F-8A0B-901B294F1109}" destId="{12044424-2A38-460D-B6C8-934C7B407EC9}" srcOrd="0" destOrd="0" presId="urn:microsoft.com/office/officeart/2018/2/layout/IconVerticalSolidList"/>
    <dgm:cxn modelId="{EB84C2E8-14BD-4E12-8B75-84BE4DD1A003}" type="presOf" srcId="{D5D0B793-611A-4122-A0BC-E2BD7DF5D4BE}" destId="{013EBDA5-FC42-442E-80EB-651F0F5E7CD7}" srcOrd="0" destOrd="0" presId="urn:microsoft.com/office/officeart/2018/2/layout/IconVerticalSolidList"/>
    <dgm:cxn modelId="{65A81C05-19C8-4077-BD54-0B3564CEB5FF}" type="presParOf" srcId="{2C748CD2-C69B-46D7-A6F3-BFE400458CD6}" destId="{79AE3B6A-B77F-435E-B122-7752DF10A3EF}" srcOrd="0" destOrd="0" presId="urn:microsoft.com/office/officeart/2018/2/layout/IconVerticalSolidList"/>
    <dgm:cxn modelId="{165BE83E-52E5-4F63-97B3-DE1D95B29AAF}" type="presParOf" srcId="{79AE3B6A-B77F-435E-B122-7752DF10A3EF}" destId="{7C1D0818-CC9F-421F-B0DF-8CFD8D698B20}" srcOrd="0" destOrd="0" presId="urn:microsoft.com/office/officeart/2018/2/layout/IconVerticalSolidList"/>
    <dgm:cxn modelId="{A72C3B32-BD90-4769-A414-F0DE73034C10}" type="presParOf" srcId="{79AE3B6A-B77F-435E-B122-7752DF10A3EF}" destId="{6FF5FB16-1A07-4CAD-BDA0-7B5B470C7924}" srcOrd="1" destOrd="0" presId="urn:microsoft.com/office/officeart/2018/2/layout/IconVerticalSolidList"/>
    <dgm:cxn modelId="{154BBF72-CDCF-43E5-8BC2-5555C8CFCC11}" type="presParOf" srcId="{79AE3B6A-B77F-435E-B122-7752DF10A3EF}" destId="{04A5AD02-AFDE-4A9C-8E22-45BC30E5CA3B}" srcOrd="2" destOrd="0" presId="urn:microsoft.com/office/officeart/2018/2/layout/IconVerticalSolidList"/>
    <dgm:cxn modelId="{8282C79F-F4F7-4DB3-A017-286779C0AF80}" type="presParOf" srcId="{79AE3B6A-B77F-435E-B122-7752DF10A3EF}" destId="{013EBDA5-FC42-442E-80EB-651F0F5E7CD7}" srcOrd="3" destOrd="0" presId="urn:microsoft.com/office/officeart/2018/2/layout/IconVerticalSolidList"/>
    <dgm:cxn modelId="{F1CCEDF4-FC00-44E8-BB42-7947155C3AF2}" type="presParOf" srcId="{2C748CD2-C69B-46D7-A6F3-BFE400458CD6}" destId="{E30140A6-9102-418D-B63A-D4B55F684113}" srcOrd="1" destOrd="0" presId="urn:microsoft.com/office/officeart/2018/2/layout/IconVerticalSolidList"/>
    <dgm:cxn modelId="{D4A30EBC-EC93-43A3-A20D-0132D3DDE65A}" type="presParOf" srcId="{2C748CD2-C69B-46D7-A6F3-BFE400458CD6}" destId="{3739662F-1819-4856-956A-09107EC28114}" srcOrd="2" destOrd="0" presId="urn:microsoft.com/office/officeart/2018/2/layout/IconVerticalSolidList"/>
    <dgm:cxn modelId="{17D5A766-9C5C-4E7B-8476-5104D38FB04F}" type="presParOf" srcId="{3739662F-1819-4856-956A-09107EC28114}" destId="{986402E9-6248-4359-B653-FC4A14550925}" srcOrd="0" destOrd="0" presId="urn:microsoft.com/office/officeart/2018/2/layout/IconVerticalSolidList"/>
    <dgm:cxn modelId="{1DDED8EC-813C-4ED5-93E3-BAB530087C95}" type="presParOf" srcId="{3739662F-1819-4856-956A-09107EC28114}" destId="{A3A309FD-BA71-403A-9B97-F754A7E102A1}" srcOrd="1" destOrd="0" presId="urn:microsoft.com/office/officeart/2018/2/layout/IconVerticalSolidList"/>
    <dgm:cxn modelId="{084A825F-9884-470C-8F81-F44A722DA78B}" type="presParOf" srcId="{3739662F-1819-4856-956A-09107EC28114}" destId="{3277D02C-9BBC-46E3-8E64-D2F49D8D2841}" srcOrd="2" destOrd="0" presId="urn:microsoft.com/office/officeart/2018/2/layout/IconVerticalSolidList"/>
    <dgm:cxn modelId="{F817658B-B4BF-49F1-B74B-0DE3A893B15E}" type="presParOf" srcId="{3739662F-1819-4856-956A-09107EC28114}" destId="{12044424-2A38-460D-B6C8-934C7B407EC9}" srcOrd="3" destOrd="0" presId="urn:microsoft.com/office/officeart/2018/2/layout/IconVerticalSolidList"/>
    <dgm:cxn modelId="{6E6D121A-42C3-47FC-AE00-7B27F5ABC455}" type="presParOf" srcId="{2C748CD2-C69B-46D7-A6F3-BFE400458CD6}" destId="{0CA28658-9D23-4543-8B10-40BBDE77FFE0}" srcOrd="3" destOrd="0" presId="urn:microsoft.com/office/officeart/2018/2/layout/IconVerticalSolidList"/>
    <dgm:cxn modelId="{955FAD4C-4D6C-45E5-AB62-ACFCCF6012A1}" type="presParOf" srcId="{2C748CD2-C69B-46D7-A6F3-BFE400458CD6}" destId="{8899FDF4-46F2-4318-BC91-3193C17BAFCD}" srcOrd="4" destOrd="0" presId="urn:microsoft.com/office/officeart/2018/2/layout/IconVerticalSolidList"/>
    <dgm:cxn modelId="{29C729EF-AB8F-4F88-AF63-0253A1D5D3EC}" type="presParOf" srcId="{8899FDF4-46F2-4318-BC91-3193C17BAFCD}" destId="{87532CCE-EBD7-445C-A784-D12244EED110}" srcOrd="0" destOrd="0" presId="urn:microsoft.com/office/officeart/2018/2/layout/IconVerticalSolidList"/>
    <dgm:cxn modelId="{46CDA18D-5034-4B4C-B908-ADA9FAFB5B60}" type="presParOf" srcId="{8899FDF4-46F2-4318-BC91-3193C17BAFCD}" destId="{504158E3-967B-403F-A9B6-9D265ED1653D}" srcOrd="1" destOrd="0" presId="urn:microsoft.com/office/officeart/2018/2/layout/IconVerticalSolidList"/>
    <dgm:cxn modelId="{EA691490-4FF8-4E52-9FE3-AB610CB251F1}" type="presParOf" srcId="{8899FDF4-46F2-4318-BC91-3193C17BAFCD}" destId="{255241D1-3E2E-414C-BE7C-B4511EAE3993}" srcOrd="2" destOrd="0" presId="urn:microsoft.com/office/officeart/2018/2/layout/IconVerticalSolidList"/>
    <dgm:cxn modelId="{BEB73B8F-22DE-43F1-8B97-25D37436B6A4}" type="presParOf" srcId="{8899FDF4-46F2-4318-BC91-3193C17BAFCD}" destId="{A7D46D31-AEF7-4C3F-A388-8152D43EF95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9D43D383-ACB7-40C7-93D0-A84A77151EC5}" type="datetimeFigureOut">
              <a:rPr lang="en-GB" smtClean="0"/>
              <a:t>30/10/2026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2EEC8AC-16B6-40D5-B876-1EF84A84AAB7}" type="slidenum">
              <a:rPr lang="en-GB" smtClean="0"/>
              <a:t>‹#›</a:t>
            </a:fld>
            <a:endParaRPr lang="en-GB"/>
          </a:p>
        </p:txBody>
      </p:sp>
    </p:spTree>
    <p:extLst>
      <p:ext uri="{BB962C8B-B14F-4D97-AF65-F5344CB8AC3E}">
        <p14:creationId xmlns:p14="http://schemas.microsoft.com/office/powerpoint/2010/main" val="3055770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USE DEFINITIONS on next slide</a:t>
            </a:r>
            <a:endParaRPr lang="en-GB" dirty="0"/>
          </a:p>
        </p:txBody>
      </p:sp>
      <p:sp>
        <p:nvSpPr>
          <p:cNvPr id="4" name="Slide Number Placeholder 3"/>
          <p:cNvSpPr>
            <a:spLocks noGrp="1"/>
          </p:cNvSpPr>
          <p:nvPr>
            <p:ph type="sldNum" sz="quarter" idx="10"/>
          </p:nvPr>
        </p:nvSpPr>
        <p:spPr/>
        <p:txBody>
          <a:bodyPr/>
          <a:lstStyle/>
          <a:p>
            <a:fld id="{12EEC8AC-16B6-40D5-B876-1EF84A84AAB7}" type="slidenum">
              <a:rPr lang="en-GB" smtClean="0"/>
              <a:t>4</a:t>
            </a:fld>
            <a:endParaRPr lang="en-GB"/>
          </a:p>
        </p:txBody>
      </p:sp>
    </p:spTree>
    <p:extLst>
      <p:ext uri="{BB962C8B-B14F-4D97-AF65-F5344CB8AC3E}">
        <p14:creationId xmlns:p14="http://schemas.microsoft.com/office/powerpoint/2010/main" val="2190985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1816252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1251480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1848337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2577019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3327318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2150808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679638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320470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2994806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705229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D678DCD-FB04-4A3D-96CB-EE4EC37D8AAC}" type="datetimeFigureOut">
              <a:rPr lang="en-GB" smtClean="0"/>
              <a:t>30/10/2026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42B45A9-EF27-40BF-9CB6-A9460339399D}" type="slidenum">
              <a:rPr lang="en-GB" smtClean="0"/>
              <a:t>‹#›</a:t>
            </a:fld>
            <a:endParaRPr lang="en-GB" dirty="0"/>
          </a:p>
        </p:txBody>
      </p:sp>
    </p:spTree>
    <p:extLst>
      <p:ext uri="{BB962C8B-B14F-4D97-AF65-F5344CB8AC3E}">
        <p14:creationId xmlns:p14="http://schemas.microsoft.com/office/powerpoint/2010/main" val="222911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678DCD-FB04-4A3D-96CB-EE4EC37D8AAC}" type="datetimeFigureOut">
              <a:rPr lang="en-GB" smtClean="0"/>
              <a:t>30/10/2026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B45A9-EF27-40BF-9CB6-A9460339399D}" type="slidenum">
              <a:rPr lang="en-GB" smtClean="0"/>
              <a:t>‹#›</a:t>
            </a:fld>
            <a:endParaRPr lang="en-GB" dirty="0"/>
          </a:p>
        </p:txBody>
      </p:sp>
    </p:spTree>
    <p:extLst>
      <p:ext uri="{BB962C8B-B14F-4D97-AF65-F5344CB8AC3E}">
        <p14:creationId xmlns:p14="http://schemas.microsoft.com/office/powerpoint/2010/main" val="539835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3.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diagramLayout" Target="../diagrams/layout2.xml"/><Relationship Id="rId7" Type="http://schemas.openxmlformats.org/officeDocument/2006/relationships/image" Target="../media/image1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4.gif"/><Relationship Id="rId3" Type="http://schemas.openxmlformats.org/officeDocument/2006/relationships/diagramLayout" Target="../diagrams/layout4.xml"/><Relationship Id="rId7" Type="http://schemas.openxmlformats.org/officeDocument/2006/relationships/image" Target="../media/image23.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5">
            <a:extLst>
              <a:ext uri="{FF2B5EF4-FFF2-40B4-BE49-F238E27FC236}">
                <a16:creationId xmlns:a16="http://schemas.microsoft.com/office/drawing/2014/main" xmlns="" id="{07322A9E-F1EC-405E-8971-BA906EFFCC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3" name="Freeform 6">
            <a:extLst>
              <a:ext uri="{FF2B5EF4-FFF2-40B4-BE49-F238E27FC236}">
                <a16:creationId xmlns:a16="http://schemas.microsoft.com/office/drawing/2014/main" xmlns="" id="{A5704422-1118-4FD1-95AD-29A064EB80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5" name="Freeform 7">
            <a:extLst>
              <a:ext uri="{FF2B5EF4-FFF2-40B4-BE49-F238E27FC236}">
                <a16:creationId xmlns:a16="http://schemas.microsoft.com/office/drawing/2014/main" xmlns="" id="{A88B2AAA-B805-498E-A9E6-98B8858554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7" name="Freeform 8">
            <a:extLst>
              <a:ext uri="{FF2B5EF4-FFF2-40B4-BE49-F238E27FC236}">
                <a16:creationId xmlns:a16="http://schemas.microsoft.com/office/drawing/2014/main" xmlns="" id="{9B8051E0-19D7-43E1-BFD9-E6DBFEB3A3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9" name="Freeform 9">
            <a:extLst>
              <a:ext uri="{FF2B5EF4-FFF2-40B4-BE49-F238E27FC236}">
                <a16:creationId xmlns:a16="http://schemas.microsoft.com/office/drawing/2014/main" xmlns="" id="{4EDB2B02-86A2-46F5-A4BE-B7D9B10411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1" name="Freeform 10">
            <a:extLst>
              <a:ext uri="{FF2B5EF4-FFF2-40B4-BE49-F238E27FC236}">
                <a16:creationId xmlns:a16="http://schemas.microsoft.com/office/drawing/2014/main" xmlns="" id="{43954639-FB5D-41F4-9560-6F6DFE77842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3" name="Freeform 12">
            <a:extLst>
              <a:ext uri="{FF2B5EF4-FFF2-40B4-BE49-F238E27FC236}">
                <a16:creationId xmlns:a16="http://schemas.microsoft.com/office/drawing/2014/main" xmlns="" id="{E898931C-0323-41FA-A036-20F818B1FF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5" name="Freeform 14">
            <a:extLst>
              <a:ext uri="{FF2B5EF4-FFF2-40B4-BE49-F238E27FC236}">
                <a16:creationId xmlns:a16="http://schemas.microsoft.com/office/drawing/2014/main" xmlns="" id="{89AFE9DD-0792-4B98-B4EB-97ACA17E6AA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7" name="Freeform 16">
            <a:extLst>
              <a:ext uri="{FF2B5EF4-FFF2-40B4-BE49-F238E27FC236}">
                <a16:creationId xmlns:a16="http://schemas.microsoft.com/office/drawing/2014/main" xmlns="" id="{3981F5C4-9AE1-404E-AF44-A4E6DB374F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9" name="Freeform 11">
            <a:extLst>
              <a:ext uri="{FF2B5EF4-FFF2-40B4-BE49-F238E27FC236}">
                <a16:creationId xmlns:a16="http://schemas.microsoft.com/office/drawing/2014/main" xmlns="" id="{763C1781-8726-4FAC-8C45-FF40376BE4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1" name="Freeform 21">
            <a:extLst>
              <a:ext uri="{FF2B5EF4-FFF2-40B4-BE49-F238E27FC236}">
                <a16:creationId xmlns:a16="http://schemas.microsoft.com/office/drawing/2014/main" xmlns="" id="{301491B5-56C7-43DC-A3D9-861EECCA056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Subtitle 2"/>
          <p:cNvSpPr>
            <a:spLocks noGrp="1"/>
          </p:cNvSpPr>
          <p:nvPr>
            <p:ph type="subTitle" idx="1"/>
          </p:nvPr>
        </p:nvSpPr>
        <p:spPr>
          <a:xfrm>
            <a:off x="8842247" y="4078224"/>
            <a:ext cx="3253441" cy="411459"/>
          </a:xfrm>
        </p:spPr>
        <p:txBody>
          <a:bodyPr>
            <a:normAutofit/>
          </a:bodyPr>
          <a:lstStyle/>
          <a:p>
            <a:pPr algn="r"/>
            <a:r>
              <a:rPr lang="en-GB" sz="2000" dirty="0"/>
              <a:t>U01C03 | Mr Butler</a:t>
            </a:r>
          </a:p>
        </p:txBody>
      </p:sp>
      <p:sp>
        <p:nvSpPr>
          <p:cNvPr id="1053" name="Freeform 22">
            <a:extLst>
              <a:ext uri="{FF2B5EF4-FFF2-40B4-BE49-F238E27FC236}">
                <a16:creationId xmlns:a16="http://schemas.microsoft.com/office/drawing/2014/main" xmlns="" id="{237E2353-22DF-46E0-A200-FB30F8F394E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5" name="Freeform 23">
            <a:extLst>
              <a:ext uri="{FF2B5EF4-FFF2-40B4-BE49-F238E27FC236}">
                <a16:creationId xmlns:a16="http://schemas.microsoft.com/office/drawing/2014/main" xmlns="" id="{DD6138DB-057B-45F7-A5F4-E7BFDA20D0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7" name="Freeform: Shape 1056">
            <a:extLst>
              <a:ext uri="{FF2B5EF4-FFF2-40B4-BE49-F238E27FC236}">
                <a16:creationId xmlns:a16="http://schemas.microsoft.com/office/drawing/2014/main" xmlns="" id="{79A54AB1-B64F-4843-BFAB-81CB74E66B6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pic>
        <p:nvPicPr>
          <p:cNvPr id="1026" name="Picture 2" descr="10 Signs You Should Invest In Custom Database Application">
            <a:extLst>
              <a:ext uri="{FF2B5EF4-FFF2-40B4-BE49-F238E27FC236}">
                <a16:creationId xmlns:a16="http://schemas.microsoft.com/office/drawing/2014/main" xmlns="" id="{790768D5-E741-42B5-83EB-C5A259230D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225" b="1"/>
          <a:stretch/>
        </p:blipFill>
        <p:spPr bwMode="auto">
          <a:xfrm>
            <a:off x="921910" y="465243"/>
            <a:ext cx="7761924" cy="5343065"/>
          </a:xfrm>
          <a:custGeom>
            <a:avLst/>
            <a:gdLst/>
            <a:ahLst/>
            <a:cxnLst/>
            <a:rect l="l" t="t" r="r" b="b"/>
            <a:pathLst>
              <a:path w="7761924" h="5343065">
                <a:moveTo>
                  <a:pt x="3025687" y="76"/>
                </a:moveTo>
                <a:cubicBezTo>
                  <a:pt x="3140786" y="756"/>
                  <a:pt x="3256631" y="6055"/>
                  <a:pt x="3372722" y="16088"/>
                </a:cubicBezTo>
                <a:cubicBezTo>
                  <a:pt x="5230178" y="176616"/>
                  <a:pt x="7761924" y="1424594"/>
                  <a:pt x="7761924" y="3316816"/>
                </a:cubicBezTo>
                <a:cubicBezTo>
                  <a:pt x="7646022" y="5237647"/>
                  <a:pt x="4988715" y="5423921"/>
                  <a:pt x="3701109" y="5320611"/>
                </a:cubicBezTo>
                <a:cubicBezTo>
                  <a:pt x="2413504" y="5217301"/>
                  <a:pt x="351800" y="4486992"/>
                  <a:pt x="36290" y="2696959"/>
                </a:cubicBezTo>
                <a:cubicBezTo>
                  <a:pt x="-259500" y="1018804"/>
                  <a:pt x="1299198" y="-10133"/>
                  <a:pt x="3025687" y="76"/>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5792193" y="1481328"/>
            <a:ext cx="6303496" cy="2468880"/>
          </a:xfrm>
        </p:spPr>
        <p:txBody>
          <a:bodyPr>
            <a:normAutofit/>
          </a:bodyPr>
          <a:lstStyle/>
          <a:p>
            <a:pPr algn="r"/>
            <a:r>
              <a:rPr lang="en-GB" dirty="0"/>
              <a:t>Database Applications</a:t>
            </a:r>
          </a:p>
        </p:txBody>
      </p:sp>
    </p:spTree>
    <p:extLst>
      <p:ext uri="{BB962C8B-B14F-4D97-AF65-F5344CB8AC3E}">
        <p14:creationId xmlns:p14="http://schemas.microsoft.com/office/powerpoint/2010/main" val="151903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4095750" y="746125"/>
            <a:ext cx="7362825" cy="1325563"/>
          </a:xfrm>
        </p:spPr>
        <p:txBody>
          <a:bodyPr/>
          <a:lstStyle/>
          <a:p>
            <a:pPr algn="ctr"/>
            <a:r>
              <a:rPr lang="en-GB" dirty="0" smtClean="0">
                <a:solidFill>
                  <a:srgbClr val="EAFF00"/>
                </a:solidFill>
              </a:rPr>
              <a:t>Databases</a:t>
            </a:r>
            <a:endParaRPr lang="en-GB" dirty="0">
              <a:solidFill>
                <a:srgbClr val="EAFF00"/>
              </a:solidFill>
            </a:endParaRPr>
          </a:p>
        </p:txBody>
      </p:sp>
      <p:sp>
        <p:nvSpPr>
          <p:cNvPr id="5" name="Content Placeholder 2"/>
          <p:cNvSpPr>
            <a:spLocks noGrp="1"/>
          </p:cNvSpPr>
          <p:nvPr>
            <p:ph idx="1"/>
          </p:nvPr>
        </p:nvSpPr>
        <p:spPr>
          <a:xfrm>
            <a:off x="4095750" y="1825625"/>
            <a:ext cx="7734300" cy="2327275"/>
          </a:xfrm>
        </p:spPr>
        <p:txBody>
          <a:bodyPr anchor="ctr">
            <a:normAutofit/>
          </a:bodyPr>
          <a:lstStyle/>
          <a:p>
            <a:pPr marL="0" indent="0" algn="ctr">
              <a:buNone/>
            </a:pPr>
            <a:r>
              <a:rPr lang="en-GB" sz="4400" dirty="0" smtClean="0">
                <a:solidFill>
                  <a:srgbClr val="A1F69B"/>
                </a:solidFill>
                <a:latin typeface="Ink Free" panose="03080402000500000000" pitchFamily="66" charset="0"/>
              </a:rPr>
              <a:t>What actually is a database?</a:t>
            </a:r>
            <a:endParaRPr lang="en-GB" sz="4400" dirty="0">
              <a:solidFill>
                <a:srgbClr val="A1F69B"/>
              </a:solidFill>
              <a:latin typeface="Ink Free" panose="03080402000500000000" pitchFamily="66" charset="0"/>
            </a:endParaRPr>
          </a:p>
        </p:txBody>
      </p:sp>
      <p:pic>
        <p:nvPicPr>
          <p:cNvPr id="6" name="Picture 2" descr="freehand drawn speech bubble cartoon question mark 11785227 Vector Art at  Vecteez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6100" y="1533524"/>
            <a:ext cx="3654425" cy="3909756"/>
          </a:xfrm>
          <a:prstGeom prst="rect">
            <a:avLst/>
          </a:prstGeom>
          <a:noFill/>
          <a:effectLst>
            <a:outerShdw blurRad="50800" dist="38100" dir="2700000" algn="tl" rotWithShape="0">
              <a:schemeClr val="bg1">
                <a:alpha val="4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2839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atabase Illustration by Oleksandr Dovzhenko on Dribbbl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614288" y="955949"/>
            <a:ext cx="6969879" cy="522740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66788" y="365125"/>
            <a:ext cx="3880872" cy="1325563"/>
          </a:xfrm>
        </p:spPr>
        <p:txBody>
          <a:bodyPr/>
          <a:lstStyle/>
          <a:p>
            <a:r>
              <a:rPr lang="en-GB" dirty="0" smtClean="0">
                <a:solidFill>
                  <a:srgbClr val="4FADE6"/>
                </a:solidFill>
                <a:latin typeface="LEMON MILK" panose="00000500000000000000" pitchFamily="50" charset="0"/>
              </a:rPr>
              <a:t>Databases</a:t>
            </a:r>
            <a:endParaRPr lang="en-GB" dirty="0">
              <a:solidFill>
                <a:srgbClr val="4FADE6"/>
              </a:solidFill>
              <a:latin typeface="LEMON MILK" panose="00000500000000000000" pitchFamily="50" charset="0"/>
            </a:endParaRPr>
          </a:p>
        </p:txBody>
      </p:sp>
      <p:sp>
        <p:nvSpPr>
          <p:cNvPr id="3" name="Content Placeholder 2"/>
          <p:cNvSpPr>
            <a:spLocks noGrp="1"/>
          </p:cNvSpPr>
          <p:nvPr>
            <p:ph idx="1"/>
          </p:nvPr>
        </p:nvSpPr>
        <p:spPr>
          <a:xfrm>
            <a:off x="166786" y="2228473"/>
            <a:ext cx="6425845" cy="4351338"/>
          </a:xfrm>
        </p:spPr>
        <p:txBody>
          <a:bodyPr/>
          <a:lstStyle/>
          <a:p>
            <a:pPr marL="0" indent="0">
              <a:buNone/>
            </a:pPr>
            <a:r>
              <a:rPr lang="en-GB" b="1" dirty="0" smtClean="0"/>
              <a:t>A </a:t>
            </a:r>
            <a:r>
              <a:rPr lang="en-GB" b="1" dirty="0"/>
              <a:t>(large) collection of data items and links between them, structured in a way that allows it to be accessed by a number of different application programs</a:t>
            </a:r>
            <a:r>
              <a:rPr lang="en-GB" b="1" dirty="0" smtClean="0"/>
              <a:t>.</a:t>
            </a:r>
          </a:p>
          <a:p>
            <a:endParaRPr lang="en-GB" dirty="0" smtClean="0"/>
          </a:p>
          <a:p>
            <a:pPr marL="0" indent="0">
              <a:buNone/>
            </a:pPr>
            <a:r>
              <a:rPr lang="en-GB" dirty="0" smtClean="0"/>
              <a:t>The </a:t>
            </a:r>
            <a:r>
              <a:rPr lang="en-GB" dirty="0"/>
              <a:t>term is also used loosely to describe any collection of data</a:t>
            </a:r>
          </a:p>
        </p:txBody>
      </p:sp>
    </p:spTree>
    <p:extLst>
      <p:ext uri="{BB962C8B-B14F-4D97-AF65-F5344CB8AC3E}">
        <p14:creationId xmlns:p14="http://schemas.microsoft.com/office/powerpoint/2010/main" val="302517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Table, Records and Fields</a:t>
            </a:r>
          </a:p>
        </p:txBody>
      </p:sp>
      <p:pic>
        <p:nvPicPr>
          <p:cNvPr id="4" name="Content Placeholder 3"/>
          <p:cNvPicPr>
            <a:picLocks noGrp="1" noChangeAspect="1"/>
          </p:cNvPicPr>
          <p:nvPr>
            <p:ph idx="1"/>
          </p:nvPr>
        </p:nvPicPr>
        <p:blipFill rotWithShape="1">
          <a:blip r:embed="rId3"/>
          <a:srcRect l="8488" t="32111" r="29510" b="17592"/>
          <a:stretch/>
        </p:blipFill>
        <p:spPr>
          <a:xfrm>
            <a:off x="134912" y="1690688"/>
            <a:ext cx="6775554" cy="4122296"/>
          </a:xfrm>
          <a:prstGeom prst="rect">
            <a:avLst/>
          </a:prstGeom>
        </p:spPr>
      </p:pic>
      <p:sp>
        <p:nvSpPr>
          <p:cNvPr id="5" name="TextBox 4"/>
          <p:cNvSpPr txBox="1"/>
          <p:nvPr/>
        </p:nvSpPr>
        <p:spPr>
          <a:xfrm>
            <a:off x="7165299" y="365125"/>
            <a:ext cx="5026702" cy="7848302"/>
          </a:xfrm>
          <a:prstGeom prst="rect">
            <a:avLst/>
          </a:prstGeom>
          <a:noFill/>
        </p:spPr>
        <p:txBody>
          <a:bodyPr wrap="square" rtlCol="0">
            <a:spAutoFit/>
          </a:bodyPr>
          <a:lstStyle/>
          <a:p>
            <a:r>
              <a:rPr lang="en-GB" dirty="0">
                <a:latin typeface="Century Gothic" panose="020B0502020202020204" pitchFamily="34" charset="0"/>
              </a:rPr>
              <a:t>Data can be organised into a number of files. </a:t>
            </a:r>
          </a:p>
          <a:p>
            <a:endParaRPr lang="en-GB" dirty="0">
              <a:latin typeface="Century Gothic" panose="020B0502020202020204" pitchFamily="34" charset="0"/>
            </a:endParaRPr>
          </a:p>
          <a:p>
            <a:r>
              <a:rPr lang="en-GB" dirty="0">
                <a:latin typeface="Century Gothic" panose="020B0502020202020204" pitchFamily="34" charset="0"/>
              </a:rPr>
              <a:t>These files can be organised into rows and columns, can </a:t>
            </a:r>
            <a:r>
              <a:rPr lang="en-GB" dirty="0" err="1">
                <a:latin typeface="Century Gothic" panose="020B0502020202020204" pitchFamily="34" charset="0"/>
              </a:rPr>
              <a:t>can</a:t>
            </a:r>
            <a:r>
              <a:rPr lang="en-GB" dirty="0">
                <a:latin typeface="Century Gothic" panose="020B0502020202020204" pitchFamily="34" charset="0"/>
              </a:rPr>
              <a:t> be referred to as a </a:t>
            </a:r>
            <a:r>
              <a:rPr lang="en-GB" b="1" dirty="0">
                <a:latin typeface="Century Gothic" panose="020B0502020202020204" pitchFamily="34" charset="0"/>
              </a:rPr>
              <a:t>table</a:t>
            </a:r>
            <a:r>
              <a:rPr lang="en-GB" dirty="0">
                <a:latin typeface="Century Gothic" panose="020B0502020202020204" pitchFamily="34" charset="0"/>
              </a:rPr>
              <a:t> or </a:t>
            </a:r>
            <a:r>
              <a:rPr lang="en-GB" b="1" dirty="0">
                <a:latin typeface="Century Gothic" panose="020B0502020202020204" pitchFamily="34" charset="0"/>
              </a:rPr>
              <a:t>‘flat file</a:t>
            </a:r>
            <a:r>
              <a:rPr lang="en-GB" dirty="0">
                <a:latin typeface="Century Gothic" panose="020B0502020202020204" pitchFamily="34" charset="0"/>
              </a:rPr>
              <a:t>’</a:t>
            </a:r>
          </a:p>
          <a:p>
            <a:endParaRPr lang="en-GB" dirty="0">
              <a:latin typeface="Century Gothic" panose="020B0502020202020204" pitchFamily="34" charset="0"/>
            </a:endParaRPr>
          </a:p>
          <a:p>
            <a:r>
              <a:rPr lang="en-GB" dirty="0">
                <a:latin typeface="Century Gothic" panose="020B0502020202020204" pitchFamily="34" charset="0"/>
              </a:rPr>
              <a:t>A table can consist of a number of rows, or </a:t>
            </a:r>
            <a:r>
              <a:rPr lang="en-GB" b="1" dirty="0">
                <a:latin typeface="Century Gothic" panose="020B0502020202020204" pitchFamily="34" charset="0"/>
              </a:rPr>
              <a:t>records</a:t>
            </a:r>
            <a:r>
              <a:rPr lang="en-GB" dirty="0">
                <a:latin typeface="Century Gothic" panose="020B0502020202020204" pitchFamily="34" charset="0"/>
              </a:rPr>
              <a:t>, which contain data items about an object or person</a:t>
            </a:r>
          </a:p>
          <a:p>
            <a:endParaRPr lang="en-GB" dirty="0">
              <a:latin typeface="Century Gothic" panose="020B0502020202020204" pitchFamily="34" charset="0"/>
            </a:endParaRPr>
          </a:p>
          <a:p>
            <a:r>
              <a:rPr lang="en-GB" dirty="0">
                <a:latin typeface="Century Gothic" panose="020B0502020202020204" pitchFamily="34" charset="0"/>
              </a:rPr>
              <a:t>A </a:t>
            </a:r>
            <a:r>
              <a:rPr lang="en-GB" b="1" dirty="0">
                <a:latin typeface="Century Gothic" panose="020B0502020202020204" pitchFamily="34" charset="0"/>
              </a:rPr>
              <a:t>field</a:t>
            </a:r>
            <a:r>
              <a:rPr lang="en-GB" dirty="0">
                <a:latin typeface="Century Gothic" panose="020B0502020202020204" pitchFamily="34" charset="0"/>
              </a:rPr>
              <a:t> is part of a record that stores a single data item.</a:t>
            </a:r>
          </a:p>
          <a:p>
            <a:endParaRPr lang="en-GB" dirty="0">
              <a:latin typeface="Century Gothic" panose="020B0502020202020204" pitchFamily="34" charset="0"/>
            </a:endParaRPr>
          </a:p>
          <a:p>
            <a:r>
              <a:rPr lang="en-GB" dirty="0">
                <a:latin typeface="Century Gothic" panose="020B0502020202020204" pitchFamily="34" charset="0"/>
              </a:rPr>
              <a:t>The </a:t>
            </a:r>
            <a:r>
              <a:rPr lang="en-GB" b="1" dirty="0">
                <a:latin typeface="Century Gothic" panose="020B0502020202020204" pitchFamily="34" charset="0"/>
              </a:rPr>
              <a:t>field names</a:t>
            </a:r>
            <a:r>
              <a:rPr lang="en-GB" dirty="0">
                <a:latin typeface="Century Gothic" panose="020B0502020202020204" pitchFamily="34" charset="0"/>
              </a:rPr>
              <a:t> are just another word for the headings at the top of the table</a:t>
            </a:r>
          </a:p>
          <a:p>
            <a:endParaRPr lang="en-GB" dirty="0">
              <a:latin typeface="Century Gothic" panose="020B0502020202020204" pitchFamily="34" charset="0"/>
            </a:endParaRPr>
          </a:p>
          <a:p>
            <a:r>
              <a:rPr lang="en-GB" dirty="0">
                <a:latin typeface="Century Gothic" panose="020B0502020202020204" pitchFamily="34" charset="0"/>
              </a:rPr>
              <a:t>The </a:t>
            </a:r>
            <a:r>
              <a:rPr lang="en-GB" b="1" dirty="0">
                <a:latin typeface="Century Gothic" panose="020B0502020202020204" pitchFamily="34" charset="0"/>
              </a:rPr>
              <a:t>Key Field</a:t>
            </a:r>
            <a:r>
              <a:rPr lang="en-GB" dirty="0">
                <a:latin typeface="Century Gothic" panose="020B0502020202020204" pitchFamily="34" charset="0"/>
              </a:rPr>
              <a:t> (or primary key) is the field used to uniquely identify a record – In this table, the </a:t>
            </a:r>
            <a:r>
              <a:rPr lang="en-GB" dirty="0" err="1">
                <a:latin typeface="Century Gothic" panose="020B0502020202020204" pitchFamily="34" charset="0"/>
              </a:rPr>
              <a:t>customerID</a:t>
            </a:r>
            <a:r>
              <a:rPr lang="en-GB" dirty="0">
                <a:latin typeface="Century Gothic" panose="020B0502020202020204" pitchFamily="34" charset="0"/>
              </a:rPr>
              <a:t> can be used to identify any of the records (no </a:t>
            </a:r>
            <a:r>
              <a:rPr lang="en-GB" dirty="0" err="1">
                <a:latin typeface="Century Gothic" panose="020B0502020202020204" pitchFamily="34" charset="0"/>
              </a:rPr>
              <a:t>customerID</a:t>
            </a:r>
            <a:r>
              <a:rPr lang="en-GB" dirty="0">
                <a:latin typeface="Century Gothic" panose="020B0502020202020204" pitchFamily="34" charset="0"/>
              </a:rPr>
              <a:t> is repeated). (Most common datatype is </a:t>
            </a:r>
            <a:r>
              <a:rPr lang="en-GB" dirty="0" err="1">
                <a:latin typeface="Century Gothic" panose="020B0502020202020204" pitchFamily="34" charset="0"/>
              </a:rPr>
              <a:t>autonumber</a:t>
            </a:r>
            <a:r>
              <a:rPr lang="en-GB" dirty="0">
                <a:latin typeface="Century Gothic" panose="020B0502020202020204" pitchFamily="34" charset="0"/>
              </a:rPr>
              <a:t>)</a:t>
            </a:r>
          </a:p>
          <a:p>
            <a:endParaRPr lang="en-GB" dirty="0"/>
          </a:p>
          <a:p>
            <a:endParaRPr lang="en-GB" dirty="0"/>
          </a:p>
          <a:p>
            <a:endParaRPr lang="en-GB" dirty="0"/>
          </a:p>
          <a:p>
            <a:endParaRPr lang="en-GB" dirty="0"/>
          </a:p>
          <a:p>
            <a:endParaRPr lang="en-GB" dirty="0"/>
          </a:p>
        </p:txBody>
      </p:sp>
      <p:sp>
        <p:nvSpPr>
          <p:cNvPr id="6" name="TextBox 5"/>
          <p:cNvSpPr txBox="1"/>
          <p:nvPr/>
        </p:nvSpPr>
        <p:spPr>
          <a:xfrm>
            <a:off x="119921" y="6011056"/>
            <a:ext cx="1454046" cy="523220"/>
          </a:xfrm>
          <a:prstGeom prst="rect">
            <a:avLst/>
          </a:prstGeom>
          <a:noFill/>
        </p:spPr>
        <p:txBody>
          <a:bodyPr wrap="square" rtlCol="0">
            <a:spAutoFit/>
          </a:bodyPr>
          <a:lstStyle/>
          <a:p>
            <a:r>
              <a:rPr lang="en-GB" sz="2800" b="1" dirty="0">
                <a:latin typeface="Century Gothic" panose="020B0502020202020204" pitchFamily="34" charset="0"/>
              </a:rPr>
              <a:t>Record</a:t>
            </a:r>
          </a:p>
        </p:txBody>
      </p:sp>
      <p:sp>
        <p:nvSpPr>
          <p:cNvPr id="7" name="TextBox 6"/>
          <p:cNvSpPr txBox="1"/>
          <p:nvPr/>
        </p:nvSpPr>
        <p:spPr>
          <a:xfrm>
            <a:off x="1716373" y="5991282"/>
            <a:ext cx="1064301" cy="523220"/>
          </a:xfrm>
          <a:prstGeom prst="rect">
            <a:avLst/>
          </a:prstGeom>
          <a:noFill/>
        </p:spPr>
        <p:txBody>
          <a:bodyPr wrap="square" rtlCol="0">
            <a:spAutoFit/>
          </a:bodyPr>
          <a:lstStyle/>
          <a:p>
            <a:r>
              <a:rPr lang="en-GB" sz="2800" b="1" dirty="0">
                <a:latin typeface="Century Gothic" panose="020B0502020202020204" pitchFamily="34" charset="0"/>
              </a:rPr>
              <a:t>Field</a:t>
            </a:r>
          </a:p>
        </p:txBody>
      </p:sp>
      <p:sp>
        <p:nvSpPr>
          <p:cNvPr id="8" name="TextBox 7"/>
          <p:cNvSpPr txBox="1"/>
          <p:nvPr/>
        </p:nvSpPr>
        <p:spPr>
          <a:xfrm>
            <a:off x="2878110" y="5991282"/>
            <a:ext cx="2083633" cy="523220"/>
          </a:xfrm>
          <a:prstGeom prst="rect">
            <a:avLst/>
          </a:prstGeom>
          <a:noFill/>
        </p:spPr>
        <p:txBody>
          <a:bodyPr wrap="square" rtlCol="0">
            <a:spAutoFit/>
          </a:bodyPr>
          <a:lstStyle/>
          <a:p>
            <a:r>
              <a:rPr lang="en-GB" sz="2800" b="1" dirty="0">
                <a:latin typeface="Century Gothic" panose="020B0502020202020204" pitchFamily="34" charset="0"/>
              </a:rPr>
              <a:t>Key Field</a:t>
            </a:r>
          </a:p>
        </p:txBody>
      </p:sp>
      <p:sp>
        <p:nvSpPr>
          <p:cNvPr id="9" name="TextBox 8"/>
          <p:cNvSpPr txBox="1"/>
          <p:nvPr/>
        </p:nvSpPr>
        <p:spPr>
          <a:xfrm>
            <a:off x="4834328" y="5993674"/>
            <a:ext cx="2188565" cy="523220"/>
          </a:xfrm>
          <a:prstGeom prst="rect">
            <a:avLst/>
          </a:prstGeom>
          <a:noFill/>
        </p:spPr>
        <p:txBody>
          <a:bodyPr wrap="square" rtlCol="0">
            <a:spAutoFit/>
          </a:bodyPr>
          <a:lstStyle/>
          <a:p>
            <a:r>
              <a:rPr lang="en-GB" sz="2800" b="1" dirty="0">
                <a:latin typeface="Century Gothic" panose="020B0502020202020204" pitchFamily="34" charset="0"/>
              </a:rPr>
              <a:t>Field Name</a:t>
            </a:r>
          </a:p>
        </p:txBody>
      </p:sp>
      <p:cxnSp>
        <p:nvCxnSpPr>
          <p:cNvPr id="11" name="Elbow Connector 10"/>
          <p:cNvCxnSpPr/>
          <p:nvPr/>
        </p:nvCxnSpPr>
        <p:spPr>
          <a:xfrm rot="5400000" flipH="1" flipV="1">
            <a:off x="-12598" y="5019314"/>
            <a:ext cx="1554193" cy="389744"/>
          </a:xfrm>
          <a:prstGeom prst="bentConnector3">
            <a:avLst>
              <a:gd name="adj1" fmla="val 100154"/>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34912" y="4150776"/>
            <a:ext cx="6820525" cy="5261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Elbow Connector 13"/>
          <p:cNvCxnSpPr/>
          <p:nvPr/>
        </p:nvCxnSpPr>
        <p:spPr>
          <a:xfrm rot="5400000" flipH="1" flipV="1">
            <a:off x="2153082" y="5341996"/>
            <a:ext cx="700546" cy="659571"/>
          </a:xfrm>
          <a:prstGeom prst="bent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rot="16200000">
            <a:off x="2649096" y="4544599"/>
            <a:ext cx="466279" cy="108753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Elbow Connector 16"/>
          <p:cNvCxnSpPr/>
          <p:nvPr/>
        </p:nvCxnSpPr>
        <p:spPr>
          <a:xfrm rot="16200000" flipV="1">
            <a:off x="362125" y="2393290"/>
            <a:ext cx="4102587" cy="3132948"/>
          </a:xfrm>
          <a:prstGeom prst="bentConnector3">
            <a:avLst>
              <a:gd name="adj1" fmla="val 110654"/>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rot="5400000">
            <a:off x="618434" y="1465201"/>
            <a:ext cx="369953" cy="11271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Elbow Connector 22"/>
          <p:cNvCxnSpPr/>
          <p:nvPr/>
        </p:nvCxnSpPr>
        <p:spPr>
          <a:xfrm rot="16200000" flipV="1">
            <a:off x="4045745" y="4150774"/>
            <a:ext cx="3765745" cy="2"/>
          </a:xfrm>
          <a:prstGeom prst="bent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rot="16200000">
            <a:off x="5861487" y="1187745"/>
            <a:ext cx="365350" cy="17326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0849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additive="base">
                                        <p:cTn id="3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 calcmode="lin" valueType="num">
                                      <p:cBhvr additive="base">
                                        <p:cTn id="3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5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wipe(down)">
                                      <p:cBhvr>
                                        <p:cTn id="68" dur="500"/>
                                        <p:tgtEl>
                                          <p:spTgt spid="11"/>
                                        </p:tgtEl>
                                      </p:cBhvr>
                                    </p:animEffect>
                                  </p:childTnLst>
                                </p:cTn>
                              </p:par>
                            </p:childTnLst>
                          </p:cTn>
                        </p:par>
                        <p:par>
                          <p:cTn id="69" fill="hold">
                            <p:stCondLst>
                              <p:cond delay="500"/>
                            </p:stCondLst>
                            <p:childTnLst>
                              <p:par>
                                <p:cTn id="70" presetID="22" presetClass="entr" presetSubtype="4" fill="hold" grpId="0" nodeType="after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down)">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ipe(down)">
                                      <p:cBhvr>
                                        <p:cTn id="77" dur="500"/>
                                        <p:tgtEl>
                                          <p:spTgt spid="14"/>
                                        </p:tgtEl>
                                      </p:cBhvr>
                                    </p:animEffect>
                                  </p:childTnLst>
                                </p:cTn>
                              </p:par>
                            </p:childTnLst>
                          </p:cTn>
                        </p:par>
                        <p:par>
                          <p:cTn id="78" fill="hold">
                            <p:stCondLst>
                              <p:cond delay="500"/>
                            </p:stCondLst>
                            <p:childTnLst>
                              <p:par>
                                <p:cTn id="79" presetID="22" presetClass="entr" presetSubtype="4" fill="hold" grpId="0"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wipe(down)">
                                      <p:cBhvr>
                                        <p:cTn id="81" dur="500"/>
                                        <p:tgtEl>
                                          <p:spTgt spid="1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wipe(down)">
                                      <p:cBhvr>
                                        <p:cTn id="86" dur="500"/>
                                        <p:tgtEl>
                                          <p:spTgt spid="17"/>
                                        </p:tgtEl>
                                      </p:cBhvr>
                                    </p:animEffect>
                                  </p:childTnLst>
                                </p:cTn>
                              </p:par>
                            </p:childTnLst>
                          </p:cTn>
                        </p:par>
                        <p:par>
                          <p:cTn id="87" fill="hold">
                            <p:stCondLst>
                              <p:cond delay="500"/>
                            </p:stCondLst>
                            <p:childTnLst>
                              <p:par>
                                <p:cTn id="88" presetID="22" presetClass="entr" presetSubtype="1" fill="hold" grpId="0" nodeType="after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wipe(up)">
                                      <p:cBhvr>
                                        <p:cTn id="90" dur="500"/>
                                        <p:tgtEl>
                                          <p:spTgt spid="2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nodeType="click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wipe(down)">
                                      <p:cBhvr>
                                        <p:cTn id="95" dur="500"/>
                                        <p:tgtEl>
                                          <p:spTgt spid="23"/>
                                        </p:tgtEl>
                                      </p:cBhvr>
                                    </p:animEffect>
                                  </p:childTnLst>
                                </p:cTn>
                              </p:par>
                            </p:childTnLst>
                          </p:cTn>
                        </p:par>
                        <p:par>
                          <p:cTn id="96" fill="hold">
                            <p:stCondLst>
                              <p:cond delay="500"/>
                            </p:stCondLst>
                            <p:childTnLst>
                              <p:par>
                                <p:cTn id="97" presetID="22" presetClass="entr" presetSubtype="4" fill="hold" grpId="0" nodeType="afterEffect">
                                  <p:stCondLst>
                                    <p:cond delay="0"/>
                                  </p:stCondLst>
                                  <p:childTnLst>
                                    <p:set>
                                      <p:cBhvr>
                                        <p:cTn id="98" dur="1" fill="hold">
                                          <p:stCondLst>
                                            <p:cond delay="0"/>
                                          </p:stCondLst>
                                        </p:cTn>
                                        <p:tgtEl>
                                          <p:spTgt spid="25"/>
                                        </p:tgtEl>
                                        <p:attrNameLst>
                                          <p:attrName>style.visibility</p:attrName>
                                        </p:attrNameLst>
                                      </p:cBhvr>
                                      <p:to>
                                        <p:strVal val="visible"/>
                                      </p:to>
                                    </p:set>
                                    <p:animEffect transition="in" filter="wipe(down)">
                                      <p:cBhvr>
                                        <p:cTn id="9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3" grpId="0" animBg="1"/>
      <p:bldP spid="16" grpId="0" animBg="1"/>
      <p:bldP spid="22"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133350" y="104775"/>
            <a:ext cx="6943725" cy="2943225"/>
          </a:xfrm>
        </p:spPr>
        <p:txBody>
          <a:bodyPr>
            <a:normAutofit/>
          </a:bodyPr>
          <a:lstStyle/>
          <a:p>
            <a:r>
              <a:rPr lang="en-GB" sz="6600" dirty="0" smtClean="0">
                <a:solidFill>
                  <a:schemeClr val="bg1"/>
                </a:solidFill>
                <a:latin typeface="LEMON MILK" panose="00000500000000000000" pitchFamily="50" charset="0"/>
              </a:rPr>
              <a:t>Starting Glossary List</a:t>
            </a:r>
            <a:endParaRPr lang="en-GB" sz="6600" dirty="0">
              <a:solidFill>
                <a:schemeClr val="bg1"/>
              </a:solidFill>
              <a:latin typeface="LEMON MILK" panose="00000500000000000000" pitchFamily="50" charset="0"/>
            </a:endParaRPr>
          </a:p>
        </p:txBody>
      </p:sp>
      <p:grpSp>
        <p:nvGrpSpPr>
          <p:cNvPr id="8" name="Group 7"/>
          <p:cNvGrpSpPr/>
          <p:nvPr/>
        </p:nvGrpSpPr>
        <p:grpSpPr>
          <a:xfrm>
            <a:off x="133350" y="3276592"/>
            <a:ext cx="4629150" cy="1685925"/>
            <a:chOff x="7353300" y="104775"/>
            <a:chExt cx="4629150" cy="1685925"/>
          </a:xfrm>
        </p:grpSpPr>
        <p:sp>
          <p:nvSpPr>
            <p:cNvPr id="5" name="Rectangle 4"/>
            <p:cNvSpPr/>
            <p:nvPr/>
          </p:nvSpPr>
          <p:spPr>
            <a:xfrm>
              <a:off x="7353300" y="584200"/>
              <a:ext cx="4629150" cy="1206500"/>
            </a:xfrm>
            <a:prstGeom prst="rect">
              <a:avLst/>
            </a:prstGeom>
            <a:solidFill>
              <a:srgbClr val="DEEB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latin typeface="Ink Free" panose="03080402000500000000" pitchFamily="66" charset="0"/>
                </a:rPr>
                <a:t>A </a:t>
              </a:r>
              <a:r>
                <a:rPr lang="en-GB" dirty="0">
                  <a:solidFill>
                    <a:schemeClr val="tx1"/>
                  </a:solidFill>
                  <a:latin typeface="Ink Free" panose="03080402000500000000" pitchFamily="66" charset="0"/>
                </a:rPr>
                <a:t>database structure where data is organised in rows and </a:t>
              </a:r>
              <a:r>
                <a:rPr lang="en-GB" dirty="0" smtClean="0">
                  <a:solidFill>
                    <a:schemeClr val="tx1"/>
                  </a:solidFill>
                  <a:latin typeface="Ink Free" panose="03080402000500000000" pitchFamily="66" charset="0"/>
                </a:rPr>
                <a:t>columns. </a:t>
              </a:r>
              <a:r>
                <a:rPr lang="en-GB" dirty="0">
                  <a:solidFill>
                    <a:schemeClr val="tx1"/>
                  </a:solidFill>
                  <a:latin typeface="Ink Free" panose="03080402000500000000" pitchFamily="66" charset="0"/>
                </a:rPr>
                <a:t>Data stored in a database is held in one or more </a:t>
              </a:r>
              <a:r>
                <a:rPr lang="en-GB" dirty="0" smtClean="0">
                  <a:solidFill>
                    <a:schemeClr val="tx1"/>
                  </a:solidFill>
                  <a:latin typeface="Ink Free" panose="03080402000500000000" pitchFamily="66" charset="0"/>
                </a:rPr>
                <a:t>tables.</a:t>
              </a:r>
              <a:endParaRPr lang="en-GB" dirty="0">
                <a:solidFill>
                  <a:schemeClr val="tx1"/>
                </a:solidFill>
                <a:latin typeface="Ink Free" panose="03080402000500000000" pitchFamily="66" charset="0"/>
              </a:endParaRPr>
            </a:p>
          </p:txBody>
        </p:sp>
        <p:sp>
          <p:nvSpPr>
            <p:cNvPr id="6" name="Rectangle 5"/>
            <p:cNvSpPr/>
            <p:nvPr/>
          </p:nvSpPr>
          <p:spPr>
            <a:xfrm>
              <a:off x="7353300" y="104775"/>
              <a:ext cx="2749550" cy="479425"/>
            </a:xfrm>
            <a:custGeom>
              <a:avLst/>
              <a:gdLst>
                <a:gd name="connsiteX0" fmla="*/ 0 w 2749550"/>
                <a:gd name="connsiteY0" fmla="*/ 0 h 479425"/>
                <a:gd name="connsiteX1" fmla="*/ 2749550 w 2749550"/>
                <a:gd name="connsiteY1" fmla="*/ 0 h 479425"/>
                <a:gd name="connsiteX2" fmla="*/ 2749550 w 2749550"/>
                <a:gd name="connsiteY2" fmla="*/ 479425 h 479425"/>
                <a:gd name="connsiteX3" fmla="*/ 0 w 2749550"/>
                <a:gd name="connsiteY3" fmla="*/ 479425 h 479425"/>
                <a:gd name="connsiteX4" fmla="*/ 0 w 2749550"/>
                <a:gd name="connsiteY4" fmla="*/ 0 h 479425"/>
                <a:gd name="connsiteX0" fmla="*/ 0 w 2749550"/>
                <a:gd name="connsiteY0" fmla="*/ 0 h 479425"/>
                <a:gd name="connsiteX1" fmla="*/ 2419350 w 2749550"/>
                <a:gd name="connsiteY1" fmla="*/ 6350 h 479425"/>
                <a:gd name="connsiteX2" fmla="*/ 2749550 w 2749550"/>
                <a:gd name="connsiteY2" fmla="*/ 479425 h 479425"/>
                <a:gd name="connsiteX3" fmla="*/ 0 w 2749550"/>
                <a:gd name="connsiteY3" fmla="*/ 479425 h 479425"/>
                <a:gd name="connsiteX4" fmla="*/ 0 w 2749550"/>
                <a:gd name="connsiteY4" fmla="*/ 0 h 479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50" h="479425">
                  <a:moveTo>
                    <a:pt x="0" y="0"/>
                  </a:moveTo>
                  <a:lnTo>
                    <a:pt x="2419350" y="6350"/>
                  </a:lnTo>
                  <a:lnTo>
                    <a:pt x="2749550" y="479425"/>
                  </a:lnTo>
                  <a:lnTo>
                    <a:pt x="0" y="479425"/>
                  </a:lnTo>
                  <a:lnTo>
                    <a:pt x="0" y="0"/>
                  </a:lnTo>
                  <a:close/>
                </a:path>
              </a:pathLst>
            </a:cu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chemeClr val="tx1"/>
                  </a:solidFill>
                  <a:sym typeface="Wingdings" panose="05000000000000000000" pitchFamily="2" charset="2"/>
                </a:rPr>
                <a:t> </a:t>
              </a:r>
              <a:r>
                <a:rPr lang="en-GB" dirty="0" smtClean="0">
                  <a:solidFill>
                    <a:schemeClr val="tx1"/>
                  </a:solidFill>
                  <a:latin typeface="LEMON MILK" panose="00000500000000000000" pitchFamily="50" charset="0"/>
                </a:rPr>
                <a:t>Table</a:t>
              </a:r>
              <a:endParaRPr lang="en-GB" dirty="0">
                <a:solidFill>
                  <a:schemeClr val="tx1"/>
                </a:solidFill>
                <a:latin typeface="LEMON MILK" panose="00000500000000000000" pitchFamily="50" charset="0"/>
              </a:endParaRPr>
            </a:p>
          </p:txBody>
        </p:sp>
      </p:grpSp>
      <p:grpSp>
        <p:nvGrpSpPr>
          <p:cNvPr id="9" name="Group 8"/>
          <p:cNvGrpSpPr/>
          <p:nvPr/>
        </p:nvGrpSpPr>
        <p:grpSpPr>
          <a:xfrm>
            <a:off x="133350" y="5051425"/>
            <a:ext cx="4629150" cy="1685925"/>
            <a:chOff x="7353300" y="104775"/>
            <a:chExt cx="4629150" cy="1685925"/>
          </a:xfrm>
        </p:grpSpPr>
        <p:sp>
          <p:nvSpPr>
            <p:cNvPr id="10" name="Rectangle 9"/>
            <p:cNvSpPr/>
            <p:nvPr/>
          </p:nvSpPr>
          <p:spPr>
            <a:xfrm>
              <a:off x="7353300" y="584200"/>
              <a:ext cx="4629150" cy="1206500"/>
            </a:xfrm>
            <a:prstGeom prst="rect">
              <a:avLst/>
            </a:prstGeom>
            <a:solidFill>
              <a:srgbClr val="DEEB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Ink Free" panose="03080402000500000000" pitchFamily="66" charset="0"/>
                </a:rPr>
                <a:t>A collection of related data items about an object or person, forming a complete row in a </a:t>
              </a:r>
              <a:r>
                <a:rPr lang="en-GB" dirty="0" smtClean="0">
                  <a:solidFill>
                    <a:schemeClr val="tx1"/>
                  </a:solidFill>
                  <a:latin typeface="Ink Free" panose="03080402000500000000" pitchFamily="66" charset="0"/>
                </a:rPr>
                <a:t>table. </a:t>
              </a:r>
              <a:r>
                <a:rPr lang="en-GB" dirty="0">
                  <a:solidFill>
                    <a:schemeClr val="tx1"/>
                  </a:solidFill>
                  <a:latin typeface="Ink Free" panose="03080402000500000000" pitchFamily="66" charset="0"/>
                </a:rPr>
                <a:t>A record is made up of several </a:t>
              </a:r>
              <a:r>
                <a:rPr lang="en-GB" dirty="0" smtClean="0">
                  <a:solidFill>
                    <a:schemeClr val="tx1"/>
                  </a:solidFill>
                  <a:latin typeface="Ink Free" panose="03080402000500000000" pitchFamily="66" charset="0"/>
                </a:rPr>
                <a:t>fields.</a:t>
              </a:r>
              <a:endParaRPr lang="en-GB" dirty="0">
                <a:solidFill>
                  <a:schemeClr val="tx1"/>
                </a:solidFill>
                <a:latin typeface="Ink Free" panose="03080402000500000000" pitchFamily="66" charset="0"/>
              </a:endParaRPr>
            </a:p>
          </p:txBody>
        </p:sp>
        <p:sp>
          <p:nvSpPr>
            <p:cNvPr id="11" name="Rectangle 5"/>
            <p:cNvSpPr/>
            <p:nvPr/>
          </p:nvSpPr>
          <p:spPr>
            <a:xfrm>
              <a:off x="7353300" y="104775"/>
              <a:ext cx="2749550" cy="479425"/>
            </a:xfrm>
            <a:custGeom>
              <a:avLst/>
              <a:gdLst>
                <a:gd name="connsiteX0" fmla="*/ 0 w 2749550"/>
                <a:gd name="connsiteY0" fmla="*/ 0 h 479425"/>
                <a:gd name="connsiteX1" fmla="*/ 2749550 w 2749550"/>
                <a:gd name="connsiteY1" fmla="*/ 0 h 479425"/>
                <a:gd name="connsiteX2" fmla="*/ 2749550 w 2749550"/>
                <a:gd name="connsiteY2" fmla="*/ 479425 h 479425"/>
                <a:gd name="connsiteX3" fmla="*/ 0 w 2749550"/>
                <a:gd name="connsiteY3" fmla="*/ 479425 h 479425"/>
                <a:gd name="connsiteX4" fmla="*/ 0 w 2749550"/>
                <a:gd name="connsiteY4" fmla="*/ 0 h 479425"/>
                <a:gd name="connsiteX0" fmla="*/ 0 w 2749550"/>
                <a:gd name="connsiteY0" fmla="*/ 0 h 479425"/>
                <a:gd name="connsiteX1" fmla="*/ 2419350 w 2749550"/>
                <a:gd name="connsiteY1" fmla="*/ 6350 h 479425"/>
                <a:gd name="connsiteX2" fmla="*/ 2749550 w 2749550"/>
                <a:gd name="connsiteY2" fmla="*/ 479425 h 479425"/>
                <a:gd name="connsiteX3" fmla="*/ 0 w 2749550"/>
                <a:gd name="connsiteY3" fmla="*/ 479425 h 479425"/>
                <a:gd name="connsiteX4" fmla="*/ 0 w 2749550"/>
                <a:gd name="connsiteY4" fmla="*/ 0 h 479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50" h="479425">
                  <a:moveTo>
                    <a:pt x="0" y="0"/>
                  </a:moveTo>
                  <a:lnTo>
                    <a:pt x="2419350" y="6350"/>
                  </a:lnTo>
                  <a:lnTo>
                    <a:pt x="2749550" y="479425"/>
                  </a:lnTo>
                  <a:lnTo>
                    <a:pt x="0" y="479425"/>
                  </a:lnTo>
                  <a:lnTo>
                    <a:pt x="0" y="0"/>
                  </a:lnTo>
                  <a:close/>
                </a:path>
              </a:pathLst>
            </a:cu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chemeClr val="tx1"/>
                  </a:solidFill>
                  <a:sym typeface="Wingdings" panose="05000000000000000000" pitchFamily="2" charset="2"/>
                </a:rPr>
                <a:t> </a:t>
              </a:r>
              <a:r>
                <a:rPr lang="en-GB" dirty="0" smtClean="0">
                  <a:solidFill>
                    <a:schemeClr val="tx1"/>
                  </a:solidFill>
                  <a:latin typeface="LEMON MILK" panose="00000500000000000000" pitchFamily="50" charset="0"/>
                </a:rPr>
                <a:t>Record</a:t>
              </a:r>
              <a:endParaRPr lang="en-GB" dirty="0">
                <a:solidFill>
                  <a:schemeClr val="tx1"/>
                </a:solidFill>
                <a:latin typeface="LEMON MILK" panose="00000500000000000000" pitchFamily="50" charset="0"/>
              </a:endParaRPr>
            </a:p>
          </p:txBody>
        </p:sp>
      </p:grpSp>
      <p:grpSp>
        <p:nvGrpSpPr>
          <p:cNvPr id="13" name="Group 12"/>
          <p:cNvGrpSpPr/>
          <p:nvPr/>
        </p:nvGrpSpPr>
        <p:grpSpPr>
          <a:xfrm>
            <a:off x="7448550" y="434305"/>
            <a:ext cx="4629150" cy="1685925"/>
            <a:chOff x="7353300" y="104775"/>
            <a:chExt cx="4629150" cy="1685925"/>
          </a:xfrm>
        </p:grpSpPr>
        <p:sp>
          <p:nvSpPr>
            <p:cNvPr id="14" name="Rectangle 13"/>
            <p:cNvSpPr/>
            <p:nvPr/>
          </p:nvSpPr>
          <p:spPr>
            <a:xfrm>
              <a:off x="7353300" y="584200"/>
              <a:ext cx="4629150" cy="1206500"/>
            </a:xfrm>
            <a:prstGeom prst="rect">
              <a:avLst/>
            </a:prstGeom>
            <a:solidFill>
              <a:srgbClr val="DEEB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Ink Free" panose="03080402000500000000" pitchFamily="66" charset="0"/>
                </a:rPr>
                <a:t>A single unit of data designed to hold a single item of information about an object or person, forming a column in a </a:t>
              </a:r>
              <a:r>
                <a:rPr lang="en-GB" dirty="0" smtClean="0">
                  <a:solidFill>
                    <a:schemeClr val="tx1"/>
                  </a:solidFill>
                  <a:latin typeface="Ink Free" panose="03080402000500000000" pitchFamily="66" charset="0"/>
                </a:rPr>
                <a:t>table.</a:t>
              </a:r>
              <a:endParaRPr lang="en-GB" dirty="0">
                <a:solidFill>
                  <a:schemeClr val="tx1"/>
                </a:solidFill>
                <a:latin typeface="Ink Free" panose="03080402000500000000" pitchFamily="66" charset="0"/>
              </a:endParaRPr>
            </a:p>
          </p:txBody>
        </p:sp>
        <p:sp>
          <p:nvSpPr>
            <p:cNvPr id="15" name="Rectangle 5"/>
            <p:cNvSpPr/>
            <p:nvPr/>
          </p:nvSpPr>
          <p:spPr>
            <a:xfrm>
              <a:off x="7353300" y="104775"/>
              <a:ext cx="2749550" cy="479425"/>
            </a:xfrm>
            <a:custGeom>
              <a:avLst/>
              <a:gdLst>
                <a:gd name="connsiteX0" fmla="*/ 0 w 2749550"/>
                <a:gd name="connsiteY0" fmla="*/ 0 h 479425"/>
                <a:gd name="connsiteX1" fmla="*/ 2749550 w 2749550"/>
                <a:gd name="connsiteY1" fmla="*/ 0 h 479425"/>
                <a:gd name="connsiteX2" fmla="*/ 2749550 w 2749550"/>
                <a:gd name="connsiteY2" fmla="*/ 479425 h 479425"/>
                <a:gd name="connsiteX3" fmla="*/ 0 w 2749550"/>
                <a:gd name="connsiteY3" fmla="*/ 479425 h 479425"/>
                <a:gd name="connsiteX4" fmla="*/ 0 w 2749550"/>
                <a:gd name="connsiteY4" fmla="*/ 0 h 479425"/>
                <a:gd name="connsiteX0" fmla="*/ 0 w 2749550"/>
                <a:gd name="connsiteY0" fmla="*/ 0 h 479425"/>
                <a:gd name="connsiteX1" fmla="*/ 2419350 w 2749550"/>
                <a:gd name="connsiteY1" fmla="*/ 6350 h 479425"/>
                <a:gd name="connsiteX2" fmla="*/ 2749550 w 2749550"/>
                <a:gd name="connsiteY2" fmla="*/ 479425 h 479425"/>
                <a:gd name="connsiteX3" fmla="*/ 0 w 2749550"/>
                <a:gd name="connsiteY3" fmla="*/ 479425 h 479425"/>
                <a:gd name="connsiteX4" fmla="*/ 0 w 2749550"/>
                <a:gd name="connsiteY4" fmla="*/ 0 h 479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50" h="479425">
                  <a:moveTo>
                    <a:pt x="0" y="0"/>
                  </a:moveTo>
                  <a:lnTo>
                    <a:pt x="2419350" y="6350"/>
                  </a:lnTo>
                  <a:lnTo>
                    <a:pt x="2749550" y="479425"/>
                  </a:lnTo>
                  <a:lnTo>
                    <a:pt x="0" y="479425"/>
                  </a:lnTo>
                  <a:lnTo>
                    <a:pt x="0" y="0"/>
                  </a:lnTo>
                  <a:close/>
                </a:path>
              </a:pathLst>
            </a:cu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chemeClr val="tx1"/>
                  </a:solidFill>
                  <a:sym typeface="Wingdings" panose="05000000000000000000" pitchFamily="2" charset="2"/>
                </a:rPr>
                <a:t> </a:t>
              </a:r>
              <a:r>
                <a:rPr lang="en-GB" dirty="0" smtClean="0">
                  <a:solidFill>
                    <a:schemeClr val="tx1"/>
                  </a:solidFill>
                  <a:latin typeface="LEMON MILK" panose="00000500000000000000" pitchFamily="50" charset="0"/>
                </a:rPr>
                <a:t>Field</a:t>
              </a:r>
              <a:endParaRPr lang="en-GB" dirty="0">
                <a:solidFill>
                  <a:schemeClr val="tx1"/>
                </a:solidFill>
                <a:latin typeface="LEMON MILK" panose="00000500000000000000" pitchFamily="50" charset="0"/>
              </a:endParaRPr>
            </a:p>
          </p:txBody>
        </p:sp>
      </p:grpSp>
      <p:grpSp>
        <p:nvGrpSpPr>
          <p:cNvPr id="16" name="Group 15"/>
          <p:cNvGrpSpPr/>
          <p:nvPr/>
        </p:nvGrpSpPr>
        <p:grpSpPr>
          <a:xfrm>
            <a:off x="7448550" y="2181357"/>
            <a:ext cx="4629150" cy="1685925"/>
            <a:chOff x="7353300" y="104775"/>
            <a:chExt cx="4629150" cy="1685925"/>
          </a:xfrm>
        </p:grpSpPr>
        <p:sp>
          <p:nvSpPr>
            <p:cNvPr id="17" name="Rectangle 16"/>
            <p:cNvSpPr/>
            <p:nvPr/>
          </p:nvSpPr>
          <p:spPr>
            <a:xfrm>
              <a:off x="7353300" y="584200"/>
              <a:ext cx="4629150" cy="1206500"/>
            </a:xfrm>
            <a:prstGeom prst="rect">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latin typeface="Ink Free" panose="03080402000500000000" pitchFamily="66" charset="0"/>
                </a:rPr>
                <a:t>Also known as a </a:t>
              </a:r>
              <a:r>
                <a:rPr lang="en-GB" b="1" dirty="0" smtClean="0">
                  <a:solidFill>
                    <a:schemeClr val="tx1"/>
                  </a:solidFill>
                  <a:latin typeface="Ink Free" panose="03080402000500000000" pitchFamily="66" charset="0"/>
                </a:rPr>
                <a:t>primary key</a:t>
              </a:r>
              <a:r>
                <a:rPr lang="en-GB" dirty="0" smtClean="0">
                  <a:solidFill>
                    <a:schemeClr val="tx1"/>
                  </a:solidFill>
                  <a:latin typeface="Ink Free" panose="03080402000500000000" pitchFamily="66" charset="0"/>
                </a:rPr>
                <a:t>. It is a </a:t>
              </a:r>
              <a:r>
                <a:rPr lang="en-GB" dirty="0">
                  <a:solidFill>
                    <a:schemeClr val="tx1"/>
                  </a:solidFill>
                  <a:latin typeface="Ink Free" panose="03080402000500000000" pitchFamily="66" charset="0"/>
                </a:rPr>
                <a:t>unique field used to uniquely identify a </a:t>
              </a:r>
              <a:r>
                <a:rPr lang="en-GB" dirty="0" smtClean="0">
                  <a:solidFill>
                    <a:schemeClr val="tx1"/>
                  </a:solidFill>
                  <a:latin typeface="Ink Free" panose="03080402000500000000" pitchFamily="66" charset="0"/>
                </a:rPr>
                <a:t>record </a:t>
              </a:r>
              <a:r>
                <a:rPr lang="en-GB" dirty="0">
                  <a:solidFill>
                    <a:schemeClr val="tx1"/>
                  </a:solidFill>
                  <a:latin typeface="Ink Free" panose="03080402000500000000" pitchFamily="66" charset="0"/>
                </a:rPr>
                <a:t>in a </a:t>
              </a:r>
              <a:r>
                <a:rPr lang="en-GB" dirty="0" smtClean="0">
                  <a:solidFill>
                    <a:schemeClr val="tx1"/>
                  </a:solidFill>
                  <a:latin typeface="Ink Free" panose="03080402000500000000" pitchFamily="66" charset="0"/>
                </a:rPr>
                <a:t>table.</a:t>
              </a:r>
              <a:endParaRPr lang="en-GB" dirty="0">
                <a:solidFill>
                  <a:schemeClr val="tx1"/>
                </a:solidFill>
                <a:latin typeface="Ink Free" panose="03080402000500000000" pitchFamily="66" charset="0"/>
              </a:endParaRPr>
            </a:p>
          </p:txBody>
        </p:sp>
        <p:sp>
          <p:nvSpPr>
            <p:cNvPr id="18" name="Rectangle 5"/>
            <p:cNvSpPr/>
            <p:nvPr/>
          </p:nvSpPr>
          <p:spPr>
            <a:xfrm>
              <a:off x="7353300" y="104775"/>
              <a:ext cx="2749550" cy="479425"/>
            </a:xfrm>
            <a:custGeom>
              <a:avLst/>
              <a:gdLst>
                <a:gd name="connsiteX0" fmla="*/ 0 w 2749550"/>
                <a:gd name="connsiteY0" fmla="*/ 0 h 479425"/>
                <a:gd name="connsiteX1" fmla="*/ 2749550 w 2749550"/>
                <a:gd name="connsiteY1" fmla="*/ 0 h 479425"/>
                <a:gd name="connsiteX2" fmla="*/ 2749550 w 2749550"/>
                <a:gd name="connsiteY2" fmla="*/ 479425 h 479425"/>
                <a:gd name="connsiteX3" fmla="*/ 0 w 2749550"/>
                <a:gd name="connsiteY3" fmla="*/ 479425 h 479425"/>
                <a:gd name="connsiteX4" fmla="*/ 0 w 2749550"/>
                <a:gd name="connsiteY4" fmla="*/ 0 h 479425"/>
                <a:gd name="connsiteX0" fmla="*/ 0 w 2749550"/>
                <a:gd name="connsiteY0" fmla="*/ 0 h 479425"/>
                <a:gd name="connsiteX1" fmla="*/ 2419350 w 2749550"/>
                <a:gd name="connsiteY1" fmla="*/ 6350 h 479425"/>
                <a:gd name="connsiteX2" fmla="*/ 2749550 w 2749550"/>
                <a:gd name="connsiteY2" fmla="*/ 479425 h 479425"/>
                <a:gd name="connsiteX3" fmla="*/ 0 w 2749550"/>
                <a:gd name="connsiteY3" fmla="*/ 479425 h 479425"/>
                <a:gd name="connsiteX4" fmla="*/ 0 w 2749550"/>
                <a:gd name="connsiteY4" fmla="*/ 0 h 479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50" h="479425">
                  <a:moveTo>
                    <a:pt x="0" y="0"/>
                  </a:moveTo>
                  <a:lnTo>
                    <a:pt x="2419350" y="6350"/>
                  </a:lnTo>
                  <a:lnTo>
                    <a:pt x="2749550" y="479425"/>
                  </a:lnTo>
                  <a:lnTo>
                    <a:pt x="0" y="479425"/>
                  </a:lnTo>
                  <a:lnTo>
                    <a:pt x="0" y="0"/>
                  </a:lnTo>
                  <a:close/>
                </a:path>
              </a:pathLst>
            </a:cu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chemeClr val="tx1"/>
                  </a:solidFill>
                  <a:sym typeface="Wingdings" panose="05000000000000000000" pitchFamily="2" charset="2"/>
                </a:rPr>
                <a:t> </a:t>
              </a:r>
              <a:r>
                <a:rPr lang="en-GB" dirty="0" smtClean="0">
                  <a:solidFill>
                    <a:schemeClr val="tx1"/>
                  </a:solidFill>
                  <a:latin typeface="LEMON MILK" panose="00000500000000000000" pitchFamily="50" charset="0"/>
                </a:rPr>
                <a:t>Key Field</a:t>
              </a:r>
              <a:endParaRPr lang="en-GB" dirty="0">
                <a:solidFill>
                  <a:schemeClr val="tx1"/>
                </a:solidFill>
                <a:latin typeface="LEMON MILK" panose="00000500000000000000" pitchFamily="50" charset="0"/>
              </a:endParaRPr>
            </a:p>
          </p:txBody>
        </p:sp>
      </p:grpSp>
      <p:grpSp>
        <p:nvGrpSpPr>
          <p:cNvPr id="20" name="Group 19"/>
          <p:cNvGrpSpPr/>
          <p:nvPr/>
        </p:nvGrpSpPr>
        <p:grpSpPr>
          <a:xfrm>
            <a:off x="7448550" y="3942532"/>
            <a:ext cx="4629150" cy="1154096"/>
            <a:chOff x="7353300" y="104775"/>
            <a:chExt cx="4629150" cy="1154096"/>
          </a:xfrm>
        </p:grpSpPr>
        <p:sp>
          <p:nvSpPr>
            <p:cNvPr id="21" name="Rectangle 20"/>
            <p:cNvSpPr/>
            <p:nvPr/>
          </p:nvSpPr>
          <p:spPr>
            <a:xfrm>
              <a:off x="7353300" y="584200"/>
              <a:ext cx="4629150" cy="674671"/>
            </a:xfrm>
            <a:prstGeom prst="rect">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latin typeface="Ink Free" panose="03080402000500000000" pitchFamily="66" charset="0"/>
                </a:rPr>
                <a:t>A primary key which consists of two or more fields</a:t>
              </a:r>
              <a:endParaRPr lang="en-GB" dirty="0">
                <a:solidFill>
                  <a:schemeClr val="tx1"/>
                </a:solidFill>
                <a:latin typeface="Ink Free" panose="03080402000500000000" pitchFamily="66" charset="0"/>
              </a:endParaRPr>
            </a:p>
          </p:txBody>
        </p:sp>
        <p:sp>
          <p:nvSpPr>
            <p:cNvPr id="22" name="Rectangle 5"/>
            <p:cNvSpPr/>
            <p:nvPr/>
          </p:nvSpPr>
          <p:spPr>
            <a:xfrm>
              <a:off x="7353300" y="104775"/>
              <a:ext cx="2749550" cy="479425"/>
            </a:xfrm>
            <a:custGeom>
              <a:avLst/>
              <a:gdLst>
                <a:gd name="connsiteX0" fmla="*/ 0 w 2749550"/>
                <a:gd name="connsiteY0" fmla="*/ 0 h 479425"/>
                <a:gd name="connsiteX1" fmla="*/ 2749550 w 2749550"/>
                <a:gd name="connsiteY1" fmla="*/ 0 h 479425"/>
                <a:gd name="connsiteX2" fmla="*/ 2749550 w 2749550"/>
                <a:gd name="connsiteY2" fmla="*/ 479425 h 479425"/>
                <a:gd name="connsiteX3" fmla="*/ 0 w 2749550"/>
                <a:gd name="connsiteY3" fmla="*/ 479425 h 479425"/>
                <a:gd name="connsiteX4" fmla="*/ 0 w 2749550"/>
                <a:gd name="connsiteY4" fmla="*/ 0 h 479425"/>
                <a:gd name="connsiteX0" fmla="*/ 0 w 2749550"/>
                <a:gd name="connsiteY0" fmla="*/ 0 h 479425"/>
                <a:gd name="connsiteX1" fmla="*/ 2419350 w 2749550"/>
                <a:gd name="connsiteY1" fmla="*/ 6350 h 479425"/>
                <a:gd name="connsiteX2" fmla="*/ 2749550 w 2749550"/>
                <a:gd name="connsiteY2" fmla="*/ 479425 h 479425"/>
                <a:gd name="connsiteX3" fmla="*/ 0 w 2749550"/>
                <a:gd name="connsiteY3" fmla="*/ 479425 h 479425"/>
                <a:gd name="connsiteX4" fmla="*/ 0 w 2749550"/>
                <a:gd name="connsiteY4" fmla="*/ 0 h 479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50" h="479425">
                  <a:moveTo>
                    <a:pt x="0" y="0"/>
                  </a:moveTo>
                  <a:lnTo>
                    <a:pt x="2419350" y="6350"/>
                  </a:lnTo>
                  <a:lnTo>
                    <a:pt x="2749550" y="479425"/>
                  </a:lnTo>
                  <a:lnTo>
                    <a:pt x="0" y="479425"/>
                  </a:lnTo>
                  <a:lnTo>
                    <a:pt x="0" y="0"/>
                  </a:lnTo>
                  <a:close/>
                </a:path>
              </a:pathLst>
            </a:cu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chemeClr val="tx1"/>
                  </a:solidFill>
                  <a:sym typeface="Wingdings" panose="05000000000000000000" pitchFamily="2" charset="2"/>
                </a:rPr>
                <a:t> </a:t>
              </a:r>
              <a:r>
                <a:rPr lang="en-GB" dirty="0" smtClean="0">
                  <a:solidFill>
                    <a:schemeClr val="tx1"/>
                  </a:solidFill>
                  <a:latin typeface="LEMON MILK" panose="00000500000000000000" pitchFamily="50" charset="0"/>
                </a:rPr>
                <a:t>Composite Key</a:t>
              </a:r>
              <a:endParaRPr lang="en-GB" dirty="0">
                <a:solidFill>
                  <a:schemeClr val="tx1"/>
                </a:solidFill>
                <a:latin typeface="LEMON MILK" panose="00000500000000000000" pitchFamily="50" charset="0"/>
              </a:endParaRPr>
            </a:p>
          </p:txBody>
        </p:sp>
      </p:grpSp>
      <p:grpSp>
        <p:nvGrpSpPr>
          <p:cNvPr id="23" name="Group 22"/>
          <p:cNvGrpSpPr/>
          <p:nvPr/>
        </p:nvGrpSpPr>
        <p:grpSpPr>
          <a:xfrm>
            <a:off x="7448550" y="5176854"/>
            <a:ext cx="4629150" cy="1560496"/>
            <a:chOff x="7353300" y="104775"/>
            <a:chExt cx="4629150" cy="1560496"/>
          </a:xfrm>
        </p:grpSpPr>
        <p:sp>
          <p:nvSpPr>
            <p:cNvPr id="24" name="Rectangle 23"/>
            <p:cNvSpPr/>
            <p:nvPr/>
          </p:nvSpPr>
          <p:spPr>
            <a:xfrm>
              <a:off x="7353300" y="584200"/>
              <a:ext cx="4629150" cy="1081071"/>
            </a:xfrm>
            <a:prstGeom prst="rect">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latin typeface="Ink Free" panose="03080402000500000000" pitchFamily="66" charset="0"/>
                </a:rPr>
                <a:t>When a primary key from one table appears as a field in a second table, it is known as a foreign key on the second table. </a:t>
              </a:r>
              <a:endParaRPr lang="en-GB" dirty="0">
                <a:solidFill>
                  <a:schemeClr val="tx1"/>
                </a:solidFill>
                <a:latin typeface="Ink Free" panose="03080402000500000000" pitchFamily="66" charset="0"/>
              </a:endParaRPr>
            </a:p>
          </p:txBody>
        </p:sp>
        <p:sp>
          <p:nvSpPr>
            <p:cNvPr id="25" name="Rectangle 5"/>
            <p:cNvSpPr/>
            <p:nvPr/>
          </p:nvSpPr>
          <p:spPr>
            <a:xfrm>
              <a:off x="7353300" y="104775"/>
              <a:ext cx="2749550" cy="479425"/>
            </a:xfrm>
            <a:custGeom>
              <a:avLst/>
              <a:gdLst>
                <a:gd name="connsiteX0" fmla="*/ 0 w 2749550"/>
                <a:gd name="connsiteY0" fmla="*/ 0 h 479425"/>
                <a:gd name="connsiteX1" fmla="*/ 2749550 w 2749550"/>
                <a:gd name="connsiteY1" fmla="*/ 0 h 479425"/>
                <a:gd name="connsiteX2" fmla="*/ 2749550 w 2749550"/>
                <a:gd name="connsiteY2" fmla="*/ 479425 h 479425"/>
                <a:gd name="connsiteX3" fmla="*/ 0 w 2749550"/>
                <a:gd name="connsiteY3" fmla="*/ 479425 h 479425"/>
                <a:gd name="connsiteX4" fmla="*/ 0 w 2749550"/>
                <a:gd name="connsiteY4" fmla="*/ 0 h 479425"/>
                <a:gd name="connsiteX0" fmla="*/ 0 w 2749550"/>
                <a:gd name="connsiteY0" fmla="*/ 0 h 479425"/>
                <a:gd name="connsiteX1" fmla="*/ 2419350 w 2749550"/>
                <a:gd name="connsiteY1" fmla="*/ 6350 h 479425"/>
                <a:gd name="connsiteX2" fmla="*/ 2749550 w 2749550"/>
                <a:gd name="connsiteY2" fmla="*/ 479425 h 479425"/>
                <a:gd name="connsiteX3" fmla="*/ 0 w 2749550"/>
                <a:gd name="connsiteY3" fmla="*/ 479425 h 479425"/>
                <a:gd name="connsiteX4" fmla="*/ 0 w 2749550"/>
                <a:gd name="connsiteY4" fmla="*/ 0 h 479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50" h="479425">
                  <a:moveTo>
                    <a:pt x="0" y="0"/>
                  </a:moveTo>
                  <a:lnTo>
                    <a:pt x="2419350" y="6350"/>
                  </a:lnTo>
                  <a:lnTo>
                    <a:pt x="2749550" y="479425"/>
                  </a:lnTo>
                  <a:lnTo>
                    <a:pt x="0" y="479425"/>
                  </a:lnTo>
                  <a:lnTo>
                    <a:pt x="0" y="0"/>
                  </a:lnTo>
                  <a:close/>
                </a:path>
              </a:pathLst>
            </a:cu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chemeClr val="tx1"/>
                  </a:solidFill>
                  <a:sym typeface="Wingdings" panose="05000000000000000000" pitchFamily="2" charset="2"/>
                </a:rPr>
                <a:t> </a:t>
              </a:r>
              <a:r>
                <a:rPr lang="en-GB" dirty="0" smtClean="0">
                  <a:solidFill>
                    <a:schemeClr val="tx1"/>
                  </a:solidFill>
                  <a:latin typeface="LEMON MILK" panose="00000500000000000000" pitchFamily="50" charset="0"/>
                </a:rPr>
                <a:t>Foreign Key</a:t>
              </a:r>
              <a:endParaRPr lang="en-GB" dirty="0">
                <a:solidFill>
                  <a:schemeClr val="tx1"/>
                </a:solidFill>
                <a:latin typeface="LEMON MILK" panose="00000500000000000000" pitchFamily="50" charset="0"/>
              </a:endParaRPr>
            </a:p>
          </p:txBody>
        </p:sp>
      </p:grpSp>
    </p:spTree>
    <p:extLst>
      <p:ext uri="{BB962C8B-B14F-4D97-AF65-F5344CB8AC3E}">
        <p14:creationId xmlns:p14="http://schemas.microsoft.com/office/powerpoint/2010/main" val="3120581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1557A916-FDD1-44A1-A7A1-70009FD6BE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xmlns="" id="{4B874C19-9B23-4B12-823E-D67615A9B3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7743949" cy="6858000"/>
          </a:xfrm>
          <a:custGeom>
            <a:avLst/>
            <a:gdLst>
              <a:gd name="connsiteX0" fmla="*/ 956085 w 7743949"/>
              <a:gd name="connsiteY0" fmla="*/ 2071857 h 6858000"/>
              <a:gd name="connsiteX1" fmla="*/ 4999548 w 7743949"/>
              <a:gd name="connsiteY1" fmla="*/ 2071857 h 6858000"/>
              <a:gd name="connsiteX2" fmla="*/ 5619604 w 7743949"/>
              <a:gd name="connsiteY2" fmla="*/ 2437296 h 6858000"/>
              <a:gd name="connsiteX3" fmla="*/ 7645701 w 7743949"/>
              <a:gd name="connsiteY3" fmla="*/ 5926372 h 6858000"/>
              <a:gd name="connsiteX4" fmla="*/ 7645701 w 7743949"/>
              <a:gd name="connsiteY4" fmla="*/ 6639850 h 6858000"/>
              <a:gd name="connsiteX5" fmla="*/ 7538856 w 7743949"/>
              <a:gd name="connsiteY5" fmla="*/ 6823844 h 6858000"/>
              <a:gd name="connsiteX6" fmla="*/ 7519022 w 7743949"/>
              <a:gd name="connsiteY6" fmla="*/ 6858000 h 6858000"/>
              <a:gd name="connsiteX7" fmla="*/ 0 w 7743949"/>
              <a:gd name="connsiteY7" fmla="*/ 6858000 h 6858000"/>
              <a:gd name="connsiteX8" fmla="*/ 0 w 7743949"/>
              <a:gd name="connsiteY8" fmla="*/ 3003362 h 6858000"/>
              <a:gd name="connsiteX9" fmla="*/ 144017 w 7743949"/>
              <a:gd name="connsiteY9" fmla="*/ 2754282 h 6858000"/>
              <a:gd name="connsiteX10" fmla="*/ 327296 w 7743949"/>
              <a:gd name="connsiteY10" fmla="*/ 2437296 h 6858000"/>
              <a:gd name="connsiteX11" fmla="*/ 956085 w 7743949"/>
              <a:gd name="connsiteY11" fmla="*/ 2071857 h 6858000"/>
              <a:gd name="connsiteX12" fmla="*/ 6281397 w 7743949"/>
              <a:gd name="connsiteY12" fmla="*/ 1163923 h 6858000"/>
              <a:gd name="connsiteX13" fmla="*/ 7148441 w 7743949"/>
              <a:gd name="connsiteY13" fmla="*/ 1163923 h 6858000"/>
              <a:gd name="connsiteX14" fmla="*/ 7281401 w 7743949"/>
              <a:gd name="connsiteY14" fmla="*/ 1242285 h 6858000"/>
              <a:gd name="connsiteX15" fmla="*/ 7715859 w 7743949"/>
              <a:gd name="connsiteY15" fmla="*/ 1990451 h 6858000"/>
              <a:gd name="connsiteX16" fmla="*/ 7715859 w 7743949"/>
              <a:gd name="connsiteY16" fmla="*/ 2143443 h 6858000"/>
              <a:gd name="connsiteX17" fmla="*/ 7281401 w 7743949"/>
              <a:gd name="connsiteY17" fmla="*/ 2891610 h 6858000"/>
              <a:gd name="connsiteX18" fmla="*/ 7148441 w 7743949"/>
              <a:gd name="connsiteY18" fmla="*/ 2969971 h 6858000"/>
              <a:gd name="connsiteX19" fmla="*/ 6281397 w 7743949"/>
              <a:gd name="connsiteY19" fmla="*/ 2969971 h 6858000"/>
              <a:gd name="connsiteX20" fmla="*/ 6146565 w 7743949"/>
              <a:gd name="connsiteY20" fmla="*/ 2891610 h 6858000"/>
              <a:gd name="connsiteX21" fmla="*/ 5713979 w 7743949"/>
              <a:gd name="connsiteY21" fmla="*/ 2143443 h 6858000"/>
              <a:gd name="connsiteX22" fmla="*/ 5713979 w 7743949"/>
              <a:gd name="connsiteY22" fmla="*/ 1990451 h 6858000"/>
              <a:gd name="connsiteX23" fmla="*/ 6146565 w 7743949"/>
              <a:gd name="connsiteY23" fmla="*/ 1242285 h 6858000"/>
              <a:gd name="connsiteX24" fmla="*/ 6281397 w 7743949"/>
              <a:gd name="connsiteY24" fmla="*/ 1163923 h 6858000"/>
              <a:gd name="connsiteX25" fmla="*/ 0 w 7743949"/>
              <a:gd name="connsiteY25" fmla="*/ 0 h 6858000"/>
              <a:gd name="connsiteX26" fmla="*/ 6600525 w 7743949"/>
              <a:gd name="connsiteY26" fmla="*/ 0 h 6858000"/>
              <a:gd name="connsiteX27" fmla="*/ 6486618 w 7743949"/>
              <a:gd name="connsiteY27" fmla="*/ 196155 h 6858000"/>
              <a:gd name="connsiteX28" fmla="*/ 5677553 w 7743949"/>
              <a:gd name="connsiteY28" fmla="*/ 1589421 h 6858000"/>
              <a:gd name="connsiteX29" fmla="*/ 5057496 w 7743949"/>
              <a:gd name="connsiteY29" fmla="*/ 1954861 h 6858000"/>
              <a:gd name="connsiteX30" fmla="*/ 1014033 w 7743949"/>
              <a:gd name="connsiteY30" fmla="*/ 1954861 h 6858000"/>
              <a:gd name="connsiteX31" fmla="*/ 385244 w 7743949"/>
              <a:gd name="connsiteY31" fmla="*/ 1589421 h 6858000"/>
              <a:gd name="connsiteX32" fmla="*/ 69234 w 7743949"/>
              <a:gd name="connsiteY32" fmla="*/ 1042874 h 6858000"/>
              <a:gd name="connsiteX33" fmla="*/ 0 w 7743949"/>
              <a:gd name="connsiteY33" fmla="*/ 923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3949" h="6858000">
                <a:moveTo>
                  <a:pt x="956085" y="2071857"/>
                </a:moveTo>
                <a:cubicBezTo>
                  <a:pt x="956085" y="2071857"/>
                  <a:pt x="956085" y="2071857"/>
                  <a:pt x="4999548" y="2071857"/>
                </a:cubicBezTo>
                <a:cubicBezTo>
                  <a:pt x="5252811" y="2071857"/>
                  <a:pt x="5497339" y="2211072"/>
                  <a:pt x="5619604" y="2437296"/>
                </a:cubicBezTo>
                <a:cubicBezTo>
                  <a:pt x="5619604" y="2437296"/>
                  <a:pt x="5619604" y="2437296"/>
                  <a:pt x="7645701" y="5926372"/>
                </a:cubicBezTo>
                <a:cubicBezTo>
                  <a:pt x="7776699" y="6143896"/>
                  <a:pt x="7776699" y="6422327"/>
                  <a:pt x="7645701" y="6639850"/>
                </a:cubicBezTo>
                <a:cubicBezTo>
                  <a:pt x="7645701" y="6639850"/>
                  <a:pt x="7645701" y="6639850"/>
                  <a:pt x="7538856" y="6823844"/>
                </a:cubicBezTo>
                <a:lnTo>
                  <a:pt x="7519022" y="6858000"/>
                </a:lnTo>
                <a:lnTo>
                  <a:pt x="0" y="6858000"/>
                </a:lnTo>
                <a:lnTo>
                  <a:pt x="0" y="3003362"/>
                </a:lnTo>
                <a:lnTo>
                  <a:pt x="144017" y="2754282"/>
                </a:lnTo>
                <a:cubicBezTo>
                  <a:pt x="203181" y="2651956"/>
                  <a:pt x="264254" y="2546330"/>
                  <a:pt x="327296" y="2437296"/>
                </a:cubicBezTo>
                <a:cubicBezTo>
                  <a:pt x="458294" y="2211072"/>
                  <a:pt x="694090" y="2071857"/>
                  <a:pt x="956085" y="2071857"/>
                </a:cubicBezTo>
                <a:close/>
                <a:moveTo>
                  <a:pt x="6281397" y="1163923"/>
                </a:moveTo>
                <a:cubicBezTo>
                  <a:pt x="6281397" y="1163923"/>
                  <a:pt x="6281397" y="1163923"/>
                  <a:pt x="7148441" y="1163923"/>
                </a:cubicBezTo>
                <a:cubicBezTo>
                  <a:pt x="7202749" y="1163923"/>
                  <a:pt x="7255183" y="1193775"/>
                  <a:pt x="7281401" y="1242285"/>
                </a:cubicBezTo>
                <a:cubicBezTo>
                  <a:pt x="7281401" y="1242285"/>
                  <a:pt x="7281401" y="1242285"/>
                  <a:pt x="7715859" y="1990451"/>
                </a:cubicBezTo>
                <a:cubicBezTo>
                  <a:pt x="7743949" y="2037095"/>
                  <a:pt x="7743949" y="2096799"/>
                  <a:pt x="7715859" y="2143443"/>
                </a:cubicBezTo>
                <a:cubicBezTo>
                  <a:pt x="7715859" y="2143443"/>
                  <a:pt x="7715859" y="2143443"/>
                  <a:pt x="7281401" y="2891610"/>
                </a:cubicBezTo>
                <a:cubicBezTo>
                  <a:pt x="7255183" y="2940119"/>
                  <a:pt x="7202749" y="2969971"/>
                  <a:pt x="7148441" y="2969971"/>
                </a:cubicBezTo>
                <a:cubicBezTo>
                  <a:pt x="7148441" y="2969971"/>
                  <a:pt x="7148441" y="2969971"/>
                  <a:pt x="6281397" y="2969971"/>
                </a:cubicBezTo>
                <a:cubicBezTo>
                  <a:pt x="6225217" y="2969971"/>
                  <a:pt x="6174655" y="2940119"/>
                  <a:pt x="6146565" y="2891610"/>
                </a:cubicBezTo>
                <a:cubicBezTo>
                  <a:pt x="6146565" y="2891610"/>
                  <a:pt x="6146565" y="2891610"/>
                  <a:pt x="5713979" y="2143443"/>
                </a:cubicBezTo>
                <a:cubicBezTo>
                  <a:pt x="5685889" y="2096799"/>
                  <a:pt x="5685889" y="2037095"/>
                  <a:pt x="5713979" y="1990451"/>
                </a:cubicBezTo>
                <a:cubicBezTo>
                  <a:pt x="5713979" y="1990451"/>
                  <a:pt x="5713979" y="1990451"/>
                  <a:pt x="6146565" y="1242285"/>
                </a:cubicBezTo>
                <a:cubicBezTo>
                  <a:pt x="6174655" y="1193775"/>
                  <a:pt x="6225217" y="1163923"/>
                  <a:pt x="6281397" y="1163923"/>
                </a:cubicBezTo>
                <a:close/>
                <a:moveTo>
                  <a:pt x="0" y="0"/>
                </a:moveTo>
                <a:lnTo>
                  <a:pt x="6600525" y="0"/>
                </a:lnTo>
                <a:lnTo>
                  <a:pt x="6486618" y="196155"/>
                </a:lnTo>
                <a:cubicBezTo>
                  <a:pt x="6261242" y="584267"/>
                  <a:pt x="5994130" y="1044253"/>
                  <a:pt x="5677553" y="1589421"/>
                </a:cubicBezTo>
                <a:cubicBezTo>
                  <a:pt x="5555288" y="1815646"/>
                  <a:pt x="5310759" y="1954861"/>
                  <a:pt x="5057496" y="1954861"/>
                </a:cubicBezTo>
                <a:cubicBezTo>
                  <a:pt x="5057496" y="1954861"/>
                  <a:pt x="5057496" y="1954861"/>
                  <a:pt x="1014033" y="1954861"/>
                </a:cubicBezTo>
                <a:cubicBezTo>
                  <a:pt x="752038" y="1954861"/>
                  <a:pt x="516243" y="1815646"/>
                  <a:pt x="385244" y="1589421"/>
                </a:cubicBezTo>
                <a:cubicBezTo>
                  <a:pt x="385244" y="1589421"/>
                  <a:pt x="385244" y="1589421"/>
                  <a:pt x="69234" y="1042874"/>
                </a:cubicBezTo>
                <a:lnTo>
                  <a:pt x="0" y="9231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756744" y="349858"/>
            <a:ext cx="4761461" cy="1351722"/>
          </a:xfrm>
        </p:spPr>
        <p:txBody>
          <a:bodyPr anchor="ctr">
            <a:normAutofit/>
          </a:bodyPr>
          <a:lstStyle/>
          <a:p>
            <a:r>
              <a:rPr lang="en-GB">
                <a:solidFill>
                  <a:schemeClr val="bg1"/>
                </a:solidFill>
              </a:rPr>
              <a:t>Queries</a:t>
            </a:r>
          </a:p>
        </p:txBody>
      </p:sp>
      <p:sp>
        <p:nvSpPr>
          <p:cNvPr id="3" name="Content Placeholder 2"/>
          <p:cNvSpPr>
            <a:spLocks noGrp="1"/>
          </p:cNvSpPr>
          <p:nvPr>
            <p:ph idx="1"/>
          </p:nvPr>
        </p:nvSpPr>
        <p:spPr>
          <a:xfrm>
            <a:off x="377270" y="2863018"/>
            <a:ext cx="5046068" cy="3304451"/>
          </a:xfrm>
        </p:spPr>
        <p:txBody>
          <a:bodyPr>
            <a:normAutofit/>
          </a:bodyPr>
          <a:lstStyle/>
          <a:p>
            <a:pPr marL="0" indent="0">
              <a:buNone/>
            </a:pPr>
            <a:r>
              <a:rPr lang="en-GB" sz="2400" b="1" dirty="0">
                <a:solidFill>
                  <a:srgbClr val="FFC000"/>
                </a:solidFill>
                <a:sym typeface="Wingdings" panose="05000000000000000000" pitchFamily="2" charset="2"/>
              </a:rPr>
              <a:t> </a:t>
            </a:r>
            <a:r>
              <a:rPr lang="en-GB" sz="2200" dirty="0" smtClean="0">
                <a:solidFill>
                  <a:srgbClr val="FFC000"/>
                </a:solidFill>
              </a:rPr>
              <a:t>A </a:t>
            </a:r>
            <a:r>
              <a:rPr lang="en-GB" sz="2200" b="1" dirty="0">
                <a:solidFill>
                  <a:srgbClr val="FFC000"/>
                </a:solidFill>
              </a:rPr>
              <a:t>query</a:t>
            </a:r>
            <a:r>
              <a:rPr lang="en-GB" sz="2200" dirty="0">
                <a:solidFill>
                  <a:srgbClr val="FFC000"/>
                </a:solidFill>
              </a:rPr>
              <a:t> is a way of </a:t>
            </a:r>
            <a:r>
              <a:rPr lang="en-GB" sz="2200" dirty="0" smtClean="0">
                <a:solidFill>
                  <a:srgbClr val="FFC000"/>
                </a:solidFill>
              </a:rPr>
              <a:t>searching, filtering and/or </a:t>
            </a:r>
            <a:r>
              <a:rPr lang="en-GB" sz="2200" dirty="0">
                <a:solidFill>
                  <a:srgbClr val="FFC000"/>
                </a:solidFill>
              </a:rPr>
              <a:t>extracting data from a database to find answers to a question.</a:t>
            </a:r>
          </a:p>
          <a:p>
            <a:r>
              <a:rPr lang="en-GB" sz="2200" dirty="0">
                <a:solidFill>
                  <a:schemeClr val="bg1"/>
                </a:solidFill>
              </a:rPr>
              <a:t>A query checks each record and produces a list of data that satisfies the query criteria.</a:t>
            </a:r>
          </a:p>
          <a:p>
            <a:endParaRPr lang="en-GB" sz="2200" dirty="0">
              <a:solidFill>
                <a:schemeClr val="bg1"/>
              </a:solidFill>
            </a:endParaRPr>
          </a:p>
          <a:p>
            <a:r>
              <a:rPr lang="en-GB" sz="2200" dirty="0">
                <a:solidFill>
                  <a:schemeClr val="bg1"/>
                </a:solidFill>
              </a:rPr>
              <a:t>To create a query, criteria are added to one or more fields in a table</a:t>
            </a:r>
          </a:p>
        </p:txBody>
      </p:sp>
      <p:pic>
        <p:nvPicPr>
          <p:cNvPr id="5" name="Picture 4">
            <a:extLst>
              <a:ext uri="{FF2B5EF4-FFF2-40B4-BE49-F238E27FC236}">
                <a16:creationId xmlns:a16="http://schemas.microsoft.com/office/drawing/2014/main" xmlns="" id="{3A29B56A-AC1E-453C-8E42-99ABCB18B6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foregroundMark x1="82700" y1="74895" x2="82700" y2="74895"/>
                      </a14:backgroundRemoval>
                    </a14:imgEffect>
                  </a14:imgLayer>
                </a14:imgProps>
              </a:ext>
              <a:ext uri="{28A0092B-C50C-407E-A947-70E740481C1C}">
                <a14:useLocalDpi xmlns:a14="http://schemas.microsoft.com/office/drawing/2010/main" val="0"/>
              </a:ext>
            </a:extLst>
          </a:blip>
          <a:stretch>
            <a:fillRect/>
          </a:stretch>
        </p:blipFill>
        <p:spPr>
          <a:xfrm>
            <a:off x="7836576" y="1261638"/>
            <a:ext cx="3858600" cy="3858600"/>
          </a:xfrm>
          <a:prstGeom prst="rect">
            <a:avLst/>
          </a:prstGeom>
        </p:spPr>
      </p:pic>
    </p:spTree>
    <p:extLst>
      <p:ext uri="{BB962C8B-B14F-4D97-AF65-F5344CB8AC3E}">
        <p14:creationId xmlns:p14="http://schemas.microsoft.com/office/powerpoint/2010/main" val="14594299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1"/>
            <a:ext cx="8401050" cy="6889173"/>
          </a:xfrm>
          <a:prstGeom prst="rect">
            <a:avLst/>
          </a:prstGeom>
        </p:spPr>
      </p:pic>
      <p:sp>
        <p:nvSpPr>
          <p:cNvPr id="5" name="TextBox 4"/>
          <p:cNvSpPr txBox="1"/>
          <p:nvPr/>
        </p:nvSpPr>
        <p:spPr>
          <a:xfrm>
            <a:off x="8637644" y="1073010"/>
            <a:ext cx="3417758" cy="523220"/>
          </a:xfrm>
          <a:prstGeom prst="rect">
            <a:avLst/>
          </a:prstGeom>
          <a:noFill/>
        </p:spPr>
        <p:txBody>
          <a:bodyPr wrap="square" rtlCol="0">
            <a:spAutoFit/>
          </a:bodyPr>
          <a:lstStyle/>
          <a:p>
            <a:r>
              <a:rPr lang="en-GB" sz="2800" dirty="0" smtClean="0"/>
              <a:t>The table(s) are here</a:t>
            </a:r>
            <a:endParaRPr lang="en-GB" sz="2800" dirty="0"/>
          </a:p>
        </p:txBody>
      </p:sp>
      <p:cxnSp>
        <p:nvCxnSpPr>
          <p:cNvPr id="7" name="Straight Arrow Connector 6"/>
          <p:cNvCxnSpPr>
            <a:stCxn id="5" idx="1"/>
          </p:cNvCxnSpPr>
          <p:nvPr/>
        </p:nvCxnSpPr>
        <p:spPr>
          <a:xfrm flipH="1">
            <a:off x="3648075" y="1334620"/>
            <a:ext cx="4989569" cy="5608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637644" y="2321200"/>
            <a:ext cx="3417758" cy="2246769"/>
          </a:xfrm>
          <a:prstGeom prst="rect">
            <a:avLst/>
          </a:prstGeom>
          <a:noFill/>
        </p:spPr>
        <p:txBody>
          <a:bodyPr wrap="square" rtlCol="0">
            <a:spAutoFit/>
          </a:bodyPr>
          <a:lstStyle/>
          <a:p>
            <a:pPr algn="ctr"/>
            <a:r>
              <a:rPr lang="en-GB" sz="2800" dirty="0" smtClean="0"/>
              <a:t>The fields you want to display / query from the table(s) go into their own columns here</a:t>
            </a:r>
            <a:endParaRPr lang="en-GB" sz="2800" dirty="0"/>
          </a:p>
        </p:txBody>
      </p:sp>
      <p:cxnSp>
        <p:nvCxnSpPr>
          <p:cNvPr id="9" name="Straight Arrow Connector 8"/>
          <p:cNvCxnSpPr/>
          <p:nvPr/>
        </p:nvCxnSpPr>
        <p:spPr>
          <a:xfrm flipH="1">
            <a:off x="3648076" y="3801595"/>
            <a:ext cx="4989568" cy="16752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631368" y="5206704"/>
            <a:ext cx="3417758" cy="1384995"/>
          </a:xfrm>
          <a:prstGeom prst="rect">
            <a:avLst/>
          </a:prstGeom>
          <a:noFill/>
        </p:spPr>
        <p:txBody>
          <a:bodyPr wrap="square" rtlCol="0">
            <a:spAutoFit/>
          </a:bodyPr>
          <a:lstStyle/>
          <a:p>
            <a:pPr algn="ctr"/>
            <a:r>
              <a:rPr lang="en-GB" sz="2800" dirty="0" smtClean="0"/>
              <a:t>Any </a:t>
            </a:r>
            <a:r>
              <a:rPr lang="en-GB" sz="2800" b="1" dirty="0" smtClean="0"/>
              <a:t>criteria</a:t>
            </a:r>
            <a:r>
              <a:rPr lang="en-GB" sz="2800" dirty="0" smtClean="0"/>
              <a:t> you want to use or add to the query can go here.</a:t>
            </a:r>
            <a:endParaRPr lang="en-GB" sz="2800" dirty="0"/>
          </a:p>
        </p:txBody>
      </p:sp>
      <p:cxnSp>
        <p:nvCxnSpPr>
          <p:cNvPr id="12" name="Straight Arrow Connector 11"/>
          <p:cNvCxnSpPr/>
          <p:nvPr/>
        </p:nvCxnSpPr>
        <p:spPr>
          <a:xfrm flipH="1">
            <a:off x="4162425" y="5973079"/>
            <a:ext cx="4572001" cy="4277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390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FD7F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317125"/>
            <a:ext cx="4677083" cy="1751423"/>
          </a:xfrm>
        </p:spPr>
        <p:txBody>
          <a:bodyPr>
            <a:normAutofit fontScale="90000"/>
          </a:bodyPr>
          <a:lstStyle/>
          <a:p>
            <a:pPr algn="ctr"/>
            <a:r>
              <a:rPr lang="en-GB" sz="9800" dirty="0">
                <a:latin typeface="LEMON MILK" panose="00000500000000000000" pitchFamily="50" charset="0"/>
              </a:rPr>
              <a:t>Forms</a:t>
            </a:r>
            <a:endParaRPr lang="en-GB" dirty="0">
              <a:latin typeface="LEMON MILK" panose="00000500000000000000" pitchFamily="50" charset="0"/>
            </a:endParaRPr>
          </a:p>
        </p:txBody>
      </p:sp>
      <p:sp>
        <p:nvSpPr>
          <p:cNvPr id="3" name="Content Placeholder 2"/>
          <p:cNvSpPr>
            <a:spLocks noGrp="1"/>
          </p:cNvSpPr>
          <p:nvPr>
            <p:ph idx="1"/>
          </p:nvPr>
        </p:nvSpPr>
        <p:spPr>
          <a:xfrm>
            <a:off x="4242216" y="1310852"/>
            <a:ext cx="7675900" cy="5547147"/>
          </a:xfrm>
        </p:spPr>
        <p:txBody>
          <a:bodyPr>
            <a:normAutofit/>
          </a:bodyPr>
          <a:lstStyle/>
          <a:p>
            <a:pPr marL="1079500" indent="0">
              <a:buNone/>
            </a:pPr>
            <a:r>
              <a:rPr lang="en-GB" b="1" dirty="0" smtClean="0"/>
              <a:t>A common </a:t>
            </a:r>
            <a:r>
              <a:rPr lang="en-GB" b="1" dirty="0"/>
              <a:t>way to collect data from </a:t>
            </a:r>
            <a:r>
              <a:rPr lang="en-GB" b="1" dirty="0" smtClean="0"/>
              <a:t>people and used </a:t>
            </a:r>
            <a:r>
              <a:rPr lang="en-GB" b="1" dirty="0"/>
              <a:t>to enter a new record, modify an existing record, or view existing </a:t>
            </a:r>
            <a:r>
              <a:rPr lang="en-GB" b="1" dirty="0" smtClean="0"/>
              <a:t>records into a database table.</a:t>
            </a:r>
            <a:endParaRPr lang="en-GB" b="1" dirty="0"/>
          </a:p>
          <a:p>
            <a:pPr marL="0" indent="0">
              <a:buNone/>
            </a:pPr>
            <a:endParaRPr lang="en-GB" dirty="0"/>
          </a:p>
          <a:p>
            <a:pPr>
              <a:buFont typeface="Wingdings" panose="05000000000000000000" pitchFamily="2" charset="2"/>
              <a:buChar char="þ"/>
            </a:pPr>
            <a:r>
              <a:rPr lang="en-GB" dirty="0">
                <a:solidFill>
                  <a:srgbClr val="00B050"/>
                </a:solidFill>
                <a:sym typeface="Wingdings" panose="05000000000000000000" pitchFamily="2" charset="2"/>
              </a:rPr>
              <a:t> </a:t>
            </a:r>
            <a:r>
              <a:rPr lang="en-GB" dirty="0">
                <a:sym typeface="Wingdings" panose="05000000000000000000" pitchFamily="2" charset="2"/>
              </a:rPr>
              <a:t>When user enters data, it </a:t>
            </a:r>
            <a:r>
              <a:rPr lang="en-GB" dirty="0">
                <a:solidFill>
                  <a:srgbClr val="A14326"/>
                </a:solidFill>
                <a:sym typeface="Wingdings" panose="05000000000000000000" pitchFamily="2" charset="2"/>
              </a:rPr>
              <a:t>stored the data</a:t>
            </a:r>
            <a:r>
              <a:rPr lang="en-GB" dirty="0">
                <a:sym typeface="Wingdings" panose="05000000000000000000" pitchFamily="2" charset="2"/>
              </a:rPr>
              <a:t> in the </a:t>
            </a:r>
            <a:r>
              <a:rPr lang="en-GB" dirty="0">
                <a:solidFill>
                  <a:srgbClr val="A14326"/>
                </a:solidFill>
                <a:sym typeface="Wingdings" panose="05000000000000000000" pitchFamily="2" charset="2"/>
              </a:rPr>
              <a:t>correct table(s)</a:t>
            </a:r>
          </a:p>
          <a:p>
            <a:pPr>
              <a:buFont typeface="Wingdings" panose="05000000000000000000" pitchFamily="2" charset="2"/>
              <a:buChar char="þ"/>
            </a:pPr>
            <a:r>
              <a:rPr lang="en-GB" dirty="0">
                <a:solidFill>
                  <a:srgbClr val="00B050"/>
                </a:solidFill>
                <a:sym typeface="Wingdings" panose="05000000000000000000" pitchFamily="2" charset="2"/>
              </a:rPr>
              <a:t> </a:t>
            </a:r>
            <a:r>
              <a:rPr lang="en-GB" dirty="0">
                <a:sym typeface="Wingdings" panose="05000000000000000000" pitchFamily="2" charset="2"/>
              </a:rPr>
              <a:t>Database designer can control the type of data being </a:t>
            </a:r>
            <a:r>
              <a:rPr lang="en-GB" dirty="0">
                <a:solidFill>
                  <a:srgbClr val="A14326"/>
                </a:solidFill>
                <a:sym typeface="Wingdings" panose="05000000000000000000" pitchFamily="2" charset="2"/>
              </a:rPr>
              <a:t>entered and the format </a:t>
            </a:r>
            <a:r>
              <a:rPr lang="en-GB" dirty="0">
                <a:sym typeface="Wingdings" panose="05000000000000000000" pitchFamily="2" charset="2"/>
              </a:rPr>
              <a:t>used to keep it </a:t>
            </a:r>
            <a:r>
              <a:rPr lang="en-GB" dirty="0">
                <a:solidFill>
                  <a:srgbClr val="A14326"/>
                </a:solidFill>
                <a:sym typeface="Wingdings" panose="05000000000000000000" pitchFamily="2" charset="2"/>
              </a:rPr>
              <a:t>consistent</a:t>
            </a:r>
            <a:r>
              <a:rPr lang="en-GB" dirty="0">
                <a:sym typeface="Wingdings" panose="05000000000000000000" pitchFamily="2" charset="2"/>
              </a:rPr>
              <a:t> and </a:t>
            </a:r>
            <a:r>
              <a:rPr lang="en-GB" dirty="0">
                <a:solidFill>
                  <a:srgbClr val="A14326"/>
                </a:solidFill>
                <a:sym typeface="Wingdings" panose="05000000000000000000" pitchFamily="2" charset="2"/>
              </a:rPr>
              <a:t>accurate</a:t>
            </a:r>
          </a:p>
          <a:p>
            <a:pPr>
              <a:buFont typeface="Wingdings" panose="05000000000000000000" pitchFamily="2" charset="2"/>
              <a:buChar char="þ"/>
            </a:pPr>
            <a:r>
              <a:rPr lang="en-GB" dirty="0">
                <a:solidFill>
                  <a:srgbClr val="00B050"/>
                </a:solidFill>
                <a:sym typeface="Wingdings" panose="05000000000000000000" pitchFamily="2" charset="2"/>
              </a:rPr>
              <a:t> </a:t>
            </a:r>
            <a:r>
              <a:rPr lang="en-GB" dirty="0">
                <a:solidFill>
                  <a:srgbClr val="A14326"/>
                </a:solidFill>
                <a:sym typeface="Wingdings" panose="05000000000000000000" pitchFamily="2" charset="2"/>
              </a:rPr>
              <a:t>Can be customised</a:t>
            </a:r>
            <a:r>
              <a:rPr lang="en-GB" dirty="0">
                <a:sym typeface="Wingdings" panose="05000000000000000000" pitchFamily="2" charset="2"/>
              </a:rPr>
              <a:t> to include a logo and colour</a:t>
            </a:r>
            <a:endParaRPr lang="en-GB" dirty="0"/>
          </a:p>
        </p:txBody>
      </p:sp>
      <p:pic>
        <p:nvPicPr>
          <p:cNvPr id="6" name="Picture 5"/>
          <p:cNvPicPr>
            <a:picLocks noChangeAspect="1"/>
          </p:cNvPicPr>
          <p:nvPr/>
        </p:nvPicPr>
        <p:blipFill>
          <a:blip r:embed="rId2" cstate="print">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1023051" y="1653319"/>
            <a:ext cx="818652" cy="818652"/>
          </a:xfrm>
          <a:prstGeom prst="rect">
            <a:avLst/>
          </a:prstGeom>
        </p:spPr>
      </p:pic>
      <p:pic>
        <p:nvPicPr>
          <p:cNvPr id="3074" name="Picture 2" descr="Rails, Form Tag Helpers. This week at Flatiron we started to use… | by  Diego Dorado | Medium"/>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0" y="3622907"/>
            <a:ext cx="4242744" cy="32350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587054" y="1310851"/>
            <a:ext cx="809837" cy="707886"/>
          </a:xfrm>
          <a:prstGeom prst="rect">
            <a:avLst/>
          </a:prstGeom>
        </p:spPr>
        <p:txBody>
          <a:bodyPr wrap="none">
            <a:spAutoFit/>
          </a:bodyPr>
          <a:lstStyle/>
          <a:p>
            <a:r>
              <a:rPr lang="en-GB" sz="4000" b="1" dirty="0">
                <a:sym typeface="Wingdings" panose="05000000000000000000" pitchFamily="2" charset="2"/>
              </a:rPr>
              <a:t></a:t>
            </a:r>
            <a:endParaRPr lang="en-GB" sz="4000" dirty="0"/>
          </a:p>
        </p:txBody>
      </p:sp>
    </p:spTree>
    <p:extLst>
      <p:ext uri="{BB962C8B-B14F-4D97-AF65-F5344CB8AC3E}">
        <p14:creationId xmlns:p14="http://schemas.microsoft.com/office/powerpoint/2010/main" val="35147630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2253" y="561153"/>
            <a:ext cx="5511800" cy="1325563"/>
          </a:xfrm>
        </p:spPr>
        <p:txBody>
          <a:bodyPr>
            <a:noAutofit/>
          </a:bodyPr>
          <a:lstStyle/>
          <a:p>
            <a:pPr algn="r"/>
            <a:r>
              <a:rPr lang="en-GB" sz="8800" dirty="0">
                <a:latin typeface="LEMON MILK" panose="00000500000000000000" pitchFamily="50" charset="0"/>
              </a:rPr>
              <a:t>Reports</a:t>
            </a:r>
            <a:endParaRPr lang="en-GB" sz="4800" dirty="0">
              <a:latin typeface="LEMON MILK" panose="00000500000000000000" pitchFamily="50" charset="0"/>
            </a:endParaRPr>
          </a:p>
        </p:txBody>
      </p:sp>
      <p:graphicFrame>
        <p:nvGraphicFramePr>
          <p:cNvPr id="7" name="Content Placeholder 2">
            <a:extLst>
              <a:ext uri="{FF2B5EF4-FFF2-40B4-BE49-F238E27FC236}">
                <a16:creationId xmlns:a16="http://schemas.microsoft.com/office/drawing/2014/main" xmlns="" id="{2705C3BA-AFBC-708B-8638-587D7B405F82}"/>
              </a:ext>
            </a:extLst>
          </p:cNvPr>
          <p:cNvGraphicFramePr>
            <a:graphicFrameLocks noGrp="1"/>
          </p:cNvGraphicFramePr>
          <p:nvPr>
            <p:ph idx="1"/>
            <p:extLst>
              <p:ext uri="{D42A27DB-BD31-4B8C-83A1-F6EECF244321}">
                <p14:modId xmlns:p14="http://schemas.microsoft.com/office/powerpoint/2010/main" val="1439710226"/>
              </p:ext>
            </p:extLst>
          </p:nvPr>
        </p:nvGraphicFramePr>
        <p:xfrm>
          <a:off x="114300" y="157018"/>
          <a:ext cx="5416862" cy="65771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xmlns="" id="{435A00CB-D644-4329-8DFA-26E957DAA2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651632" y="747365"/>
            <a:ext cx="684980" cy="684980"/>
          </a:xfrm>
          <a:prstGeom prst="ellipse">
            <a:avLst/>
          </a:prstGeom>
        </p:spPr>
      </p:pic>
      <p:sp>
        <p:nvSpPr>
          <p:cNvPr id="6" name="Content Placeholder 2"/>
          <p:cNvSpPr txBox="1">
            <a:spLocks/>
          </p:cNvSpPr>
          <p:nvPr/>
        </p:nvSpPr>
        <p:spPr>
          <a:xfrm>
            <a:off x="4549859" y="3571659"/>
            <a:ext cx="7540541" cy="16561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79500" indent="0" algn="ctr">
              <a:buNone/>
            </a:pPr>
            <a:r>
              <a:rPr lang="en-GB" b="1" dirty="0"/>
              <a:t>A database tool used to display, format, or print the results of processing or queries in a user-friendly </a:t>
            </a:r>
            <a:r>
              <a:rPr lang="en-GB" b="1" dirty="0" smtClean="0"/>
              <a:t>format.</a:t>
            </a:r>
            <a:endParaRPr lang="en-GB" dirty="0" smtClean="0"/>
          </a:p>
        </p:txBody>
      </p:sp>
      <p:sp>
        <p:nvSpPr>
          <p:cNvPr id="8" name="Rectangle 7"/>
          <p:cNvSpPr/>
          <p:nvPr/>
        </p:nvSpPr>
        <p:spPr>
          <a:xfrm>
            <a:off x="8611904" y="2863773"/>
            <a:ext cx="809837" cy="707886"/>
          </a:xfrm>
          <a:prstGeom prst="rect">
            <a:avLst/>
          </a:prstGeom>
        </p:spPr>
        <p:txBody>
          <a:bodyPr wrap="none">
            <a:spAutoFit/>
          </a:bodyPr>
          <a:lstStyle/>
          <a:p>
            <a:r>
              <a:rPr lang="en-GB" sz="4000" b="1" dirty="0">
                <a:sym typeface="Wingdings" panose="05000000000000000000" pitchFamily="2" charset="2"/>
              </a:rPr>
              <a:t></a:t>
            </a:r>
            <a:endParaRPr lang="en-GB" sz="4000" dirty="0"/>
          </a:p>
        </p:txBody>
      </p:sp>
    </p:spTree>
    <p:extLst>
      <p:ext uri="{BB962C8B-B14F-4D97-AF65-F5344CB8AC3E}">
        <p14:creationId xmlns:p14="http://schemas.microsoft.com/office/powerpoint/2010/main" val="30319207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79BB35BC-D5C2-4C8B-A22A-A71E619191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8750" y="336548"/>
            <a:ext cx="6159498" cy="1807305"/>
          </a:xfrm>
        </p:spPr>
        <p:txBody>
          <a:bodyPr>
            <a:normAutofit/>
          </a:bodyPr>
          <a:lstStyle/>
          <a:p>
            <a:r>
              <a:rPr lang="en-GB" sz="9800" dirty="0">
                <a:latin typeface="LEMON MILK" panose="00000500000000000000" pitchFamily="50" charset="0"/>
              </a:rPr>
              <a:t>Macros</a:t>
            </a:r>
            <a:endParaRPr lang="en-GB" dirty="0">
              <a:latin typeface="LEMON MILK" panose="00000500000000000000" pitchFamily="50" charset="0"/>
            </a:endParaRPr>
          </a:p>
        </p:txBody>
      </p:sp>
      <p:pic>
        <p:nvPicPr>
          <p:cNvPr id="5" name="Picture 4">
            <a:extLst>
              <a:ext uri="{FF2B5EF4-FFF2-40B4-BE49-F238E27FC236}">
                <a16:creationId xmlns:a16="http://schemas.microsoft.com/office/drawing/2014/main" xmlns="" id="{35E62A0B-75E4-499E-921B-91E94A68187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100000">
                        <a14:backgroundMark x1="8008" y1="13281" x2="1172" y2="8008"/>
                        <a14:backgroundMark x1="86719" y1="8984" x2="98633" y2="16016"/>
                        <a14:backgroundMark x1="92188" y1="85742" x2="92773" y2="97852"/>
                        <a14:backgroundMark x1="2539" y1="90039" x2="11133" y2="95313"/>
                      </a14:backgroundRemoval>
                    </a14:imgEffect>
                  </a14:imgLayer>
                </a14:imgProps>
              </a:ext>
              <a:ext uri="{28A0092B-C50C-407E-A947-70E740481C1C}">
                <a14:useLocalDpi xmlns:a14="http://schemas.microsoft.com/office/drawing/2010/main" val="0"/>
              </a:ext>
            </a:extLst>
          </a:blip>
          <a:srcRect l="-14908" t="3215" r="7612" b="-3211"/>
          <a:stretch/>
        </p:blipFill>
        <p:spPr>
          <a:xfrm>
            <a:off x="4201057" y="736601"/>
            <a:ext cx="783559" cy="73025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p:cNvSpPr>
            <a:spLocks noGrp="1"/>
          </p:cNvSpPr>
          <p:nvPr>
            <p:ph idx="1"/>
          </p:nvPr>
        </p:nvSpPr>
        <p:spPr>
          <a:xfrm>
            <a:off x="1019175" y="2172430"/>
            <a:ext cx="11010900" cy="4685560"/>
          </a:xfrm>
        </p:spPr>
        <p:txBody>
          <a:bodyPr>
            <a:normAutofit/>
          </a:bodyPr>
          <a:lstStyle/>
          <a:p>
            <a:pPr marL="990600" indent="0">
              <a:buNone/>
            </a:pPr>
            <a:r>
              <a:rPr lang="en-GB" b="1" dirty="0"/>
              <a:t>A small program written to perform a repetitive task </a:t>
            </a:r>
            <a:r>
              <a:rPr lang="en-GB" b="1" dirty="0" smtClean="0"/>
              <a:t>automatically, usually at a click of a button.</a:t>
            </a:r>
            <a:endParaRPr lang="en-GB" b="1" dirty="0"/>
          </a:p>
          <a:p>
            <a:endParaRPr lang="en-GB" dirty="0"/>
          </a:p>
          <a:p>
            <a:r>
              <a:rPr lang="en-GB" dirty="0"/>
              <a:t>Allow functionality to be added to both forms and reports, such as:</a:t>
            </a:r>
          </a:p>
          <a:p>
            <a:pPr lvl="1"/>
            <a:r>
              <a:rPr lang="en-GB" sz="2800" dirty="0"/>
              <a:t>Adding new record</a:t>
            </a:r>
          </a:p>
          <a:p>
            <a:pPr lvl="1"/>
            <a:r>
              <a:rPr lang="en-GB" sz="2800" dirty="0"/>
              <a:t>Deleting old records</a:t>
            </a:r>
          </a:p>
          <a:p>
            <a:pPr lvl="1"/>
            <a:r>
              <a:rPr lang="en-GB" sz="2800" dirty="0"/>
              <a:t>Updating existing</a:t>
            </a:r>
          </a:p>
          <a:p>
            <a:pPr lvl="1"/>
            <a:r>
              <a:rPr lang="en-GB" sz="2800" dirty="0"/>
              <a:t>CRUD (Create, read, update, delete functions</a:t>
            </a:r>
            <a:r>
              <a:rPr lang="en-GB" sz="2800" dirty="0" smtClean="0"/>
              <a:t>)</a:t>
            </a:r>
            <a:endParaRPr lang="en-GB" sz="2800" dirty="0"/>
          </a:p>
        </p:txBody>
      </p:sp>
      <p:sp>
        <p:nvSpPr>
          <p:cNvPr id="6" name="Rectangle 5"/>
          <p:cNvSpPr/>
          <p:nvPr/>
        </p:nvSpPr>
        <p:spPr>
          <a:xfrm>
            <a:off x="1191929" y="2282748"/>
            <a:ext cx="809837" cy="707886"/>
          </a:xfrm>
          <a:prstGeom prst="rect">
            <a:avLst/>
          </a:prstGeom>
        </p:spPr>
        <p:txBody>
          <a:bodyPr wrap="none">
            <a:spAutoFit/>
          </a:bodyPr>
          <a:lstStyle/>
          <a:p>
            <a:r>
              <a:rPr lang="en-GB" sz="4000" b="1" dirty="0">
                <a:sym typeface="Wingdings" panose="05000000000000000000" pitchFamily="2" charset="2"/>
              </a:rPr>
              <a:t></a:t>
            </a:r>
            <a:endParaRPr lang="en-GB" sz="4000" dirty="0"/>
          </a:p>
        </p:txBody>
      </p:sp>
    </p:spTree>
    <p:extLst>
      <p:ext uri="{BB962C8B-B14F-4D97-AF65-F5344CB8AC3E}">
        <p14:creationId xmlns:p14="http://schemas.microsoft.com/office/powerpoint/2010/main" val="131448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175" y="0"/>
            <a:ext cx="11934825" cy="1325563"/>
          </a:xfrm>
        </p:spPr>
        <p:txBody>
          <a:bodyPr>
            <a:noAutofit/>
          </a:bodyPr>
          <a:lstStyle/>
          <a:p>
            <a:r>
              <a:rPr lang="en-GB" sz="6600" dirty="0">
                <a:latin typeface="LEMON MILK" panose="00000500000000000000" pitchFamily="50" charset="0"/>
              </a:rPr>
              <a:t>Database Relationships</a:t>
            </a:r>
          </a:p>
        </p:txBody>
      </p:sp>
      <p:graphicFrame>
        <p:nvGraphicFramePr>
          <p:cNvPr id="10" name="Content Placeholder 2">
            <a:extLst>
              <a:ext uri="{FF2B5EF4-FFF2-40B4-BE49-F238E27FC236}">
                <a16:creationId xmlns:a16="http://schemas.microsoft.com/office/drawing/2014/main" xmlns="" id="{177FCDB2-7E89-E0B1-D25A-B3B03A57FE17}"/>
              </a:ext>
            </a:extLst>
          </p:cNvPr>
          <p:cNvGraphicFramePr>
            <a:graphicFrameLocks noGrp="1"/>
          </p:cNvGraphicFramePr>
          <p:nvPr>
            <p:ph idx="1"/>
            <p:extLst>
              <p:ext uri="{D42A27DB-BD31-4B8C-83A1-F6EECF244321}">
                <p14:modId xmlns:p14="http://schemas.microsoft.com/office/powerpoint/2010/main" val="2241071286"/>
              </p:ext>
            </p:extLst>
          </p:nvPr>
        </p:nvGraphicFramePr>
        <p:xfrm>
          <a:off x="179881" y="990600"/>
          <a:ext cx="12012119" cy="586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 7"/>
          <p:cNvGrpSpPr/>
          <p:nvPr/>
        </p:nvGrpSpPr>
        <p:grpSpPr>
          <a:xfrm>
            <a:off x="8231248" y="308328"/>
            <a:ext cx="495300" cy="495300"/>
            <a:chOff x="7075358" y="805864"/>
            <a:chExt cx="4736892" cy="4736892"/>
          </a:xfrm>
        </p:grpSpPr>
        <p:sp>
          <p:nvSpPr>
            <p:cNvPr id="7" name="Oval 6"/>
            <p:cNvSpPr/>
            <p:nvPr/>
          </p:nvSpPr>
          <p:spPr>
            <a:xfrm>
              <a:off x="7075358" y="805864"/>
              <a:ext cx="4736892" cy="47368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p:cNvPicPr>
              <a:picLocks noChangeAspect="1"/>
            </p:cNvPicPr>
            <p:nvPr/>
          </p:nvPicPr>
          <p:blipFill>
            <a:blip r:embed="rId7" cstate="print">
              <a:extLst>
                <a:ext uri="{BEBA8EAE-BF5A-486C-A8C5-ECC9F3942E4B}">
                  <a14:imgProps xmlns:a14="http://schemas.microsoft.com/office/drawing/2010/main">
                    <a14:imgLayer r:embed="rId8">
                      <a14:imgEffect>
                        <a14:backgroundRemoval t="0" b="100000" l="0" r="100000">
                          <a14:foregroundMark x1="40506" y1="44937" x2="40506" y2="44937"/>
                          <a14:foregroundMark x1="52321" y1="55274" x2="52321" y2="55274"/>
                          <a14:foregroundMark x1="52321" y1="67932" x2="52321" y2="67932"/>
                        </a14:backgroundRemoval>
                      </a14:imgEffect>
                    </a14:imgLayer>
                  </a14:imgProps>
                </a:ext>
                <a:ext uri="{28A0092B-C50C-407E-A947-70E740481C1C}">
                  <a14:useLocalDpi xmlns:a14="http://schemas.microsoft.com/office/drawing/2010/main" val="0"/>
                </a:ext>
              </a:extLst>
            </a:blip>
            <a:stretch>
              <a:fillRect/>
            </a:stretch>
          </p:blipFill>
          <p:spPr>
            <a:xfrm>
              <a:off x="7994045" y="1704948"/>
              <a:ext cx="2899517" cy="2899517"/>
            </a:xfrm>
            <a:prstGeom prst="rect">
              <a:avLst/>
            </a:prstGeom>
          </p:spPr>
        </p:pic>
      </p:grpSp>
    </p:spTree>
    <p:extLst>
      <p:ext uri="{BB962C8B-B14F-4D97-AF65-F5344CB8AC3E}">
        <p14:creationId xmlns:p14="http://schemas.microsoft.com/office/powerpoint/2010/main" val="38949277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191"/>
            <a:ext cx="4086225" cy="920751"/>
          </a:xfrm>
        </p:spPr>
        <p:txBody>
          <a:bodyPr/>
          <a:lstStyle/>
          <a:p>
            <a:r>
              <a:rPr lang="en-GB" dirty="0">
                <a:latin typeface="LEMON MILK" panose="00000500000000000000" pitchFamily="50" charset="0"/>
              </a:rPr>
              <a:t>An Example</a:t>
            </a:r>
          </a:p>
        </p:txBody>
      </p:sp>
      <p:graphicFrame>
        <p:nvGraphicFramePr>
          <p:cNvPr id="5" name="Content Placeholder 3"/>
          <p:cNvGraphicFramePr>
            <a:graphicFrameLocks/>
          </p:cNvGraphicFramePr>
          <p:nvPr>
            <p:extLst>
              <p:ext uri="{D42A27DB-BD31-4B8C-83A1-F6EECF244321}">
                <p14:modId xmlns:p14="http://schemas.microsoft.com/office/powerpoint/2010/main" val="3393638765"/>
              </p:ext>
            </p:extLst>
          </p:nvPr>
        </p:nvGraphicFramePr>
        <p:xfrm>
          <a:off x="6985415" y="1547891"/>
          <a:ext cx="4702916" cy="2701407"/>
        </p:xfrm>
        <a:graphic>
          <a:graphicData uri="http://schemas.openxmlformats.org/drawingml/2006/table">
            <a:tbl>
              <a:tblPr firstRow="1" bandRow="1">
                <a:tableStyleId>{5C22544A-7EE6-4342-B048-85BDC9FD1C3A}</a:tableStyleId>
              </a:tblPr>
              <a:tblGrid>
                <a:gridCol w="1078906">
                  <a:extLst>
                    <a:ext uri="{9D8B030D-6E8A-4147-A177-3AD203B41FA5}">
                      <a16:colId xmlns:a16="http://schemas.microsoft.com/office/drawing/2014/main" xmlns="" val="2568536262"/>
                    </a:ext>
                  </a:extLst>
                </a:gridCol>
                <a:gridCol w="1272552">
                  <a:extLst>
                    <a:ext uri="{9D8B030D-6E8A-4147-A177-3AD203B41FA5}">
                      <a16:colId xmlns:a16="http://schemas.microsoft.com/office/drawing/2014/main" xmlns="" val="2270930716"/>
                    </a:ext>
                  </a:extLst>
                </a:gridCol>
                <a:gridCol w="1175729">
                  <a:extLst>
                    <a:ext uri="{9D8B030D-6E8A-4147-A177-3AD203B41FA5}">
                      <a16:colId xmlns:a16="http://schemas.microsoft.com/office/drawing/2014/main" xmlns="" val="4252788010"/>
                    </a:ext>
                  </a:extLst>
                </a:gridCol>
                <a:gridCol w="1175729">
                  <a:extLst>
                    <a:ext uri="{9D8B030D-6E8A-4147-A177-3AD203B41FA5}">
                      <a16:colId xmlns:a16="http://schemas.microsoft.com/office/drawing/2014/main" xmlns="" val="1763330310"/>
                    </a:ext>
                  </a:extLst>
                </a:gridCol>
              </a:tblGrid>
              <a:tr h="491064">
                <a:tc>
                  <a:txBody>
                    <a:bodyPr/>
                    <a:lstStyle/>
                    <a:p>
                      <a:r>
                        <a:rPr lang="en-GB" dirty="0" err="1"/>
                        <a:t>patientID</a:t>
                      </a:r>
                      <a:endParaRPr lang="en-GB" dirty="0"/>
                    </a:p>
                  </a:txBody>
                  <a:tcPr/>
                </a:tc>
                <a:tc>
                  <a:txBody>
                    <a:bodyPr/>
                    <a:lstStyle/>
                    <a:p>
                      <a:r>
                        <a:rPr lang="en-GB" dirty="0" err="1"/>
                        <a:t>FirstName</a:t>
                      </a:r>
                      <a:endParaRPr lang="en-GB" dirty="0"/>
                    </a:p>
                  </a:txBody>
                  <a:tcPr/>
                </a:tc>
                <a:tc>
                  <a:txBody>
                    <a:bodyPr/>
                    <a:lstStyle/>
                    <a:p>
                      <a:r>
                        <a:rPr lang="en-GB" dirty="0"/>
                        <a:t>Age</a:t>
                      </a:r>
                    </a:p>
                  </a:txBody>
                  <a:tcPr/>
                </a:tc>
                <a:tc>
                  <a:txBody>
                    <a:bodyPr/>
                    <a:lstStyle/>
                    <a:p>
                      <a:r>
                        <a:rPr lang="en-GB" dirty="0" err="1"/>
                        <a:t>Alergins</a:t>
                      </a:r>
                      <a:endParaRPr lang="en-GB" dirty="0"/>
                    </a:p>
                  </a:txBody>
                  <a:tcPr/>
                </a:tc>
                <a:extLst>
                  <a:ext uri="{0D108BD9-81ED-4DB2-BD59-A6C34878D82A}">
                    <a16:rowId xmlns:a16="http://schemas.microsoft.com/office/drawing/2014/main" xmlns="" val="458902568"/>
                  </a:ext>
                </a:extLst>
              </a:tr>
              <a:tr h="736781">
                <a:tc>
                  <a:txBody>
                    <a:bodyPr/>
                    <a:lstStyle/>
                    <a:p>
                      <a:r>
                        <a:rPr lang="en-GB" dirty="0"/>
                        <a:t>0001</a:t>
                      </a:r>
                    </a:p>
                  </a:txBody>
                  <a:tcPr/>
                </a:tc>
                <a:tc>
                  <a:txBody>
                    <a:bodyPr/>
                    <a:lstStyle/>
                    <a:p>
                      <a:r>
                        <a:rPr lang="en-GB" dirty="0"/>
                        <a:t>Peter</a:t>
                      </a:r>
                    </a:p>
                  </a:txBody>
                  <a:tcPr/>
                </a:tc>
                <a:tc>
                  <a:txBody>
                    <a:bodyPr/>
                    <a:lstStyle/>
                    <a:p>
                      <a:r>
                        <a:rPr lang="en-GB" dirty="0"/>
                        <a:t>15</a:t>
                      </a:r>
                    </a:p>
                  </a:txBody>
                  <a:tcPr/>
                </a:tc>
                <a:tc>
                  <a:txBody>
                    <a:bodyPr/>
                    <a:lstStyle/>
                    <a:p>
                      <a:r>
                        <a:rPr lang="en-GB" dirty="0"/>
                        <a:t>None</a:t>
                      </a:r>
                    </a:p>
                  </a:txBody>
                  <a:tcPr/>
                </a:tc>
                <a:extLst>
                  <a:ext uri="{0D108BD9-81ED-4DB2-BD59-A6C34878D82A}">
                    <a16:rowId xmlns:a16="http://schemas.microsoft.com/office/drawing/2014/main" xmlns="" val="1884082771"/>
                  </a:ext>
                </a:extLst>
              </a:tr>
              <a:tr h="736781">
                <a:tc>
                  <a:txBody>
                    <a:bodyPr/>
                    <a:lstStyle/>
                    <a:p>
                      <a:r>
                        <a:rPr lang="en-GB" dirty="0"/>
                        <a:t>0002</a:t>
                      </a:r>
                    </a:p>
                  </a:txBody>
                  <a:tcPr/>
                </a:tc>
                <a:tc>
                  <a:txBody>
                    <a:bodyPr/>
                    <a:lstStyle/>
                    <a:p>
                      <a:r>
                        <a:rPr lang="en-GB" dirty="0"/>
                        <a:t>Stewart</a:t>
                      </a:r>
                    </a:p>
                  </a:txBody>
                  <a:tcPr/>
                </a:tc>
                <a:tc>
                  <a:txBody>
                    <a:bodyPr/>
                    <a:lstStyle/>
                    <a:p>
                      <a:r>
                        <a:rPr lang="en-GB" dirty="0"/>
                        <a:t>19</a:t>
                      </a:r>
                    </a:p>
                  </a:txBody>
                  <a:tcPr/>
                </a:tc>
                <a:tc>
                  <a:txBody>
                    <a:bodyPr/>
                    <a:lstStyle/>
                    <a:p>
                      <a:r>
                        <a:rPr lang="en-GB" dirty="0"/>
                        <a:t>Peanuts, Gluten</a:t>
                      </a:r>
                    </a:p>
                  </a:txBody>
                  <a:tcPr/>
                </a:tc>
                <a:extLst>
                  <a:ext uri="{0D108BD9-81ED-4DB2-BD59-A6C34878D82A}">
                    <a16:rowId xmlns:a16="http://schemas.microsoft.com/office/drawing/2014/main" xmlns="" val="3492374102"/>
                  </a:ext>
                </a:extLst>
              </a:tr>
              <a:tr h="736781">
                <a:tc>
                  <a:txBody>
                    <a:bodyPr/>
                    <a:lstStyle/>
                    <a:p>
                      <a:r>
                        <a:rPr lang="en-GB" dirty="0"/>
                        <a:t>0003</a:t>
                      </a:r>
                    </a:p>
                  </a:txBody>
                  <a:tcPr/>
                </a:tc>
                <a:tc>
                  <a:txBody>
                    <a:bodyPr/>
                    <a:lstStyle/>
                    <a:p>
                      <a:r>
                        <a:rPr lang="en-GB" dirty="0"/>
                        <a:t>Tara</a:t>
                      </a:r>
                    </a:p>
                  </a:txBody>
                  <a:tcPr/>
                </a:tc>
                <a:tc>
                  <a:txBody>
                    <a:bodyPr/>
                    <a:lstStyle/>
                    <a:p>
                      <a:r>
                        <a:rPr lang="en-GB" dirty="0"/>
                        <a:t>14</a:t>
                      </a:r>
                    </a:p>
                  </a:txBody>
                  <a:tcPr/>
                </a:tc>
                <a:tc>
                  <a:txBody>
                    <a:bodyPr/>
                    <a:lstStyle/>
                    <a:p>
                      <a:r>
                        <a:rPr lang="en-GB" dirty="0"/>
                        <a:t>None</a:t>
                      </a:r>
                    </a:p>
                  </a:txBody>
                  <a:tcPr/>
                </a:tc>
                <a:extLst>
                  <a:ext uri="{0D108BD9-81ED-4DB2-BD59-A6C34878D82A}">
                    <a16:rowId xmlns:a16="http://schemas.microsoft.com/office/drawing/2014/main" xmlns="" val="3292613783"/>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534247417"/>
              </p:ext>
            </p:extLst>
          </p:nvPr>
        </p:nvGraphicFramePr>
        <p:xfrm>
          <a:off x="379995" y="1690688"/>
          <a:ext cx="3805005" cy="2701407"/>
        </p:xfrm>
        <a:graphic>
          <a:graphicData uri="http://schemas.openxmlformats.org/drawingml/2006/table">
            <a:tbl>
              <a:tblPr firstRow="1" bandRow="1">
                <a:tableStyleId>{5C22544A-7EE6-4342-B048-85BDC9FD1C3A}</a:tableStyleId>
              </a:tblPr>
              <a:tblGrid>
                <a:gridCol w="1163886">
                  <a:extLst>
                    <a:ext uri="{9D8B030D-6E8A-4147-A177-3AD203B41FA5}">
                      <a16:colId xmlns:a16="http://schemas.microsoft.com/office/drawing/2014/main" xmlns="" val="2568536262"/>
                    </a:ext>
                  </a:extLst>
                </a:gridCol>
                <a:gridCol w="1372784">
                  <a:extLst>
                    <a:ext uri="{9D8B030D-6E8A-4147-A177-3AD203B41FA5}">
                      <a16:colId xmlns:a16="http://schemas.microsoft.com/office/drawing/2014/main" xmlns="" val="2270930716"/>
                    </a:ext>
                  </a:extLst>
                </a:gridCol>
                <a:gridCol w="1268335">
                  <a:extLst>
                    <a:ext uri="{9D8B030D-6E8A-4147-A177-3AD203B41FA5}">
                      <a16:colId xmlns:a16="http://schemas.microsoft.com/office/drawing/2014/main" xmlns="" val="4252788010"/>
                    </a:ext>
                  </a:extLst>
                </a:gridCol>
              </a:tblGrid>
              <a:tr h="491064">
                <a:tc>
                  <a:txBody>
                    <a:bodyPr/>
                    <a:lstStyle/>
                    <a:p>
                      <a:r>
                        <a:rPr lang="en-GB" dirty="0" err="1"/>
                        <a:t>doctorID</a:t>
                      </a:r>
                      <a:endParaRPr lang="en-GB" dirty="0"/>
                    </a:p>
                  </a:txBody>
                  <a:tcPr/>
                </a:tc>
                <a:tc>
                  <a:txBody>
                    <a:bodyPr/>
                    <a:lstStyle/>
                    <a:p>
                      <a:r>
                        <a:rPr lang="en-GB" dirty="0" err="1"/>
                        <a:t>FirstName</a:t>
                      </a:r>
                      <a:endParaRPr lang="en-GB" dirty="0"/>
                    </a:p>
                  </a:txBody>
                  <a:tcPr/>
                </a:tc>
                <a:tc>
                  <a:txBody>
                    <a:bodyPr/>
                    <a:lstStyle/>
                    <a:p>
                      <a:r>
                        <a:rPr lang="en-GB" dirty="0"/>
                        <a:t>Location</a:t>
                      </a:r>
                    </a:p>
                  </a:txBody>
                  <a:tcPr/>
                </a:tc>
                <a:extLst>
                  <a:ext uri="{0D108BD9-81ED-4DB2-BD59-A6C34878D82A}">
                    <a16:rowId xmlns:a16="http://schemas.microsoft.com/office/drawing/2014/main" xmlns="" val="458902568"/>
                  </a:ext>
                </a:extLst>
              </a:tr>
              <a:tr h="736781">
                <a:tc>
                  <a:txBody>
                    <a:bodyPr/>
                    <a:lstStyle/>
                    <a:p>
                      <a:r>
                        <a:rPr lang="en-GB" dirty="0"/>
                        <a:t>A</a:t>
                      </a:r>
                    </a:p>
                  </a:txBody>
                  <a:tcPr/>
                </a:tc>
                <a:tc>
                  <a:txBody>
                    <a:bodyPr/>
                    <a:lstStyle/>
                    <a:p>
                      <a:r>
                        <a:rPr lang="en-GB" dirty="0"/>
                        <a:t>Dr Wilson</a:t>
                      </a:r>
                    </a:p>
                  </a:txBody>
                  <a:tcPr/>
                </a:tc>
                <a:tc>
                  <a:txBody>
                    <a:bodyPr/>
                    <a:lstStyle/>
                    <a:p>
                      <a:r>
                        <a:rPr lang="en-GB" dirty="0"/>
                        <a:t>Fermanagh</a:t>
                      </a:r>
                    </a:p>
                  </a:txBody>
                  <a:tcPr/>
                </a:tc>
                <a:extLst>
                  <a:ext uri="{0D108BD9-81ED-4DB2-BD59-A6C34878D82A}">
                    <a16:rowId xmlns:a16="http://schemas.microsoft.com/office/drawing/2014/main" xmlns="" val="1884082771"/>
                  </a:ext>
                </a:extLst>
              </a:tr>
              <a:tr h="736781">
                <a:tc>
                  <a:txBody>
                    <a:bodyPr/>
                    <a:lstStyle/>
                    <a:p>
                      <a:r>
                        <a:rPr lang="en-GB" dirty="0"/>
                        <a:t>B</a:t>
                      </a:r>
                    </a:p>
                  </a:txBody>
                  <a:tcPr/>
                </a:tc>
                <a:tc>
                  <a:txBody>
                    <a:bodyPr/>
                    <a:lstStyle/>
                    <a:p>
                      <a:r>
                        <a:rPr lang="en-GB" dirty="0"/>
                        <a:t>Dr</a:t>
                      </a:r>
                      <a:r>
                        <a:rPr lang="en-GB" baseline="0" dirty="0"/>
                        <a:t> Stewart</a:t>
                      </a:r>
                      <a:endParaRPr lang="en-GB" dirty="0"/>
                    </a:p>
                  </a:txBody>
                  <a:tcPr/>
                </a:tc>
                <a:tc>
                  <a:txBody>
                    <a:bodyPr/>
                    <a:lstStyle/>
                    <a:p>
                      <a:r>
                        <a:rPr lang="en-GB" dirty="0"/>
                        <a:t>Tyrone</a:t>
                      </a:r>
                    </a:p>
                  </a:txBody>
                  <a:tcPr/>
                </a:tc>
                <a:extLst>
                  <a:ext uri="{0D108BD9-81ED-4DB2-BD59-A6C34878D82A}">
                    <a16:rowId xmlns:a16="http://schemas.microsoft.com/office/drawing/2014/main" xmlns="" val="3492374102"/>
                  </a:ext>
                </a:extLst>
              </a:tr>
              <a:tr h="736781">
                <a:tc>
                  <a:txBody>
                    <a:bodyPr/>
                    <a:lstStyle/>
                    <a:p>
                      <a:r>
                        <a:rPr lang="en-GB" dirty="0"/>
                        <a:t>C</a:t>
                      </a:r>
                    </a:p>
                  </a:txBody>
                  <a:tcPr/>
                </a:tc>
                <a:tc>
                  <a:txBody>
                    <a:bodyPr/>
                    <a:lstStyle/>
                    <a:p>
                      <a:r>
                        <a:rPr lang="en-GB" dirty="0"/>
                        <a:t>Dr</a:t>
                      </a:r>
                      <a:r>
                        <a:rPr lang="en-GB" baseline="0" dirty="0"/>
                        <a:t> Malone</a:t>
                      </a:r>
                      <a:endParaRPr lang="en-GB" dirty="0"/>
                    </a:p>
                  </a:txBody>
                  <a:tcPr/>
                </a:tc>
                <a:tc>
                  <a:txBody>
                    <a:bodyPr/>
                    <a:lstStyle/>
                    <a:p>
                      <a:r>
                        <a:rPr lang="en-GB" dirty="0"/>
                        <a:t>Antrim</a:t>
                      </a:r>
                    </a:p>
                  </a:txBody>
                  <a:tcPr/>
                </a:tc>
                <a:extLst>
                  <a:ext uri="{0D108BD9-81ED-4DB2-BD59-A6C34878D82A}">
                    <a16:rowId xmlns:a16="http://schemas.microsoft.com/office/drawing/2014/main" xmlns="" val="3292613783"/>
                  </a:ext>
                </a:extLst>
              </a:tr>
            </a:tbl>
          </a:graphicData>
        </a:graphic>
      </p:graphicFrame>
      <p:sp>
        <p:nvSpPr>
          <p:cNvPr id="8" name="TextBox 7"/>
          <p:cNvSpPr txBox="1"/>
          <p:nvPr/>
        </p:nvSpPr>
        <p:spPr>
          <a:xfrm>
            <a:off x="458571" y="1028301"/>
            <a:ext cx="3417758" cy="646331"/>
          </a:xfrm>
          <a:prstGeom prst="rect">
            <a:avLst/>
          </a:prstGeom>
          <a:noFill/>
        </p:spPr>
        <p:txBody>
          <a:bodyPr wrap="square" rtlCol="0">
            <a:spAutoFit/>
          </a:bodyPr>
          <a:lstStyle/>
          <a:p>
            <a:r>
              <a:rPr lang="en-GB" dirty="0"/>
              <a:t>Let’s create a database table with lots of Doctor information</a:t>
            </a:r>
          </a:p>
        </p:txBody>
      </p:sp>
      <p:sp>
        <p:nvSpPr>
          <p:cNvPr id="9" name="TextBox 8"/>
          <p:cNvSpPr txBox="1"/>
          <p:nvPr/>
        </p:nvSpPr>
        <p:spPr>
          <a:xfrm>
            <a:off x="7627994" y="901560"/>
            <a:ext cx="3417758" cy="646331"/>
          </a:xfrm>
          <a:prstGeom prst="rect">
            <a:avLst/>
          </a:prstGeom>
          <a:noFill/>
        </p:spPr>
        <p:txBody>
          <a:bodyPr wrap="square" rtlCol="0">
            <a:spAutoFit/>
          </a:bodyPr>
          <a:lstStyle/>
          <a:p>
            <a:r>
              <a:rPr lang="en-GB" dirty="0"/>
              <a:t>And let’s have some details about patients in another table</a:t>
            </a:r>
          </a:p>
        </p:txBody>
      </p:sp>
      <p:sp>
        <p:nvSpPr>
          <p:cNvPr id="10" name="TextBox 9"/>
          <p:cNvSpPr txBox="1"/>
          <p:nvPr/>
        </p:nvSpPr>
        <p:spPr>
          <a:xfrm>
            <a:off x="3448050" y="5334000"/>
            <a:ext cx="4438650" cy="1200329"/>
          </a:xfrm>
          <a:prstGeom prst="rect">
            <a:avLst/>
          </a:prstGeom>
          <a:noFill/>
        </p:spPr>
        <p:txBody>
          <a:bodyPr wrap="square" rtlCol="0">
            <a:spAutoFit/>
          </a:bodyPr>
          <a:lstStyle/>
          <a:p>
            <a:pPr algn="ctr"/>
            <a:r>
              <a:rPr lang="en-GB" dirty="0"/>
              <a:t>We know there is a link between these tables. As patients go and see the doctor. </a:t>
            </a:r>
          </a:p>
          <a:p>
            <a:pPr algn="ctr"/>
            <a:endParaRPr lang="en-GB" dirty="0"/>
          </a:p>
          <a:p>
            <a:pPr algn="ctr"/>
            <a:r>
              <a:rPr lang="en-GB" dirty="0"/>
              <a:t>We link them with a straight line.</a:t>
            </a:r>
          </a:p>
        </p:txBody>
      </p:sp>
      <p:cxnSp>
        <p:nvCxnSpPr>
          <p:cNvPr id="12" name="Straight Connector 11"/>
          <p:cNvCxnSpPr/>
          <p:nvPr/>
        </p:nvCxnSpPr>
        <p:spPr>
          <a:xfrm>
            <a:off x="4184999" y="2898594"/>
            <a:ext cx="2800416"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413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xit" presetSubtype="0" fill="hold" grpId="2" nodeType="withEffect">
                                  <p:stCondLst>
                                    <p:cond delay="0"/>
                                  </p:stCondLst>
                                  <p:childTnLst>
                                    <p:animEffect transition="out" filter="fad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xit" presetSubtype="0" fill="hold" grpId="1" nodeType="withEffect">
                                  <p:stCondLst>
                                    <p:cond delay="0"/>
                                  </p:stCondLst>
                                  <p:childTnLst>
                                    <p:animEffect transition="out" filter="fad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par>
                          <p:cTn id="34" fill="hold">
                            <p:stCondLst>
                              <p:cond delay="500"/>
                            </p:stCondLst>
                            <p:childTnLst>
                              <p:par>
                                <p:cTn id="35" presetID="10" presetClass="entr" presetSubtype="0" fill="hold" nodeType="afterEffect">
                                  <p:stCondLst>
                                    <p:cond delay="5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2"/>
      <p:bldP spid="9" grpId="0"/>
      <p:bldP spid="9" grpId="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191"/>
            <a:ext cx="6019800" cy="920751"/>
          </a:xfrm>
        </p:spPr>
        <p:txBody>
          <a:bodyPr>
            <a:normAutofit fontScale="90000"/>
          </a:bodyPr>
          <a:lstStyle/>
          <a:p>
            <a:r>
              <a:rPr lang="en-GB" dirty="0" smtClean="0">
                <a:latin typeface="LEMON MILK" panose="00000500000000000000" pitchFamily="50" charset="0"/>
              </a:rPr>
              <a:t>A Worked </a:t>
            </a:r>
            <a:r>
              <a:rPr lang="en-GB" dirty="0">
                <a:latin typeface="LEMON MILK" panose="00000500000000000000" pitchFamily="50" charset="0"/>
              </a:rPr>
              <a:t>Example</a:t>
            </a:r>
          </a:p>
        </p:txBody>
      </p:sp>
      <p:graphicFrame>
        <p:nvGraphicFramePr>
          <p:cNvPr id="5" name="Content Placeholder 3"/>
          <p:cNvGraphicFramePr>
            <a:graphicFrameLocks/>
          </p:cNvGraphicFramePr>
          <p:nvPr>
            <p:extLst>
              <p:ext uri="{D42A27DB-BD31-4B8C-83A1-F6EECF244321}">
                <p14:modId xmlns:p14="http://schemas.microsoft.com/office/powerpoint/2010/main" val="3393638765"/>
              </p:ext>
            </p:extLst>
          </p:nvPr>
        </p:nvGraphicFramePr>
        <p:xfrm>
          <a:off x="6985415" y="1547891"/>
          <a:ext cx="4702916" cy="2701407"/>
        </p:xfrm>
        <a:graphic>
          <a:graphicData uri="http://schemas.openxmlformats.org/drawingml/2006/table">
            <a:tbl>
              <a:tblPr firstRow="1" bandRow="1">
                <a:tableStyleId>{5C22544A-7EE6-4342-B048-85BDC9FD1C3A}</a:tableStyleId>
              </a:tblPr>
              <a:tblGrid>
                <a:gridCol w="1078906">
                  <a:extLst>
                    <a:ext uri="{9D8B030D-6E8A-4147-A177-3AD203B41FA5}">
                      <a16:colId xmlns:a16="http://schemas.microsoft.com/office/drawing/2014/main" xmlns="" val="2568536262"/>
                    </a:ext>
                  </a:extLst>
                </a:gridCol>
                <a:gridCol w="1272552">
                  <a:extLst>
                    <a:ext uri="{9D8B030D-6E8A-4147-A177-3AD203B41FA5}">
                      <a16:colId xmlns:a16="http://schemas.microsoft.com/office/drawing/2014/main" xmlns="" val="2270930716"/>
                    </a:ext>
                  </a:extLst>
                </a:gridCol>
                <a:gridCol w="1175729">
                  <a:extLst>
                    <a:ext uri="{9D8B030D-6E8A-4147-A177-3AD203B41FA5}">
                      <a16:colId xmlns:a16="http://schemas.microsoft.com/office/drawing/2014/main" xmlns="" val="4252788010"/>
                    </a:ext>
                  </a:extLst>
                </a:gridCol>
                <a:gridCol w="1175729">
                  <a:extLst>
                    <a:ext uri="{9D8B030D-6E8A-4147-A177-3AD203B41FA5}">
                      <a16:colId xmlns:a16="http://schemas.microsoft.com/office/drawing/2014/main" xmlns="" val="1763330310"/>
                    </a:ext>
                  </a:extLst>
                </a:gridCol>
              </a:tblGrid>
              <a:tr h="491064">
                <a:tc>
                  <a:txBody>
                    <a:bodyPr/>
                    <a:lstStyle/>
                    <a:p>
                      <a:r>
                        <a:rPr lang="en-GB" dirty="0" err="1"/>
                        <a:t>patientID</a:t>
                      </a:r>
                      <a:endParaRPr lang="en-GB" dirty="0"/>
                    </a:p>
                  </a:txBody>
                  <a:tcPr/>
                </a:tc>
                <a:tc>
                  <a:txBody>
                    <a:bodyPr/>
                    <a:lstStyle/>
                    <a:p>
                      <a:r>
                        <a:rPr lang="en-GB" dirty="0" err="1"/>
                        <a:t>FirstName</a:t>
                      </a:r>
                      <a:endParaRPr lang="en-GB" dirty="0"/>
                    </a:p>
                  </a:txBody>
                  <a:tcPr/>
                </a:tc>
                <a:tc>
                  <a:txBody>
                    <a:bodyPr/>
                    <a:lstStyle/>
                    <a:p>
                      <a:r>
                        <a:rPr lang="en-GB" dirty="0"/>
                        <a:t>Age</a:t>
                      </a:r>
                    </a:p>
                  </a:txBody>
                  <a:tcPr/>
                </a:tc>
                <a:tc>
                  <a:txBody>
                    <a:bodyPr/>
                    <a:lstStyle/>
                    <a:p>
                      <a:r>
                        <a:rPr lang="en-GB" dirty="0" err="1"/>
                        <a:t>Alergins</a:t>
                      </a:r>
                      <a:endParaRPr lang="en-GB" dirty="0"/>
                    </a:p>
                  </a:txBody>
                  <a:tcPr/>
                </a:tc>
                <a:extLst>
                  <a:ext uri="{0D108BD9-81ED-4DB2-BD59-A6C34878D82A}">
                    <a16:rowId xmlns:a16="http://schemas.microsoft.com/office/drawing/2014/main" xmlns="" val="458902568"/>
                  </a:ext>
                </a:extLst>
              </a:tr>
              <a:tr h="736781">
                <a:tc>
                  <a:txBody>
                    <a:bodyPr/>
                    <a:lstStyle/>
                    <a:p>
                      <a:r>
                        <a:rPr lang="en-GB" dirty="0"/>
                        <a:t>0001</a:t>
                      </a:r>
                    </a:p>
                  </a:txBody>
                  <a:tcPr/>
                </a:tc>
                <a:tc>
                  <a:txBody>
                    <a:bodyPr/>
                    <a:lstStyle/>
                    <a:p>
                      <a:r>
                        <a:rPr lang="en-GB" dirty="0"/>
                        <a:t>Peter</a:t>
                      </a:r>
                    </a:p>
                  </a:txBody>
                  <a:tcPr/>
                </a:tc>
                <a:tc>
                  <a:txBody>
                    <a:bodyPr/>
                    <a:lstStyle/>
                    <a:p>
                      <a:r>
                        <a:rPr lang="en-GB" dirty="0"/>
                        <a:t>15</a:t>
                      </a:r>
                    </a:p>
                  </a:txBody>
                  <a:tcPr/>
                </a:tc>
                <a:tc>
                  <a:txBody>
                    <a:bodyPr/>
                    <a:lstStyle/>
                    <a:p>
                      <a:r>
                        <a:rPr lang="en-GB" dirty="0"/>
                        <a:t>None</a:t>
                      </a:r>
                    </a:p>
                  </a:txBody>
                  <a:tcPr/>
                </a:tc>
                <a:extLst>
                  <a:ext uri="{0D108BD9-81ED-4DB2-BD59-A6C34878D82A}">
                    <a16:rowId xmlns:a16="http://schemas.microsoft.com/office/drawing/2014/main" xmlns="" val="1884082771"/>
                  </a:ext>
                </a:extLst>
              </a:tr>
              <a:tr h="736781">
                <a:tc>
                  <a:txBody>
                    <a:bodyPr/>
                    <a:lstStyle/>
                    <a:p>
                      <a:r>
                        <a:rPr lang="en-GB" dirty="0"/>
                        <a:t>0002</a:t>
                      </a:r>
                    </a:p>
                  </a:txBody>
                  <a:tcPr/>
                </a:tc>
                <a:tc>
                  <a:txBody>
                    <a:bodyPr/>
                    <a:lstStyle/>
                    <a:p>
                      <a:r>
                        <a:rPr lang="en-GB" dirty="0"/>
                        <a:t>Stewart</a:t>
                      </a:r>
                    </a:p>
                  </a:txBody>
                  <a:tcPr/>
                </a:tc>
                <a:tc>
                  <a:txBody>
                    <a:bodyPr/>
                    <a:lstStyle/>
                    <a:p>
                      <a:r>
                        <a:rPr lang="en-GB" dirty="0"/>
                        <a:t>19</a:t>
                      </a:r>
                    </a:p>
                  </a:txBody>
                  <a:tcPr/>
                </a:tc>
                <a:tc>
                  <a:txBody>
                    <a:bodyPr/>
                    <a:lstStyle/>
                    <a:p>
                      <a:r>
                        <a:rPr lang="en-GB" dirty="0"/>
                        <a:t>Peanuts, Gluten</a:t>
                      </a:r>
                    </a:p>
                  </a:txBody>
                  <a:tcPr/>
                </a:tc>
                <a:extLst>
                  <a:ext uri="{0D108BD9-81ED-4DB2-BD59-A6C34878D82A}">
                    <a16:rowId xmlns:a16="http://schemas.microsoft.com/office/drawing/2014/main" xmlns="" val="3492374102"/>
                  </a:ext>
                </a:extLst>
              </a:tr>
              <a:tr h="736781">
                <a:tc>
                  <a:txBody>
                    <a:bodyPr/>
                    <a:lstStyle/>
                    <a:p>
                      <a:r>
                        <a:rPr lang="en-GB" dirty="0"/>
                        <a:t>0003</a:t>
                      </a:r>
                    </a:p>
                  </a:txBody>
                  <a:tcPr/>
                </a:tc>
                <a:tc>
                  <a:txBody>
                    <a:bodyPr/>
                    <a:lstStyle/>
                    <a:p>
                      <a:r>
                        <a:rPr lang="en-GB" dirty="0"/>
                        <a:t>Tara</a:t>
                      </a:r>
                    </a:p>
                  </a:txBody>
                  <a:tcPr/>
                </a:tc>
                <a:tc>
                  <a:txBody>
                    <a:bodyPr/>
                    <a:lstStyle/>
                    <a:p>
                      <a:r>
                        <a:rPr lang="en-GB" dirty="0"/>
                        <a:t>14</a:t>
                      </a:r>
                    </a:p>
                  </a:txBody>
                  <a:tcPr/>
                </a:tc>
                <a:tc>
                  <a:txBody>
                    <a:bodyPr/>
                    <a:lstStyle/>
                    <a:p>
                      <a:r>
                        <a:rPr lang="en-GB" dirty="0"/>
                        <a:t>None</a:t>
                      </a:r>
                    </a:p>
                  </a:txBody>
                  <a:tcPr/>
                </a:tc>
                <a:extLst>
                  <a:ext uri="{0D108BD9-81ED-4DB2-BD59-A6C34878D82A}">
                    <a16:rowId xmlns:a16="http://schemas.microsoft.com/office/drawing/2014/main" xmlns="" val="3292613783"/>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534247417"/>
              </p:ext>
            </p:extLst>
          </p:nvPr>
        </p:nvGraphicFramePr>
        <p:xfrm>
          <a:off x="379995" y="1690688"/>
          <a:ext cx="3805005" cy="2701407"/>
        </p:xfrm>
        <a:graphic>
          <a:graphicData uri="http://schemas.openxmlformats.org/drawingml/2006/table">
            <a:tbl>
              <a:tblPr firstRow="1" bandRow="1">
                <a:tableStyleId>{5C22544A-7EE6-4342-B048-85BDC9FD1C3A}</a:tableStyleId>
              </a:tblPr>
              <a:tblGrid>
                <a:gridCol w="1163886">
                  <a:extLst>
                    <a:ext uri="{9D8B030D-6E8A-4147-A177-3AD203B41FA5}">
                      <a16:colId xmlns:a16="http://schemas.microsoft.com/office/drawing/2014/main" xmlns="" val="2568536262"/>
                    </a:ext>
                  </a:extLst>
                </a:gridCol>
                <a:gridCol w="1372784">
                  <a:extLst>
                    <a:ext uri="{9D8B030D-6E8A-4147-A177-3AD203B41FA5}">
                      <a16:colId xmlns:a16="http://schemas.microsoft.com/office/drawing/2014/main" xmlns="" val="2270930716"/>
                    </a:ext>
                  </a:extLst>
                </a:gridCol>
                <a:gridCol w="1268335">
                  <a:extLst>
                    <a:ext uri="{9D8B030D-6E8A-4147-A177-3AD203B41FA5}">
                      <a16:colId xmlns:a16="http://schemas.microsoft.com/office/drawing/2014/main" xmlns="" val="4252788010"/>
                    </a:ext>
                  </a:extLst>
                </a:gridCol>
              </a:tblGrid>
              <a:tr h="491064">
                <a:tc>
                  <a:txBody>
                    <a:bodyPr/>
                    <a:lstStyle/>
                    <a:p>
                      <a:r>
                        <a:rPr lang="en-GB" dirty="0" err="1"/>
                        <a:t>doctorID</a:t>
                      </a:r>
                      <a:endParaRPr lang="en-GB" dirty="0"/>
                    </a:p>
                  </a:txBody>
                  <a:tcPr/>
                </a:tc>
                <a:tc>
                  <a:txBody>
                    <a:bodyPr/>
                    <a:lstStyle/>
                    <a:p>
                      <a:r>
                        <a:rPr lang="en-GB" dirty="0" err="1"/>
                        <a:t>FirstName</a:t>
                      </a:r>
                      <a:endParaRPr lang="en-GB" dirty="0"/>
                    </a:p>
                  </a:txBody>
                  <a:tcPr/>
                </a:tc>
                <a:tc>
                  <a:txBody>
                    <a:bodyPr/>
                    <a:lstStyle/>
                    <a:p>
                      <a:r>
                        <a:rPr lang="en-GB" dirty="0"/>
                        <a:t>Location</a:t>
                      </a:r>
                    </a:p>
                  </a:txBody>
                  <a:tcPr/>
                </a:tc>
                <a:extLst>
                  <a:ext uri="{0D108BD9-81ED-4DB2-BD59-A6C34878D82A}">
                    <a16:rowId xmlns:a16="http://schemas.microsoft.com/office/drawing/2014/main" xmlns="" val="458902568"/>
                  </a:ext>
                </a:extLst>
              </a:tr>
              <a:tr h="736781">
                <a:tc>
                  <a:txBody>
                    <a:bodyPr/>
                    <a:lstStyle/>
                    <a:p>
                      <a:r>
                        <a:rPr lang="en-GB" dirty="0"/>
                        <a:t>A</a:t>
                      </a:r>
                    </a:p>
                  </a:txBody>
                  <a:tcPr/>
                </a:tc>
                <a:tc>
                  <a:txBody>
                    <a:bodyPr/>
                    <a:lstStyle/>
                    <a:p>
                      <a:r>
                        <a:rPr lang="en-GB" dirty="0"/>
                        <a:t>Dr Wilson</a:t>
                      </a:r>
                    </a:p>
                  </a:txBody>
                  <a:tcPr/>
                </a:tc>
                <a:tc>
                  <a:txBody>
                    <a:bodyPr/>
                    <a:lstStyle/>
                    <a:p>
                      <a:r>
                        <a:rPr lang="en-GB" dirty="0"/>
                        <a:t>Fermanagh</a:t>
                      </a:r>
                    </a:p>
                  </a:txBody>
                  <a:tcPr/>
                </a:tc>
                <a:extLst>
                  <a:ext uri="{0D108BD9-81ED-4DB2-BD59-A6C34878D82A}">
                    <a16:rowId xmlns:a16="http://schemas.microsoft.com/office/drawing/2014/main" xmlns="" val="1884082771"/>
                  </a:ext>
                </a:extLst>
              </a:tr>
              <a:tr h="736781">
                <a:tc>
                  <a:txBody>
                    <a:bodyPr/>
                    <a:lstStyle/>
                    <a:p>
                      <a:r>
                        <a:rPr lang="en-GB" dirty="0"/>
                        <a:t>B</a:t>
                      </a:r>
                    </a:p>
                  </a:txBody>
                  <a:tcPr/>
                </a:tc>
                <a:tc>
                  <a:txBody>
                    <a:bodyPr/>
                    <a:lstStyle/>
                    <a:p>
                      <a:r>
                        <a:rPr lang="en-GB" dirty="0"/>
                        <a:t>Dr</a:t>
                      </a:r>
                      <a:r>
                        <a:rPr lang="en-GB" baseline="0" dirty="0"/>
                        <a:t> Stewart</a:t>
                      </a:r>
                      <a:endParaRPr lang="en-GB" dirty="0"/>
                    </a:p>
                  </a:txBody>
                  <a:tcPr/>
                </a:tc>
                <a:tc>
                  <a:txBody>
                    <a:bodyPr/>
                    <a:lstStyle/>
                    <a:p>
                      <a:r>
                        <a:rPr lang="en-GB" dirty="0"/>
                        <a:t>Tyrone</a:t>
                      </a:r>
                    </a:p>
                  </a:txBody>
                  <a:tcPr/>
                </a:tc>
                <a:extLst>
                  <a:ext uri="{0D108BD9-81ED-4DB2-BD59-A6C34878D82A}">
                    <a16:rowId xmlns:a16="http://schemas.microsoft.com/office/drawing/2014/main" xmlns="" val="3492374102"/>
                  </a:ext>
                </a:extLst>
              </a:tr>
              <a:tr h="736781">
                <a:tc>
                  <a:txBody>
                    <a:bodyPr/>
                    <a:lstStyle/>
                    <a:p>
                      <a:r>
                        <a:rPr lang="en-GB" dirty="0"/>
                        <a:t>C</a:t>
                      </a:r>
                    </a:p>
                  </a:txBody>
                  <a:tcPr/>
                </a:tc>
                <a:tc>
                  <a:txBody>
                    <a:bodyPr/>
                    <a:lstStyle/>
                    <a:p>
                      <a:r>
                        <a:rPr lang="en-GB" dirty="0"/>
                        <a:t>Dr</a:t>
                      </a:r>
                      <a:r>
                        <a:rPr lang="en-GB" baseline="0" dirty="0"/>
                        <a:t> Malone</a:t>
                      </a:r>
                      <a:endParaRPr lang="en-GB" dirty="0"/>
                    </a:p>
                  </a:txBody>
                  <a:tcPr/>
                </a:tc>
                <a:tc>
                  <a:txBody>
                    <a:bodyPr/>
                    <a:lstStyle/>
                    <a:p>
                      <a:r>
                        <a:rPr lang="en-GB" dirty="0"/>
                        <a:t>Antrim</a:t>
                      </a:r>
                    </a:p>
                  </a:txBody>
                  <a:tcPr/>
                </a:tc>
                <a:extLst>
                  <a:ext uri="{0D108BD9-81ED-4DB2-BD59-A6C34878D82A}">
                    <a16:rowId xmlns:a16="http://schemas.microsoft.com/office/drawing/2014/main" xmlns="" val="3292613783"/>
                  </a:ext>
                </a:extLst>
              </a:tr>
            </a:tbl>
          </a:graphicData>
        </a:graphic>
      </p:graphicFrame>
      <p:sp>
        <p:nvSpPr>
          <p:cNvPr id="8" name="TextBox 7"/>
          <p:cNvSpPr txBox="1"/>
          <p:nvPr/>
        </p:nvSpPr>
        <p:spPr>
          <a:xfrm>
            <a:off x="458571" y="1028301"/>
            <a:ext cx="3417758" cy="646331"/>
          </a:xfrm>
          <a:prstGeom prst="rect">
            <a:avLst/>
          </a:prstGeom>
          <a:noFill/>
        </p:spPr>
        <p:txBody>
          <a:bodyPr wrap="square" rtlCol="0">
            <a:spAutoFit/>
          </a:bodyPr>
          <a:lstStyle/>
          <a:p>
            <a:r>
              <a:rPr lang="en-GB" dirty="0"/>
              <a:t>Let’s create a database table with lots of Doctor information</a:t>
            </a:r>
          </a:p>
        </p:txBody>
      </p:sp>
      <p:sp>
        <p:nvSpPr>
          <p:cNvPr id="9" name="TextBox 8"/>
          <p:cNvSpPr txBox="1"/>
          <p:nvPr/>
        </p:nvSpPr>
        <p:spPr>
          <a:xfrm>
            <a:off x="7627994" y="901560"/>
            <a:ext cx="3417758" cy="646331"/>
          </a:xfrm>
          <a:prstGeom prst="rect">
            <a:avLst/>
          </a:prstGeom>
          <a:noFill/>
        </p:spPr>
        <p:txBody>
          <a:bodyPr wrap="square" rtlCol="0">
            <a:spAutoFit/>
          </a:bodyPr>
          <a:lstStyle/>
          <a:p>
            <a:r>
              <a:rPr lang="en-GB" dirty="0"/>
              <a:t>And let’s have some details about patients in another table</a:t>
            </a:r>
          </a:p>
        </p:txBody>
      </p:sp>
      <p:sp>
        <p:nvSpPr>
          <p:cNvPr id="10" name="TextBox 9"/>
          <p:cNvSpPr txBox="1"/>
          <p:nvPr/>
        </p:nvSpPr>
        <p:spPr>
          <a:xfrm>
            <a:off x="3448050" y="5334000"/>
            <a:ext cx="4438650" cy="1200329"/>
          </a:xfrm>
          <a:prstGeom prst="rect">
            <a:avLst/>
          </a:prstGeom>
          <a:noFill/>
        </p:spPr>
        <p:txBody>
          <a:bodyPr wrap="square" rtlCol="0">
            <a:spAutoFit/>
          </a:bodyPr>
          <a:lstStyle/>
          <a:p>
            <a:pPr algn="ctr"/>
            <a:r>
              <a:rPr lang="en-GB" dirty="0"/>
              <a:t>We know there is a link between these tables. As patients go and see the doctor. </a:t>
            </a:r>
          </a:p>
          <a:p>
            <a:pPr algn="ctr"/>
            <a:endParaRPr lang="en-GB" dirty="0"/>
          </a:p>
          <a:p>
            <a:pPr algn="ctr"/>
            <a:r>
              <a:rPr lang="en-GB" dirty="0"/>
              <a:t>We link them with a straight line.</a:t>
            </a:r>
          </a:p>
        </p:txBody>
      </p:sp>
      <p:cxnSp>
        <p:nvCxnSpPr>
          <p:cNvPr id="12" name="Straight Connector 11"/>
          <p:cNvCxnSpPr/>
          <p:nvPr/>
        </p:nvCxnSpPr>
        <p:spPr>
          <a:xfrm>
            <a:off x="4184999" y="2898594"/>
            <a:ext cx="2800416"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14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xit" presetSubtype="0" fill="hold" grpId="1" nodeType="withEffect">
                                  <p:stCondLst>
                                    <p:cond delay="0"/>
                                  </p:stCondLst>
                                  <p:childTnLst>
                                    <p:animEffect transition="out" filter="fad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xit" presetSubtype="0" fill="hold" grpId="1" nodeType="withEffect">
                                  <p:stCondLst>
                                    <p:cond delay="0"/>
                                  </p:stCondLst>
                                  <p:childTnLst>
                                    <p:animEffect transition="out" filter="fad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par>
                          <p:cTn id="34" fill="hold">
                            <p:stCondLst>
                              <p:cond delay="500"/>
                            </p:stCondLst>
                            <p:childTnLst>
                              <p:par>
                                <p:cTn id="35" presetID="10" presetClass="entr" presetSubtype="0" fill="hold" nodeType="afterEffect">
                                  <p:stCondLst>
                                    <p:cond delay="5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p:bldP spid="9" grpId="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191"/>
            <a:ext cx="6019800" cy="920751"/>
          </a:xfrm>
        </p:spPr>
        <p:txBody>
          <a:bodyPr>
            <a:normAutofit fontScale="90000"/>
          </a:bodyPr>
          <a:lstStyle/>
          <a:p>
            <a:r>
              <a:rPr lang="en-GB" dirty="0" smtClean="0">
                <a:latin typeface="LEMON MILK" panose="00000500000000000000" pitchFamily="50" charset="0"/>
              </a:rPr>
              <a:t>A Worked </a:t>
            </a:r>
            <a:r>
              <a:rPr lang="en-GB" dirty="0">
                <a:latin typeface="LEMON MILK" panose="00000500000000000000" pitchFamily="50" charset="0"/>
              </a:rPr>
              <a:t>Example</a:t>
            </a:r>
          </a:p>
        </p:txBody>
      </p:sp>
      <p:graphicFrame>
        <p:nvGraphicFramePr>
          <p:cNvPr id="5" name="Content Placeholder 3"/>
          <p:cNvGraphicFramePr>
            <a:graphicFrameLocks/>
          </p:cNvGraphicFramePr>
          <p:nvPr>
            <p:extLst>
              <p:ext uri="{D42A27DB-BD31-4B8C-83A1-F6EECF244321}">
                <p14:modId xmlns:p14="http://schemas.microsoft.com/office/powerpoint/2010/main" val="3393638765"/>
              </p:ext>
            </p:extLst>
          </p:nvPr>
        </p:nvGraphicFramePr>
        <p:xfrm>
          <a:off x="6985415" y="1547891"/>
          <a:ext cx="4702916" cy="2701407"/>
        </p:xfrm>
        <a:graphic>
          <a:graphicData uri="http://schemas.openxmlformats.org/drawingml/2006/table">
            <a:tbl>
              <a:tblPr firstRow="1" bandRow="1">
                <a:tableStyleId>{5C22544A-7EE6-4342-B048-85BDC9FD1C3A}</a:tableStyleId>
              </a:tblPr>
              <a:tblGrid>
                <a:gridCol w="1078906">
                  <a:extLst>
                    <a:ext uri="{9D8B030D-6E8A-4147-A177-3AD203B41FA5}">
                      <a16:colId xmlns:a16="http://schemas.microsoft.com/office/drawing/2014/main" xmlns="" val="2568536262"/>
                    </a:ext>
                  </a:extLst>
                </a:gridCol>
                <a:gridCol w="1272552">
                  <a:extLst>
                    <a:ext uri="{9D8B030D-6E8A-4147-A177-3AD203B41FA5}">
                      <a16:colId xmlns:a16="http://schemas.microsoft.com/office/drawing/2014/main" xmlns="" val="2270930716"/>
                    </a:ext>
                  </a:extLst>
                </a:gridCol>
                <a:gridCol w="1175729">
                  <a:extLst>
                    <a:ext uri="{9D8B030D-6E8A-4147-A177-3AD203B41FA5}">
                      <a16:colId xmlns:a16="http://schemas.microsoft.com/office/drawing/2014/main" xmlns="" val="4252788010"/>
                    </a:ext>
                  </a:extLst>
                </a:gridCol>
                <a:gridCol w="1175729">
                  <a:extLst>
                    <a:ext uri="{9D8B030D-6E8A-4147-A177-3AD203B41FA5}">
                      <a16:colId xmlns:a16="http://schemas.microsoft.com/office/drawing/2014/main" xmlns="" val="1763330310"/>
                    </a:ext>
                  </a:extLst>
                </a:gridCol>
              </a:tblGrid>
              <a:tr h="491064">
                <a:tc>
                  <a:txBody>
                    <a:bodyPr/>
                    <a:lstStyle/>
                    <a:p>
                      <a:r>
                        <a:rPr lang="en-GB" dirty="0" err="1"/>
                        <a:t>patientID</a:t>
                      </a:r>
                      <a:endParaRPr lang="en-GB" dirty="0"/>
                    </a:p>
                  </a:txBody>
                  <a:tcPr/>
                </a:tc>
                <a:tc>
                  <a:txBody>
                    <a:bodyPr/>
                    <a:lstStyle/>
                    <a:p>
                      <a:r>
                        <a:rPr lang="en-GB" dirty="0" err="1"/>
                        <a:t>FirstName</a:t>
                      </a:r>
                      <a:endParaRPr lang="en-GB" dirty="0"/>
                    </a:p>
                  </a:txBody>
                  <a:tcPr/>
                </a:tc>
                <a:tc>
                  <a:txBody>
                    <a:bodyPr/>
                    <a:lstStyle/>
                    <a:p>
                      <a:r>
                        <a:rPr lang="en-GB" dirty="0"/>
                        <a:t>Age</a:t>
                      </a:r>
                    </a:p>
                  </a:txBody>
                  <a:tcPr/>
                </a:tc>
                <a:tc>
                  <a:txBody>
                    <a:bodyPr/>
                    <a:lstStyle/>
                    <a:p>
                      <a:r>
                        <a:rPr lang="en-GB" dirty="0" err="1"/>
                        <a:t>Alergins</a:t>
                      </a:r>
                      <a:endParaRPr lang="en-GB" dirty="0"/>
                    </a:p>
                  </a:txBody>
                  <a:tcPr/>
                </a:tc>
                <a:extLst>
                  <a:ext uri="{0D108BD9-81ED-4DB2-BD59-A6C34878D82A}">
                    <a16:rowId xmlns:a16="http://schemas.microsoft.com/office/drawing/2014/main" xmlns="" val="458902568"/>
                  </a:ext>
                </a:extLst>
              </a:tr>
              <a:tr h="736781">
                <a:tc>
                  <a:txBody>
                    <a:bodyPr/>
                    <a:lstStyle/>
                    <a:p>
                      <a:r>
                        <a:rPr lang="en-GB" dirty="0"/>
                        <a:t>0001</a:t>
                      </a:r>
                    </a:p>
                  </a:txBody>
                  <a:tcPr/>
                </a:tc>
                <a:tc>
                  <a:txBody>
                    <a:bodyPr/>
                    <a:lstStyle/>
                    <a:p>
                      <a:r>
                        <a:rPr lang="en-GB" dirty="0"/>
                        <a:t>Peter</a:t>
                      </a:r>
                    </a:p>
                  </a:txBody>
                  <a:tcPr/>
                </a:tc>
                <a:tc>
                  <a:txBody>
                    <a:bodyPr/>
                    <a:lstStyle/>
                    <a:p>
                      <a:r>
                        <a:rPr lang="en-GB" dirty="0"/>
                        <a:t>15</a:t>
                      </a:r>
                    </a:p>
                  </a:txBody>
                  <a:tcPr/>
                </a:tc>
                <a:tc>
                  <a:txBody>
                    <a:bodyPr/>
                    <a:lstStyle/>
                    <a:p>
                      <a:r>
                        <a:rPr lang="en-GB" dirty="0"/>
                        <a:t>None</a:t>
                      </a:r>
                    </a:p>
                  </a:txBody>
                  <a:tcPr/>
                </a:tc>
                <a:extLst>
                  <a:ext uri="{0D108BD9-81ED-4DB2-BD59-A6C34878D82A}">
                    <a16:rowId xmlns:a16="http://schemas.microsoft.com/office/drawing/2014/main" xmlns="" val="1884082771"/>
                  </a:ext>
                </a:extLst>
              </a:tr>
              <a:tr h="736781">
                <a:tc>
                  <a:txBody>
                    <a:bodyPr/>
                    <a:lstStyle/>
                    <a:p>
                      <a:r>
                        <a:rPr lang="en-GB" dirty="0"/>
                        <a:t>0002</a:t>
                      </a:r>
                    </a:p>
                  </a:txBody>
                  <a:tcPr/>
                </a:tc>
                <a:tc>
                  <a:txBody>
                    <a:bodyPr/>
                    <a:lstStyle/>
                    <a:p>
                      <a:r>
                        <a:rPr lang="en-GB" dirty="0"/>
                        <a:t>Stewart</a:t>
                      </a:r>
                    </a:p>
                  </a:txBody>
                  <a:tcPr/>
                </a:tc>
                <a:tc>
                  <a:txBody>
                    <a:bodyPr/>
                    <a:lstStyle/>
                    <a:p>
                      <a:r>
                        <a:rPr lang="en-GB" dirty="0"/>
                        <a:t>19</a:t>
                      </a:r>
                    </a:p>
                  </a:txBody>
                  <a:tcPr/>
                </a:tc>
                <a:tc>
                  <a:txBody>
                    <a:bodyPr/>
                    <a:lstStyle/>
                    <a:p>
                      <a:r>
                        <a:rPr lang="en-GB" dirty="0"/>
                        <a:t>Peanuts, Gluten</a:t>
                      </a:r>
                    </a:p>
                  </a:txBody>
                  <a:tcPr/>
                </a:tc>
                <a:extLst>
                  <a:ext uri="{0D108BD9-81ED-4DB2-BD59-A6C34878D82A}">
                    <a16:rowId xmlns:a16="http://schemas.microsoft.com/office/drawing/2014/main" xmlns="" val="3492374102"/>
                  </a:ext>
                </a:extLst>
              </a:tr>
              <a:tr h="736781">
                <a:tc>
                  <a:txBody>
                    <a:bodyPr/>
                    <a:lstStyle/>
                    <a:p>
                      <a:r>
                        <a:rPr lang="en-GB" dirty="0"/>
                        <a:t>0003</a:t>
                      </a:r>
                    </a:p>
                  </a:txBody>
                  <a:tcPr/>
                </a:tc>
                <a:tc>
                  <a:txBody>
                    <a:bodyPr/>
                    <a:lstStyle/>
                    <a:p>
                      <a:r>
                        <a:rPr lang="en-GB" dirty="0"/>
                        <a:t>Tara</a:t>
                      </a:r>
                    </a:p>
                  </a:txBody>
                  <a:tcPr/>
                </a:tc>
                <a:tc>
                  <a:txBody>
                    <a:bodyPr/>
                    <a:lstStyle/>
                    <a:p>
                      <a:r>
                        <a:rPr lang="en-GB" dirty="0"/>
                        <a:t>14</a:t>
                      </a:r>
                    </a:p>
                  </a:txBody>
                  <a:tcPr/>
                </a:tc>
                <a:tc>
                  <a:txBody>
                    <a:bodyPr/>
                    <a:lstStyle/>
                    <a:p>
                      <a:r>
                        <a:rPr lang="en-GB" dirty="0"/>
                        <a:t>None</a:t>
                      </a:r>
                    </a:p>
                  </a:txBody>
                  <a:tcPr/>
                </a:tc>
                <a:extLst>
                  <a:ext uri="{0D108BD9-81ED-4DB2-BD59-A6C34878D82A}">
                    <a16:rowId xmlns:a16="http://schemas.microsoft.com/office/drawing/2014/main" xmlns="" val="3292613783"/>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534247417"/>
              </p:ext>
            </p:extLst>
          </p:nvPr>
        </p:nvGraphicFramePr>
        <p:xfrm>
          <a:off x="379995" y="1690688"/>
          <a:ext cx="3805005" cy="2701407"/>
        </p:xfrm>
        <a:graphic>
          <a:graphicData uri="http://schemas.openxmlformats.org/drawingml/2006/table">
            <a:tbl>
              <a:tblPr firstRow="1" bandRow="1">
                <a:tableStyleId>{5C22544A-7EE6-4342-B048-85BDC9FD1C3A}</a:tableStyleId>
              </a:tblPr>
              <a:tblGrid>
                <a:gridCol w="1163886">
                  <a:extLst>
                    <a:ext uri="{9D8B030D-6E8A-4147-A177-3AD203B41FA5}">
                      <a16:colId xmlns:a16="http://schemas.microsoft.com/office/drawing/2014/main" xmlns="" val="2568536262"/>
                    </a:ext>
                  </a:extLst>
                </a:gridCol>
                <a:gridCol w="1372784">
                  <a:extLst>
                    <a:ext uri="{9D8B030D-6E8A-4147-A177-3AD203B41FA5}">
                      <a16:colId xmlns:a16="http://schemas.microsoft.com/office/drawing/2014/main" xmlns="" val="2270930716"/>
                    </a:ext>
                  </a:extLst>
                </a:gridCol>
                <a:gridCol w="1268335">
                  <a:extLst>
                    <a:ext uri="{9D8B030D-6E8A-4147-A177-3AD203B41FA5}">
                      <a16:colId xmlns:a16="http://schemas.microsoft.com/office/drawing/2014/main" xmlns="" val="4252788010"/>
                    </a:ext>
                  </a:extLst>
                </a:gridCol>
              </a:tblGrid>
              <a:tr h="491064">
                <a:tc>
                  <a:txBody>
                    <a:bodyPr/>
                    <a:lstStyle/>
                    <a:p>
                      <a:r>
                        <a:rPr lang="en-GB" dirty="0" err="1"/>
                        <a:t>doctorID</a:t>
                      </a:r>
                      <a:endParaRPr lang="en-GB" dirty="0"/>
                    </a:p>
                  </a:txBody>
                  <a:tcPr/>
                </a:tc>
                <a:tc>
                  <a:txBody>
                    <a:bodyPr/>
                    <a:lstStyle/>
                    <a:p>
                      <a:r>
                        <a:rPr lang="en-GB" dirty="0" err="1"/>
                        <a:t>FirstName</a:t>
                      </a:r>
                      <a:endParaRPr lang="en-GB" dirty="0"/>
                    </a:p>
                  </a:txBody>
                  <a:tcPr/>
                </a:tc>
                <a:tc>
                  <a:txBody>
                    <a:bodyPr/>
                    <a:lstStyle/>
                    <a:p>
                      <a:r>
                        <a:rPr lang="en-GB" dirty="0"/>
                        <a:t>Location</a:t>
                      </a:r>
                    </a:p>
                  </a:txBody>
                  <a:tcPr/>
                </a:tc>
                <a:extLst>
                  <a:ext uri="{0D108BD9-81ED-4DB2-BD59-A6C34878D82A}">
                    <a16:rowId xmlns:a16="http://schemas.microsoft.com/office/drawing/2014/main" xmlns="" val="458902568"/>
                  </a:ext>
                </a:extLst>
              </a:tr>
              <a:tr h="736781">
                <a:tc>
                  <a:txBody>
                    <a:bodyPr/>
                    <a:lstStyle/>
                    <a:p>
                      <a:r>
                        <a:rPr lang="en-GB" dirty="0"/>
                        <a:t>A</a:t>
                      </a:r>
                    </a:p>
                  </a:txBody>
                  <a:tcPr/>
                </a:tc>
                <a:tc>
                  <a:txBody>
                    <a:bodyPr/>
                    <a:lstStyle/>
                    <a:p>
                      <a:r>
                        <a:rPr lang="en-GB" dirty="0"/>
                        <a:t>Dr Wilson</a:t>
                      </a:r>
                    </a:p>
                  </a:txBody>
                  <a:tcPr/>
                </a:tc>
                <a:tc>
                  <a:txBody>
                    <a:bodyPr/>
                    <a:lstStyle/>
                    <a:p>
                      <a:r>
                        <a:rPr lang="en-GB" dirty="0"/>
                        <a:t>Fermanagh</a:t>
                      </a:r>
                    </a:p>
                  </a:txBody>
                  <a:tcPr/>
                </a:tc>
                <a:extLst>
                  <a:ext uri="{0D108BD9-81ED-4DB2-BD59-A6C34878D82A}">
                    <a16:rowId xmlns:a16="http://schemas.microsoft.com/office/drawing/2014/main" xmlns="" val="1884082771"/>
                  </a:ext>
                </a:extLst>
              </a:tr>
              <a:tr h="736781">
                <a:tc>
                  <a:txBody>
                    <a:bodyPr/>
                    <a:lstStyle/>
                    <a:p>
                      <a:r>
                        <a:rPr lang="en-GB" dirty="0"/>
                        <a:t>B</a:t>
                      </a:r>
                    </a:p>
                  </a:txBody>
                  <a:tcPr/>
                </a:tc>
                <a:tc>
                  <a:txBody>
                    <a:bodyPr/>
                    <a:lstStyle/>
                    <a:p>
                      <a:r>
                        <a:rPr lang="en-GB" dirty="0"/>
                        <a:t>Dr</a:t>
                      </a:r>
                      <a:r>
                        <a:rPr lang="en-GB" baseline="0" dirty="0"/>
                        <a:t> Stewart</a:t>
                      </a:r>
                      <a:endParaRPr lang="en-GB" dirty="0"/>
                    </a:p>
                  </a:txBody>
                  <a:tcPr/>
                </a:tc>
                <a:tc>
                  <a:txBody>
                    <a:bodyPr/>
                    <a:lstStyle/>
                    <a:p>
                      <a:r>
                        <a:rPr lang="en-GB" dirty="0"/>
                        <a:t>Tyrone</a:t>
                      </a:r>
                    </a:p>
                  </a:txBody>
                  <a:tcPr/>
                </a:tc>
                <a:extLst>
                  <a:ext uri="{0D108BD9-81ED-4DB2-BD59-A6C34878D82A}">
                    <a16:rowId xmlns:a16="http://schemas.microsoft.com/office/drawing/2014/main" xmlns="" val="3492374102"/>
                  </a:ext>
                </a:extLst>
              </a:tr>
              <a:tr h="736781">
                <a:tc>
                  <a:txBody>
                    <a:bodyPr/>
                    <a:lstStyle/>
                    <a:p>
                      <a:r>
                        <a:rPr lang="en-GB" dirty="0"/>
                        <a:t>C</a:t>
                      </a:r>
                    </a:p>
                  </a:txBody>
                  <a:tcPr/>
                </a:tc>
                <a:tc>
                  <a:txBody>
                    <a:bodyPr/>
                    <a:lstStyle/>
                    <a:p>
                      <a:r>
                        <a:rPr lang="en-GB" dirty="0"/>
                        <a:t>Dr</a:t>
                      </a:r>
                      <a:r>
                        <a:rPr lang="en-GB" baseline="0" dirty="0"/>
                        <a:t> Malone</a:t>
                      </a:r>
                      <a:endParaRPr lang="en-GB" dirty="0"/>
                    </a:p>
                  </a:txBody>
                  <a:tcPr/>
                </a:tc>
                <a:tc>
                  <a:txBody>
                    <a:bodyPr/>
                    <a:lstStyle/>
                    <a:p>
                      <a:r>
                        <a:rPr lang="en-GB" dirty="0"/>
                        <a:t>Antrim</a:t>
                      </a:r>
                    </a:p>
                  </a:txBody>
                  <a:tcPr/>
                </a:tc>
                <a:extLst>
                  <a:ext uri="{0D108BD9-81ED-4DB2-BD59-A6C34878D82A}">
                    <a16:rowId xmlns:a16="http://schemas.microsoft.com/office/drawing/2014/main" xmlns="" val="3292613783"/>
                  </a:ext>
                </a:extLst>
              </a:tr>
            </a:tbl>
          </a:graphicData>
        </a:graphic>
      </p:graphicFrame>
      <p:sp>
        <p:nvSpPr>
          <p:cNvPr id="8" name="TextBox 7"/>
          <p:cNvSpPr txBox="1"/>
          <p:nvPr/>
        </p:nvSpPr>
        <p:spPr>
          <a:xfrm>
            <a:off x="379995" y="4563933"/>
            <a:ext cx="3417758" cy="923330"/>
          </a:xfrm>
          <a:prstGeom prst="rect">
            <a:avLst/>
          </a:prstGeom>
          <a:noFill/>
        </p:spPr>
        <p:txBody>
          <a:bodyPr wrap="square" rtlCol="0">
            <a:spAutoFit/>
          </a:bodyPr>
          <a:lstStyle/>
          <a:p>
            <a:r>
              <a:rPr lang="en-GB" dirty="0"/>
              <a:t>Now we need to think about </a:t>
            </a:r>
            <a:r>
              <a:rPr lang="en-GB" i="1" dirty="0" smtClean="0"/>
              <a:t>how</a:t>
            </a:r>
            <a:r>
              <a:rPr lang="en-GB" dirty="0" smtClean="0"/>
              <a:t> these are related (also known as the cardinality of the relationship).</a:t>
            </a:r>
            <a:endParaRPr lang="en-GB" dirty="0"/>
          </a:p>
        </p:txBody>
      </p:sp>
      <p:cxnSp>
        <p:nvCxnSpPr>
          <p:cNvPr id="12" name="Straight Connector 11"/>
          <p:cNvCxnSpPr/>
          <p:nvPr/>
        </p:nvCxnSpPr>
        <p:spPr>
          <a:xfrm>
            <a:off x="4184999" y="2898594"/>
            <a:ext cx="2800416"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513470" y="5667927"/>
            <a:ext cx="3417758" cy="646331"/>
          </a:xfrm>
          <a:prstGeom prst="rect">
            <a:avLst/>
          </a:prstGeom>
          <a:noFill/>
        </p:spPr>
        <p:txBody>
          <a:bodyPr wrap="square" rtlCol="0">
            <a:spAutoFit/>
          </a:bodyPr>
          <a:lstStyle/>
          <a:p>
            <a:r>
              <a:rPr lang="en-GB" dirty="0" smtClean="0"/>
              <a:t>Basically is this one-one, one-many or many-to-many.</a:t>
            </a:r>
            <a:endParaRPr lang="en-GB" dirty="0"/>
          </a:p>
        </p:txBody>
      </p:sp>
      <p:sp>
        <p:nvSpPr>
          <p:cNvPr id="13" name="TextBox 12"/>
          <p:cNvSpPr txBox="1"/>
          <p:nvPr/>
        </p:nvSpPr>
        <p:spPr>
          <a:xfrm>
            <a:off x="4362450" y="930580"/>
            <a:ext cx="3417758" cy="646331"/>
          </a:xfrm>
          <a:prstGeom prst="rect">
            <a:avLst/>
          </a:prstGeom>
          <a:noFill/>
        </p:spPr>
        <p:txBody>
          <a:bodyPr wrap="square" rtlCol="0">
            <a:spAutoFit/>
          </a:bodyPr>
          <a:lstStyle/>
          <a:p>
            <a:r>
              <a:rPr lang="en-GB" dirty="0" smtClean="0"/>
              <a:t>We start at the beginning of this line.</a:t>
            </a:r>
            <a:endParaRPr lang="en-GB" dirty="0"/>
          </a:p>
        </p:txBody>
      </p:sp>
      <p:cxnSp>
        <p:nvCxnSpPr>
          <p:cNvPr id="4" name="Straight Arrow Connector 3"/>
          <p:cNvCxnSpPr/>
          <p:nvPr/>
        </p:nvCxnSpPr>
        <p:spPr>
          <a:xfrm flipH="1">
            <a:off x="4507969" y="1403802"/>
            <a:ext cx="1086745" cy="1381015"/>
          </a:xfrm>
          <a:prstGeom prst="straightConnector1">
            <a:avLst/>
          </a:prstGeom>
          <a:ln>
            <a:solidFill>
              <a:srgbClr val="7E89ED"/>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79995" y="2898594"/>
            <a:ext cx="3805004" cy="7780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p:cNvSpPr txBox="1"/>
          <p:nvPr/>
        </p:nvSpPr>
        <p:spPr>
          <a:xfrm>
            <a:off x="4691063" y="4739983"/>
            <a:ext cx="3417758" cy="369332"/>
          </a:xfrm>
          <a:prstGeom prst="rect">
            <a:avLst/>
          </a:prstGeom>
          <a:noFill/>
        </p:spPr>
        <p:txBody>
          <a:bodyPr wrap="square" rtlCol="0">
            <a:spAutoFit/>
          </a:bodyPr>
          <a:lstStyle/>
          <a:p>
            <a:r>
              <a:rPr lang="en-GB" dirty="0" smtClean="0"/>
              <a:t>One record here (i.e. one doctor)</a:t>
            </a:r>
            <a:endParaRPr lang="en-GB" dirty="0"/>
          </a:p>
        </p:txBody>
      </p:sp>
      <p:sp>
        <p:nvSpPr>
          <p:cNvPr id="16" name="TextBox 15"/>
          <p:cNvSpPr txBox="1"/>
          <p:nvPr/>
        </p:nvSpPr>
        <p:spPr>
          <a:xfrm>
            <a:off x="4202828" y="2483411"/>
            <a:ext cx="404812" cy="369332"/>
          </a:xfrm>
          <a:prstGeom prst="rect">
            <a:avLst/>
          </a:prstGeom>
          <a:noFill/>
        </p:spPr>
        <p:txBody>
          <a:bodyPr wrap="square" rtlCol="0">
            <a:spAutoFit/>
          </a:bodyPr>
          <a:lstStyle/>
          <a:p>
            <a:r>
              <a:rPr lang="en-GB" dirty="0" smtClean="0"/>
              <a:t>1</a:t>
            </a:r>
            <a:endParaRPr lang="en-GB" dirty="0"/>
          </a:p>
        </p:txBody>
      </p:sp>
      <p:sp>
        <p:nvSpPr>
          <p:cNvPr id="17" name="Rectangle 16"/>
          <p:cNvSpPr/>
          <p:nvPr/>
        </p:nvSpPr>
        <p:spPr>
          <a:xfrm>
            <a:off x="6985415" y="2011156"/>
            <a:ext cx="4702916" cy="223814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p:cNvSpPr txBox="1"/>
          <p:nvPr/>
        </p:nvSpPr>
        <p:spPr>
          <a:xfrm>
            <a:off x="6872288" y="4249850"/>
            <a:ext cx="4900612" cy="369332"/>
          </a:xfrm>
          <a:prstGeom prst="rect">
            <a:avLst/>
          </a:prstGeom>
          <a:noFill/>
        </p:spPr>
        <p:txBody>
          <a:bodyPr wrap="square" rtlCol="0">
            <a:spAutoFit/>
          </a:bodyPr>
          <a:lstStyle/>
          <a:p>
            <a:r>
              <a:rPr lang="en-GB" dirty="0" smtClean="0"/>
              <a:t>Could relate to many different records here</a:t>
            </a:r>
            <a:endParaRPr lang="en-GB" dirty="0"/>
          </a:p>
        </p:txBody>
      </p:sp>
      <p:sp>
        <p:nvSpPr>
          <p:cNvPr id="19" name="TextBox 18"/>
          <p:cNvSpPr txBox="1"/>
          <p:nvPr/>
        </p:nvSpPr>
        <p:spPr>
          <a:xfrm>
            <a:off x="6669882" y="2496806"/>
            <a:ext cx="404812" cy="369332"/>
          </a:xfrm>
          <a:prstGeom prst="rect">
            <a:avLst/>
          </a:prstGeom>
          <a:noFill/>
        </p:spPr>
        <p:txBody>
          <a:bodyPr wrap="square" rtlCol="0">
            <a:spAutoFit/>
          </a:bodyPr>
          <a:lstStyle/>
          <a:p>
            <a:r>
              <a:rPr lang="en-GB" dirty="0" smtClean="0"/>
              <a:t>∞</a:t>
            </a:r>
            <a:endParaRPr lang="en-GB" dirty="0"/>
          </a:p>
        </p:txBody>
      </p:sp>
      <p:sp>
        <p:nvSpPr>
          <p:cNvPr id="20" name="TextBox 19"/>
          <p:cNvSpPr txBox="1"/>
          <p:nvPr/>
        </p:nvSpPr>
        <p:spPr>
          <a:xfrm>
            <a:off x="4387405" y="3573947"/>
            <a:ext cx="2101501" cy="646331"/>
          </a:xfrm>
          <a:prstGeom prst="rect">
            <a:avLst/>
          </a:prstGeom>
          <a:noFill/>
        </p:spPr>
        <p:txBody>
          <a:bodyPr wrap="square" rtlCol="0">
            <a:spAutoFit/>
          </a:bodyPr>
          <a:lstStyle/>
          <a:p>
            <a:r>
              <a:rPr lang="en-GB" dirty="0" smtClean="0"/>
              <a:t>So we put the many symbol here</a:t>
            </a:r>
            <a:endParaRPr lang="en-GB" dirty="0"/>
          </a:p>
        </p:txBody>
      </p:sp>
      <p:cxnSp>
        <p:nvCxnSpPr>
          <p:cNvPr id="21" name="Straight Arrow Connector 20"/>
          <p:cNvCxnSpPr>
            <a:stCxn id="20" idx="0"/>
            <a:endCxn id="19" idx="1"/>
          </p:cNvCxnSpPr>
          <p:nvPr/>
        </p:nvCxnSpPr>
        <p:spPr>
          <a:xfrm flipV="1">
            <a:off x="5438156" y="2681472"/>
            <a:ext cx="1231726" cy="892475"/>
          </a:xfrm>
          <a:prstGeom prst="straightConnector1">
            <a:avLst/>
          </a:prstGeom>
          <a:ln>
            <a:solidFill>
              <a:srgbClr val="7E89E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27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xit" presetSubtype="0" fill="hold" grpId="1" nodeType="withEffect">
                                  <p:stCondLst>
                                    <p:cond delay="0"/>
                                  </p:stCondLst>
                                  <p:childTnLst>
                                    <p:animEffect transition="out" filter="fade">
                                      <p:cBhvr>
                                        <p:cTn id="30" dur="500"/>
                                        <p:tgtEl>
                                          <p:spTgt spid="8"/>
                                        </p:tgtEl>
                                      </p:cBhvr>
                                    </p:animEffect>
                                    <p:set>
                                      <p:cBhvr>
                                        <p:cTn id="31" dur="1" fill="hold">
                                          <p:stCondLst>
                                            <p:cond delay="499"/>
                                          </p:stCondLst>
                                        </p:cTn>
                                        <p:tgtEl>
                                          <p:spTgt spid="8"/>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11"/>
                                        </p:tgtEl>
                                      </p:cBhvr>
                                    </p:animEffect>
                                    <p:set>
                                      <p:cBhvr>
                                        <p:cTn id="34" dur="1" fill="hold">
                                          <p:stCondLst>
                                            <p:cond delay="499"/>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xit" presetSubtype="0" fill="hold" grpId="1" nodeType="withEffect">
                                  <p:stCondLst>
                                    <p:cond delay="0"/>
                                  </p:stCondLst>
                                  <p:childTnLst>
                                    <p:animEffect transition="out" filter="fade">
                                      <p:cBhvr>
                                        <p:cTn id="60" dur="500"/>
                                        <p:tgtEl>
                                          <p:spTgt spid="15"/>
                                        </p:tgtEl>
                                      </p:cBhvr>
                                    </p:animEffect>
                                    <p:set>
                                      <p:cBhvr>
                                        <p:cTn id="61" dur="1" fill="hold">
                                          <p:stCondLst>
                                            <p:cond delay="499"/>
                                          </p:stCondLst>
                                        </p:cTn>
                                        <p:tgtEl>
                                          <p:spTgt spid="15"/>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18"/>
                                        </p:tgtEl>
                                      </p:cBhvr>
                                    </p:animEffect>
                                    <p:set>
                                      <p:cBhvr>
                                        <p:cTn id="64"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1" grpId="0"/>
      <p:bldP spid="11" grpId="1"/>
      <p:bldP spid="13" grpId="0"/>
      <p:bldP spid="14" grpId="0" animBg="1"/>
      <p:bldP spid="15" grpId="0"/>
      <p:bldP spid="15" grpId="1"/>
      <p:bldP spid="16" grpId="0"/>
      <p:bldP spid="17" grpId="0" animBg="1"/>
      <p:bldP spid="18" grpId="0"/>
      <p:bldP spid="18" grpId="1"/>
      <p:bldP spid="19"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191"/>
            <a:ext cx="6019800" cy="920751"/>
          </a:xfrm>
        </p:spPr>
        <p:txBody>
          <a:bodyPr>
            <a:normAutofit fontScale="90000"/>
          </a:bodyPr>
          <a:lstStyle/>
          <a:p>
            <a:r>
              <a:rPr lang="en-GB" dirty="0" smtClean="0">
                <a:latin typeface="LEMON MILK" panose="00000500000000000000" pitchFamily="50" charset="0"/>
              </a:rPr>
              <a:t>A Worked </a:t>
            </a:r>
            <a:r>
              <a:rPr lang="en-GB" dirty="0">
                <a:latin typeface="LEMON MILK" panose="00000500000000000000" pitchFamily="50" charset="0"/>
              </a:rPr>
              <a:t>Example</a:t>
            </a:r>
          </a:p>
        </p:txBody>
      </p:sp>
      <p:graphicFrame>
        <p:nvGraphicFramePr>
          <p:cNvPr id="5" name="Content Placeholder 3"/>
          <p:cNvGraphicFramePr>
            <a:graphicFrameLocks/>
          </p:cNvGraphicFramePr>
          <p:nvPr>
            <p:extLst>
              <p:ext uri="{D42A27DB-BD31-4B8C-83A1-F6EECF244321}">
                <p14:modId xmlns:p14="http://schemas.microsoft.com/office/powerpoint/2010/main" val="3393638765"/>
              </p:ext>
            </p:extLst>
          </p:nvPr>
        </p:nvGraphicFramePr>
        <p:xfrm>
          <a:off x="6985415" y="1547891"/>
          <a:ext cx="4702916" cy="2701407"/>
        </p:xfrm>
        <a:graphic>
          <a:graphicData uri="http://schemas.openxmlformats.org/drawingml/2006/table">
            <a:tbl>
              <a:tblPr firstRow="1" bandRow="1">
                <a:tableStyleId>{5C22544A-7EE6-4342-B048-85BDC9FD1C3A}</a:tableStyleId>
              </a:tblPr>
              <a:tblGrid>
                <a:gridCol w="1078906">
                  <a:extLst>
                    <a:ext uri="{9D8B030D-6E8A-4147-A177-3AD203B41FA5}">
                      <a16:colId xmlns:a16="http://schemas.microsoft.com/office/drawing/2014/main" xmlns="" val="2568536262"/>
                    </a:ext>
                  </a:extLst>
                </a:gridCol>
                <a:gridCol w="1272552">
                  <a:extLst>
                    <a:ext uri="{9D8B030D-6E8A-4147-A177-3AD203B41FA5}">
                      <a16:colId xmlns:a16="http://schemas.microsoft.com/office/drawing/2014/main" xmlns="" val="2270930716"/>
                    </a:ext>
                  </a:extLst>
                </a:gridCol>
                <a:gridCol w="1175729">
                  <a:extLst>
                    <a:ext uri="{9D8B030D-6E8A-4147-A177-3AD203B41FA5}">
                      <a16:colId xmlns:a16="http://schemas.microsoft.com/office/drawing/2014/main" xmlns="" val="4252788010"/>
                    </a:ext>
                  </a:extLst>
                </a:gridCol>
                <a:gridCol w="1175729">
                  <a:extLst>
                    <a:ext uri="{9D8B030D-6E8A-4147-A177-3AD203B41FA5}">
                      <a16:colId xmlns:a16="http://schemas.microsoft.com/office/drawing/2014/main" xmlns="" val="1763330310"/>
                    </a:ext>
                  </a:extLst>
                </a:gridCol>
              </a:tblGrid>
              <a:tr h="491064">
                <a:tc>
                  <a:txBody>
                    <a:bodyPr/>
                    <a:lstStyle/>
                    <a:p>
                      <a:r>
                        <a:rPr lang="en-GB" dirty="0" err="1"/>
                        <a:t>patientID</a:t>
                      </a:r>
                      <a:endParaRPr lang="en-GB" dirty="0"/>
                    </a:p>
                  </a:txBody>
                  <a:tcPr/>
                </a:tc>
                <a:tc>
                  <a:txBody>
                    <a:bodyPr/>
                    <a:lstStyle/>
                    <a:p>
                      <a:r>
                        <a:rPr lang="en-GB" dirty="0" err="1"/>
                        <a:t>FirstName</a:t>
                      </a:r>
                      <a:endParaRPr lang="en-GB" dirty="0"/>
                    </a:p>
                  </a:txBody>
                  <a:tcPr/>
                </a:tc>
                <a:tc>
                  <a:txBody>
                    <a:bodyPr/>
                    <a:lstStyle/>
                    <a:p>
                      <a:r>
                        <a:rPr lang="en-GB" dirty="0"/>
                        <a:t>Age</a:t>
                      </a:r>
                    </a:p>
                  </a:txBody>
                  <a:tcPr/>
                </a:tc>
                <a:tc>
                  <a:txBody>
                    <a:bodyPr/>
                    <a:lstStyle/>
                    <a:p>
                      <a:r>
                        <a:rPr lang="en-GB" dirty="0" err="1"/>
                        <a:t>Alergins</a:t>
                      </a:r>
                      <a:endParaRPr lang="en-GB" dirty="0"/>
                    </a:p>
                  </a:txBody>
                  <a:tcPr/>
                </a:tc>
                <a:extLst>
                  <a:ext uri="{0D108BD9-81ED-4DB2-BD59-A6C34878D82A}">
                    <a16:rowId xmlns:a16="http://schemas.microsoft.com/office/drawing/2014/main" xmlns="" val="458902568"/>
                  </a:ext>
                </a:extLst>
              </a:tr>
              <a:tr h="736781">
                <a:tc>
                  <a:txBody>
                    <a:bodyPr/>
                    <a:lstStyle/>
                    <a:p>
                      <a:r>
                        <a:rPr lang="en-GB" dirty="0"/>
                        <a:t>0001</a:t>
                      </a:r>
                    </a:p>
                  </a:txBody>
                  <a:tcPr/>
                </a:tc>
                <a:tc>
                  <a:txBody>
                    <a:bodyPr/>
                    <a:lstStyle/>
                    <a:p>
                      <a:r>
                        <a:rPr lang="en-GB" dirty="0"/>
                        <a:t>Peter</a:t>
                      </a:r>
                    </a:p>
                  </a:txBody>
                  <a:tcPr/>
                </a:tc>
                <a:tc>
                  <a:txBody>
                    <a:bodyPr/>
                    <a:lstStyle/>
                    <a:p>
                      <a:r>
                        <a:rPr lang="en-GB" dirty="0"/>
                        <a:t>15</a:t>
                      </a:r>
                    </a:p>
                  </a:txBody>
                  <a:tcPr/>
                </a:tc>
                <a:tc>
                  <a:txBody>
                    <a:bodyPr/>
                    <a:lstStyle/>
                    <a:p>
                      <a:r>
                        <a:rPr lang="en-GB" dirty="0"/>
                        <a:t>None</a:t>
                      </a:r>
                    </a:p>
                  </a:txBody>
                  <a:tcPr/>
                </a:tc>
                <a:extLst>
                  <a:ext uri="{0D108BD9-81ED-4DB2-BD59-A6C34878D82A}">
                    <a16:rowId xmlns:a16="http://schemas.microsoft.com/office/drawing/2014/main" xmlns="" val="1884082771"/>
                  </a:ext>
                </a:extLst>
              </a:tr>
              <a:tr h="736781">
                <a:tc>
                  <a:txBody>
                    <a:bodyPr/>
                    <a:lstStyle/>
                    <a:p>
                      <a:r>
                        <a:rPr lang="en-GB" dirty="0"/>
                        <a:t>0002</a:t>
                      </a:r>
                    </a:p>
                  </a:txBody>
                  <a:tcPr/>
                </a:tc>
                <a:tc>
                  <a:txBody>
                    <a:bodyPr/>
                    <a:lstStyle/>
                    <a:p>
                      <a:r>
                        <a:rPr lang="en-GB" dirty="0"/>
                        <a:t>Stewart</a:t>
                      </a:r>
                    </a:p>
                  </a:txBody>
                  <a:tcPr/>
                </a:tc>
                <a:tc>
                  <a:txBody>
                    <a:bodyPr/>
                    <a:lstStyle/>
                    <a:p>
                      <a:r>
                        <a:rPr lang="en-GB" dirty="0"/>
                        <a:t>19</a:t>
                      </a:r>
                    </a:p>
                  </a:txBody>
                  <a:tcPr/>
                </a:tc>
                <a:tc>
                  <a:txBody>
                    <a:bodyPr/>
                    <a:lstStyle/>
                    <a:p>
                      <a:r>
                        <a:rPr lang="en-GB" dirty="0"/>
                        <a:t>Peanuts, Gluten</a:t>
                      </a:r>
                    </a:p>
                  </a:txBody>
                  <a:tcPr/>
                </a:tc>
                <a:extLst>
                  <a:ext uri="{0D108BD9-81ED-4DB2-BD59-A6C34878D82A}">
                    <a16:rowId xmlns:a16="http://schemas.microsoft.com/office/drawing/2014/main" xmlns="" val="3492374102"/>
                  </a:ext>
                </a:extLst>
              </a:tr>
              <a:tr h="736781">
                <a:tc>
                  <a:txBody>
                    <a:bodyPr/>
                    <a:lstStyle/>
                    <a:p>
                      <a:r>
                        <a:rPr lang="en-GB" dirty="0"/>
                        <a:t>0003</a:t>
                      </a:r>
                    </a:p>
                  </a:txBody>
                  <a:tcPr/>
                </a:tc>
                <a:tc>
                  <a:txBody>
                    <a:bodyPr/>
                    <a:lstStyle/>
                    <a:p>
                      <a:r>
                        <a:rPr lang="en-GB" dirty="0"/>
                        <a:t>Tara</a:t>
                      </a:r>
                    </a:p>
                  </a:txBody>
                  <a:tcPr/>
                </a:tc>
                <a:tc>
                  <a:txBody>
                    <a:bodyPr/>
                    <a:lstStyle/>
                    <a:p>
                      <a:r>
                        <a:rPr lang="en-GB" dirty="0"/>
                        <a:t>14</a:t>
                      </a:r>
                    </a:p>
                  </a:txBody>
                  <a:tcPr/>
                </a:tc>
                <a:tc>
                  <a:txBody>
                    <a:bodyPr/>
                    <a:lstStyle/>
                    <a:p>
                      <a:r>
                        <a:rPr lang="en-GB" dirty="0"/>
                        <a:t>None</a:t>
                      </a:r>
                    </a:p>
                  </a:txBody>
                  <a:tcPr/>
                </a:tc>
                <a:extLst>
                  <a:ext uri="{0D108BD9-81ED-4DB2-BD59-A6C34878D82A}">
                    <a16:rowId xmlns:a16="http://schemas.microsoft.com/office/drawing/2014/main" xmlns="" val="3292613783"/>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534247417"/>
              </p:ext>
            </p:extLst>
          </p:nvPr>
        </p:nvGraphicFramePr>
        <p:xfrm>
          <a:off x="379995" y="1690688"/>
          <a:ext cx="3805005" cy="2701407"/>
        </p:xfrm>
        <a:graphic>
          <a:graphicData uri="http://schemas.openxmlformats.org/drawingml/2006/table">
            <a:tbl>
              <a:tblPr firstRow="1" bandRow="1">
                <a:tableStyleId>{5C22544A-7EE6-4342-B048-85BDC9FD1C3A}</a:tableStyleId>
              </a:tblPr>
              <a:tblGrid>
                <a:gridCol w="1163886">
                  <a:extLst>
                    <a:ext uri="{9D8B030D-6E8A-4147-A177-3AD203B41FA5}">
                      <a16:colId xmlns:a16="http://schemas.microsoft.com/office/drawing/2014/main" xmlns="" val="2568536262"/>
                    </a:ext>
                  </a:extLst>
                </a:gridCol>
                <a:gridCol w="1372784">
                  <a:extLst>
                    <a:ext uri="{9D8B030D-6E8A-4147-A177-3AD203B41FA5}">
                      <a16:colId xmlns:a16="http://schemas.microsoft.com/office/drawing/2014/main" xmlns="" val="2270930716"/>
                    </a:ext>
                  </a:extLst>
                </a:gridCol>
                <a:gridCol w="1268335">
                  <a:extLst>
                    <a:ext uri="{9D8B030D-6E8A-4147-A177-3AD203B41FA5}">
                      <a16:colId xmlns:a16="http://schemas.microsoft.com/office/drawing/2014/main" xmlns="" val="4252788010"/>
                    </a:ext>
                  </a:extLst>
                </a:gridCol>
              </a:tblGrid>
              <a:tr h="491064">
                <a:tc>
                  <a:txBody>
                    <a:bodyPr/>
                    <a:lstStyle/>
                    <a:p>
                      <a:r>
                        <a:rPr lang="en-GB" dirty="0" err="1"/>
                        <a:t>doctorID</a:t>
                      </a:r>
                      <a:endParaRPr lang="en-GB" dirty="0"/>
                    </a:p>
                  </a:txBody>
                  <a:tcPr/>
                </a:tc>
                <a:tc>
                  <a:txBody>
                    <a:bodyPr/>
                    <a:lstStyle/>
                    <a:p>
                      <a:r>
                        <a:rPr lang="en-GB" dirty="0" err="1"/>
                        <a:t>FirstName</a:t>
                      </a:r>
                      <a:endParaRPr lang="en-GB" dirty="0"/>
                    </a:p>
                  </a:txBody>
                  <a:tcPr/>
                </a:tc>
                <a:tc>
                  <a:txBody>
                    <a:bodyPr/>
                    <a:lstStyle/>
                    <a:p>
                      <a:r>
                        <a:rPr lang="en-GB" dirty="0"/>
                        <a:t>Location</a:t>
                      </a:r>
                    </a:p>
                  </a:txBody>
                  <a:tcPr/>
                </a:tc>
                <a:extLst>
                  <a:ext uri="{0D108BD9-81ED-4DB2-BD59-A6C34878D82A}">
                    <a16:rowId xmlns:a16="http://schemas.microsoft.com/office/drawing/2014/main" xmlns="" val="458902568"/>
                  </a:ext>
                </a:extLst>
              </a:tr>
              <a:tr h="736781">
                <a:tc>
                  <a:txBody>
                    <a:bodyPr/>
                    <a:lstStyle/>
                    <a:p>
                      <a:r>
                        <a:rPr lang="en-GB" dirty="0"/>
                        <a:t>A</a:t>
                      </a:r>
                    </a:p>
                  </a:txBody>
                  <a:tcPr/>
                </a:tc>
                <a:tc>
                  <a:txBody>
                    <a:bodyPr/>
                    <a:lstStyle/>
                    <a:p>
                      <a:r>
                        <a:rPr lang="en-GB" dirty="0"/>
                        <a:t>Dr Wilson</a:t>
                      </a:r>
                    </a:p>
                  </a:txBody>
                  <a:tcPr/>
                </a:tc>
                <a:tc>
                  <a:txBody>
                    <a:bodyPr/>
                    <a:lstStyle/>
                    <a:p>
                      <a:r>
                        <a:rPr lang="en-GB" dirty="0"/>
                        <a:t>Fermanagh</a:t>
                      </a:r>
                    </a:p>
                  </a:txBody>
                  <a:tcPr/>
                </a:tc>
                <a:extLst>
                  <a:ext uri="{0D108BD9-81ED-4DB2-BD59-A6C34878D82A}">
                    <a16:rowId xmlns:a16="http://schemas.microsoft.com/office/drawing/2014/main" xmlns="" val="1884082771"/>
                  </a:ext>
                </a:extLst>
              </a:tr>
              <a:tr h="736781">
                <a:tc>
                  <a:txBody>
                    <a:bodyPr/>
                    <a:lstStyle/>
                    <a:p>
                      <a:r>
                        <a:rPr lang="en-GB" dirty="0"/>
                        <a:t>B</a:t>
                      </a:r>
                    </a:p>
                  </a:txBody>
                  <a:tcPr/>
                </a:tc>
                <a:tc>
                  <a:txBody>
                    <a:bodyPr/>
                    <a:lstStyle/>
                    <a:p>
                      <a:r>
                        <a:rPr lang="en-GB" dirty="0"/>
                        <a:t>Dr</a:t>
                      </a:r>
                      <a:r>
                        <a:rPr lang="en-GB" baseline="0" dirty="0"/>
                        <a:t> Stewart</a:t>
                      </a:r>
                      <a:endParaRPr lang="en-GB" dirty="0"/>
                    </a:p>
                  </a:txBody>
                  <a:tcPr/>
                </a:tc>
                <a:tc>
                  <a:txBody>
                    <a:bodyPr/>
                    <a:lstStyle/>
                    <a:p>
                      <a:r>
                        <a:rPr lang="en-GB" dirty="0"/>
                        <a:t>Tyrone</a:t>
                      </a:r>
                    </a:p>
                  </a:txBody>
                  <a:tcPr/>
                </a:tc>
                <a:extLst>
                  <a:ext uri="{0D108BD9-81ED-4DB2-BD59-A6C34878D82A}">
                    <a16:rowId xmlns:a16="http://schemas.microsoft.com/office/drawing/2014/main" xmlns="" val="3492374102"/>
                  </a:ext>
                </a:extLst>
              </a:tr>
              <a:tr h="736781">
                <a:tc>
                  <a:txBody>
                    <a:bodyPr/>
                    <a:lstStyle/>
                    <a:p>
                      <a:r>
                        <a:rPr lang="en-GB" dirty="0"/>
                        <a:t>C</a:t>
                      </a:r>
                    </a:p>
                  </a:txBody>
                  <a:tcPr/>
                </a:tc>
                <a:tc>
                  <a:txBody>
                    <a:bodyPr/>
                    <a:lstStyle/>
                    <a:p>
                      <a:r>
                        <a:rPr lang="en-GB" dirty="0"/>
                        <a:t>Dr</a:t>
                      </a:r>
                      <a:r>
                        <a:rPr lang="en-GB" baseline="0" dirty="0"/>
                        <a:t> Malone</a:t>
                      </a:r>
                      <a:endParaRPr lang="en-GB" dirty="0"/>
                    </a:p>
                  </a:txBody>
                  <a:tcPr/>
                </a:tc>
                <a:tc>
                  <a:txBody>
                    <a:bodyPr/>
                    <a:lstStyle/>
                    <a:p>
                      <a:r>
                        <a:rPr lang="en-GB" dirty="0"/>
                        <a:t>Antrim</a:t>
                      </a:r>
                    </a:p>
                  </a:txBody>
                  <a:tcPr/>
                </a:tc>
                <a:extLst>
                  <a:ext uri="{0D108BD9-81ED-4DB2-BD59-A6C34878D82A}">
                    <a16:rowId xmlns:a16="http://schemas.microsoft.com/office/drawing/2014/main" xmlns="" val="3292613783"/>
                  </a:ext>
                </a:extLst>
              </a:tr>
            </a:tbl>
          </a:graphicData>
        </a:graphic>
      </p:graphicFrame>
      <p:sp>
        <p:nvSpPr>
          <p:cNvPr id="8" name="TextBox 7"/>
          <p:cNvSpPr txBox="1"/>
          <p:nvPr/>
        </p:nvSpPr>
        <p:spPr>
          <a:xfrm>
            <a:off x="878017" y="5276835"/>
            <a:ext cx="3417758" cy="646331"/>
          </a:xfrm>
          <a:prstGeom prst="rect">
            <a:avLst/>
          </a:prstGeom>
          <a:noFill/>
        </p:spPr>
        <p:txBody>
          <a:bodyPr wrap="square" rtlCol="0">
            <a:spAutoFit/>
          </a:bodyPr>
          <a:lstStyle/>
          <a:p>
            <a:r>
              <a:rPr lang="en-GB" dirty="0" smtClean="0"/>
              <a:t>Lets try that from the other side of the line now.</a:t>
            </a:r>
            <a:endParaRPr lang="en-GB" dirty="0"/>
          </a:p>
        </p:txBody>
      </p:sp>
      <p:cxnSp>
        <p:nvCxnSpPr>
          <p:cNvPr id="12" name="Straight Connector 11"/>
          <p:cNvCxnSpPr/>
          <p:nvPr/>
        </p:nvCxnSpPr>
        <p:spPr>
          <a:xfrm>
            <a:off x="4184999" y="2898594"/>
            <a:ext cx="2800416"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985415" y="2779662"/>
            <a:ext cx="4777960" cy="7780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p:cNvSpPr txBox="1"/>
          <p:nvPr/>
        </p:nvSpPr>
        <p:spPr>
          <a:xfrm>
            <a:off x="4202828" y="2483411"/>
            <a:ext cx="404812" cy="369332"/>
          </a:xfrm>
          <a:prstGeom prst="rect">
            <a:avLst/>
          </a:prstGeom>
          <a:noFill/>
        </p:spPr>
        <p:txBody>
          <a:bodyPr wrap="square" rtlCol="0">
            <a:spAutoFit/>
          </a:bodyPr>
          <a:lstStyle/>
          <a:p>
            <a:r>
              <a:rPr lang="en-GB" dirty="0" smtClean="0"/>
              <a:t>1</a:t>
            </a:r>
            <a:endParaRPr lang="en-GB" dirty="0"/>
          </a:p>
        </p:txBody>
      </p:sp>
      <p:sp>
        <p:nvSpPr>
          <p:cNvPr id="19" name="TextBox 18"/>
          <p:cNvSpPr txBox="1"/>
          <p:nvPr/>
        </p:nvSpPr>
        <p:spPr>
          <a:xfrm>
            <a:off x="6669882" y="2496806"/>
            <a:ext cx="404812" cy="369332"/>
          </a:xfrm>
          <a:prstGeom prst="rect">
            <a:avLst/>
          </a:prstGeom>
          <a:noFill/>
        </p:spPr>
        <p:txBody>
          <a:bodyPr wrap="square" rtlCol="0">
            <a:spAutoFit/>
          </a:bodyPr>
          <a:lstStyle/>
          <a:p>
            <a:r>
              <a:rPr lang="en-GB" dirty="0" smtClean="0"/>
              <a:t>∞</a:t>
            </a:r>
            <a:endParaRPr lang="en-GB" dirty="0"/>
          </a:p>
        </p:txBody>
      </p:sp>
      <p:sp>
        <p:nvSpPr>
          <p:cNvPr id="22" name="TextBox 21"/>
          <p:cNvSpPr txBox="1"/>
          <p:nvPr/>
        </p:nvSpPr>
        <p:spPr>
          <a:xfrm>
            <a:off x="6910371" y="4208988"/>
            <a:ext cx="3417758" cy="369332"/>
          </a:xfrm>
          <a:prstGeom prst="rect">
            <a:avLst/>
          </a:prstGeom>
          <a:noFill/>
        </p:spPr>
        <p:txBody>
          <a:bodyPr wrap="square" rtlCol="0">
            <a:spAutoFit/>
          </a:bodyPr>
          <a:lstStyle/>
          <a:p>
            <a:r>
              <a:rPr lang="en-GB" dirty="0" smtClean="0"/>
              <a:t>One record here (</a:t>
            </a:r>
            <a:r>
              <a:rPr lang="en-GB" dirty="0" err="1" smtClean="0"/>
              <a:t>i.e</a:t>
            </a:r>
            <a:r>
              <a:rPr lang="en-GB" dirty="0" smtClean="0"/>
              <a:t> one patient)</a:t>
            </a:r>
            <a:endParaRPr lang="en-GB" dirty="0"/>
          </a:p>
        </p:txBody>
      </p:sp>
      <p:sp>
        <p:nvSpPr>
          <p:cNvPr id="23" name="Rectangle 22"/>
          <p:cNvSpPr/>
          <p:nvPr/>
        </p:nvSpPr>
        <p:spPr>
          <a:xfrm>
            <a:off x="395812" y="2866138"/>
            <a:ext cx="3789186" cy="7780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p:cNvSpPr txBox="1"/>
          <p:nvPr/>
        </p:nvSpPr>
        <p:spPr>
          <a:xfrm>
            <a:off x="311590" y="4392095"/>
            <a:ext cx="3891238" cy="646331"/>
          </a:xfrm>
          <a:prstGeom prst="rect">
            <a:avLst/>
          </a:prstGeom>
          <a:noFill/>
        </p:spPr>
        <p:txBody>
          <a:bodyPr wrap="square" rtlCol="0">
            <a:spAutoFit/>
          </a:bodyPr>
          <a:lstStyle/>
          <a:p>
            <a:pPr algn="ctr"/>
            <a:r>
              <a:rPr lang="en-GB" dirty="0" smtClean="0"/>
              <a:t>Will only ever relate to a single record here (they only have one doctor)</a:t>
            </a:r>
            <a:endParaRPr lang="en-GB" dirty="0"/>
          </a:p>
        </p:txBody>
      </p:sp>
      <p:sp>
        <p:nvSpPr>
          <p:cNvPr id="25" name="TextBox 24"/>
          <p:cNvSpPr txBox="1"/>
          <p:nvPr/>
        </p:nvSpPr>
        <p:spPr>
          <a:xfrm>
            <a:off x="6669882" y="2902062"/>
            <a:ext cx="404812" cy="369332"/>
          </a:xfrm>
          <a:prstGeom prst="rect">
            <a:avLst/>
          </a:prstGeom>
          <a:noFill/>
        </p:spPr>
        <p:txBody>
          <a:bodyPr wrap="square" rtlCol="0">
            <a:spAutoFit/>
          </a:bodyPr>
          <a:lstStyle/>
          <a:p>
            <a:r>
              <a:rPr lang="en-GB" dirty="0" smtClean="0"/>
              <a:t>1</a:t>
            </a:r>
            <a:endParaRPr lang="en-GB" dirty="0"/>
          </a:p>
        </p:txBody>
      </p:sp>
      <p:sp>
        <p:nvSpPr>
          <p:cNvPr id="26" name="TextBox 25"/>
          <p:cNvSpPr txBox="1"/>
          <p:nvPr/>
        </p:nvSpPr>
        <p:spPr>
          <a:xfrm>
            <a:off x="4184998" y="2912881"/>
            <a:ext cx="404812" cy="369332"/>
          </a:xfrm>
          <a:prstGeom prst="rect">
            <a:avLst/>
          </a:prstGeom>
          <a:noFill/>
        </p:spPr>
        <p:txBody>
          <a:bodyPr wrap="square" rtlCol="0">
            <a:spAutoFit/>
          </a:bodyPr>
          <a:lstStyle/>
          <a:p>
            <a:r>
              <a:rPr lang="en-GB" dirty="0" smtClean="0"/>
              <a:t>1</a:t>
            </a:r>
            <a:endParaRPr lang="en-GB" dirty="0"/>
          </a:p>
        </p:txBody>
      </p:sp>
    </p:spTree>
    <p:extLst>
      <p:ext uri="{BB962C8B-B14F-4D97-AF65-F5344CB8AC3E}">
        <p14:creationId xmlns:p14="http://schemas.microsoft.com/office/powerpoint/2010/main" val="354252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xit" presetSubtype="0" fill="hold" grpId="1" nodeType="withEffect">
                                  <p:stCondLst>
                                    <p:cond delay="0"/>
                                  </p:stCondLst>
                                  <p:childTnLst>
                                    <p:animEffect transition="out" filter="fad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4" grpId="0" animBg="1"/>
      <p:bldP spid="22" grpId="0"/>
      <p:bldP spid="23" grpId="0" animBg="1"/>
      <p:bldP spid="24" grpId="0"/>
      <p:bldP spid="25" grpId="0"/>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191"/>
            <a:ext cx="6019800" cy="920751"/>
          </a:xfrm>
        </p:spPr>
        <p:txBody>
          <a:bodyPr>
            <a:normAutofit fontScale="90000"/>
          </a:bodyPr>
          <a:lstStyle/>
          <a:p>
            <a:r>
              <a:rPr lang="en-GB" dirty="0" smtClean="0">
                <a:latin typeface="LEMON MILK" panose="00000500000000000000" pitchFamily="50" charset="0"/>
              </a:rPr>
              <a:t>A Worked </a:t>
            </a:r>
            <a:r>
              <a:rPr lang="en-GB" dirty="0">
                <a:latin typeface="LEMON MILK" panose="00000500000000000000" pitchFamily="50" charset="0"/>
              </a:rPr>
              <a:t>Example</a:t>
            </a:r>
          </a:p>
        </p:txBody>
      </p:sp>
      <p:graphicFrame>
        <p:nvGraphicFramePr>
          <p:cNvPr id="5" name="Content Placeholder 3"/>
          <p:cNvGraphicFramePr>
            <a:graphicFrameLocks/>
          </p:cNvGraphicFramePr>
          <p:nvPr>
            <p:extLst>
              <p:ext uri="{D42A27DB-BD31-4B8C-83A1-F6EECF244321}">
                <p14:modId xmlns:p14="http://schemas.microsoft.com/office/powerpoint/2010/main" val="3393638765"/>
              </p:ext>
            </p:extLst>
          </p:nvPr>
        </p:nvGraphicFramePr>
        <p:xfrm>
          <a:off x="6985415" y="1547891"/>
          <a:ext cx="4702916" cy="2701407"/>
        </p:xfrm>
        <a:graphic>
          <a:graphicData uri="http://schemas.openxmlformats.org/drawingml/2006/table">
            <a:tbl>
              <a:tblPr firstRow="1" bandRow="1">
                <a:tableStyleId>{5C22544A-7EE6-4342-B048-85BDC9FD1C3A}</a:tableStyleId>
              </a:tblPr>
              <a:tblGrid>
                <a:gridCol w="1078906">
                  <a:extLst>
                    <a:ext uri="{9D8B030D-6E8A-4147-A177-3AD203B41FA5}">
                      <a16:colId xmlns:a16="http://schemas.microsoft.com/office/drawing/2014/main" xmlns="" val="2568536262"/>
                    </a:ext>
                  </a:extLst>
                </a:gridCol>
                <a:gridCol w="1272552">
                  <a:extLst>
                    <a:ext uri="{9D8B030D-6E8A-4147-A177-3AD203B41FA5}">
                      <a16:colId xmlns:a16="http://schemas.microsoft.com/office/drawing/2014/main" xmlns="" val="2270930716"/>
                    </a:ext>
                  </a:extLst>
                </a:gridCol>
                <a:gridCol w="1175729">
                  <a:extLst>
                    <a:ext uri="{9D8B030D-6E8A-4147-A177-3AD203B41FA5}">
                      <a16:colId xmlns:a16="http://schemas.microsoft.com/office/drawing/2014/main" xmlns="" val="4252788010"/>
                    </a:ext>
                  </a:extLst>
                </a:gridCol>
                <a:gridCol w="1175729">
                  <a:extLst>
                    <a:ext uri="{9D8B030D-6E8A-4147-A177-3AD203B41FA5}">
                      <a16:colId xmlns:a16="http://schemas.microsoft.com/office/drawing/2014/main" xmlns="" val="1763330310"/>
                    </a:ext>
                  </a:extLst>
                </a:gridCol>
              </a:tblGrid>
              <a:tr h="491064">
                <a:tc>
                  <a:txBody>
                    <a:bodyPr/>
                    <a:lstStyle/>
                    <a:p>
                      <a:r>
                        <a:rPr lang="en-GB" dirty="0" err="1"/>
                        <a:t>patientID</a:t>
                      </a:r>
                      <a:endParaRPr lang="en-GB" dirty="0"/>
                    </a:p>
                  </a:txBody>
                  <a:tcPr/>
                </a:tc>
                <a:tc>
                  <a:txBody>
                    <a:bodyPr/>
                    <a:lstStyle/>
                    <a:p>
                      <a:r>
                        <a:rPr lang="en-GB" dirty="0" err="1"/>
                        <a:t>FirstName</a:t>
                      </a:r>
                      <a:endParaRPr lang="en-GB" dirty="0"/>
                    </a:p>
                  </a:txBody>
                  <a:tcPr/>
                </a:tc>
                <a:tc>
                  <a:txBody>
                    <a:bodyPr/>
                    <a:lstStyle/>
                    <a:p>
                      <a:r>
                        <a:rPr lang="en-GB" dirty="0"/>
                        <a:t>Age</a:t>
                      </a:r>
                    </a:p>
                  </a:txBody>
                  <a:tcPr/>
                </a:tc>
                <a:tc>
                  <a:txBody>
                    <a:bodyPr/>
                    <a:lstStyle/>
                    <a:p>
                      <a:r>
                        <a:rPr lang="en-GB" dirty="0" err="1"/>
                        <a:t>Alergins</a:t>
                      </a:r>
                      <a:endParaRPr lang="en-GB" dirty="0"/>
                    </a:p>
                  </a:txBody>
                  <a:tcPr/>
                </a:tc>
                <a:extLst>
                  <a:ext uri="{0D108BD9-81ED-4DB2-BD59-A6C34878D82A}">
                    <a16:rowId xmlns:a16="http://schemas.microsoft.com/office/drawing/2014/main" xmlns="" val="458902568"/>
                  </a:ext>
                </a:extLst>
              </a:tr>
              <a:tr h="736781">
                <a:tc>
                  <a:txBody>
                    <a:bodyPr/>
                    <a:lstStyle/>
                    <a:p>
                      <a:r>
                        <a:rPr lang="en-GB" dirty="0"/>
                        <a:t>0001</a:t>
                      </a:r>
                    </a:p>
                  </a:txBody>
                  <a:tcPr/>
                </a:tc>
                <a:tc>
                  <a:txBody>
                    <a:bodyPr/>
                    <a:lstStyle/>
                    <a:p>
                      <a:r>
                        <a:rPr lang="en-GB" dirty="0"/>
                        <a:t>Peter</a:t>
                      </a:r>
                    </a:p>
                  </a:txBody>
                  <a:tcPr/>
                </a:tc>
                <a:tc>
                  <a:txBody>
                    <a:bodyPr/>
                    <a:lstStyle/>
                    <a:p>
                      <a:r>
                        <a:rPr lang="en-GB" dirty="0"/>
                        <a:t>15</a:t>
                      </a:r>
                    </a:p>
                  </a:txBody>
                  <a:tcPr/>
                </a:tc>
                <a:tc>
                  <a:txBody>
                    <a:bodyPr/>
                    <a:lstStyle/>
                    <a:p>
                      <a:r>
                        <a:rPr lang="en-GB" dirty="0"/>
                        <a:t>None</a:t>
                      </a:r>
                    </a:p>
                  </a:txBody>
                  <a:tcPr/>
                </a:tc>
                <a:extLst>
                  <a:ext uri="{0D108BD9-81ED-4DB2-BD59-A6C34878D82A}">
                    <a16:rowId xmlns:a16="http://schemas.microsoft.com/office/drawing/2014/main" xmlns="" val="1884082771"/>
                  </a:ext>
                </a:extLst>
              </a:tr>
              <a:tr h="736781">
                <a:tc>
                  <a:txBody>
                    <a:bodyPr/>
                    <a:lstStyle/>
                    <a:p>
                      <a:r>
                        <a:rPr lang="en-GB" dirty="0"/>
                        <a:t>0002</a:t>
                      </a:r>
                    </a:p>
                  </a:txBody>
                  <a:tcPr/>
                </a:tc>
                <a:tc>
                  <a:txBody>
                    <a:bodyPr/>
                    <a:lstStyle/>
                    <a:p>
                      <a:r>
                        <a:rPr lang="en-GB" dirty="0"/>
                        <a:t>Stewart</a:t>
                      </a:r>
                    </a:p>
                  </a:txBody>
                  <a:tcPr/>
                </a:tc>
                <a:tc>
                  <a:txBody>
                    <a:bodyPr/>
                    <a:lstStyle/>
                    <a:p>
                      <a:r>
                        <a:rPr lang="en-GB" dirty="0"/>
                        <a:t>19</a:t>
                      </a:r>
                    </a:p>
                  </a:txBody>
                  <a:tcPr/>
                </a:tc>
                <a:tc>
                  <a:txBody>
                    <a:bodyPr/>
                    <a:lstStyle/>
                    <a:p>
                      <a:r>
                        <a:rPr lang="en-GB" dirty="0"/>
                        <a:t>Peanuts, Gluten</a:t>
                      </a:r>
                    </a:p>
                  </a:txBody>
                  <a:tcPr/>
                </a:tc>
                <a:extLst>
                  <a:ext uri="{0D108BD9-81ED-4DB2-BD59-A6C34878D82A}">
                    <a16:rowId xmlns:a16="http://schemas.microsoft.com/office/drawing/2014/main" xmlns="" val="3492374102"/>
                  </a:ext>
                </a:extLst>
              </a:tr>
              <a:tr h="736781">
                <a:tc>
                  <a:txBody>
                    <a:bodyPr/>
                    <a:lstStyle/>
                    <a:p>
                      <a:r>
                        <a:rPr lang="en-GB" dirty="0"/>
                        <a:t>0003</a:t>
                      </a:r>
                    </a:p>
                  </a:txBody>
                  <a:tcPr/>
                </a:tc>
                <a:tc>
                  <a:txBody>
                    <a:bodyPr/>
                    <a:lstStyle/>
                    <a:p>
                      <a:r>
                        <a:rPr lang="en-GB" dirty="0"/>
                        <a:t>Tara</a:t>
                      </a:r>
                    </a:p>
                  </a:txBody>
                  <a:tcPr/>
                </a:tc>
                <a:tc>
                  <a:txBody>
                    <a:bodyPr/>
                    <a:lstStyle/>
                    <a:p>
                      <a:r>
                        <a:rPr lang="en-GB" dirty="0"/>
                        <a:t>14</a:t>
                      </a:r>
                    </a:p>
                  </a:txBody>
                  <a:tcPr/>
                </a:tc>
                <a:tc>
                  <a:txBody>
                    <a:bodyPr/>
                    <a:lstStyle/>
                    <a:p>
                      <a:r>
                        <a:rPr lang="en-GB" dirty="0"/>
                        <a:t>None</a:t>
                      </a:r>
                    </a:p>
                  </a:txBody>
                  <a:tcPr/>
                </a:tc>
                <a:extLst>
                  <a:ext uri="{0D108BD9-81ED-4DB2-BD59-A6C34878D82A}">
                    <a16:rowId xmlns:a16="http://schemas.microsoft.com/office/drawing/2014/main" xmlns="" val="3292613783"/>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534247417"/>
              </p:ext>
            </p:extLst>
          </p:nvPr>
        </p:nvGraphicFramePr>
        <p:xfrm>
          <a:off x="379995" y="1690688"/>
          <a:ext cx="3805005" cy="2701407"/>
        </p:xfrm>
        <a:graphic>
          <a:graphicData uri="http://schemas.openxmlformats.org/drawingml/2006/table">
            <a:tbl>
              <a:tblPr firstRow="1" bandRow="1">
                <a:tableStyleId>{5C22544A-7EE6-4342-B048-85BDC9FD1C3A}</a:tableStyleId>
              </a:tblPr>
              <a:tblGrid>
                <a:gridCol w="1163886">
                  <a:extLst>
                    <a:ext uri="{9D8B030D-6E8A-4147-A177-3AD203B41FA5}">
                      <a16:colId xmlns:a16="http://schemas.microsoft.com/office/drawing/2014/main" xmlns="" val="2568536262"/>
                    </a:ext>
                  </a:extLst>
                </a:gridCol>
                <a:gridCol w="1372784">
                  <a:extLst>
                    <a:ext uri="{9D8B030D-6E8A-4147-A177-3AD203B41FA5}">
                      <a16:colId xmlns:a16="http://schemas.microsoft.com/office/drawing/2014/main" xmlns="" val="2270930716"/>
                    </a:ext>
                  </a:extLst>
                </a:gridCol>
                <a:gridCol w="1268335">
                  <a:extLst>
                    <a:ext uri="{9D8B030D-6E8A-4147-A177-3AD203B41FA5}">
                      <a16:colId xmlns:a16="http://schemas.microsoft.com/office/drawing/2014/main" xmlns="" val="4252788010"/>
                    </a:ext>
                  </a:extLst>
                </a:gridCol>
              </a:tblGrid>
              <a:tr h="491064">
                <a:tc>
                  <a:txBody>
                    <a:bodyPr/>
                    <a:lstStyle/>
                    <a:p>
                      <a:r>
                        <a:rPr lang="en-GB" dirty="0" err="1"/>
                        <a:t>doctorID</a:t>
                      </a:r>
                      <a:endParaRPr lang="en-GB" dirty="0"/>
                    </a:p>
                  </a:txBody>
                  <a:tcPr/>
                </a:tc>
                <a:tc>
                  <a:txBody>
                    <a:bodyPr/>
                    <a:lstStyle/>
                    <a:p>
                      <a:r>
                        <a:rPr lang="en-GB" dirty="0" err="1"/>
                        <a:t>FirstName</a:t>
                      </a:r>
                      <a:endParaRPr lang="en-GB" dirty="0"/>
                    </a:p>
                  </a:txBody>
                  <a:tcPr/>
                </a:tc>
                <a:tc>
                  <a:txBody>
                    <a:bodyPr/>
                    <a:lstStyle/>
                    <a:p>
                      <a:r>
                        <a:rPr lang="en-GB" dirty="0"/>
                        <a:t>Location</a:t>
                      </a:r>
                    </a:p>
                  </a:txBody>
                  <a:tcPr/>
                </a:tc>
                <a:extLst>
                  <a:ext uri="{0D108BD9-81ED-4DB2-BD59-A6C34878D82A}">
                    <a16:rowId xmlns:a16="http://schemas.microsoft.com/office/drawing/2014/main" xmlns="" val="458902568"/>
                  </a:ext>
                </a:extLst>
              </a:tr>
              <a:tr h="736781">
                <a:tc>
                  <a:txBody>
                    <a:bodyPr/>
                    <a:lstStyle/>
                    <a:p>
                      <a:r>
                        <a:rPr lang="en-GB" dirty="0"/>
                        <a:t>A</a:t>
                      </a:r>
                    </a:p>
                  </a:txBody>
                  <a:tcPr/>
                </a:tc>
                <a:tc>
                  <a:txBody>
                    <a:bodyPr/>
                    <a:lstStyle/>
                    <a:p>
                      <a:r>
                        <a:rPr lang="en-GB" dirty="0"/>
                        <a:t>Dr Wilson</a:t>
                      </a:r>
                    </a:p>
                  </a:txBody>
                  <a:tcPr/>
                </a:tc>
                <a:tc>
                  <a:txBody>
                    <a:bodyPr/>
                    <a:lstStyle/>
                    <a:p>
                      <a:r>
                        <a:rPr lang="en-GB" dirty="0"/>
                        <a:t>Fermanagh</a:t>
                      </a:r>
                    </a:p>
                  </a:txBody>
                  <a:tcPr/>
                </a:tc>
                <a:extLst>
                  <a:ext uri="{0D108BD9-81ED-4DB2-BD59-A6C34878D82A}">
                    <a16:rowId xmlns:a16="http://schemas.microsoft.com/office/drawing/2014/main" xmlns="" val="1884082771"/>
                  </a:ext>
                </a:extLst>
              </a:tr>
              <a:tr h="736781">
                <a:tc>
                  <a:txBody>
                    <a:bodyPr/>
                    <a:lstStyle/>
                    <a:p>
                      <a:r>
                        <a:rPr lang="en-GB" dirty="0"/>
                        <a:t>B</a:t>
                      </a:r>
                    </a:p>
                  </a:txBody>
                  <a:tcPr/>
                </a:tc>
                <a:tc>
                  <a:txBody>
                    <a:bodyPr/>
                    <a:lstStyle/>
                    <a:p>
                      <a:r>
                        <a:rPr lang="en-GB" dirty="0"/>
                        <a:t>Dr</a:t>
                      </a:r>
                      <a:r>
                        <a:rPr lang="en-GB" baseline="0" dirty="0"/>
                        <a:t> Stewart</a:t>
                      </a:r>
                      <a:endParaRPr lang="en-GB" dirty="0"/>
                    </a:p>
                  </a:txBody>
                  <a:tcPr/>
                </a:tc>
                <a:tc>
                  <a:txBody>
                    <a:bodyPr/>
                    <a:lstStyle/>
                    <a:p>
                      <a:r>
                        <a:rPr lang="en-GB" dirty="0"/>
                        <a:t>Tyrone</a:t>
                      </a:r>
                    </a:p>
                  </a:txBody>
                  <a:tcPr/>
                </a:tc>
                <a:extLst>
                  <a:ext uri="{0D108BD9-81ED-4DB2-BD59-A6C34878D82A}">
                    <a16:rowId xmlns:a16="http://schemas.microsoft.com/office/drawing/2014/main" xmlns="" val="3492374102"/>
                  </a:ext>
                </a:extLst>
              </a:tr>
              <a:tr h="736781">
                <a:tc>
                  <a:txBody>
                    <a:bodyPr/>
                    <a:lstStyle/>
                    <a:p>
                      <a:r>
                        <a:rPr lang="en-GB" dirty="0"/>
                        <a:t>C</a:t>
                      </a:r>
                    </a:p>
                  </a:txBody>
                  <a:tcPr/>
                </a:tc>
                <a:tc>
                  <a:txBody>
                    <a:bodyPr/>
                    <a:lstStyle/>
                    <a:p>
                      <a:r>
                        <a:rPr lang="en-GB" dirty="0"/>
                        <a:t>Dr</a:t>
                      </a:r>
                      <a:r>
                        <a:rPr lang="en-GB" baseline="0" dirty="0"/>
                        <a:t> Malone</a:t>
                      </a:r>
                      <a:endParaRPr lang="en-GB" dirty="0"/>
                    </a:p>
                  </a:txBody>
                  <a:tcPr/>
                </a:tc>
                <a:tc>
                  <a:txBody>
                    <a:bodyPr/>
                    <a:lstStyle/>
                    <a:p>
                      <a:r>
                        <a:rPr lang="en-GB" dirty="0"/>
                        <a:t>Antrim</a:t>
                      </a:r>
                    </a:p>
                  </a:txBody>
                  <a:tcPr/>
                </a:tc>
                <a:extLst>
                  <a:ext uri="{0D108BD9-81ED-4DB2-BD59-A6C34878D82A}">
                    <a16:rowId xmlns:a16="http://schemas.microsoft.com/office/drawing/2014/main" xmlns="" val="3292613783"/>
                  </a:ext>
                </a:extLst>
              </a:tr>
            </a:tbl>
          </a:graphicData>
        </a:graphic>
      </p:graphicFrame>
      <p:cxnSp>
        <p:nvCxnSpPr>
          <p:cNvPr id="12" name="Straight Connector 11"/>
          <p:cNvCxnSpPr/>
          <p:nvPr/>
        </p:nvCxnSpPr>
        <p:spPr>
          <a:xfrm>
            <a:off x="4184999" y="2898594"/>
            <a:ext cx="2800416"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202828" y="2483411"/>
            <a:ext cx="404812" cy="369332"/>
          </a:xfrm>
          <a:prstGeom prst="rect">
            <a:avLst/>
          </a:prstGeom>
          <a:noFill/>
        </p:spPr>
        <p:txBody>
          <a:bodyPr wrap="square" rtlCol="0">
            <a:spAutoFit/>
          </a:bodyPr>
          <a:lstStyle/>
          <a:p>
            <a:r>
              <a:rPr lang="en-GB" dirty="0" smtClean="0"/>
              <a:t>1</a:t>
            </a:r>
            <a:endParaRPr lang="en-GB" dirty="0"/>
          </a:p>
        </p:txBody>
      </p:sp>
      <p:sp>
        <p:nvSpPr>
          <p:cNvPr id="19" name="TextBox 18"/>
          <p:cNvSpPr txBox="1"/>
          <p:nvPr/>
        </p:nvSpPr>
        <p:spPr>
          <a:xfrm>
            <a:off x="6669882" y="2496806"/>
            <a:ext cx="404812" cy="369332"/>
          </a:xfrm>
          <a:prstGeom prst="rect">
            <a:avLst/>
          </a:prstGeom>
          <a:noFill/>
        </p:spPr>
        <p:txBody>
          <a:bodyPr wrap="square" rtlCol="0">
            <a:spAutoFit/>
          </a:bodyPr>
          <a:lstStyle/>
          <a:p>
            <a:r>
              <a:rPr lang="en-GB" dirty="0" smtClean="0"/>
              <a:t>∞</a:t>
            </a:r>
            <a:endParaRPr lang="en-GB" dirty="0"/>
          </a:p>
        </p:txBody>
      </p:sp>
      <p:sp>
        <p:nvSpPr>
          <p:cNvPr id="24" name="TextBox 23"/>
          <p:cNvSpPr txBox="1"/>
          <p:nvPr/>
        </p:nvSpPr>
        <p:spPr>
          <a:xfrm>
            <a:off x="5585207" y="878634"/>
            <a:ext cx="4513615" cy="646331"/>
          </a:xfrm>
          <a:prstGeom prst="rect">
            <a:avLst/>
          </a:prstGeom>
          <a:noFill/>
        </p:spPr>
        <p:txBody>
          <a:bodyPr wrap="square" rtlCol="0">
            <a:spAutoFit/>
          </a:bodyPr>
          <a:lstStyle/>
          <a:p>
            <a:pPr algn="ctr"/>
            <a:r>
              <a:rPr lang="en-GB" dirty="0" smtClean="0"/>
              <a:t>And because we take the ‘higher’ cardinality, this is just the ‘many’ on this side</a:t>
            </a:r>
            <a:endParaRPr lang="en-GB" dirty="0"/>
          </a:p>
        </p:txBody>
      </p:sp>
      <p:sp>
        <p:nvSpPr>
          <p:cNvPr id="25" name="TextBox 24"/>
          <p:cNvSpPr txBox="1"/>
          <p:nvPr/>
        </p:nvSpPr>
        <p:spPr>
          <a:xfrm>
            <a:off x="6669882" y="2902062"/>
            <a:ext cx="404812" cy="369332"/>
          </a:xfrm>
          <a:prstGeom prst="rect">
            <a:avLst/>
          </a:prstGeom>
          <a:noFill/>
        </p:spPr>
        <p:txBody>
          <a:bodyPr wrap="square" rtlCol="0">
            <a:spAutoFit/>
          </a:bodyPr>
          <a:lstStyle/>
          <a:p>
            <a:r>
              <a:rPr lang="en-GB" dirty="0" smtClean="0"/>
              <a:t>1</a:t>
            </a:r>
            <a:endParaRPr lang="en-GB" dirty="0"/>
          </a:p>
        </p:txBody>
      </p:sp>
      <p:sp>
        <p:nvSpPr>
          <p:cNvPr id="26" name="TextBox 25"/>
          <p:cNvSpPr txBox="1"/>
          <p:nvPr/>
        </p:nvSpPr>
        <p:spPr>
          <a:xfrm>
            <a:off x="4184998" y="2912881"/>
            <a:ext cx="404812" cy="369332"/>
          </a:xfrm>
          <a:prstGeom prst="rect">
            <a:avLst/>
          </a:prstGeom>
          <a:noFill/>
        </p:spPr>
        <p:txBody>
          <a:bodyPr wrap="square" rtlCol="0">
            <a:spAutoFit/>
          </a:bodyPr>
          <a:lstStyle/>
          <a:p>
            <a:r>
              <a:rPr lang="en-GB" dirty="0" smtClean="0"/>
              <a:t>1</a:t>
            </a:r>
            <a:endParaRPr lang="en-GB" dirty="0"/>
          </a:p>
        </p:txBody>
      </p:sp>
      <p:sp>
        <p:nvSpPr>
          <p:cNvPr id="15" name="TextBox 14"/>
          <p:cNvSpPr txBox="1"/>
          <p:nvPr/>
        </p:nvSpPr>
        <p:spPr>
          <a:xfrm>
            <a:off x="1323484" y="4560935"/>
            <a:ext cx="3891238" cy="646331"/>
          </a:xfrm>
          <a:prstGeom prst="rect">
            <a:avLst/>
          </a:prstGeom>
          <a:noFill/>
        </p:spPr>
        <p:txBody>
          <a:bodyPr wrap="square" rtlCol="0">
            <a:spAutoFit/>
          </a:bodyPr>
          <a:lstStyle/>
          <a:p>
            <a:pPr algn="ctr"/>
            <a:r>
              <a:rPr lang="en-GB" dirty="0" smtClean="0"/>
              <a:t>And this is just the same, we can just put the 1 here</a:t>
            </a:r>
            <a:endParaRPr lang="en-GB" dirty="0"/>
          </a:p>
        </p:txBody>
      </p:sp>
      <p:sp>
        <p:nvSpPr>
          <p:cNvPr id="17" name="TextBox 16"/>
          <p:cNvSpPr txBox="1"/>
          <p:nvPr/>
        </p:nvSpPr>
        <p:spPr>
          <a:xfrm>
            <a:off x="3459740" y="5703856"/>
            <a:ext cx="3891238" cy="646331"/>
          </a:xfrm>
          <a:prstGeom prst="rect">
            <a:avLst/>
          </a:prstGeom>
          <a:noFill/>
        </p:spPr>
        <p:txBody>
          <a:bodyPr wrap="square" rtlCol="0">
            <a:spAutoFit/>
          </a:bodyPr>
          <a:lstStyle/>
          <a:p>
            <a:pPr algn="ctr"/>
            <a:r>
              <a:rPr lang="en-GB" dirty="0" smtClean="0"/>
              <a:t>Which means we have a one-to-many relationship here</a:t>
            </a:r>
            <a:endParaRPr lang="en-GB" dirty="0"/>
          </a:p>
        </p:txBody>
      </p:sp>
    </p:spTree>
    <p:extLst>
      <p:ext uri="{BB962C8B-B14F-4D97-AF65-F5344CB8AC3E}">
        <p14:creationId xmlns:p14="http://schemas.microsoft.com/office/powerpoint/2010/main" val="120425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xit" presetSubtype="0" fill="hold" grpId="0" nodeType="afterEffect">
                                  <p:stCondLst>
                                    <p:cond delay="0"/>
                                  </p:stCondLst>
                                  <p:childTnLst>
                                    <p:animEffect transition="out" filter="fade">
                                      <p:cBhvr>
                                        <p:cTn id="10" dur="500"/>
                                        <p:tgtEl>
                                          <p:spTgt spid="25"/>
                                        </p:tgtEl>
                                      </p:cBhvr>
                                    </p:animEffect>
                                    <p:set>
                                      <p:cBhvr>
                                        <p:cTn id="11" dur="1" fill="hold">
                                          <p:stCondLst>
                                            <p:cond delay="499"/>
                                          </p:stCondLst>
                                        </p:cTn>
                                        <p:tgtEl>
                                          <p:spTgt spid="2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par>
                          <p:cTn id="17" fill="hold">
                            <p:stCondLst>
                              <p:cond delay="500"/>
                            </p:stCondLst>
                            <p:childTnLst>
                              <p:par>
                                <p:cTn id="18" presetID="10" presetClass="exit" presetSubtype="0" fill="hold" grpId="0" nodeType="afterEffect">
                                  <p:stCondLst>
                                    <p:cond delay="0"/>
                                  </p:stCondLst>
                                  <p:childTnLst>
                                    <p:animEffect transition="out" filter="fade">
                                      <p:cBhvr>
                                        <p:cTn id="19" dur="500"/>
                                        <p:tgtEl>
                                          <p:spTgt spid="26"/>
                                        </p:tgtEl>
                                      </p:cBhvr>
                                    </p:animEffect>
                                    <p:set>
                                      <p:cBhvr>
                                        <p:cTn id="20" dur="1" fill="hold">
                                          <p:stCondLst>
                                            <p:cond delay="499"/>
                                          </p:stCondLst>
                                        </p:cTn>
                                        <p:tgtEl>
                                          <p:spTgt spid="2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xit" presetSubtype="0" fill="hold" grpId="1" nodeType="withEffect">
                                  <p:stCondLst>
                                    <p:cond delay="0"/>
                                  </p:stCondLst>
                                  <p:childTnLst>
                                    <p:animEffect transition="out" filter="fade">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500"/>
                                        <p:tgtEl>
                                          <p:spTgt spid="24"/>
                                        </p:tgtEl>
                                      </p:cBhvr>
                                    </p:animEffect>
                                    <p:set>
                                      <p:cBhvr>
                                        <p:cTn id="31"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P spid="25" grpId="0"/>
      <p:bldP spid="26" grpId="0"/>
      <p:bldP spid="15" grpId="0"/>
      <p:bldP spid="15" grpId="1"/>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191"/>
            <a:ext cx="6019800" cy="920751"/>
          </a:xfrm>
        </p:spPr>
        <p:txBody>
          <a:bodyPr>
            <a:normAutofit fontScale="90000"/>
          </a:bodyPr>
          <a:lstStyle/>
          <a:p>
            <a:r>
              <a:rPr lang="en-GB" dirty="0" smtClean="0">
                <a:latin typeface="LEMON MILK" panose="00000500000000000000" pitchFamily="50" charset="0"/>
              </a:rPr>
              <a:t>A Worked </a:t>
            </a:r>
            <a:r>
              <a:rPr lang="en-GB" dirty="0">
                <a:latin typeface="LEMON MILK" panose="00000500000000000000" pitchFamily="50" charset="0"/>
              </a:rPr>
              <a:t>Example</a:t>
            </a:r>
          </a:p>
        </p:txBody>
      </p:sp>
      <p:graphicFrame>
        <p:nvGraphicFramePr>
          <p:cNvPr id="5" name="Content Placeholder 3"/>
          <p:cNvGraphicFramePr>
            <a:graphicFrameLocks/>
          </p:cNvGraphicFramePr>
          <p:nvPr>
            <p:extLst>
              <p:ext uri="{D42A27DB-BD31-4B8C-83A1-F6EECF244321}">
                <p14:modId xmlns:p14="http://schemas.microsoft.com/office/powerpoint/2010/main" val="3393638765"/>
              </p:ext>
            </p:extLst>
          </p:nvPr>
        </p:nvGraphicFramePr>
        <p:xfrm>
          <a:off x="6985415" y="1547891"/>
          <a:ext cx="4702916" cy="2701407"/>
        </p:xfrm>
        <a:graphic>
          <a:graphicData uri="http://schemas.openxmlformats.org/drawingml/2006/table">
            <a:tbl>
              <a:tblPr firstRow="1" bandRow="1">
                <a:tableStyleId>{5C22544A-7EE6-4342-B048-85BDC9FD1C3A}</a:tableStyleId>
              </a:tblPr>
              <a:tblGrid>
                <a:gridCol w="1078906">
                  <a:extLst>
                    <a:ext uri="{9D8B030D-6E8A-4147-A177-3AD203B41FA5}">
                      <a16:colId xmlns:a16="http://schemas.microsoft.com/office/drawing/2014/main" xmlns="" val="2568536262"/>
                    </a:ext>
                  </a:extLst>
                </a:gridCol>
                <a:gridCol w="1272552">
                  <a:extLst>
                    <a:ext uri="{9D8B030D-6E8A-4147-A177-3AD203B41FA5}">
                      <a16:colId xmlns:a16="http://schemas.microsoft.com/office/drawing/2014/main" xmlns="" val="2270930716"/>
                    </a:ext>
                  </a:extLst>
                </a:gridCol>
                <a:gridCol w="1175729">
                  <a:extLst>
                    <a:ext uri="{9D8B030D-6E8A-4147-A177-3AD203B41FA5}">
                      <a16:colId xmlns:a16="http://schemas.microsoft.com/office/drawing/2014/main" xmlns="" val="4252788010"/>
                    </a:ext>
                  </a:extLst>
                </a:gridCol>
                <a:gridCol w="1175729">
                  <a:extLst>
                    <a:ext uri="{9D8B030D-6E8A-4147-A177-3AD203B41FA5}">
                      <a16:colId xmlns:a16="http://schemas.microsoft.com/office/drawing/2014/main" xmlns="" val="1763330310"/>
                    </a:ext>
                  </a:extLst>
                </a:gridCol>
              </a:tblGrid>
              <a:tr h="491064">
                <a:tc>
                  <a:txBody>
                    <a:bodyPr/>
                    <a:lstStyle/>
                    <a:p>
                      <a:r>
                        <a:rPr lang="en-GB" dirty="0" err="1"/>
                        <a:t>patientID</a:t>
                      </a:r>
                      <a:endParaRPr lang="en-GB" dirty="0"/>
                    </a:p>
                  </a:txBody>
                  <a:tcPr/>
                </a:tc>
                <a:tc>
                  <a:txBody>
                    <a:bodyPr/>
                    <a:lstStyle/>
                    <a:p>
                      <a:r>
                        <a:rPr lang="en-GB" dirty="0" err="1"/>
                        <a:t>FirstName</a:t>
                      </a:r>
                      <a:endParaRPr lang="en-GB" dirty="0"/>
                    </a:p>
                  </a:txBody>
                  <a:tcPr/>
                </a:tc>
                <a:tc>
                  <a:txBody>
                    <a:bodyPr/>
                    <a:lstStyle/>
                    <a:p>
                      <a:r>
                        <a:rPr lang="en-GB" dirty="0"/>
                        <a:t>Age</a:t>
                      </a:r>
                    </a:p>
                  </a:txBody>
                  <a:tcPr/>
                </a:tc>
                <a:tc>
                  <a:txBody>
                    <a:bodyPr/>
                    <a:lstStyle/>
                    <a:p>
                      <a:r>
                        <a:rPr lang="en-GB" dirty="0" err="1"/>
                        <a:t>Alergins</a:t>
                      </a:r>
                      <a:endParaRPr lang="en-GB" dirty="0"/>
                    </a:p>
                  </a:txBody>
                  <a:tcPr/>
                </a:tc>
                <a:extLst>
                  <a:ext uri="{0D108BD9-81ED-4DB2-BD59-A6C34878D82A}">
                    <a16:rowId xmlns:a16="http://schemas.microsoft.com/office/drawing/2014/main" xmlns="" val="458902568"/>
                  </a:ext>
                </a:extLst>
              </a:tr>
              <a:tr h="736781">
                <a:tc>
                  <a:txBody>
                    <a:bodyPr/>
                    <a:lstStyle/>
                    <a:p>
                      <a:r>
                        <a:rPr lang="en-GB" dirty="0"/>
                        <a:t>0001</a:t>
                      </a:r>
                    </a:p>
                  </a:txBody>
                  <a:tcPr/>
                </a:tc>
                <a:tc>
                  <a:txBody>
                    <a:bodyPr/>
                    <a:lstStyle/>
                    <a:p>
                      <a:r>
                        <a:rPr lang="en-GB" dirty="0"/>
                        <a:t>Peter</a:t>
                      </a:r>
                    </a:p>
                  </a:txBody>
                  <a:tcPr/>
                </a:tc>
                <a:tc>
                  <a:txBody>
                    <a:bodyPr/>
                    <a:lstStyle/>
                    <a:p>
                      <a:r>
                        <a:rPr lang="en-GB" dirty="0"/>
                        <a:t>15</a:t>
                      </a:r>
                    </a:p>
                  </a:txBody>
                  <a:tcPr/>
                </a:tc>
                <a:tc>
                  <a:txBody>
                    <a:bodyPr/>
                    <a:lstStyle/>
                    <a:p>
                      <a:r>
                        <a:rPr lang="en-GB" dirty="0"/>
                        <a:t>None</a:t>
                      </a:r>
                    </a:p>
                  </a:txBody>
                  <a:tcPr/>
                </a:tc>
                <a:extLst>
                  <a:ext uri="{0D108BD9-81ED-4DB2-BD59-A6C34878D82A}">
                    <a16:rowId xmlns:a16="http://schemas.microsoft.com/office/drawing/2014/main" xmlns="" val="1884082771"/>
                  </a:ext>
                </a:extLst>
              </a:tr>
              <a:tr h="736781">
                <a:tc>
                  <a:txBody>
                    <a:bodyPr/>
                    <a:lstStyle/>
                    <a:p>
                      <a:r>
                        <a:rPr lang="en-GB" dirty="0"/>
                        <a:t>0002</a:t>
                      </a:r>
                    </a:p>
                  </a:txBody>
                  <a:tcPr/>
                </a:tc>
                <a:tc>
                  <a:txBody>
                    <a:bodyPr/>
                    <a:lstStyle/>
                    <a:p>
                      <a:r>
                        <a:rPr lang="en-GB" dirty="0"/>
                        <a:t>Stewart</a:t>
                      </a:r>
                    </a:p>
                  </a:txBody>
                  <a:tcPr/>
                </a:tc>
                <a:tc>
                  <a:txBody>
                    <a:bodyPr/>
                    <a:lstStyle/>
                    <a:p>
                      <a:r>
                        <a:rPr lang="en-GB" dirty="0"/>
                        <a:t>19</a:t>
                      </a:r>
                    </a:p>
                  </a:txBody>
                  <a:tcPr/>
                </a:tc>
                <a:tc>
                  <a:txBody>
                    <a:bodyPr/>
                    <a:lstStyle/>
                    <a:p>
                      <a:r>
                        <a:rPr lang="en-GB" dirty="0"/>
                        <a:t>Peanuts, Gluten</a:t>
                      </a:r>
                    </a:p>
                  </a:txBody>
                  <a:tcPr/>
                </a:tc>
                <a:extLst>
                  <a:ext uri="{0D108BD9-81ED-4DB2-BD59-A6C34878D82A}">
                    <a16:rowId xmlns:a16="http://schemas.microsoft.com/office/drawing/2014/main" xmlns="" val="3492374102"/>
                  </a:ext>
                </a:extLst>
              </a:tr>
              <a:tr h="736781">
                <a:tc>
                  <a:txBody>
                    <a:bodyPr/>
                    <a:lstStyle/>
                    <a:p>
                      <a:r>
                        <a:rPr lang="en-GB" dirty="0"/>
                        <a:t>0003</a:t>
                      </a:r>
                    </a:p>
                  </a:txBody>
                  <a:tcPr/>
                </a:tc>
                <a:tc>
                  <a:txBody>
                    <a:bodyPr/>
                    <a:lstStyle/>
                    <a:p>
                      <a:r>
                        <a:rPr lang="en-GB" dirty="0"/>
                        <a:t>Tara</a:t>
                      </a:r>
                    </a:p>
                  </a:txBody>
                  <a:tcPr/>
                </a:tc>
                <a:tc>
                  <a:txBody>
                    <a:bodyPr/>
                    <a:lstStyle/>
                    <a:p>
                      <a:r>
                        <a:rPr lang="en-GB" dirty="0"/>
                        <a:t>14</a:t>
                      </a:r>
                    </a:p>
                  </a:txBody>
                  <a:tcPr/>
                </a:tc>
                <a:tc>
                  <a:txBody>
                    <a:bodyPr/>
                    <a:lstStyle/>
                    <a:p>
                      <a:r>
                        <a:rPr lang="en-GB" dirty="0"/>
                        <a:t>None</a:t>
                      </a:r>
                    </a:p>
                  </a:txBody>
                  <a:tcPr/>
                </a:tc>
                <a:extLst>
                  <a:ext uri="{0D108BD9-81ED-4DB2-BD59-A6C34878D82A}">
                    <a16:rowId xmlns:a16="http://schemas.microsoft.com/office/drawing/2014/main" xmlns="" val="3292613783"/>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534247417"/>
              </p:ext>
            </p:extLst>
          </p:nvPr>
        </p:nvGraphicFramePr>
        <p:xfrm>
          <a:off x="379995" y="1690688"/>
          <a:ext cx="3805005" cy="2701407"/>
        </p:xfrm>
        <a:graphic>
          <a:graphicData uri="http://schemas.openxmlformats.org/drawingml/2006/table">
            <a:tbl>
              <a:tblPr firstRow="1" bandRow="1">
                <a:tableStyleId>{5C22544A-7EE6-4342-B048-85BDC9FD1C3A}</a:tableStyleId>
              </a:tblPr>
              <a:tblGrid>
                <a:gridCol w="1163886">
                  <a:extLst>
                    <a:ext uri="{9D8B030D-6E8A-4147-A177-3AD203B41FA5}">
                      <a16:colId xmlns:a16="http://schemas.microsoft.com/office/drawing/2014/main" xmlns="" val="2568536262"/>
                    </a:ext>
                  </a:extLst>
                </a:gridCol>
                <a:gridCol w="1372784">
                  <a:extLst>
                    <a:ext uri="{9D8B030D-6E8A-4147-A177-3AD203B41FA5}">
                      <a16:colId xmlns:a16="http://schemas.microsoft.com/office/drawing/2014/main" xmlns="" val="2270930716"/>
                    </a:ext>
                  </a:extLst>
                </a:gridCol>
                <a:gridCol w="1268335">
                  <a:extLst>
                    <a:ext uri="{9D8B030D-6E8A-4147-A177-3AD203B41FA5}">
                      <a16:colId xmlns:a16="http://schemas.microsoft.com/office/drawing/2014/main" xmlns="" val="4252788010"/>
                    </a:ext>
                  </a:extLst>
                </a:gridCol>
              </a:tblGrid>
              <a:tr h="491064">
                <a:tc>
                  <a:txBody>
                    <a:bodyPr/>
                    <a:lstStyle/>
                    <a:p>
                      <a:r>
                        <a:rPr lang="en-GB" dirty="0" err="1"/>
                        <a:t>doctorID</a:t>
                      </a:r>
                      <a:endParaRPr lang="en-GB" dirty="0"/>
                    </a:p>
                  </a:txBody>
                  <a:tcPr/>
                </a:tc>
                <a:tc>
                  <a:txBody>
                    <a:bodyPr/>
                    <a:lstStyle/>
                    <a:p>
                      <a:r>
                        <a:rPr lang="en-GB" dirty="0" err="1"/>
                        <a:t>FirstName</a:t>
                      </a:r>
                      <a:endParaRPr lang="en-GB" dirty="0"/>
                    </a:p>
                  </a:txBody>
                  <a:tcPr/>
                </a:tc>
                <a:tc>
                  <a:txBody>
                    <a:bodyPr/>
                    <a:lstStyle/>
                    <a:p>
                      <a:r>
                        <a:rPr lang="en-GB" dirty="0"/>
                        <a:t>Location</a:t>
                      </a:r>
                    </a:p>
                  </a:txBody>
                  <a:tcPr/>
                </a:tc>
                <a:extLst>
                  <a:ext uri="{0D108BD9-81ED-4DB2-BD59-A6C34878D82A}">
                    <a16:rowId xmlns:a16="http://schemas.microsoft.com/office/drawing/2014/main" xmlns="" val="458902568"/>
                  </a:ext>
                </a:extLst>
              </a:tr>
              <a:tr h="736781">
                <a:tc>
                  <a:txBody>
                    <a:bodyPr/>
                    <a:lstStyle/>
                    <a:p>
                      <a:r>
                        <a:rPr lang="en-GB" dirty="0"/>
                        <a:t>A</a:t>
                      </a:r>
                    </a:p>
                  </a:txBody>
                  <a:tcPr/>
                </a:tc>
                <a:tc>
                  <a:txBody>
                    <a:bodyPr/>
                    <a:lstStyle/>
                    <a:p>
                      <a:r>
                        <a:rPr lang="en-GB" dirty="0"/>
                        <a:t>Dr Wilson</a:t>
                      </a:r>
                    </a:p>
                  </a:txBody>
                  <a:tcPr/>
                </a:tc>
                <a:tc>
                  <a:txBody>
                    <a:bodyPr/>
                    <a:lstStyle/>
                    <a:p>
                      <a:r>
                        <a:rPr lang="en-GB" dirty="0"/>
                        <a:t>Fermanagh</a:t>
                      </a:r>
                    </a:p>
                  </a:txBody>
                  <a:tcPr/>
                </a:tc>
                <a:extLst>
                  <a:ext uri="{0D108BD9-81ED-4DB2-BD59-A6C34878D82A}">
                    <a16:rowId xmlns:a16="http://schemas.microsoft.com/office/drawing/2014/main" xmlns="" val="1884082771"/>
                  </a:ext>
                </a:extLst>
              </a:tr>
              <a:tr h="736781">
                <a:tc>
                  <a:txBody>
                    <a:bodyPr/>
                    <a:lstStyle/>
                    <a:p>
                      <a:r>
                        <a:rPr lang="en-GB" dirty="0"/>
                        <a:t>B</a:t>
                      </a:r>
                    </a:p>
                  </a:txBody>
                  <a:tcPr/>
                </a:tc>
                <a:tc>
                  <a:txBody>
                    <a:bodyPr/>
                    <a:lstStyle/>
                    <a:p>
                      <a:r>
                        <a:rPr lang="en-GB" dirty="0"/>
                        <a:t>Dr</a:t>
                      </a:r>
                      <a:r>
                        <a:rPr lang="en-GB" baseline="0" dirty="0"/>
                        <a:t> Stewart</a:t>
                      </a:r>
                      <a:endParaRPr lang="en-GB" dirty="0"/>
                    </a:p>
                  </a:txBody>
                  <a:tcPr/>
                </a:tc>
                <a:tc>
                  <a:txBody>
                    <a:bodyPr/>
                    <a:lstStyle/>
                    <a:p>
                      <a:r>
                        <a:rPr lang="en-GB" dirty="0"/>
                        <a:t>Tyrone</a:t>
                      </a:r>
                    </a:p>
                  </a:txBody>
                  <a:tcPr/>
                </a:tc>
                <a:extLst>
                  <a:ext uri="{0D108BD9-81ED-4DB2-BD59-A6C34878D82A}">
                    <a16:rowId xmlns:a16="http://schemas.microsoft.com/office/drawing/2014/main" xmlns="" val="3492374102"/>
                  </a:ext>
                </a:extLst>
              </a:tr>
              <a:tr h="736781">
                <a:tc>
                  <a:txBody>
                    <a:bodyPr/>
                    <a:lstStyle/>
                    <a:p>
                      <a:r>
                        <a:rPr lang="en-GB" dirty="0"/>
                        <a:t>C</a:t>
                      </a:r>
                    </a:p>
                  </a:txBody>
                  <a:tcPr/>
                </a:tc>
                <a:tc>
                  <a:txBody>
                    <a:bodyPr/>
                    <a:lstStyle/>
                    <a:p>
                      <a:r>
                        <a:rPr lang="en-GB" dirty="0"/>
                        <a:t>Dr</a:t>
                      </a:r>
                      <a:r>
                        <a:rPr lang="en-GB" baseline="0" dirty="0"/>
                        <a:t> Malone</a:t>
                      </a:r>
                      <a:endParaRPr lang="en-GB" dirty="0"/>
                    </a:p>
                  </a:txBody>
                  <a:tcPr/>
                </a:tc>
                <a:tc>
                  <a:txBody>
                    <a:bodyPr/>
                    <a:lstStyle/>
                    <a:p>
                      <a:r>
                        <a:rPr lang="en-GB" dirty="0"/>
                        <a:t>Antrim</a:t>
                      </a:r>
                    </a:p>
                  </a:txBody>
                  <a:tcPr/>
                </a:tc>
                <a:extLst>
                  <a:ext uri="{0D108BD9-81ED-4DB2-BD59-A6C34878D82A}">
                    <a16:rowId xmlns:a16="http://schemas.microsoft.com/office/drawing/2014/main" xmlns="" val="3292613783"/>
                  </a:ext>
                </a:extLst>
              </a:tr>
            </a:tbl>
          </a:graphicData>
        </a:graphic>
      </p:graphicFrame>
      <p:cxnSp>
        <p:nvCxnSpPr>
          <p:cNvPr id="12" name="Straight Connector 11"/>
          <p:cNvCxnSpPr/>
          <p:nvPr/>
        </p:nvCxnSpPr>
        <p:spPr>
          <a:xfrm>
            <a:off x="4184999" y="2898594"/>
            <a:ext cx="2800416"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202828" y="2483411"/>
            <a:ext cx="404812" cy="369332"/>
          </a:xfrm>
          <a:prstGeom prst="rect">
            <a:avLst/>
          </a:prstGeom>
          <a:noFill/>
        </p:spPr>
        <p:txBody>
          <a:bodyPr wrap="square" rtlCol="0">
            <a:spAutoFit/>
          </a:bodyPr>
          <a:lstStyle/>
          <a:p>
            <a:r>
              <a:rPr lang="en-GB" dirty="0" smtClean="0"/>
              <a:t>1</a:t>
            </a:r>
            <a:endParaRPr lang="en-GB" dirty="0"/>
          </a:p>
        </p:txBody>
      </p:sp>
      <p:sp>
        <p:nvSpPr>
          <p:cNvPr id="19" name="TextBox 18"/>
          <p:cNvSpPr txBox="1"/>
          <p:nvPr/>
        </p:nvSpPr>
        <p:spPr>
          <a:xfrm>
            <a:off x="6535261" y="2475793"/>
            <a:ext cx="404812" cy="369332"/>
          </a:xfrm>
          <a:prstGeom prst="rect">
            <a:avLst/>
          </a:prstGeom>
          <a:noFill/>
        </p:spPr>
        <p:txBody>
          <a:bodyPr wrap="square" rtlCol="0">
            <a:spAutoFit/>
          </a:bodyPr>
          <a:lstStyle/>
          <a:p>
            <a:r>
              <a:rPr lang="en-GB" dirty="0" smtClean="0"/>
              <a:t>∞</a:t>
            </a:r>
            <a:endParaRPr lang="en-GB" dirty="0"/>
          </a:p>
        </p:txBody>
      </p:sp>
      <p:sp>
        <p:nvSpPr>
          <p:cNvPr id="17" name="TextBox 16"/>
          <p:cNvSpPr txBox="1"/>
          <p:nvPr/>
        </p:nvSpPr>
        <p:spPr>
          <a:xfrm>
            <a:off x="1631978" y="4744281"/>
            <a:ext cx="3891238" cy="646331"/>
          </a:xfrm>
          <a:prstGeom prst="rect">
            <a:avLst/>
          </a:prstGeom>
          <a:noFill/>
        </p:spPr>
        <p:txBody>
          <a:bodyPr wrap="square" rtlCol="0">
            <a:spAutoFit/>
          </a:bodyPr>
          <a:lstStyle/>
          <a:p>
            <a:pPr algn="ctr"/>
            <a:r>
              <a:rPr lang="en-GB" dirty="0" smtClean="0"/>
              <a:t>This is a common way of representing a one-to-many relationship</a:t>
            </a:r>
            <a:endParaRPr lang="en-GB" dirty="0"/>
          </a:p>
        </p:txBody>
      </p:sp>
      <p:sp>
        <p:nvSpPr>
          <p:cNvPr id="13" name="TextBox 12"/>
          <p:cNvSpPr txBox="1"/>
          <p:nvPr/>
        </p:nvSpPr>
        <p:spPr>
          <a:xfrm>
            <a:off x="6089678" y="4961605"/>
            <a:ext cx="3891238" cy="646331"/>
          </a:xfrm>
          <a:prstGeom prst="rect">
            <a:avLst/>
          </a:prstGeom>
          <a:noFill/>
        </p:spPr>
        <p:txBody>
          <a:bodyPr wrap="square" rtlCol="0">
            <a:spAutoFit/>
          </a:bodyPr>
          <a:lstStyle/>
          <a:p>
            <a:pPr algn="ctr"/>
            <a:r>
              <a:rPr lang="en-GB" dirty="0" smtClean="0"/>
              <a:t>In some diagrams, you will see what is called a crows foot.</a:t>
            </a:r>
            <a:endParaRPr lang="en-GB" dirty="0"/>
          </a:p>
        </p:txBody>
      </p:sp>
      <p:sp>
        <p:nvSpPr>
          <p:cNvPr id="14" name="TextBox 13"/>
          <p:cNvSpPr txBox="1"/>
          <p:nvPr/>
        </p:nvSpPr>
        <p:spPr>
          <a:xfrm>
            <a:off x="5937278" y="680140"/>
            <a:ext cx="3891238" cy="646331"/>
          </a:xfrm>
          <a:prstGeom prst="rect">
            <a:avLst/>
          </a:prstGeom>
          <a:noFill/>
        </p:spPr>
        <p:txBody>
          <a:bodyPr wrap="square" rtlCol="0">
            <a:spAutoFit/>
          </a:bodyPr>
          <a:lstStyle/>
          <a:p>
            <a:pPr algn="ctr"/>
            <a:r>
              <a:rPr lang="en-GB" dirty="0" smtClean="0"/>
              <a:t>So instead of the infinity sign, they use this symbol</a:t>
            </a:r>
            <a:endParaRPr lang="en-GB" dirty="0"/>
          </a:p>
        </p:txBody>
      </p:sp>
      <p:grpSp>
        <p:nvGrpSpPr>
          <p:cNvPr id="8" name="Group 7"/>
          <p:cNvGrpSpPr/>
          <p:nvPr/>
        </p:nvGrpSpPr>
        <p:grpSpPr>
          <a:xfrm>
            <a:off x="6684120" y="2626678"/>
            <a:ext cx="319123" cy="543832"/>
            <a:chOff x="6669882" y="3648658"/>
            <a:chExt cx="319123" cy="543832"/>
          </a:xfrm>
        </p:grpSpPr>
        <p:cxnSp>
          <p:nvCxnSpPr>
            <p:cNvPr id="18" name="Straight Connector 17"/>
            <p:cNvCxnSpPr/>
            <p:nvPr/>
          </p:nvCxnSpPr>
          <p:spPr>
            <a:xfrm flipV="1">
              <a:off x="6669882" y="3648658"/>
              <a:ext cx="315533" cy="2814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673472" y="3911049"/>
              <a:ext cx="315533" cy="2814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4949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xit" presetSubtype="0" fill="hold" grpId="1" nodeType="withEffect">
                                  <p:stCondLst>
                                    <p:cond delay="0"/>
                                  </p:stCondLst>
                                  <p:childTnLst>
                                    <p:animEffect transition="out" filter="fade">
                                      <p:cBhvr>
                                        <p:cTn id="14" dur="500"/>
                                        <p:tgtEl>
                                          <p:spTgt spid="17"/>
                                        </p:tgtEl>
                                      </p:cBhvr>
                                    </p:animEffect>
                                    <p:set>
                                      <p:cBhvr>
                                        <p:cTn id="15" dur="1" fill="hold">
                                          <p:stCondLst>
                                            <p:cond delay="499"/>
                                          </p:stCondLst>
                                        </p:cTn>
                                        <p:tgtEl>
                                          <p:spTgt spid="1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xit" presetSubtype="0" fill="hold" grpId="0" nodeType="withEffect">
                                  <p:stCondLst>
                                    <p:cond delay="0"/>
                                  </p:stCondLst>
                                  <p:childTnLst>
                                    <p:animEffect transition="out" filter="fade">
                                      <p:cBhvr>
                                        <p:cTn id="22" dur="500"/>
                                        <p:tgtEl>
                                          <p:spTgt spid="19"/>
                                        </p:tgtEl>
                                      </p:cBhvr>
                                    </p:animEffect>
                                    <p:set>
                                      <p:cBhvr>
                                        <p:cTn id="23" dur="1" fill="hold">
                                          <p:stCondLst>
                                            <p:cond delay="499"/>
                                          </p:stCondLst>
                                        </p:cTn>
                                        <p:tgtEl>
                                          <p:spTgt spid="19"/>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xit" presetSubtype="0" fill="hold" grpId="1" nodeType="withEffect">
                                  <p:stCondLst>
                                    <p:cond delay="0"/>
                                  </p:stCondLst>
                                  <p:childTnLst>
                                    <p:animEffect transition="out" filter="fade">
                                      <p:cBhvr>
                                        <p:cTn id="28" dur="500"/>
                                        <p:tgtEl>
                                          <p:spTgt spid="13"/>
                                        </p:tgtEl>
                                      </p:cBhvr>
                                    </p:animEffect>
                                    <p:set>
                                      <p:cBhvr>
                                        <p:cTn id="2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7" grpId="0"/>
      <p:bldP spid="17" grpId="1"/>
      <p:bldP spid="13" grpId="0"/>
      <p:bldP spid="13" grpId="1"/>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Why referential integrity is frequently ignored, yet important | Towards  Data Science">
            <a:extLst>
              <a:ext uri="{FF2B5EF4-FFF2-40B4-BE49-F238E27FC236}">
                <a16:creationId xmlns:a16="http://schemas.microsoft.com/office/drawing/2014/main" xmlns="" id="{C124E3A8-4BC9-45DE-9DB2-1BC7816E14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91" t="30959" b="859"/>
          <a:stretch/>
        </p:blipFill>
        <p:spPr bwMode="auto">
          <a:xfrm>
            <a:off x="-2392793" y="9"/>
            <a:ext cx="15589519" cy="7423149"/>
          </a:xfrm>
          <a:prstGeom prst="rect">
            <a:avLst/>
          </a:prstGeom>
          <a:noFill/>
          <a:extLst>
            <a:ext uri="{909E8E84-426E-40DD-AFC4-6F175D3DCCD1}">
              <a14:hiddenFill xmlns:a14="http://schemas.microsoft.com/office/drawing/2010/main">
                <a:solidFill>
                  <a:srgbClr val="FFFFFF"/>
                </a:solidFill>
              </a14:hiddenFill>
            </a:ext>
          </a:extLst>
        </p:spPr>
      </p:pic>
      <p:sp>
        <p:nvSpPr>
          <p:cNvPr id="5127" name="Rectangle 5126">
            <a:extLst>
              <a:ext uri="{FF2B5EF4-FFF2-40B4-BE49-F238E27FC236}">
                <a16:creationId xmlns:a16="http://schemas.microsoft.com/office/drawing/2014/main" xmlns="" id="{2B1D4F77-A17C-43D7-B7FA-545148E4E93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7492064" y="321176"/>
            <a:ext cx="4332307"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749985" y="640263"/>
            <a:ext cx="3759240" cy="1344975"/>
          </a:xfrm>
        </p:spPr>
        <p:txBody>
          <a:bodyPr>
            <a:normAutofit/>
          </a:bodyPr>
          <a:lstStyle/>
          <a:p>
            <a:r>
              <a:rPr lang="en-GB" sz="3400"/>
              <a:t>Enforcing Referential Integrity</a:t>
            </a:r>
          </a:p>
        </p:txBody>
      </p:sp>
      <p:sp>
        <p:nvSpPr>
          <p:cNvPr id="3" name="Content Placeholder 2"/>
          <p:cNvSpPr>
            <a:spLocks noGrp="1"/>
          </p:cNvSpPr>
          <p:nvPr>
            <p:ph idx="1"/>
          </p:nvPr>
        </p:nvSpPr>
        <p:spPr>
          <a:xfrm>
            <a:off x="7492063" y="2121762"/>
            <a:ext cx="4332308" cy="3917087"/>
          </a:xfrm>
        </p:spPr>
        <p:txBody>
          <a:bodyPr>
            <a:normAutofit/>
          </a:bodyPr>
          <a:lstStyle/>
          <a:p>
            <a:r>
              <a:rPr lang="en-GB" sz="2400" dirty="0"/>
              <a:t>Ensures data entered is consistent in both tables</a:t>
            </a:r>
          </a:p>
          <a:p>
            <a:r>
              <a:rPr lang="en-GB" sz="2400" dirty="0"/>
              <a:t>This feature can be applied to the relationship between the table</a:t>
            </a:r>
          </a:p>
          <a:p>
            <a:r>
              <a:rPr lang="en-GB" sz="2400" dirty="0"/>
              <a:t>It also ensures if the ‘parent’ table record is deleted, the records in the child table relating to the parent will also be deleted</a:t>
            </a:r>
          </a:p>
        </p:txBody>
      </p:sp>
    </p:spTree>
    <p:extLst>
      <p:ext uri="{BB962C8B-B14F-4D97-AF65-F5344CB8AC3E}">
        <p14:creationId xmlns:p14="http://schemas.microsoft.com/office/powerpoint/2010/main" val="94616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F68B3F68-107C-434F-AA38-110D5EA91B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AAD0DBB9-1A4B-4391-81D4-CB19F9AB91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063BBA22-50EA-4C4D-BE05-F1CE4E63AA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GB" sz="4000">
                <a:solidFill>
                  <a:srgbClr val="FFFFFF"/>
                </a:solidFill>
              </a:rPr>
              <a:t>Importing Data</a:t>
            </a:r>
          </a:p>
        </p:txBody>
      </p:sp>
      <p:graphicFrame>
        <p:nvGraphicFramePr>
          <p:cNvPr id="5" name="Content Placeholder 2">
            <a:extLst>
              <a:ext uri="{FF2B5EF4-FFF2-40B4-BE49-F238E27FC236}">
                <a16:creationId xmlns:a16="http://schemas.microsoft.com/office/drawing/2014/main" xmlns="" id="{2EC43DD6-616B-5EC9-06E1-DEDD19865931}"/>
              </a:ext>
            </a:extLst>
          </p:cNvPr>
          <p:cNvGraphicFramePr>
            <a:graphicFrameLocks noGrp="1"/>
          </p:cNvGraphicFramePr>
          <p:nvPr>
            <p:ph idx="1"/>
            <p:extLst>
              <p:ext uri="{D42A27DB-BD31-4B8C-83A1-F6EECF244321}">
                <p14:modId xmlns:p14="http://schemas.microsoft.com/office/powerpoint/2010/main" val="535921406"/>
              </p:ext>
            </p:extLst>
          </p:nvPr>
        </p:nvGraphicFramePr>
        <p:xfrm>
          <a:off x="230910" y="2112579"/>
          <a:ext cx="11794836" cy="42050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31901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43502537"/>
              </p:ext>
            </p:extLst>
          </p:nvPr>
        </p:nvGraphicFramePr>
        <p:xfrm>
          <a:off x="0" y="0"/>
          <a:ext cx="12192000" cy="6858001"/>
        </p:xfrm>
        <a:graphic>
          <a:graphicData uri="http://schemas.openxmlformats.org/drawingml/2006/table">
            <a:tbl>
              <a:tblPr firstRow="1" bandRow="1">
                <a:tableStyleId>{5C22544A-7EE6-4342-B048-85BDC9FD1C3A}</a:tableStyleId>
              </a:tblPr>
              <a:tblGrid>
                <a:gridCol w="2582064">
                  <a:extLst>
                    <a:ext uri="{9D8B030D-6E8A-4147-A177-3AD203B41FA5}">
                      <a16:colId xmlns:a16="http://schemas.microsoft.com/office/drawing/2014/main" xmlns="" val="2697850372"/>
                    </a:ext>
                  </a:extLst>
                </a:gridCol>
                <a:gridCol w="9609936">
                  <a:extLst>
                    <a:ext uri="{9D8B030D-6E8A-4147-A177-3AD203B41FA5}">
                      <a16:colId xmlns:a16="http://schemas.microsoft.com/office/drawing/2014/main" xmlns="" val="3176755810"/>
                    </a:ext>
                  </a:extLst>
                </a:gridCol>
              </a:tblGrid>
              <a:tr h="782859">
                <a:tc>
                  <a:txBody>
                    <a:bodyPr/>
                    <a:lstStyle/>
                    <a:p>
                      <a:pPr marL="0" algn="l" defTabSz="914400" rtl="0" eaLnBrk="1" latinLnBrk="0" hangingPunct="1"/>
                      <a:r>
                        <a:rPr lang="en-GB" sz="1800" b="1" kern="1200" dirty="0">
                          <a:solidFill>
                            <a:schemeClr val="dk1"/>
                          </a:solidFill>
                          <a:latin typeface="Century Gothic" panose="020B0502020202020204" pitchFamily="34" charset="0"/>
                          <a:ea typeface="+mn-ea"/>
                          <a:cs typeface="+mn-cs"/>
                        </a:rPr>
                        <a:t>Text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r>
                        <a:rPr lang="en-GB" sz="2000" b="0" kern="1200" dirty="0">
                          <a:solidFill>
                            <a:schemeClr val="dk1"/>
                          </a:solidFill>
                          <a:latin typeface="+mn-lt"/>
                          <a:ea typeface="+mn-ea"/>
                          <a:cs typeface="+mn-cs"/>
                        </a:rPr>
                        <a:t>Mixture of text, numbers and symbols. Can store numbers that do not require calculations (such as</a:t>
                      </a:r>
                      <a:r>
                        <a:rPr lang="en-GB" sz="2000" b="0" kern="1200" baseline="0" dirty="0">
                          <a:solidFill>
                            <a:schemeClr val="dk1"/>
                          </a:solidFill>
                          <a:latin typeface="+mn-lt"/>
                          <a:ea typeface="+mn-ea"/>
                          <a:cs typeface="+mn-cs"/>
                        </a:rPr>
                        <a:t> phone number)</a:t>
                      </a:r>
                      <a:endParaRPr lang="en-GB" sz="2000" b="0" kern="1200" dirty="0">
                        <a:solidFill>
                          <a:schemeClr val="dk1"/>
                        </a:solidFill>
                        <a:latin typeface="+mn-lt"/>
                        <a:ea typeface="+mn-ea"/>
                        <a:cs typeface="+mn-cs"/>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274049012"/>
                  </a:ext>
                </a:extLst>
              </a:tr>
              <a:tr h="563678">
                <a:tc>
                  <a:txBody>
                    <a:bodyPr/>
                    <a:lstStyle/>
                    <a:p>
                      <a:r>
                        <a:rPr lang="en-GB" b="1" dirty="0">
                          <a:latin typeface="Century Gothic" panose="020B0502020202020204" pitchFamily="34" charset="0"/>
                        </a:rPr>
                        <a:t>Number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Numeric data that requires a mathematical</a:t>
                      </a:r>
                      <a:r>
                        <a:rPr lang="en-GB" sz="2000" baseline="0" dirty="0"/>
                        <a:t> calculation</a:t>
                      </a:r>
                      <a:endParaRPr lang="en-GB" sz="20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79495093"/>
                  </a:ext>
                </a:extLst>
              </a:tr>
              <a:tr h="563678">
                <a:tc>
                  <a:txBody>
                    <a:bodyPr/>
                    <a:lstStyle/>
                    <a:p>
                      <a:r>
                        <a:rPr lang="en-GB" b="1" dirty="0">
                          <a:latin typeface="Century Gothic" panose="020B0502020202020204" pitchFamily="34" charset="0"/>
                        </a:rPr>
                        <a:t>Date/Time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Dates and times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39647551"/>
                  </a:ext>
                </a:extLst>
              </a:tr>
              <a:tr h="563678">
                <a:tc>
                  <a:txBody>
                    <a:bodyPr/>
                    <a:lstStyle/>
                    <a:p>
                      <a:r>
                        <a:rPr lang="en-GB" b="1" dirty="0">
                          <a:latin typeface="Century Gothic" panose="020B0502020202020204" pitchFamily="34" charset="0"/>
                        </a:rPr>
                        <a:t>Currency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Monetary data (includes two decimal places)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82993025"/>
                  </a:ext>
                </a:extLst>
              </a:tr>
              <a:tr h="563678">
                <a:tc>
                  <a:txBody>
                    <a:bodyPr/>
                    <a:lstStyle/>
                    <a:p>
                      <a:r>
                        <a:rPr lang="en-GB" b="1" dirty="0">
                          <a:latin typeface="Century Gothic" panose="020B0502020202020204" pitchFamily="34" charset="0"/>
                        </a:rPr>
                        <a:t>Auto number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To create a key field, the computer generates sequential numbers</a:t>
                      </a:r>
                      <a:r>
                        <a:rPr lang="en-GB" sz="2000" baseline="0" dirty="0"/>
                        <a:t> automatically</a:t>
                      </a:r>
                      <a:endParaRPr lang="en-GB" sz="20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40868527"/>
                  </a:ext>
                </a:extLst>
              </a:tr>
              <a:tr h="563678">
                <a:tc>
                  <a:txBody>
                    <a:bodyPr/>
                    <a:lstStyle/>
                    <a:p>
                      <a:r>
                        <a:rPr lang="en-GB" b="1" dirty="0">
                          <a:latin typeface="Century Gothic" panose="020B0502020202020204" pitchFamily="34" charset="0"/>
                        </a:rPr>
                        <a:t>Yes/No</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Can be set to yes/no or True/false. Also known as a Boolean value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59469156"/>
                  </a:ext>
                </a:extLst>
              </a:tr>
              <a:tr h="782859">
                <a:tc>
                  <a:txBody>
                    <a:bodyPr/>
                    <a:lstStyle/>
                    <a:p>
                      <a:r>
                        <a:rPr lang="en-GB" b="1" dirty="0">
                          <a:latin typeface="Century Gothic" panose="020B0502020202020204" pitchFamily="34" charset="0"/>
                        </a:rPr>
                        <a:t>OLE Object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Object Linking and embedding. A file/object</a:t>
                      </a:r>
                      <a:r>
                        <a:rPr lang="en-GB" sz="2000" baseline="0" dirty="0"/>
                        <a:t> that has been created by software other than a database (i.e. word or spreadsheet document)</a:t>
                      </a:r>
                      <a:endParaRPr lang="en-GB" sz="20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51695030"/>
                  </a:ext>
                </a:extLst>
              </a:tr>
              <a:tr h="563678">
                <a:tc>
                  <a:txBody>
                    <a:bodyPr/>
                    <a:lstStyle/>
                    <a:p>
                      <a:r>
                        <a:rPr lang="en-GB" b="1" dirty="0">
                          <a:latin typeface="Century Gothic" panose="020B0502020202020204" pitchFamily="34" charset="0"/>
                        </a:rPr>
                        <a:t>Hyperlink</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Links to a web address (URL) or an email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27097513"/>
                  </a:ext>
                </a:extLst>
              </a:tr>
              <a:tr h="563678">
                <a:tc>
                  <a:txBody>
                    <a:bodyPr/>
                    <a:lstStyle/>
                    <a:p>
                      <a:r>
                        <a:rPr lang="en-GB" b="1" dirty="0">
                          <a:latin typeface="Century Gothic" panose="020B0502020202020204" pitchFamily="34" charset="0"/>
                        </a:rPr>
                        <a:t>Attachment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Files are attached to a record (i.e. image)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43989201"/>
                  </a:ext>
                </a:extLst>
              </a:tr>
              <a:tr h="563678">
                <a:tc>
                  <a:txBody>
                    <a:bodyPr/>
                    <a:lstStyle/>
                    <a:p>
                      <a:r>
                        <a:rPr lang="en-GB" b="1" dirty="0">
                          <a:latin typeface="Century Gothic" panose="020B0502020202020204" pitchFamily="34" charset="0"/>
                        </a:rPr>
                        <a:t>Calculated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For the result of a calculation produced form another field in the record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89421048"/>
                  </a:ext>
                </a:extLst>
              </a:tr>
              <a:tr h="782859">
                <a:tc>
                  <a:txBody>
                    <a:bodyPr/>
                    <a:lstStyle/>
                    <a:p>
                      <a:r>
                        <a:rPr lang="en-GB" b="1" dirty="0">
                          <a:latin typeface="Century Gothic" panose="020B0502020202020204" pitchFamily="34" charset="0"/>
                        </a:rPr>
                        <a:t>Lookup Wizard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GB" sz="2000" dirty="0"/>
                        <a:t>Creates a list of values. A value can be selected from a dropdown list and entered into the field.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52844102"/>
                  </a:ext>
                </a:extLst>
              </a:tr>
            </a:tbl>
          </a:graphicData>
        </a:graphic>
      </p:graphicFrame>
    </p:spTree>
    <p:extLst>
      <p:ext uri="{BB962C8B-B14F-4D97-AF65-F5344CB8AC3E}">
        <p14:creationId xmlns:p14="http://schemas.microsoft.com/office/powerpoint/2010/main" val="22069501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69940" y="365124"/>
            <a:ext cx="6172200" cy="1828800"/>
          </a:xfrm>
        </p:spPr>
        <p:txBody>
          <a:bodyPr>
            <a:normAutofit/>
          </a:bodyPr>
          <a:lstStyle/>
          <a:p>
            <a:r>
              <a:rPr lang="en-GB" dirty="0"/>
              <a:t>Data Validation</a:t>
            </a:r>
          </a:p>
        </p:txBody>
      </p:sp>
      <p:pic>
        <p:nvPicPr>
          <p:cNvPr id="5" name="Picture 4">
            <a:extLst>
              <a:ext uri="{FF2B5EF4-FFF2-40B4-BE49-F238E27FC236}">
                <a16:creationId xmlns:a16="http://schemas.microsoft.com/office/drawing/2014/main" xmlns="" id="{4F66419C-B5E9-4936-A7F3-8620BBB5F54E}"/>
              </a:ext>
            </a:extLst>
          </p:cNvPr>
          <p:cNvPicPr>
            <a:picLocks noChangeAspect="1"/>
          </p:cNvPicPr>
          <p:nvPr/>
        </p:nvPicPr>
        <p:blipFill rotWithShape="1">
          <a:blip r:embed="rId2">
            <a:extLst>
              <a:ext uri="{28A0092B-C50C-407E-A947-70E740481C1C}">
                <a14:useLocalDpi xmlns:a14="http://schemas.microsoft.com/office/drawing/2010/main" val="0"/>
              </a:ext>
            </a:extLst>
          </a:blip>
          <a:srcRect l="25713"/>
          <a:stretch/>
        </p:blipFill>
        <p:spPr>
          <a:xfrm>
            <a:off x="20" y="10"/>
            <a:ext cx="4639713" cy="6857990"/>
          </a:xfrm>
          <a:prstGeom prst="rect">
            <a:avLst/>
          </a:prstGeom>
        </p:spPr>
      </p:pic>
      <p:sp>
        <p:nvSpPr>
          <p:cNvPr id="3" name="Content Placeholder 2"/>
          <p:cNvSpPr>
            <a:spLocks noGrp="1"/>
          </p:cNvSpPr>
          <p:nvPr>
            <p:ph idx="1"/>
          </p:nvPr>
        </p:nvSpPr>
        <p:spPr>
          <a:xfrm>
            <a:off x="5069939" y="1828800"/>
            <a:ext cx="6902985" cy="4447794"/>
          </a:xfrm>
        </p:spPr>
        <p:txBody>
          <a:bodyPr>
            <a:normAutofit/>
          </a:bodyPr>
          <a:lstStyle/>
          <a:p>
            <a:r>
              <a:rPr lang="en-GB" sz="1800" dirty="0">
                <a:solidFill>
                  <a:srgbClr val="3FB34F"/>
                </a:solidFill>
              </a:rPr>
              <a:t>A computer needs to automatically check data at the input stage to ensure it is </a:t>
            </a:r>
            <a:r>
              <a:rPr lang="en-GB" sz="1800" b="1" dirty="0">
                <a:solidFill>
                  <a:srgbClr val="3FB34F"/>
                </a:solidFill>
              </a:rPr>
              <a:t>reasonable</a:t>
            </a:r>
            <a:r>
              <a:rPr lang="en-GB" sz="1800" dirty="0">
                <a:solidFill>
                  <a:srgbClr val="3FB34F"/>
                </a:solidFill>
              </a:rPr>
              <a:t>,</a:t>
            </a:r>
            <a:r>
              <a:rPr lang="en-GB" sz="1800" b="1" dirty="0">
                <a:solidFill>
                  <a:srgbClr val="3FB34F"/>
                </a:solidFill>
              </a:rPr>
              <a:t> sensible</a:t>
            </a:r>
            <a:r>
              <a:rPr lang="en-GB" sz="1800" dirty="0">
                <a:solidFill>
                  <a:srgbClr val="3FB34F"/>
                </a:solidFill>
              </a:rPr>
              <a:t> and </a:t>
            </a:r>
            <a:r>
              <a:rPr lang="en-GB" sz="1800" b="1" dirty="0">
                <a:solidFill>
                  <a:srgbClr val="3FB34F"/>
                </a:solidFill>
              </a:rPr>
              <a:t>within acceptable limits</a:t>
            </a:r>
            <a:r>
              <a:rPr lang="en-GB" sz="1800" dirty="0">
                <a:solidFill>
                  <a:srgbClr val="3FB34F"/>
                </a:solidFill>
              </a:rPr>
              <a:t>.</a:t>
            </a:r>
          </a:p>
          <a:p>
            <a:endParaRPr lang="en-GB" sz="1800" b="1" dirty="0">
              <a:solidFill>
                <a:srgbClr val="3FB34F"/>
              </a:solidFill>
            </a:endParaRPr>
          </a:p>
          <a:p>
            <a:r>
              <a:rPr lang="en-GB" sz="1800" dirty="0">
                <a:solidFill>
                  <a:srgbClr val="3FB34F"/>
                </a:solidFill>
              </a:rPr>
              <a:t>Data validation guarantees that data is </a:t>
            </a:r>
            <a:r>
              <a:rPr lang="en-GB" sz="1800" b="1" dirty="0">
                <a:solidFill>
                  <a:srgbClr val="3FB34F"/>
                </a:solidFill>
              </a:rPr>
              <a:t>present</a:t>
            </a:r>
            <a:r>
              <a:rPr lang="en-GB" sz="1800" dirty="0">
                <a:solidFill>
                  <a:srgbClr val="3FB34F"/>
                </a:solidFill>
              </a:rPr>
              <a:t> and the correct </a:t>
            </a:r>
            <a:r>
              <a:rPr lang="en-GB" sz="1800" b="1" dirty="0">
                <a:solidFill>
                  <a:srgbClr val="3FB34F"/>
                </a:solidFill>
              </a:rPr>
              <a:t>type</a:t>
            </a:r>
            <a:r>
              <a:rPr lang="en-GB" sz="1800" dirty="0">
                <a:solidFill>
                  <a:srgbClr val="3FB34F"/>
                </a:solidFill>
              </a:rPr>
              <a:t>,</a:t>
            </a:r>
            <a:r>
              <a:rPr lang="en-GB" sz="1800" b="1" dirty="0">
                <a:solidFill>
                  <a:srgbClr val="3FB34F"/>
                </a:solidFill>
              </a:rPr>
              <a:t> range</a:t>
            </a:r>
            <a:r>
              <a:rPr lang="en-GB" sz="1800" dirty="0">
                <a:solidFill>
                  <a:srgbClr val="3FB34F"/>
                </a:solidFill>
              </a:rPr>
              <a:t> or </a:t>
            </a:r>
            <a:r>
              <a:rPr lang="en-GB" sz="1800" b="1" dirty="0">
                <a:solidFill>
                  <a:srgbClr val="3FB34F"/>
                </a:solidFill>
              </a:rPr>
              <a:t>length</a:t>
            </a:r>
            <a:r>
              <a:rPr lang="en-GB" sz="1800" dirty="0">
                <a:solidFill>
                  <a:srgbClr val="3FB34F"/>
                </a:solidFill>
              </a:rPr>
              <a:t>.</a:t>
            </a:r>
          </a:p>
          <a:p>
            <a:endParaRPr lang="en-GB" sz="1800" dirty="0"/>
          </a:p>
          <a:p>
            <a:r>
              <a:rPr lang="en-GB" sz="1800" dirty="0"/>
              <a:t>Data that does not conform to specified rules is rejected.</a:t>
            </a:r>
          </a:p>
          <a:p>
            <a:r>
              <a:rPr lang="en-GB" sz="1800" dirty="0"/>
              <a:t>A number of data validation checks exist:</a:t>
            </a:r>
          </a:p>
          <a:p>
            <a:pPr lvl="1"/>
            <a:r>
              <a:rPr lang="en-GB" sz="1800" dirty="0"/>
              <a:t>Presence</a:t>
            </a:r>
          </a:p>
          <a:p>
            <a:pPr lvl="1"/>
            <a:r>
              <a:rPr lang="en-GB" sz="1800" dirty="0"/>
              <a:t>Length</a:t>
            </a:r>
          </a:p>
          <a:p>
            <a:pPr lvl="1"/>
            <a:r>
              <a:rPr lang="en-GB" sz="1800" dirty="0"/>
              <a:t>Type</a:t>
            </a:r>
          </a:p>
          <a:p>
            <a:pPr lvl="1"/>
            <a:r>
              <a:rPr lang="en-GB" sz="1800" dirty="0"/>
              <a:t>Format</a:t>
            </a:r>
          </a:p>
          <a:p>
            <a:pPr lvl="1"/>
            <a:r>
              <a:rPr lang="en-GB" sz="1800" dirty="0"/>
              <a:t>Range</a:t>
            </a:r>
          </a:p>
        </p:txBody>
      </p:sp>
    </p:spTree>
    <p:extLst>
      <p:ext uri="{BB962C8B-B14F-4D97-AF65-F5344CB8AC3E}">
        <p14:creationId xmlns:p14="http://schemas.microsoft.com/office/powerpoint/2010/main" val="14186911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365125"/>
            <a:ext cx="9867900" cy="1325563"/>
          </a:xfrm>
        </p:spPr>
        <p:txBody>
          <a:bodyPr/>
          <a:lstStyle/>
          <a:p>
            <a:r>
              <a:rPr lang="en-GB" dirty="0">
                <a:latin typeface="LEMON MILK" panose="00000500000000000000" pitchFamily="50" charset="0"/>
              </a:rPr>
              <a:t>Presence Check</a:t>
            </a:r>
          </a:p>
        </p:txBody>
      </p:sp>
      <p:graphicFrame>
        <p:nvGraphicFramePr>
          <p:cNvPr id="7" name="Content Placeholder 2">
            <a:extLst>
              <a:ext uri="{FF2B5EF4-FFF2-40B4-BE49-F238E27FC236}">
                <a16:creationId xmlns:a16="http://schemas.microsoft.com/office/drawing/2014/main" xmlns="" id="{8B1A896F-EA22-43B4-43DC-C86DB66D87E8}"/>
              </a:ext>
            </a:extLst>
          </p:cNvPr>
          <p:cNvGraphicFramePr>
            <a:graphicFrameLocks noGrp="1"/>
          </p:cNvGraphicFramePr>
          <p:nvPr>
            <p:ph idx="1"/>
            <p:extLst>
              <p:ext uri="{D42A27DB-BD31-4B8C-83A1-F6EECF244321}">
                <p14:modId xmlns:p14="http://schemas.microsoft.com/office/powerpoint/2010/main" val="312479622"/>
              </p:ext>
            </p:extLst>
          </p:nvPr>
        </p:nvGraphicFramePr>
        <p:xfrm>
          <a:off x="358515" y="2061148"/>
          <a:ext cx="4992974"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rotWithShape="1">
          <a:blip r:embed="rId7"/>
          <a:srcRect l="21772" t="70338" r="47182" b="10810"/>
          <a:stretch/>
        </p:blipFill>
        <p:spPr>
          <a:xfrm>
            <a:off x="5850224" y="2427158"/>
            <a:ext cx="6088941" cy="2773180"/>
          </a:xfrm>
          <a:prstGeom prst="rect">
            <a:avLst/>
          </a:prstGeom>
        </p:spPr>
      </p:pic>
      <p:sp>
        <p:nvSpPr>
          <p:cNvPr id="5" name="Rectangle 4"/>
          <p:cNvSpPr/>
          <p:nvPr/>
        </p:nvSpPr>
        <p:spPr>
          <a:xfrm>
            <a:off x="5850224" y="2951813"/>
            <a:ext cx="6130977" cy="110927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170" name="Picture 2" descr="Check Animated Icon | Free interface Animated Icon"/>
          <p:cNvPicPr>
            <a:picLocks noChangeAspect="1" noChangeArrowheads="1" noCrop="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150" y="128588"/>
            <a:ext cx="156210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9907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LEMON MILK" panose="00000500000000000000" pitchFamily="50" charset="0"/>
              </a:rPr>
              <a:t>Length Check</a:t>
            </a:r>
          </a:p>
        </p:txBody>
      </p:sp>
      <p:sp>
        <p:nvSpPr>
          <p:cNvPr id="3" name="Content Placeholder 2"/>
          <p:cNvSpPr>
            <a:spLocks noGrp="1"/>
          </p:cNvSpPr>
          <p:nvPr>
            <p:ph idx="1"/>
          </p:nvPr>
        </p:nvSpPr>
        <p:spPr>
          <a:xfrm>
            <a:off x="400050" y="1825625"/>
            <a:ext cx="5491084" cy="3196067"/>
          </a:xfrm>
        </p:spPr>
        <p:txBody>
          <a:bodyPr/>
          <a:lstStyle/>
          <a:p>
            <a:pPr marL="0" indent="0">
              <a:buNone/>
            </a:pPr>
            <a:r>
              <a:rPr lang="en-GB" b="1" dirty="0"/>
              <a:t>A check that ensures data entered is no longer or shorter than a specified number of characters</a:t>
            </a:r>
          </a:p>
          <a:p>
            <a:endParaRPr lang="en-GB" dirty="0"/>
          </a:p>
          <a:p>
            <a:pPr marL="0" indent="0">
              <a:buNone/>
            </a:pPr>
            <a:r>
              <a:rPr lang="en-GB" dirty="0"/>
              <a:t>Uses </a:t>
            </a:r>
            <a:r>
              <a:rPr lang="en-GB" b="1" dirty="0"/>
              <a:t>Len</a:t>
            </a:r>
            <a:r>
              <a:rPr lang="en-GB" dirty="0"/>
              <a:t> in the validation rule. In the example below, the Ability Field needs to be over 7 characters long.</a:t>
            </a:r>
            <a:endParaRPr lang="en-GB" b="1" dirty="0"/>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5711" y="1690688"/>
            <a:ext cx="5051685" cy="1420786"/>
          </a:xfrm>
          <a:prstGeom prst="rect">
            <a:avLst/>
          </a:prstGeom>
        </p:spPr>
      </p:pic>
      <p:pic>
        <p:nvPicPr>
          <p:cNvPr id="5" name="Picture 4"/>
          <p:cNvPicPr>
            <a:picLocks noChangeAspect="1"/>
          </p:cNvPicPr>
          <p:nvPr/>
        </p:nvPicPr>
        <p:blipFill rotWithShape="1">
          <a:blip r:embed="rId3"/>
          <a:srcRect l="21004" t="70134" r="46107" b="22490"/>
          <a:stretch/>
        </p:blipFill>
        <p:spPr>
          <a:xfrm>
            <a:off x="1904830" y="5246558"/>
            <a:ext cx="8382339" cy="1410116"/>
          </a:xfrm>
          <a:prstGeom prst="rect">
            <a:avLst/>
          </a:prstGeom>
        </p:spPr>
      </p:pic>
      <p:sp>
        <p:nvSpPr>
          <p:cNvPr id="6" name="Rectangle 5"/>
          <p:cNvSpPr/>
          <p:nvPr/>
        </p:nvSpPr>
        <p:spPr>
          <a:xfrm>
            <a:off x="1693889" y="5711251"/>
            <a:ext cx="9039068" cy="72055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047753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E22359E4-350C-4B4C-903D-CD1B2BA31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xmlns="" id="{D2A542E6-1924-4FE2-89D1-3CB19468C1F6}"/>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xmlns="" id="{1F353183-2147-472B-AD7D-4A085FF6A42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FAAA42C8-A082-4DFD-A5F3-FC9EF825B1D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xmlns="" id="{CB5FC5A2-E1DC-4DFE-9837-1EA5E869A9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50864" y="549275"/>
            <a:ext cx="11088686" cy="5757925"/>
          </a:xfrm>
          <a:prstGeom prst="rect">
            <a:avLst/>
          </a:prstGeom>
          <a:solidFill>
            <a:schemeClr val="bg1"/>
          </a:solidFill>
          <a:ln>
            <a:noFill/>
          </a:ln>
          <a:effectLst>
            <a:outerShdw blurRad="508000" dist="101600" dir="54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49539" y="847725"/>
            <a:ext cx="4085017" cy="1535172"/>
          </a:xfrm>
        </p:spPr>
        <p:txBody>
          <a:bodyPr anchor="t">
            <a:noAutofit/>
          </a:bodyPr>
          <a:lstStyle/>
          <a:p>
            <a:pPr algn="ctr"/>
            <a:r>
              <a:rPr lang="en-GB" sz="5400" dirty="0">
                <a:latin typeface="LEMON MILK" panose="00000500000000000000" pitchFamily="50" charset="0"/>
              </a:rPr>
              <a:t>Type Check</a:t>
            </a:r>
          </a:p>
        </p:txBody>
      </p:sp>
      <p:sp>
        <p:nvSpPr>
          <p:cNvPr id="3" name="Content Placeholder 2"/>
          <p:cNvSpPr>
            <a:spLocks noGrp="1"/>
          </p:cNvSpPr>
          <p:nvPr>
            <p:ph idx="1"/>
          </p:nvPr>
        </p:nvSpPr>
        <p:spPr>
          <a:xfrm>
            <a:off x="549539" y="2933700"/>
            <a:ext cx="4165336" cy="3219450"/>
          </a:xfrm>
        </p:spPr>
        <p:txBody>
          <a:bodyPr anchor="t">
            <a:normAutofit/>
          </a:bodyPr>
          <a:lstStyle/>
          <a:p>
            <a:r>
              <a:rPr lang="en-GB" sz="2400" b="1" dirty="0">
                <a:solidFill>
                  <a:schemeClr val="tx1">
                    <a:alpha val="60000"/>
                  </a:schemeClr>
                </a:solidFill>
              </a:rPr>
              <a:t>Used to ensure data entered is of </a:t>
            </a:r>
            <a:r>
              <a:rPr lang="en-GB" sz="2400" b="1" dirty="0" smtClean="0">
                <a:solidFill>
                  <a:schemeClr val="tx1">
                    <a:alpha val="60000"/>
                  </a:schemeClr>
                </a:solidFill>
              </a:rPr>
              <a:t>a specified data </a:t>
            </a:r>
            <a:r>
              <a:rPr lang="en-GB" sz="2400" b="1" dirty="0">
                <a:solidFill>
                  <a:schemeClr val="tx1">
                    <a:alpha val="60000"/>
                  </a:schemeClr>
                </a:solidFill>
              </a:rPr>
              <a:t>type</a:t>
            </a:r>
          </a:p>
          <a:p>
            <a:r>
              <a:rPr lang="en-GB" sz="2400" dirty="0">
                <a:solidFill>
                  <a:schemeClr val="tx1">
                    <a:alpha val="60000"/>
                  </a:schemeClr>
                </a:solidFill>
              </a:rPr>
              <a:t>There are several different data types:</a:t>
            </a:r>
          </a:p>
          <a:p>
            <a:pPr lvl="1"/>
            <a:r>
              <a:rPr lang="en-GB" dirty="0">
                <a:solidFill>
                  <a:schemeClr val="tx1">
                    <a:alpha val="60000"/>
                  </a:schemeClr>
                </a:solidFill>
              </a:rPr>
              <a:t>Numeric (integer/double)</a:t>
            </a:r>
          </a:p>
          <a:p>
            <a:pPr lvl="1"/>
            <a:r>
              <a:rPr lang="en-GB" dirty="0">
                <a:solidFill>
                  <a:schemeClr val="tx1">
                    <a:alpha val="60000"/>
                  </a:schemeClr>
                </a:solidFill>
              </a:rPr>
              <a:t>Text (string/char)</a:t>
            </a:r>
          </a:p>
          <a:p>
            <a:pPr lvl="1"/>
            <a:r>
              <a:rPr lang="en-GB" dirty="0">
                <a:solidFill>
                  <a:schemeClr val="tx1">
                    <a:alpha val="60000"/>
                  </a:schemeClr>
                </a:solidFill>
              </a:rPr>
              <a:t>Date</a:t>
            </a:r>
          </a:p>
          <a:p>
            <a:pPr lvl="1"/>
            <a:r>
              <a:rPr lang="en-GB" dirty="0">
                <a:solidFill>
                  <a:schemeClr val="tx1">
                    <a:alpha val="60000"/>
                  </a:schemeClr>
                </a:solidFill>
              </a:rPr>
              <a:t>Etc</a:t>
            </a:r>
          </a:p>
          <a:p>
            <a:endParaRPr lang="en-GB" sz="2000" dirty="0">
              <a:solidFill>
                <a:schemeClr val="tx1">
                  <a:alpha val="60000"/>
                </a:schemeClr>
              </a:solidFill>
            </a:endParaRPr>
          </a:p>
          <a:p>
            <a:pPr lvl="1"/>
            <a:endParaRPr lang="en-GB" sz="2000" dirty="0">
              <a:solidFill>
                <a:schemeClr val="tx1">
                  <a:alpha val="60000"/>
                </a:schemeClr>
              </a:solidFill>
            </a:endParaRPr>
          </a:p>
        </p:txBody>
      </p:sp>
      <p:grpSp>
        <p:nvGrpSpPr>
          <p:cNvPr id="17" name="Group 16">
            <a:extLst>
              <a:ext uri="{FF2B5EF4-FFF2-40B4-BE49-F238E27FC236}">
                <a16:creationId xmlns:a16="http://schemas.microsoft.com/office/drawing/2014/main" xmlns="" id="{72024ACE-D556-4A21-9B17-7CA3E82DA45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4619625" y="549273"/>
            <a:ext cx="7021250" cy="5757924"/>
            <a:chOff x="4656138" y="0"/>
            <a:chExt cx="6983409" cy="6308725"/>
          </a:xfrm>
        </p:grpSpPr>
        <p:sp>
          <p:nvSpPr>
            <p:cNvPr id="18" name="Rectangle 17">
              <a:extLst>
                <a:ext uri="{FF2B5EF4-FFF2-40B4-BE49-F238E27FC236}">
                  <a16:creationId xmlns:a16="http://schemas.microsoft.com/office/drawing/2014/main" xmlns="" id="{027A47B5-1D69-47DA-8BBA-FE75FCAA3BF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4656138" y="0"/>
              <a:ext cx="6982794" cy="6308725"/>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Rectangle 18">
              <a:extLst>
                <a:ext uri="{FF2B5EF4-FFF2-40B4-BE49-F238E27FC236}">
                  <a16:creationId xmlns:a16="http://schemas.microsoft.com/office/drawing/2014/main" xmlns="" id="{85068B72-E376-4FE8-9F05-44E7574343D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4656138" y="0"/>
              <a:ext cx="6983409" cy="6308725"/>
            </a:xfrm>
            <a:prstGeom prst="rect">
              <a:avLst/>
            </a:prstGeom>
            <a:solidFill>
              <a:schemeClr val="accent4">
                <a:lumMod val="75000"/>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Rectangle 19">
              <a:extLst>
                <a:ext uri="{FF2B5EF4-FFF2-40B4-BE49-F238E27FC236}">
                  <a16:creationId xmlns:a16="http://schemas.microsoft.com/office/drawing/2014/main" xmlns="" id="{E7DC2B55-5BFC-4180-9FE3-261FEF00BC1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4656138" y="0"/>
              <a:ext cx="6983409" cy="6308725"/>
            </a:xfrm>
            <a:prstGeom prst="rect">
              <a:avLst/>
            </a:prstGeom>
            <a:solidFill>
              <a:schemeClr val="bg1">
                <a:alpha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4" name="Picture 3"/>
          <p:cNvPicPr>
            <a:picLocks noChangeAspect="1"/>
          </p:cNvPicPr>
          <p:nvPr/>
        </p:nvPicPr>
        <p:blipFill rotWithShape="1">
          <a:blip r:embed="rId2"/>
          <a:srcRect l="42059" t="35707" r="41035" b="42777"/>
          <a:stretch/>
        </p:blipFill>
        <p:spPr>
          <a:xfrm>
            <a:off x="5121251" y="549275"/>
            <a:ext cx="6031604" cy="5757246"/>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37250137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LEMON MILK" panose="00000500000000000000" pitchFamily="50" charset="0"/>
              </a:rPr>
              <a:t>Format Check</a:t>
            </a:r>
          </a:p>
        </p:txBody>
      </p:sp>
      <p:graphicFrame>
        <p:nvGraphicFramePr>
          <p:cNvPr id="12" name="Content Placeholder 2">
            <a:extLst>
              <a:ext uri="{FF2B5EF4-FFF2-40B4-BE49-F238E27FC236}">
                <a16:creationId xmlns:a16="http://schemas.microsoft.com/office/drawing/2014/main" xmlns="" id="{F7EDA28E-4AFE-E7D0-69D5-FFB2CDF639D0}"/>
              </a:ext>
            </a:extLst>
          </p:cNvPr>
          <p:cNvGraphicFramePr>
            <a:graphicFrameLocks noGrp="1"/>
          </p:cNvGraphicFramePr>
          <p:nvPr>
            <p:ph idx="1"/>
            <p:extLst>
              <p:ext uri="{D42A27DB-BD31-4B8C-83A1-F6EECF244321}">
                <p14:modId xmlns:p14="http://schemas.microsoft.com/office/powerpoint/2010/main" val="3818243699"/>
              </p:ext>
            </p:extLst>
          </p:nvPr>
        </p:nvGraphicFramePr>
        <p:xfrm>
          <a:off x="838200" y="1825625"/>
          <a:ext cx="10515600" cy="21259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1034322" y="4364104"/>
            <a:ext cx="2474626" cy="523220"/>
          </a:xfrm>
          <a:prstGeom prst="rect">
            <a:avLst/>
          </a:prstGeom>
          <a:noFill/>
        </p:spPr>
        <p:txBody>
          <a:bodyPr wrap="square" rtlCol="0">
            <a:spAutoFit/>
          </a:bodyPr>
          <a:lstStyle/>
          <a:p>
            <a:r>
              <a:rPr lang="en-GB" sz="2800" dirty="0"/>
              <a:t>29</a:t>
            </a:r>
            <a:r>
              <a:rPr lang="en-GB" sz="2800" baseline="30000" dirty="0"/>
              <a:t>th</a:t>
            </a:r>
            <a:r>
              <a:rPr lang="en-GB" sz="2800" dirty="0"/>
              <a:t> April 2018</a:t>
            </a:r>
          </a:p>
        </p:txBody>
      </p:sp>
      <p:sp>
        <p:nvSpPr>
          <p:cNvPr id="5" name="TextBox 4"/>
          <p:cNvSpPr txBox="1"/>
          <p:nvPr/>
        </p:nvSpPr>
        <p:spPr>
          <a:xfrm>
            <a:off x="3508948" y="5608819"/>
            <a:ext cx="2474626" cy="523220"/>
          </a:xfrm>
          <a:prstGeom prst="rect">
            <a:avLst/>
          </a:prstGeom>
          <a:noFill/>
        </p:spPr>
        <p:txBody>
          <a:bodyPr wrap="square" rtlCol="0">
            <a:spAutoFit/>
          </a:bodyPr>
          <a:lstStyle/>
          <a:p>
            <a:r>
              <a:rPr lang="en-GB" sz="2800" dirty="0"/>
              <a:t>29/04/18</a:t>
            </a:r>
          </a:p>
        </p:txBody>
      </p:sp>
      <p:sp>
        <p:nvSpPr>
          <p:cNvPr id="6" name="TextBox 5"/>
          <p:cNvSpPr txBox="1"/>
          <p:nvPr/>
        </p:nvSpPr>
        <p:spPr>
          <a:xfrm>
            <a:off x="5166610" y="4548073"/>
            <a:ext cx="2474626" cy="523220"/>
          </a:xfrm>
          <a:prstGeom prst="rect">
            <a:avLst/>
          </a:prstGeom>
          <a:noFill/>
        </p:spPr>
        <p:txBody>
          <a:bodyPr wrap="square" rtlCol="0">
            <a:spAutoFit/>
          </a:bodyPr>
          <a:lstStyle/>
          <a:p>
            <a:r>
              <a:rPr lang="en-GB" sz="2800" dirty="0"/>
              <a:t>29/4/2018</a:t>
            </a:r>
          </a:p>
        </p:txBody>
      </p:sp>
      <p:sp>
        <p:nvSpPr>
          <p:cNvPr id="7" name="TextBox 6"/>
          <p:cNvSpPr txBox="1"/>
          <p:nvPr/>
        </p:nvSpPr>
        <p:spPr>
          <a:xfrm>
            <a:off x="6869243" y="5608819"/>
            <a:ext cx="2474626" cy="523220"/>
          </a:xfrm>
          <a:prstGeom prst="rect">
            <a:avLst/>
          </a:prstGeom>
          <a:noFill/>
        </p:spPr>
        <p:txBody>
          <a:bodyPr wrap="square" rtlCol="0">
            <a:spAutoFit/>
          </a:bodyPr>
          <a:lstStyle/>
          <a:p>
            <a:r>
              <a:rPr lang="en-GB" sz="2800" dirty="0"/>
              <a:t>04/29/18</a:t>
            </a:r>
          </a:p>
        </p:txBody>
      </p:sp>
      <p:sp>
        <p:nvSpPr>
          <p:cNvPr id="8" name="TextBox 7"/>
          <p:cNvSpPr txBox="1"/>
          <p:nvPr/>
        </p:nvSpPr>
        <p:spPr>
          <a:xfrm>
            <a:off x="9538741" y="5019902"/>
            <a:ext cx="2474626" cy="523220"/>
          </a:xfrm>
          <a:prstGeom prst="rect">
            <a:avLst/>
          </a:prstGeom>
          <a:noFill/>
        </p:spPr>
        <p:txBody>
          <a:bodyPr wrap="square" rtlCol="0">
            <a:spAutoFit/>
          </a:bodyPr>
          <a:lstStyle/>
          <a:p>
            <a:r>
              <a:rPr lang="en-GB" sz="2800" dirty="0"/>
              <a:t>29 Apr 2018</a:t>
            </a:r>
          </a:p>
        </p:txBody>
      </p:sp>
      <p:sp>
        <p:nvSpPr>
          <p:cNvPr id="9" name="TextBox 8"/>
          <p:cNvSpPr txBox="1"/>
          <p:nvPr/>
        </p:nvSpPr>
        <p:spPr>
          <a:xfrm>
            <a:off x="591488" y="5870429"/>
            <a:ext cx="2474626" cy="523220"/>
          </a:xfrm>
          <a:prstGeom prst="rect">
            <a:avLst/>
          </a:prstGeom>
          <a:noFill/>
        </p:spPr>
        <p:txBody>
          <a:bodyPr wrap="square" rtlCol="0">
            <a:spAutoFit/>
          </a:bodyPr>
          <a:lstStyle/>
          <a:p>
            <a:r>
              <a:rPr lang="en-GB" sz="2800" dirty="0"/>
              <a:t>29-04-18</a:t>
            </a:r>
          </a:p>
        </p:txBody>
      </p:sp>
      <p:sp>
        <p:nvSpPr>
          <p:cNvPr id="10" name="TextBox 9"/>
          <p:cNvSpPr txBox="1"/>
          <p:nvPr/>
        </p:nvSpPr>
        <p:spPr>
          <a:xfrm>
            <a:off x="8926644" y="6021390"/>
            <a:ext cx="2474626" cy="523220"/>
          </a:xfrm>
          <a:prstGeom prst="rect">
            <a:avLst/>
          </a:prstGeom>
          <a:noFill/>
        </p:spPr>
        <p:txBody>
          <a:bodyPr wrap="square" rtlCol="0">
            <a:spAutoFit/>
          </a:bodyPr>
          <a:lstStyle/>
          <a:p>
            <a:r>
              <a:rPr lang="en-GB" sz="2800" dirty="0"/>
              <a:t>29.04.18</a:t>
            </a:r>
          </a:p>
        </p:txBody>
      </p:sp>
    </p:spTree>
    <p:extLst>
      <p:ext uri="{BB962C8B-B14F-4D97-AF65-F5344CB8AC3E}">
        <p14:creationId xmlns:p14="http://schemas.microsoft.com/office/powerpoint/2010/main" val="27087269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GB" dirty="0">
                <a:latin typeface="LEMON MILK" panose="00000500000000000000" pitchFamily="50" charset="0"/>
              </a:rPr>
              <a:t>Range Check</a:t>
            </a:r>
          </a:p>
        </p:txBody>
      </p:sp>
      <p:pic>
        <p:nvPicPr>
          <p:cNvPr id="5122" name="Picture 2" descr="817 Max Min Graphic Royalty-Free Images, Stock Photos &amp; Pictures |  Shutterstock"/>
          <p:cNvPicPr>
            <a:picLocks noChangeAspect="1" noChangeArrowheads="1"/>
          </p:cNvPicPr>
          <p:nvPr/>
        </p:nvPicPr>
        <p:blipFill rotWithShape="1">
          <a:blip r:embed="rId2">
            <a:extLst>
              <a:ext uri="{28A0092B-C50C-407E-A947-70E740481C1C}">
                <a14:useLocalDpi xmlns:a14="http://schemas.microsoft.com/office/drawing/2010/main" val="0"/>
              </a:ext>
            </a:extLst>
          </a:blip>
          <a:srcRect t="17976" r="12927" b="24470"/>
          <a:stretch/>
        </p:blipFill>
        <p:spPr bwMode="auto">
          <a:xfrm>
            <a:off x="6353175" y="3533014"/>
            <a:ext cx="5838825" cy="33249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228600" y="1195420"/>
            <a:ext cx="11068049" cy="4351338"/>
          </a:xfrm>
        </p:spPr>
        <p:txBody>
          <a:bodyPr/>
          <a:lstStyle/>
          <a:p>
            <a:r>
              <a:rPr lang="en-GB" b="1" dirty="0"/>
              <a:t>Ensures data entered is within a lower limit and upper </a:t>
            </a:r>
            <a:r>
              <a:rPr lang="en-GB" b="1" dirty="0" smtClean="0"/>
              <a:t>boundary limit</a:t>
            </a:r>
            <a:r>
              <a:rPr lang="en-GB" b="1" dirty="0"/>
              <a:t>.</a:t>
            </a:r>
          </a:p>
          <a:p>
            <a:endParaRPr lang="en-GB" dirty="0"/>
          </a:p>
          <a:p>
            <a:r>
              <a:rPr lang="en-GB" dirty="0"/>
              <a:t>For example, if a group should have a minimum of 5 and maximum of 20, the </a:t>
            </a:r>
            <a:r>
              <a:rPr lang="en-GB" b="1" dirty="0"/>
              <a:t>validation rule </a:t>
            </a:r>
            <a:r>
              <a:rPr lang="en-GB" dirty="0"/>
              <a:t>could be:</a:t>
            </a:r>
          </a:p>
          <a:p>
            <a:endParaRPr lang="en-GB" dirty="0"/>
          </a:p>
          <a:p>
            <a:pPr marL="0" indent="0" algn="ctr">
              <a:buNone/>
            </a:pPr>
            <a:r>
              <a:rPr lang="en-GB" sz="4400" b="1" dirty="0">
                <a:solidFill>
                  <a:srgbClr val="FF0000"/>
                </a:solidFill>
              </a:rPr>
              <a:t>&gt; 4 And &lt;=20</a:t>
            </a:r>
            <a:endParaRPr lang="en-GB" sz="4400" dirty="0"/>
          </a:p>
          <a:p>
            <a:endParaRPr lang="en-GB" dirty="0"/>
          </a:p>
          <a:p>
            <a:endParaRPr lang="en-GB" dirty="0"/>
          </a:p>
          <a:p>
            <a:endParaRPr lang="en-GB" dirty="0"/>
          </a:p>
        </p:txBody>
      </p:sp>
    </p:spTree>
    <p:extLst>
      <p:ext uri="{BB962C8B-B14F-4D97-AF65-F5344CB8AC3E}">
        <p14:creationId xmlns:p14="http://schemas.microsoft.com/office/powerpoint/2010/main" val="10148320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GB" dirty="0"/>
              <a:t>Logical Operators</a:t>
            </a:r>
          </a:p>
        </p:txBody>
      </p:sp>
      <p:sp>
        <p:nvSpPr>
          <p:cNvPr id="3" name="Content Placeholder 2"/>
          <p:cNvSpPr>
            <a:spLocks noGrp="1"/>
          </p:cNvSpPr>
          <p:nvPr>
            <p:ph idx="1"/>
          </p:nvPr>
        </p:nvSpPr>
        <p:spPr>
          <a:xfrm>
            <a:off x="284813" y="1325563"/>
            <a:ext cx="6115987" cy="5532437"/>
          </a:xfrm>
        </p:spPr>
        <p:txBody>
          <a:bodyPr>
            <a:normAutofit/>
          </a:bodyPr>
          <a:lstStyle/>
          <a:p>
            <a:r>
              <a:rPr lang="en-GB" dirty="0"/>
              <a:t>Comparing a value against other data is a typical operation when data is queried in a database.</a:t>
            </a:r>
          </a:p>
          <a:p>
            <a:endParaRPr lang="en-GB" dirty="0"/>
          </a:p>
          <a:p>
            <a:r>
              <a:rPr lang="en-GB" dirty="0"/>
              <a:t>Comparison Operators are used to allow this to be achieved</a:t>
            </a:r>
          </a:p>
          <a:p>
            <a:endParaRPr lang="en-GB" dirty="0"/>
          </a:p>
          <a:p>
            <a:r>
              <a:rPr lang="en-GB" dirty="0"/>
              <a:t>Also used to analyse two values and return either a true or false result.</a:t>
            </a:r>
          </a:p>
          <a:p>
            <a:endParaRPr lang="en-GB" dirty="0"/>
          </a:p>
          <a:p>
            <a:r>
              <a:rPr lang="en-GB" dirty="0"/>
              <a:t>These operators are denoted by words such as AND, OR, and BETWEEN</a:t>
            </a:r>
          </a:p>
        </p:txBody>
      </p:sp>
      <p:graphicFrame>
        <p:nvGraphicFramePr>
          <p:cNvPr id="4" name="Table 3"/>
          <p:cNvGraphicFramePr>
            <a:graphicFrameLocks noGrp="1"/>
          </p:cNvGraphicFramePr>
          <p:nvPr>
            <p:extLst>
              <p:ext uri="{D42A27DB-BD31-4B8C-83A1-F6EECF244321}">
                <p14:modId xmlns:p14="http://schemas.microsoft.com/office/powerpoint/2010/main" val="4233378912"/>
              </p:ext>
            </p:extLst>
          </p:nvPr>
        </p:nvGraphicFramePr>
        <p:xfrm>
          <a:off x="6400800" y="689546"/>
          <a:ext cx="5438099" cy="5411370"/>
        </p:xfrm>
        <a:graphic>
          <a:graphicData uri="http://schemas.openxmlformats.org/drawingml/2006/table">
            <a:tbl>
              <a:tblPr firstRow="1" bandRow="1">
                <a:tableStyleId>{5C22544A-7EE6-4342-B048-85BDC9FD1C3A}</a:tableStyleId>
              </a:tblPr>
              <a:tblGrid>
                <a:gridCol w="1226092">
                  <a:extLst>
                    <a:ext uri="{9D8B030D-6E8A-4147-A177-3AD203B41FA5}">
                      <a16:colId xmlns:a16="http://schemas.microsoft.com/office/drawing/2014/main" xmlns="" val="1290032274"/>
                    </a:ext>
                  </a:extLst>
                </a:gridCol>
                <a:gridCol w="4212007">
                  <a:extLst>
                    <a:ext uri="{9D8B030D-6E8A-4147-A177-3AD203B41FA5}">
                      <a16:colId xmlns:a16="http://schemas.microsoft.com/office/drawing/2014/main" xmlns="" val="312824810"/>
                    </a:ext>
                  </a:extLst>
                </a:gridCol>
              </a:tblGrid>
              <a:tr h="472492">
                <a:tc gridSpan="2">
                  <a:txBody>
                    <a:bodyPr/>
                    <a:lstStyle/>
                    <a:p>
                      <a:r>
                        <a:rPr lang="en-GB" sz="2800" dirty="0">
                          <a:latin typeface="Century Gothic" panose="020B0502020202020204" pitchFamily="34" charset="0"/>
                        </a:rPr>
                        <a:t>Comparison</a:t>
                      </a:r>
                      <a:r>
                        <a:rPr lang="en-GB" sz="2800" baseline="0" dirty="0">
                          <a:latin typeface="Century Gothic" panose="020B0502020202020204" pitchFamily="34" charset="0"/>
                        </a:rPr>
                        <a:t> Operators</a:t>
                      </a:r>
                      <a:endParaRPr lang="en-GB" sz="2800" dirty="0">
                        <a:latin typeface="Century Gothic" panose="020B0502020202020204" pitchFamily="34" charset="0"/>
                      </a:endParaRPr>
                    </a:p>
                  </a:txBody>
                  <a:tcPr/>
                </a:tc>
                <a:tc hMerge="1">
                  <a:txBody>
                    <a:bodyPr/>
                    <a:lstStyle/>
                    <a:p>
                      <a:endParaRPr lang="en-GB" dirty="0"/>
                    </a:p>
                  </a:txBody>
                  <a:tcPr/>
                </a:tc>
                <a:extLst>
                  <a:ext uri="{0D108BD9-81ED-4DB2-BD59-A6C34878D82A}">
                    <a16:rowId xmlns:a16="http://schemas.microsoft.com/office/drawing/2014/main" xmlns="" val="1942112862"/>
                  </a:ext>
                </a:extLst>
              </a:tr>
              <a:tr h="815535">
                <a:tc>
                  <a:txBody>
                    <a:bodyPr/>
                    <a:lstStyle/>
                    <a:p>
                      <a:pPr algn="ctr"/>
                      <a:r>
                        <a:rPr lang="en-GB" sz="3600" dirty="0">
                          <a:latin typeface="Century Gothic" panose="020B0502020202020204" pitchFamily="34" charset="0"/>
                        </a:rPr>
                        <a:t>&lt;</a:t>
                      </a:r>
                    </a:p>
                  </a:txBody>
                  <a:tcPr anchor="ctr"/>
                </a:tc>
                <a:tc>
                  <a:txBody>
                    <a:bodyPr/>
                    <a:lstStyle/>
                    <a:p>
                      <a:r>
                        <a:rPr lang="en-GB" sz="2400" dirty="0">
                          <a:latin typeface="Century Gothic" panose="020B0502020202020204" pitchFamily="34" charset="0"/>
                        </a:rPr>
                        <a:t>Less Than</a:t>
                      </a:r>
                    </a:p>
                  </a:txBody>
                  <a:tcPr anchor="ctr"/>
                </a:tc>
                <a:extLst>
                  <a:ext uri="{0D108BD9-81ED-4DB2-BD59-A6C34878D82A}">
                    <a16:rowId xmlns:a16="http://schemas.microsoft.com/office/drawing/2014/main" xmlns="" val="1449743943"/>
                  </a:ext>
                </a:extLst>
              </a:tr>
              <a:tr h="815535">
                <a:tc>
                  <a:txBody>
                    <a:bodyPr/>
                    <a:lstStyle/>
                    <a:p>
                      <a:pPr algn="ctr"/>
                      <a:r>
                        <a:rPr lang="en-GB" sz="3600" dirty="0">
                          <a:latin typeface="Century Gothic" panose="020B0502020202020204" pitchFamily="34" charset="0"/>
                        </a:rPr>
                        <a:t>&lt;=</a:t>
                      </a:r>
                    </a:p>
                  </a:txBody>
                  <a:tcPr anchor="ctr"/>
                </a:tc>
                <a:tc>
                  <a:txBody>
                    <a:bodyPr/>
                    <a:lstStyle/>
                    <a:p>
                      <a:r>
                        <a:rPr lang="en-GB" sz="2400" dirty="0">
                          <a:latin typeface="Century Gothic" panose="020B0502020202020204" pitchFamily="34" charset="0"/>
                        </a:rPr>
                        <a:t>Less than</a:t>
                      </a:r>
                      <a:r>
                        <a:rPr lang="en-GB" sz="2400" baseline="0" dirty="0">
                          <a:latin typeface="Century Gothic" panose="020B0502020202020204" pitchFamily="34" charset="0"/>
                        </a:rPr>
                        <a:t> or Equal to</a:t>
                      </a:r>
                      <a:endParaRPr lang="en-GB" sz="2400" dirty="0">
                        <a:latin typeface="Century Gothic" panose="020B0502020202020204" pitchFamily="34" charset="0"/>
                      </a:endParaRPr>
                    </a:p>
                  </a:txBody>
                  <a:tcPr anchor="ctr"/>
                </a:tc>
                <a:extLst>
                  <a:ext uri="{0D108BD9-81ED-4DB2-BD59-A6C34878D82A}">
                    <a16:rowId xmlns:a16="http://schemas.microsoft.com/office/drawing/2014/main" xmlns="" val="1486296611"/>
                  </a:ext>
                </a:extLst>
              </a:tr>
              <a:tr h="815535">
                <a:tc>
                  <a:txBody>
                    <a:bodyPr/>
                    <a:lstStyle/>
                    <a:p>
                      <a:pPr algn="ctr"/>
                      <a:r>
                        <a:rPr lang="en-GB" sz="3600" dirty="0">
                          <a:latin typeface="Century Gothic" panose="020B0502020202020204" pitchFamily="34" charset="0"/>
                        </a:rPr>
                        <a:t>&gt;</a:t>
                      </a:r>
                    </a:p>
                  </a:txBody>
                  <a:tcPr anchor="ctr"/>
                </a:tc>
                <a:tc>
                  <a:txBody>
                    <a:bodyPr/>
                    <a:lstStyle/>
                    <a:p>
                      <a:r>
                        <a:rPr lang="en-GB" sz="2400" dirty="0">
                          <a:latin typeface="Century Gothic" panose="020B0502020202020204" pitchFamily="34" charset="0"/>
                        </a:rPr>
                        <a:t>Greater Than</a:t>
                      </a:r>
                    </a:p>
                  </a:txBody>
                  <a:tcPr anchor="ctr"/>
                </a:tc>
                <a:extLst>
                  <a:ext uri="{0D108BD9-81ED-4DB2-BD59-A6C34878D82A}">
                    <a16:rowId xmlns:a16="http://schemas.microsoft.com/office/drawing/2014/main" xmlns="" val="467553980"/>
                  </a:ext>
                </a:extLst>
              </a:tr>
              <a:tr h="815535">
                <a:tc>
                  <a:txBody>
                    <a:bodyPr/>
                    <a:lstStyle/>
                    <a:p>
                      <a:pPr algn="ctr"/>
                      <a:r>
                        <a:rPr lang="en-GB" sz="3600" dirty="0">
                          <a:latin typeface="Century Gothic" panose="020B0502020202020204" pitchFamily="34" charset="0"/>
                        </a:rPr>
                        <a:t>&gt;=</a:t>
                      </a:r>
                    </a:p>
                  </a:txBody>
                  <a:tcPr anchor="ctr"/>
                </a:tc>
                <a:tc>
                  <a:txBody>
                    <a:bodyPr/>
                    <a:lstStyle/>
                    <a:p>
                      <a:r>
                        <a:rPr lang="en-GB" sz="2400" dirty="0">
                          <a:latin typeface="Century Gothic" panose="020B0502020202020204" pitchFamily="34" charset="0"/>
                        </a:rPr>
                        <a:t>Greater</a:t>
                      </a:r>
                      <a:r>
                        <a:rPr lang="en-GB" sz="2400" baseline="0" dirty="0">
                          <a:latin typeface="Century Gothic" panose="020B0502020202020204" pitchFamily="34" charset="0"/>
                        </a:rPr>
                        <a:t> Than or Equal to</a:t>
                      </a:r>
                      <a:endParaRPr lang="en-GB" sz="2400" dirty="0">
                        <a:latin typeface="Century Gothic" panose="020B0502020202020204" pitchFamily="34" charset="0"/>
                      </a:endParaRPr>
                    </a:p>
                  </a:txBody>
                  <a:tcPr anchor="ctr"/>
                </a:tc>
                <a:extLst>
                  <a:ext uri="{0D108BD9-81ED-4DB2-BD59-A6C34878D82A}">
                    <a16:rowId xmlns:a16="http://schemas.microsoft.com/office/drawing/2014/main" xmlns="" val="2264158490"/>
                  </a:ext>
                </a:extLst>
              </a:tr>
              <a:tr h="815535">
                <a:tc>
                  <a:txBody>
                    <a:bodyPr/>
                    <a:lstStyle/>
                    <a:p>
                      <a:pPr algn="ctr"/>
                      <a:r>
                        <a:rPr lang="en-GB" sz="3600" dirty="0">
                          <a:latin typeface="Century Gothic" panose="020B0502020202020204" pitchFamily="34" charset="0"/>
                        </a:rPr>
                        <a:t>=</a:t>
                      </a:r>
                    </a:p>
                  </a:txBody>
                  <a:tcPr anchor="ctr"/>
                </a:tc>
                <a:tc>
                  <a:txBody>
                    <a:bodyPr/>
                    <a:lstStyle/>
                    <a:p>
                      <a:r>
                        <a:rPr lang="en-GB" sz="2400" dirty="0">
                          <a:latin typeface="Century Gothic" panose="020B0502020202020204" pitchFamily="34" charset="0"/>
                        </a:rPr>
                        <a:t>Equal to</a:t>
                      </a:r>
                    </a:p>
                  </a:txBody>
                  <a:tcPr anchor="ctr"/>
                </a:tc>
                <a:extLst>
                  <a:ext uri="{0D108BD9-81ED-4DB2-BD59-A6C34878D82A}">
                    <a16:rowId xmlns:a16="http://schemas.microsoft.com/office/drawing/2014/main" xmlns="" val="3700101875"/>
                  </a:ext>
                </a:extLst>
              </a:tr>
              <a:tr h="815535">
                <a:tc>
                  <a:txBody>
                    <a:bodyPr/>
                    <a:lstStyle/>
                    <a:p>
                      <a:pPr algn="ctr"/>
                      <a:r>
                        <a:rPr lang="en-GB" sz="3600" dirty="0">
                          <a:latin typeface="Century Gothic" panose="020B0502020202020204" pitchFamily="34" charset="0"/>
                        </a:rPr>
                        <a:t>&lt;&gt;</a:t>
                      </a:r>
                    </a:p>
                  </a:txBody>
                  <a:tcPr anchor="ctr"/>
                </a:tc>
                <a:tc>
                  <a:txBody>
                    <a:bodyPr/>
                    <a:lstStyle/>
                    <a:p>
                      <a:r>
                        <a:rPr lang="en-GB" sz="2400" dirty="0">
                          <a:latin typeface="Century Gothic" panose="020B0502020202020204" pitchFamily="34" charset="0"/>
                        </a:rPr>
                        <a:t>Not Equal to</a:t>
                      </a:r>
                    </a:p>
                  </a:txBody>
                  <a:tcPr anchor="ctr"/>
                </a:tc>
                <a:extLst>
                  <a:ext uri="{0D108BD9-81ED-4DB2-BD59-A6C34878D82A}">
                    <a16:rowId xmlns:a16="http://schemas.microsoft.com/office/drawing/2014/main" xmlns="" val="1602898016"/>
                  </a:ext>
                </a:extLst>
              </a:tr>
            </a:tbl>
          </a:graphicData>
        </a:graphic>
      </p:graphicFrame>
    </p:spTree>
    <p:extLst>
      <p:ext uri="{BB962C8B-B14F-4D97-AF65-F5344CB8AC3E}">
        <p14:creationId xmlns:p14="http://schemas.microsoft.com/office/powerpoint/2010/main" val="3706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xmlns="" id="{C4285719-470E-454C-AF62-8323075F1F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CD9FE4EF-C4D8-49A0-B2FF-81D8DB7D8A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4300840D-0A0B-4512-BACA-B439D5B9C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xmlns="" id="{D2B78728-A580-49A7-84F9-6EF6F583AD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xmlns="" id="{38FAA1A1-D861-433F-88FA-1E9D6FD31D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xmlns="" id="{8D71EDA1-87BF-4D5D-AB79-F346FD1927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What is Big Data?</a:t>
            </a:r>
          </a:p>
        </p:txBody>
      </p:sp>
      <p:sp>
        <p:nvSpPr>
          <p:cNvPr id="3" name="Content Placeholder 2"/>
          <p:cNvSpPr>
            <a:spLocks noGrp="1"/>
          </p:cNvSpPr>
          <p:nvPr>
            <p:ph idx="1"/>
          </p:nvPr>
        </p:nvSpPr>
        <p:spPr>
          <a:xfrm>
            <a:off x="4134811" y="649480"/>
            <a:ext cx="3974683" cy="5546047"/>
          </a:xfrm>
        </p:spPr>
        <p:txBody>
          <a:bodyPr anchor="ctr">
            <a:normAutofit/>
          </a:bodyPr>
          <a:lstStyle/>
          <a:p>
            <a:r>
              <a:rPr lang="en-GB" b="1" dirty="0"/>
              <a:t>Big Data is large amounts of data that has the potential to be mined for information.</a:t>
            </a:r>
          </a:p>
          <a:p>
            <a:endParaRPr lang="en-GB" dirty="0"/>
          </a:p>
          <a:p>
            <a:r>
              <a:rPr lang="en-GB" dirty="0"/>
              <a:t>Unlike ‘normal’ data, big data </a:t>
            </a:r>
            <a:r>
              <a:rPr lang="en-GB" b="1" dirty="0"/>
              <a:t>cannot be analysed by normal means </a:t>
            </a:r>
            <a:r>
              <a:rPr lang="en-GB" dirty="0"/>
              <a:t>due to its:</a:t>
            </a:r>
          </a:p>
          <a:p>
            <a:pPr lvl="1"/>
            <a:r>
              <a:rPr lang="en-GB" sz="2800" dirty="0"/>
              <a:t>VOLUME</a:t>
            </a:r>
          </a:p>
          <a:p>
            <a:pPr lvl="1"/>
            <a:r>
              <a:rPr lang="en-GB" sz="2800" dirty="0"/>
              <a:t>VELOCITY</a:t>
            </a:r>
          </a:p>
          <a:p>
            <a:pPr lvl="1"/>
            <a:r>
              <a:rPr lang="en-GB" sz="2800" dirty="0"/>
              <a:t>VARIETY</a:t>
            </a:r>
          </a:p>
          <a:p>
            <a:pPr lvl="1"/>
            <a:endParaRPr lang="en-GB" sz="2000" dirty="0"/>
          </a:p>
        </p:txBody>
      </p:sp>
    </p:spTree>
    <p:extLst>
      <p:ext uri="{BB962C8B-B14F-4D97-AF65-F5344CB8AC3E}">
        <p14:creationId xmlns:p14="http://schemas.microsoft.com/office/powerpoint/2010/main" val="7194416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xmlns=""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anchor="b">
            <a:normAutofit/>
          </a:bodyPr>
          <a:lstStyle/>
          <a:p>
            <a:r>
              <a:rPr lang="en-GB" sz="5400"/>
              <a:t>Volume</a:t>
            </a:r>
          </a:p>
        </p:txBody>
      </p:sp>
      <p:sp>
        <p:nvSpPr>
          <p:cNvPr id="2057" name="sketchy line">
            <a:extLst>
              <a:ext uri="{FF2B5EF4-FFF2-40B4-BE49-F238E27FC236}">
                <a16:creationId xmlns:a16="http://schemas.microsoft.com/office/drawing/2014/main" xmlns=""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72493" y="2071316"/>
            <a:ext cx="6713552" cy="4119172"/>
          </a:xfrm>
        </p:spPr>
        <p:txBody>
          <a:bodyPr anchor="t">
            <a:normAutofit/>
          </a:bodyPr>
          <a:lstStyle/>
          <a:p>
            <a:r>
              <a:rPr lang="en-GB" sz="2000" dirty="0"/>
              <a:t>One of the reasons big data is termed big data is because there is large amounts of data stored by organisations</a:t>
            </a:r>
          </a:p>
          <a:p>
            <a:r>
              <a:rPr lang="en-GB" sz="2000" dirty="0"/>
              <a:t>We know data is raw facts and figures with no meaning attached, and is unprocessed.</a:t>
            </a:r>
          </a:p>
          <a:p>
            <a:endParaRPr lang="en-GB" sz="2000" dirty="0"/>
          </a:p>
          <a:p>
            <a:r>
              <a:rPr lang="en-GB" sz="2000" dirty="0"/>
              <a:t>Organisations (such as Facebook and Google) now store large amounts of data from lots of different sources, and they have to be able to process this large amount of data in a suitable time</a:t>
            </a:r>
          </a:p>
          <a:p>
            <a:r>
              <a:rPr lang="en-GB" sz="2000" dirty="0"/>
              <a:t>Imagine the number of posts Facebook or Twitter has each day – terabytes of data rather than just a few kilobytes!</a:t>
            </a:r>
          </a:p>
        </p:txBody>
      </p:sp>
      <p:pic>
        <p:nvPicPr>
          <p:cNvPr id="2050" name="Picture 2" descr="The Volume of Data Is Increasing | 2017-11-06 | Quality Magazine">
            <a:extLst>
              <a:ext uri="{FF2B5EF4-FFF2-40B4-BE49-F238E27FC236}">
                <a16:creationId xmlns:a16="http://schemas.microsoft.com/office/drawing/2014/main" xmlns="" id="{27E7206A-1B0E-4DAC-90D5-0B4D851C6B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075" r="27240"/>
          <a:stretch/>
        </p:blipFill>
        <p:spPr bwMode="auto">
          <a:xfrm>
            <a:off x="7581900" y="2112263"/>
            <a:ext cx="4244372" cy="4411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448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xmlns="" id="{A81E7530-396C-45F0-92F4-A885648D163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Marketing at Speed: The Value of High-Velocity Marketing | CIO">
            <a:extLst>
              <a:ext uri="{FF2B5EF4-FFF2-40B4-BE49-F238E27FC236}">
                <a16:creationId xmlns:a16="http://schemas.microsoft.com/office/drawing/2014/main" xmlns="" id="{CEF11CC1-6661-4B88-8047-3A6138C38A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1"/>
          <a:stretch/>
        </p:blipFill>
        <p:spPr bwMode="auto">
          <a:xfrm>
            <a:off x="603671" y="-1"/>
            <a:ext cx="11588329" cy="6857999"/>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xmlns="" id="{7316481C-0A49-4796-812B-0D64F063B72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5419898" cy="6858000"/>
          </a:xfrm>
          <a:prstGeom prst="rect">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66649" y="721805"/>
            <a:ext cx="3874686" cy="790593"/>
          </a:xfrm>
        </p:spPr>
        <p:txBody>
          <a:bodyPr>
            <a:normAutofit/>
          </a:bodyPr>
          <a:lstStyle/>
          <a:p>
            <a:r>
              <a:rPr lang="en-GB" dirty="0">
                <a:solidFill>
                  <a:schemeClr val="bg1"/>
                </a:solidFill>
              </a:rPr>
              <a:t>Velocity</a:t>
            </a:r>
          </a:p>
        </p:txBody>
      </p:sp>
      <p:sp>
        <p:nvSpPr>
          <p:cNvPr id="3083" name="Rectangle 3082">
            <a:extLst>
              <a:ext uri="{FF2B5EF4-FFF2-40B4-BE49-F238E27FC236}">
                <a16:creationId xmlns:a16="http://schemas.microsoft.com/office/drawing/2014/main" xmlns="" id="{A5271697-90F1-4A23-8EF2-0179F2EAFA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5" name="Group 3084">
            <a:extLst>
              <a:ext uri="{FF2B5EF4-FFF2-40B4-BE49-F238E27FC236}">
                <a16:creationId xmlns:a16="http://schemas.microsoft.com/office/drawing/2014/main" xmlns="" id="{81DE8B58-F373-409E-A253-4380A66091D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188720" y="73152"/>
            <a:ext cx="1178966" cy="232963"/>
            <a:chOff x="1188720" y="73152"/>
            <a:chExt cx="1178966" cy="232963"/>
          </a:xfrm>
        </p:grpSpPr>
        <p:sp>
          <p:nvSpPr>
            <p:cNvPr id="3086" name="Rectangle 64">
              <a:extLst>
                <a:ext uri="{FF2B5EF4-FFF2-40B4-BE49-F238E27FC236}">
                  <a16:creationId xmlns:a16="http://schemas.microsoft.com/office/drawing/2014/main" xmlns="" id="{F5ACE265-D22D-48CC-99DE-EB81AE9229E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68854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66">
              <a:extLst>
                <a:ext uri="{FF2B5EF4-FFF2-40B4-BE49-F238E27FC236}">
                  <a16:creationId xmlns:a16="http://schemas.microsoft.com/office/drawing/2014/main" xmlns="" id="{6FE80EEA-F4ED-4436-8861-0BEAAEFE761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68854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Rectangle 64">
              <a:extLst>
                <a:ext uri="{FF2B5EF4-FFF2-40B4-BE49-F238E27FC236}">
                  <a16:creationId xmlns:a16="http://schemas.microsoft.com/office/drawing/2014/main" xmlns="" id="{C3642BC8-86E8-47D0-8846-3E4D49E4B46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563586"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66">
              <a:extLst>
                <a:ext uri="{FF2B5EF4-FFF2-40B4-BE49-F238E27FC236}">
                  <a16:creationId xmlns:a16="http://schemas.microsoft.com/office/drawing/2014/main" xmlns="" id="{82D35214-3634-4180-BF0E-45B6145161C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563586"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0" name="Rectangle 64">
              <a:extLst>
                <a:ext uri="{FF2B5EF4-FFF2-40B4-BE49-F238E27FC236}">
                  <a16:creationId xmlns:a16="http://schemas.microsoft.com/office/drawing/2014/main" xmlns="" id="{15BE89E6-3D1C-42B5-A950-E72889F8BB6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43863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1" name="Rectangle 66">
              <a:extLst>
                <a:ext uri="{FF2B5EF4-FFF2-40B4-BE49-F238E27FC236}">
                  <a16:creationId xmlns:a16="http://schemas.microsoft.com/office/drawing/2014/main" xmlns="" id="{473771CC-5097-4E08-9606-24B0BC9A0D1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43863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2" name="Rectangle 64">
              <a:extLst>
                <a:ext uri="{FF2B5EF4-FFF2-40B4-BE49-F238E27FC236}">
                  <a16:creationId xmlns:a16="http://schemas.microsoft.com/office/drawing/2014/main" xmlns="" id="{BE872634-00DA-47BD-880D-5C05FFADCC2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313675"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Rectangle 66">
              <a:extLst>
                <a:ext uri="{FF2B5EF4-FFF2-40B4-BE49-F238E27FC236}">
                  <a16:creationId xmlns:a16="http://schemas.microsoft.com/office/drawing/2014/main" xmlns="" id="{4F151F5C-DE9B-460E-BC51-471F4A8A5A2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313675"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4" name="Rectangle 64">
              <a:extLst>
                <a:ext uri="{FF2B5EF4-FFF2-40B4-BE49-F238E27FC236}">
                  <a16:creationId xmlns:a16="http://schemas.microsoft.com/office/drawing/2014/main" xmlns="" id="{34557B8A-4D2F-4D0D-B746-59EA85318C4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188720"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5" name="Rectangle 66">
              <a:extLst>
                <a:ext uri="{FF2B5EF4-FFF2-40B4-BE49-F238E27FC236}">
                  <a16:creationId xmlns:a16="http://schemas.microsoft.com/office/drawing/2014/main" xmlns="" id="{C764CD8E-E409-4E9B-8E87-746DDE36DA2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188720"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6" name="Rectangle 64">
              <a:extLst>
                <a:ext uri="{FF2B5EF4-FFF2-40B4-BE49-F238E27FC236}">
                  <a16:creationId xmlns:a16="http://schemas.microsoft.com/office/drawing/2014/main" xmlns="" id="{8E27A01D-2F01-4286-9453-3FBF6E84856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31331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7" name="Rectangle 66">
              <a:extLst>
                <a:ext uri="{FF2B5EF4-FFF2-40B4-BE49-F238E27FC236}">
                  <a16:creationId xmlns:a16="http://schemas.microsoft.com/office/drawing/2014/main" xmlns="" id="{460487A5-12EB-422E-9588-8FF06FAF739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31331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8" name="Rectangle 64">
              <a:extLst>
                <a:ext uri="{FF2B5EF4-FFF2-40B4-BE49-F238E27FC236}">
                  <a16:creationId xmlns:a16="http://schemas.microsoft.com/office/drawing/2014/main" xmlns="" id="{7D522D20-C9F7-4B34-9066-4B43ADAABD4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188363"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9" name="Rectangle 66">
              <a:extLst>
                <a:ext uri="{FF2B5EF4-FFF2-40B4-BE49-F238E27FC236}">
                  <a16:creationId xmlns:a16="http://schemas.microsoft.com/office/drawing/2014/main" xmlns="" id="{97B04F2C-295B-447A-8941-0AD4F555161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188363"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Rectangle 64">
              <a:extLst>
                <a:ext uri="{FF2B5EF4-FFF2-40B4-BE49-F238E27FC236}">
                  <a16:creationId xmlns:a16="http://schemas.microsoft.com/office/drawing/2014/main" xmlns="" id="{17D7FF91-B366-4534-B9B4-5710926EE7C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06340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Rectangle 66">
              <a:extLst>
                <a:ext uri="{FF2B5EF4-FFF2-40B4-BE49-F238E27FC236}">
                  <a16:creationId xmlns:a16="http://schemas.microsoft.com/office/drawing/2014/main" xmlns="" id="{B5B8116C-ADD9-4826-9C37-270377E8FF4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06340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Rectangle 64">
              <a:extLst>
                <a:ext uri="{FF2B5EF4-FFF2-40B4-BE49-F238E27FC236}">
                  <a16:creationId xmlns:a16="http://schemas.microsoft.com/office/drawing/2014/main" xmlns="" id="{22D01D96-8DB8-40BF-83AC-4CA49EC2639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938452"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3" name="Rectangle 66">
              <a:extLst>
                <a:ext uri="{FF2B5EF4-FFF2-40B4-BE49-F238E27FC236}">
                  <a16:creationId xmlns:a16="http://schemas.microsoft.com/office/drawing/2014/main" xmlns="" id="{44B584CD-5E60-4B15-847C-B30D15DA1A4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938452"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4" name="Rectangle 64">
              <a:extLst>
                <a:ext uri="{FF2B5EF4-FFF2-40B4-BE49-F238E27FC236}">
                  <a16:creationId xmlns:a16="http://schemas.microsoft.com/office/drawing/2014/main" xmlns="" id="{CF2BB7DC-B968-4F0B-9748-BF0E6E297C2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813497"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5" name="Rectangle 66">
              <a:extLst>
                <a:ext uri="{FF2B5EF4-FFF2-40B4-BE49-F238E27FC236}">
                  <a16:creationId xmlns:a16="http://schemas.microsoft.com/office/drawing/2014/main" xmlns="" id="{CF12C159-3F09-4861-9450-ECD5DB31009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813497"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07" name="Rectangle 3106">
            <a:extLst>
              <a:ext uri="{FF2B5EF4-FFF2-40B4-BE49-F238E27FC236}">
                <a16:creationId xmlns:a16="http://schemas.microsoft.com/office/drawing/2014/main" xmlns="" id="{D9F5512A-48E1-4C07-B75E-3CCC517B68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0623" y="1838326"/>
            <a:ext cx="4819276" cy="4946522"/>
          </a:xfrm>
        </p:spPr>
        <p:txBody>
          <a:bodyPr anchor="ctr">
            <a:normAutofit/>
          </a:bodyPr>
          <a:lstStyle/>
          <a:p>
            <a:r>
              <a:rPr lang="en-GB" sz="2000" dirty="0">
                <a:solidFill>
                  <a:schemeClr val="bg1"/>
                </a:solidFill>
              </a:rPr>
              <a:t>This is the </a:t>
            </a:r>
            <a:r>
              <a:rPr lang="en-GB" sz="2000" b="1" dirty="0">
                <a:solidFill>
                  <a:schemeClr val="bg1"/>
                </a:solidFill>
              </a:rPr>
              <a:t>speed</a:t>
            </a:r>
            <a:r>
              <a:rPr lang="en-GB" sz="2000" dirty="0">
                <a:solidFill>
                  <a:schemeClr val="bg1"/>
                </a:solidFill>
              </a:rPr>
              <a:t> at which data can be processed</a:t>
            </a:r>
          </a:p>
          <a:p>
            <a:endParaRPr lang="en-GB" sz="2000" dirty="0">
              <a:solidFill>
                <a:schemeClr val="bg1"/>
              </a:solidFill>
            </a:endParaRPr>
          </a:p>
          <a:p>
            <a:r>
              <a:rPr lang="en-GB" sz="2000" dirty="0">
                <a:solidFill>
                  <a:schemeClr val="bg1"/>
                </a:solidFill>
              </a:rPr>
              <a:t>Since there are such large volumes of data, and the expectation of ‘real time’ posting on social media (for example), powerful computers are required in order to actually process the data quickly. </a:t>
            </a:r>
          </a:p>
          <a:p>
            <a:endParaRPr lang="en-GB" sz="2000" dirty="0">
              <a:solidFill>
                <a:schemeClr val="bg1"/>
              </a:solidFill>
            </a:endParaRPr>
          </a:p>
          <a:p>
            <a:r>
              <a:rPr lang="en-GB" sz="2000" dirty="0">
                <a:solidFill>
                  <a:schemeClr val="bg1"/>
                </a:solidFill>
              </a:rPr>
              <a:t>Think – you wouldn’t want to submit a post on Instagram and it not actually post for hours afterwards. You would want it posted instantly or you would just move on to another social platform!</a:t>
            </a:r>
          </a:p>
        </p:txBody>
      </p:sp>
    </p:spTree>
    <p:extLst>
      <p:ext uri="{BB962C8B-B14F-4D97-AF65-F5344CB8AC3E}">
        <p14:creationId xmlns:p14="http://schemas.microsoft.com/office/powerpoint/2010/main" val="360781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The five V's of Big Data. 4 — LEARN BIG DATA, DATA SCIENCE… | by Jose  Antonio Ribeiro Neto (Zezinho) | XNEWDATA | Medium">
            <a:extLst>
              <a:ext uri="{FF2B5EF4-FFF2-40B4-BE49-F238E27FC236}">
                <a16:creationId xmlns:a16="http://schemas.microsoft.com/office/drawing/2014/main" xmlns="" id="{A72C9B18-D958-4CDF-A588-3D83D9D9CC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91" r="23289"/>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5" name="Rectangle 4104">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71094" y="1161288"/>
            <a:ext cx="3438144" cy="1124712"/>
          </a:xfrm>
        </p:spPr>
        <p:txBody>
          <a:bodyPr anchor="b">
            <a:normAutofit/>
          </a:bodyPr>
          <a:lstStyle/>
          <a:p>
            <a:r>
              <a:rPr lang="en-GB" sz="7200" dirty="0"/>
              <a:t>Variety</a:t>
            </a:r>
          </a:p>
        </p:txBody>
      </p:sp>
      <p:sp>
        <p:nvSpPr>
          <p:cNvPr id="4107" name="Rectangle 4106">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09" name="Rectangle 4108">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104775" y="2718054"/>
            <a:ext cx="5572125" cy="3987546"/>
          </a:xfrm>
        </p:spPr>
        <p:txBody>
          <a:bodyPr anchor="t">
            <a:normAutofit/>
          </a:bodyPr>
          <a:lstStyle/>
          <a:p>
            <a:r>
              <a:rPr lang="en-GB" sz="1800" dirty="0"/>
              <a:t>Organisations have to process lots of different types and varieties of data, including images, videos and sound clips – unlike just text (which is searchable), these formats require a different kind of analysis to gather data</a:t>
            </a:r>
          </a:p>
          <a:p>
            <a:r>
              <a:rPr lang="en-GB" sz="1800" dirty="0"/>
              <a:t>Data can be structured, semi-structured or unstructured and organisations have to be able to gather data from all of these different types of data have to be stored sufficiently and correctly.</a:t>
            </a:r>
          </a:p>
          <a:p>
            <a:endParaRPr lang="en-GB" sz="1800" dirty="0"/>
          </a:p>
          <a:p>
            <a:r>
              <a:rPr lang="en-GB" sz="1800" dirty="0"/>
              <a:t>Think about what sort of data type you would need for a </a:t>
            </a:r>
            <a:r>
              <a:rPr lang="en-GB" sz="1800" dirty="0" err="1"/>
              <a:t>facebook</a:t>
            </a:r>
            <a:r>
              <a:rPr lang="en-GB" sz="1800" dirty="0"/>
              <a:t> post – it can have so many different types!!!</a:t>
            </a:r>
          </a:p>
        </p:txBody>
      </p:sp>
    </p:spTree>
    <p:extLst>
      <p:ext uri="{BB962C8B-B14F-4D97-AF65-F5344CB8AC3E}">
        <p14:creationId xmlns:p14="http://schemas.microsoft.com/office/powerpoint/2010/main" val="353268094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tructured vs Unstructured Data – What's the Difference?"/>
          <p:cNvPicPr>
            <a:picLocks noChangeAspect="1" noChangeArrowheads="1"/>
          </p:cNvPicPr>
          <p:nvPr/>
        </p:nvPicPr>
        <p:blipFill rotWithShape="1">
          <a:blip r:embed="rId2">
            <a:extLst>
              <a:ext uri="{28A0092B-C50C-407E-A947-70E740481C1C}">
                <a14:useLocalDpi xmlns:a14="http://schemas.microsoft.com/office/drawing/2010/main" val="0"/>
              </a:ext>
            </a:extLst>
          </a:blip>
          <a:srcRect t="1103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110150" y="1430446"/>
            <a:ext cx="5819868" cy="3150607"/>
          </a:xfrm>
          <a:solidFill>
            <a:schemeClr val="accent1">
              <a:lumMod val="20000"/>
              <a:lumOff val="80000"/>
            </a:schemeClr>
          </a:solidFill>
          <a:ln>
            <a:solidFill>
              <a:schemeClr val="accent1">
                <a:lumMod val="50000"/>
              </a:schemeClr>
            </a:solidFill>
          </a:ln>
          <a:effectLst>
            <a:outerShdw blurRad="50800" dist="38100" dir="2700000" algn="tl" rotWithShape="0">
              <a:prstClr val="black">
                <a:alpha val="40000"/>
              </a:prstClr>
            </a:outerShdw>
          </a:effectLst>
        </p:spPr>
        <p:txBody>
          <a:bodyPr>
            <a:normAutofit/>
          </a:bodyPr>
          <a:lstStyle/>
          <a:p>
            <a:r>
              <a:rPr lang="en-GB" sz="2600" dirty="0"/>
              <a:t>Structured data is also known as </a:t>
            </a:r>
            <a:r>
              <a:rPr lang="en-GB" sz="2600" b="1" dirty="0"/>
              <a:t>quantitative data</a:t>
            </a:r>
            <a:endParaRPr lang="en-GB" sz="2600" dirty="0"/>
          </a:p>
          <a:p>
            <a:r>
              <a:rPr lang="en-GB" sz="2600" dirty="0"/>
              <a:t>It is highly organised, usually in tabular format</a:t>
            </a:r>
          </a:p>
          <a:p>
            <a:r>
              <a:rPr lang="en-GB" sz="2600" dirty="0"/>
              <a:t>Easily used and easily interpreted</a:t>
            </a:r>
          </a:p>
          <a:p>
            <a:r>
              <a:rPr lang="en-GB" sz="2600" dirty="0"/>
              <a:t>Examples include, dates, names, addresses and credit card numbers</a:t>
            </a:r>
          </a:p>
        </p:txBody>
      </p:sp>
      <p:sp>
        <p:nvSpPr>
          <p:cNvPr id="5" name="Content Placeholder 2"/>
          <p:cNvSpPr txBox="1">
            <a:spLocks/>
          </p:cNvSpPr>
          <p:nvPr/>
        </p:nvSpPr>
        <p:spPr>
          <a:xfrm>
            <a:off x="6230297" y="1430447"/>
            <a:ext cx="5819868" cy="3150607"/>
          </a:xfrm>
          <a:prstGeom prst="rect">
            <a:avLst/>
          </a:prstGeom>
          <a:solidFill>
            <a:schemeClr val="accent4">
              <a:lumMod val="20000"/>
              <a:lumOff val="80000"/>
            </a:schemeClr>
          </a:solidFill>
          <a:ln>
            <a:solidFill>
              <a:schemeClr val="accent4">
                <a:lumMod val="50000"/>
              </a:schemeClr>
            </a:solidFill>
          </a:ln>
          <a:effectLst>
            <a:outerShdw blurRad="50800" dist="38100" dir="2700000" algn="tl" rotWithShape="0">
              <a:prstClr val="black">
                <a:alpha val="40000"/>
              </a:prstClr>
            </a:outerShdw>
          </a:effectLst>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Structured data is also known as </a:t>
            </a:r>
            <a:r>
              <a:rPr lang="en-GB" b="1" dirty="0"/>
              <a:t>qualitative</a:t>
            </a:r>
            <a:r>
              <a:rPr lang="en-GB" dirty="0"/>
              <a:t> </a:t>
            </a:r>
            <a:r>
              <a:rPr lang="en-GB" b="1" dirty="0"/>
              <a:t>data</a:t>
            </a:r>
            <a:endParaRPr lang="en-GB" dirty="0"/>
          </a:p>
          <a:p>
            <a:r>
              <a:rPr lang="en-GB" dirty="0"/>
              <a:t>Cannot be processed by normal means using conventional data tools/methods</a:t>
            </a:r>
          </a:p>
          <a:p>
            <a:r>
              <a:rPr lang="en-GB" dirty="0"/>
              <a:t>Easy to collect in ‘raw form’ and fast to collect</a:t>
            </a:r>
          </a:p>
          <a:p>
            <a:r>
              <a:rPr lang="en-GB" dirty="0"/>
              <a:t>Examples include mobile activity, social media posts, </a:t>
            </a:r>
            <a:r>
              <a:rPr lang="en-GB" dirty="0" err="1"/>
              <a:t>IoT</a:t>
            </a:r>
            <a:r>
              <a:rPr lang="en-GB" dirty="0"/>
              <a:t> sensor data, essays</a:t>
            </a:r>
          </a:p>
        </p:txBody>
      </p:sp>
    </p:spTree>
    <p:extLst>
      <p:ext uri="{BB962C8B-B14F-4D97-AF65-F5344CB8AC3E}">
        <p14:creationId xmlns:p14="http://schemas.microsoft.com/office/powerpoint/2010/main" val="73833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anim calcmode="lin" valueType="num">
                                      <p:cBhvr>
                                        <p:cTn id="35" dur="1000" fill="hold"/>
                                        <p:tgtEl>
                                          <p:spTgt spid="5"/>
                                        </p:tgtEl>
                                        <p:attrNameLst>
                                          <p:attrName>ppt_x</p:attrName>
                                        </p:attrNameLst>
                                      </p:cBhvr>
                                      <p:tavLst>
                                        <p:tav tm="0">
                                          <p:val>
                                            <p:strVal val="#ppt_x"/>
                                          </p:val>
                                        </p:tav>
                                        <p:tav tm="100000">
                                          <p:val>
                                            <p:strVal val="#ppt_x"/>
                                          </p:val>
                                        </p:tav>
                                      </p:tavLst>
                                    </p:anim>
                                    <p:anim calcmode="lin" valueType="num">
                                      <p:cBhvr>
                                        <p:cTn id="3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 how do you analyse such               ?</a:t>
            </a:r>
          </a:p>
        </p:txBody>
      </p:sp>
      <p:sp>
        <p:nvSpPr>
          <p:cNvPr id="3" name="Content Placeholder 2"/>
          <p:cNvSpPr>
            <a:spLocks noGrp="1"/>
          </p:cNvSpPr>
          <p:nvPr>
            <p:ph idx="1"/>
          </p:nvPr>
        </p:nvSpPr>
        <p:spPr/>
        <p:txBody>
          <a:bodyPr>
            <a:normAutofit lnSpcReduction="10000"/>
          </a:bodyPr>
          <a:lstStyle/>
          <a:p>
            <a:r>
              <a:rPr lang="en-GB" dirty="0"/>
              <a:t>We use </a:t>
            </a:r>
            <a:r>
              <a:rPr lang="en-GB" b="1" dirty="0"/>
              <a:t>data </a:t>
            </a:r>
            <a:r>
              <a:rPr lang="en-GB" b="1" dirty="0" smtClean="0"/>
              <a:t>analytics</a:t>
            </a:r>
            <a:endParaRPr lang="en-GB" dirty="0" smtClean="0"/>
          </a:p>
          <a:p>
            <a:r>
              <a:rPr lang="en-GB" dirty="0" smtClean="0"/>
              <a:t>This is the process of analysing large volumes of data to produce useful information</a:t>
            </a:r>
          </a:p>
          <a:p>
            <a:endParaRPr lang="en-GB" dirty="0" smtClean="0"/>
          </a:p>
          <a:p>
            <a:r>
              <a:rPr lang="en-GB" dirty="0" smtClean="0"/>
              <a:t>Really </a:t>
            </a:r>
            <a:r>
              <a:rPr lang="en-GB" dirty="0"/>
              <a:t>important and beneficial for organisations to aid with decision making, especially when planning for future growth</a:t>
            </a:r>
          </a:p>
          <a:p>
            <a:r>
              <a:rPr lang="en-GB" dirty="0"/>
              <a:t>Specialist software, called data mining software, and statistical analysis are designed to process these vast quantities of data</a:t>
            </a:r>
          </a:p>
          <a:p>
            <a:r>
              <a:rPr lang="en-GB" dirty="0"/>
              <a:t>When data is in different formats (structured/unstructured), it makes preparing and processing data more challenging</a:t>
            </a:r>
          </a:p>
        </p:txBody>
      </p:sp>
      <p:pic>
        <p:nvPicPr>
          <p:cNvPr id="2050" name="Picture 2" descr="Big Data Banner. Big Data Speech Bubble Label Set. Stock Vector -  Illustration of paper, flyer: 194424103"/>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389" b="99611" l="0" r="32625">
                        <a14:foregroundMark x1="7250" y1="42802" x2="7250" y2="42802"/>
                        <a14:foregroundMark x1="7375" y1="52529" x2="7375" y2="52529"/>
                        <a14:foregroundMark x1="17313" y1="42802" x2="17313" y2="42802"/>
                        <a14:foregroundMark x1="20438" y1="42023" x2="20438" y2="42023"/>
                        <a14:foregroundMark x1="25938" y1="38132" x2="25938" y2="38132"/>
                      </a14:backgroundRemoval>
                    </a14:imgEffect>
                  </a14:imgLayer>
                </a14:imgProps>
              </a:ext>
              <a:ext uri="{28A0092B-C50C-407E-A947-70E740481C1C}">
                <a14:useLocalDpi xmlns:a14="http://schemas.microsoft.com/office/drawing/2010/main" val="0"/>
              </a:ext>
            </a:extLst>
          </a:blip>
          <a:srcRect r="66408"/>
          <a:stretch/>
        </p:blipFill>
        <p:spPr bwMode="auto">
          <a:xfrm rot="269034">
            <a:off x="7195461" y="600728"/>
            <a:ext cx="1938191" cy="926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02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AD21898E-86C0-4C8A-A76C-DF33E844C87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9">
            <a:extLst>
              <a:ext uri="{FF2B5EF4-FFF2-40B4-BE49-F238E27FC236}">
                <a16:creationId xmlns:a16="http://schemas.microsoft.com/office/drawing/2014/main" xmlns="" id="{5C8F04BD-D093-45D0-B54C-50FDB308B4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311147" y="365760"/>
            <a:ext cx="7569706" cy="1288238"/>
          </a:xfrm>
        </p:spPr>
        <p:txBody>
          <a:bodyPr anchor="ctr">
            <a:normAutofit/>
          </a:bodyPr>
          <a:lstStyle/>
          <a:p>
            <a:pPr algn="ctr"/>
            <a:r>
              <a:rPr lang="en-GB"/>
              <a:t>Data Analytics</a:t>
            </a:r>
          </a:p>
        </p:txBody>
      </p:sp>
      <p:sp>
        <p:nvSpPr>
          <p:cNvPr id="3" name="Content Placeholder 2"/>
          <p:cNvSpPr>
            <a:spLocks noGrp="1"/>
          </p:cNvSpPr>
          <p:nvPr>
            <p:ph idx="1"/>
          </p:nvPr>
        </p:nvSpPr>
        <p:spPr>
          <a:xfrm>
            <a:off x="1390651" y="1956816"/>
            <a:ext cx="9448800" cy="4024884"/>
          </a:xfrm>
        </p:spPr>
        <p:txBody>
          <a:bodyPr anchor="t">
            <a:normAutofit fontScale="92500" lnSpcReduction="20000"/>
          </a:bodyPr>
          <a:lstStyle/>
          <a:p>
            <a:r>
              <a:rPr lang="en-GB" sz="2400" dirty="0">
                <a:solidFill>
                  <a:srgbClr val="FFFF00"/>
                </a:solidFill>
              </a:rPr>
              <a:t>Data analytics is the </a:t>
            </a:r>
            <a:r>
              <a:rPr lang="en-GB" sz="2400" dirty="0" smtClean="0">
                <a:solidFill>
                  <a:srgbClr val="FFFF00"/>
                </a:solidFill>
              </a:rPr>
              <a:t>application </a:t>
            </a:r>
            <a:r>
              <a:rPr lang="en-GB" sz="2400" dirty="0">
                <a:solidFill>
                  <a:srgbClr val="FFFF00"/>
                </a:solidFill>
              </a:rPr>
              <a:t>of algorithms, programs, or artificial intelligence to data to identify patterns, trends, and relationships, allowing conclusions to be drawn</a:t>
            </a:r>
          </a:p>
          <a:p>
            <a:r>
              <a:rPr lang="en-GB" sz="2400" dirty="0" smtClean="0"/>
              <a:t>This </a:t>
            </a:r>
            <a:r>
              <a:rPr lang="en-GB" sz="2400" dirty="0"/>
              <a:t>can assist with statistical analysis of the data using artificial intelligence in order to draw conclusions from multiple sources of information, including:</a:t>
            </a:r>
          </a:p>
          <a:p>
            <a:pPr lvl="1"/>
            <a:r>
              <a:rPr lang="en-GB" dirty="0"/>
              <a:t>Text, images and videos posted on social media sites;</a:t>
            </a:r>
          </a:p>
          <a:p>
            <a:pPr lvl="1"/>
            <a:r>
              <a:rPr lang="en-GB" dirty="0"/>
              <a:t>medical records;</a:t>
            </a:r>
          </a:p>
          <a:p>
            <a:pPr lvl="1"/>
            <a:r>
              <a:rPr lang="en-GB" dirty="0"/>
              <a:t>fitness monitors;</a:t>
            </a:r>
          </a:p>
          <a:p>
            <a:pPr lvl="1"/>
            <a:r>
              <a:rPr lang="en-GB" dirty="0"/>
              <a:t>financial markets – share price data, currencies, etc.;</a:t>
            </a:r>
          </a:p>
          <a:p>
            <a:pPr lvl="1"/>
            <a:r>
              <a:rPr lang="en-GB" dirty="0"/>
              <a:t>web server logs;</a:t>
            </a:r>
          </a:p>
          <a:p>
            <a:pPr lvl="1"/>
            <a:r>
              <a:rPr lang="en-GB" dirty="0"/>
              <a:t>mobile phone records;</a:t>
            </a:r>
          </a:p>
          <a:p>
            <a:pPr lvl="1"/>
            <a:r>
              <a:rPr lang="en-GB" dirty="0"/>
              <a:t>ecommerce transactions;</a:t>
            </a:r>
          </a:p>
          <a:p>
            <a:pPr lvl="1"/>
            <a:r>
              <a:rPr lang="en-GB" dirty="0"/>
              <a:t>device logs (internet of things).</a:t>
            </a:r>
          </a:p>
        </p:txBody>
      </p:sp>
    </p:spTree>
    <p:extLst>
      <p:ext uri="{BB962C8B-B14F-4D97-AF65-F5344CB8AC3E}">
        <p14:creationId xmlns:p14="http://schemas.microsoft.com/office/powerpoint/2010/main" val="16139871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59667" y="170600"/>
            <a:ext cx="9931124" cy="6483696"/>
          </a:xfrm>
          <a:prstGeom prst="rect">
            <a:avLst/>
          </a:prstGeom>
        </p:spPr>
      </p:pic>
    </p:spTree>
    <p:extLst>
      <p:ext uri="{BB962C8B-B14F-4D97-AF65-F5344CB8AC3E}">
        <p14:creationId xmlns:p14="http://schemas.microsoft.com/office/powerpoint/2010/main" val="366040202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b="93299"/>
          <a:stretch/>
        </p:blipFill>
        <p:spPr>
          <a:xfrm>
            <a:off x="300971" y="205054"/>
            <a:ext cx="7728926" cy="338154"/>
          </a:xfrm>
          <a:prstGeom prst="rect">
            <a:avLst/>
          </a:prstGeom>
        </p:spPr>
      </p:pic>
      <p:pic>
        <p:nvPicPr>
          <p:cNvPr id="3" name="Picture 2"/>
          <p:cNvPicPr>
            <a:picLocks noChangeAspect="1"/>
          </p:cNvPicPr>
          <p:nvPr/>
        </p:nvPicPr>
        <p:blipFill>
          <a:blip r:embed="rId3"/>
          <a:stretch>
            <a:fillRect/>
          </a:stretch>
        </p:blipFill>
        <p:spPr>
          <a:xfrm>
            <a:off x="96885" y="1530036"/>
            <a:ext cx="6000189" cy="4811916"/>
          </a:xfrm>
          <a:prstGeom prst="rect">
            <a:avLst/>
          </a:prstGeom>
        </p:spPr>
      </p:pic>
      <p:pic>
        <p:nvPicPr>
          <p:cNvPr id="6" name="Picture 5"/>
          <p:cNvPicPr>
            <a:picLocks noChangeAspect="1"/>
          </p:cNvPicPr>
          <p:nvPr/>
        </p:nvPicPr>
        <p:blipFill>
          <a:blip r:embed="rId4"/>
          <a:stretch>
            <a:fillRect/>
          </a:stretch>
        </p:blipFill>
        <p:spPr>
          <a:xfrm>
            <a:off x="6065822" y="1436345"/>
            <a:ext cx="6005422" cy="4968982"/>
          </a:xfrm>
          <a:prstGeom prst="rect">
            <a:avLst/>
          </a:prstGeom>
        </p:spPr>
      </p:pic>
    </p:spTree>
    <p:extLst>
      <p:ext uri="{BB962C8B-B14F-4D97-AF65-F5344CB8AC3E}">
        <p14:creationId xmlns:p14="http://schemas.microsoft.com/office/powerpoint/2010/main" val="40531998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1B8EEC-1A36-D3B1-6CA2-EA409C4595A0}"/>
              </a:ext>
            </a:extLst>
          </p:cNvPr>
          <p:cNvSpPr>
            <a:spLocks noGrp="1"/>
          </p:cNvSpPr>
          <p:nvPr>
            <p:ph type="title"/>
          </p:nvPr>
        </p:nvSpPr>
        <p:spPr>
          <a:xfrm>
            <a:off x="0" y="0"/>
            <a:ext cx="10515600" cy="1325563"/>
          </a:xfrm>
        </p:spPr>
        <p:txBody>
          <a:bodyPr/>
          <a:lstStyle/>
          <a:p>
            <a:r>
              <a:rPr lang="en-GB" dirty="0">
                <a:latin typeface="LEMON MILK" panose="00000500000000000000" pitchFamily="50" charset="0"/>
              </a:rPr>
              <a:t>Suggested Answer</a:t>
            </a:r>
          </a:p>
        </p:txBody>
      </p:sp>
      <p:sp>
        <p:nvSpPr>
          <p:cNvPr id="3" name="Content Placeholder 2">
            <a:extLst>
              <a:ext uri="{FF2B5EF4-FFF2-40B4-BE49-F238E27FC236}">
                <a16:creationId xmlns:a16="http://schemas.microsoft.com/office/drawing/2014/main" xmlns="" id="{F03269AA-A060-0D23-C938-5CA429D8B3BB}"/>
              </a:ext>
            </a:extLst>
          </p:cNvPr>
          <p:cNvSpPr>
            <a:spLocks noGrp="1"/>
          </p:cNvSpPr>
          <p:nvPr>
            <p:ph idx="1"/>
          </p:nvPr>
        </p:nvSpPr>
        <p:spPr>
          <a:xfrm>
            <a:off x="161925" y="1047750"/>
            <a:ext cx="8448675" cy="5329238"/>
          </a:xfrm>
        </p:spPr>
        <p:txBody>
          <a:bodyPr>
            <a:noAutofit/>
          </a:bodyPr>
          <a:lstStyle/>
          <a:p>
            <a:pPr marL="0" indent="0">
              <a:buNone/>
            </a:pPr>
            <a:r>
              <a:rPr lang="en-GB" sz="2000" dirty="0"/>
              <a:t>Big data is large amounts of data collected by companies in the form of text, images, social media posts, and fitness monitors which has the potential to be mined for information but cannot be analysed by normal means due to its volume, velocity and variety</a:t>
            </a:r>
            <a:r>
              <a:rPr lang="en-GB" sz="2000" dirty="0" smtClean="0"/>
              <a:t>.</a:t>
            </a:r>
          </a:p>
          <a:p>
            <a:pPr marL="0" indent="0">
              <a:buNone/>
            </a:pPr>
            <a:endParaRPr lang="en-GB" sz="2000" dirty="0"/>
          </a:p>
          <a:p>
            <a:pPr marL="0" indent="0">
              <a:buNone/>
            </a:pPr>
            <a:r>
              <a:rPr lang="en-GB" sz="2000" dirty="0"/>
              <a:t>The volume of data refers to the large amounts of data, usually measured in terabytes or petabytes of data, that traditional tools are not able to deal with them effectively and specialist data mining software is required</a:t>
            </a:r>
            <a:r>
              <a:rPr lang="en-GB" sz="2000" dirty="0" smtClean="0"/>
              <a:t>.</a:t>
            </a:r>
          </a:p>
          <a:p>
            <a:pPr marL="0" indent="0">
              <a:buNone/>
            </a:pPr>
            <a:endParaRPr lang="en-GB" sz="2000" dirty="0"/>
          </a:p>
          <a:p>
            <a:pPr marL="0" indent="0">
              <a:buNone/>
            </a:pPr>
            <a:r>
              <a:rPr lang="en-GB" sz="2000" dirty="0"/>
              <a:t>The large amounts of data arrives in quickly, which requires systems to process quickly and within a reasonable length of time. This is because the incoming rate can be extremely high</a:t>
            </a:r>
            <a:r>
              <a:rPr lang="en-GB" sz="2000" dirty="0" smtClean="0"/>
              <a:t>.</a:t>
            </a:r>
          </a:p>
          <a:p>
            <a:pPr marL="0" indent="0">
              <a:buNone/>
            </a:pPr>
            <a:endParaRPr lang="en-GB" sz="2000" dirty="0"/>
          </a:p>
          <a:p>
            <a:pPr marL="0" indent="0">
              <a:buNone/>
            </a:pPr>
            <a:r>
              <a:rPr lang="en-GB" sz="2000" dirty="0"/>
              <a:t>The variety of data is also a cause for concern, as it can be structured or unstructured formats, creating a challenge to store the data in a structured format. This includes text, images and videos.</a:t>
            </a:r>
          </a:p>
          <a:p>
            <a:endParaRPr lang="en-GB" sz="2000" dirty="0"/>
          </a:p>
        </p:txBody>
      </p:sp>
    </p:spTree>
    <p:extLst>
      <p:ext uri="{BB962C8B-B14F-4D97-AF65-F5344CB8AC3E}">
        <p14:creationId xmlns:p14="http://schemas.microsoft.com/office/powerpoint/2010/main" val="19631958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1193</TotalTime>
  <Words>2571</Words>
  <Application>Microsoft Office PowerPoint</Application>
  <PresentationFormat>Widescreen</PresentationFormat>
  <Paragraphs>450</Paragraphs>
  <Slides>37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Calibri Light</vt:lpstr>
      <vt:lpstr>Century Gothic</vt:lpstr>
      <vt:lpstr>Ink Free</vt:lpstr>
      <vt:lpstr>LEMON MILK</vt:lpstr>
      <vt:lpstr>Rockwell</vt:lpstr>
      <vt:lpstr>Wingdings</vt:lpstr>
      <vt:lpstr>Office Theme</vt:lpstr>
      <vt:lpstr>Database Applications</vt:lpstr>
      <vt:lpstr>Databases</vt:lpstr>
      <vt:lpstr>Databases</vt:lpstr>
      <vt:lpstr>Table, Records and Fields</vt:lpstr>
      <vt:lpstr>Starting Glossary List</vt:lpstr>
      <vt:lpstr>Queries</vt:lpstr>
      <vt:lpstr>PowerPoint Presentation</vt:lpstr>
      <vt:lpstr>Forms</vt:lpstr>
      <vt:lpstr>Reports</vt:lpstr>
      <vt:lpstr>Macros</vt:lpstr>
      <vt:lpstr>Database Relationships</vt:lpstr>
      <vt:lpstr>An Example</vt:lpstr>
      <vt:lpstr>A Worked Example</vt:lpstr>
      <vt:lpstr>A Worked Example</vt:lpstr>
      <vt:lpstr>A Worked Example</vt:lpstr>
      <vt:lpstr>A Worked Example</vt:lpstr>
      <vt:lpstr>A Worked Example</vt:lpstr>
      <vt:lpstr>Enforcing Referential Integrity</vt:lpstr>
      <vt:lpstr>Importing Data</vt:lpstr>
      <vt:lpstr>PowerPoint Presentation</vt:lpstr>
      <vt:lpstr>Data Validation</vt:lpstr>
      <vt:lpstr>Presence Check</vt:lpstr>
      <vt:lpstr>Length Check</vt:lpstr>
      <vt:lpstr>Type Check</vt:lpstr>
      <vt:lpstr>Format Check</vt:lpstr>
      <vt:lpstr>Range Check</vt:lpstr>
      <vt:lpstr>Logical Operators</vt:lpstr>
      <vt:lpstr>What is Big Data?</vt:lpstr>
      <vt:lpstr>Volume</vt:lpstr>
      <vt:lpstr>Velocity</vt:lpstr>
      <vt:lpstr>Variety</vt:lpstr>
      <vt:lpstr>PowerPoint Presentation</vt:lpstr>
      <vt:lpstr>So how do you analyse such               ?</vt:lpstr>
      <vt:lpstr>Data Analytics</vt:lpstr>
      <vt:lpstr>PowerPoint Presentation</vt:lpstr>
      <vt:lpstr>PowerPoint Presentation</vt:lpstr>
      <vt:lpstr>Suggested Answer</vt:lpstr>
    </vt:vector>
  </TitlesOfParts>
  <Company>C2k</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Applications</dc:title>
  <dc:creator>J Butler</dc:creator>
  <cp:lastModifiedBy>Microsoft account</cp:lastModifiedBy>
  <cp:revision>65</cp:revision>
  <cp:lastPrinted>2023-10-23T11:17:26Z</cp:lastPrinted>
  <dcterms:created xsi:type="dcterms:W3CDTF">2019-05-21T07:37:11Z</dcterms:created>
  <dcterms:modified xsi:type="dcterms:W3CDTF">2026-10-30T10:30:53Z</dcterms:modified>
</cp:coreProperties>
</file>