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82" r:id="rId5"/>
    <p:sldId id="260" r:id="rId6"/>
    <p:sldId id="259" r:id="rId7"/>
    <p:sldId id="263" r:id="rId8"/>
    <p:sldId id="264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6" r:id="rId21"/>
    <p:sldId id="275" r:id="rId22"/>
    <p:sldId id="277" r:id="rId23"/>
    <p:sldId id="278" r:id="rId24"/>
    <p:sldId id="279" r:id="rId25"/>
    <p:sldId id="280" r:id="rId26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EA20C"/>
    <a:srgbClr val="1BC5B8"/>
    <a:srgbClr val="0E24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48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87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633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50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21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004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98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000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919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084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923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433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ordiaUPC" panose="020B0304020202020204" pitchFamily="34" charset="-34"/>
                <a:cs typeface="CordiaUPC" panose="020B0304020202020204" pitchFamily="34" charset="-34"/>
              </a:defRPr>
            </a:lvl1pPr>
            <a:lvl2pPr>
              <a:defRPr>
                <a:latin typeface="CordiaUPC" panose="020B0304020202020204" pitchFamily="34" charset="-34"/>
                <a:cs typeface="CordiaUPC" panose="020B0304020202020204" pitchFamily="34" charset="-34"/>
              </a:defRPr>
            </a:lvl2pPr>
            <a:lvl3pPr>
              <a:defRPr>
                <a:latin typeface="CordiaUPC" panose="020B0304020202020204" pitchFamily="34" charset="-34"/>
                <a:cs typeface="CordiaUPC" panose="020B0304020202020204" pitchFamily="34" charset="-34"/>
              </a:defRPr>
            </a:lvl3pPr>
            <a:lvl4pPr>
              <a:defRPr>
                <a:latin typeface="CordiaUPC" panose="020B0304020202020204" pitchFamily="34" charset="-34"/>
                <a:cs typeface="CordiaUPC" panose="020B0304020202020204" pitchFamily="34" charset="-34"/>
              </a:defRPr>
            </a:lvl4pPr>
            <a:lvl5pPr>
              <a:defRPr>
                <a:latin typeface="CordiaUPC" panose="020B0304020202020204" pitchFamily="34" charset="-34"/>
                <a:cs typeface="CordiaUPC" panose="020B0304020202020204" pitchFamily="34" charset="-34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091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619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841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954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0379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04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7151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4751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5303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8199-5D4A-44DC-98D5-92F56E1555C4}" type="datetimeFigureOut">
              <a:rPr lang="en-GB" smtClean="0"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92E-FC00-4EAB-880F-F7A28705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42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64" t="10748" b="62632"/>
          <a:stretch/>
        </p:blipFill>
        <p:spPr>
          <a:xfrm>
            <a:off x="-1" y="-1"/>
            <a:ext cx="1957137" cy="18256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75000" b="100000" l="14896" r="3755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839" t="74562" r="64056"/>
          <a:stretch/>
        </p:blipFill>
        <p:spPr>
          <a:xfrm rot="5400000">
            <a:off x="-657346" y="2185358"/>
            <a:ext cx="5329990" cy="40152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09" r="20138"/>
          <a:stretch/>
        </p:blipFill>
        <p:spPr>
          <a:xfrm>
            <a:off x="11253536" y="61746"/>
            <a:ext cx="938464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57136" y="365125"/>
            <a:ext cx="92963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0379" y="1825625"/>
            <a:ext cx="88231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28CF8199-5D4A-44DC-98D5-92F56E1555C4}" type="datetimeFigureOut">
              <a:rPr lang="en-GB" smtClean="0"/>
              <a:pPr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1E5192E-FC00-4EAB-880F-F7A2870540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8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Copperplate Gothic Light" panose="020E05070202060204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CordiaUPC" panose="020B0304020202020204" pitchFamily="34" charset="-34"/>
          <a:ea typeface="+mn-ea"/>
          <a:cs typeface="CordiaUPC" panose="020B0304020202020204" pitchFamily="34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CordiaUPC" panose="020B0304020202020204" pitchFamily="34" charset="-34"/>
          <a:ea typeface="+mn-ea"/>
          <a:cs typeface="CordiaUPC" panose="020B0304020202020204" pitchFamily="34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CordiaUPC" panose="020B0304020202020204" pitchFamily="34" charset="-34"/>
          <a:ea typeface="+mn-ea"/>
          <a:cs typeface="CordiaUPC" panose="020B0304020202020204" pitchFamily="34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ordiaUPC" panose="020B0304020202020204" pitchFamily="34" charset="-34"/>
          <a:ea typeface="+mn-ea"/>
          <a:cs typeface="CordiaUPC" panose="020B0304020202020204" pitchFamily="34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ordiaUPC" panose="020B0304020202020204" pitchFamily="34" charset="-34"/>
          <a:ea typeface="+mn-ea"/>
          <a:cs typeface="CordiaUPC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75000" b="100000" l="14896" r="3755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839" t="74562" r="70916" b="2672"/>
          <a:stretch/>
        </p:blipFill>
        <p:spPr>
          <a:xfrm rot="5400000">
            <a:off x="-14039" y="3250534"/>
            <a:ext cx="3597441" cy="35934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09" r="20138"/>
          <a:stretch/>
        </p:blipFill>
        <p:spPr>
          <a:xfrm>
            <a:off x="11253536" y="61746"/>
            <a:ext cx="938464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57136" y="365125"/>
            <a:ext cx="92963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0379" y="1825625"/>
            <a:ext cx="88231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28CF8199-5D4A-44DC-98D5-92F56E1555C4}" type="datetimeFigureOut">
              <a:rPr lang="en-GB" smtClean="0"/>
              <a:pPr/>
              <a:t>22/01/2024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1E5192E-FC00-4EAB-880F-F7A2870540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765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Copperplate Gothic Light" panose="020E05070202060204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CordiaUPC" panose="020B0304020202020204" pitchFamily="34" charset="-34"/>
          <a:ea typeface="+mn-ea"/>
          <a:cs typeface="CordiaUPC" panose="020B0304020202020204" pitchFamily="34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CordiaUPC" panose="020B0304020202020204" pitchFamily="34" charset="-34"/>
          <a:ea typeface="+mn-ea"/>
          <a:cs typeface="CordiaUPC" panose="020B0304020202020204" pitchFamily="34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CordiaUPC" panose="020B0304020202020204" pitchFamily="34" charset="-34"/>
          <a:ea typeface="+mn-ea"/>
          <a:cs typeface="CordiaUPC" panose="020B0304020202020204" pitchFamily="34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ordiaUPC" panose="020B0304020202020204" pitchFamily="34" charset="-34"/>
          <a:ea typeface="+mn-ea"/>
          <a:cs typeface="CordiaUPC" panose="020B0304020202020204" pitchFamily="34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ordiaUPC" panose="020B0304020202020204" pitchFamily="34" charset="-34"/>
          <a:ea typeface="+mn-ea"/>
          <a:cs typeface="CordiaUPC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quizlet.com/262984899/match" TargetMode="Externa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microsoft.com/office/2007/relationships/hdphoto" Target="../media/hdphoto4.wdp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mailto:joe.blogs@business.com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7" Type="http://schemas.microsoft.com/office/2007/relationships/hdphoto" Target="../media/hdphoto12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microsoft.com/office/2007/relationships/hdphoto" Target="../media/hdphoto11.wdp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microsoft.com/office/2007/relationships/hdphoto" Target="../media/hdphoto16.wdp"/><Relationship Id="rId3" Type="http://schemas.microsoft.com/office/2007/relationships/hdphoto" Target="../media/hdphoto13.wdp"/><Relationship Id="rId7" Type="http://schemas.microsoft.com/office/2007/relationships/hdphoto" Target="../media/hdphoto14.wdp"/><Relationship Id="rId12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11" Type="http://schemas.microsoft.com/office/2007/relationships/hdphoto" Target="../media/hdphoto15.wdp"/><Relationship Id="rId5" Type="http://schemas.microsoft.com/office/2007/relationships/hdphoto" Target="../media/hdphoto10.wdp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microsoft.com/office/2007/relationships/hdphoto" Target="../media/hdphoto12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3779" y="4225382"/>
            <a:ext cx="9144000" cy="2387600"/>
          </a:xfrm>
        </p:spPr>
        <p:txBody>
          <a:bodyPr>
            <a:normAutofit/>
          </a:bodyPr>
          <a:lstStyle/>
          <a:p>
            <a:r>
              <a:rPr lang="en-GB" sz="13800" dirty="0">
                <a:effectLst>
                  <a:reflection blurRad="6350" stA="55000" endA="300" endPos="45500" dir="5400000" sy="-100000" algn="bl" rotWithShape="0"/>
                </a:effectLst>
                <a:latin typeface="Copperplate Gothic Light" panose="020E0507020206020404" pitchFamily="34" charset="0"/>
              </a:rPr>
              <a:t>C</a:t>
            </a:r>
            <a:r>
              <a:rPr lang="en-GB" sz="8000" dirty="0">
                <a:effectLst>
                  <a:reflection blurRad="6350" stA="55000" endA="300" endPos="45500" dir="5400000" sy="-100000" algn="bl" rotWithShape="0"/>
                </a:effectLst>
                <a:latin typeface="Copperplate Gothic Light" panose="020E0507020206020404" pitchFamily="34" charset="0"/>
              </a:rPr>
              <a:t>yberspace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65621" y="5197747"/>
            <a:ext cx="9184105" cy="563186"/>
          </a:xfrm>
        </p:spPr>
        <p:txBody>
          <a:bodyPr>
            <a:normAutofit/>
          </a:bodyPr>
          <a:lstStyle/>
          <a:p>
            <a:r>
              <a:rPr lang="en-GB" sz="1600" dirty="0"/>
              <a:t>Cybercrime | Network Protection | Data transfer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519" b="65278" l="38646" r="60781">
                        <a14:foregroundMark x1="49583" y1="52222" x2="50052" y2="51944"/>
                        <a14:foregroundMark x1="49896" y1="39444" x2="49792" y2="39907"/>
                        <a14:foregroundMark x1="49115" y1="56296" x2="50000" y2="56296"/>
                        <a14:foregroundMark x1="47031" y1="44907" x2="53281" y2="45926"/>
                      </a14:backgroundRemoval>
                    </a14:imgEffect>
                  </a14:imgLayer>
                </a14:imgProps>
              </a:ext>
            </a:extLst>
          </a:blip>
          <a:srcRect l="37456" t="23995" r="38509" b="34679"/>
          <a:stretch/>
        </p:blipFill>
        <p:spPr>
          <a:xfrm>
            <a:off x="5819776" y="269867"/>
            <a:ext cx="4875794" cy="4715644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51115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/>
              <a:t>Cyber Crime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1" y="571451"/>
            <a:ext cx="7403174" cy="2552381"/>
          </a:xfrm>
        </p:spPr>
      </p:pic>
      <p:sp>
        <p:nvSpPr>
          <p:cNvPr id="6" name="TextBox 5"/>
          <p:cNvSpPr txBox="1"/>
          <p:nvPr/>
        </p:nvSpPr>
        <p:spPr>
          <a:xfrm>
            <a:off x="2731169" y="952977"/>
            <a:ext cx="42832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u="sng" dirty="0">
                <a:solidFill>
                  <a:schemeClr val="bg1"/>
                </a:solidFill>
                <a:latin typeface="Copperplate Gothic Light" panose="020E0507020206020404" pitchFamily="34" charset="0"/>
              </a:rPr>
              <a:t>Cybercrime</a:t>
            </a:r>
          </a:p>
          <a:p>
            <a:pPr algn="ctr"/>
            <a:endParaRPr lang="en-GB" sz="2800" b="1" u="sng" dirty="0">
              <a:solidFill>
                <a:schemeClr val="bg1"/>
              </a:solidFill>
              <a:latin typeface="Copperplate Gothic Light" panose="020E0507020206020404" pitchFamily="34" charset="0"/>
            </a:endParaRPr>
          </a:p>
          <a:p>
            <a:pPr algn="ctr"/>
            <a:r>
              <a:rPr lang="en-GB" sz="2800" dirty="0">
                <a:solidFill>
                  <a:schemeClr val="bg1"/>
                </a:solidFill>
                <a:latin typeface="Copperplate Gothic Light" panose="020E0507020206020404" pitchFamily="34" charset="0"/>
              </a:rPr>
              <a:t>Using a computer to commit a crime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417758" y="2963683"/>
            <a:ext cx="7403174" cy="3529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dirty="0">
                <a:latin typeface="Eras Medium ITC" panose="020B0602030504020804" pitchFamily="34" charset="0"/>
                <a:cs typeface="CordiaUPC" panose="020B0304020202020204" pitchFamily="34" charset="-34"/>
              </a:rPr>
              <a:t>People involved in cyber crime are known as ‘cyber criminals’</a:t>
            </a:r>
          </a:p>
          <a:p>
            <a:r>
              <a:rPr lang="en-GB" sz="3200" dirty="0">
                <a:latin typeface="Eras Medium ITC" panose="020B0602030504020804" pitchFamily="34" charset="0"/>
                <a:cs typeface="CordiaUPC" panose="020B0304020202020204" pitchFamily="34" charset="-34"/>
              </a:rPr>
              <a:t>Includes:</a:t>
            </a:r>
          </a:p>
          <a:p>
            <a:pPr lvl="1"/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theft of personal information</a:t>
            </a:r>
          </a:p>
          <a:p>
            <a:pPr lvl="1"/>
            <a:endParaRPr lang="en-GB" dirty="0">
              <a:latin typeface="Eras Medium ITC" panose="020B0602030504020804" pitchFamily="34" charset="0"/>
              <a:cs typeface="CordiaUPC" panose="020B0304020202020204" pitchFamily="34" charset="-34"/>
            </a:endParaRPr>
          </a:p>
          <a:p>
            <a:pPr lvl="1"/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Stealing money from Credit cards</a:t>
            </a:r>
          </a:p>
          <a:p>
            <a:pPr lvl="1"/>
            <a:endParaRPr lang="en-GB" dirty="0">
              <a:latin typeface="Eras Medium ITC" panose="020B0602030504020804" pitchFamily="34" charset="0"/>
              <a:cs typeface="CordiaUPC" panose="020B0304020202020204" pitchFamily="34" charset="-34"/>
            </a:endParaRPr>
          </a:p>
          <a:p>
            <a:pPr lvl="1"/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Theft of company data</a:t>
            </a:r>
          </a:p>
        </p:txBody>
      </p:sp>
    </p:spTree>
    <p:extLst>
      <p:ext uri="{BB962C8B-B14F-4D97-AF65-F5344CB8AC3E}">
        <p14:creationId xmlns:p14="http://schemas.microsoft.com/office/powerpoint/2010/main" val="2732691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296399" cy="1325563"/>
          </a:xfrm>
        </p:spPr>
        <p:txBody>
          <a:bodyPr/>
          <a:lstStyle/>
          <a:p>
            <a:r>
              <a:rPr lang="en-GB" dirty="0"/>
              <a:t>Q. What is cyberspace?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0377" y="1506311"/>
            <a:ext cx="8823158" cy="4909004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latin typeface="Eras Medium ITC" panose="020B0602030504020804" pitchFamily="34" charset="0"/>
              </a:rPr>
              <a:t>Cyberspace is the complete set of facilities and resources that can be accessed using the internet.</a:t>
            </a:r>
          </a:p>
          <a:p>
            <a:endParaRPr lang="en-GB" dirty="0">
              <a:latin typeface="Eras Medium ITC" panose="020B0602030504020804" pitchFamily="34" charset="0"/>
            </a:endParaRPr>
          </a:p>
          <a:p>
            <a:r>
              <a:rPr lang="en-GB" dirty="0">
                <a:latin typeface="Eras Medium ITC" panose="020B0602030504020804" pitchFamily="34" charset="0"/>
              </a:rPr>
              <a:t>Can be explored electronically the same way we may explore a real area of the world by moving around and looking for interesting things</a:t>
            </a:r>
          </a:p>
          <a:p>
            <a:endParaRPr lang="en-GB" dirty="0">
              <a:latin typeface="Eras Medium ITC" panose="020B0602030504020804" pitchFamily="34" charset="0"/>
            </a:endParaRPr>
          </a:p>
          <a:p>
            <a:r>
              <a:rPr lang="en-GB" dirty="0">
                <a:latin typeface="Eras Medium ITC" panose="020B0602030504020804" pitchFamily="34" charset="0"/>
              </a:rPr>
              <a:t>In short;</a:t>
            </a:r>
          </a:p>
          <a:p>
            <a:pPr lvl="1"/>
            <a:r>
              <a:rPr lang="en-GB" dirty="0">
                <a:solidFill>
                  <a:srgbClr val="FFFF00"/>
                </a:solidFill>
                <a:latin typeface="Eras Medium ITC" panose="020B0602030504020804" pitchFamily="34" charset="0"/>
              </a:rPr>
              <a:t>Computer network of worldwide network of computers</a:t>
            </a:r>
          </a:p>
          <a:p>
            <a:pPr lvl="1"/>
            <a:r>
              <a:rPr lang="en-GB" dirty="0">
                <a:solidFill>
                  <a:srgbClr val="FFFF00"/>
                </a:solidFill>
                <a:latin typeface="Eras Medium ITC" panose="020B0602030504020804" pitchFamily="34" charset="0"/>
              </a:rPr>
              <a:t>Virtual space where digitised information is communicated</a:t>
            </a:r>
          </a:p>
          <a:p>
            <a:pPr lvl="1"/>
            <a:r>
              <a:rPr lang="en-GB" dirty="0">
                <a:solidFill>
                  <a:srgbClr val="FFFF00"/>
                </a:solidFill>
                <a:latin typeface="Eras Medium ITC" panose="020B0602030504020804" pitchFamily="34" charset="0"/>
              </a:rPr>
              <a:t>Use of Internet to store/modify/exchange data</a:t>
            </a:r>
          </a:p>
          <a:p>
            <a:pPr lvl="1"/>
            <a:r>
              <a:rPr lang="en-GB" dirty="0">
                <a:solidFill>
                  <a:srgbClr val="FFFF00"/>
                </a:solidFill>
                <a:latin typeface="Eras Medium ITC" panose="020B0602030504020804" pitchFamily="34" charset="0"/>
              </a:rPr>
              <a:t>It describes the virtual space in which the electronic data of worldwide PCs circulate</a:t>
            </a:r>
          </a:p>
        </p:txBody>
      </p:sp>
    </p:spTree>
    <p:extLst>
      <p:ext uri="{BB962C8B-B14F-4D97-AF65-F5344CB8AC3E}">
        <p14:creationId xmlns:p14="http://schemas.microsoft.com/office/powerpoint/2010/main" val="3996141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539" y="2045432"/>
            <a:ext cx="8823158" cy="4351338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http://bit.ly/2FiNdC1</a:t>
            </a:r>
            <a:endParaRPr lang="en-GB" sz="3600" u="sng" dirty="0">
              <a:latin typeface="Century Gothic" panose="020B0502020202020204" pitchFamily="34" charset="0"/>
              <a:hlinkClick r:id="rId2"/>
            </a:endParaRPr>
          </a:p>
          <a:p>
            <a:endParaRPr lang="en-GB" sz="3600" dirty="0">
              <a:latin typeface="Century Gothic" panose="020B0502020202020204" pitchFamily="34" charset="0"/>
              <a:hlinkClick r:id="rId2"/>
            </a:endParaRPr>
          </a:p>
          <a:p>
            <a:r>
              <a:rPr lang="en-GB" sz="3600" dirty="0">
                <a:latin typeface="Century Gothic" panose="020B0502020202020204" pitchFamily="34" charset="0"/>
                <a:hlinkClick r:id="rId2"/>
              </a:rPr>
              <a:t>https://quizlet.com/262984899/match</a:t>
            </a:r>
            <a:r>
              <a:rPr lang="en-GB" sz="3600" dirty="0">
                <a:latin typeface="Century Gothic" panose="020B0502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9504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>
            <a:endCxn id="17" idx="1"/>
          </p:cNvCxnSpPr>
          <p:nvPr/>
        </p:nvCxnSpPr>
        <p:spPr>
          <a:xfrm>
            <a:off x="3297115" y="483577"/>
            <a:ext cx="1065335" cy="1635735"/>
          </a:xfrm>
          <a:prstGeom prst="straightConnector1">
            <a:avLst/>
          </a:prstGeom>
          <a:ln w="57150">
            <a:solidFill>
              <a:srgbClr val="1BC5B8"/>
            </a:solidFill>
            <a:tailEnd type="triangle"/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40677" t="28889" r="23333" b="64444"/>
          <a:stretch/>
        </p:blipFill>
        <p:spPr>
          <a:xfrm>
            <a:off x="4381500" y="232168"/>
            <a:ext cx="6581775" cy="6858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/>
          <a:srcRect l="40729" t="35833" r="23333" b="57130"/>
          <a:stretch/>
        </p:blipFill>
        <p:spPr>
          <a:xfrm>
            <a:off x="4381500" y="1009649"/>
            <a:ext cx="6572250" cy="72390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l="40624" t="43056" r="23334" b="50555"/>
          <a:stretch/>
        </p:blipFill>
        <p:spPr>
          <a:xfrm>
            <a:off x="4362450" y="1790699"/>
            <a:ext cx="6591300" cy="65722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/>
          <a:srcRect l="40781" t="50000" r="23334" b="43426"/>
          <a:stretch/>
        </p:blipFill>
        <p:spPr>
          <a:xfrm>
            <a:off x="4362450" y="2588595"/>
            <a:ext cx="6562725" cy="6762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/>
          <a:srcRect l="40833" t="57130" r="23334" b="36759"/>
          <a:stretch/>
        </p:blipFill>
        <p:spPr>
          <a:xfrm>
            <a:off x="4362450" y="3335954"/>
            <a:ext cx="6553200" cy="62865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l="40885" t="64722" r="23334" b="29815"/>
          <a:stretch/>
        </p:blipFill>
        <p:spPr>
          <a:xfrm>
            <a:off x="4362450" y="4014779"/>
            <a:ext cx="6543675" cy="56197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l="40781" t="71111" r="23334" b="22407"/>
          <a:stretch/>
        </p:blipFill>
        <p:spPr>
          <a:xfrm>
            <a:off x="4376737" y="4819650"/>
            <a:ext cx="6562725" cy="6667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2"/>
          <a:srcRect l="40885" t="77871" r="23334" b="15555"/>
          <a:stretch/>
        </p:blipFill>
        <p:spPr>
          <a:xfrm>
            <a:off x="4362449" y="5684050"/>
            <a:ext cx="6543675" cy="676275"/>
          </a:xfrm>
          <a:prstGeom prst="rect">
            <a:avLst/>
          </a:prstGeom>
        </p:spPr>
      </p:pic>
      <p:cxnSp>
        <p:nvCxnSpPr>
          <p:cNvPr id="23" name="Straight Arrow Connector 22"/>
          <p:cNvCxnSpPr>
            <a:endCxn id="21" idx="1"/>
          </p:cNvCxnSpPr>
          <p:nvPr/>
        </p:nvCxnSpPr>
        <p:spPr>
          <a:xfrm>
            <a:off x="3287590" y="1241995"/>
            <a:ext cx="1089147" cy="3911030"/>
          </a:xfrm>
          <a:prstGeom prst="straightConnector1">
            <a:avLst/>
          </a:prstGeom>
          <a:ln w="57150">
            <a:solidFill>
              <a:srgbClr val="1BC5B8"/>
            </a:solidFill>
            <a:tailEnd type="triangle"/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2" idx="1"/>
          </p:cNvCxnSpPr>
          <p:nvPr/>
        </p:nvCxnSpPr>
        <p:spPr>
          <a:xfrm>
            <a:off x="3374964" y="2199554"/>
            <a:ext cx="987485" cy="3822634"/>
          </a:xfrm>
          <a:prstGeom prst="straightConnector1">
            <a:avLst/>
          </a:prstGeom>
          <a:ln w="57150">
            <a:solidFill>
              <a:srgbClr val="1BC5B8"/>
            </a:solidFill>
            <a:tailEnd type="triangle"/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9" idx="1"/>
          </p:cNvCxnSpPr>
          <p:nvPr/>
        </p:nvCxnSpPr>
        <p:spPr>
          <a:xfrm>
            <a:off x="3336038" y="2925646"/>
            <a:ext cx="1026412" cy="724634"/>
          </a:xfrm>
          <a:prstGeom prst="straightConnector1">
            <a:avLst/>
          </a:prstGeom>
          <a:ln w="57150">
            <a:solidFill>
              <a:srgbClr val="1BC5B8"/>
            </a:solidFill>
            <a:tailEnd type="triangle"/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20" idx="1"/>
          </p:cNvCxnSpPr>
          <p:nvPr/>
        </p:nvCxnSpPr>
        <p:spPr>
          <a:xfrm>
            <a:off x="3368735" y="3583418"/>
            <a:ext cx="993715" cy="712349"/>
          </a:xfrm>
          <a:prstGeom prst="straightConnector1">
            <a:avLst/>
          </a:prstGeom>
          <a:ln w="57150">
            <a:solidFill>
              <a:srgbClr val="1BC5B8"/>
            </a:solidFill>
            <a:tailEnd type="triangle"/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15" idx="1"/>
          </p:cNvCxnSpPr>
          <p:nvPr/>
        </p:nvCxnSpPr>
        <p:spPr>
          <a:xfrm flipV="1">
            <a:off x="3358293" y="575068"/>
            <a:ext cx="1023207" cy="3748556"/>
          </a:xfrm>
          <a:prstGeom prst="straightConnector1">
            <a:avLst/>
          </a:prstGeom>
          <a:ln w="57150">
            <a:solidFill>
              <a:srgbClr val="1BC5B8"/>
            </a:solidFill>
            <a:tailEnd type="triangle"/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18" idx="1"/>
          </p:cNvCxnSpPr>
          <p:nvPr/>
        </p:nvCxnSpPr>
        <p:spPr>
          <a:xfrm flipV="1">
            <a:off x="3396395" y="2926733"/>
            <a:ext cx="966055" cy="2186181"/>
          </a:xfrm>
          <a:prstGeom prst="straightConnector1">
            <a:avLst/>
          </a:prstGeom>
          <a:ln w="57150">
            <a:solidFill>
              <a:srgbClr val="1BC5B8"/>
            </a:solidFill>
            <a:tailEnd type="triangle"/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7" idx="3"/>
            <a:endCxn id="16" idx="1"/>
          </p:cNvCxnSpPr>
          <p:nvPr/>
        </p:nvCxnSpPr>
        <p:spPr>
          <a:xfrm flipV="1">
            <a:off x="3438525" y="1371600"/>
            <a:ext cx="942975" cy="4674401"/>
          </a:xfrm>
          <a:prstGeom prst="straightConnector1">
            <a:avLst/>
          </a:prstGeom>
          <a:ln w="57150">
            <a:solidFill>
              <a:srgbClr val="1BC5B8"/>
            </a:solidFill>
            <a:tailEnd type="triangle"/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2395" t="28889" r="59584" b="64444"/>
          <a:stretch/>
        </p:blipFill>
        <p:spPr>
          <a:xfrm>
            <a:off x="142875" y="4014779"/>
            <a:ext cx="3295650" cy="685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2395" t="35833" r="59584" b="57130"/>
          <a:stretch/>
        </p:blipFill>
        <p:spPr>
          <a:xfrm>
            <a:off x="142875" y="5684050"/>
            <a:ext cx="3295650" cy="7239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22395" t="43056" r="59636" b="50555"/>
          <a:stretch/>
        </p:blipFill>
        <p:spPr>
          <a:xfrm>
            <a:off x="152400" y="232168"/>
            <a:ext cx="3286125" cy="6572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2395" t="50000" r="59636" b="43426"/>
          <a:stretch/>
        </p:blipFill>
        <p:spPr>
          <a:xfrm>
            <a:off x="142873" y="4814888"/>
            <a:ext cx="3286125" cy="6762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2395" t="57130" r="59636" b="36759"/>
          <a:stretch/>
        </p:blipFill>
        <p:spPr>
          <a:xfrm>
            <a:off x="142875" y="2590794"/>
            <a:ext cx="3286125" cy="62865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22395" t="64722" r="59636" b="29815"/>
          <a:stretch/>
        </p:blipFill>
        <p:spPr>
          <a:xfrm>
            <a:off x="142874" y="3336124"/>
            <a:ext cx="3286125" cy="56197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22395" t="71111" r="59584" b="22407"/>
          <a:stretch/>
        </p:blipFill>
        <p:spPr>
          <a:xfrm>
            <a:off x="142875" y="1009649"/>
            <a:ext cx="3295650" cy="6667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l="22395" t="77871" r="59688" b="15555"/>
          <a:stretch/>
        </p:blipFill>
        <p:spPr>
          <a:xfrm>
            <a:off x="161925" y="1795459"/>
            <a:ext cx="327660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35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136" y="145320"/>
            <a:ext cx="9296399" cy="1325563"/>
          </a:xfrm>
        </p:spPr>
        <p:txBody>
          <a:bodyPr/>
          <a:lstStyle/>
          <a:p>
            <a:pPr algn="r"/>
            <a:r>
              <a:rPr lang="en-GB" dirty="0"/>
              <a:t>Malware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1" y="592499"/>
            <a:ext cx="11501574" cy="3965380"/>
          </a:xfrm>
        </p:spPr>
      </p:pic>
      <p:sp>
        <p:nvSpPr>
          <p:cNvPr id="6" name="TextBox 5"/>
          <p:cNvSpPr txBox="1"/>
          <p:nvPr/>
        </p:nvSpPr>
        <p:spPr>
          <a:xfrm>
            <a:off x="3692769" y="1236361"/>
            <a:ext cx="74031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u="sng" dirty="0">
                <a:solidFill>
                  <a:schemeClr val="bg1"/>
                </a:solidFill>
                <a:latin typeface="Copperplate Gothic Light" panose="020E0507020206020404" pitchFamily="34" charset="0"/>
              </a:rPr>
              <a:t>Malware</a:t>
            </a:r>
          </a:p>
          <a:p>
            <a:pPr algn="ctr"/>
            <a:r>
              <a:rPr lang="en-GB" sz="2800" dirty="0">
                <a:solidFill>
                  <a:schemeClr val="bg1"/>
                </a:solidFill>
                <a:latin typeface="Copperplate Gothic Light" panose="020E0507020206020404" pitchFamily="34" charset="0"/>
              </a:rPr>
              <a:t>Malicious software that is downloaded onto a computer unintentionally via the internet/email attachments – or even from USB.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063427" y="4068270"/>
            <a:ext cx="8522368" cy="3106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Computer systems are under constant treat from malware such as:</a:t>
            </a:r>
          </a:p>
          <a:p>
            <a:pPr lvl="2"/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 viruses, </a:t>
            </a:r>
          </a:p>
          <a:p>
            <a:pPr lvl="2"/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Trojans horses, </a:t>
            </a:r>
          </a:p>
          <a:p>
            <a:pPr lvl="2"/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worms, </a:t>
            </a:r>
          </a:p>
          <a:p>
            <a:pPr lvl="2"/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key loggers and </a:t>
            </a:r>
          </a:p>
          <a:p>
            <a:pPr lvl="2"/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spyware</a:t>
            </a:r>
          </a:p>
        </p:txBody>
      </p:sp>
    </p:spTree>
    <p:extLst>
      <p:ext uri="{BB962C8B-B14F-4D97-AF65-F5344CB8AC3E}">
        <p14:creationId xmlns:p14="http://schemas.microsoft.com/office/powerpoint/2010/main" val="3365542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/>
              <a:t>Virus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1" y="756088"/>
            <a:ext cx="11450568" cy="3947795"/>
          </a:xfrm>
        </p:spPr>
      </p:pic>
      <p:sp>
        <p:nvSpPr>
          <p:cNvPr id="6" name="TextBox 5"/>
          <p:cNvSpPr txBox="1"/>
          <p:nvPr/>
        </p:nvSpPr>
        <p:spPr>
          <a:xfrm>
            <a:off x="3710353" y="1391157"/>
            <a:ext cx="74288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u="sng" dirty="0">
                <a:solidFill>
                  <a:schemeClr val="bg1"/>
                </a:solidFill>
                <a:latin typeface="Copperplate Gothic Light" panose="020E0507020206020404" pitchFamily="34" charset="0"/>
              </a:rPr>
              <a:t>Computer Virus</a:t>
            </a:r>
          </a:p>
          <a:p>
            <a:pPr algn="ctr"/>
            <a:endParaRPr lang="en-GB" sz="2800" b="1" u="sng" dirty="0">
              <a:solidFill>
                <a:schemeClr val="bg1"/>
              </a:solidFill>
              <a:latin typeface="Copperplate Gothic Light" panose="020E0507020206020404" pitchFamily="34" charset="0"/>
            </a:endParaRPr>
          </a:p>
          <a:p>
            <a:pPr algn="ctr"/>
            <a:r>
              <a:rPr lang="en-GB" sz="2800" dirty="0">
                <a:solidFill>
                  <a:schemeClr val="bg1"/>
                </a:solidFill>
                <a:latin typeface="Copperplate Gothic Light" panose="020E0507020206020404" pitchFamily="34" charset="0"/>
              </a:rPr>
              <a:t>A computer program designed to deliberately damage or make a computer system unreliable by slowing down the processor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086200" y="4300547"/>
            <a:ext cx="8167335" cy="3106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Can store itself automatically as a hidden file</a:t>
            </a:r>
            <a:r>
              <a:rPr lang="en-GB" sz="2000" dirty="0">
                <a:latin typeface="Eras Medium ITC" panose="020B0602030504020804" pitchFamily="34" charset="0"/>
                <a:cs typeface="CordiaUPC" panose="020B0304020202020204" pitchFamily="34" charset="-34"/>
              </a:rPr>
              <a:t>, but can be activated when a certain program is opened/</a:t>
            </a:r>
            <a:r>
              <a:rPr lang="en-GB" sz="2000" dirty="0" err="1">
                <a:latin typeface="Eras Medium ITC" panose="020B0602030504020804" pitchFamily="34" charset="0"/>
                <a:cs typeface="CordiaUPC" panose="020B0304020202020204" pitchFamily="34" charset="-34"/>
              </a:rPr>
              <a:t>etc</a:t>
            </a:r>
            <a:endParaRPr lang="en-GB" sz="2000" dirty="0">
              <a:latin typeface="Eras Medium ITC" panose="020B0602030504020804" pitchFamily="34" charset="0"/>
              <a:cs typeface="CordiaUPC" panose="020B0304020202020204" pitchFamily="34" charset="-34"/>
            </a:endParaRPr>
          </a:p>
          <a:p>
            <a:r>
              <a:rPr lang="en-GB" sz="2000" dirty="0">
                <a:latin typeface="Eras Medium ITC" panose="020B0602030504020804" pitchFamily="34" charset="0"/>
                <a:cs typeface="CordiaUPC" panose="020B0304020202020204" pitchFamily="34" charset="-34"/>
              </a:rPr>
              <a:t>Can spread without any intervention between computers</a:t>
            </a:r>
          </a:p>
          <a:p>
            <a:r>
              <a:rPr lang="en-GB" sz="2000" dirty="0">
                <a:latin typeface="Eras Medium ITC" panose="020B0602030504020804" pitchFamily="34" charset="0"/>
                <a:cs typeface="CordiaUPC" panose="020B0304020202020204" pitchFamily="34" charset="-34"/>
              </a:rPr>
              <a:t>Antivirus can be installed to detect, remove and prevent computer viruses</a:t>
            </a:r>
            <a:endParaRPr lang="en-GB" dirty="0">
              <a:latin typeface="Eras Medium ITC" panose="020B0602030504020804" pitchFamily="34" charset="0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97503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0"/>
            <a:ext cx="9296399" cy="1325563"/>
          </a:xfrm>
        </p:spPr>
        <p:txBody>
          <a:bodyPr/>
          <a:lstStyle/>
          <a:p>
            <a:r>
              <a:rPr lang="en-GB" dirty="0"/>
              <a:t>Trojan Horse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9340" y="2716823"/>
            <a:ext cx="8180754" cy="4873137"/>
          </a:xfrm>
        </p:spPr>
        <p:txBody>
          <a:bodyPr/>
          <a:lstStyle/>
          <a:p>
            <a:r>
              <a:rPr lang="en-GB" dirty="0">
                <a:latin typeface="Eras Medium ITC" panose="020B0602030504020804" pitchFamily="34" charset="0"/>
              </a:rPr>
              <a:t>Gains entry to a user’s </a:t>
            </a:r>
          </a:p>
          <a:p>
            <a:pPr marL="0" indent="0">
              <a:buNone/>
            </a:pPr>
            <a:r>
              <a:rPr lang="en-GB" dirty="0">
                <a:latin typeface="Eras Medium ITC" panose="020B0602030504020804" pitchFamily="34" charset="0"/>
              </a:rPr>
              <a:t>   Computer ‘in disguise’.</a:t>
            </a:r>
          </a:p>
          <a:p>
            <a:r>
              <a:rPr lang="en-GB" dirty="0">
                <a:latin typeface="Eras Medium ITC" panose="020B0602030504020804" pitchFamily="34" charset="0"/>
              </a:rPr>
              <a:t>User can be tricked into thinking it is a useful piece of software (such as antivirus) so the user is tricked into installing/running.</a:t>
            </a:r>
          </a:p>
          <a:p>
            <a:r>
              <a:rPr lang="en-GB" dirty="0">
                <a:latin typeface="Eras Medium ITC" panose="020B0602030504020804" pitchFamily="34" charset="0"/>
              </a:rPr>
              <a:t>Can do serious damage (i.e. deleting files)</a:t>
            </a:r>
          </a:p>
          <a:p>
            <a:r>
              <a:rPr lang="en-GB" dirty="0">
                <a:latin typeface="Eras Medium ITC" panose="020B0602030504020804" pitchFamily="34" charset="0"/>
              </a:rPr>
              <a:t>Can also open ‘back doors’ for hackers to gain access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10500" y1="87032" x2="92750" y2="87896"/>
                        <a14:foregroundMark x1="40750" y1="96830" x2="73500" y2="93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643" y="167054"/>
            <a:ext cx="2939215" cy="2549769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  <a:softEdge rad="12700"/>
          </a:effectLst>
        </p:spPr>
      </p:pic>
      <p:pic>
        <p:nvPicPr>
          <p:cNvPr id="2050" name="Picture 2" descr="YARN | Hey, Trojan Horse. How are you? | The Emoji Movie (2017) | Video gifs  by quotes | a2ea72de | 紗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62"/>
          <a:stretch/>
        </p:blipFill>
        <p:spPr bwMode="auto">
          <a:xfrm>
            <a:off x="101600" y="1163198"/>
            <a:ext cx="3187700" cy="226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rse Face Emoji (U+1F434)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688" b="96484" l="4688" r="9414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099" y="167054"/>
            <a:ext cx="711201" cy="71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722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0813" y="365125"/>
            <a:ext cx="9296399" cy="1325563"/>
          </a:xfrm>
        </p:spPr>
        <p:txBody>
          <a:bodyPr/>
          <a:lstStyle/>
          <a:p>
            <a:r>
              <a:rPr lang="en-GB" dirty="0"/>
              <a:t>Worm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015" l="0" r="95932">
                        <a14:foregroundMark x1="63898" y1="6468" x2="61186" y2="7463"/>
                        <a14:foregroundMark x1="64915" y1="8624" x2="66441" y2="4975"/>
                        <a14:foregroundMark x1="13729" y1="42952" x2="15763" y2="48425"/>
                        <a14:foregroundMark x1="43051" y1="59701" x2="63559" y2="52073"/>
                        <a14:foregroundMark x1="59831" y1="65672" x2="62712" y2="64511"/>
                        <a14:foregroundMark x1="52203" y1="10779" x2="53729" y2="144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70" y="365125"/>
            <a:ext cx="2833858" cy="2896299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2702940" y="1895963"/>
            <a:ext cx="8665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Designed to spread from computer to computer</a:t>
            </a:r>
          </a:p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Does not need to be attached to document or program to spread</a:t>
            </a:r>
          </a:p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Replicates itself</a:t>
            </a:r>
          </a:p>
          <a:p>
            <a:pPr lvl="2"/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For example, it could copy itself on to every contact in an email address book and then transfer when an email is sent</a:t>
            </a:r>
          </a:p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Slows down data transmission as it uses bandwidth</a:t>
            </a:r>
          </a:p>
        </p:txBody>
      </p:sp>
    </p:spTree>
    <p:extLst>
      <p:ext uri="{BB962C8B-B14F-4D97-AF65-F5344CB8AC3E}">
        <p14:creationId xmlns:p14="http://schemas.microsoft.com/office/powerpoint/2010/main" val="1008794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logger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67344" y1="38542" x2="64688" y2="44583"/>
                        <a14:foregroundMark x1="70313" y1="48958" x2="73594" y2="61667"/>
                        <a14:foregroundMark x1="84375" y1="42083" x2="81875" y2="37083"/>
                        <a14:foregroundMark x1="47656" y1="28958" x2="45156" y2="27708"/>
                        <a14:foregroundMark x1="4531" y1="27292" x2="5781" y2="19792"/>
                        <a14:foregroundMark x1="35000" y1="91875" x2="42188" y2="91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605" y="4401416"/>
            <a:ext cx="3169408" cy="2377057"/>
          </a:xfrm>
          <a:ln w="34925">
            <a:noFill/>
          </a:ln>
          <a:effectLst>
            <a:glow rad="38100">
              <a:schemeClr val="accent4">
                <a:satMod val="175000"/>
                <a:alpha val="13000"/>
              </a:schemeClr>
            </a:glow>
            <a:outerShdw blurRad="317500" dir="2700000" algn="ctr">
              <a:srgbClr val="000000">
                <a:alpha val="43000"/>
              </a:srgbClr>
            </a:outerShdw>
            <a:softEdge rad="31750"/>
          </a:effec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2272578" y="1868254"/>
            <a:ext cx="8665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Designed to record a user’s keystrokes</a:t>
            </a:r>
          </a:p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User is unaware of this happening</a:t>
            </a:r>
          </a:p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Keystrokes are saved into a log file and sent back to the hacker.</a:t>
            </a:r>
          </a:p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Used to steal personal information (such as username/passwords/etc)</a:t>
            </a:r>
          </a:p>
        </p:txBody>
      </p:sp>
    </p:spTree>
    <p:extLst>
      <p:ext uri="{BB962C8B-B14F-4D97-AF65-F5344CB8AC3E}">
        <p14:creationId xmlns:p14="http://schemas.microsoft.com/office/powerpoint/2010/main" val="3514632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1" y="281998"/>
            <a:ext cx="9296399" cy="1325563"/>
          </a:xfrm>
        </p:spPr>
        <p:txBody>
          <a:bodyPr/>
          <a:lstStyle/>
          <a:p>
            <a:r>
              <a:rPr lang="en-GB" dirty="0"/>
              <a:t>Spyware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6667" y1="63333" x2="22667" y2="63667"/>
                        <a14:foregroundMark x1="31667" y1="63667" x2="17000" y2="69000"/>
                        <a14:foregroundMark x1="14667" y1="74333" x2="10667" y2="90333"/>
                        <a14:foregroundMark x1="7000" y1="63333" x2="9333" y2="51333"/>
                        <a14:foregroundMark x1="69000" y1="62000" x2="83667" y2="65667"/>
                        <a14:foregroundMark x1="76000" y1="47667" x2="67333" y2="4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75" y="0"/>
            <a:ext cx="2586542" cy="2586542"/>
          </a:xfrm>
          <a:effectLst>
            <a:glow rad="63500">
              <a:schemeClr val="accent5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2895601" y="2228472"/>
            <a:ext cx="83863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opperplate Gothic Light" panose="020E05070202060204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Secretly installed on a user’s computer</a:t>
            </a:r>
          </a:p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Uses an internet connection to collect information (websites visited/</a:t>
            </a:r>
            <a:r>
              <a:rPr lang="en-GB" dirty="0" err="1">
                <a:latin typeface="Eras Medium ITC" panose="020B0602030504020804" pitchFamily="34" charset="0"/>
                <a:cs typeface="CordiaUPC" panose="020B0304020202020204" pitchFamily="34" charset="-34"/>
              </a:rPr>
              <a:t>etc</a:t>
            </a:r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)</a:t>
            </a:r>
          </a:p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Tracks users activities</a:t>
            </a:r>
          </a:p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Uses computer memory, causing crashes due to lack of memory</a:t>
            </a:r>
          </a:p>
          <a:p>
            <a:r>
              <a:rPr lang="en-GB" dirty="0">
                <a:latin typeface="Eras Medium ITC" panose="020B0602030504020804" pitchFamily="34" charset="0"/>
                <a:cs typeface="CordiaUPC" panose="020B0304020202020204" pitchFamily="34" charset="-34"/>
              </a:rPr>
              <a:t>Information collected can be sold onto third parties to market products to a number of users</a:t>
            </a:r>
          </a:p>
          <a:p>
            <a:endParaRPr lang="en-GB" dirty="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42180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6615" y="895910"/>
            <a:ext cx="9144000" cy="2387600"/>
          </a:xfrm>
        </p:spPr>
        <p:txBody>
          <a:bodyPr>
            <a:noAutofit/>
          </a:bodyPr>
          <a:lstStyle/>
          <a:p>
            <a:r>
              <a:rPr lang="en-GB" sz="8800" dirty="0">
                <a:effectLst>
                  <a:reflection blurRad="6350" stA="55000" endA="300" endPos="45500" dir="5400000" sy="-100000" algn="bl" rotWithShape="0"/>
                </a:effectLst>
              </a:rPr>
              <a:t>N</a:t>
            </a:r>
            <a:r>
              <a:rPr lang="en-GB" sz="5400" dirty="0">
                <a:effectLst>
                  <a:reflection blurRad="6350" stA="55000" endA="300" endPos="45500" dir="5400000" sy="-100000" algn="bl" rotWithShape="0"/>
                </a:effectLst>
              </a:rPr>
              <a:t>etwork Protection</a:t>
            </a:r>
            <a:endParaRPr lang="en-GB" sz="3200" dirty="0">
              <a:effectLst>
                <a:reflection blurRad="6350" stA="55000" endA="300" endPos="45500" dir="5400000" sy="-100000" algn="bl" rotWithShape="0"/>
              </a:effectLst>
              <a:latin typeface="Copperplate Gothic Light" panose="020E05070202060204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39875" y="2141914"/>
            <a:ext cx="9184105" cy="563186"/>
          </a:xfrm>
        </p:spPr>
        <p:txBody>
          <a:bodyPr>
            <a:normAutofit/>
          </a:bodyPr>
          <a:lstStyle/>
          <a:p>
            <a:r>
              <a:rPr lang="en-GB" sz="1600" dirty="0"/>
              <a:t>Encryption | Passwords | Access Levels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5111">
                        <a14:foregroundMark x1="73556" y1="66444" x2="81111" y2="70222"/>
                        <a14:foregroundMark x1="84222" y1="54667" x2="88222" y2="55556"/>
                        <a14:backgroundMark x1="82000" y1="75111" x2="44444" y2="85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333" y="3283510"/>
            <a:ext cx="3733282" cy="3733282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897719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1273671" y="5114940"/>
            <a:ext cx="1180730" cy="3693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solidFill>
                  <a:schemeClr val="bg1"/>
                </a:solidFill>
              </a:rPr>
              <a:t>Receiver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729" y="1425389"/>
            <a:ext cx="2545977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ysClr val="windowText" lastClr="000000"/>
                </a:solidFill>
              </a:rPr>
              <a:t>Private Information</a:t>
            </a:r>
          </a:p>
          <a:p>
            <a:endParaRPr lang="en-GB" dirty="0">
              <a:solidFill>
                <a:sysClr val="windowText" lastClr="000000"/>
              </a:solidFill>
            </a:endParaRPr>
          </a:p>
          <a:p>
            <a:r>
              <a:rPr lang="en-GB" dirty="0">
                <a:solidFill>
                  <a:sysClr val="windowText" lastClr="000000"/>
                </a:solidFill>
              </a:rPr>
              <a:t>Name: </a:t>
            </a:r>
            <a:r>
              <a:rPr lang="en-GB" dirty="0">
                <a:solidFill>
                  <a:sysClr val="windowText" lastClr="000000"/>
                </a:solidFill>
                <a:hlinkClick r:id="rId2"/>
              </a:rPr>
              <a:t>joe.blogs@business.com</a:t>
            </a:r>
            <a:endParaRPr lang="en-GB" dirty="0">
              <a:solidFill>
                <a:sysClr val="windowText" lastClr="000000"/>
              </a:solidFill>
            </a:endParaRPr>
          </a:p>
          <a:p>
            <a:r>
              <a:rPr lang="en-GB" dirty="0">
                <a:solidFill>
                  <a:sysClr val="windowText" lastClr="000000"/>
                </a:solidFill>
              </a:rPr>
              <a:t>Age: 43</a:t>
            </a:r>
          </a:p>
          <a:p>
            <a:r>
              <a:rPr lang="en-GB" dirty="0">
                <a:solidFill>
                  <a:sysClr val="windowText" lastClr="000000"/>
                </a:solidFill>
              </a:rPr>
              <a:t>Password: Password123</a:t>
            </a:r>
          </a:p>
          <a:p>
            <a:endParaRPr lang="en-GB" dirty="0">
              <a:solidFill>
                <a:sysClr val="windowText" lastClr="000000"/>
              </a:solidFill>
            </a:endParaRPr>
          </a:p>
          <a:p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2729" y="1429784"/>
            <a:ext cx="2545977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ysClr val="windowText" lastClr="000000"/>
                </a:solidFill>
              </a:rPr>
              <a:t>$5w*&amp;^@#’j</a:t>
            </a:r>
          </a:p>
          <a:p>
            <a:endParaRPr lang="en-GB" dirty="0">
              <a:solidFill>
                <a:sysClr val="windowText" lastClr="000000"/>
              </a:solidFill>
            </a:endParaRPr>
          </a:p>
          <a:p>
            <a:r>
              <a:rPr lang="en-GB" dirty="0">
                <a:solidFill>
                  <a:sysClr val="windowText" lastClr="000000"/>
                </a:solidFill>
              </a:rPr>
              <a:t>Df3454%^*&amp;</a:t>
            </a:r>
          </a:p>
          <a:p>
            <a:r>
              <a:rPr lang="en-GB" dirty="0">
                <a:solidFill>
                  <a:sysClr val="windowText" lastClr="000000"/>
                </a:solidFill>
              </a:rPr>
              <a:t>“£$4^&amp;678jki(</a:t>
            </a:r>
          </a:p>
          <a:p>
            <a:r>
              <a:rPr lang="en-GB" dirty="0">
                <a:solidFill>
                  <a:sysClr val="windowText" lastClr="000000"/>
                </a:solidFill>
              </a:rPr>
              <a:t>&amp;*(@~’#’#’!”£</a:t>
            </a:r>
          </a:p>
          <a:p>
            <a:endParaRPr lang="en-GB" dirty="0">
              <a:solidFill>
                <a:sysClr val="windowText" lastClr="000000"/>
              </a:solidFill>
            </a:endParaRPr>
          </a:p>
          <a:p>
            <a:r>
              <a:rPr lang="en-GB" dirty="0">
                <a:solidFill>
                  <a:sysClr val="windowText" lastClr="000000"/>
                </a:solidFill>
              </a:rPr>
              <a:t>!””£</a:t>
            </a:r>
            <a:r>
              <a:rPr lang="en-GB" dirty="0" err="1">
                <a:solidFill>
                  <a:sysClr val="windowText" lastClr="000000"/>
                </a:solidFill>
              </a:rPr>
              <a:t>fduirr</a:t>
            </a:r>
            <a:r>
              <a:rPr lang="en-GB" dirty="0">
                <a:solidFill>
                  <a:sysClr val="windowText" lastClr="000000"/>
                </a:solidFill>
              </a:rPr>
              <a:t>^&amp;*+*-*</a:t>
            </a:r>
          </a:p>
          <a:p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7" y="82804"/>
            <a:ext cx="9296399" cy="1325563"/>
          </a:xfrm>
        </p:spPr>
        <p:txBody>
          <a:bodyPr/>
          <a:lstStyle/>
          <a:p>
            <a:r>
              <a:rPr lang="en-GB" dirty="0"/>
              <a:t>Data Encryption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260914" y="1152817"/>
            <a:ext cx="6022114" cy="4351338"/>
          </a:xfrm>
        </p:spPr>
        <p:txBody>
          <a:bodyPr/>
          <a:lstStyle/>
          <a:p>
            <a:r>
              <a:rPr lang="en-GB" dirty="0">
                <a:latin typeface="Eras Medium ITC" panose="020B0602030504020804" pitchFamily="34" charset="0"/>
              </a:rPr>
              <a:t>Stops data being transmitted being intercepted by unauthorised users</a:t>
            </a:r>
          </a:p>
          <a:p>
            <a:r>
              <a:rPr lang="en-GB" dirty="0">
                <a:latin typeface="Eras Medium ITC" panose="020B0602030504020804" pitchFamily="34" charset="0"/>
              </a:rPr>
              <a:t>Organisations use data-encryption techniques</a:t>
            </a:r>
          </a:p>
          <a:p>
            <a:r>
              <a:rPr lang="en-GB" dirty="0">
                <a:latin typeface="Eras Medium ITC" panose="020B0602030504020804" pitchFamily="34" charset="0"/>
              </a:rPr>
              <a:t>Uses special software to encode (‘scramble’) data before it is transmitted</a:t>
            </a:r>
          </a:p>
          <a:p>
            <a:r>
              <a:rPr lang="en-GB" dirty="0">
                <a:latin typeface="Eras Medium ITC" panose="020B0602030504020804" pitchFamily="34" charset="0"/>
              </a:rPr>
              <a:t>Makes data unreadable until an encryption key is used to unscramble the data upon arrival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705" y="1547539"/>
            <a:ext cx="2064023" cy="206402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706" y="4398751"/>
            <a:ext cx="2064023" cy="20640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7728" y="4276600"/>
            <a:ext cx="2545977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ysClr val="windowText" lastClr="000000"/>
                </a:solidFill>
              </a:rPr>
              <a:t>Private Information</a:t>
            </a:r>
          </a:p>
          <a:p>
            <a:endParaRPr lang="en-GB" dirty="0">
              <a:solidFill>
                <a:sysClr val="windowText" lastClr="000000"/>
              </a:solidFill>
            </a:endParaRPr>
          </a:p>
          <a:p>
            <a:r>
              <a:rPr lang="en-GB" dirty="0">
                <a:solidFill>
                  <a:sysClr val="windowText" lastClr="000000"/>
                </a:solidFill>
              </a:rPr>
              <a:t>Name: </a:t>
            </a:r>
            <a:r>
              <a:rPr lang="en-GB" dirty="0">
                <a:solidFill>
                  <a:sysClr val="windowText" lastClr="000000"/>
                </a:solidFill>
                <a:hlinkClick r:id="rId2"/>
              </a:rPr>
              <a:t>joe.blogs@business.com</a:t>
            </a:r>
            <a:endParaRPr lang="en-GB" dirty="0">
              <a:solidFill>
                <a:sysClr val="windowText" lastClr="000000"/>
              </a:solidFill>
            </a:endParaRPr>
          </a:p>
          <a:p>
            <a:r>
              <a:rPr lang="en-GB" dirty="0">
                <a:solidFill>
                  <a:sysClr val="windowText" lastClr="000000"/>
                </a:solidFill>
              </a:rPr>
              <a:t>Age: 43</a:t>
            </a:r>
          </a:p>
          <a:p>
            <a:r>
              <a:rPr lang="en-GB" dirty="0">
                <a:solidFill>
                  <a:sysClr val="windowText" lastClr="000000"/>
                </a:solidFill>
              </a:rPr>
              <a:t>Password: Password123</a:t>
            </a:r>
          </a:p>
          <a:p>
            <a:endParaRPr lang="en-GB" dirty="0">
              <a:solidFill>
                <a:sysClr val="windowText" lastClr="000000"/>
              </a:solidFill>
            </a:endParaRPr>
          </a:p>
          <a:p>
            <a:endParaRPr lang="en-GB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3887004" y="4541347"/>
            <a:ext cx="679066" cy="889415"/>
          </a:xfrm>
          <a:prstGeom prst="straightConnector1">
            <a:avLst/>
          </a:prstGeom>
          <a:ln w="76200">
            <a:solidFill>
              <a:srgbClr val="1BC5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66070" y="5504155"/>
            <a:ext cx="2775763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If a hacker intercepted this, they would not be able to unscramble it as they need to get the encryption key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698" y="1362258"/>
            <a:ext cx="1369333" cy="13693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62268" y="1315564"/>
            <a:ext cx="118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Sender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330" y="5488667"/>
            <a:ext cx="1369333" cy="13693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3435" y="2457400"/>
            <a:ext cx="2545977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ysClr val="windowText" lastClr="000000"/>
                </a:solidFill>
              </a:rPr>
              <a:t>$5w*&amp;^@#’j</a:t>
            </a:r>
          </a:p>
          <a:p>
            <a:endParaRPr lang="en-GB" dirty="0">
              <a:solidFill>
                <a:sysClr val="windowText" lastClr="000000"/>
              </a:solidFill>
            </a:endParaRPr>
          </a:p>
          <a:p>
            <a:r>
              <a:rPr lang="en-GB" dirty="0">
                <a:solidFill>
                  <a:sysClr val="windowText" lastClr="000000"/>
                </a:solidFill>
              </a:rPr>
              <a:t>Df3454%^*&amp;</a:t>
            </a:r>
          </a:p>
          <a:p>
            <a:r>
              <a:rPr lang="en-GB" dirty="0">
                <a:solidFill>
                  <a:sysClr val="windowText" lastClr="000000"/>
                </a:solidFill>
              </a:rPr>
              <a:t>“£$4^&amp;678jki(</a:t>
            </a:r>
          </a:p>
          <a:p>
            <a:r>
              <a:rPr lang="en-GB" dirty="0">
                <a:solidFill>
                  <a:sysClr val="windowText" lastClr="000000"/>
                </a:solidFill>
              </a:rPr>
              <a:t>&amp;*(@~’#’#’!”£</a:t>
            </a:r>
          </a:p>
          <a:p>
            <a:endParaRPr lang="en-GB" dirty="0">
              <a:solidFill>
                <a:sysClr val="windowText" lastClr="000000"/>
              </a:solidFill>
            </a:endParaRPr>
          </a:p>
          <a:p>
            <a:r>
              <a:rPr lang="en-GB" dirty="0">
                <a:solidFill>
                  <a:sysClr val="windowText" lastClr="000000"/>
                </a:solidFill>
              </a:rPr>
              <a:t>!””£</a:t>
            </a:r>
            <a:r>
              <a:rPr lang="en-GB" dirty="0" err="1">
                <a:solidFill>
                  <a:sysClr val="windowText" lastClr="000000"/>
                </a:solidFill>
              </a:rPr>
              <a:t>fduirr</a:t>
            </a:r>
            <a:r>
              <a:rPr lang="en-GB" dirty="0">
                <a:solidFill>
                  <a:sysClr val="windowText" lastClr="000000"/>
                </a:solidFill>
              </a:rPr>
              <a:t>^&amp;*+*-*</a:t>
            </a:r>
          </a:p>
          <a:p>
            <a:endParaRPr lang="en-GB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39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85185E-6 L 0.18828 0.41389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14" y="20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  <p:bldP spid="8" grpId="2" animBg="1"/>
      <p:bldP spid="10" grpId="0" animBg="1"/>
      <p:bldP spid="10" grpId="1" animBg="1"/>
      <p:bldP spid="15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391840" y="1479873"/>
            <a:ext cx="9127481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>
                <a:latin typeface="Eras Medium ITC" panose="020B0602030504020804" pitchFamily="34" charset="0"/>
              </a:rPr>
              <a:t>A network manager allocates each user on a network with a unique </a:t>
            </a:r>
            <a:r>
              <a:rPr lang="en-GB" dirty="0" err="1">
                <a:latin typeface="Eras Medium ITC" panose="020B0602030504020804" pitchFamily="34" charset="0"/>
              </a:rPr>
              <a:t>UserID</a:t>
            </a:r>
            <a:r>
              <a:rPr lang="en-GB" dirty="0">
                <a:latin typeface="Eras Medium ITC" panose="020B0602030504020804" pitchFamily="34" charset="0"/>
              </a:rPr>
              <a:t> and password</a:t>
            </a:r>
          </a:p>
          <a:p>
            <a:r>
              <a:rPr lang="en-GB" dirty="0">
                <a:latin typeface="Eras Medium ITC" panose="020B0602030504020804" pitchFamily="34" charset="0"/>
              </a:rPr>
              <a:t>Users are given the option to change password (usually asks for confirmation)</a:t>
            </a:r>
          </a:p>
          <a:p>
            <a:pPr lvl="1"/>
            <a:r>
              <a:rPr lang="en-GB" dirty="0">
                <a:latin typeface="Eras Medium ITC" panose="020B0602030504020804" pitchFamily="34" charset="0"/>
              </a:rPr>
              <a:t>Generally should be 8+ characters long</a:t>
            </a:r>
          </a:p>
          <a:p>
            <a:pPr lvl="1"/>
            <a:r>
              <a:rPr lang="en-GB" dirty="0">
                <a:latin typeface="Eras Medium ITC" panose="020B0602030504020804" pitchFamily="34" charset="0"/>
              </a:rPr>
              <a:t>Should include a capital letter</a:t>
            </a:r>
          </a:p>
          <a:p>
            <a:pPr lvl="1"/>
            <a:r>
              <a:rPr lang="en-GB" dirty="0">
                <a:latin typeface="Eras Medium ITC" panose="020B0602030504020804" pitchFamily="34" charset="0"/>
              </a:rPr>
              <a:t>Should include a number</a:t>
            </a:r>
          </a:p>
          <a:p>
            <a:pPr lvl="1"/>
            <a:r>
              <a:rPr lang="en-GB" dirty="0">
                <a:latin typeface="Eras Medium ITC" panose="020B0602030504020804" pitchFamily="34" charset="0"/>
              </a:rPr>
              <a:t>Some systems ask for a non alpha-numeric character</a:t>
            </a:r>
          </a:p>
          <a:p>
            <a:r>
              <a:rPr lang="en-GB" dirty="0">
                <a:latin typeface="Eras Medium ITC" panose="020B0602030504020804" pitchFamily="34" charset="0"/>
              </a:rPr>
              <a:t>Helps keep the security of the network</a:t>
            </a:r>
          </a:p>
          <a:p>
            <a:r>
              <a:rPr lang="en-GB" dirty="0">
                <a:latin typeface="Eras Medium ITC" panose="020B0602030504020804" pitchFamily="34" charset="0"/>
              </a:rPr>
              <a:t>Users are usually ‘forced’ to update/change the password regularly</a:t>
            </a:r>
          </a:p>
          <a:p>
            <a:r>
              <a:rPr lang="en-GB" dirty="0">
                <a:latin typeface="Eras Medium ITC" panose="020B0602030504020804" pitchFamily="34" charset="0"/>
              </a:rPr>
              <a:t>Details are kept secure on the file server within a secure database (keeps record of login/logout/ activity/ when and where / </a:t>
            </a:r>
            <a:r>
              <a:rPr lang="en-GB" dirty="0" err="1">
                <a:latin typeface="Eras Medium ITC" panose="020B0602030504020804" pitchFamily="34" charset="0"/>
              </a:rPr>
              <a:t>etc</a:t>
            </a:r>
            <a:endParaRPr lang="en-GB" dirty="0">
              <a:latin typeface="Eras Medium ITC" panose="020B0602030504020804" pitchFamily="34" charset="0"/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4026877" y="6031522"/>
            <a:ext cx="4273061" cy="51874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Usernames and Passwords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8423" y="6031522"/>
            <a:ext cx="457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FFFF00"/>
                </a:solidFill>
              </a:rPr>
              <a:t>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45622" y="6031522"/>
            <a:ext cx="457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FFFF00"/>
                </a:solidFill>
              </a:rP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2821" y="6031522"/>
            <a:ext cx="457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FFFF00"/>
                </a:solidFill>
              </a:rP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0020" y="6031522"/>
            <a:ext cx="457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FFFF00"/>
                </a:solidFill>
              </a:rPr>
              <a:t>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7219" y="6031522"/>
            <a:ext cx="457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FFFF00"/>
                </a:solidFill>
              </a:rPr>
              <a:t>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6735" y="6031522"/>
            <a:ext cx="457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FFFF00"/>
                </a:solidFill>
              </a:rPr>
              <a:t>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1912" y="6031522"/>
            <a:ext cx="457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FFFF00"/>
                </a:solidFill>
              </a:rPr>
              <a:t>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9111" y="6031522"/>
            <a:ext cx="457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FFFF00"/>
                </a:solidFill>
              </a:rPr>
              <a:t>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288" y="6031522"/>
            <a:ext cx="457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FFFF00"/>
                </a:solidFill>
              </a:rPr>
              <a:t>*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16" b="63980"/>
          <a:stretch/>
        </p:blipFill>
        <p:spPr>
          <a:xfrm>
            <a:off x="49824" y="5930410"/>
            <a:ext cx="3810000" cy="72097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476841" y="6031521"/>
            <a:ext cx="1455938" cy="51874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317925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/>
      <p:bldP spid="3" grpId="1"/>
      <p:bldP spid="5" grpId="0"/>
      <p:bldP spid="5" grpId="1"/>
      <p:bldP spid="6" grpId="0"/>
      <p:bldP spid="6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2800" y="233347"/>
            <a:ext cx="5106814" cy="1325563"/>
          </a:xfrm>
        </p:spPr>
        <p:txBody>
          <a:bodyPr/>
          <a:lstStyle/>
          <a:p>
            <a:r>
              <a:rPr lang="en-GB" dirty="0"/>
              <a:t>Access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247" y="1558910"/>
            <a:ext cx="8004376" cy="5294143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Eras Medium ITC" panose="020B0602030504020804" pitchFamily="34" charset="0"/>
              </a:rPr>
              <a:t>Limits the activities different users can perform</a:t>
            </a:r>
          </a:p>
          <a:p>
            <a:endParaRPr lang="en-GB" dirty="0">
              <a:latin typeface="Eras Medium ITC" panose="020B0602030504020804" pitchFamily="34" charset="0"/>
            </a:endParaRPr>
          </a:p>
          <a:p>
            <a:r>
              <a:rPr lang="en-GB" dirty="0">
                <a:latin typeface="Eras Medium ITC" panose="020B0602030504020804" pitchFamily="34" charset="0"/>
              </a:rPr>
              <a:t>Allocates different levels to different users</a:t>
            </a:r>
          </a:p>
          <a:p>
            <a:endParaRPr lang="en-GB" dirty="0">
              <a:latin typeface="Eras Medium ITC" panose="020B0602030504020804" pitchFamily="34" charset="0"/>
            </a:endParaRPr>
          </a:p>
          <a:p>
            <a:r>
              <a:rPr lang="en-GB" dirty="0">
                <a:latin typeface="Eras Medium ITC" panose="020B0602030504020804" pitchFamily="34" charset="0"/>
              </a:rPr>
              <a:t>Limited access to data/files – “</a:t>
            </a:r>
            <a:r>
              <a:rPr lang="en-GB" dirty="0">
                <a:solidFill>
                  <a:schemeClr val="tx1"/>
                </a:solidFill>
                <a:highlight>
                  <a:srgbClr val="00FF00"/>
                </a:highlight>
                <a:latin typeface="Eras Medium ITC" panose="020B0602030504020804" pitchFamily="34" charset="0"/>
              </a:rPr>
              <a:t>Read Only</a:t>
            </a:r>
            <a:r>
              <a:rPr lang="en-GB" dirty="0">
                <a:latin typeface="Eras Medium ITC" panose="020B0602030504020804" pitchFamily="34" charset="0"/>
              </a:rPr>
              <a:t>”, “</a:t>
            </a:r>
            <a:r>
              <a:rPr lang="en-GB" dirty="0">
                <a:solidFill>
                  <a:schemeClr val="tx1"/>
                </a:solidFill>
                <a:highlight>
                  <a:srgbClr val="00FF00"/>
                </a:highlight>
                <a:latin typeface="Eras Medium ITC" panose="020B0602030504020804" pitchFamily="34" charset="0"/>
              </a:rPr>
              <a:t>Read and Copy</a:t>
            </a:r>
            <a:r>
              <a:rPr lang="en-GB" dirty="0">
                <a:latin typeface="Eras Medium ITC" panose="020B0602030504020804" pitchFamily="34" charset="0"/>
              </a:rPr>
              <a:t>”, “</a:t>
            </a:r>
            <a:r>
              <a:rPr lang="en-GB" dirty="0">
                <a:solidFill>
                  <a:schemeClr val="tx1"/>
                </a:solidFill>
                <a:highlight>
                  <a:srgbClr val="00FF00"/>
                </a:highlight>
                <a:latin typeface="Eras Medium ITC" panose="020B0602030504020804" pitchFamily="34" charset="0"/>
              </a:rPr>
              <a:t>Read and Write</a:t>
            </a:r>
            <a:r>
              <a:rPr lang="en-GB" dirty="0">
                <a:latin typeface="Eras Medium ITC" panose="020B0602030504020804" pitchFamily="34" charset="0"/>
              </a:rPr>
              <a:t>” files</a:t>
            </a:r>
          </a:p>
          <a:p>
            <a:pPr lvl="1"/>
            <a:r>
              <a:rPr lang="en-GB" dirty="0">
                <a:latin typeface="Eras Medium ITC" panose="020B0602030504020804" pitchFamily="34" charset="0"/>
              </a:rPr>
              <a:t>Each time a user attempts to access the file, the computer checks the </a:t>
            </a:r>
            <a:r>
              <a:rPr lang="en-GB" dirty="0" err="1">
                <a:latin typeface="Eras Medium ITC" panose="020B0602030504020804" pitchFamily="34" charset="0"/>
              </a:rPr>
              <a:t>UserID</a:t>
            </a:r>
            <a:r>
              <a:rPr lang="en-GB" dirty="0">
                <a:latin typeface="Eras Medium ITC" panose="020B0602030504020804" pitchFamily="34" charset="0"/>
              </a:rPr>
              <a:t> against the access rights table to see what amount of access has been allocated</a:t>
            </a:r>
          </a:p>
          <a:p>
            <a:pPr lvl="1"/>
            <a:endParaRPr lang="en-GB" dirty="0">
              <a:latin typeface="Eras Medium ITC" panose="020B0602030504020804" pitchFamily="34" charset="0"/>
            </a:endParaRPr>
          </a:p>
          <a:p>
            <a:r>
              <a:rPr lang="en-GB" dirty="0">
                <a:latin typeface="Eras Medium ITC" panose="020B0602030504020804" pitchFamily="34" charset="0"/>
              </a:rPr>
              <a:t>If the user has insufficient rights, the user can be denied access/use of this file.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89" b="96889" l="10000" r="951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5216" y="0"/>
            <a:ext cx="4864965" cy="364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10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2946" y="1933550"/>
            <a:ext cx="8050570" cy="5066086"/>
          </a:xfrm>
        </p:spPr>
        <p:txBody>
          <a:bodyPr>
            <a:normAutofit fontScale="85000" lnSpcReduction="20000"/>
          </a:bodyPr>
          <a:lstStyle/>
          <a:p>
            <a:r>
              <a:rPr lang="en-GB" dirty="0">
                <a:latin typeface="Eras Medium ITC" panose="020B0602030504020804" pitchFamily="34" charset="0"/>
              </a:rPr>
              <a:t>If data is lost, becomes corrupted, or stolen, the system must have a method of recovering</a:t>
            </a:r>
          </a:p>
          <a:p>
            <a:endParaRPr lang="en-GB" dirty="0">
              <a:latin typeface="Eras Medium ITC" panose="020B0602030504020804" pitchFamily="34" charset="0"/>
            </a:endParaRPr>
          </a:p>
          <a:p>
            <a:r>
              <a:rPr lang="en-GB" dirty="0">
                <a:latin typeface="Eras Medium ITC" panose="020B0602030504020804" pitchFamily="34" charset="0"/>
              </a:rPr>
              <a:t>Network systems use a backup process to ensure a copy is kept safe and can be reloaded on to the system in such an event</a:t>
            </a:r>
          </a:p>
          <a:p>
            <a:endParaRPr lang="en-GB" dirty="0">
              <a:latin typeface="Eras Medium ITC" panose="020B0602030504020804" pitchFamily="34" charset="0"/>
            </a:endParaRPr>
          </a:p>
          <a:p>
            <a:r>
              <a:rPr lang="en-GB" dirty="0">
                <a:latin typeface="Eras Medium ITC" panose="020B0602030504020804" pitchFamily="34" charset="0"/>
              </a:rPr>
              <a:t>Backup copies can be kept on a number of devices in a safe location away from the network servers</a:t>
            </a:r>
          </a:p>
          <a:p>
            <a:endParaRPr lang="en-GB" dirty="0">
              <a:latin typeface="Eras Medium ITC" panose="020B0602030504020804" pitchFamily="34" charset="0"/>
            </a:endParaRPr>
          </a:p>
          <a:p>
            <a:r>
              <a:rPr lang="en-GB" dirty="0">
                <a:latin typeface="Eras Medium ITC" panose="020B0602030504020804" pitchFamily="34" charset="0"/>
              </a:rPr>
              <a:t>Network backups are usually scheduled automatically</a:t>
            </a:r>
          </a:p>
          <a:p>
            <a:endParaRPr lang="en-GB" dirty="0">
              <a:latin typeface="Eras Medium ITC" panose="020B0602030504020804" pitchFamily="34" charset="0"/>
            </a:endParaRPr>
          </a:p>
          <a:p>
            <a:r>
              <a:rPr lang="en-GB" dirty="0">
                <a:latin typeface="Eras Medium ITC" panose="020B0602030504020804" pitchFamily="34" charset="0"/>
              </a:rPr>
              <a:t>The system software can then run a ‘restore’ program to transfer the data back on to the network servers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58068" y="-64893"/>
            <a:ext cx="3351732" cy="3491673"/>
            <a:chOff x="3870287" y="1690688"/>
            <a:chExt cx="3391253" cy="353284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306" b="95205" l="29325" r="7278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206" t="9729" r="30665" b="9623"/>
            <a:stretch/>
          </p:blipFill>
          <p:spPr>
            <a:xfrm>
              <a:off x="4974098" y="1690688"/>
              <a:ext cx="1333150" cy="253901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306" b="95205" l="29325" r="7278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206" t="9729" r="30665" b="9623"/>
            <a:stretch/>
          </p:blipFill>
          <p:spPr>
            <a:xfrm>
              <a:off x="4431438" y="2171477"/>
              <a:ext cx="1085320" cy="2067016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306" b="95205" l="29325" r="7278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206" t="9729" r="30665" b="9623"/>
            <a:stretch/>
          </p:blipFill>
          <p:spPr>
            <a:xfrm>
              <a:off x="3870287" y="2564164"/>
              <a:ext cx="937712" cy="178589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7418" y="3854756"/>
              <a:ext cx="1383370" cy="1368777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5274" b="89873" l="9916" r="95148">
                          <a14:foregroundMark x1="17089" y1="76371" x2="11814" y2="710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804817" y="3621695"/>
              <a:ext cx="1456723" cy="14567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7836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1660124" y="1633161"/>
            <a:ext cx="7794594" cy="3320579"/>
          </a:xfrm>
          <a:prstGeom prst="ellipse">
            <a:avLst/>
          </a:prstGeom>
          <a:noFill/>
          <a:ln w="57150">
            <a:solidFill>
              <a:srgbClr val="4EA2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Backup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71097" y1="73529" x2="79958" y2="66290"/>
                        <a14:backgroundMark x1="12025" y1="36199" x2="17089" y2="771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43" y="3740280"/>
            <a:ext cx="2393430" cy="2231848"/>
          </a:xfr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grpSp>
        <p:nvGrpSpPr>
          <p:cNvPr id="12" name="Group 11"/>
          <p:cNvGrpSpPr/>
          <p:nvPr/>
        </p:nvGrpSpPr>
        <p:grpSpPr>
          <a:xfrm>
            <a:off x="4775810" y="604254"/>
            <a:ext cx="2304228" cy="2400434"/>
            <a:chOff x="3870287" y="1690688"/>
            <a:chExt cx="3391253" cy="353284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306" b="95205" l="29325" r="7278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206" t="9729" r="30665" b="9623"/>
            <a:stretch/>
          </p:blipFill>
          <p:spPr>
            <a:xfrm>
              <a:off x="4974098" y="1690688"/>
              <a:ext cx="1333150" cy="253901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306" b="95205" l="29325" r="7278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206" t="9729" r="30665" b="9623"/>
            <a:stretch/>
          </p:blipFill>
          <p:spPr>
            <a:xfrm>
              <a:off x="4431438" y="2171477"/>
              <a:ext cx="1085320" cy="2067016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306" b="95205" l="29325" r="7278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206" t="9729" r="30665" b="9623"/>
            <a:stretch/>
          </p:blipFill>
          <p:spPr>
            <a:xfrm>
              <a:off x="3870287" y="2564164"/>
              <a:ext cx="937712" cy="178589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7418" y="3854756"/>
              <a:ext cx="1383370" cy="1368777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5274" b="89873" l="9916" r="95148">
                          <a14:foregroundMark x1="17089" y1="76371" x2="11814" y2="710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804817" y="3621695"/>
              <a:ext cx="1456723" cy="1456723"/>
            </a:xfrm>
            <a:prstGeom prst="rect">
              <a:avLst/>
            </a:prstGeom>
          </p:spPr>
        </p:pic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761" b="89851" l="35865" r="8987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450" r="6808"/>
          <a:stretch/>
        </p:blipFill>
        <p:spPr>
          <a:xfrm>
            <a:off x="8995843" y="4331743"/>
            <a:ext cx="2257692" cy="2584318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100000" l="0" r="100000">
                        <a14:foregroundMark x1="45148" y1="79747" x2="64979" y2="31224"/>
                        <a14:foregroundMark x1="66667" y1="78692" x2="29958" y2="48101"/>
                        <a14:foregroundMark x1="89241" y1="23840" x2="57384" y2="2110"/>
                        <a14:foregroundMark x1="10338" y1="24684" x2="29325" y2="6329"/>
                        <a14:foregroundMark x1="34599" y1="5063" x2="52321" y2="2321"/>
                        <a14:foregroundMark x1="67089" y1="38186" x2="63291" y2="23840"/>
                        <a14:foregroundMark x1="34599" y1="42405" x2="36076" y2="286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399" y="3863867"/>
            <a:ext cx="2179745" cy="217974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4" name="Up Arrow 13"/>
          <p:cNvSpPr/>
          <p:nvPr/>
        </p:nvSpPr>
        <p:spPr>
          <a:xfrm rot="3910601">
            <a:off x="2612611" y="1874032"/>
            <a:ext cx="728764" cy="2587446"/>
          </a:xfrm>
          <a:prstGeom prst="upArrow">
            <a:avLst/>
          </a:prstGeom>
          <a:solidFill>
            <a:srgbClr val="4EA2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dirty="0"/>
              <a:t>BACKUP</a:t>
            </a:r>
          </a:p>
        </p:txBody>
      </p:sp>
      <p:sp>
        <p:nvSpPr>
          <p:cNvPr id="15" name="Up Arrow 14"/>
          <p:cNvSpPr/>
          <p:nvPr/>
        </p:nvSpPr>
        <p:spPr>
          <a:xfrm rot="7340317">
            <a:off x="8014083" y="2363572"/>
            <a:ext cx="728764" cy="2587446"/>
          </a:xfrm>
          <a:prstGeom prst="upArrow">
            <a:avLst/>
          </a:prstGeom>
          <a:solidFill>
            <a:srgbClr val="4EA2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dirty="0"/>
              <a:t>Restore</a:t>
            </a:r>
          </a:p>
        </p:txBody>
      </p:sp>
    </p:spTree>
    <p:extLst>
      <p:ext uri="{BB962C8B-B14F-4D97-AF65-F5344CB8AC3E}">
        <p14:creationId xmlns:p14="http://schemas.microsoft.com/office/powerpoint/2010/main" val="2715323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Emoji Movie | Sony Pictures Imagework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6" t="9537"/>
          <a:stretch/>
        </p:blipFill>
        <p:spPr bwMode="auto">
          <a:xfrm>
            <a:off x="-38101" y="-12700"/>
            <a:ext cx="11291636" cy="4926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Firewall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0739" y="0"/>
            <a:ext cx="5431261" cy="6795854"/>
          </a:xfrm>
          <a:solidFill>
            <a:srgbClr val="000000">
              <a:alpha val="80000"/>
            </a:srgbClr>
          </a:solidFill>
        </p:spPr>
        <p:txBody>
          <a:bodyPr anchor="ctr">
            <a:normAutofit fontScale="85000" lnSpcReduction="10000"/>
          </a:bodyPr>
          <a:lstStyle/>
          <a:p>
            <a:r>
              <a:rPr lang="en-GB" dirty="0">
                <a:latin typeface="Eras Medium ITC" panose="020B0602030504020804" pitchFamily="34" charset="0"/>
              </a:rPr>
              <a:t>Uses security settings or rules to block data which does not comply with the security policy</a:t>
            </a:r>
          </a:p>
          <a:p>
            <a:pPr lvl="1"/>
            <a:r>
              <a:rPr lang="en-GB" dirty="0">
                <a:latin typeface="Eras Medium ITC" panose="020B0602030504020804" pitchFamily="34" charset="0"/>
              </a:rPr>
              <a:t>For example, c2k prevents users accessing certain websites</a:t>
            </a:r>
          </a:p>
          <a:p>
            <a:pPr lvl="1"/>
            <a:r>
              <a:rPr lang="en-GB" dirty="0">
                <a:latin typeface="Eras Medium ITC" panose="020B0602030504020804" pitchFamily="34" charset="0"/>
              </a:rPr>
              <a:t>The firewall does allow compliant data to pass through</a:t>
            </a:r>
          </a:p>
          <a:p>
            <a:pPr lvl="1"/>
            <a:endParaRPr lang="en-GB" dirty="0">
              <a:latin typeface="Eras Medium ITC" panose="020B0602030504020804" pitchFamily="34" charset="0"/>
            </a:endParaRPr>
          </a:p>
          <a:p>
            <a:r>
              <a:rPr lang="en-GB" dirty="0">
                <a:latin typeface="Eras Medium ITC" panose="020B0602030504020804" pitchFamily="34" charset="0"/>
              </a:rPr>
              <a:t>The firewall is designed to prevent:</a:t>
            </a:r>
          </a:p>
          <a:p>
            <a:pPr lvl="1"/>
            <a:r>
              <a:rPr lang="en-GB" dirty="0">
                <a:latin typeface="Eras Medium ITC" panose="020B0602030504020804" pitchFamily="34" charset="0"/>
              </a:rPr>
              <a:t>Hackers from entering the network via the internet</a:t>
            </a:r>
          </a:p>
          <a:p>
            <a:pPr lvl="1"/>
            <a:r>
              <a:rPr lang="en-GB" dirty="0">
                <a:latin typeface="Eras Medium ITC" panose="020B0602030504020804" pitchFamily="34" charset="0"/>
              </a:rPr>
              <a:t>Viruses and spam from entering/leaving the network via the internet</a:t>
            </a:r>
          </a:p>
          <a:p>
            <a:pPr lvl="1"/>
            <a:r>
              <a:rPr lang="en-GB" dirty="0">
                <a:latin typeface="Eras Medium ITC" panose="020B0602030504020804" pitchFamily="34" charset="0"/>
              </a:rPr>
              <a:t>Users/computers within the network from uploading/downloading undesirable data to/from the internet</a:t>
            </a:r>
          </a:p>
          <a:p>
            <a:pPr lvl="1"/>
            <a:endParaRPr lang="en-GB" dirty="0">
              <a:latin typeface="Eras Medium ITC" panose="020B0602030504020804" pitchFamily="34" charset="0"/>
            </a:endParaRPr>
          </a:p>
          <a:p>
            <a:r>
              <a:rPr lang="en-GB" dirty="0">
                <a:latin typeface="Eras Medium ITC" panose="020B0602030504020804" pitchFamily="34" charset="0"/>
              </a:rPr>
              <a:t>Firewall software can produce reports detailing unauthorised access attempts and web addresses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1" y="1208849"/>
            <a:ext cx="6716348" cy="23155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1664" y="1509828"/>
            <a:ext cx="431454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u="sng" dirty="0">
                <a:solidFill>
                  <a:schemeClr val="bg1"/>
                </a:solidFill>
                <a:latin typeface="Copperplate Gothic Light" panose="020E0507020206020404" pitchFamily="34" charset="0"/>
              </a:rPr>
              <a:t>Firewall</a:t>
            </a:r>
          </a:p>
          <a:p>
            <a:pPr algn="ctr"/>
            <a:endParaRPr lang="en-GB" sz="1050" b="1" u="sng" dirty="0">
              <a:solidFill>
                <a:schemeClr val="bg1"/>
              </a:solidFill>
              <a:latin typeface="Copperplate Gothic Light" panose="020E0507020206020404" pitchFamily="34" charset="0"/>
            </a:endParaRPr>
          </a:p>
          <a:p>
            <a:pPr algn="ctr"/>
            <a:r>
              <a:rPr lang="en-GB" b="1" dirty="0">
                <a:solidFill>
                  <a:schemeClr val="bg1"/>
                </a:solidFill>
                <a:latin typeface="Copperplate Gothic Light" panose="020E0507020206020404" pitchFamily="34" charset="0"/>
              </a:rPr>
              <a:t>A piece of software or hardware that is used to monitor and filter data that is entering or leaving a network</a:t>
            </a:r>
            <a:endParaRPr lang="en-GB" dirty="0">
              <a:solidFill>
                <a:schemeClr val="bg1"/>
              </a:solidFill>
              <a:latin typeface="Copperplate Gothic Light" panose="020E05070202060204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298" y="4372971"/>
            <a:ext cx="4430441" cy="243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47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4601" y="635934"/>
            <a:ext cx="10403262" cy="2387600"/>
          </a:xfrm>
        </p:spPr>
        <p:txBody>
          <a:bodyPr>
            <a:noAutofit/>
          </a:bodyPr>
          <a:lstStyle/>
          <a:p>
            <a:r>
              <a:rPr lang="en-GB" sz="7200" dirty="0">
                <a:effectLst>
                  <a:reflection blurRad="6350" stA="55000" endA="300" endPos="45500" dir="5400000" sy="-100000" algn="bl" rotWithShape="0"/>
                </a:effectLst>
              </a:rPr>
              <a:t>P</a:t>
            </a:r>
            <a:r>
              <a:rPr lang="en-GB" sz="3200" dirty="0">
                <a:effectLst>
                  <a:reflection blurRad="6350" stA="55000" endA="300" endPos="45500" dir="5400000" sy="-100000" algn="bl" rotWithShape="0"/>
                </a:effectLst>
              </a:rPr>
              <a:t>rotocols used for Data Transfer</a:t>
            </a:r>
            <a:endParaRPr lang="en-GB" sz="1600" dirty="0">
              <a:effectLst>
                <a:reflection blurRad="6350" stA="55000" endA="300" endPos="45500" dir="5400000" sy="-100000" algn="bl" rotWithShape="0"/>
              </a:effectLst>
              <a:latin typeface="Copperplate Gothic Light" panose="020E05070202060204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0418" y="2161338"/>
            <a:ext cx="9184105" cy="563186"/>
          </a:xfrm>
        </p:spPr>
        <p:txBody>
          <a:bodyPr>
            <a:normAutofit/>
          </a:bodyPr>
          <a:lstStyle/>
          <a:p>
            <a:r>
              <a:rPr lang="en-GB" sz="1400" dirty="0"/>
              <a:t>File Transport Protocol | Hypertext Transfer Protocol | Hypertext Transfer Protocol Secure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471" y="4096310"/>
            <a:ext cx="487680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18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65125"/>
            <a:ext cx="8967535" cy="1325563"/>
          </a:xfrm>
        </p:spPr>
        <p:txBody>
          <a:bodyPr/>
          <a:lstStyle/>
          <a:p>
            <a:r>
              <a:rPr lang="en-GB" dirty="0"/>
              <a:t>What is a Protocol?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Computers on a network need to communicate with one another.</a:t>
            </a:r>
          </a:p>
          <a:p>
            <a:pPr lvl="1"/>
            <a:r>
              <a:rPr lang="en-GB" dirty="0"/>
              <a:t>This is a bit like ‘they all need to speak the same language’</a:t>
            </a:r>
          </a:p>
          <a:p>
            <a:pPr lvl="1"/>
            <a:r>
              <a:rPr lang="en-GB" dirty="0"/>
              <a:t>A communications protocol is agreed as a standard way for these computers to communicate with one another.</a:t>
            </a:r>
          </a:p>
          <a:p>
            <a:pPr lvl="1"/>
            <a:r>
              <a:rPr lang="en-GB" dirty="0"/>
              <a:t>Many different protocols available</a:t>
            </a:r>
          </a:p>
          <a:p>
            <a:r>
              <a:rPr lang="en-GB" dirty="0"/>
              <a:t>The </a:t>
            </a:r>
            <a:r>
              <a:rPr lang="en-GB" b="1" dirty="0"/>
              <a:t>protocol</a:t>
            </a:r>
            <a:r>
              <a:rPr lang="en-GB" dirty="0"/>
              <a:t> used on the internet is </a:t>
            </a:r>
            <a:r>
              <a:rPr lang="en-GB" b="1" dirty="0"/>
              <a:t>TCP/IP</a:t>
            </a:r>
            <a:r>
              <a:rPr lang="en-GB" dirty="0"/>
              <a:t> (transmission control protocol/Internet protocol)</a:t>
            </a:r>
          </a:p>
          <a:p>
            <a:pPr lvl="1"/>
            <a:r>
              <a:rPr lang="en-GB" dirty="0"/>
              <a:t>The use of a router ensures that data travels on the correct network path and arrives at the correct computer.</a:t>
            </a:r>
          </a:p>
        </p:txBody>
      </p:sp>
      <p:pic>
        <p:nvPicPr>
          <p:cNvPr id="3074" name="Picture 2" descr="📜 Scroll Emo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79" y="615156"/>
            <a:ext cx="228600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3752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87" y="97264"/>
            <a:ext cx="9296399" cy="1325563"/>
          </a:xfrm>
        </p:spPr>
        <p:txBody>
          <a:bodyPr/>
          <a:lstStyle/>
          <a:p>
            <a:r>
              <a:rPr lang="en-GB" dirty="0"/>
              <a:t>FTP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2748" y="434715"/>
            <a:ext cx="7671319" cy="5339450"/>
          </a:xfrm>
        </p:spPr>
        <p:txBody>
          <a:bodyPr/>
          <a:lstStyle/>
          <a:p>
            <a:r>
              <a:rPr lang="en-GB" dirty="0">
                <a:latin typeface="Eras Medium ITC" panose="020B0602030504020804" pitchFamily="34" charset="0"/>
              </a:rPr>
              <a:t>File transfer protocol</a:t>
            </a:r>
          </a:p>
          <a:p>
            <a:r>
              <a:rPr lang="en-GB" dirty="0">
                <a:latin typeface="Eras Medium ITC" panose="020B0602030504020804" pitchFamily="34" charset="0"/>
              </a:rPr>
              <a:t>Widely used to send and receive files over the internet</a:t>
            </a:r>
          </a:p>
          <a:p>
            <a:r>
              <a:rPr lang="en-GB" dirty="0">
                <a:latin typeface="Eras Medium ITC" panose="020B0602030504020804" pitchFamily="34" charset="0"/>
              </a:rPr>
              <a:t>Users access a file server to download/upload</a:t>
            </a:r>
          </a:p>
          <a:p>
            <a:r>
              <a:rPr lang="en-GB" dirty="0">
                <a:latin typeface="Eras Medium ITC" panose="020B0602030504020804" pitchFamily="34" charset="0"/>
              </a:rPr>
              <a:t>Used to send software updates to network devices such as routers and switches</a:t>
            </a:r>
          </a:p>
          <a:p>
            <a:r>
              <a:rPr lang="en-GB" dirty="0">
                <a:latin typeface="Eras Medium ITC" panose="020B0602030504020804" pitchFamily="34" charset="0"/>
              </a:rPr>
              <a:t>Security is high due to encrypted data and usernames/passwords to prevent unauthorised access.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477" r="100000">
                        <a14:foregroundMark x1="14979" y1="10338" x2="17932" y2="22152"/>
                        <a14:foregroundMark x1="47468" y1="10759" x2="48734" y2="23207"/>
                        <a14:foregroundMark x1="71519" y1="10970" x2="72152" y2="28059"/>
                        <a14:foregroundMark x1="74051" y1="75738" x2="42405" y2="89030"/>
                        <a14:foregroundMark x1="54641" y1="8017" x2="40295" y2="8861"/>
                        <a14:foregroundMark x1="78481" y1="8017" x2="84810" y2="10759"/>
                        <a14:backgroundMark x1="59916" y1="97046" x2="50000" y2="97046"/>
                        <a14:backgroundMark x1="56540" y1="1899" x2="47890" y2="1899"/>
                        <a14:backgroundMark x1="90928" y1="18776" x2="91772" y2="175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4629"/>
            <a:ext cx="3233371" cy="3233371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5140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7367" y="2203554"/>
            <a:ext cx="8636168" cy="5314596"/>
          </a:xfrm>
        </p:spPr>
        <p:txBody>
          <a:bodyPr/>
          <a:lstStyle/>
          <a:p>
            <a:r>
              <a:rPr lang="en-GB" dirty="0">
                <a:latin typeface="Eras Medium ITC" panose="020B0602030504020804" pitchFamily="34" charset="0"/>
              </a:rPr>
              <a:t>Hypertext transfer protocol</a:t>
            </a:r>
          </a:p>
          <a:p>
            <a:r>
              <a:rPr lang="en-GB" dirty="0">
                <a:latin typeface="Eras Medium ITC" panose="020B0602030504020804" pitchFamily="34" charset="0"/>
              </a:rPr>
              <a:t>Used by the www to identify and transfer webpages using the internet</a:t>
            </a:r>
          </a:p>
          <a:p>
            <a:r>
              <a:rPr lang="en-GB" dirty="0">
                <a:latin typeface="Eras Medium ITC" panose="020B0602030504020804" pitchFamily="34" charset="0"/>
              </a:rPr>
              <a:t>User enters URL into the address bar, which sends a command to the web server to request the required webpage</a:t>
            </a:r>
          </a:p>
          <a:p>
            <a:r>
              <a:rPr lang="en-GB" dirty="0">
                <a:latin typeface="Eras Medium ITC" panose="020B0602030504020804" pitchFamily="34" charset="0"/>
              </a:rPr>
              <a:t>If webpage cannot be located (deleted/incorrect), the http will report an error back.</a:t>
            </a:r>
          </a:p>
          <a:p>
            <a:pPr lvl="1"/>
            <a:r>
              <a:rPr lang="en-GB" dirty="0">
                <a:latin typeface="Eras Medium ITC" panose="020B0602030504020804" pitchFamily="34" charset="0"/>
              </a:rPr>
              <a:t>These errors are known as ‘status codes’, for example ‘404 File Not Found’</a:t>
            </a:r>
          </a:p>
          <a:p>
            <a:pPr marL="457200" lvl="1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924" y="127566"/>
            <a:ext cx="3432077" cy="257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2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296399" cy="1325563"/>
          </a:xfrm>
        </p:spPr>
        <p:txBody>
          <a:bodyPr/>
          <a:lstStyle/>
          <a:p>
            <a:r>
              <a:rPr lang="en-GB" dirty="0"/>
              <a:t>HTTPS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6880" y="509666"/>
            <a:ext cx="9224596" cy="4674441"/>
          </a:xfrm>
        </p:spPr>
        <p:txBody>
          <a:bodyPr>
            <a:normAutofit fontScale="92500"/>
          </a:bodyPr>
          <a:lstStyle/>
          <a:p>
            <a:r>
              <a:rPr lang="en-GB" dirty="0">
                <a:latin typeface="Eras Medium ITC" panose="020B0602030504020804" pitchFamily="34" charset="0"/>
              </a:rPr>
              <a:t>Hypertext transfer protocol secure</a:t>
            </a:r>
          </a:p>
          <a:p>
            <a:r>
              <a:rPr lang="en-GB" dirty="0">
                <a:latin typeface="Eras Medium ITC" panose="020B0602030504020804" pitchFamily="34" charset="0"/>
              </a:rPr>
              <a:t>Similar to HTTP, but uses a </a:t>
            </a:r>
            <a:r>
              <a:rPr lang="en-GB" b="1" dirty="0">
                <a:latin typeface="Eras Medium ITC" panose="020B0602030504020804" pitchFamily="34" charset="0"/>
              </a:rPr>
              <a:t>secure</a:t>
            </a:r>
            <a:r>
              <a:rPr lang="en-GB" dirty="0">
                <a:latin typeface="Eras Medium ITC" panose="020B0602030504020804" pitchFamily="34" charset="0"/>
              </a:rPr>
              <a:t> </a:t>
            </a:r>
            <a:r>
              <a:rPr lang="en-GB" b="1" dirty="0">
                <a:latin typeface="Eras Medium ITC" panose="020B0602030504020804" pitchFamily="34" charset="0"/>
              </a:rPr>
              <a:t>socket layer</a:t>
            </a:r>
            <a:r>
              <a:rPr lang="en-GB" dirty="0">
                <a:latin typeface="Eras Medium ITC" panose="020B0602030504020804" pitchFamily="34" charset="0"/>
              </a:rPr>
              <a:t> (SSL) to ensure data is transmitted securely</a:t>
            </a:r>
          </a:p>
          <a:p>
            <a:r>
              <a:rPr lang="en-GB" dirty="0">
                <a:latin typeface="Eras Medium ITC" panose="020B0602030504020804" pitchFamily="34" charset="0"/>
              </a:rPr>
              <a:t>Designed to allow access to a secure webserver for secure data communication</a:t>
            </a:r>
          </a:p>
          <a:p>
            <a:r>
              <a:rPr lang="en-GB" dirty="0">
                <a:latin typeface="Eras Medium ITC" panose="020B0602030504020804" pitchFamily="34" charset="0"/>
              </a:rPr>
              <a:t>Uses encryption for sending, and decryption for receiving</a:t>
            </a:r>
          </a:p>
          <a:p>
            <a:r>
              <a:rPr lang="en-GB" dirty="0">
                <a:latin typeface="Eras Medium ITC" panose="020B0602030504020804" pitchFamily="34" charset="0"/>
              </a:rPr>
              <a:t>Used in finance applications such as banking and </a:t>
            </a:r>
            <a:r>
              <a:rPr lang="en-GB" b="1" dirty="0">
                <a:latin typeface="Eras Medium ITC" panose="020B0602030504020804" pitchFamily="34" charset="0"/>
              </a:rPr>
              <a:t>e-commerce</a:t>
            </a:r>
            <a:r>
              <a:rPr lang="en-GB" dirty="0">
                <a:latin typeface="Eras Medium ITC" panose="020B0602030504020804" pitchFamily="34" charset="0"/>
              </a:rPr>
              <a:t> – where credit card and </a:t>
            </a:r>
            <a:r>
              <a:rPr lang="en-GB" dirty="0" err="1">
                <a:latin typeface="Eras Medium ITC" panose="020B0602030504020804" pitchFamily="34" charset="0"/>
              </a:rPr>
              <a:t>paypal</a:t>
            </a:r>
            <a:r>
              <a:rPr lang="en-GB" dirty="0">
                <a:latin typeface="Eras Medium ITC" panose="020B0602030504020804" pitchFamily="34" charset="0"/>
              </a:rPr>
              <a:t> transactions are managed on the WWW.</a:t>
            </a:r>
          </a:p>
          <a:p>
            <a:r>
              <a:rPr lang="en-GB" dirty="0">
                <a:latin typeface="Eras Medium ITC" panose="020B0602030504020804" pitchFamily="34" charset="0"/>
              </a:rPr>
              <a:t>Use a padlock icon on screen to display the website is secure.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215" y="5184107"/>
            <a:ext cx="3347785" cy="167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27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HTTPS?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4366" y="1690688"/>
            <a:ext cx="9881937" cy="4351338"/>
          </a:xfrm>
        </p:spPr>
        <p:txBody>
          <a:bodyPr/>
          <a:lstStyle/>
          <a:p>
            <a:r>
              <a:rPr lang="en-GB" dirty="0">
                <a:latin typeface="Eras Medium ITC" panose="020B0602030504020804" pitchFamily="34" charset="0"/>
              </a:rPr>
              <a:t>When using HTTP it is possible to intercept data</a:t>
            </a:r>
          </a:p>
          <a:p>
            <a:pPr lvl="1"/>
            <a:r>
              <a:rPr lang="en-GB" dirty="0">
                <a:latin typeface="Eras Medium ITC" panose="020B0602030504020804" pitchFamily="34" charset="0"/>
              </a:rPr>
              <a:t>An individual could gain access to a customer’s personal bank details </a:t>
            </a:r>
          </a:p>
          <a:p>
            <a:r>
              <a:rPr lang="en-GB" dirty="0">
                <a:latin typeface="Eras Medium ITC" panose="020B0602030504020804" pitchFamily="34" charset="0"/>
              </a:rPr>
              <a:t>When using HTTPS, a hacker could still gain access to the data, but as it would be encrypted, it would be scrambled and meaningless.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4350308"/>
            <a:ext cx="4506169" cy="229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690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1377</Words>
  <Application>Microsoft Office PowerPoint</Application>
  <PresentationFormat>Widescreen</PresentationFormat>
  <Paragraphs>188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Century Gothic</vt:lpstr>
      <vt:lpstr>Copperplate Gothic Light</vt:lpstr>
      <vt:lpstr>CordiaUPC</vt:lpstr>
      <vt:lpstr>Eras Medium ITC</vt:lpstr>
      <vt:lpstr>Office Theme</vt:lpstr>
      <vt:lpstr>1_Office Theme</vt:lpstr>
      <vt:lpstr>Cyberspace</vt:lpstr>
      <vt:lpstr>Cyber Crime </vt:lpstr>
      <vt:lpstr>Q. What is cyberspace?</vt:lpstr>
      <vt:lpstr>Website</vt:lpstr>
      <vt:lpstr>PowerPoint Presentation</vt:lpstr>
      <vt:lpstr>Malware</vt:lpstr>
      <vt:lpstr>Virus</vt:lpstr>
      <vt:lpstr>Trojan Horse</vt:lpstr>
      <vt:lpstr>Worm</vt:lpstr>
      <vt:lpstr>Key logger</vt:lpstr>
      <vt:lpstr>Spyware</vt:lpstr>
      <vt:lpstr>Network Protection</vt:lpstr>
      <vt:lpstr>Data Encryption</vt:lpstr>
      <vt:lpstr>Usernames and Passwords</vt:lpstr>
      <vt:lpstr>Access Levels</vt:lpstr>
      <vt:lpstr>Backup</vt:lpstr>
      <vt:lpstr>Backup</vt:lpstr>
      <vt:lpstr>Firewall</vt:lpstr>
      <vt:lpstr>Protocols used for Data Transfer</vt:lpstr>
      <vt:lpstr>What is a Protocol?</vt:lpstr>
      <vt:lpstr>FTP</vt:lpstr>
      <vt:lpstr>Http</vt:lpstr>
      <vt:lpstr>HTTPS</vt:lpstr>
      <vt:lpstr>Why use HTTPS?</vt:lpstr>
    </vt:vector>
  </TitlesOfParts>
  <Company>C2k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Cyberspace</dc:title>
  <dc:creator>Mr Butler</dc:creator>
  <cp:lastModifiedBy>J Butler</cp:lastModifiedBy>
  <cp:revision>42</cp:revision>
  <cp:lastPrinted>2024-01-22T11:34:13Z</cp:lastPrinted>
  <dcterms:created xsi:type="dcterms:W3CDTF">2018-01-25T14:54:15Z</dcterms:created>
  <dcterms:modified xsi:type="dcterms:W3CDTF">2024-01-22T11:34:15Z</dcterms:modified>
</cp:coreProperties>
</file>