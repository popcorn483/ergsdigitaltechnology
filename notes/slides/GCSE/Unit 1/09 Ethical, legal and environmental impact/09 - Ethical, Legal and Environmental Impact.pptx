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0" r:id="rId2"/>
  </p:sld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70" r:id="rId15"/>
    <p:sldId id="271" r:id="rId16"/>
    <p:sldId id="272" r:id="rId17"/>
    <p:sldId id="273" r:id="rId18"/>
    <p:sldId id="274" r:id="rId19"/>
    <p:sldId id="275" r:id="rId20"/>
    <p:sldId id="276" r:id="rId21"/>
    <p:sldId id="277" r:id="rId22"/>
    <p:sldId id="278" r:id="rId23"/>
    <p:sldId id="279" r:id="rId24"/>
    <p:sldId id="280" r:id="rId25"/>
    <p:sldId id="282" r:id="rId26"/>
    <p:sldId id="283" r:id="rId27"/>
    <p:sldId id="284" r:id="rId28"/>
    <p:sldId id="285" r:id="rId29"/>
    <p:sldId id="286" r:id="rId30"/>
    <p:sldId id="287" r:id="rId31"/>
    <p:sldId id="288" r:id="rId32"/>
    <p:sldId id="289" r:id="rId33"/>
    <p:sldId id="290" r:id="rId34"/>
    <p:sldId id="291" r:id="rId35"/>
    <p:sldId id="292" r:id="rId36"/>
    <p:sldId id="295" r:id="rId37"/>
    <p:sldId id="296" r:id="rId38"/>
    <p:sldId id="297" r:id="rId39"/>
    <p:sldId id="299" r:id="rId40"/>
    <p:sldId id="300" r:id="rId41"/>
    <p:sldId id="301" r:id="rId42"/>
    <p:sldId id="302" r:id="rId43"/>
    <p:sldId id="303" r:id="rId44"/>
    <p:sldId id="304" r:id="rId45"/>
    <p:sldId id="305" r:id="rId46"/>
    <p:sldId id="306" r:id="rId47"/>
    <p:sldId id="307" r:id="rId48"/>
    <p:sldId id="308" r:id="rId49"/>
    <p:sldId id="310" r:id="rId50"/>
    <p:sldId id="312" r:id="rId51"/>
    <p:sldId id="313" r:id="rId52"/>
    <p:sldId id="314" r:id="rId53"/>
    <p:sldId id="315" r:id="rId54"/>
    <p:sldId id="316" r:id="rId55"/>
    <p:sldId id="317" r:id="rId56"/>
    <p:sldId id="319" r:id="rId57"/>
    <p:sldId id="321" r:id="rId58"/>
    <p:sldId id="322" r:id="rId59"/>
    <p:sldId id="323" r:id="rId60"/>
    <p:sldId id="325" r:id="rId61"/>
    <p:sldId id="336" r:id="rId62"/>
    <p:sldId id="337" r:id="rId63"/>
    <p:sldId id="338" r:id="rId64"/>
    <p:sldId id="339" r:id="rId65"/>
    <p:sldId id="327" r:id="rId66"/>
    <p:sldId id="328" r:id="rId67"/>
    <p:sldId id="329" r:id="rId68"/>
    <p:sldId id="330" r:id="rId69"/>
    <p:sldId id="331" r:id="rId70"/>
    <p:sldId id="332" r:id="rId71"/>
    <p:sldId id="333" r:id="rId72"/>
    <p:sldId id="334" r:id="rId73"/>
    <p:sldId id="335" r:id="rId7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Untitled Section" id="{5E3F7F89-DF4D-4ADE-9FAB-D167AC1CEC76}">
          <p14:sldIdLst>
            <p14:sldId id="256"/>
            <p14:sldId id="257"/>
          </p14:sldIdLst>
        </p14:section>
        <p14:section name="Consumer Contracts Regluations" id="{632039EB-674D-4B97-ACB6-090791638A8A}">
          <p14:sldIdLst>
            <p14:sldId id="258"/>
          </p14:sldIdLst>
        </p14:section>
        <p14:section name="Data Protection Act 1998" id="{387D0323-7153-4E9D-BE37-3AE6FFB4180E}">
          <p14:sldIdLst>
            <p14:sldId id="259"/>
            <p14:sldId id="260"/>
            <p14:sldId id="261"/>
            <p14:sldId id="262"/>
            <p14:sldId id="263"/>
            <p14:sldId id="264"/>
            <p14:sldId id="265"/>
            <p14:sldId id="266"/>
            <p14:sldId id="267"/>
          </p14:sldIdLst>
        </p14:section>
        <p14:section name="Copyright Designs and Patents Act 1988" id="{6199FCCE-ED6E-48AF-875E-5B37BC38E03F}">
          <p14:sldIdLst>
            <p14:sldId id="270"/>
            <p14:sldId id="271"/>
            <p14:sldId id="272"/>
            <p14:sldId id="273"/>
            <p14:sldId id="274"/>
            <p14:sldId id="275"/>
            <p14:sldId id="276"/>
            <p14:sldId id="277"/>
            <p14:sldId id="278"/>
            <p14:sldId id="279"/>
            <p14:sldId id="280"/>
          </p14:sldIdLst>
        </p14:section>
        <p14:section name="Computer Misuse Act 1990" id="{B8BCEEDB-1293-44E7-A4ED-CA6933B947DF}">
          <p14:sldIdLst>
            <p14:sldId id="282"/>
            <p14:sldId id="283"/>
            <p14:sldId id="284"/>
            <p14:sldId id="285"/>
            <p14:sldId id="286"/>
            <p14:sldId id="287"/>
            <p14:sldId id="288"/>
            <p14:sldId id="289"/>
            <p14:sldId id="290"/>
            <p14:sldId id="291"/>
            <p14:sldId id="292"/>
            <p14:sldId id="295"/>
            <p14:sldId id="296"/>
            <p14:sldId id="297"/>
          </p14:sldIdLst>
        </p14:section>
        <p14:section name="Health and Safety" id="{FD783B96-6E2D-4326-9007-6DB9E9B9705B}">
          <p14:sldIdLst>
            <p14:sldId id="299"/>
            <p14:sldId id="300"/>
            <p14:sldId id="301"/>
            <p14:sldId id="302"/>
            <p14:sldId id="303"/>
            <p14:sldId id="304"/>
            <p14:sldId id="305"/>
            <p14:sldId id="306"/>
            <p14:sldId id="307"/>
            <p14:sldId id="308"/>
            <p14:sldId id="310"/>
            <p14:sldId id="312"/>
            <p14:sldId id="313"/>
            <p14:sldId id="314"/>
            <p14:sldId id="315"/>
            <p14:sldId id="316"/>
            <p14:sldId id="317"/>
            <p14:sldId id="319"/>
            <p14:sldId id="321"/>
            <p14:sldId id="322"/>
            <p14:sldId id="323"/>
          </p14:sldIdLst>
        </p14:section>
        <p14:section name="Morals and Ethical Issues" id="{B1E360A0-4D36-4B40-8BDC-B76E97FB9861}">
          <p14:sldIdLst>
            <p14:sldId id="325"/>
            <p14:sldId id="336"/>
            <p14:sldId id="337"/>
            <p14:sldId id="338"/>
            <p14:sldId id="339"/>
          </p14:sldIdLst>
        </p14:section>
        <p14:section name="Jobs" id="{D2F57DB7-46E0-445A-9CE8-8B836BC41A1E}">
          <p14:sldIdLst>
            <p14:sldId id="327"/>
            <p14:sldId id="328"/>
            <p14:sldId id="329"/>
            <p14:sldId id="330"/>
            <p14:sldId id="331"/>
            <p14:sldId id="332"/>
            <p14:sldId id="333"/>
            <p14:sldId id="334"/>
            <p14:sldId id="33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0E0E0"/>
    <a:srgbClr val="30261C"/>
    <a:srgbClr val="52402F"/>
    <a:srgbClr val="AD0101"/>
    <a:srgbClr val="000A1E"/>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64" d="100"/>
          <a:sy n="64" d="100"/>
        </p:scale>
        <p:origin x="876" y="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4.xml"/><Relationship Id="rId21" Type="http://schemas.openxmlformats.org/officeDocument/2006/relationships/slide" Target="slides/slide19.xml"/><Relationship Id="rId42" Type="http://schemas.openxmlformats.org/officeDocument/2006/relationships/slide" Target="slides/slide40.xml"/><Relationship Id="rId47" Type="http://schemas.openxmlformats.org/officeDocument/2006/relationships/slide" Target="slides/slide45.xml"/><Relationship Id="rId63" Type="http://schemas.openxmlformats.org/officeDocument/2006/relationships/slide" Target="slides/slide61.xml"/><Relationship Id="rId68" Type="http://schemas.openxmlformats.org/officeDocument/2006/relationships/slide" Target="slides/slide66.xml"/><Relationship Id="rId16" Type="http://schemas.openxmlformats.org/officeDocument/2006/relationships/slide" Target="slides/slide1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slide" Target="slides/slide51.xml"/><Relationship Id="rId58" Type="http://schemas.openxmlformats.org/officeDocument/2006/relationships/slide" Target="slides/slide56.xml"/><Relationship Id="rId66" Type="http://schemas.openxmlformats.org/officeDocument/2006/relationships/slide" Target="slides/slide64.xml"/><Relationship Id="rId74" Type="http://schemas.openxmlformats.org/officeDocument/2006/relationships/slide" Target="slides/slide72.xml"/><Relationship Id="rId5" Type="http://schemas.openxmlformats.org/officeDocument/2006/relationships/slide" Target="slides/slide3.xml"/><Relationship Id="rId61" Type="http://schemas.openxmlformats.org/officeDocument/2006/relationships/slide" Target="slides/slide59.xml"/><Relationship Id="rId19" Type="http://schemas.openxmlformats.org/officeDocument/2006/relationships/slide" Target="slides/slide1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slide" Target="slides/slide54.xml"/><Relationship Id="rId64" Type="http://schemas.openxmlformats.org/officeDocument/2006/relationships/slide" Target="slides/slide62.xml"/><Relationship Id="rId69" Type="http://schemas.openxmlformats.org/officeDocument/2006/relationships/slide" Target="slides/slide67.xml"/><Relationship Id="rId77" Type="http://schemas.openxmlformats.org/officeDocument/2006/relationships/theme" Target="theme/theme1.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slide" Target="slides/slide57.xml"/><Relationship Id="rId67" Type="http://schemas.openxmlformats.org/officeDocument/2006/relationships/slide" Target="slides/slide65.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62" Type="http://schemas.openxmlformats.org/officeDocument/2006/relationships/slide" Target="slides/slide60.xml"/><Relationship Id="rId70" Type="http://schemas.openxmlformats.org/officeDocument/2006/relationships/slide" Target="slides/slide68.xml"/><Relationship Id="rId75"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slide" Target="slides/slide55.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slide" Target="slides/slide58.xml"/><Relationship Id="rId65" Type="http://schemas.openxmlformats.org/officeDocument/2006/relationships/slide" Target="slides/slide63.xml"/><Relationship Id="rId73" Type="http://schemas.openxmlformats.org/officeDocument/2006/relationships/slide" Target="slides/slide71.xml"/><Relationship Id="rId78" Type="http://schemas.openxmlformats.org/officeDocument/2006/relationships/tableStyles" Target="tableStyles.xml"/><Relationship Id="rId4" Type="http://schemas.openxmlformats.org/officeDocument/2006/relationships/slide" Target="slides/slide2.xml"/><Relationship Id="rId9" Type="http://schemas.openxmlformats.org/officeDocument/2006/relationships/slide" Target="slides/slide7.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viewProps" Target="viewProps.xml"/><Relationship Id="rId7" Type="http://schemas.openxmlformats.org/officeDocument/2006/relationships/slide" Target="slides/slide5.xml"/><Relationship Id="rId71" Type="http://schemas.openxmlformats.org/officeDocument/2006/relationships/slide" Target="slides/slide69.xml"/><Relationship Id="rId2" Type="http://schemas.openxmlformats.org/officeDocument/2006/relationships/slideMaster" Target="slideMasters/slideMaster2.xml"/><Relationship Id="rId29" Type="http://schemas.openxmlformats.org/officeDocument/2006/relationships/slide" Target="slides/slide2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p:cNvSpPr>
            <a:spLocks noGrp="1"/>
          </p:cNvSpPr>
          <p:nvPr>
            <p:ph type="dt" sz="half" idx="10"/>
          </p:nvPr>
        </p:nvSpPr>
        <p:spPr/>
        <p:txBody>
          <a:bodyPr/>
          <a:lstStyle/>
          <a:p>
            <a:fld id="{14225548-E725-4E7A-AF68-C28E4B22023F}" type="datetimeFigureOut">
              <a:rPr lang="en-GB" smtClean="0"/>
              <a:t>06/03/2023</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96D1B4D-CCB1-4F2C-A93F-80592B09E816}" type="slidenum">
              <a:rPr lang="en-GB" smtClean="0"/>
              <a:t>‹#›</a:t>
            </a:fld>
            <a:endParaRPr lang="en-GB"/>
          </a:p>
        </p:txBody>
      </p:sp>
    </p:spTree>
    <p:extLst>
      <p:ext uri="{BB962C8B-B14F-4D97-AF65-F5344CB8AC3E}">
        <p14:creationId xmlns:p14="http://schemas.microsoft.com/office/powerpoint/2010/main" val="21752871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
        <p:nvSpPr>
          <p:cNvPr id="4" name="Date Placeholder 3"/>
          <p:cNvSpPr>
            <a:spLocks noGrp="1"/>
          </p:cNvSpPr>
          <p:nvPr>
            <p:ph type="dt" sz="half" idx="10"/>
          </p:nvPr>
        </p:nvSpPr>
        <p:spPr/>
        <p:txBody>
          <a:bodyPr/>
          <a:lstStyle/>
          <a:p>
            <a:fld id="{14225548-E725-4E7A-AF68-C28E4B22023F}" type="datetimeFigureOut">
              <a:rPr lang="en-GB" smtClean="0"/>
              <a:t>06/03/2023</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96D1B4D-CCB1-4F2C-A93F-80592B09E816}" type="slidenum">
              <a:rPr lang="en-GB" smtClean="0"/>
              <a:t>‹#›</a:t>
            </a:fld>
            <a:endParaRPr lang="en-GB"/>
          </a:p>
        </p:txBody>
      </p:sp>
      <p:sp>
        <p:nvSpPr>
          <p:cNvPr id="7" name="Content Placeholder 2">
            <a:extLst>
              <a:ext uri="{FF2B5EF4-FFF2-40B4-BE49-F238E27FC236}">
                <a16:creationId xmlns:a16="http://schemas.microsoft.com/office/drawing/2014/main" id="{5E6AA3ED-2FF8-4BF9-A97B-F9B6DB7A81E6}"/>
              </a:ext>
            </a:extLst>
          </p:cNvPr>
          <p:cNvSpPr>
            <a:spLocks noGrp="1"/>
          </p:cNvSpPr>
          <p:nvPr>
            <p:ph idx="13"/>
          </p:nvPr>
        </p:nvSpPr>
        <p:spPr>
          <a:xfrm>
            <a:off x="838200" y="1847850"/>
            <a:ext cx="10515600" cy="4351338"/>
          </a:xfrm>
          <a:solidFill>
            <a:srgbClr val="003300">
              <a:alpha val="50196"/>
            </a:srgbClr>
          </a:solidFill>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60866116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14225548-E725-4E7A-AF68-C28E4B22023F}" type="datetimeFigureOut">
              <a:rPr lang="en-GB" smtClean="0"/>
              <a:t>06/03/2023</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96D1B4D-CCB1-4F2C-A93F-80592B09E816}" type="slidenum">
              <a:rPr lang="en-GB" smtClean="0"/>
              <a:t>‹#›</a:t>
            </a:fld>
            <a:endParaRPr lang="en-GB"/>
          </a:p>
        </p:txBody>
      </p:sp>
    </p:spTree>
    <p:extLst>
      <p:ext uri="{BB962C8B-B14F-4D97-AF65-F5344CB8AC3E}">
        <p14:creationId xmlns:p14="http://schemas.microsoft.com/office/powerpoint/2010/main" val="215601992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
        <p:nvSpPr>
          <p:cNvPr id="3" name="Content Placeholder 2"/>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p:cNvSpPr>
            <a:spLocks noGrp="1"/>
          </p:cNvSpPr>
          <p:nvPr>
            <p:ph type="dt" sz="half" idx="10"/>
          </p:nvPr>
        </p:nvSpPr>
        <p:spPr/>
        <p:txBody>
          <a:bodyPr/>
          <a:lstStyle/>
          <a:p>
            <a:fld id="{14225548-E725-4E7A-AF68-C28E4B22023F}" type="datetimeFigureOut">
              <a:rPr lang="en-GB" smtClean="0"/>
              <a:t>06/03/2023</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796D1B4D-CCB1-4F2C-A93F-80592B09E816}" type="slidenum">
              <a:rPr lang="en-GB" smtClean="0"/>
              <a:t>‹#›</a:t>
            </a:fld>
            <a:endParaRPr lang="en-GB"/>
          </a:p>
        </p:txBody>
      </p:sp>
    </p:spTree>
    <p:extLst>
      <p:ext uri="{BB962C8B-B14F-4D97-AF65-F5344CB8AC3E}">
        <p14:creationId xmlns:p14="http://schemas.microsoft.com/office/powerpoint/2010/main" val="366771909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p:cNvSpPr>
            <a:spLocks noGrp="1"/>
          </p:cNvSpPr>
          <p:nvPr>
            <p:ph type="dt" sz="half" idx="10"/>
          </p:nvPr>
        </p:nvSpPr>
        <p:spPr/>
        <p:txBody>
          <a:bodyPr/>
          <a:lstStyle/>
          <a:p>
            <a:fld id="{14225548-E725-4E7A-AF68-C28E4B22023F}" type="datetimeFigureOut">
              <a:rPr lang="en-GB" smtClean="0"/>
              <a:t>06/03/2023</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796D1B4D-CCB1-4F2C-A93F-80592B09E816}" type="slidenum">
              <a:rPr lang="en-GB" smtClean="0"/>
              <a:t>‹#›</a:t>
            </a:fld>
            <a:endParaRPr lang="en-GB"/>
          </a:p>
        </p:txBody>
      </p:sp>
    </p:spTree>
    <p:extLst>
      <p:ext uri="{BB962C8B-B14F-4D97-AF65-F5344CB8AC3E}">
        <p14:creationId xmlns:p14="http://schemas.microsoft.com/office/powerpoint/2010/main" val="184553197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
        <p:nvSpPr>
          <p:cNvPr id="3" name="Date Placeholder 2"/>
          <p:cNvSpPr>
            <a:spLocks noGrp="1"/>
          </p:cNvSpPr>
          <p:nvPr>
            <p:ph type="dt" sz="half" idx="10"/>
          </p:nvPr>
        </p:nvSpPr>
        <p:spPr/>
        <p:txBody>
          <a:bodyPr/>
          <a:lstStyle/>
          <a:p>
            <a:fld id="{14225548-E725-4E7A-AF68-C28E4B22023F}" type="datetimeFigureOut">
              <a:rPr lang="en-GB" smtClean="0"/>
              <a:t>06/03/2023</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796D1B4D-CCB1-4F2C-A93F-80592B09E816}" type="slidenum">
              <a:rPr lang="en-GB" smtClean="0"/>
              <a:t>‹#›</a:t>
            </a:fld>
            <a:endParaRPr lang="en-GB"/>
          </a:p>
        </p:txBody>
      </p:sp>
    </p:spTree>
    <p:extLst>
      <p:ext uri="{BB962C8B-B14F-4D97-AF65-F5344CB8AC3E}">
        <p14:creationId xmlns:p14="http://schemas.microsoft.com/office/powerpoint/2010/main" val="391264621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4225548-E725-4E7A-AF68-C28E4B22023F}" type="datetimeFigureOut">
              <a:rPr lang="en-GB" smtClean="0"/>
              <a:t>06/03/2023</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796D1B4D-CCB1-4F2C-A93F-80592B09E816}" type="slidenum">
              <a:rPr lang="en-GB" smtClean="0"/>
              <a:t>‹#›</a:t>
            </a:fld>
            <a:endParaRPr lang="en-GB"/>
          </a:p>
        </p:txBody>
      </p:sp>
    </p:spTree>
    <p:extLst>
      <p:ext uri="{BB962C8B-B14F-4D97-AF65-F5344CB8AC3E}">
        <p14:creationId xmlns:p14="http://schemas.microsoft.com/office/powerpoint/2010/main" val="24194165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14225548-E725-4E7A-AF68-C28E4B22023F}" type="datetimeFigureOut">
              <a:rPr lang="en-GB" smtClean="0"/>
              <a:t>06/03/2023</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796D1B4D-CCB1-4F2C-A93F-80592B09E816}" type="slidenum">
              <a:rPr lang="en-GB" smtClean="0"/>
              <a:t>‹#›</a:t>
            </a:fld>
            <a:endParaRPr lang="en-GB"/>
          </a:p>
        </p:txBody>
      </p:sp>
    </p:spTree>
    <p:extLst>
      <p:ext uri="{BB962C8B-B14F-4D97-AF65-F5344CB8AC3E}">
        <p14:creationId xmlns:p14="http://schemas.microsoft.com/office/powerpoint/2010/main" val="55383118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14225548-E725-4E7A-AF68-C28E4B22023F}" type="datetimeFigureOut">
              <a:rPr lang="en-GB" smtClean="0"/>
              <a:t>06/03/2023</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796D1B4D-CCB1-4F2C-A93F-80592B09E816}" type="slidenum">
              <a:rPr lang="en-GB" smtClean="0"/>
              <a:t>‹#›</a:t>
            </a:fld>
            <a:endParaRPr lang="en-GB"/>
          </a:p>
        </p:txBody>
      </p:sp>
    </p:spTree>
    <p:extLst>
      <p:ext uri="{BB962C8B-B14F-4D97-AF65-F5344CB8AC3E}">
        <p14:creationId xmlns:p14="http://schemas.microsoft.com/office/powerpoint/2010/main" val="67106501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p:cNvSpPr>
            <a:spLocks noGrp="1"/>
          </p:cNvSpPr>
          <p:nvPr>
            <p:ph type="dt" sz="half" idx="10"/>
          </p:nvPr>
        </p:nvSpPr>
        <p:spPr/>
        <p:txBody>
          <a:bodyPr/>
          <a:lstStyle/>
          <a:p>
            <a:fld id="{14225548-E725-4E7A-AF68-C28E4B22023F}" type="datetimeFigureOut">
              <a:rPr lang="en-GB" smtClean="0"/>
              <a:t>06/03/2023</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96D1B4D-CCB1-4F2C-A93F-80592B09E816}" type="slidenum">
              <a:rPr lang="en-GB" smtClean="0"/>
              <a:t>‹#›</a:t>
            </a:fld>
            <a:endParaRPr lang="en-GB"/>
          </a:p>
        </p:txBody>
      </p:sp>
    </p:spTree>
    <p:extLst>
      <p:ext uri="{BB962C8B-B14F-4D97-AF65-F5344CB8AC3E}">
        <p14:creationId xmlns:p14="http://schemas.microsoft.com/office/powerpoint/2010/main" val="273994746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p:cNvSpPr>
            <a:spLocks noGrp="1"/>
          </p:cNvSpPr>
          <p:nvPr>
            <p:ph type="dt" sz="half" idx="10"/>
          </p:nvPr>
        </p:nvSpPr>
        <p:spPr/>
        <p:txBody>
          <a:bodyPr/>
          <a:lstStyle/>
          <a:p>
            <a:fld id="{14225548-E725-4E7A-AF68-C28E4B22023F}" type="datetimeFigureOut">
              <a:rPr lang="en-GB" smtClean="0"/>
              <a:t>06/03/2023</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96D1B4D-CCB1-4F2C-A93F-80592B09E816}" type="slidenum">
              <a:rPr lang="en-GB" smtClean="0"/>
              <a:t>‹#›</a:t>
            </a:fld>
            <a:endParaRPr lang="en-GB"/>
          </a:p>
        </p:txBody>
      </p:sp>
    </p:spTree>
    <p:extLst>
      <p:ext uri="{BB962C8B-B14F-4D97-AF65-F5344CB8AC3E}">
        <p14:creationId xmlns:p14="http://schemas.microsoft.com/office/powerpoint/2010/main" val="373189852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
  <p:cSld name="1_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39EC19-A7F3-491A-96A2-827E754F4DE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8B3B260-2E47-47E1-AA34-CF397C961888}"/>
              </a:ext>
            </a:extLst>
          </p:cNvPr>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85E537D-2A58-48E3-9FD7-6581E91B2DA4}"/>
              </a:ext>
            </a:extLst>
          </p:cNvPr>
          <p:cNvSpPr>
            <a:spLocks noGrp="1"/>
          </p:cNvSpPr>
          <p:nvPr>
            <p:ph type="dt" sz="half" idx="10"/>
          </p:nvPr>
        </p:nvSpPr>
        <p:spPr/>
        <p:txBody>
          <a:bodyPr/>
          <a:lstStyle/>
          <a:p>
            <a:fld id="{C42F7E74-2007-4763-83D1-AEFEF9E5EA46}" type="datetimeFigureOut">
              <a:rPr lang="en-US" smtClean="0"/>
              <a:t>3/6/2023</a:t>
            </a:fld>
            <a:endParaRPr lang="en-US"/>
          </a:p>
        </p:txBody>
      </p:sp>
      <p:sp>
        <p:nvSpPr>
          <p:cNvPr id="5" name="Footer Placeholder 4">
            <a:extLst>
              <a:ext uri="{FF2B5EF4-FFF2-40B4-BE49-F238E27FC236}">
                <a16:creationId xmlns:a16="http://schemas.microsoft.com/office/drawing/2014/main" id="{7AD92A47-EAFF-4607-A11B-C676D5EA8CE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6307286-3ABA-44BE-BA6F-FC1DB374B81F}"/>
              </a:ext>
            </a:extLst>
          </p:cNvPr>
          <p:cNvSpPr>
            <a:spLocks noGrp="1"/>
          </p:cNvSpPr>
          <p:nvPr>
            <p:ph type="sldNum" sz="quarter" idx="12"/>
          </p:nvPr>
        </p:nvSpPr>
        <p:spPr/>
        <p:txBody>
          <a:bodyPr/>
          <a:lstStyle/>
          <a:p>
            <a:fld id="{CE443D6F-4415-4060-A637-3353F32B1585}" type="slidenum">
              <a:rPr lang="en-US" smtClean="0"/>
              <a:t>‹#›</a:t>
            </a:fld>
            <a:endParaRPr lang="en-US"/>
          </a:p>
        </p:txBody>
      </p:sp>
    </p:spTree>
    <p:extLst>
      <p:ext uri="{BB962C8B-B14F-4D97-AF65-F5344CB8AC3E}">
        <p14:creationId xmlns:p14="http://schemas.microsoft.com/office/powerpoint/2010/main" val="107304990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192FE2-D5A6-430C-9D50-365B7FCA390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E90E57DC-4030-4E88-ACB2-7B5FCDAC977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83EFE6E-BD54-4755-8719-566A861F1817}"/>
              </a:ext>
            </a:extLst>
          </p:cNvPr>
          <p:cNvSpPr>
            <a:spLocks noGrp="1"/>
          </p:cNvSpPr>
          <p:nvPr>
            <p:ph type="dt" sz="half" idx="10"/>
          </p:nvPr>
        </p:nvSpPr>
        <p:spPr/>
        <p:txBody>
          <a:bodyPr/>
          <a:lstStyle/>
          <a:p>
            <a:fld id="{F04C6893-CC51-4966-98FC-FC2B8C019ED6}" type="datetimeFigureOut">
              <a:rPr lang="en-US" smtClean="0"/>
              <a:t>3/6/2023</a:t>
            </a:fld>
            <a:endParaRPr lang="en-US"/>
          </a:p>
        </p:txBody>
      </p:sp>
      <p:sp>
        <p:nvSpPr>
          <p:cNvPr id="5" name="Footer Placeholder 4">
            <a:extLst>
              <a:ext uri="{FF2B5EF4-FFF2-40B4-BE49-F238E27FC236}">
                <a16:creationId xmlns:a16="http://schemas.microsoft.com/office/drawing/2014/main" id="{8E4A5EE9-EEE3-4F9C-8BD3-685CAA37289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0DDD49A-5A4A-402F-8C6B-9771B71601A1}"/>
              </a:ext>
            </a:extLst>
          </p:cNvPr>
          <p:cNvSpPr>
            <a:spLocks noGrp="1"/>
          </p:cNvSpPr>
          <p:nvPr>
            <p:ph type="sldNum" sz="quarter" idx="12"/>
          </p:nvPr>
        </p:nvSpPr>
        <p:spPr/>
        <p:txBody>
          <a:bodyPr/>
          <a:lstStyle/>
          <a:p>
            <a:fld id="{27F6369C-F931-4A40-8796-D36FBF65184B}" type="slidenum">
              <a:rPr lang="en-US" smtClean="0"/>
              <a:t>‹#›</a:t>
            </a:fld>
            <a:endParaRPr lang="en-US"/>
          </a:p>
        </p:txBody>
      </p:sp>
    </p:spTree>
    <p:extLst>
      <p:ext uri="{BB962C8B-B14F-4D97-AF65-F5344CB8AC3E}">
        <p14:creationId xmlns:p14="http://schemas.microsoft.com/office/powerpoint/2010/main" val="9127869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 preserve="1">
  <p:cSld name="Title and Content">
    <p:bg>
      <p:bgPr>
        <a:solidFill>
          <a:srgbClr val="4FBEEA"/>
        </a:solidFill>
        <a:effectLst/>
      </p:bgPr>
    </p:bg>
    <p:spTree>
      <p:nvGrpSpPr>
        <p:cNvPr id="1" name=""/>
        <p:cNvGrpSpPr/>
        <p:nvPr/>
      </p:nvGrpSpPr>
      <p:grpSpPr>
        <a:xfrm>
          <a:off x="0" y="0"/>
          <a:ext cx="0" cy="0"/>
          <a:chOff x="0" y="0"/>
          <a:chExt cx="0" cy="0"/>
        </a:xfrm>
      </p:grpSpPr>
      <p:pic>
        <p:nvPicPr>
          <p:cNvPr id="2052" name="Picture 4" descr="Image result for data protection act wallpaper">
            <a:extLst>
              <a:ext uri="{FF2B5EF4-FFF2-40B4-BE49-F238E27FC236}">
                <a16:creationId xmlns:a16="http://schemas.microsoft.com/office/drawing/2014/main" id="{5B1F1B38-9BED-49C1-B946-C173AD5E76F6}"/>
              </a:ext>
            </a:extLst>
          </p:cNvPr>
          <p:cNvPicPr>
            <a:picLocks noChangeAspect="1" noChangeArrowheads="1"/>
          </p:cNvPicPr>
          <p:nvPr userDrawn="1"/>
        </p:nvPicPr>
        <p:blipFill rotWithShape="1">
          <a:blip r:embed="rId2">
            <a:extLst>
              <a:ext uri="{28A0092B-C50C-407E-A947-70E740481C1C}">
                <a14:useLocalDpi xmlns:a14="http://schemas.microsoft.com/office/drawing/2010/main" val="0"/>
              </a:ext>
            </a:extLst>
          </a:blip>
          <a:srcRect r="6875"/>
          <a:stretch/>
        </p:blipFill>
        <p:spPr bwMode="auto">
          <a:xfrm>
            <a:off x="838200" y="0"/>
            <a:ext cx="11353800" cy="6883241"/>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892321EB-793E-4AEB-ACEC-2C35D72F9FC9}"/>
              </a:ext>
            </a:extLst>
          </p:cNvPr>
          <p:cNvSpPr>
            <a:spLocks noGrp="1"/>
          </p:cNvSpPr>
          <p:nvPr>
            <p:ph type="title"/>
          </p:nvPr>
        </p:nvSpPr>
        <p:spPr>
          <a:xfrm rot="16200000">
            <a:off x="-3022520" y="3022520"/>
            <a:ext cx="6883241" cy="838200"/>
          </a:xfrm>
        </p:spPr>
        <p:txBody>
          <a:bodyPr/>
          <a:lstStyle>
            <a:lvl1pPr algn="ctr">
              <a:defRPr/>
            </a:lvl1pPr>
          </a:lstStyle>
          <a:p>
            <a:r>
              <a:rPr lang="en-US" dirty="0"/>
              <a:t>Click to edit Master title style</a:t>
            </a:r>
          </a:p>
        </p:txBody>
      </p:sp>
      <p:sp>
        <p:nvSpPr>
          <p:cNvPr id="3" name="Content Placeholder 2">
            <a:extLst>
              <a:ext uri="{FF2B5EF4-FFF2-40B4-BE49-F238E27FC236}">
                <a16:creationId xmlns:a16="http://schemas.microsoft.com/office/drawing/2014/main" id="{127D1BF4-5D61-451E-BF0E-DFC0D691804F}"/>
              </a:ext>
            </a:extLst>
          </p:cNvPr>
          <p:cNvSpPr>
            <a:spLocks noGrp="1"/>
          </p:cNvSpPr>
          <p:nvPr>
            <p:ph idx="1"/>
          </p:nvPr>
        </p:nvSpPr>
        <p:spPr>
          <a:xfrm>
            <a:off x="1058778" y="288758"/>
            <a:ext cx="10940717" cy="5905826"/>
          </a:xfrm>
          <a:solidFill>
            <a:srgbClr val="203864">
              <a:alpha val="80000"/>
            </a:srgbClr>
          </a:solidFill>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636532F0-C3FC-4210-8C43-CABD9B605E1D}"/>
              </a:ext>
            </a:extLst>
          </p:cNvPr>
          <p:cNvSpPr>
            <a:spLocks noGrp="1"/>
          </p:cNvSpPr>
          <p:nvPr>
            <p:ph type="dt" sz="half" idx="10"/>
          </p:nvPr>
        </p:nvSpPr>
        <p:spPr/>
        <p:txBody>
          <a:bodyPr/>
          <a:lstStyle/>
          <a:p>
            <a:fld id="{F04C6893-CC51-4966-98FC-FC2B8C019ED6}" type="datetimeFigureOut">
              <a:rPr lang="en-US" smtClean="0"/>
              <a:t>3/6/2023</a:t>
            </a:fld>
            <a:endParaRPr lang="en-US"/>
          </a:p>
        </p:txBody>
      </p:sp>
      <p:sp>
        <p:nvSpPr>
          <p:cNvPr id="5" name="Footer Placeholder 4">
            <a:extLst>
              <a:ext uri="{FF2B5EF4-FFF2-40B4-BE49-F238E27FC236}">
                <a16:creationId xmlns:a16="http://schemas.microsoft.com/office/drawing/2014/main" id="{181254CA-F99D-4F15-A02A-9160DE74CBA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EEA3830-CFD3-4F7F-B331-B68EE771AA50}"/>
              </a:ext>
            </a:extLst>
          </p:cNvPr>
          <p:cNvSpPr>
            <a:spLocks noGrp="1"/>
          </p:cNvSpPr>
          <p:nvPr>
            <p:ph type="sldNum" sz="quarter" idx="12"/>
          </p:nvPr>
        </p:nvSpPr>
        <p:spPr/>
        <p:txBody>
          <a:bodyPr/>
          <a:lstStyle/>
          <a:p>
            <a:fld id="{27F6369C-F931-4A40-8796-D36FBF65184B}" type="slidenum">
              <a:rPr lang="en-US" smtClean="0"/>
              <a:t>‹#›</a:t>
            </a:fld>
            <a:endParaRPr lang="en-US"/>
          </a:p>
        </p:txBody>
      </p:sp>
    </p:spTree>
    <p:extLst>
      <p:ext uri="{BB962C8B-B14F-4D97-AF65-F5344CB8AC3E}">
        <p14:creationId xmlns:p14="http://schemas.microsoft.com/office/powerpoint/2010/main" val="42126134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Layout>
</file>

<file path=ppt/slideLayouts/slideLayout1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CD9A5B-1423-47C1-8416-46BA549FA688}"/>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B6953F4-C50F-4F0E-A684-88287D0FD816}"/>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a:extLst>
              <a:ext uri="{FF2B5EF4-FFF2-40B4-BE49-F238E27FC236}">
                <a16:creationId xmlns:a16="http://schemas.microsoft.com/office/drawing/2014/main" id="{6C4C45A6-BC24-4B74-A36F-065481C42717}"/>
              </a:ext>
            </a:extLst>
          </p:cNvPr>
          <p:cNvSpPr>
            <a:spLocks noGrp="1"/>
          </p:cNvSpPr>
          <p:nvPr>
            <p:ph type="dt" sz="half" idx="10"/>
          </p:nvPr>
        </p:nvSpPr>
        <p:spPr/>
        <p:txBody>
          <a:bodyPr/>
          <a:lstStyle/>
          <a:p>
            <a:fld id="{F04C6893-CC51-4966-98FC-FC2B8C019ED6}" type="datetimeFigureOut">
              <a:rPr lang="en-US" smtClean="0"/>
              <a:t>3/6/2023</a:t>
            </a:fld>
            <a:endParaRPr lang="en-US"/>
          </a:p>
        </p:txBody>
      </p:sp>
      <p:sp>
        <p:nvSpPr>
          <p:cNvPr id="5" name="Footer Placeholder 4">
            <a:extLst>
              <a:ext uri="{FF2B5EF4-FFF2-40B4-BE49-F238E27FC236}">
                <a16:creationId xmlns:a16="http://schemas.microsoft.com/office/drawing/2014/main" id="{310F7CF8-E6CF-4FA2-8F78-ED880CC7C0B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4A9C616-B556-45C9-A386-15E091E761A4}"/>
              </a:ext>
            </a:extLst>
          </p:cNvPr>
          <p:cNvSpPr>
            <a:spLocks noGrp="1"/>
          </p:cNvSpPr>
          <p:nvPr>
            <p:ph type="sldNum" sz="quarter" idx="12"/>
          </p:nvPr>
        </p:nvSpPr>
        <p:spPr/>
        <p:txBody>
          <a:bodyPr/>
          <a:lstStyle/>
          <a:p>
            <a:fld id="{27F6369C-F931-4A40-8796-D36FBF65184B}" type="slidenum">
              <a:rPr lang="en-US" smtClean="0"/>
              <a:t>‹#›</a:t>
            </a:fld>
            <a:endParaRPr lang="en-US"/>
          </a:p>
        </p:txBody>
      </p:sp>
    </p:spTree>
    <p:extLst>
      <p:ext uri="{BB962C8B-B14F-4D97-AF65-F5344CB8AC3E}">
        <p14:creationId xmlns:p14="http://schemas.microsoft.com/office/powerpoint/2010/main" val="321300435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17EABD-FD0A-49B8-B432-BCE802503A9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33BF39B-CE7B-404B-93A7-998116FC07BA}"/>
              </a:ext>
            </a:extLst>
          </p:cNvPr>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3F0131A-A302-442F-9184-94EB5A3A4C57}"/>
              </a:ext>
            </a:extLst>
          </p:cNvPr>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AD7C87D9-D826-4D12-9244-1FDBABDBB9FC}"/>
              </a:ext>
            </a:extLst>
          </p:cNvPr>
          <p:cNvSpPr>
            <a:spLocks noGrp="1"/>
          </p:cNvSpPr>
          <p:nvPr>
            <p:ph type="dt" sz="half" idx="10"/>
          </p:nvPr>
        </p:nvSpPr>
        <p:spPr/>
        <p:txBody>
          <a:bodyPr/>
          <a:lstStyle/>
          <a:p>
            <a:fld id="{F04C6893-CC51-4966-98FC-FC2B8C019ED6}" type="datetimeFigureOut">
              <a:rPr lang="en-US" smtClean="0"/>
              <a:t>3/6/2023</a:t>
            </a:fld>
            <a:endParaRPr lang="en-US"/>
          </a:p>
        </p:txBody>
      </p:sp>
      <p:sp>
        <p:nvSpPr>
          <p:cNvPr id="6" name="Footer Placeholder 5">
            <a:extLst>
              <a:ext uri="{FF2B5EF4-FFF2-40B4-BE49-F238E27FC236}">
                <a16:creationId xmlns:a16="http://schemas.microsoft.com/office/drawing/2014/main" id="{8B28B4C5-C215-4E1F-AF02-9D47DE3689C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4C061D4-28BA-4C01-AC83-676B3C4DC95E}"/>
              </a:ext>
            </a:extLst>
          </p:cNvPr>
          <p:cNvSpPr>
            <a:spLocks noGrp="1"/>
          </p:cNvSpPr>
          <p:nvPr>
            <p:ph type="sldNum" sz="quarter" idx="12"/>
          </p:nvPr>
        </p:nvSpPr>
        <p:spPr/>
        <p:txBody>
          <a:bodyPr/>
          <a:lstStyle/>
          <a:p>
            <a:fld id="{27F6369C-F931-4A40-8796-D36FBF65184B}" type="slidenum">
              <a:rPr lang="en-US" smtClean="0"/>
              <a:t>‹#›</a:t>
            </a:fld>
            <a:endParaRPr lang="en-US"/>
          </a:p>
        </p:txBody>
      </p:sp>
    </p:spTree>
    <p:extLst>
      <p:ext uri="{BB962C8B-B14F-4D97-AF65-F5344CB8AC3E}">
        <p14:creationId xmlns:p14="http://schemas.microsoft.com/office/powerpoint/2010/main" val="121624189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6CC1CC-6135-4BB9-8BAD-1996E22002B2}"/>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D43A430F-0D59-4357-8529-5A2D5F8C5FB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603D54DA-3639-4FFF-BB7C-C26070C7FD5F}"/>
              </a:ext>
            </a:extLst>
          </p:cNvPr>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071FB87-5897-4C0C-8F02-0CD06E730AB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15AFF14B-BCEB-40C0-837B-7A86D4A71B0E}"/>
              </a:ext>
            </a:extLst>
          </p:cNvPr>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0FAD65C8-EAE9-4932-93FD-B7483ACD7888}"/>
              </a:ext>
            </a:extLst>
          </p:cNvPr>
          <p:cNvSpPr>
            <a:spLocks noGrp="1"/>
          </p:cNvSpPr>
          <p:nvPr>
            <p:ph type="dt" sz="half" idx="10"/>
          </p:nvPr>
        </p:nvSpPr>
        <p:spPr/>
        <p:txBody>
          <a:bodyPr/>
          <a:lstStyle/>
          <a:p>
            <a:fld id="{F04C6893-CC51-4966-98FC-FC2B8C019ED6}" type="datetimeFigureOut">
              <a:rPr lang="en-US" smtClean="0"/>
              <a:t>3/6/2023</a:t>
            </a:fld>
            <a:endParaRPr lang="en-US"/>
          </a:p>
        </p:txBody>
      </p:sp>
      <p:sp>
        <p:nvSpPr>
          <p:cNvPr id="8" name="Footer Placeholder 7">
            <a:extLst>
              <a:ext uri="{FF2B5EF4-FFF2-40B4-BE49-F238E27FC236}">
                <a16:creationId xmlns:a16="http://schemas.microsoft.com/office/drawing/2014/main" id="{FCEB0011-8873-499D-A417-478D1AEF8B33}"/>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A0F5A6F3-22D5-45CF-8C38-83BA0CE7C072}"/>
              </a:ext>
            </a:extLst>
          </p:cNvPr>
          <p:cNvSpPr>
            <a:spLocks noGrp="1"/>
          </p:cNvSpPr>
          <p:nvPr>
            <p:ph type="sldNum" sz="quarter" idx="12"/>
          </p:nvPr>
        </p:nvSpPr>
        <p:spPr/>
        <p:txBody>
          <a:bodyPr/>
          <a:lstStyle/>
          <a:p>
            <a:fld id="{27F6369C-F931-4A40-8796-D36FBF65184B}" type="slidenum">
              <a:rPr lang="en-US" smtClean="0"/>
              <a:t>‹#›</a:t>
            </a:fld>
            <a:endParaRPr lang="en-US"/>
          </a:p>
        </p:txBody>
      </p:sp>
    </p:spTree>
    <p:extLst>
      <p:ext uri="{BB962C8B-B14F-4D97-AF65-F5344CB8AC3E}">
        <p14:creationId xmlns:p14="http://schemas.microsoft.com/office/powerpoint/2010/main" val="2430875799"/>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0DB051-88FF-4D73-A870-7E28BD17D97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F71E1EF2-9741-43E8-902D-AD567AF07031}"/>
              </a:ext>
            </a:extLst>
          </p:cNvPr>
          <p:cNvSpPr>
            <a:spLocks noGrp="1"/>
          </p:cNvSpPr>
          <p:nvPr>
            <p:ph type="dt" sz="half" idx="10"/>
          </p:nvPr>
        </p:nvSpPr>
        <p:spPr/>
        <p:txBody>
          <a:bodyPr/>
          <a:lstStyle/>
          <a:p>
            <a:fld id="{F04C6893-CC51-4966-98FC-FC2B8C019ED6}" type="datetimeFigureOut">
              <a:rPr lang="en-US" smtClean="0"/>
              <a:t>3/6/2023</a:t>
            </a:fld>
            <a:endParaRPr lang="en-US"/>
          </a:p>
        </p:txBody>
      </p:sp>
      <p:sp>
        <p:nvSpPr>
          <p:cNvPr id="4" name="Footer Placeholder 3">
            <a:extLst>
              <a:ext uri="{FF2B5EF4-FFF2-40B4-BE49-F238E27FC236}">
                <a16:creationId xmlns:a16="http://schemas.microsoft.com/office/drawing/2014/main" id="{5BE26470-5F84-4536-A023-FF5DCA523806}"/>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E1BDF761-2711-4DAB-9CAA-64D885337269}"/>
              </a:ext>
            </a:extLst>
          </p:cNvPr>
          <p:cNvSpPr>
            <a:spLocks noGrp="1"/>
          </p:cNvSpPr>
          <p:nvPr>
            <p:ph type="sldNum" sz="quarter" idx="12"/>
          </p:nvPr>
        </p:nvSpPr>
        <p:spPr/>
        <p:txBody>
          <a:bodyPr/>
          <a:lstStyle/>
          <a:p>
            <a:fld id="{27F6369C-F931-4A40-8796-D36FBF65184B}" type="slidenum">
              <a:rPr lang="en-US" smtClean="0"/>
              <a:t>‹#›</a:t>
            </a:fld>
            <a:endParaRPr lang="en-US"/>
          </a:p>
        </p:txBody>
      </p:sp>
    </p:spTree>
    <p:extLst>
      <p:ext uri="{BB962C8B-B14F-4D97-AF65-F5344CB8AC3E}">
        <p14:creationId xmlns:p14="http://schemas.microsoft.com/office/powerpoint/2010/main" val="3325812317"/>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0106355-AF27-4C0B-9A12-42FEA9162E29}"/>
              </a:ext>
            </a:extLst>
          </p:cNvPr>
          <p:cNvSpPr>
            <a:spLocks noGrp="1"/>
          </p:cNvSpPr>
          <p:nvPr>
            <p:ph type="dt" sz="half" idx="10"/>
          </p:nvPr>
        </p:nvSpPr>
        <p:spPr/>
        <p:txBody>
          <a:bodyPr/>
          <a:lstStyle/>
          <a:p>
            <a:fld id="{F04C6893-CC51-4966-98FC-FC2B8C019ED6}" type="datetimeFigureOut">
              <a:rPr lang="en-US" smtClean="0"/>
              <a:t>3/6/2023</a:t>
            </a:fld>
            <a:endParaRPr lang="en-US"/>
          </a:p>
        </p:txBody>
      </p:sp>
      <p:sp>
        <p:nvSpPr>
          <p:cNvPr id="3" name="Footer Placeholder 2">
            <a:extLst>
              <a:ext uri="{FF2B5EF4-FFF2-40B4-BE49-F238E27FC236}">
                <a16:creationId xmlns:a16="http://schemas.microsoft.com/office/drawing/2014/main" id="{67C848C1-8B2C-4720-9295-90AFD45DE64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B59C92B1-D3E0-43F3-9DBA-56720B884F8B}"/>
              </a:ext>
            </a:extLst>
          </p:cNvPr>
          <p:cNvSpPr>
            <a:spLocks noGrp="1"/>
          </p:cNvSpPr>
          <p:nvPr>
            <p:ph type="sldNum" sz="quarter" idx="12"/>
          </p:nvPr>
        </p:nvSpPr>
        <p:spPr/>
        <p:txBody>
          <a:bodyPr/>
          <a:lstStyle/>
          <a:p>
            <a:fld id="{27F6369C-F931-4A40-8796-D36FBF65184B}" type="slidenum">
              <a:rPr lang="en-US" smtClean="0"/>
              <a:t>‹#›</a:t>
            </a:fld>
            <a:endParaRPr lang="en-US"/>
          </a:p>
        </p:txBody>
      </p:sp>
    </p:spTree>
    <p:extLst>
      <p:ext uri="{BB962C8B-B14F-4D97-AF65-F5344CB8AC3E}">
        <p14:creationId xmlns:p14="http://schemas.microsoft.com/office/powerpoint/2010/main" val="31340185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1187A8-2ED3-4999-BB22-F009DD08D91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6AE8A707-C485-4DFF-A72A-9199ADDFD36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E5DB4F8-D720-45D5-AF8B-DE741B41B65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F0A01DBA-6C72-4552-AEEA-60E47C682C80}"/>
              </a:ext>
            </a:extLst>
          </p:cNvPr>
          <p:cNvSpPr>
            <a:spLocks noGrp="1"/>
          </p:cNvSpPr>
          <p:nvPr>
            <p:ph type="dt" sz="half" idx="10"/>
          </p:nvPr>
        </p:nvSpPr>
        <p:spPr/>
        <p:txBody>
          <a:bodyPr/>
          <a:lstStyle/>
          <a:p>
            <a:fld id="{F04C6893-CC51-4966-98FC-FC2B8C019ED6}" type="datetimeFigureOut">
              <a:rPr lang="en-US" smtClean="0"/>
              <a:t>3/6/2023</a:t>
            </a:fld>
            <a:endParaRPr lang="en-US"/>
          </a:p>
        </p:txBody>
      </p:sp>
      <p:sp>
        <p:nvSpPr>
          <p:cNvPr id="6" name="Footer Placeholder 5">
            <a:extLst>
              <a:ext uri="{FF2B5EF4-FFF2-40B4-BE49-F238E27FC236}">
                <a16:creationId xmlns:a16="http://schemas.microsoft.com/office/drawing/2014/main" id="{8BA6D384-0EF9-4DA8-B80F-62BE20E07D7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245D8A7-3F54-422A-B473-EFC279EFBFD6}"/>
              </a:ext>
            </a:extLst>
          </p:cNvPr>
          <p:cNvSpPr>
            <a:spLocks noGrp="1"/>
          </p:cNvSpPr>
          <p:nvPr>
            <p:ph type="sldNum" sz="quarter" idx="12"/>
          </p:nvPr>
        </p:nvSpPr>
        <p:spPr/>
        <p:txBody>
          <a:bodyPr/>
          <a:lstStyle/>
          <a:p>
            <a:fld id="{27F6369C-F931-4A40-8796-D36FBF65184B}" type="slidenum">
              <a:rPr lang="en-US" smtClean="0"/>
              <a:t>‹#›</a:t>
            </a:fld>
            <a:endParaRPr lang="en-US"/>
          </a:p>
        </p:txBody>
      </p:sp>
    </p:spTree>
    <p:extLst>
      <p:ext uri="{BB962C8B-B14F-4D97-AF65-F5344CB8AC3E}">
        <p14:creationId xmlns:p14="http://schemas.microsoft.com/office/powerpoint/2010/main" val="3158029854"/>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BD682C-BE7B-4237-8FA6-8D7279232BB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45224DA-590C-467C-8DFA-D7E8E047061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8852DD45-6B89-44BA-944C-115432ABC4C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C24A5B0D-A0B0-47D5-9DAA-4EAEE03BDC16}"/>
              </a:ext>
            </a:extLst>
          </p:cNvPr>
          <p:cNvSpPr>
            <a:spLocks noGrp="1"/>
          </p:cNvSpPr>
          <p:nvPr>
            <p:ph type="dt" sz="half" idx="10"/>
          </p:nvPr>
        </p:nvSpPr>
        <p:spPr/>
        <p:txBody>
          <a:bodyPr/>
          <a:lstStyle/>
          <a:p>
            <a:fld id="{F04C6893-CC51-4966-98FC-FC2B8C019ED6}" type="datetimeFigureOut">
              <a:rPr lang="en-US" smtClean="0"/>
              <a:t>3/6/2023</a:t>
            </a:fld>
            <a:endParaRPr lang="en-US"/>
          </a:p>
        </p:txBody>
      </p:sp>
      <p:sp>
        <p:nvSpPr>
          <p:cNvPr id="6" name="Footer Placeholder 5">
            <a:extLst>
              <a:ext uri="{FF2B5EF4-FFF2-40B4-BE49-F238E27FC236}">
                <a16:creationId xmlns:a16="http://schemas.microsoft.com/office/drawing/2014/main" id="{39AD3435-3C93-4E27-9C88-2B77FEA110C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6D58472-9C78-428A-AF6B-165571FC184C}"/>
              </a:ext>
            </a:extLst>
          </p:cNvPr>
          <p:cNvSpPr>
            <a:spLocks noGrp="1"/>
          </p:cNvSpPr>
          <p:nvPr>
            <p:ph type="sldNum" sz="quarter" idx="12"/>
          </p:nvPr>
        </p:nvSpPr>
        <p:spPr/>
        <p:txBody>
          <a:bodyPr/>
          <a:lstStyle/>
          <a:p>
            <a:fld id="{27F6369C-F931-4A40-8796-D36FBF65184B}" type="slidenum">
              <a:rPr lang="en-US" smtClean="0"/>
              <a:t>‹#›</a:t>
            </a:fld>
            <a:endParaRPr lang="en-US"/>
          </a:p>
        </p:txBody>
      </p:sp>
    </p:spTree>
    <p:extLst>
      <p:ext uri="{BB962C8B-B14F-4D97-AF65-F5344CB8AC3E}">
        <p14:creationId xmlns:p14="http://schemas.microsoft.com/office/powerpoint/2010/main" val="416265614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A63300-A8FB-4C0A-B4B1-A50A9DE874B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E51BDD7-74B5-4DB1-BD12-2A61AACD1413}"/>
              </a:ext>
            </a:extLst>
          </p:cNvPr>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ABAF9CC-AF20-4853-BF98-F88FB68139FD}"/>
              </a:ext>
            </a:extLst>
          </p:cNvPr>
          <p:cNvSpPr>
            <a:spLocks noGrp="1"/>
          </p:cNvSpPr>
          <p:nvPr>
            <p:ph type="dt" sz="half" idx="10"/>
          </p:nvPr>
        </p:nvSpPr>
        <p:spPr/>
        <p:txBody>
          <a:bodyPr/>
          <a:lstStyle/>
          <a:p>
            <a:fld id="{F04C6893-CC51-4966-98FC-FC2B8C019ED6}" type="datetimeFigureOut">
              <a:rPr lang="en-US" smtClean="0"/>
              <a:t>3/6/2023</a:t>
            </a:fld>
            <a:endParaRPr lang="en-US"/>
          </a:p>
        </p:txBody>
      </p:sp>
      <p:sp>
        <p:nvSpPr>
          <p:cNvPr id="5" name="Footer Placeholder 4">
            <a:extLst>
              <a:ext uri="{FF2B5EF4-FFF2-40B4-BE49-F238E27FC236}">
                <a16:creationId xmlns:a16="http://schemas.microsoft.com/office/drawing/2014/main" id="{6635FE70-8D70-47E1-88F2-76573FD0C4B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5A230A7-B74F-4F43-BA27-5E5D9E0D40FA}"/>
              </a:ext>
            </a:extLst>
          </p:cNvPr>
          <p:cNvSpPr>
            <a:spLocks noGrp="1"/>
          </p:cNvSpPr>
          <p:nvPr>
            <p:ph type="sldNum" sz="quarter" idx="12"/>
          </p:nvPr>
        </p:nvSpPr>
        <p:spPr/>
        <p:txBody>
          <a:bodyPr/>
          <a:lstStyle/>
          <a:p>
            <a:fld id="{27F6369C-F931-4A40-8796-D36FBF65184B}" type="slidenum">
              <a:rPr lang="en-US" smtClean="0"/>
              <a:t>‹#›</a:t>
            </a:fld>
            <a:endParaRPr lang="en-US"/>
          </a:p>
        </p:txBody>
      </p:sp>
    </p:spTree>
    <p:extLst>
      <p:ext uri="{BB962C8B-B14F-4D97-AF65-F5344CB8AC3E}">
        <p14:creationId xmlns:p14="http://schemas.microsoft.com/office/powerpoint/2010/main" val="2053816005"/>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688F533-5756-4634-B38D-71A253DDC57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F3E3DA40-D53F-4732-8AB7-15A0792E57CE}"/>
              </a:ext>
            </a:extLst>
          </p:cNvPr>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2682745-7849-42AB-811E-4F7A476361EC}"/>
              </a:ext>
            </a:extLst>
          </p:cNvPr>
          <p:cNvSpPr>
            <a:spLocks noGrp="1"/>
          </p:cNvSpPr>
          <p:nvPr>
            <p:ph type="dt" sz="half" idx="10"/>
          </p:nvPr>
        </p:nvSpPr>
        <p:spPr/>
        <p:txBody>
          <a:bodyPr/>
          <a:lstStyle/>
          <a:p>
            <a:fld id="{F04C6893-CC51-4966-98FC-FC2B8C019ED6}" type="datetimeFigureOut">
              <a:rPr lang="en-US" smtClean="0"/>
              <a:t>3/6/2023</a:t>
            </a:fld>
            <a:endParaRPr lang="en-US"/>
          </a:p>
        </p:txBody>
      </p:sp>
      <p:sp>
        <p:nvSpPr>
          <p:cNvPr id="5" name="Footer Placeholder 4">
            <a:extLst>
              <a:ext uri="{FF2B5EF4-FFF2-40B4-BE49-F238E27FC236}">
                <a16:creationId xmlns:a16="http://schemas.microsoft.com/office/drawing/2014/main" id="{A03961CA-700B-4A57-B3F5-5BBE3B428F5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0EDBEAC-5B79-479F-B9EB-105D8B4039E5}"/>
              </a:ext>
            </a:extLst>
          </p:cNvPr>
          <p:cNvSpPr>
            <a:spLocks noGrp="1"/>
          </p:cNvSpPr>
          <p:nvPr>
            <p:ph type="sldNum" sz="quarter" idx="12"/>
          </p:nvPr>
        </p:nvSpPr>
        <p:spPr/>
        <p:txBody>
          <a:bodyPr/>
          <a:lstStyle/>
          <a:p>
            <a:fld id="{27F6369C-F931-4A40-8796-D36FBF65184B}" type="slidenum">
              <a:rPr lang="en-US" smtClean="0"/>
              <a:t>‹#›</a:t>
            </a:fld>
            <a:endParaRPr lang="en-US"/>
          </a:p>
        </p:txBody>
      </p:sp>
    </p:spTree>
    <p:extLst>
      <p:ext uri="{BB962C8B-B14F-4D97-AF65-F5344CB8AC3E}">
        <p14:creationId xmlns:p14="http://schemas.microsoft.com/office/powerpoint/2010/main" val="186228472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0.xml"/><Relationship Id="rId3" Type="http://schemas.openxmlformats.org/officeDocument/2006/relationships/slideLayout" Target="../slideLayouts/slideLayout15.xml"/><Relationship Id="rId7" Type="http://schemas.openxmlformats.org/officeDocument/2006/relationships/slideLayout" Target="../slideLayouts/slideLayout19.xml"/><Relationship Id="rId12" Type="http://schemas.openxmlformats.org/officeDocument/2006/relationships/theme" Target="../theme/theme2.xml"/><Relationship Id="rId2" Type="http://schemas.openxmlformats.org/officeDocument/2006/relationships/slideLayout" Target="../slideLayouts/slideLayout14.xml"/><Relationship Id="rId1" Type="http://schemas.openxmlformats.org/officeDocument/2006/relationships/slideLayout" Target="../slideLayouts/slideLayout13.xml"/><Relationship Id="rId6" Type="http://schemas.openxmlformats.org/officeDocument/2006/relationships/slideLayout" Target="../slideLayouts/slideLayout18.xml"/><Relationship Id="rId11" Type="http://schemas.openxmlformats.org/officeDocument/2006/relationships/slideLayout" Target="../slideLayouts/slideLayout23.xml"/><Relationship Id="rId5" Type="http://schemas.openxmlformats.org/officeDocument/2006/relationships/slideLayout" Target="../slideLayouts/slideLayout17.xml"/><Relationship Id="rId10" Type="http://schemas.openxmlformats.org/officeDocument/2006/relationships/slideLayout" Target="../slideLayouts/slideLayout22.xml"/><Relationship Id="rId4" Type="http://schemas.openxmlformats.org/officeDocument/2006/relationships/slideLayout" Target="../slideLayouts/slideLayout16.xml"/><Relationship Id="rId9" Type="http://schemas.openxmlformats.org/officeDocument/2006/relationships/slideLayout" Target="../slideLayouts/slideLayout2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4225548-E725-4E7A-AF68-C28E4B22023F}" type="datetimeFigureOut">
              <a:rPr lang="en-GB" smtClean="0"/>
              <a:t>06/03/2023</a:t>
            </a:fld>
            <a:endParaRPr lang="en-GB"/>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96D1B4D-CCB1-4F2C-A93F-80592B09E816}" type="slidenum">
              <a:rPr lang="en-GB" smtClean="0"/>
              <a:t>‹#›</a:t>
            </a:fld>
            <a:endParaRPr lang="en-GB"/>
          </a:p>
        </p:txBody>
      </p:sp>
    </p:spTree>
    <p:extLst>
      <p:ext uri="{BB962C8B-B14F-4D97-AF65-F5344CB8AC3E}">
        <p14:creationId xmlns:p14="http://schemas.microsoft.com/office/powerpoint/2010/main" val="68220276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72"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9EF76B8-E6AB-4BF7-B359-9F537D8C8CB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6BA1EAAE-35B3-46DD-A85A-EF1C34E5D91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EEA3D0A-3399-4083-B3D9-BBAC56F816F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04C6893-CC51-4966-98FC-FC2B8C019ED6}" type="datetimeFigureOut">
              <a:rPr lang="en-US" smtClean="0"/>
              <a:t>3/6/2023</a:t>
            </a:fld>
            <a:endParaRPr lang="en-US"/>
          </a:p>
        </p:txBody>
      </p:sp>
      <p:sp>
        <p:nvSpPr>
          <p:cNvPr id="5" name="Footer Placeholder 4">
            <a:extLst>
              <a:ext uri="{FF2B5EF4-FFF2-40B4-BE49-F238E27FC236}">
                <a16:creationId xmlns:a16="http://schemas.microsoft.com/office/drawing/2014/main" id="{C92A31FB-396F-4419-A7B8-44F3D8343FD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2AAFE4E2-88FC-4F22-AEE3-8547DD1AA07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7F6369C-F931-4A40-8796-D36FBF65184B}" type="slidenum">
              <a:rPr lang="en-US" smtClean="0"/>
              <a:t>‹#›</a:t>
            </a:fld>
            <a:endParaRPr lang="en-US"/>
          </a:p>
        </p:txBody>
      </p:sp>
    </p:spTree>
    <p:extLst>
      <p:ext uri="{BB962C8B-B14F-4D97-AF65-F5344CB8AC3E}">
        <p14:creationId xmlns:p14="http://schemas.microsoft.com/office/powerpoint/2010/main" val="3441371518"/>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4.xml"/></Relationships>
</file>

<file path=ppt/slides/_rels/slide13.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jp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1.gif"/><Relationship Id="rId2" Type="http://schemas.openxmlformats.org/officeDocument/2006/relationships/image" Target="../media/image9.jp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9.jp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9.jp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9.jp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9.jp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9.jp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9.jp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9.jp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9.jp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image" Target="../media/image11.gif"/><Relationship Id="rId1" Type="http://schemas.openxmlformats.org/officeDocument/2006/relationships/slideLayout" Target="../slideLayouts/slideLayout12.xml"/></Relationships>
</file>

<file path=ppt/slides/_rels/slide26.xml.rels><?xml version="1.0" encoding="UTF-8" standalone="yes"?>
<Relationships xmlns="http://schemas.openxmlformats.org/package/2006/relationships"><Relationship Id="rId3" Type="http://schemas.openxmlformats.org/officeDocument/2006/relationships/image" Target="../media/image16.png"/><Relationship Id="rId7" Type="http://schemas.openxmlformats.org/officeDocument/2006/relationships/image" Target="../media/image19.png"/><Relationship Id="rId2" Type="http://schemas.openxmlformats.org/officeDocument/2006/relationships/image" Target="../media/image15.gif"/><Relationship Id="rId1" Type="http://schemas.openxmlformats.org/officeDocument/2006/relationships/slideLayout" Target="../slideLayouts/slideLayout12.xml"/><Relationship Id="rId6" Type="http://schemas.openxmlformats.org/officeDocument/2006/relationships/image" Target="../media/image18.jpeg"/><Relationship Id="rId5" Type="http://schemas.microsoft.com/office/2007/relationships/hdphoto" Target="../media/hdphoto2.wdp"/><Relationship Id="rId4" Type="http://schemas.openxmlformats.org/officeDocument/2006/relationships/image" Target="../media/image17.png"/></Relationships>
</file>

<file path=ppt/slides/_rels/slide2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4.png"/><Relationship Id="rId1" Type="http://schemas.openxmlformats.org/officeDocument/2006/relationships/slideLayout" Target="../slideLayouts/slideLayout12.xml"/><Relationship Id="rId5" Type="http://schemas.microsoft.com/office/2007/relationships/hdphoto" Target="../media/hdphoto3.wdp"/><Relationship Id="rId4" Type="http://schemas.openxmlformats.org/officeDocument/2006/relationships/image" Target="../media/image21.png"/></Relationships>
</file>

<file path=ppt/slides/_rels/slide2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22.png"/><Relationship Id="rId1" Type="http://schemas.openxmlformats.org/officeDocument/2006/relationships/slideLayout" Target="../slideLayouts/slideLayout12.xml"/><Relationship Id="rId6" Type="http://schemas.openxmlformats.org/officeDocument/2006/relationships/image" Target="../media/image23.png"/><Relationship Id="rId5" Type="http://schemas.microsoft.com/office/2007/relationships/hdphoto" Target="../media/hdphoto3.wdp"/><Relationship Id="rId4" Type="http://schemas.openxmlformats.org/officeDocument/2006/relationships/image" Target="../media/image21.png"/></Relationships>
</file>

<file path=ppt/slides/_rels/slide29.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14.png"/><Relationship Id="rId1" Type="http://schemas.openxmlformats.org/officeDocument/2006/relationships/slideLayout" Target="../slideLayouts/slideLayout12.xml"/><Relationship Id="rId5" Type="http://schemas.openxmlformats.org/officeDocument/2006/relationships/image" Target="../media/image24.png"/><Relationship Id="rId4" Type="http://schemas.microsoft.com/office/2007/relationships/hdphoto" Target="../media/hdphoto3.wdp"/></Relationships>
</file>

<file path=ppt/slides/_rels/slide3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22.png"/><Relationship Id="rId1" Type="http://schemas.openxmlformats.org/officeDocument/2006/relationships/slideLayout" Target="../slideLayouts/slideLayout12.xml"/><Relationship Id="rId6" Type="http://schemas.openxmlformats.org/officeDocument/2006/relationships/image" Target="../media/image25.png"/><Relationship Id="rId5" Type="http://schemas.microsoft.com/office/2007/relationships/hdphoto" Target="../media/hdphoto3.wdp"/><Relationship Id="rId4" Type="http://schemas.openxmlformats.org/officeDocument/2006/relationships/image" Target="../media/image21.png"/></Relationships>
</file>

<file path=ppt/slides/_rels/slide3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26.gif"/><Relationship Id="rId1" Type="http://schemas.openxmlformats.org/officeDocument/2006/relationships/slideLayout" Target="../slideLayouts/slideLayout12.xml"/></Relationships>
</file>

<file path=ppt/slides/_rels/slide32.xml.rels><?xml version="1.0" encoding="UTF-8" standalone="yes"?>
<Relationships xmlns="http://schemas.openxmlformats.org/package/2006/relationships"><Relationship Id="rId2" Type="http://schemas.openxmlformats.org/officeDocument/2006/relationships/image" Target="../media/image27.jpeg"/><Relationship Id="rId1" Type="http://schemas.openxmlformats.org/officeDocument/2006/relationships/slideLayout" Target="../slideLayouts/slideLayout12.xml"/></Relationships>
</file>

<file path=ppt/slides/_rels/slide33.xml.rels><?xml version="1.0" encoding="UTF-8" standalone="yes"?>
<Relationships xmlns="http://schemas.openxmlformats.org/package/2006/relationships"><Relationship Id="rId2" Type="http://schemas.openxmlformats.org/officeDocument/2006/relationships/image" Target="../media/image28.gif"/><Relationship Id="rId1" Type="http://schemas.openxmlformats.org/officeDocument/2006/relationships/slideLayout" Target="../slideLayouts/slideLayout12.xml"/></Relationships>
</file>

<file path=ppt/slides/_rels/slide34.xml.rels><?xml version="1.0" encoding="UTF-8" standalone="yes"?>
<Relationships xmlns="http://schemas.openxmlformats.org/package/2006/relationships"><Relationship Id="rId2" Type="http://schemas.openxmlformats.org/officeDocument/2006/relationships/image" Target="../media/image29.jpeg"/><Relationship Id="rId1" Type="http://schemas.openxmlformats.org/officeDocument/2006/relationships/slideLayout" Target="../slideLayouts/slideLayout1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7.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1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image" Target="../media/image11.gif"/><Relationship Id="rId1" Type="http://schemas.openxmlformats.org/officeDocument/2006/relationships/slideLayout" Target="../slideLayouts/slideLayout12.xml"/></Relationships>
</file>

<file path=ppt/slides/_rels/slide40.xml.rels><?xml version="1.0" encoding="UTF-8" standalone="yes"?>
<Relationships xmlns="http://schemas.openxmlformats.org/package/2006/relationships"><Relationship Id="rId2" Type="http://schemas.openxmlformats.org/officeDocument/2006/relationships/image" Target="../media/image30.jpeg"/><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2" Type="http://schemas.openxmlformats.org/officeDocument/2006/relationships/image" Target="../media/image31.gif"/><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7.xml.rels><?xml version="1.0" encoding="UTF-8" standalone="yes"?>
<Relationships xmlns="http://schemas.openxmlformats.org/package/2006/relationships"><Relationship Id="rId2" Type="http://schemas.openxmlformats.org/officeDocument/2006/relationships/image" Target="../media/image11.gif"/><Relationship Id="rId1" Type="http://schemas.openxmlformats.org/officeDocument/2006/relationships/slideLayout" Target="../slideLayouts/slideLayout1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2" Type="http://schemas.openxmlformats.org/officeDocument/2006/relationships/image" Target="../media/image11.gif"/><Relationship Id="rId1" Type="http://schemas.openxmlformats.org/officeDocument/2006/relationships/slideLayout" Target="../slideLayouts/slideLayout12.xml"/></Relationships>
</file>

<file path=ppt/slides/_rels/slide50.xml.rels><?xml version="1.0" encoding="UTF-8" standalone="yes"?>
<Relationships xmlns="http://schemas.openxmlformats.org/package/2006/relationships"><Relationship Id="rId3" Type="http://schemas.microsoft.com/office/2007/relationships/hdphoto" Target="../media/hdphoto4.wdp"/><Relationship Id="rId2" Type="http://schemas.openxmlformats.org/officeDocument/2006/relationships/image" Target="../media/image33.png"/><Relationship Id="rId1" Type="http://schemas.openxmlformats.org/officeDocument/2006/relationships/slideLayout" Target="../slideLayouts/slideLayout12.xml"/><Relationship Id="rId5" Type="http://schemas.microsoft.com/office/2007/relationships/hdphoto" Target="../media/hdphoto5.wdp"/><Relationship Id="rId4" Type="http://schemas.openxmlformats.org/officeDocument/2006/relationships/image" Target="../media/image34.png"/></Relationships>
</file>

<file path=ppt/slides/_rels/slide51.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12.xml"/></Relationships>
</file>

<file path=ppt/slides/_rels/slide52.xml.rels><?xml version="1.0" encoding="UTF-8" standalone="yes"?>
<Relationships xmlns="http://schemas.openxmlformats.org/package/2006/relationships"><Relationship Id="rId3" Type="http://schemas.microsoft.com/office/2007/relationships/hdphoto" Target="../media/hdphoto6.wdp"/><Relationship Id="rId2" Type="http://schemas.openxmlformats.org/officeDocument/2006/relationships/image" Target="../media/image36.png"/><Relationship Id="rId1" Type="http://schemas.openxmlformats.org/officeDocument/2006/relationships/slideLayout" Target="../slideLayouts/slideLayout12.xml"/></Relationships>
</file>

<file path=ppt/slides/_rels/slide53.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12.xml"/></Relationships>
</file>

<file path=ppt/slides/_rels/slide54.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12.xml"/></Relationships>
</file>

<file path=ppt/slides/_rels/slide55.xml.rels><?xml version="1.0" encoding="UTF-8" standalone="yes"?>
<Relationships xmlns="http://schemas.openxmlformats.org/package/2006/relationships"><Relationship Id="rId2" Type="http://schemas.openxmlformats.org/officeDocument/2006/relationships/image" Target="../media/image40.jpeg"/><Relationship Id="rId1" Type="http://schemas.openxmlformats.org/officeDocument/2006/relationships/slideLayout" Target="../slideLayouts/slideLayout12.xml"/></Relationships>
</file>

<file path=ppt/slides/_rels/slide56.xml.rels><?xml version="1.0" encoding="UTF-8" standalone="yes"?>
<Relationships xmlns="http://schemas.openxmlformats.org/package/2006/relationships"><Relationship Id="rId3" Type="http://schemas.microsoft.com/office/2007/relationships/hdphoto" Target="../media/hdphoto7.wdp"/><Relationship Id="rId2" Type="http://schemas.openxmlformats.org/officeDocument/2006/relationships/image" Target="../media/image41.png"/><Relationship Id="rId1" Type="http://schemas.openxmlformats.org/officeDocument/2006/relationships/slideLayout" Target="../slideLayouts/slideLayout12.xml"/></Relationships>
</file>

<file path=ppt/slides/_rels/slide57.xml.rels><?xml version="1.0" encoding="UTF-8" standalone="yes"?>
<Relationships xmlns="http://schemas.openxmlformats.org/package/2006/relationships"><Relationship Id="rId2" Type="http://schemas.openxmlformats.org/officeDocument/2006/relationships/image" Target="../media/image11.gif"/><Relationship Id="rId1" Type="http://schemas.openxmlformats.org/officeDocument/2006/relationships/slideLayout" Target="../slideLayouts/slideLayout12.xml"/></Relationships>
</file>

<file path=ppt/slides/_rels/slide58.xml.rels><?xml version="1.0" encoding="UTF-8" standalone="yes"?>
<Relationships xmlns="http://schemas.openxmlformats.org/package/2006/relationships"><Relationship Id="rId3" Type="http://schemas.microsoft.com/office/2007/relationships/hdphoto" Target="../media/hdphoto8.wdp"/><Relationship Id="rId2" Type="http://schemas.openxmlformats.org/officeDocument/2006/relationships/image" Target="../media/image42.png"/><Relationship Id="rId1" Type="http://schemas.openxmlformats.org/officeDocument/2006/relationships/slideLayout" Target="../slideLayouts/slideLayout12.xml"/></Relationships>
</file>

<file path=ppt/slides/_rels/slide59.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12.xml"/></Relationships>
</file>

<file path=ppt/slides/_rels/slide60.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12.xml"/></Relationships>
</file>

<file path=ppt/slides/_rels/slide61.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12.xml"/></Relationships>
</file>

<file path=ppt/slides/_rels/slide62.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12.xml"/></Relationships>
</file>

<file path=ppt/slides/_rels/slide63.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12.xml"/></Relationships>
</file>

<file path=ppt/slides/_rels/slide64.xml.rels><?xml version="1.0" encoding="UTF-8" standalone="yes"?>
<Relationships xmlns="http://schemas.openxmlformats.org/package/2006/relationships"><Relationship Id="rId3" Type="http://schemas.microsoft.com/office/2007/relationships/hdphoto" Target="../media/hdphoto9.wdp"/><Relationship Id="rId2" Type="http://schemas.openxmlformats.org/officeDocument/2006/relationships/image" Target="../media/image44.png"/><Relationship Id="rId1" Type="http://schemas.openxmlformats.org/officeDocument/2006/relationships/slideLayout" Target="../slideLayouts/slideLayout4.xml"/><Relationship Id="rId4" Type="http://schemas.openxmlformats.org/officeDocument/2006/relationships/image" Target="../media/image45.png"/></Relationships>
</file>

<file path=ppt/slides/_rels/slide65.xml.rels><?xml version="1.0" encoding="UTF-8" standalone="yes"?>
<Relationships xmlns="http://schemas.openxmlformats.org/package/2006/relationships"><Relationship Id="rId3" Type="http://schemas.microsoft.com/office/2007/relationships/hdphoto" Target="../media/hdphoto9.wdp"/><Relationship Id="rId2" Type="http://schemas.openxmlformats.org/officeDocument/2006/relationships/image" Target="../media/image44.png"/><Relationship Id="rId1" Type="http://schemas.openxmlformats.org/officeDocument/2006/relationships/slideLayout" Target="../slideLayouts/slideLayout4.xml"/><Relationship Id="rId4" Type="http://schemas.openxmlformats.org/officeDocument/2006/relationships/image" Target="../media/image45.png"/></Relationships>
</file>

<file path=ppt/slides/_rels/slide66.xml.rels><?xml version="1.0" encoding="UTF-8" standalone="yes"?>
<Relationships xmlns="http://schemas.openxmlformats.org/package/2006/relationships"><Relationship Id="rId3" Type="http://schemas.microsoft.com/office/2007/relationships/hdphoto" Target="../media/hdphoto9.wdp"/><Relationship Id="rId2" Type="http://schemas.openxmlformats.org/officeDocument/2006/relationships/image" Target="../media/image44.png"/><Relationship Id="rId1" Type="http://schemas.openxmlformats.org/officeDocument/2006/relationships/slideLayout" Target="../slideLayouts/slideLayout4.xml"/><Relationship Id="rId4" Type="http://schemas.openxmlformats.org/officeDocument/2006/relationships/image" Target="../media/image45.png"/></Relationships>
</file>

<file path=ppt/slides/_rels/slide67.xml.rels><?xml version="1.0" encoding="UTF-8" standalone="yes"?>
<Relationships xmlns="http://schemas.openxmlformats.org/package/2006/relationships"><Relationship Id="rId3" Type="http://schemas.microsoft.com/office/2007/relationships/hdphoto" Target="../media/hdphoto9.wdp"/><Relationship Id="rId2" Type="http://schemas.openxmlformats.org/officeDocument/2006/relationships/image" Target="../media/image44.png"/><Relationship Id="rId1" Type="http://schemas.openxmlformats.org/officeDocument/2006/relationships/slideLayout" Target="../slideLayouts/slideLayout4.xml"/><Relationship Id="rId4" Type="http://schemas.openxmlformats.org/officeDocument/2006/relationships/image" Target="../media/image45.png"/></Relationships>
</file>

<file path=ppt/slides/_rels/slide68.xml.rels><?xml version="1.0" encoding="UTF-8" standalone="yes"?>
<Relationships xmlns="http://schemas.openxmlformats.org/package/2006/relationships"><Relationship Id="rId3" Type="http://schemas.microsoft.com/office/2007/relationships/hdphoto" Target="../media/hdphoto9.wdp"/><Relationship Id="rId2" Type="http://schemas.openxmlformats.org/officeDocument/2006/relationships/image" Target="../media/image44.png"/><Relationship Id="rId1" Type="http://schemas.openxmlformats.org/officeDocument/2006/relationships/slideLayout" Target="../slideLayouts/slideLayout4.xml"/><Relationship Id="rId4" Type="http://schemas.openxmlformats.org/officeDocument/2006/relationships/image" Target="../media/image45.png"/></Relationships>
</file>

<file path=ppt/slides/_rels/slide69.xml.rels><?xml version="1.0" encoding="UTF-8" standalone="yes"?>
<Relationships xmlns="http://schemas.openxmlformats.org/package/2006/relationships"><Relationship Id="rId3" Type="http://schemas.microsoft.com/office/2007/relationships/hdphoto" Target="../media/hdphoto9.wdp"/><Relationship Id="rId2" Type="http://schemas.openxmlformats.org/officeDocument/2006/relationships/image" Target="../media/image44.png"/><Relationship Id="rId1" Type="http://schemas.openxmlformats.org/officeDocument/2006/relationships/slideLayout" Target="../slideLayouts/slideLayout4.xml"/><Relationship Id="rId4" Type="http://schemas.openxmlformats.org/officeDocument/2006/relationships/image" Target="../media/image45.png"/></Relationships>
</file>

<file path=ppt/slides/_rels/slide70.xml.rels><?xml version="1.0" encoding="UTF-8" standalone="yes"?>
<Relationships xmlns="http://schemas.openxmlformats.org/package/2006/relationships"><Relationship Id="rId3" Type="http://schemas.microsoft.com/office/2007/relationships/hdphoto" Target="../media/hdphoto9.wdp"/><Relationship Id="rId2" Type="http://schemas.openxmlformats.org/officeDocument/2006/relationships/image" Target="../media/image44.png"/><Relationship Id="rId1" Type="http://schemas.openxmlformats.org/officeDocument/2006/relationships/slideLayout" Target="../slideLayouts/slideLayout4.xml"/><Relationship Id="rId4" Type="http://schemas.openxmlformats.org/officeDocument/2006/relationships/image" Target="../media/image45.png"/></Relationships>
</file>

<file path=ppt/slides/_rels/slide71.xml.rels><?xml version="1.0" encoding="UTF-8" standalone="yes"?>
<Relationships xmlns="http://schemas.openxmlformats.org/package/2006/relationships"><Relationship Id="rId3" Type="http://schemas.microsoft.com/office/2007/relationships/hdphoto" Target="../media/hdphoto9.wdp"/><Relationship Id="rId2" Type="http://schemas.openxmlformats.org/officeDocument/2006/relationships/image" Target="../media/image44.png"/><Relationship Id="rId1" Type="http://schemas.openxmlformats.org/officeDocument/2006/relationships/slideLayout" Target="../slideLayouts/slideLayout4.xml"/><Relationship Id="rId4" Type="http://schemas.openxmlformats.org/officeDocument/2006/relationships/image" Target="../media/image45.png"/></Relationships>
</file>

<file path=ppt/slides/_rels/slide72.xml.rels><?xml version="1.0" encoding="UTF-8" standalone="yes"?>
<Relationships xmlns="http://schemas.openxmlformats.org/package/2006/relationships"><Relationship Id="rId3" Type="http://schemas.microsoft.com/office/2007/relationships/hdphoto" Target="../media/hdphoto9.wdp"/><Relationship Id="rId2" Type="http://schemas.openxmlformats.org/officeDocument/2006/relationships/image" Target="../media/image44.png"/><Relationship Id="rId1" Type="http://schemas.openxmlformats.org/officeDocument/2006/relationships/slideLayout" Target="../slideLayouts/slideLayout4.xml"/><Relationship Id="rId4" Type="http://schemas.openxmlformats.org/officeDocument/2006/relationships/image" Target="../media/image4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normAutofit fontScale="90000"/>
          </a:bodyPr>
          <a:lstStyle/>
          <a:p>
            <a:r>
              <a:rPr lang="en-GB" dirty="0"/>
              <a:t>Ethical, Legal and Environmental Impact of Digital Technology</a:t>
            </a:r>
          </a:p>
        </p:txBody>
      </p:sp>
      <p:sp>
        <p:nvSpPr>
          <p:cNvPr id="3" name="Subtitle 2"/>
          <p:cNvSpPr>
            <a:spLocks noGrp="1"/>
          </p:cNvSpPr>
          <p:nvPr>
            <p:ph type="subTitle" idx="1"/>
          </p:nvPr>
        </p:nvSpPr>
        <p:spPr/>
        <p:txBody>
          <a:bodyPr/>
          <a:lstStyle/>
          <a:p>
            <a:r>
              <a:rPr lang="en-GB" dirty="0"/>
              <a:t>U01C09 | Mr Butler</a:t>
            </a:r>
          </a:p>
        </p:txBody>
      </p:sp>
    </p:spTree>
    <p:extLst>
      <p:ext uri="{BB962C8B-B14F-4D97-AF65-F5344CB8AC3E}">
        <p14:creationId xmlns:p14="http://schemas.microsoft.com/office/powerpoint/2010/main" val="257792323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30261C"/>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solidFill>
                  <a:schemeClr val="bg1"/>
                </a:solidFill>
              </a:rPr>
              <a:t>What laws do we need to know?</a:t>
            </a:r>
          </a:p>
        </p:txBody>
      </p:sp>
      <p:sp>
        <p:nvSpPr>
          <p:cNvPr id="3" name="Content Placeholder 2"/>
          <p:cNvSpPr>
            <a:spLocks noGrp="1"/>
          </p:cNvSpPr>
          <p:nvPr>
            <p:ph idx="4294967295"/>
          </p:nvPr>
        </p:nvSpPr>
        <p:spPr>
          <a:xfrm>
            <a:off x="102909" y="3258499"/>
            <a:ext cx="7730765" cy="4351338"/>
          </a:xfrm>
        </p:spPr>
        <p:txBody>
          <a:bodyPr/>
          <a:lstStyle/>
          <a:p>
            <a:r>
              <a:rPr lang="en-GB" dirty="0">
                <a:solidFill>
                  <a:srgbClr val="E0E0E0"/>
                </a:solidFill>
              </a:rPr>
              <a:t>The specification states we need to know about:</a:t>
            </a:r>
          </a:p>
          <a:p>
            <a:pPr lvl="1"/>
            <a:r>
              <a:rPr lang="en-GB" dirty="0">
                <a:solidFill>
                  <a:srgbClr val="E0E0E0"/>
                </a:solidFill>
              </a:rPr>
              <a:t>Consumer Contracts Regulations Act 2013</a:t>
            </a:r>
          </a:p>
          <a:p>
            <a:pPr lvl="1"/>
            <a:r>
              <a:rPr lang="en-GB" dirty="0">
                <a:solidFill>
                  <a:srgbClr val="E0E0E0"/>
                </a:solidFill>
              </a:rPr>
              <a:t>Data Protection Act 1998</a:t>
            </a:r>
          </a:p>
          <a:p>
            <a:pPr lvl="1"/>
            <a:r>
              <a:rPr lang="en-GB" dirty="0">
                <a:solidFill>
                  <a:srgbClr val="E0E0E0"/>
                </a:solidFill>
              </a:rPr>
              <a:t>Copyright, Designs and Patents Act 1988</a:t>
            </a:r>
          </a:p>
          <a:p>
            <a:pPr lvl="1"/>
            <a:r>
              <a:rPr lang="en-GB" dirty="0">
                <a:solidFill>
                  <a:srgbClr val="E0E0E0"/>
                </a:solidFill>
              </a:rPr>
              <a:t>Computer Misuse Act 1990</a:t>
            </a:r>
          </a:p>
          <a:p>
            <a:pPr marL="0" indent="0">
              <a:buNone/>
            </a:pPr>
            <a:endParaRPr lang="en-GB" dirty="0"/>
          </a:p>
        </p:txBody>
      </p:sp>
      <p:pic>
        <p:nvPicPr>
          <p:cNvPr id="5" name="Picture 4"/>
          <p:cNvPicPr>
            <a:picLocks noChangeAspect="1"/>
          </p:cNvPicPr>
          <p:nvPr/>
        </p:nvPicPr>
        <p:blipFill rotWithShape="1">
          <a:blip r:embed="rId2">
            <a:extLst>
              <a:ext uri="{BEBA8EAE-BF5A-486C-A8C5-ECC9F3942E4B}">
                <a14:imgProps xmlns:a14="http://schemas.microsoft.com/office/drawing/2010/main">
                  <a14:imgLayer r:embed="rId3">
                    <a14:imgEffect>
                      <a14:backgroundRemoval t="8444" b="90667" l="9778" r="89778">
                        <a14:foregroundMark x1="36889" y1="83556" x2="42222" y2="77333"/>
                      </a14:backgroundRemoval>
                    </a14:imgEffect>
                  </a14:imgLayer>
                </a14:imgProps>
              </a:ext>
            </a:extLst>
          </a:blip>
          <a:srcRect b="11289"/>
          <a:stretch/>
        </p:blipFill>
        <p:spPr>
          <a:xfrm>
            <a:off x="6721311" y="2004919"/>
            <a:ext cx="5470689" cy="4853081"/>
          </a:xfrm>
          <a:prstGeom prst="rect">
            <a:avLst/>
          </a:prstGeom>
          <a:effectLst>
            <a:outerShdw blurRad="63500" sx="102000" sy="102000" algn="ctr" rotWithShape="0">
              <a:prstClr val="black">
                <a:alpha val="40000"/>
              </a:prstClr>
            </a:outerShdw>
            <a:softEdge rad="63500"/>
          </a:effectLst>
        </p:spPr>
      </p:pic>
    </p:spTree>
    <p:extLst>
      <p:ext uri="{BB962C8B-B14F-4D97-AF65-F5344CB8AC3E}">
        <p14:creationId xmlns:p14="http://schemas.microsoft.com/office/powerpoint/2010/main" val="102426760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056" y="91799"/>
            <a:ext cx="8918542" cy="1325563"/>
          </a:xfrm>
        </p:spPr>
        <p:txBody>
          <a:bodyPr/>
          <a:lstStyle/>
          <a:p>
            <a:r>
              <a:rPr lang="en-GB" dirty="0"/>
              <a:t>Consumer Contracts Regulations, 2013</a:t>
            </a:r>
          </a:p>
        </p:txBody>
      </p:sp>
      <p:sp>
        <p:nvSpPr>
          <p:cNvPr id="3" name="Content Placeholder 2"/>
          <p:cNvSpPr>
            <a:spLocks noGrp="1"/>
          </p:cNvSpPr>
          <p:nvPr>
            <p:ph idx="4294967295"/>
          </p:nvPr>
        </p:nvSpPr>
        <p:spPr>
          <a:xfrm>
            <a:off x="280657" y="1706252"/>
            <a:ext cx="11073143" cy="4893723"/>
          </a:xfrm>
        </p:spPr>
        <p:txBody>
          <a:bodyPr>
            <a:normAutofit fontScale="77500" lnSpcReduction="20000"/>
          </a:bodyPr>
          <a:lstStyle/>
          <a:p>
            <a:pPr lvl="0"/>
            <a:r>
              <a:rPr lang="en-GB" dirty="0"/>
              <a:t>Specifies the rights of customers when shopping online</a:t>
            </a:r>
          </a:p>
          <a:p>
            <a:pPr lvl="0"/>
            <a:r>
              <a:rPr lang="en-GB" dirty="0"/>
              <a:t>Require online traders to provide customers with:</a:t>
            </a:r>
          </a:p>
          <a:p>
            <a:pPr lvl="1"/>
            <a:r>
              <a:rPr lang="en-GB" dirty="0"/>
              <a:t>A full description of the products available</a:t>
            </a:r>
          </a:p>
          <a:p>
            <a:pPr lvl="1"/>
            <a:r>
              <a:rPr lang="en-GB" dirty="0"/>
              <a:t>For digital download, compatibility (hardware/software requirements) must be given.</a:t>
            </a:r>
          </a:p>
          <a:p>
            <a:pPr lvl="1"/>
            <a:r>
              <a:rPr lang="en-GB" dirty="0"/>
              <a:t>Product prices</a:t>
            </a:r>
          </a:p>
          <a:p>
            <a:pPr lvl="1"/>
            <a:r>
              <a:rPr lang="en-GB" dirty="0"/>
              <a:t>Delivery charges</a:t>
            </a:r>
          </a:p>
          <a:p>
            <a:pPr lvl="1"/>
            <a:r>
              <a:rPr lang="en-GB" dirty="0"/>
              <a:t>Methods of payment accepted</a:t>
            </a:r>
          </a:p>
          <a:p>
            <a:pPr lvl="1"/>
            <a:r>
              <a:rPr lang="en-GB" dirty="0"/>
              <a:t>Information on how the products can be returned</a:t>
            </a:r>
          </a:p>
          <a:p>
            <a:pPr lvl="0"/>
            <a:r>
              <a:rPr lang="en-GB" dirty="0"/>
              <a:t>A customer has the right to:</a:t>
            </a:r>
          </a:p>
          <a:p>
            <a:pPr lvl="1"/>
            <a:r>
              <a:rPr lang="en-GB" dirty="0"/>
              <a:t>cancel an order</a:t>
            </a:r>
          </a:p>
          <a:p>
            <a:pPr lvl="1"/>
            <a:r>
              <a:rPr lang="en-GB" dirty="0"/>
              <a:t>given a full refund for physical products (up to 14 days from received date)</a:t>
            </a:r>
          </a:p>
          <a:p>
            <a:pPr lvl="2"/>
            <a:r>
              <a:rPr lang="en-GB" dirty="0"/>
              <a:t>If digital download, may not be entitled to cancel</a:t>
            </a:r>
          </a:p>
          <a:p>
            <a:pPr lvl="0"/>
            <a:r>
              <a:rPr lang="en-GB" dirty="0"/>
              <a:t>If the security seal is broken on a DVD/Blu-ray etc, they lose the right to cancel their order</a:t>
            </a:r>
          </a:p>
          <a:p>
            <a:pPr lvl="1"/>
            <a:r>
              <a:rPr lang="en-GB" dirty="0"/>
              <a:t>Also applies to digital goods that are tailor made by a company (i.e. wedding video)</a:t>
            </a:r>
          </a:p>
          <a:p>
            <a:pPr lvl="0"/>
            <a:r>
              <a:rPr lang="en-GB" dirty="0"/>
              <a:t>Companies are not allowed to charge for items placed in electronic shopping baskets until the customer ‘checks out’ and agrees to purchase items</a:t>
            </a:r>
          </a:p>
          <a:p>
            <a:pPr marL="0" indent="0">
              <a:buNone/>
            </a:pPr>
            <a:endParaRPr lang="en-GB" dirty="0"/>
          </a:p>
        </p:txBody>
      </p:sp>
      <p:pic>
        <p:nvPicPr>
          <p:cNvPr id="16386" name="Picture 2" descr="agreement meme - Google Search | Humor, Memes, The walking dead"/>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138417" y="91799"/>
            <a:ext cx="2964062" cy="232146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652115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fade">
                                      <p:cBhvr>
                                        <p:cTn id="15" dur="500"/>
                                        <p:tgtEl>
                                          <p:spTgt spid="3">
                                            <p:txEl>
                                              <p:pRg st="2" end="2"/>
                                            </p:txEl>
                                          </p:spTgt>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3">
                                            <p:txEl>
                                              <p:pRg st="3" end="3"/>
                                            </p:txEl>
                                          </p:spTgt>
                                        </p:tgtEl>
                                        <p:attrNameLst>
                                          <p:attrName>style.visibility</p:attrName>
                                        </p:attrNameLst>
                                      </p:cBhvr>
                                      <p:to>
                                        <p:strVal val="visible"/>
                                      </p:to>
                                    </p:set>
                                    <p:animEffect transition="in" filter="fade">
                                      <p:cBhvr>
                                        <p:cTn id="18" dur="500"/>
                                        <p:tgtEl>
                                          <p:spTgt spid="3">
                                            <p:txEl>
                                              <p:pRg st="3" end="3"/>
                                            </p:txEl>
                                          </p:spTgt>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animEffect transition="in" filter="fade">
                                      <p:cBhvr>
                                        <p:cTn id="21" dur="500"/>
                                        <p:tgtEl>
                                          <p:spTgt spid="3">
                                            <p:txEl>
                                              <p:pRg st="4" end="4"/>
                                            </p:txEl>
                                          </p:spTgt>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3">
                                            <p:txEl>
                                              <p:pRg st="5" end="5"/>
                                            </p:txEl>
                                          </p:spTgt>
                                        </p:tgtEl>
                                        <p:attrNameLst>
                                          <p:attrName>style.visibility</p:attrName>
                                        </p:attrNameLst>
                                      </p:cBhvr>
                                      <p:to>
                                        <p:strVal val="visible"/>
                                      </p:to>
                                    </p:set>
                                    <p:animEffect transition="in" filter="fade">
                                      <p:cBhvr>
                                        <p:cTn id="24" dur="500"/>
                                        <p:tgtEl>
                                          <p:spTgt spid="3">
                                            <p:txEl>
                                              <p:pRg st="5" end="5"/>
                                            </p:txEl>
                                          </p:spTgt>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animEffect transition="in" filter="fade">
                                      <p:cBhvr>
                                        <p:cTn id="27" dur="500"/>
                                        <p:tgtEl>
                                          <p:spTgt spid="3">
                                            <p:txEl>
                                              <p:pRg st="6" end="6"/>
                                            </p:txEl>
                                          </p:spTgt>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3">
                                            <p:txEl>
                                              <p:pRg st="7" end="7"/>
                                            </p:txEl>
                                          </p:spTgt>
                                        </p:tgtEl>
                                        <p:attrNameLst>
                                          <p:attrName>style.visibility</p:attrName>
                                        </p:attrNameLst>
                                      </p:cBhvr>
                                      <p:to>
                                        <p:strVal val="visible"/>
                                      </p:to>
                                    </p:set>
                                    <p:animEffect transition="in" filter="fade">
                                      <p:cBhvr>
                                        <p:cTn id="30" dur="500"/>
                                        <p:tgtEl>
                                          <p:spTgt spid="3">
                                            <p:txEl>
                                              <p:pRg st="7" end="7"/>
                                            </p:txEl>
                                          </p:spTgt>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animEffect transition="in" filter="fade">
                                      <p:cBhvr>
                                        <p:cTn id="35" dur="500"/>
                                        <p:tgtEl>
                                          <p:spTgt spid="3">
                                            <p:txEl>
                                              <p:pRg st="8" end="8"/>
                                            </p:txEl>
                                          </p:spTgt>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3">
                                            <p:txEl>
                                              <p:pRg st="9" end="9"/>
                                            </p:txEl>
                                          </p:spTgt>
                                        </p:tgtEl>
                                        <p:attrNameLst>
                                          <p:attrName>style.visibility</p:attrName>
                                        </p:attrNameLst>
                                      </p:cBhvr>
                                      <p:to>
                                        <p:strVal val="visible"/>
                                      </p:to>
                                    </p:set>
                                    <p:animEffect transition="in" filter="fade">
                                      <p:cBhvr>
                                        <p:cTn id="38" dur="500"/>
                                        <p:tgtEl>
                                          <p:spTgt spid="3">
                                            <p:txEl>
                                              <p:pRg st="9" end="9"/>
                                            </p:txEl>
                                          </p:spTgt>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3">
                                            <p:txEl>
                                              <p:pRg st="10" end="10"/>
                                            </p:txEl>
                                          </p:spTgt>
                                        </p:tgtEl>
                                        <p:attrNameLst>
                                          <p:attrName>style.visibility</p:attrName>
                                        </p:attrNameLst>
                                      </p:cBhvr>
                                      <p:to>
                                        <p:strVal val="visible"/>
                                      </p:to>
                                    </p:set>
                                    <p:animEffect transition="in" filter="fade">
                                      <p:cBhvr>
                                        <p:cTn id="41" dur="500"/>
                                        <p:tgtEl>
                                          <p:spTgt spid="3">
                                            <p:txEl>
                                              <p:pRg st="10" end="10"/>
                                            </p:txEl>
                                          </p:spTgt>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3">
                                            <p:txEl>
                                              <p:pRg st="11" end="11"/>
                                            </p:txEl>
                                          </p:spTgt>
                                        </p:tgtEl>
                                        <p:attrNameLst>
                                          <p:attrName>style.visibility</p:attrName>
                                        </p:attrNameLst>
                                      </p:cBhvr>
                                      <p:to>
                                        <p:strVal val="visible"/>
                                      </p:to>
                                    </p:set>
                                    <p:animEffect transition="in" filter="fade">
                                      <p:cBhvr>
                                        <p:cTn id="44" dur="500"/>
                                        <p:tgtEl>
                                          <p:spTgt spid="3">
                                            <p:txEl>
                                              <p:pRg st="11" end="11"/>
                                            </p:txEl>
                                          </p:spTgt>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3">
                                            <p:txEl>
                                              <p:pRg st="12" end="12"/>
                                            </p:txEl>
                                          </p:spTgt>
                                        </p:tgtEl>
                                        <p:attrNameLst>
                                          <p:attrName>style.visibility</p:attrName>
                                        </p:attrNameLst>
                                      </p:cBhvr>
                                      <p:to>
                                        <p:strVal val="visible"/>
                                      </p:to>
                                    </p:set>
                                    <p:animEffect transition="in" filter="fade">
                                      <p:cBhvr>
                                        <p:cTn id="49" dur="500"/>
                                        <p:tgtEl>
                                          <p:spTgt spid="3">
                                            <p:txEl>
                                              <p:pRg st="12" end="12"/>
                                            </p:txEl>
                                          </p:spTgt>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
                                            <p:txEl>
                                              <p:pRg st="13" end="13"/>
                                            </p:txEl>
                                          </p:spTgt>
                                        </p:tgtEl>
                                        <p:attrNameLst>
                                          <p:attrName>style.visibility</p:attrName>
                                        </p:attrNameLst>
                                      </p:cBhvr>
                                      <p:to>
                                        <p:strVal val="visible"/>
                                      </p:to>
                                    </p:set>
                                    <p:animEffect transition="in" filter="fade">
                                      <p:cBhvr>
                                        <p:cTn id="52" dur="500"/>
                                        <p:tgtEl>
                                          <p:spTgt spid="3">
                                            <p:txEl>
                                              <p:pRg st="13" end="13"/>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grpId="0" nodeType="clickEffect">
                                  <p:stCondLst>
                                    <p:cond delay="0"/>
                                  </p:stCondLst>
                                  <p:childTnLst>
                                    <p:set>
                                      <p:cBhvr>
                                        <p:cTn id="56" dur="1" fill="hold">
                                          <p:stCondLst>
                                            <p:cond delay="0"/>
                                          </p:stCondLst>
                                        </p:cTn>
                                        <p:tgtEl>
                                          <p:spTgt spid="3">
                                            <p:txEl>
                                              <p:pRg st="14" end="14"/>
                                            </p:txEl>
                                          </p:spTgt>
                                        </p:tgtEl>
                                        <p:attrNameLst>
                                          <p:attrName>style.visibility</p:attrName>
                                        </p:attrNameLst>
                                      </p:cBhvr>
                                      <p:to>
                                        <p:strVal val="visible"/>
                                      </p:to>
                                    </p:set>
                                    <p:animEffect transition="in" filter="fade">
                                      <p:cBhvr>
                                        <p:cTn id="57" dur="500"/>
                                        <p:tgtEl>
                                          <p:spTgt spid="3">
                                            <p:txEl>
                                              <p:pRg st="14" end="1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p:cNvGrpSpPr/>
        <p:nvPr/>
      </p:nvGrpSpPr>
      <p:grpSpPr>
        <a:xfrm>
          <a:off x="0" y="0"/>
          <a:ext cx="0" cy="0"/>
          <a:chOff x="0" y="0"/>
          <a:chExt cx="0" cy="0"/>
        </a:xfrm>
      </p:grpSpPr>
      <p:sp>
        <p:nvSpPr>
          <p:cNvPr id="73" name="Freeform: Shape 72">
            <a:extLst>
              <a:ext uri="{FF2B5EF4-FFF2-40B4-BE49-F238E27FC236}">
                <a16:creationId xmlns:a16="http://schemas.microsoft.com/office/drawing/2014/main" id="{E26B9EF5-5D92-4AC7-BC55-FC5C4C98ED4C}"/>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476199" y="548"/>
            <a:ext cx="4349752" cy="3142889"/>
          </a:xfrm>
          <a:custGeom>
            <a:avLst/>
            <a:gdLst>
              <a:gd name="connsiteX0" fmla="*/ 229420 w 4349752"/>
              <a:gd name="connsiteY0" fmla="*/ 0 h 3142889"/>
              <a:gd name="connsiteX1" fmla="*/ 4120333 w 4349752"/>
              <a:gd name="connsiteY1" fmla="*/ 0 h 3142889"/>
              <a:gd name="connsiteX2" fmla="*/ 4178840 w 4349752"/>
              <a:gd name="connsiteY2" fmla="*/ 121453 h 3142889"/>
              <a:gd name="connsiteX3" fmla="*/ 4349752 w 4349752"/>
              <a:gd name="connsiteY3" fmla="*/ 968013 h 3142889"/>
              <a:gd name="connsiteX4" fmla="*/ 2174876 w 4349752"/>
              <a:gd name="connsiteY4" fmla="*/ 3142889 h 3142889"/>
              <a:gd name="connsiteX5" fmla="*/ 0 w 4349752"/>
              <a:gd name="connsiteY5" fmla="*/ 968013 h 3142889"/>
              <a:gd name="connsiteX6" fmla="*/ 170913 w 4349752"/>
              <a:gd name="connsiteY6" fmla="*/ 121453 h 3142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49752" h="3142889">
                <a:moveTo>
                  <a:pt x="229420" y="0"/>
                </a:moveTo>
                <a:lnTo>
                  <a:pt x="4120333" y="0"/>
                </a:lnTo>
                <a:lnTo>
                  <a:pt x="4178840" y="121453"/>
                </a:lnTo>
                <a:cubicBezTo>
                  <a:pt x="4288894" y="381652"/>
                  <a:pt x="4349752" y="667725"/>
                  <a:pt x="4349752" y="968013"/>
                </a:cubicBezTo>
                <a:cubicBezTo>
                  <a:pt x="4349752" y="2169164"/>
                  <a:pt x="3376027" y="3142889"/>
                  <a:pt x="2174876" y="3142889"/>
                </a:cubicBezTo>
                <a:cubicBezTo>
                  <a:pt x="973725" y="3142889"/>
                  <a:pt x="0" y="2169164"/>
                  <a:pt x="0" y="968013"/>
                </a:cubicBezTo>
                <a:cubicBezTo>
                  <a:pt x="0" y="667725"/>
                  <a:pt x="60858" y="381652"/>
                  <a:pt x="170913" y="12145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75" name="Freeform: Shape 74">
            <a:extLst>
              <a:ext uri="{FF2B5EF4-FFF2-40B4-BE49-F238E27FC236}">
                <a16:creationId xmlns:a16="http://schemas.microsoft.com/office/drawing/2014/main" id="{F05C5575-0F07-43D0-AE78-81EAA8E67152}"/>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653759" y="1421356"/>
            <a:ext cx="4538241" cy="5436644"/>
          </a:xfrm>
          <a:custGeom>
            <a:avLst/>
            <a:gdLst>
              <a:gd name="connsiteX0" fmla="*/ 3084645 w 4538241"/>
              <a:gd name="connsiteY0" fmla="*/ 0 h 5436644"/>
              <a:gd name="connsiteX1" fmla="*/ 4285328 w 4538241"/>
              <a:gd name="connsiteY1" fmla="*/ 242407 h 5436644"/>
              <a:gd name="connsiteX2" fmla="*/ 4538241 w 4538241"/>
              <a:gd name="connsiteY2" fmla="*/ 364242 h 5436644"/>
              <a:gd name="connsiteX3" fmla="*/ 4538241 w 4538241"/>
              <a:gd name="connsiteY3" fmla="*/ 5436644 h 5436644"/>
              <a:gd name="connsiteX4" fmla="*/ 1091428 w 4538241"/>
              <a:gd name="connsiteY4" fmla="*/ 5436644 h 5436644"/>
              <a:gd name="connsiteX5" fmla="*/ 903472 w 4538241"/>
              <a:gd name="connsiteY5" fmla="*/ 5265818 h 5436644"/>
              <a:gd name="connsiteX6" fmla="*/ 0 w 4538241"/>
              <a:gd name="connsiteY6" fmla="*/ 3084645 h 5436644"/>
              <a:gd name="connsiteX7" fmla="*/ 3084645 w 4538241"/>
              <a:gd name="connsiteY7" fmla="*/ 0 h 54366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538241" h="5436644">
                <a:moveTo>
                  <a:pt x="3084645" y="0"/>
                </a:moveTo>
                <a:cubicBezTo>
                  <a:pt x="3510546" y="0"/>
                  <a:pt x="3916286" y="86315"/>
                  <a:pt x="4285328" y="242407"/>
                </a:cubicBezTo>
                <a:lnTo>
                  <a:pt x="4538241" y="364242"/>
                </a:lnTo>
                <a:lnTo>
                  <a:pt x="4538241" y="5436644"/>
                </a:lnTo>
                <a:lnTo>
                  <a:pt x="1091428" y="5436644"/>
                </a:lnTo>
                <a:lnTo>
                  <a:pt x="903472" y="5265818"/>
                </a:lnTo>
                <a:cubicBezTo>
                  <a:pt x="345261" y="4707608"/>
                  <a:pt x="0" y="3936446"/>
                  <a:pt x="0" y="3084645"/>
                </a:cubicBezTo>
                <a:cubicBezTo>
                  <a:pt x="0" y="1381043"/>
                  <a:pt x="1381043" y="0"/>
                  <a:pt x="3084645" y="0"/>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pic>
        <p:nvPicPr>
          <p:cNvPr id="1026" name="Picture 2" descr="Image result for data protection act">
            <a:extLst>
              <a:ext uri="{FF2B5EF4-FFF2-40B4-BE49-F238E27FC236}">
                <a16:creationId xmlns:a16="http://schemas.microsoft.com/office/drawing/2014/main" id="{95511CBE-3DF2-4B0A-8CF9-027B97419BD7}"/>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9966" b="21198"/>
          <a:stretch/>
        </p:blipFill>
        <p:spPr bwMode="auto">
          <a:xfrm>
            <a:off x="3639395" y="10"/>
            <a:ext cx="4023360" cy="2980230"/>
          </a:xfrm>
          <a:custGeom>
            <a:avLst/>
            <a:gdLst>
              <a:gd name="connsiteX0" fmla="*/ 248676 w 4023360"/>
              <a:gd name="connsiteY0" fmla="*/ 0 h 2980240"/>
              <a:gd name="connsiteX1" fmla="*/ 3774684 w 4023360"/>
              <a:gd name="connsiteY1" fmla="*/ 0 h 2980240"/>
              <a:gd name="connsiteX2" fmla="*/ 3780561 w 4023360"/>
              <a:gd name="connsiteY2" fmla="*/ 9674 h 2980240"/>
              <a:gd name="connsiteX3" fmla="*/ 4023360 w 4023360"/>
              <a:gd name="connsiteY3" fmla="*/ 968560 h 2980240"/>
              <a:gd name="connsiteX4" fmla="*/ 2011680 w 4023360"/>
              <a:gd name="connsiteY4" fmla="*/ 2980240 h 2980240"/>
              <a:gd name="connsiteX5" fmla="*/ 0 w 4023360"/>
              <a:gd name="connsiteY5" fmla="*/ 968560 h 2980240"/>
              <a:gd name="connsiteX6" fmla="*/ 242799 w 4023360"/>
              <a:gd name="connsiteY6" fmla="*/ 9674 h 29802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023360" h="2980240">
                <a:moveTo>
                  <a:pt x="248676" y="0"/>
                </a:moveTo>
                <a:lnTo>
                  <a:pt x="3774684" y="0"/>
                </a:lnTo>
                <a:lnTo>
                  <a:pt x="3780561" y="9674"/>
                </a:lnTo>
                <a:cubicBezTo>
                  <a:pt x="3935405" y="294716"/>
                  <a:pt x="4023360" y="621366"/>
                  <a:pt x="4023360" y="968560"/>
                </a:cubicBezTo>
                <a:cubicBezTo>
                  <a:pt x="4023360" y="2079580"/>
                  <a:pt x="3122700" y="2980240"/>
                  <a:pt x="2011680" y="2980240"/>
                </a:cubicBezTo>
                <a:cubicBezTo>
                  <a:pt x="900660" y="2980240"/>
                  <a:pt x="0" y="2079580"/>
                  <a:pt x="0" y="968560"/>
                </a:cubicBezTo>
                <a:cubicBezTo>
                  <a:pt x="0" y="621366"/>
                  <a:pt x="87955" y="294716"/>
                  <a:pt x="242799" y="9674"/>
                </a:cubicBezTo>
                <a:close/>
              </a:path>
            </a:pathLst>
          </a:custGeom>
          <a:noFill/>
          <a:extLst>
            <a:ext uri="{909E8E84-426E-40DD-AFC4-6F175D3DCCD1}">
              <a14:hiddenFill xmlns:a14="http://schemas.microsoft.com/office/drawing/2010/main">
                <a:solidFill>
                  <a:srgbClr val="FFFFFF"/>
                </a:solidFill>
              </a14:hiddenFill>
            </a:ext>
          </a:extLst>
        </p:spPr>
      </p:pic>
      <p:pic>
        <p:nvPicPr>
          <p:cNvPr id="1028" name="Picture 4" descr="Image result for data protection act wallpaper">
            <a:extLst>
              <a:ext uri="{FF2B5EF4-FFF2-40B4-BE49-F238E27FC236}">
                <a16:creationId xmlns:a16="http://schemas.microsoft.com/office/drawing/2014/main" id="{4D776362-B858-4510-B6B3-B34E2A6B4123}"/>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8122" r="19654" b="-2"/>
          <a:stretch/>
        </p:blipFill>
        <p:spPr bwMode="auto">
          <a:xfrm>
            <a:off x="7816897" y="1584494"/>
            <a:ext cx="4375105" cy="5273507"/>
          </a:xfrm>
          <a:custGeom>
            <a:avLst/>
            <a:gdLst>
              <a:gd name="connsiteX0" fmla="*/ 2921508 w 4375105"/>
              <a:gd name="connsiteY0" fmla="*/ 0 h 5273507"/>
              <a:gd name="connsiteX1" fmla="*/ 4314072 w 4375105"/>
              <a:gd name="connsiteY1" fmla="*/ 352611 h 5273507"/>
              <a:gd name="connsiteX2" fmla="*/ 4375105 w 4375105"/>
              <a:gd name="connsiteY2" fmla="*/ 389689 h 5273507"/>
              <a:gd name="connsiteX3" fmla="*/ 4375105 w 4375105"/>
              <a:gd name="connsiteY3" fmla="*/ 5273507 h 5273507"/>
              <a:gd name="connsiteX4" fmla="*/ 1193705 w 4375105"/>
              <a:gd name="connsiteY4" fmla="*/ 5273507 h 5273507"/>
              <a:gd name="connsiteX5" fmla="*/ 1063158 w 4375105"/>
              <a:gd name="connsiteY5" fmla="*/ 5175886 h 5273507"/>
              <a:gd name="connsiteX6" fmla="*/ 0 w 4375105"/>
              <a:gd name="connsiteY6" fmla="*/ 2921508 h 5273507"/>
              <a:gd name="connsiteX7" fmla="*/ 2921508 w 4375105"/>
              <a:gd name="connsiteY7" fmla="*/ 0 h 52735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375105" h="5273507">
                <a:moveTo>
                  <a:pt x="2921508" y="0"/>
                </a:moveTo>
                <a:cubicBezTo>
                  <a:pt x="3425728" y="0"/>
                  <a:pt x="3900114" y="127735"/>
                  <a:pt x="4314072" y="352611"/>
                </a:cubicBezTo>
                <a:lnTo>
                  <a:pt x="4375105" y="389689"/>
                </a:lnTo>
                <a:lnTo>
                  <a:pt x="4375105" y="5273507"/>
                </a:lnTo>
                <a:lnTo>
                  <a:pt x="1193705" y="5273507"/>
                </a:lnTo>
                <a:lnTo>
                  <a:pt x="1063158" y="5175886"/>
                </a:lnTo>
                <a:cubicBezTo>
                  <a:pt x="413861" y="4640038"/>
                  <a:pt x="0" y="3829104"/>
                  <a:pt x="0" y="2921508"/>
                </a:cubicBezTo>
                <a:cubicBezTo>
                  <a:pt x="0" y="1308004"/>
                  <a:pt x="1308004" y="0"/>
                  <a:pt x="2921508" y="0"/>
                </a:cubicBezTo>
                <a:close/>
              </a:path>
            </a:pathLst>
          </a:cu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52D91B4B-336A-47EE-95D6-653705C8B99A}"/>
              </a:ext>
            </a:extLst>
          </p:cNvPr>
          <p:cNvSpPr>
            <a:spLocks noGrp="1"/>
          </p:cNvSpPr>
          <p:nvPr>
            <p:ph type="ctrTitle"/>
          </p:nvPr>
        </p:nvSpPr>
        <p:spPr>
          <a:xfrm>
            <a:off x="804672" y="4007335"/>
            <a:ext cx="7021279" cy="1497998"/>
          </a:xfrm>
        </p:spPr>
        <p:txBody>
          <a:bodyPr anchor="t">
            <a:normAutofit/>
          </a:bodyPr>
          <a:lstStyle/>
          <a:p>
            <a:pPr algn="l"/>
            <a:r>
              <a:rPr lang="en-GB" sz="4800" dirty="0"/>
              <a:t>Data Protection Act, 1998</a:t>
            </a:r>
            <a:endParaRPr lang="en-US" sz="4800" dirty="0"/>
          </a:p>
        </p:txBody>
      </p:sp>
      <p:sp>
        <p:nvSpPr>
          <p:cNvPr id="3" name="Subtitle 2">
            <a:extLst>
              <a:ext uri="{FF2B5EF4-FFF2-40B4-BE49-F238E27FC236}">
                <a16:creationId xmlns:a16="http://schemas.microsoft.com/office/drawing/2014/main" id="{F7320F7A-05D2-4188-B9FC-517D47B41EE9}"/>
              </a:ext>
            </a:extLst>
          </p:cNvPr>
          <p:cNvSpPr>
            <a:spLocks noGrp="1"/>
          </p:cNvSpPr>
          <p:nvPr>
            <p:ph type="subTitle" idx="1"/>
          </p:nvPr>
        </p:nvSpPr>
        <p:spPr>
          <a:xfrm>
            <a:off x="804672" y="3288965"/>
            <a:ext cx="6455833" cy="665853"/>
          </a:xfrm>
        </p:spPr>
        <p:txBody>
          <a:bodyPr anchor="b">
            <a:normAutofit/>
          </a:bodyPr>
          <a:lstStyle/>
          <a:p>
            <a:pPr algn="l"/>
            <a:r>
              <a:rPr lang="en-GB" sz="2000" dirty="0"/>
              <a:t>Legal Implications | Mr Butler</a:t>
            </a:r>
            <a:endParaRPr lang="en-US" sz="2000" dirty="0"/>
          </a:p>
        </p:txBody>
      </p:sp>
    </p:spTree>
    <p:extLst>
      <p:ext uri="{BB962C8B-B14F-4D97-AF65-F5344CB8AC3E}">
        <p14:creationId xmlns:p14="http://schemas.microsoft.com/office/powerpoint/2010/main" val="1812890195"/>
      </p:ext>
    </p:extLst>
  </p:cSld>
  <p:clrMapOvr>
    <a:overrideClrMapping bg1="dk1" tx1="lt1" bg2="dk2" tx2="lt2" accent1="accent1" accent2="accent2" accent3="accent3" accent4="accent4" accent5="accent5" accent6="accent6" hlink="hlink" folHlink="folHlink"/>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958330-3440-4DAF-A18D-5AC3E2FA90D1}"/>
              </a:ext>
            </a:extLst>
          </p:cNvPr>
          <p:cNvSpPr>
            <a:spLocks noGrp="1"/>
          </p:cNvSpPr>
          <p:nvPr>
            <p:ph type="title"/>
          </p:nvPr>
        </p:nvSpPr>
        <p:spPr/>
        <p:txBody>
          <a:bodyPr/>
          <a:lstStyle/>
          <a:p>
            <a:r>
              <a:rPr lang="en-GB" dirty="0"/>
              <a:t>The Spec</a:t>
            </a:r>
            <a:endParaRPr lang="en-US" dirty="0"/>
          </a:p>
        </p:txBody>
      </p:sp>
      <p:sp>
        <p:nvSpPr>
          <p:cNvPr id="3" name="Content Placeholder 2">
            <a:extLst>
              <a:ext uri="{FF2B5EF4-FFF2-40B4-BE49-F238E27FC236}">
                <a16:creationId xmlns:a16="http://schemas.microsoft.com/office/drawing/2014/main" id="{2ACBAB61-AB7D-49CD-AE5B-A4C76A054C42}"/>
              </a:ext>
            </a:extLst>
          </p:cNvPr>
          <p:cNvSpPr>
            <a:spLocks noGrp="1"/>
          </p:cNvSpPr>
          <p:nvPr>
            <p:ph idx="1"/>
          </p:nvPr>
        </p:nvSpPr>
        <p:spPr>
          <a:xfrm>
            <a:off x="1058778" y="288758"/>
            <a:ext cx="10451447" cy="5641717"/>
          </a:xfrm>
        </p:spPr>
        <p:txBody>
          <a:bodyPr/>
          <a:lstStyle/>
          <a:p>
            <a:endParaRPr lang="en-US" dirty="0"/>
          </a:p>
        </p:txBody>
      </p:sp>
      <p:pic>
        <p:nvPicPr>
          <p:cNvPr id="4" name="Picture 3">
            <a:extLst>
              <a:ext uri="{FF2B5EF4-FFF2-40B4-BE49-F238E27FC236}">
                <a16:creationId xmlns:a16="http://schemas.microsoft.com/office/drawing/2014/main" id="{D0860E6B-E8A0-48C9-B7F0-5DCD5A3A02D9}"/>
              </a:ext>
            </a:extLst>
          </p:cNvPr>
          <p:cNvPicPr>
            <a:picLocks noChangeAspect="1"/>
          </p:cNvPicPr>
          <p:nvPr/>
        </p:nvPicPr>
        <p:blipFill>
          <a:blip r:embed="rId2"/>
          <a:stretch>
            <a:fillRect/>
          </a:stretch>
        </p:blipFill>
        <p:spPr>
          <a:xfrm>
            <a:off x="1548048" y="3938955"/>
            <a:ext cx="10451447" cy="2755214"/>
          </a:xfrm>
          <a:prstGeom prst="rect">
            <a:avLst/>
          </a:prstGeom>
        </p:spPr>
      </p:pic>
    </p:spTree>
    <p:extLst>
      <p:ext uri="{BB962C8B-B14F-4D97-AF65-F5344CB8AC3E}">
        <p14:creationId xmlns:p14="http://schemas.microsoft.com/office/powerpoint/2010/main" val="390183743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2EF643-72B4-43C6-92F5-097D813B0502}"/>
              </a:ext>
            </a:extLst>
          </p:cNvPr>
          <p:cNvSpPr>
            <a:spLocks noGrp="1"/>
          </p:cNvSpPr>
          <p:nvPr>
            <p:ph type="title"/>
          </p:nvPr>
        </p:nvSpPr>
        <p:spPr/>
        <p:txBody>
          <a:bodyPr/>
          <a:lstStyle/>
          <a:p>
            <a:r>
              <a:rPr lang="en-GB" dirty="0"/>
              <a:t>Data Protection Act</a:t>
            </a:r>
            <a:endParaRPr lang="en-US" dirty="0"/>
          </a:p>
        </p:txBody>
      </p:sp>
      <p:sp>
        <p:nvSpPr>
          <p:cNvPr id="3" name="Content Placeholder 2">
            <a:extLst>
              <a:ext uri="{FF2B5EF4-FFF2-40B4-BE49-F238E27FC236}">
                <a16:creationId xmlns:a16="http://schemas.microsoft.com/office/drawing/2014/main" id="{698C7702-979B-4A11-9C65-C4E95B914A04}"/>
              </a:ext>
            </a:extLst>
          </p:cNvPr>
          <p:cNvSpPr>
            <a:spLocks noGrp="1"/>
          </p:cNvSpPr>
          <p:nvPr>
            <p:ph idx="1"/>
          </p:nvPr>
        </p:nvSpPr>
        <p:spPr>
          <a:xfrm>
            <a:off x="1058778" y="288757"/>
            <a:ext cx="10940717" cy="6240379"/>
          </a:xfrm>
        </p:spPr>
        <p:txBody>
          <a:bodyPr/>
          <a:lstStyle/>
          <a:p>
            <a:r>
              <a:rPr lang="en-GB" dirty="0"/>
              <a:t>Covers facts, figures and opinions about a person.</a:t>
            </a:r>
          </a:p>
          <a:p>
            <a:endParaRPr lang="en-GB" dirty="0"/>
          </a:p>
          <a:p>
            <a:r>
              <a:rPr lang="en-GB" dirty="0"/>
              <a:t>Provides a legal backup to protect </a:t>
            </a:r>
            <a:r>
              <a:rPr lang="en-GB" b="1" dirty="0"/>
              <a:t>Data Subjects</a:t>
            </a:r>
            <a:r>
              <a:rPr lang="en-GB" dirty="0"/>
              <a:t> from </a:t>
            </a:r>
            <a:r>
              <a:rPr lang="en-GB" b="1" dirty="0"/>
              <a:t>Data Users</a:t>
            </a:r>
          </a:p>
          <a:p>
            <a:endParaRPr lang="en-GB" b="1" dirty="0"/>
          </a:p>
          <a:p>
            <a:endParaRPr lang="en-GB" b="1" dirty="0"/>
          </a:p>
          <a:p>
            <a:endParaRPr lang="en-GB" b="1" dirty="0"/>
          </a:p>
          <a:p>
            <a:endParaRPr lang="en-GB" b="1" dirty="0"/>
          </a:p>
          <a:p>
            <a:r>
              <a:rPr lang="en-GB" dirty="0"/>
              <a:t>Empowers individuals more control over how their information is used by individuals and organisations</a:t>
            </a:r>
          </a:p>
          <a:p>
            <a:endParaRPr lang="en-GB" dirty="0"/>
          </a:p>
          <a:p>
            <a:endParaRPr lang="en-US" dirty="0"/>
          </a:p>
        </p:txBody>
      </p:sp>
      <p:sp>
        <p:nvSpPr>
          <p:cNvPr id="5" name="TextBox 4">
            <a:extLst>
              <a:ext uri="{FF2B5EF4-FFF2-40B4-BE49-F238E27FC236}">
                <a16:creationId xmlns:a16="http://schemas.microsoft.com/office/drawing/2014/main" id="{08E4B6F2-49AB-4F9C-956F-FCA52BF8331B}"/>
              </a:ext>
            </a:extLst>
          </p:cNvPr>
          <p:cNvSpPr txBox="1"/>
          <p:nvPr/>
        </p:nvSpPr>
        <p:spPr>
          <a:xfrm>
            <a:off x="7507705" y="2228671"/>
            <a:ext cx="4491790" cy="120032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GB" sz="2400" b="0" i="0" u="none" strike="noStrike" kern="1200" cap="none" spc="0" normalizeH="0" baseline="0" noProof="0" dirty="0">
                <a:ln>
                  <a:noFill/>
                </a:ln>
                <a:solidFill>
                  <a:prstClr val="white"/>
                </a:solidFill>
                <a:effectLst/>
                <a:uLnTx/>
                <a:uFillTx/>
                <a:latin typeface="Calibri" panose="020F0502020204030204"/>
                <a:ea typeface="+mn-ea"/>
                <a:cs typeface="+mn-cs"/>
              </a:rPr>
              <a:t>Person who makes use of personal information for a certain purpose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GB" sz="2400" b="0" i="0" u="none" strike="noStrike" kern="1200" cap="none" spc="0" normalizeH="0" baseline="0" noProof="0" dirty="0">
                <a:ln>
                  <a:noFill/>
                </a:ln>
                <a:solidFill>
                  <a:prstClr val="white"/>
                </a:solidFill>
                <a:effectLst/>
                <a:uLnTx/>
                <a:uFillTx/>
                <a:latin typeface="Calibri" panose="020F0502020204030204"/>
                <a:ea typeface="+mn-ea"/>
                <a:cs typeface="+mn-cs"/>
              </a:rPr>
              <a:t>i.e. secretary </a:t>
            </a:r>
            <a:endParaRPr kumimoji="0" lang="en-US" sz="24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grpSp>
        <p:nvGrpSpPr>
          <p:cNvPr id="6" name="Group 5">
            <a:extLst>
              <a:ext uri="{FF2B5EF4-FFF2-40B4-BE49-F238E27FC236}">
                <a16:creationId xmlns:a16="http://schemas.microsoft.com/office/drawing/2014/main" id="{E38220B6-4922-4447-B9A3-321ADA5D7C54}"/>
              </a:ext>
            </a:extLst>
          </p:cNvPr>
          <p:cNvGrpSpPr/>
          <p:nvPr/>
        </p:nvGrpSpPr>
        <p:grpSpPr>
          <a:xfrm>
            <a:off x="3850105" y="1748590"/>
            <a:ext cx="3412956" cy="1293854"/>
            <a:chOff x="3850105" y="1748590"/>
            <a:chExt cx="3412956" cy="1293854"/>
          </a:xfrm>
        </p:grpSpPr>
        <p:sp>
          <p:nvSpPr>
            <p:cNvPr id="4" name="TextBox 3">
              <a:extLst>
                <a:ext uri="{FF2B5EF4-FFF2-40B4-BE49-F238E27FC236}">
                  <a16:creationId xmlns:a16="http://schemas.microsoft.com/office/drawing/2014/main" id="{2419FB68-2435-4474-B4D4-4F85387CD658}"/>
                </a:ext>
              </a:extLst>
            </p:cNvPr>
            <p:cNvSpPr txBox="1"/>
            <p:nvPr/>
          </p:nvSpPr>
          <p:spPr>
            <a:xfrm>
              <a:off x="3850105" y="2211447"/>
              <a:ext cx="3192379" cy="830997"/>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GB" sz="2400" b="0" i="0" u="none" strike="noStrike" kern="1200" cap="none" spc="0" normalizeH="0" baseline="0" noProof="0" dirty="0">
                  <a:ln>
                    <a:noFill/>
                  </a:ln>
                  <a:solidFill>
                    <a:prstClr val="white"/>
                  </a:solidFill>
                  <a:effectLst/>
                  <a:uLnTx/>
                  <a:uFillTx/>
                  <a:latin typeface="Calibri" panose="020F0502020204030204"/>
                  <a:ea typeface="+mn-ea"/>
                  <a:cs typeface="+mn-cs"/>
                </a:rPr>
                <a:t>The person of whom the data is about</a:t>
              </a:r>
              <a:endParaRPr kumimoji="0" lang="en-US" sz="24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cxnSp>
          <p:nvCxnSpPr>
            <p:cNvPr id="7" name="Straight Arrow Connector 6">
              <a:extLst>
                <a:ext uri="{FF2B5EF4-FFF2-40B4-BE49-F238E27FC236}">
                  <a16:creationId xmlns:a16="http://schemas.microsoft.com/office/drawing/2014/main" id="{5C1F0737-58BF-420E-A4A1-DD0B3CDE5A2F}"/>
                </a:ext>
              </a:extLst>
            </p:cNvPr>
            <p:cNvCxnSpPr>
              <a:cxnSpLocks/>
            </p:cNvCxnSpPr>
            <p:nvPr/>
          </p:nvCxnSpPr>
          <p:spPr>
            <a:xfrm flipV="1">
              <a:off x="6096000" y="1748590"/>
              <a:ext cx="1167061" cy="480081"/>
            </a:xfrm>
            <a:prstGeom prst="straightConnector1">
              <a:avLst/>
            </a:prstGeom>
            <a:ln w="57150">
              <a:solidFill>
                <a:schemeClr val="bg1"/>
              </a:solidFill>
              <a:tailEnd type="triangle"/>
            </a:ln>
          </p:spPr>
          <p:style>
            <a:lnRef idx="1">
              <a:schemeClr val="accent1"/>
            </a:lnRef>
            <a:fillRef idx="0">
              <a:schemeClr val="accent1"/>
            </a:fillRef>
            <a:effectRef idx="0">
              <a:schemeClr val="accent1"/>
            </a:effectRef>
            <a:fontRef idx="minor">
              <a:schemeClr val="tx1"/>
            </a:fontRef>
          </p:style>
        </p:cxnSp>
      </p:grpSp>
      <p:cxnSp>
        <p:nvCxnSpPr>
          <p:cNvPr id="10" name="Straight Arrow Connector 9">
            <a:extLst>
              <a:ext uri="{FF2B5EF4-FFF2-40B4-BE49-F238E27FC236}">
                <a16:creationId xmlns:a16="http://schemas.microsoft.com/office/drawing/2014/main" id="{BF3D91BD-E208-4712-8613-7D65506A4F59}"/>
              </a:ext>
            </a:extLst>
          </p:cNvPr>
          <p:cNvCxnSpPr>
            <a:cxnSpLocks/>
          </p:cNvCxnSpPr>
          <p:nvPr/>
        </p:nvCxnSpPr>
        <p:spPr>
          <a:xfrm flipH="1" flipV="1">
            <a:off x="9673389" y="1731366"/>
            <a:ext cx="160422" cy="480081"/>
          </a:xfrm>
          <a:prstGeom prst="straightConnector1">
            <a:avLst/>
          </a:prstGeom>
          <a:ln w="57150">
            <a:solidFill>
              <a:schemeClr val="bg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464500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 calcmode="lin" valueType="num">
                                      <p:cBhvr additive="base">
                                        <p:cTn id="13"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10" presetClass="entr" presetSubtype="0" fill="hold" nodeType="click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500"/>
                                        <p:tgtEl>
                                          <p:spTgt spid="6"/>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5"/>
                                        </p:tgtEl>
                                        <p:attrNameLst>
                                          <p:attrName>style.visibility</p:attrName>
                                        </p:attrNameLst>
                                      </p:cBhvr>
                                      <p:to>
                                        <p:strVal val="visible"/>
                                      </p:to>
                                    </p:set>
                                    <p:animEffect transition="in" filter="fade">
                                      <p:cBhvr>
                                        <p:cTn id="24" dur="500"/>
                                        <p:tgtEl>
                                          <p:spTgt spid="5"/>
                                        </p:tgtEl>
                                      </p:cBhvr>
                                    </p:animEffect>
                                  </p:childTnLst>
                                </p:cTn>
                              </p:par>
                              <p:par>
                                <p:cTn id="25" presetID="10" presetClass="entr" presetSubtype="0" fill="hold"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500"/>
                                        <p:tgtEl>
                                          <p:spTgt spid="10"/>
                                        </p:tgtEl>
                                      </p:cBhvr>
                                    </p:animEffect>
                                  </p:childTnLst>
                                </p:cTn>
                              </p:par>
                            </p:childTnLst>
                          </p:cTn>
                        </p:par>
                      </p:childTnLst>
                    </p:cTn>
                  </p:par>
                  <p:par>
                    <p:cTn id="28" fill="hold">
                      <p:stCondLst>
                        <p:cond delay="indefinite"/>
                      </p:stCondLst>
                      <p:childTnLst>
                        <p:par>
                          <p:cTn id="29" fill="hold">
                            <p:stCondLst>
                              <p:cond delay="0"/>
                            </p:stCondLst>
                            <p:childTnLst>
                              <p:par>
                                <p:cTn id="30" presetID="2" presetClass="entr" presetSubtype="4" fill="hold" nodeType="clickEffect">
                                  <p:stCondLst>
                                    <p:cond delay="0"/>
                                  </p:stCondLst>
                                  <p:childTnLst>
                                    <p:set>
                                      <p:cBhvr>
                                        <p:cTn id="31" dur="1" fill="hold">
                                          <p:stCondLst>
                                            <p:cond delay="0"/>
                                          </p:stCondLst>
                                        </p:cTn>
                                        <p:tgtEl>
                                          <p:spTgt spid="3">
                                            <p:txEl>
                                              <p:pRg st="7" end="7"/>
                                            </p:txEl>
                                          </p:spTgt>
                                        </p:tgtEl>
                                        <p:attrNameLst>
                                          <p:attrName>style.visibility</p:attrName>
                                        </p:attrNameLst>
                                      </p:cBhvr>
                                      <p:to>
                                        <p:strVal val="visible"/>
                                      </p:to>
                                    </p:set>
                                    <p:anim calcmode="lin" valueType="num">
                                      <p:cBhvr additive="base">
                                        <p:cTn id="32"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33"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85E39D-6D35-4660-BA6E-2AA7D53CD7FA}"/>
              </a:ext>
            </a:extLst>
          </p:cNvPr>
          <p:cNvSpPr>
            <a:spLocks noGrp="1"/>
          </p:cNvSpPr>
          <p:nvPr>
            <p:ph type="title"/>
          </p:nvPr>
        </p:nvSpPr>
        <p:spPr/>
        <p:txBody>
          <a:bodyPr/>
          <a:lstStyle/>
          <a:p>
            <a:r>
              <a:rPr lang="en-GB" dirty="0"/>
              <a:t>The Key Roles</a:t>
            </a:r>
            <a:endParaRPr lang="en-US" dirty="0"/>
          </a:p>
        </p:txBody>
      </p:sp>
      <p:sp>
        <p:nvSpPr>
          <p:cNvPr id="3" name="Content Placeholder 2">
            <a:extLst>
              <a:ext uri="{FF2B5EF4-FFF2-40B4-BE49-F238E27FC236}">
                <a16:creationId xmlns:a16="http://schemas.microsoft.com/office/drawing/2014/main" id="{3BE61B4A-7A8E-41CD-A1B6-F48FEDD91B01}"/>
              </a:ext>
            </a:extLst>
          </p:cNvPr>
          <p:cNvSpPr>
            <a:spLocks noGrp="1"/>
          </p:cNvSpPr>
          <p:nvPr>
            <p:ph idx="1"/>
          </p:nvPr>
        </p:nvSpPr>
        <p:spPr>
          <a:xfrm>
            <a:off x="2053389" y="176464"/>
            <a:ext cx="9946106" cy="3140242"/>
          </a:xfrm>
        </p:spPr>
        <p:txBody>
          <a:bodyPr/>
          <a:lstStyle/>
          <a:p>
            <a:endParaRPr lang="en-GB" dirty="0"/>
          </a:p>
          <a:p>
            <a:r>
              <a:rPr lang="en-GB" dirty="0"/>
              <a:t>Person responsible for enforcing the Data Protection Act within the UK</a:t>
            </a:r>
          </a:p>
          <a:p>
            <a:endParaRPr lang="en-GB" dirty="0"/>
          </a:p>
          <a:p>
            <a:r>
              <a:rPr lang="en-GB" dirty="0"/>
              <a:t>Organizations need to apply to in order to gain permission to collect and store personal information</a:t>
            </a:r>
            <a:endParaRPr lang="en-US" dirty="0"/>
          </a:p>
        </p:txBody>
      </p:sp>
      <p:sp>
        <p:nvSpPr>
          <p:cNvPr id="4" name="Content Placeholder 2">
            <a:extLst>
              <a:ext uri="{FF2B5EF4-FFF2-40B4-BE49-F238E27FC236}">
                <a16:creationId xmlns:a16="http://schemas.microsoft.com/office/drawing/2014/main" id="{858FBBC6-355A-499C-9724-818F4FFC9374}"/>
              </a:ext>
            </a:extLst>
          </p:cNvPr>
          <p:cNvSpPr txBox="1">
            <a:spLocks/>
          </p:cNvSpPr>
          <p:nvPr/>
        </p:nvSpPr>
        <p:spPr>
          <a:xfrm>
            <a:off x="2053389" y="3541883"/>
            <a:ext cx="9946106" cy="3140242"/>
          </a:xfrm>
          <a:prstGeom prst="rect">
            <a:avLst/>
          </a:prstGeom>
          <a:solidFill>
            <a:srgbClr val="203864">
              <a:alpha val="80000"/>
            </a:srgbClr>
          </a:solidFill>
        </p:spPr>
        <p:txBody>
          <a:bodyPr vert="horz" lIns="91440" tIns="45720" rIns="91440" bIns="45720" rtlCol="0">
            <a:normAutofit fontScale="92500"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bg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bg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bg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endParaRPr kumimoji="0" lang="en-GB" sz="2800" b="0" i="0" u="none" strike="noStrike" kern="1200" cap="none" spc="0" normalizeH="0" baseline="0" noProof="0" dirty="0">
              <a:ln>
                <a:noFill/>
              </a:ln>
              <a:solidFill>
                <a:prstClr val="white"/>
              </a:solidFill>
              <a:effectLst/>
              <a:uLnTx/>
              <a:uFillTx/>
              <a:latin typeface="Calibri" panose="020F0502020204030204"/>
              <a:ea typeface="+mn-ea"/>
              <a:cs typeface="+mn-cs"/>
            </a:endParaRP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kumimoji="0" lang="en-GB" sz="2800" b="0" i="0" u="none" strike="noStrike" kern="1200" cap="none" spc="0" normalizeH="0" baseline="0" noProof="0" dirty="0">
                <a:ln>
                  <a:noFill/>
                </a:ln>
                <a:solidFill>
                  <a:prstClr val="white"/>
                </a:solidFill>
                <a:effectLst/>
                <a:uLnTx/>
                <a:uFillTx/>
                <a:latin typeface="Calibri" panose="020F0502020204030204"/>
                <a:ea typeface="+mn-ea"/>
                <a:cs typeface="+mn-cs"/>
              </a:rPr>
              <a:t>Usually in charge of the organisation</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endParaRPr kumimoji="0" lang="en-GB" sz="2800" b="0" i="0" u="none" strike="noStrike" kern="1200" cap="none" spc="0" normalizeH="0" baseline="0" noProof="0" dirty="0">
              <a:ln>
                <a:noFill/>
              </a:ln>
              <a:solidFill>
                <a:prstClr val="white"/>
              </a:solidFill>
              <a:effectLst/>
              <a:uLnTx/>
              <a:uFillTx/>
              <a:latin typeface="Calibri" panose="020F0502020204030204"/>
              <a:ea typeface="+mn-ea"/>
              <a:cs typeface="+mn-cs"/>
            </a:endParaRP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kumimoji="0" lang="en-GB" sz="2800" b="0" i="0" u="none" strike="noStrike" kern="1200" cap="none" spc="0" normalizeH="0" baseline="0" noProof="0" dirty="0">
                <a:ln>
                  <a:noFill/>
                </a:ln>
                <a:solidFill>
                  <a:prstClr val="white"/>
                </a:solidFill>
                <a:effectLst/>
                <a:uLnTx/>
                <a:uFillTx/>
                <a:latin typeface="Calibri" panose="020F0502020204030204"/>
                <a:ea typeface="+mn-ea"/>
                <a:cs typeface="+mn-cs"/>
              </a:rPr>
              <a:t>Decides what data needs to be collected and what it will be used for</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endParaRPr kumimoji="0" lang="en-GB" sz="2800" b="0" i="0" u="none" strike="noStrike" kern="1200" cap="none" spc="0" normalizeH="0" baseline="0" noProof="0" dirty="0">
              <a:ln>
                <a:noFill/>
              </a:ln>
              <a:solidFill>
                <a:prstClr val="white"/>
              </a:solidFill>
              <a:effectLst/>
              <a:uLnTx/>
              <a:uFillTx/>
              <a:latin typeface="Calibri" panose="020F0502020204030204"/>
              <a:ea typeface="+mn-ea"/>
              <a:cs typeface="+mn-cs"/>
            </a:endParaRP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kumimoji="0" lang="en-GB" sz="2800" b="0" i="0" u="none" strike="noStrike" kern="1200" cap="none" spc="0" normalizeH="0" baseline="0" noProof="0" dirty="0">
                <a:ln>
                  <a:noFill/>
                </a:ln>
                <a:solidFill>
                  <a:prstClr val="white"/>
                </a:solidFill>
                <a:effectLst/>
                <a:uLnTx/>
                <a:uFillTx/>
                <a:latin typeface="Calibri" panose="020F0502020204030204"/>
                <a:ea typeface="+mn-ea"/>
                <a:cs typeface="+mn-cs"/>
              </a:rPr>
              <a:t>Responsible for applying for permission to collect and store data in the first place.</a:t>
            </a:r>
            <a:endParaRPr kumimoji="0" lang="en-US" sz="2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5" name="Title 1">
            <a:extLst>
              <a:ext uri="{FF2B5EF4-FFF2-40B4-BE49-F238E27FC236}">
                <a16:creationId xmlns:a16="http://schemas.microsoft.com/office/drawing/2014/main" id="{72323095-F354-4E43-B6E8-117D88B84306}"/>
              </a:ext>
            </a:extLst>
          </p:cNvPr>
          <p:cNvSpPr txBox="1">
            <a:spLocks/>
          </p:cNvSpPr>
          <p:nvPr/>
        </p:nvSpPr>
        <p:spPr>
          <a:xfrm rot="16200000">
            <a:off x="64170" y="1326896"/>
            <a:ext cx="3140242" cy="838199"/>
          </a:xfrm>
          <a:prstGeom prst="rect">
            <a:avLst/>
          </a:prstGeom>
          <a:solidFill>
            <a:srgbClr val="00B0F0"/>
          </a:solidFill>
        </p:spPr>
        <p:txBody>
          <a:bodyPr vert="horz" lIns="91440" tIns="45720" rIns="91440" bIns="45720" rtlCol="0" anchor="ctr">
            <a:noAutofit/>
          </a:bodyPr>
          <a:lstStyle>
            <a:lvl1pPr algn="ctr"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ctr" defTabSz="914400" rtl="0" eaLnBrk="1" fontAlgn="auto" latinLnBrk="0" hangingPunct="1">
              <a:lnSpc>
                <a:spcPct val="90000"/>
              </a:lnSpc>
              <a:spcBef>
                <a:spcPct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Calibri Light" panose="020F0302020204030204"/>
                <a:ea typeface="+mj-ea"/>
                <a:cs typeface="+mj-cs"/>
              </a:rPr>
              <a:t>Data Commissioner</a:t>
            </a:r>
          </a:p>
        </p:txBody>
      </p:sp>
      <p:sp>
        <p:nvSpPr>
          <p:cNvPr id="6" name="Title 1">
            <a:extLst>
              <a:ext uri="{FF2B5EF4-FFF2-40B4-BE49-F238E27FC236}">
                <a16:creationId xmlns:a16="http://schemas.microsoft.com/office/drawing/2014/main" id="{C66B41A1-2799-44B9-BC55-4A51D799A9F4}"/>
              </a:ext>
            </a:extLst>
          </p:cNvPr>
          <p:cNvSpPr txBox="1">
            <a:spLocks/>
          </p:cNvSpPr>
          <p:nvPr/>
        </p:nvSpPr>
        <p:spPr>
          <a:xfrm rot="16200000">
            <a:off x="64169" y="4692904"/>
            <a:ext cx="3140242" cy="838199"/>
          </a:xfrm>
          <a:prstGeom prst="rect">
            <a:avLst/>
          </a:prstGeom>
          <a:solidFill>
            <a:srgbClr val="00B0F0"/>
          </a:solidFill>
        </p:spPr>
        <p:txBody>
          <a:bodyPr vert="horz" lIns="91440" tIns="45720" rIns="91440" bIns="45720" rtlCol="0" anchor="ctr">
            <a:noAutofit/>
          </a:bodyPr>
          <a:lstStyle>
            <a:lvl1pPr algn="ctr"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ctr" defTabSz="914400" rtl="0" eaLnBrk="1" fontAlgn="auto" latinLnBrk="0" hangingPunct="1">
              <a:lnSpc>
                <a:spcPct val="90000"/>
              </a:lnSpc>
              <a:spcBef>
                <a:spcPct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Calibri Light" panose="020F0302020204030204"/>
                <a:ea typeface="+mj-ea"/>
                <a:cs typeface="+mj-cs"/>
              </a:rPr>
              <a:t>Data Controller</a:t>
            </a:r>
          </a:p>
        </p:txBody>
      </p:sp>
    </p:spTree>
    <p:extLst>
      <p:ext uri="{BB962C8B-B14F-4D97-AF65-F5344CB8AC3E}">
        <p14:creationId xmlns:p14="http://schemas.microsoft.com/office/powerpoint/2010/main" val="41112849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2"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1+#ppt_w/2"/>
                                          </p:val>
                                        </p:tav>
                                        <p:tav tm="100000">
                                          <p:val>
                                            <p:strVal val="#ppt_x"/>
                                          </p:val>
                                        </p:tav>
                                      </p:tavLst>
                                    </p:anim>
                                    <p:anim calcmode="lin" valueType="num">
                                      <p:cBhvr additive="base">
                                        <p:cTn id="8" dur="500" fill="hold"/>
                                        <p:tgtEl>
                                          <p:spTgt spid="5"/>
                                        </p:tgtEl>
                                        <p:attrNameLst>
                                          <p:attrName>ppt_y</p:attrName>
                                        </p:attrNameLst>
                                      </p:cBhvr>
                                      <p:tavLst>
                                        <p:tav tm="0">
                                          <p:val>
                                            <p:strVal val="#ppt_y"/>
                                          </p:val>
                                        </p:tav>
                                        <p:tav tm="100000">
                                          <p:val>
                                            <p:strVal val="#ppt_y"/>
                                          </p:val>
                                        </p:tav>
                                      </p:tavLst>
                                    </p:anim>
                                  </p:childTnLst>
                                </p:cTn>
                              </p:par>
                              <p:par>
                                <p:cTn id="9" presetID="2" presetClass="entr" presetSubtype="8" fill="hold" grpId="0" nodeType="withEffect">
                                  <p:stCondLst>
                                    <p:cond delay="0"/>
                                  </p:stCondLst>
                                  <p:childTnLst>
                                    <p:set>
                                      <p:cBhvr>
                                        <p:cTn id="10" dur="1" fill="hold">
                                          <p:stCondLst>
                                            <p:cond delay="0"/>
                                          </p:stCondLst>
                                        </p:cTn>
                                        <p:tgtEl>
                                          <p:spTgt spid="3"/>
                                        </p:tgtEl>
                                        <p:attrNameLst>
                                          <p:attrName>style.visibility</p:attrName>
                                        </p:attrNameLst>
                                      </p:cBhvr>
                                      <p:to>
                                        <p:strVal val="visible"/>
                                      </p:to>
                                    </p:set>
                                    <p:anim calcmode="lin" valueType="num">
                                      <p:cBhvr additive="base">
                                        <p:cTn id="11" dur="500" fill="hold"/>
                                        <p:tgtEl>
                                          <p:spTgt spid="3"/>
                                        </p:tgtEl>
                                        <p:attrNameLst>
                                          <p:attrName>ppt_x</p:attrName>
                                        </p:attrNameLst>
                                      </p:cBhvr>
                                      <p:tavLst>
                                        <p:tav tm="0">
                                          <p:val>
                                            <p:strVal val="0-#ppt_w/2"/>
                                          </p:val>
                                        </p:tav>
                                        <p:tav tm="100000">
                                          <p:val>
                                            <p:strVal val="#ppt_x"/>
                                          </p:val>
                                        </p:tav>
                                      </p:tavLst>
                                    </p:anim>
                                    <p:anim calcmode="lin" valueType="num">
                                      <p:cBhvr additive="base">
                                        <p:cTn id="12" dur="500" fill="hold"/>
                                        <p:tgtEl>
                                          <p:spTgt spid="3"/>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2"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 calcmode="lin" valueType="num">
                                      <p:cBhvr additive="base">
                                        <p:cTn id="17" dur="500" fill="hold"/>
                                        <p:tgtEl>
                                          <p:spTgt spid="6"/>
                                        </p:tgtEl>
                                        <p:attrNameLst>
                                          <p:attrName>ppt_x</p:attrName>
                                        </p:attrNameLst>
                                      </p:cBhvr>
                                      <p:tavLst>
                                        <p:tav tm="0">
                                          <p:val>
                                            <p:strVal val="1+#ppt_w/2"/>
                                          </p:val>
                                        </p:tav>
                                        <p:tav tm="100000">
                                          <p:val>
                                            <p:strVal val="#ppt_x"/>
                                          </p:val>
                                        </p:tav>
                                      </p:tavLst>
                                    </p:anim>
                                    <p:anim calcmode="lin" valueType="num">
                                      <p:cBhvr additive="base">
                                        <p:cTn id="18" dur="500" fill="hold"/>
                                        <p:tgtEl>
                                          <p:spTgt spid="6"/>
                                        </p:tgtEl>
                                        <p:attrNameLst>
                                          <p:attrName>ppt_y</p:attrName>
                                        </p:attrNameLst>
                                      </p:cBhvr>
                                      <p:tavLst>
                                        <p:tav tm="0">
                                          <p:val>
                                            <p:strVal val="#ppt_y"/>
                                          </p:val>
                                        </p:tav>
                                        <p:tav tm="100000">
                                          <p:val>
                                            <p:strVal val="#ppt_y"/>
                                          </p:val>
                                        </p:tav>
                                      </p:tavLst>
                                    </p:anim>
                                  </p:childTnLst>
                                </p:cTn>
                              </p:par>
                              <p:par>
                                <p:cTn id="19" presetID="2" presetClass="entr" presetSubtype="8" fill="hold" grpId="0" nodeType="withEffect">
                                  <p:stCondLst>
                                    <p:cond delay="0"/>
                                  </p:stCondLst>
                                  <p:childTnLst>
                                    <p:set>
                                      <p:cBhvr>
                                        <p:cTn id="20" dur="1" fill="hold">
                                          <p:stCondLst>
                                            <p:cond delay="0"/>
                                          </p:stCondLst>
                                        </p:cTn>
                                        <p:tgtEl>
                                          <p:spTgt spid="4"/>
                                        </p:tgtEl>
                                        <p:attrNameLst>
                                          <p:attrName>style.visibility</p:attrName>
                                        </p:attrNameLst>
                                      </p:cBhvr>
                                      <p:to>
                                        <p:strVal val="visible"/>
                                      </p:to>
                                    </p:set>
                                    <p:anim calcmode="lin" valueType="num">
                                      <p:cBhvr additive="base">
                                        <p:cTn id="21" dur="500" fill="hold"/>
                                        <p:tgtEl>
                                          <p:spTgt spid="4"/>
                                        </p:tgtEl>
                                        <p:attrNameLst>
                                          <p:attrName>ppt_x</p:attrName>
                                        </p:attrNameLst>
                                      </p:cBhvr>
                                      <p:tavLst>
                                        <p:tav tm="0">
                                          <p:val>
                                            <p:strVal val="0-#ppt_w/2"/>
                                          </p:val>
                                        </p:tav>
                                        <p:tav tm="100000">
                                          <p:val>
                                            <p:strVal val="#ppt_x"/>
                                          </p:val>
                                        </p:tav>
                                      </p:tavLst>
                                    </p:anim>
                                    <p:anim calcmode="lin" valueType="num">
                                      <p:cBhvr additive="base">
                                        <p:cTn id="22" dur="500" fill="hold"/>
                                        <p:tgtEl>
                                          <p:spTgt spid="4"/>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85E39D-6D35-4660-BA6E-2AA7D53CD7FA}"/>
              </a:ext>
            </a:extLst>
          </p:cNvPr>
          <p:cNvSpPr>
            <a:spLocks noGrp="1"/>
          </p:cNvSpPr>
          <p:nvPr>
            <p:ph type="title"/>
          </p:nvPr>
        </p:nvSpPr>
        <p:spPr/>
        <p:txBody>
          <a:bodyPr/>
          <a:lstStyle/>
          <a:p>
            <a:r>
              <a:rPr lang="en-GB" dirty="0"/>
              <a:t>Data Subject Rights</a:t>
            </a:r>
            <a:endParaRPr lang="en-US" dirty="0"/>
          </a:p>
        </p:txBody>
      </p:sp>
      <p:sp>
        <p:nvSpPr>
          <p:cNvPr id="3" name="Content Placeholder 2">
            <a:extLst>
              <a:ext uri="{FF2B5EF4-FFF2-40B4-BE49-F238E27FC236}">
                <a16:creationId xmlns:a16="http://schemas.microsoft.com/office/drawing/2014/main" id="{3BE61B4A-7A8E-41CD-A1B6-F48FEDD91B01}"/>
              </a:ext>
            </a:extLst>
          </p:cNvPr>
          <p:cNvSpPr>
            <a:spLocks noGrp="1"/>
          </p:cNvSpPr>
          <p:nvPr>
            <p:ph idx="1"/>
          </p:nvPr>
        </p:nvSpPr>
        <p:spPr>
          <a:xfrm>
            <a:off x="2053389" y="176464"/>
            <a:ext cx="9946106" cy="3140242"/>
          </a:xfrm>
        </p:spPr>
        <p:txBody>
          <a:bodyPr/>
          <a:lstStyle/>
          <a:p>
            <a:endParaRPr lang="en-GB" dirty="0"/>
          </a:p>
          <a:p>
            <a:r>
              <a:rPr lang="en-GB" dirty="0"/>
              <a:t>Has a right to be supplied by a data controller with the personal data held about him or her. </a:t>
            </a:r>
          </a:p>
          <a:p>
            <a:endParaRPr lang="en-GB" dirty="0"/>
          </a:p>
          <a:p>
            <a:r>
              <a:rPr lang="en-GB" dirty="0"/>
              <a:t>The data controller can charge for this (usually around £10 pounds).</a:t>
            </a:r>
            <a:endParaRPr lang="en-US" dirty="0"/>
          </a:p>
        </p:txBody>
      </p:sp>
      <p:sp>
        <p:nvSpPr>
          <p:cNvPr id="4" name="Content Placeholder 2">
            <a:extLst>
              <a:ext uri="{FF2B5EF4-FFF2-40B4-BE49-F238E27FC236}">
                <a16:creationId xmlns:a16="http://schemas.microsoft.com/office/drawing/2014/main" id="{858FBBC6-355A-499C-9724-818F4FFC9374}"/>
              </a:ext>
            </a:extLst>
          </p:cNvPr>
          <p:cNvSpPr txBox="1">
            <a:spLocks/>
          </p:cNvSpPr>
          <p:nvPr/>
        </p:nvSpPr>
        <p:spPr>
          <a:xfrm>
            <a:off x="2053389" y="3541883"/>
            <a:ext cx="9946106" cy="3140242"/>
          </a:xfrm>
          <a:prstGeom prst="rect">
            <a:avLst/>
          </a:prstGeom>
          <a:solidFill>
            <a:srgbClr val="203864">
              <a:alpha val="80000"/>
            </a:srgbClr>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bg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bg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bg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endParaRPr kumimoji="0" lang="en-GB" sz="2800" b="0" i="0" u="none" strike="noStrike" kern="1200" cap="none" spc="0" normalizeH="0" baseline="0" noProof="0" dirty="0">
              <a:ln>
                <a:noFill/>
              </a:ln>
              <a:solidFill>
                <a:prstClr val="white"/>
              </a:solidFill>
              <a:effectLst/>
              <a:uLnTx/>
              <a:uFillTx/>
              <a:latin typeface="Calibri" panose="020F0502020204030204"/>
              <a:ea typeface="+mn-ea"/>
              <a:cs typeface="+mn-cs"/>
            </a:endParaRP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endParaRPr kumimoji="0" lang="en-GB" sz="2800" b="0" i="0" u="none" strike="noStrike" kern="1200" cap="none" spc="0" normalizeH="0" baseline="0" noProof="0" dirty="0">
              <a:ln>
                <a:noFill/>
              </a:ln>
              <a:solidFill>
                <a:prstClr val="white"/>
              </a:solidFill>
              <a:effectLst/>
              <a:uLnTx/>
              <a:uFillTx/>
              <a:latin typeface="Calibri" panose="020F0502020204030204"/>
              <a:ea typeface="+mn-ea"/>
              <a:cs typeface="+mn-cs"/>
            </a:endParaRP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kumimoji="0" lang="en-GB" sz="2800" b="0" i="0" u="none" strike="noStrike" kern="1200" cap="none" spc="0" normalizeH="0" baseline="0" noProof="0" dirty="0">
                <a:ln>
                  <a:noFill/>
                </a:ln>
                <a:solidFill>
                  <a:prstClr val="white"/>
                </a:solidFill>
                <a:effectLst/>
                <a:uLnTx/>
                <a:uFillTx/>
                <a:latin typeface="Calibri" panose="020F0502020204030204"/>
                <a:ea typeface="+mn-ea"/>
                <a:cs typeface="+mn-cs"/>
              </a:rPr>
              <a:t>A data subject may force the data controller to correct any mistakes in the data held about them</a:t>
            </a:r>
            <a:endParaRPr kumimoji="0" lang="en-US" sz="2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5" name="Title 1">
            <a:extLst>
              <a:ext uri="{FF2B5EF4-FFF2-40B4-BE49-F238E27FC236}">
                <a16:creationId xmlns:a16="http://schemas.microsoft.com/office/drawing/2014/main" id="{72323095-F354-4E43-B6E8-117D88B84306}"/>
              </a:ext>
            </a:extLst>
          </p:cNvPr>
          <p:cNvSpPr txBox="1">
            <a:spLocks/>
          </p:cNvSpPr>
          <p:nvPr/>
        </p:nvSpPr>
        <p:spPr>
          <a:xfrm rot="16200000">
            <a:off x="64170" y="1326896"/>
            <a:ext cx="3140242" cy="838199"/>
          </a:xfrm>
          <a:prstGeom prst="rect">
            <a:avLst/>
          </a:prstGeom>
          <a:solidFill>
            <a:srgbClr val="00B0F0"/>
          </a:solidFill>
        </p:spPr>
        <p:txBody>
          <a:bodyPr vert="horz" lIns="91440" tIns="45720" rIns="91440" bIns="45720" rtlCol="0" anchor="ctr">
            <a:noAutofit/>
          </a:bodyPr>
          <a:lstStyle>
            <a:lvl1pPr algn="ctr"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ctr" defTabSz="914400" rtl="0" eaLnBrk="1" fontAlgn="auto" latinLnBrk="0" hangingPunct="1">
              <a:lnSpc>
                <a:spcPct val="90000"/>
              </a:lnSpc>
              <a:spcBef>
                <a:spcPct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Calibri Light" panose="020F0302020204030204"/>
                <a:ea typeface="+mj-ea"/>
                <a:cs typeface="+mj-cs"/>
              </a:rPr>
              <a:t>Subject Access</a:t>
            </a:r>
          </a:p>
        </p:txBody>
      </p:sp>
      <p:sp>
        <p:nvSpPr>
          <p:cNvPr id="6" name="Title 1">
            <a:extLst>
              <a:ext uri="{FF2B5EF4-FFF2-40B4-BE49-F238E27FC236}">
                <a16:creationId xmlns:a16="http://schemas.microsoft.com/office/drawing/2014/main" id="{C66B41A1-2799-44B9-BC55-4A51D799A9F4}"/>
              </a:ext>
            </a:extLst>
          </p:cNvPr>
          <p:cNvSpPr txBox="1">
            <a:spLocks/>
          </p:cNvSpPr>
          <p:nvPr/>
        </p:nvSpPr>
        <p:spPr>
          <a:xfrm rot="16200000">
            <a:off x="64169" y="4692904"/>
            <a:ext cx="3140242" cy="838199"/>
          </a:xfrm>
          <a:prstGeom prst="rect">
            <a:avLst/>
          </a:prstGeom>
          <a:solidFill>
            <a:srgbClr val="00B0F0"/>
          </a:solidFill>
        </p:spPr>
        <p:txBody>
          <a:bodyPr vert="horz" lIns="91440" tIns="45720" rIns="91440" bIns="45720" rtlCol="0" anchor="ctr">
            <a:noAutofit/>
          </a:bodyPr>
          <a:lstStyle>
            <a:lvl1pPr algn="ctr"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ctr" defTabSz="914400" rtl="0" eaLnBrk="1" fontAlgn="auto" latinLnBrk="0" hangingPunct="1">
              <a:lnSpc>
                <a:spcPct val="90000"/>
              </a:lnSpc>
              <a:spcBef>
                <a:spcPct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Calibri Light" panose="020F0302020204030204"/>
                <a:ea typeface="+mj-ea"/>
                <a:cs typeface="+mj-cs"/>
              </a:rPr>
              <a:t>Right of Correction</a:t>
            </a:r>
          </a:p>
        </p:txBody>
      </p:sp>
    </p:spTree>
    <p:extLst>
      <p:ext uri="{BB962C8B-B14F-4D97-AF65-F5344CB8AC3E}">
        <p14:creationId xmlns:p14="http://schemas.microsoft.com/office/powerpoint/2010/main" val="14224939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2"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1+#ppt_w/2"/>
                                          </p:val>
                                        </p:tav>
                                        <p:tav tm="100000">
                                          <p:val>
                                            <p:strVal val="#ppt_x"/>
                                          </p:val>
                                        </p:tav>
                                      </p:tavLst>
                                    </p:anim>
                                    <p:anim calcmode="lin" valueType="num">
                                      <p:cBhvr additive="base">
                                        <p:cTn id="8" dur="500" fill="hold"/>
                                        <p:tgtEl>
                                          <p:spTgt spid="5"/>
                                        </p:tgtEl>
                                        <p:attrNameLst>
                                          <p:attrName>ppt_y</p:attrName>
                                        </p:attrNameLst>
                                      </p:cBhvr>
                                      <p:tavLst>
                                        <p:tav tm="0">
                                          <p:val>
                                            <p:strVal val="#ppt_y"/>
                                          </p:val>
                                        </p:tav>
                                        <p:tav tm="100000">
                                          <p:val>
                                            <p:strVal val="#ppt_y"/>
                                          </p:val>
                                        </p:tav>
                                      </p:tavLst>
                                    </p:anim>
                                  </p:childTnLst>
                                </p:cTn>
                              </p:par>
                              <p:par>
                                <p:cTn id="9" presetID="2" presetClass="entr" presetSubtype="8" fill="hold" grpId="0" nodeType="withEffect">
                                  <p:stCondLst>
                                    <p:cond delay="0"/>
                                  </p:stCondLst>
                                  <p:childTnLst>
                                    <p:set>
                                      <p:cBhvr>
                                        <p:cTn id="10" dur="1" fill="hold">
                                          <p:stCondLst>
                                            <p:cond delay="0"/>
                                          </p:stCondLst>
                                        </p:cTn>
                                        <p:tgtEl>
                                          <p:spTgt spid="3"/>
                                        </p:tgtEl>
                                        <p:attrNameLst>
                                          <p:attrName>style.visibility</p:attrName>
                                        </p:attrNameLst>
                                      </p:cBhvr>
                                      <p:to>
                                        <p:strVal val="visible"/>
                                      </p:to>
                                    </p:set>
                                    <p:anim calcmode="lin" valueType="num">
                                      <p:cBhvr additive="base">
                                        <p:cTn id="11" dur="500" fill="hold"/>
                                        <p:tgtEl>
                                          <p:spTgt spid="3"/>
                                        </p:tgtEl>
                                        <p:attrNameLst>
                                          <p:attrName>ppt_x</p:attrName>
                                        </p:attrNameLst>
                                      </p:cBhvr>
                                      <p:tavLst>
                                        <p:tav tm="0">
                                          <p:val>
                                            <p:strVal val="0-#ppt_w/2"/>
                                          </p:val>
                                        </p:tav>
                                        <p:tav tm="100000">
                                          <p:val>
                                            <p:strVal val="#ppt_x"/>
                                          </p:val>
                                        </p:tav>
                                      </p:tavLst>
                                    </p:anim>
                                    <p:anim calcmode="lin" valueType="num">
                                      <p:cBhvr additive="base">
                                        <p:cTn id="12" dur="500" fill="hold"/>
                                        <p:tgtEl>
                                          <p:spTgt spid="3"/>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2"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 calcmode="lin" valueType="num">
                                      <p:cBhvr additive="base">
                                        <p:cTn id="17" dur="500" fill="hold"/>
                                        <p:tgtEl>
                                          <p:spTgt spid="6"/>
                                        </p:tgtEl>
                                        <p:attrNameLst>
                                          <p:attrName>ppt_x</p:attrName>
                                        </p:attrNameLst>
                                      </p:cBhvr>
                                      <p:tavLst>
                                        <p:tav tm="0">
                                          <p:val>
                                            <p:strVal val="1+#ppt_w/2"/>
                                          </p:val>
                                        </p:tav>
                                        <p:tav tm="100000">
                                          <p:val>
                                            <p:strVal val="#ppt_x"/>
                                          </p:val>
                                        </p:tav>
                                      </p:tavLst>
                                    </p:anim>
                                    <p:anim calcmode="lin" valueType="num">
                                      <p:cBhvr additive="base">
                                        <p:cTn id="18" dur="500" fill="hold"/>
                                        <p:tgtEl>
                                          <p:spTgt spid="6"/>
                                        </p:tgtEl>
                                        <p:attrNameLst>
                                          <p:attrName>ppt_y</p:attrName>
                                        </p:attrNameLst>
                                      </p:cBhvr>
                                      <p:tavLst>
                                        <p:tav tm="0">
                                          <p:val>
                                            <p:strVal val="#ppt_y"/>
                                          </p:val>
                                        </p:tav>
                                        <p:tav tm="100000">
                                          <p:val>
                                            <p:strVal val="#ppt_y"/>
                                          </p:val>
                                        </p:tav>
                                      </p:tavLst>
                                    </p:anim>
                                  </p:childTnLst>
                                </p:cTn>
                              </p:par>
                              <p:par>
                                <p:cTn id="19" presetID="2" presetClass="entr" presetSubtype="8" fill="hold" grpId="0" nodeType="withEffect">
                                  <p:stCondLst>
                                    <p:cond delay="0"/>
                                  </p:stCondLst>
                                  <p:childTnLst>
                                    <p:set>
                                      <p:cBhvr>
                                        <p:cTn id="20" dur="1" fill="hold">
                                          <p:stCondLst>
                                            <p:cond delay="0"/>
                                          </p:stCondLst>
                                        </p:cTn>
                                        <p:tgtEl>
                                          <p:spTgt spid="4"/>
                                        </p:tgtEl>
                                        <p:attrNameLst>
                                          <p:attrName>style.visibility</p:attrName>
                                        </p:attrNameLst>
                                      </p:cBhvr>
                                      <p:to>
                                        <p:strVal val="visible"/>
                                      </p:to>
                                    </p:set>
                                    <p:anim calcmode="lin" valueType="num">
                                      <p:cBhvr additive="base">
                                        <p:cTn id="21" dur="500" fill="hold"/>
                                        <p:tgtEl>
                                          <p:spTgt spid="4"/>
                                        </p:tgtEl>
                                        <p:attrNameLst>
                                          <p:attrName>ppt_x</p:attrName>
                                        </p:attrNameLst>
                                      </p:cBhvr>
                                      <p:tavLst>
                                        <p:tav tm="0">
                                          <p:val>
                                            <p:strVal val="0-#ppt_w/2"/>
                                          </p:val>
                                        </p:tav>
                                        <p:tav tm="100000">
                                          <p:val>
                                            <p:strVal val="#ppt_x"/>
                                          </p:val>
                                        </p:tav>
                                      </p:tavLst>
                                    </p:anim>
                                    <p:anim calcmode="lin" valueType="num">
                                      <p:cBhvr additive="base">
                                        <p:cTn id="22" dur="500" fill="hold"/>
                                        <p:tgtEl>
                                          <p:spTgt spid="4"/>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85E39D-6D35-4660-BA6E-2AA7D53CD7FA}"/>
              </a:ext>
            </a:extLst>
          </p:cNvPr>
          <p:cNvSpPr>
            <a:spLocks noGrp="1"/>
          </p:cNvSpPr>
          <p:nvPr>
            <p:ph type="title"/>
          </p:nvPr>
        </p:nvSpPr>
        <p:spPr/>
        <p:txBody>
          <a:bodyPr/>
          <a:lstStyle/>
          <a:p>
            <a:r>
              <a:rPr lang="en-GB" dirty="0"/>
              <a:t>Data Subject Rights</a:t>
            </a:r>
            <a:endParaRPr lang="en-US" dirty="0"/>
          </a:p>
        </p:txBody>
      </p:sp>
      <p:sp>
        <p:nvSpPr>
          <p:cNvPr id="3" name="Content Placeholder 2">
            <a:extLst>
              <a:ext uri="{FF2B5EF4-FFF2-40B4-BE49-F238E27FC236}">
                <a16:creationId xmlns:a16="http://schemas.microsoft.com/office/drawing/2014/main" id="{3BE61B4A-7A8E-41CD-A1B6-F48FEDD91B01}"/>
              </a:ext>
            </a:extLst>
          </p:cNvPr>
          <p:cNvSpPr>
            <a:spLocks noGrp="1"/>
          </p:cNvSpPr>
          <p:nvPr>
            <p:ph idx="1"/>
          </p:nvPr>
        </p:nvSpPr>
        <p:spPr>
          <a:xfrm>
            <a:off x="2053389" y="176464"/>
            <a:ext cx="9946106" cy="3140242"/>
          </a:xfrm>
        </p:spPr>
        <p:txBody>
          <a:bodyPr/>
          <a:lstStyle/>
          <a:p>
            <a:endParaRPr lang="en-GB" dirty="0"/>
          </a:p>
          <a:p>
            <a:endParaRPr lang="en-GB" dirty="0"/>
          </a:p>
          <a:p>
            <a:r>
              <a:rPr lang="en-GB" dirty="0"/>
              <a:t>The data subject may prevent the use of information if it would be likely to cause them distress. </a:t>
            </a:r>
          </a:p>
        </p:txBody>
      </p:sp>
      <p:sp>
        <p:nvSpPr>
          <p:cNvPr id="4" name="Content Placeholder 2">
            <a:extLst>
              <a:ext uri="{FF2B5EF4-FFF2-40B4-BE49-F238E27FC236}">
                <a16:creationId xmlns:a16="http://schemas.microsoft.com/office/drawing/2014/main" id="{858FBBC6-355A-499C-9724-818F4FFC9374}"/>
              </a:ext>
            </a:extLst>
          </p:cNvPr>
          <p:cNvSpPr txBox="1">
            <a:spLocks/>
          </p:cNvSpPr>
          <p:nvPr/>
        </p:nvSpPr>
        <p:spPr>
          <a:xfrm>
            <a:off x="2053389" y="3541883"/>
            <a:ext cx="9946106" cy="3140242"/>
          </a:xfrm>
          <a:prstGeom prst="rect">
            <a:avLst/>
          </a:prstGeom>
          <a:solidFill>
            <a:srgbClr val="203864">
              <a:alpha val="80000"/>
            </a:srgbClr>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bg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bg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bg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endParaRPr kumimoji="0" lang="en-GB" sz="2800" b="0" i="0" u="none" strike="noStrike" kern="1200" cap="none" spc="0" normalizeH="0" baseline="0" noProof="0" dirty="0">
              <a:ln>
                <a:noFill/>
              </a:ln>
              <a:solidFill>
                <a:prstClr val="white"/>
              </a:solidFill>
              <a:effectLst/>
              <a:uLnTx/>
              <a:uFillTx/>
              <a:latin typeface="Calibri" panose="020F0502020204030204"/>
              <a:ea typeface="+mn-ea"/>
              <a:cs typeface="+mn-cs"/>
            </a:endParaRP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endParaRPr kumimoji="0" lang="en-GB" sz="2800" b="0" i="0" u="none" strike="noStrike" kern="1200" cap="none" spc="0" normalizeH="0" baseline="0" noProof="0" dirty="0">
              <a:ln>
                <a:noFill/>
              </a:ln>
              <a:solidFill>
                <a:prstClr val="white"/>
              </a:solidFill>
              <a:effectLst/>
              <a:uLnTx/>
              <a:uFillTx/>
              <a:latin typeface="Calibri" panose="020F0502020204030204"/>
              <a:ea typeface="+mn-ea"/>
              <a:cs typeface="+mn-cs"/>
            </a:endParaRP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kumimoji="0" lang="en-GB" sz="2800" b="0" i="0" u="none" strike="noStrike" kern="1200" cap="none" spc="0" normalizeH="0" baseline="0" noProof="0" dirty="0">
                <a:ln>
                  <a:noFill/>
                </a:ln>
                <a:solidFill>
                  <a:prstClr val="white"/>
                </a:solidFill>
                <a:effectLst/>
                <a:uLnTx/>
                <a:uFillTx/>
                <a:latin typeface="Calibri" panose="020F0502020204030204"/>
                <a:ea typeface="+mn-ea"/>
                <a:cs typeface="+mn-cs"/>
              </a:rPr>
              <a:t>The data subject may stop their data being used in attempts to sell them things (i.e. via junk mail or cold calling). </a:t>
            </a:r>
          </a:p>
        </p:txBody>
      </p:sp>
      <p:sp>
        <p:nvSpPr>
          <p:cNvPr id="5" name="Title 1">
            <a:extLst>
              <a:ext uri="{FF2B5EF4-FFF2-40B4-BE49-F238E27FC236}">
                <a16:creationId xmlns:a16="http://schemas.microsoft.com/office/drawing/2014/main" id="{72323095-F354-4E43-B6E8-117D88B84306}"/>
              </a:ext>
            </a:extLst>
          </p:cNvPr>
          <p:cNvSpPr txBox="1">
            <a:spLocks/>
          </p:cNvSpPr>
          <p:nvPr/>
        </p:nvSpPr>
        <p:spPr>
          <a:xfrm rot="16200000">
            <a:off x="64170" y="1326896"/>
            <a:ext cx="3140242" cy="838199"/>
          </a:xfrm>
          <a:prstGeom prst="rect">
            <a:avLst/>
          </a:prstGeom>
          <a:solidFill>
            <a:srgbClr val="00B0F0"/>
          </a:solidFill>
        </p:spPr>
        <p:txBody>
          <a:bodyPr vert="horz" lIns="91440" tIns="45720" rIns="91440" bIns="45720" rtlCol="0" anchor="ctr">
            <a:noAutofit/>
          </a:bodyPr>
          <a:lstStyle>
            <a:lvl1pPr algn="ctr"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ctr" defTabSz="914400" rtl="0" eaLnBrk="1" fontAlgn="auto" latinLnBrk="0" hangingPunct="1">
              <a:lnSpc>
                <a:spcPct val="90000"/>
              </a:lnSpc>
              <a:spcBef>
                <a:spcPct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Calibri Light" panose="020F0302020204030204"/>
                <a:ea typeface="+mj-ea"/>
                <a:cs typeface="+mj-cs"/>
              </a:rPr>
              <a:t>Prevent Distress</a:t>
            </a:r>
          </a:p>
        </p:txBody>
      </p:sp>
      <p:sp>
        <p:nvSpPr>
          <p:cNvPr id="6" name="Title 1">
            <a:extLst>
              <a:ext uri="{FF2B5EF4-FFF2-40B4-BE49-F238E27FC236}">
                <a16:creationId xmlns:a16="http://schemas.microsoft.com/office/drawing/2014/main" id="{C66B41A1-2799-44B9-BC55-4A51D799A9F4}"/>
              </a:ext>
            </a:extLst>
          </p:cNvPr>
          <p:cNvSpPr txBox="1">
            <a:spLocks/>
          </p:cNvSpPr>
          <p:nvPr/>
        </p:nvSpPr>
        <p:spPr>
          <a:xfrm rot="16200000">
            <a:off x="64169" y="4692904"/>
            <a:ext cx="3140242" cy="838199"/>
          </a:xfrm>
          <a:prstGeom prst="rect">
            <a:avLst/>
          </a:prstGeom>
          <a:solidFill>
            <a:srgbClr val="00B0F0"/>
          </a:solidFill>
        </p:spPr>
        <p:txBody>
          <a:bodyPr vert="horz" lIns="91440" tIns="45720" rIns="91440" bIns="45720" rtlCol="0" anchor="ctr">
            <a:noAutofit/>
          </a:bodyPr>
          <a:lstStyle>
            <a:lvl1pPr algn="ctr"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ctr" defTabSz="914400" rtl="0" eaLnBrk="1" fontAlgn="auto" latinLnBrk="0" hangingPunct="1">
              <a:lnSpc>
                <a:spcPct val="90000"/>
              </a:lnSpc>
              <a:spcBef>
                <a:spcPct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Calibri Light" panose="020F0302020204030204"/>
                <a:ea typeface="+mj-ea"/>
                <a:cs typeface="+mj-cs"/>
              </a:rPr>
              <a:t>Right to Prevent Direct Marketing</a:t>
            </a:r>
          </a:p>
        </p:txBody>
      </p:sp>
    </p:spTree>
    <p:extLst>
      <p:ext uri="{BB962C8B-B14F-4D97-AF65-F5344CB8AC3E}">
        <p14:creationId xmlns:p14="http://schemas.microsoft.com/office/powerpoint/2010/main" val="23262577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2"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1+#ppt_w/2"/>
                                          </p:val>
                                        </p:tav>
                                        <p:tav tm="100000">
                                          <p:val>
                                            <p:strVal val="#ppt_x"/>
                                          </p:val>
                                        </p:tav>
                                      </p:tavLst>
                                    </p:anim>
                                    <p:anim calcmode="lin" valueType="num">
                                      <p:cBhvr additive="base">
                                        <p:cTn id="8" dur="500" fill="hold"/>
                                        <p:tgtEl>
                                          <p:spTgt spid="5"/>
                                        </p:tgtEl>
                                        <p:attrNameLst>
                                          <p:attrName>ppt_y</p:attrName>
                                        </p:attrNameLst>
                                      </p:cBhvr>
                                      <p:tavLst>
                                        <p:tav tm="0">
                                          <p:val>
                                            <p:strVal val="#ppt_y"/>
                                          </p:val>
                                        </p:tav>
                                        <p:tav tm="100000">
                                          <p:val>
                                            <p:strVal val="#ppt_y"/>
                                          </p:val>
                                        </p:tav>
                                      </p:tavLst>
                                    </p:anim>
                                  </p:childTnLst>
                                </p:cTn>
                              </p:par>
                              <p:par>
                                <p:cTn id="9" presetID="2" presetClass="entr" presetSubtype="8" fill="hold" grpId="0" nodeType="withEffect">
                                  <p:stCondLst>
                                    <p:cond delay="0"/>
                                  </p:stCondLst>
                                  <p:childTnLst>
                                    <p:set>
                                      <p:cBhvr>
                                        <p:cTn id="10" dur="1" fill="hold">
                                          <p:stCondLst>
                                            <p:cond delay="0"/>
                                          </p:stCondLst>
                                        </p:cTn>
                                        <p:tgtEl>
                                          <p:spTgt spid="3"/>
                                        </p:tgtEl>
                                        <p:attrNameLst>
                                          <p:attrName>style.visibility</p:attrName>
                                        </p:attrNameLst>
                                      </p:cBhvr>
                                      <p:to>
                                        <p:strVal val="visible"/>
                                      </p:to>
                                    </p:set>
                                    <p:anim calcmode="lin" valueType="num">
                                      <p:cBhvr additive="base">
                                        <p:cTn id="11" dur="500" fill="hold"/>
                                        <p:tgtEl>
                                          <p:spTgt spid="3"/>
                                        </p:tgtEl>
                                        <p:attrNameLst>
                                          <p:attrName>ppt_x</p:attrName>
                                        </p:attrNameLst>
                                      </p:cBhvr>
                                      <p:tavLst>
                                        <p:tav tm="0">
                                          <p:val>
                                            <p:strVal val="0-#ppt_w/2"/>
                                          </p:val>
                                        </p:tav>
                                        <p:tav tm="100000">
                                          <p:val>
                                            <p:strVal val="#ppt_x"/>
                                          </p:val>
                                        </p:tav>
                                      </p:tavLst>
                                    </p:anim>
                                    <p:anim calcmode="lin" valueType="num">
                                      <p:cBhvr additive="base">
                                        <p:cTn id="12" dur="500" fill="hold"/>
                                        <p:tgtEl>
                                          <p:spTgt spid="3"/>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2"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 calcmode="lin" valueType="num">
                                      <p:cBhvr additive="base">
                                        <p:cTn id="17" dur="500" fill="hold"/>
                                        <p:tgtEl>
                                          <p:spTgt spid="6"/>
                                        </p:tgtEl>
                                        <p:attrNameLst>
                                          <p:attrName>ppt_x</p:attrName>
                                        </p:attrNameLst>
                                      </p:cBhvr>
                                      <p:tavLst>
                                        <p:tav tm="0">
                                          <p:val>
                                            <p:strVal val="1+#ppt_w/2"/>
                                          </p:val>
                                        </p:tav>
                                        <p:tav tm="100000">
                                          <p:val>
                                            <p:strVal val="#ppt_x"/>
                                          </p:val>
                                        </p:tav>
                                      </p:tavLst>
                                    </p:anim>
                                    <p:anim calcmode="lin" valueType="num">
                                      <p:cBhvr additive="base">
                                        <p:cTn id="18" dur="500" fill="hold"/>
                                        <p:tgtEl>
                                          <p:spTgt spid="6"/>
                                        </p:tgtEl>
                                        <p:attrNameLst>
                                          <p:attrName>ppt_y</p:attrName>
                                        </p:attrNameLst>
                                      </p:cBhvr>
                                      <p:tavLst>
                                        <p:tav tm="0">
                                          <p:val>
                                            <p:strVal val="#ppt_y"/>
                                          </p:val>
                                        </p:tav>
                                        <p:tav tm="100000">
                                          <p:val>
                                            <p:strVal val="#ppt_y"/>
                                          </p:val>
                                        </p:tav>
                                      </p:tavLst>
                                    </p:anim>
                                  </p:childTnLst>
                                </p:cTn>
                              </p:par>
                              <p:par>
                                <p:cTn id="19" presetID="2" presetClass="entr" presetSubtype="8" fill="hold" grpId="0" nodeType="withEffect">
                                  <p:stCondLst>
                                    <p:cond delay="0"/>
                                  </p:stCondLst>
                                  <p:childTnLst>
                                    <p:set>
                                      <p:cBhvr>
                                        <p:cTn id="20" dur="1" fill="hold">
                                          <p:stCondLst>
                                            <p:cond delay="0"/>
                                          </p:stCondLst>
                                        </p:cTn>
                                        <p:tgtEl>
                                          <p:spTgt spid="4"/>
                                        </p:tgtEl>
                                        <p:attrNameLst>
                                          <p:attrName>style.visibility</p:attrName>
                                        </p:attrNameLst>
                                      </p:cBhvr>
                                      <p:to>
                                        <p:strVal val="visible"/>
                                      </p:to>
                                    </p:set>
                                    <p:anim calcmode="lin" valueType="num">
                                      <p:cBhvr additive="base">
                                        <p:cTn id="21" dur="500" fill="hold"/>
                                        <p:tgtEl>
                                          <p:spTgt spid="4"/>
                                        </p:tgtEl>
                                        <p:attrNameLst>
                                          <p:attrName>ppt_x</p:attrName>
                                        </p:attrNameLst>
                                      </p:cBhvr>
                                      <p:tavLst>
                                        <p:tav tm="0">
                                          <p:val>
                                            <p:strVal val="0-#ppt_w/2"/>
                                          </p:val>
                                        </p:tav>
                                        <p:tav tm="100000">
                                          <p:val>
                                            <p:strVal val="#ppt_x"/>
                                          </p:val>
                                        </p:tav>
                                      </p:tavLst>
                                    </p:anim>
                                    <p:anim calcmode="lin" valueType="num">
                                      <p:cBhvr additive="base">
                                        <p:cTn id="22" dur="500" fill="hold"/>
                                        <p:tgtEl>
                                          <p:spTgt spid="4"/>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85E39D-6D35-4660-BA6E-2AA7D53CD7FA}"/>
              </a:ext>
            </a:extLst>
          </p:cNvPr>
          <p:cNvSpPr>
            <a:spLocks noGrp="1"/>
          </p:cNvSpPr>
          <p:nvPr>
            <p:ph type="title"/>
          </p:nvPr>
        </p:nvSpPr>
        <p:spPr/>
        <p:txBody>
          <a:bodyPr/>
          <a:lstStyle/>
          <a:p>
            <a:r>
              <a:rPr lang="en-GB" dirty="0"/>
              <a:t>Data Subject Rights</a:t>
            </a:r>
            <a:endParaRPr lang="en-US" dirty="0"/>
          </a:p>
        </p:txBody>
      </p:sp>
      <p:sp>
        <p:nvSpPr>
          <p:cNvPr id="3" name="Content Placeholder 2">
            <a:extLst>
              <a:ext uri="{FF2B5EF4-FFF2-40B4-BE49-F238E27FC236}">
                <a16:creationId xmlns:a16="http://schemas.microsoft.com/office/drawing/2014/main" id="{3BE61B4A-7A8E-41CD-A1B6-F48FEDD91B01}"/>
              </a:ext>
            </a:extLst>
          </p:cNvPr>
          <p:cNvSpPr>
            <a:spLocks noGrp="1"/>
          </p:cNvSpPr>
          <p:nvPr>
            <p:ph idx="1"/>
          </p:nvPr>
        </p:nvSpPr>
        <p:spPr>
          <a:xfrm>
            <a:off x="2053389" y="176464"/>
            <a:ext cx="9946106" cy="3140242"/>
          </a:xfrm>
        </p:spPr>
        <p:txBody>
          <a:bodyPr>
            <a:normAutofit lnSpcReduction="10000"/>
          </a:bodyPr>
          <a:lstStyle/>
          <a:p>
            <a:pPr marL="0" indent="0">
              <a:buNone/>
            </a:pPr>
            <a:endParaRPr lang="en-GB" dirty="0"/>
          </a:p>
          <a:p>
            <a:r>
              <a:rPr lang="en-GB" dirty="0"/>
              <a:t>A data subject may specify that they do not want a data user to make "automated" decisions about them </a:t>
            </a:r>
          </a:p>
          <a:p>
            <a:endParaRPr lang="en-GB" dirty="0"/>
          </a:p>
          <a:p>
            <a:r>
              <a:rPr lang="en-GB" dirty="0"/>
              <a:t>I.e. An individual applying for a personal loan online. The website uses algorithms and auto credit searching to provide an immediate yes/no decision on the application.</a:t>
            </a:r>
          </a:p>
          <a:p>
            <a:endParaRPr lang="en-GB" dirty="0"/>
          </a:p>
          <a:p>
            <a:endParaRPr lang="en-GB" dirty="0"/>
          </a:p>
        </p:txBody>
      </p:sp>
      <p:sp>
        <p:nvSpPr>
          <p:cNvPr id="4" name="Content Placeholder 2">
            <a:extLst>
              <a:ext uri="{FF2B5EF4-FFF2-40B4-BE49-F238E27FC236}">
                <a16:creationId xmlns:a16="http://schemas.microsoft.com/office/drawing/2014/main" id="{858FBBC6-355A-499C-9724-818F4FFC9374}"/>
              </a:ext>
            </a:extLst>
          </p:cNvPr>
          <p:cNvSpPr txBox="1">
            <a:spLocks/>
          </p:cNvSpPr>
          <p:nvPr/>
        </p:nvSpPr>
        <p:spPr>
          <a:xfrm>
            <a:off x="2053389" y="3541883"/>
            <a:ext cx="9946106" cy="3140242"/>
          </a:xfrm>
          <a:prstGeom prst="rect">
            <a:avLst/>
          </a:prstGeom>
          <a:solidFill>
            <a:srgbClr val="203864">
              <a:alpha val="80000"/>
            </a:srgbClr>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bg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bg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bg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endParaRPr kumimoji="0" lang="en-GB" sz="2800" b="0" i="0" u="none" strike="noStrike" kern="1200" cap="none" spc="0" normalizeH="0" baseline="0" noProof="0" dirty="0">
              <a:ln>
                <a:noFill/>
              </a:ln>
              <a:solidFill>
                <a:prstClr val="white"/>
              </a:solidFill>
              <a:effectLst/>
              <a:uLnTx/>
              <a:uFillTx/>
              <a:latin typeface="Calibri" panose="020F0502020204030204"/>
              <a:ea typeface="+mn-ea"/>
              <a:cs typeface="+mn-cs"/>
            </a:endParaRPr>
          </a:p>
          <a:p>
            <a:pPr marL="228600" marR="0" lvl="0" indent="-228600" algn="l" defTabSz="914400" rtl="0" eaLnBrk="1" fontAlgn="auto" latinLnBrk="0" hangingPunct="1">
              <a:lnSpc>
                <a:spcPct val="80000"/>
              </a:lnSpc>
              <a:spcBef>
                <a:spcPts val="1000"/>
              </a:spcBef>
              <a:spcAft>
                <a:spcPts val="0"/>
              </a:spcAft>
              <a:buClrTx/>
              <a:buSzTx/>
              <a:buFont typeface="Arial" panose="020B0604020202020204" pitchFamily="34" charset="0"/>
              <a:buChar char="•"/>
              <a:tabLst/>
              <a:defRPr/>
            </a:pPr>
            <a:r>
              <a:rPr kumimoji="0" lang="en-GB" altLang="en-US" sz="2800" b="0" i="0" u="none" strike="noStrike" kern="1200" cap="none" spc="0" normalizeH="0" baseline="0" noProof="0" dirty="0">
                <a:ln>
                  <a:noFill/>
                </a:ln>
                <a:solidFill>
                  <a:prstClr val="white"/>
                </a:solidFill>
                <a:effectLst/>
                <a:uLnTx/>
                <a:uFillTx/>
                <a:latin typeface="Calibri" panose="020F0502020204030204"/>
                <a:ea typeface="+mn-ea"/>
                <a:cs typeface="+mn-cs"/>
              </a:rPr>
              <a:t>A data subject can ask for the use of their personal data to be reviewed by the Information Commissioner who can enforce a ruling using the DPA. </a:t>
            </a:r>
          </a:p>
          <a:p>
            <a:pPr marL="228600" marR="0" lvl="0" indent="-228600" algn="l" defTabSz="914400" rtl="0" eaLnBrk="1" fontAlgn="auto" latinLnBrk="0" hangingPunct="1">
              <a:lnSpc>
                <a:spcPct val="80000"/>
              </a:lnSpc>
              <a:spcBef>
                <a:spcPts val="1000"/>
              </a:spcBef>
              <a:spcAft>
                <a:spcPts val="0"/>
              </a:spcAft>
              <a:buClrTx/>
              <a:buSzTx/>
              <a:buFont typeface="Arial" panose="020B0604020202020204" pitchFamily="34" charset="0"/>
              <a:buChar char="•"/>
              <a:tabLst/>
              <a:defRPr/>
            </a:pPr>
            <a:endParaRPr kumimoji="0" lang="en-GB" altLang="en-US" sz="2800" b="0" i="0" u="none" strike="noStrike" kern="1200" cap="none" spc="0" normalizeH="0" baseline="0" noProof="0" dirty="0">
              <a:ln>
                <a:noFill/>
              </a:ln>
              <a:solidFill>
                <a:prstClr val="white"/>
              </a:solidFill>
              <a:effectLst/>
              <a:uLnTx/>
              <a:uFillTx/>
              <a:latin typeface="Calibri" panose="020F0502020204030204"/>
              <a:ea typeface="+mn-ea"/>
              <a:cs typeface="+mn-cs"/>
            </a:endParaRPr>
          </a:p>
          <a:p>
            <a:pPr marL="228600" marR="0" lvl="0" indent="-228600" algn="l" defTabSz="914400" rtl="0" eaLnBrk="1" fontAlgn="auto" latinLnBrk="0" hangingPunct="1">
              <a:lnSpc>
                <a:spcPct val="80000"/>
              </a:lnSpc>
              <a:spcBef>
                <a:spcPts val="1000"/>
              </a:spcBef>
              <a:spcAft>
                <a:spcPts val="0"/>
              </a:spcAft>
              <a:buClrTx/>
              <a:buSzTx/>
              <a:buFont typeface="Arial" panose="020B0604020202020204" pitchFamily="34" charset="0"/>
              <a:buChar char="•"/>
              <a:tabLst/>
              <a:defRPr/>
            </a:pPr>
            <a:r>
              <a:rPr kumimoji="0" lang="en-GB" altLang="en-US" sz="2800" b="0" i="0" u="none" strike="noStrike" kern="1200" cap="none" spc="0" normalizeH="0" baseline="0" noProof="0" dirty="0">
                <a:ln>
                  <a:noFill/>
                </a:ln>
                <a:solidFill>
                  <a:prstClr val="white"/>
                </a:solidFill>
                <a:effectLst/>
                <a:uLnTx/>
                <a:uFillTx/>
                <a:latin typeface="Calibri" panose="020F0502020204030204"/>
                <a:ea typeface="+mn-ea"/>
                <a:cs typeface="+mn-cs"/>
              </a:rPr>
              <a:t>The Commissioner may inspect a controller's computers to help in the investigation. </a:t>
            </a:r>
          </a:p>
        </p:txBody>
      </p:sp>
      <p:sp>
        <p:nvSpPr>
          <p:cNvPr id="5" name="Title 1">
            <a:extLst>
              <a:ext uri="{FF2B5EF4-FFF2-40B4-BE49-F238E27FC236}">
                <a16:creationId xmlns:a16="http://schemas.microsoft.com/office/drawing/2014/main" id="{72323095-F354-4E43-B6E8-117D88B84306}"/>
              </a:ext>
            </a:extLst>
          </p:cNvPr>
          <p:cNvSpPr txBox="1">
            <a:spLocks/>
          </p:cNvSpPr>
          <p:nvPr/>
        </p:nvSpPr>
        <p:spPr>
          <a:xfrm rot="16200000">
            <a:off x="-6012" y="1256713"/>
            <a:ext cx="3140242" cy="978565"/>
          </a:xfrm>
          <a:prstGeom prst="rect">
            <a:avLst/>
          </a:prstGeom>
          <a:solidFill>
            <a:srgbClr val="00B0F0"/>
          </a:solidFill>
        </p:spPr>
        <p:txBody>
          <a:bodyPr vert="horz" lIns="91440" tIns="45720" rIns="91440" bIns="45720" rtlCol="0" anchor="ctr">
            <a:noAutofit/>
          </a:bodyPr>
          <a:lstStyle>
            <a:lvl1pPr algn="ctr"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ctr" defTabSz="914400" rtl="0" eaLnBrk="1" fontAlgn="auto" latinLnBrk="0" hangingPunct="1">
              <a:lnSpc>
                <a:spcPct val="90000"/>
              </a:lnSpc>
              <a:spcBef>
                <a:spcPct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Calibri Light" panose="020F0302020204030204"/>
                <a:ea typeface="+mj-ea"/>
                <a:cs typeface="+mj-cs"/>
              </a:rPr>
              <a:t>Prevent Automatic Decisions</a:t>
            </a:r>
          </a:p>
        </p:txBody>
      </p:sp>
      <p:sp>
        <p:nvSpPr>
          <p:cNvPr id="6" name="Title 1">
            <a:extLst>
              <a:ext uri="{FF2B5EF4-FFF2-40B4-BE49-F238E27FC236}">
                <a16:creationId xmlns:a16="http://schemas.microsoft.com/office/drawing/2014/main" id="{C66B41A1-2799-44B9-BC55-4A51D799A9F4}"/>
              </a:ext>
            </a:extLst>
          </p:cNvPr>
          <p:cNvSpPr txBox="1">
            <a:spLocks/>
          </p:cNvSpPr>
          <p:nvPr/>
        </p:nvSpPr>
        <p:spPr>
          <a:xfrm rot="16200000">
            <a:off x="-6013" y="4622721"/>
            <a:ext cx="3140242" cy="978566"/>
          </a:xfrm>
          <a:prstGeom prst="rect">
            <a:avLst/>
          </a:prstGeom>
          <a:solidFill>
            <a:srgbClr val="00B0F0"/>
          </a:solidFill>
        </p:spPr>
        <p:txBody>
          <a:bodyPr vert="horz" lIns="91440" tIns="45720" rIns="91440" bIns="45720" rtlCol="0" anchor="ctr">
            <a:noAutofit/>
          </a:bodyPr>
          <a:lstStyle>
            <a:lvl1pPr algn="ctr"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ctr" defTabSz="914400" rtl="0" eaLnBrk="1" fontAlgn="auto" latinLnBrk="0" hangingPunct="1">
              <a:lnSpc>
                <a:spcPct val="90000"/>
              </a:lnSpc>
              <a:spcBef>
                <a:spcPct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Calibri Light" panose="020F0302020204030204"/>
                <a:ea typeface="+mj-ea"/>
                <a:cs typeface="+mj-cs"/>
              </a:rPr>
              <a:t>Complaint to the Information Commissioner</a:t>
            </a:r>
          </a:p>
        </p:txBody>
      </p:sp>
    </p:spTree>
    <p:extLst>
      <p:ext uri="{BB962C8B-B14F-4D97-AF65-F5344CB8AC3E}">
        <p14:creationId xmlns:p14="http://schemas.microsoft.com/office/powerpoint/2010/main" val="39640449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2"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1+#ppt_w/2"/>
                                          </p:val>
                                        </p:tav>
                                        <p:tav tm="100000">
                                          <p:val>
                                            <p:strVal val="#ppt_x"/>
                                          </p:val>
                                        </p:tav>
                                      </p:tavLst>
                                    </p:anim>
                                    <p:anim calcmode="lin" valueType="num">
                                      <p:cBhvr additive="base">
                                        <p:cTn id="8" dur="500" fill="hold"/>
                                        <p:tgtEl>
                                          <p:spTgt spid="5"/>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8" fill="hold" grpId="0" nodeType="clickEffect">
                                  <p:stCondLst>
                                    <p:cond delay="0"/>
                                  </p:stCondLst>
                                  <p:childTnLst>
                                    <p:set>
                                      <p:cBhvr>
                                        <p:cTn id="12" dur="1" fill="hold">
                                          <p:stCondLst>
                                            <p:cond delay="0"/>
                                          </p:stCondLst>
                                        </p:cTn>
                                        <p:tgtEl>
                                          <p:spTgt spid="3"/>
                                        </p:tgtEl>
                                        <p:attrNameLst>
                                          <p:attrName>style.visibility</p:attrName>
                                        </p:attrNameLst>
                                      </p:cBhvr>
                                      <p:to>
                                        <p:strVal val="visible"/>
                                      </p:to>
                                    </p:set>
                                    <p:anim calcmode="lin" valueType="num">
                                      <p:cBhvr additive="base">
                                        <p:cTn id="13" dur="500" fill="hold"/>
                                        <p:tgtEl>
                                          <p:spTgt spid="3"/>
                                        </p:tgtEl>
                                        <p:attrNameLst>
                                          <p:attrName>ppt_x</p:attrName>
                                        </p:attrNameLst>
                                      </p:cBhvr>
                                      <p:tavLst>
                                        <p:tav tm="0">
                                          <p:val>
                                            <p:strVal val="0-#ppt_w/2"/>
                                          </p:val>
                                        </p:tav>
                                        <p:tav tm="100000">
                                          <p:val>
                                            <p:strVal val="#ppt_x"/>
                                          </p:val>
                                        </p:tav>
                                      </p:tavLst>
                                    </p:anim>
                                    <p:anim calcmode="lin" valueType="num">
                                      <p:cBhvr additive="base">
                                        <p:cTn id="14" dur="500" fill="hold"/>
                                        <p:tgtEl>
                                          <p:spTgt spid="3"/>
                                        </p:tgtEl>
                                        <p:attrNameLst>
                                          <p:attrName>ppt_y</p:attrName>
                                        </p:attrNameLst>
                                      </p:cBhvr>
                                      <p:tavLst>
                                        <p:tav tm="0">
                                          <p:val>
                                            <p:strVal val="#ppt_y"/>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2" fill="hold" grpId="0" nodeType="clickEffect">
                                  <p:stCondLst>
                                    <p:cond delay="0"/>
                                  </p:stCondLst>
                                  <p:childTnLst>
                                    <p:set>
                                      <p:cBhvr>
                                        <p:cTn id="18" dur="1" fill="hold">
                                          <p:stCondLst>
                                            <p:cond delay="0"/>
                                          </p:stCondLst>
                                        </p:cTn>
                                        <p:tgtEl>
                                          <p:spTgt spid="6"/>
                                        </p:tgtEl>
                                        <p:attrNameLst>
                                          <p:attrName>style.visibility</p:attrName>
                                        </p:attrNameLst>
                                      </p:cBhvr>
                                      <p:to>
                                        <p:strVal val="visible"/>
                                      </p:to>
                                    </p:set>
                                    <p:anim calcmode="lin" valueType="num">
                                      <p:cBhvr additive="base">
                                        <p:cTn id="19" dur="500" fill="hold"/>
                                        <p:tgtEl>
                                          <p:spTgt spid="6"/>
                                        </p:tgtEl>
                                        <p:attrNameLst>
                                          <p:attrName>ppt_x</p:attrName>
                                        </p:attrNameLst>
                                      </p:cBhvr>
                                      <p:tavLst>
                                        <p:tav tm="0">
                                          <p:val>
                                            <p:strVal val="1+#ppt_w/2"/>
                                          </p:val>
                                        </p:tav>
                                        <p:tav tm="100000">
                                          <p:val>
                                            <p:strVal val="#ppt_x"/>
                                          </p:val>
                                        </p:tav>
                                      </p:tavLst>
                                    </p:anim>
                                    <p:anim calcmode="lin" valueType="num">
                                      <p:cBhvr additive="base">
                                        <p:cTn id="20" dur="500" fill="hold"/>
                                        <p:tgtEl>
                                          <p:spTgt spid="6"/>
                                        </p:tgtEl>
                                        <p:attrNameLst>
                                          <p:attrName>ppt_y</p:attrName>
                                        </p:attrNameLst>
                                      </p:cBhvr>
                                      <p:tavLst>
                                        <p:tav tm="0">
                                          <p:val>
                                            <p:strVal val="#ppt_y"/>
                                          </p:val>
                                        </p:tav>
                                        <p:tav tm="100000">
                                          <p:val>
                                            <p:strVal val="#ppt_y"/>
                                          </p:val>
                                        </p:tav>
                                      </p:tavLst>
                                    </p:anim>
                                  </p:childTnLst>
                                </p:cTn>
                              </p:par>
                              <p:par>
                                <p:cTn id="21" presetID="2" presetClass="entr" presetSubtype="8" fill="hold" grpId="0" nodeType="withEffect">
                                  <p:stCondLst>
                                    <p:cond delay="0"/>
                                  </p:stCondLst>
                                  <p:childTnLst>
                                    <p:set>
                                      <p:cBhvr>
                                        <p:cTn id="22" dur="1" fill="hold">
                                          <p:stCondLst>
                                            <p:cond delay="0"/>
                                          </p:stCondLst>
                                        </p:cTn>
                                        <p:tgtEl>
                                          <p:spTgt spid="4"/>
                                        </p:tgtEl>
                                        <p:attrNameLst>
                                          <p:attrName>style.visibility</p:attrName>
                                        </p:attrNameLst>
                                      </p:cBhvr>
                                      <p:to>
                                        <p:strVal val="visible"/>
                                      </p:to>
                                    </p:set>
                                    <p:anim calcmode="lin" valueType="num">
                                      <p:cBhvr additive="base">
                                        <p:cTn id="23" dur="500" fill="hold"/>
                                        <p:tgtEl>
                                          <p:spTgt spid="4"/>
                                        </p:tgtEl>
                                        <p:attrNameLst>
                                          <p:attrName>ppt_x</p:attrName>
                                        </p:attrNameLst>
                                      </p:cBhvr>
                                      <p:tavLst>
                                        <p:tav tm="0">
                                          <p:val>
                                            <p:strVal val="0-#ppt_w/2"/>
                                          </p:val>
                                        </p:tav>
                                        <p:tav tm="100000">
                                          <p:val>
                                            <p:strVal val="#ppt_x"/>
                                          </p:val>
                                        </p:tav>
                                      </p:tavLst>
                                    </p:anim>
                                    <p:anim calcmode="lin" valueType="num">
                                      <p:cBhvr additive="base">
                                        <p:cTn id="24" dur="500" fill="hold"/>
                                        <p:tgtEl>
                                          <p:spTgt spid="4"/>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85E39D-6D35-4660-BA6E-2AA7D53CD7FA}"/>
              </a:ext>
            </a:extLst>
          </p:cNvPr>
          <p:cNvSpPr>
            <a:spLocks noGrp="1"/>
          </p:cNvSpPr>
          <p:nvPr>
            <p:ph type="title"/>
          </p:nvPr>
        </p:nvSpPr>
        <p:spPr/>
        <p:txBody>
          <a:bodyPr/>
          <a:lstStyle/>
          <a:p>
            <a:r>
              <a:rPr lang="en-GB" dirty="0"/>
              <a:t>Data Subject Rights</a:t>
            </a:r>
            <a:endParaRPr lang="en-US" dirty="0"/>
          </a:p>
        </p:txBody>
      </p:sp>
      <p:sp>
        <p:nvSpPr>
          <p:cNvPr id="3" name="Content Placeholder 2">
            <a:extLst>
              <a:ext uri="{FF2B5EF4-FFF2-40B4-BE49-F238E27FC236}">
                <a16:creationId xmlns:a16="http://schemas.microsoft.com/office/drawing/2014/main" id="{3BE61B4A-7A8E-41CD-A1B6-F48FEDD91B01}"/>
              </a:ext>
            </a:extLst>
          </p:cNvPr>
          <p:cNvSpPr>
            <a:spLocks noGrp="1"/>
          </p:cNvSpPr>
          <p:nvPr>
            <p:ph idx="1"/>
          </p:nvPr>
        </p:nvSpPr>
        <p:spPr>
          <a:xfrm>
            <a:off x="2053389" y="176464"/>
            <a:ext cx="9946106" cy="3140242"/>
          </a:xfrm>
        </p:spPr>
        <p:txBody>
          <a:bodyPr/>
          <a:lstStyle/>
          <a:p>
            <a:endParaRPr lang="en-GB" altLang="en-US" dirty="0"/>
          </a:p>
          <a:p>
            <a:r>
              <a:rPr lang="en-GB" altLang="en-US" dirty="0"/>
              <a:t>The data subject is entitled to use the law to get compensation for damage caused ("damages") if personal data about them is inaccurate, lost, or disclosed. </a:t>
            </a:r>
          </a:p>
          <a:p>
            <a:pPr lvl="1"/>
            <a:r>
              <a:rPr lang="en-GB" dirty="0"/>
              <a:t>These rights only exist if you know who has data stored about you</a:t>
            </a:r>
          </a:p>
          <a:p>
            <a:pPr lvl="1"/>
            <a:r>
              <a:rPr lang="en-GB" dirty="0"/>
              <a:t>Some data controllers are exempt from the Act</a:t>
            </a:r>
          </a:p>
        </p:txBody>
      </p:sp>
      <p:sp>
        <p:nvSpPr>
          <p:cNvPr id="5" name="Title 1">
            <a:extLst>
              <a:ext uri="{FF2B5EF4-FFF2-40B4-BE49-F238E27FC236}">
                <a16:creationId xmlns:a16="http://schemas.microsoft.com/office/drawing/2014/main" id="{72323095-F354-4E43-B6E8-117D88B84306}"/>
              </a:ext>
            </a:extLst>
          </p:cNvPr>
          <p:cNvSpPr txBox="1">
            <a:spLocks/>
          </p:cNvSpPr>
          <p:nvPr/>
        </p:nvSpPr>
        <p:spPr>
          <a:xfrm rot="16200000">
            <a:off x="64170" y="1326896"/>
            <a:ext cx="3140242" cy="838199"/>
          </a:xfrm>
          <a:prstGeom prst="rect">
            <a:avLst/>
          </a:prstGeom>
          <a:solidFill>
            <a:srgbClr val="00B0F0"/>
          </a:solidFill>
        </p:spPr>
        <p:txBody>
          <a:bodyPr vert="horz" lIns="91440" tIns="45720" rIns="91440" bIns="45720" rtlCol="0" anchor="ctr">
            <a:noAutofit/>
          </a:bodyPr>
          <a:lstStyle>
            <a:lvl1pPr algn="ctr"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ctr" defTabSz="914400" rtl="0" eaLnBrk="1" fontAlgn="auto" latinLnBrk="0" hangingPunct="1">
              <a:lnSpc>
                <a:spcPct val="90000"/>
              </a:lnSpc>
              <a:spcBef>
                <a:spcPct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Calibri Light" panose="020F0302020204030204"/>
                <a:ea typeface="+mj-ea"/>
                <a:cs typeface="+mj-cs"/>
              </a:rPr>
              <a:t>Right to Compensation</a:t>
            </a:r>
          </a:p>
        </p:txBody>
      </p:sp>
    </p:spTree>
    <p:extLst>
      <p:ext uri="{BB962C8B-B14F-4D97-AF65-F5344CB8AC3E}">
        <p14:creationId xmlns:p14="http://schemas.microsoft.com/office/powerpoint/2010/main" val="40689065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2"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1+#ppt_w/2"/>
                                          </p:val>
                                        </p:tav>
                                        <p:tav tm="100000">
                                          <p:val>
                                            <p:strVal val="#ppt_x"/>
                                          </p:val>
                                        </p:tav>
                                      </p:tavLst>
                                    </p:anim>
                                    <p:anim calcmode="lin" valueType="num">
                                      <p:cBhvr additive="base">
                                        <p:cTn id="8" dur="500" fill="hold"/>
                                        <p:tgtEl>
                                          <p:spTgt spid="5"/>
                                        </p:tgtEl>
                                        <p:attrNameLst>
                                          <p:attrName>ppt_y</p:attrName>
                                        </p:attrNameLst>
                                      </p:cBhvr>
                                      <p:tavLst>
                                        <p:tav tm="0">
                                          <p:val>
                                            <p:strVal val="#ppt_y"/>
                                          </p:val>
                                        </p:tav>
                                        <p:tav tm="100000">
                                          <p:val>
                                            <p:strVal val="#ppt_y"/>
                                          </p:val>
                                        </p:tav>
                                      </p:tavLst>
                                    </p:anim>
                                  </p:childTnLst>
                                </p:cTn>
                              </p:par>
                              <p:par>
                                <p:cTn id="9" presetID="2" presetClass="entr" presetSubtype="8" fill="hold" grpId="0" nodeType="withEffect">
                                  <p:stCondLst>
                                    <p:cond delay="0"/>
                                  </p:stCondLst>
                                  <p:childTnLst>
                                    <p:set>
                                      <p:cBhvr>
                                        <p:cTn id="10" dur="1" fill="hold">
                                          <p:stCondLst>
                                            <p:cond delay="0"/>
                                          </p:stCondLst>
                                        </p:cTn>
                                        <p:tgtEl>
                                          <p:spTgt spid="3"/>
                                        </p:tgtEl>
                                        <p:attrNameLst>
                                          <p:attrName>style.visibility</p:attrName>
                                        </p:attrNameLst>
                                      </p:cBhvr>
                                      <p:to>
                                        <p:strVal val="visible"/>
                                      </p:to>
                                    </p:set>
                                    <p:anim calcmode="lin" valueType="num">
                                      <p:cBhvr additive="base">
                                        <p:cTn id="11" dur="500" fill="hold"/>
                                        <p:tgtEl>
                                          <p:spTgt spid="3"/>
                                        </p:tgtEl>
                                        <p:attrNameLst>
                                          <p:attrName>ppt_x</p:attrName>
                                        </p:attrNameLst>
                                      </p:cBhvr>
                                      <p:tavLst>
                                        <p:tav tm="0">
                                          <p:val>
                                            <p:strVal val="0-#ppt_w/2"/>
                                          </p:val>
                                        </p:tav>
                                        <p:tav tm="100000">
                                          <p:val>
                                            <p:strVal val="#ppt_x"/>
                                          </p:val>
                                        </p:tav>
                                      </p:tavLst>
                                    </p:anim>
                                    <p:anim calcmode="lin" valueType="num">
                                      <p:cBhvr additive="base">
                                        <p:cTn id="12" dur="500" fill="hold"/>
                                        <p:tgtEl>
                                          <p:spTgt spid="3"/>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78C8BA-B0AF-481F-973D-E3428D79A207}"/>
              </a:ext>
            </a:extLst>
          </p:cNvPr>
          <p:cNvSpPr>
            <a:spLocks noGrp="1"/>
          </p:cNvSpPr>
          <p:nvPr>
            <p:ph type="title"/>
          </p:nvPr>
        </p:nvSpPr>
        <p:spPr/>
        <p:txBody>
          <a:bodyPr/>
          <a:lstStyle/>
          <a:p>
            <a:r>
              <a:rPr lang="en-GB" dirty="0"/>
              <a:t>The 8 Principles</a:t>
            </a:r>
            <a:endParaRPr lang="en-US" dirty="0"/>
          </a:p>
        </p:txBody>
      </p:sp>
      <p:pic>
        <p:nvPicPr>
          <p:cNvPr id="4" name="Content Placeholder 3">
            <a:extLst>
              <a:ext uri="{FF2B5EF4-FFF2-40B4-BE49-F238E27FC236}">
                <a16:creationId xmlns:a16="http://schemas.microsoft.com/office/drawing/2014/main" id="{80A76480-B963-44ED-9831-E5364CFDB49B}"/>
              </a:ext>
            </a:extLst>
          </p:cNvPr>
          <p:cNvPicPr>
            <a:picLocks noGrp="1" noChangeAspect="1"/>
          </p:cNvPicPr>
          <p:nvPr>
            <p:ph idx="1"/>
          </p:nvPr>
        </p:nvPicPr>
        <p:blipFill>
          <a:blip r:embed="rId2"/>
          <a:stretch>
            <a:fillRect/>
          </a:stretch>
        </p:blipFill>
        <p:spPr>
          <a:xfrm>
            <a:off x="968398" y="92484"/>
            <a:ext cx="9591143" cy="6718861"/>
          </a:xfrm>
          <a:prstGeom prst="rect">
            <a:avLst/>
          </a:prstGeom>
        </p:spPr>
      </p:pic>
      <p:pic>
        <p:nvPicPr>
          <p:cNvPr id="5" name="Content Placeholder 3">
            <a:extLst>
              <a:ext uri="{FF2B5EF4-FFF2-40B4-BE49-F238E27FC236}">
                <a16:creationId xmlns:a16="http://schemas.microsoft.com/office/drawing/2014/main" id="{06986CD7-2E69-4E0E-A893-1BCB654F3316}"/>
              </a:ext>
            </a:extLst>
          </p:cNvPr>
          <p:cNvPicPr>
            <a:picLocks noChangeAspect="1"/>
          </p:cNvPicPr>
          <p:nvPr/>
        </p:nvPicPr>
        <p:blipFill rotWithShape="1">
          <a:blip r:embed="rId2"/>
          <a:srcRect l="92124" t="1894" r="2211" b="82327"/>
          <a:stretch/>
        </p:blipFill>
        <p:spPr>
          <a:xfrm>
            <a:off x="8154950" y="6260839"/>
            <a:ext cx="2404592" cy="550506"/>
          </a:xfrm>
          <a:prstGeom prst="rect">
            <a:avLst/>
          </a:prstGeom>
          <a:solidFill>
            <a:srgbClr val="203864">
              <a:alpha val="80000"/>
            </a:srgbClr>
          </a:solidFill>
        </p:spPr>
      </p:pic>
    </p:spTree>
    <p:extLst>
      <p:ext uri="{BB962C8B-B14F-4D97-AF65-F5344CB8AC3E}">
        <p14:creationId xmlns:p14="http://schemas.microsoft.com/office/powerpoint/2010/main" val="135551461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026" name="Picture 2" descr="Image result for copyright background">
            <a:extLst>
              <a:ext uri="{FF2B5EF4-FFF2-40B4-BE49-F238E27FC236}">
                <a16:creationId xmlns:a16="http://schemas.microsoft.com/office/drawing/2014/main" id="{0A310150-6A8B-43A1-BCCC-02BA149CD96C}"/>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34760" t="4840" b="4251"/>
          <a:stretch/>
        </p:blipFill>
        <p:spPr bwMode="auto">
          <a:xfrm>
            <a:off x="4818888" y="10"/>
            <a:ext cx="7373112" cy="6857989"/>
          </a:xfrm>
          <a:prstGeom prst="rect">
            <a:avLst/>
          </a:prstGeom>
          <a:noFill/>
          <a:extLst>
            <a:ext uri="{909E8E84-426E-40DD-AFC4-6F175D3DCCD1}">
              <a14:hiddenFill xmlns:a14="http://schemas.microsoft.com/office/drawing/2010/main">
                <a:solidFill>
                  <a:srgbClr val="FFFFFF"/>
                </a:solidFill>
              </a14:hiddenFill>
            </a:ext>
          </a:extLst>
        </p:spPr>
      </p:pic>
      <p:sp>
        <p:nvSpPr>
          <p:cNvPr id="71" name="Freeform 8">
            <a:extLst>
              <a:ext uri="{FF2B5EF4-FFF2-40B4-BE49-F238E27FC236}">
                <a16:creationId xmlns:a16="http://schemas.microsoft.com/office/drawing/2014/main" id="{9225B0D8-E56E-4ACC-A464-81F4062765CC}"/>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51" y="-479"/>
            <a:ext cx="9468701" cy="6858478"/>
          </a:xfrm>
          <a:custGeom>
            <a:avLst/>
            <a:gdLst>
              <a:gd name="connsiteX0" fmla="*/ 0 w 8078051"/>
              <a:gd name="connsiteY0" fmla="*/ 0 h 5829300"/>
              <a:gd name="connsiteX1" fmla="*/ 4453793 w 8078051"/>
              <a:gd name="connsiteY1" fmla="*/ 0 h 5829300"/>
              <a:gd name="connsiteX2" fmla="*/ 5363426 w 8078051"/>
              <a:gd name="connsiteY2" fmla="*/ 0 h 5829300"/>
              <a:gd name="connsiteX3" fmla="*/ 5368184 w 8078051"/>
              <a:gd name="connsiteY3" fmla="*/ 0 h 5829300"/>
              <a:gd name="connsiteX4" fmla="*/ 8078051 w 8078051"/>
              <a:gd name="connsiteY4" fmla="*/ 5829300 h 5829300"/>
              <a:gd name="connsiteX5" fmla="*/ 1743926 w 8078051"/>
              <a:gd name="connsiteY5" fmla="*/ 5829300 h 5829300"/>
              <a:gd name="connsiteX6" fmla="*/ 1744148 w 8078051"/>
              <a:gd name="connsiteY6" fmla="*/ 5828822 h 5829300"/>
              <a:gd name="connsiteX7" fmla="*/ 0 w 8078051"/>
              <a:gd name="connsiteY7" fmla="*/ 5828822 h 5829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8078051" h="5829300">
                <a:moveTo>
                  <a:pt x="0" y="0"/>
                </a:moveTo>
                <a:lnTo>
                  <a:pt x="4453793" y="0"/>
                </a:lnTo>
                <a:lnTo>
                  <a:pt x="5363426" y="0"/>
                </a:lnTo>
                <a:lnTo>
                  <a:pt x="5368184" y="0"/>
                </a:lnTo>
                <a:lnTo>
                  <a:pt x="8078051" y="5829300"/>
                </a:lnTo>
                <a:lnTo>
                  <a:pt x="1743926" y="5829300"/>
                </a:lnTo>
                <a:lnTo>
                  <a:pt x="1744148" y="5828822"/>
                </a:lnTo>
                <a:lnTo>
                  <a:pt x="0" y="5828822"/>
                </a:lnTo>
                <a:close/>
              </a:path>
            </a:pathLst>
          </a:custGeom>
          <a:solidFill>
            <a:schemeClr val="bg1">
              <a:lumMod val="85000"/>
              <a:lumOff val="15000"/>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3" name="Freeform 11">
            <a:extLst>
              <a:ext uri="{FF2B5EF4-FFF2-40B4-BE49-F238E27FC236}">
                <a16:creationId xmlns:a16="http://schemas.microsoft.com/office/drawing/2014/main" id="{8F5D1B28-3976-4367-807C-CAD629CDD838}"/>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52" y="-479"/>
            <a:ext cx="8078052" cy="6858478"/>
          </a:xfrm>
          <a:custGeom>
            <a:avLst/>
            <a:gdLst>
              <a:gd name="connsiteX0" fmla="*/ 0 w 8078052"/>
              <a:gd name="connsiteY0" fmla="*/ 0 h 6858478"/>
              <a:gd name="connsiteX1" fmla="*/ 3829872 w 8078052"/>
              <a:gd name="connsiteY1" fmla="*/ 0 h 6858478"/>
              <a:gd name="connsiteX2" fmla="*/ 4896100 w 8078052"/>
              <a:gd name="connsiteY2" fmla="*/ 0 h 6858478"/>
              <a:gd name="connsiteX3" fmla="*/ 4901677 w 8078052"/>
              <a:gd name="connsiteY3" fmla="*/ 0 h 6858478"/>
              <a:gd name="connsiteX4" fmla="*/ 8078052 w 8078052"/>
              <a:gd name="connsiteY4" fmla="*/ 6858478 h 6858478"/>
              <a:gd name="connsiteX5" fmla="*/ 653497 w 8078052"/>
              <a:gd name="connsiteY5" fmla="*/ 6858478 h 6858478"/>
              <a:gd name="connsiteX6" fmla="*/ 653757 w 8078052"/>
              <a:gd name="connsiteY6" fmla="*/ 6857916 h 6858478"/>
              <a:gd name="connsiteX7" fmla="*/ 0 w 8078052"/>
              <a:gd name="connsiteY7" fmla="*/ 6857916 h 68584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8078052" h="6858478">
                <a:moveTo>
                  <a:pt x="0" y="0"/>
                </a:moveTo>
                <a:lnTo>
                  <a:pt x="3829872" y="0"/>
                </a:lnTo>
                <a:lnTo>
                  <a:pt x="4896100" y="0"/>
                </a:lnTo>
                <a:lnTo>
                  <a:pt x="4901677" y="0"/>
                </a:lnTo>
                <a:lnTo>
                  <a:pt x="8078052" y="6858478"/>
                </a:lnTo>
                <a:lnTo>
                  <a:pt x="653497" y="6858478"/>
                </a:lnTo>
                <a:lnTo>
                  <a:pt x="653757" y="6857916"/>
                </a:lnTo>
                <a:lnTo>
                  <a:pt x="0" y="6857916"/>
                </a:lnTo>
                <a:close/>
              </a:path>
            </a:pathLst>
          </a:cu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9B39A613-3A20-4C01-9F0B-5AFDF096AD7A}"/>
              </a:ext>
            </a:extLst>
          </p:cNvPr>
          <p:cNvSpPr>
            <a:spLocks noGrp="1"/>
          </p:cNvSpPr>
          <p:nvPr>
            <p:ph type="ctrTitle"/>
          </p:nvPr>
        </p:nvSpPr>
        <p:spPr>
          <a:xfrm>
            <a:off x="211113" y="5197513"/>
            <a:ext cx="7184297" cy="3320973"/>
          </a:xfrm>
        </p:spPr>
        <p:txBody>
          <a:bodyPr anchor="t">
            <a:normAutofit/>
          </a:bodyPr>
          <a:lstStyle/>
          <a:p>
            <a:pPr algn="l"/>
            <a:r>
              <a:rPr lang="en-GB" sz="5400" dirty="0"/>
              <a:t>Copyright Designs and Patents Act, 1988</a:t>
            </a:r>
            <a:endParaRPr lang="en-US" sz="5400" dirty="0"/>
          </a:p>
        </p:txBody>
      </p:sp>
      <p:sp>
        <p:nvSpPr>
          <p:cNvPr id="3" name="Subtitle 2">
            <a:extLst>
              <a:ext uri="{FF2B5EF4-FFF2-40B4-BE49-F238E27FC236}">
                <a16:creationId xmlns:a16="http://schemas.microsoft.com/office/drawing/2014/main" id="{6E326B5C-BF7A-4AC2-A311-9287D7AE27D2}"/>
              </a:ext>
            </a:extLst>
          </p:cNvPr>
          <p:cNvSpPr>
            <a:spLocks noGrp="1"/>
          </p:cNvSpPr>
          <p:nvPr>
            <p:ph type="subTitle" idx="1"/>
          </p:nvPr>
        </p:nvSpPr>
        <p:spPr>
          <a:xfrm>
            <a:off x="325331" y="4041988"/>
            <a:ext cx="4167376" cy="1155525"/>
          </a:xfrm>
        </p:spPr>
        <p:txBody>
          <a:bodyPr anchor="b">
            <a:normAutofit/>
          </a:bodyPr>
          <a:lstStyle/>
          <a:p>
            <a:pPr algn="l"/>
            <a:r>
              <a:rPr lang="en-GB" sz="2000" dirty="0"/>
              <a:t>Legal Implications | Mr Butler</a:t>
            </a:r>
            <a:endParaRPr lang="en-US" sz="2000" dirty="0"/>
          </a:p>
        </p:txBody>
      </p:sp>
    </p:spTree>
    <p:extLst>
      <p:ext uri="{BB962C8B-B14F-4D97-AF65-F5344CB8AC3E}">
        <p14:creationId xmlns:p14="http://schemas.microsoft.com/office/powerpoint/2010/main" val="3696203815"/>
      </p:ext>
    </p:extLst>
  </p:cSld>
  <p:clrMapOvr>
    <a:overrideClrMapping bg1="dk1" tx1="lt1" bg2="dk2" tx2="lt2" accent1="accent1" accent2="accent2" accent3="accent3" accent4="accent4" accent5="accent5" accent6="accent6" hlink="hlink" folHlink="folHlink"/>
  </p:clrMapOvr>
</p:sld>
</file>

<file path=ppt/slides/slide14.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431BCB-1CF0-4DC6-B62D-824E09721B8F}"/>
              </a:ext>
            </a:extLst>
          </p:cNvPr>
          <p:cNvSpPr>
            <a:spLocks noGrp="1"/>
          </p:cNvSpPr>
          <p:nvPr>
            <p:ph type="title"/>
          </p:nvPr>
        </p:nvSpPr>
        <p:spPr>
          <a:solidFill>
            <a:srgbClr val="253917">
              <a:alpha val="78824"/>
            </a:srgbClr>
          </a:solidFill>
        </p:spPr>
        <p:txBody>
          <a:bodyPr/>
          <a:lstStyle/>
          <a:p>
            <a:pPr algn="ctr"/>
            <a:r>
              <a:rPr lang="en-GB" dirty="0">
                <a:solidFill>
                  <a:schemeClr val="bg1"/>
                </a:solidFill>
              </a:rPr>
              <a:t>The Specification</a:t>
            </a:r>
            <a:endParaRPr lang="en-US" dirty="0">
              <a:solidFill>
                <a:schemeClr val="bg1"/>
              </a:solidFill>
            </a:endParaRPr>
          </a:p>
        </p:txBody>
      </p:sp>
      <p:pic>
        <p:nvPicPr>
          <p:cNvPr id="9" name="Content Placeholder 3">
            <a:extLst>
              <a:ext uri="{FF2B5EF4-FFF2-40B4-BE49-F238E27FC236}">
                <a16:creationId xmlns:a16="http://schemas.microsoft.com/office/drawing/2014/main" id="{52FE1AE5-7A39-4127-8303-4D208BA61F5C}"/>
              </a:ext>
            </a:extLst>
          </p:cNvPr>
          <p:cNvPicPr>
            <a:picLocks noGrp="1" noChangeAspect="1"/>
          </p:cNvPicPr>
          <p:nvPr>
            <p:ph idx="4294967295"/>
          </p:nvPr>
        </p:nvPicPr>
        <p:blipFill>
          <a:blip r:embed="rId3"/>
          <a:stretch>
            <a:fillRect/>
          </a:stretch>
        </p:blipFill>
        <p:spPr>
          <a:xfrm>
            <a:off x="838200" y="2179318"/>
            <a:ext cx="10516790" cy="2647205"/>
          </a:xfrm>
          <a:prstGeom prst="rect">
            <a:avLst/>
          </a:prstGeom>
        </p:spPr>
      </p:pic>
    </p:spTree>
    <p:extLst>
      <p:ext uri="{BB962C8B-B14F-4D97-AF65-F5344CB8AC3E}">
        <p14:creationId xmlns:p14="http://schemas.microsoft.com/office/powerpoint/2010/main" val="20001111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500"/>
                                        <p:tgtEl>
                                          <p:spTgt spid="9"/>
                                        </p:tgtEl>
                                      </p:cBhvr>
                                    </p:animEffect>
                                  </p:childTnLst>
                                </p:cTn>
                              </p:par>
                            </p:childTnLst>
                          </p:cTn>
                        </p:par>
                        <p:par>
                          <p:cTn id="8" fill="hold">
                            <p:stCondLst>
                              <p:cond delay="500"/>
                            </p:stCondLst>
                            <p:childTnLst>
                              <p:par>
                                <p:cTn id="9" presetID="2" presetClass="entr" presetSubtype="8" fill="hold" grpId="0" nodeType="afterEffect">
                                  <p:stCondLst>
                                    <p:cond delay="0"/>
                                  </p:stCondLst>
                                  <p:childTnLst>
                                    <p:set>
                                      <p:cBhvr>
                                        <p:cTn id="10" dur="1" fill="hold">
                                          <p:stCondLst>
                                            <p:cond delay="0"/>
                                          </p:stCondLst>
                                        </p:cTn>
                                        <p:tgtEl>
                                          <p:spTgt spid="2"/>
                                        </p:tgtEl>
                                        <p:attrNameLst>
                                          <p:attrName>style.visibility</p:attrName>
                                        </p:attrNameLst>
                                      </p:cBhvr>
                                      <p:to>
                                        <p:strVal val="visible"/>
                                      </p:to>
                                    </p:set>
                                    <p:anim calcmode="lin" valueType="num">
                                      <p:cBhvr additive="base">
                                        <p:cTn id="11" dur="500" fill="hold"/>
                                        <p:tgtEl>
                                          <p:spTgt spid="2"/>
                                        </p:tgtEl>
                                        <p:attrNameLst>
                                          <p:attrName>ppt_x</p:attrName>
                                        </p:attrNameLst>
                                      </p:cBhvr>
                                      <p:tavLst>
                                        <p:tav tm="0">
                                          <p:val>
                                            <p:strVal val="0-#ppt_w/2"/>
                                          </p:val>
                                        </p:tav>
                                        <p:tav tm="100000">
                                          <p:val>
                                            <p:strVal val="#ppt_x"/>
                                          </p:val>
                                        </p:tav>
                                      </p:tavLst>
                                    </p:anim>
                                    <p:anim calcmode="lin" valueType="num">
                                      <p:cBhvr additive="base">
                                        <p:cTn id="12"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Rectangular Callout 4">
            <a:extLst>
              <a:ext uri="{FF2B5EF4-FFF2-40B4-BE49-F238E27FC236}">
                <a16:creationId xmlns:a16="http://schemas.microsoft.com/office/drawing/2014/main" id="{A0DE7804-DF79-4E98-83ED-A17F94147C37}"/>
              </a:ext>
            </a:extLst>
          </p:cNvPr>
          <p:cNvSpPr/>
          <p:nvPr/>
        </p:nvSpPr>
        <p:spPr>
          <a:xfrm>
            <a:off x="336885" y="274637"/>
            <a:ext cx="10647948" cy="3802435"/>
          </a:xfrm>
          <a:prstGeom prst="wedgeRectCallout">
            <a:avLst>
              <a:gd name="adj1" fmla="val 39579"/>
              <a:gd name="adj2" fmla="val 65533"/>
            </a:avLst>
          </a:prstGeom>
          <a:solidFill>
            <a:schemeClr val="accent6">
              <a:lumMod val="50000"/>
              <a:alpha val="50196"/>
            </a:schemeClr>
          </a:solidFill>
          <a:ln w="63500" cmpd="db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GB" sz="2800" b="0" i="0" u="none" strike="noStrike" kern="1200" cap="none" spc="0" normalizeH="0" baseline="0" noProof="0" dirty="0">
                <a:ln>
                  <a:noFill/>
                </a:ln>
                <a:solidFill>
                  <a:prstClr val="white"/>
                </a:solidFill>
                <a:effectLst/>
                <a:uLnTx/>
                <a:uFillTx/>
                <a:latin typeface="Calibri" panose="020F0502020204030204"/>
                <a:ea typeface="+mn-ea"/>
                <a:cs typeface="+mn-cs"/>
              </a:rPr>
              <a:t>Explain the principles behind the Copyright, Designs and Patents Act</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GB" sz="2800" b="0" i="0" u="none" strike="noStrike" kern="1200" cap="none" spc="0" normalizeH="0" baseline="0" noProof="0" dirty="0">
                <a:ln>
                  <a:noFill/>
                </a:ln>
                <a:solidFill>
                  <a:prstClr val="white"/>
                </a:solidFill>
                <a:effectLst/>
                <a:uLnTx/>
                <a:uFillTx/>
                <a:latin typeface="Calibri" panose="020F0502020204030204"/>
                <a:ea typeface="+mn-ea"/>
                <a:cs typeface="+mn-cs"/>
              </a:rPr>
              <a:t>List the implications of breaking the act</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GB" sz="2800" b="0" i="0" u="none" strike="noStrike" kern="1200" cap="none" spc="0" normalizeH="0" baseline="0" noProof="0" dirty="0">
                <a:ln>
                  <a:noFill/>
                </a:ln>
                <a:solidFill>
                  <a:prstClr val="white"/>
                </a:solidFill>
                <a:effectLst/>
                <a:uLnTx/>
                <a:uFillTx/>
                <a:latin typeface="Calibri" panose="020F0502020204030204"/>
                <a:ea typeface="+mn-ea"/>
                <a:cs typeface="+mn-cs"/>
              </a:rPr>
              <a:t>Distinguish between the 3 types of software licence</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GB" sz="2800" b="0" i="0" u="none" strike="noStrike" kern="1200" cap="none" spc="0" normalizeH="0" baseline="0" noProof="0" dirty="0">
                <a:ln>
                  <a:noFill/>
                </a:ln>
                <a:solidFill>
                  <a:prstClr val="white"/>
                </a:solidFill>
                <a:effectLst/>
                <a:uLnTx/>
                <a:uFillTx/>
                <a:latin typeface="Calibri" panose="020F0502020204030204"/>
                <a:ea typeface="+mn-ea"/>
                <a:cs typeface="+mn-cs"/>
              </a:rPr>
              <a:t>State 2 methods of protecting against software piracy</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GB" sz="2800" b="0" i="0" u="none" strike="noStrike" kern="1200" cap="none" spc="0" normalizeH="0" baseline="0" noProof="0" dirty="0">
                <a:ln>
                  <a:noFill/>
                </a:ln>
                <a:solidFill>
                  <a:prstClr val="white"/>
                </a:solidFill>
                <a:effectLst/>
                <a:uLnTx/>
                <a:uFillTx/>
                <a:latin typeface="Calibri" panose="020F0502020204030204"/>
                <a:ea typeface="+mn-ea"/>
                <a:cs typeface="+mn-cs"/>
              </a:rPr>
              <a:t>Define the term plagiarism</a:t>
            </a:r>
            <a:endParaRPr kumimoji="0" lang="en-US" sz="2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pic>
        <p:nvPicPr>
          <p:cNvPr id="5" name="Content Placeholder 1">
            <a:extLst>
              <a:ext uri="{FF2B5EF4-FFF2-40B4-BE49-F238E27FC236}">
                <a16:creationId xmlns:a16="http://schemas.microsoft.com/office/drawing/2014/main" id="{F17D89B3-F0F0-48CA-958E-C417CF7EE441}"/>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359210" y="3510281"/>
            <a:ext cx="2495905" cy="3347719"/>
          </a:xfrm>
          <a:prstGeom prst="rect">
            <a:avLst/>
          </a:prstGeom>
        </p:spPr>
      </p:pic>
      <p:sp>
        <p:nvSpPr>
          <p:cNvPr id="6" name="Title 5"/>
          <p:cNvSpPr>
            <a:spLocks noGrp="1"/>
          </p:cNvSpPr>
          <p:nvPr>
            <p:ph type="title"/>
          </p:nvPr>
        </p:nvSpPr>
        <p:spPr/>
        <p:txBody>
          <a:bodyPr/>
          <a:lstStyle/>
          <a:p>
            <a:endParaRPr lang="en-GB"/>
          </a:p>
        </p:txBody>
      </p:sp>
      <p:sp>
        <p:nvSpPr>
          <p:cNvPr id="7" name="Content Placeholder 6"/>
          <p:cNvSpPr>
            <a:spLocks noGrp="1"/>
          </p:cNvSpPr>
          <p:nvPr>
            <p:ph idx="4294967295"/>
          </p:nvPr>
        </p:nvSpPr>
        <p:spPr>
          <a:xfrm>
            <a:off x="838200" y="1825625"/>
            <a:ext cx="10515600" cy="4351338"/>
          </a:xfrm>
        </p:spPr>
        <p:txBody>
          <a:bodyPr/>
          <a:lstStyle/>
          <a:p>
            <a:endParaRPr lang="en-GB"/>
          </a:p>
        </p:txBody>
      </p:sp>
    </p:spTree>
    <p:extLst>
      <p:ext uri="{BB962C8B-B14F-4D97-AF65-F5344CB8AC3E}">
        <p14:creationId xmlns:p14="http://schemas.microsoft.com/office/powerpoint/2010/main" val="35980095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after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1+#ppt_w/2"/>
                                          </p:val>
                                        </p:tav>
                                        <p:tav tm="100000">
                                          <p:val>
                                            <p:strVal val="#ppt_x"/>
                                          </p:val>
                                        </p:tav>
                                      </p:tavLst>
                                    </p:anim>
                                    <p:anim calcmode="lin" valueType="num">
                                      <p:cBhvr additive="base">
                                        <p:cTn id="8" dur="500" fill="hold"/>
                                        <p:tgtEl>
                                          <p:spTgt spid="5"/>
                                        </p:tgtEl>
                                        <p:attrNameLst>
                                          <p:attrName>ppt_y</p:attrName>
                                        </p:attrNameLst>
                                      </p:cBhvr>
                                      <p:tavLst>
                                        <p:tav tm="0">
                                          <p:val>
                                            <p:strVal val="#ppt_y"/>
                                          </p:val>
                                        </p:tav>
                                        <p:tav tm="100000">
                                          <p:val>
                                            <p:strVal val="#ppt_y"/>
                                          </p:val>
                                        </p:tav>
                                      </p:tavLst>
                                    </p:anim>
                                  </p:childTnLst>
                                </p:cTn>
                              </p:par>
                              <p:par>
                                <p:cTn id="9" presetID="2" presetClass="entr" presetSubtype="6" fill="hold" grpId="0" nodeType="withEffect">
                                  <p:stCondLst>
                                    <p:cond delay="0"/>
                                  </p:stCondLst>
                                  <p:childTnLst>
                                    <p:set>
                                      <p:cBhvr>
                                        <p:cTn id="10" dur="1" fill="hold">
                                          <p:stCondLst>
                                            <p:cond delay="0"/>
                                          </p:stCondLst>
                                        </p:cTn>
                                        <p:tgtEl>
                                          <p:spTgt spid="4"/>
                                        </p:tgtEl>
                                        <p:attrNameLst>
                                          <p:attrName>style.visibility</p:attrName>
                                        </p:attrNameLst>
                                      </p:cBhvr>
                                      <p:to>
                                        <p:strVal val="visible"/>
                                      </p:to>
                                    </p:set>
                                    <p:anim calcmode="lin" valueType="num">
                                      <p:cBhvr additive="base">
                                        <p:cTn id="11" dur="500" fill="hold"/>
                                        <p:tgtEl>
                                          <p:spTgt spid="4"/>
                                        </p:tgtEl>
                                        <p:attrNameLst>
                                          <p:attrName>ppt_x</p:attrName>
                                        </p:attrNameLst>
                                      </p:cBhvr>
                                      <p:tavLst>
                                        <p:tav tm="0">
                                          <p:val>
                                            <p:strVal val="1+#ppt_w/2"/>
                                          </p:val>
                                        </p:tav>
                                        <p:tav tm="100000">
                                          <p:val>
                                            <p:strVal val="#ppt_x"/>
                                          </p:val>
                                        </p:tav>
                                      </p:tavLst>
                                    </p:anim>
                                    <p:anim calcmode="lin" valueType="num">
                                      <p:cBhvr additive="base">
                                        <p:cTn id="12" dur="500" fill="hold"/>
                                        <p:tgtEl>
                                          <p:spTgt spid="4"/>
                                        </p:tgtEl>
                                        <p:attrNameLst>
                                          <p:attrName>ppt_y</p:attrName>
                                        </p:attrNameLst>
                                      </p:cBhvr>
                                      <p:tavLst>
                                        <p:tav tm="0">
                                          <p:val>
                                            <p:strVal val="1+#ppt_h/2"/>
                                          </p:val>
                                        </p:tav>
                                        <p:tav tm="100000">
                                          <p:val>
                                            <p:strVal val="#ppt_y"/>
                                          </p:val>
                                        </p:tav>
                                      </p:tavLst>
                                    </p:anim>
                                  </p:childTnLst>
                                </p:cTn>
                              </p:par>
                            </p:childTnLst>
                          </p:cTn>
                        </p:par>
                        <p:par>
                          <p:cTn id="13" fill="hold">
                            <p:stCondLst>
                              <p:cond delay="500"/>
                            </p:stCondLst>
                            <p:childTnLst>
                              <p:par>
                                <p:cTn id="14" presetID="10" presetClass="entr" presetSubtype="0" fill="hold" nodeType="afterEffect">
                                  <p:stCondLst>
                                    <p:cond delay="0"/>
                                  </p:stCondLst>
                                  <p:childTnLst>
                                    <p:set>
                                      <p:cBhvr>
                                        <p:cTn id="15" dur="1" fill="hold">
                                          <p:stCondLst>
                                            <p:cond delay="0"/>
                                          </p:stCondLst>
                                        </p:cTn>
                                        <p:tgtEl>
                                          <p:spTgt spid="4">
                                            <p:txEl>
                                              <p:pRg st="0" end="0"/>
                                            </p:txEl>
                                          </p:spTgt>
                                        </p:tgtEl>
                                        <p:attrNameLst>
                                          <p:attrName>style.visibility</p:attrName>
                                        </p:attrNameLst>
                                      </p:cBhvr>
                                      <p:to>
                                        <p:strVal val="visible"/>
                                      </p:to>
                                    </p:set>
                                    <p:animEffect transition="in" filter="fade">
                                      <p:cBhvr>
                                        <p:cTn id="16" dur="500"/>
                                        <p:tgtEl>
                                          <p:spTgt spid="4">
                                            <p:txEl>
                                              <p:pRg st="0" end="0"/>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4">
                                            <p:txEl>
                                              <p:pRg st="1" end="1"/>
                                            </p:txEl>
                                          </p:spTgt>
                                        </p:tgtEl>
                                        <p:attrNameLst>
                                          <p:attrName>style.visibility</p:attrName>
                                        </p:attrNameLst>
                                      </p:cBhvr>
                                      <p:to>
                                        <p:strVal val="visible"/>
                                      </p:to>
                                    </p:set>
                                    <p:animEffect transition="in" filter="fade">
                                      <p:cBhvr>
                                        <p:cTn id="21" dur="500"/>
                                        <p:tgtEl>
                                          <p:spTgt spid="4">
                                            <p:txEl>
                                              <p:pRg st="1" end="1"/>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4">
                                            <p:txEl>
                                              <p:pRg st="2" end="2"/>
                                            </p:txEl>
                                          </p:spTgt>
                                        </p:tgtEl>
                                        <p:attrNameLst>
                                          <p:attrName>style.visibility</p:attrName>
                                        </p:attrNameLst>
                                      </p:cBhvr>
                                      <p:to>
                                        <p:strVal val="visible"/>
                                      </p:to>
                                    </p:set>
                                    <p:animEffect transition="in" filter="fade">
                                      <p:cBhvr>
                                        <p:cTn id="26" dur="500"/>
                                        <p:tgtEl>
                                          <p:spTgt spid="4">
                                            <p:txEl>
                                              <p:pRg st="2" end="2"/>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4">
                                            <p:txEl>
                                              <p:pRg st="3" end="3"/>
                                            </p:txEl>
                                          </p:spTgt>
                                        </p:tgtEl>
                                        <p:attrNameLst>
                                          <p:attrName>style.visibility</p:attrName>
                                        </p:attrNameLst>
                                      </p:cBhvr>
                                      <p:to>
                                        <p:strVal val="visible"/>
                                      </p:to>
                                    </p:set>
                                    <p:animEffect transition="in" filter="fade">
                                      <p:cBhvr>
                                        <p:cTn id="31" dur="500"/>
                                        <p:tgtEl>
                                          <p:spTgt spid="4">
                                            <p:txEl>
                                              <p:pRg st="3" end="3"/>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4">
                                            <p:txEl>
                                              <p:pRg st="4" end="4"/>
                                            </p:txEl>
                                          </p:spTgt>
                                        </p:tgtEl>
                                        <p:attrNameLst>
                                          <p:attrName>style.visibility</p:attrName>
                                        </p:attrNameLst>
                                      </p:cBhvr>
                                      <p:to>
                                        <p:strVal val="visible"/>
                                      </p:to>
                                    </p:set>
                                    <p:animEffect transition="in" filter="fade">
                                      <p:cBhvr>
                                        <p:cTn id="36" dur="500"/>
                                        <p:tgtEl>
                                          <p:spTgt spid="4">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B07457-7650-4902-8E93-C7B9DD1D9D59}"/>
              </a:ext>
            </a:extLst>
          </p:cNvPr>
          <p:cNvSpPr>
            <a:spLocks noGrp="1"/>
          </p:cNvSpPr>
          <p:nvPr>
            <p:ph type="title"/>
          </p:nvPr>
        </p:nvSpPr>
        <p:spPr/>
        <p:txBody>
          <a:bodyPr/>
          <a:lstStyle/>
          <a:p>
            <a:r>
              <a:rPr lang="en-GB" dirty="0">
                <a:solidFill>
                  <a:srgbClr val="FF0000"/>
                </a:solidFill>
              </a:rPr>
              <a:t>To breach or not to breach?</a:t>
            </a:r>
            <a:endParaRPr lang="en-US" dirty="0">
              <a:solidFill>
                <a:srgbClr val="FF0000"/>
              </a:solidFill>
            </a:endParaRPr>
          </a:p>
        </p:txBody>
      </p:sp>
      <p:sp>
        <p:nvSpPr>
          <p:cNvPr id="3" name="Content Placeholder 2">
            <a:extLst>
              <a:ext uri="{FF2B5EF4-FFF2-40B4-BE49-F238E27FC236}">
                <a16:creationId xmlns:a16="http://schemas.microsoft.com/office/drawing/2014/main" id="{8BE65030-971E-4613-A1EC-D30438702E5A}"/>
              </a:ext>
            </a:extLst>
          </p:cNvPr>
          <p:cNvSpPr>
            <a:spLocks noGrp="1"/>
          </p:cNvSpPr>
          <p:nvPr>
            <p:ph idx="4294967295"/>
          </p:nvPr>
        </p:nvSpPr>
        <p:spPr>
          <a:xfrm>
            <a:off x="838200" y="1825625"/>
            <a:ext cx="10515600" cy="4351338"/>
          </a:xfrm>
          <a:solidFill>
            <a:srgbClr val="003300">
              <a:alpha val="50196"/>
            </a:srgbClr>
          </a:solidFill>
        </p:spPr>
        <p:txBody>
          <a:bodyPr vert="horz" lIns="91440" tIns="45720" rIns="91440" bIns="45720" rtlCol="0">
            <a:normAutofit lnSpcReduction="10000"/>
          </a:bodyPr>
          <a:lstStyle/>
          <a:p>
            <a:r>
              <a:rPr lang="en-GB" dirty="0">
                <a:solidFill>
                  <a:schemeClr val="bg1"/>
                </a:solidFill>
              </a:rPr>
              <a:t>Jane wants to use an image she found on the internet for her ICT coursework. She contacts the owner to check if she can use it. The owner gives Jane their permission. Has Jane breached the act? Why? Why not?</a:t>
            </a:r>
          </a:p>
          <a:p>
            <a:pPr lvl="1"/>
            <a:r>
              <a:rPr lang="en-GB" dirty="0">
                <a:solidFill>
                  <a:schemeClr val="bg1"/>
                </a:solidFill>
              </a:rPr>
              <a:t>No, she has not breached the act. She gained the owners permission from the owner before using the material.</a:t>
            </a:r>
          </a:p>
          <a:p>
            <a:r>
              <a:rPr lang="en-GB" dirty="0">
                <a:solidFill>
                  <a:schemeClr val="bg1"/>
                </a:solidFill>
              </a:rPr>
              <a:t>Sam purchases a song from iTunes to use in his Moving Image coursework. His friend, Tom, asks for a copy of the song for his project. Is this a breach of the Act?</a:t>
            </a:r>
          </a:p>
          <a:p>
            <a:pPr lvl="1"/>
            <a:r>
              <a:rPr lang="en-GB" dirty="0">
                <a:solidFill>
                  <a:schemeClr val="bg1"/>
                </a:solidFill>
              </a:rPr>
              <a:t>Yes, both Sam and Tom have breached the Act. Although Sam legally purchased the music, he breached the act by sharing the music file. Tom also breached the act as he has used the song without a licence.</a:t>
            </a:r>
            <a:endParaRPr lang="en-US" dirty="0">
              <a:solidFill>
                <a:schemeClr val="bg1"/>
              </a:solidFill>
            </a:endParaRPr>
          </a:p>
        </p:txBody>
      </p:sp>
    </p:spTree>
    <p:extLst>
      <p:ext uri="{BB962C8B-B14F-4D97-AF65-F5344CB8AC3E}">
        <p14:creationId xmlns:p14="http://schemas.microsoft.com/office/powerpoint/2010/main" val="35291057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726613-BF98-4F99-907C-C2EDBF3442A6}"/>
              </a:ext>
            </a:extLst>
          </p:cNvPr>
          <p:cNvSpPr>
            <a:spLocks noGrp="1"/>
          </p:cNvSpPr>
          <p:nvPr>
            <p:ph type="title"/>
          </p:nvPr>
        </p:nvSpPr>
        <p:spPr/>
        <p:txBody>
          <a:bodyPr/>
          <a:lstStyle/>
          <a:p>
            <a:pPr algn="r"/>
            <a:r>
              <a:rPr lang="en-GB" dirty="0"/>
              <a:t>What is the Act for?</a:t>
            </a:r>
            <a:endParaRPr lang="en-US" dirty="0"/>
          </a:p>
        </p:txBody>
      </p:sp>
      <p:sp>
        <p:nvSpPr>
          <p:cNvPr id="4" name="Content Placeholder 3">
            <a:extLst>
              <a:ext uri="{FF2B5EF4-FFF2-40B4-BE49-F238E27FC236}">
                <a16:creationId xmlns:a16="http://schemas.microsoft.com/office/drawing/2014/main" id="{D6F1D6A5-5B4D-4C1C-8D6D-C7A003EB2BAF}"/>
              </a:ext>
            </a:extLst>
          </p:cNvPr>
          <p:cNvSpPr>
            <a:spLocks noGrp="1"/>
          </p:cNvSpPr>
          <p:nvPr>
            <p:ph idx="4294967295"/>
          </p:nvPr>
        </p:nvSpPr>
        <p:spPr>
          <a:xfrm>
            <a:off x="838200" y="1825625"/>
            <a:ext cx="10515600" cy="4351338"/>
          </a:xfrm>
          <a:solidFill>
            <a:srgbClr val="003300">
              <a:alpha val="50196"/>
            </a:srgbClr>
          </a:solidFill>
        </p:spPr>
        <p:txBody>
          <a:bodyPr vert="horz" lIns="91440" tIns="45720" rIns="91440" bIns="45720" rtlCol="0">
            <a:normAutofit lnSpcReduction="10000"/>
          </a:bodyPr>
          <a:lstStyle/>
          <a:p>
            <a:r>
              <a:rPr lang="en-GB" dirty="0">
                <a:solidFill>
                  <a:schemeClr val="bg1"/>
                </a:solidFill>
              </a:rPr>
              <a:t>This act was designed to address:</a:t>
            </a:r>
          </a:p>
          <a:p>
            <a:endParaRPr lang="en-GB" dirty="0">
              <a:solidFill>
                <a:schemeClr val="bg1"/>
              </a:solidFill>
            </a:endParaRPr>
          </a:p>
          <a:p>
            <a:r>
              <a:rPr lang="en-GB" dirty="0">
                <a:solidFill>
                  <a:schemeClr val="bg1"/>
                </a:solidFill>
              </a:rPr>
              <a:t>Illegally copying/distributing/downloading software</a:t>
            </a:r>
          </a:p>
          <a:p>
            <a:endParaRPr lang="en-GB" dirty="0">
              <a:solidFill>
                <a:schemeClr val="bg1"/>
              </a:solidFill>
            </a:endParaRPr>
          </a:p>
          <a:p>
            <a:r>
              <a:rPr lang="en-GB" dirty="0">
                <a:solidFill>
                  <a:schemeClr val="bg1"/>
                </a:solidFill>
              </a:rPr>
              <a:t>Theft of ideas from one company for use in another</a:t>
            </a:r>
          </a:p>
          <a:p>
            <a:endParaRPr lang="en-GB" dirty="0">
              <a:solidFill>
                <a:schemeClr val="bg1"/>
              </a:solidFill>
            </a:endParaRPr>
          </a:p>
          <a:p>
            <a:r>
              <a:rPr lang="en-GB" dirty="0">
                <a:solidFill>
                  <a:schemeClr val="bg1"/>
                </a:solidFill>
              </a:rPr>
              <a:t>Using software with an unlicensed key</a:t>
            </a:r>
          </a:p>
          <a:p>
            <a:endParaRPr lang="en-GB" dirty="0">
              <a:solidFill>
                <a:schemeClr val="bg1"/>
              </a:solidFill>
            </a:endParaRPr>
          </a:p>
          <a:p>
            <a:r>
              <a:rPr lang="en-GB" dirty="0">
                <a:solidFill>
                  <a:schemeClr val="bg1"/>
                </a:solidFill>
              </a:rPr>
              <a:t>Downloading software/images without payment</a:t>
            </a:r>
          </a:p>
          <a:p>
            <a:endParaRPr lang="en-US" dirty="0">
              <a:solidFill>
                <a:schemeClr val="bg1"/>
              </a:solidFill>
            </a:endParaRPr>
          </a:p>
        </p:txBody>
      </p:sp>
    </p:spTree>
    <p:extLst>
      <p:ext uri="{BB962C8B-B14F-4D97-AF65-F5344CB8AC3E}">
        <p14:creationId xmlns:p14="http://schemas.microsoft.com/office/powerpoint/2010/main" val="28456306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after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 calcmode="lin" valueType="num">
                                      <p:cBhvr additive="base">
                                        <p:cTn id="7" dur="500" fill="hold"/>
                                        <p:tgtEl>
                                          <p:spTgt spid="4">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4">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4">
                                            <p:txEl>
                                              <p:pRg st="2" end="2"/>
                                            </p:txEl>
                                          </p:spTgt>
                                        </p:tgtEl>
                                        <p:attrNameLst>
                                          <p:attrName>style.visibility</p:attrName>
                                        </p:attrNameLst>
                                      </p:cBhvr>
                                      <p:to>
                                        <p:strVal val="visible"/>
                                      </p:to>
                                    </p:set>
                                    <p:anim calcmode="lin" valueType="num">
                                      <p:cBhvr additive="base">
                                        <p:cTn id="13" dur="500" fill="hold"/>
                                        <p:tgtEl>
                                          <p:spTgt spid="4">
                                            <p:txEl>
                                              <p:pRg st="2" end="2"/>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4">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anim calcmode="lin" valueType="num">
                                      <p:cBhvr additive="base">
                                        <p:cTn id="19" dur="500" fill="hold"/>
                                        <p:tgtEl>
                                          <p:spTgt spid="4">
                                            <p:txEl>
                                              <p:pRg st="4" end="4"/>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4">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4">
                                            <p:txEl>
                                              <p:pRg st="6" end="6"/>
                                            </p:txEl>
                                          </p:spTgt>
                                        </p:tgtEl>
                                        <p:attrNameLst>
                                          <p:attrName>style.visibility</p:attrName>
                                        </p:attrNameLst>
                                      </p:cBhvr>
                                      <p:to>
                                        <p:strVal val="visible"/>
                                      </p:to>
                                    </p:set>
                                    <p:anim calcmode="lin" valueType="num">
                                      <p:cBhvr additive="base">
                                        <p:cTn id="25" dur="500" fill="hold"/>
                                        <p:tgtEl>
                                          <p:spTgt spid="4">
                                            <p:txEl>
                                              <p:pRg st="6" end="6"/>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4">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nodeType="clickEffect">
                                  <p:stCondLst>
                                    <p:cond delay="0"/>
                                  </p:stCondLst>
                                  <p:childTnLst>
                                    <p:set>
                                      <p:cBhvr>
                                        <p:cTn id="30" dur="1" fill="hold">
                                          <p:stCondLst>
                                            <p:cond delay="0"/>
                                          </p:stCondLst>
                                        </p:cTn>
                                        <p:tgtEl>
                                          <p:spTgt spid="4">
                                            <p:txEl>
                                              <p:pRg st="8" end="8"/>
                                            </p:txEl>
                                          </p:spTgt>
                                        </p:tgtEl>
                                        <p:attrNameLst>
                                          <p:attrName>style.visibility</p:attrName>
                                        </p:attrNameLst>
                                      </p:cBhvr>
                                      <p:to>
                                        <p:strVal val="visible"/>
                                      </p:to>
                                    </p:set>
                                    <p:anim calcmode="lin" valueType="num">
                                      <p:cBhvr additive="base">
                                        <p:cTn id="31" dur="500" fill="hold"/>
                                        <p:tgtEl>
                                          <p:spTgt spid="4">
                                            <p:txEl>
                                              <p:pRg st="8" end="8"/>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4">
                                            <p:txEl>
                                              <p:pRg st="8" end="8"/>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6D1076-F6CB-45FE-AA4F-230EBE0D9E0A}"/>
              </a:ext>
            </a:extLst>
          </p:cNvPr>
          <p:cNvSpPr>
            <a:spLocks noGrp="1"/>
          </p:cNvSpPr>
          <p:nvPr>
            <p:ph type="title"/>
          </p:nvPr>
        </p:nvSpPr>
        <p:spPr/>
        <p:txBody>
          <a:bodyPr/>
          <a:lstStyle/>
          <a:p>
            <a:r>
              <a:rPr lang="en-GB" dirty="0">
                <a:solidFill>
                  <a:srgbClr val="FF0000"/>
                </a:solidFill>
              </a:rPr>
              <a:t>How do you break the Act?</a:t>
            </a:r>
            <a:endParaRPr lang="en-US" dirty="0">
              <a:solidFill>
                <a:srgbClr val="FF0000"/>
              </a:solidFill>
            </a:endParaRPr>
          </a:p>
        </p:txBody>
      </p:sp>
      <p:sp>
        <p:nvSpPr>
          <p:cNvPr id="3" name="Content Placeholder 2">
            <a:extLst>
              <a:ext uri="{FF2B5EF4-FFF2-40B4-BE49-F238E27FC236}">
                <a16:creationId xmlns:a16="http://schemas.microsoft.com/office/drawing/2014/main" id="{0A4442EF-F27E-4C47-B08A-AC2BAFC969D6}"/>
              </a:ext>
            </a:extLst>
          </p:cNvPr>
          <p:cNvSpPr>
            <a:spLocks noGrp="1"/>
          </p:cNvSpPr>
          <p:nvPr>
            <p:ph idx="4294967295"/>
          </p:nvPr>
        </p:nvSpPr>
        <p:spPr>
          <a:xfrm>
            <a:off x="838200" y="1825625"/>
            <a:ext cx="10515600" cy="4351338"/>
          </a:xfrm>
          <a:solidFill>
            <a:srgbClr val="003300">
              <a:alpha val="50196"/>
            </a:srgbClr>
          </a:solidFill>
        </p:spPr>
        <p:txBody>
          <a:bodyPr vert="horz" lIns="91440" tIns="45720" rIns="91440" bIns="45720" rtlCol="0">
            <a:normAutofit/>
          </a:bodyPr>
          <a:lstStyle/>
          <a:p>
            <a:r>
              <a:rPr lang="en-GB" dirty="0">
                <a:solidFill>
                  <a:schemeClr val="bg1"/>
                </a:solidFill>
              </a:rPr>
              <a:t>Download and use copyrighted images </a:t>
            </a:r>
          </a:p>
          <a:p>
            <a:r>
              <a:rPr lang="en-GB" dirty="0">
                <a:solidFill>
                  <a:schemeClr val="bg1"/>
                </a:solidFill>
              </a:rPr>
              <a:t>Install software without licence / bypassing the licence </a:t>
            </a:r>
          </a:p>
          <a:p>
            <a:r>
              <a:rPr lang="en-GB" dirty="0">
                <a:solidFill>
                  <a:schemeClr val="bg1"/>
                </a:solidFill>
              </a:rPr>
              <a:t>Illegal file-sharing</a:t>
            </a:r>
          </a:p>
          <a:p>
            <a:r>
              <a:rPr lang="en-GB" dirty="0">
                <a:solidFill>
                  <a:schemeClr val="bg1"/>
                </a:solidFill>
              </a:rPr>
              <a:t>Copy/pasting from a website/</a:t>
            </a:r>
            <a:r>
              <a:rPr lang="en-GB" dirty="0" err="1">
                <a:solidFill>
                  <a:schemeClr val="bg1"/>
                </a:solidFill>
              </a:rPr>
              <a:t>ebook</a:t>
            </a:r>
            <a:r>
              <a:rPr lang="en-GB" dirty="0">
                <a:solidFill>
                  <a:schemeClr val="bg1"/>
                </a:solidFill>
              </a:rPr>
              <a:t>/etc and declaring it as your own</a:t>
            </a:r>
            <a:endParaRPr lang="en-US" dirty="0">
              <a:solidFill>
                <a:schemeClr val="bg1"/>
              </a:solidFill>
            </a:endParaRPr>
          </a:p>
        </p:txBody>
      </p:sp>
    </p:spTree>
    <p:extLst>
      <p:ext uri="{BB962C8B-B14F-4D97-AF65-F5344CB8AC3E}">
        <p14:creationId xmlns:p14="http://schemas.microsoft.com/office/powerpoint/2010/main" val="28674369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 calcmode="lin" valueType="num">
                                      <p:cBhvr additive="base">
                                        <p:cTn id="25"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C84EA7-8D07-41A0-91FF-E4F8BC9F76A4}"/>
              </a:ext>
            </a:extLst>
          </p:cNvPr>
          <p:cNvSpPr>
            <a:spLocks noGrp="1"/>
          </p:cNvSpPr>
          <p:nvPr>
            <p:ph type="title"/>
          </p:nvPr>
        </p:nvSpPr>
        <p:spPr/>
        <p:txBody>
          <a:bodyPr>
            <a:normAutofit/>
          </a:bodyPr>
          <a:lstStyle/>
          <a:p>
            <a:r>
              <a:rPr lang="en-GB" dirty="0">
                <a:solidFill>
                  <a:srgbClr val="FF0000"/>
                </a:solidFill>
              </a:rPr>
              <a:t>Copying Images from the WWW</a:t>
            </a:r>
            <a:endParaRPr lang="en-US" dirty="0">
              <a:solidFill>
                <a:srgbClr val="FF0000"/>
              </a:solidFill>
            </a:endParaRPr>
          </a:p>
        </p:txBody>
      </p:sp>
      <p:sp>
        <p:nvSpPr>
          <p:cNvPr id="3" name="Content Placeholder 2">
            <a:extLst>
              <a:ext uri="{FF2B5EF4-FFF2-40B4-BE49-F238E27FC236}">
                <a16:creationId xmlns:a16="http://schemas.microsoft.com/office/drawing/2014/main" id="{3D80AB63-9B87-4114-8E65-3F17A306916D}"/>
              </a:ext>
            </a:extLst>
          </p:cNvPr>
          <p:cNvSpPr>
            <a:spLocks noGrp="1"/>
          </p:cNvSpPr>
          <p:nvPr>
            <p:ph idx="4294967295"/>
          </p:nvPr>
        </p:nvSpPr>
        <p:spPr>
          <a:xfrm>
            <a:off x="838200" y="1825625"/>
            <a:ext cx="10515600" cy="4351338"/>
          </a:xfrm>
          <a:solidFill>
            <a:srgbClr val="003300">
              <a:alpha val="50196"/>
            </a:srgbClr>
          </a:solidFill>
        </p:spPr>
        <p:txBody>
          <a:bodyPr vert="horz" lIns="91440" tIns="45720" rIns="91440" bIns="45720" rtlCol="0">
            <a:normAutofit lnSpcReduction="10000"/>
          </a:bodyPr>
          <a:lstStyle/>
          <a:p>
            <a:r>
              <a:rPr lang="en-GB" dirty="0">
                <a:solidFill>
                  <a:schemeClr val="bg1"/>
                </a:solidFill>
              </a:rPr>
              <a:t>Images and photos on the WWW are protected the exact same as printed/published work</a:t>
            </a:r>
          </a:p>
          <a:p>
            <a:pPr lvl="1"/>
            <a:r>
              <a:rPr lang="en-GB" dirty="0">
                <a:solidFill>
                  <a:schemeClr val="bg1"/>
                </a:solidFill>
              </a:rPr>
              <a:t>I.e. Soft copies are still protected by copyright law</a:t>
            </a:r>
          </a:p>
          <a:p>
            <a:r>
              <a:rPr lang="en-GB" dirty="0">
                <a:solidFill>
                  <a:schemeClr val="bg1"/>
                </a:solidFill>
              </a:rPr>
              <a:t>Images can be downloaded legally under the following circumstances:</a:t>
            </a:r>
          </a:p>
          <a:p>
            <a:pPr lvl="1"/>
            <a:r>
              <a:rPr lang="en-GB" dirty="0">
                <a:solidFill>
                  <a:schemeClr val="bg1"/>
                </a:solidFill>
              </a:rPr>
              <a:t>The image is open source / Non-copyright</a:t>
            </a:r>
          </a:p>
          <a:p>
            <a:pPr lvl="1"/>
            <a:r>
              <a:rPr lang="en-GB" dirty="0">
                <a:solidFill>
                  <a:schemeClr val="bg1"/>
                </a:solidFill>
              </a:rPr>
              <a:t>Credit is given to the creator</a:t>
            </a:r>
          </a:p>
          <a:p>
            <a:pPr lvl="1"/>
            <a:r>
              <a:rPr lang="en-GB" dirty="0">
                <a:solidFill>
                  <a:schemeClr val="bg1"/>
                </a:solidFill>
              </a:rPr>
              <a:t>Pay the publisher to use the material</a:t>
            </a:r>
          </a:p>
          <a:p>
            <a:pPr lvl="1"/>
            <a:r>
              <a:rPr lang="en-GB" dirty="0">
                <a:solidFill>
                  <a:schemeClr val="bg1"/>
                </a:solidFill>
              </a:rPr>
              <a:t>Do not use the image for profit/commercial use</a:t>
            </a:r>
          </a:p>
          <a:p>
            <a:pPr lvl="1"/>
            <a:endParaRPr lang="en-GB" dirty="0"/>
          </a:p>
          <a:p>
            <a:r>
              <a:rPr lang="en-GB" dirty="0">
                <a:solidFill>
                  <a:schemeClr val="bg1"/>
                </a:solidFill>
              </a:rPr>
              <a:t>         Allows people to publish images/etc for public to use 	conditionally free of charge</a:t>
            </a:r>
          </a:p>
          <a:p>
            <a:endParaRPr lang="en-US" dirty="0">
              <a:solidFill>
                <a:schemeClr val="bg1"/>
              </a:solidFill>
            </a:endParaRPr>
          </a:p>
        </p:txBody>
      </p:sp>
      <p:pic>
        <p:nvPicPr>
          <p:cNvPr id="4100" name="Picture 4" descr="Image result for creative commons">
            <a:extLst>
              <a:ext uri="{FF2B5EF4-FFF2-40B4-BE49-F238E27FC236}">
                <a16:creationId xmlns:a16="http://schemas.microsoft.com/office/drawing/2014/main" id="{58CFF9B0-F0B0-428E-A2E4-F1C2BFB2AE63}"/>
              </a:ext>
            </a:extLst>
          </p:cNvPr>
          <p:cNvPicPr>
            <a:picLocks noChangeAspect="1" noChangeArrowheads="1"/>
          </p:cNvPicPr>
          <p:nvPr/>
        </p:nvPicPr>
        <p:blipFill>
          <a:blip r:embed="rId3" cstate="print">
            <a:lum bright="70000" contrast="-70000"/>
            <a:extLst>
              <a:ext uri="{28A0092B-C50C-407E-A947-70E740481C1C}">
                <a14:useLocalDpi xmlns:a14="http://schemas.microsoft.com/office/drawing/2010/main" val="0"/>
              </a:ext>
            </a:extLst>
          </a:blip>
          <a:srcRect/>
          <a:stretch>
            <a:fillRect/>
          </a:stretch>
        </p:blipFill>
        <p:spPr bwMode="auto">
          <a:xfrm>
            <a:off x="912893" y="5101381"/>
            <a:ext cx="931197" cy="93119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320016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 calcmode="lin" valueType="num">
                                      <p:cBhvr additive="base">
                                        <p:cTn id="25"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nodeType="click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anim calcmode="lin" valueType="num">
                                      <p:cBhvr additive="base">
                                        <p:cTn id="31"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nodeType="clickEffect">
                                  <p:stCondLst>
                                    <p:cond delay="0"/>
                                  </p:stCondLst>
                                  <p:childTnLst>
                                    <p:set>
                                      <p:cBhvr>
                                        <p:cTn id="36" dur="1" fill="hold">
                                          <p:stCondLst>
                                            <p:cond delay="0"/>
                                          </p:stCondLst>
                                        </p:cTn>
                                        <p:tgtEl>
                                          <p:spTgt spid="3">
                                            <p:txEl>
                                              <p:pRg st="5" end="5"/>
                                            </p:txEl>
                                          </p:spTgt>
                                        </p:tgtEl>
                                        <p:attrNameLst>
                                          <p:attrName>style.visibility</p:attrName>
                                        </p:attrNameLst>
                                      </p:cBhvr>
                                      <p:to>
                                        <p:strVal val="visible"/>
                                      </p:to>
                                    </p:set>
                                    <p:anim calcmode="lin" valueType="num">
                                      <p:cBhvr additive="base">
                                        <p:cTn id="37"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nodeType="clickEffect">
                                  <p:stCondLst>
                                    <p:cond delay="0"/>
                                  </p:stCondLst>
                                  <p:childTnLst>
                                    <p:set>
                                      <p:cBhvr>
                                        <p:cTn id="42" dur="1" fill="hold">
                                          <p:stCondLst>
                                            <p:cond delay="0"/>
                                          </p:stCondLst>
                                        </p:cTn>
                                        <p:tgtEl>
                                          <p:spTgt spid="3">
                                            <p:txEl>
                                              <p:pRg st="6" end="6"/>
                                            </p:txEl>
                                          </p:spTgt>
                                        </p:tgtEl>
                                        <p:attrNameLst>
                                          <p:attrName>style.visibility</p:attrName>
                                        </p:attrNameLst>
                                      </p:cBhvr>
                                      <p:to>
                                        <p:strVal val="visible"/>
                                      </p:to>
                                    </p:set>
                                    <p:anim calcmode="lin" valueType="num">
                                      <p:cBhvr additive="base">
                                        <p:cTn id="43"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3">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nodeType="clickEffect">
                                  <p:stCondLst>
                                    <p:cond delay="0"/>
                                  </p:stCondLst>
                                  <p:childTnLst>
                                    <p:set>
                                      <p:cBhvr>
                                        <p:cTn id="48" dur="1" fill="hold">
                                          <p:stCondLst>
                                            <p:cond delay="0"/>
                                          </p:stCondLst>
                                        </p:cTn>
                                        <p:tgtEl>
                                          <p:spTgt spid="3">
                                            <p:txEl>
                                              <p:pRg st="8" end="8"/>
                                            </p:txEl>
                                          </p:spTgt>
                                        </p:tgtEl>
                                        <p:attrNameLst>
                                          <p:attrName>style.visibility</p:attrName>
                                        </p:attrNameLst>
                                      </p:cBhvr>
                                      <p:to>
                                        <p:strVal val="visible"/>
                                      </p:to>
                                    </p:set>
                                    <p:anim calcmode="lin" valueType="num">
                                      <p:cBhvr additive="base">
                                        <p:cTn id="49" dur="500" fill="hold"/>
                                        <p:tgtEl>
                                          <p:spTgt spid="3">
                                            <p:txEl>
                                              <p:pRg st="8" end="8"/>
                                            </p:txEl>
                                          </p:spTgt>
                                        </p:tgtEl>
                                        <p:attrNameLst>
                                          <p:attrName>ppt_x</p:attrName>
                                        </p:attrNameLst>
                                      </p:cBhvr>
                                      <p:tavLst>
                                        <p:tav tm="0">
                                          <p:val>
                                            <p:strVal val="#ppt_x"/>
                                          </p:val>
                                        </p:tav>
                                        <p:tav tm="100000">
                                          <p:val>
                                            <p:strVal val="#ppt_x"/>
                                          </p:val>
                                        </p:tav>
                                      </p:tavLst>
                                    </p:anim>
                                    <p:anim calcmode="lin" valueType="num">
                                      <p:cBhvr additive="base">
                                        <p:cTn id="50" dur="500" fill="hold"/>
                                        <p:tgtEl>
                                          <p:spTgt spid="3">
                                            <p:txEl>
                                              <p:pRg st="8" end="8"/>
                                            </p:txEl>
                                          </p:spTgt>
                                        </p:tgtEl>
                                        <p:attrNameLst>
                                          <p:attrName>ppt_y</p:attrName>
                                        </p:attrNameLst>
                                      </p:cBhvr>
                                      <p:tavLst>
                                        <p:tav tm="0">
                                          <p:val>
                                            <p:strVal val="1+#ppt_h/2"/>
                                          </p:val>
                                        </p:tav>
                                        <p:tav tm="100000">
                                          <p:val>
                                            <p:strVal val="#ppt_y"/>
                                          </p:val>
                                        </p:tav>
                                      </p:tavLst>
                                    </p:anim>
                                  </p:childTnLst>
                                </p:cTn>
                              </p:par>
                              <p:par>
                                <p:cTn id="51" presetID="21" presetClass="entr" presetSubtype="1" fill="hold" nodeType="withEffect">
                                  <p:stCondLst>
                                    <p:cond delay="0"/>
                                  </p:stCondLst>
                                  <p:childTnLst>
                                    <p:set>
                                      <p:cBhvr>
                                        <p:cTn id="52" dur="1" fill="hold">
                                          <p:stCondLst>
                                            <p:cond delay="0"/>
                                          </p:stCondLst>
                                        </p:cTn>
                                        <p:tgtEl>
                                          <p:spTgt spid="4100"/>
                                        </p:tgtEl>
                                        <p:attrNameLst>
                                          <p:attrName>style.visibility</p:attrName>
                                        </p:attrNameLst>
                                      </p:cBhvr>
                                      <p:to>
                                        <p:strVal val="visible"/>
                                      </p:to>
                                    </p:set>
                                    <p:animEffect transition="in" filter="wheel(1)">
                                      <p:cBhvr>
                                        <p:cTn id="53" dur="500"/>
                                        <p:tgtEl>
                                          <p:spTgt spid="410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49FF1E-E453-4E19-AD0F-41469F580951}"/>
              </a:ext>
            </a:extLst>
          </p:cNvPr>
          <p:cNvSpPr>
            <a:spLocks noGrp="1"/>
          </p:cNvSpPr>
          <p:nvPr>
            <p:ph type="title"/>
          </p:nvPr>
        </p:nvSpPr>
        <p:spPr/>
        <p:txBody>
          <a:bodyPr/>
          <a:lstStyle/>
          <a:p>
            <a:r>
              <a:rPr lang="en-GB" dirty="0">
                <a:solidFill>
                  <a:srgbClr val="FF0000"/>
                </a:solidFill>
              </a:rPr>
              <a:t>Using Software</a:t>
            </a:r>
            <a:endParaRPr lang="en-US" dirty="0">
              <a:solidFill>
                <a:srgbClr val="FF0000"/>
              </a:solidFill>
            </a:endParaRPr>
          </a:p>
        </p:txBody>
      </p:sp>
      <p:sp>
        <p:nvSpPr>
          <p:cNvPr id="3" name="Content Placeholder 2">
            <a:extLst>
              <a:ext uri="{FF2B5EF4-FFF2-40B4-BE49-F238E27FC236}">
                <a16:creationId xmlns:a16="http://schemas.microsoft.com/office/drawing/2014/main" id="{07DE96FC-4A38-4FDC-A19C-B73DF6CCD78F}"/>
              </a:ext>
            </a:extLst>
          </p:cNvPr>
          <p:cNvSpPr>
            <a:spLocks noGrp="1"/>
          </p:cNvSpPr>
          <p:nvPr>
            <p:ph idx="4294967295"/>
          </p:nvPr>
        </p:nvSpPr>
        <p:spPr>
          <a:xfrm>
            <a:off x="838200" y="1825625"/>
            <a:ext cx="10515600" cy="4351338"/>
          </a:xfrm>
          <a:solidFill>
            <a:srgbClr val="003300">
              <a:alpha val="50196"/>
            </a:srgbClr>
          </a:solidFill>
        </p:spPr>
        <p:txBody>
          <a:bodyPr vert="horz" lIns="91440" tIns="45720" rIns="91440" bIns="45720" rtlCol="0">
            <a:normAutofit/>
          </a:bodyPr>
          <a:lstStyle/>
          <a:p>
            <a:r>
              <a:rPr lang="en-GB" dirty="0">
                <a:solidFill>
                  <a:schemeClr val="bg1"/>
                </a:solidFill>
              </a:rPr>
              <a:t>Software can only be installed on a PC/network if the correct licence is obtained</a:t>
            </a:r>
          </a:p>
          <a:p>
            <a:r>
              <a:rPr lang="en-GB" dirty="0">
                <a:solidFill>
                  <a:schemeClr val="bg1"/>
                </a:solidFill>
              </a:rPr>
              <a:t>Network admins must be careful to get the correct licence when installing on a network</a:t>
            </a:r>
          </a:p>
          <a:p>
            <a:r>
              <a:rPr lang="en-GB" dirty="0">
                <a:solidFill>
                  <a:schemeClr val="bg1"/>
                </a:solidFill>
              </a:rPr>
              <a:t>Three categories:</a:t>
            </a:r>
          </a:p>
          <a:p>
            <a:pPr lvl="1"/>
            <a:r>
              <a:rPr lang="en-GB" b="1" dirty="0">
                <a:solidFill>
                  <a:srgbClr val="FF0000"/>
                </a:solidFill>
              </a:rPr>
              <a:t>Single</a:t>
            </a:r>
            <a:r>
              <a:rPr lang="en-GB" dirty="0">
                <a:solidFill>
                  <a:schemeClr val="bg1"/>
                </a:solidFill>
              </a:rPr>
              <a:t>: Only one instance of software / single PC</a:t>
            </a:r>
          </a:p>
          <a:p>
            <a:pPr lvl="1"/>
            <a:r>
              <a:rPr lang="en-GB" b="1" dirty="0">
                <a:solidFill>
                  <a:srgbClr val="FF0000"/>
                </a:solidFill>
              </a:rPr>
              <a:t>Multi-user</a:t>
            </a:r>
            <a:r>
              <a:rPr lang="en-GB" dirty="0">
                <a:solidFill>
                  <a:schemeClr val="bg1"/>
                </a:solidFill>
              </a:rPr>
              <a:t>: Specified number of instances of software/PCs</a:t>
            </a:r>
          </a:p>
          <a:p>
            <a:pPr lvl="1"/>
            <a:r>
              <a:rPr lang="en-GB" b="1" dirty="0">
                <a:solidFill>
                  <a:srgbClr val="FF0000"/>
                </a:solidFill>
              </a:rPr>
              <a:t>Site</a:t>
            </a:r>
            <a:r>
              <a:rPr lang="en-GB" dirty="0">
                <a:solidFill>
                  <a:schemeClr val="bg1"/>
                </a:solidFill>
              </a:rPr>
              <a:t>: All PCs connected on the network can be installed at any site</a:t>
            </a:r>
            <a:endParaRPr lang="en-US" dirty="0">
              <a:solidFill>
                <a:schemeClr val="bg1"/>
              </a:solidFill>
            </a:endParaRPr>
          </a:p>
        </p:txBody>
      </p:sp>
    </p:spTree>
    <p:extLst>
      <p:ext uri="{BB962C8B-B14F-4D97-AF65-F5344CB8AC3E}">
        <p14:creationId xmlns:p14="http://schemas.microsoft.com/office/powerpoint/2010/main" val="4998758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 calcmode="lin" valueType="num">
                                      <p:cBhvr additive="base">
                                        <p:cTn id="25"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nodeType="click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anim calcmode="lin" valueType="num">
                                      <p:cBhvr additive="base">
                                        <p:cTn id="31"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nodeType="clickEffect">
                                  <p:stCondLst>
                                    <p:cond delay="0"/>
                                  </p:stCondLst>
                                  <p:childTnLst>
                                    <p:set>
                                      <p:cBhvr>
                                        <p:cTn id="36" dur="1" fill="hold">
                                          <p:stCondLst>
                                            <p:cond delay="0"/>
                                          </p:stCondLst>
                                        </p:cTn>
                                        <p:tgtEl>
                                          <p:spTgt spid="3">
                                            <p:txEl>
                                              <p:pRg st="5" end="5"/>
                                            </p:txEl>
                                          </p:spTgt>
                                        </p:tgtEl>
                                        <p:attrNameLst>
                                          <p:attrName>style.visibility</p:attrName>
                                        </p:attrNameLst>
                                      </p:cBhvr>
                                      <p:to>
                                        <p:strVal val="visible"/>
                                      </p:to>
                                    </p:set>
                                    <p:anim calcmode="lin" valueType="num">
                                      <p:cBhvr additive="base">
                                        <p:cTn id="37"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3A73E8-7203-4D7E-A4BE-EA22FC7D9C4F}"/>
              </a:ext>
            </a:extLst>
          </p:cNvPr>
          <p:cNvSpPr>
            <a:spLocks noGrp="1"/>
          </p:cNvSpPr>
          <p:nvPr>
            <p:ph type="title"/>
          </p:nvPr>
        </p:nvSpPr>
        <p:spPr/>
        <p:txBody>
          <a:bodyPr>
            <a:normAutofit/>
          </a:bodyPr>
          <a:lstStyle/>
          <a:p>
            <a:r>
              <a:rPr lang="en-GB" dirty="0">
                <a:solidFill>
                  <a:srgbClr val="FF0000"/>
                </a:solidFill>
              </a:rPr>
              <a:t>Protecting against Software Misuse</a:t>
            </a:r>
            <a:endParaRPr lang="en-US" dirty="0">
              <a:solidFill>
                <a:srgbClr val="FF0000"/>
              </a:solidFill>
            </a:endParaRPr>
          </a:p>
        </p:txBody>
      </p:sp>
      <p:sp>
        <p:nvSpPr>
          <p:cNvPr id="3" name="Content Placeholder 2">
            <a:extLst>
              <a:ext uri="{FF2B5EF4-FFF2-40B4-BE49-F238E27FC236}">
                <a16:creationId xmlns:a16="http://schemas.microsoft.com/office/drawing/2014/main" id="{C54E0621-CD2F-4872-9A2E-8E6CE3A52466}"/>
              </a:ext>
            </a:extLst>
          </p:cNvPr>
          <p:cNvSpPr>
            <a:spLocks noGrp="1"/>
          </p:cNvSpPr>
          <p:nvPr>
            <p:ph idx="4294967295"/>
          </p:nvPr>
        </p:nvSpPr>
        <p:spPr>
          <a:xfrm>
            <a:off x="838200" y="1825625"/>
            <a:ext cx="10515600" cy="4351338"/>
          </a:xfrm>
          <a:solidFill>
            <a:srgbClr val="003300">
              <a:alpha val="50196"/>
            </a:srgbClr>
          </a:solidFill>
        </p:spPr>
        <p:txBody>
          <a:bodyPr vert="horz" lIns="91440" tIns="45720" rIns="91440" bIns="45720" rtlCol="0">
            <a:normAutofit lnSpcReduction="10000"/>
          </a:bodyPr>
          <a:lstStyle/>
          <a:p>
            <a:r>
              <a:rPr lang="en-GB" dirty="0">
                <a:solidFill>
                  <a:srgbClr val="FF0000"/>
                </a:solidFill>
              </a:rPr>
              <a:t>F</a:t>
            </a:r>
            <a:r>
              <a:rPr lang="en-GB" dirty="0">
                <a:solidFill>
                  <a:schemeClr val="bg1"/>
                </a:solidFill>
              </a:rPr>
              <a:t>ederation</a:t>
            </a:r>
          </a:p>
          <a:p>
            <a:r>
              <a:rPr lang="en-GB" dirty="0">
                <a:solidFill>
                  <a:srgbClr val="FF0000"/>
                </a:solidFill>
              </a:rPr>
              <a:t>A</a:t>
            </a:r>
            <a:r>
              <a:rPr lang="en-GB" dirty="0">
                <a:solidFill>
                  <a:schemeClr val="bg1"/>
                </a:solidFill>
              </a:rPr>
              <a:t>gainst</a:t>
            </a:r>
          </a:p>
          <a:p>
            <a:r>
              <a:rPr lang="en-GB" dirty="0">
                <a:solidFill>
                  <a:srgbClr val="FF0000"/>
                </a:solidFill>
              </a:rPr>
              <a:t>S</a:t>
            </a:r>
            <a:r>
              <a:rPr lang="en-GB" dirty="0">
                <a:solidFill>
                  <a:schemeClr val="bg1"/>
                </a:solidFill>
              </a:rPr>
              <a:t>oftware				- Organisation to police software licencing</a:t>
            </a:r>
          </a:p>
          <a:p>
            <a:r>
              <a:rPr lang="en-GB" dirty="0">
                <a:solidFill>
                  <a:srgbClr val="FF0000"/>
                </a:solidFill>
              </a:rPr>
              <a:t>T</a:t>
            </a:r>
            <a:r>
              <a:rPr lang="en-GB" dirty="0">
                <a:solidFill>
                  <a:schemeClr val="bg1"/>
                </a:solidFill>
              </a:rPr>
              <a:t>heft				- Prosecutes those breaching licence</a:t>
            </a:r>
          </a:p>
          <a:p>
            <a:endParaRPr lang="en-GB" dirty="0">
              <a:solidFill>
                <a:schemeClr val="bg1"/>
              </a:solidFill>
            </a:endParaRPr>
          </a:p>
          <a:p>
            <a:r>
              <a:rPr lang="en-GB" dirty="0">
                <a:solidFill>
                  <a:schemeClr val="bg1"/>
                </a:solidFill>
              </a:rPr>
              <a:t>Online Registration		- must authenticate online before use</a:t>
            </a:r>
          </a:p>
          <a:p>
            <a:endParaRPr lang="en-GB" dirty="0">
              <a:solidFill>
                <a:schemeClr val="bg1"/>
              </a:solidFill>
            </a:endParaRPr>
          </a:p>
          <a:p>
            <a:r>
              <a:rPr lang="en-GB" dirty="0">
                <a:solidFill>
                  <a:schemeClr val="bg1"/>
                </a:solidFill>
              </a:rPr>
              <a:t>CD/DVD Use			- CD must be in tray to use</a:t>
            </a:r>
            <a:endParaRPr lang="en-US" dirty="0">
              <a:solidFill>
                <a:schemeClr val="bg1"/>
              </a:solidFill>
            </a:endParaRPr>
          </a:p>
        </p:txBody>
      </p:sp>
      <p:cxnSp>
        <p:nvCxnSpPr>
          <p:cNvPr id="5" name="Straight Connector 4">
            <a:extLst>
              <a:ext uri="{FF2B5EF4-FFF2-40B4-BE49-F238E27FC236}">
                <a16:creationId xmlns:a16="http://schemas.microsoft.com/office/drawing/2014/main" id="{43A53206-11C9-4BB3-AFC4-E529F772DEC4}"/>
              </a:ext>
            </a:extLst>
          </p:cNvPr>
          <p:cNvCxnSpPr/>
          <p:nvPr/>
        </p:nvCxnSpPr>
        <p:spPr>
          <a:xfrm>
            <a:off x="5329988" y="1949116"/>
            <a:ext cx="0" cy="1900990"/>
          </a:xfrm>
          <a:prstGeom prst="line">
            <a:avLst/>
          </a:prstGeom>
          <a:ln w="57150">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860826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after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par>
                          <p:cTn id="9" fill="hold">
                            <p:stCondLst>
                              <p:cond delay="500"/>
                            </p:stCondLst>
                            <p:childTnLst>
                              <p:par>
                                <p:cTn id="10" presetID="2" presetClass="entr" presetSubtype="4" fill="hold" nodeType="after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 calcmode="lin" valueType="num">
                                      <p:cBhvr additive="base">
                                        <p:cTn id="12"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3"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par>
                          <p:cTn id="14" fill="hold">
                            <p:stCondLst>
                              <p:cond delay="1000"/>
                            </p:stCondLst>
                            <p:childTnLst>
                              <p:par>
                                <p:cTn id="15" presetID="2" presetClass="entr" presetSubtype="4" fill="hold" nodeType="after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 calcmode="lin" valueType="num">
                                      <p:cBhvr additive="base">
                                        <p:cTn id="17"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18"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par>
                          <p:cTn id="19" fill="hold">
                            <p:stCondLst>
                              <p:cond delay="1500"/>
                            </p:stCondLst>
                            <p:childTnLst>
                              <p:par>
                                <p:cTn id="20" presetID="2" presetClass="entr" presetSubtype="4" fill="hold" nodeType="after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 calcmode="lin" valueType="num">
                                      <p:cBhvr additive="base">
                                        <p:cTn id="22"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3"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2" presetClass="entr" presetSubtype="4" fill="hold" nodeType="clickEffect">
                                  <p:stCondLst>
                                    <p:cond delay="0"/>
                                  </p:stCondLst>
                                  <p:childTnLst>
                                    <p:set>
                                      <p:cBhvr>
                                        <p:cTn id="27" dur="1" fill="hold">
                                          <p:stCondLst>
                                            <p:cond delay="0"/>
                                          </p:stCondLst>
                                        </p:cTn>
                                        <p:tgtEl>
                                          <p:spTgt spid="3">
                                            <p:txEl>
                                              <p:pRg st="5" end="5"/>
                                            </p:txEl>
                                          </p:spTgt>
                                        </p:tgtEl>
                                        <p:attrNameLst>
                                          <p:attrName>style.visibility</p:attrName>
                                        </p:attrNameLst>
                                      </p:cBhvr>
                                      <p:to>
                                        <p:strVal val="visible"/>
                                      </p:to>
                                    </p:set>
                                    <p:anim calcmode="lin" valueType="num">
                                      <p:cBhvr additive="base">
                                        <p:cTn id="28"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29"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0" fill="hold">
                      <p:stCondLst>
                        <p:cond delay="indefinite"/>
                      </p:stCondLst>
                      <p:childTnLst>
                        <p:par>
                          <p:cTn id="31" fill="hold">
                            <p:stCondLst>
                              <p:cond delay="0"/>
                            </p:stCondLst>
                            <p:childTnLst>
                              <p:par>
                                <p:cTn id="32" presetID="2" presetClass="entr" presetSubtype="4" fill="hold" nodeType="clickEffect">
                                  <p:stCondLst>
                                    <p:cond delay="0"/>
                                  </p:stCondLst>
                                  <p:childTnLst>
                                    <p:set>
                                      <p:cBhvr>
                                        <p:cTn id="33" dur="1" fill="hold">
                                          <p:stCondLst>
                                            <p:cond delay="0"/>
                                          </p:stCondLst>
                                        </p:cTn>
                                        <p:tgtEl>
                                          <p:spTgt spid="3">
                                            <p:txEl>
                                              <p:pRg st="7" end="7"/>
                                            </p:txEl>
                                          </p:spTgt>
                                        </p:tgtEl>
                                        <p:attrNameLst>
                                          <p:attrName>style.visibility</p:attrName>
                                        </p:attrNameLst>
                                      </p:cBhvr>
                                      <p:to>
                                        <p:strVal val="visible"/>
                                      </p:to>
                                    </p:set>
                                    <p:anim calcmode="lin" valueType="num">
                                      <p:cBhvr additive="base">
                                        <p:cTn id="34"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35"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57AD88-4E6B-4B15-B8B2-27338B9C2530}"/>
              </a:ext>
            </a:extLst>
          </p:cNvPr>
          <p:cNvSpPr>
            <a:spLocks noGrp="1"/>
          </p:cNvSpPr>
          <p:nvPr>
            <p:ph type="title"/>
          </p:nvPr>
        </p:nvSpPr>
        <p:spPr/>
        <p:txBody>
          <a:bodyPr/>
          <a:lstStyle/>
          <a:p>
            <a:r>
              <a:rPr lang="en-GB" dirty="0">
                <a:solidFill>
                  <a:srgbClr val="FF0000"/>
                </a:solidFill>
              </a:rPr>
              <a:t>File Sharing</a:t>
            </a:r>
            <a:endParaRPr lang="en-US" dirty="0">
              <a:solidFill>
                <a:srgbClr val="FF0000"/>
              </a:solidFill>
            </a:endParaRPr>
          </a:p>
        </p:txBody>
      </p:sp>
      <p:sp>
        <p:nvSpPr>
          <p:cNvPr id="3" name="Content Placeholder 2">
            <a:extLst>
              <a:ext uri="{FF2B5EF4-FFF2-40B4-BE49-F238E27FC236}">
                <a16:creationId xmlns:a16="http://schemas.microsoft.com/office/drawing/2014/main" id="{EF60FF99-1681-4D39-BA96-75337C41A802}"/>
              </a:ext>
            </a:extLst>
          </p:cNvPr>
          <p:cNvSpPr>
            <a:spLocks noGrp="1"/>
          </p:cNvSpPr>
          <p:nvPr>
            <p:ph idx="4294967295"/>
          </p:nvPr>
        </p:nvSpPr>
        <p:spPr>
          <a:xfrm>
            <a:off x="838200" y="1825625"/>
            <a:ext cx="10515600" cy="4351338"/>
          </a:xfrm>
          <a:solidFill>
            <a:srgbClr val="003300">
              <a:alpha val="50196"/>
            </a:srgbClr>
          </a:solidFill>
        </p:spPr>
        <p:txBody>
          <a:bodyPr vert="horz" lIns="91440" tIns="45720" rIns="91440" bIns="45720" rtlCol="0">
            <a:normAutofit/>
          </a:bodyPr>
          <a:lstStyle/>
          <a:p>
            <a:r>
              <a:rPr lang="en-GB" dirty="0">
                <a:solidFill>
                  <a:schemeClr val="bg1"/>
                </a:solidFill>
              </a:rPr>
              <a:t>Unless you specifically own the copyright, file sharing is illegal</a:t>
            </a:r>
          </a:p>
          <a:p>
            <a:r>
              <a:rPr lang="en-GB" dirty="0">
                <a:solidFill>
                  <a:schemeClr val="bg1"/>
                </a:solidFill>
              </a:rPr>
              <a:t>iTunes, for example, has a licence – so you can legally download music/films</a:t>
            </a:r>
          </a:p>
          <a:p>
            <a:pPr lvl="1"/>
            <a:r>
              <a:rPr lang="en-GB" b="1" dirty="0">
                <a:solidFill>
                  <a:srgbClr val="FF0000"/>
                </a:solidFill>
              </a:rPr>
              <a:t>You can ‘rip’ CDs (make a copy) to backup the original disk – but you cannot distribute it</a:t>
            </a:r>
          </a:p>
          <a:p>
            <a:pPr lvl="1"/>
            <a:r>
              <a:rPr lang="en-GB" b="1" dirty="0">
                <a:solidFill>
                  <a:srgbClr val="FF0000"/>
                </a:solidFill>
              </a:rPr>
              <a:t>You cannot give a copy in any format to anyone else (unless it is the licensee).</a:t>
            </a:r>
            <a:endParaRPr lang="en-US" b="1" dirty="0">
              <a:solidFill>
                <a:srgbClr val="FF0000"/>
              </a:solidFill>
            </a:endParaRPr>
          </a:p>
        </p:txBody>
      </p:sp>
    </p:spTree>
    <p:extLst>
      <p:ext uri="{BB962C8B-B14F-4D97-AF65-F5344CB8AC3E}">
        <p14:creationId xmlns:p14="http://schemas.microsoft.com/office/powerpoint/2010/main" val="30806177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 calcmode="lin" valueType="num">
                                      <p:cBhvr additive="base">
                                        <p:cTn id="25"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288FCC-8FD2-41A1-9FDD-46AE446FE1EF}"/>
              </a:ext>
            </a:extLst>
          </p:cNvPr>
          <p:cNvSpPr>
            <a:spLocks noGrp="1"/>
          </p:cNvSpPr>
          <p:nvPr>
            <p:ph type="title"/>
          </p:nvPr>
        </p:nvSpPr>
        <p:spPr/>
        <p:txBody>
          <a:bodyPr/>
          <a:lstStyle/>
          <a:p>
            <a:r>
              <a:rPr lang="en-GB" dirty="0">
                <a:solidFill>
                  <a:srgbClr val="FF0000"/>
                </a:solidFill>
              </a:rPr>
              <a:t>Plagiarism</a:t>
            </a:r>
            <a:endParaRPr lang="en-US" dirty="0">
              <a:solidFill>
                <a:srgbClr val="FF0000"/>
              </a:solidFill>
            </a:endParaRPr>
          </a:p>
        </p:txBody>
      </p:sp>
      <p:sp>
        <p:nvSpPr>
          <p:cNvPr id="3" name="Content Placeholder 2">
            <a:extLst>
              <a:ext uri="{FF2B5EF4-FFF2-40B4-BE49-F238E27FC236}">
                <a16:creationId xmlns:a16="http://schemas.microsoft.com/office/drawing/2014/main" id="{AF602E6B-6AB5-4281-88A5-431AEBE76FC2}"/>
              </a:ext>
            </a:extLst>
          </p:cNvPr>
          <p:cNvSpPr>
            <a:spLocks noGrp="1"/>
          </p:cNvSpPr>
          <p:nvPr>
            <p:ph idx="4294967295"/>
          </p:nvPr>
        </p:nvSpPr>
        <p:spPr>
          <a:xfrm>
            <a:off x="838200" y="1825625"/>
            <a:ext cx="10515600" cy="4351338"/>
          </a:xfrm>
          <a:solidFill>
            <a:srgbClr val="003300">
              <a:alpha val="50196"/>
            </a:srgbClr>
          </a:solidFill>
        </p:spPr>
        <p:txBody>
          <a:bodyPr vert="horz" lIns="91440" tIns="45720" rIns="91440" bIns="45720" rtlCol="0">
            <a:normAutofit fontScale="92500" lnSpcReduction="20000"/>
          </a:bodyPr>
          <a:lstStyle/>
          <a:p>
            <a:r>
              <a:rPr lang="en-GB" dirty="0">
                <a:solidFill>
                  <a:schemeClr val="bg1"/>
                </a:solidFill>
              </a:rPr>
              <a:t>Using others work without credit and claiming it as your own</a:t>
            </a:r>
          </a:p>
          <a:p>
            <a:endParaRPr lang="en-GB" dirty="0">
              <a:solidFill>
                <a:schemeClr val="bg1"/>
              </a:solidFill>
            </a:endParaRPr>
          </a:p>
          <a:p>
            <a:endParaRPr lang="en-GB" dirty="0">
              <a:solidFill>
                <a:schemeClr val="bg1"/>
              </a:solidFill>
            </a:endParaRPr>
          </a:p>
          <a:p>
            <a:endParaRPr lang="en-GB" dirty="0">
              <a:solidFill>
                <a:schemeClr val="bg1"/>
              </a:solidFill>
            </a:endParaRPr>
          </a:p>
          <a:p>
            <a:r>
              <a:rPr lang="en-GB" dirty="0">
                <a:solidFill>
                  <a:schemeClr val="bg1"/>
                </a:solidFill>
              </a:rPr>
              <a:t>Increasing problem in schools</a:t>
            </a:r>
          </a:p>
          <a:p>
            <a:endParaRPr lang="en-GB" dirty="0">
              <a:solidFill>
                <a:schemeClr val="bg1"/>
              </a:solidFill>
            </a:endParaRPr>
          </a:p>
          <a:p>
            <a:endParaRPr lang="en-GB" dirty="0">
              <a:solidFill>
                <a:schemeClr val="bg1"/>
              </a:solidFill>
            </a:endParaRPr>
          </a:p>
          <a:p>
            <a:endParaRPr lang="en-GB" dirty="0">
              <a:solidFill>
                <a:schemeClr val="bg1"/>
              </a:solidFill>
            </a:endParaRPr>
          </a:p>
          <a:p>
            <a:endParaRPr lang="en-GB" dirty="0">
              <a:solidFill>
                <a:schemeClr val="bg1"/>
              </a:solidFill>
            </a:endParaRPr>
          </a:p>
          <a:p>
            <a:r>
              <a:rPr lang="en-GB" dirty="0">
                <a:solidFill>
                  <a:schemeClr val="bg1"/>
                </a:solidFill>
              </a:rPr>
              <a:t>Sophisticated software is used to detect cases of plagiarism</a:t>
            </a:r>
            <a:endParaRPr lang="en-US" dirty="0">
              <a:solidFill>
                <a:schemeClr val="bg1"/>
              </a:solidFill>
            </a:endParaRPr>
          </a:p>
        </p:txBody>
      </p:sp>
      <p:grpSp>
        <p:nvGrpSpPr>
          <p:cNvPr id="4" name="Group 3">
            <a:extLst>
              <a:ext uri="{FF2B5EF4-FFF2-40B4-BE49-F238E27FC236}">
                <a16:creationId xmlns:a16="http://schemas.microsoft.com/office/drawing/2014/main" id="{4DE3C4EE-64C3-4E3B-A0F1-B5D68D612DAD}"/>
              </a:ext>
            </a:extLst>
          </p:cNvPr>
          <p:cNvGrpSpPr/>
          <p:nvPr/>
        </p:nvGrpSpPr>
        <p:grpSpPr>
          <a:xfrm>
            <a:off x="8285303" y="0"/>
            <a:ext cx="4405746" cy="1264209"/>
            <a:chOff x="7786254" y="365125"/>
            <a:chExt cx="4405746" cy="1264209"/>
          </a:xfrm>
        </p:grpSpPr>
        <p:pic>
          <p:nvPicPr>
            <p:cNvPr id="5" name="Content Placeholder 3">
              <a:extLst>
                <a:ext uri="{FF2B5EF4-FFF2-40B4-BE49-F238E27FC236}">
                  <a16:creationId xmlns:a16="http://schemas.microsoft.com/office/drawing/2014/main" id="{16AE4BF2-FD23-4D6B-AB59-A52EC349794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786254" y="365125"/>
              <a:ext cx="3666836" cy="1264209"/>
            </a:xfrm>
            <a:prstGeom prst="rect">
              <a:avLst/>
            </a:prstGeom>
          </p:spPr>
        </p:pic>
        <p:sp>
          <p:nvSpPr>
            <p:cNvPr id="6" name="TextBox 5">
              <a:extLst>
                <a:ext uri="{FF2B5EF4-FFF2-40B4-BE49-F238E27FC236}">
                  <a16:creationId xmlns:a16="http://schemas.microsoft.com/office/drawing/2014/main" id="{C391AD02-5190-436F-883B-776F184210BE}"/>
                </a:ext>
              </a:extLst>
            </p:cNvPr>
            <p:cNvSpPr txBox="1"/>
            <p:nvPr/>
          </p:nvSpPr>
          <p:spPr>
            <a:xfrm>
              <a:off x="7908758" y="614201"/>
              <a:ext cx="4283242" cy="707886"/>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GB" sz="2000" b="1" i="0" u="none" strike="noStrike" kern="1200" cap="none" spc="0" normalizeH="0" baseline="0" noProof="0" dirty="0">
                  <a:ln>
                    <a:noFill/>
                  </a:ln>
                  <a:solidFill>
                    <a:prstClr val="white"/>
                  </a:solidFill>
                  <a:effectLst/>
                  <a:uLnTx/>
                  <a:uFillTx/>
                  <a:latin typeface="Copperplate Gothic Light" panose="020E0507020206020404" pitchFamily="34" charset="0"/>
                  <a:ea typeface="+mn-ea"/>
                  <a:cs typeface="+mn-cs"/>
                </a:rPr>
                <a:t>Glossary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GB" sz="2000" b="1" i="0" u="none" strike="noStrike" kern="1200" cap="none" spc="0" normalizeH="0" baseline="0" noProof="0" dirty="0">
                  <a:ln>
                    <a:noFill/>
                  </a:ln>
                  <a:solidFill>
                    <a:prstClr val="white"/>
                  </a:solidFill>
                  <a:effectLst/>
                  <a:uLnTx/>
                  <a:uFillTx/>
                  <a:latin typeface="Copperplate Gothic Light" panose="020E0507020206020404" pitchFamily="34" charset="0"/>
                  <a:ea typeface="+mn-ea"/>
                  <a:cs typeface="+mn-cs"/>
                </a:rPr>
                <a:t>Item Added</a:t>
              </a:r>
              <a:endParaRPr kumimoji="0" lang="en-GB" sz="2000" b="0" i="0" u="none" strike="noStrike" kern="1200" cap="none" spc="0" normalizeH="0" baseline="0" noProof="0" dirty="0">
                <a:ln>
                  <a:noFill/>
                </a:ln>
                <a:solidFill>
                  <a:prstClr val="white"/>
                </a:solidFill>
                <a:effectLst/>
                <a:uLnTx/>
                <a:uFillTx/>
                <a:latin typeface="Copperplate Gothic Light" panose="020E0507020206020404" pitchFamily="34" charset="0"/>
                <a:ea typeface="+mn-ea"/>
                <a:cs typeface="+mn-cs"/>
              </a:endParaRPr>
            </a:p>
          </p:txBody>
        </p:sp>
      </p:grpSp>
    </p:spTree>
    <p:extLst>
      <p:ext uri="{BB962C8B-B14F-4D97-AF65-F5344CB8AC3E}">
        <p14:creationId xmlns:p14="http://schemas.microsoft.com/office/powerpoint/2010/main" val="20476047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par>
                          <p:cTn id="9" fill="hold">
                            <p:stCondLst>
                              <p:cond delay="500"/>
                            </p:stCondLst>
                            <p:childTnLst>
                              <p:par>
                                <p:cTn id="10" presetID="2" presetClass="entr" presetSubtype="2" fill="hold" nodeType="afterEffect">
                                  <p:stCondLst>
                                    <p:cond delay="0"/>
                                  </p:stCondLst>
                                  <p:childTnLst>
                                    <p:set>
                                      <p:cBhvr>
                                        <p:cTn id="11" dur="1" fill="hold">
                                          <p:stCondLst>
                                            <p:cond delay="0"/>
                                          </p:stCondLst>
                                        </p:cTn>
                                        <p:tgtEl>
                                          <p:spTgt spid="4"/>
                                        </p:tgtEl>
                                        <p:attrNameLst>
                                          <p:attrName>style.visibility</p:attrName>
                                        </p:attrNameLst>
                                      </p:cBhvr>
                                      <p:to>
                                        <p:strVal val="visible"/>
                                      </p:to>
                                    </p:set>
                                    <p:anim calcmode="lin" valueType="num">
                                      <p:cBhvr additive="base">
                                        <p:cTn id="12" dur="500" fill="hold"/>
                                        <p:tgtEl>
                                          <p:spTgt spid="4"/>
                                        </p:tgtEl>
                                        <p:attrNameLst>
                                          <p:attrName>ppt_x</p:attrName>
                                        </p:attrNameLst>
                                      </p:cBhvr>
                                      <p:tavLst>
                                        <p:tav tm="0">
                                          <p:val>
                                            <p:strVal val="1+#ppt_w/2"/>
                                          </p:val>
                                        </p:tav>
                                        <p:tav tm="100000">
                                          <p:val>
                                            <p:strVal val="#ppt_x"/>
                                          </p:val>
                                        </p:tav>
                                      </p:tavLst>
                                    </p:anim>
                                    <p:anim calcmode="lin" valueType="num">
                                      <p:cBhvr additive="base">
                                        <p:cTn id="13" dur="500" fill="hold"/>
                                        <p:tgtEl>
                                          <p:spTgt spid="4"/>
                                        </p:tgtEl>
                                        <p:attrNameLst>
                                          <p:attrName>ppt_y</p:attrName>
                                        </p:attrNameLst>
                                      </p:cBhvr>
                                      <p:tavLst>
                                        <p:tav tm="0">
                                          <p:val>
                                            <p:strVal val="#ppt_y"/>
                                          </p:val>
                                        </p:tav>
                                        <p:tav tm="100000">
                                          <p:val>
                                            <p:strVal val="#ppt_y"/>
                                          </p:val>
                                        </p:tav>
                                      </p:tavLst>
                                    </p:anim>
                                  </p:childTnLst>
                                </p:cTn>
                              </p:par>
                              <p:par>
                                <p:cTn id="14" presetID="10" presetClass="entr" presetSubtype="0" fill="hold" nodeType="with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500"/>
                                        <p:tgtEl>
                                          <p:spTgt spid="4"/>
                                        </p:tgtEl>
                                      </p:cBhvr>
                                    </p:animEffect>
                                  </p:childTnLst>
                                </p:cTn>
                              </p:par>
                            </p:childTnLst>
                          </p:cTn>
                        </p:par>
                        <p:par>
                          <p:cTn id="17" fill="hold">
                            <p:stCondLst>
                              <p:cond delay="1000"/>
                            </p:stCondLst>
                            <p:childTnLst>
                              <p:par>
                                <p:cTn id="18" presetID="10" presetClass="exit" presetSubtype="0" fill="hold" nodeType="afterEffect">
                                  <p:stCondLst>
                                    <p:cond delay="4400"/>
                                  </p:stCondLst>
                                  <p:childTnLst>
                                    <p:animEffect transition="out" filter="fade">
                                      <p:cBhvr>
                                        <p:cTn id="19" dur="2000"/>
                                        <p:tgtEl>
                                          <p:spTgt spid="4"/>
                                        </p:tgtEl>
                                      </p:cBhvr>
                                    </p:animEffect>
                                    <p:set>
                                      <p:cBhvr>
                                        <p:cTn id="20" dur="1" fill="hold">
                                          <p:stCondLst>
                                            <p:cond delay="1999"/>
                                          </p:stCondLst>
                                        </p:cTn>
                                        <p:tgtEl>
                                          <p:spTgt spid="4"/>
                                        </p:tgtEl>
                                        <p:attrNameLst>
                                          <p:attrName>style.visibility</p:attrName>
                                        </p:attrNameLst>
                                      </p:cBhvr>
                                      <p:to>
                                        <p:strVal val="hidden"/>
                                      </p:to>
                                    </p:set>
                                  </p:childTnLst>
                                </p:cTn>
                              </p:par>
                              <p:par>
                                <p:cTn id="21" presetID="2" presetClass="exit" presetSubtype="2" fill="hold" nodeType="withEffect">
                                  <p:stCondLst>
                                    <p:cond delay="5000"/>
                                  </p:stCondLst>
                                  <p:childTnLst>
                                    <p:anim calcmode="lin" valueType="num">
                                      <p:cBhvr additive="base">
                                        <p:cTn id="22" dur="1000"/>
                                        <p:tgtEl>
                                          <p:spTgt spid="4"/>
                                        </p:tgtEl>
                                        <p:attrNameLst>
                                          <p:attrName>ppt_x</p:attrName>
                                        </p:attrNameLst>
                                      </p:cBhvr>
                                      <p:tavLst>
                                        <p:tav tm="0">
                                          <p:val>
                                            <p:strVal val="ppt_x"/>
                                          </p:val>
                                        </p:tav>
                                        <p:tav tm="100000">
                                          <p:val>
                                            <p:strVal val="1+ppt_w/2"/>
                                          </p:val>
                                        </p:tav>
                                      </p:tavLst>
                                    </p:anim>
                                    <p:anim calcmode="lin" valueType="num">
                                      <p:cBhvr additive="base">
                                        <p:cTn id="23" dur="1000"/>
                                        <p:tgtEl>
                                          <p:spTgt spid="4"/>
                                        </p:tgtEl>
                                        <p:attrNameLst>
                                          <p:attrName>ppt_y</p:attrName>
                                        </p:attrNameLst>
                                      </p:cBhvr>
                                      <p:tavLst>
                                        <p:tav tm="0">
                                          <p:val>
                                            <p:strVal val="ppt_y"/>
                                          </p:val>
                                        </p:tav>
                                        <p:tav tm="100000">
                                          <p:val>
                                            <p:strVal val="ppt_y"/>
                                          </p:val>
                                        </p:tav>
                                      </p:tavLst>
                                    </p:anim>
                                    <p:set>
                                      <p:cBhvr>
                                        <p:cTn id="24" dur="1" fill="hold">
                                          <p:stCondLst>
                                            <p:cond delay="999"/>
                                          </p:stCondLst>
                                        </p:cTn>
                                        <p:tgtEl>
                                          <p:spTgt spid="4"/>
                                        </p:tgtEl>
                                        <p:attrNameLst>
                                          <p:attrName>style.visibility</p:attrName>
                                        </p:attrNameLst>
                                      </p:cBhvr>
                                      <p:to>
                                        <p:strVal val="hidden"/>
                                      </p:to>
                                    </p:set>
                                  </p:childTnLst>
                                </p:cTn>
                              </p:par>
                            </p:childTnLst>
                          </p:cTn>
                        </p:par>
                      </p:childTnLst>
                    </p:cTn>
                  </p:par>
                  <p:par>
                    <p:cTn id="25" fill="hold">
                      <p:stCondLst>
                        <p:cond delay="indefinite"/>
                      </p:stCondLst>
                      <p:childTnLst>
                        <p:par>
                          <p:cTn id="26" fill="hold">
                            <p:stCondLst>
                              <p:cond delay="0"/>
                            </p:stCondLst>
                            <p:childTnLst>
                              <p:par>
                                <p:cTn id="27" presetID="2" presetClass="entr" presetSubtype="4" fill="hold" nodeType="clickEffect">
                                  <p:stCondLst>
                                    <p:cond delay="0"/>
                                  </p:stCondLst>
                                  <p:childTnLst>
                                    <p:set>
                                      <p:cBhvr>
                                        <p:cTn id="28" dur="1" fill="hold">
                                          <p:stCondLst>
                                            <p:cond delay="0"/>
                                          </p:stCondLst>
                                        </p:cTn>
                                        <p:tgtEl>
                                          <p:spTgt spid="3">
                                            <p:txEl>
                                              <p:pRg st="4" end="4"/>
                                            </p:txEl>
                                          </p:spTgt>
                                        </p:tgtEl>
                                        <p:attrNameLst>
                                          <p:attrName>style.visibility</p:attrName>
                                        </p:attrNameLst>
                                      </p:cBhvr>
                                      <p:to>
                                        <p:strVal val="visible"/>
                                      </p:to>
                                    </p:set>
                                    <p:anim calcmode="lin" valueType="num">
                                      <p:cBhvr additive="base">
                                        <p:cTn id="29"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30"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2" presetClass="entr" presetSubtype="4" fill="hold" nodeType="clickEffect">
                                  <p:stCondLst>
                                    <p:cond delay="0"/>
                                  </p:stCondLst>
                                  <p:childTnLst>
                                    <p:set>
                                      <p:cBhvr>
                                        <p:cTn id="34" dur="1" fill="hold">
                                          <p:stCondLst>
                                            <p:cond delay="0"/>
                                          </p:stCondLst>
                                        </p:cTn>
                                        <p:tgtEl>
                                          <p:spTgt spid="3">
                                            <p:txEl>
                                              <p:pRg st="9" end="9"/>
                                            </p:txEl>
                                          </p:spTgt>
                                        </p:tgtEl>
                                        <p:attrNameLst>
                                          <p:attrName>style.visibility</p:attrName>
                                        </p:attrNameLst>
                                      </p:cBhvr>
                                      <p:to>
                                        <p:strVal val="visible"/>
                                      </p:to>
                                    </p:set>
                                    <p:anim calcmode="lin" valueType="num">
                                      <p:cBhvr additive="base">
                                        <p:cTn id="35" dur="500" fill="hold"/>
                                        <p:tgtEl>
                                          <p:spTgt spid="3">
                                            <p:txEl>
                                              <p:pRg st="9" end="9"/>
                                            </p:txEl>
                                          </p:spTgt>
                                        </p:tgtEl>
                                        <p:attrNameLst>
                                          <p:attrName>ppt_x</p:attrName>
                                        </p:attrNameLst>
                                      </p:cBhvr>
                                      <p:tavLst>
                                        <p:tav tm="0">
                                          <p:val>
                                            <p:strVal val="#ppt_x"/>
                                          </p:val>
                                        </p:tav>
                                        <p:tav tm="100000">
                                          <p:val>
                                            <p:strVal val="#ppt_x"/>
                                          </p:val>
                                        </p:tav>
                                      </p:tavLst>
                                    </p:anim>
                                    <p:anim calcmode="lin" valueType="num">
                                      <p:cBhvr additive="base">
                                        <p:cTn id="36" dur="500" fill="hold"/>
                                        <p:tgtEl>
                                          <p:spTgt spid="3">
                                            <p:txEl>
                                              <p:pRg st="9" end="9"/>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2">
            <a:lumMod val="10000"/>
          </a:schemeClr>
        </a:solidFill>
        <a:effectLst/>
      </p:bgPr>
    </p:bg>
    <p:spTree>
      <p:nvGrpSpPr>
        <p:cNvPr id="1" name=""/>
        <p:cNvGrpSpPr/>
        <p:nvPr/>
      </p:nvGrpSpPr>
      <p:grpSpPr>
        <a:xfrm>
          <a:off x="0" y="0"/>
          <a:ext cx="0" cy="0"/>
          <a:chOff x="0" y="0"/>
          <a:chExt cx="0" cy="0"/>
        </a:xfrm>
      </p:grpSpPr>
      <p:pic>
        <p:nvPicPr>
          <p:cNvPr id="1026" name="Picture 2" descr="Image result for legislation icon">
            <a:extLst>
              <a:ext uri="{FF2B5EF4-FFF2-40B4-BE49-F238E27FC236}">
                <a16:creationId xmlns:a16="http://schemas.microsoft.com/office/drawing/2014/main" id="{DD197A0C-5807-4315-8907-6F3F05FBBE9F}"/>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11113" r="9093" b="4331"/>
          <a:stretch/>
        </p:blipFill>
        <p:spPr bwMode="auto">
          <a:xfrm>
            <a:off x="4818888" y="10"/>
            <a:ext cx="7373112" cy="6857989"/>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05C2123E-D668-4755-A2B1-9EA028465FB8}"/>
              </a:ext>
            </a:extLst>
          </p:cNvPr>
          <p:cNvSpPr>
            <a:spLocks noGrp="1"/>
          </p:cNvSpPr>
          <p:nvPr>
            <p:ph type="ctrTitle"/>
          </p:nvPr>
        </p:nvSpPr>
        <p:spPr>
          <a:xfrm>
            <a:off x="0" y="4077551"/>
            <a:ext cx="5058370" cy="3320973"/>
          </a:xfrm>
        </p:spPr>
        <p:txBody>
          <a:bodyPr anchor="t">
            <a:normAutofit/>
          </a:bodyPr>
          <a:lstStyle/>
          <a:p>
            <a:pPr algn="l"/>
            <a:r>
              <a:rPr lang="en-GB" sz="5400" dirty="0">
                <a:solidFill>
                  <a:schemeClr val="bg1">
                    <a:lumMod val="85000"/>
                  </a:schemeClr>
                </a:solidFill>
              </a:rPr>
              <a:t>The Computer Misuse Act, 1990</a:t>
            </a:r>
            <a:endParaRPr lang="en-US" sz="5400" dirty="0">
              <a:solidFill>
                <a:schemeClr val="bg1">
                  <a:lumMod val="85000"/>
                </a:schemeClr>
              </a:solidFill>
            </a:endParaRPr>
          </a:p>
        </p:txBody>
      </p:sp>
    </p:spTree>
    <p:extLst>
      <p:ext uri="{BB962C8B-B14F-4D97-AF65-F5344CB8AC3E}">
        <p14:creationId xmlns:p14="http://schemas.microsoft.com/office/powerpoint/2010/main" val="21891672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1026"/>
                                        </p:tgtEl>
                                        <p:attrNameLst>
                                          <p:attrName>style.visibility</p:attrName>
                                        </p:attrNameLst>
                                      </p:cBhvr>
                                      <p:to>
                                        <p:strVal val="visible"/>
                                      </p:to>
                                    </p:set>
                                    <p:anim calcmode="lin" valueType="num">
                                      <p:cBhvr additive="base">
                                        <p:cTn id="7" dur="500" fill="hold"/>
                                        <p:tgtEl>
                                          <p:spTgt spid="1026"/>
                                        </p:tgtEl>
                                        <p:attrNameLst>
                                          <p:attrName>ppt_x</p:attrName>
                                        </p:attrNameLst>
                                      </p:cBhvr>
                                      <p:tavLst>
                                        <p:tav tm="0">
                                          <p:val>
                                            <p:strVal val="#ppt_x"/>
                                          </p:val>
                                        </p:tav>
                                        <p:tav tm="100000">
                                          <p:val>
                                            <p:strVal val="#ppt_x"/>
                                          </p:val>
                                        </p:tav>
                                      </p:tavLst>
                                    </p:anim>
                                    <p:anim calcmode="lin" valueType="num">
                                      <p:cBhvr additive="base">
                                        <p:cTn id="8" dur="500" fill="hold"/>
                                        <p:tgtEl>
                                          <p:spTgt spid="1026"/>
                                        </p:tgtEl>
                                        <p:attrNameLst>
                                          <p:attrName>ppt_y</p:attrName>
                                        </p:attrNameLst>
                                      </p:cBhvr>
                                      <p:tavLst>
                                        <p:tav tm="0">
                                          <p:val>
                                            <p:strVal val="1+#ppt_h/2"/>
                                          </p:val>
                                        </p:tav>
                                        <p:tav tm="100000">
                                          <p:val>
                                            <p:strVal val="#ppt_y"/>
                                          </p:val>
                                        </p:tav>
                                      </p:tavLst>
                                    </p:anim>
                                  </p:childTnLst>
                                </p:cTn>
                              </p:par>
                            </p:childTnLst>
                          </p:cTn>
                        </p:par>
                        <p:par>
                          <p:cTn id="9" fill="hold">
                            <p:stCondLst>
                              <p:cond delay="500"/>
                            </p:stCondLst>
                            <p:childTnLst>
                              <p:par>
                                <p:cTn id="10" presetID="2" presetClass="entr" presetSubtype="4" fill="hold" grpId="0" nodeType="afterEffect">
                                  <p:stCondLst>
                                    <p:cond delay="0"/>
                                  </p:stCondLst>
                                  <p:childTnLst>
                                    <p:set>
                                      <p:cBhvr>
                                        <p:cTn id="11" dur="1" fill="hold">
                                          <p:stCondLst>
                                            <p:cond delay="0"/>
                                          </p:stCondLst>
                                        </p:cTn>
                                        <p:tgtEl>
                                          <p:spTgt spid="2"/>
                                        </p:tgtEl>
                                        <p:attrNameLst>
                                          <p:attrName>style.visibility</p:attrName>
                                        </p:attrNameLst>
                                      </p:cBhvr>
                                      <p:to>
                                        <p:strVal val="visible"/>
                                      </p:to>
                                    </p:set>
                                    <p:anim calcmode="lin" valueType="num">
                                      <p:cBhvr additive="base">
                                        <p:cTn id="12" dur="500" fill="hold"/>
                                        <p:tgtEl>
                                          <p:spTgt spid="2"/>
                                        </p:tgtEl>
                                        <p:attrNameLst>
                                          <p:attrName>ppt_x</p:attrName>
                                        </p:attrNameLst>
                                      </p:cBhvr>
                                      <p:tavLst>
                                        <p:tav tm="0">
                                          <p:val>
                                            <p:strVal val="#ppt_x"/>
                                          </p:val>
                                        </p:tav>
                                        <p:tav tm="100000">
                                          <p:val>
                                            <p:strVal val="#ppt_x"/>
                                          </p:val>
                                        </p:tav>
                                      </p:tavLst>
                                    </p:anim>
                                    <p:anim calcmode="lin" valueType="num">
                                      <p:cBhvr additive="base">
                                        <p:cTn id="13" dur="500" fill="hold"/>
                                        <p:tgtEl>
                                          <p:spTgt spid="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2">
            <a:lumMod val="10000"/>
          </a:schemeClr>
        </a:solidFill>
        <a:effectLst/>
      </p:bgPr>
    </p:bg>
    <p:spTree>
      <p:nvGrpSpPr>
        <p:cNvPr id="1" name=""/>
        <p:cNvGrpSpPr/>
        <p:nvPr/>
      </p:nvGrpSpPr>
      <p:grpSpPr>
        <a:xfrm>
          <a:off x="0" y="0"/>
          <a:ext cx="0" cy="0"/>
          <a:chOff x="0" y="0"/>
          <a:chExt cx="0" cy="0"/>
        </a:xfrm>
      </p:grpSpPr>
      <p:sp>
        <p:nvSpPr>
          <p:cNvPr id="4" name="Rectangular Callout 4">
            <a:extLst>
              <a:ext uri="{FF2B5EF4-FFF2-40B4-BE49-F238E27FC236}">
                <a16:creationId xmlns:a16="http://schemas.microsoft.com/office/drawing/2014/main" id="{73D8140D-9CDA-47D6-986C-91386F609075}"/>
              </a:ext>
            </a:extLst>
          </p:cNvPr>
          <p:cNvSpPr/>
          <p:nvPr/>
        </p:nvSpPr>
        <p:spPr>
          <a:xfrm>
            <a:off x="398585" y="274637"/>
            <a:ext cx="10955215" cy="3802435"/>
          </a:xfrm>
          <a:prstGeom prst="wedgeRectCallout">
            <a:avLst>
              <a:gd name="adj1" fmla="val 39579"/>
              <a:gd name="adj2" fmla="val 65533"/>
            </a:avLst>
          </a:prstGeom>
          <a:noFill/>
          <a:ln w="63500" cmpd="dbl">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dirty="0">
                <a:solidFill>
                  <a:schemeClr val="bg1">
                    <a:lumMod val="95000"/>
                  </a:schemeClr>
                </a:solidFill>
              </a:rPr>
              <a:t>By the end of this lesson, you should be able to:</a:t>
            </a:r>
          </a:p>
          <a:p>
            <a:endParaRPr lang="en-GB" sz="2800" dirty="0">
              <a:solidFill>
                <a:schemeClr val="bg1">
                  <a:lumMod val="95000"/>
                </a:schemeClr>
              </a:solidFill>
            </a:endParaRPr>
          </a:p>
          <a:p>
            <a:pPr marL="457200" indent="-457200">
              <a:buFont typeface="Arial" panose="020B0604020202020204" pitchFamily="34" charset="0"/>
              <a:buChar char="•"/>
            </a:pPr>
            <a:r>
              <a:rPr lang="en-GB" sz="2800" dirty="0">
                <a:solidFill>
                  <a:schemeClr val="bg1">
                    <a:lumMod val="95000"/>
                  </a:schemeClr>
                </a:solidFill>
              </a:rPr>
              <a:t>Describe and explain the purpose of the Computer Misuse Act</a:t>
            </a:r>
          </a:p>
          <a:p>
            <a:pPr marL="457200" indent="-457200">
              <a:buFont typeface="Arial" panose="020B0604020202020204" pitchFamily="34" charset="0"/>
              <a:buChar char="•"/>
            </a:pPr>
            <a:r>
              <a:rPr lang="en-GB" sz="2800" dirty="0">
                <a:solidFill>
                  <a:schemeClr val="bg1">
                    <a:lumMod val="95000"/>
                  </a:schemeClr>
                </a:solidFill>
              </a:rPr>
              <a:t>List the 4 main offences set out in the act.</a:t>
            </a:r>
          </a:p>
          <a:p>
            <a:pPr marL="457200" indent="-457200">
              <a:buFont typeface="Arial" panose="020B0604020202020204" pitchFamily="34" charset="0"/>
              <a:buChar char="•"/>
            </a:pPr>
            <a:r>
              <a:rPr lang="en-GB" sz="2800" dirty="0">
                <a:solidFill>
                  <a:schemeClr val="bg1">
                    <a:lumMod val="95000"/>
                  </a:schemeClr>
                </a:solidFill>
              </a:rPr>
              <a:t>Define 2 preventive measures companies and individuals can take</a:t>
            </a:r>
          </a:p>
          <a:p>
            <a:pPr marL="457200" indent="-457200">
              <a:buFont typeface="Arial" panose="020B0604020202020204" pitchFamily="34" charset="0"/>
              <a:buChar char="•"/>
            </a:pPr>
            <a:r>
              <a:rPr lang="en-GB" sz="2800" dirty="0">
                <a:solidFill>
                  <a:schemeClr val="bg1">
                    <a:lumMod val="95000"/>
                  </a:schemeClr>
                </a:solidFill>
              </a:rPr>
              <a:t>Define the terms ‘hacking’, ‘virus’, ‘spyware’ and ‘phishing’.</a:t>
            </a:r>
          </a:p>
        </p:txBody>
      </p:sp>
      <p:pic>
        <p:nvPicPr>
          <p:cNvPr id="5" name="Content Placeholder 1">
            <a:extLst>
              <a:ext uri="{FF2B5EF4-FFF2-40B4-BE49-F238E27FC236}">
                <a16:creationId xmlns:a16="http://schemas.microsoft.com/office/drawing/2014/main" id="{418C8D72-3127-40C7-A2CA-9EA7C40670A6}"/>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029646" y="3510281"/>
            <a:ext cx="2495905" cy="3347719"/>
          </a:xfrm>
          <a:prstGeom prst="rect">
            <a:avLst/>
          </a:prstGeom>
        </p:spPr>
      </p:pic>
      <p:sp>
        <p:nvSpPr>
          <p:cNvPr id="6" name="Title 12">
            <a:extLst>
              <a:ext uri="{FF2B5EF4-FFF2-40B4-BE49-F238E27FC236}">
                <a16:creationId xmlns:a16="http://schemas.microsoft.com/office/drawing/2014/main" id="{E923A50F-9647-4CC3-B4D2-FB3FFF45D79E}"/>
              </a:ext>
            </a:extLst>
          </p:cNvPr>
          <p:cNvSpPr>
            <a:spLocks noGrp="1"/>
          </p:cNvSpPr>
          <p:nvPr>
            <p:ph type="title"/>
          </p:nvPr>
        </p:nvSpPr>
        <p:spPr>
          <a:xfrm>
            <a:off x="398585" y="5634037"/>
            <a:ext cx="3788404" cy="1223963"/>
          </a:xfrm>
        </p:spPr>
        <p:txBody>
          <a:bodyPr/>
          <a:lstStyle/>
          <a:p>
            <a:r>
              <a:rPr lang="en-US" dirty="0" err="1">
                <a:solidFill>
                  <a:srgbClr val="00B0F0"/>
                </a:solidFill>
              </a:rPr>
              <a:t>WALTer</a:t>
            </a:r>
            <a:endParaRPr lang="en-US" dirty="0">
              <a:solidFill>
                <a:srgbClr val="00B0F0"/>
              </a:solidFill>
            </a:endParaRPr>
          </a:p>
        </p:txBody>
      </p:sp>
    </p:spTree>
    <p:extLst>
      <p:ext uri="{BB962C8B-B14F-4D97-AF65-F5344CB8AC3E}">
        <p14:creationId xmlns:p14="http://schemas.microsoft.com/office/powerpoint/2010/main" val="11480463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after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1+#ppt_w/2"/>
                                          </p:val>
                                        </p:tav>
                                        <p:tav tm="100000">
                                          <p:val>
                                            <p:strVal val="#ppt_x"/>
                                          </p:val>
                                        </p:tav>
                                      </p:tavLst>
                                    </p:anim>
                                    <p:anim calcmode="lin" valueType="num">
                                      <p:cBhvr additive="base">
                                        <p:cTn id="8" dur="500" fill="hold"/>
                                        <p:tgtEl>
                                          <p:spTgt spid="5"/>
                                        </p:tgtEl>
                                        <p:attrNameLst>
                                          <p:attrName>ppt_y</p:attrName>
                                        </p:attrNameLst>
                                      </p:cBhvr>
                                      <p:tavLst>
                                        <p:tav tm="0">
                                          <p:val>
                                            <p:strVal val="#ppt_y"/>
                                          </p:val>
                                        </p:tav>
                                        <p:tav tm="100000">
                                          <p:val>
                                            <p:strVal val="#ppt_y"/>
                                          </p:val>
                                        </p:tav>
                                      </p:tavLst>
                                    </p:anim>
                                  </p:childTnLst>
                                </p:cTn>
                              </p:par>
                              <p:par>
                                <p:cTn id="9" presetID="2" presetClass="entr" presetSubtype="6" fill="hold" grpId="0" nodeType="withEffect">
                                  <p:stCondLst>
                                    <p:cond delay="0"/>
                                  </p:stCondLst>
                                  <p:childTnLst>
                                    <p:set>
                                      <p:cBhvr>
                                        <p:cTn id="10" dur="1" fill="hold">
                                          <p:stCondLst>
                                            <p:cond delay="0"/>
                                          </p:stCondLst>
                                        </p:cTn>
                                        <p:tgtEl>
                                          <p:spTgt spid="4"/>
                                        </p:tgtEl>
                                        <p:attrNameLst>
                                          <p:attrName>style.visibility</p:attrName>
                                        </p:attrNameLst>
                                      </p:cBhvr>
                                      <p:to>
                                        <p:strVal val="visible"/>
                                      </p:to>
                                    </p:set>
                                    <p:anim calcmode="lin" valueType="num">
                                      <p:cBhvr additive="base">
                                        <p:cTn id="11" dur="500" fill="hold"/>
                                        <p:tgtEl>
                                          <p:spTgt spid="4"/>
                                        </p:tgtEl>
                                        <p:attrNameLst>
                                          <p:attrName>ppt_x</p:attrName>
                                        </p:attrNameLst>
                                      </p:cBhvr>
                                      <p:tavLst>
                                        <p:tav tm="0">
                                          <p:val>
                                            <p:strVal val="1+#ppt_w/2"/>
                                          </p:val>
                                        </p:tav>
                                        <p:tav tm="100000">
                                          <p:val>
                                            <p:strVal val="#ppt_x"/>
                                          </p:val>
                                        </p:tav>
                                      </p:tavLst>
                                    </p:anim>
                                    <p:anim calcmode="lin" valueType="num">
                                      <p:cBhvr additive="base">
                                        <p:cTn id="12"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2">
            <a:lumMod val="10000"/>
          </a:schemeClr>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4A1CAB58-3497-4DBF-A93C-8F0382D2AD1A}"/>
              </a:ext>
            </a:extLst>
          </p:cNvPr>
          <p:cNvSpPr/>
          <p:nvPr/>
        </p:nvSpPr>
        <p:spPr>
          <a:xfrm>
            <a:off x="5206482" y="0"/>
            <a:ext cx="6985518" cy="6858000"/>
          </a:xfrm>
          <a:prstGeom prst="rec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BCB1412-70A2-45EA-873A-27FFAB933969}"/>
              </a:ext>
            </a:extLst>
          </p:cNvPr>
          <p:cNvSpPr>
            <a:spLocks noGrp="1"/>
          </p:cNvSpPr>
          <p:nvPr>
            <p:ph type="title"/>
          </p:nvPr>
        </p:nvSpPr>
        <p:spPr>
          <a:xfrm>
            <a:off x="119257" y="159798"/>
            <a:ext cx="4959799" cy="2015231"/>
          </a:xfrm>
        </p:spPr>
        <p:txBody>
          <a:bodyPr>
            <a:normAutofit/>
          </a:bodyPr>
          <a:lstStyle/>
          <a:p>
            <a:r>
              <a:rPr lang="en-GB" dirty="0">
                <a:solidFill>
                  <a:schemeClr val="bg1">
                    <a:lumMod val="85000"/>
                  </a:schemeClr>
                </a:solidFill>
              </a:rPr>
              <a:t>Computer Misuse in the News</a:t>
            </a:r>
            <a:endParaRPr lang="en-US" dirty="0">
              <a:solidFill>
                <a:schemeClr val="bg1">
                  <a:lumMod val="85000"/>
                </a:schemeClr>
              </a:solidFill>
            </a:endParaRPr>
          </a:p>
        </p:txBody>
      </p:sp>
      <p:sp>
        <p:nvSpPr>
          <p:cNvPr id="3" name="Content Placeholder 2">
            <a:extLst>
              <a:ext uri="{FF2B5EF4-FFF2-40B4-BE49-F238E27FC236}">
                <a16:creationId xmlns:a16="http://schemas.microsoft.com/office/drawing/2014/main" id="{6C98270B-7B1C-49AB-8A41-49E819EFB1E6}"/>
              </a:ext>
            </a:extLst>
          </p:cNvPr>
          <p:cNvSpPr>
            <a:spLocks noGrp="1"/>
          </p:cNvSpPr>
          <p:nvPr>
            <p:ph idx="1"/>
          </p:nvPr>
        </p:nvSpPr>
        <p:spPr>
          <a:xfrm>
            <a:off x="160749" y="2565646"/>
            <a:ext cx="4959799" cy="4132555"/>
          </a:xfrm>
        </p:spPr>
        <p:txBody>
          <a:bodyPr/>
          <a:lstStyle/>
          <a:p>
            <a:r>
              <a:rPr lang="en-GB" dirty="0">
                <a:solidFill>
                  <a:schemeClr val="bg1">
                    <a:lumMod val="85000"/>
                  </a:schemeClr>
                </a:solidFill>
              </a:rPr>
              <a:t>The misuse of computers appears in the news quite regularly nowadays</a:t>
            </a:r>
          </a:p>
          <a:p>
            <a:endParaRPr lang="en-GB" dirty="0">
              <a:solidFill>
                <a:schemeClr val="bg1">
                  <a:lumMod val="85000"/>
                </a:schemeClr>
              </a:solidFill>
            </a:endParaRPr>
          </a:p>
          <a:p>
            <a:r>
              <a:rPr lang="en-GB" dirty="0">
                <a:solidFill>
                  <a:schemeClr val="bg1">
                    <a:lumMod val="85000"/>
                  </a:schemeClr>
                </a:solidFill>
              </a:rPr>
              <a:t>The NHS, TalkTalk and (possibly) the Whitehouse Emails  by the Russians</a:t>
            </a:r>
            <a:endParaRPr lang="en-US" dirty="0">
              <a:solidFill>
                <a:schemeClr val="bg1">
                  <a:lumMod val="85000"/>
                </a:schemeClr>
              </a:solidFill>
            </a:endParaRPr>
          </a:p>
        </p:txBody>
      </p:sp>
      <p:pic>
        <p:nvPicPr>
          <p:cNvPr id="2054" name="Picture 6" descr="Image result for binary animated .gif">
            <a:extLst>
              <a:ext uri="{FF2B5EF4-FFF2-40B4-BE49-F238E27FC236}">
                <a16:creationId xmlns:a16="http://schemas.microsoft.com/office/drawing/2014/main" id="{E5ECF9E6-3A31-496B-98DA-7ACB0000B95C}"/>
              </a:ext>
            </a:extLst>
          </p:cNvPr>
          <p:cNvPicPr>
            <a:picLocks noChangeAspect="1" noChangeArrowheads="1" noCrop="1"/>
          </p:cNvPicPr>
          <p:nvPr/>
        </p:nvPicPr>
        <p:blipFill>
          <a:blip r:embed="rId2">
            <a:extLst>
              <a:ext uri="{28A0092B-C50C-407E-A947-70E740481C1C}">
                <a14:useLocalDpi xmlns:a14="http://schemas.microsoft.com/office/drawing/2010/main" val="0"/>
              </a:ext>
            </a:extLst>
          </a:blip>
          <a:srcRect/>
          <a:stretch>
            <a:fillRect/>
          </a:stretch>
        </p:blipFill>
        <p:spPr bwMode="auto">
          <a:xfrm>
            <a:off x="6561190" y="1516140"/>
            <a:ext cx="5621309" cy="3100248"/>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5">
            <a:extLst>
              <a:ext uri="{FF2B5EF4-FFF2-40B4-BE49-F238E27FC236}">
                <a16:creationId xmlns:a16="http://schemas.microsoft.com/office/drawing/2014/main" id="{BBB8B3ED-E8D3-413C-9344-6B88DF9B45C5}"/>
              </a:ext>
            </a:extLst>
          </p:cNvPr>
          <p:cNvPicPr>
            <a:picLocks noChangeAspect="1"/>
          </p:cNvPicPr>
          <p:nvPr/>
        </p:nvPicPr>
        <p:blipFill>
          <a:blip r:embed="rId3"/>
          <a:stretch>
            <a:fillRect/>
          </a:stretch>
        </p:blipFill>
        <p:spPr>
          <a:xfrm>
            <a:off x="6641610" y="0"/>
            <a:ext cx="5794062" cy="2175029"/>
          </a:xfrm>
          <a:prstGeom prst="rect">
            <a:avLst/>
          </a:prstGeom>
        </p:spPr>
      </p:pic>
      <p:pic>
        <p:nvPicPr>
          <p:cNvPr id="8" name="Picture 7">
            <a:extLst>
              <a:ext uri="{FF2B5EF4-FFF2-40B4-BE49-F238E27FC236}">
                <a16:creationId xmlns:a16="http://schemas.microsoft.com/office/drawing/2014/main" id="{69F9BF3D-A150-4B95-B81B-2D9A7943A6A5}"/>
              </a:ext>
            </a:extLst>
          </p:cNvPr>
          <p:cNvPicPr>
            <a:picLocks noChangeAspect="1"/>
          </p:cNvPicPr>
          <p:nvPr/>
        </p:nvPicPr>
        <p:blipFill rotWithShape="1">
          <a:blip r:embed="rId4">
            <a:extLst>
              <a:ext uri="{BEBA8EAE-BF5A-486C-A8C5-ECC9F3942E4B}">
                <a14:imgProps xmlns:a14="http://schemas.microsoft.com/office/drawing/2010/main">
                  <a14:imgLayer r:embed="rId5">
                    <a14:imgEffect>
                      <a14:backgroundRemoval t="6944" b="88889" l="2128" r="91489">
                        <a14:foregroundMark x1="2128" y1="41667" x2="2128" y2="41667"/>
                        <a14:foregroundMark x1="13298" y1="44444" x2="13298" y2="44444"/>
                        <a14:foregroundMark x1="28457" y1="44444" x2="28457" y2="44444"/>
                        <a14:foregroundMark x1="36702" y1="44444" x2="36702" y2="44444"/>
                        <a14:foregroundMark x1="23670" y1="44444" x2="23670" y2="44444"/>
                        <a14:foregroundMark x1="45479" y1="51389" x2="45479" y2="51389"/>
                        <a14:foregroundMark x1="55851" y1="22222" x2="55851" y2="22222"/>
                        <a14:foregroundMark x1="63830" y1="22222" x2="63830" y2="22222"/>
                        <a14:foregroundMark x1="64096" y1="41667" x2="64096" y2="41667"/>
                        <a14:foregroundMark x1="68883" y1="52778" x2="68883" y2="52778"/>
                        <a14:foregroundMark x1="77660" y1="51389" x2="77660" y2="51389"/>
                        <a14:foregroundMark x1="86968" y1="43056" x2="86968" y2="43056"/>
                        <a14:foregroundMark x1="91489" y1="22222" x2="91489" y2="22222"/>
                        <a14:foregroundMark x1="28457" y1="29167" x2="28191" y2="56944"/>
                        <a14:foregroundMark x1="32979" y1="69444" x2="30585" y2="69444"/>
                        <a14:foregroundMark x1="41223" y1="59722" x2="40426" y2="45833"/>
                        <a14:foregroundMark x1="36702" y1="54135" x2="36702" y2="48611"/>
                        <a14:foregroundMark x1="36702" y1="65278" x2="36702" y2="54306"/>
                        <a14:foregroundMark x1="32447" y1="16667" x2="30851" y2="16667"/>
                        <a14:foregroundMark x1="32447" y1="41667" x2="29787" y2="41667"/>
                        <a14:foregroundMark x1="16489" y1="19444" x2="15426" y2="31944"/>
                        <a14:foregroundMark x1="12234" y1="37500" x2="11170" y2="20833"/>
                        <a14:foregroundMark x1="7713" y1="20833" x2="4787" y2="19444"/>
                        <a14:foregroundMark x1="8511" y1="65278" x2="3989" y2="66667"/>
                        <a14:foregroundMark x1="36968" y1="31944" x2="36968" y2="22222"/>
                        <a14:backgroundMark x1="5851" y1="37500" x2="8245" y2="45833"/>
                        <a14:backgroundMark x1="21809" y1="33333" x2="21809" y2="26389"/>
                        <a14:backgroundMark x1="22074" y1="58333" x2="22074" y2="51389"/>
                        <a14:backgroundMark x1="38032" y1="34722" x2="38298" y2="30556"/>
                      </a14:backgroundRemoval>
                    </a14:imgEffect>
                  </a14:imgLayer>
                </a14:imgProps>
              </a:ext>
            </a:extLst>
          </a:blip>
          <a:srcRect r="5643"/>
          <a:stretch/>
        </p:blipFill>
        <p:spPr>
          <a:xfrm>
            <a:off x="6648369" y="2229004"/>
            <a:ext cx="5368376" cy="1146021"/>
          </a:xfrm>
          <a:prstGeom prst="rect">
            <a:avLst/>
          </a:prstGeom>
          <a:effectLst>
            <a:glow rad="101600">
              <a:schemeClr val="tx1">
                <a:alpha val="60000"/>
              </a:schemeClr>
            </a:glow>
          </a:effectLst>
        </p:spPr>
      </p:pic>
      <p:pic>
        <p:nvPicPr>
          <p:cNvPr id="2050" name="Picture 2" descr="Image result for computer misuse act in the news">
            <a:extLst>
              <a:ext uri="{FF2B5EF4-FFF2-40B4-BE49-F238E27FC236}">
                <a16:creationId xmlns:a16="http://schemas.microsoft.com/office/drawing/2014/main" id="{2D01B5CD-C6C5-42EB-86A8-E732F6781AC1}"/>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686722" y="3427570"/>
            <a:ext cx="5495778" cy="3430429"/>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3">
            <a:extLst>
              <a:ext uri="{FF2B5EF4-FFF2-40B4-BE49-F238E27FC236}">
                <a16:creationId xmlns:a16="http://schemas.microsoft.com/office/drawing/2014/main" id="{42DCB0B1-9DE1-499A-A10F-8B300DEEC236}"/>
              </a:ext>
            </a:extLst>
          </p:cNvPr>
          <p:cNvPicPr>
            <a:picLocks noChangeAspect="1"/>
          </p:cNvPicPr>
          <p:nvPr/>
        </p:nvPicPr>
        <p:blipFill rotWithShape="1">
          <a:blip r:embed="rId7"/>
          <a:srcRect b="49637"/>
          <a:stretch/>
        </p:blipFill>
        <p:spPr>
          <a:xfrm rot="16200000">
            <a:off x="2517602" y="2823911"/>
            <a:ext cx="6857999" cy="1210176"/>
          </a:xfrm>
          <a:prstGeom prst="rect">
            <a:avLst/>
          </a:prstGeom>
        </p:spPr>
      </p:pic>
    </p:spTree>
    <p:extLst>
      <p:ext uri="{BB962C8B-B14F-4D97-AF65-F5344CB8AC3E}">
        <p14:creationId xmlns:p14="http://schemas.microsoft.com/office/powerpoint/2010/main" val="103637985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2">
            <a:lumMod val="10000"/>
          </a:schemeClr>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D0BBB494-9679-4B19-93EE-0A965531065E}"/>
              </a:ext>
            </a:extLst>
          </p:cNvPr>
          <p:cNvSpPr/>
          <p:nvPr/>
        </p:nvSpPr>
        <p:spPr>
          <a:xfrm>
            <a:off x="7261934" y="5743852"/>
            <a:ext cx="4634144" cy="918559"/>
          </a:xfrm>
          <a:prstGeom prst="rect">
            <a:avLst/>
          </a:prstGeom>
          <a:solidFill>
            <a:schemeClr val="tx1"/>
          </a:solidFill>
          <a:ln w="57150">
            <a:solidFill>
              <a:srgbClr val="FF0000"/>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GB" dirty="0">
                <a:solidFill>
                  <a:srgbClr val="FF9B2C"/>
                </a:solidFill>
              </a:rPr>
              <a:t>Jail: Up to 2 years</a:t>
            </a:r>
          </a:p>
          <a:p>
            <a:pPr algn="ctr"/>
            <a:r>
              <a:rPr lang="en-GB" dirty="0">
                <a:solidFill>
                  <a:srgbClr val="FF9B2C"/>
                </a:solidFill>
              </a:rPr>
              <a:t>Fine: £5000</a:t>
            </a:r>
            <a:endParaRPr lang="en-US" dirty="0">
              <a:solidFill>
                <a:srgbClr val="FF9B2C"/>
              </a:solidFill>
            </a:endParaRPr>
          </a:p>
        </p:txBody>
      </p:sp>
      <p:pic>
        <p:nvPicPr>
          <p:cNvPr id="3074" name="Picture 2" descr="Image result for Act icon">
            <a:extLst>
              <a:ext uri="{FF2B5EF4-FFF2-40B4-BE49-F238E27FC236}">
                <a16:creationId xmlns:a16="http://schemas.microsoft.com/office/drawing/2014/main" id="{5F3FF7B6-DE90-42D4-863B-21805807775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884057" y="643002"/>
            <a:ext cx="3796790" cy="3796790"/>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178BC6C8-D6A6-4535-BDFB-31F7EDB96996}"/>
              </a:ext>
            </a:extLst>
          </p:cNvPr>
          <p:cNvSpPr>
            <a:spLocks noGrp="1"/>
          </p:cNvSpPr>
          <p:nvPr>
            <p:ph type="title"/>
          </p:nvPr>
        </p:nvSpPr>
        <p:spPr>
          <a:xfrm>
            <a:off x="195310" y="803325"/>
            <a:ext cx="6387470" cy="1325563"/>
          </a:xfrm>
        </p:spPr>
        <p:txBody>
          <a:bodyPr>
            <a:normAutofit/>
          </a:bodyPr>
          <a:lstStyle/>
          <a:p>
            <a:r>
              <a:rPr lang="en-GB" sz="3600" dirty="0">
                <a:solidFill>
                  <a:srgbClr val="00B0F0"/>
                </a:solidFill>
              </a:rPr>
              <a:t>The Computer Misuse: The 4 Main Offences</a:t>
            </a:r>
            <a:endParaRPr lang="en-US" sz="3600" dirty="0">
              <a:solidFill>
                <a:srgbClr val="00B0F0"/>
              </a:solidFill>
            </a:endParaRPr>
          </a:p>
        </p:txBody>
      </p:sp>
      <p:sp>
        <p:nvSpPr>
          <p:cNvPr id="3" name="Content Placeholder 2">
            <a:extLst>
              <a:ext uri="{FF2B5EF4-FFF2-40B4-BE49-F238E27FC236}">
                <a16:creationId xmlns:a16="http://schemas.microsoft.com/office/drawing/2014/main" id="{68DE8948-2A04-4F67-ABA8-D35AE56017F5}"/>
              </a:ext>
            </a:extLst>
          </p:cNvPr>
          <p:cNvSpPr>
            <a:spLocks noGrp="1"/>
          </p:cNvSpPr>
          <p:nvPr>
            <p:ph idx="1"/>
          </p:nvPr>
        </p:nvSpPr>
        <p:spPr>
          <a:xfrm>
            <a:off x="44102" y="4057095"/>
            <a:ext cx="7007247" cy="2605316"/>
          </a:xfrm>
        </p:spPr>
        <p:txBody>
          <a:bodyPr anchor="t">
            <a:normAutofit/>
          </a:bodyPr>
          <a:lstStyle/>
          <a:p>
            <a:r>
              <a:rPr lang="en-GB" sz="2400" dirty="0">
                <a:solidFill>
                  <a:srgbClr val="00B0F0"/>
                </a:solidFill>
              </a:rPr>
              <a:t>This is the lowest level of the offence.</a:t>
            </a:r>
          </a:p>
          <a:p>
            <a:endParaRPr lang="en-GB" sz="2400" dirty="0">
              <a:solidFill>
                <a:srgbClr val="00B0F0"/>
              </a:solidFill>
            </a:endParaRPr>
          </a:p>
          <a:p>
            <a:r>
              <a:rPr lang="en-GB" sz="2400" dirty="0">
                <a:solidFill>
                  <a:srgbClr val="00B0F0"/>
                </a:solidFill>
              </a:rPr>
              <a:t>Example: A business owner hacking into a competitors network</a:t>
            </a:r>
            <a:endParaRPr lang="en-US" sz="2400" dirty="0">
              <a:solidFill>
                <a:srgbClr val="00B0F0"/>
              </a:solidFill>
            </a:endParaRPr>
          </a:p>
        </p:txBody>
      </p:sp>
      <p:pic>
        <p:nvPicPr>
          <p:cNvPr id="3078" name="Picture 6" descr="Rendered Image">
            <a:extLst>
              <a:ext uri="{FF2B5EF4-FFF2-40B4-BE49-F238E27FC236}">
                <a16:creationId xmlns:a16="http://schemas.microsoft.com/office/drawing/2014/main" id="{2D3545FA-48D5-4256-AB0B-EBB4B5C7F28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95310" y="2283827"/>
            <a:ext cx="4638675" cy="847725"/>
          </a:xfrm>
          <a:prstGeom prst="rect">
            <a:avLst/>
          </a:prstGeom>
          <a:noFill/>
          <a:extLst>
            <a:ext uri="{909E8E84-426E-40DD-AFC4-6F175D3DCCD1}">
              <a14:hiddenFill xmlns:a14="http://schemas.microsoft.com/office/drawing/2010/main">
                <a:solidFill>
                  <a:srgbClr val="FFFFFF"/>
                </a:solidFill>
              </a14:hiddenFill>
            </a:ext>
          </a:extLst>
        </p:spPr>
      </p:pic>
      <p:pic>
        <p:nvPicPr>
          <p:cNvPr id="3080" name="Picture 8" descr="Related image">
            <a:extLst>
              <a:ext uri="{FF2B5EF4-FFF2-40B4-BE49-F238E27FC236}">
                <a16:creationId xmlns:a16="http://schemas.microsoft.com/office/drawing/2014/main" id="{259DF605-5CD7-4FCA-B580-45E7FFE9832E}"/>
              </a:ext>
            </a:extLst>
          </p:cNvPr>
          <p:cNvPicPr>
            <a:picLocks noChangeAspect="1" noChangeArrowheads="1"/>
          </p:cNvPicPr>
          <p:nvPr/>
        </p:nvPicPr>
        <p:blipFill>
          <a:blip r:embed="rId4" cstate="print">
            <a:extLst>
              <a:ext uri="{BEBA8EAE-BF5A-486C-A8C5-ECC9F3942E4B}">
                <a14:imgProps xmlns:a14="http://schemas.microsoft.com/office/drawing/2010/main">
                  <a14:imgLayer r:embed="rId5">
                    <a14:imgEffect>
                      <a14:backgroundRemoval t="4911" b="94643" l="4889" r="93778">
                        <a14:foregroundMark x1="43111" y1="39286" x2="43111" y2="34375"/>
                        <a14:foregroundMark x1="16444" y1="93304" x2="16000" y2="91518"/>
                        <a14:foregroundMark x1="7556" y1="83482" x2="6667" y2="83482"/>
                        <a14:foregroundMark x1="32444" y1="5357" x2="31556" y2="10714"/>
                        <a14:foregroundMark x1="92000" y1="16071" x2="92889" y2="16071"/>
                        <a14:foregroundMark x1="65778" y1="95089" x2="67111" y2="94643"/>
                        <a14:foregroundMark x1="6667" y1="14732" x2="6222" y2="14732"/>
                        <a14:foregroundMark x1="6667" y1="84375" x2="5333" y2="84375"/>
                        <a14:foregroundMark x1="91556" y1="84821" x2="93778" y2="84821"/>
                      </a14:backgroundRemoval>
                    </a14:imgEffect>
                    <a14:imgEffect>
                      <a14:sharpenSoften amount="-50000"/>
                    </a14:imgEffect>
                    <a14:imgEffect>
                      <a14:colorTemperature colorTemp="8800"/>
                    </a14:imgEffect>
                    <a14:imgEffect>
                      <a14:saturation sat="400000"/>
                    </a14:imgEffect>
                  </a14:imgLayer>
                </a14:imgProps>
              </a:ext>
              <a:ext uri="{28A0092B-C50C-407E-A947-70E740481C1C}">
                <a14:useLocalDpi xmlns:a14="http://schemas.microsoft.com/office/drawing/2010/main" val="0"/>
              </a:ext>
            </a:extLst>
          </a:blip>
          <a:srcRect/>
          <a:stretch>
            <a:fillRect/>
          </a:stretch>
        </p:blipFill>
        <p:spPr bwMode="auto">
          <a:xfrm rot="20710396">
            <a:off x="6924582" y="5259637"/>
            <a:ext cx="736847" cy="733572"/>
          </a:xfrm>
          <a:prstGeom prst="rect">
            <a:avLst/>
          </a:prstGeom>
          <a:noFill/>
          <a:effectLst>
            <a:glow rad="25400">
              <a:srgbClr val="FF0000"/>
            </a:glow>
          </a:effectLst>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5B3AE75F-4648-4B96-9785-578B2DC912E0}"/>
              </a:ext>
            </a:extLst>
          </p:cNvPr>
          <p:cNvSpPr txBox="1"/>
          <p:nvPr/>
        </p:nvSpPr>
        <p:spPr>
          <a:xfrm>
            <a:off x="1329226" y="3134634"/>
            <a:ext cx="4929214" cy="369332"/>
          </a:xfrm>
          <a:prstGeom prst="rect">
            <a:avLst/>
          </a:prstGeom>
          <a:noFill/>
        </p:spPr>
        <p:txBody>
          <a:bodyPr wrap="square" rtlCol="0">
            <a:spAutoFit/>
          </a:bodyPr>
          <a:lstStyle/>
          <a:p>
            <a:r>
              <a:rPr lang="en-GB" b="1" dirty="0">
                <a:solidFill>
                  <a:srgbClr val="FF9929"/>
                </a:solidFill>
              </a:rPr>
              <a:t>Unauthorised access to computer material</a:t>
            </a:r>
            <a:endParaRPr lang="en-US" b="1" dirty="0">
              <a:solidFill>
                <a:srgbClr val="FF9929"/>
              </a:solidFill>
            </a:endParaRPr>
          </a:p>
        </p:txBody>
      </p:sp>
    </p:spTree>
    <p:extLst>
      <p:ext uri="{BB962C8B-B14F-4D97-AF65-F5344CB8AC3E}">
        <p14:creationId xmlns:p14="http://schemas.microsoft.com/office/powerpoint/2010/main" val="36831996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3" presetClass="entr" presetSubtype="16" fill="hold" nodeType="afterEffect">
                                  <p:stCondLst>
                                    <p:cond delay="0"/>
                                  </p:stCondLst>
                                  <p:childTnLst>
                                    <p:set>
                                      <p:cBhvr>
                                        <p:cTn id="6" dur="1" fill="hold">
                                          <p:stCondLst>
                                            <p:cond delay="0"/>
                                          </p:stCondLst>
                                        </p:cTn>
                                        <p:tgtEl>
                                          <p:spTgt spid="3074"/>
                                        </p:tgtEl>
                                        <p:attrNameLst>
                                          <p:attrName>style.visibility</p:attrName>
                                        </p:attrNameLst>
                                      </p:cBhvr>
                                      <p:to>
                                        <p:strVal val="visible"/>
                                      </p:to>
                                    </p:set>
                                    <p:anim calcmode="lin" valueType="num">
                                      <p:cBhvr>
                                        <p:cTn id="7" dur="500" fill="hold"/>
                                        <p:tgtEl>
                                          <p:spTgt spid="3074"/>
                                        </p:tgtEl>
                                        <p:attrNameLst>
                                          <p:attrName>ppt_w</p:attrName>
                                        </p:attrNameLst>
                                      </p:cBhvr>
                                      <p:tavLst>
                                        <p:tav tm="0">
                                          <p:val>
                                            <p:fltVal val="0"/>
                                          </p:val>
                                        </p:tav>
                                        <p:tav tm="100000">
                                          <p:val>
                                            <p:strVal val="#ppt_w"/>
                                          </p:val>
                                        </p:tav>
                                      </p:tavLst>
                                    </p:anim>
                                    <p:anim calcmode="lin" valueType="num">
                                      <p:cBhvr>
                                        <p:cTn id="8" dur="500" fill="hold"/>
                                        <p:tgtEl>
                                          <p:spTgt spid="3074"/>
                                        </p:tgtEl>
                                        <p:attrNameLst>
                                          <p:attrName>ppt_h</p:attrName>
                                        </p:attrNameLst>
                                      </p:cBhvr>
                                      <p:tavLst>
                                        <p:tav tm="0">
                                          <p:val>
                                            <p:fltVal val="0"/>
                                          </p:val>
                                        </p:tav>
                                        <p:tav tm="100000">
                                          <p:val>
                                            <p:strVal val="#ppt_h"/>
                                          </p:val>
                                        </p:tav>
                                      </p:tavLst>
                                    </p:anim>
                                  </p:childTnLst>
                                </p:cTn>
                              </p:par>
                            </p:childTnLst>
                          </p:cTn>
                        </p:par>
                        <p:par>
                          <p:cTn id="9" fill="hold">
                            <p:stCondLst>
                              <p:cond delay="500"/>
                            </p:stCondLst>
                            <p:childTnLst>
                              <p:par>
                                <p:cTn id="10" presetID="22" presetClass="entr" presetSubtype="8" fill="hold" nodeType="afterEffect">
                                  <p:stCondLst>
                                    <p:cond delay="0"/>
                                  </p:stCondLst>
                                  <p:childTnLst>
                                    <p:set>
                                      <p:cBhvr>
                                        <p:cTn id="11" dur="1" fill="hold">
                                          <p:stCondLst>
                                            <p:cond delay="0"/>
                                          </p:stCondLst>
                                        </p:cTn>
                                        <p:tgtEl>
                                          <p:spTgt spid="3078"/>
                                        </p:tgtEl>
                                        <p:attrNameLst>
                                          <p:attrName>style.visibility</p:attrName>
                                        </p:attrNameLst>
                                      </p:cBhvr>
                                      <p:to>
                                        <p:strVal val="visible"/>
                                      </p:to>
                                    </p:set>
                                    <p:animEffect transition="in" filter="wipe(left)">
                                      <p:cBhvr>
                                        <p:cTn id="12" dur="500"/>
                                        <p:tgtEl>
                                          <p:spTgt spid="3078"/>
                                        </p:tgtEl>
                                      </p:cBhvr>
                                    </p:animEffect>
                                  </p:childTnLst>
                                </p:cTn>
                              </p:par>
                            </p:childTnLst>
                          </p:cTn>
                        </p:par>
                        <p:par>
                          <p:cTn id="13" fill="hold">
                            <p:stCondLst>
                              <p:cond delay="1000"/>
                            </p:stCondLst>
                            <p:childTnLst>
                              <p:par>
                                <p:cTn id="14" presetID="47" presetClass="entr" presetSubtype="0" fill="hold" grpId="0" nodeType="after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1000"/>
                                        <p:tgtEl>
                                          <p:spTgt spid="5"/>
                                        </p:tgtEl>
                                      </p:cBhvr>
                                    </p:animEffect>
                                    <p:anim calcmode="lin" valueType="num">
                                      <p:cBhvr>
                                        <p:cTn id="17" dur="1000" fill="hold"/>
                                        <p:tgtEl>
                                          <p:spTgt spid="5"/>
                                        </p:tgtEl>
                                        <p:attrNameLst>
                                          <p:attrName>ppt_x</p:attrName>
                                        </p:attrNameLst>
                                      </p:cBhvr>
                                      <p:tavLst>
                                        <p:tav tm="0">
                                          <p:val>
                                            <p:strVal val="#ppt_x"/>
                                          </p:val>
                                        </p:tav>
                                        <p:tav tm="100000">
                                          <p:val>
                                            <p:strVal val="#ppt_x"/>
                                          </p:val>
                                        </p:tav>
                                      </p:tavLst>
                                    </p:anim>
                                    <p:anim calcmode="lin" valueType="num">
                                      <p:cBhvr>
                                        <p:cTn id="18"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3">
                                            <p:txEl>
                                              <p:pRg st="0" end="0"/>
                                            </p:txEl>
                                          </p:spTgt>
                                        </p:tgtEl>
                                        <p:attrNameLst>
                                          <p:attrName>style.visibility</p:attrName>
                                        </p:attrNameLst>
                                      </p:cBhvr>
                                      <p:to>
                                        <p:strVal val="visible"/>
                                      </p:to>
                                    </p:set>
                                    <p:animEffect transition="in" filter="fade">
                                      <p:cBhvr>
                                        <p:cTn id="23" dur="500"/>
                                        <p:tgtEl>
                                          <p:spTgt spid="3">
                                            <p:txEl>
                                              <p:pRg st="0" end="0"/>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3">
                                            <p:txEl>
                                              <p:pRg st="2" end="2"/>
                                            </p:txEl>
                                          </p:spTgt>
                                        </p:tgtEl>
                                        <p:attrNameLst>
                                          <p:attrName>style.visibility</p:attrName>
                                        </p:attrNameLst>
                                      </p:cBhvr>
                                      <p:to>
                                        <p:strVal val="visible"/>
                                      </p:to>
                                    </p:set>
                                    <p:animEffect transition="in" filter="fade">
                                      <p:cBhvr>
                                        <p:cTn id="28" dur="500"/>
                                        <p:tgtEl>
                                          <p:spTgt spid="3">
                                            <p:txEl>
                                              <p:pRg st="2" end="2"/>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grpId="0" nodeType="clickEffect">
                                  <p:stCondLst>
                                    <p:cond delay="0"/>
                                  </p:stCondLst>
                                  <p:childTnLst>
                                    <p:set>
                                      <p:cBhvr>
                                        <p:cTn id="32" dur="1" fill="hold">
                                          <p:stCondLst>
                                            <p:cond delay="0"/>
                                          </p:stCondLst>
                                        </p:cTn>
                                        <p:tgtEl>
                                          <p:spTgt spid="4"/>
                                        </p:tgtEl>
                                        <p:attrNameLst>
                                          <p:attrName>style.visibility</p:attrName>
                                        </p:attrNameLst>
                                      </p:cBhvr>
                                      <p:to>
                                        <p:strVal val="visible"/>
                                      </p:to>
                                    </p:set>
                                    <p:animEffect transition="in" filter="fade">
                                      <p:cBhvr>
                                        <p:cTn id="33" dur="500"/>
                                        <p:tgtEl>
                                          <p:spTgt spid="4"/>
                                        </p:tgtEl>
                                      </p:cBhvr>
                                    </p:animEffect>
                                  </p:childTnLst>
                                </p:cTn>
                              </p:par>
                            </p:childTnLst>
                          </p:cTn>
                        </p:par>
                        <p:par>
                          <p:cTn id="34" fill="hold">
                            <p:stCondLst>
                              <p:cond delay="500"/>
                            </p:stCondLst>
                            <p:childTnLst>
                              <p:par>
                                <p:cTn id="35" presetID="31" presetClass="entr" presetSubtype="0" fill="hold" nodeType="afterEffect">
                                  <p:stCondLst>
                                    <p:cond delay="0"/>
                                  </p:stCondLst>
                                  <p:childTnLst>
                                    <p:set>
                                      <p:cBhvr>
                                        <p:cTn id="36" dur="1" fill="hold">
                                          <p:stCondLst>
                                            <p:cond delay="0"/>
                                          </p:stCondLst>
                                        </p:cTn>
                                        <p:tgtEl>
                                          <p:spTgt spid="3080"/>
                                        </p:tgtEl>
                                        <p:attrNameLst>
                                          <p:attrName>style.visibility</p:attrName>
                                        </p:attrNameLst>
                                      </p:cBhvr>
                                      <p:to>
                                        <p:strVal val="visible"/>
                                      </p:to>
                                    </p:set>
                                    <p:anim calcmode="lin" valueType="num">
                                      <p:cBhvr>
                                        <p:cTn id="37" dur="1000" fill="hold"/>
                                        <p:tgtEl>
                                          <p:spTgt spid="3080"/>
                                        </p:tgtEl>
                                        <p:attrNameLst>
                                          <p:attrName>ppt_w</p:attrName>
                                        </p:attrNameLst>
                                      </p:cBhvr>
                                      <p:tavLst>
                                        <p:tav tm="0">
                                          <p:val>
                                            <p:fltVal val="0"/>
                                          </p:val>
                                        </p:tav>
                                        <p:tav tm="100000">
                                          <p:val>
                                            <p:strVal val="#ppt_w"/>
                                          </p:val>
                                        </p:tav>
                                      </p:tavLst>
                                    </p:anim>
                                    <p:anim calcmode="lin" valueType="num">
                                      <p:cBhvr>
                                        <p:cTn id="38" dur="1000" fill="hold"/>
                                        <p:tgtEl>
                                          <p:spTgt spid="3080"/>
                                        </p:tgtEl>
                                        <p:attrNameLst>
                                          <p:attrName>ppt_h</p:attrName>
                                        </p:attrNameLst>
                                      </p:cBhvr>
                                      <p:tavLst>
                                        <p:tav tm="0">
                                          <p:val>
                                            <p:fltVal val="0"/>
                                          </p:val>
                                        </p:tav>
                                        <p:tav tm="100000">
                                          <p:val>
                                            <p:strVal val="#ppt_h"/>
                                          </p:val>
                                        </p:tav>
                                      </p:tavLst>
                                    </p:anim>
                                    <p:anim calcmode="lin" valueType="num">
                                      <p:cBhvr>
                                        <p:cTn id="39" dur="1000" fill="hold"/>
                                        <p:tgtEl>
                                          <p:spTgt spid="3080"/>
                                        </p:tgtEl>
                                        <p:attrNameLst>
                                          <p:attrName>style.rotation</p:attrName>
                                        </p:attrNameLst>
                                      </p:cBhvr>
                                      <p:tavLst>
                                        <p:tav tm="0">
                                          <p:val>
                                            <p:fltVal val="90"/>
                                          </p:val>
                                        </p:tav>
                                        <p:tav tm="100000">
                                          <p:val>
                                            <p:fltVal val="0"/>
                                          </p:val>
                                        </p:tav>
                                      </p:tavLst>
                                    </p:anim>
                                    <p:animEffect transition="in" filter="fade">
                                      <p:cBhvr>
                                        <p:cTn id="40" dur="1000"/>
                                        <p:tgtEl>
                                          <p:spTgt spid="308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3" grpId="0" build="p"/>
      <p:bldP spid="5" grpId="0"/>
    </p:bldLst>
  </p:timing>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2">
            <a:lumMod val="10000"/>
          </a:schemeClr>
        </a:solidFill>
        <a:effectLst/>
      </p:bgPr>
    </p:bg>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2CE9A1-5986-4983-993F-DD91D55B23AF}"/>
              </a:ext>
            </a:extLst>
          </p:cNvPr>
          <p:cNvSpPr>
            <a:spLocks noGrp="1"/>
          </p:cNvSpPr>
          <p:nvPr>
            <p:ph type="title"/>
          </p:nvPr>
        </p:nvSpPr>
        <p:spPr/>
        <p:txBody>
          <a:bodyPr/>
          <a:lstStyle/>
          <a:p>
            <a:endParaRPr lang="en-US"/>
          </a:p>
        </p:txBody>
      </p:sp>
      <p:sp>
        <p:nvSpPr>
          <p:cNvPr id="8" name="Content Placeholder 7">
            <a:extLst>
              <a:ext uri="{FF2B5EF4-FFF2-40B4-BE49-F238E27FC236}">
                <a16:creationId xmlns:a16="http://schemas.microsoft.com/office/drawing/2014/main" id="{18AEA170-5DF8-4526-8AD9-0E2C56A87D47}"/>
              </a:ext>
            </a:extLst>
          </p:cNvPr>
          <p:cNvSpPr>
            <a:spLocks noGrp="1"/>
          </p:cNvSpPr>
          <p:nvPr>
            <p:ph idx="1"/>
          </p:nvPr>
        </p:nvSpPr>
        <p:spPr/>
        <p:txBody>
          <a:bodyPr/>
          <a:lstStyle/>
          <a:p>
            <a:endParaRPr lang="en-US"/>
          </a:p>
        </p:txBody>
      </p:sp>
      <p:pic>
        <p:nvPicPr>
          <p:cNvPr id="6" name="Picture 5">
            <a:extLst>
              <a:ext uri="{FF2B5EF4-FFF2-40B4-BE49-F238E27FC236}">
                <a16:creationId xmlns:a16="http://schemas.microsoft.com/office/drawing/2014/main" id="{9287BE66-7046-4374-BCF4-60E86909F1B5}"/>
              </a:ext>
            </a:extLst>
          </p:cNvPr>
          <p:cNvPicPr>
            <a:picLocks noChangeAspect="1"/>
          </p:cNvPicPr>
          <p:nvPr/>
        </p:nvPicPr>
        <p:blipFill>
          <a:blip r:embed="rId2"/>
          <a:stretch>
            <a:fillRect/>
          </a:stretch>
        </p:blipFill>
        <p:spPr>
          <a:xfrm rot="10800000">
            <a:off x="0" y="0"/>
            <a:ext cx="12192000" cy="6858000"/>
          </a:xfrm>
          <a:prstGeom prst="rect">
            <a:avLst/>
          </a:prstGeom>
        </p:spPr>
      </p:pic>
      <p:sp>
        <p:nvSpPr>
          <p:cNvPr id="14" name="Rectangle 13">
            <a:extLst>
              <a:ext uri="{FF2B5EF4-FFF2-40B4-BE49-F238E27FC236}">
                <a16:creationId xmlns:a16="http://schemas.microsoft.com/office/drawing/2014/main" id="{88CAE210-133B-426A-86E7-90BB4FD99B0B}"/>
              </a:ext>
            </a:extLst>
          </p:cNvPr>
          <p:cNvSpPr/>
          <p:nvPr/>
        </p:nvSpPr>
        <p:spPr>
          <a:xfrm>
            <a:off x="7373798" y="5716144"/>
            <a:ext cx="4634144" cy="918559"/>
          </a:xfrm>
          <a:prstGeom prst="rect">
            <a:avLst/>
          </a:prstGeom>
          <a:solidFill>
            <a:schemeClr val="tx1"/>
          </a:solidFill>
          <a:ln w="57150">
            <a:solidFill>
              <a:srgbClr val="FF0000"/>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GB" dirty="0">
                <a:solidFill>
                  <a:srgbClr val="FF9B2C"/>
                </a:solidFill>
              </a:rPr>
              <a:t>Jail: Up to 5 Years</a:t>
            </a:r>
          </a:p>
          <a:p>
            <a:pPr algn="ctr"/>
            <a:r>
              <a:rPr lang="en-GB" dirty="0">
                <a:solidFill>
                  <a:srgbClr val="FF9B2C"/>
                </a:solidFill>
              </a:rPr>
              <a:t>Fine: Unlimited</a:t>
            </a:r>
            <a:endParaRPr lang="en-US" dirty="0">
              <a:solidFill>
                <a:srgbClr val="FF9B2C"/>
              </a:solidFill>
            </a:endParaRPr>
          </a:p>
        </p:txBody>
      </p:sp>
      <p:pic>
        <p:nvPicPr>
          <p:cNvPr id="15" name="Picture 2" descr="Image result for Act icon">
            <a:extLst>
              <a:ext uri="{FF2B5EF4-FFF2-40B4-BE49-F238E27FC236}">
                <a16:creationId xmlns:a16="http://schemas.microsoft.com/office/drawing/2014/main" id="{46A55825-81CB-4AC7-BA8F-7C28BC3B389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50175" y="2584405"/>
            <a:ext cx="3796790" cy="3796790"/>
          </a:xfrm>
          <a:prstGeom prst="rect">
            <a:avLst/>
          </a:prstGeom>
          <a:noFill/>
          <a:extLst>
            <a:ext uri="{909E8E84-426E-40DD-AFC4-6F175D3DCCD1}">
              <a14:hiddenFill xmlns:a14="http://schemas.microsoft.com/office/drawing/2010/main">
                <a:solidFill>
                  <a:srgbClr val="FFFFFF"/>
                </a:solidFill>
              </a14:hiddenFill>
            </a:ext>
          </a:extLst>
        </p:spPr>
      </p:pic>
      <p:sp>
        <p:nvSpPr>
          <p:cNvPr id="16" name="Title 1">
            <a:extLst>
              <a:ext uri="{FF2B5EF4-FFF2-40B4-BE49-F238E27FC236}">
                <a16:creationId xmlns:a16="http://schemas.microsoft.com/office/drawing/2014/main" id="{081ACE0F-4155-4B3E-9A20-0CA2EC393D4D}"/>
              </a:ext>
            </a:extLst>
          </p:cNvPr>
          <p:cNvSpPr txBox="1">
            <a:spLocks/>
          </p:cNvSpPr>
          <p:nvPr/>
        </p:nvSpPr>
        <p:spPr>
          <a:xfrm>
            <a:off x="43309" y="18255"/>
            <a:ext cx="990424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sz="3600" dirty="0">
                <a:solidFill>
                  <a:srgbClr val="00B0F0"/>
                </a:solidFill>
              </a:rPr>
              <a:t>The Computer Misuse: The 4 Main Offences</a:t>
            </a:r>
            <a:endParaRPr lang="en-US" sz="3600" dirty="0">
              <a:solidFill>
                <a:srgbClr val="00B0F0"/>
              </a:solidFill>
            </a:endParaRPr>
          </a:p>
        </p:txBody>
      </p:sp>
      <p:sp>
        <p:nvSpPr>
          <p:cNvPr id="17" name="Content Placeholder 2">
            <a:extLst>
              <a:ext uri="{FF2B5EF4-FFF2-40B4-BE49-F238E27FC236}">
                <a16:creationId xmlns:a16="http://schemas.microsoft.com/office/drawing/2014/main" id="{15DBA85F-6FC8-49C5-B3E9-DA23F8FA5297}"/>
              </a:ext>
            </a:extLst>
          </p:cNvPr>
          <p:cNvSpPr txBox="1">
            <a:spLocks/>
          </p:cNvSpPr>
          <p:nvPr/>
        </p:nvSpPr>
        <p:spPr>
          <a:xfrm>
            <a:off x="5979645" y="2872824"/>
            <a:ext cx="5860936" cy="2605316"/>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GB" sz="2400" dirty="0">
                <a:solidFill>
                  <a:srgbClr val="00B0F0"/>
                </a:solidFill>
              </a:rPr>
              <a:t>Examples include planting a virus or stealing a password to bank account</a:t>
            </a:r>
          </a:p>
          <a:p>
            <a:endParaRPr lang="en-GB" sz="2400" dirty="0">
              <a:solidFill>
                <a:srgbClr val="00B0F0"/>
              </a:solidFill>
            </a:endParaRPr>
          </a:p>
          <a:p>
            <a:r>
              <a:rPr lang="en-GB" sz="2400" dirty="0">
                <a:solidFill>
                  <a:srgbClr val="00B0F0"/>
                </a:solidFill>
              </a:rPr>
              <a:t>So this business owner has hacked into a competitors network in order to plant a virus</a:t>
            </a:r>
            <a:endParaRPr lang="en-US" sz="2400" dirty="0">
              <a:solidFill>
                <a:srgbClr val="00B0F0"/>
              </a:solidFill>
            </a:endParaRPr>
          </a:p>
        </p:txBody>
      </p:sp>
      <p:pic>
        <p:nvPicPr>
          <p:cNvPr id="19" name="Picture 8" descr="Related image">
            <a:extLst>
              <a:ext uri="{FF2B5EF4-FFF2-40B4-BE49-F238E27FC236}">
                <a16:creationId xmlns:a16="http://schemas.microsoft.com/office/drawing/2014/main" id="{627AB72F-0E5E-4594-A7A4-D0E179512478}"/>
              </a:ext>
            </a:extLst>
          </p:cNvPr>
          <p:cNvPicPr>
            <a:picLocks noChangeAspect="1" noChangeArrowheads="1"/>
          </p:cNvPicPr>
          <p:nvPr/>
        </p:nvPicPr>
        <p:blipFill>
          <a:blip r:embed="rId4" cstate="print">
            <a:extLst>
              <a:ext uri="{BEBA8EAE-BF5A-486C-A8C5-ECC9F3942E4B}">
                <a14:imgProps xmlns:a14="http://schemas.microsoft.com/office/drawing/2010/main">
                  <a14:imgLayer r:embed="rId5">
                    <a14:imgEffect>
                      <a14:backgroundRemoval t="4911" b="94643" l="4889" r="93778">
                        <a14:foregroundMark x1="43111" y1="39286" x2="43111" y2="34375"/>
                        <a14:foregroundMark x1="16444" y1="93304" x2="16000" y2="91518"/>
                        <a14:foregroundMark x1="7556" y1="83482" x2="6667" y2="83482"/>
                        <a14:foregroundMark x1="32444" y1="5357" x2="31556" y2="10714"/>
                        <a14:foregroundMark x1="92000" y1="16071" x2="92889" y2="16071"/>
                        <a14:foregroundMark x1="65778" y1="95089" x2="67111" y2="94643"/>
                        <a14:foregroundMark x1="6667" y1="14732" x2="6222" y2="14732"/>
                        <a14:foregroundMark x1="6667" y1="84375" x2="5333" y2="84375"/>
                        <a14:foregroundMark x1="91556" y1="84821" x2="93778" y2="84821"/>
                      </a14:backgroundRemoval>
                    </a14:imgEffect>
                    <a14:imgEffect>
                      <a14:sharpenSoften amount="-50000"/>
                    </a14:imgEffect>
                    <a14:imgEffect>
                      <a14:colorTemperature colorTemp="8800"/>
                    </a14:imgEffect>
                    <a14:imgEffect>
                      <a14:saturation sat="400000"/>
                    </a14:imgEffect>
                  </a14:imgLayer>
                </a14:imgProps>
              </a:ext>
              <a:ext uri="{28A0092B-C50C-407E-A947-70E740481C1C}">
                <a14:useLocalDpi xmlns:a14="http://schemas.microsoft.com/office/drawing/2010/main" val="0"/>
              </a:ext>
            </a:extLst>
          </a:blip>
          <a:srcRect/>
          <a:stretch>
            <a:fillRect/>
          </a:stretch>
        </p:blipFill>
        <p:spPr bwMode="auto">
          <a:xfrm rot="20710396">
            <a:off x="7036446" y="5231929"/>
            <a:ext cx="736847" cy="733572"/>
          </a:xfrm>
          <a:prstGeom prst="rect">
            <a:avLst/>
          </a:prstGeom>
          <a:noFill/>
          <a:effectLst>
            <a:glow rad="25400">
              <a:srgbClr val="FF0000"/>
            </a:glow>
          </a:effectLst>
          <a:extLst>
            <a:ext uri="{909E8E84-426E-40DD-AFC4-6F175D3DCCD1}">
              <a14:hiddenFill xmlns:a14="http://schemas.microsoft.com/office/drawing/2010/main">
                <a:solidFill>
                  <a:srgbClr val="FFFFFF"/>
                </a:solidFill>
              </a14:hiddenFill>
            </a:ext>
          </a:extLst>
        </p:spPr>
      </p:pic>
      <p:sp>
        <p:nvSpPr>
          <p:cNvPr id="20" name="TextBox 19">
            <a:extLst>
              <a:ext uri="{FF2B5EF4-FFF2-40B4-BE49-F238E27FC236}">
                <a16:creationId xmlns:a16="http://schemas.microsoft.com/office/drawing/2014/main" id="{6D5AB2B0-98AB-4E12-ADAC-1582486E6053}"/>
              </a:ext>
            </a:extLst>
          </p:cNvPr>
          <p:cNvSpPr txBox="1"/>
          <p:nvPr/>
        </p:nvSpPr>
        <p:spPr>
          <a:xfrm>
            <a:off x="6096000" y="2133162"/>
            <a:ext cx="5609220" cy="646331"/>
          </a:xfrm>
          <a:prstGeom prst="rect">
            <a:avLst/>
          </a:prstGeom>
          <a:noFill/>
        </p:spPr>
        <p:txBody>
          <a:bodyPr wrap="square" rtlCol="0">
            <a:spAutoFit/>
          </a:bodyPr>
          <a:lstStyle/>
          <a:p>
            <a:r>
              <a:rPr lang="en-GB" b="1" dirty="0">
                <a:solidFill>
                  <a:srgbClr val="FF9929"/>
                </a:solidFill>
              </a:rPr>
              <a:t>Unauthorised access to computer materials with </a:t>
            </a:r>
            <a:r>
              <a:rPr lang="en-GB" b="1" u="sng" dirty="0">
                <a:solidFill>
                  <a:srgbClr val="FF9929"/>
                </a:solidFill>
              </a:rPr>
              <a:t>intent</a:t>
            </a:r>
            <a:r>
              <a:rPr lang="en-GB" b="1" dirty="0">
                <a:solidFill>
                  <a:srgbClr val="FF9929"/>
                </a:solidFill>
              </a:rPr>
              <a:t> to commit a further crime</a:t>
            </a:r>
          </a:p>
        </p:txBody>
      </p:sp>
      <p:pic>
        <p:nvPicPr>
          <p:cNvPr id="21" name="Picture 2" descr="Rendered Image">
            <a:extLst>
              <a:ext uri="{FF2B5EF4-FFF2-40B4-BE49-F238E27FC236}">
                <a16:creationId xmlns:a16="http://schemas.microsoft.com/office/drawing/2014/main" id="{F5461357-31C6-4AA3-84AB-0E529844CB43}"/>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7174575" y="1329570"/>
            <a:ext cx="4667250" cy="8477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245435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3" presetClass="entr" presetSubtype="16" fill="hold" nodeType="afterEffect">
                                  <p:stCondLst>
                                    <p:cond delay="0"/>
                                  </p:stCondLst>
                                  <p:childTnLst>
                                    <p:set>
                                      <p:cBhvr>
                                        <p:cTn id="6" dur="1" fill="hold">
                                          <p:stCondLst>
                                            <p:cond delay="0"/>
                                          </p:stCondLst>
                                        </p:cTn>
                                        <p:tgtEl>
                                          <p:spTgt spid="15"/>
                                        </p:tgtEl>
                                        <p:attrNameLst>
                                          <p:attrName>style.visibility</p:attrName>
                                        </p:attrNameLst>
                                      </p:cBhvr>
                                      <p:to>
                                        <p:strVal val="visible"/>
                                      </p:to>
                                    </p:set>
                                    <p:anim calcmode="lin" valueType="num">
                                      <p:cBhvr>
                                        <p:cTn id="7" dur="500" fill="hold"/>
                                        <p:tgtEl>
                                          <p:spTgt spid="15"/>
                                        </p:tgtEl>
                                        <p:attrNameLst>
                                          <p:attrName>ppt_w</p:attrName>
                                        </p:attrNameLst>
                                      </p:cBhvr>
                                      <p:tavLst>
                                        <p:tav tm="0">
                                          <p:val>
                                            <p:fltVal val="0"/>
                                          </p:val>
                                        </p:tav>
                                        <p:tav tm="100000">
                                          <p:val>
                                            <p:strVal val="#ppt_w"/>
                                          </p:val>
                                        </p:tav>
                                      </p:tavLst>
                                    </p:anim>
                                    <p:anim calcmode="lin" valueType="num">
                                      <p:cBhvr>
                                        <p:cTn id="8" dur="500" fill="hold"/>
                                        <p:tgtEl>
                                          <p:spTgt spid="15"/>
                                        </p:tgtEl>
                                        <p:attrNameLst>
                                          <p:attrName>ppt_h</p:attrName>
                                        </p:attrNameLst>
                                      </p:cBhvr>
                                      <p:tavLst>
                                        <p:tav tm="0">
                                          <p:val>
                                            <p:fltVal val="0"/>
                                          </p:val>
                                        </p:tav>
                                        <p:tav tm="100000">
                                          <p:val>
                                            <p:strVal val="#ppt_h"/>
                                          </p:val>
                                        </p:tav>
                                      </p:tavLst>
                                    </p:anim>
                                  </p:childTnLst>
                                </p:cTn>
                              </p:par>
                            </p:childTnLst>
                          </p:cTn>
                        </p:par>
                        <p:par>
                          <p:cTn id="9" fill="hold">
                            <p:stCondLst>
                              <p:cond delay="500"/>
                            </p:stCondLst>
                            <p:childTnLst>
                              <p:par>
                                <p:cTn id="10" presetID="22" presetClass="entr" presetSubtype="2" fill="hold" nodeType="after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wipe(right)">
                                      <p:cBhvr>
                                        <p:cTn id="12" dur="500"/>
                                        <p:tgtEl>
                                          <p:spTgt spid="21"/>
                                        </p:tgtEl>
                                      </p:cBhvr>
                                    </p:animEffect>
                                  </p:childTnLst>
                                </p:cTn>
                              </p:par>
                            </p:childTnLst>
                          </p:cTn>
                        </p:par>
                        <p:par>
                          <p:cTn id="13" fill="hold">
                            <p:stCondLst>
                              <p:cond delay="1000"/>
                            </p:stCondLst>
                            <p:childTnLst>
                              <p:par>
                                <p:cTn id="14" presetID="47" presetClass="entr" presetSubtype="0" fill="hold" grpId="0" nodeType="afterEffect">
                                  <p:stCondLst>
                                    <p:cond delay="0"/>
                                  </p:stCondLst>
                                  <p:childTnLst>
                                    <p:set>
                                      <p:cBhvr>
                                        <p:cTn id="15" dur="1" fill="hold">
                                          <p:stCondLst>
                                            <p:cond delay="0"/>
                                          </p:stCondLst>
                                        </p:cTn>
                                        <p:tgtEl>
                                          <p:spTgt spid="20"/>
                                        </p:tgtEl>
                                        <p:attrNameLst>
                                          <p:attrName>style.visibility</p:attrName>
                                        </p:attrNameLst>
                                      </p:cBhvr>
                                      <p:to>
                                        <p:strVal val="visible"/>
                                      </p:to>
                                    </p:set>
                                    <p:animEffect transition="in" filter="fade">
                                      <p:cBhvr>
                                        <p:cTn id="16" dur="1000"/>
                                        <p:tgtEl>
                                          <p:spTgt spid="20"/>
                                        </p:tgtEl>
                                      </p:cBhvr>
                                    </p:animEffect>
                                    <p:anim calcmode="lin" valueType="num">
                                      <p:cBhvr>
                                        <p:cTn id="17" dur="1000" fill="hold"/>
                                        <p:tgtEl>
                                          <p:spTgt spid="20"/>
                                        </p:tgtEl>
                                        <p:attrNameLst>
                                          <p:attrName>ppt_x</p:attrName>
                                        </p:attrNameLst>
                                      </p:cBhvr>
                                      <p:tavLst>
                                        <p:tav tm="0">
                                          <p:val>
                                            <p:strVal val="#ppt_x"/>
                                          </p:val>
                                        </p:tav>
                                        <p:tav tm="100000">
                                          <p:val>
                                            <p:strVal val="#ppt_x"/>
                                          </p:val>
                                        </p:tav>
                                      </p:tavLst>
                                    </p:anim>
                                    <p:anim calcmode="lin" valueType="num">
                                      <p:cBhvr>
                                        <p:cTn id="18" dur="1000" fill="hold"/>
                                        <p:tgtEl>
                                          <p:spTgt spid="20"/>
                                        </p:tgtEl>
                                        <p:attrNameLst>
                                          <p:attrName>ppt_y</p:attrName>
                                        </p:attrNameLst>
                                      </p:cBhvr>
                                      <p:tavLst>
                                        <p:tav tm="0">
                                          <p:val>
                                            <p:strVal val="#ppt_y-.1"/>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7">
                                            <p:txEl>
                                              <p:pRg st="0" end="0"/>
                                            </p:txEl>
                                          </p:spTgt>
                                        </p:tgtEl>
                                        <p:attrNameLst>
                                          <p:attrName>style.visibility</p:attrName>
                                        </p:attrNameLst>
                                      </p:cBhvr>
                                      <p:to>
                                        <p:strVal val="visible"/>
                                      </p:to>
                                    </p:set>
                                    <p:animEffect transition="in" filter="fade">
                                      <p:cBhvr>
                                        <p:cTn id="23" dur="500"/>
                                        <p:tgtEl>
                                          <p:spTgt spid="17">
                                            <p:txEl>
                                              <p:pRg st="0" end="0"/>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17">
                                            <p:txEl>
                                              <p:pRg st="2" end="2"/>
                                            </p:txEl>
                                          </p:spTgt>
                                        </p:tgtEl>
                                        <p:attrNameLst>
                                          <p:attrName>style.visibility</p:attrName>
                                        </p:attrNameLst>
                                      </p:cBhvr>
                                      <p:to>
                                        <p:strVal val="visible"/>
                                      </p:to>
                                    </p:set>
                                    <p:animEffect transition="in" filter="fade">
                                      <p:cBhvr>
                                        <p:cTn id="28" dur="500"/>
                                        <p:tgtEl>
                                          <p:spTgt spid="17">
                                            <p:txEl>
                                              <p:pRg st="2" end="2"/>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grpId="0" nodeType="clickEffect">
                                  <p:stCondLst>
                                    <p:cond delay="0"/>
                                  </p:stCondLst>
                                  <p:childTnLst>
                                    <p:set>
                                      <p:cBhvr>
                                        <p:cTn id="32" dur="1" fill="hold">
                                          <p:stCondLst>
                                            <p:cond delay="0"/>
                                          </p:stCondLst>
                                        </p:cTn>
                                        <p:tgtEl>
                                          <p:spTgt spid="14"/>
                                        </p:tgtEl>
                                        <p:attrNameLst>
                                          <p:attrName>style.visibility</p:attrName>
                                        </p:attrNameLst>
                                      </p:cBhvr>
                                      <p:to>
                                        <p:strVal val="visible"/>
                                      </p:to>
                                    </p:set>
                                    <p:animEffect transition="in" filter="fade">
                                      <p:cBhvr>
                                        <p:cTn id="33" dur="500"/>
                                        <p:tgtEl>
                                          <p:spTgt spid="14"/>
                                        </p:tgtEl>
                                      </p:cBhvr>
                                    </p:animEffect>
                                  </p:childTnLst>
                                </p:cTn>
                              </p:par>
                            </p:childTnLst>
                          </p:cTn>
                        </p:par>
                        <p:par>
                          <p:cTn id="34" fill="hold">
                            <p:stCondLst>
                              <p:cond delay="500"/>
                            </p:stCondLst>
                            <p:childTnLst>
                              <p:par>
                                <p:cTn id="35" presetID="31" presetClass="entr" presetSubtype="0" fill="hold" nodeType="afterEffect">
                                  <p:stCondLst>
                                    <p:cond delay="0"/>
                                  </p:stCondLst>
                                  <p:childTnLst>
                                    <p:set>
                                      <p:cBhvr>
                                        <p:cTn id="36" dur="1" fill="hold">
                                          <p:stCondLst>
                                            <p:cond delay="0"/>
                                          </p:stCondLst>
                                        </p:cTn>
                                        <p:tgtEl>
                                          <p:spTgt spid="19"/>
                                        </p:tgtEl>
                                        <p:attrNameLst>
                                          <p:attrName>style.visibility</p:attrName>
                                        </p:attrNameLst>
                                      </p:cBhvr>
                                      <p:to>
                                        <p:strVal val="visible"/>
                                      </p:to>
                                    </p:set>
                                    <p:anim calcmode="lin" valueType="num">
                                      <p:cBhvr>
                                        <p:cTn id="37" dur="1000" fill="hold"/>
                                        <p:tgtEl>
                                          <p:spTgt spid="19"/>
                                        </p:tgtEl>
                                        <p:attrNameLst>
                                          <p:attrName>ppt_w</p:attrName>
                                        </p:attrNameLst>
                                      </p:cBhvr>
                                      <p:tavLst>
                                        <p:tav tm="0">
                                          <p:val>
                                            <p:fltVal val="0"/>
                                          </p:val>
                                        </p:tav>
                                        <p:tav tm="100000">
                                          <p:val>
                                            <p:strVal val="#ppt_w"/>
                                          </p:val>
                                        </p:tav>
                                      </p:tavLst>
                                    </p:anim>
                                    <p:anim calcmode="lin" valueType="num">
                                      <p:cBhvr>
                                        <p:cTn id="38" dur="1000" fill="hold"/>
                                        <p:tgtEl>
                                          <p:spTgt spid="19"/>
                                        </p:tgtEl>
                                        <p:attrNameLst>
                                          <p:attrName>ppt_h</p:attrName>
                                        </p:attrNameLst>
                                      </p:cBhvr>
                                      <p:tavLst>
                                        <p:tav tm="0">
                                          <p:val>
                                            <p:fltVal val="0"/>
                                          </p:val>
                                        </p:tav>
                                        <p:tav tm="100000">
                                          <p:val>
                                            <p:strVal val="#ppt_h"/>
                                          </p:val>
                                        </p:tav>
                                      </p:tavLst>
                                    </p:anim>
                                    <p:anim calcmode="lin" valueType="num">
                                      <p:cBhvr>
                                        <p:cTn id="39" dur="1000" fill="hold"/>
                                        <p:tgtEl>
                                          <p:spTgt spid="19"/>
                                        </p:tgtEl>
                                        <p:attrNameLst>
                                          <p:attrName>style.rotation</p:attrName>
                                        </p:attrNameLst>
                                      </p:cBhvr>
                                      <p:tavLst>
                                        <p:tav tm="0">
                                          <p:val>
                                            <p:fltVal val="90"/>
                                          </p:val>
                                        </p:tav>
                                        <p:tav tm="100000">
                                          <p:val>
                                            <p:fltVal val="0"/>
                                          </p:val>
                                        </p:tav>
                                      </p:tavLst>
                                    </p:anim>
                                    <p:animEffect transition="in" filter="fade">
                                      <p:cBhvr>
                                        <p:cTn id="40" dur="10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7" grpId="0" build="p"/>
      <p:bldP spid="20" grpId="0"/>
    </p:bldLst>
  </p:timing>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2">
            <a:lumMod val="10000"/>
          </a:schemeClr>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D0BBB494-9679-4B19-93EE-0A965531065E}"/>
              </a:ext>
            </a:extLst>
          </p:cNvPr>
          <p:cNvSpPr/>
          <p:nvPr/>
        </p:nvSpPr>
        <p:spPr>
          <a:xfrm>
            <a:off x="7261934" y="5743852"/>
            <a:ext cx="4634144" cy="918559"/>
          </a:xfrm>
          <a:prstGeom prst="rect">
            <a:avLst/>
          </a:prstGeom>
          <a:solidFill>
            <a:schemeClr val="tx1"/>
          </a:solidFill>
          <a:ln w="57150">
            <a:solidFill>
              <a:srgbClr val="FF0000"/>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GB" dirty="0">
                <a:solidFill>
                  <a:srgbClr val="FF9B2C"/>
                </a:solidFill>
              </a:rPr>
              <a:t>Jail: Up to 10 Years</a:t>
            </a:r>
          </a:p>
          <a:p>
            <a:pPr algn="ctr"/>
            <a:r>
              <a:rPr lang="en-GB" dirty="0">
                <a:solidFill>
                  <a:srgbClr val="FF9B2C"/>
                </a:solidFill>
              </a:rPr>
              <a:t>Fine: Unlimited</a:t>
            </a:r>
            <a:endParaRPr lang="en-US" dirty="0">
              <a:solidFill>
                <a:srgbClr val="FF9B2C"/>
              </a:solidFill>
            </a:endParaRPr>
          </a:p>
        </p:txBody>
      </p:sp>
      <p:pic>
        <p:nvPicPr>
          <p:cNvPr id="3074" name="Picture 2" descr="Image result for Act icon">
            <a:extLst>
              <a:ext uri="{FF2B5EF4-FFF2-40B4-BE49-F238E27FC236}">
                <a16:creationId xmlns:a16="http://schemas.microsoft.com/office/drawing/2014/main" id="{5F3FF7B6-DE90-42D4-863B-21805807775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884057" y="643002"/>
            <a:ext cx="3796790" cy="3796790"/>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178BC6C8-D6A6-4535-BDFB-31F7EDB96996}"/>
              </a:ext>
            </a:extLst>
          </p:cNvPr>
          <p:cNvSpPr>
            <a:spLocks noGrp="1"/>
          </p:cNvSpPr>
          <p:nvPr>
            <p:ph type="title"/>
          </p:nvPr>
        </p:nvSpPr>
        <p:spPr>
          <a:xfrm>
            <a:off x="74386" y="39199"/>
            <a:ext cx="7187548" cy="1325563"/>
          </a:xfrm>
        </p:spPr>
        <p:txBody>
          <a:bodyPr>
            <a:normAutofit/>
          </a:bodyPr>
          <a:lstStyle/>
          <a:p>
            <a:r>
              <a:rPr lang="en-GB" sz="3600" dirty="0">
                <a:solidFill>
                  <a:srgbClr val="00B0F0"/>
                </a:solidFill>
              </a:rPr>
              <a:t>The Computer Misuse: The 4 Main Offences</a:t>
            </a:r>
            <a:endParaRPr lang="en-US" sz="3600" dirty="0">
              <a:solidFill>
                <a:srgbClr val="00B0F0"/>
              </a:solidFill>
            </a:endParaRPr>
          </a:p>
        </p:txBody>
      </p:sp>
      <p:sp>
        <p:nvSpPr>
          <p:cNvPr id="3" name="Content Placeholder 2">
            <a:extLst>
              <a:ext uri="{FF2B5EF4-FFF2-40B4-BE49-F238E27FC236}">
                <a16:creationId xmlns:a16="http://schemas.microsoft.com/office/drawing/2014/main" id="{68DE8948-2A04-4F67-ABA8-D35AE56017F5}"/>
              </a:ext>
            </a:extLst>
          </p:cNvPr>
          <p:cNvSpPr>
            <a:spLocks noGrp="1"/>
          </p:cNvSpPr>
          <p:nvPr>
            <p:ph idx="1"/>
          </p:nvPr>
        </p:nvSpPr>
        <p:spPr>
          <a:xfrm>
            <a:off x="44102" y="4057095"/>
            <a:ext cx="7007247" cy="2605316"/>
          </a:xfrm>
        </p:spPr>
        <p:txBody>
          <a:bodyPr anchor="t">
            <a:normAutofit/>
          </a:bodyPr>
          <a:lstStyle/>
          <a:p>
            <a:r>
              <a:rPr lang="en-GB" sz="2400" dirty="0">
                <a:solidFill>
                  <a:srgbClr val="00B0F0"/>
                </a:solidFill>
              </a:rPr>
              <a:t>Changing or deleting data, including the use of spyware</a:t>
            </a:r>
          </a:p>
          <a:p>
            <a:endParaRPr lang="en-GB" sz="2400" dirty="0">
              <a:solidFill>
                <a:srgbClr val="00B0F0"/>
              </a:solidFill>
            </a:endParaRPr>
          </a:p>
          <a:p>
            <a:r>
              <a:rPr lang="en-GB" sz="2400" dirty="0">
                <a:solidFill>
                  <a:srgbClr val="00B0F0"/>
                </a:solidFill>
              </a:rPr>
              <a:t>Example: A business owner hacking into a network to change data</a:t>
            </a:r>
            <a:endParaRPr lang="en-US" sz="2400" dirty="0">
              <a:solidFill>
                <a:srgbClr val="00B0F0"/>
              </a:solidFill>
            </a:endParaRPr>
          </a:p>
        </p:txBody>
      </p:sp>
      <p:pic>
        <p:nvPicPr>
          <p:cNvPr id="3080" name="Picture 8" descr="Related image">
            <a:extLst>
              <a:ext uri="{FF2B5EF4-FFF2-40B4-BE49-F238E27FC236}">
                <a16:creationId xmlns:a16="http://schemas.microsoft.com/office/drawing/2014/main" id="{259DF605-5CD7-4FCA-B580-45E7FFE9832E}"/>
              </a:ext>
            </a:extLst>
          </p:cNvPr>
          <p:cNvPicPr>
            <a:picLocks noChangeAspect="1" noChangeArrowheads="1"/>
          </p:cNvPicPr>
          <p:nvPr/>
        </p:nvPicPr>
        <p:blipFill>
          <a:blip r:embed="rId3" cstate="print">
            <a:extLst>
              <a:ext uri="{BEBA8EAE-BF5A-486C-A8C5-ECC9F3942E4B}">
                <a14:imgProps xmlns:a14="http://schemas.microsoft.com/office/drawing/2010/main">
                  <a14:imgLayer r:embed="rId4">
                    <a14:imgEffect>
                      <a14:backgroundRemoval t="4911" b="94643" l="4889" r="93778">
                        <a14:foregroundMark x1="43111" y1="39286" x2="43111" y2="34375"/>
                        <a14:foregroundMark x1="16444" y1="93304" x2="16000" y2="91518"/>
                        <a14:foregroundMark x1="7556" y1="83482" x2="6667" y2="83482"/>
                        <a14:foregroundMark x1="32444" y1="5357" x2="31556" y2="10714"/>
                        <a14:foregroundMark x1="92000" y1="16071" x2="92889" y2="16071"/>
                        <a14:foregroundMark x1="65778" y1="95089" x2="67111" y2="94643"/>
                        <a14:foregroundMark x1="6667" y1="14732" x2="6222" y2="14732"/>
                        <a14:foregroundMark x1="6667" y1="84375" x2="5333" y2="84375"/>
                        <a14:foregroundMark x1="91556" y1="84821" x2="93778" y2="84821"/>
                      </a14:backgroundRemoval>
                    </a14:imgEffect>
                    <a14:imgEffect>
                      <a14:sharpenSoften amount="-50000"/>
                    </a14:imgEffect>
                    <a14:imgEffect>
                      <a14:colorTemperature colorTemp="8800"/>
                    </a14:imgEffect>
                    <a14:imgEffect>
                      <a14:saturation sat="400000"/>
                    </a14:imgEffect>
                  </a14:imgLayer>
                </a14:imgProps>
              </a:ext>
              <a:ext uri="{28A0092B-C50C-407E-A947-70E740481C1C}">
                <a14:useLocalDpi xmlns:a14="http://schemas.microsoft.com/office/drawing/2010/main" val="0"/>
              </a:ext>
            </a:extLst>
          </a:blip>
          <a:srcRect/>
          <a:stretch>
            <a:fillRect/>
          </a:stretch>
        </p:blipFill>
        <p:spPr bwMode="auto">
          <a:xfrm rot="20710396">
            <a:off x="6924582" y="5259637"/>
            <a:ext cx="736847" cy="733572"/>
          </a:xfrm>
          <a:prstGeom prst="rect">
            <a:avLst/>
          </a:prstGeom>
          <a:noFill/>
          <a:effectLst>
            <a:glow rad="25400">
              <a:srgbClr val="FF0000"/>
            </a:glow>
          </a:effectLst>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5B3AE75F-4648-4B96-9785-578B2DC912E0}"/>
              </a:ext>
            </a:extLst>
          </p:cNvPr>
          <p:cNvSpPr txBox="1"/>
          <p:nvPr/>
        </p:nvSpPr>
        <p:spPr>
          <a:xfrm>
            <a:off x="1329226" y="3134634"/>
            <a:ext cx="4929214" cy="369332"/>
          </a:xfrm>
          <a:prstGeom prst="rect">
            <a:avLst/>
          </a:prstGeom>
          <a:noFill/>
        </p:spPr>
        <p:txBody>
          <a:bodyPr wrap="square" rtlCol="0">
            <a:spAutoFit/>
          </a:bodyPr>
          <a:lstStyle/>
          <a:p>
            <a:r>
              <a:rPr lang="en-GB" b="1" dirty="0">
                <a:solidFill>
                  <a:srgbClr val="FF9929"/>
                </a:solidFill>
              </a:rPr>
              <a:t>Unauthorised Modification of Data</a:t>
            </a:r>
            <a:endParaRPr lang="en-US" b="1" dirty="0">
              <a:solidFill>
                <a:srgbClr val="FF9929"/>
              </a:solidFill>
            </a:endParaRPr>
          </a:p>
        </p:txBody>
      </p:sp>
      <p:pic>
        <p:nvPicPr>
          <p:cNvPr id="11" name="Picture 4" descr="Rendered Image">
            <a:extLst>
              <a:ext uri="{FF2B5EF4-FFF2-40B4-BE49-F238E27FC236}">
                <a16:creationId xmlns:a16="http://schemas.microsoft.com/office/drawing/2014/main" id="{6E8905EF-70B1-4F6F-B34E-8434C3A73349}"/>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95310" y="2245266"/>
            <a:ext cx="4667250" cy="8477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675770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3" presetClass="entr" presetSubtype="16" fill="hold" nodeType="afterEffect">
                                  <p:stCondLst>
                                    <p:cond delay="0"/>
                                  </p:stCondLst>
                                  <p:childTnLst>
                                    <p:set>
                                      <p:cBhvr>
                                        <p:cTn id="6" dur="1" fill="hold">
                                          <p:stCondLst>
                                            <p:cond delay="0"/>
                                          </p:stCondLst>
                                        </p:cTn>
                                        <p:tgtEl>
                                          <p:spTgt spid="3074"/>
                                        </p:tgtEl>
                                        <p:attrNameLst>
                                          <p:attrName>style.visibility</p:attrName>
                                        </p:attrNameLst>
                                      </p:cBhvr>
                                      <p:to>
                                        <p:strVal val="visible"/>
                                      </p:to>
                                    </p:set>
                                    <p:anim calcmode="lin" valueType="num">
                                      <p:cBhvr>
                                        <p:cTn id="7" dur="500" fill="hold"/>
                                        <p:tgtEl>
                                          <p:spTgt spid="3074"/>
                                        </p:tgtEl>
                                        <p:attrNameLst>
                                          <p:attrName>ppt_w</p:attrName>
                                        </p:attrNameLst>
                                      </p:cBhvr>
                                      <p:tavLst>
                                        <p:tav tm="0">
                                          <p:val>
                                            <p:fltVal val="0"/>
                                          </p:val>
                                        </p:tav>
                                        <p:tav tm="100000">
                                          <p:val>
                                            <p:strVal val="#ppt_w"/>
                                          </p:val>
                                        </p:tav>
                                      </p:tavLst>
                                    </p:anim>
                                    <p:anim calcmode="lin" valueType="num">
                                      <p:cBhvr>
                                        <p:cTn id="8" dur="500" fill="hold"/>
                                        <p:tgtEl>
                                          <p:spTgt spid="3074"/>
                                        </p:tgtEl>
                                        <p:attrNameLst>
                                          <p:attrName>ppt_h</p:attrName>
                                        </p:attrNameLst>
                                      </p:cBhvr>
                                      <p:tavLst>
                                        <p:tav tm="0">
                                          <p:val>
                                            <p:fltVal val="0"/>
                                          </p:val>
                                        </p:tav>
                                        <p:tav tm="100000">
                                          <p:val>
                                            <p:strVal val="#ppt_h"/>
                                          </p:val>
                                        </p:tav>
                                      </p:tavLst>
                                    </p:anim>
                                  </p:childTnLst>
                                </p:cTn>
                              </p:par>
                            </p:childTnLst>
                          </p:cTn>
                        </p:par>
                        <p:par>
                          <p:cTn id="9" fill="hold">
                            <p:stCondLst>
                              <p:cond delay="500"/>
                            </p:stCondLst>
                            <p:childTnLst>
                              <p:par>
                                <p:cTn id="10" presetID="22" presetClass="entr" presetSubtype="8" fill="hold" nodeType="afterEffect">
                                  <p:stCondLst>
                                    <p:cond delay="0"/>
                                  </p:stCondLst>
                                  <p:childTnLst>
                                    <p:set>
                                      <p:cBhvr>
                                        <p:cTn id="11" dur="1" fill="hold">
                                          <p:stCondLst>
                                            <p:cond delay="0"/>
                                          </p:stCondLst>
                                        </p:cTn>
                                        <p:tgtEl>
                                          <p:spTgt spid="11"/>
                                        </p:tgtEl>
                                        <p:attrNameLst>
                                          <p:attrName>style.visibility</p:attrName>
                                        </p:attrNameLst>
                                      </p:cBhvr>
                                      <p:to>
                                        <p:strVal val="visible"/>
                                      </p:to>
                                    </p:set>
                                    <p:animEffect transition="in" filter="wipe(left)">
                                      <p:cBhvr>
                                        <p:cTn id="12" dur="500"/>
                                        <p:tgtEl>
                                          <p:spTgt spid="11"/>
                                        </p:tgtEl>
                                      </p:cBhvr>
                                    </p:animEffect>
                                  </p:childTnLst>
                                </p:cTn>
                              </p:par>
                            </p:childTnLst>
                          </p:cTn>
                        </p:par>
                        <p:par>
                          <p:cTn id="13" fill="hold">
                            <p:stCondLst>
                              <p:cond delay="1000"/>
                            </p:stCondLst>
                            <p:childTnLst>
                              <p:par>
                                <p:cTn id="14" presetID="47" presetClass="entr" presetSubtype="0" fill="hold" grpId="0" nodeType="after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1000"/>
                                        <p:tgtEl>
                                          <p:spTgt spid="5"/>
                                        </p:tgtEl>
                                      </p:cBhvr>
                                    </p:animEffect>
                                    <p:anim calcmode="lin" valueType="num">
                                      <p:cBhvr>
                                        <p:cTn id="17" dur="1000" fill="hold"/>
                                        <p:tgtEl>
                                          <p:spTgt spid="5"/>
                                        </p:tgtEl>
                                        <p:attrNameLst>
                                          <p:attrName>ppt_x</p:attrName>
                                        </p:attrNameLst>
                                      </p:cBhvr>
                                      <p:tavLst>
                                        <p:tav tm="0">
                                          <p:val>
                                            <p:strVal val="#ppt_x"/>
                                          </p:val>
                                        </p:tav>
                                        <p:tav tm="100000">
                                          <p:val>
                                            <p:strVal val="#ppt_x"/>
                                          </p:val>
                                        </p:tav>
                                      </p:tavLst>
                                    </p:anim>
                                    <p:anim calcmode="lin" valueType="num">
                                      <p:cBhvr>
                                        <p:cTn id="18"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3">
                                            <p:txEl>
                                              <p:pRg st="0" end="0"/>
                                            </p:txEl>
                                          </p:spTgt>
                                        </p:tgtEl>
                                        <p:attrNameLst>
                                          <p:attrName>style.visibility</p:attrName>
                                        </p:attrNameLst>
                                      </p:cBhvr>
                                      <p:to>
                                        <p:strVal val="visible"/>
                                      </p:to>
                                    </p:set>
                                    <p:animEffect transition="in" filter="fade">
                                      <p:cBhvr>
                                        <p:cTn id="23" dur="500"/>
                                        <p:tgtEl>
                                          <p:spTgt spid="3">
                                            <p:txEl>
                                              <p:pRg st="0" end="0"/>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3">
                                            <p:txEl>
                                              <p:pRg st="2" end="2"/>
                                            </p:txEl>
                                          </p:spTgt>
                                        </p:tgtEl>
                                        <p:attrNameLst>
                                          <p:attrName>style.visibility</p:attrName>
                                        </p:attrNameLst>
                                      </p:cBhvr>
                                      <p:to>
                                        <p:strVal val="visible"/>
                                      </p:to>
                                    </p:set>
                                    <p:animEffect transition="in" filter="fade">
                                      <p:cBhvr>
                                        <p:cTn id="28" dur="500"/>
                                        <p:tgtEl>
                                          <p:spTgt spid="3">
                                            <p:txEl>
                                              <p:pRg st="2" end="2"/>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grpId="0" nodeType="clickEffect">
                                  <p:stCondLst>
                                    <p:cond delay="0"/>
                                  </p:stCondLst>
                                  <p:childTnLst>
                                    <p:set>
                                      <p:cBhvr>
                                        <p:cTn id="32" dur="1" fill="hold">
                                          <p:stCondLst>
                                            <p:cond delay="0"/>
                                          </p:stCondLst>
                                        </p:cTn>
                                        <p:tgtEl>
                                          <p:spTgt spid="4"/>
                                        </p:tgtEl>
                                        <p:attrNameLst>
                                          <p:attrName>style.visibility</p:attrName>
                                        </p:attrNameLst>
                                      </p:cBhvr>
                                      <p:to>
                                        <p:strVal val="visible"/>
                                      </p:to>
                                    </p:set>
                                    <p:animEffect transition="in" filter="fade">
                                      <p:cBhvr>
                                        <p:cTn id="33" dur="500"/>
                                        <p:tgtEl>
                                          <p:spTgt spid="4"/>
                                        </p:tgtEl>
                                      </p:cBhvr>
                                    </p:animEffect>
                                  </p:childTnLst>
                                </p:cTn>
                              </p:par>
                            </p:childTnLst>
                          </p:cTn>
                        </p:par>
                        <p:par>
                          <p:cTn id="34" fill="hold">
                            <p:stCondLst>
                              <p:cond delay="500"/>
                            </p:stCondLst>
                            <p:childTnLst>
                              <p:par>
                                <p:cTn id="35" presetID="31" presetClass="entr" presetSubtype="0" fill="hold" nodeType="afterEffect">
                                  <p:stCondLst>
                                    <p:cond delay="0"/>
                                  </p:stCondLst>
                                  <p:childTnLst>
                                    <p:set>
                                      <p:cBhvr>
                                        <p:cTn id="36" dur="1" fill="hold">
                                          <p:stCondLst>
                                            <p:cond delay="0"/>
                                          </p:stCondLst>
                                        </p:cTn>
                                        <p:tgtEl>
                                          <p:spTgt spid="3080"/>
                                        </p:tgtEl>
                                        <p:attrNameLst>
                                          <p:attrName>style.visibility</p:attrName>
                                        </p:attrNameLst>
                                      </p:cBhvr>
                                      <p:to>
                                        <p:strVal val="visible"/>
                                      </p:to>
                                    </p:set>
                                    <p:anim calcmode="lin" valueType="num">
                                      <p:cBhvr>
                                        <p:cTn id="37" dur="1000" fill="hold"/>
                                        <p:tgtEl>
                                          <p:spTgt spid="3080"/>
                                        </p:tgtEl>
                                        <p:attrNameLst>
                                          <p:attrName>ppt_w</p:attrName>
                                        </p:attrNameLst>
                                      </p:cBhvr>
                                      <p:tavLst>
                                        <p:tav tm="0">
                                          <p:val>
                                            <p:fltVal val="0"/>
                                          </p:val>
                                        </p:tav>
                                        <p:tav tm="100000">
                                          <p:val>
                                            <p:strVal val="#ppt_w"/>
                                          </p:val>
                                        </p:tav>
                                      </p:tavLst>
                                    </p:anim>
                                    <p:anim calcmode="lin" valueType="num">
                                      <p:cBhvr>
                                        <p:cTn id="38" dur="1000" fill="hold"/>
                                        <p:tgtEl>
                                          <p:spTgt spid="3080"/>
                                        </p:tgtEl>
                                        <p:attrNameLst>
                                          <p:attrName>ppt_h</p:attrName>
                                        </p:attrNameLst>
                                      </p:cBhvr>
                                      <p:tavLst>
                                        <p:tav tm="0">
                                          <p:val>
                                            <p:fltVal val="0"/>
                                          </p:val>
                                        </p:tav>
                                        <p:tav tm="100000">
                                          <p:val>
                                            <p:strVal val="#ppt_h"/>
                                          </p:val>
                                        </p:tav>
                                      </p:tavLst>
                                    </p:anim>
                                    <p:anim calcmode="lin" valueType="num">
                                      <p:cBhvr>
                                        <p:cTn id="39" dur="1000" fill="hold"/>
                                        <p:tgtEl>
                                          <p:spTgt spid="3080"/>
                                        </p:tgtEl>
                                        <p:attrNameLst>
                                          <p:attrName>style.rotation</p:attrName>
                                        </p:attrNameLst>
                                      </p:cBhvr>
                                      <p:tavLst>
                                        <p:tav tm="0">
                                          <p:val>
                                            <p:fltVal val="90"/>
                                          </p:val>
                                        </p:tav>
                                        <p:tav tm="100000">
                                          <p:val>
                                            <p:fltVal val="0"/>
                                          </p:val>
                                        </p:tav>
                                      </p:tavLst>
                                    </p:anim>
                                    <p:animEffect transition="in" filter="fade">
                                      <p:cBhvr>
                                        <p:cTn id="40" dur="1000"/>
                                        <p:tgtEl>
                                          <p:spTgt spid="308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3" grpId="0" build="p"/>
      <p:bldP spid="5" grpId="0"/>
    </p:bldLst>
  </p:timing>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2">
            <a:lumMod val="10000"/>
          </a:schemeClr>
        </a:solidFill>
        <a:effectLst/>
      </p:bgPr>
    </p:bg>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2CE9A1-5986-4983-993F-DD91D55B23AF}"/>
              </a:ext>
            </a:extLst>
          </p:cNvPr>
          <p:cNvSpPr>
            <a:spLocks noGrp="1"/>
          </p:cNvSpPr>
          <p:nvPr>
            <p:ph type="title"/>
          </p:nvPr>
        </p:nvSpPr>
        <p:spPr/>
        <p:txBody>
          <a:bodyPr/>
          <a:lstStyle/>
          <a:p>
            <a:endParaRPr lang="en-US"/>
          </a:p>
        </p:txBody>
      </p:sp>
      <p:sp>
        <p:nvSpPr>
          <p:cNvPr id="8" name="Content Placeholder 7">
            <a:extLst>
              <a:ext uri="{FF2B5EF4-FFF2-40B4-BE49-F238E27FC236}">
                <a16:creationId xmlns:a16="http://schemas.microsoft.com/office/drawing/2014/main" id="{18AEA170-5DF8-4526-8AD9-0E2C56A87D47}"/>
              </a:ext>
            </a:extLst>
          </p:cNvPr>
          <p:cNvSpPr>
            <a:spLocks noGrp="1"/>
          </p:cNvSpPr>
          <p:nvPr>
            <p:ph idx="1"/>
          </p:nvPr>
        </p:nvSpPr>
        <p:spPr/>
        <p:txBody>
          <a:bodyPr/>
          <a:lstStyle/>
          <a:p>
            <a:endParaRPr lang="en-US"/>
          </a:p>
        </p:txBody>
      </p:sp>
      <p:pic>
        <p:nvPicPr>
          <p:cNvPr id="6" name="Picture 5">
            <a:extLst>
              <a:ext uri="{FF2B5EF4-FFF2-40B4-BE49-F238E27FC236}">
                <a16:creationId xmlns:a16="http://schemas.microsoft.com/office/drawing/2014/main" id="{9287BE66-7046-4374-BCF4-60E86909F1B5}"/>
              </a:ext>
            </a:extLst>
          </p:cNvPr>
          <p:cNvPicPr>
            <a:picLocks noChangeAspect="1"/>
          </p:cNvPicPr>
          <p:nvPr/>
        </p:nvPicPr>
        <p:blipFill>
          <a:blip r:embed="rId2"/>
          <a:stretch>
            <a:fillRect/>
          </a:stretch>
        </p:blipFill>
        <p:spPr>
          <a:xfrm rot="10800000">
            <a:off x="0" y="0"/>
            <a:ext cx="12192000" cy="6858000"/>
          </a:xfrm>
          <a:prstGeom prst="rect">
            <a:avLst/>
          </a:prstGeom>
        </p:spPr>
      </p:pic>
      <p:sp>
        <p:nvSpPr>
          <p:cNvPr id="14" name="Rectangle 13">
            <a:extLst>
              <a:ext uri="{FF2B5EF4-FFF2-40B4-BE49-F238E27FC236}">
                <a16:creationId xmlns:a16="http://schemas.microsoft.com/office/drawing/2014/main" id="{88CAE210-133B-426A-86E7-90BB4FD99B0B}"/>
              </a:ext>
            </a:extLst>
          </p:cNvPr>
          <p:cNvSpPr/>
          <p:nvPr/>
        </p:nvSpPr>
        <p:spPr>
          <a:xfrm>
            <a:off x="7373798" y="5716144"/>
            <a:ext cx="4634144" cy="918559"/>
          </a:xfrm>
          <a:prstGeom prst="rect">
            <a:avLst/>
          </a:prstGeom>
          <a:solidFill>
            <a:schemeClr val="tx1"/>
          </a:solidFill>
          <a:ln w="57150">
            <a:solidFill>
              <a:srgbClr val="FF0000"/>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GB" dirty="0">
                <a:solidFill>
                  <a:srgbClr val="FF9B2C"/>
                </a:solidFill>
              </a:rPr>
              <a:t>Jail: Up to 10 Years</a:t>
            </a:r>
          </a:p>
          <a:p>
            <a:pPr algn="ctr"/>
            <a:r>
              <a:rPr lang="en-GB" dirty="0">
                <a:solidFill>
                  <a:srgbClr val="FF9B2C"/>
                </a:solidFill>
              </a:rPr>
              <a:t>Fine: Unlimited</a:t>
            </a:r>
            <a:endParaRPr lang="en-US" dirty="0">
              <a:solidFill>
                <a:srgbClr val="FF9B2C"/>
              </a:solidFill>
            </a:endParaRPr>
          </a:p>
        </p:txBody>
      </p:sp>
      <p:pic>
        <p:nvPicPr>
          <p:cNvPr id="15" name="Picture 2" descr="Image result for Act icon">
            <a:extLst>
              <a:ext uri="{FF2B5EF4-FFF2-40B4-BE49-F238E27FC236}">
                <a16:creationId xmlns:a16="http://schemas.microsoft.com/office/drawing/2014/main" id="{46A55825-81CB-4AC7-BA8F-7C28BC3B389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50175" y="2584405"/>
            <a:ext cx="3796790" cy="3796790"/>
          </a:xfrm>
          <a:prstGeom prst="rect">
            <a:avLst/>
          </a:prstGeom>
          <a:noFill/>
          <a:extLst>
            <a:ext uri="{909E8E84-426E-40DD-AFC4-6F175D3DCCD1}">
              <a14:hiddenFill xmlns:a14="http://schemas.microsoft.com/office/drawing/2010/main">
                <a:solidFill>
                  <a:srgbClr val="FFFFFF"/>
                </a:solidFill>
              </a14:hiddenFill>
            </a:ext>
          </a:extLst>
        </p:spPr>
      </p:pic>
      <p:sp>
        <p:nvSpPr>
          <p:cNvPr id="16" name="Title 1">
            <a:extLst>
              <a:ext uri="{FF2B5EF4-FFF2-40B4-BE49-F238E27FC236}">
                <a16:creationId xmlns:a16="http://schemas.microsoft.com/office/drawing/2014/main" id="{081ACE0F-4155-4B3E-9A20-0CA2EC393D4D}"/>
              </a:ext>
            </a:extLst>
          </p:cNvPr>
          <p:cNvSpPr txBox="1">
            <a:spLocks/>
          </p:cNvSpPr>
          <p:nvPr/>
        </p:nvSpPr>
        <p:spPr>
          <a:xfrm>
            <a:off x="43309" y="18255"/>
            <a:ext cx="990424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sz="3600" dirty="0">
                <a:solidFill>
                  <a:srgbClr val="00B0F0"/>
                </a:solidFill>
              </a:rPr>
              <a:t>The Computer Misuse: The 4 Main Offences</a:t>
            </a:r>
            <a:endParaRPr lang="en-US" sz="3600" dirty="0">
              <a:solidFill>
                <a:srgbClr val="00B0F0"/>
              </a:solidFill>
            </a:endParaRPr>
          </a:p>
        </p:txBody>
      </p:sp>
      <p:sp>
        <p:nvSpPr>
          <p:cNvPr id="17" name="Content Placeholder 2">
            <a:extLst>
              <a:ext uri="{FF2B5EF4-FFF2-40B4-BE49-F238E27FC236}">
                <a16:creationId xmlns:a16="http://schemas.microsoft.com/office/drawing/2014/main" id="{15DBA85F-6FC8-49C5-B3E9-DA23F8FA5297}"/>
              </a:ext>
            </a:extLst>
          </p:cNvPr>
          <p:cNvSpPr txBox="1">
            <a:spLocks/>
          </p:cNvSpPr>
          <p:nvPr/>
        </p:nvSpPr>
        <p:spPr>
          <a:xfrm>
            <a:off x="5979645" y="2872824"/>
            <a:ext cx="5860936" cy="2605316"/>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GB" sz="2400" dirty="0">
                <a:solidFill>
                  <a:srgbClr val="00B0F0"/>
                </a:solidFill>
              </a:rPr>
              <a:t>Creating virus’ or spyware, selling spyware or purchasing spyware</a:t>
            </a:r>
            <a:endParaRPr lang="en-US" sz="2400" dirty="0">
              <a:solidFill>
                <a:srgbClr val="00B0F0"/>
              </a:solidFill>
            </a:endParaRPr>
          </a:p>
        </p:txBody>
      </p:sp>
      <p:pic>
        <p:nvPicPr>
          <p:cNvPr id="19" name="Picture 8" descr="Related image">
            <a:extLst>
              <a:ext uri="{FF2B5EF4-FFF2-40B4-BE49-F238E27FC236}">
                <a16:creationId xmlns:a16="http://schemas.microsoft.com/office/drawing/2014/main" id="{627AB72F-0E5E-4594-A7A4-D0E179512478}"/>
              </a:ext>
            </a:extLst>
          </p:cNvPr>
          <p:cNvPicPr>
            <a:picLocks noChangeAspect="1" noChangeArrowheads="1"/>
          </p:cNvPicPr>
          <p:nvPr/>
        </p:nvPicPr>
        <p:blipFill>
          <a:blip r:embed="rId4" cstate="print">
            <a:extLst>
              <a:ext uri="{BEBA8EAE-BF5A-486C-A8C5-ECC9F3942E4B}">
                <a14:imgProps xmlns:a14="http://schemas.microsoft.com/office/drawing/2010/main">
                  <a14:imgLayer r:embed="rId5">
                    <a14:imgEffect>
                      <a14:backgroundRemoval t="4911" b="94643" l="4889" r="93778">
                        <a14:foregroundMark x1="43111" y1="39286" x2="43111" y2="34375"/>
                        <a14:foregroundMark x1="16444" y1="93304" x2="16000" y2="91518"/>
                        <a14:foregroundMark x1="7556" y1="83482" x2="6667" y2="83482"/>
                        <a14:foregroundMark x1="32444" y1="5357" x2="31556" y2="10714"/>
                        <a14:foregroundMark x1="92000" y1="16071" x2="92889" y2="16071"/>
                        <a14:foregroundMark x1="65778" y1="95089" x2="67111" y2="94643"/>
                        <a14:foregroundMark x1="6667" y1="14732" x2="6222" y2="14732"/>
                        <a14:foregroundMark x1="6667" y1="84375" x2="5333" y2="84375"/>
                        <a14:foregroundMark x1="91556" y1="84821" x2="93778" y2="84821"/>
                      </a14:backgroundRemoval>
                    </a14:imgEffect>
                    <a14:imgEffect>
                      <a14:sharpenSoften amount="-50000"/>
                    </a14:imgEffect>
                    <a14:imgEffect>
                      <a14:colorTemperature colorTemp="8800"/>
                    </a14:imgEffect>
                    <a14:imgEffect>
                      <a14:saturation sat="400000"/>
                    </a14:imgEffect>
                  </a14:imgLayer>
                </a14:imgProps>
              </a:ext>
              <a:ext uri="{28A0092B-C50C-407E-A947-70E740481C1C}">
                <a14:useLocalDpi xmlns:a14="http://schemas.microsoft.com/office/drawing/2010/main" val="0"/>
              </a:ext>
            </a:extLst>
          </a:blip>
          <a:srcRect/>
          <a:stretch>
            <a:fillRect/>
          </a:stretch>
        </p:blipFill>
        <p:spPr bwMode="auto">
          <a:xfrm rot="20710396">
            <a:off x="7036446" y="5231929"/>
            <a:ext cx="736847" cy="733572"/>
          </a:xfrm>
          <a:prstGeom prst="rect">
            <a:avLst/>
          </a:prstGeom>
          <a:noFill/>
          <a:effectLst>
            <a:glow rad="25400">
              <a:srgbClr val="FF0000"/>
            </a:glow>
          </a:effectLst>
          <a:extLst>
            <a:ext uri="{909E8E84-426E-40DD-AFC4-6F175D3DCCD1}">
              <a14:hiddenFill xmlns:a14="http://schemas.microsoft.com/office/drawing/2010/main">
                <a:solidFill>
                  <a:srgbClr val="FFFFFF"/>
                </a:solidFill>
              </a14:hiddenFill>
            </a:ext>
          </a:extLst>
        </p:spPr>
      </p:pic>
      <p:sp>
        <p:nvSpPr>
          <p:cNvPr id="20" name="TextBox 19">
            <a:extLst>
              <a:ext uri="{FF2B5EF4-FFF2-40B4-BE49-F238E27FC236}">
                <a16:creationId xmlns:a16="http://schemas.microsoft.com/office/drawing/2014/main" id="{6D5AB2B0-98AB-4E12-ADAC-1582486E6053}"/>
              </a:ext>
            </a:extLst>
          </p:cNvPr>
          <p:cNvSpPr txBox="1"/>
          <p:nvPr/>
        </p:nvSpPr>
        <p:spPr>
          <a:xfrm>
            <a:off x="6096000" y="2133162"/>
            <a:ext cx="5609220" cy="646331"/>
          </a:xfrm>
          <a:prstGeom prst="rect">
            <a:avLst/>
          </a:prstGeom>
          <a:noFill/>
        </p:spPr>
        <p:txBody>
          <a:bodyPr wrap="square" rtlCol="0">
            <a:spAutoFit/>
          </a:bodyPr>
          <a:lstStyle/>
          <a:p>
            <a:r>
              <a:rPr lang="en-GB" b="1" dirty="0">
                <a:solidFill>
                  <a:srgbClr val="FF9929"/>
                </a:solidFill>
              </a:rPr>
              <a:t>Making, supplying or obtaining anything which could be used in computer misuse offences</a:t>
            </a:r>
          </a:p>
        </p:txBody>
      </p:sp>
      <p:pic>
        <p:nvPicPr>
          <p:cNvPr id="18" name="Picture 6" descr="Rendered Image">
            <a:extLst>
              <a:ext uri="{FF2B5EF4-FFF2-40B4-BE49-F238E27FC236}">
                <a16:creationId xmlns:a16="http://schemas.microsoft.com/office/drawing/2014/main" id="{BF6B4A69-58B1-4EB9-A3BD-592AC851EF6F}"/>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7105650" y="1227492"/>
            <a:ext cx="4667250" cy="8477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833989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3" presetClass="entr" presetSubtype="16" fill="hold" nodeType="afterEffect">
                                  <p:stCondLst>
                                    <p:cond delay="0"/>
                                  </p:stCondLst>
                                  <p:childTnLst>
                                    <p:set>
                                      <p:cBhvr>
                                        <p:cTn id="6" dur="1" fill="hold">
                                          <p:stCondLst>
                                            <p:cond delay="0"/>
                                          </p:stCondLst>
                                        </p:cTn>
                                        <p:tgtEl>
                                          <p:spTgt spid="15"/>
                                        </p:tgtEl>
                                        <p:attrNameLst>
                                          <p:attrName>style.visibility</p:attrName>
                                        </p:attrNameLst>
                                      </p:cBhvr>
                                      <p:to>
                                        <p:strVal val="visible"/>
                                      </p:to>
                                    </p:set>
                                    <p:anim calcmode="lin" valueType="num">
                                      <p:cBhvr>
                                        <p:cTn id="7" dur="500" fill="hold"/>
                                        <p:tgtEl>
                                          <p:spTgt spid="15"/>
                                        </p:tgtEl>
                                        <p:attrNameLst>
                                          <p:attrName>ppt_w</p:attrName>
                                        </p:attrNameLst>
                                      </p:cBhvr>
                                      <p:tavLst>
                                        <p:tav tm="0">
                                          <p:val>
                                            <p:fltVal val="0"/>
                                          </p:val>
                                        </p:tav>
                                        <p:tav tm="100000">
                                          <p:val>
                                            <p:strVal val="#ppt_w"/>
                                          </p:val>
                                        </p:tav>
                                      </p:tavLst>
                                    </p:anim>
                                    <p:anim calcmode="lin" valueType="num">
                                      <p:cBhvr>
                                        <p:cTn id="8" dur="500" fill="hold"/>
                                        <p:tgtEl>
                                          <p:spTgt spid="15"/>
                                        </p:tgtEl>
                                        <p:attrNameLst>
                                          <p:attrName>ppt_h</p:attrName>
                                        </p:attrNameLst>
                                      </p:cBhvr>
                                      <p:tavLst>
                                        <p:tav tm="0">
                                          <p:val>
                                            <p:fltVal val="0"/>
                                          </p:val>
                                        </p:tav>
                                        <p:tav tm="100000">
                                          <p:val>
                                            <p:strVal val="#ppt_h"/>
                                          </p:val>
                                        </p:tav>
                                      </p:tavLst>
                                    </p:anim>
                                  </p:childTnLst>
                                </p:cTn>
                              </p:par>
                            </p:childTnLst>
                          </p:cTn>
                        </p:par>
                        <p:par>
                          <p:cTn id="9" fill="hold">
                            <p:stCondLst>
                              <p:cond delay="500"/>
                            </p:stCondLst>
                            <p:childTnLst>
                              <p:par>
                                <p:cTn id="10" presetID="22" presetClass="entr" presetSubtype="2" fill="hold" nodeType="afterEffect">
                                  <p:stCondLst>
                                    <p:cond delay="0"/>
                                  </p:stCondLst>
                                  <p:childTnLst>
                                    <p:set>
                                      <p:cBhvr>
                                        <p:cTn id="11" dur="1" fill="hold">
                                          <p:stCondLst>
                                            <p:cond delay="0"/>
                                          </p:stCondLst>
                                        </p:cTn>
                                        <p:tgtEl>
                                          <p:spTgt spid="18"/>
                                        </p:tgtEl>
                                        <p:attrNameLst>
                                          <p:attrName>style.visibility</p:attrName>
                                        </p:attrNameLst>
                                      </p:cBhvr>
                                      <p:to>
                                        <p:strVal val="visible"/>
                                      </p:to>
                                    </p:set>
                                    <p:animEffect transition="in" filter="wipe(right)">
                                      <p:cBhvr>
                                        <p:cTn id="12" dur="500"/>
                                        <p:tgtEl>
                                          <p:spTgt spid="18"/>
                                        </p:tgtEl>
                                      </p:cBhvr>
                                    </p:animEffect>
                                  </p:childTnLst>
                                </p:cTn>
                              </p:par>
                            </p:childTnLst>
                          </p:cTn>
                        </p:par>
                        <p:par>
                          <p:cTn id="13" fill="hold">
                            <p:stCondLst>
                              <p:cond delay="1000"/>
                            </p:stCondLst>
                            <p:childTnLst>
                              <p:par>
                                <p:cTn id="14" presetID="47" presetClass="entr" presetSubtype="0" fill="hold" grpId="0" nodeType="afterEffect">
                                  <p:stCondLst>
                                    <p:cond delay="0"/>
                                  </p:stCondLst>
                                  <p:childTnLst>
                                    <p:set>
                                      <p:cBhvr>
                                        <p:cTn id="15" dur="1" fill="hold">
                                          <p:stCondLst>
                                            <p:cond delay="0"/>
                                          </p:stCondLst>
                                        </p:cTn>
                                        <p:tgtEl>
                                          <p:spTgt spid="20"/>
                                        </p:tgtEl>
                                        <p:attrNameLst>
                                          <p:attrName>style.visibility</p:attrName>
                                        </p:attrNameLst>
                                      </p:cBhvr>
                                      <p:to>
                                        <p:strVal val="visible"/>
                                      </p:to>
                                    </p:set>
                                    <p:animEffect transition="in" filter="fade">
                                      <p:cBhvr>
                                        <p:cTn id="16" dur="1000"/>
                                        <p:tgtEl>
                                          <p:spTgt spid="20"/>
                                        </p:tgtEl>
                                      </p:cBhvr>
                                    </p:animEffect>
                                    <p:anim calcmode="lin" valueType="num">
                                      <p:cBhvr>
                                        <p:cTn id="17" dur="1000" fill="hold"/>
                                        <p:tgtEl>
                                          <p:spTgt spid="20"/>
                                        </p:tgtEl>
                                        <p:attrNameLst>
                                          <p:attrName>ppt_x</p:attrName>
                                        </p:attrNameLst>
                                      </p:cBhvr>
                                      <p:tavLst>
                                        <p:tav tm="0">
                                          <p:val>
                                            <p:strVal val="#ppt_x"/>
                                          </p:val>
                                        </p:tav>
                                        <p:tav tm="100000">
                                          <p:val>
                                            <p:strVal val="#ppt_x"/>
                                          </p:val>
                                        </p:tav>
                                      </p:tavLst>
                                    </p:anim>
                                    <p:anim calcmode="lin" valueType="num">
                                      <p:cBhvr>
                                        <p:cTn id="18" dur="1000" fill="hold"/>
                                        <p:tgtEl>
                                          <p:spTgt spid="20"/>
                                        </p:tgtEl>
                                        <p:attrNameLst>
                                          <p:attrName>ppt_y</p:attrName>
                                        </p:attrNameLst>
                                      </p:cBhvr>
                                      <p:tavLst>
                                        <p:tav tm="0">
                                          <p:val>
                                            <p:strVal val="#ppt_y-.1"/>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7">
                                            <p:txEl>
                                              <p:pRg st="0" end="0"/>
                                            </p:txEl>
                                          </p:spTgt>
                                        </p:tgtEl>
                                        <p:attrNameLst>
                                          <p:attrName>style.visibility</p:attrName>
                                        </p:attrNameLst>
                                      </p:cBhvr>
                                      <p:to>
                                        <p:strVal val="visible"/>
                                      </p:to>
                                    </p:set>
                                    <p:animEffect transition="in" filter="fade">
                                      <p:cBhvr>
                                        <p:cTn id="23" dur="500"/>
                                        <p:tgtEl>
                                          <p:spTgt spid="17">
                                            <p:txEl>
                                              <p:pRg st="0" end="0"/>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fade">
                                      <p:cBhvr>
                                        <p:cTn id="28" dur="500"/>
                                        <p:tgtEl>
                                          <p:spTgt spid="14"/>
                                        </p:tgtEl>
                                      </p:cBhvr>
                                    </p:animEffect>
                                  </p:childTnLst>
                                </p:cTn>
                              </p:par>
                            </p:childTnLst>
                          </p:cTn>
                        </p:par>
                        <p:par>
                          <p:cTn id="29" fill="hold">
                            <p:stCondLst>
                              <p:cond delay="500"/>
                            </p:stCondLst>
                            <p:childTnLst>
                              <p:par>
                                <p:cTn id="30" presetID="31" presetClass="entr" presetSubtype="0" fill="hold" nodeType="afterEffect">
                                  <p:stCondLst>
                                    <p:cond delay="0"/>
                                  </p:stCondLst>
                                  <p:childTnLst>
                                    <p:set>
                                      <p:cBhvr>
                                        <p:cTn id="31" dur="1" fill="hold">
                                          <p:stCondLst>
                                            <p:cond delay="0"/>
                                          </p:stCondLst>
                                        </p:cTn>
                                        <p:tgtEl>
                                          <p:spTgt spid="19"/>
                                        </p:tgtEl>
                                        <p:attrNameLst>
                                          <p:attrName>style.visibility</p:attrName>
                                        </p:attrNameLst>
                                      </p:cBhvr>
                                      <p:to>
                                        <p:strVal val="visible"/>
                                      </p:to>
                                    </p:set>
                                    <p:anim calcmode="lin" valueType="num">
                                      <p:cBhvr>
                                        <p:cTn id="32" dur="1000" fill="hold"/>
                                        <p:tgtEl>
                                          <p:spTgt spid="19"/>
                                        </p:tgtEl>
                                        <p:attrNameLst>
                                          <p:attrName>ppt_w</p:attrName>
                                        </p:attrNameLst>
                                      </p:cBhvr>
                                      <p:tavLst>
                                        <p:tav tm="0">
                                          <p:val>
                                            <p:fltVal val="0"/>
                                          </p:val>
                                        </p:tav>
                                        <p:tav tm="100000">
                                          <p:val>
                                            <p:strVal val="#ppt_w"/>
                                          </p:val>
                                        </p:tav>
                                      </p:tavLst>
                                    </p:anim>
                                    <p:anim calcmode="lin" valueType="num">
                                      <p:cBhvr>
                                        <p:cTn id="33" dur="1000" fill="hold"/>
                                        <p:tgtEl>
                                          <p:spTgt spid="19"/>
                                        </p:tgtEl>
                                        <p:attrNameLst>
                                          <p:attrName>ppt_h</p:attrName>
                                        </p:attrNameLst>
                                      </p:cBhvr>
                                      <p:tavLst>
                                        <p:tav tm="0">
                                          <p:val>
                                            <p:fltVal val="0"/>
                                          </p:val>
                                        </p:tav>
                                        <p:tav tm="100000">
                                          <p:val>
                                            <p:strVal val="#ppt_h"/>
                                          </p:val>
                                        </p:tav>
                                      </p:tavLst>
                                    </p:anim>
                                    <p:anim calcmode="lin" valueType="num">
                                      <p:cBhvr>
                                        <p:cTn id="34" dur="1000" fill="hold"/>
                                        <p:tgtEl>
                                          <p:spTgt spid="19"/>
                                        </p:tgtEl>
                                        <p:attrNameLst>
                                          <p:attrName>style.rotation</p:attrName>
                                        </p:attrNameLst>
                                      </p:cBhvr>
                                      <p:tavLst>
                                        <p:tav tm="0">
                                          <p:val>
                                            <p:fltVal val="90"/>
                                          </p:val>
                                        </p:tav>
                                        <p:tav tm="100000">
                                          <p:val>
                                            <p:fltVal val="0"/>
                                          </p:val>
                                        </p:tav>
                                      </p:tavLst>
                                    </p:anim>
                                    <p:animEffect transition="in" filter="fade">
                                      <p:cBhvr>
                                        <p:cTn id="35" dur="10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7" grpId="0" build="p"/>
      <p:bldP spid="20" grpId="0"/>
    </p:bldLst>
  </p:timing>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2">
            <a:lumMod val="1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A87CFF-A96B-4D32-AA69-DEDC50733168}"/>
              </a:ext>
            </a:extLst>
          </p:cNvPr>
          <p:cNvSpPr>
            <a:spLocks noGrp="1"/>
          </p:cNvSpPr>
          <p:nvPr>
            <p:ph type="title"/>
          </p:nvPr>
        </p:nvSpPr>
        <p:spPr>
          <a:xfrm>
            <a:off x="136451" y="83877"/>
            <a:ext cx="10515600" cy="1325563"/>
          </a:xfrm>
        </p:spPr>
        <p:txBody>
          <a:bodyPr/>
          <a:lstStyle/>
          <a:p>
            <a:r>
              <a:rPr lang="en-GB" dirty="0">
                <a:solidFill>
                  <a:srgbClr val="00B0F0"/>
                </a:solidFill>
              </a:rPr>
              <a:t>Hacking</a:t>
            </a:r>
            <a:endParaRPr lang="en-US" dirty="0">
              <a:solidFill>
                <a:srgbClr val="00B0F0"/>
              </a:solidFill>
            </a:endParaRPr>
          </a:p>
        </p:txBody>
      </p:sp>
      <p:sp>
        <p:nvSpPr>
          <p:cNvPr id="3" name="Content Placeholder 2">
            <a:extLst>
              <a:ext uri="{FF2B5EF4-FFF2-40B4-BE49-F238E27FC236}">
                <a16:creationId xmlns:a16="http://schemas.microsoft.com/office/drawing/2014/main" id="{B73841A4-D1DB-4A4E-B029-8C7A700B3219}"/>
              </a:ext>
            </a:extLst>
          </p:cNvPr>
          <p:cNvSpPr>
            <a:spLocks noGrp="1"/>
          </p:cNvSpPr>
          <p:nvPr>
            <p:ph idx="1"/>
          </p:nvPr>
        </p:nvSpPr>
        <p:spPr>
          <a:xfrm>
            <a:off x="136451" y="1843493"/>
            <a:ext cx="5816010" cy="4351338"/>
          </a:xfrm>
        </p:spPr>
        <p:txBody>
          <a:bodyPr/>
          <a:lstStyle/>
          <a:p>
            <a:r>
              <a:rPr lang="en-GB" dirty="0">
                <a:solidFill>
                  <a:srgbClr val="00B0F0"/>
                </a:solidFill>
              </a:rPr>
              <a:t>The act of intentionally accessing a computer system without consent</a:t>
            </a:r>
          </a:p>
          <a:p>
            <a:endParaRPr lang="en-GB" dirty="0">
              <a:solidFill>
                <a:srgbClr val="00B0F0"/>
              </a:solidFill>
            </a:endParaRPr>
          </a:p>
          <a:p>
            <a:r>
              <a:rPr lang="en-GB" dirty="0">
                <a:solidFill>
                  <a:srgbClr val="00B0F0"/>
                </a:solidFill>
              </a:rPr>
              <a:t>‘Hackers’ attempt to take control of a system by viewing, accessing or running programs from another persons computer without their permission</a:t>
            </a:r>
            <a:endParaRPr lang="en-US" dirty="0">
              <a:solidFill>
                <a:srgbClr val="00B0F0"/>
              </a:solidFill>
            </a:endParaRPr>
          </a:p>
        </p:txBody>
      </p:sp>
      <p:pic>
        <p:nvPicPr>
          <p:cNvPr id="4104" name="Picture 8" descr="Image result for hacking animated .gif">
            <a:extLst>
              <a:ext uri="{FF2B5EF4-FFF2-40B4-BE49-F238E27FC236}">
                <a16:creationId xmlns:a16="http://schemas.microsoft.com/office/drawing/2014/main" id="{BDACE0CA-7CEC-4A86-8023-94023771FB00}"/>
              </a:ext>
            </a:extLst>
          </p:cNvPr>
          <p:cNvPicPr>
            <a:picLocks noChangeAspect="1" noChangeArrowheads="1" noCrop="1"/>
          </p:cNvPicPr>
          <p:nvPr/>
        </p:nvPicPr>
        <p:blipFill>
          <a:blip r:embed="rId2">
            <a:extLst>
              <a:ext uri="{28A0092B-C50C-407E-A947-70E740481C1C}">
                <a14:useLocalDpi xmlns:a14="http://schemas.microsoft.com/office/drawing/2010/main" val="0"/>
              </a:ext>
            </a:extLst>
          </a:blip>
          <a:srcRect/>
          <a:stretch>
            <a:fillRect/>
          </a:stretch>
        </p:blipFill>
        <p:spPr bwMode="auto">
          <a:xfrm>
            <a:off x="5952461" y="3212693"/>
            <a:ext cx="6103088" cy="3432987"/>
          </a:xfrm>
          <a:prstGeom prst="rect">
            <a:avLst/>
          </a:prstGeom>
          <a:noFill/>
          <a:extLst>
            <a:ext uri="{909E8E84-426E-40DD-AFC4-6F175D3DCCD1}">
              <a14:hiddenFill xmlns:a14="http://schemas.microsoft.com/office/drawing/2010/main">
                <a:solidFill>
                  <a:srgbClr val="FFFFFF"/>
                </a:solidFill>
              </a14:hiddenFill>
            </a:ext>
          </a:extLst>
        </p:spPr>
      </p:pic>
      <p:grpSp>
        <p:nvGrpSpPr>
          <p:cNvPr id="10" name="Group 9">
            <a:extLst>
              <a:ext uri="{FF2B5EF4-FFF2-40B4-BE49-F238E27FC236}">
                <a16:creationId xmlns:a16="http://schemas.microsoft.com/office/drawing/2014/main" id="{FA3526E3-C01F-4A78-B8C8-73847F22B70E}"/>
              </a:ext>
            </a:extLst>
          </p:cNvPr>
          <p:cNvGrpSpPr/>
          <p:nvPr/>
        </p:nvGrpSpPr>
        <p:grpSpPr>
          <a:xfrm>
            <a:off x="8441714" y="212320"/>
            <a:ext cx="4405746" cy="1264209"/>
            <a:chOff x="7786254" y="365125"/>
            <a:chExt cx="4405746" cy="1264209"/>
          </a:xfrm>
        </p:grpSpPr>
        <p:pic>
          <p:nvPicPr>
            <p:cNvPr id="11" name="Content Placeholder 3">
              <a:extLst>
                <a:ext uri="{FF2B5EF4-FFF2-40B4-BE49-F238E27FC236}">
                  <a16:creationId xmlns:a16="http://schemas.microsoft.com/office/drawing/2014/main" id="{6548891B-3E06-4513-BF69-81895ACAFB0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786254" y="365125"/>
              <a:ext cx="3666836" cy="1264209"/>
            </a:xfrm>
            <a:prstGeom prst="rect">
              <a:avLst/>
            </a:prstGeom>
          </p:spPr>
        </p:pic>
        <p:sp>
          <p:nvSpPr>
            <p:cNvPr id="12" name="TextBox 11">
              <a:extLst>
                <a:ext uri="{FF2B5EF4-FFF2-40B4-BE49-F238E27FC236}">
                  <a16:creationId xmlns:a16="http://schemas.microsoft.com/office/drawing/2014/main" id="{A9D440F4-946F-43D5-9F31-3A99655293D5}"/>
                </a:ext>
              </a:extLst>
            </p:cNvPr>
            <p:cNvSpPr txBox="1"/>
            <p:nvPr/>
          </p:nvSpPr>
          <p:spPr>
            <a:xfrm>
              <a:off x="7908758" y="614201"/>
              <a:ext cx="4283242" cy="707886"/>
            </a:xfrm>
            <a:prstGeom prst="rect">
              <a:avLst/>
            </a:prstGeom>
            <a:noFill/>
          </p:spPr>
          <p:txBody>
            <a:bodyPr wrap="square" rtlCol="0">
              <a:spAutoFit/>
            </a:bodyPr>
            <a:lstStyle/>
            <a:p>
              <a:pPr algn="ctr"/>
              <a:r>
                <a:rPr lang="en-GB" sz="2000" b="1" dirty="0">
                  <a:solidFill>
                    <a:schemeClr val="bg1"/>
                  </a:solidFill>
                  <a:latin typeface="Copperplate Gothic Light" panose="020E0507020206020404" pitchFamily="34" charset="0"/>
                </a:rPr>
                <a:t>Glossary </a:t>
              </a:r>
            </a:p>
            <a:p>
              <a:pPr algn="ctr"/>
              <a:r>
                <a:rPr lang="en-GB" sz="2000" b="1" dirty="0">
                  <a:solidFill>
                    <a:schemeClr val="bg1"/>
                  </a:solidFill>
                  <a:latin typeface="Copperplate Gothic Light" panose="020E0507020206020404" pitchFamily="34" charset="0"/>
                </a:rPr>
                <a:t>Item Added</a:t>
              </a:r>
              <a:endParaRPr lang="en-GB" sz="2000" dirty="0">
                <a:solidFill>
                  <a:schemeClr val="bg1"/>
                </a:solidFill>
                <a:latin typeface="Copperplate Gothic Light" panose="020E0507020206020404" pitchFamily="34" charset="0"/>
              </a:endParaRPr>
            </a:p>
          </p:txBody>
        </p:sp>
      </p:grpSp>
    </p:spTree>
    <p:extLst>
      <p:ext uri="{BB962C8B-B14F-4D97-AF65-F5344CB8AC3E}">
        <p14:creationId xmlns:p14="http://schemas.microsoft.com/office/powerpoint/2010/main" val="24456949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afterEffect">
                                  <p:stCondLst>
                                    <p:cond delay="0"/>
                                  </p:stCondLst>
                                  <p:childTnLst>
                                    <p:set>
                                      <p:cBhvr>
                                        <p:cTn id="6" dur="1" fill="hold">
                                          <p:stCondLst>
                                            <p:cond delay="0"/>
                                          </p:stCondLst>
                                        </p:cTn>
                                        <p:tgtEl>
                                          <p:spTgt spid="10"/>
                                        </p:tgtEl>
                                        <p:attrNameLst>
                                          <p:attrName>style.visibility</p:attrName>
                                        </p:attrNameLst>
                                      </p:cBhvr>
                                      <p:to>
                                        <p:strVal val="visible"/>
                                      </p:to>
                                    </p:set>
                                    <p:anim calcmode="lin" valueType="num">
                                      <p:cBhvr additive="base">
                                        <p:cTn id="7" dur="500" fill="hold"/>
                                        <p:tgtEl>
                                          <p:spTgt spid="10"/>
                                        </p:tgtEl>
                                        <p:attrNameLst>
                                          <p:attrName>ppt_x</p:attrName>
                                        </p:attrNameLst>
                                      </p:cBhvr>
                                      <p:tavLst>
                                        <p:tav tm="0">
                                          <p:val>
                                            <p:strVal val="1+#ppt_w/2"/>
                                          </p:val>
                                        </p:tav>
                                        <p:tav tm="100000">
                                          <p:val>
                                            <p:strVal val="#ppt_x"/>
                                          </p:val>
                                        </p:tav>
                                      </p:tavLst>
                                    </p:anim>
                                    <p:anim calcmode="lin" valueType="num">
                                      <p:cBhvr additive="base">
                                        <p:cTn id="8" dur="500" fill="hold"/>
                                        <p:tgtEl>
                                          <p:spTgt spid="10"/>
                                        </p:tgtEl>
                                        <p:attrNameLst>
                                          <p:attrName>ppt_y</p:attrName>
                                        </p:attrNameLst>
                                      </p:cBhvr>
                                      <p:tavLst>
                                        <p:tav tm="0">
                                          <p:val>
                                            <p:strVal val="#ppt_y"/>
                                          </p:val>
                                        </p:tav>
                                        <p:tav tm="100000">
                                          <p:val>
                                            <p:strVal val="#ppt_y"/>
                                          </p:val>
                                        </p:tav>
                                      </p:tavLst>
                                    </p:anim>
                                  </p:childTnLst>
                                </p:cTn>
                              </p:par>
                              <p:par>
                                <p:cTn id="9" presetID="10" presetClass="entr" presetSubtype="0"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00"/>
                                        <p:tgtEl>
                                          <p:spTgt spid="10"/>
                                        </p:tgtEl>
                                      </p:cBhvr>
                                    </p:animEffect>
                                  </p:childTnLst>
                                </p:cTn>
                              </p:par>
                            </p:childTnLst>
                          </p:cTn>
                        </p:par>
                        <p:par>
                          <p:cTn id="12" fill="hold">
                            <p:stCondLst>
                              <p:cond delay="500"/>
                            </p:stCondLst>
                            <p:childTnLst>
                              <p:par>
                                <p:cTn id="13" presetID="10" presetClass="exit" presetSubtype="0" fill="hold" nodeType="afterEffect">
                                  <p:stCondLst>
                                    <p:cond delay="4400"/>
                                  </p:stCondLst>
                                  <p:childTnLst>
                                    <p:animEffect transition="out" filter="fade">
                                      <p:cBhvr>
                                        <p:cTn id="14" dur="2000"/>
                                        <p:tgtEl>
                                          <p:spTgt spid="10"/>
                                        </p:tgtEl>
                                      </p:cBhvr>
                                    </p:animEffect>
                                    <p:set>
                                      <p:cBhvr>
                                        <p:cTn id="15" dur="1" fill="hold">
                                          <p:stCondLst>
                                            <p:cond delay="1999"/>
                                          </p:stCondLst>
                                        </p:cTn>
                                        <p:tgtEl>
                                          <p:spTgt spid="10"/>
                                        </p:tgtEl>
                                        <p:attrNameLst>
                                          <p:attrName>style.visibility</p:attrName>
                                        </p:attrNameLst>
                                      </p:cBhvr>
                                      <p:to>
                                        <p:strVal val="hidden"/>
                                      </p:to>
                                    </p:set>
                                  </p:childTnLst>
                                </p:cTn>
                              </p:par>
                              <p:par>
                                <p:cTn id="16" presetID="2" presetClass="exit" presetSubtype="2" fill="hold" nodeType="withEffect">
                                  <p:stCondLst>
                                    <p:cond delay="5000"/>
                                  </p:stCondLst>
                                  <p:childTnLst>
                                    <p:anim calcmode="lin" valueType="num">
                                      <p:cBhvr additive="base">
                                        <p:cTn id="17" dur="1000"/>
                                        <p:tgtEl>
                                          <p:spTgt spid="10"/>
                                        </p:tgtEl>
                                        <p:attrNameLst>
                                          <p:attrName>ppt_x</p:attrName>
                                        </p:attrNameLst>
                                      </p:cBhvr>
                                      <p:tavLst>
                                        <p:tav tm="0">
                                          <p:val>
                                            <p:strVal val="ppt_x"/>
                                          </p:val>
                                        </p:tav>
                                        <p:tav tm="100000">
                                          <p:val>
                                            <p:strVal val="1+ppt_w/2"/>
                                          </p:val>
                                        </p:tav>
                                      </p:tavLst>
                                    </p:anim>
                                    <p:anim calcmode="lin" valueType="num">
                                      <p:cBhvr additive="base">
                                        <p:cTn id="18" dur="1000"/>
                                        <p:tgtEl>
                                          <p:spTgt spid="10"/>
                                        </p:tgtEl>
                                        <p:attrNameLst>
                                          <p:attrName>ppt_y</p:attrName>
                                        </p:attrNameLst>
                                      </p:cBhvr>
                                      <p:tavLst>
                                        <p:tav tm="0">
                                          <p:val>
                                            <p:strVal val="ppt_y"/>
                                          </p:val>
                                        </p:tav>
                                        <p:tav tm="100000">
                                          <p:val>
                                            <p:strVal val="ppt_y"/>
                                          </p:val>
                                        </p:tav>
                                      </p:tavLst>
                                    </p:anim>
                                    <p:set>
                                      <p:cBhvr>
                                        <p:cTn id="19" dur="1" fill="hold">
                                          <p:stCondLst>
                                            <p:cond delay="999"/>
                                          </p:stCondLst>
                                        </p:cTn>
                                        <p:tgtEl>
                                          <p:spTgt spid="10"/>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2">
            <a:lumMod val="10000"/>
          </a:schemeClr>
        </a:solidFill>
        <a:effectLst/>
      </p:bgPr>
    </p:bg>
    <p:spTree>
      <p:nvGrpSpPr>
        <p:cNvPr id="1" name=""/>
        <p:cNvGrpSpPr/>
        <p:nvPr/>
      </p:nvGrpSpPr>
      <p:grpSpPr>
        <a:xfrm>
          <a:off x="0" y="0"/>
          <a:ext cx="0" cy="0"/>
          <a:chOff x="0" y="0"/>
          <a:chExt cx="0" cy="0"/>
        </a:xfrm>
      </p:grpSpPr>
      <p:pic>
        <p:nvPicPr>
          <p:cNvPr id="9218" name="Picture 2" descr="Image result for HIV virus">
            <a:extLst>
              <a:ext uri="{FF2B5EF4-FFF2-40B4-BE49-F238E27FC236}">
                <a16:creationId xmlns:a16="http://schemas.microsoft.com/office/drawing/2014/main" id="{AB79B58B-D69A-4E4E-9A52-22B5BE3DB2E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0"/>
            <a:ext cx="13373100" cy="6858000"/>
          </a:xfrm>
          <a:prstGeom prst="rect">
            <a:avLst/>
          </a:prstGeom>
          <a:noFill/>
          <a:extLst>
            <a:ext uri="{909E8E84-426E-40DD-AFC4-6F175D3DCCD1}">
              <a14:hiddenFill xmlns:a14="http://schemas.microsoft.com/office/drawing/2010/main">
                <a:solidFill>
                  <a:srgbClr val="FFFFFF"/>
                </a:solidFill>
              </a14:hiddenFill>
            </a:ext>
          </a:extLst>
        </p:spPr>
      </p:pic>
      <p:sp>
        <p:nvSpPr>
          <p:cNvPr id="3" name="Content Placeholder 2">
            <a:extLst>
              <a:ext uri="{FF2B5EF4-FFF2-40B4-BE49-F238E27FC236}">
                <a16:creationId xmlns:a16="http://schemas.microsoft.com/office/drawing/2014/main" id="{99D81B27-9D5F-4B59-8E2D-9747C9A01503}"/>
              </a:ext>
            </a:extLst>
          </p:cNvPr>
          <p:cNvSpPr>
            <a:spLocks noGrp="1"/>
          </p:cNvSpPr>
          <p:nvPr>
            <p:ph idx="1"/>
          </p:nvPr>
        </p:nvSpPr>
        <p:spPr>
          <a:xfrm>
            <a:off x="212651" y="233916"/>
            <a:ext cx="4625163" cy="6411433"/>
          </a:xfrm>
          <a:solidFill>
            <a:srgbClr val="000000">
              <a:alpha val="80000"/>
            </a:srgbClr>
          </a:solidFill>
        </p:spPr>
        <p:txBody>
          <a:bodyPr/>
          <a:lstStyle/>
          <a:p>
            <a:endParaRPr lang="en-GB" dirty="0">
              <a:solidFill>
                <a:srgbClr val="00B0F0"/>
              </a:solidFill>
            </a:endParaRPr>
          </a:p>
          <a:p>
            <a:endParaRPr lang="en-GB" dirty="0">
              <a:solidFill>
                <a:srgbClr val="00B0F0"/>
              </a:solidFill>
            </a:endParaRPr>
          </a:p>
          <a:p>
            <a:pPr marL="0" indent="0">
              <a:buNone/>
            </a:pPr>
            <a:endParaRPr lang="en-GB" dirty="0">
              <a:solidFill>
                <a:srgbClr val="00B0F0"/>
              </a:solidFill>
            </a:endParaRPr>
          </a:p>
          <a:p>
            <a:r>
              <a:rPr lang="en-GB" dirty="0">
                <a:solidFill>
                  <a:srgbClr val="00B0F0"/>
                </a:solidFill>
              </a:rPr>
              <a:t>A program that has been designed to damage the operation of a computer automatically</a:t>
            </a:r>
          </a:p>
          <a:p>
            <a:endParaRPr lang="en-GB" dirty="0">
              <a:solidFill>
                <a:srgbClr val="00B0F0"/>
              </a:solidFill>
            </a:endParaRPr>
          </a:p>
          <a:p>
            <a:endParaRPr lang="en-GB" dirty="0">
              <a:solidFill>
                <a:srgbClr val="00B0F0"/>
              </a:solidFill>
            </a:endParaRPr>
          </a:p>
          <a:p>
            <a:r>
              <a:rPr lang="en-GB" dirty="0">
                <a:solidFill>
                  <a:srgbClr val="00B0F0"/>
                </a:solidFill>
              </a:rPr>
              <a:t>They can corrupt, erase or alter files and can slow down/crash computers</a:t>
            </a:r>
            <a:endParaRPr lang="en-US" dirty="0">
              <a:solidFill>
                <a:srgbClr val="00B0F0"/>
              </a:solidFill>
            </a:endParaRPr>
          </a:p>
        </p:txBody>
      </p:sp>
      <p:sp>
        <p:nvSpPr>
          <p:cNvPr id="2" name="Title 1">
            <a:extLst>
              <a:ext uri="{FF2B5EF4-FFF2-40B4-BE49-F238E27FC236}">
                <a16:creationId xmlns:a16="http://schemas.microsoft.com/office/drawing/2014/main" id="{E0407C68-C82E-4DB7-9988-0751145139A9}"/>
              </a:ext>
            </a:extLst>
          </p:cNvPr>
          <p:cNvSpPr>
            <a:spLocks noGrp="1"/>
          </p:cNvSpPr>
          <p:nvPr>
            <p:ph type="title"/>
          </p:nvPr>
        </p:nvSpPr>
        <p:spPr>
          <a:xfrm>
            <a:off x="212651" y="212651"/>
            <a:ext cx="4625163" cy="914400"/>
          </a:xfrm>
        </p:spPr>
        <p:txBody>
          <a:bodyPr/>
          <a:lstStyle/>
          <a:p>
            <a:pPr algn="ctr"/>
            <a:r>
              <a:rPr lang="en-GB" dirty="0">
                <a:solidFill>
                  <a:srgbClr val="00B0F0"/>
                </a:solidFill>
              </a:rPr>
              <a:t>Virus</a:t>
            </a:r>
            <a:endParaRPr lang="en-US" dirty="0">
              <a:solidFill>
                <a:srgbClr val="00B0F0"/>
              </a:solidFill>
            </a:endParaRPr>
          </a:p>
        </p:txBody>
      </p:sp>
      <p:cxnSp>
        <p:nvCxnSpPr>
          <p:cNvPr id="5" name="Straight Connector 4">
            <a:extLst>
              <a:ext uri="{FF2B5EF4-FFF2-40B4-BE49-F238E27FC236}">
                <a16:creationId xmlns:a16="http://schemas.microsoft.com/office/drawing/2014/main" id="{B00032EF-44C0-4514-99E3-539616F0382F}"/>
              </a:ext>
            </a:extLst>
          </p:cNvPr>
          <p:cNvCxnSpPr/>
          <p:nvPr/>
        </p:nvCxnSpPr>
        <p:spPr>
          <a:xfrm>
            <a:off x="520995" y="1201479"/>
            <a:ext cx="3880884" cy="0"/>
          </a:xfrm>
          <a:prstGeom prst="line">
            <a:avLst/>
          </a:prstGeom>
          <a:ln>
            <a:solidFill>
              <a:srgbClr val="00B0F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2293380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2">
            <a:lumMod val="1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5B72C4-4522-4DC7-A60E-FAC0ED49104F}"/>
              </a:ext>
            </a:extLst>
          </p:cNvPr>
          <p:cNvSpPr>
            <a:spLocks noGrp="1"/>
          </p:cNvSpPr>
          <p:nvPr>
            <p:ph type="title"/>
          </p:nvPr>
        </p:nvSpPr>
        <p:spPr>
          <a:xfrm>
            <a:off x="4838247" y="355888"/>
            <a:ext cx="3114262" cy="1325563"/>
          </a:xfrm>
        </p:spPr>
        <p:txBody>
          <a:bodyPr/>
          <a:lstStyle/>
          <a:p>
            <a:r>
              <a:rPr lang="en-GB" dirty="0">
                <a:solidFill>
                  <a:srgbClr val="00B0F0"/>
                </a:solidFill>
              </a:rPr>
              <a:t>Spyware</a:t>
            </a:r>
            <a:endParaRPr lang="en-US" dirty="0">
              <a:solidFill>
                <a:srgbClr val="00B0F0"/>
              </a:solidFill>
            </a:endParaRPr>
          </a:p>
        </p:txBody>
      </p:sp>
      <p:sp>
        <p:nvSpPr>
          <p:cNvPr id="3" name="Content Placeholder 2">
            <a:extLst>
              <a:ext uri="{FF2B5EF4-FFF2-40B4-BE49-F238E27FC236}">
                <a16:creationId xmlns:a16="http://schemas.microsoft.com/office/drawing/2014/main" id="{0A0F0E13-8312-47FA-BF9B-0E31143C17D8}"/>
              </a:ext>
            </a:extLst>
          </p:cNvPr>
          <p:cNvSpPr>
            <a:spLocks noGrp="1"/>
          </p:cNvSpPr>
          <p:nvPr>
            <p:ph idx="1"/>
          </p:nvPr>
        </p:nvSpPr>
        <p:spPr>
          <a:xfrm>
            <a:off x="838200" y="4293703"/>
            <a:ext cx="10515600" cy="1883259"/>
          </a:xfrm>
        </p:spPr>
        <p:txBody>
          <a:bodyPr/>
          <a:lstStyle/>
          <a:p>
            <a:r>
              <a:rPr lang="en-GB" dirty="0">
                <a:solidFill>
                  <a:srgbClr val="00B0F0"/>
                </a:solidFill>
              </a:rPr>
              <a:t>Malicious software which is secretly installed on a users computer</a:t>
            </a:r>
          </a:p>
          <a:p>
            <a:r>
              <a:rPr lang="en-GB" dirty="0">
                <a:solidFill>
                  <a:srgbClr val="00B0F0"/>
                </a:solidFill>
              </a:rPr>
              <a:t>Uses an internet connection to send information back to hacker about the users activity</a:t>
            </a:r>
            <a:endParaRPr lang="en-US" dirty="0">
              <a:solidFill>
                <a:srgbClr val="00B0F0"/>
              </a:solidFill>
            </a:endParaRPr>
          </a:p>
        </p:txBody>
      </p:sp>
      <p:pic>
        <p:nvPicPr>
          <p:cNvPr id="1026" name="Picture 2" descr="Image result for spyware animated .gif">
            <a:extLst>
              <a:ext uri="{FF2B5EF4-FFF2-40B4-BE49-F238E27FC236}">
                <a16:creationId xmlns:a16="http://schemas.microsoft.com/office/drawing/2014/main" id="{07EF2051-F671-4401-89CA-06F69525F59B}"/>
              </a:ext>
            </a:extLst>
          </p:cNvPr>
          <p:cNvPicPr>
            <a:picLocks noChangeAspect="1" noChangeArrowheads="1" noCrop="1"/>
          </p:cNvPicPr>
          <p:nvPr/>
        </p:nvPicPr>
        <p:blipFill>
          <a:blip r:embed="rId2">
            <a:extLst>
              <a:ext uri="{28A0092B-C50C-407E-A947-70E740481C1C}">
                <a14:useLocalDpi xmlns:a14="http://schemas.microsoft.com/office/drawing/2010/main" val="0"/>
              </a:ext>
            </a:extLst>
          </a:blip>
          <a:srcRect/>
          <a:stretch>
            <a:fillRect/>
          </a:stretch>
        </p:blipFill>
        <p:spPr bwMode="auto">
          <a:xfrm>
            <a:off x="1921565" y="28852"/>
            <a:ext cx="8348870" cy="500932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661071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nodeType="clickEffect">
                                  <p:stCondLst>
                                    <p:cond delay="0"/>
                                  </p:stCondLst>
                                  <p:childTnLst>
                                    <p:set>
                                      <p:cBhvr>
                                        <p:cTn id="6" dur="1" fill="hold">
                                          <p:stCondLst>
                                            <p:cond delay="0"/>
                                          </p:stCondLst>
                                        </p:cTn>
                                        <p:tgtEl>
                                          <p:spTgt spid="1026"/>
                                        </p:tgtEl>
                                        <p:attrNameLst>
                                          <p:attrName>style.visibility</p:attrName>
                                        </p:attrNameLst>
                                      </p:cBhvr>
                                      <p:to>
                                        <p:strVal val="visible"/>
                                      </p:to>
                                    </p:set>
                                    <p:anim calcmode="lin" valueType="num">
                                      <p:cBhvr>
                                        <p:cTn id="7" dur="500" fill="hold"/>
                                        <p:tgtEl>
                                          <p:spTgt spid="1026"/>
                                        </p:tgtEl>
                                        <p:attrNameLst>
                                          <p:attrName>ppt_w</p:attrName>
                                        </p:attrNameLst>
                                      </p:cBhvr>
                                      <p:tavLst>
                                        <p:tav tm="0">
                                          <p:val>
                                            <p:fltVal val="0"/>
                                          </p:val>
                                        </p:tav>
                                        <p:tav tm="100000">
                                          <p:val>
                                            <p:strVal val="#ppt_w"/>
                                          </p:val>
                                        </p:tav>
                                      </p:tavLst>
                                    </p:anim>
                                    <p:anim calcmode="lin" valueType="num">
                                      <p:cBhvr>
                                        <p:cTn id="8" dur="500" fill="hold"/>
                                        <p:tgtEl>
                                          <p:spTgt spid="1026"/>
                                        </p:tgtEl>
                                        <p:attrNameLst>
                                          <p:attrName>ppt_h</p:attrName>
                                        </p:attrNameLst>
                                      </p:cBhvr>
                                      <p:tavLst>
                                        <p:tav tm="0">
                                          <p:val>
                                            <p:fltVal val="0"/>
                                          </p:val>
                                        </p:tav>
                                        <p:tav tm="100000">
                                          <p:val>
                                            <p:strVal val="#ppt_h"/>
                                          </p:val>
                                        </p:tav>
                                      </p:tavLst>
                                    </p:anim>
                                    <p:animEffect transition="in" filter="fade">
                                      <p:cBhvr>
                                        <p:cTn id="9" dur="500"/>
                                        <p:tgtEl>
                                          <p:spTgt spid="1026"/>
                                        </p:tgtEl>
                                      </p:cBhvr>
                                    </p:animEffect>
                                  </p:childTnLst>
                                </p:cTn>
                              </p:par>
                            </p:childTnLst>
                          </p:cTn>
                        </p:par>
                        <p:par>
                          <p:cTn id="10" fill="hold">
                            <p:stCondLst>
                              <p:cond delay="500"/>
                            </p:stCondLst>
                            <p:childTnLst>
                              <p:par>
                                <p:cTn id="11" presetID="1" presetClass="entr" presetSubtype="0" fill="hold" grpId="1" nodeType="afterEffect">
                                  <p:stCondLst>
                                    <p:cond delay="0"/>
                                  </p:stCondLst>
                                  <p:childTnLst>
                                    <p:set>
                                      <p:cBhvr>
                                        <p:cTn id="12" dur="1" fill="hold">
                                          <p:stCondLst>
                                            <p:cond delay="0"/>
                                          </p:stCondLst>
                                        </p:cTn>
                                        <p:tgtEl>
                                          <p:spTgt spid="2"/>
                                        </p:tgtEl>
                                        <p:attrNameLst>
                                          <p:attrName>style.visibility</p:attrName>
                                        </p:attrNameLst>
                                      </p:cBhvr>
                                      <p:to>
                                        <p:strVal val="visible"/>
                                      </p:to>
                                    </p:set>
                                  </p:childTnLst>
                                </p:cTn>
                              </p:par>
                            </p:childTnLst>
                          </p:cTn>
                        </p:par>
                        <p:par>
                          <p:cTn id="13" fill="hold">
                            <p:stCondLst>
                              <p:cond delay="500"/>
                            </p:stCondLst>
                            <p:childTnLst>
                              <p:par>
                                <p:cTn id="14" presetID="42" presetClass="path" presetSubtype="0" accel="50000" decel="50000" fill="hold" grpId="0" nodeType="afterEffect">
                                  <p:stCondLst>
                                    <p:cond delay="0"/>
                                  </p:stCondLst>
                                  <p:childTnLst>
                                    <p:animMotion origin="layout" path="M 8.33333E-7 3.7037E-7 L 0.38008 -0.00023 " pathEditMode="relative" rAng="0" ptsTypes="AA">
                                      <p:cBhvr>
                                        <p:cTn id="15" dur="2000" fill="hold"/>
                                        <p:tgtEl>
                                          <p:spTgt spid="2"/>
                                        </p:tgtEl>
                                        <p:attrNameLst>
                                          <p:attrName>ppt_x</p:attrName>
                                          <p:attrName>ppt_y</p:attrName>
                                        </p:attrNameLst>
                                      </p:cBhvr>
                                      <p:rCtr x="18997" y="-23"/>
                                    </p:animMotion>
                                  </p:childTnLst>
                                </p:cTn>
                              </p:par>
                            </p:childTnLst>
                          </p:cTn>
                        </p:par>
                      </p:childTnLst>
                    </p:cTn>
                  </p:par>
                  <p:par>
                    <p:cTn id="16" fill="hold">
                      <p:stCondLst>
                        <p:cond delay="indefinite"/>
                      </p:stCondLst>
                      <p:childTnLst>
                        <p:par>
                          <p:cTn id="17" fill="hold">
                            <p:stCondLst>
                              <p:cond delay="0"/>
                            </p:stCondLst>
                            <p:childTnLst>
                              <p:par>
                                <p:cTn id="18" presetID="2" presetClass="entr" presetSubtype="1" fill="hold" nodeType="clickEffect">
                                  <p:stCondLst>
                                    <p:cond delay="0"/>
                                  </p:stCondLst>
                                  <p:childTnLst>
                                    <p:set>
                                      <p:cBhvr>
                                        <p:cTn id="19" dur="1" fill="hold">
                                          <p:stCondLst>
                                            <p:cond delay="0"/>
                                          </p:stCondLst>
                                        </p:cTn>
                                        <p:tgtEl>
                                          <p:spTgt spid="3">
                                            <p:txEl>
                                              <p:pRg st="0" end="0"/>
                                            </p:txEl>
                                          </p:spTgt>
                                        </p:tgtEl>
                                        <p:attrNameLst>
                                          <p:attrName>style.visibility</p:attrName>
                                        </p:attrNameLst>
                                      </p:cBhvr>
                                      <p:to>
                                        <p:strVal val="visible"/>
                                      </p:to>
                                    </p:set>
                                    <p:anim calcmode="lin" valueType="num">
                                      <p:cBhvr additive="base">
                                        <p:cTn id="20"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21" dur="500" fill="hold"/>
                                        <p:tgtEl>
                                          <p:spTgt spid="3">
                                            <p:txEl>
                                              <p:pRg st="0" end="0"/>
                                            </p:txEl>
                                          </p:spTgt>
                                        </p:tgtEl>
                                        <p:attrNameLst>
                                          <p:attrName>ppt_y</p:attrName>
                                        </p:attrNameLst>
                                      </p:cBhvr>
                                      <p:tavLst>
                                        <p:tav tm="0">
                                          <p:val>
                                            <p:strVal val="0-#ppt_h/2"/>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4" presetID="2" presetClass="entr" presetSubtype="1" fill="hold" nodeType="clickEffect">
                                  <p:stCondLst>
                                    <p:cond delay="0"/>
                                  </p:stCondLst>
                                  <p:childTnLst>
                                    <p:set>
                                      <p:cBhvr>
                                        <p:cTn id="25" dur="1" fill="hold">
                                          <p:stCondLst>
                                            <p:cond delay="0"/>
                                          </p:stCondLst>
                                        </p:cTn>
                                        <p:tgtEl>
                                          <p:spTgt spid="3">
                                            <p:txEl>
                                              <p:pRg st="1" end="1"/>
                                            </p:txEl>
                                          </p:spTgt>
                                        </p:tgtEl>
                                        <p:attrNameLst>
                                          <p:attrName>style.visibility</p:attrName>
                                        </p:attrNameLst>
                                      </p:cBhvr>
                                      <p:to>
                                        <p:strVal val="visible"/>
                                      </p:to>
                                    </p:set>
                                    <p:anim calcmode="lin" valueType="num">
                                      <p:cBhvr additive="base">
                                        <p:cTn id="26"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27" dur="500" fill="hold"/>
                                        <p:tgtEl>
                                          <p:spTgt spid="3">
                                            <p:txEl>
                                              <p:pRg st="1" end="1"/>
                                            </p:txEl>
                                          </p:spTgt>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Lst>
  </p:timing>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2">
            <a:lumMod val="10000"/>
          </a:schemeClr>
        </a:solidFill>
        <a:effectLst/>
      </p:bgPr>
    </p:bg>
    <p:spTree>
      <p:nvGrpSpPr>
        <p:cNvPr id="1" name=""/>
        <p:cNvGrpSpPr/>
        <p:nvPr/>
      </p:nvGrpSpPr>
      <p:grpSpPr>
        <a:xfrm>
          <a:off x="0" y="0"/>
          <a:ext cx="0" cy="0"/>
          <a:chOff x="0" y="0"/>
          <a:chExt cx="0" cy="0"/>
        </a:xfrm>
      </p:grpSpPr>
      <p:pic>
        <p:nvPicPr>
          <p:cNvPr id="2050" name="Picture 2" descr="Image result for Phishing">
            <a:extLst>
              <a:ext uri="{FF2B5EF4-FFF2-40B4-BE49-F238E27FC236}">
                <a16:creationId xmlns:a16="http://schemas.microsoft.com/office/drawing/2014/main" id="{06F1F1BA-F752-418A-8C5C-A0CB48DEB579}"/>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a:stretch/>
        </p:blipFill>
        <p:spPr bwMode="auto">
          <a:xfrm>
            <a:off x="20" y="10"/>
            <a:ext cx="12191980" cy="6857990"/>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6120C329-1379-4B1D-96AA-F3C960B37CD5}"/>
              </a:ext>
            </a:extLst>
          </p:cNvPr>
          <p:cNvSpPr>
            <a:spLocks noGrp="1"/>
          </p:cNvSpPr>
          <p:nvPr>
            <p:ph type="title"/>
          </p:nvPr>
        </p:nvSpPr>
        <p:spPr>
          <a:xfrm>
            <a:off x="3985729" y="3241326"/>
            <a:ext cx="3852041" cy="1834056"/>
          </a:xfrm>
        </p:spPr>
        <p:txBody>
          <a:bodyPr vert="horz" lIns="91440" tIns="45720" rIns="91440" bIns="45720" rtlCol="0" anchor="b">
            <a:normAutofit/>
          </a:bodyPr>
          <a:lstStyle/>
          <a:p>
            <a:pPr algn="ctr"/>
            <a:r>
              <a:rPr lang="en-US" sz="4000" dirty="0"/>
              <a:t>Phishing</a:t>
            </a:r>
          </a:p>
        </p:txBody>
      </p:sp>
      <p:sp>
        <p:nvSpPr>
          <p:cNvPr id="3" name="Content Placeholder 2">
            <a:extLst>
              <a:ext uri="{FF2B5EF4-FFF2-40B4-BE49-F238E27FC236}">
                <a16:creationId xmlns:a16="http://schemas.microsoft.com/office/drawing/2014/main" id="{1802C279-4ECF-488F-965E-69A3C99D1883}"/>
              </a:ext>
            </a:extLst>
          </p:cNvPr>
          <p:cNvSpPr>
            <a:spLocks noGrp="1"/>
          </p:cNvSpPr>
          <p:nvPr>
            <p:ph idx="1"/>
          </p:nvPr>
        </p:nvSpPr>
        <p:spPr>
          <a:xfrm>
            <a:off x="7543800" y="1439918"/>
            <a:ext cx="4330262" cy="1124255"/>
          </a:xfrm>
        </p:spPr>
        <p:txBody>
          <a:bodyPr vert="horz" lIns="91440" tIns="45720" rIns="91440" bIns="45720" rtlCol="0">
            <a:normAutofit/>
          </a:bodyPr>
          <a:lstStyle/>
          <a:p>
            <a:pPr marL="0" indent="0" algn="ctr">
              <a:buNone/>
            </a:pPr>
            <a:r>
              <a:rPr lang="en-GB" sz="2400" dirty="0"/>
              <a:t>Attempting </a:t>
            </a:r>
            <a:r>
              <a:rPr lang="en-US" sz="2400" dirty="0"/>
              <a:t>to gain personal information about someone by deceiving them.</a:t>
            </a:r>
          </a:p>
        </p:txBody>
      </p:sp>
      <p:sp>
        <p:nvSpPr>
          <p:cNvPr id="4" name="TextBox 3">
            <a:extLst>
              <a:ext uri="{FF2B5EF4-FFF2-40B4-BE49-F238E27FC236}">
                <a16:creationId xmlns:a16="http://schemas.microsoft.com/office/drawing/2014/main" id="{DC1B8C26-1088-483F-B69D-7B16AA4EFB46}"/>
              </a:ext>
            </a:extLst>
          </p:cNvPr>
          <p:cNvSpPr txBox="1"/>
          <p:nvPr/>
        </p:nvSpPr>
        <p:spPr>
          <a:xfrm>
            <a:off x="0" y="230909"/>
            <a:ext cx="4507345" cy="2554545"/>
          </a:xfrm>
          <a:prstGeom prst="rect">
            <a:avLst/>
          </a:prstGeom>
          <a:noFill/>
        </p:spPr>
        <p:txBody>
          <a:bodyPr wrap="square" rtlCol="0">
            <a:spAutoFit/>
          </a:bodyPr>
          <a:lstStyle/>
          <a:p>
            <a:pPr marL="285750" indent="-285750">
              <a:buFont typeface="Arial" panose="020B0604020202020204" pitchFamily="34" charset="0"/>
              <a:buChar char="•"/>
            </a:pPr>
            <a:r>
              <a:rPr lang="en-GB" sz="2000" dirty="0"/>
              <a:t>Sending emails that appear to be from a reliable source</a:t>
            </a:r>
          </a:p>
          <a:p>
            <a:pPr marL="285750" indent="-285750">
              <a:buFont typeface="Arial" panose="020B0604020202020204" pitchFamily="34" charset="0"/>
              <a:buChar char="•"/>
            </a:pPr>
            <a:endParaRPr lang="en-GB" sz="2000" dirty="0"/>
          </a:p>
          <a:p>
            <a:pPr marL="285750" indent="-285750">
              <a:buFont typeface="Arial" panose="020B0604020202020204" pitchFamily="34" charset="0"/>
              <a:buChar char="•"/>
            </a:pPr>
            <a:r>
              <a:rPr lang="en-GB" sz="2000" dirty="0"/>
              <a:t>These often ask to update their personal information by clicking on a hyperlink to a bogus website</a:t>
            </a:r>
          </a:p>
          <a:p>
            <a:pPr marL="285750" indent="-285750">
              <a:buFont typeface="Arial" panose="020B0604020202020204" pitchFamily="34" charset="0"/>
              <a:buChar char="•"/>
            </a:pPr>
            <a:endParaRPr lang="en-GB" sz="2000" dirty="0"/>
          </a:p>
          <a:p>
            <a:pPr marL="285750" indent="-285750">
              <a:buFont typeface="Arial" panose="020B0604020202020204" pitchFamily="34" charset="0"/>
              <a:buChar char="•"/>
            </a:pPr>
            <a:r>
              <a:rPr lang="en-GB" sz="2000" dirty="0"/>
              <a:t>Used in identity theft</a:t>
            </a:r>
            <a:endParaRPr lang="en-US" sz="2000" dirty="0"/>
          </a:p>
        </p:txBody>
      </p:sp>
    </p:spTree>
    <p:extLst>
      <p:ext uri="{BB962C8B-B14F-4D97-AF65-F5344CB8AC3E}">
        <p14:creationId xmlns:p14="http://schemas.microsoft.com/office/powerpoint/2010/main" val="33149730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barn(inVertical)">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grpId="0" nodeType="clickEffect">
                                  <p:stCondLst>
                                    <p:cond delay="0"/>
                                  </p:stCondLst>
                                  <p:childTnLst>
                                    <p:set>
                                      <p:cBhvr>
                                        <p:cTn id="11" dur="1" fill="hold">
                                          <p:stCondLst>
                                            <p:cond delay="0"/>
                                          </p:stCondLst>
                                        </p:cTn>
                                        <p:tgtEl>
                                          <p:spTgt spid="3">
                                            <p:txEl>
                                              <p:pRg st="0" end="0"/>
                                            </p:txEl>
                                          </p:spTgt>
                                        </p:tgtEl>
                                        <p:attrNameLst>
                                          <p:attrName>style.visibility</p:attrName>
                                        </p:attrNameLst>
                                      </p:cBhvr>
                                      <p:to>
                                        <p:strVal val="visible"/>
                                      </p:to>
                                    </p:set>
                                    <p:animEffect transition="in" filter="wipe(down)">
                                      <p:cBhvr>
                                        <p:cTn id="12" dur="500"/>
                                        <p:tgtEl>
                                          <p:spTgt spid="3">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 presetClass="entr" presetSubtype="8"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 calcmode="lin" valueType="num">
                                      <p:cBhvr additive="base">
                                        <p:cTn id="17" dur="500" fill="hold"/>
                                        <p:tgtEl>
                                          <p:spTgt spid="4"/>
                                        </p:tgtEl>
                                        <p:attrNameLst>
                                          <p:attrName>ppt_x</p:attrName>
                                        </p:attrNameLst>
                                      </p:cBhvr>
                                      <p:tavLst>
                                        <p:tav tm="0">
                                          <p:val>
                                            <p:strVal val="0-#ppt_w/2"/>
                                          </p:val>
                                        </p:tav>
                                        <p:tav tm="100000">
                                          <p:val>
                                            <p:strVal val="#ppt_x"/>
                                          </p:val>
                                        </p:tav>
                                      </p:tavLst>
                                    </p:anim>
                                    <p:anim calcmode="lin" valueType="num">
                                      <p:cBhvr additive="base">
                                        <p:cTn id="18" dur="500" fill="hold"/>
                                        <p:tgtEl>
                                          <p:spTgt spid="4"/>
                                        </p:tgtEl>
                                        <p:attrNameLst>
                                          <p:attrName>ppt_y</p:attrName>
                                        </p:attrNameLst>
                                      </p:cBhvr>
                                      <p:tavLst>
                                        <p:tav tm="0">
                                          <p:val>
                                            <p:strVal val="#ppt_y"/>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2" presetClass="entr" presetSubtype="8" fill="hold" nodeType="clickEffect">
                                  <p:stCondLst>
                                    <p:cond delay="0"/>
                                  </p:stCondLst>
                                  <p:childTnLst>
                                    <p:set>
                                      <p:cBhvr>
                                        <p:cTn id="22" dur="1" fill="hold">
                                          <p:stCondLst>
                                            <p:cond delay="0"/>
                                          </p:stCondLst>
                                        </p:cTn>
                                        <p:tgtEl>
                                          <p:spTgt spid="4">
                                            <p:txEl>
                                              <p:pRg st="0" end="0"/>
                                            </p:txEl>
                                          </p:spTgt>
                                        </p:tgtEl>
                                        <p:attrNameLst>
                                          <p:attrName>style.visibility</p:attrName>
                                        </p:attrNameLst>
                                      </p:cBhvr>
                                      <p:to>
                                        <p:strVal val="visible"/>
                                      </p:to>
                                    </p:set>
                                    <p:anim calcmode="lin" valueType="num">
                                      <p:cBhvr additive="base">
                                        <p:cTn id="23" dur="500" fill="hold"/>
                                        <p:tgtEl>
                                          <p:spTgt spid="4">
                                            <p:txEl>
                                              <p:pRg st="0" end="0"/>
                                            </p:txEl>
                                          </p:spTgt>
                                        </p:tgtEl>
                                        <p:attrNameLst>
                                          <p:attrName>ppt_x</p:attrName>
                                        </p:attrNameLst>
                                      </p:cBhvr>
                                      <p:tavLst>
                                        <p:tav tm="0">
                                          <p:val>
                                            <p:strVal val="0-#ppt_w/2"/>
                                          </p:val>
                                        </p:tav>
                                        <p:tav tm="100000">
                                          <p:val>
                                            <p:strVal val="#ppt_x"/>
                                          </p:val>
                                        </p:tav>
                                      </p:tavLst>
                                    </p:anim>
                                    <p:anim calcmode="lin" valueType="num">
                                      <p:cBhvr additive="base">
                                        <p:cTn id="24" dur="500" fill="hold"/>
                                        <p:tgtEl>
                                          <p:spTgt spid="4">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2" presetClass="entr" presetSubtype="8" fill="hold" nodeType="clickEffect">
                                  <p:stCondLst>
                                    <p:cond delay="0"/>
                                  </p:stCondLst>
                                  <p:childTnLst>
                                    <p:set>
                                      <p:cBhvr>
                                        <p:cTn id="28" dur="1" fill="hold">
                                          <p:stCondLst>
                                            <p:cond delay="0"/>
                                          </p:stCondLst>
                                        </p:cTn>
                                        <p:tgtEl>
                                          <p:spTgt spid="4">
                                            <p:txEl>
                                              <p:pRg st="2" end="2"/>
                                            </p:txEl>
                                          </p:spTgt>
                                        </p:tgtEl>
                                        <p:attrNameLst>
                                          <p:attrName>style.visibility</p:attrName>
                                        </p:attrNameLst>
                                      </p:cBhvr>
                                      <p:to>
                                        <p:strVal val="visible"/>
                                      </p:to>
                                    </p:set>
                                    <p:anim calcmode="lin" valueType="num">
                                      <p:cBhvr additive="base">
                                        <p:cTn id="29" dur="500" fill="hold"/>
                                        <p:tgtEl>
                                          <p:spTgt spid="4">
                                            <p:txEl>
                                              <p:pRg st="2" end="2"/>
                                            </p:txEl>
                                          </p:spTgt>
                                        </p:tgtEl>
                                        <p:attrNameLst>
                                          <p:attrName>ppt_x</p:attrName>
                                        </p:attrNameLst>
                                      </p:cBhvr>
                                      <p:tavLst>
                                        <p:tav tm="0">
                                          <p:val>
                                            <p:strVal val="0-#ppt_w/2"/>
                                          </p:val>
                                        </p:tav>
                                        <p:tav tm="100000">
                                          <p:val>
                                            <p:strVal val="#ppt_x"/>
                                          </p:val>
                                        </p:tav>
                                      </p:tavLst>
                                    </p:anim>
                                    <p:anim calcmode="lin" valueType="num">
                                      <p:cBhvr additive="base">
                                        <p:cTn id="30" dur="500" fill="hold"/>
                                        <p:tgtEl>
                                          <p:spTgt spid="4">
                                            <p:txEl>
                                              <p:pRg st="2" end="2"/>
                                            </p:txEl>
                                          </p:spTgt>
                                        </p:tgtEl>
                                        <p:attrNameLst>
                                          <p:attrName>ppt_y</p:attrName>
                                        </p:attrNameLst>
                                      </p:cBhvr>
                                      <p:tavLst>
                                        <p:tav tm="0">
                                          <p:val>
                                            <p:strVal val="#ppt_y"/>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2" presetClass="entr" presetSubtype="8" fill="hold" nodeType="clickEffect">
                                  <p:stCondLst>
                                    <p:cond delay="0"/>
                                  </p:stCondLst>
                                  <p:childTnLst>
                                    <p:set>
                                      <p:cBhvr>
                                        <p:cTn id="34" dur="1" fill="hold">
                                          <p:stCondLst>
                                            <p:cond delay="0"/>
                                          </p:stCondLst>
                                        </p:cTn>
                                        <p:tgtEl>
                                          <p:spTgt spid="4">
                                            <p:txEl>
                                              <p:pRg st="4" end="4"/>
                                            </p:txEl>
                                          </p:spTgt>
                                        </p:tgtEl>
                                        <p:attrNameLst>
                                          <p:attrName>style.visibility</p:attrName>
                                        </p:attrNameLst>
                                      </p:cBhvr>
                                      <p:to>
                                        <p:strVal val="visible"/>
                                      </p:to>
                                    </p:set>
                                    <p:anim calcmode="lin" valueType="num">
                                      <p:cBhvr additive="base">
                                        <p:cTn id="35" dur="500" fill="hold"/>
                                        <p:tgtEl>
                                          <p:spTgt spid="4">
                                            <p:txEl>
                                              <p:pRg st="4" end="4"/>
                                            </p:txEl>
                                          </p:spTgt>
                                        </p:tgtEl>
                                        <p:attrNameLst>
                                          <p:attrName>ppt_x</p:attrName>
                                        </p:attrNameLst>
                                      </p:cBhvr>
                                      <p:tavLst>
                                        <p:tav tm="0">
                                          <p:val>
                                            <p:strVal val="0-#ppt_w/2"/>
                                          </p:val>
                                        </p:tav>
                                        <p:tav tm="100000">
                                          <p:val>
                                            <p:strVal val="#ppt_x"/>
                                          </p:val>
                                        </p:tav>
                                      </p:tavLst>
                                    </p:anim>
                                    <p:anim calcmode="lin" valueType="num">
                                      <p:cBhvr additive="base">
                                        <p:cTn id="36" dur="500" fill="hold"/>
                                        <p:tgtEl>
                                          <p:spTgt spid="4">
                                            <p:txEl>
                                              <p:pRg st="4" end="4"/>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P spid="4" grpId="0"/>
    </p:bldLst>
  </p:timing>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2">
            <a:lumMod val="1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1DA62F-01D7-4A58-9937-50A1D7546380}"/>
              </a:ext>
            </a:extLst>
          </p:cNvPr>
          <p:cNvSpPr>
            <a:spLocks noGrp="1"/>
          </p:cNvSpPr>
          <p:nvPr>
            <p:ph type="title"/>
          </p:nvPr>
        </p:nvSpPr>
        <p:spPr>
          <a:xfrm rot="16200000">
            <a:off x="-2766219" y="2766217"/>
            <a:ext cx="6858001" cy="1325563"/>
          </a:xfrm>
          <a:solidFill>
            <a:schemeClr val="bg1">
              <a:lumMod val="85000"/>
            </a:schemeClr>
          </a:solidFill>
        </p:spPr>
        <p:txBody>
          <a:bodyPr/>
          <a:lstStyle/>
          <a:p>
            <a:pPr algn="ctr"/>
            <a:r>
              <a:rPr lang="en-GB" dirty="0"/>
              <a:t>Preventing Computer Misuse</a:t>
            </a:r>
            <a:endParaRPr lang="en-US" dirty="0"/>
          </a:p>
        </p:txBody>
      </p:sp>
      <p:sp>
        <p:nvSpPr>
          <p:cNvPr id="3" name="Content Placeholder 2">
            <a:extLst>
              <a:ext uri="{FF2B5EF4-FFF2-40B4-BE49-F238E27FC236}">
                <a16:creationId xmlns:a16="http://schemas.microsoft.com/office/drawing/2014/main" id="{77E1BD0E-FE30-459F-97A7-9231F7E25345}"/>
              </a:ext>
            </a:extLst>
          </p:cNvPr>
          <p:cNvSpPr>
            <a:spLocks noGrp="1"/>
          </p:cNvSpPr>
          <p:nvPr>
            <p:ph idx="1"/>
          </p:nvPr>
        </p:nvSpPr>
        <p:spPr>
          <a:xfrm>
            <a:off x="1559858" y="290456"/>
            <a:ext cx="10391888" cy="6282466"/>
          </a:xfrm>
        </p:spPr>
        <p:txBody>
          <a:bodyPr anchor="ctr">
            <a:normAutofit/>
          </a:bodyPr>
          <a:lstStyle/>
          <a:p>
            <a:pPr marL="0" indent="0">
              <a:buNone/>
            </a:pPr>
            <a:r>
              <a:rPr lang="en-GB" sz="4000" dirty="0">
                <a:solidFill>
                  <a:srgbClr val="00B050"/>
                </a:solidFill>
              </a:rPr>
              <a:t>We can protect ourselves against hackers by:</a:t>
            </a:r>
          </a:p>
          <a:p>
            <a:endParaRPr lang="en-GB" sz="4000" dirty="0">
              <a:solidFill>
                <a:srgbClr val="00B050"/>
              </a:solidFill>
            </a:endParaRPr>
          </a:p>
          <a:p>
            <a:r>
              <a:rPr lang="en-GB" sz="4000" dirty="0">
                <a:solidFill>
                  <a:srgbClr val="00B050"/>
                </a:solidFill>
              </a:rPr>
              <a:t>Complete Regular backups</a:t>
            </a:r>
          </a:p>
          <a:p>
            <a:r>
              <a:rPr lang="en-GB" sz="4000" dirty="0">
                <a:solidFill>
                  <a:srgbClr val="00B050"/>
                </a:solidFill>
              </a:rPr>
              <a:t>Use Antivirus software</a:t>
            </a:r>
          </a:p>
          <a:p>
            <a:r>
              <a:rPr lang="en-GB" sz="4000" dirty="0">
                <a:solidFill>
                  <a:srgbClr val="00B050"/>
                </a:solidFill>
              </a:rPr>
              <a:t>Use Strong passwords</a:t>
            </a:r>
          </a:p>
          <a:p>
            <a:r>
              <a:rPr lang="en-GB" sz="4000" dirty="0">
                <a:solidFill>
                  <a:srgbClr val="00B050"/>
                </a:solidFill>
              </a:rPr>
              <a:t>Be vigilant with suspicious/spam emails</a:t>
            </a:r>
            <a:endParaRPr lang="en-US" sz="4000" dirty="0">
              <a:solidFill>
                <a:srgbClr val="00B050"/>
              </a:solidFill>
            </a:endParaRPr>
          </a:p>
        </p:txBody>
      </p:sp>
    </p:spTree>
    <p:extLst>
      <p:ext uri="{BB962C8B-B14F-4D97-AF65-F5344CB8AC3E}">
        <p14:creationId xmlns:p14="http://schemas.microsoft.com/office/powerpoint/2010/main" val="29742223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grpId="0" nodeType="afterEffect">
                                  <p:stCondLst>
                                    <p:cond delay="50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par>
                          <p:cTn id="9" fill="hold">
                            <p:stCondLst>
                              <p:cond delay="1000"/>
                            </p:stCondLst>
                            <p:childTnLst>
                              <p:par>
                                <p:cTn id="10" presetID="10" presetClass="entr" presetSubtype="0" fill="hold" grpId="0" nodeType="afterEffect">
                                  <p:stCondLst>
                                    <p:cond delay="0"/>
                                  </p:stCondLst>
                                  <p:childTnLst>
                                    <p:set>
                                      <p:cBhvr>
                                        <p:cTn id="11" dur="1" fill="hold">
                                          <p:stCondLst>
                                            <p:cond delay="0"/>
                                          </p:stCondLst>
                                        </p:cTn>
                                        <p:tgtEl>
                                          <p:spTgt spid="3">
                                            <p:txEl>
                                              <p:pRg st="0" end="0"/>
                                            </p:txEl>
                                          </p:spTgt>
                                        </p:tgtEl>
                                        <p:attrNameLst>
                                          <p:attrName>style.visibility</p:attrName>
                                        </p:attrNameLst>
                                      </p:cBhvr>
                                      <p:to>
                                        <p:strVal val="visible"/>
                                      </p:to>
                                    </p:set>
                                    <p:animEffect transition="in" filter="fade">
                                      <p:cBhvr>
                                        <p:cTn id="12" dur="500"/>
                                        <p:tgtEl>
                                          <p:spTgt spid="3">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fade">
                                      <p:cBhvr>
                                        <p:cTn id="32" dur="5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uiExpand="1" build="p"/>
    </p:bldLst>
  </p:timing>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2">
            <a:lumMod val="1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1DA62F-01D7-4A58-9937-50A1D7546380}"/>
              </a:ext>
            </a:extLst>
          </p:cNvPr>
          <p:cNvSpPr>
            <a:spLocks noGrp="1"/>
          </p:cNvSpPr>
          <p:nvPr>
            <p:ph type="title"/>
          </p:nvPr>
        </p:nvSpPr>
        <p:spPr>
          <a:xfrm rot="16200000">
            <a:off x="-2766219" y="2766217"/>
            <a:ext cx="6858001" cy="1325563"/>
          </a:xfrm>
          <a:solidFill>
            <a:schemeClr val="bg1">
              <a:lumMod val="85000"/>
            </a:schemeClr>
          </a:solidFill>
        </p:spPr>
        <p:txBody>
          <a:bodyPr/>
          <a:lstStyle/>
          <a:p>
            <a:pPr algn="ctr"/>
            <a:r>
              <a:rPr lang="en-GB" dirty="0"/>
              <a:t>Issues with Prosecuting</a:t>
            </a:r>
            <a:endParaRPr lang="en-US" dirty="0"/>
          </a:p>
        </p:txBody>
      </p:sp>
      <p:sp>
        <p:nvSpPr>
          <p:cNvPr id="3" name="Content Placeholder 2">
            <a:extLst>
              <a:ext uri="{FF2B5EF4-FFF2-40B4-BE49-F238E27FC236}">
                <a16:creationId xmlns:a16="http://schemas.microsoft.com/office/drawing/2014/main" id="{77E1BD0E-FE30-459F-97A7-9231F7E25345}"/>
              </a:ext>
            </a:extLst>
          </p:cNvPr>
          <p:cNvSpPr>
            <a:spLocks noGrp="1"/>
          </p:cNvSpPr>
          <p:nvPr>
            <p:ph idx="1"/>
          </p:nvPr>
        </p:nvSpPr>
        <p:spPr>
          <a:xfrm>
            <a:off x="1559858" y="290456"/>
            <a:ext cx="10391888" cy="6282466"/>
          </a:xfrm>
        </p:spPr>
        <p:txBody>
          <a:bodyPr anchor="ctr">
            <a:normAutofit/>
          </a:bodyPr>
          <a:lstStyle/>
          <a:p>
            <a:pPr marL="0" indent="0">
              <a:buNone/>
            </a:pPr>
            <a:r>
              <a:rPr lang="en-GB" sz="4000" dirty="0">
                <a:solidFill>
                  <a:srgbClr val="00B050"/>
                </a:solidFill>
              </a:rPr>
              <a:t>Very few cases are filed under the computer misuse act due to:</a:t>
            </a:r>
          </a:p>
          <a:p>
            <a:pPr marL="0" indent="0">
              <a:buNone/>
            </a:pPr>
            <a:endParaRPr lang="en-GB" sz="4000" dirty="0">
              <a:solidFill>
                <a:srgbClr val="00B050"/>
              </a:solidFill>
            </a:endParaRPr>
          </a:p>
          <a:p>
            <a:r>
              <a:rPr lang="en-GB" sz="4000" dirty="0">
                <a:solidFill>
                  <a:srgbClr val="00B050"/>
                </a:solidFill>
              </a:rPr>
              <a:t>Hard to trace perpetrator</a:t>
            </a:r>
          </a:p>
          <a:p>
            <a:r>
              <a:rPr lang="en-GB" sz="4000" dirty="0">
                <a:solidFill>
                  <a:srgbClr val="00B050"/>
                </a:solidFill>
              </a:rPr>
              <a:t>Hard to collect evidence</a:t>
            </a:r>
          </a:p>
          <a:p>
            <a:r>
              <a:rPr lang="en-GB" sz="4000" dirty="0">
                <a:solidFill>
                  <a:srgbClr val="00B050"/>
                </a:solidFill>
              </a:rPr>
              <a:t>Seen as ‘soft crime’</a:t>
            </a:r>
          </a:p>
          <a:p>
            <a:r>
              <a:rPr lang="en-GB" sz="4000" dirty="0">
                <a:solidFill>
                  <a:srgbClr val="00B050"/>
                </a:solidFill>
              </a:rPr>
              <a:t>Difficult to prove intent</a:t>
            </a:r>
            <a:endParaRPr lang="en-US" sz="4000" dirty="0">
              <a:solidFill>
                <a:srgbClr val="00B050"/>
              </a:solidFill>
            </a:endParaRPr>
          </a:p>
        </p:txBody>
      </p:sp>
    </p:spTree>
    <p:extLst>
      <p:ext uri="{BB962C8B-B14F-4D97-AF65-F5344CB8AC3E}">
        <p14:creationId xmlns:p14="http://schemas.microsoft.com/office/powerpoint/2010/main" val="3257364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fill="hold" grpId="0" nodeType="afterEffect">
                                  <p:stCondLst>
                                    <p:cond delay="50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0-#ppt_h/2"/>
                                          </p:val>
                                        </p:tav>
                                        <p:tav tm="100000">
                                          <p:val>
                                            <p:strVal val="#ppt_y"/>
                                          </p:val>
                                        </p:tav>
                                      </p:tavLst>
                                    </p:anim>
                                  </p:childTnLst>
                                </p:cTn>
                              </p:par>
                            </p:childTnLst>
                          </p:cTn>
                        </p:par>
                        <p:par>
                          <p:cTn id="9" fill="hold">
                            <p:stCondLst>
                              <p:cond delay="1000"/>
                            </p:stCondLst>
                            <p:childTnLst>
                              <p:par>
                                <p:cTn id="10" presetID="2" presetClass="entr" presetSubtype="4" fill="hold" nodeType="afterEffect">
                                  <p:stCondLst>
                                    <p:cond delay="0"/>
                                  </p:stCondLst>
                                  <p:childTnLst>
                                    <p:set>
                                      <p:cBhvr>
                                        <p:cTn id="11" dur="1" fill="hold">
                                          <p:stCondLst>
                                            <p:cond delay="0"/>
                                          </p:stCondLst>
                                        </p:cTn>
                                        <p:tgtEl>
                                          <p:spTgt spid="3">
                                            <p:txEl>
                                              <p:pRg st="0" end="0"/>
                                            </p:txEl>
                                          </p:spTgt>
                                        </p:tgtEl>
                                        <p:attrNameLst>
                                          <p:attrName>style.visibility</p:attrName>
                                        </p:attrNameLst>
                                      </p:cBhvr>
                                      <p:to>
                                        <p:strVal val="visible"/>
                                      </p:to>
                                    </p:set>
                                    <p:anim calcmode="lin" valueType="num">
                                      <p:cBhvr additive="base">
                                        <p:cTn id="12"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13"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14" fill="hold">
                      <p:stCondLst>
                        <p:cond delay="indefinite"/>
                      </p:stCondLst>
                      <p:childTnLst>
                        <p:par>
                          <p:cTn id="15" fill="hold">
                            <p:stCondLst>
                              <p:cond delay="0"/>
                            </p:stCondLst>
                            <p:childTnLst>
                              <p:par>
                                <p:cTn id="16" presetID="2" presetClass="entr" presetSubtype="4" fill="hold" nodeType="clickEffect">
                                  <p:stCondLst>
                                    <p:cond delay="0"/>
                                  </p:stCondLst>
                                  <p:childTnLst>
                                    <p:set>
                                      <p:cBhvr>
                                        <p:cTn id="17" dur="1" fill="hold">
                                          <p:stCondLst>
                                            <p:cond delay="0"/>
                                          </p:stCondLst>
                                        </p:cTn>
                                        <p:tgtEl>
                                          <p:spTgt spid="3">
                                            <p:txEl>
                                              <p:pRg st="2" end="2"/>
                                            </p:txEl>
                                          </p:spTgt>
                                        </p:tgtEl>
                                        <p:attrNameLst>
                                          <p:attrName>style.visibility</p:attrName>
                                        </p:attrNameLst>
                                      </p:cBhvr>
                                      <p:to>
                                        <p:strVal val="visible"/>
                                      </p:to>
                                    </p:set>
                                    <p:anim calcmode="lin" valueType="num">
                                      <p:cBhvr additive="base">
                                        <p:cTn id="18"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19"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22" presetID="2" presetClass="entr" presetSubtype="4" fill="hold" nodeType="clickEffect">
                                  <p:stCondLst>
                                    <p:cond delay="0"/>
                                  </p:stCondLst>
                                  <p:childTnLst>
                                    <p:set>
                                      <p:cBhvr>
                                        <p:cTn id="23" dur="1" fill="hold">
                                          <p:stCondLst>
                                            <p:cond delay="0"/>
                                          </p:stCondLst>
                                        </p:cTn>
                                        <p:tgtEl>
                                          <p:spTgt spid="3">
                                            <p:txEl>
                                              <p:pRg st="3" end="3"/>
                                            </p:txEl>
                                          </p:spTgt>
                                        </p:tgtEl>
                                        <p:attrNameLst>
                                          <p:attrName>style.visibility</p:attrName>
                                        </p:attrNameLst>
                                      </p:cBhvr>
                                      <p:to>
                                        <p:strVal val="visible"/>
                                      </p:to>
                                    </p:set>
                                    <p:anim calcmode="lin" valueType="num">
                                      <p:cBhvr additive="base">
                                        <p:cTn id="24"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5"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6" fill="hold">
                      <p:stCondLst>
                        <p:cond delay="indefinite"/>
                      </p:stCondLst>
                      <p:childTnLst>
                        <p:par>
                          <p:cTn id="27" fill="hold">
                            <p:stCondLst>
                              <p:cond delay="0"/>
                            </p:stCondLst>
                            <p:childTnLst>
                              <p:par>
                                <p:cTn id="28" presetID="2" presetClass="entr" presetSubtype="4" fill="hold" nodeType="clickEffect">
                                  <p:stCondLst>
                                    <p:cond delay="0"/>
                                  </p:stCondLst>
                                  <p:childTnLst>
                                    <p:set>
                                      <p:cBhvr>
                                        <p:cTn id="29" dur="1" fill="hold">
                                          <p:stCondLst>
                                            <p:cond delay="0"/>
                                          </p:stCondLst>
                                        </p:cTn>
                                        <p:tgtEl>
                                          <p:spTgt spid="3">
                                            <p:txEl>
                                              <p:pRg st="4" end="4"/>
                                            </p:txEl>
                                          </p:spTgt>
                                        </p:tgtEl>
                                        <p:attrNameLst>
                                          <p:attrName>style.visibility</p:attrName>
                                        </p:attrNameLst>
                                      </p:cBhvr>
                                      <p:to>
                                        <p:strVal val="visible"/>
                                      </p:to>
                                    </p:set>
                                    <p:anim calcmode="lin" valueType="num">
                                      <p:cBhvr additive="base">
                                        <p:cTn id="30"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31"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2" fill="hold">
                      <p:stCondLst>
                        <p:cond delay="indefinite"/>
                      </p:stCondLst>
                      <p:childTnLst>
                        <p:par>
                          <p:cTn id="33" fill="hold">
                            <p:stCondLst>
                              <p:cond delay="0"/>
                            </p:stCondLst>
                            <p:childTnLst>
                              <p:par>
                                <p:cTn id="34" presetID="2" presetClass="entr" presetSubtype="4" fill="hold" nodeType="clickEffect">
                                  <p:stCondLst>
                                    <p:cond delay="0"/>
                                  </p:stCondLst>
                                  <p:childTnLst>
                                    <p:set>
                                      <p:cBhvr>
                                        <p:cTn id="35" dur="1" fill="hold">
                                          <p:stCondLst>
                                            <p:cond delay="0"/>
                                          </p:stCondLst>
                                        </p:cTn>
                                        <p:tgtEl>
                                          <p:spTgt spid="3">
                                            <p:txEl>
                                              <p:pRg st="5" end="5"/>
                                            </p:txEl>
                                          </p:spTgt>
                                        </p:tgtEl>
                                        <p:attrNameLst>
                                          <p:attrName>style.visibility</p:attrName>
                                        </p:attrNameLst>
                                      </p:cBhvr>
                                      <p:to>
                                        <p:strVal val="visible"/>
                                      </p:to>
                                    </p:set>
                                    <p:anim calcmode="lin" valueType="num">
                                      <p:cBhvr additive="base">
                                        <p:cTn id="36"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7"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2">
            <a:lumMod val="1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1BDB89-CB4B-4F2E-B44E-8556F1712CEB}"/>
              </a:ext>
            </a:extLst>
          </p:cNvPr>
          <p:cNvSpPr>
            <a:spLocks noGrp="1"/>
          </p:cNvSpPr>
          <p:nvPr>
            <p:ph type="title"/>
          </p:nvPr>
        </p:nvSpPr>
        <p:spPr/>
        <p:txBody>
          <a:bodyPr/>
          <a:lstStyle/>
          <a:p>
            <a:r>
              <a:rPr lang="en-GB" dirty="0">
                <a:solidFill>
                  <a:srgbClr val="00B0F0"/>
                </a:solidFill>
              </a:rPr>
              <a:t>Reminder: Key Terms</a:t>
            </a:r>
            <a:endParaRPr lang="en-US" dirty="0">
              <a:solidFill>
                <a:srgbClr val="00B0F0"/>
              </a:solidFill>
            </a:endParaRPr>
          </a:p>
        </p:txBody>
      </p:sp>
      <p:sp>
        <p:nvSpPr>
          <p:cNvPr id="3" name="Content Placeholder 2">
            <a:extLst>
              <a:ext uri="{FF2B5EF4-FFF2-40B4-BE49-F238E27FC236}">
                <a16:creationId xmlns:a16="http://schemas.microsoft.com/office/drawing/2014/main" id="{DE7B5ACE-84F6-4990-AC80-C6FDB6FC10B2}"/>
              </a:ext>
            </a:extLst>
          </p:cNvPr>
          <p:cNvSpPr>
            <a:spLocks noGrp="1"/>
          </p:cNvSpPr>
          <p:nvPr>
            <p:ph idx="1"/>
          </p:nvPr>
        </p:nvSpPr>
        <p:spPr>
          <a:xfrm>
            <a:off x="838200" y="1825625"/>
            <a:ext cx="10515600" cy="4820056"/>
          </a:xfrm>
        </p:spPr>
        <p:txBody>
          <a:bodyPr>
            <a:normAutofit fontScale="92500" lnSpcReduction="10000"/>
          </a:bodyPr>
          <a:lstStyle/>
          <a:p>
            <a:r>
              <a:rPr lang="en-GB" dirty="0">
                <a:solidFill>
                  <a:schemeClr val="bg1"/>
                </a:solidFill>
              </a:rPr>
              <a:t>Hacker</a:t>
            </a:r>
          </a:p>
          <a:p>
            <a:pPr lvl="1"/>
            <a:r>
              <a:rPr lang="en-GB" dirty="0">
                <a:solidFill>
                  <a:schemeClr val="bg1"/>
                </a:solidFill>
              </a:rPr>
              <a:t>A person/group involved in cyber crime. i.e. who access a computer system without permission in order to do damage </a:t>
            </a:r>
          </a:p>
          <a:p>
            <a:pPr lvl="1"/>
            <a:endParaRPr lang="en-GB" dirty="0">
              <a:solidFill>
                <a:schemeClr val="bg1"/>
              </a:solidFill>
            </a:endParaRPr>
          </a:p>
          <a:p>
            <a:r>
              <a:rPr lang="en-GB" dirty="0">
                <a:solidFill>
                  <a:schemeClr val="bg1"/>
                </a:solidFill>
              </a:rPr>
              <a:t>Virus</a:t>
            </a:r>
          </a:p>
          <a:p>
            <a:pPr lvl="1"/>
            <a:r>
              <a:rPr lang="en-GB" dirty="0">
                <a:solidFill>
                  <a:schemeClr val="bg1"/>
                </a:solidFill>
              </a:rPr>
              <a:t>A piece of software designed to disrupt the normal operation of a computer</a:t>
            </a:r>
          </a:p>
          <a:p>
            <a:pPr lvl="1"/>
            <a:endParaRPr lang="en-GB" dirty="0">
              <a:solidFill>
                <a:schemeClr val="bg1"/>
              </a:solidFill>
            </a:endParaRPr>
          </a:p>
          <a:p>
            <a:r>
              <a:rPr lang="en-GB" dirty="0">
                <a:solidFill>
                  <a:schemeClr val="bg1"/>
                </a:solidFill>
              </a:rPr>
              <a:t>Spyware</a:t>
            </a:r>
          </a:p>
          <a:p>
            <a:pPr lvl="1"/>
            <a:r>
              <a:rPr lang="en-GB" dirty="0">
                <a:solidFill>
                  <a:schemeClr val="bg1"/>
                </a:solidFill>
              </a:rPr>
              <a:t>Software that can steal data/information from a computer system</a:t>
            </a:r>
          </a:p>
          <a:p>
            <a:endParaRPr lang="en-GB" dirty="0">
              <a:solidFill>
                <a:schemeClr val="bg1"/>
              </a:solidFill>
            </a:endParaRPr>
          </a:p>
          <a:p>
            <a:r>
              <a:rPr lang="en-GB" dirty="0">
                <a:solidFill>
                  <a:schemeClr val="bg1"/>
                </a:solidFill>
              </a:rPr>
              <a:t>Piracy</a:t>
            </a:r>
          </a:p>
          <a:p>
            <a:pPr lvl="1"/>
            <a:r>
              <a:rPr lang="en-GB" dirty="0">
                <a:solidFill>
                  <a:schemeClr val="bg1"/>
                </a:solidFill>
              </a:rPr>
              <a:t>Illegally downloading information/data which you do not have permission to have</a:t>
            </a:r>
            <a:endParaRPr lang="en-US" dirty="0">
              <a:solidFill>
                <a:schemeClr val="bg1"/>
              </a:solidFill>
            </a:endParaRPr>
          </a:p>
        </p:txBody>
      </p:sp>
      <p:grpSp>
        <p:nvGrpSpPr>
          <p:cNvPr id="4" name="Group 3">
            <a:extLst>
              <a:ext uri="{FF2B5EF4-FFF2-40B4-BE49-F238E27FC236}">
                <a16:creationId xmlns:a16="http://schemas.microsoft.com/office/drawing/2014/main" id="{BDD709C4-0724-445F-88D0-554A17826830}"/>
              </a:ext>
            </a:extLst>
          </p:cNvPr>
          <p:cNvGrpSpPr/>
          <p:nvPr/>
        </p:nvGrpSpPr>
        <p:grpSpPr>
          <a:xfrm>
            <a:off x="8441714" y="212320"/>
            <a:ext cx="4405746" cy="1264209"/>
            <a:chOff x="7786254" y="365125"/>
            <a:chExt cx="4405746" cy="1264209"/>
          </a:xfrm>
        </p:grpSpPr>
        <p:pic>
          <p:nvPicPr>
            <p:cNvPr id="5" name="Content Placeholder 3">
              <a:extLst>
                <a:ext uri="{FF2B5EF4-FFF2-40B4-BE49-F238E27FC236}">
                  <a16:creationId xmlns:a16="http://schemas.microsoft.com/office/drawing/2014/main" id="{9E5CBAE2-51FA-43F5-AAC9-8381440A36B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786254" y="365125"/>
              <a:ext cx="3666836" cy="1264209"/>
            </a:xfrm>
            <a:prstGeom prst="rect">
              <a:avLst/>
            </a:prstGeom>
          </p:spPr>
        </p:pic>
        <p:sp>
          <p:nvSpPr>
            <p:cNvPr id="6" name="TextBox 5">
              <a:extLst>
                <a:ext uri="{FF2B5EF4-FFF2-40B4-BE49-F238E27FC236}">
                  <a16:creationId xmlns:a16="http://schemas.microsoft.com/office/drawing/2014/main" id="{1185A063-A3FC-468F-A40D-034AAB1ADF46}"/>
                </a:ext>
              </a:extLst>
            </p:cNvPr>
            <p:cNvSpPr txBox="1"/>
            <p:nvPr/>
          </p:nvSpPr>
          <p:spPr>
            <a:xfrm>
              <a:off x="7908758" y="614201"/>
              <a:ext cx="4283242" cy="707886"/>
            </a:xfrm>
            <a:prstGeom prst="rect">
              <a:avLst/>
            </a:prstGeom>
            <a:noFill/>
          </p:spPr>
          <p:txBody>
            <a:bodyPr wrap="square" rtlCol="0">
              <a:spAutoFit/>
            </a:bodyPr>
            <a:lstStyle/>
            <a:p>
              <a:pPr algn="ctr"/>
              <a:r>
                <a:rPr lang="en-GB" sz="2000" b="1" dirty="0">
                  <a:solidFill>
                    <a:schemeClr val="bg1"/>
                  </a:solidFill>
                  <a:latin typeface="Copperplate Gothic Light" panose="020E0507020206020404" pitchFamily="34" charset="0"/>
                </a:rPr>
                <a:t>Glossary </a:t>
              </a:r>
            </a:p>
            <a:p>
              <a:pPr algn="ctr"/>
              <a:r>
                <a:rPr lang="en-GB" sz="2000" b="1" dirty="0">
                  <a:solidFill>
                    <a:schemeClr val="bg1"/>
                  </a:solidFill>
                  <a:latin typeface="Copperplate Gothic Light" panose="020E0507020206020404" pitchFamily="34" charset="0"/>
                </a:rPr>
                <a:t>Items Added</a:t>
              </a:r>
              <a:endParaRPr lang="en-GB" sz="2000" dirty="0">
                <a:solidFill>
                  <a:schemeClr val="bg1"/>
                </a:solidFill>
                <a:latin typeface="Copperplate Gothic Light" panose="020E0507020206020404" pitchFamily="34" charset="0"/>
              </a:endParaRPr>
            </a:p>
          </p:txBody>
        </p:sp>
      </p:grpSp>
    </p:spTree>
    <p:extLst>
      <p:ext uri="{BB962C8B-B14F-4D97-AF65-F5344CB8AC3E}">
        <p14:creationId xmlns:p14="http://schemas.microsoft.com/office/powerpoint/2010/main" val="34488288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after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1+#ppt_w/2"/>
                                          </p:val>
                                        </p:tav>
                                        <p:tav tm="100000">
                                          <p:val>
                                            <p:strVal val="#ppt_x"/>
                                          </p:val>
                                        </p:tav>
                                      </p:tavLst>
                                    </p:anim>
                                    <p:anim calcmode="lin" valueType="num">
                                      <p:cBhvr additive="base">
                                        <p:cTn id="8" dur="500" fill="hold"/>
                                        <p:tgtEl>
                                          <p:spTgt spid="4"/>
                                        </p:tgtEl>
                                        <p:attrNameLst>
                                          <p:attrName>ppt_y</p:attrName>
                                        </p:attrNameLst>
                                      </p:cBhvr>
                                      <p:tavLst>
                                        <p:tav tm="0">
                                          <p:val>
                                            <p:strVal val="#ppt_y"/>
                                          </p:val>
                                        </p:tav>
                                        <p:tav tm="100000">
                                          <p:val>
                                            <p:strVal val="#ppt_y"/>
                                          </p:val>
                                        </p:tav>
                                      </p:tavLst>
                                    </p:anim>
                                  </p:childTnLst>
                                </p:cTn>
                              </p:par>
                              <p:par>
                                <p:cTn id="9" presetID="10" presetClass="entr" presetSubtype="0" fill="hold" nodeType="withEffect">
                                  <p:stCondLst>
                                    <p:cond delay="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500"/>
                                        <p:tgtEl>
                                          <p:spTgt spid="4"/>
                                        </p:tgtEl>
                                      </p:cBhvr>
                                    </p:animEffect>
                                  </p:childTnLst>
                                </p:cTn>
                              </p:par>
                            </p:childTnLst>
                          </p:cTn>
                        </p:par>
                        <p:par>
                          <p:cTn id="12" fill="hold">
                            <p:stCondLst>
                              <p:cond delay="500"/>
                            </p:stCondLst>
                            <p:childTnLst>
                              <p:par>
                                <p:cTn id="13" presetID="10" presetClass="exit" presetSubtype="0" fill="hold" nodeType="afterEffect">
                                  <p:stCondLst>
                                    <p:cond delay="4400"/>
                                  </p:stCondLst>
                                  <p:childTnLst>
                                    <p:animEffect transition="out" filter="fade">
                                      <p:cBhvr>
                                        <p:cTn id="14" dur="2000"/>
                                        <p:tgtEl>
                                          <p:spTgt spid="4"/>
                                        </p:tgtEl>
                                      </p:cBhvr>
                                    </p:animEffect>
                                    <p:set>
                                      <p:cBhvr>
                                        <p:cTn id="15" dur="1" fill="hold">
                                          <p:stCondLst>
                                            <p:cond delay="1999"/>
                                          </p:stCondLst>
                                        </p:cTn>
                                        <p:tgtEl>
                                          <p:spTgt spid="4"/>
                                        </p:tgtEl>
                                        <p:attrNameLst>
                                          <p:attrName>style.visibility</p:attrName>
                                        </p:attrNameLst>
                                      </p:cBhvr>
                                      <p:to>
                                        <p:strVal val="hidden"/>
                                      </p:to>
                                    </p:set>
                                  </p:childTnLst>
                                </p:cTn>
                              </p:par>
                              <p:par>
                                <p:cTn id="16" presetID="2" presetClass="exit" presetSubtype="2" fill="hold" nodeType="withEffect">
                                  <p:stCondLst>
                                    <p:cond delay="5000"/>
                                  </p:stCondLst>
                                  <p:childTnLst>
                                    <p:anim calcmode="lin" valueType="num">
                                      <p:cBhvr additive="base">
                                        <p:cTn id="17" dur="1000"/>
                                        <p:tgtEl>
                                          <p:spTgt spid="4"/>
                                        </p:tgtEl>
                                        <p:attrNameLst>
                                          <p:attrName>ppt_x</p:attrName>
                                        </p:attrNameLst>
                                      </p:cBhvr>
                                      <p:tavLst>
                                        <p:tav tm="0">
                                          <p:val>
                                            <p:strVal val="ppt_x"/>
                                          </p:val>
                                        </p:tav>
                                        <p:tav tm="100000">
                                          <p:val>
                                            <p:strVal val="1+ppt_w/2"/>
                                          </p:val>
                                        </p:tav>
                                      </p:tavLst>
                                    </p:anim>
                                    <p:anim calcmode="lin" valueType="num">
                                      <p:cBhvr additive="base">
                                        <p:cTn id="18" dur="1000"/>
                                        <p:tgtEl>
                                          <p:spTgt spid="4"/>
                                        </p:tgtEl>
                                        <p:attrNameLst>
                                          <p:attrName>ppt_y</p:attrName>
                                        </p:attrNameLst>
                                      </p:cBhvr>
                                      <p:tavLst>
                                        <p:tav tm="0">
                                          <p:val>
                                            <p:strVal val="ppt_y"/>
                                          </p:val>
                                        </p:tav>
                                        <p:tav tm="100000">
                                          <p:val>
                                            <p:strVal val="ppt_y"/>
                                          </p:val>
                                        </p:tav>
                                      </p:tavLst>
                                    </p:anim>
                                    <p:set>
                                      <p:cBhvr>
                                        <p:cTn id="19" dur="1" fill="hold">
                                          <p:stCondLst>
                                            <p:cond delay="999"/>
                                          </p:stCondLst>
                                        </p:cTn>
                                        <p:tgtEl>
                                          <p:spTgt spid="4"/>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bg>
      <p:bgPr>
        <a:gradFill flip="none" rotWithShape="1">
          <a:gsLst>
            <a:gs pos="98000">
              <a:srgbClr val="000A1E"/>
            </a:gs>
            <a:gs pos="0">
              <a:srgbClr val="002060"/>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2743200" y="1294846"/>
            <a:ext cx="7782446" cy="1500579"/>
          </a:xfrm>
        </p:spPr>
        <p:txBody>
          <a:bodyPr>
            <a:normAutofit fontScale="90000"/>
          </a:bodyPr>
          <a:lstStyle/>
          <a:p>
            <a:r>
              <a:rPr lang="en-US" dirty="0">
                <a:solidFill>
                  <a:schemeClr val="bg1">
                    <a:lumMod val="85000"/>
                  </a:schemeClr>
                </a:solidFill>
              </a:rPr>
              <a:t>Health and Safety when working with ICT</a:t>
            </a:r>
          </a:p>
        </p:txBody>
      </p:sp>
    </p:spTree>
    <p:extLst>
      <p:ext uri="{BB962C8B-B14F-4D97-AF65-F5344CB8AC3E}">
        <p14:creationId xmlns:p14="http://schemas.microsoft.com/office/powerpoint/2010/main" val="2606377290"/>
      </p:ext>
    </p:extLst>
  </p:cSld>
  <p:clrMapOvr>
    <a:masterClrMapping/>
  </p:clrMapOvr>
  <mc:AlternateContent xmlns:mc="http://schemas.openxmlformats.org/markup-compatibility/2006" xmlns:p14="http://schemas.microsoft.com/office/powerpoint/2010/main">
    <mc:Choice Requires="p14">
      <p:transition spd="slow" p14:dur="2000">
        <p14:prism isContent="1"/>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 presetClass="entr" presetSubtype="16"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circle(in)">
                                      <p:cBhvr>
                                        <p:cTn id="7" dur="2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39.xml><?xml version="1.0" encoding="utf-8"?>
<p:sld xmlns:a="http://schemas.openxmlformats.org/drawingml/2006/main" xmlns:r="http://schemas.openxmlformats.org/officeDocument/2006/relationships" xmlns:p="http://schemas.openxmlformats.org/presentationml/2006/main">
  <p:cSld>
    <p:bg>
      <p:bgPr>
        <a:gradFill flip="none" rotWithShape="1">
          <a:gsLst>
            <a:gs pos="98000">
              <a:srgbClr val="000A1E"/>
            </a:gs>
            <a:gs pos="0">
              <a:srgbClr val="002060"/>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13" name="Title 12"/>
          <p:cNvSpPr>
            <a:spLocks noGrp="1"/>
          </p:cNvSpPr>
          <p:nvPr>
            <p:ph type="title"/>
          </p:nvPr>
        </p:nvSpPr>
        <p:spPr>
          <a:xfrm>
            <a:off x="-4849216" y="5593478"/>
            <a:ext cx="7772400" cy="1223963"/>
          </a:xfrm>
        </p:spPr>
        <p:txBody>
          <a:bodyPr/>
          <a:lstStyle/>
          <a:p>
            <a:pPr algn="r"/>
            <a:r>
              <a:rPr lang="en-US" dirty="0" err="1">
                <a:solidFill>
                  <a:schemeClr val="bg1">
                    <a:lumMod val="85000"/>
                  </a:schemeClr>
                </a:solidFill>
              </a:rPr>
              <a:t>WALTer</a:t>
            </a:r>
            <a:endParaRPr lang="en-US" dirty="0">
              <a:solidFill>
                <a:schemeClr val="bg1">
                  <a:lumMod val="85000"/>
                </a:schemeClr>
              </a:solidFill>
            </a:endParaRPr>
          </a:p>
        </p:txBody>
      </p:sp>
      <p:sp>
        <p:nvSpPr>
          <p:cNvPr id="5" name="Rectangular Callout 4"/>
          <p:cNvSpPr/>
          <p:nvPr/>
        </p:nvSpPr>
        <p:spPr>
          <a:xfrm>
            <a:off x="2438402" y="274638"/>
            <a:ext cx="6753943" cy="3802435"/>
          </a:xfrm>
          <a:prstGeom prst="wedgeRectCallout">
            <a:avLst>
              <a:gd name="adj1" fmla="val 39579"/>
              <a:gd name="adj2" fmla="val 65533"/>
            </a:avLst>
          </a:prstGeom>
          <a:noFill/>
          <a:ln w="63500" cmpd="db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457200" indent="-457200">
              <a:buFont typeface="Arial" panose="020B0604020202020204" pitchFamily="34" charset="0"/>
              <a:buChar char="•"/>
            </a:pPr>
            <a:endParaRPr lang="en-GB" sz="2800" dirty="0"/>
          </a:p>
        </p:txBody>
      </p:sp>
      <p:pic>
        <p:nvPicPr>
          <p:cNvPr id="2" name="Content Placeholder 1"/>
          <p:cNvPicPr>
            <a:picLocks noGrp="1" noChangeAspect="1"/>
          </p:cNvPicPr>
          <p:nvPr>
            <p:ph idx="1"/>
          </p:nvPr>
        </p:nvPicPr>
        <p:blipFill>
          <a:blip r:embed="rId2" cstate="print">
            <a:extLst>
              <a:ext uri="{28A0092B-C50C-407E-A947-70E740481C1C}">
                <a14:useLocalDpi xmlns:a14="http://schemas.microsoft.com/office/drawing/2010/main" val="0"/>
              </a:ext>
            </a:extLst>
          </a:blip>
          <a:stretch>
            <a:fillRect/>
          </a:stretch>
        </p:blipFill>
        <p:spPr>
          <a:xfrm>
            <a:off x="8112225" y="3510282"/>
            <a:ext cx="2495905" cy="3347719"/>
          </a:xfrm>
        </p:spPr>
      </p:pic>
      <p:sp>
        <p:nvSpPr>
          <p:cNvPr id="3" name="TextBox 2"/>
          <p:cNvSpPr txBox="1"/>
          <p:nvPr/>
        </p:nvSpPr>
        <p:spPr>
          <a:xfrm>
            <a:off x="2510408" y="406139"/>
            <a:ext cx="6897960" cy="3539430"/>
          </a:xfrm>
          <a:prstGeom prst="rect">
            <a:avLst/>
          </a:prstGeom>
          <a:noFill/>
        </p:spPr>
        <p:txBody>
          <a:bodyPr wrap="square" rtlCol="0">
            <a:spAutoFit/>
          </a:bodyPr>
          <a:lstStyle/>
          <a:p>
            <a:pPr marL="457200" indent="-457200">
              <a:buFont typeface="Arial" panose="020B0604020202020204" pitchFamily="34" charset="0"/>
              <a:buChar char="•"/>
            </a:pPr>
            <a:r>
              <a:rPr lang="en-GB" sz="2800" dirty="0">
                <a:solidFill>
                  <a:schemeClr val="bg1">
                    <a:lumMod val="85000"/>
                  </a:schemeClr>
                </a:solidFill>
              </a:rPr>
              <a:t>Identify the Health and Safety issues related to Digital Technology</a:t>
            </a:r>
          </a:p>
          <a:p>
            <a:pPr marL="457200" indent="-457200">
              <a:buFont typeface="Arial" panose="020B0604020202020204" pitchFamily="34" charset="0"/>
              <a:buChar char="•"/>
            </a:pPr>
            <a:endParaRPr lang="en-GB" sz="2800" dirty="0">
              <a:solidFill>
                <a:schemeClr val="bg1">
                  <a:lumMod val="85000"/>
                </a:schemeClr>
              </a:solidFill>
            </a:endParaRPr>
          </a:p>
          <a:p>
            <a:pPr marL="457200" indent="-457200">
              <a:buFont typeface="Arial" panose="020B0604020202020204" pitchFamily="34" charset="0"/>
              <a:buChar char="•"/>
            </a:pPr>
            <a:r>
              <a:rPr lang="en-GB" sz="2800" dirty="0">
                <a:solidFill>
                  <a:schemeClr val="bg1">
                    <a:lumMod val="85000"/>
                  </a:schemeClr>
                </a:solidFill>
              </a:rPr>
              <a:t>Apply your knowledge to suggest why these issues arise</a:t>
            </a:r>
          </a:p>
          <a:p>
            <a:pPr marL="457200" indent="-457200">
              <a:buFont typeface="Arial" panose="020B0604020202020204" pitchFamily="34" charset="0"/>
              <a:buChar char="•"/>
            </a:pPr>
            <a:endParaRPr lang="en-GB" sz="2800" dirty="0">
              <a:solidFill>
                <a:schemeClr val="bg1">
                  <a:lumMod val="85000"/>
                </a:schemeClr>
              </a:solidFill>
            </a:endParaRPr>
          </a:p>
          <a:p>
            <a:pPr marL="457200" indent="-457200">
              <a:buFont typeface="Arial" panose="020B0604020202020204" pitchFamily="34" charset="0"/>
              <a:buChar char="•"/>
            </a:pPr>
            <a:r>
              <a:rPr lang="en-GB" sz="2800" dirty="0">
                <a:solidFill>
                  <a:schemeClr val="bg1">
                    <a:lumMod val="85000"/>
                  </a:schemeClr>
                </a:solidFill>
              </a:rPr>
              <a:t>Offer a possible solution to eradicate or reduce these problems</a:t>
            </a:r>
          </a:p>
        </p:txBody>
      </p:sp>
    </p:spTree>
    <p:extLst>
      <p:ext uri="{BB962C8B-B14F-4D97-AF65-F5344CB8AC3E}">
        <p14:creationId xmlns:p14="http://schemas.microsoft.com/office/powerpoint/2010/main" val="2766553088"/>
      </p:ext>
    </p:extLst>
  </p:cSld>
  <p:clrMapOvr>
    <a:masterClrMapping/>
  </p:clrMapOvr>
  <mc:AlternateContent xmlns:mc="http://schemas.openxmlformats.org/markup-compatibility/2006" xmlns:p14="http://schemas.microsoft.com/office/powerpoint/2010/main">
    <mc:Choice Requires="p14">
      <p:transition spd="slow" p14:dur="2000">
        <p14:prism isContent="1"/>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1+#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par>
                                <p:cTn id="9" presetID="2" presetClass="entr" presetSubtype="6"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anim calcmode="lin" valueType="num">
                                      <p:cBhvr additive="base">
                                        <p:cTn id="11" dur="500" fill="hold"/>
                                        <p:tgtEl>
                                          <p:spTgt spid="5"/>
                                        </p:tgtEl>
                                        <p:attrNameLst>
                                          <p:attrName>ppt_x</p:attrName>
                                        </p:attrNameLst>
                                      </p:cBhvr>
                                      <p:tavLst>
                                        <p:tav tm="0">
                                          <p:val>
                                            <p:strVal val="1+#ppt_w/2"/>
                                          </p:val>
                                        </p:tav>
                                        <p:tav tm="100000">
                                          <p:val>
                                            <p:strVal val="#ppt_x"/>
                                          </p:val>
                                        </p:tav>
                                      </p:tavLst>
                                    </p:anim>
                                    <p:anim calcmode="lin" valueType="num">
                                      <p:cBhvr additive="base">
                                        <p:cTn id="12" dur="500" fill="hold"/>
                                        <p:tgtEl>
                                          <p:spTgt spid="5"/>
                                        </p:tgtEl>
                                        <p:attrNameLst>
                                          <p:attrName>ppt_y</p:attrName>
                                        </p:attrNameLst>
                                      </p:cBhvr>
                                      <p:tavLst>
                                        <p:tav tm="0">
                                          <p:val>
                                            <p:strVal val="1+#ppt_h/2"/>
                                          </p:val>
                                        </p:tav>
                                        <p:tav tm="100000">
                                          <p:val>
                                            <p:strVal val="#ppt_y"/>
                                          </p:val>
                                        </p:tav>
                                      </p:tavLst>
                                    </p:anim>
                                  </p:childTnLst>
                                </p:cTn>
                              </p:par>
                            </p:childTnLst>
                          </p:cTn>
                        </p:par>
                        <p:par>
                          <p:cTn id="13" fill="hold">
                            <p:stCondLst>
                              <p:cond delay="500"/>
                            </p:stCondLst>
                            <p:childTnLst>
                              <p:par>
                                <p:cTn id="14" presetID="10" presetClass="entr" presetSubtype="0" fill="hold" grpId="0" nodeType="afterEffect">
                                  <p:stCondLst>
                                    <p:cond delay="0"/>
                                  </p:stCondLst>
                                  <p:childTnLst>
                                    <p:set>
                                      <p:cBhvr>
                                        <p:cTn id="15" dur="1" fill="hold">
                                          <p:stCondLst>
                                            <p:cond delay="0"/>
                                          </p:stCondLst>
                                        </p:cTn>
                                        <p:tgtEl>
                                          <p:spTgt spid="3"/>
                                        </p:tgtEl>
                                        <p:attrNameLst>
                                          <p:attrName>style.visibility</p:attrName>
                                        </p:attrNameLst>
                                      </p:cBhvr>
                                      <p:to>
                                        <p:strVal val="visible"/>
                                      </p:to>
                                    </p:set>
                                    <p:animEffect transition="in" filter="fade">
                                      <p:cBhvr>
                                        <p:cTn id="16" dur="29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3" grpId="0"/>
    </p:bldLst>
  </p:timing>
</p:sld>
</file>

<file path=ppt/slides/slide40.xml><?xml version="1.0" encoding="utf-8"?>
<p:sld xmlns:a="http://schemas.openxmlformats.org/drawingml/2006/main" xmlns:r="http://schemas.openxmlformats.org/officeDocument/2006/relationships" xmlns:p="http://schemas.openxmlformats.org/presentationml/2006/main">
  <p:cSld>
    <p:bg>
      <p:bgPr>
        <a:gradFill flip="none" rotWithShape="1">
          <a:gsLst>
            <a:gs pos="98000">
              <a:srgbClr val="000A1E"/>
            </a:gs>
            <a:gs pos="0">
              <a:srgbClr val="002060"/>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a:xfrm>
            <a:off x="122548" y="260648"/>
            <a:ext cx="5109328" cy="861142"/>
          </a:xfrm>
        </p:spPr>
        <p:txBody>
          <a:bodyPr>
            <a:normAutofit fontScale="90000"/>
          </a:bodyPr>
          <a:lstStyle/>
          <a:p>
            <a:r>
              <a:rPr lang="en-US" dirty="0">
                <a:solidFill>
                  <a:schemeClr val="bg1">
                    <a:lumMod val="85000"/>
                  </a:schemeClr>
                </a:solidFill>
              </a:rPr>
              <a:t>Poor Ergonomics</a:t>
            </a:r>
          </a:p>
        </p:txBody>
      </p:sp>
      <p:sp>
        <p:nvSpPr>
          <p:cNvPr id="5" name="Text Placeholder 4"/>
          <p:cNvSpPr>
            <a:spLocks noGrp="1"/>
          </p:cNvSpPr>
          <p:nvPr>
            <p:ph type="body" idx="1"/>
          </p:nvPr>
        </p:nvSpPr>
        <p:spPr>
          <a:xfrm>
            <a:off x="5591944" y="831774"/>
            <a:ext cx="5663660" cy="4613450"/>
          </a:xfrm>
        </p:spPr>
        <p:txBody>
          <a:bodyPr>
            <a:normAutofit/>
          </a:bodyPr>
          <a:lstStyle/>
          <a:p>
            <a:pPr marL="342900" indent="-342900">
              <a:buFont typeface="Arial" panose="020B0604020202020204" pitchFamily="34" charset="0"/>
              <a:buChar char="•"/>
            </a:pPr>
            <a:r>
              <a:rPr lang="en-US" cap="none" dirty="0">
                <a:solidFill>
                  <a:schemeClr val="bg1">
                    <a:lumMod val="85000"/>
                  </a:schemeClr>
                </a:solidFill>
              </a:rPr>
              <a:t>The science concerned with designing safe and </a:t>
            </a:r>
            <a:r>
              <a:rPr lang="en-US" cap="none" dirty="0">
                <a:solidFill>
                  <a:srgbClr val="009999"/>
                </a:solidFill>
              </a:rPr>
              <a:t>comfortable</a:t>
            </a:r>
            <a:r>
              <a:rPr lang="en-US" cap="none" dirty="0"/>
              <a:t> </a:t>
            </a:r>
            <a:r>
              <a:rPr lang="en-US" cap="none" dirty="0">
                <a:solidFill>
                  <a:schemeClr val="bg1">
                    <a:lumMod val="85000"/>
                  </a:schemeClr>
                </a:solidFill>
              </a:rPr>
              <a:t>hardware and office furniture for humans</a:t>
            </a:r>
          </a:p>
          <a:p>
            <a:pPr marL="342900" indent="-342900">
              <a:buFont typeface="Arial" panose="020B0604020202020204" pitchFamily="34" charset="0"/>
              <a:buChar char="•"/>
            </a:pPr>
            <a:endParaRPr lang="en-US" cap="none" dirty="0"/>
          </a:p>
          <a:p>
            <a:pPr marL="342900" indent="-342900">
              <a:buFont typeface="Arial" panose="020B0604020202020204" pitchFamily="34" charset="0"/>
              <a:buChar char="•"/>
            </a:pPr>
            <a:endParaRPr lang="en-US" cap="none" dirty="0"/>
          </a:p>
          <a:p>
            <a:pPr marL="342900" indent="-342900">
              <a:buFont typeface="Arial" panose="020B0604020202020204" pitchFamily="34" charset="0"/>
              <a:buChar char="•"/>
            </a:pPr>
            <a:r>
              <a:rPr lang="en-US" i="1" cap="none" dirty="0">
                <a:solidFill>
                  <a:schemeClr val="bg1">
                    <a:lumMod val="85000"/>
                  </a:schemeClr>
                </a:solidFill>
              </a:rPr>
              <a:t>What is wrong with this posture? </a:t>
            </a:r>
          </a:p>
          <a:p>
            <a:pPr marL="342900" indent="-342900">
              <a:buFont typeface="Arial" panose="020B0604020202020204" pitchFamily="34" charset="0"/>
              <a:buChar char="•"/>
            </a:pPr>
            <a:endParaRPr lang="en-US" i="1" cap="none" dirty="0">
              <a:solidFill>
                <a:schemeClr val="bg1">
                  <a:lumMod val="85000"/>
                </a:schemeClr>
              </a:solidFill>
            </a:endParaRPr>
          </a:p>
          <a:p>
            <a:pPr marL="342900" indent="-342900">
              <a:buFont typeface="Arial" panose="020B0604020202020204" pitchFamily="34" charset="0"/>
              <a:buChar char="•"/>
            </a:pPr>
            <a:r>
              <a:rPr lang="en-US" i="1" cap="none" dirty="0">
                <a:solidFill>
                  <a:schemeClr val="bg1">
                    <a:lumMod val="85000"/>
                  </a:schemeClr>
                </a:solidFill>
              </a:rPr>
              <a:t>TASK: Complete the Health and Safety Worksheet by suggesting what is wrong with the environment / ergonomics</a:t>
            </a:r>
            <a:endParaRPr lang="en-US" dirty="0">
              <a:solidFill>
                <a:schemeClr val="bg1">
                  <a:lumMod val="85000"/>
                </a:schemeClr>
              </a:solidFill>
            </a:endParaRPr>
          </a:p>
        </p:txBody>
      </p:sp>
      <p:pic>
        <p:nvPicPr>
          <p:cNvPr id="6" name="Picture 2" descr="https://i.kinja-img.com/gawker-media/image/upload/s--DpofeTg1--/c_scale,fl_progressive,q_80,w_800/18iy3ged5mvm4jpg.jpg"/>
          <p:cNvPicPr>
            <a:picLocks noChangeAspect="1" noChangeArrowheads="1"/>
          </p:cNvPicPr>
          <p:nvPr/>
        </p:nvPicPr>
        <p:blipFill rotWithShape="1">
          <a:blip r:embed="rId2">
            <a:extLst>
              <a:ext uri="{28A0092B-C50C-407E-A947-70E740481C1C}">
                <a14:useLocalDpi xmlns:a14="http://schemas.microsoft.com/office/drawing/2010/main" val="0"/>
              </a:ext>
            </a:extLst>
          </a:blip>
          <a:srcRect l="33538" r="35278"/>
          <a:stretch/>
        </p:blipFill>
        <p:spPr bwMode="auto">
          <a:xfrm>
            <a:off x="331200" y="1100585"/>
            <a:ext cx="4379345" cy="5494444"/>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2" descr="https://i.kinja-img.com/gawker-media/image/upload/s--DpofeTg1--/c_scale,fl_progressive,q_80,w_800/18iy3ged5mvm4jpg.jpg"/>
          <p:cNvPicPr>
            <a:picLocks noChangeAspect="1" noChangeArrowheads="1"/>
          </p:cNvPicPr>
          <p:nvPr/>
        </p:nvPicPr>
        <p:blipFill rotWithShape="1">
          <a:blip r:embed="rId2">
            <a:extLst>
              <a:ext uri="{28A0092B-C50C-407E-A947-70E740481C1C}">
                <a14:useLocalDpi xmlns:a14="http://schemas.microsoft.com/office/drawing/2010/main" val="0"/>
              </a:ext>
            </a:extLst>
          </a:blip>
          <a:srcRect r="68815"/>
          <a:stretch/>
        </p:blipFill>
        <p:spPr bwMode="auto">
          <a:xfrm>
            <a:off x="331200" y="1100585"/>
            <a:ext cx="4379343" cy="549444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07915672"/>
      </p:ext>
    </p:extLst>
  </p:cSld>
  <p:clrMapOvr>
    <a:masterClrMapping/>
  </p:clrMapOvr>
  <mc:AlternateContent xmlns:mc="http://schemas.openxmlformats.org/markup-compatibility/2006" xmlns:p14="http://schemas.microsoft.com/office/powerpoint/2010/main">
    <mc:Choice Requires="p14">
      <p:transition spd="slow" p14:dur="2000">
        <p14:prism isContent="1"/>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fade">
                                      <p:cBhvr>
                                        <p:cTn id="7" dur="500"/>
                                        <p:tgtEl>
                                          <p:spTgt spid="5">
                                            <p:txEl>
                                              <p:pRg st="0" end="0"/>
                                            </p:txEl>
                                          </p:spTgt>
                                        </p:tgtEl>
                                      </p:cBhvr>
                                    </p:animEffect>
                                  </p:childTnLst>
                                </p:cTn>
                              </p:par>
                            </p:childTnLst>
                          </p:cTn>
                        </p:par>
                        <p:par>
                          <p:cTn id="8" fill="hold">
                            <p:stCondLst>
                              <p:cond delay="500"/>
                            </p:stCondLst>
                            <p:childTnLst>
                              <p:par>
                                <p:cTn id="9" presetID="10" presetClass="entr" presetSubtype="0" fill="hold" nodeType="after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5">
                                            <p:txEl>
                                              <p:pRg st="3" end="3"/>
                                            </p:txEl>
                                          </p:spTgt>
                                        </p:tgtEl>
                                        <p:attrNameLst>
                                          <p:attrName>style.visibility</p:attrName>
                                        </p:attrNameLst>
                                      </p:cBhvr>
                                      <p:to>
                                        <p:strVal val="visible"/>
                                      </p:to>
                                    </p:set>
                                    <p:animEffect transition="in" filter="fade">
                                      <p:cBhvr>
                                        <p:cTn id="16" dur="500"/>
                                        <p:tgtEl>
                                          <p:spTgt spid="5">
                                            <p:txEl>
                                              <p:pRg st="3" end="3"/>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fade">
                                      <p:cBhvr>
                                        <p:cTn id="21" dur="500"/>
                                        <p:tgtEl>
                                          <p:spTgt spid="7"/>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5">
                                            <p:txEl>
                                              <p:pRg st="5" end="5"/>
                                            </p:txEl>
                                          </p:spTgt>
                                        </p:tgtEl>
                                        <p:attrNameLst>
                                          <p:attrName>style.visibility</p:attrName>
                                        </p:attrNameLst>
                                      </p:cBhvr>
                                      <p:to>
                                        <p:strVal val="visible"/>
                                      </p:to>
                                    </p:set>
                                    <p:animEffect transition="in" filter="fade">
                                      <p:cBhvr>
                                        <p:cTn id="26" dur="500"/>
                                        <p:tgtEl>
                                          <p:spTgt spid="5">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Lst>
  </p:timing>
</p:sld>
</file>

<file path=ppt/slides/slide41.xml><?xml version="1.0" encoding="utf-8"?>
<p:sld xmlns:a="http://schemas.openxmlformats.org/drawingml/2006/main" xmlns:r="http://schemas.openxmlformats.org/officeDocument/2006/relationships" xmlns:p="http://schemas.openxmlformats.org/presentationml/2006/main">
  <p:cSld>
    <p:bg>
      <p:bgPr>
        <a:gradFill flip="none" rotWithShape="1">
          <a:gsLst>
            <a:gs pos="98000">
              <a:srgbClr val="000A1E"/>
            </a:gs>
            <a:gs pos="0">
              <a:srgbClr val="002060"/>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6E50D9-A6A9-45D1-8BEB-279DAD512019}"/>
              </a:ext>
            </a:extLst>
          </p:cNvPr>
          <p:cNvSpPr>
            <a:spLocks noGrp="1"/>
          </p:cNvSpPr>
          <p:nvPr>
            <p:ph type="title"/>
          </p:nvPr>
        </p:nvSpPr>
        <p:spPr>
          <a:xfrm>
            <a:off x="537328" y="2573517"/>
            <a:ext cx="7852528" cy="1787878"/>
          </a:xfrm>
        </p:spPr>
        <p:txBody>
          <a:bodyPr>
            <a:normAutofit/>
          </a:bodyPr>
          <a:lstStyle/>
          <a:p>
            <a:pPr algn="just"/>
            <a:r>
              <a:rPr lang="en-GB" sz="3600" dirty="0">
                <a:solidFill>
                  <a:schemeClr val="bg1">
                    <a:lumMod val="85000"/>
                  </a:schemeClr>
                </a:solidFill>
              </a:rPr>
              <a:t>A danger or risk which is any source of </a:t>
            </a:r>
            <a:r>
              <a:rPr lang="en-GB" sz="3600" b="1" dirty="0">
                <a:solidFill>
                  <a:srgbClr val="00B0F0"/>
                </a:solidFill>
              </a:rPr>
              <a:t>potential</a:t>
            </a:r>
            <a:r>
              <a:rPr lang="en-GB" sz="3600" dirty="0">
                <a:solidFill>
                  <a:schemeClr val="bg1">
                    <a:lumMod val="85000"/>
                  </a:schemeClr>
                </a:solidFill>
              </a:rPr>
              <a:t> damage, harm or adverse health effects on something or someone.</a:t>
            </a:r>
            <a:endParaRPr lang="en-US" sz="3600" dirty="0">
              <a:solidFill>
                <a:schemeClr val="bg1">
                  <a:lumMod val="85000"/>
                </a:schemeClr>
              </a:solidFill>
            </a:endParaRPr>
          </a:p>
        </p:txBody>
      </p:sp>
      <p:sp>
        <p:nvSpPr>
          <p:cNvPr id="3" name="Text Placeholder 2">
            <a:extLst>
              <a:ext uri="{FF2B5EF4-FFF2-40B4-BE49-F238E27FC236}">
                <a16:creationId xmlns:a16="http://schemas.microsoft.com/office/drawing/2014/main" id="{8A931830-7B45-4468-BC34-E676ED041369}"/>
              </a:ext>
            </a:extLst>
          </p:cNvPr>
          <p:cNvSpPr>
            <a:spLocks noGrp="1"/>
          </p:cNvSpPr>
          <p:nvPr>
            <p:ph type="body" idx="1"/>
          </p:nvPr>
        </p:nvSpPr>
        <p:spPr>
          <a:xfrm>
            <a:off x="4263207" y="4540505"/>
            <a:ext cx="4126649" cy="783814"/>
          </a:xfrm>
        </p:spPr>
        <p:txBody>
          <a:bodyPr>
            <a:noAutofit/>
          </a:bodyPr>
          <a:lstStyle/>
          <a:p>
            <a:pPr algn="r"/>
            <a:r>
              <a:rPr lang="en-GB" sz="3600" dirty="0"/>
              <a:t>Definition: Hazard</a:t>
            </a:r>
            <a:endParaRPr lang="en-US" sz="3600" dirty="0"/>
          </a:p>
        </p:txBody>
      </p:sp>
      <p:pic>
        <p:nvPicPr>
          <p:cNvPr id="4" name="Pictur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296348" y="221873"/>
            <a:ext cx="6079158" cy="6079158"/>
          </a:xfrm>
          <a:prstGeom prst="rect">
            <a:avLst/>
          </a:prstGeom>
        </p:spPr>
      </p:pic>
      <p:sp>
        <p:nvSpPr>
          <p:cNvPr id="5" name="Rectangle 4"/>
          <p:cNvSpPr/>
          <p:nvPr/>
        </p:nvSpPr>
        <p:spPr>
          <a:xfrm flipV="1">
            <a:off x="622169" y="4386131"/>
            <a:ext cx="7767687" cy="45719"/>
          </a:xfrm>
          <a:prstGeom prst="rect">
            <a:avLst/>
          </a:prstGeom>
          <a:solidFill>
            <a:srgbClr val="AD010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686901840"/>
      </p:ext>
    </p:extLst>
  </p:cSld>
  <p:clrMapOvr>
    <a:masterClrMapping/>
  </p:clrMapOvr>
  <mc:AlternateContent xmlns:mc="http://schemas.openxmlformats.org/markup-compatibility/2006" xmlns:p14="http://schemas.microsoft.com/office/powerpoint/2010/main">
    <mc:Choice Requires="p14">
      <p:transition spd="slow" p14:dur="2000">
        <p14:prism isContent="1"/>
      </p:transition>
    </mc:Choice>
    <mc:Fallback xmlns="">
      <p:transition spd="slow">
        <p:fade/>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bg>
      <p:bgPr>
        <a:gradFill flip="none" rotWithShape="1">
          <a:gsLst>
            <a:gs pos="98000">
              <a:srgbClr val="000A1E"/>
            </a:gs>
            <a:gs pos="0">
              <a:srgbClr val="002060"/>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rot="5400000">
            <a:off x="6847655" y="2776738"/>
            <a:ext cx="6705600" cy="1152127"/>
          </a:xfrm>
        </p:spPr>
        <p:txBody>
          <a:bodyPr>
            <a:normAutofit/>
          </a:bodyPr>
          <a:lstStyle/>
          <a:p>
            <a:r>
              <a:rPr lang="en-GB" sz="4800" dirty="0">
                <a:solidFill>
                  <a:srgbClr val="00B0F0"/>
                </a:solidFill>
                <a:effectLst>
                  <a:outerShdw blurRad="38100" dist="38100" dir="2700000" algn="tl">
                    <a:srgbClr val="000000">
                      <a:alpha val="43137"/>
                    </a:srgbClr>
                  </a:outerShdw>
                </a:effectLst>
              </a:rPr>
              <a:t>THE IDEAL SETUP</a:t>
            </a:r>
          </a:p>
        </p:txBody>
      </p:sp>
      <p:sp>
        <p:nvSpPr>
          <p:cNvPr id="3" name="Text Placeholder 2"/>
          <p:cNvSpPr>
            <a:spLocks noGrp="1"/>
          </p:cNvSpPr>
          <p:nvPr>
            <p:ph type="body" idx="1"/>
          </p:nvPr>
        </p:nvSpPr>
        <p:spPr/>
        <p:txBody>
          <a:bodyPr/>
          <a:lstStyle/>
          <a:p>
            <a:endParaRPr lang="en-GB"/>
          </a:p>
        </p:txBody>
      </p:sp>
      <p:pic>
        <p:nvPicPr>
          <p:cNvPr id="2054" name="Picture 6" descr="https://scontent.flhr4-1.fna.fbcdn.net/v/t34.0-12/22156871_1424654007583459_1564398988_n.jpg?oh=35ed7996d0ded132bee26bad2c5b9e8b&amp;oe=59D2C129"/>
          <p:cNvPicPr>
            <a:picLocks noChangeAspect="1" noChangeArrowheads="1"/>
          </p:cNvPicPr>
          <p:nvPr/>
        </p:nvPicPr>
        <p:blipFill rotWithShape="1">
          <a:blip r:embed="rId2">
            <a:duotone>
              <a:prstClr val="black"/>
              <a:schemeClr val="tx2">
                <a:lumMod val="40000"/>
                <a:lumOff val="60000"/>
                <a:tint val="45000"/>
                <a:satMod val="400000"/>
              </a:schemeClr>
            </a:duotone>
            <a:extLst>
              <a:ext uri="{28A0092B-C50C-407E-A947-70E740481C1C}">
                <a14:useLocalDpi xmlns:a14="http://schemas.microsoft.com/office/drawing/2010/main" val="0"/>
              </a:ext>
            </a:extLst>
          </a:blip>
          <a:srcRect l="31295" t="25536" r="10390" b="5040"/>
          <a:stretch/>
        </p:blipFill>
        <p:spPr bwMode="auto">
          <a:xfrm rot="5400000">
            <a:off x="1844649" y="401782"/>
            <a:ext cx="6774513" cy="604867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61576659"/>
      </p:ext>
    </p:extLst>
  </p:cSld>
  <p:clrMapOvr>
    <a:masterClrMapping/>
  </p:clrMapOvr>
  <mc:AlternateContent xmlns:mc="http://schemas.openxmlformats.org/markup-compatibility/2006" xmlns:p14="http://schemas.microsoft.com/office/powerpoint/2010/main">
    <mc:Choice Requires="p14">
      <p:transition spd="slow" p14:dur="2000">
        <p14:prism isContent="1"/>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2054"/>
                                        </p:tgtEl>
                                        <p:attrNameLst>
                                          <p:attrName>style.visibility</p:attrName>
                                        </p:attrNameLst>
                                      </p:cBhvr>
                                      <p:to>
                                        <p:strVal val="visible"/>
                                      </p:to>
                                    </p:set>
                                    <p:animEffect transition="in" filter="fade">
                                      <p:cBhvr>
                                        <p:cTn id="7" dur="500"/>
                                        <p:tgtEl>
                                          <p:spTgt spid="205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bg>
      <p:bgPr>
        <a:gradFill flip="none" rotWithShape="1">
          <a:gsLst>
            <a:gs pos="98000">
              <a:srgbClr val="000A1E"/>
            </a:gs>
            <a:gs pos="0">
              <a:srgbClr val="002060"/>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3" name="Content Placeholder 2"/>
          <p:cNvSpPr>
            <a:spLocks noGrp="1"/>
          </p:cNvSpPr>
          <p:nvPr>
            <p:ph idx="1"/>
          </p:nvPr>
        </p:nvSpPr>
        <p:spPr>
          <a:xfrm>
            <a:off x="2438401" y="1701797"/>
            <a:ext cx="7772400" cy="5039571"/>
          </a:xfrm>
        </p:spPr>
        <p:txBody>
          <a:bodyPr>
            <a:normAutofit fontScale="92500" lnSpcReduction="10000"/>
          </a:bodyPr>
          <a:lstStyle/>
          <a:p>
            <a:r>
              <a:rPr lang="en-GB" dirty="0">
                <a:solidFill>
                  <a:schemeClr val="bg1">
                    <a:lumMod val="85000"/>
                  </a:schemeClr>
                </a:solidFill>
              </a:rPr>
              <a:t>Repetitive Strain Injury (RSI) is a range of conditions, and can affect:</a:t>
            </a:r>
          </a:p>
          <a:p>
            <a:pPr lvl="3"/>
            <a:r>
              <a:rPr lang="en-GB" dirty="0">
                <a:solidFill>
                  <a:schemeClr val="bg1">
                    <a:lumMod val="85000"/>
                  </a:schemeClr>
                </a:solidFill>
              </a:rPr>
              <a:t>The Neck</a:t>
            </a:r>
          </a:p>
          <a:p>
            <a:pPr lvl="3"/>
            <a:r>
              <a:rPr lang="en-GB" dirty="0">
                <a:solidFill>
                  <a:schemeClr val="bg1">
                    <a:lumMod val="85000"/>
                  </a:schemeClr>
                </a:solidFill>
              </a:rPr>
              <a:t>Shoulders</a:t>
            </a:r>
          </a:p>
          <a:p>
            <a:pPr lvl="3"/>
            <a:r>
              <a:rPr lang="en-GB" dirty="0">
                <a:solidFill>
                  <a:schemeClr val="bg1">
                    <a:lumMod val="85000"/>
                  </a:schemeClr>
                </a:solidFill>
              </a:rPr>
              <a:t>Arms</a:t>
            </a:r>
          </a:p>
          <a:p>
            <a:pPr lvl="3"/>
            <a:r>
              <a:rPr lang="en-GB" dirty="0">
                <a:solidFill>
                  <a:schemeClr val="bg1">
                    <a:lumMod val="85000"/>
                  </a:schemeClr>
                </a:solidFill>
              </a:rPr>
              <a:t>Hands/Fingers</a:t>
            </a:r>
          </a:p>
          <a:p>
            <a:r>
              <a:rPr lang="en-GB" dirty="0">
                <a:solidFill>
                  <a:schemeClr val="bg1">
                    <a:lumMod val="85000"/>
                  </a:schemeClr>
                </a:solidFill>
              </a:rPr>
              <a:t>What Causes RSI?</a:t>
            </a:r>
          </a:p>
          <a:p>
            <a:pPr lvl="3"/>
            <a:r>
              <a:rPr lang="en-GB" dirty="0">
                <a:solidFill>
                  <a:schemeClr val="bg1">
                    <a:lumMod val="85000"/>
                  </a:schemeClr>
                </a:solidFill>
              </a:rPr>
              <a:t>Repetitive actions, such as working on a keyboard all day</a:t>
            </a:r>
          </a:p>
          <a:p>
            <a:pPr lvl="3"/>
            <a:r>
              <a:rPr lang="en-GB" dirty="0">
                <a:solidFill>
                  <a:schemeClr val="bg1">
                    <a:lumMod val="85000"/>
                  </a:schemeClr>
                </a:solidFill>
              </a:rPr>
              <a:t>Using controller for extended periods</a:t>
            </a:r>
          </a:p>
          <a:p>
            <a:pPr lvl="3"/>
            <a:r>
              <a:rPr lang="en-GB" dirty="0">
                <a:solidFill>
                  <a:schemeClr val="bg1">
                    <a:lumMod val="85000"/>
                  </a:schemeClr>
                </a:solidFill>
              </a:rPr>
              <a:t>Can result in Carpal Tunnel Syndrome (A condition in the wrists)</a:t>
            </a:r>
          </a:p>
          <a:p>
            <a:r>
              <a:rPr lang="en-GB" dirty="0">
                <a:solidFill>
                  <a:schemeClr val="bg1">
                    <a:lumMod val="85000"/>
                  </a:schemeClr>
                </a:solidFill>
              </a:rPr>
              <a:t>Reduction of RSI</a:t>
            </a:r>
          </a:p>
          <a:p>
            <a:pPr lvl="3"/>
            <a:r>
              <a:rPr lang="en-GB" dirty="0">
                <a:solidFill>
                  <a:schemeClr val="bg1">
                    <a:lumMod val="85000"/>
                  </a:schemeClr>
                </a:solidFill>
              </a:rPr>
              <a:t>Taking regular breaks</a:t>
            </a:r>
          </a:p>
          <a:p>
            <a:pPr lvl="3"/>
            <a:r>
              <a:rPr lang="en-GB" dirty="0">
                <a:solidFill>
                  <a:schemeClr val="bg1">
                    <a:lumMod val="85000"/>
                  </a:schemeClr>
                </a:solidFill>
              </a:rPr>
              <a:t>Using ergonomically designed products (such as keyboards, mouse and foot stools)</a:t>
            </a:r>
          </a:p>
          <a:p>
            <a:pPr lvl="3"/>
            <a:r>
              <a:rPr lang="en-GB" dirty="0">
                <a:solidFill>
                  <a:schemeClr val="bg1">
                    <a:lumMod val="85000"/>
                  </a:schemeClr>
                </a:solidFill>
              </a:rPr>
              <a:t>Use appropriate furniture (such as adjustable swivel chair)</a:t>
            </a:r>
          </a:p>
          <a:p>
            <a:pPr lvl="3"/>
            <a:r>
              <a:rPr lang="en-GB" dirty="0">
                <a:solidFill>
                  <a:schemeClr val="bg1">
                    <a:lumMod val="85000"/>
                  </a:schemeClr>
                </a:solidFill>
              </a:rPr>
              <a:t>Use an arm rest to avoid carpel tunnel</a:t>
            </a:r>
          </a:p>
          <a:p>
            <a:pPr lvl="3"/>
            <a:endParaRPr lang="en-GB" dirty="0">
              <a:solidFill>
                <a:schemeClr val="bg1">
                  <a:lumMod val="85000"/>
                </a:schemeClr>
              </a:solidFill>
            </a:endParaRPr>
          </a:p>
        </p:txBody>
      </p:sp>
      <p:sp>
        <p:nvSpPr>
          <p:cNvPr id="4" name="Title 3"/>
          <p:cNvSpPr>
            <a:spLocks noGrp="1"/>
          </p:cNvSpPr>
          <p:nvPr>
            <p:ph type="title"/>
          </p:nvPr>
        </p:nvSpPr>
        <p:spPr/>
        <p:txBody>
          <a:bodyPr/>
          <a:lstStyle/>
          <a:p>
            <a:r>
              <a:rPr lang="en-GB" dirty="0">
                <a:solidFill>
                  <a:schemeClr val="bg1">
                    <a:lumMod val="85000"/>
                  </a:schemeClr>
                </a:solidFill>
              </a:rPr>
              <a:t>Repetitive Strain Injury</a:t>
            </a:r>
          </a:p>
        </p:txBody>
      </p:sp>
    </p:spTree>
    <p:extLst>
      <p:ext uri="{BB962C8B-B14F-4D97-AF65-F5344CB8AC3E}">
        <p14:creationId xmlns:p14="http://schemas.microsoft.com/office/powerpoint/2010/main" val="4229611300"/>
      </p:ext>
    </p:extLst>
  </p:cSld>
  <p:clrMapOvr>
    <a:masterClrMapping/>
  </p:clrMapOvr>
  <mc:AlternateContent xmlns:mc="http://schemas.openxmlformats.org/markup-compatibility/2006" xmlns:p14="http://schemas.microsoft.com/office/powerpoint/2010/main">
    <mc:Choice Requires="p14">
      <p:transition spd="slow" p14:dur="2000">
        <p14:prism isContent="1"/>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 calcmode="lin" valueType="num">
                                      <p:cBhvr additive="base">
                                        <p:cTn id="25"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anim calcmode="lin" valueType="num">
                                      <p:cBhvr additive="base">
                                        <p:cTn id="31"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3">
                                            <p:txEl>
                                              <p:pRg st="5" end="5"/>
                                            </p:txEl>
                                          </p:spTgt>
                                        </p:tgtEl>
                                        <p:attrNameLst>
                                          <p:attrName>style.visibility</p:attrName>
                                        </p:attrNameLst>
                                      </p:cBhvr>
                                      <p:to>
                                        <p:strVal val="visible"/>
                                      </p:to>
                                    </p:set>
                                    <p:anim calcmode="lin" valueType="num">
                                      <p:cBhvr additive="base">
                                        <p:cTn id="37"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grpId="0" nodeType="clickEffect">
                                  <p:stCondLst>
                                    <p:cond delay="0"/>
                                  </p:stCondLst>
                                  <p:childTnLst>
                                    <p:set>
                                      <p:cBhvr>
                                        <p:cTn id="42" dur="1" fill="hold">
                                          <p:stCondLst>
                                            <p:cond delay="0"/>
                                          </p:stCondLst>
                                        </p:cTn>
                                        <p:tgtEl>
                                          <p:spTgt spid="3">
                                            <p:txEl>
                                              <p:pRg st="6" end="6"/>
                                            </p:txEl>
                                          </p:spTgt>
                                        </p:tgtEl>
                                        <p:attrNameLst>
                                          <p:attrName>style.visibility</p:attrName>
                                        </p:attrNameLst>
                                      </p:cBhvr>
                                      <p:to>
                                        <p:strVal val="visible"/>
                                      </p:to>
                                    </p:set>
                                    <p:anim calcmode="lin" valueType="num">
                                      <p:cBhvr additive="base">
                                        <p:cTn id="43"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3">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grpId="0" nodeType="clickEffect">
                                  <p:stCondLst>
                                    <p:cond delay="0"/>
                                  </p:stCondLst>
                                  <p:childTnLst>
                                    <p:set>
                                      <p:cBhvr>
                                        <p:cTn id="48" dur="1" fill="hold">
                                          <p:stCondLst>
                                            <p:cond delay="0"/>
                                          </p:stCondLst>
                                        </p:cTn>
                                        <p:tgtEl>
                                          <p:spTgt spid="3">
                                            <p:txEl>
                                              <p:pRg st="7" end="7"/>
                                            </p:txEl>
                                          </p:spTgt>
                                        </p:tgtEl>
                                        <p:attrNameLst>
                                          <p:attrName>style.visibility</p:attrName>
                                        </p:attrNameLst>
                                      </p:cBhvr>
                                      <p:to>
                                        <p:strVal val="visible"/>
                                      </p:to>
                                    </p:set>
                                    <p:anim calcmode="lin" valueType="num">
                                      <p:cBhvr additive="base">
                                        <p:cTn id="49"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50"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3" presetID="2" presetClass="entr" presetSubtype="4" fill="hold" grpId="0" nodeType="clickEffect">
                                  <p:stCondLst>
                                    <p:cond delay="0"/>
                                  </p:stCondLst>
                                  <p:childTnLst>
                                    <p:set>
                                      <p:cBhvr>
                                        <p:cTn id="54" dur="1" fill="hold">
                                          <p:stCondLst>
                                            <p:cond delay="0"/>
                                          </p:stCondLst>
                                        </p:cTn>
                                        <p:tgtEl>
                                          <p:spTgt spid="3">
                                            <p:txEl>
                                              <p:pRg st="8" end="8"/>
                                            </p:txEl>
                                          </p:spTgt>
                                        </p:tgtEl>
                                        <p:attrNameLst>
                                          <p:attrName>style.visibility</p:attrName>
                                        </p:attrNameLst>
                                      </p:cBhvr>
                                      <p:to>
                                        <p:strVal val="visible"/>
                                      </p:to>
                                    </p:set>
                                    <p:anim calcmode="lin" valueType="num">
                                      <p:cBhvr additive="base">
                                        <p:cTn id="55" dur="500" fill="hold"/>
                                        <p:tgtEl>
                                          <p:spTgt spid="3">
                                            <p:txEl>
                                              <p:pRg st="8" end="8"/>
                                            </p:txEl>
                                          </p:spTgt>
                                        </p:tgtEl>
                                        <p:attrNameLst>
                                          <p:attrName>ppt_x</p:attrName>
                                        </p:attrNameLst>
                                      </p:cBhvr>
                                      <p:tavLst>
                                        <p:tav tm="0">
                                          <p:val>
                                            <p:strVal val="#ppt_x"/>
                                          </p:val>
                                        </p:tav>
                                        <p:tav tm="100000">
                                          <p:val>
                                            <p:strVal val="#ppt_x"/>
                                          </p:val>
                                        </p:tav>
                                      </p:tavLst>
                                    </p:anim>
                                    <p:anim calcmode="lin" valueType="num">
                                      <p:cBhvr additive="base">
                                        <p:cTn id="56" dur="500" fill="hold"/>
                                        <p:tgtEl>
                                          <p:spTgt spid="3">
                                            <p:txEl>
                                              <p:pRg st="8" end="8"/>
                                            </p:txEl>
                                          </p:spTgt>
                                        </p:tgtEl>
                                        <p:attrNameLst>
                                          <p:attrName>ppt_y</p:attrName>
                                        </p:attrNameLst>
                                      </p:cBhvr>
                                      <p:tavLst>
                                        <p:tav tm="0">
                                          <p:val>
                                            <p:strVal val="1+#ppt_h/2"/>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9" presetID="2" presetClass="entr" presetSubtype="4" fill="hold" grpId="0" nodeType="clickEffect">
                                  <p:stCondLst>
                                    <p:cond delay="0"/>
                                  </p:stCondLst>
                                  <p:childTnLst>
                                    <p:set>
                                      <p:cBhvr>
                                        <p:cTn id="60" dur="1" fill="hold">
                                          <p:stCondLst>
                                            <p:cond delay="0"/>
                                          </p:stCondLst>
                                        </p:cTn>
                                        <p:tgtEl>
                                          <p:spTgt spid="3">
                                            <p:txEl>
                                              <p:pRg st="9" end="9"/>
                                            </p:txEl>
                                          </p:spTgt>
                                        </p:tgtEl>
                                        <p:attrNameLst>
                                          <p:attrName>style.visibility</p:attrName>
                                        </p:attrNameLst>
                                      </p:cBhvr>
                                      <p:to>
                                        <p:strVal val="visible"/>
                                      </p:to>
                                    </p:set>
                                    <p:anim calcmode="lin" valueType="num">
                                      <p:cBhvr additive="base">
                                        <p:cTn id="61" dur="500" fill="hold"/>
                                        <p:tgtEl>
                                          <p:spTgt spid="3">
                                            <p:txEl>
                                              <p:pRg st="9" end="9"/>
                                            </p:txEl>
                                          </p:spTgt>
                                        </p:tgtEl>
                                        <p:attrNameLst>
                                          <p:attrName>ppt_x</p:attrName>
                                        </p:attrNameLst>
                                      </p:cBhvr>
                                      <p:tavLst>
                                        <p:tav tm="0">
                                          <p:val>
                                            <p:strVal val="#ppt_x"/>
                                          </p:val>
                                        </p:tav>
                                        <p:tav tm="100000">
                                          <p:val>
                                            <p:strVal val="#ppt_x"/>
                                          </p:val>
                                        </p:tav>
                                      </p:tavLst>
                                    </p:anim>
                                    <p:anim calcmode="lin" valueType="num">
                                      <p:cBhvr additive="base">
                                        <p:cTn id="62" dur="500" fill="hold"/>
                                        <p:tgtEl>
                                          <p:spTgt spid="3">
                                            <p:txEl>
                                              <p:pRg st="9" end="9"/>
                                            </p:txEl>
                                          </p:spTgt>
                                        </p:tgtEl>
                                        <p:attrNameLst>
                                          <p:attrName>ppt_y</p:attrName>
                                        </p:attrNameLst>
                                      </p:cBhvr>
                                      <p:tavLst>
                                        <p:tav tm="0">
                                          <p:val>
                                            <p:strVal val="1+#ppt_h/2"/>
                                          </p:val>
                                        </p:tav>
                                        <p:tav tm="100000">
                                          <p:val>
                                            <p:strVal val="#ppt_y"/>
                                          </p:val>
                                        </p:tav>
                                      </p:tavLst>
                                    </p:anim>
                                  </p:childTnLst>
                                </p:cTn>
                              </p:par>
                            </p:childTnLst>
                          </p:cTn>
                        </p:par>
                      </p:childTnLst>
                    </p:cTn>
                  </p:par>
                  <p:par>
                    <p:cTn id="63" fill="hold">
                      <p:stCondLst>
                        <p:cond delay="indefinite"/>
                      </p:stCondLst>
                      <p:childTnLst>
                        <p:par>
                          <p:cTn id="64" fill="hold">
                            <p:stCondLst>
                              <p:cond delay="0"/>
                            </p:stCondLst>
                            <p:childTnLst>
                              <p:par>
                                <p:cTn id="65" presetID="2" presetClass="entr" presetSubtype="4" fill="hold" grpId="0" nodeType="clickEffect">
                                  <p:stCondLst>
                                    <p:cond delay="0"/>
                                  </p:stCondLst>
                                  <p:childTnLst>
                                    <p:set>
                                      <p:cBhvr>
                                        <p:cTn id="66" dur="1" fill="hold">
                                          <p:stCondLst>
                                            <p:cond delay="0"/>
                                          </p:stCondLst>
                                        </p:cTn>
                                        <p:tgtEl>
                                          <p:spTgt spid="3">
                                            <p:txEl>
                                              <p:pRg st="10" end="10"/>
                                            </p:txEl>
                                          </p:spTgt>
                                        </p:tgtEl>
                                        <p:attrNameLst>
                                          <p:attrName>style.visibility</p:attrName>
                                        </p:attrNameLst>
                                      </p:cBhvr>
                                      <p:to>
                                        <p:strVal val="visible"/>
                                      </p:to>
                                    </p:set>
                                    <p:anim calcmode="lin" valueType="num">
                                      <p:cBhvr additive="base">
                                        <p:cTn id="67" dur="500" fill="hold"/>
                                        <p:tgtEl>
                                          <p:spTgt spid="3">
                                            <p:txEl>
                                              <p:pRg st="10" end="10"/>
                                            </p:txEl>
                                          </p:spTgt>
                                        </p:tgtEl>
                                        <p:attrNameLst>
                                          <p:attrName>ppt_x</p:attrName>
                                        </p:attrNameLst>
                                      </p:cBhvr>
                                      <p:tavLst>
                                        <p:tav tm="0">
                                          <p:val>
                                            <p:strVal val="#ppt_x"/>
                                          </p:val>
                                        </p:tav>
                                        <p:tav tm="100000">
                                          <p:val>
                                            <p:strVal val="#ppt_x"/>
                                          </p:val>
                                        </p:tav>
                                      </p:tavLst>
                                    </p:anim>
                                    <p:anim calcmode="lin" valueType="num">
                                      <p:cBhvr additive="base">
                                        <p:cTn id="68" dur="500" fill="hold"/>
                                        <p:tgtEl>
                                          <p:spTgt spid="3">
                                            <p:txEl>
                                              <p:pRg st="10" end="10"/>
                                            </p:txEl>
                                          </p:spTgt>
                                        </p:tgtEl>
                                        <p:attrNameLst>
                                          <p:attrName>ppt_y</p:attrName>
                                        </p:attrNameLst>
                                      </p:cBhvr>
                                      <p:tavLst>
                                        <p:tav tm="0">
                                          <p:val>
                                            <p:strVal val="1+#ppt_h/2"/>
                                          </p:val>
                                        </p:tav>
                                        <p:tav tm="100000">
                                          <p:val>
                                            <p:strVal val="#ppt_y"/>
                                          </p:val>
                                        </p:tav>
                                      </p:tavLst>
                                    </p:anim>
                                  </p:childTnLst>
                                </p:cTn>
                              </p:par>
                            </p:childTnLst>
                          </p:cTn>
                        </p:par>
                      </p:childTnLst>
                    </p:cTn>
                  </p:par>
                  <p:par>
                    <p:cTn id="69" fill="hold">
                      <p:stCondLst>
                        <p:cond delay="indefinite"/>
                      </p:stCondLst>
                      <p:childTnLst>
                        <p:par>
                          <p:cTn id="70" fill="hold">
                            <p:stCondLst>
                              <p:cond delay="0"/>
                            </p:stCondLst>
                            <p:childTnLst>
                              <p:par>
                                <p:cTn id="71" presetID="2" presetClass="entr" presetSubtype="4" fill="hold" grpId="0" nodeType="clickEffect">
                                  <p:stCondLst>
                                    <p:cond delay="0"/>
                                  </p:stCondLst>
                                  <p:childTnLst>
                                    <p:set>
                                      <p:cBhvr>
                                        <p:cTn id="72" dur="1" fill="hold">
                                          <p:stCondLst>
                                            <p:cond delay="0"/>
                                          </p:stCondLst>
                                        </p:cTn>
                                        <p:tgtEl>
                                          <p:spTgt spid="3">
                                            <p:txEl>
                                              <p:pRg st="11" end="11"/>
                                            </p:txEl>
                                          </p:spTgt>
                                        </p:tgtEl>
                                        <p:attrNameLst>
                                          <p:attrName>style.visibility</p:attrName>
                                        </p:attrNameLst>
                                      </p:cBhvr>
                                      <p:to>
                                        <p:strVal val="visible"/>
                                      </p:to>
                                    </p:set>
                                    <p:anim calcmode="lin" valueType="num">
                                      <p:cBhvr additive="base">
                                        <p:cTn id="73" dur="500" fill="hold"/>
                                        <p:tgtEl>
                                          <p:spTgt spid="3">
                                            <p:txEl>
                                              <p:pRg st="11" end="11"/>
                                            </p:txEl>
                                          </p:spTgt>
                                        </p:tgtEl>
                                        <p:attrNameLst>
                                          <p:attrName>ppt_x</p:attrName>
                                        </p:attrNameLst>
                                      </p:cBhvr>
                                      <p:tavLst>
                                        <p:tav tm="0">
                                          <p:val>
                                            <p:strVal val="#ppt_x"/>
                                          </p:val>
                                        </p:tav>
                                        <p:tav tm="100000">
                                          <p:val>
                                            <p:strVal val="#ppt_x"/>
                                          </p:val>
                                        </p:tav>
                                      </p:tavLst>
                                    </p:anim>
                                    <p:anim calcmode="lin" valueType="num">
                                      <p:cBhvr additive="base">
                                        <p:cTn id="74" dur="500" fill="hold"/>
                                        <p:tgtEl>
                                          <p:spTgt spid="3">
                                            <p:txEl>
                                              <p:pRg st="11" end="11"/>
                                            </p:txEl>
                                          </p:spTgt>
                                        </p:tgtEl>
                                        <p:attrNameLst>
                                          <p:attrName>ppt_y</p:attrName>
                                        </p:attrNameLst>
                                      </p:cBhvr>
                                      <p:tavLst>
                                        <p:tav tm="0">
                                          <p:val>
                                            <p:strVal val="1+#ppt_h/2"/>
                                          </p:val>
                                        </p:tav>
                                        <p:tav tm="100000">
                                          <p:val>
                                            <p:strVal val="#ppt_y"/>
                                          </p:val>
                                        </p:tav>
                                      </p:tavLst>
                                    </p:anim>
                                  </p:childTnLst>
                                </p:cTn>
                              </p:par>
                            </p:childTnLst>
                          </p:cTn>
                        </p:par>
                      </p:childTnLst>
                    </p:cTn>
                  </p:par>
                  <p:par>
                    <p:cTn id="75" fill="hold">
                      <p:stCondLst>
                        <p:cond delay="indefinite"/>
                      </p:stCondLst>
                      <p:childTnLst>
                        <p:par>
                          <p:cTn id="76" fill="hold">
                            <p:stCondLst>
                              <p:cond delay="0"/>
                            </p:stCondLst>
                            <p:childTnLst>
                              <p:par>
                                <p:cTn id="77" presetID="2" presetClass="entr" presetSubtype="4" fill="hold" grpId="0" nodeType="clickEffect">
                                  <p:stCondLst>
                                    <p:cond delay="0"/>
                                  </p:stCondLst>
                                  <p:childTnLst>
                                    <p:set>
                                      <p:cBhvr>
                                        <p:cTn id="78" dur="1" fill="hold">
                                          <p:stCondLst>
                                            <p:cond delay="0"/>
                                          </p:stCondLst>
                                        </p:cTn>
                                        <p:tgtEl>
                                          <p:spTgt spid="3">
                                            <p:txEl>
                                              <p:pRg st="12" end="12"/>
                                            </p:txEl>
                                          </p:spTgt>
                                        </p:tgtEl>
                                        <p:attrNameLst>
                                          <p:attrName>style.visibility</p:attrName>
                                        </p:attrNameLst>
                                      </p:cBhvr>
                                      <p:to>
                                        <p:strVal val="visible"/>
                                      </p:to>
                                    </p:set>
                                    <p:anim calcmode="lin" valueType="num">
                                      <p:cBhvr additive="base">
                                        <p:cTn id="79" dur="500" fill="hold"/>
                                        <p:tgtEl>
                                          <p:spTgt spid="3">
                                            <p:txEl>
                                              <p:pRg st="12" end="12"/>
                                            </p:txEl>
                                          </p:spTgt>
                                        </p:tgtEl>
                                        <p:attrNameLst>
                                          <p:attrName>ppt_x</p:attrName>
                                        </p:attrNameLst>
                                      </p:cBhvr>
                                      <p:tavLst>
                                        <p:tav tm="0">
                                          <p:val>
                                            <p:strVal val="#ppt_x"/>
                                          </p:val>
                                        </p:tav>
                                        <p:tav tm="100000">
                                          <p:val>
                                            <p:strVal val="#ppt_x"/>
                                          </p:val>
                                        </p:tav>
                                      </p:tavLst>
                                    </p:anim>
                                    <p:anim calcmode="lin" valueType="num">
                                      <p:cBhvr additive="base">
                                        <p:cTn id="80" dur="500" fill="hold"/>
                                        <p:tgtEl>
                                          <p:spTgt spid="3">
                                            <p:txEl>
                                              <p:pRg st="12" end="12"/>
                                            </p:txEl>
                                          </p:spTgt>
                                        </p:tgtEl>
                                        <p:attrNameLst>
                                          <p:attrName>ppt_y</p:attrName>
                                        </p:attrNameLst>
                                      </p:cBhvr>
                                      <p:tavLst>
                                        <p:tav tm="0">
                                          <p:val>
                                            <p:strVal val="1+#ppt_h/2"/>
                                          </p:val>
                                        </p:tav>
                                        <p:tav tm="100000">
                                          <p:val>
                                            <p:strVal val="#ppt_y"/>
                                          </p:val>
                                        </p:tav>
                                      </p:tavLst>
                                    </p:anim>
                                  </p:childTnLst>
                                </p:cTn>
                              </p:par>
                            </p:childTnLst>
                          </p:cTn>
                        </p:par>
                      </p:childTnLst>
                    </p:cTn>
                  </p:par>
                  <p:par>
                    <p:cTn id="81" fill="hold">
                      <p:stCondLst>
                        <p:cond delay="indefinite"/>
                      </p:stCondLst>
                      <p:childTnLst>
                        <p:par>
                          <p:cTn id="82" fill="hold">
                            <p:stCondLst>
                              <p:cond delay="0"/>
                            </p:stCondLst>
                            <p:childTnLst>
                              <p:par>
                                <p:cTn id="83" presetID="2" presetClass="entr" presetSubtype="4" fill="hold" grpId="0" nodeType="clickEffect">
                                  <p:stCondLst>
                                    <p:cond delay="0"/>
                                  </p:stCondLst>
                                  <p:childTnLst>
                                    <p:set>
                                      <p:cBhvr>
                                        <p:cTn id="84" dur="1" fill="hold">
                                          <p:stCondLst>
                                            <p:cond delay="0"/>
                                          </p:stCondLst>
                                        </p:cTn>
                                        <p:tgtEl>
                                          <p:spTgt spid="3">
                                            <p:txEl>
                                              <p:pRg st="13" end="13"/>
                                            </p:txEl>
                                          </p:spTgt>
                                        </p:tgtEl>
                                        <p:attrNameLst>
                                          <p:attrName>style.visibility</p:attrName>
                                        </p:attrNameLst>
                                      </p:cBhvr>
                                      <p:to>
                                        <p:strVal val="visible"/>
                                      </p:to>
                                    </p:set>
                                    <p:anim calcmode="lin" valueType="num">
                                      <p:cBhvr additive="base">
                                        <p:cTn id="85" dur="500" fill="hold"/>
                                        <p:tgtEl>
                                          <p:spTgt spid="3">
                                            <p:txEl>
                                              <p:pRg st="13" end="13"/>
                                            </p:txEl>
                                          </p:spTgt>
                                        </p:tgtEl>
                                        <p:attrNameLst>
                                          <p:attrName>ppt_x</p:attrName>
                                        </p:attrNameLst>
                                      </p:cBhvr>
                                      <p:tavLst>
                                        <p:tav tm="0">
                                          <p:val>
                                            <p:strVal val="#ppt_x"/>
                                          </p:val>
                                        </p:tav>
                                        <p:tav tm="100000">
                                          <p:val>
                                            <p:strVal val="#ppt_x"/>
                                          </p:val>
                                        </p:tav>
                                      </p:tavLst>
                                    </p:anim>
                                    <p:anim calcmode="lin" valueType="num">
                                      <p:cBhvr additive="base">
                                        <p:cTn id="86" dur="500" fill="hold"/>
                                        <p:tgtEl>
                                          <p:spTgt spid="3">
                                            <p:txEl>
                                              <p:pRg st="13" end="13"/>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4.xml><?xml version="1.0" encoding="utf-8"?>
<p:sld xmlns:a="http://schemas.openxmlformats.org/drawingml/2006/main" xmlns:r="http://schemas.openxmlformats.org/officeDocument/2006/relationships" xmlns:p="http://schemas.openxmlformats.org/presentationml/2006/main">
  <p:cSld>
    <p:bg>
      <p:bgPr>
        <a:gradFill flip="none" rotWithShape="1">
          <a:gsLst>
            <a:gs pos="98000">
              <a:srgbClr val="000A1E"/>
            </a:gs>
            <a:gs pos="0">
              <a:srgbClr val="002060"/>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3" name="Content Placeholder 2"/>
          <p:cNvSpPr>
            <a:spLocks noGrp="1"/>
          </p:cNvSpPr>
          <p:nvPr>
            <p:ph idx="1"/>
          </p:nvPr>
        </p:nvSpPr>
        <p:spPr>
          <a:xfrm>
            <a:off x="2438401" y="1701797"/>
            <a:ext cx="7772400" cy="5039571"/>
          </a:xfrm>
        </p:spPr>
        <p:txBody>
          <a:bodyPr/>
          <a:lstStyle/>
          <a:p>
            <a:r>
              <a:rPr lang="en-GB" dirty="0">
                <a:solidFill>
                  <a:schemeClr val="bg1">
                    <a:lumMod val="85000"/>
                  </a:schemeClr>
                </a:solidFill>
              </a:rPr>
              <a:t>This is a common problem which has been related to poor posture</a:t>
            </a:r>
          </a:p>
          <a:p>
            <a:pPr lvl="3"/>
            <a:r>
              <a:rPr lang="en-GB" dirty="0">
                <a:solidFill>
                  <a:schemeClr val="bg1">
                    <a:lumMod val="85000"/>
                  </a:schemeClr>
                </a:solidFill>
              </a:rPr>
              <a:t>Sitting at a PC all day without breaks, and with incorrect seating position</a:t>
            </a:r>
          </a:p>
          <a:p>
            <a:r>
              <a:rPr lang="en-GB" dirty="0">
                <a:solidFill>
                  <a:schemeClr val="bg1">
                    <a:lumMod val="85000"/>
                  </a:schemeClr>
                </a:solidFill>
              </a:rPr>
              <a:t>Possibly lead to mobility problems</a:t>
            </a:r>
          </a:p>
          <a:p>
            <a:r>
              <a:rPr lang="en-GB" dirty="0">
                <a:solidFill>
                  <a:schemeClr val="bg1">
                    <a:lumMod val="85000"/>
                  </a:schemeClr>
                </a:solidFill>
              </a:rPr>
              <a:t>Reduction of Back Problems</a:t>
            </a:r>
          </a:p>
          <a:p>
            <a:pPr lvl="4"/>
            <a:r>
              <a:rPr lang="en-GB" dirty="0">
                <a:solidFill>
                  <a:schemeClr val="bg1">
                    <a:lumMod val="85000"/>
                  </a:schemeClr>
                </a:solidFill>
              </a:rPr>
              <a:t>Use an adjustable chair (tilting, adjustable height) – one that supports your back</a:t>
            </a:r>
          </a:p>
          <a:p>
            <a:pPr lvl="4"/>
            <a:r>
              <a:rPr lang="en-GB" dirty="0">
                <a:solidFill>
                  <a:schemeClr val="bg1">
                    <a:lumMod val="85000"/>
                  </a:schemeClr>
                </a:solidFill>
              </a:rPr>
              <a:t>Taking regular breaks</a:t>
            </a:r>
          </a:p>
          <a:p>
            <a:pPr lvl="4"/>
            <a:r>
              <a:rPr lang="en-GB" dirty="0">
                <a:solidFill>
                  <a:schemeClr val="bg1">
                    <a:lumMod val="85000"/>
                  </a:schemeClr>
                </a:solidFill>
              </a:rPr>
              <a:t>Regularly exercising (walking/</a:t>
            </a:r>
            <a:r>
              <a:rPr lang="en-GB" dirty="0" err="1">
                <a:solidFill>
                  <a:schemeClr val="bg1">
                    <a:lumMod val="85000"/>
                  </a:schemeClr>
                </a:solidFill>
              </a:rPr>
              <a:t>etc</a:t>
            </a:r>
            <a:r>
              <a:rPr lang="en-GB" dirty="0">
                <a:solidFill>
                  <a:schemeClr val="bg1">
                    <a:lumMod val="85000"/>
                  </a:schemeClr>
                </a:solidFill>
              </a:rPr>
              <a:t> during break)</a:t>
            </a:r>
          </a:p>
          <a:p>
            <a:pPr lvl="4"/>
            <a:r>
              <a:rPr lang="en-GB" dirty="0">
                <a:solidFill>
                  <a:schemeClr val="bg1">
                    <a:lumMod val="85000"/>
                  </a:schemeClr>
                </a:solidFill>
              </a:rPr>
              <a:t>Ensure posture is correct when seated</a:t>
            </a:r>
          </a:p>
          <a:p>
            <a:pPr lvl="4"/>
            <a:endParaRPr lang="en-GB" dirty="0">
              <a:solidFill>
                <a:schemeClr val="bg1">
                  <a:lumMod val="85000"/>
                </a:schemeClr>
              </a:solidFill>
            </a:endParaRPr>
          </a:p>
          <a:p>
            <a:pPr marL="0" indent="0">
              <a:buNone/>
            </a:pPr>
            <a:endParaRPr lang="en-GB" dirty="0">
              <a:solidFill>
                <a:schemeClr val="bg1">
                  <a:lumMod val="85000"/>
                </a:schemeClr>
              </a:solidFill>
            </a:endParaRPr>
          </a:p>
        </p:txBody>
      </p:sp>
      <p:sp>
        <p:nvSpPr>
          <p:cNvPr id="4" name="Title 3"/>
          <p:cNvSpPr>
            <a:spLocks noGrp="1"/>
          </p:cNvSpPr>
          <p:nvPr>
            <p:ph type="title"/>
          </p:nvPr>
        </p:nvSpPr>
        <p:spPr/>
        <p:txBody>
          <a:bodyPr/>
          <a:lstStyle/>
          <a:p>
            <a:r>
              <a:rPr lang="en-GB" dirty="0">
                <a:solidFill>
                  <a:schemeClr val="bg1">
                    <a:lumMod val="85000"/>
                  </a:schemeClr>
                </a:solidFill>
              </a:rPr>
              <a:t>Back Pain</a:t>
            </a:r>
          </a:p>
        </p:txBody>
      </p:sp>
    </p:spTree>
    <p:extLst>
      <p:ext uri="{BB962C8B-B14F-4D97-AF65-F5344CB8AC3E}">
        <p14:creationId xmlns:p14="http://schemas.microsoft.com/office/powerpoint/2010/main" val="4177904313"/>
      </p:ext>
    </p:extLst>
  </p:cSld>
  <p:clrMapOvr>
    <a:masterClrMapping/>
  </p:clrMapOvr>
  <mc:AlternateContent xmlns:mc="http://schemas.openxmlformats.org/markup-compatibility/2006" xmlns:p14="http://schemas.microsoft.com/office/powerpoint/2010/main">
    <mc:Choice Requires="p14">
      <p:transition spd="slow" p14:dur="2000">
        <p14:prism isContent="1"/>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 calcmode="lin" valueType="num">
                                      <p:cBhvr additive="base">
                                        <p:cTn id="11"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 calcmode="lin" valueType="num">
                                      <p:cBhvr additive="base">
                                        <p:cTn id="17"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18"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2" presetClass="entr" presetSubtype="4" fill="hold" grpId="0" nodeType="clickEffect">
                                  <p:stCondLst>
                                    <p:cond delay="0"/>
                                  </p:stCondLst>
                                  <p:childTnLst>
                                    <p:set>
                                      <p:cBhvr>
                                        <p:cTn id="22" dur="1" fill="hold">
                                          <p:stCondLst>
                                            <p:cond delay="0"/>
                                          </p:stCondLst>
                                        </p:cTn>
                                        <p:tgtEl>
                                          <p:spTgt spid="3">
                                            <p:txEl>
                                              <p:pRg st="3" end="3"/>
                                            </p:txEl>
                                          </p:spTgt>
                                        </p:tgtEl>
                                        <p:attrNameLst>
                                          <p:attrName>style.visibility</p:attrName>
                                        </p:attrNameLst>
                                      </p:cBhvr>
                                      <p:to>
                                        <p:strVal val="visible"/>
                                      </p:to>
                                    </p:set>
                                    <p:anim calcmode="lin" valueType="num">
                                      <p:cBhvr additive="base">
                                        <p:cTn id="23"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4" dur="500" fill="hold"/>
                                        <p:tgtEl>
                                          <p:spTgt spid="3">
                                            <p:txEl>
                                              <p:pRg st="3" end="3"/>
                                            </p:txEl>
                                          </p:spTgt>
                                        </p:tgtEl>
                                        <p:attrNameLst>
                                          <p:attrName>ppt_y</p:attrName>
                                        </p:attrNameLst>
                                      </p:cBhvr>
                                      <p:tavLst>
                                        <p:tav tm="0">
                                          <p:val>
                                            <p:strVal val="1+#ppt_h/2"/>
                                          </p:val>
                                        </p:tav>
                                        <p:tav tm="100000">
                                          <p:val>
                                            <p:strVal val="#ppt_y"/>
                                          </p:val>
                                        </p:tav>
                                      </p:tavLst>
                                    </p:anim>
                                  </p:childTnLst>
                                </p:cTn>
                              </p:par>
                              <p:par>
                                <p:cTn id="25" presetID="2" presetClass="entr" presetSubtype="4" fill="hold" grpId="0" nodeType="with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 calcmode="lin" valueType="num">
                                      <p:cBhvr additive="base">
                                        <p:cTn id="27"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28" dur="500" fill="hold"/>
                                        <p:tgtEl>
                                          <p:spTgt spid="3">
                                            <p:txEl>
                                              <p:pRg st="4" end="4"/>
                                            </p:txEl>
                                          </p:spTgt>
                                        </p:tgtEl>
                                        <p:attrNameLst>
                                          <p:attrName>ppt_y</p:attrName>
                                        </p:attrNameLst>
                                      </p:cBhvr>
                                      <p:tavLst>
                                        <p:tav tm="0">
                                          <p:val>
                                            <p:strVal val="1+#ppt_h/2"/>
                                          </p:val>
                                        </p:tav>
                                        <p:tav tm="100000">
                                          <p:val>
                                            <p:strVal val="#ppt_y"/>
                                          </p:val>
                                        </p:tav>
                                      </p:tavLst>
                                    </p:anim>
                                  </p:childTnLst>
                                </p:cTn>
                              </p:par>
                              <p:par>
                                <p:cTn id="29" presetID="2" presetClass="entr" presetSubtype="4" fill="hold" grpId="0" nodeType="withEffect">
                                  <p:stCondLst>
                                    <p:cond delay="0"/>
                                  </p:stCondLst>
                                  <p:childTnLst>
                                    <p:set>
                                      <p:cBhvr>
                                        <p:cTn id="30" dur="1" fill="hold">
                                          <p:stCondLst>
                                            <p:cond delay="0"/>
                                          </p:stCondLst>
                                        </p:cTn>
                                        <p:tgtEl>
                                          <p:spTgt spid="3">
                                            <p:txEl>
                                              <p:pRg st="5" end="5"/>
                                            </p:txEl>
                                          </p:spTgt>
                                        </p:tgtEl>
                                        <p:attrNameLst>
                                          <p:attrName>style.visibility</p:attrName>
                                        </p:attrNameLst>
                                      </p:cBhvr>
                                      <p:to>
                                        <p:strVal val="visible"/>
                                      </p:to>
                                    </p:set>
                                    <p:anim calcmode="lin" valueType="num">
                                      <p:cBhvr additive="base">
                                        <p:cTn id="31"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5" end="5"/>
                                            </p:txEl>
                                          </p:spTgt>
                                        </p:tgtEl>
                                        <p:attrNameLst>
                                          <p:attrName>ppt_y</p:attrName>
                                        </p:attrNameLst>
                                      </p:cBhvr>
                                      <p:tavLst>
                                        <p:tav tm="0">
                                          <p:val>
                                            <p:strVal val="1+#ppt_h/2"/>
                                          </p:val>
                                        </p:tav>
                                        <p:tav tm="100000">
                                          <p:val>
                                            <p:strVal val="#ppt_y"/>
                                          </p:val>
                                        </p:tav>
                                      </p:tavLst>
                                    </p:anim>
                                  </p:childTnLst>
                                </p:cTn>
                              </p:par>
                              <p:par>
                                <p:cTn id="33" presetID="2" presetClass="entr" presetSubtype="4" fill="hold" grpId="0" nodeType="withEffect">
                                  <p:stCondLst>
                                    <p:cond delay="0"/>
                                  </p:stCondLst>
                                  <p:childTnLst>
                                    <p:set>
                                      <p:cBhvr>
                                        <p:cTn id="34" dur="1" fill="hold">
                                          <p:stCondLst>
                                            <p:cond delay="0"/>
                                          </p:stCondLst>
                                        </p:cTn>
                                        <p:tgtEl>
                                          <p:spTgt spid="3">
                                            <p:txEl>
                                              <p:pRg st="6" end="6"/>
                                            </p:txEl>
                                          </p:spTgt>
                                        </p:tgtEl>
                                        <p:attrNameLst>
                                          <p:attrName>style.visibility</p:attrName>
                                        </p:attrNameLst>
                                      </p:cBhvr>
                                      <p:to>
                                        <p:strVal val="visible"/>
                                      </p:to>
                                    </p:set>
                                    <p:anim calcmode="lin" valueType="num">
                                      <p:cBhvr additive="base">
                                        <p:cTn id="35"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36" dur="500" fill="hold"/>
                                        <p:tgtEl>
                                          <p:spTgt spid="3">
                                            <p:txEl>
                                              <p:pRg st="6" end="6"/>
                                            </p:txEl>
                                          </p:spTgt>
                                        </p:tgtEl>
                                        <p:attrNameLst>
                                          <p:attrName>ppt_y</p:attrName>
                                        </p:attrNameLst>
                                      </p:cBhvr>
                                      <p:tavLst>
                                        <p:tav tm="0">
                                          <p:val>
                                            <p:strVal val="1+#ppt_h/2"/>
                                          </p:val>
                                        </p:tav>
                                        <p:tav tm="100000">
                                          <p:val>
                                            <p:strVal val="#ppt_y"/>
                                          </p:val>
                                        </p:tav>
                                      </p:tavLst>
                                    </p:anim>
                                  </p:childTnLst>
                                </p:cTn>
                              </p:par>
                              <p:par>
                                <p:cTn id="37" presetID="2" presetClass="entr" presetSubtype="4" fill="hold" grpId="0" nodeType="withEffect">
                                  <p:stCondLst>
                                    <p:cond delay="0"/>
                                  </p:stCondLst>
                                  <p:childTnLst>
                                    <p:set>
                                      <p:cBhvr>
                                        <p:cTn id="38" dur="1" fill="hold">
                                          <p:stCondLst>
                                            <p:cond delay="0"/>
                                          </p:stCondLst>
                                        </p:cTn>
                                        <p:tgtEl>
                                          <p:spTgt spid="3">
                                            <p:txEl>
                                              <p:pRg st="7" end="7"/>
                                            </p:txEl>
                                          </p:spTgt>
                                        </p:tgtEl>
                                        <p:attrNameLst>
                                          <p:attrName>style.visibility</p:attrName>
                                        </p:attrNameLst>
                                      </p:cBhvr>
                                      <p:to>
                                        <p:strVal val="visible"/>
                                      </p:to>
                                    </p:set>
                                    <p:anim calcmode="lin" valueType="num">
                                      <p:cBhvr additive="base">
                                        <p:cTn id="39"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40"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5.xml><?xml version="1.0" encoding="utf-8"?>
<p:sld xmlns:a="http://schemas.openxmlformats.org/drawingml/2006/main" xmlns:r="http://schemas.openxmlformats.org/officeDocument/2006/relationships" xmlns:p="http://schemas.openxmlformats.org/presentationml/2006/main">
  <p:cSld>
    <p:bg>
      <p:bgPr>
        <a:gradFill flip="none" rotWithShape="1">
          <a:gsLst>
            <a:gs pos="98000">
              <a:srgbClr val="000A1E"/>
            </a:gs>
            <a:gs pos="0">
              <a:srgbClr val="002060"/>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3" name="Content Placeholder 2"/>
          <p:cNvSpPr>
            <a:spLocks noGrp="1"/>
          </p:cNvSpPr>
          <p:nvPr>
            <p:ph idx="1"/>
          </p:nvPr>
        </p:nvSpPr>
        <p:spPr>
          <a:xfrm>
            <a:off x="2438401" y="1701797"/>
            <a:ext cx="7772400" cy="5039571"/>
          </a:xfrm>
        </p:spPr>
        <p:txBody>
          <a:bodyPr/>
          <a:lstStyle/>
          <a:p>
            <a:r>
              <a:rPr lang="en-GB" dirty="0">
                <a:solidFill>
                  <a:schemeClr val="bg1">
                    <a:lumMod val="85000"/>
                  </a:schemeClr>
                </a:solidFill>
              </a:rPr>
              <a:t>This is a common problem caused by over-exposure to computer/digital screens</a:t>
            </a:r>
          </a:p>
          <a:p>
            <a:r>
              <a:rPr lang="en-GB" dirty="0">
                <a:solidFill>
                  <a:schemeClr val="bg1">
                    <a:lumMod val="85000"/>
                  </a:schemeClr>
                </a:solidFill>
              </a:rPr>
              <a:t>Can cause headaches, blurred vision, and bad eyesight</a:t>
            </a:r>
          </a:p>
          <a:p>
            <a:r>
              <a:rPr lang="en-GB" dirty="0">
                <a:solidFill>
                  <a:schemeClr val="bg1">
                    <a:lumMod val="85000"/>
                  </a:schemeClr>
                </a:solidFill>
              </a:rPr>
              <a:t>Reduction of Eye Strain</a:t>
            </a:r>
          </a:p>
          <a:p>
            <a:pPr lvl="4"/>
            <a:r>
              <a:rPr lang="en-GB" dirty="0">
                <a:solidFill>
                  <a:schemeClr val="bg1">
                    <a:lumMod val="85000"/>
                  </a:schemeClr>
                </a:solidFill>
              </a:rPr>
              <a:t>Using anti glare screens</a:t>
            </a:r>
          </a:p>
          <a:p>
            <a:pPr lvl="4"/>
            <a:r>
              <a:rPr lang="en-GB" dirty="0">
                <a:solidFill>
                  <a:schemeClr val="bg1">
                    <a:lumMod val="85000"/>
                  </a:schemeClr>
                </a:solidFill>
              </a:rPr>
              <a:t>Use an adjustable screen (swivel/</a:t>
            </a:r>
            <a:r>
              <a:rPr lang="en-GB" dirty="0" err="1">
                <a:solidFill>
                  <a:schemeClr val="bg1">
                    <a:lumMod val="85000"/>
                  </a:schemeClr>
                </a:solidFill>
              </a:rPr>
              <a:t>etc</a:t>
            </a:r>
            <a:r>
              <a:rPr lang="en-GB" dirty="0">
                <a:solidFill>
                  <a:schemeClr val="bg1">
                    <a:lumMod val="85000"/>
                  </a:schemeClr>
                </a:solidFill>
              </a:rPr>
              <a:t>) that can be adjusted to reduce glare</a:t>
            </a:r>
          </a:p>
          <a:p>
            <a:pPr lvl="4"/>
            <a:r>
              <a:rPr lang="en-GB" dirty="0">
                <a:solidFill>
                  <a:schemeClr val="bg1">
                    <a:lumMod val="85000"/>
                  </a:schemeClr>
                </a:solidFill>
              </a:rPr>
              <a:t>Adjust brightness/contrast on the monitor</a:t>
            </a:r>
          </a:p>
          <a:p>
            <a:pPr lvl="4"/>
            <a:r>
              <a:rPr lang="en-GB" dirty="0">
                <a:solidFill>
                  <a:schemeClr val="bg1">
                    <a:lumMod val="85000"/>
                  </a:schemeClr>
                </a:solidFill>
              </a:rPr>
              <a:t>Good natural light / brightly lit room</a:t>
            </a:r>
          </a:p>
          <a:p>
            <a:pPr lvl="4"/>
            <a:r>
              <a:rPr lang="en-GB" dirty="0">
                <a:solidFill>
                  <a:schemeClr val="bg1">
                    <a:lumMod val="85000"/>
                  </a:schemeClr>
                </a:solidFill>
              </a:rPr>
              <a:t>Have regular eye tests</a:t>
            </a:r>
          </a:p>
          <a:p>
            <a:pPr marL="0" indent="0">
              <a:buNone/>
            </a:pPr>
            <a:endParaRPr lang="en-GB" dirty="0"/>
          </a:p>
        </p:txBody>
      </p:sp>
      <p:sp>
        <p:nvSpPr>
          <p:cNvPr id="4" name="Title 3"/>
          <p:cNvSpPr>
            <a:spLocks noGrp="1"/>
          </p:cNvSpPr>
          <p:nvPr>
            <p:ph type="title"/>
          </p:nvPr>
        </p:nvSpPr>
        <p:spPr/>
        <p:txBody>
          <a:bodyPr/>
          <a:lstStyle/>
          <a:p>
            <a:r>
              <a:rPr lang="en-GB" dirty="0">
                <a:solidFill>
                  <a:schemeClr val="bg1">
                    <a:lumMod val="85000"/>
                  </a:schemeClr>
                </a:solidFill>
              </a:rPr>
              <a:t>Eye Strain</a:t>
            </a:r>
          </a:p>
        </p:txBody>
      </p:sp>
    </p:spTree>
    <p:extLst>
      <p:ext uri="{BB962C8B-B14F-4D97-AF65-F5344CB8AC3E}">
        <p14:creationId xmlns:p14="http://schemas.microsoft.com/office/powerpoint/2010/main" val="1592143344"/>
      </p:ext>
    </p:extLst>
  </p:cSld>
  <p:clrMapOvr>
    <a:masterClrMapping/>
  </p:clrMapOvr>
  <mc:AlternateContent xmlns:mc="http://schemas.openxmlformats.org/markup-compatibility/2006" xmlns:p14="http://schemas.microsoft.com/office/powerpoint/2010/main">
    <mc:Choice Requires="p14">
      <p:transition spd="slow" p14:dur="2000">
        <p14:prism isContent="1"/>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3">
                                            <p:txEl>
                                              <p:pRg st="3" end="3"/>
                                            </p:txEl>
                                          </p:spTgt>
                                        </p:tgtEl>
                                        <p:attrNameLst>
                                          <p:attrName>style.visibility</p:attrName>
                                        </p:attrNameLst>
                                      </p:cBhvr>
                                      <p:to>
                                        <p:strVal val="visible"/>
                                      </p:to>
                                    </p:set>
                                    <p:anim calcmode="lin" valueType="num">
                                      <p:cBhvr additive="base">
                                        <p:cTn id="23"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4" dur="500" fill="hold"/>
                                        <p:tgtEl>
                                          <p:spTgt spid="3">
                                            <p:txEl>
                                              <p:pRg st="3" end="3"/>
                                            </p:txEl>
                                          </p:spTgt>
                                        </p:tgtEl>
                                        <p:attrNameLst>
                                          <p:attrName>ppt_y</p:attrName>
                                        </p:attrNameLst>
                                      </p:cBhvr>
                                      <p:tavLst>
                                        <p:tav tm="0">
                                          <p:val>
                                            <p:strVal val="1+#ppt_h/2"/>
                                          </p:val>
                                        </p:tav>
                                        <p:tav tm="100000">
                                          <p:val>
                                            <p:strVal val="#ppt_y"/>
                                          </p:val>
                                        </p:tav>
                                      </p:tavLst>
                                    </p:anim>
                                  </p:childTnLst>
                                </p:cTn>
                              </p:par>
                              <p:par>
                                <p:cTn id="25" presetID="2" presetClass="entr" presetSubtype="4" fill="hold" grpId="0" nodeType="with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 calcmode="lin" valueType="num">
                                      <p:cBhvr additive="base">
                                        <p:cTn id="27"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28" dur="500" fill="hold"/>
                                        <p:tgtEl>
                                          <p:spTgt spid="3">
                                            <p:txEl>
                                              <p:pRg st="4" end="4"/>
                                            </p:txEl>
                                          </p:spTgt>
                                        </p:tgtEl>
                                        <p:attrNameLst>
                                          <p:attrName>ppt_y</p:attrName>
                                        </p:attrNameLst>
                                      </p:cBhvr>
                                      <p:tavLst>
                                        <p:tav tm="0">
                                          <p:val>
                                            <p:strVal val="1+#ppt_h/2"/>
                                          </p:val>
                                        </p:tav>
                                        <p:tav tm="100000">
                                          <p:val>
                                            <p:strVal val="#ppt_y"/>
                                          </p:val>
                                        </p:tav>
                                      </p:tavLst>
                                    </p:anim>
                                  </p:childTnLst>
                                </p:cTn>
                              </p:par>
                              <p:par>
                                <p:cTn id="29" presetID="2" presetClass="entr" presetSubtype="4" fill="hold" grpId="0" nodeType="withEffect">
                                  <p:stCondLst>
                                    <p:cond delay="0"/>
                                  </p:stCondLst>
                                  <p:childTnLst>
                                    <p:set>
                                      <p:cBhvr>
                                        <p:cTn id="30" dur="1" fill="hold">
                                          <p:stCondLst>
                                            <p:cond delay="0"/>
                                          </p:stCondLst>
                                        </p:cTn>
                                        <p:tgtEl>
                                          <p:spTgt spid="3">
                                            <p:txEl>
                                              <p:pRg st="5" end="5"/>
                                            </p:txEl>
                                          </p:spTgt>
                                        </p:tgtEl>
                                        <p:attrNameLst>
                                          <p:attrName>style.visibility</p:attrName>
                                        </p:attrNameLst>
                                      </p:cBhvr>
                                      <p:to>
                                        <p:strVal val="visible"/>
                                      </p:to>
                                    </p:set>
                                    <p:anim calcmode="lin" valueType="num">
                                      <p:cBhvr additive="base">
                                        <p:cTn id="31"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5" end="5"/>
                                            </p:txEl>
                                          </p:spTgt>
                                        </p:tgtEl>
                                        <p:attrNameLst>
                                          <p:attrName>ppt_y</p:attrName>
                                        </p:attrNameLst>
                                      </p:cBhvr>
                                      <p:tavLst>
                                        <p:tav tm="0">
                                          <p:val>
                                            <p:strVal val="1+#ppt_h/2"/>
                                          </p:val>
                                        </p:tav>
                                        <p:tav tm="100000">
                                          <p:val>
                                            <p:strVal val="#ppt_y"/>
                                          </p:val>
                                        </p:tav>
                                      </p:tavLst>
                                    </p:anim>
                                  </p:childTnLst>
                                </p:cTn>
                              </p:par>
                              <p:par>
                                <p:cTn id="33" presetID="2" presetClass="entr" presetSubtype="4" fill="hold" grpId="0" nodeType="withEffect">
                                  <p:stCondLst>
                                    <p:cond delay="0"/>
                                  </p:stCondLst>
                                  <p:childTnLst>
                                    <p:set>
                                      <p:cBhvr>
                                        <p:cTn id="34" dur="1" fill="hold">
                                          <p:stCondLst>
                                            <p:cond delay="0"/>
                                          </p:stCondLst>
                                        </p:cTn>
                                        <p:tgtEl>
                                          <p:spTgt spid="3">
                                            <p:txEl>
                                              <p:pRg st="6" end="6"/>
                                            </p:txEl>
                                          </p:spTgt>
                                        </p:tgtEl>
                                        <p:attrNameLst>
                                          <p:attrName>style.visibility</p:attrName>
                                        </p:attrNameLst>
                                      </p:cBhvr>
                                      <p:to>
                                        <p:strVal val="visible"/>
                                      </p:to>
                                    </p:set>
                                    <p:anim calcmode="lin" valueType="num">
                                      <p:cBhvr additive="base">
                                        <p:cTn id="35"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36" dur="500" fill="hold"/>
                                        <p:tgtEl>
                                          <p:spTgt spid="3">
                                            <p:txEl>
                                              <p:pRg st="6" end="6"/>
                                            </p:txEl>
                                          </p:spTgt>
                                        </p:tgtEl>
                                        <p:attrNameLst>
                                          <p:attrName>ppt_y</p:attrName>
                                        </p:attrNameLst>
                                      </p:cBhvr>
                                      <p:tavLst>
                                        <p:tav tm="0">
                                          <p:val>
                                            <p:strVal val="1+#ppt_h/2"/>
                                          </p:val>
                                        </p:tav>
                                        <p:tav tm="100000">
                                          <p:val>
                                            <p:strVal val="#ppt_y"/>
                                          </p:val>
                                        </p:tav>
                                      </p:tavLst>
                                    </p:anim>
                                  </p:childTnLst>
                                </p:cTn>
                              </p:par>
                              <p:par>
                                <p:cTn id="37" presetID="2" presetClass="entr" presetSubtype="4" fill="hold" grpId="0" nodeType="withEffect">
                                  <p:stCondLst>
                                    <p:cond delay="0"/>
                                  </p:stCondLst>
                                  <p:childTnLst>
                                    <p:set>
                                      <p:cBhvr>
                                        <p:cTn id="38" dur="1" fill="hold">
                                          <p:stCondLst>
                                            <p:cond delay="0"/>
                                          </p:stCondLst>
                                        </p:cTn>
                                        <p:tgtEl>
                                          <p:spTgt spid="3">
                                            <p:txEl>
                                              <p:pRg st="7" end="7"/>
                                            </p:txEl>
                                          </p:spTgt>
                                        </p:tgtEl>
                                        <p:attrNameLst>
                                          <p:attrName>style.visibility</p:attrName>
                                        </p:attrNameLst>
                                      </p:cBhvr>
                                      <p:to>
                                        <p:strVal val="visible"/>
                                      </p:to>
                                    </p:set>
                                    <p:anim calcmode="lin" valueType="num">
                                      <p:cBhvr additive="base">
                                        <p:cTn id="39"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40"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6.xml><?xml version="1.0" encoding="utf-8"?>
<p:sld xmlns:a="http://schemas.openxmlformats.org/drawingml/2006/main" xmlns:r="http://schemas.openxmlformats.org/officeDocument/2006/relationships" xmlns:p="http://schemas.openxmlformats.org/presentationml/2006/main">
  <p:cSld>
    <p:bg>
      <p:bgPr>
        <a:gradFill flip="none" rotWithShape="1">
          <a:gsLst>
            <a:gs pos="98000">
              <a:srgbClr val="000A1E"/>
            </a:gs>
            <a:gs pos="0">
              <a:srgbClr val="002060"/>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3" name="Content Placeholder 2"/>
          <p:cNvSpPr>
            <a:spLocks noGrp="1"/>
          </p:cNvSpPr>
          <p:nvPr>
            <p:ph idx="1"/>
          </p:nvPr>
        </p:nvSpPr>
        <p:spPr>
          <a:xfrm>
            <a:off x="2438401" y="1701797"/>
            <a:ext cx="7772400" cy="5039571"/>
          </a:xfrm>
        </p:spPr>
        <p:txBody>
          <a:bodyPr/>
          <a:lstStyle/>
          <a:p>
            <a:r>
              <a:rPr lang="en-GB" dirty="0">
                <a:solidFill>
                  <a:schemeClr val="bg1">
                    <a:lumMod val="85000"/>
                  </a:schemeClr>
                </a:solidFill>
              </a:rPr>
              <a:t>Older monitors emit very low levels of </a:t>
            </a:r>
            <a:r>
              <a:rPr lang="en-GB" b="1" dirty="0">
                <a:solidFill>
                  <a:schemeClr val="bg1">
                    <a:lumMod val="85000"/>
                  </a:schemeClr>
                </a:solidFill>
              </a:rPr>
              <a:t>extremely low frequency radiation</a:t>
            </a:r>
          </a:p>
          <a:p>
            <a:r>
              <a:rPr lang="en-GB" b="1" dirty="0">
                <a:solidFill>
                  <a:schemeClr val="bg1">
                    <a:lumMod val="85000"/>
                  </a:schemeClr>
                </a:solidFill>
              </a:rPr>
              <a:t>LCD</a:t>
            </a:r>
            <a:r>
              <a:rPr lang="en-GB" dirty="0">
                <a:solidFill>
                  <a:schemeClr val="bg1">
                    <a:lumMod val="85000"/>
                  </a:schemeClr>
                </a:solidFill>
              </a:rPr>
              <a:t> screens emit virtually no radiation</a:t>
            </a:r>
          </a:p>
          <a:p>
            <a:endParaRPr lang="en-GB" dirty="0">
              <a:solidFill>
                <a:schemeClr val="bg1">
                  <a:lumMod val="85000"/>
                </a:schemeClr>
              </a:solidFill>
            </a:endParaRPr>
          </a:p>
          <a:p>
            <a:endParaRPr lang="en-GB" dirty="0">
              <a:solidFill>
                <a:schemeClr val="bg1">
                  <a:lumMod val="85000"/>
                </a:schemeClr>
              </a:solidFill>
            </a:endParaRPr>
          </a:p>
          <a:p>
            <a:pPr marL="0" indent="0">
              <a:buNone/>
            </a:pPr>
            <a:r>
              <a:rPr lang="en-GB" dirty="0">
                <a:solidFill>
                  <a:schemeClr val="bg1">
                    <a:lumMod val="85000"/>
                  </a:schemeClr>
                </a:solidFill>
              </a:rPr>
              <a:t>Solutions:</a:t>
            </a:r>
          </a:p>
          <a:p>
            <a:r>
              <a:rPr lang="en-GB" dirty="0">
                <a:solidFill>
                  <a:schemeClr val="bg1">
                    <a:lumMod val="85000"/>
                  </a:schemeClr>
                </a:solidFill>
              </a:rPr>
              <a:t>Best to sit at least 2 feet from the monitor.</a:t>
            </a:r>
          </a:p>
          <a:p>
            <a:r>
              <a:rPr lang="en-GB" dirty="0">
                <a:solidFill>
                  <a:schemeClr val="bg1">
                    <a:lumMod val="85000"/>
                  </a:schemeClr>
                </a:solidFill>
              </a:rPr>
              <a:t>Cover the screen with an anti-radiation protector</a:t>
            </a:r>
          </a:p>
          <a:p>
            <a:r>
              <a:rPr lang="en-GB" dirty="0">
                <a:solidFill>
                  <a:schemeClr val="bg1">
                    <a:lumMod val="85000"/>
                  </a:schemeClr>
                </a:solidFill>
              </a:rPr>
              <a:t>Restrict time in front of monitor.</a:t>
            </a:r>
          </a:p>
          <a:p>
            <a:pPr marL="0" indent="0">
              <a:buNone/>
            </a:pPr>
            <a:endParaRPr lang="en-GB" dirty="0"/>
          </a:p>
        </p:txBody>
      </p:sp>
      <p:sp>
        <p:nvSpPr>
          <p:cNvPr id="4" name="Title 3"/>
          <p:cNvSpPr>
            <a:spLocks noGrp="1"/>
          </p:cNvSpPr>
          <p:nvPr>
            <p:ph type="title"/>
          </p:nvPr>
        </p:nvSpPr>
        <p:spPr/>
        <p:txBody>
          <a:bodyPr/>
          <a:lstStyle/>
          <a:p>
            <a:r>
              <a:rPr lang="en-GB" dirty="0">
                <a:solidFill>
                  <a:schemeClr val="bg1">
                    <a:lumMod val="85000"/>
                  </a:schemeClr>
                </a:solidFill>
              </a:rPr>
              <a:t>ELF Radiation</a:t>
            </a:r>
          </a:p>
        </p:txBody>
      </p:sp>
    </p:spTree>
    <p:extLst>
      <p:ext uri="{BB962C8B-B14F-4D97-AF65-F5344CB8AC3E}">
        <p14:creationId xmlns:p14="http://schemas.microsoft.com/office/powerpoint/2010/main" val="831627345"/>
      </p:ext>
    </p:extLst>
  </p:cSld>
  <p:clrMapOvr>
    <a:masterClrMapping/>
  </p:clrMapOvr>
  <mc:AlternateContent xmlns:mc="http://schemas.openxmlformats.org/markup-compatibility/2006" xmlns:p14="http://schemas.microsoft.com/office/powerpoint/2010/main">
    <mc:Choice Requires="p14">
      <p:transition spd="slow" p14:dur="2000">
        <p14:prism isContent="1"/>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anim calcmode="lin" valueType="num">
                                      <p:cBhvr additive="base">
                                        <p:cTn id="19"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
                                            <p:txEl>
                                              <p:pRg st="5" end="5"/>
                                            </p:txEl>
                                          </p:spTgt>
                                        </p:tgtEl>
                                        <p:attrNameLst>
                                          <p:attrName>style.visibility</p:attrName>
                                        </p:attrNameLst>
                                      </p:cBhvr>
                                      <p:to>
                                        <p:strVal val="visible"/>
                                      </p:to>
                                    </p:set>
                                    <p:anim calcmode="lin" valueType="num">
                                      <p:cBhvr additive="base">
                                        <p:cTn id="25"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anim calcmode="lin" valueType="num">
                                      <p:cBhvr additive="base">
                                        <p:cTn id="31"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3">
                                            <p:txEl>
                                              <p:pRg st="7" end="7"/>
                                            </p:txEl>
                                          </p:spTgt>
                                        </p:tgtEl>
                                        <p:attrNameLst>
                                          <p:attrName>style.visibility</p:attrName>
                                        </p:attrNameLst>
                                      </p:cBhvr>
                                      <p:to>
                                        <p:strVal val="visible"/>
                                      </p:to>
                                    </p:set>
                                    <p:anim calcmode="lin" valueType="num">
                                      <p:cBhvr additive="base">
                                        <p:cTn id="37"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7.xml><?xml version="1.0" encoding="utf-8"?>
<p:sld xmlns:a="http://schemas.openxmlformats.org/drawingml/2006/main" xmlns:r="http://schemas.openxmlformats.org/officeDocument/2006/relationships" xmlns:p="http://schemas.openxmlformats.org/presentationml/2006/main">
  <p:cSld>
    <p:bg>
      <p:bgPr>
        <a:gradFill flip="none" rotWithShape="1">
          <a:gsLst>
            <a:gs pos="98000">
              <a:srgbClr val="000A1E"/>
            </a:gs>
            <a:gs pos="0">
              <a:srgbClr val="002060"/>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13" name="Title 12"/>
          <p:cNvSpPr>
            <a:spLocks noGrp="1"/>
          </p:cNvSpPr>
          <p:nvPr>
            <p:ph type="title"/>
          </p:nvPr>
        </p:nvSpPr>
        <p:spPr>
          <a:xfrm>
            <a:off x="-4849216" y="5593478"/>
            <a:ext cx="7772400" cy="1223963"/>
          </a:xfrm>
        </p:spPr>
        <p:txBody>
          <a:bodyPr/>
          <a:lstStyle/>
          <a:p>
            <a:pPr algn="r"/>
            <a:r>
              <a:rPr lang="en-US" dirty="0" err="1"/>
              <a:t>WALTer</a:t>
            </a:r>
            <a:endParaRPr lang="en-US" dirty="0"/>
          </a:p>
        </p:txBody>
      </p:sp>
      <p:sp>
        <p:nvSpPr>
          <p:cNvPr id="5" name="Rectangular Callout 4"/>
          <p:cNvSpPr/>
          <p:nvPr/>
        </p:nvSpPr>
        <p:spPr>
          <a:xfrm>
            <a:off x="2438402" y="274638"/>
            <a:ext cx="6753943" cy="3802435"/>
          </a:xfrm>
          <a:prstGeom prst="wedgeRectCallout">
            <a:avLst>
              <a:gd name="adj1" fmla="val 39579"/>
              <a:gd name="adj2" fmla="val 65533"/>
            </a:avLst>
          </a:prstGeom>
          <a:noFill/>
          <a:ln w="63500" cmpd="db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457200" indent="-457200">
              <a:buFont typeface="Arial" panose="020B0604020202020204" pitchFamily="34" charset="0"/>
              <a:buChar char="•"/>
            </a:pPr>
            <a:endParaRPr lang="en-GB" sz="2800" dirty="0"/>
          </a:p>
        </p:txBody>
      </p:sp>
      <p:pic>
        <p:nvPicPr>
          <p:cNvPr id="2" name="Content Placeholder 1"/>
          <p:cNvPicPr>
            <a:picLocks noGrp="1" noChangeAspect="1"/>
          </p:cNvPicPr>
          <p:nvPr>
            <p:ph idx="1"/>
          </p:nvPr>
        </p:nvPicPr>
        <p:blipFill>
          <a:blip r:embed="rId2" cstate="print">
            <a:extLst>
              <a:ext uri="{28A0092B-C50C-407E-A947-70E740481C1C}">
                <a14:useLocalDpi xmlns:a14="http://schemas.microsoft.com/office/drawing/2010/main" val="0"/>
              </a:ext>
            </a:extLst>
          </a:blip>
          <a:stretch>
            <a:fillRect/>
          </a:stretch>
        </p:blipFill>
        <p:spPr>
          <a:xfrm>
            <a:off x="8112225" y="3510282"/>
            <a:ext cx="2495905" cy="3347719"/>
          </a:xfrm>
        </p:spPr>
      </p:pic>
      <p:sp>
        <p:nvSpPr>
          <p:cNvPr id="3" name="TextBox 2"/>
          <p:cNvSpPr txBox="1"/>
          <p:nvPr/>
        </p:nvSpPr>
        <p:spPr>
          <a:xfrm>
            <a:off x="2510408" y="406139"/>
            <a:ext cx="6897960" cy="3539430"/>
          </a:xfrm>
          <a:prstGeom prst="rect">
            <a:avLst/>
          </a:prstGeom>
          <a:noFill/>
        </p:spPr>
        <p:txBody>
          <a:bodyPr wrap="square" rtlCol="0">
            <a:spAutoFit/>
          </a:bodyPr>
          <a:lstStyle/>
          <a:p>
            <a:pPr marL="457200" indent="-457200">
              <a:buFont typeface="Arial" panose="020B0604020202020204" pitchFamily="34" charset="0"/>
              <a:buChar char="•"/>
            </a:pPr>
            <a:r>
              <a:rPr lang="en-GB" sz="2800" dirty="0">
                <a:solidFill>
                  <a:schemeClr val="bg1">
                    <a:lumMod val="85000"/>
                  </a:schemeClr>
                </a:solidFill>
              </a:rPr>
              <a:t>Identify the Health and Safety issues related to Digital Technology</a:t>
            </a:r>
          </a:p>
          <a:p>
            <a:pPr marL="457200" indent="-457200">
              <a:buFont typeface="Arial" panose="020B0604020202020204" pitchFamily="34" charset="0"/>
              <a:buChar char="•"/>
            </a:pPr>
            <a:endParaRPr lang="en-GB" sz="2800" dirty="0">
              <a:solidFill>
                <a:schemeClr val="bg1">
                  <a:lumMod val="85000"/>
                </a:schemeClr>
              </a:solidFill>
            </a:endParaRPr>
          </a:p>
          <a:p>
            <a:pPr marL="457200" indent="-457200">
              <a:buFont typeface="Arial" panose="020B0604020202020204" pitchFamily="34" charset="0"/>
              <a:buChar char="•"/>
            </a:pPr>
            <a:r>
              <a:rPr lang="en-GB" sz="2800" dirty="0">
                <a:solidFill>
                  <a:schemeClr val="bg1">
                    <a:lumMod val="85000"/>
                  </a:schemeClr>
                </a:solidFill>
              </a:rPr>
              <a:t>Apply your knowledge to suggest why these issues arise</a:t>
            </a:r>
          </a:p>
          <a:p>
            <a:pPr marL="457200" indent="-457200">
              <a:buFont typeface="Arial" panose="020B0604020202020204" pitchFamily="34" charset="0"/>
              <a:buChar char="•"/>
            </a:pPr>
            <a:endParaRPr lang="en-GB" sz="2800" dirty="0">
              <a:solidFill>
                <a:schemeClr val="bg1">
                  <a:lumMod val="85000"/>
                </a:schemeClr>
              </a:solidFill>
            </a:endParaRPr>
          </a:p>
          <a:p>
            <a:pPr marL="457200" indent="-457200">
              <a:buFont typeface="Arial" panose="020B0604020202020204" pitchFamily="34" charset="0"/>
              <a:buChar char="•"/>
            </a:pPr>
            <a:r>
              <a:rPr lang="en-GB" sz="2800" dirty="0">
                <a:solidFill>
                  <a:schemeClr val="bg1">
                    <a:lumMod val="85000"/>
                  </a:schemeClr>
                </a:solidFill>
              </a:rPr>
              <a:t>Offer a possible solution to eradicate or reduce these problems</a:t>
            </a:r>
          </a:p>
        </p:txBody>
      </p:sp>
    </p:spTree>
    <p:extLst>
      <p:ext uri="{BB962C8B-B14F-4D97-AF65-F5344CB8AC3E}">
        <p14:creationId xmlns:p14="http://schemas.microsoft.com/office/powerpoint/2010/main" val="3772218981"/>
      </p:ext>
    </p:extLst>
  </p:cSld>
  <p:clrMapOvr>
    <a:masterClrMapping/>
  </p:clrMapOvr>
  <mc:AlternateContent xmlns:mc="http://schemas.openxmlformats.org/markup-compatibility/2006" xmlns:p14="http://schemas.microsoft.com/office/powerpoint/2010/main">
    <mc:Choice Requires="p14">
      <p:transition spd="slow" p14:dur="2000">
        <p14:prism isContent="1"/>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1+#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par>
                                <p:cTn id="9" presetID="2" presetClass="entr" presetSubtype="6"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anim calcmode="lin" valueType="num">
                                      <p:cBhvr additive="base">
                                        <p:cTn id="11" dur="500" fill="hold"/>
                                        <p:tgtEl>
                                          <p:spTgt spid="5"/>
                                        </p:tgtEl>
                                        <p:attrNameLst>
                                          <p:attrName>ppt_x</p:attrName>
                                        </p:attrNameLst>
                                      </p:cBhvr>
                                      <p:tavLst>
                                        <p:tav tm="0">
                                          <p:val>
                                            <p:strVal val="1+#ppt_w/2"/>
                                          </p:val>
                                        </p:tav>
                                        <p:tav tm="100000">
                                          <p:val>
                                            <p:strVal val="#ppt_x"/>
                                          </p:val>
                                        </p:tav>
                                      </p:tavLst>
                                    </p:anim>
                                    <p:anim calcmode="lin" valueType="num">
                                      <p:cBhvr additive="base">
                                        <p:cTn id="12" dur="500" fill="hold"/>
                                        <p:tgtEl>
                                          <p:spTgt spid="5"/>
                                        </p:tgtEl>
                                        <p:attrNameLst>
                                          <p:attrName>ppt_y</p:attrName>
                                        </p:attrNameLst>
                                      </p:cBhvr>
                                      <p:tavLst>
                                        <p:tav tm="0">
                                          <p:val>
                                            <p:strVal val="1+#ppt_h/2"/>
                                          </p:val>
                                        </p:tav>
                                        <p:tav tm="100000">
                                          <p:val>
                                            <p:strVal val="#ppt_y"/>
                                          </p:val>
                                        </p:tav>
                                      </p:tavLst>
                                    </p:anim>
                                  </p:childTnLst>
                                </p:cTn>
                              </p:par>
                            </p:childTnLst>
                          </p:cTn>
                        </p:par>
                        <p:par>
                          <p:cTn id="13" fill="hold">
                            <p:stCondLst>
                              <p:cond delay="500"/>
                            </p:stCondLst>
                            <p:childTnLst>
                              <p:par>
                                <p:cTn id="14" presetID="10" presetClass="entr" presetSubtype="0" fill="hold" grpId="0" nodeType="afterEffect">
                                  <p:stCondLst>
                                    <p:cond delay="0"/>
                                  </p:stCondLst>
                                  <p:childTnLst>
                                    <p:set>
                                      <p:cBhvr>
                                        <p:cTn id="15" dur="1" fill="hold">
                                          <p:stCondLst>
                                            <p:cond delay="0"/>
                                          </p:stCondLst>
                                        </p:cTn>
                                        <p:tgtEl>
                                          <p:spTgt spid="3"/>
                                        </p:tgtEl>
                                        <p:attrNameLst>
                                          <p:attrName>style.visibility</p:attrName>
                                        </p:attrNameLst>
                                      </p:cBhvr>
                                      <p:to>
                                        <p:strVal val="visible"/>
                                      </p:to>
                                    </p:set>
                                    <p:animEffect transition="in" filter="fade">
                                      <p:cBhvr>
                                        <p:cTn id="16" dur="29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3" grpId="0"/>
    </p:bldLst>
  </p:timing>
</p:sld>
</file>

<file path=ppt/slides/slide48.xml><?xml version="1.0" encoding="utf-8"?>
<p:sld xmlns:a="http://schemas.openxmlformats.org/drawingml/2006/main" xmlns:r="http://schemas.openxmlformats.org/officeDocument/2006/relationships" xmlns:p="http://schemas.openxmlformats.org/presentationml/2006/main">
  <p:cSld>
    <p:bg>
      <p:bgPr>
        <a:gradFill flip="none" rotWithShape="1">
          <a:gsLst>
            <a:gs pos="98000">
              <a:srgbClr val="000A1E"/>
            </a:gs>
            <a:gs pos="0">
              <a:srgbClr val="002060"/>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961E26-31CA-469F-8B59-FB63B4E52591}"/>
              </a:ext>
            </a:extLst>
          </p:cNvPr>
          <p:cNvSpPr>
            <a:spLocks noGrp="1"/>
          </p:cNvSpPr>
          <p:nvPr>
            <p:ph type="ctrTitle"/>
          </p:nvPr>
        </p:nvSpPr>
        <p:spPr/>
        <p:txBody>
          <a:bodyPr/>
          <a:lstStyle/>
          <a:p>
            <a:r>
              <a:rPr lang="en-GB" dirty="0">
                <a:solidFill>
                  <a:schemeClr val="bg1">
                    <a:lumMod val="85000"/>
                  </a:schemeClr>
                </a:solidFill>
              </a:rPr>
              <a:t>Health and Safety in the Workplace</a:t>
            </a:r>
          </a:p>
        </p:txBody>
      </p:sp>
      <p:sp>
        <p:nvSpPr>
          <p:cNvPr id="3" name="Subtitle 2">
            <a:extLst>
              <a:ext uri="{FF2B5EF4-FFF2-40B4-BE49-F238E27FC236}">
                <a16:creationId xmlns:a16="http://schemas.microsoft.com/office/drawing/2014/main" id="{6421F440-02A9-433E-B9EE-044B905AB23C}"/>
              </a:ext>
            </a:extLst>
          </p:cNvPr>
          <p:cNvSpPr>
            <a:spLocks noGrp="1"/>
          </p:cNvSpPr>
          <p:nvPr>
            <p:ph type="subTitle" idx="1"/>
          </p:nvPr>
        </p:nvSpPr>
        <p:spPr/>
        <p:txBody>
          <a:bodyPr/>
          <a:lstStyle/>
          <a:p>
            <a:r>
              <a:rPr lang="en-GB" dirty="0">
                <a:solidFill>
                  <a:schemeClr val="bg1">
                    <a:lumMod val="85000"/>
                  </a:schemeClr>
                </a:solidFill>
              </a:rPr>
              <a:t>Teleworking | Employers Obligations </a:t>
            </a:r>
          </a:p>
        </p:txBody>
      </p:sp>
    </p:spTree>
    <p:extLst>
      <p:ext uri="{BB962C8B-B14F-4D97-AF65-F5344CB8AC3E}">
        <p14:creationId xmlns:p14="http://schemas.microsoft.com/office/powerpoint/2010/main" val="207357498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bg>
      <p:bgPr>
        <a:gradFill flip="none" rotWithShape="1">
          <a:gsLst>
            <a:gs pos="98000">
              <a:srgbClr val="000A1E"/>
            </a:gs>
            <a:gs pos="0">
              <a:srgbClr val="002060"/>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3A37C3-E2B9-4D1D-A813-C8E8B9A52184}"/>
              </a:ext>
            </a:extLst>
          </p:cNvPr>
          <p:cNvSpPr>
            <a:spLocks noGrp="1"/>
          </p:cNvSpPr>
          <p:nvPr>
            <p:ph type="title"/>
          </p:nvPr>
        </p:nvSpPr>
        <p:spPr/>
        <p:txBody>
          <a:bodyPr/>
          <a:lstStyle/>
          <a:p>
            <a:r>
              <a:rPr lang="en-GB" dirty="0" err="1">
                <a:solidFill>
                  <a:schemeClr val="bg1">
                    <a:lumMod val="85000"/>
                  </a:schemeClr>
                </a:solidFill>
              </a:rPr>
              <a:t>WALT</a:t>
            </a:r>
            <a:r>
              <a:rPr lang="en-GB" cap="none" dirty="0" err="1">
                <a:solidFill>
                  <a:schemeClr val="bg1">
                    <a:lumMod val="85000"/>
                  </a:schemeClr>
                </a:solidFill>
              </a:rPr>
              <a:t>er</a:t>
            </a:r>
            <a:endParaRPr lang="en-GB" dirty="0">
              <a:solidFill>
                <a:schemeClr val="bg1">
                  <a:lumMod val="85000"/>
                </a:schemeClr>
              </a:solidFill>
            </a:endParaRPr>
          </a:p>
        </p:txBody>
      </p:sp>
      <p:pic>
        <p:nvPicPr>
          <p:cNvPr id="4" name="Content Placeholder 1">
            <a:extLst>
              <a:ext uri="{FF2B5EF4-FFF2-40B4-BE49-F238E27FC236}">
                <a16:creationId xmlns:a16="http://schemas.microsoft.com/office/drawing/2014/main" id="{4E13202A-6AB1-4326-A914-CAD023A42BE4}"/>
              </a:ext>
            </a:extLst>
          </p:cNvPr>
          <p:cNvPicPr>
            <a:picLocks noGrp="1" noChangeAspect="1"/>
          </p:cNvPicPr>
          <p:nvPr/>
        </p:nvPicPr>
        <p:blipFill>
          <a:blip r:embed="rId2" cstate="print">
            <a:extLst>
              <a:ext uri="{28A0092B-C50C-407E-A947-70E740481C1C}">
                <a14:useLocalDpi xmlns:a14="http://schemas.microsoft.com/office/drawing/2010/main" val="0"/>
              </a:ext>
            </a:extLst>
          </a:blip>
          <a:stretch>
            <a:fillRect/>
          </a:stretch>
        </p:blipFill>
        <p:spPr>
          <a:xfrm>
            <a:off x="8796072" y="4399504"/>
            <a:ext cx="1871929" cy="2510789"/>
          </a:xfrm>
          <a:prstGeom prst="rect">
            <a:avLst/>
          </a:prstGeom>
        </p:spPr>
      </p:pic>
      <p:sp>
        <p:nvSpPr>
          <p:cNvPr id="5" name="Speech Bubble: Rectangle 4">
            <a:extLst>
              <a:ext uri="{FF2B5EF4-FFF2-40B4-BE49-F238E27FC236}">
                <a16:creationId xmlns:a16="http://schemas.microsoft.com/office/drawing/2014/main" id="{68993BD5-E96D-4564-87B9-E78F2A76CC04}"/>
              </a:ext>
            </a:extLst>
          </p:cNvPr>
          <p:cNvSpPr/>
          <p:nvPr/>
        </p:nvSpPr>
        <p:spPr>
          <a:xfrm>
            <a:off x="2430012" y="1628801"/>
            <a:ext cx="6762333" cy="3384375"/>
          </a:xfrm>
          <a:prstGeom prst="wedgeRectCallout">
            <a:avLst>
              <a:gd name="adj1" fmla="val 49157"/>
              <a:gd name="adj2" fmla="val 61088"/>
            </a:avLst>
          </a:prstGeom>
          <a:noFill/>
          <a:ln w="57150">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14313" indent="-214313">
              <a:buFont typeface="Arial" panose="020B0604020202020204" pitchFamily="34" charset="0"/>
              <a:buChar char="•"/>
            </a:pPr>
            <a:r>
              <a:rPr lang="en-GB" dirty="0"/>
              <a:t>List 5 hazards related to ICT that should be addressed by an employer.</a:t>
            </a:r>
          </a:p>
          <a:p>
            <a:pPr marL="214313" indent="-214313">
              <a:buFont typeface="Arial" panose="020B0604020202020204" pitchFamily="34" charset="0"/>
              <a:buChar char="•"/>
            </a:pPr>
            <a:r>
              <a:rPr lang="en-GB" dirty="0"/>
              <a:t>Surmise how employers can address these issues in the workplace</a:t>
            </a:r>
          </a:p>
          <a:p>
            <a:pPr marL="214313" indent="-214313">
              <a:buFont typeface="Arial" panose="020B0604020202020204" pitchFamily="34" charset="0"/>
              <a:buChar char="•"/>
            </a:pPr>
            <a:r>
              <a:rPr lang="en-GB" dirty="0"/>
              <a:t>Explain the Term “Teleworking”</a:t>
            </a:r>
          </a:p>
          <a:p>
            <a:pPr marL="214313" indent="-214313">
              <a:buFont typeface="Arial" panose="020B0604020202020204" pitchFamily="34" charset="0"/>
              <a:buChar char="•"/>
            </a:pPr>
            <a:r>
              <a:rPr lang="en-GB" dirty="0"/>
              <a:t>Give three examples of health problems associated with teleworking</a:t>
            </a:r>
          </a:p>
          <a:p>
            <a:pPr marL="214313" indent="-214313">
              <a:buFont typeface="Arial" panose="020B0604020202020204" pitchFamily="34" charset="0"/>
              <a:buChar char="•"/>
            </a:pPr>
            <a:r>
              <a:rPr lang="en-GB" dirty="0"/>
              <a:t>Describe the causes, symptoms and prevention of Deep Vein Thrombosis</a:t>
            </a:r>
          </a:p>
          <a:p>
            <a:pPr algn="ctr"/>
            <a:r>
              <a:rPr lang="en-GB" dirty="0"/>
              <a:t> </a:t>
            </a:r>
          </a:p>
        </p:txBody>
      </p:sp>
    </p:spTree>
    <p:extLst>
      <p:ext uri="{BB962C8B-B14F-4D97-AF65-F5344CB8AC3E}">
        <p14:creationId xmlns:p14="http://schemas.microsoft.com/office/powerpoint/2010/main" val="422608096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par>
                          <p:cTn id="9" fill="hold">
                            <p:stCondLst>
                              <p:cond delay="500"/>
                            </p:stCondLst>
                            <p:childTnLst>
                              <p:par>
                                <p:cTn id="10" presetID="2" presetClass="entr" presetSubtype="6" fill="hold" grpId="0" nodeType="afterEffect">
                                  <p:stCondLst>
                                    <p:cond delay="0"/>
                                  </p:stCondLst>
                                  <p:childTnLst>
                                    <p:set>
                                      <p:cBhvr>
                                        <p:cTn id="11" dur="1" fill="hold">
                                          <p:stCondLst>
                                            <p:cond delay="0"/>
                                          </p:stCondLst>
                                        </p:cTn>
                                        <p:tgtEl>
                                          <p:spTgt spid="5"/>
                                        </p:tgtEl>
                                        <p:attrNameLst>
                                          <p:attrName>style.visibility</p:attrName>
                                        </p:attrNameLst>
                                      </p:cBhvr>
                                      <p:to>
                                        <p:strVal val="visible"/>
                                      </p:to>
                                    </p:set>
                                    <p:anim calcmode="lin" valueType="num">
                                      <p:cBhvr additive="base">
                                        <p:cTn id="12" dur="500" fill="hold"/>
                                        <p:tgtEl>
                                          <p:spTgt spid="5"/>
                                        </p:tgtEl>
                                        <p:attrNameLst>
                                          <p:attrName>ppt_x</p:attrName>
                                        </p:attrNameLst>
                                      </p:cBhvr>
                                      <p:tavLst>
                                        <p:tav tm="0">
                                          <p:val>
                                            <p:strVal val="1+#ppt_w/2"/>
                                          </p:val>
                                        </p:tav>
                                        <p:tav tm="100000">
                                          <p:val>
                                            <p:strVal val="#ppt_x"/>
                                          </p:val>
                                        </p:tav>
                                      </p:tavLst>
                                    </p:anim>
                                    <p:anim calcmode="lin" valueType="num">
                                      <p:cBhvr additive="base">
                                        <p:cTn id="13" dur="500" fill="hold"/>
                                        <p:tgtEl>
                                          <p:spTgt spid="5"/>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50.xml><?xml version="1.0" encoding="utf-8"?>
<p:sld xmlns:a="http://schemas.openxmlformats.org/drawingml/2006/main" xmlns:r="http://schemas.openxmlformats.org/officeDocument/2006/relationships" xmlns:p="http://schemas.openxmlformats.org/presentationml/2006/main">
  <p:cSld>
    <p:bg>
      <p:bgPr>
        <a:gradFill flip="none" rotWithShape="1">
          <a:gsLst>
            <a:gs pos="98000">
              <a:srgbClr val="000A1E"/>
            </a:gs>
            <a:gs pos="0">
              <a:srgbClr val="002060"/>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05F19F-2065-4182-A836-8A4EBAA3A253}"/>
              </a:ext>
            </a:extLst>
          </p:cNvPr>
          <p:cNvSpPr>
            <a:spLocks noGrp="1"/>
          </p:cNvSpPr>
          <p:nvPr>
            <p:ph type="title"/>
          </p:nvPr>
        </p:nvSpPr>
        <p:spPr/>
        <p:txBody>
          <a:bodyPr/>
          <a:lstStyle/>
          <a:p>
            <a:r>
              <a:rPr lang="en-GB" dirty="0">
                <a:solidFill>
                  <a:schemeClr val="bg1">
                    <a:lumMod val="85000"/>
                  </a:schemeClr>
                </a:solidFill>
              </a:rPr>
              <a:t>Risks in the ICT Room</a:t>
            </a:r>
          </a:p>
        </p:txBody>
      </p:sp>
      <p:sp>
        <p:nvSpPr>
          <p:cNvPr id="3" name="Content Placeholder 2">
            <a:extLst>
              <a:ext uri="{FF2B5EF4-FFF2-40B4-BE49-F238E27FC236}">
                <a16:creationId xmlns:a16="http://schemas.microsoft.com/office/drawing/2014/main" id="{DD788F56-70B6-4FB8-9AFE-8D5A739CDAD1}"/>
              </a:ext>
            </a:extLst>
          </p:cNvPr>
          <p:cNvSpPr>
            <a:spLocks noGrp="1"/>
          </p:cNvSpPr>
          <p:nvPr>
            <p:ph idx="1"/>
          </p:nvPr>
        </p:nvSpPr>
        <p:spPr/>
        <p:txBody>
          <a:bodyPr>
            <a:normAutofit lnSpcReduction="10000"/>
          </a:bodyPr>
          <a:lstStyle/>
          <a:p>
            <a:r>
              <a:rPr lang="en-GB" dirty="0">
                <a:solidFill>
                  <a:schemeClr val="bg1">
                    <a:lumMod val="85000"/>
                  </a:schemeClr>
                </a:solidFill>
              </a:rPr>
              <a:t>Overloaded Sockets</a:t>
            </a:r>
          </a:p>
          <a:p>
            <a:r>
              <a:rPr lang="en-GB" dirty="0">
                <a:solidFill>
                  <a:schemeClr val="bg1">
                    <a:lumMod val="85000"/>
                  </a:schemeClr>
                </a:solidFill>
              </a:rPr>
              <a:t>Wires on / across the floor</a:t>
            </a:r>
          </a:p>
          <a:p>
            <a:r>
              <a:rPr lang="en-GB" dirty="0">
                <a:solidFill>
                  <a:schemeClr val="bg1">
                    <a:lumMod val="85000"/>
                  </a:schemeClr>
                </a:solidFill>
              </a:rPr>
              <a:t>Food and Drinks near the computers</a:t>
            </a:r>
          </a:p>
          <a:p>
            <a:r>
              <a:rPr lang="en-GB" dirty="0">
                <a:solidFill>
                  <a:schemeClr val="bg1">
                    <a:lumMod val="85000"/>
                  </a:schemeClr>
                </a:solidFill>
              </a:rPr>
              <a:t>Heating / ventilation requirements (not blocking fans etc)</a:t>
            </a:r>
          </a:p>
          <a:p>
            <a:r>
              <a:rPr lang="en-GB" dirty="0">
                <a:solidFill>
                  <a:schemeClr val="bg1">
                    <a:lumMod val="85000"/>
                  </a:schemeClr>
                </a:solidFill>
              </a:rPr>
              <a:t>Suitable desks and equipment</a:t>
            </a:r>
          </a:p>
          <a:p>
            <a:r>
              <a:rPr lang="en-GB" dirty="0">
                <a:solidFill>
                  <a:schemeClr val="bg1">
                    <a:lumMod val="85000"/>
                  </a:schemeClr>
                </a:solidFill>
              </a:rPr>
              <a:t>Adequate space around the machine</a:t>
            </a:r>
          </a:p>
          <a:p>
            <a:r>
              <a:rPr lang="en-GB" dirty="0">
                <a:solidFill>
                  <a:schemeClr val="bg1">
                    <a:lumMod val="85000"/>
                  </a:schemeClr>
                </a:solidFill>
              </a:rPr>
              <a:t>Frequent Breaks </a:t>
            </a:r>
          </a:p>
          <a:p>
            <a:r>
              <a:rPr lang="en-GB" dirty="0">
                <a:solidFill>
                  <a:schemeClr val="bg1">
                    <a:lumMod val="85000"/>
                  </a:schemeClr>
                </a:solidFill>
              </a:rPr>
              <a:t>Foot / hand supports</a:t>
            </a:r>
          </a:p>
          <a:p>
            <a:r>
              <a:rPr lang="en-GB" dirty="0">
                <a:solidFill>
                  <a:schemeClr val="bg1">
                    <a:lumMod val="85000"/>
                  </a:schemeClr>
                </a:solidFill>
              </a:rPr>
              <a:t>Heating/ Air conditioning Units</a:t>
            </a:r>
          </a:p>
        </p:txBody>
      </p:sp>
      <p:pic>
        <p:nvPicPr>
          <p:cNvPr id="2050" name="Picture 2" descr="Image result for gel support for ict">
            <a:extLst>
              <a:ext uri="{FF2B5EF4-FFF2-40B4-BE49-F238E27FC236}">
                <a16:creationId xmlns:a16="http://schemas.microsoft.com/office/drawing/2014/main" id="{FB7F4C68-6489-40E5-A4C2-F84C811032DC}"/>
              </a:ext>
            </a:extLst>
          </p:cNvPr>
          <p:cNvPicPr>
            <a:picLocks noChangeAspect="1" noChangeArrowheads="1"/>
          </p:cNvPicPr>
          <p:nvPr/>
        </p:nvPicPr>
        <p:blipFill>
          <a:blip r:embed="rId2">
            <a:extLst>
              <a:ext uri="{BEBA8EAE-BF5A-486C-A8C5-ECC9F3942E4B}">
                <a14:imgProps xmlns:a14="http://schemas.microsoft.com/office/drawing/2010/main">
                  <a14:imgLayer r:embed="rId3">
                    <a14:imgEffect>
                      <a14:backgroundRemoval t="10000" b="90000" l="5208" r="90000">
                        <a14:foregroundMark x1="81875" y1="28750" x2="63750" y2="32708"/>
                        <a14:foregroundMark x1="36250" y1="63125" x2="25833" y2="63958"/>
                        <a14:foregroundMark x1="25833" y1="63958" x2="22292" y2="62500"/>
                        <a14:foregroundMark x1="5208" y1="46875" x2="5833" y2="46458"/>
                      </a14:backgroundRemoval>
                    </a14:imgEffect>
                  </a14:imgLayer>
                </a14:imgProps>
              </a:ext>
              <a:ext uri="{28A0092B-C50C-407E-A947-70E740481C1C}">
                <a14:useLocalDpi xmlns:a14="http://schemas.microsoft.com/office/drawing/2010/main" val="0"/>
              </a:ext>
            </a:extLst>
          </a:blip>
          <a:srcRect/>
          <a:stretch>
            <a:fillRect/>
          </a:stretch>
        </p:blipFill>
        <p:spPr bwMode="auto">
          <a:xfrm>
            <a:off x="5930900" y="3217805"/>
            <a:ext cx="3429000" cy="3429000"/>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descr="Image result for overloaded ict socket">
            <a:extLst>
              <a:ext uri="{FF2B5EF4-FFF2-40B4-BE49-F238E27FC236}">
                <a16:creationId xmlns:a16="http://schemas.microsoft.com/office/drawing/2014/main" id="{F2142078-30EE-404C-82EF-8BFED0DD971C}"/>
              </a:ext>
            </a:extLst>
          </p:cNvPr>
          <p:cNvPicPr>
            <a:picLocks noChangeAspect="1" noChangeArrowheads="1"/>
          </p:cNvPicPr>
          <p:nvPr/>
        </p:nvPicPr>
        <p:blipFill>
          <a:blip r:embed="rId4">
            <a:extLst>
              <a:ext uri="{BEBA8EAE-BF5A-486C-A8C5-ECC9F3942E4B}">
                <a14:imgProps xmlns:a14="http://schemas.microsoft.com/office/drawing/2010/main">
                  <a14:imgLayer r:embed="rId5">
                    <a14:imgEffect>
                      <a14:backgroundRemoval t="9140" b="98925" l="538" r="89785">
                        <a14:foregroundMark x1="9140" y1="24731" x2="18817" y2="40323"/>
                        <a14:foregroundMark x1="18817" y1="40323" x2="37097" y2="51613"/>
                        <a14:foregroundMark x1="37097" y1="51613" x2="40323" y2="52151"/>
                        <a14:foregroundMark x1="1075" y1="31183" x2="1075" y2="48925"/>
                        <a14:foregroundMark x1="1075" y1="48925" x2="3763" y2="53226"/>
                        <a14:foregroundMark x1="43011" y1="91935" x2="43011" y2="91935"/>
                        <a14:foregroundMark x1="39247" y1="98925" x2="40323" y2="97849"/>
                        <a14:foregroundMark x1="42473" y1="26882" x2="43011" y2="26882"/>
                        <a14:foregroundMark x1="44624" y1="29032" x2="44624" y2="26344"/>
                      </a14:backgroundRemoval>
                    </a14:imgEffect>
                  </a14:imgLayer>
                </a14:imgProps>
              </a:ext>
              <a:ext uri="{28A0092B-C50C-407E-A947-70E740481C1C}">
                <a14:useLocalDpi xmlns:a14="http://schemas.microsoft.com/office/drawing/2010/main" val="0"/>
              </a:ext>
            </a:extLst>
          </a:blip>
          <a:srcRect/>
          <a:stretch>
            <a:fillRect/>
          </a:stretch>
        </p:blipFill>
        <p:spPr bwMode="auto">
          <a:xfrm>
            <a:off x="7222332" y="571501"/>
            <a:ext cx="2975769" cy="297576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4105220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6"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down)">
                                      <p:cBhvr>
                                        <p:cTn id="7" dur="580">
                                          <p:stCondLst>
                                            <p:cond delay="0"/>
                                          </p:stCondLst>
                                        </p:cTn>
                                        <p:tgtEl>
                                          <p:spTgt spid="3">
                                            <p:txEl>
                                              <p:pRg st="0" end="0"/>
                                            </p:txEl>
                                          </p:spTgt>
                                        </p:tgtEl>
                                      </p:cBhvr>
                                    </p:animEffect>
                                    <p:anim calcmode="lin" valueType="num">
                                      <p:cBhvr>
                                        <p:cTn id="8" dur="1822" tmFilter="0,0; 0.14,0.36; 0.43,0.73; 0.71,0.91; 1.0,1.0">
                                          <p:stCondLst>
                                            <p:cond delay="0"/>
                                          </p:stCondLst>
                                        </p:cTn>
                                        <p:tgtEl>
                                          <p:spTgt spid="3">
                                            <p:txEl>
                                              <p:pRg st="0" end="0"/>
                                            </p:txEl>
                                          </p:spTgt>
                                        </p:tgtEl>
                                        <p:attrNameLst>
                                          <p:attrName>ppt_x</p:attrName>
                                        </p:attrNameLst>
                                      </p:cBhvr>
                                      <p:tavLst>
                                        <p:tav tm="0">
                                          <p:val>
                                            <p:strVal val="#ppt_x-0.25"/>
                                          </p:val>
                                        </p:tav>
                                        <p:tav tm="100000">
                                          <p:val>
                                            <p:strVal val="#ppt_x"/>
                                          </p:val>
                                        </p:tav>
                                      </p:tavLst>
                                    </p:anim>
                                    <p:anim calcmode="lin" valueType="num">
                                      <p:cBhvr>
                                        <p:cTn id="9" dur="664" tmFilter="0.0,0.0; 0.25,0.07; 0.50,0.2; 0.75,0.467; 1.0,1.0">
                                          <p:stCondLst>
                                            <p:cond delay="0"/>
                                          </p:stCondLst>
                                        </p:cTn>
                                        <p:tgtEl>
                                          <p:spTgt spid="3">
                                            <p:txEl>
                                              <p:pRg st="0" end="0"/>
                                            </p:txEl>
                                          </p:spTgt>
                                        </p:tgtEl>
                                        <p:attrNameLst>
                                          <p:attrName>ppt_y</p:attrName>
                                        </p:attrNameLst>
                                      </p:cBhvr>
                                      <p:tavLst>
                                        <p:tav tm="0" fmla="#ppt_y-sin(pi*$)/3">
                                          <p:val>
                                            <p:fltVal val="0.5"/>
                                          </p:val>
                                        </p:tav>
                                        <p:tav tm="100000">
                                          <p:val>
                                            <p:fltVal val="1"/>
                                          </p:val>
                                        </p:tav>
                                      </p:tavLst>
                                    </p:anim>
                                    <p:anim calcmode="lin" valueType="num">
                                      <p:cBhvr>
                                        <p:cTn id="10" dur="664" tmFilter="0, 0; 0.125,0.2665; 0.25,0.4; 0.375,0.465; 0.5,0.5;  0.625,0.535; 0.75,0.6; 0.875,0.7335; 1,1">
                                          <p:stCondLst>
                                            <p:cond delay="664"/>
                                          </p:stCondLst>
                                        </p:cTn>
                                        <p:tgtEl>
                                          <p:spTgt spid="3">
                                            <p:txEl>
                                              <p:pRg st="0" end="0"/>
                                            </p:txEl>
                                          </p:spTgt>
                                        </p:tgtEl>
                                        <p:attrNameLst>
                                          <p:attrName>ppt_y</p:attrName>
                                        </p:attrNameLst>
                                      </p:cBhvr>
                                      <p:tavLst>
                                        <p:tav tm="0" fmla="#ppt_y-sin(pi*$)/9">
                                          <p:val>
                                            <p:fltVal val="0"/>
                                          </p:val>
                                        </p:tav>
                                        <p:tav tm="100000">
                                          <p:val>
                                            <p:fltVal val="1"/>
                                          </p:val>
                                        </p:tav>
                                      </p:tavLst>
                                    </p:anim>
                                    <p:anim calcmode="lin" valueType="num">
                                      <p:cBhvr>
                                        <p:cTn id="11" dur="332" tmFilter="0, 0; 0.125,0.2665; 0.25,0.4; 0.375,0.465; 0.5,0.5;  0.625,0.535; 0.75,0.6; 0.875,0.7335; 1,1">
                                          <p:stCondLst>
                                            <p:cond delay="1324"/>
                                          </p:stCondLst>
                                        </p:cTn>
                                        <p:tgtEl>
                                          <p:spTgt spid="3">
                                            <p:txEl>
                                              <p:pRg st="0" end="0"/>
                                            </p:txEl>
                                          </p:spTgt>
                                        </p:tgtEl>
                                        <p:attrNameLst>
                                          <p:attrName>ppt_y</p:attrName>
                                        </p:attrNameLst>
                                      </p:cBhvr>
                                      <p:tavLst>
                                        <p:tav tm="0" fmla="#ppt_y-sin(pi*$)/27">
                                          <p:val>
                                            <p:fltVal val="0"/>
                                          </p:val>
                                        </p:tav>
                                        <p:tav tm="100000">
                                          <p:val>
                                            <p:fltVal val="1"/>
                                          </p:val>
                                        </p:tav>
                                      </p:tavLst>
                                    </p:anim>
                                    <p:anim calcmode="lin" valueType="num">
                                      <p:cBhvr>
                                        <p:cTn id="12" dur="164" tmFilter="0, 0; 0.125,0.2665; 0.25,0.4; 0.375,0.465; 0.5,0.5;  0.625,0.535; 0.75,0.6; 0.875,0.7335; 1,1">
                                          <p:stCondLst>
                                            <p:cond delay="1656"/>
                                          </p:stCondLst>
                                        </p:cTn>
                                        <p:tgtEl>
                                          <p:spTgt spid="3">
                                            <p:txEl>
                                              <p:pRg st="0" end="0"/>
                                            </p:txEl>
                                          </p:spTgt>
                                        </p:tgtEl>
                                        <p:attrNameLst>
                                          <p:attrName>ppt_y</p:attrName>
                                        </p:attrNameLst>
                                      </p:cBhvr>
                                      <p:tavLst>
                                        <p:tav tm="0" fmla="#ppt_y-sin(pi*$)/81">
                                          <p:val>
                                            <p:fltVal val="0"/>
                                          </p:val>
                                        </p:tav>
                                        <p:tav tm="100000">
                                          <p:val>
                                            <p:fltVal val="1"/>
                                          </p:val>
                                        </p:tav>
                                      </p:tavLst>
                                    </p:anim>
                                    <p:animScale>
                                      <p:cBhvr>
                                        <p:cTn id="13" dur="26">
                                          <p:stCondLst>
                                            <p:cond delay="650"/>
                                          </p:stCondLst>
                                        </p:cTn>
                                        <p:tgtEl>
                                          <p:spTgt spid="3">
                                            <p:txEl>
                                              <p:pRg st="0" end="0"/>
                                            </p:txEl>
                                          </p:spTgt>
                                        </p:tgtEl>
                                      </p:cBhvr>
                                      <p:to x="100000" y="60000"/>
                                    </p:animScale>
                                    <p:animScale>
                                      <p:cBhvr>
                                        <p:cTn id="14" dur="166" decel="50000">
                                          <p:stCondLst>
                                            <p:cond delay="676"/>
                                          </p:stCondLst>
                                        </p:cTn>
                                        <p:tgtEl>
                                          <p:spTgt spid="3">
                                            <p:txEl>
                                              <p:pRg st="0" end="0"/>
                                            </p:txEl>
                                          </p:spTgt>
                                        </p:tgtEl>
                                      </p:cBhvr>
                                      <p:to x="100000" y="100000"/>
                                    </p:animScale>
                                    <p:animScale>
                                      <p:cBhvr>
                                        <p:cTn id="15" dur="26">
                                          <p:stCondLst>
                                            <p:cond delay="1312"/>
                                          </p:stCondLst>
                                        </p:cTn>
                                        <p:tgtEl>
                                          <p:spTgt spid="3">
                                            <p:txEl>
                                              <p:pRg st="0" end="0"/>
                                            </p:txEl>
                                          </p:spTgt>
                                        </p:tgtEl>
                                      </p:cBhvr>
                                      <p:to x="100000" y="80000"/>
                                    </p:animScale>
                                    <p:animScale>
                                      <p:cBhvr>
                                        <p:cTn id="16" dur="166" decel="50000">
                                          <p:stCondLst>
                                            <p:cond delay="1338"/>
                                          </p:stCondLst>
                                        </p:cTn>
                                        <p:tgtEl>
                                          <p:spTgt spid="3">
                                            <p:txEl>
                                              <p:pRg st="0" end="0"/>
                                            </p:txEl>
                                          </p:spTgt>
                                        </p:tgtEl>
                                      </p:cBhvr>
                                      <p:to x="100000" y="100000"/>
                                    </p:animScale>
                                    <p:animScale>
                                      <p:cBhvr>
                                        <p:cTn id="17" dur="26">
                                          <p:stCondLst>
                                            <p:cond delay="1642"/>
                                          </p:stCondLst>
                                        </p:cTn>
                                        <p:tgtEl>
                                          <p:spTgt spid="3">
                                            <p:txEl>
                                              <p:pRg st="0" end="0"/>
                                            </p:txEl>
                                          </p:spTgt>
                                        </p:tgtEl>
                                      </p:cBhvr>
                                      <p:to x="100000" y="90000"/>
                                    </p:animScale>
                                    <p:animScale>
                                      <p:cBhvr>
                                        <p:cTn id="18" dur="166" decel="50000">
                                          <p:stCondLst>
                                            <p:cond delay="1668"/>
                                          </p:stCondLst>
                                        </p:cTn>
                                        <p:tgtEl>
                                          <p:spTgt spid="3">
                                            <p:txEl>
                                              <p:pRg st="0" end="0"/>
                                            </p:txEl>
                                          </p:spTgt>
                                        </p:tgtEl>
                                      </p:cBhvr>
                                      <p:to x="100000" y="100000"/>
                                    </p:animScale>
                                    <p:animScale>
                                      <p:cBhvr>
                                        <p:cTn id="19" dur="26">
                                          <p:stCondLst>
                                            <p:cond delay="1808"/>
                                          </p:stCondLst>
                                        </p:cTn>
                                        <p:tgtEl>
                                          <p:spTgt spid="3">
                                            <p:txEl>
                                              <p:pRg st="0" end="0"/>
                                            </p:txEl>
                                          </p:spTgt>
                                        </p:tgtEl>
                                      </p:cBhvr>
                                      <p:to x="100000" y="95000"/>
                                    </p:animScale>
                                    <p:animScale>
                                      <p:cBhvr>
                                        <p:cTn id="20" dur="166" decel="50000">
                                          <p:stCondLst>
                                            <p:cond delay="1834"/>
                                          </p:stCondLst>
                                        </p:cTn>
                                        <p:tgtEl>
                                          <p:spTgt spid="3">
                                            <p:txEl>
                                              <p:pRg st="0" end="0"/>
                                            </p:txEl>
                                          </p:spTgt>
                                        </p:tgtEl>
                                      </p:cBhvr>
                                      <p:to x="100000" y="100000"/>
                                    </p:animScale>
                                  </p:childTnLst>
                                </p:cTn>
                              </p:par>
                            </p:childTnLst>
                          </p:cTn>
                        </p:par>
                      </p:childTnLst>
                    </p:cTn>
                  </p:par>
                  <p:par>
                    <p:cTn id="21" fill="hold">
                      <p:stCondLst>
                        <p:cond delay="indefinite"/>
                      </p:stCondLst>
                      <p:childTnLst>
                        <p:par>
                          <p:cTn id="22" fill="hold">
                            <p:stCondLst>
                              <p:cond delay="0"/>
                            </p:stCondLst>
                            <p:childTnLst>
                              <p:par>
                                <p:cTn id="23" presetID="26" presetClass="entr" presetSubtype="0" fill="hold" nodeType="clickEffect">
                                  <p:stCondLst>
                                    <p:cond delay="0"/>
                                  </p:stCondLst>
                                  <p:childTnLst>
                                    <p:set>
                                      <p:cBhvr>
                                        <p:cTn id="24" dur="1" fill="hold">
                                          <p:stCondLst>
                                            <p:cond delay="0"/>
                                          </p:stCondLst>
                                        </p:cTn>
                                        <p:tgtEl>
                                          <p:spTgt spid="3">
                                            <p:txEl>
                                              <p:pRg st="1" end="1"/>
                                            </p:txEl>
                                          </p:spTgt>
                                        </p:tgtEl>
                                        <p:attrNameLst>
                                          <p:attrName>style.visibility</p:attrName>
                                        </p:attrNameLst>
                                      </p:cBhvr>
                                      <p:to>
                                        <p:strVal val="visible"/>
                                      </p:to>
                                    </p:set>
                                    <p:animEffect transition="in" filter="wipe(down)">
                                      <p:cBhvr>
                                        <p:cTn id="25" dur="580">
                                          <p:stCondLst>
                                            <p:cond delay="0"/>
                                          </p:stCondLst>
                                        </p:cTn>
                                        <p:tgtEl>
                                          <p:spTgt spid="3">
                                            <p:txEl>
                                              <p:pRg st="1" end="1"/>
                                            </p:txEl>
                                          </p:spTgt>
                                        </p:tgtEl>
                                      </p:cBhvr>
                                    </p:animEffect>
                                    <p:anim calcmode="lin" valueType="num">
                                      <p:cBhvr>
                                        <p:cTn id="26" dur="1822" tmFilter="0,0; 0.14,0.36; 0.43,0.73; 0.71,0.91; 1.0,1.0">
                                          <p:stCondLst>
                                            <p:cond delay="0"/>
                                          </p:stCondLst>
                                        </p:cTn>
                                        <p:tgtEl>
                                          <p:spTgt spid="3">
                                            <p:txEl>
                                              <p:pRg st="1" end="1"/>
                                            </p:txEl>
                                          </p:spTgt>
                                        </p:tgtEl>
                                        <p:attrNameLst>
                                          <p:attrName>ppt_x</p:attrName>
                                        </p:attrNameLst>
                                      </p:cBhvr>
                                      <p:tavLst>
                                        <p:tav tm="0">
                                          <p:val>
                                            <p:strVal val="#ppt_x-0.25"/>
                                          </p:val>
                                        </p:tav>
                                        <p:tav tm="100000">
                                          <p:val>
                                            <p:strVal val="#ppt_x"/>
                                          </p:val>
                                        </p:tav>
                                      </p:tavLst>
                                    </p:anim>
                                    <p:anim calcmode="lin" valueType="num">
                                      <p:cBhvr>
                                        <p:cTn id="27" dur="664" tmFilter="0.0,0.0; 0.25,0.07; 0.50,0.2; 0.75,0.467; 1.0,1.0">
                                          <p:stCondLst>
                                            <p:cond delay="0"/>
                                          </p:stCondLst>
                                        </p:cTn>
                                        <p:tgtEl>
                                          <p:spTgt spid="3">
                                            <p:txEl>
                                              <p:pRg st="1" end="1"/>
                                            </p:txEl>
                                          </p:spTgt>
                                        </p:tgtEl>
                                        <p:attrNameLst>
                                          <p:attrName>ppt_y</p:attrName>
                                        </p:attrNameLst>
                                      </p:cBhvr>
                                      <p:tavLst>
                                        <p:tav tm="0" fmla="#ppt_y-sin(pi*$)/3">
                                          <p:val>
                                            <p:fltVal val="0.5"/>
                                          </p:val>
                                        </p:tav>
                                        <p:tav tm="100000">
                                          <p:val>
                                            <p:fltVal val="1"/>
                                          </p:val>
                                        </p:tav>
                                      </p:tavLst>
                                    </p:anim>
                                    <p:anim calcmode="lin" valueType="num">
                                      <p:cBhvr>
                                        <p:cTn id="28" dur="664" tmFilter="0, 0; 0.125,0.2665; 0.25,0.4; 0.375,0.465; 0.5,0.5;  0.625,0.535; 0.75,0.6; 0.875,0.7335; 1,1">
                                          <p:stCondLst>
                                            <p:cond delay="664"/>
                                          </p:stCondLst>
                                        </p:cTn>
                                        <p:tgtEl>
                                          <p:spTgt spid="3">
                                            <p:txEl>
                                              <p:pRg st="1" end="1"/>
                                            </p:txEl>
                                          </p:spTgt>
                                        </p:tgtEl>
                                        <p:attrNameLst>
                                          <p:attrName>ppt_y</p:attrName>
                                        </p:attrNameLst>
                                      </p:cBhvr>
                                      <p:tavLst>
                                        <p:tav tm="0" fmla="#ppt_y-sin(pi*$)/9">
                                          <p:val>
                                            <p:fltVal val="0"/>
                                          </p:val>
                                        </p:tav>
                                        <p:tav tm="100000">
                                          <p:val>
                                            <p:fltVal val="1"/>
                                          </p:val>
                                        </p:tav>
                                      </p:tavLst>
                                    </p:anim>
                                    <p:anim calcmode="lin" valueType="num">
                                      <p:cBhvr>
                                        <p:cTn id="29" dur="332" tmFilter="0, 0; 0.125,0.2665; 0.25,0.4; 0.375,0.465; 0.5,0.5;  0.625,0.535; 0.75,0.6; 0.875,0.7335; 1,1">
                                          <p:stCondLst>
                                            <p:cond delay="1324"/>
                                          </p:stCondLst>
                                        </p:cTn>
                                        <p:tgtEl>
                                          <p:spTgt spid="3">
                                            <p:txEl>
                                              <p:pRg st="1" end="1"/>
                                            </p:txEl>
                                          </p:spTgt>
                                        </p:tgtEl>
                                        <p:attrNameLst>
                                          <p:attrName>ppt_y</p:attrName>
                                        </p:attrNameLst>
                                      </p:cBhvr>
                                      <p:tavLst>
                                        <p:tav tm="0" fmla="#ppt_y-sin(pi*$)/27">
                                          <p:val>
                                            <p:fltVal val="0"/>
                                          </p:val>
                                        </p:tav>
                                        <p:tav tm="100000">
                                          <p:val>
                                            <p:fltVal val="1"/>
                                          </p:val>
                                        </p:tav>
                                      </p:tavLst>
                                    </p:anim>
                                    <p:anim calcmode="lin" valueType="num">
                                      <p:cBhvr>
                                        <p:cTn id="30" dur="164" tmFilter="0, 0; 0.125,0.2665; 0.25,0.4; 0.375,0.465; 0.5,0.5;  0.625,0.535; 0.75,0.6; 0.875,0.7335; 1,1">
                                          <p:stCondLst>
                                            <p:cond delay="1656"/>
                                          </p:stCondLst>
                                        </p:cTn>
                                        <p:tgtEl>
                                          <p:spTgt spid="3">
                                            <p:txEl>
                                              <p:pRg st="1" end="1"/>
                                            </p:txEl>
                                          </p:spTgt>
                                        </p:tgtEl>
                                        <p:attrNameLst>
                                          <p:attrName>ppt_y</p:attrName>
                                        </p:attrNameLst>
                                      </p:cBhvr>
                                      <p:tavLst>
                                        <p:tav tm="0" fmla="#ppt_y-sin(pi*$)/81">
                                          <p:val>
                                            <p:fltVal val="0"/>
                                          </p:val>
                                        </p:tav>
                                        <p:tav tm="100000">
                                          <p:val>
                                            <p:fltVal val="1"/>
                                          </p:val>
                                        </p:tav>
                                      </p:tavLst>
                                    </p:anim>
                                    <p:animScale>
                                      <p:cBhvr>
                                        <p:cTn id="31" dur="26">
                                          <p:stCondLst>
                                            <p:cond delay="650"/>
                                          </p:stCondLst>
                                        </p:cTn>
                                        <p:tgtEl>
                                          <p:spTgt spid="3">
                                            <p:txEl>
                                              <p:pRg st="1" end="1"/>
                                            </p:txEl>
                                          </p:spTgt>
                                        </p:tgtEl>
                                      </p:cBhvr>
                                      <p:to x="100000" y="60000"/>
                                    </p:animScale>
                                    <p:animScale>
                                      <p:cBhvr>
                                        <p:cTn id="32" dur="166" decel="50000">
                                          <p:stCondLst>
                                            <p:cond delay="676"/>
                                          </p:stCondLst>
                                        </p:cTn>
                                        <p:tgtEl>
                                          <p:spTgt spid="3">
                                            <p:txEl>
                                              <p:pRg st="1" end="1"/>
                                            </p:txEl>
                                          </p:spTgt>
                                        </p:tgtEl>
                                      </p:cBhvr>
                                      <p:to x="100000" y="100000"/>
                                    </p:animScale>
                                    <p:animScale>
                                      <p:cBhvr>
                                        <p:cTn id="33" dur="26">
                                          <p:stCondLst>
                                            <p:cond delay="1312"/>
                                          </p:stCondLst>
                                        </p:cTn>
                                        <p:tgtEl>
                                          <p:spTgt spid="3">
                                            <p:txEl>
                                              <p:pRg st="1" end="1"/>
                                            </p:txEl>
                                          </p:spTgt>
                                        </p:tgtEl>
                                      </p:cBhvr>
                                      <p:to x="100000" y="80000"/>
                                    </p:animScale>
                                    <p:animScale>
                                      <p:cBhvr>
                                        <p:cTn id="34" dur="166" decel="50000">
                                          <p:stCondLst>
                                            <p:cond delay="1338"/>
                                          </p:stCondLst>
                                        </p:cTn>
                                        <p:tgtEl>
                                          <p:spTgt spid="3">
                                            <p:txEl>
                                              <p:pRg st="1" end="1"/>
                                            </p:txEl>
                                          </p:spTgt>
                                        </p:tgtEl>
                                      </p:cBhvr>
                                      <p:to x="100000" y="100000"/>
                                    </p:animScale>
                                    <p:animScale>
                                      <p:cBhvr>
                                        <p:cTn id="35" dur="26">
                                          <p:stCondLst>
                                            <p:cond delay="1642"/>
                                          </p:stCondLst>
                                        </p:cTn>
                                        <p:tgtEl>
                                          <p:spTgt spid="3">
                                            <p:txEl>
                                              <p:pRg st="1" end="1"/>
                                            </p:txEl>
                                          </p:spTgt>
                                        </p:tgtEl>
                                      </p:cBhvr>
                                      <p:to x="100000" y="90000"/>
                                    </p:animScale>
                                    <p:animScale>
                                      <p:cBhvr>
                                        <p:cTn id="36" dur="166" decel="50000">
                                          <p:stCondLst>
                                            <p:cond delay="1668"/>
                                          </p:stCondLst>
                                        </p:cTn>
                                        <p:tgtEl>
                                          <p:spTgt spid="3">
                                            <p:txEl>
                                              <p:pRg st="1" end="1"/>
                                            </p:txEl>
                                          </p:spTgt>
                                        </p:tgtEl>
                                      </p:cBhvr>
                                      <p:to x="100000" y="100000"/>
                                    </p:animScale>
                                    <p:animScale>
                                      <p:cBhvr>
                                        <p:cTn id="37" dur="26">
                                          <p:stCondLst>
                                            <p:cond delay="1808"/>
                                          </p:stCondLst>
                                        </p:cTn>
                                        <p:tgtEl>
                                          <p:spTgt spid="3">
                                            <p:txEl>
                                              <p:pRg st="1" end="1"/>
                                            </p:txEl>
                                          </p:spTgt>
                                        </p:tgtEl>
                                      </p:cBhvr>
                                      <p:to x="100000" y="95000"/>
                                    </p:animScale>
                                    <p:animScale>
                                      <p:cBhvr>
                                        <p:cTn id="38" dur="166" decel="50000">
                                          <p:stCondLst>
                                            <p:cond delay="1834"/>
                                          </p:stCondLst>
                                        </p:cTn>
                                        <p:tgtEl>
                                          <p:spTgt spid="3">
                                            <p:txEl>
                                              <p:pRg st="1" end="1"/>
                                            </p:txEl>
                                          </p:spTgt>
                                        </p:tgtEl>
                                      </p:cBhvr>
                                      <p:to x="100000" y="100000"/>
                                    </p:animScale>
                                  </p:childTnLst>
                                </p:cTn>
                              </p:par>
                            </p:childTnLst>
                          </p:cTn>
                        </p:par>
                      </p:childTnLst>
                    </p:cTn>
                  </p:par>
                  <p:par>
                    <p:cTn id="39" fill="hold">
                      <p:stCondLst>
                        <p:cond delay="indefinite"/>
                      </p:stCondLst>
                      <p:childTnLst>
                        <p:par>
                          <p:cTn id="40" fill="hold">
                            <p:stCondLst>
                              <p:cond delay="0"/>
                            </p:stCondLst>
                            <p:childTnLst>
                              <p:par>
                                <p:cTn id="41" presetID="26" presetClass="entr" presetSubtype="0" fill="hold" nodeType="clickEffect">
                                  <p:stCondLst>
                                    <p:cond delay="0"/>
                                  </p:stCondLst>
                                  <p:childTnLst>
                                    <p:set>
                                      <p:cBhvr>
                                        <p:cTn id="42" dur="1" fill="hold">
                                          <p:stCondLst>
                                            <p:cond delay="0"/>
                                          </p:stCondLst>
                                        </p:cTn>
                                        <p:tgtEl>
                                          <p:spTgt spid="3">
                                            <p:txEl>
                                              <p:pRg st="2" end="2"/>
                                            </p:txEl>
                                          </p:spTgt>
                                        </p:tgtEl>
                                        <p:attrNameLst>
                                          <p:attrName>style.visibility</p:attrName>
                                        </p:attrNameLst>
                                      </p:cBhvr>
                                      <p:to>
                                        <p:strVal val="visible"/>
                                      </p:to>
                                    </p:set>
                                    <p:animEffect transition="in" filter="wipe(down)">
                                      <p:cBhvr>
                                        <p:cTn id="43" dur="580">
                                          <p:stCondLst>
                                            <p:cond delay="0"/>
                                          </p:stCondLst>
                                        </p:cTn>
                                        <p:tgtEl>
                                          <p:spTgt spid="3">
                                            <p:txEl>
                                              <p:pRg st="2" end="2"/>
                                            </p:txEl>
                                          </p:spTgt>
                                        </p:tgtEl>
                                      </p:cBhvr>
                                    </p:animEffect>
                                    <p:anim calcmode="lin" valueType="num">
                                      <p:cBhvr>
                                        <p:cTn id="44" dur="1822" tmFilter="0,0; 0.14,0.36; 0.43,0.73; 0.71,0.91; 1.0,1.0">
                                          <p:stCondLst>
                                            <p:cond delay="0"/>
                                          </p:stCondLst>
                                        </p:cTn>
                                        <p:tgtEl>
                                          <p:spTgt spid="3">
                                            <p:txEl>
                                              <p:pRg st="2" end="2"/>
                                            </p:txEl>
                                          </p:spTgt>
                                        </p:tgtEl>
                                        <p:attrNameLst>
                                          <p:attrName>ppt_x</p:attrName>
                                        </p:attrNameLst>
                                      </p:cBhvr>
                                      <p:tavLst>
                                        <p:tav tm="0">
                                          <p:val>
                                            <p:strVal val="#ppt_x-0.25"/>
                                          </p:val>
                                        </p:tav>
                                        <p:tav tm="100000">
                                          <p:val>
                                            <p:strVal val="#ppt_x"/>
                                          </p:val>
                                        </p:tav>
                                      </p:tavLst>
                                    </p:anim>
                                    <p:anim calcmode="lin" valueType="num">
                                      <p:cBhvr>
                                        <p:cTn id="45" dur="664" tmFilter="0.0,0.0; 0.25,0.07; 0.50,0.2; 0.75,0.467; 1.0,1.0">
                                          <p:stCondLst>
                                            <p:cond delay="0"/>
                                          </p:stCondLst>
                                        </p:cTn>
                                        <p:tgtEl>
                                          <p:spTgt spid="3">
                                            <p:txEl>
                                              <p:pRg st="2" end="2"/>
                                            </p:txEl>
                                          </p:spTgt>
                                        </p:tgtEl>
                                        <p:attrNameLst>
                                          <p:attrName>ppt_y</p:attrName>
                                        </p:attrNameLst>
                                      </p:cBhvr>
                                      <p:tavLst>
                                        <p:tav tm="0" fmla="#ppt_y-sin(pi*$)/3">
                                          <p:val>
                                            <p:fltVal val="0.5"/>
                                          </p:val>
                                        </p:tav>
                                        <p:tav tm="100000">
                                          <p:val>
                                            <p:fltVal val="1"/>
                                          </p:val>
                                        </p:tav>
                                      </p:tavLst>
                                    </p:anim>
                                    <p:anim calcmode="lin" valueType="num">
                                      <p:cBhvr>
                                        <p:cTn id="46" dur="664" tmFilter="0, 0; 0.125,0.2665; 0.25,0.4; 0.375,0.465; 0.5,0.5;  0.625,0.535; 0.75,0.6; 0.875,0.7335; 1,1">
                                          <p:stCondLst>
                                            <p:cond delay="664"/>
                                          </p:stCondLst>
                                        </p:cTn>
                                        <p:tgtEl>
                                          <p:spTgt spid="3">
                                            <p:txEl>
                                              <p:pRg st="2" end="2"/>
                                            </p:txEl>
                                          </p:spTgt>
                                        </p:tgtEl>
                                        <p:attrNameLst>
                                          <p:attrName>ppt_y</p:attrName>
                                        </p:attrNameLst>
                                      </p:cBhvr>
                                      <p:tavLst>
                                        <p:tav tm="0" fmla="#ppt_y-sin(pi*$)/9">
                                          <p:val>
                                            <p:fltVal val="0"/>
                                          </p:val>
                                        </p:tav>
                                        <p:tav tm="100000">
                                          <p:val>
                                            <p:fltVal val="1"/>
                                          </p:val>
                                        </p:tav>
                                      </p:tavLst>
                                    </p:anim>
                                    <p:anim calcmode="lin" valueType="num">
                                      <p:cBhvr>
                                        <p:cTn id="47" dur="332" tmFilter="0, 0; 0.125,0.2665; 0.25,0.4; 0.375,0.465; 0.5,0.5;  0.625,0.535; 0.75,0.6; 0.875,0.7335; 1,1">
                                          <p:stCondLst>
                                            <p:cond delay="1324"/>
                                          </p:stCondLst>
                                        </p:cTn>
                                        <p:tgtEl>
                                          <p:spTgt spid="3">
                                            <p:txEl>
                                              <p:pRg st="2" end="2"/>
                                            </p:txEl>
                                          </p:spTgt>
                                        </p:tgtEl>
                                        <p:attrNameLst>
                                          <p:attrName>ppt_y</p:attrName>
                                        </p:attrNameLst>
                                      </p:cBhvr>
                                      <p:tavLst>
                                        <p:tav tm="0" fmla="#ppt_y-sin(pi*$)/27">
                                          <p:val>
                                            <p:fltVal val="0"/>
                                          </p:val>
                                        </p:tav>
                                        <p:tav tm="100000">
                                          <p:val>
                                            <p:fltVal val="1"/>
                                          </p:val>
                                        </p:tav>
                                      </p:tavLst>
                                    </p:anim>
                                    <p:anim calcmode="lin" valueType="num">
                                      <p:cBhvr>
                                        <p:cTn id="48" dur="164" tmFilter="0, 0; 0.125,0.2665; 0.25,0.4; 0.375,0.465; 0.5,0.5;  0.625,0.535; 0.75,0.6; 0.875,0.7335; 1,1">
                                          <p:stCondLst>
                                            <p:cond delay="1656"/>
                                          </p:stCondLst>
                                        </p:cTn>
                                        <p:tgtEl>
                                          <p:spTgt spid="3">
                                            <p:txEl>
                                              <p:pRg st="2" end="2"/>
                                            </p:txEl>
                                          </p:spTgt>
                                        </p:tgtEl>
                                        <p:attrNameLst>
                                          <p:attrName>ppt_y</p:attrName>
                                        </p:attrNameLst>
                                      </p:cBhvr>
                                      <p:tavLst>
                                        <p:tav tm="0" fmla="#ppt_y-sin(pi*$)/81">
                                          <p:val>
                                            <p:fltVal val="0"/>
                                          </p:val>
                                        </p:tav>
                                        <p:tav tm="100000">
                                          <p:val>
                                            <p:fltVal val="1"/>
                                          </p:val>
                                        </p:tav>
                                      </p:tavLst>
                                    </p:anim>
                                    <p:animScale>
                                      <p:cBhvr>
                                        <p:cTn id="49" dur="26">
                                          <p:stCondLst>
                                            <p:cond delay="650"/>
                                          </p:stCondLst>
                                        </p:cTn>
                                        <p:tgtEl>
                                          <p:spTgt spid="3">
                                            <p:txEl>
                                              <p:pRg st="2" end="2"/>
                                            </p:txEl>
                                          </p:spTgt>
                                        </p:tgtEl>
                                      </p:cBhvr>
                                      <p:to x="100000" y="60000"/>
                                    </p:animScale>
                                    <p:animScale>
                                      <p:cBhvr>
                                        <p:cTn id="50" dur="166" decel="50000">
                                          <p:stCondLst>
                                            <p:cond delay="676"/>
                                          </p:stCondLst>
                                        </p:cTn>
                                        <p:tgtEl>
                                          <p:spTgt spid="3">
                                            <p:txEl>
                                              <p:pRg st="2" end="2"/>
                                            </p:txEl>
                                          </p:spTgt>
                                        </p:tgtEl>
                                      </p:cBhvr>
                                      <p:to x="100000" y="100000"/>
                                    </p:animScale>
                                    <p:animScale>
                                      <p:cBhvr>
                                        <p:cTn id="51" dur="26">
                                          <p:stCondLst>
                                            <p:cond delay="1312"/>
                                          </p:stCondLst>
                                        </p:cTn>
                                        <p:tgtEl>
                                          <p:spTgt spid="3">
                                            <p:txEl>
                                              <p:pRg st="2" end="2"/>
                                            </p:txEl>
                                          </p:spTgt>
                                        </p:tgtEl>
                                      </p:cBhvr>
                                      <p:to x="100000" y="80000"/>
                                    </p:animScale>
                                    <p:animScale>
                                      <p:cBhvr>
                                        <p:cTn id="52" dur="166" decel="50000">
                                          <p:stCondLst>
                                            <p:cond delay="1338"/>
                                          </p:stCondLst>
                                        </p:cTn>
                                        <p:tgtEl>
                                          <p:spTgt spid="3">
                                            <p:txEl>
                                              <p:pRg st="2" end="2"/>
                                            </p:txEl>
                                          </p:spTgt>
                                        </p:tgtEl>
                                      </p:cBhvr>
                                      <p:to x="100000" y="100000"/>
                                    </p:animScale>
                                    <p:animScale>
                                      <p:cBhvr>
                                        <p:cTn id="53" dur="26">
                                          <p:stCondLst>
                                            <p:cond delay="1642"/>
                                          </p:stCondLst>
                                        </p:cTn>
                                        <p:tgtEl>
                                          <p:spTgt spid="3">
                                            <p:txEl>
                                              <p:pRg st="2" end="2"/>
                                            </p:txEl>
                                          </p:spTgt>
                                        </p:tgtEl>
                                      </p:cBhvr>
                                      <p:to x="100000" y="90000"/>
                                    </p:animScale>
                                    <p:animScale>
                                      <p:cBhvr>
                                        <p:cTn id="54" dur="166" decel="50000">
                                          <p:stCondLst>
                                            <p:cond delay="1668"/>
                                          </p:stCondLst>
                                        </p:cTn>
                                        <p:tgtEl>
                                          <p:spTgt spid="3">
                                            <p:txEl>
                                              <p:pRg st="2" end="2"/>
                                            </p:txEl>
                                          </p:spTgt>
                                        </p:tgtEl>
                                      </p:cBhvr>
                                      <p:to x="100000" y="100000"/>
                                    </p:animScale>
                                    <p:animScale>
                                      <p:cBhvr>
                                        <p:cTn id="55" dur="26">
                                          <p:stCondLst>
                                            <p:cond delay="1808"/>
                                          </p:stCondLst>
                                        </p:cTn>
                                        <p:tgtEl>
                                          <p:spTgt spid="3">
                                            <p:txEl>
                                              <p:pRg st="2" end="2"/>
                                            </p:txEl>
                                          </p:spTgt>
                                        </p:tgtEl>
                                      </p:cBhvr>
                                      <p:to x="100000" y="95000"/>
                                    </p:animScale>
                                    <p:animScale>
                                      <p:cBhvr>
                                        <p:cTn id="56" dur="166" decel="50000">
                                          <p:stCondLst>
                                            <p:cond delay="1834"/>
                                          </p:stCondLst>
                                        </p:cTn>
                                        <p:tgtEl>
                                          <p:spTgt spid="3">
                                            <p:txEl>
                                              <p:pRg st="2" end="2"/>
                                            </p:txEl>
                                          </p:spTgt>
                                        </p:tgtEl>
                                      </p:cBhvr>
                                      <p:to x="100000" y="100000"/>
                                    </p:animScale>
                                  </p:childTnLst>
                                </p:cTn>
                              </p:par>
                            </p:childTnLst>
                          </p:cTn>
                        </p:par>
                      </p:childTnLst>
                    </p:cTn>
                  </p:par>
                  <p:par>
                    <p:cTn id="57" fill="hold">
                      <p:stCondLst>
                        <p:cond delay="indefinite"/>
                      </p:stCondLst>
                      <p:childTnLst>
                        <p:par>
                          <p:cTn id="58" fill="hold">
                            <p:stCondLst>
                              <p:cond delay="0"/>
                            </p:stCondLst>
                            <p:childTnLst>
                              <p:par>
                                <p:cTn id="59" presetID="26" presetClass="entr" presetSubtype="0" fill="hold" nodeType="clickEffect">
                                  <p:stCondLst>
                                    <p:cond delay="0"/>
                                  </p:stCondLst>
                                  <p:childTnLst>
                                    <p:set>
                                      <p:cBhvr>
                                        <p:cTn id="60" dur="1" fill="hold">
                                          <p:stCondLst>
                                            <p:cond delay="0"/>
                                          </p:stCondLst>
                                        </p:cTn>
                                        <p:tgtEl>
                                          <p:spTgt spid="3">
                                            <p:txEl>
                                              <p:pRg st="3" end="3"/>
                                            </p:txEl>
                                          </p:spTgt>
                                        </p:tgtEl>
                                        <p:attrNameLst>
                                          <p:attrName>style.visibility</p:attrName>
                                        </p:attrNameLst>
                                      </p:cBhvr>
                                      <p:to>
                                        <p:strVal val="visible"/>
                                      </p:to>
                                    </p:set>
                                    <p:animEffect transition="in" filter="wipe(down)">
                                      <p:cBhvr>
                                        <p:cTn id="61" dur="580">
                                          <p:stCondLst>
                                            <p:cond delay="0"/>
                                          </p:stCondLst>
                                        </p:cTn>
                                        <p:tgtEl>
                                          <p:spTgt spid="3">
                                            <p:txEl>
                                              <p:pRg st="3" end="3"/>
                                            </p:txEl>
                                          </p:spTgt>
                                        </p:tgtEl>
                                      </p:cBhvr>
                                    </p:animEffect>
                                    <p:anim calcmode="lin" valueType="num">
                                      <p:cBhvr>
                                        <p:cTn id="62" dur="1822" tmFilter="0,0; 0.14,0.36; 0.43,0.73; 0.71,0.91; 1.0,1.0">
                                          <p:stCondLst>
                                            <p:cond delay="0"/>
                                          </p:stCondLst>
                                        </p:cTn>
                                        <p:tgtEl>
                                          <p:spTgt spid="3">
                                            <p:txEl>
                                              <p:pRg st="3" end="3"/>
                                            </p:txEl>
                                          </p:spTgt>
                                        </p:tgtEl>
                                        <p:attrNameLst>
                                          <p:attrName>ppt_x</p:attrName>
                                        </p:attrNameLst>
                                      </p:cBhvr>
                                      <p:tavLst>
                                        <p:tav tm="0">
                                          <p:val>
                                            <p:strVal val="#ppt_x-0.25"/>
                                          </p:val>
                                        </p:tav>
                                        <p:tav tm="100000">
                                          <p:val>
                                            <p:strVal val="#ppt_x"/>
                                          </p:val>
                                        </p:tav>
                                      </p:tavLst>
                                    </p:anim>
                                    <p:anim calcmode="lin" valueType="num">
                                      <p:cBhvr>
                                        <p:cTn id="63" dur="664" tmFilter="0.0,0.0; 0.25,0.07; 0.50,0.2; 0.75,0.467; 1.0,1.0">
                                          <p:stCondLst>
                                            <p:cond delay="0"/>
                                          </p:stCondLst>
                                        </p:cTn>
                                        <p:tgtEl>
                                          <p:spTgt spid="3">
                                            <p:txEl>
                                              <p:pRg st="3" end="3"/>
                                            </p:txEl>
                                          </p:spTgt>
                                        </p:tgtEl>
                                        <p:attrNameLst>
                                          <p:attrName>ppt_y</p:attrName>
                                        </p:attrNameLst>
                                      </p:cBhvr>
                                      <p:tavLst>
                                        <p:tav tm="0" fmla="#ppt_y-sin(pi*$)/3">
                                          <p:val>
                                            <p:fltVal val="0.5"/>
                                          </p:val>
                                        </p:tav>
                                        <p:tav tm="100000">
                                          <p:val>
                                            <p:fltVal val="1"/>
                                          </p:val>
                                        </p:tav>
                                      </p:tavLst>
                                    </p:anim>
                                    <p:anim calcmode="lin" valueType="num">
                                      <p:cBhvr>
                                        <p:cTn id="64" dur="664" tmFilter="0, 0; 0.125,0.2665; 0.25,0.4; 0.375,0.465; 0.5,0.5;  0.625,0.535; 0.75,0.6; 0.875,0.7335; 1,1">
                                          <p:stCondLst>
                                            <p:cond delay="664"/>
                                          </p:stCondLst>
                                        </p:cTn>
                                        <p:tgtEl>
                                          <p:spTgt spid="3">
                                            <p:txEl>
                                              <p:pRg st="3" end="3"/>
                                            </p:txEl>
                                          </p:spTgt>
                                        </p:tgtEl>
                                        <p:attrNameLst>
                                          <p:attrName>ppt_y</p:attrName>
                                        </p:attrNameLst>
                                      </p:cBhvr>
                                      <p:tavLst>
                                        <p:tav tm="0" fmla="#ppt_y-sin(pi*$)/9">
                                          <p:val>
                                            <p:fltVal val="0"/>
                                          </p:val>
                                        </p:tav>
                                        <p:tav tm="100000">
                                          <p:val>
                                            <p:fltVal val="1"/>
                                          </p:val>
                                        </p:tav>
                                      </p:tavLst>
                                    </p:anim>
                                    <p:anim calcmode="lin" valueType="num">
                                      <p:cBhvr>
                                        <p:cTn id="65" dur="332" tmFilter="0, 0; 0.125,0.2665; 0.25,0.4; 0.375,0.465; 0.5,0.5;  0.625,0.535; 0.75,0.6; 0.875,0.7335; 1,1">
                                          <p:stCondLst>
                                            <p:cond delay="1324"/>
                                          </p:stCondLst>
                                        </p:cTn>
                                        <p:tgtEl>
                                          <p:spTgt spid="3">
                                            <p:txEl>
                                              <p:pRg st="3" end="3"/>
                                            </p:txEl>
                                          </p:spTgt>
                                        </p:tgtEl>
                                        <p:attrNameLst>
                                          <p:attrName>ppt_y</p:attrName>
                                        </p:attrNameLst>
                                      </p:cBhvr>
                                      <p:tavLst>
                                        <p:tav tm="0" fmla="#ppt_y-sin(pi*$)/27">
                                          <p:val>
                                            <p:fltVal val="0"/>
                                          </p:val>
                                        </p:tav>
                                        <p:tav tm="100000">
                                          <p:val>
                                            <p:fltVal val="1"/>
                                          </p:val>
                                        </p:tav>
                                      </p:tavLst>
                                    </p:anim>
                                    <p:anim calcmode="lin" valueType="num">
                                      <p:cBhvr>
                                        <p:cTn id="66" dur="164" tmFilter="0, 0; 0.125,0.2665; 0.25,0.4; 0.375,0.465; 0.5,0.5;  0.625,0.535; 0.75,0.6; 0.875,0.7335; 1,1">
                                          <p:stCondLst>
                                            <p:cond delay="1656"/>
                                          </p:stCondLst>
                                        </p:cTn>
                                        <p:tgtEl>
                                          <p:spTgt spid="3">
                                            <p:txEl>
                                              <p:pRg st="3" end="3"/>
                                            </p:txEl>
                                          </p:spTgt>
                                        </p:tgtEl>
                                        <p:attrNameLst>
                                          <p:attrName>ppt_y</p:attrName>
                                        </p:attrNameLst>
                                      </p:cBhvr>
                                      <p:tavLst>
                                        <p:tav tm="0" fmla="#ppt_y-sin(pi*$)/81">
                                          <p:val>
                                            <p:fltVal val="0"/>
                                          </p:val>
                                        </p:tav>
                                        <p:tav tm="100000">
                                          <p:val>
                                            <p:fltVal val="1"/>
                                          </p:val>
                                        </p:tav>
                                      </p:tavLst>
                                    </p:anim>
                                    <p:animScale>
                                      <p:cBhvr>
                                        <p:cTn id="67" dur="26">
                                          <p:stCondLst>
                                            <p:cond delay="650"/>
                                          </p:stCondLst>
                                        </p:cTn>
                                        <p:tgtEl>
                                          <p:spTgt spid="3">
                                            <p:txEl>
                                              <p:pRg st="3" end="3"/>
                                            </p:txEl>
                                          </p:spTgt>
                                        </p:tgtEl>
                                      </p:cBhvr>
                                      <p:to x="100000" y="60000"/>
                                    </p:animScale>
                                    <p:animScale>
                                      <p:cBhvr>
                                        <p:cTn id="68" dur="166" decel="50000">
                                          <p:stCondLst>
                                            <p:cond delay="676"/>
                                          </p:stCondLst>
                                        </p:cTn>
                                        <p:tgtEl>
                                          <p:spTgt spid="3">
                                            <p:txEl>
                                              <p:pRg st="3" end="3"/>
                                            </p:txEl>
                                          </p:spTgt>
                                        </p:tgtEl>
                                      </p:cBhvr>
                                      <p:to x="100000" y="100000"/>
                                    </p:animScale>
                                    <p:animScale>
                                      <p:cBhvr>
                                        <p:cTn id="69" dur="26">
                                          <p:stCondLst>
                                            <p:cond delay="1312"/>
                                          </p:stCondLst>
                                        </p:cTn>
                                        <p:tgtEl>
                                          <p:spTgt spid="3">
                                            <p:txEl>
                                              <p:pRg st="3" end="3"/>
                                            </p:txEl>
                                          </p:spTgt>
                                        </p:tgtEl>
                                      </p:cBhvr>
                                      <p:to x="100000" y="80000"/>
                                    </p:animScale>
                                    <p:animScale>
                                      <p:cBhvr>
                                        <p:cTn id="70" dur="166" decel="50000">
                                          <p:stCondLst>
                                            <p:cond delay="1338"/>
                                          </p:stCondLst>
                                        </p:cTn>
                                        <p:tgtEl>
                                          <p:spTgt spid="3">
                                            <p:txEl>
                                              <p:pRg st="3" end="3"/>
                                            </p:txEl>
                                          </p:spTgt>
                                        </p:tgtEl>
                                      </p:cBhvr>
                                      <p:to x="100000" y="100000"/>
                                    </p:animScale>
                                    <p:animScale>
                                      <p:cBhvr>
                                        <p:cTn id="71" dur="26">
                                          <p:stCondLst>
                                            <p:cond delay="1642"/>
                                          </p:stCondLst>
                                        </p:cTn>
                                        <p:tgtEl>
                                          <p:spTgt spid="3">
                                            <p:txEl>
                                              <p:pRg st="3" end="3"/>
                                            </p:txEl>
                                          </p:spTgt>
                                        </p:tgtEl>
                                      </p:cBhvr>
                                      <p:to x="100000" y="90000"/>
                                    </p:animScale>
                                    <p:animScale>
                                      <p:cBhvr>
                                        <p:cTn id="72" dur="166" decel="50000">
                                          <p:stCondLst>
                                            <p:cond delay="1668"/>
                                          </p:stCondLst>
                                        </p:cTn>
                                        <p:tgtEl>
                                          <p:spTgt spid="3">
                                            <p:txEl>
                                              <p:pRg st="3" end="3"/>
                                            </p:txEl>
                                          </p:spTgt>
                                        </p:tgtEl>
                                      </p:cBhvr>
                                      <p:to x="100000" y="100000"/>
                                    </p:animScale>
                                    <p:animScale>
                                      <p:cBhvr>
                                        <p:cTn id="73" dur="26">
                                          <p:stCondLst>
                                            <p:cond delay="1808"/>
                                          </p:stCondLst>
                                        </p:cTn>
                                        <p:tgtEl>
                                          <p:spTgt spid="3">
                                            <p:txEl>
                                              <p:pRg st="3" end="3"/>
                                            </p:txEl>
                                          </p:spTgt>
                                        </p:tgtEl>
                                      </p:cBhvr>
                                      <p:to x="100000" y="95000"/>
                                    </p:animScale>
                                    <p:animScale>
                                      <p:cBhvr>
                                        <p:cTn id="74" dur="166" decel="50000">
                                          <p:stCondLst>
                                            <p:cond delay="1834"/>
                                          </p:stCondLst>
                                        </p:cTn>
                                        <p:tgtEl>
                                          <p:spTgt spid="3">
                                            <p:txEl>
                                              <p:pRg st="3" end="3"/>
                                            </p:txEl>
                                          </p:spTgt>
                                        </p:tgtEl>
                                      </p:cBhvr>
                                      <p:to x="100000" y="100000"/>
                                    </p:animScale>
                                  </p:childTnLst>
                                </p:cTn>
                              </p:par>
                            </p:childTnLst>
                          </p:cTn>
                        </p:par>
                      </p:childTnLst>
                    </p:cTn>
                  </p:par>
                  <p:par>
                    <p:cTn id="75" fill="hold">
                      <p:stCondLst>
                        <p:cond delay="indefinite"/>
                      </p:stCondLst>
                      <p:childTnLst>
                        <p:par>
                          <p:cTn id="76" fill="hold">
                            <p:stCondLst>
                              <p:cond delay="0"/>
                            </p:stCondLst>
                            <p:childTnLst>
                              <p:par>
                                <p:cTn id="77" presetID="26" presetClass="entr" presetSubtype="0" fill="hold" nodeType="clickEffect">
                                  <p:stCondLst>
                                    <p:cond delay="0"/>
                                  </p:stCondLst>
                                  <p:childTnLst>
                                    <p:set>
                                      <p:cBhvr>
                                        <p:cTn id="78" dur="1" fill="hold">
                                          <p:stCondLst>
                                            <p:cond delay="0"/>
                                          </p:stCondLst>
                                        </p:cTn>
                                        <p:tgtEl>
                                          <p:spTgt spid="3">
                                            <p:txEl>
                                              <p:pRg st="4" end="4"/>
                                            </p:txEl>
                                          </p:spTgt>
                                        </p:tgtEl>
                                        <p:attrNameLst>
                                          <p:attrName>style.visibility</p:attrName>
                                        </p:attrNameLst>
                                      </p:cBhvr>
                                      <p:to>
                                        <p:strVal val="visible"/>
                                      </p:to>
                                    </p:set>
                                    <p:animEffect transition="in" filter="wipe(down)">
                                      <p:cBhvr>
                                        <p:cTn id="79" dur="580">
                                          <p:stCondLst>
                                            <p:cond delay="0"/>
                                          </p:stCondLst>
                                        </p:cTn>
                                        <p:tgtEl>
                                          <p:spTgt spid="3">
                                            <p:txEl>
                                              <p:pRg st="4" end="4"/>
                                            </p:txEl>
                                          </p:spTgt>
                                        </p:tgtEl>
                                      </p:cBhvr>
                                    </p:animEffect>
                                    <p:anim calcmode="lin" valueType="num">
                                      <p:cBhvr>
                                        <p:cTn id="80" dur="1822" tmFilter="0,0; 0.14,0.36; 0.43,0.73; 0.71,0.91; 1.0,1.0">
                                          <p:stCondLst>
                                            <p:cond delay="0"/>
                                          </p:stCondLst>
                                        </p:cTn>
                                        <p:tgtEl>
                                          <p:spTgt spid="3">
                                            <p:txEl>
                                              <p:pRg st="4" end="4"/>
                                            </p:txEl>
                                          </p:spTgt>
                                        </p:tgtEl>
                                        <p:attrNameLst>
                                          <p:attrName>ppt_x</p:attrName>
                                        </p:attrNameLst>
                                      </p:cBhvr>
                                      <p:tavLst>
                                        <p:tav tm="0">
                                          <p:val>
                                            <p:strVal val="#ppt_x-0.25"/>
                                          </p:val>
                                        </p:tav>
                                        <p:tav tm="100000">
                                          <p:val>
                                            <p:strVal val="#ppt_x"/>
                                          </p:val>
                                        </p:tav>
                                      </p:tavLst>
                                    </p:anim>
                                    <p:anim calcmode="lin" valueType="num">
                                      <p:cBhvr>
                                        <p:cTn id="81" dur="664" tmFilter="0.0,0.0; 0.25,0.07; 0.50,0.2; 0.75,0.467; 1.0,1.0">
                                          <p:stCondLst>
                                            <p:cond delay="0"/>
                                          </p:stCondLst>
                                        </p:cTn>
                                        <p:tgtEl>
                                          <p:spTgt spid="3">
                                            <p:txEl>
                                              <p:pRg st="4" end="4"/>
                                            </p:txEl>
                                          </p:spTgt>
                                        </p:tgtEl>
                                        <p:attrNameLst>
                                          <p:attrName>ppt_y</p:attrName>
                                        </p:attrNameLst>
                                      </p:cBhvr>
                                      <p:tavLst>
                                        <p:tav tm="0" fmla="#ppt_y-sin(pi*$)/3">
                                          <p:val>
                                            <p:fltVal val="0.5"/>
                                          </p:val>
                                        </p:tav>
                                        <p:tav tm="100000">
                                          <p:val>
                                            <p:fltVal val="1"/>
                                          </p:val>
                                        </p:tav>
                                      </p:tavLst>
                                    </p:anim>
                                    <p:anim calcmode="lin" valueType="num">
                                      <p:cBhvr>
                                        <p:cTn id="82" dur="664" tmFilter="0, 0; 0.125,0.2665; 0.25,0.4; 0.375,0.465; 0.5,0.5;  0.625,0.535; 0.75,0.6; 0.875,0.7335; 1,1">
                                          <p:stCondLst>
                                            <p:cond delay="664"/>
                                          </p:stCondLst>
                                        </p:cTn>
                                        <p:tgtEl>
                                          <p:spTgt spid="3">
                                            <p:txEl>
                                              <p:pRg st="4" end="4"/>
                                            </p:txEl>
                                          </p:spTgt>
                                        </p:tgtEl>
                                        <p:attrNameLst>
                                          <p:attrName>ppt_y</p:attrName>
                                        </p:attrNameLst>
                                      </p:cBhvr>
                                      <p:tavLst>
                                        <p:tav tm="0" fmla="#ppt_y-sin(pi*$)/9">
                                          <p:val>
                                            <p:fltVal val="0"/>
                                          </p:val>
                                        </p:tav>
                                        <p:tav tm="100000">
                                          <p:val>
                                            <p:fltVal val="1"/>
                                          </p:val>
                                        </p:tav>
                                      </p:tavLst>
                                    </p:anim>
                                    <p:anim calcmode="lin" valueType="num">
                                      <p:cBhvr>
                                        <p:cTn id="83" dur="332" tmFilter="0, 0; 0.125,0.2665; 0.25,0.4; 0.375,0.465; 0.5,0.5;  0.625,0.535; 0.75,0.6; 0.875,0.7335; 1,1">
                                          <p:stCondLst>
                                            <p:cond delay="1324"/>
                                          </p:stCondLst>
                                        </p:cTn>
                                        <p:tgtEl>
                                          <p:spTgt spid="3">
                                            <p:txEl>
                                              <p:pRg st="4" end="4"/>
                                            </p:txEl>
                                          </p:spTgt>
                                        </p:tgtEl>
                                        <p:attrNameLst>
                                          <p:attrName>ppt_y</p:attrName>
                                        </p:attrNameLst>
                                      </p:cBhvr>
                                      <p:tavLst>
                                        <p:tav tm="0" fmla="#ppt_y-sin(pi*$)/27">
                                          <p:val>
                                            <p:fltVal val="0"/>
                                          </p:val>
                                        </p:tav>
                                        <p:tav tm="100000">
                                          <p:val>
                                            <p:fltVal val="1"/>
                                          </p:val>
                                        </p:tav>
                                      </p:tavLst>
                                    </p:anim>
                                    <p:anim calcmode="lin" valueType="num">
                                      <p:cBhvr>
                                        <p:cTn id="84" dur="164" tmFilter="0, 0; 0.125,0.2665; 0.25,0.4; 0.375,0.465; 0.5,0.5;  0.625,0.535; 0.75,0.6; 0.875,0.7335; 1,1">
                                          <p:stCondLst>
                                            <p:cond delay="1656"/>
                                          </p:stCondLst>
                                        </p:cTn>
                                        <p:tgtEl>
                                          <p:spTgt spid="3">
                                            <p:txEl>
                                              <p:pRg st="4" end="4"/>
                                            </p:txEl>
                                          </p:spTgt>
                                        </p:tgtEl>
                                        <p:attrNameLst>
                                          <p:attrName>ppt_y</p:attrName>
                                        </p:attrNameLst>
                                      </p:cBhvr>
                                      <p:tavLst>
                                        <p:tav tm="0" fmla="#ppt_y-sin(pi*$)/81">
                                          <p:val>
                                            <p:fltVal val="0"/>
                                          </p:val>
                                        </p:tav>
                                        <p:tav tm="100000">
                                          <p:val>
                                            <p:fltVal val="1"/>
                                          </p:val>
                                        </p:tav>
                                      </p:tavLst>
                                    </p:anim>
                                    <p:animScale>
                                      <p:cBhvr>
                                        <p:cTn id="85" dur="26">
                                          <p:stCondLst>
                                            <p:cond delay="650"/>
                                          </p:stCondLst>
                                        </p:cTn>
                                        <p:tgtEl>
                                          <p:spTgt spid="3">
                                            <p:txEl>
                                              <p:pRg st="4" end="4"/>
                                            </p:txEl>
                                          </p:spTgt>
                                        </p:tgtEl>
                                      </p:cBhvr>
                                      <p:to x="100000" y="60000"/>
                                    </p:animScale>
                                    <p:animScale>
                                      <p:cBhvr>
                                        <p:cTn id="86" dur="166" decel="50000">
                                          <p:stCondLst>
                                            <p:cond delay="676"/>
                                          </p:stCondLst>
                                        </p:cTn>
                                        <p:tgtEl>
                                          <p:spTgt spid="3">
                                            <p:txEl>
                                              <p:pRg st="4" end="4"/>
                                            </p:txEl>
                                          </p:spTgt>
                                        </p:tgtEl>
                                      </p:cBhvr>
                                      <p:to x="100000" y="100000"/>
                                    </p:animScale>
                                    <p:animScale>
                                      <p:cBhvr>
                                        <p:cTn id="87" dur="26">
                                          <p:stCondLst>
                                            <p:cond delay="1312"/>
                                          </p:stCondLst>
                                        </p:cTn>
                                        <p:tgtEl>
                                          <p:spTgt spid="3">
                                            <p:txEl>
                                              <p:pRg st="4" end="4"/>
                                            </p:txEl>
                                          </p:spTgt>
                                        </p:tgtEl>
                                      </p:cBhvr>
                                      <p:to x="100000" y="80000"/>
                                    </p:animScale>
                                    <p:animScale>
                                      <p:cBhvr>
                                        <p:cTn id="88" dur="166" decel="50000">
                                          <p:stCondLst>
                                            <p:cond delay="1338"/>
                                          </p:stCondLst>
                                        </p:cTn>
                                        <p:tgtEl>
                                          <p:spTgt spid="3">
                                            <p:txEl>
                                              <p:pRg st="4" end="4"/>
                                            </p:txEl>
                                          </p:spTgt>
                                        </p:tgtEl>
                                      </p:cBhvr>
                                      <p:to x="100000" y="100000"/>
                                    </p:animScale>
                                    <p:animScale>
                                      <p:cBhvr>
                                        <p:cTn id="89" dur="26">
                                          <p:stCondLst>
                                            <p:cond delay="1642"/>
                                          </p:stCondLst>
                                        </p:cTn>
                                        <p:tgtEl>
                                          <p:spTgt spid="3">
                                            <p:txEl>
                                              <p:pRg st="4" end="4"/>
                                            </p:txEl>
                                          </p:spTgt>
                                        </p:tgtEl>
                                      </p:cBhvr>
                                      <p:to x="100000" y="90000"/>
                                    </p:animScale>
                                    <p:animScale>
                                      <p:cBhvr>
                                        <p:cTn id="90" dur="166" decel="50000">
                                          <p:stCondLst>
                                            <p:cond delay="1668"/>
                                          </p:stCondLst>
                                        </p:cTn>
                                        <p:tgtEl>
                                          <p:spTgt spid="3">
                                            <p:txEl>
                                              <p:pRg st="4" end="4"/>
                                            </p:txEl>
                                          </p:spTgt>
                                        </p:tgtEl>
                                      </p:cBhvr>
                                      <p:to x="100000" y="100000"/>
                                    </p:animScale>
                                    <p:animScale>
                                      <p:cBhvr>
                                        <p:cTn id="91" dur="26">
                                          <p:stCondLst>
                                            <p:cond delay="1808"/>
                                          </p:stCondLst>
                                        </p:cTn>
                                        <p:tgtEl>
                                          <p:spTgt spid="3">
                                            <p:txEl>
                                              <p:pRg st="4" end="4"/>
                                            </p:txEl>
                                          </p:spTgt>
                                        </p:tgtEl>
                                      </p:cBhvr>
                                      <p:to x="100000" y="95000"/>
                                    </p:animScale>
                                    <p:animScale>
                                      <p:cBhvr>
                                        <p:cTn id="92" dur="166" decel="50000">
                                          <p:stCondLst>
                                            <p:cond delay="1834"/>
                                          </p:stCondLst>
                                        </p:cTn>
                                        <p:tgtEl>
                                          <p:spTgt spid="3">
                                            <p:txEl>
                                              <p:pRg st="4" end="4"/>
                                            </p:txEl>
                                          </p:spTgt>
                                        </p:tgtEl>
                                      </p:cBhvr>
                                      <p:to x="100000" y="100000"/>
                                    </p:animScale>
                                  </p:childTnLst>
                                </p:cTn>
                              </p:par>
                            </p:childTnLst>
                          </p:cTn>
                        </p:par>
                      </p:childTnLst>
                    </p:cTn>
                  </p:par>
                  <p:par>
                    <p:cTn id="93" fill="hold">
                      <p:stCondLst>
                        <p:cond delay="indefinite"/>
                      </p:stCondLst>
                      <p:childTnLst>
                        <p:par>
                          <p:cTn id="94" fill="hold">
                            <p:stCondLst>
                              <p:cond delay="0"/>
                            </p:stCondLst>
                            <p:childTnLst>
                              <p:par>
                                <p:cTn id="95" presetID="26" presetClass="entr" presetSubtype="0" fill="hold" nodeType="clickEffect">
                                  <p:stCondLst>
                                    <p:cond delay="0"/>
                                  </p:stCondLst>
                                  <p:childTnLst>
                                    <p:set>
                                      <p:cBhvr>
                                        <p:cTn id="96" dur="1" fill="hold">
                                          <p:stCondLst>
                                            <p:cond delay="0"/>
                                          </p:stCondLst>
                                        </p:cTn>
                                        <p:tgtEl>
                                          <p:spTgt spid="3">
                                            <p:txEl>
                                              <p:pRg st="5" end="5"/>
                                            </p:txEl>
                                          </p:spTgt>
                                        </p:tgtEl>
                                        <p:attrNameLst>
                                          <p:attrName>style.visibility</p:attrName>
                                        </p:attrNameLst>
                                      </p:cBhvr>
                                      <p:to>
                                        <p:strVal val="visible"/>
                                      </p:to>
                                    </p:set>
                                    <p:animEffect transition="in" filter="wipe(down)">
                                      <p:cBhvr>
                                        <p:cTn id="97" dur="580">
                                          <p:stCondLst>
                                            <p:cond delay="0"/>
                                          </p:stCondLst>
                                        </p:cTn>
                                        <p:tgtEl>
                                          <p:spTgt spid="3">
                                            <p:txEl>
                                              <p:pRg st="5" end="5"/>
                                            </p:txEl>
                                          </p:spTgt>
                                        </p:tgtEl>
                                      </p:cBhvr>
                                    </p:animEffect>
                                    <p:anim calcmode="lin" valueType="num">
                                      <p:cBhvr>
                                        <p:cTn id="98" dur="1822" tmFilter="0,0; 0.14,0.36; 0.43,0.73; 0.71,0.91; 1.0,1.0">
                                          <p:stCondLst>
                                            <p:cond delay="0"/>
                                          </p:stCondLst>
                                        </p:cTn>
                                        <p:tgtEl>
                                          <p:spTgt spid="3">
                                            <p:txEl>
                                              <p:pRg st="5" end="5"/>
                                            </p:txEl>
                                          </p:spTgt>
                                        </p:tgtEl>
                                        <p:attrNameLst>
                                          <p:attrName>ppt_x</p:attrName>
                                        </p:attrNameLst>
                                      </p:cBhvr>
                                      <p:tavLst>
                                        <p:tav tm="0">
                                          <p:val>
                                            <p:strVal val="#ppt_x-0.25"/>
                                          </p:val>
                                        </p:tav>
                                        <p:tav tm="100000">
                                          <p:val>
                                            <p:strVal val="#ppt_x"/>
                                          </p:val>
                                        </p:tav>
                                      </p:tavLst>
                                    </p:anim>
                                    <p:anim calcmode="lin" valueType="num">
                                      <p:cBhvr>
                                        <p:cTn id="99" dur="664" tmFilter="0.0,0.0; 0.25,0.07; 0.50,0.2; 0.75,0.467; 1.0,1.0">
                                          <p:stCondLst>
                                            <p:cond delay="0"/>
                                          </p:stCondLst>
                                        </p:cTn>
                                        <p:tgtEl>
                                          <p:spTgt spid="3">
                                            <p:txEl>
                                              <p:pRg st="5" end="5"/>
                                            </p:txEl>
                                          </p:spTgt>
                                        </p:tgtEl>
                                        <p:attrNameLst>
                                          <p:attrName>ppt_y</p:attrName>
                                        </p:attrNameLst>
                                      </p:cBhvr>
                                      <p:tavLst>
                                        <p:tav tm="0" fmla="#ppt_y-sin(pi*$)/3">
                                          <p:val>
                                            <p:fltVal val="0.5"/>
                                          </p:val>
                                        </p:tav>
                                        <p:tav tm="100000">
                                          <p:val>
                                            <p:fltVal val="1"/>
                                          </p:val>
                                        </p:tav>
                                      </p:tavLst>
                                    </p:anim>
                                    <p:anim calcmode="lin" valueType="num">
                                      <p:cBhvr>
                                        <p:cTn id="100" dur="664" tmFilter="0, 0; 0.125,0.2665; 0.25,0.4; 0.375,0.465; 0.5,0.5;  0.625,0.535; 0.75,0.6; 0.875,0.7335; 1,1">
                                          <p:stCondLst>
                                            <p:cond delay="664"/>
                                          </p:stCondLst>
                                        </p:cTn>
                                        <p:tgtEl>
                                          <p:spTgt spid="3">
                                            <p:txEl>
                                              <p:pRg st="5" end="5"/>
                                            </p:txEl>
                                          </p:spTgt>
                                        </p:tgtEl>
                                        <p:attrNameLst>
                                          <p:attrName>ppt_y</p:attrName>
                                        </p:attrNameLst>
                                      </p:cBhvr>
                                      <p:tavLst>
                                        <p:tav tm="0" fmla="#ppt_y-sin(pi*$)/9">
                                          <p:val>
                                            <p:fltVal val="0"/>
                                          </p:val>
                                        </p:tav>
                                        <p:tav tm="100000">
                                          <p:val>
                                            <p:fltVal val="1"/>
                                          </p:val>
                                        </p:tav>
                                      </p:tavLst>
                                    </p:anim>
                                    <p:anim calcmode="lin" valueType="num">
                                      <p:cBhvr>
                                        <p:cTn id="101" dur="332" tmFilter="0, 0; 0.125,0.2665; 0.25,0.4; 0.375,0.465; 0.5,0.5;  0.625,0.535; 0.75,0.6; 0.875,0.7335; 1,1">
                                          <p:stCondLst>
                                            <p:cond delay="1324"/>
                                          </p:stCondLst>
                                        </p:cTn>
                                        <p:tgtEl>
                                          <p:spTgt spid="3">
                                            <p:txEl>
                                              <p:pRg st="5" end="5"/>
                                            </p:txEl>
                                          </p:spTgt>
                                        </p:tgtEl>
                                        <p:attrNameLst>
                                          <p:attrName>ppt_y</p:attrName>
                                        </p:attrNameLst>
                                      </p:cBhvr>
                                      <p:tavLst>
                                        <p:tav tm="0" fmla="#ppt_y-sin(pi*$)/27">
                                          <p:val>
                                            <p:fltVal val="0"/>
                                          </p:val>
                                        </p:tav>
                                        <p:tav tm="100000">
                                          <p:val>
                                            <p:fltVal val="1"/>
                                          </p:val>
                                        </p:tav>
                                      </p:tavLst>
                                    </p:anim>
                                    <p:anim calcmode="lin" valueType="num">
                                      <p:cBhvr>
                                        <p:cTn id="102" dur="164" tmFilter="0, 0; 0.125,0.2665; 0.25,0.4; 0.375,0.465; 0.5,0.5;  0.625,0.535; 0.75,0.6; 0.875,0.7335; 1,1">
                                          <p:stCondLst>
                                            <p:cond delay="1656"/>
                                          </p:stCondLst>
                                        </p:cTn>
                                        <p:tgtEl>
                                          <p:spTgt spid="3">
                                            <p:txEl>
                                              <p:pRg st="5" end="5"/>
                                            </p:txEl>
                                          </p:spTgt>
                                        </p:tgtEl>
                                        <p:attrNameLst>
                                          <p:attrName>ppt_y</p:attrName>
                                        </p:attrNameLst>
                                      </p:cBhvr>
                                      <p:tavLst>
                                        <p:tav tm="0" fmla="#ppt_y-sin(pi*$)/81">
                                          <p:val>
                                            <p:fltVal val="0"/>
                                          </p:val>
                                        </p:tav>
                                        <p:tav tm="100000">
                                          <p:val>
                                            <p:fltVal val="1"/>
                                          </p:val>
                                        </p:tav>
                                      </p:tavLst>
                                    </p:anim>
                                    <p:animScale>
                                      <p:cBhvr>
                                        <p:cTn id="103" dur="26">
                                          <p:stCondLst>
                                            <p:cond delay="650"/>
                                          </p:stCondLst>
                                        </p:cTn>
                                        <p:tgtEl>
                                          <p:spTgt spid="3">
                                            <p:txEl>
                                              <p:pRg st="5" end="5"/>
                                            </p:txEl>
                                          </p:spTgt>
                                        </p:tgtEl>
                                      </p:cBhvr>
                                      <p:to x="100000" y="60000"/>
                                    </p:animScale>
                                    <p:animScale>
                                      <p:cBhvr>
                                        <p:cTn id="104" dur="166" decel="50000">
                                          <p:stCondLst>
                                            <p:cond delay="676"/>
                                          </p:stCondLst>
                                        </p:cTn>
                                        <p:tgtEl>
                                          <p:spTgt spid="3">
                                            <p:txEl>
                                              <p:pRg st="5" end="5"/>
                                            </p:txEl>
                                          </p:spTgt>
                                        </p:tgtEl>
                                      </p:cBhvr>
                                      <p:to x="100000" y="100000"/>
                                    </p:animScale>
                                    <p:animScale>
                                      <p:cBhvr>
                                        <p:cTn id="105" dur="26">
                                          <p:stCondLst>
                                            <p:cond delay="1312"/>
                                          </p:stCondLst>
                                        </p:cTn>
                                        <p:tgtEl>
                                          <p:spTgt spid="3">
                                            <p:txEl>
                                              <p:pRg st="5" end="5"/>
                                            </p:txEl>
                                          </p:spTgt>
                                        </p:tgtEl>
                                      </p:cBhvr>
                                      <p:to x="100000" y="80000"/>
                                    </p:animScale>
                                    <p:animScale>
                                      <p:cBhvr>
                                        <p:cTn id="106" dur="166" decel="50000">
                                          <p:stCondLst>
                                            <p:cond delay="1338"/>
                                          </p:stCondLst>
                                        </p:cTn>
                                        <p:tgtEl>
                                          <p:spTgt spid="3">
                                            <p:txEl>
                                              <p:pRg st="5" end="5"/>
                                            </p:txEl>
                                          </p:spTgt>
                                        </p:tgtEl>
                                      </p:cBhvr>
                                      <p:to x="100000" y="100000"/>
                                    </p:animScale>
                                    <p:animScale>
                                      <p:cBhvr>
                                        <p:cTn id="107" dur="26">
                                          <p:stCondLst>
                                            <p:cond delay="1642"/>
                                          </p:stCondLst>
                                        </p:cTn>
                                        <p:tgtEl>
                                          <p:spTgt spid="3">
                                            <p:txEl>
                                              <p:pRg st="5" end="5"/>
                                            </p:txEl>
                                          </p:spTgt>
                                        </p:tgtEl>
                                      </p:cBhvr>
                                      <p:to x="100000" y="90000"/>
                                    </p:animScale>
                                    <p:animScale>
                                      <p:cBhvr>
                                        <p:cTn id="108" dur="166" decel="50000">
                                          <p:stCondLst>
                                            <p:cond delay="1668"/>
                                          </p:stCondLst>
                                        </p:cTn>
                                        <p:tgtEl>
                                          <p:spTgt spid="3">
                                            <p:txEl>
                                              <p:pRg st="5" end="5"/>
                                            </p:txEl>
                                          </p:spTgt>
                                        </p:tgtEl>
                                      </p:cBhvr>
                                      <p:to x="100000" y="100000"/>
                                    </p:animScale>
                                    <p:animScale>
                                      <p:cBhvr>
                                        <p:cTn id="109" dur="26">
                                          <p:stCondLst>
                                            <p:cond delay="1808"/>
                                          </p:stCondLst>
                                        </p:cTn>
                                        <p:tgtEl>
                                          <p:spTgt spid="3">
                                            <p:txEl>
                                              <p:pRg st="5" end="5"/>
                                            </p:txEl>
                                          </p:spTgt>
                                        </p:tgtEl>
                                      </p:cBhvr>
                                      <p:to x="100000" y="95000"/>
                                    </p:animScale>
                                    <p:animScale>
                                      <p:cBhvr>
                                        <p:cTn id="110" dur="166" decel="50000">
                                          <p:stCondLst>
                                            <p:cond delay="1834"/>
                                          </p:stCondLst>
                                        </p:cTn>
                                        <p:tgtEl>
                                          <p:spTgt spid="3">
                                            <p:txEl>
                                              <p:pRg st="5" end="5"/>
                                            </p:txEl>
                                          </p:spTgt>
                                        </p:tgtEl>
                                      </p:cBhvr>
                                      <p:to x="100000" y="100000"/>
                                    </p:animScale>
                                  </p:childTnLst>
                                </p:cTn>
                              </p:par>
                            </p:childTnLst>
                          </p:cTn>
                        </p:par>
                      </p:childTnLst>
                    </p:cTn>
                  </p:par>
                  <p:par>
                    <p:cTn id="111" fill="hold">
                      <p:stCondLst>
                        <p:cond delay="indefinite"/>
                      </p:stCondLst>
                      <p:childTnLst>
                        <p:par>
                          <p:cTn id="112" fill="hold">
                            <p:stCondLst>
                              <p:cond delay="0"/>
                            </p:stCondLst>
                            <p:childTnLst>
                              <p:par>
                                <p:cTn id="113" presetID="26" presetClass="entr" presetSubtype="0" fill="hold" nodeType="clickEffect">
                                  <p:stCondLst>
                                    <p:cond delay="0"/>
                                  </p:stCondLst>
                                  <p:childTnLst>
                                    <p:set>
                                      <p:cBhvr>
                                        <p:cTn id="114" dur="1" fill="hold">
                                          <p:stCondLst>
                                            <p:cond delay="0"/>
                                          </p:stCondLst>
                                        </p:cTn>
                                        <p:tgtEl>
                                          <p:spTgt spid="3">
                                            <p:txEl>
                                              <p:pRg st="6" end="6"/>
                                            </p:txEl>
                                          </p:spTgt>
                                        </p:tgtEl>
                                        <p:attrNameLst>
                                          <p:attrName>style.visibility</p:attrName>
                                        </p:attrNameLst>
                                      </p:cBhvr>
                                      <p:to>
                                        <p:strVal val="visible"/>
                                      </p:to>
                                    </p:set>
                                    <p:animEffect transition="in" filter="wipe(down)">
                                      <p:cBhvr>
                                        <p:cTn id="115" dur="580">
                                          <p:stCondLst>
                                            <p:cond delay="0"/>
                                          </p:stCondLst>
                                        </p:cTn>
                                        <p:tgtEl>
                                          <p:spTgt spid="3">
                                            <p:txEl>
                                              <p:pRg st="6" end="6"/>
                                            </p:txEl>
                                          </p:spTgt>
                                        </p:tgtEl>
                                      </p:cBhvr>
                                    </p:animEffect>
                                    <p:anim calcmode="lin" valueType="num">
                                      <p:cBhvr>
                                        <p:cTn id="116" dur="1822" tmFilter="0,0; 0.14,0.36; 0.43,0.73; 0.71,0.91; 1.0,1.0">
                                          <p:stCondLst>
                                            <p:cond delay="0"/>
                                          </p:stCondLst>
                                        </p:cTn>
                                        <p:tgtEl>
                                          <p:spTgt spid="3">
                                            <p:txEl>
                                              <p:pRg st="6" end="6"/>
                                            </p:txEl>
                                          </p:spTgt>
                                        </p:tgtEl>
                                        <p:attrNameLst>
                                          <p:attrName>ppt_x</p:attrName>
                                        </p:attrNameLst>
                                      </p:cBhvr>
                                      <p:tavLst>
                                        <p:tav tm="0">
                                          <p:val>
                                            <p:strVal val="#ppt_x-0.25"/>
                                          </p:val>
                                        </p:tav>
                                        <p:tav tm="100000">
                                          <p:val>
                                            <p:strVal val="#ppt_x"/>
                                          </p:val>
                                        </p:tav>
                                      </p:tavLst>
                                    </p:anim>
                                    <p:anim calcmode="lin" valueType="num">
                                      <p:cBhvr>
                                        <p:cTn id="117" dur="664" tmFilter="0.0,0.0; 0.25,0.07; 0.50,0.2; 0.75,0.467; 1.0,1.0">
                                          <p:stCondLst>
                                            <p:cond delay="0"/>
                                          </p:stCondLst>
                                        </p:cTn>
                                        <p:tgtEl>
                                          <p:spTgt spid="3">
                                            <p:txEl>
                                              <p:pRg st="6" end="6"/>
                                            </p:txEl>
                                          </p:spTgt>
                                        </p:tgtEl>
                                        <p:attrNameLst>
                                          <p:attrName>ppt_y</p:attrName>
                                        </p:attrNameLst>
                                      </p:cBhvr>
                                      <p:tavLst>
                                        <p:tav tm="0" fmla="#ppt_y-sin(pi*$)/3">
                                          <p:val>
                                            <p:fltVal val="0.5"/>
                                          </p:val>
                                        </p:tav>
                                        <p:tav tm="100000">
                                          <p:val>
                                            <p:fltVal val="1"/>
                                          </p:val>
                                        </p:tav>
                                      </p:tavLst>
                                    </p:anim>
                                    <p:anim calcmode="lin" valueType="num">
                                      <p:cBhvr>
                                        <p:cTn id="118" dur="664" tmFilter="0, 0; 0.125,0.2665; 0.25,0.4; 0.375,0.465; 0.5,0.5;  0.625,0.535; 0.75,0.6; 0.875,0.7335; 1,1">
                                          <p:stCondLst>
                                            <p:cond delay="664"/>
                                          </p:stCondLst>
                                        </p:cTn>
                                        <p:tgtEl>
                                          <p:spTgt spid="3">
                                            <p:txEl>
                                              <p:pRg st="6" end="6"/>
                                            </p:txEl>
                                          </p:spTgt>
                                        </p:tgtEl>
                                        <p:attrNameLst>
                                          <p:attrName>ppt_y</p:attrName>
                                        </p:attrNameLst>
                                      </p:cBhvr>
                                      <p:tavLst>
                                        <p:tav tm="0" fmla="#ppt_y-sin(pi*$)/9">
                                          <p:val>
                                            <p:fltVal val="0"/>
                                          </p:val>
                                        </p:tav>
                                        <p:tav tm="100000">
                                          <p:val>
                                            <p:fltVal val="1"/>
                                          </p:val>
                                        </p:tav>
                                      </p:tavLst>
                                    </p:anim>
                                    <p:anim calcmode="lin" valueType="num">
                                      <p:cBhvr>
                                        <p:cTn id="119" dur="332" tmFilter="0, 0; 0.125,0.2665; 0.25,0.4; 0.375,0.465; 0.5,0.5;  0.625,0.535; 0.75,0.6; 0.875,0.7335; 1,1">
                                          <p:stCondLst>
                                            <p:cond delay="1324"/>
                                          </p:stCondLst>
                                        </p:cTn>
                                        <p:tgtEl>
                                          <p:spTgt spid="3">
                                            <p:txEl>
                                              <p:pRg st="6" end="6"/>
                                            </p:txEl>
                                          </p:spTgt>
                                        </p:tgtEl>
                                        <p:attrNameLst>
                                          <p:attrName>ppt_y</p:attrName>
                                        </p:attrNameLst>
                                      </p:cBhvr>
                                      <p:tavLst>
                                        <p:tav tm="0" fmla="#ppt_y-sin(pi*$)/27">
                                          <p:val>
                                            <p:fltVal val="0"/>
                                          </p:val>
                                        </p:tav>
                                        <p:tav tm="100000">
                                          <p:val>
                                            <p:fltVal val="1"/>
                                          </p:val>
                                        </p:tav>
                                      </p:tavLst>
                                    </p:anim>
                                    <p:anim calcmode="lin" valueType="num">
                                      <p:cBhvr>
                                        <p:cTn id="120" dur="164" tmFilter="0, 0; 0.125,0.2665; 0.25,0.4; 0.375,0.465; 0.5,0.5;  0.625,0.535; 0.75,0.6; 0.875,0.7335; 1,1">
                                          <p:stCondLst>
                                            <p:cond delay="1656"/>
                                          </p:stCondLst>
                                        </p:cTn>
                                        <p:tgtEl>
                                          <p:spTgt spid="3">
                                            <p:txEl>
                                              <p:pRg st="6" end="6"/>
                                            </p:txEl>
                                          </p:spTgt>
                                        </p:tgtEl>
                                        <p:attrNameLst>
                                          <p:attrName>ppt_y</p:attrName>
                                        </p:attrNameLst>
                                      </p:cBhvr>
                                      <p:tavLst>
                                        <p:tav tm="0" fmla="#ppt_y-sin(pi*$)/81">
                                          <p:val>
                                            <p:fltVal val="0"/>
                                          </p:val>
                                        </p:tav>
                                        <p:tav tm="100000">
                                          <p:val>
                                            <p:fltVal val="1"/>
                                          </p:val>
                                        </p:tav>
                                      </p:tavLst>
                                    </p:anim>
                                    <p:animScale>
                                      <p:cBhvr>
                                        <p:cTn id="121" dur="26">
                                          <p:stCondLst>
                                            <p:cond delay="650"/>
                                          </p:stCondLst>
                                        </p:cTn>
                                        <p:tgtEl>
                                          <p:spTgt spid="3">
                                            <p:txEl>
                                              <p:pRg st="6" end="6"/>
                                            </p:txEl>
                                          </p:spTgt>
                                        </p:tgtEl>
                                      </p:cBhvr>
                                      <p:to x="100000" y="60000"/>
                                    </p:animScale>
                                    <p:animScale>
                                      <p:cBhvr>
                                        <p:cTn id="122" dur="166" decel="50000">
                                          <p:stCondLst>
                                            <p:cond delay="676"/>
                                          </p:stCondLst>
                                        </p:cTn>
                                        <p:tgtEl>
                                          <p:spTgt spid="3">
                                            <p:txEl>
                                              <p:pRg st="6" end="6"/>
                                            </p:txEl>
                                          </p:spTgt>
                                        </p:tgtEl>
                                      </p:cBhvr>
                                      <p:to x="100000" y="100000"/>
                                    </p:animScale>
                                    <p:animScale>
                                      <p:cBhvr>
                                        <p:cTn id="123" dur="26">
                                          <p:stCondLst>
                                            <p:cond delay="1312"/>
                                          </p:stCondLst>
                                        </p:cTn>
                                        <p:tgtEl>
                                          <p:spTgt spid="3">
                                            <p:txEl>
                                              <p:pRg st="6" end="6"/>
                                            </p:txEl>
                                          </p:spTgt>
                                        </p:tgtEl>
                                      </p:cBhvr>
                                      <p:to x="100000" y="80000"/>
                                    </p:animScale>
                                    <p:animScale>
                                      <p:cBhvr>
                                        <p:cTn id="124" dur="166" decel="50000">
                                          <p:stCondLst>
                                            <p:cond delay="1338"/>
                                          </p:stCondLst>
                                        </p:cTn>
                                        <p:tgtEl>
                                          <p:spTgt spid="3">
                                            <p:txEl>
                                              <p:pRg st="6" end="6"/>
                                            </p:txEl>
                                          </p:spTgt>
                                        </p:tgtEl>
                                      </p:cBhvr>
                                      <p:to x="100000" y="100000"/>
                                    </p:animScale>
                                    <p:animScale>
                                      <p:cBhvr>
                                        <p:cTn id="125" dur="26">
                                          <p:stCondLst>
                                            <p:cond delay="1642"/>
                                          </p:stCondLst>
                                        </p:cTn>
                                        <p:tgtEl>
                                          <p:spTgt spid="3">
                                            <p:txEl>
                                              <p:pRg st="6" end="6"/>
                                            </p:txEl>
                                          </p:spTgt>
                                        </p:tgtEl>
                                      </p:cBhvr>
                                      <p:to x="100000" y="90000"/>
                                    </p:animScale>
                                    <p:animScale>
                                      <p:cBhvr>
                                        <p:cTn id="126" dur="166" decel="50000">
                                          <p:stCondLst>
                                            <p:cond delay="1668"/>
                                          </p:stCondLst>
                                        </p:cTn>
                                        <p:tgtEl>
                                          <p:spTgt spid="3">
                                            <p:txEl>
                                              <p:pRg st="6" end="6"/>
                                            </p:txEl>
                                          </p:spTgt>
                                        </p:tgtEl>
                                      </p:cBhvr>
                                      <p:to x="100000" y="100000"/>
                                    </p:animScale>
                                    <p:animScale>
                                      <p:cBhvr>
                                        <p:cTn id="127" dur="26">
                                          <p:stCondLst>
                                            <p:cond delay="1808"/>
                                          </p:stCondLst>
                                        </p:cTn>
                                        <p:tgtEl>
                                          <p:spTgt spid="3">
                                            <p:txEl>
                                              <p:pRg st="6" end="6"/>
                                            </p:txEl>
                                          </p:spTgt>
                                        </p:tgtEl>
                                      </p:cBhvr>
                                      <p:to x="100000" y="95000"/>
                                    </p:animScale>
                                    <p:animScale>
                                      <p:cBhvr>
                                        <p:cTn id="128" dur="166" decel="50000">
                                          <p:stCondLst>
                                            <p:cond delay="1834"/>
                                          </p:stCondLst>
                                        </p:cTn>
                                        <p:tgtEl>
                                          <p:spTgt spid="3">
                                            <p:txEl>
                                              <p:pRg st="6" end="6"/>
                                            </p:txEl>
                                          </p:spTgt>
                                        </p:tgtEl>
                                      </p:cBhvr>
                                      <p:to x="100000" y="100000"/>
                                    </p:animScale>
                                  </p:childTnLst>
                                </p:cTn>
                              </p:par>
                            </p:childTnLst>
                          </p:cTn>
                        </p:par>
                      </p:childTnLst>
                    </p:cTn>
                  </p:par>
                  <p:par>
                    <p:cTn id="129" fill="hold">
                      <p:stCondLst>
                        <p:cond delay="indefinite"/>
                      </p:stCondLst>
                      <p:childTnLst>
                        <p:par>
                          <p:cTn id="130" fill="hold">
                            <p:stCondLst>
                              <p:cond delay="0"/>
                            </p:stCondLst>
                            <p:childTnLst>
                              <p:par>
                                <p:cTn id="131" presetID="26" presetClass="entr" presetSubtype="0" fill="hold" nodeType="clickEffect">
                                  <p:stCondLst>
                                    <p:cond delay="0"/>
                                  </p:stCondLst>
                                  <p:childTnLst>
                                    <p:set>
                                      <p:cBhvr>
                                        <p:cTn id="132" dur="1" fill="hold">
                                          <p:stCondLst>
                                            <p:cond delay="0"/>
                                          </p:stCondLst>
                                        </p:cTn>
                                        <p:tgtEl>
                                          <p:spTgt spid="3">
                                            <p:txEl>
                                              <p:pRg st="7" end="7"/>
                                            </p:txEl>
                                          </p:spTgt>
                                        </p:tgtEl>
                                        <p:attrNameLst>
                                          <p:attrName>style.visibility</p:attrName>
                                        </p:attrNameLst>
                                      </p:cBhvr>
                                      <p:to>
                                        <p:strVal val="visible"/>
                                      </p:to>
                                    </p:set>
                                    <p:animEffect transition="in" filter="wipe(down)">
                                      <p:cBhvr>
                                        <p:cTn id="133" dur="580">
                                          <p:stCondLst>
                                            <p:cond delay="0"/>
                                          </p:stCondLst>
                                        </p:cTn>
                                        <p:tgtEl>
                                          <p:spTgt spid="3">
                                            <p:txEl>
                                              <p:pRg st="7" end="7"/>
                                            </p:txEl>
                                          </p:spTgt>
                                        </p:tgtEl>
                                      </p:cBhvr>
                                    </p:animEffect>
                                    <p:anim calcmode="lin" valueType="num">
                                      <p:cBhvr>
                                        <p:cTn id="134" dur="1822" tmFilter="0,0; 0.14,0.36; 0.43,0.73; 0.71,0.91; 1.0,1.0">
                                          <p:stCondLst>
                                            <p:cond delay="0"/>
                                          </p:stCondLst>
                                        </p:cTn>
                                        <p:tgtEl>
                                          <p:spTgt spid="3">
                                            <p:txEl>
                                              <p:pRg st="7" end="7"/>
                                            </p:txEl>
                                          </p:spTgt>
                                        </p:tgtEl>
                                        <p:attrNameLst>
                                          <p:attrName>ppt_x</p:attrName>
                                        </p:attrNameLst>
                                      </p:cBhvr>
                                      <p:tavLst>
                                        <p:tav tm="0">
                                          <p:val>
                                            <p:strVal val="#ppt_x-0.25"/>
                                          </p:val>
                                        </p:tav>
                                        <p:tav tm="100000">
                                          <p:val>
                                            <p:strVal val="#ppt_x"/>
                                          </p:val>
                                        </p:tav>
                                      </p:tavLst>
                                    </p:anim>
                                    <p:anim calcmode="lin" valueType="num">
                                      <p:cBhvr>
                                        <p:cTn id="135" dur="664" tmFilter="0.0,0.0; 0.25,0.07; 0.50,0.2; 0.75,0.467; 1.0,1.0">
                                          <p:stCondLst>
                                            <p:cond delay="0"/>
                                          </p:stCondLst>
                                        </p:cTn>
                                        <p:tgtEl>
                                          <p:spTgt spid="3">
                                            <p:txEl>
                                              <p:pRg st="7" end="7"/>
                                            </p:txEl>
                                          </p:spTgt>
                                        </p:tgtEl>
                                        <p:attrNameLst>
                                          <p:attrName>ppt_y</p:attrName>
                                        </p:attrNameLst>
                                      </p:cBhvr>
                                      <p:tavLst>
                                        <p:tav tm="0" fmla="#ppt_y-sin(pi*$)/3">
                                          <p:val>
                                            <p:fltVal val="0.5"/>
                                          </p:val>
                                        </p:tav>
                                        <p:tav tm="100000">
                                          <p:val>
                                            <p:fltVal val="1"/>
                                          </p:val>
                                        </p:tav>
                                      </p:tavLst>
                                    </p:anim>
                                    <p:anim calcmode="lin" valueType="num">
                                      <p:cBhvr>
                                        <p:cTn id="136" dur="664" tmFilter="0, 0; 0.125,0.2665; 0.25,0.4; 0.375,0.465; 0.5,0.5;  0.625,0.535; 0.75,0.6; 0.875,0.7335; 1,1">
                                          <p:stCondLst>
                                            <p:cond delay="664"/>
                                          </p:stCondLst>
                                        </p:cTn>
                                        <p:tgtEl>
                                          <p:spTgt spid="3">
                                            <p:txEl>
                                              <p:pRg st="7" end="7"/>
                                            </p:txEl>
                                          </p:spTgt>
                                        </p:tgtEl>
                                        <p:attrNameLst>
                                          <p:attrName>ppt_y</p:attrName>
                                        </p:attrNameLst>
                                      </p:cBhvr>
                                      <p:tavLst>
                                        <p:tav tm="0" fmla="#ppt_y-sin(pi*$)/9">
                                          <p:val>
                                            <p:fltVal val="0"/>
                                          </p:val>
                                        </p:tav>
                                        <p:tav tm="100000">
                                          <p:val>
                                            <p:fltVal val="1"/>
                                          </p:val>
                                        </p:tav>
                                      </p:tavLst>
                                    </p:anim>
                                    <p:anim calcmode="lin" valueType="num">
                                      <p:cBhvr>
                                        <p:cTn id="137" dur="332" tmFilter="0, 0; 0.125,0.2665; 0.25,0.4; 0.375,0.465; 0.5,0.5;  0.625,0.535; 0.75,0.6; 0.875,0.7335; 1,1">
                                          <p:stCondLst>
                                            <p:cond delay="1324"/>
                                          </p:stCondLst>
                                        </p:cTn>
                                        <p:tgtEl>
                                          <p:spTgt spid="3">
                                            <p:txEl>
                                              <p:pRg st="7" end="7"/>
                                            </p:txEl>
                                          </p:spTgt>
                                        </p:tgtEl>
                                        <p:attrNameLst>
                                          <p:attrName>ppt_y</p:attrName>
                                        </p:attrNameLst>
                                      </p:cBhvr>
                                      <p:tavLst>
                                        <p:tav tm="0" fmla="#ppt_y-sin(pi*$)/27">
                                          <p:val>
                                            <p:fltVal val="0"/>
                                          </p:val>
                                        </p:tav>
                                        <p:tav tm="100000">
                                          <p:val>
                                            <p:fltVal val="1"/>
                                          </p:val>
                                        </p:tav>
                                      </p:tavLst>
                                    </p:anim>
                                    <p:anim calcmode="lin" valueType="num">
                                      <p:cBhvr>
                                        <p:cTn id="138" dur="164" tmFilter="0, 0; 0.125,0.2665; 0.25,0.4; 0.375,0.465; 0.5,0.5;  0.625,0.535; 0.75,0.6; 0.875,0.7335; 1,1">
                                          <p:stCondLst>
                                            <p:cond delay="1656"/>
                                          </p:stCondLst>
                                        </p:cTn>
                                        <p:tgtEl>
                                          <p:spTgt spid="3">
                                            <p:txEl>
                                              <p:pRg st="7" end="7"/>
                                            </p:txEl>
                                          </p:spTgt>
                                        </p:tgtEl>
                                        <p:attrNameLst>
                                          <p:attrName>ppt_y</p:attrName>
                                        </p:attrNameLst>
                                      </p:cBhvr>
                                      <p:tavLst>
                                        <p:tav tm="0" fmla="#ppt_y-sin(pi*$)/81">
                                          <p:val>
                                            <p:fltVal val="0"/>
                                          </p:val>
                                        </p:tav>
                                        <p:tav tm="100000">
                                          <p:val>
                                            <p:fltVal val="1"/>
                                          </p:val>
                                        </p:tav>
                                      </p:tavLst>
                                    </p:anim>
                                    <p:animScale>
                                      <p:cBhvr>
                                        <p:cTn id="139" dur="26">
                                          <p:stCondLst>
                                            <p:cond delay="650"/>
                                          </p:stCondLst>
                                        </p:cTn>
                                        <p:tgtEl>
                                          <p:spTgt spid="3">
                                            <p:txEl>
                                              <p:pRg st="7" end="7"/>
                                            </p:txEl>
                                          </p:spTgt>
                                        </p:tgtEl>
                                      </p:cBhvr>
                                      <p:to x="100000" y="60000"/>
                                    </p:animScale>
                                    <p:animScale>
                                      <p:cBhvr>
                                        <p:cTn id="140" dur="166" decel="50000">
                                          <p:stCondLst>
                                            <p:cond delay="676"/>
                                          </p:stCondLst>
                                        </p:cTn>
                                        <p:tgtEl>
                                          <p:spTgt spid="3">
                                            <p:txEl>
                                              <p:pRg st="7" end="7"/>
                                            </p:txEl>
                                          </p:spTgt>
                                        </p:tgtEl>
                                      </p:cBhvr>
                                      <p:to x="100000" y="100000"/>
                                    </p:animScale>
                                    <p:animScale>
                                      <p:cBhvr>
                                        <p:cTn id="141" dur="26">
                                          <p:stCondLst>
                                            <p:cond delay="1312"/>
                                          </p:stCondLst>
                                        </p:cTn>
                                        <p:tgtEl>
                                          <p:spTgt spid="3">
                                            <p:txEl>
                                              <p:pRg st="7" end="7"/>
                                            </p:txEl>
                                          </p:spTgt>
                                        </p:tgtEl>
                                      </p:cBhvr>
                                      <p:to x="100000" y="80000"/>
                                    </p:animScale>
                                    <p:animScale>
                                      <p:cBhvr>
                                        <p:cTn id="142" dur="166" decel="50000">
                                          <p:stCondLst>
                                            <p:cond delay="1338"/>
                                          </p:stCondLst>
                                        </p:cTn>
                                        <p:tgtEl>
                                          <p:spTgt spid="3">
                                            <p:txEl>
                                              <p:pRg st="7" end="7"/>
                                            </p:txEl>
                                          </p:spTgt>
                                        </p:tgtEl>
                                      </p:cBhvr>
                                      <p:to x="100000" y="100000"/>
                                    </p:animScale>
                                    <p:animScale>
                                      <p:cBhvr>
                                        <p:cTn id="143" dur="26">
                                          <p:stCondLst>
                                            <p:cond delay="1642"/>
                                          </p:stCondLst>
                                        </p:cTn>
                                        <p:tgtEl>
                                          <p:spTgt spid="3">
                                            <p:txEl>
                                              <p:pRg st="7" end="7"/>
                                            </p:txEl>
                                          </p:spTgt>
                                        </p:tgtEl>
                                      </p:cBhvr>
                                      <p:to x="100000" y="90000"/>
                                    </p:animScale>
                                    <p:animScale>
                                      <p:cBhvr>
                                        <p:cTn id="144" dur="166" decel="50000">
                                          <p:stCondLst>
                                            <p:cond delay="1668"/>
                                          </p:stCondLst>
                                        </p:cTn>
                                        <p:tgtEl>
                                          <p:spTgt spid="3">
                                            <p:txEl>
                                              <p:pRg st="7" end="7"/>
                                            </p:txEl>
                                          </p:spTgt>
                                        </p:tgtEl>
                                      </p:cBhvr>
                                      <p:to x="100000" y="100000"/>
                                    </p:animScale>
                                    <p:animScale>
                                      <p:cBhvr>
                                        <p:cTn id="145" dur="26">
                                          <p:stCondLst>
                                            <p:cond delay="1808"/>
                                          </p:stCondLst>
                                        </p:cTn>
                                        <p:tgtEl>
                                          <p:spTgt spid="3">
                                            <p:txEl>
                                              <p:pRg st="7" end="7"/>
                                            </p:txEl>
                                          </p:spTgt>
                                        </p:tgtEl>
                                      </p:cBhvr>
                                      <p:to x="100000" y="95000"/>
                                    </p:animScale>
                                    <p:animScale>
                                      <p:cBhvr>
                                        <p:cTn id="146" dur="166" decel="50000">
                                          <p:stCondLst>
                                            <p:cond delay="1834"/>
                                          </p:stCondLst>
                                        </p:cTn>
                                        <p:tgtEl>
                                          <p:spTgt spid="3">
                                            <p:txEl>
                                              <p:pRg st="7" end="7"/>
                                            </p:txEl>
                                          </p:spTgt>
                                        </p:tgtEl>
                                      </p:cBhvr>
                                      <p:to x="100000" y="100000"/>
                                    </p:animScale>
                                  </p:childTnLst>
                                </p:cTn>
                              </p:par>
                            </p:childTnLst>
                          </p:cTn>
                        </p:par>
                      </p:childTnLst>
                    </p:cTn>
                  </p:par>
                  <p:par>
                    <p:cTn id="147" fill="hold">
                      <p:stCondLst>
                        <p:cond delay="indefinite"/>
                      </p:stCondLst>
                      <p:childTnLst>
                        <p:par>
                          <p:cTn id="148" fill="hold">
                            <p:stCondLst>
                              <p:cond delay="0"/>
                            </p:stCondLst>
                            <p:childTnLst>
                              <p:par>
                                <p:cTn id="149" presetID="26" presetClass="entr" presetSubtype="0" fill="hold" nodeType="clickEffect">
                                  <p:stCondLst>
                                    <p:cond delay="0"/>
                                  </p:stCondLst>
                                  <p:childTnLst>
                                    <p:set>
                                      <p:cBhvr>
                                        <p:cTn id="150" dur="1" fill="hold">
                                          <p:stCondLst>
                                            <p:cond delay="0"/>
                                          </p:stCondLst>
                                        </p:cTn>
                                        <p:tgtEl>
                                          <p:spTgt spid="3">
                                            <p:txEl>
                                              <p:pRg st="8" end="8"/>
                                            </p:txEl>
                                          </p:spTgt>
                                        </p:tgtEl>
                                        <p:attrNameLst>
                                          <p:attrName>style.visibility</p:attrName>
                                        </p:attrNameLst>
                                      </p:cBhvr>
                                      <p:to>
                                        <p:strVal val="visible"/>
                                      </p:to>
                                    </p:set>
                                    <p:animEffect transition="in" filter="wipe(down)">
                                      <p:cBhvr>
                                        <p:cTn id="151" dur="580">
                                          <p:stCondLst>
                                            <p:cond delay="0"/>
                                          </p:stCondLst>
                                        </p:cTn>
                                        <p:tgtEl>
                                          <p:spTgt spid="3">
                                            <p:txEl>
                                              <p:pRg st="8" end="8"/>
                                            </p:txEl>
                                          </p:spTgt>
                                        </p:tgtEl>
                                      </p:cBhvr>
                                    </p:animEffect>
                                    <p:anim calcmode="lin" valueType="num">
                                      <p:cBhvr>
                                        <p:cTn id="152" dur="1822" tmFilter="0,0; 0.14,0.36; 0.43,0.73; 0.71,0.91; 1.0,1.0">
                                          <p:stCondLst>
                                            <p:cond delay="0"/>
                                          </p:stCondLst>
                                        </p:cTn>
                                        <p:tgtEl>
                                          <p:spTgt spid="3">
                                            <p:txEl>
                                              <p:pRg st="8" end="8"/>
                                            </p:txEl>
                                          </p:spTgt>
                                        </p:tgtEl>
                                        <p:attrNameLst>
                                          <p:attrName>ppt_x</p:attrName>
                                        </p:attrNameLst>
                                      </p:cBhvr>
                                      <p:tavLst>
                                        <p:tav tm="0">
                                          <p:val>
                                            <p:strVal val="#ppt_x-0.25"/>
                                          </p:val>
                                        </p:tav>
                                        <p:tav tm="100000">
                                          <p:val>
                                            <p:strVal val="#ppt_x"/>
                                          </p:val>
                                        </p:tav>
                                      </p:tavLst>
                                    </p:anim>
                                    <p:anim calcmode="lin" valueType="num">
                                      <p:cBhvr>
                                        <p:cTn id="153" dur="664" tmFilter="0.0,0.0; 0.25,0.07; 0.50,0.2; 0.75,0.467; 1.0,1.0">
                                          <p:stCondLst>
                                            <p:cond delay="0"/>
                                          </p:stCondLst>
                                        </p:cTn>
                                        <p:tgtEl>
                                          <p:spTgt spid="3">
                                            <p:txEl>
                                              <p:pRg st="8" end="8"/>
                                            </p:txEl>
                                          </p:spTgt>
                                        </p:tgtEl>
                                        <p:attrNameLst>
                                          <p:attrName>ppt_y</p:attrName>
                                        </p:attrNameLst>
                                      </p:cBhvr>
                                      <p:tavLst>
                                        <p:tav tm="0" fmla="#ppt_y-sin(pi*$)/3">
                                          <p:val>
                                            <p:fltVal val="0.5"/>
                                          </p:val>
                                        </p:tav>
                                        <p:tav tm="100000">
                                          <p:val>
                                            <p:fltVal val="1"/>
                                          </p:val>
                                        </p:tav>
                                      </p:tavLst>
                                    </p:anim>
                                    <p:anim calcmode="lin" valueType="num">
                                      <p:cBhvr>
                                        <p:cTn id="154" dur="664" tmFilter="0, 0; 0.125,0.2665; 0.25,0.4; 0.375,0.465; 0.5,0.5;  0.625,0.535; 0.75,0.6; 0.875,0.7335; 1,1">
                                          <p:stCondLst>
                                            <p:cond delay="664"/>
                                          </p:stCondLst>
                                        </p:cTn>
                                        <p:tgtEl>
                                          <p:spTgt spid="3">
                                            <p:txEl>
                                              <p:pRg st="8" end="8"/>
                                            </p:txEl>
                                          </p:spTgt>
                                        </p:tgtEl>
                                        <p:attrNameLst>
                                          <p:attrName>ppt_y</p:attrName>
                                        </p:attrNameLst>
                                      </p:cBhvr>
                                      <p:tavLst>
                                        <p:tav tm="0" fmla="#ppt_y-sin(pi*$)/9">
                                          <p:val>
                                            <p:fltVal val="0"/>
                                          </p:val>
                                        </p:tav>
                                        <p:tav tm="100000">
                                          <p:val>
                                            <p:fltVal val="1"/>
                                          </p:val>
                                        </p:tav>
                                      </p:tavLst>
                                    </p:anim>
                                    <p:anim calcmode="lin" valueType="num">
                                      <p:cBhvr>
                                        <p:cTn id="155" dur="332" tmFilter="0, 0; 0.125,0.2665; 0.25,0.4; 0.375,0.465; 0.5,0.5;  0.625,0.535; 0.75,0.6; 0.875,0.7335; 1,1">
                                          <p:stCondLst>
                                            <p:cond delay="1324"/>
                                          </p:stCondLst>
                                        </p:cTn>
                                        <p:tgtEl>
                                          <p:spTgt spid="3">
                                            <p:txEl>
                                              <p:pRg st="8" end="8"/>
                                            </p:txEl>
                                          </p:spTgt>
                                        </p:tgtEl>
                                        <p:attrNameLst>
                                          <p:attrName>ppt_y</p:attrName>
                                        </p:attrNameLst>
                                      </p:cBhvr>
                                      <p:tavLst>
                                        <p:tav tm="0" fmla="#ppt_y-sin(pi*$)/27">
                                          <p:val>
                                            <p:fltVal val="0"/>
                                          </p:val>
                                        </p:tav>
                                        <p:tav tm="100000">
                                          <p:val>
                                            <p:fltVal val="1"/>
                                          </p:val>
                                        </p:tav>
                                      </p:tavLst>
                                    </p:anim>
                                    <p:anim calcmode="lin" valueType="num">
                                      <p:cBhvr>
                                        <p:cTn id="156" dur="164" tmFilter="0, 0; 0.125,0.2665; 0.25,0.4; 0.375,0.465; 0.5,0.5;  0.625,0.535; 0.75,0.6; 0.875,0.7335; 1,1">
                                          <p:stCondLst>
                                            <p:cond delay="1656"/>
                                          </p:stCondLst>
                                        </p:cTn>
                                        <p:tgtEl>
                                          <p:spTgt spid="3">
                                            <p:txEl>
                                              <p:pRg st="8" end="8"/>
                                            </p:txEl>
                                          </p:spTgt>
                                        </p:tgtEl>
                                        <p:attrNameLst>
                                          <p:attrName>ppt_y</p:attrName>
                                        </p:attrNameLst>
                                      </p:cBhvr>
                                      <p:tavLst>
                                        <p:tav tm="0" fmla="#ppt_y-sin(pi*$)/81">
                                          <p:val>
                                            <p:fltVal val="0"/>
                                          </p:val>
                                        </p:tav>
                                        <p:tav tm="100000">
                                          <p:val>
                                            <p:fltVal val="1"/>
                                          </p:val>
                                        </p:tav>
                                      </p:tavLst>
                                    </p:anim>
                                    <p:animScale>
                                      <p:cBhvr>
                                        <p:cTn id="157" dur="26">
                                          <p:stCondLst>
                                            <p:cond delay="650"/>
                                          </p:stCondLst>
                                        </p:cTn>
                                        <p:tgtEl>
                                          <p:spTgt spid="3">
                                            <p:txEl>
                                              <p:pRg st="8" end="8"/>
                                            </p:txEl>
                                          </p:spTgt>
                                        </p:tgtEl>
                                      </p:cBhvr>
                                      <p:to x="100000" y="60000"/>
                                    </p:animScale>
                                    <p:animScale>
                                      <p:cBhvr>
                                        <p:cTn id="158" dur="166" decel="50000">
                                          <p:stCondLst>
                                            <p:cond delay="676"/>
                                          </p:stCondLst>
                                        </p:cTn>
                                        <p:tgtEl>
                                          <p:spTgt spid="3">
                                            <p:txEl>
                                              <p:pRg st="8" end="8"/>
                                            </p:txEl>
                                          </p:spTgt>
                                        </p:tgtEl>
                                      </p:cBhvr>
                                      <p:to x="100000" y="100000"/>
                                    </p:animScale>
                                    <p:animScale>
                                      <p:cBhvr>
                                        <p:cTn id="159" dur="26">
                                          <p:stCondLst>
                                            <p:cond delay="1312"/>
                                          </p:stCondLst>
                                        </p:cTn>
                                        <p:tgtEl>
                                          <p:spTgt spid="3">
                                            <p:txEl>
                                              <p:pRg st="8" end="8"/>
                                            </p:txEl>
                                          </p:spTgt>
                                        </p:tgtEl>
                                      </p:cBhvr>
                                      <p:to x="100000" y="80000"/>
                                    </p:animScale>
                                    <p:animScale>
                                      <p:cBhvr>
                                        <p:cTn id="160" dur="166" decel="50000">
                                          <p:stCondLst>
                                            <p:cond delay="1338"/>
                                          </p:stCondLst>
                                        </p:cTn>
                                        <p:tgtEl>
                                          <p:spTgt spid="3">
                                            <p:txEl>
                                              <p:pRg st="8" end="8"/>
                                            </p:txEl>
                                          </p:spTgt>
                                        </p:tgtEl>
                                      </p:cBhvr>
                                      <p:to x="100000" y="100000"/>
                                    </p:animScale>
                                    <p:animScale>
                                      <p:cBhvr>
                                        <p:cTn id="161" dur="26">
                                          <p:stCondLst>
                                            <p:cond delay="1642"/>
                                          </p:stCondLst>
                                        </p:cTn>
                                        <p:tgtEl>
                                          <p:spTgt spid="3">
                                            <p:txEl>
                                              <p:pRg st="8" end="8"/>
                                            </p:txEl>
                                          </p:spTgt>
                                        </p:tgtEl>
                                      </p:cBhvr>
                                      <p:to x="100000" y="90000"/>
                                    </p:animScale>
                                    <p:animScale>
                                      <p:cBhvr>
                                        <p:cTn id="162" dur="166" decel="50000">
                                          <p:stCondLst>
                                            <p:cond delay="1668"/>
                                          </p:stCondLst>
                                        </p:cTn>
                                        <p:tgtEl>
                                          <p:spTgt spid="3">
                                            <p:txEl>
                                              <p:pRg st="8" end="8"/>
                                            </p:txEl>
                                          </p:spTgt>
                                        </p:tgtEl>
                                      </p:cBhvr>
                                      <p:to x="100000" y="100000"/>
                                    </p:animScale>
                                    <p:animScale>
                                      <p:cBhvr>
                                        <p:cTn id="163" dur="26">
                                          <p:stCondLst>
                                            <p:cond delay="1808"/>
                                          </p:stCondLst>
                                        </p:cTn>
                                        <p:tgtEl>
                                          <p:spTgt spid="3">
                                            <p:txEl>
                                              <p:pRg st="8" end="8"/>
                                            </p:txEl>
                                          </p:spTgt>
                                        </p:tgtEl>
                                      </p:cBhvr>
                                      <p:to x="100000" y="95000"/>
                                    </p:animScale>
                                    <p:animScale>
                                      <p:cBhvr>
                                        <p:cTn id="164" dur="166" decel="50000">
                                          <p:stCondLst>
                                            <p:cond delay="1834"/>
                                          </p:stCondLst>
                                        </p:cTn>
                                        <p:tgtEl>
                                          <p:spTgt spid="3">
                                            <p:txEl>
                                              <p:pRg st="8" end="8"/>
                                            </p:txEl>
                                          </p:spTgt>
                                        </p:tgtEl>
                                      </p:cBhvr>
                                      <p:to x="100000" y="100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p:cSld>
    <p:bg>
      <p:bgPr>
        <a:gradFill flip="none" rotWithShape="1">
          <a:gsLst>
            <a:gs pos="98000">
              <a:srgbClr val="000A1E"/>
            </a:gs>
            <a:gs pos="0">
              <a:srgbClr val="002060"/>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999143-816B-4416-AE4E-A478745CACDD}"/>
              </a:ext>
            </a:extLst>
          </p:cNvPr>
          <p:cNvSpPr>
            <a:spLocks noGrp="1"/>
          </p:cNvSpPr>
          <p:nvPr>
            <p:ph type="title"/>
          </p:nvPr>
        </p:nvSpPr>
        <p:spPr/>
        <p:txBody>
          <a:bodyPr/>
          <a:lstStyle/>
          <a:p>
            <a:r>
              <a:rPr lang="en-GB" dirty="0">
                <a:solidFill>
                  <a:schemeClr val="bg1">
                    <a:lumMod val="85000"/>
                  </a:schemeClr>
                </a:solidFill>
              </a:rPr>
              <a:t>Health and Safety: Employers Responsibilities</a:t>
            </a:r>
          </a:p>
        </p:txBody>
      </p:sp>
      <p:sp>
        <p:nvSpPr>
          <p:cNvPr id="3" name="Content Placeholder 2">
            <a:extLst>
              <a:ext uri="{FF2B5EF4-FFF2-40B4-BE49-F238E27FC236}">
                <a16:creationId xmlns:a16="http://schemas.microsoft.com/office/drawing/2014/main" id="{8CF68BCD-DBBD-4108-94F4-F9CA88EF3CF3}"/>
              </a:ext>
            </a:extLst>
          </p:cNvPr>
          <p:cNvSpPr>
            <a:spLocks noGrp="1"/>
          </p:cNvSpPr>
          <p:nvPr>
            <p:ph idx="1"/>
          </p:nvPr>
        </p:nvSpPr>
        <p:spPr>
          <a:xfrm>
            <a:off x="527901" y="2544366"/>
            <a:ext cx="9281659" cy="3931848"/>
          </a:xfrm>
        </p:spPr>
        <p:txBody>
          <a:bodyPr>
            <a:normAutofit lnSpcReduction="10000"/>
          </a:bodyPr>
          <a:lstStyle/>
          <a:p>
            <a:r>
              <a:rPr lang="en-GB" dirty="0">
                <a:solidFill>
                  <a:schemeClr val="bg1">
                    <a:lumMod val="85000"/>
                  </a:schemeClr>
                </a:solidFill>
              </a:rPr>
              <a:t>Covered in the Health and Safety at Work etc. Act 1974</a:t>
            </a:r>
          </a:p>
          <a:p>
            <a:r>
              <a:rPr lang="en-GB" dirty="0">
                <a:solidFill>
                  <a:schemeClr val="bg1">
                    <a:lumMod val="85000"/>
                  </a:schemeClr>
                </a:solidFill>
              </a:rPr>
              <a:t>By Law, an employer is required to ensure/ provide:</a:t>
            </a:r>
          </a:p>
          <a:p>
            <a:pPr lvl="1"/>
            <a:r>
              <a:rPr lang="en-GB" dirty="0">
                <a:solidFill>
                  <a:schemeClr val="bg1">
                    <a:lumMod val="85000"/>
                  </a:schemeClr>
                </a:solidFill>
              </a:rPr>
              <a:t>Staff have access to </a:t>
            </a:r>
            <a:r>
              <a:rPr lang="en-GB" dirty="0" err="1">
                <a:solidFill>
                  <a:schemeClr val="bg1">
                    <a:lumMod val="85000"/>
                  </a:schemeClr>
                </a:solidFill>
              </a:rPr>
              <a:t>tiltable</a:t>
            </a:r>
            <a:r>
              <a:rPr lang="en-GB" dirty="0">
                <a:solidFill>
                  <a:schemeClr val="bg1">
                    <a:lumMod val="85000"/>
                  </a:schemeClr>
                </a:solidFill>
              </a:rPr>
              <a:t> Screens</a:t>
            </a:r>
          </a:p>
          <a:p>
            <a:pPr lvl="1"/>
            <a:r>
              <a:rPr lang="en-GB" dirty="0">
                <a:solidFill>
                  <a:schemeClr val="bg1">
                    <a:lumMod val="85000"/>
                  </a:schemeClr>
                </a:solidFill>
              </a:rPr>
              <a:t>anti-glare screen filters</a:t>
            </a:r>
          </a:p>
          <a:p>
            <a:pPr lvl="1"/>
            <a:r>
              <a:rPr lang="en-GB" dirty="0">
                <a:solidFill>
                  <a:schemeClr val="bg1">
                    <a:lumMod val="85000"/>
                  </a:schemeClr>
                </a:solidFill>
              </a:rPr>
              <a:t>Provide adjustable chairs</a:t>
            </a:r>
          </a:p>
          <a:p>
            <a:pPr lvl="1"/>
            <a:r>
              <a:rPr lang="en-GB" dirty="0">
                <a:solidFill>
                  <a:schemeClr val="bg1">
                    <a:lumMod val="85000"/>
                  </a:schemeClr>
                </a:solidFill>
              </a:rPr>
              <a:t>Provide foot supports</a:t>
            </a:r>
          </a:p>
          <a:p>
            <a:pPr lvl="1"/>
            <a:r>
              <a:rPr lang="en-GB" dirty="0">
                <a:solidFill>
                  <a:schemeClr val="bg1">
                    <a:lumMod val="85000"/>
                  </a:schemeClr>
                </a:solidFill>
              </a:rPr>
              <a:t>Ensure workstations are not cramped</a:t>
            </a:r>
          </a:p>
          <a:p>
            <a:pPr lvl="1"/>
            <a:r>
              <a:rPr lang="en-GB" dirty="0">
                <a:solidFill>
                  <a:schemeClr val="bg1">
                    <a:lumMod val="85000"/>
                  </a:schemeClr>
                </a:solidFill>
              </a:rPr>
              <a:t>Plan work at a computer so that there are suitable/frequent breaks</a:t>
            </a:r>
          </a:p>
          <a:p>
            <a:pPr lvl="1"/>
            <a:r>
              <a:rPr lang="en-GB" dirty="0">
                <a:solidFill>
                  <a:schemeClr val="bg1">
                    <a:lumMod val="85000"/>
                  </a:schemeClr>
                </a:solidFill>
              </a:rPr>
              <a:t>Pay/provide appropriate eye tests by an optician</a:t>
            </a:r>
          </a:p>
          <a:p>
            <a:pPr marL="342900" lvl="1" indent="0">
              <a:buNone/>
            </a:pPr>
            <a:r>
              <a:rPr lang="en-GB" dirty="0">
                <a:solidFill>
                  <a:srgbClr val="00B0F0"/>
                </a:solidFill>
              </a:rPr>
              <a:t>These regulations </a:t>
            </a:r>
            <a:r>
              <a:rPr lang="en-GB" b="1" dirty="0">
                <a:solidFill>
                  <a:srgbClr val="00B0F0"/>
                </a:solidFill>
              </a:rPr>
              <a:t>do not </a:t>
            </a:r>
            <a:r>
              <a:rPr lang="en-GB" dirty="0">
                <a:solidFill>
                  <a:srgbClr val="00B0F0"/>
                </a:solidFill>
              </a:rPr>
              <a:t>apply to students in schools/ colleges</a:t>
            </a:r>
          </a:p>
        </p:txBody>
      </p:sp>
      <p:pic>
        <p:nvPicPr>
          <p:cNvPr id="2050" name="Picture 2" descr="Related image">
            <a:extLst>
              <a:ext uri="{FF2B5EF4-FFF2-40B4-BE49-F238E27FC236}">
                <a16:creationId xmlns:a16="http://schemas.microsoft.com/office/drawing/2014/main" id="{2D7BC076-6030-47C5-9F64-58B165FE685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719794" y="2774465"/>
            <a:ext cx="3586740" cy="243427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6172935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 calcmode="lin" valueType="num">
                                      <p:cBhvr additive="base">
                                        <p:cTn id="25"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nodeType="click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anim calcmode="lin" valueType="num">
                                      <p:cBhvr additive="base">
                                        <p:cTn id="31"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nodeType="clickEffect">
                                  <p:stCondLst>
                                    <p:cond delay="0"/>
                                  </p:stCondLst>
                                  <p:childTnLst>
                                    <p:set>
                                      <p:cBhvr>
                                        <p:cTn id="36" dur="1" fill="hold">
                                          <p:stCondLst>
                                            <p:cond delay="0"/>
                                          </p:stCondLst>
                                        </p:cTn>
                                        <p:tgtEl>
                                          <p:spTgt spid="3">
                                            <p:txEl>
                                              <p:pRg st="5" end="5"/>
                                            </p:txEl>
                                          </p:spTgt>
                                        </p:tgtEl>
                                        <p:attrNameLst>
                                          <p:attrName>style.visibility</p:attrName>
                                        </p:attrNameLst>
                                      </p:cBhvr>
                                      <p:to>
                                        <p:strVal val="visible"/>
                                      </p:to>
                                    </p:set>
                                    <p:anim calcmode="lin" valueType="num">
                                      <p:cBhvr additive="base">
                                        <p:cTn id="37"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nodeType="clickEffect">
                                  <p:stCondLst>
                                    <p:cond delay="0"/>
                                  </p:stCondLst>
                                  <p:childTnLst>
                                    <p:set>
                                      <p:cBhvr>
                                        <p:cTn id="42" dur="1" fill="hold">
                                          <p:stCondLst>
                                            <p:cond delay="0"/>
                                          </p:stCondLst>
                                        </p:cTn>
                                        <p:tgtEl>
                                          <p:spTgt spid="3">
                                            <p:txEl>
                                              <p:pRg st="6" end="6"/>
                                            </p:txEl>
                                          </p:spTgt>
                                        </p:tgtEl>
                                        <p:attrNameLst>
                                          <p:attrName>style.visibility</p:attrName>
                                        </p:attrNameLst>
                                      </p:cBhvr>
                                      <p:to>
                                        <p:strVal val="visible"/>
                                      </p:to>
                                    </p:set>
                                    <p:anim calcmode="lin" valueType="num">
                                      <p:cBhvr additive="base">
                                        <p:cTn id="43"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3">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nodeType="clickEffect">
                                  <p:stCondLst>
                                    <p:cond delay="0"/>
                                  </p:stCondLst>
                                  <p:childTnLst>
                                    <p:set>
                                      <p:cBhvr>
                                        <p:cTn id="48" dur="1" fill="hold">
                                          <p:stCondLst>
                                            <p:cond delay="0"/>
                                          </p:stCondLst>
                                        </p:cTn>
                                        <p:tgtEl>
                                          <p:spTgt spid="3">
                                            <p:txEl>
                                              <p:pRg st="7" end="7"/>
                                            </p:txEl>
                                          </p:spTgt>
                                        </p:tgtEl>
                                        <p:attrNameLst>
                                          <p:attrName>style.visibility</p:attrName>
                                        </p:attrNameLst>
                                      </p:cBhvr>
                                      <p:to>
                                        <p:strVal val="visible"/>
                                      </p:to>
                                    </p:set>
                                    <p:anim calcmode="lin" valueType="num">
                                      <p:cBhvr additive="base">
                                        <p:cTn id="49"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50"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3" presetID="2" presetClass="entr" presetSubtype="4" fill="hold" nodeType="clickEffect">
                                  <p:stCondLst>
                                    <p:cond delay="0"/>
                                  </p:stCondLst>
                                  <p:childTnLst>
                                    <p:set>
                                      <p:cBhvr>
                                        <p:cTn id="54" dur="1" fill="hold">
                                          <p:stCondLst>
                                            <p:cond delay="0"/>
                                          </p:stCondLst>
                                        </p:cTn>
                                        <p:tgtEl>
                                          <p:spTgt spid="3">
                                            <p:txEl>
                                              <p:pRg st="8" end="8"/>
                                            </p:txEl>
                                          </p:spTgt>
                                        </p:tgtEl>
                                        <p:attrNameLst>
                                          <p:attrName>style.visibility</p:attrName>
                                        </p:attrNameLst>
                                      </p:cBhvr>
                                      <p:to>
                                        <p:strVal val="visible"/>
                                      </p:to>
                                    </p:set>
                                    <p:anim calcmode="lin" valueType="num">
                                      <p:cBhvr additive="base">
                                        <p:cTn id="55" dur="500" fill="hold"/>
                                        <p:tgtEl>
                                          <p:spTgt spid="3">
                                            <p:txEl>
                                              <p:pRg st="8" end="8"/>
                                            </p:txEl>
                                          </p:spTgt>
                                        </p:tgtEl>
                                        <p:attrNameLst>
                                          <p:attrName>ppt_x</p:attrName>
                                        </p:attrNameLst>
                                      </p:cBhvr>
                                      <p:tavLst>
                                        <p:tav tm="0">
                                          <p:val>
                                            <p:strVal val="#ppt_x"/>
                                          </p:val>
                                        </p:tav>
                                        <p:tav tm="100000">
                                          <p:val>
                                            <p:strVal val="#ppt_x"/>
                                          </p:val>
                                        </p:tav>
                                      </p:tavLst>
                                    </p:anim>
                                    <p:anim calcmode="lin" valueType="num">
                                      <p:cBhvr additive="base">
                                        <p:cTn id="56" dur="500" fill="hold"/>
                                        <p:tgtEl>
                                          <p:spTgt spid="3">
                                            <p:txEl>
                                              <p:pRg st="8" end="8"/>
                                            </p:txEl>
                                          </p:spTgt>
                                        </p:tgtEl>
                                        <p:attrNameLst>
                                          <p:attrName>ppt_y</p:attrName>
                                        </p:attrNameLst>
                                      </p:cBhvr>
                                      <p:tavLst>
                                        <p:tav tm="0">
                                          <p:val>
                                            <p:strVal val="1+#ppt_h/2"/>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9" presetID="2" presetClass="entr" presetSubtype="4" fill="hold" nodeType="clickEffect">
                                  <p:stCondLst>
                                    <p:cond delay="0"/>
                                  </p:stCondLst>
                                  <p:childTnLst>
                                    <p:set>
                                      <p:cBhvr>
                                        <p:cTn id="60" dur="1" fill="hold">
                                          <p:stCondLst>
                                            <p:cond delay="0"/>
                                          </p:stCondLst>
                                        </p:cTn>
                                        <p:tgtEl>
                                          <p:spTgt spid="3">
                                            <p:txEl>
                                              <p:pRg st="9" end="9"/>
                                            </p:txEl>
                                          </p:spTgt>
                                        </p:tgtEl>
                                        <p:attrNameLst>
                                          <p:attrName>style.visibility</p:attrName>
                                        </p:attrNameLst>
                                      </p:cBhvr>
                                      <p:to>
                                        <p:strVal val="visible"/>
                                      </p:to>
                                    </p:set>
                                    <p:anim calcmode="lin" valueType="num">
                                      <p:cBhvr additive="base">
                                        <p:cTn id="61" dur="500" fill="hold"/>
                                        <p:tgtEl>
                                          <p:spTgt spid="3">
                                            <p:txEl>
                                              <p:pRg st="9" end="9"/>
                                            </p:txEl>
                                          </p:spTgt>
                                        </p:tgtEl>
                                        <p:attrNameLst>
                                          <p:attrName>ppt_x</p:attrName>
                                        </p:attrNameLst>
                                      </p:cBhvr>
                                      <p:tavLst>
                                        <p:tav tm="0">
                                          <p:val>
                                            <p:strVal val="#ppt_x"/>
                                          </p:val>
                                        </p:tav>
                                        <p:tav tm="100000">
                                          <p:val>
                                            <p:strVal val="#ppt_x"/>
                                          </p:val>
                                        </p:tav>
                                      </p:tavLst>
                                    </p:anim>
                                    <p:anim calcmode="lin" valueType="num">
                                      <p:cBhvr additive="base">
                                        <p:cTn id="62" dur="500" fill="hold"/>
                                        <p:tgtEl>
                                          <p:spTgt spid="3">
                                            <p:txEl>
                                              <p:pRg st="9" end="9"/>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r="http://schemas.openxmlformats.org/officeDocument/2006/relationships" xmlns:p="http://schemas.openxmlformats.org/presentationml/2006/main">
  <p:cSld>
    <p:bg>
      <p:bgPr>
        <a:gradFill flip="none" rotWithShape="1">
          <a:gsLst>
            <a:gs pos="98000">
              <a:srgbClr val="000A1E"/>
            </a:gs>
            <a:gs pos="0">
              <a:srgbClr val="002060"/>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A201B8-7479-4D6A-B47C-DF355562D962}"/>
              </a:ext>
            </a:extLst>
          </p:cNvPr>
          <p:cNvSpPr>
            <a:spLocks noGrp="1"/>
          </p:cNvSpPr>
          <p:nvPr>
            <p:ph type="title"/>
          </p:nvPr>
        </p:nvSpPr>
        <p:spPr/>
        <p:txBody>
          <a:bodyPr/>
          <a:lstStyle/>
          <a:p>
            <a:r>
              <a:rPr lang="en-GB" dirty="0">
                <a:solidFill>
                  <a:schemeClr val="bg1">
                    <a:lumMod val="85000"/>
                  </a:schemeClr>
                </a:solidFill>
              </a:rPr>
              <a:t>Ergonomics</a:t>
            </a:r>
          </a:p>
        </p:txBody>
      </p:sp>
      <p:sp>
        <p:nvSpPr>
          <p:cNvPr id="3" name="Content Placeholder 2">
            <a:extLst>
              <a:ext uri="{FF2B5EF4-FFF2-40B4-BE49-F238E27FC236}">
                <a16:creationId xmlns:a16="http://schemas.microsoft.com/office/drawing/2014/main" id="{CC81D569-7EA6-4D0E-AA91-EA71280345EC}"/>
              </a:ext>
            </a:extLst>
          </p:cNvPr>
          <p:cNvSpPr>
            <a:spLocks noGrp="1"/>
          </p:cNvSpPr>
          <p:nvPr>
            <p:ph idx="1"/>
          </p:nvPr>
        </p:nvSpPr>
        <p:spPr/>
        <p:txBody>
          <a:bodyPr/>
          <a:lstStyle/>
          <a:p>
            <a:r>
              <a:rPr lang="en-GB" dirty="0">
                <a:solidFill>
                  <a:schemeClr val="bg1">
                    <a:lumMod val="85000"/>
                  </a:schemeClr>
                </a:solidFill>
              </a:rPr>
              <a:t>A way to ensure these regulations are met is by using </a:t>
            </a:r>
            <a:r>
              <a:rPr lang="en-GB" dirty="0">
                <a:solidFill>
                  <a:srgbClr val="FF0000"/>
                </a:solidFill>
              </a:rPr>
              <a:t>ergonomics</a:t>
            </a:r>
            <a:r>
              <a:rPr lang="en-GB" dirty="0">
                <a:solidFill>
                  <a:schemeClr val="bg1">
                    <a:lumMod val="85000"/>
                    <a:lumOff val="15000"/>
                  </a:schemeClr>
                </a:solidFill>
              </a:rPr>
              <a:t>.</a:t>
            </a:r>
          </a:p>
          <a:p>
            <a:r>
              <a:rPr lang="en-GB" dirty="0">
                <a:solidFill>
                  <a:srgbClr val="FF0000"/>
                </a:solidFill>
              </a:rPr>
              <a:t>This is the science concerned with designing safe and comfortable working environments for humans.</a:t>
            </a:r>
          </a:p>
          <a:p>
            <a:pPr lvl="1"/>
            <a:r>
              <a:rPr lang="en-GB" dirty="0">
                <a:solidFill>
                  <a:schemeClr val="bg1">
                    <a:lumMod val="85000"/>
                  </a:schemeClr>
                </a:solidFill>
              </a:rPr>
              <a:t>This includes furniture design, as well as equipment such as keyboard and mouse.</a:t>
            </a:r>
          </a:p>
        </p:txBody>
      </p:sp>
      <p:pic>
        <p:nvPicPr>
          <p:cNvPr id="3074" name="Picture 2" descr="Image result for ergonomics">
            <a:extLst>
              <a:ext uri="{FF2B5EF4-FFF2-40B4-BE49-F238E27FC236}">
                <a16:creationId xmlns:a16="http://schemas.microsoft.com/office/drawing/2014/main" id="{B4DA35EA-B6EC-4A68-B7D8-8A8A12DD628D}"/>
              </a:ext>
            </a:extLst>
          </p:cNvPr>
          <p:cNvPicPr>
            <a:picLocks noChangeAspect="1" noChangeArrowheads="1"/>
          </p:cNvPicPr>
          <p:nvPr/>
        </p:nvPicPr>
        <p:blipFill rotWithShape="1">
          <a:blip r:embed="rId2">
            <a:extLst>
              <a:ext uri="{BEBA8EAE-BF5A-486C-A8C5-ECC9F3942E4B}">
                <a14:imgProps xmlns:a14="http://schemas.microsoft.com/office/drawing/2010/main">
                  <a14:imgLayer r:embed="rId3">
                    <a14:imgEffect>
                      <a14:backgroundRemoval t="49714" b="96000" l="10000" r="90000">
                        <a14:foregroundMark x1="24500" y1="96000" x2="24500" y2="94857"/>
                        <a14:foregroundMark x1="15250" y1="93714" x2="15250" y2="91714"/>
                        <a14:foregroundMark x1="34875" y1="64286" x2="32375" y2="72571"/>
                        <a14:foregroundMark x1="47500" y1="60857" x2="45375" y2="67714"/>
                        <a14:foregroundMark x1="59625" y1="62000" x2="59625" y2="66286"/>
                        <a14:foregroundMark x1="75500" y1="71714" x2="78625" y2="77714"/>
                      </a14:backgroundRemoval>
                    </a14:imgEffect>
                    <a14:imgEffect>
                      <a14:artisticGlowEdges/>
                    </a14:imgEffect>
                  </a14:imgLayer>
                </a14:imgProps>
              </a:ext>
              <a:ext uri="{28A0092B-C50C-407E-A947-70E740481C1C}">
                <a14:useLocalDpi xmlns:a14="http://schemas.microsoft.com/office/drawing/2010/main" val="0"/>
              </a:ext>
            </a:extLst>
          </a:blip>
          <a:srcRect t="44275"/>
          <a:stretch/>
        </p:blipFill>
        <p:spPr bwMode="auto">
          <a:xfrm>
            <a:off x="3056039" y="4430960"/>
            <a:ext cx="5715000" cy="1393294"/>
          </a:xfrm>
          <a:prstGeom prst="rect">
            <a:avLst/>
          </a:prstGeom>
          <a:noFill/>
          <a:effectLst>
            <a:glow rad="63500">
              <a:schemeClr val="accent4">
                <a:satMod val="175000"/>
                <a:alpha val="40000"/>
              </a:schemeClr>
            </a:glow>
          </a:effectLst>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1142660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down)">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down)">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4" fill="hold"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down)">
                                      <p:cBhvr>
                                        <p:cTn id="17" dur="5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3.xml><?xml version="1.0" encoding="utf-8"?>
<p:sld xmlns:a="http://schemas.openxmlformats.org/drawingml/2006/main" xmlns:r="http://schemas.openxmlformats.org/officeDocument/2006/relationships" xmlns:p="http://schemas.openxmlformats.org/presentationml/2006/main">
  <p:cSld>
    <p:bg>
      <p:bgPr>
        <a:gradFill flip="none" rotWithShape="1">
          <a:gsLst>
            <a:gs pos="98000">
              <a:srgbClr val="000A1E"/>
            </a:gs>
            <a:gs pos="0">
              <a:srgbClr val="002060"/>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DB2AC7-EEDC-4B0D-A6A1-036E388ABEA6}"/>
              </a:ext>
            </a:extLst>
          </p:cNvPr>
          <p:cNvSpPr>
            <a:spLocks noGrp="1"/>
          </p:cNvSpPr>
          <p:nvPr>
            <p:ph type="title"/>
          </p:nvPr>
        </p:nvSpPr>
        <p:spPr/>
        <p:txBody>
          <a:bodyPr/>
          <a:lstStyle/>
          <a:p>
            <a:r>
              <a:rPr lang="en-GB" dirty="0">
                <a:solidFill>
                  <a:schemeClr val="bg1">
                    <a:lumMod val="85000"/>
                  </a:schemeClr>
                </a:solidFill>
              </a:rPr>
              <a:t>Q. Do Laser Printers have an impact on our health?</a:t>
            </a:r>
          </a:p>
        </p:txBody>
      </p:sp>
      <p:sp>
        <p:nvSpPr>
          <p:cNvPr id="3" name="Content Placeholder 2">
            <a:extLst>
              <a:ext uri="{FF2B5EF4-FFF2-40B4-BE49-F238E27FC236}">
                <a16:creationId xmlns:a16="http://schemas.microsoft.com/office/drawing/2014/main" id="{627B2A22-BB9D-4C6A-BDB3-BED0F9F433E7}"/>
              </a:ext>
            </a:extLst>
          </p:cNvPr>
          <p:cNvSpPr>
            <a:spLocks noGrp="1"/>
          </p:cNvSpPr>
          <p:nvPr>
            <p:ph idx="1"/>
          </p:nvPr>
        </p:nvSpPr>
        <p:spPr/>
        <p:txBody>
          <a:bodyPr/>
          <a:lstStyle/>
          <a:p>
            <a:r>
              <a:rPr lang="en-GB" dirty="0">
                <a:solidFill>
                  <a:schemeClr val="bg1">
                    <a:lumMod val="85000"/>
                  </a:schemeClr>
                </a:solidFill>
              </a:rPr>
              <a:t>Answer: Yes, they can. They are suggested that ozone emitted from these printers can lead to breathing problems. </a:t>
            </a:r>
          </a:p>
          <a:p>
            <a:r>
              <a:rPr lang="en-GB" dirty="0">
                <a:solidFill>
                  <a:schemeClr val="bg1">
                    <a:lumMod val="85000"/>
                  </a:schemeClr>
                </a:solidFill>
              </a:rPr>
              <a:t>A possible solution for this would be to ensure printers are situated away from where people are sitting, and have good ventilation in the immediate area. </a:t>
            </a:r>
          </a:p>
        </p:txBody>
      </p:sp>
      <p:pic>
        <p:nvPicPr>
          <p:cNvPr id="3074" name="Picture 2" descr="Image result for laser printer icon">
            <a:extLst>
              <a:ext uri="{FF2B5EF4-FFF2-40B4-BE49-F238E27FC236}">
                <a16:creationId xmlns:a16="http://schemas.microsoft.com/office/drawing/2014/main" id="{A97AC19E-9418-4E0A-8CDF-06D9E6C4804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489950" y="3994150"/>
            <a:ext cx="2019300" cy="2019300"/>
          </a:xfrm>
          <a:prstGeom prst="rect">
            <a:avLst/>
          </a:prstGeom>
          <a:noFill/>
          <a:extLst>
            <a:ext uri="{909E8E84-426E-40DD-AFC4-6F175D3DCCD1}">
              <a14:hiddenFill xmlns:a14="http://schemas.microsoft.com/office/drawing/2010/main">
                <a:solidFill>
                  <a:srgbClr val="FFFFFF"/>
                </a:solidFill>
              </a14:hiddenFill>
            </a:ext>
          </a:extLst>
        </p:spPr>
      </p:pic>
      <p:pic>
        <p:nvPicPr>
          <p:cNvPr id="3076" name="Picture 4" descr="Image result for laser icon">
            <a:extLst>
              <a:ext uri="{FF2B5EF4-FFF2-40B4-BE49-F238E27FC236}">
                <a16:creationId xmlns:a16="http://schemas.microsoft.com/office/drawing/2014/main" id="{3040E095-1140-4B94-AF68-D511C3C3C05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720630" y="4289425"/>
            <a:ext cx="1428750" cy="1428750"/>
          </a:xfrm>
          <a:prstGeom prst="rect">
            <a:avLst/>
          </a:prstGeom>
          <a:noFill/>
          <a:effectLst>
            <a:glow rad="139700">
              <a:schemeClr val="accent2">
                <a:satMod val="175000"/>
                <a:alpha val="40000"/>
              </a:schemeClr>
            </a:glow>
          </a:effectLst>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8687340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anim calcmode="lin" valueType="num">
                                      <p:cBhvr>
                                        <p:cTn id="8"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3">
                                            <p:txEl>
                                              <p:pRg st="1" end="1"/>
                                            </p:txEl>
                                          </p:spTgt>
                                        </p:tgtEl>
                                        <p:attrNameLst>
                                          <p:attrName>style.visibility</p:attrName>
                                        </p:attrNameLst>
                                      </p:cBhvr>
                                      <p:to>
                                        <p:strVal val="visible"/>
                                      </p:to>
                                    </p:set>
                                    <p:animEffect transition="in" filter="fade">
                                      <p:cBhvr>
                                        <p:cTn id="14" dur="1000"/>
                                        <p:tgtEl>
                                          <p:spTgt spid="3">
                                            <p:txEl>
                                              <p:pRg st="1" end="1"/>
                                            </p:txEl>
                                          </p:spTgt>
                                        </p:tgtEl>
                                      </p:cBhvr>
                                    </p:animEffect>
                                    <p:anim calcmode="lin" valueType="num">
                                      <p:cBhvr>
                                        <p:cTn id="15"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16" dur="1000" fill="hold"/>
                                        <p:tgtEl>
                                          <p:spTgt spid="3">
                                            <p:txEl>
                                              <p:pRg st="1" end="1"/>
                                            </p:txEl>
                                          </p:spTgt>
                                        </p:tgtEl>
                                        <p:attrNameLst>
                                          <p:attrName>ppt_y</p:attrName>
                                        </p:attrNameLst>
                                      </p:cBhvr>
                                      <p:tavLst>
                                        <p:tav tm="0">
                                          <p:val>
                                            <p:strVal val="#ppt_y+.1"/>
                                          </p:val>
                                        </p:tav>
                                        <p:tav tm="100000">
                                          <p:val>
                                            <p:strVal val="#ppt_y"/>
                                          </p:val>
                                        </p:tav>
                                      </p:tavLst>
                                    </p:anim>
                                  </p:childTnLst>
                                </p:cTn>
                              </p:par>
                            </p:childTnLst>
                          </p:cTn>
                        </p:par>
                        <p:par>
                          <p:cTn id="17" fill="hold">
                            <p:stCondLst>
                              <p:cond delay="1000"/>
                            </p:stCondLst>
                            <p:childTnLst>
                              <p:par>
                                <p:cTn id="18" presetID="1" presetClass="entr" presetSubtype="0" fill="hold" nodeType="afterEffect">
                                  <p:stCondLst>
                                    <p:cond delay="0"/>
                                  </p:stCondLst>
                                  <p:childTnLst>
                                    <p:set>
                                      <p:cBhvr>
                                        <p:cTn id="19" dur="1" fill="hold">
                                          <p:stCondLst>
                                            <p:cond delay="0"/>
                                          </p:stCondLst>
                                        </p:cTn>
                                        <p:tgtEl>
                                          <p:spTgt spid="307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4.xml><?xml version="1.0" encoding="utf-8"?>
<p:sld xmlns:a="http://schemas.openxmlformats.org/drawingml/2006/main" xmlns:r="http://schemas.openxmlformats.org/officeDocument/2006/relationships" xmlns:p="http://schemas.openxmlformats.org/presentationml/2006/main">
  <p:cSld>
    <p:bg>
      <p:bgPr>
        <a:gradFill flip="none" rotWithShape="1">
          <a:gsLst>
            <a:gs pos="98000">
              <a:srgbClr val="000A1E"/>
            </a:gs>
            <a:gs pos="0">
              <a:srgbClr val="002060"/>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DB2AC7-EEDC-4B0D-A6A1-036E388ABEA6}"/>
              </a:ext>
            </a:extLst>
          </p:cNvPr>
          <p:cNvSpPr>
            <a:spLocks noGrp="1"/>
          </p:cNvSpPr>
          <p:nvPr>
            <p:ph type="title"/>
          </p:nvPr>
        </p:nvSpPr>
        <p:spPr/>
        <p:txBody>
          <a:bodyPr/>
          <a:lstStyle/>
          <a:p>
            <a:r>
              <a:rPr lang="en-GB" dirty="0">
                <a:solidFill>
                  <a:schemeClr val="bg1">
                    <a:lumMod val="85000"/>
                  </a:schemeClr>
                </a:solidFill>
              </a:rPr>
              <a:t>Deep Vein Thrombosis (DVT)</a:t>
            </a:r>
          </a:p>
        </p:txBody>
      </p:sp>
      <p:sp>
        <p:nvSpPr>
          <p:cNvPr id="3" name="Content Placeholder 2">
            <a:extLst>
              <a:ext uri="{FF2B5EF4-FFF2-40B4-BE49-F238E27FC236}">
                <a16:creationId xmlns:a16="http://schemas.microsoft.com/office/drawing/2014/main" id="{627B2A22-BB9D-4C6A-BDB3-BED0F9F433E7}"/>
              </a:ext>
            </a:extLst>
          </p:cNvPr>
          <p:cNvSpPr>
            <a:spLocks noGrp="1"/>
          </p:cNvSpPr>
          <p:nvPr>
            <p:ph idx="1"/>
          </p:nvPr>
        </p:nvSpPr>
        <p:spPr>
          <a:xfrm>
            <a:off x="311085" y="2544365"/>
            <a:ext cx="6567189" cy="3941276"/>
          </a:xfrm>
        </p:spPr>
        <p:txBody>
          <a:bodyPr>
            <a:normAutofit fontScale="92500" lnSpcReduction="10000"/>
          </a:bodyPr>
          <a:lstStyle/>
          <a:p>
            <a:r>
              <a:rPr lang="en-GB" dirty="0">
                <a:solidFill>
                  <a:schemeClr val="bg1">
                    <a:lumMod val="85000"/>
                  </a:schemeClr>
                </a:solidFill>
              </a:rPr>
              <a:t>DVT is a condition in which a clot is formed in a leg vein.</a:t>
            </a:r>
          </a:p>
          <a:p>
            <a:r>
              <a:rPr lang="en-GB" dirty="0">
                <a:solidFill>
                  <a:schemeClr val="bg1">
                    <a:lumMod val="85000"/>
                  </a:schemeClr>
                </a:solidFill>
              </a:rPr>
              <a:t>Requires hospital treatment, and can be life threatening.</a:t>
            </a:r>
          </a:p>
          <a:p>
            <a:r>
              <a:rPr lang="en-GB" dirty="0">
                <a:solidFill>
                  <a:schemeClr val="bg1">
                    <a:lumMod val="85000"/>
                  </a:schemeClr>
                </a:solidFill>
              </a:rPr>
              <a:t>Caused by sitting for long periods of time</a:t>
            </a:r>
          </a:p>
          <a:p>
            <a:pPr marL="0" indent="0">
              <a:buNone/>
            </a:pPr>
            <a:r>
              <a:rPr lang="en-GB" dirty="0">
                <a:solidFill>
                  <a:schemeClr val="bg1">
                    <a:lumMod val="85000"/>
                  </a:schemeClr>
                </a:solidFill>
              </a:rPr>
              <a:t>Prevention</a:t>
            </a:r>
          </a:p>
          <a:p>
            <a:pPr lvl="1"/>
            <a:r>
              <a:rPr lang="en-GB" dirty="0">
                <a:solidFill>
                  <a:schemeClr val="bg1">
                    <a:lumMod val="85000"/>
                  </a:schemeClr>
                </a:solidFill>
              </a:rPr>
              <a:t>Take regular breaks</a:t>
            </a:r>
          </a:p>
          <a:p>
            <a:pPr lvl="1"/>
            <a:r>
              <a:rPr lang="en-GB" dirty="0">
                <a:solidFill>
                  <a:schemeClr val="bg1">
                    <a:lumMod val="85000"/>
                  </a:schemeClr>
                </a:solidFill>
              </a:rPr>
              <a:t>Use an adjustable chair, with feet flat on ground</a:t>
            </a:r>
          </a:p>
          <a:p>
            <a:pPr lvl="1"/>
            <a:r>
              <a:rPr lang="en-GB" dirty="0">
                <a:solidFill>
                  <a:schemeClr val="bg1">
                    <a:lumMod val="85000"/>
                  </a:schemeClr>
                </a:solidFill>
              </a:rPr>
              <a:t>Sit with a suitable posture – do not cross your legs for long periods</a:t>
            </a:r>
          </a:p>
          <a:p>
            <a:pPr lvl="1"/>
            <a:endParaRPr lang="en-GB" dirty="0"/>
          </a:p>
        </p:txBody>
      </p:sp>
      <p:pic>
        <p:nvPicPr>
          <p:cNvPr id="3074" name="Picture 2">
            <a:extLst>
              <a:ext uri="{FF2B5EF4-FFF2-40B4-BE49-F238E27FC236}">
                <a16:creationId xmlns:a16="http://schemas.microsoft.com/office/drawing/2014/main" id="{A97AC19E-9418-4E0A-8CDF-06D9E6C4804C}"/>
              </a:ext>
            </a:extLst>
          </p:cNvPr>
          <p:cNvPicPr>
            <a:picLocks noChangeAspect="1" noChangeArrowheads="1"/>
          </p:cNvPicPr>
          <p:nvPr/>
        </p:nvPicPr>
        <p:blipFill>
          <a:blip r:embed="rId2"/>
          <a:stretch>
            <a:fillRect/>
          </a:stretch>
        </p:blipFill>
        <p:spPr bwMode="auto">
          <a:xfrm>
            <a:off x="7098596" y="2285356"/>
            <a:ext cx="3404215" cy="358338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4630795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anim calcmode="lin" valueType="num">
                                      <p:cBhvr>
                                        <p:cTn id="8"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3">
                                            <p:txEl>
                                              <p:pRg st="1" end="1"/>
                                            </p:txEl>
                                          </p:spTgt>
                                        </p:tgtEl>
                                        <p:attrNameLst>
                                          <p:attrName>style.visibility</p:attrName>
                                        </p:attrNameLst>
                                      </p:cBhvr>
                                      <p:to>
                                        <p:strVal val="visible"/>
                                      </p:to>
                                    </p:set>
                                    <p:animEffect transition="in" filter="fade">
                                      <p:cBhvr>
                                        <p:cTn id="14" dur="1000"/>
                                        <p:tgtEl>
                                          <p:spTgt spid="3">
                                            <p:txEl>
                                              <p:pRg st="1" end="1"/>
                                            </p:txEl>
                                          </p:spTgt>
                                        </p:tgtEl>
                                      </p:cBhvr>
                                    </p:animEffect>
                                    <p:anim calcmode="lin" valueType="num">
                                      <p:cBhvr>
                                        <p:cTn id="15"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16" dur="1000" fill="hold"/>
                                        <p:tgtEl>
                                          <p:spTgt spid="3">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nodeType="clickEffect">
                                  <p:stCondLst>
                                    <p:cond delay="0"/>
                                  </p:stCondLst>
                                  <p:childTnLst>
                                    <p:set>
                                      <p:cBhvr>
                                        <p:cTn id="20" dur="1" fill="hold">
                                          <p:stCondLst>
                                            <p:cond delay="0"/>
                                          </p:stCondLst>
                                        </p:cTn>
                                        <p:tgtEl>
                                          <p:spTgt spid="3">
                                            <p:txEl>
                                              <p:pRg st="2" end="2"/>
                                            </p:txEl>
                                          </p:spTgt>
                                        </p:tgtEl>
                                        <p:attrNameLst>
                                          <p:attrName>style.visibility</p:attrName>
                                        </p:attrNameLst>
                                      </p:cBhvr>
                                      <p:to>
                                        <p:strVal val="visible"/>
                                      </p:to>
                                    </p:set>
                                    <p:animEffect transition="in" filter="fade">
                                      <p:cBhvr>
                                        <p:cTn id="21" dur="1000"/>
                                        <p:tgtEl>
                                          <p:spTgt spid="3">
                                            <p:txEl>
                                              <p:pRg st="2" end="2"/>
                                            </p:txEl>
                                          </p:spTgt>
                                        </p:tgtEl>
                                      </p:cBhvr>
                                    </p:animEffect>
                                    <p:anim calcmode="lin" valueType="num">
                                      <p:cBhvr>
                                        <p:cTn id="22"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23" dur="1000" fill="hold"/>
                                        <p:tgtEl>
                                          <p:spTgt spid="3">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nodeType="clickEffect">
                                  <p:stCondLst>
                                    <p:cond delay="0"/>
                                  </p:stCondLst>
                                  <p:childTnLst>
                                    <p:set>
                                      <p:cBhvr>
                                        <p:cTn id="27" dur="1" fill="hold">
                                          <p:stCondLst>
                                            <p:cond delay="0"/>
                                          </p:stCondLst>
                                        </p:cTn>
                                        <p:tgtEl>
                                          <p:spTgt spid="3">
                                            <p:txEl>
                                              <p:pRg st="3" end="3"/>
                                            </p:txEl>
                                          </p:spTgt>
                                        </p:tgtEl>
                                        <p:attrNameLst>
                                          <p:attrName>style.visibility</p:attrName>
                                        </p:attrNameLst>
                                      </p:cBhvr>
                                      <p:to>
                                        <p:strVal val="visible"/>
                                      </p:to>
                                    </p:set>
                                    <p:animEffect transition="in" filter="fade">
                                      <p:cBhvr>
                                        <p:cTn id="28" dur="1000"/>
                                        <p:tgtEl>
                                          <p:spTgt spid="3">
                                            <p:txEl>
                                              <p:pRg st="3" end="3"/>
                                            </p:txEl>
                                          </p:spTgt>
                                        </p:tgtEl>
                                      </p:cBhvr>
                                    </p:animEffect>
                                    <p:anim calcmode="lin" valueType="num">
                                      <p:cBhvr>
                                        <p:cTn id="29"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30" dur="1000" fill="hold"/>
                                        <p:tgtEl>
                                          <p:spTgt spid="3">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nodeType="clickEffect">
                                  <p:stCondLst>
                                    <p:cond delay="0"/>
                                  </p:stCondLst>
                                  <p:childTnLst>
                                    <p:set>
                                      <p:cBhvr>
                                        <p:cTn id="34" dur="1" fill="hold">
                                          <p:stCondLst>
                                            <p:cond delay="0"/>
                                          </p:stCondLst>
                                        </p:cTn>
                                        <p:tgtEl>
                                          <p:spTgt spid="3">
                                            <p:txEl>
                                              <p:pRg st="4" end="4"/>
                                            </p:txEl>
                                          </p:spTgt>
                                        </p:tgtEl>
                                        <p:attrNameLst>
                                          <p:attrName>style.visibility</p:attrName>
                                        </p:attrNameLst>
                                      </p:cBhvr>
                                      <p:to>
                                        <p:strVal val="visible"/>
                                      </p:to>
                                    </p:set>
                                    <p:animEffect transition="in" filter="fade">
                                      <p:cBhvr>
                                        <p:cTn id="35" dur="1000"/>
                                        <p:tgtEl>
                                          <p:spTgt spid="3">
                                            <p:txEl>
                                              <p:pRg st="4" end="4"/>
                                            </p:txEl>
                                          </p:spTgt>
                                        </p:tgtEl>
                                      </p:cBhvr>
                                    </p:animEffect>
                                    <p:anim calcmode="lin" valueType="num">
                                      <p:cBhvr>
                                        <p:cTn id="36"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37" dur="1000" fill="hold"/>
                                        <p:tgtEl>
                                          <p:spTgt spid="3">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nodeType="clickEffect">
                                  <p:stCondLst>
                                    <p:cond delay="0"/>
                                  </p:stCondLst>
                                  <p:childTnLst>
                                    <p:set>
                                      <p:cBhvr>
                                        <p:cTn id="41" dur="1" fill="hold">
                                          <p:stCondLst>
                                            <p:cond delay="0"/>
                                          </p:stCondLst>
                                        </p:cTn>
                                        <p:tgtEl>
                                          <p:spTgt spid="3">
                                            <p:txEl>
                                              <p:pRg st="5" end="5"/>
                                            </p:txEl>
                                          </p:spTgt>
                                        </p:tgtEl>
                                        <p:attrNameLst>
                                          <p:attrName>style.visibility</p:attrName>
                                        </p:attrNameLst>
                                      </p:cBhvr>
                                      <p:to>
                                        <p:strVal val="visible"/>
                                      </p:to>
                                    </p:set>
                                    <p:animEffect transition="in" filter="fade">
                                      <p:cBhvr>
                                        <p:cTn id="42" dur="1000"/>
                                        <p:tgtEl>
                                          <p:spTgt spid="3">
                                            <p:txEl>
                                              <p:pRg st="5" end="5"/>
                                            </p:txEl>
                                          </p:spTgt>
                                        </p:tgtEl>
                                      </p:cBhvr>
                                    </p:animEffect>
                                    <p:anim calcmode="lin" valueType="num">
                                      <p:cBhvr>
                                        <p:cTn id="43" dur="1000" fill="hold"/>
                                        <p:tgtEl>
                                          <p:spTgt spid="3">
                                            <p:txEl>
                                              <p:pRg st="5" end="5"/>
                                            </p:txEl>
                                          </p:spTgt>
                                        </p:tgtEl>
                                        <p:attrNameLst>
                                          <p:attrName>ppt_x</p:attrName>
                                        </p:attrNameLst>
                                      </p:cBhvr>
                                      <p:tavLst>
                                        <p:tav tm="0">
                                          <p:val>
                                            <p:strVal val="#ppt_x"/>
                                          </p:val>
                                        </p:tav>
                                        <p:tav tm="100000">
                                          <p:val>
                                            <p:strVal val="#ppt_x"/>
                                          </p:val>
                                        </p:tav>
                                      </p:tavLst>
                                    </p:anim>
                                    <p:anim calcmode="lin" valueType="num">
                                      <p:cBhvr>
                                        <p:cTn id="44" dur="1000" fill="hold"/>
                                        <p:tgtEl>
                                          <p:spTgt spid="3">
                                            <p:txEl>
                                              <p:pRg st="5" end="5"/>
                                            </p:txEl>
                                          </p:spTgt>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42" presetClass="entr" presetSubtype="0" fill="hold" nodeType="clickEffect">
                                  <p:stCondLst>
                                    <p:cond delay="0"/>
                                  </p:stCondLst>
                                  <p:childTnLst>
                                    <p:set>
                                      <p:cBhvr>
                                        <p:cTn id="48" dur="1" fill="hold">
                                          <p:stCondLst>
                                            <p:cond delay="0"/>
                                          </p:stCondLst>
                                        </p:cTn>
                                        <p:tgtEl>
                                          <p:spTgt spid="3">
                                            <p:txEl>
                                              <p:pRg st="6" end="6"/>
                                            </p:txEl>
                                          </p:spTgt>
                                        </p:tgtEl>
                                        <p:attrNameLst>
                                          <p:attrName>style.visibility</p:attrName>
                                        </p:attrNameLst>
                                      </p:cBhvr>
                                      <p:to>
                                        <p:strVal val="visible"/>
                                      </p:to>
                                    </p:set>
                                    <p:animEffect transition="in" filter="fade">
                                      <p:cBhvr>
                                        <p:cTn id="49" dur="1000"/>
                                        <p:tgtEl>
                                          <p:spTgt spid="3">
                                            <p:txEl>
                                              <p:pRg st="6" end="6"/>
                                            </p:txEl>
                                          </p:spTgt>
                                        </p:tgtEl>
                                      </p:cBhvr>
                                    </p:animEffect>
                                    <p:anim calcmode="lin" valueType="num">
                                      <p:cBhvr>
                                        <p:cTn id="50" dur="1000" fill="hold"/>
                                        <p:tgtEl>
                                          <p:spTgt spid="3">
                                            <p:txEl>
                                              <p:pRg st="6" end="6"/>
                                            </p:txEl>
                                          </p:spTgt>
                                        </p:tgtEl>
                                        <p:attrNameLst>
                                          <p:attrName>ppt_x</p:attrName>
                                        </p:attrNameLst>
                                      </p:cBhvr>
                                      <p:tavLst>
                                        <p:tav tm="0">
                                          <p:val>
                                            <p:strVal val="#ppt_x"/>
                                          </p:val>
                                        </p:tav>
                                        <p:tav tm="100000">
                                          <p:val>
                                            <p:strVal val="#ppt_x"/>
                                          </p:val>
                                        </p:tav>
                                      </p:tavLst>
                                    </p:anim>
                                    <p:anim calcmode="lin" valueType="num">
                                      <p:cBhvr>
                                        <p:cTn id="51" dur="1000" fill="hold"/>
                                        <p:tgtEl>
                                          <p:spTgt spid="3">
                                            <p:txEl>
                                              <p:pRg st="6" end="6"/>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5.xml><?xml version="1.0" encoding="utf-8"?>
<p:sld xmlns:a="http://schemas.openxmlformats.org/drawingml/2006/main" xmlns:r="http://schemas.openxmlformats.org/officeDocument/2006/relationships" xmlns:p="http://schemas.openxmlformats.org/presentationml/2006/main">
  <p:cSld>
    <p:bg>
      <p:bgPr>
        <a:gradFill flip="none" rotWithShape="1">
          <a:gsLst>
            <a:gs pos="98000">
              <a:srgbClr val="000A1E"/>
            </a:gs>
            <a:gs pos="0">
              <a:srgbClr val="002060"/>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71595B-C4E1-490C-892C-5C91F8AB74E7}"/>
              </a:ext>
            </a:extLst>
          </p:cNvPr>
          <p:cNvSpPr>
            <a:spLocks noGrp="1"/>
          </p:cNvSpPr>
          <p:nvPr>
            <p:ph type="title"/>
          </p:nvPr>
        </p:nvSpPr>
        <p:spPr/>
        <p:txBody>
          <a:bodyPr/>
          <a:lstStyle/>
          <a:p>
            <a:r>
              <a:rPr lang="en-GB" dirty="0">
                <a:solidFill>
                  <a:schemeClr val="bg1">
                    <a:lumMod val="85000"/>
                  </a:schemeClr>
                </a:solidFill>
              </a:rPr>
              <a:t>Teleworking</a:t>
            </a:r>
          </a:p>
        </p:txBody>
      </p:sp>
      <p:sp>
        <p:nvSpPr>
          <p:cNvPr id="3" name="Content Placeholder 2">
            <a:extLst>
              <a:ext uri="{FF2B5EF4-FFF2-40B4-BE49-F238E27FC236}">
                <a16:creationId xmlns:a16="http://schemas.microsoft.com/office/drawing/2014/main" id="{3BCE1D46-4C74-40B2-AFE4-C0BF15E43679}"/>
              </a:ext>
            </a:extLst>
          </p:cNvPr>
          <p:cNvSpPr>
            <a:spLocks noGrp="1"/>
          </p:cNvSpPr>
          <p:nvPr>
            <p:ph idx="1"/>
          </p:nvPr>
        </p:nvSpPr>
        <p:spPr>
          <a:xfrm>
            <a:off x="405353" y="2073897"/>
            <a:ext cx="9159707" cy="4225293"/>
          </a:xfrm>
        </p:spPr>
        <p:txBody>
          <a:bodyPr>
            <a:normAutofit fontScale="92500" lnSpcReduction="10000"/>
          </a:bodyPr>
          <a:lstStyle/>
          <a:p>
            <a:r>
              <a:rPr lang="en-GB" dirty="0">
                <a:solidFill>
                  <a:srgbClr val="FF0000"/>
                </a:solidFill>
              </a:rPr>
              <a:t>Using technology and telecommunications to work </a:t>
            </a:r>
          </a:p>
          <a:p>
            <a:pPr marL="0" indent="0">
              <a:buNone/>
            </a:pPr>
            <a:r>
              <a:rPr lang="en-GB" dirty="0">
                <a:solidFill>
                  <a:srgbClr val="FF0000"/>
                </a:solidFill>
              </a:rPr>
              <a:t>   from home, which replaces work related travel.</a:t>
            </a:r>
          </a:p>
          <a:p>
            <a:endParaRPr lang="en-GB" dirty="0">
              <a:solidFill>
                <a:schemeClr val="bg1"/>
              </a:solidFill>
            </a:endParaRPr>
          </a:p>
          <a:p>
            <a:r>
              <a:rPr lang="en-GB" dirty="0">
                <a:solidFill>
                  <a:schemeClr val="bg1">
                    <a:lumMod val="85000"/>
                  </a:schemeClr>
                </a:solidFill>
              </a:rPr>
              <a:t>Saves on travel costs.</a:t>
            </a:r>
          </a:p>
          <a:p>
            <a:r>
              <a:rPr lang="en-GB" dirty="0">
                <a:solidFill>
                  <a:schemeClr val="bg1">
                    <a:lumMod val="85000"/>
                  </a:schemeClr>
                </a:solidFill>
              </a:rPr>
              <a:t>Uses tablets and other mobile devices to access the internet/etc and video conferencing.</a:t>
            </a:r>
          </a:p>
          <a:p>
            <a:r>
              <a:rPr lang="en-GB" dirty="0">
                <a:solidFill>
                  <a:schemeClr val="bg1">
                    <a:lumMod val="85000"/>
                  </a:schemeClr>
                </a:solidFill>
              </a:rPr>
              <a:t>Reduces boundaries between work and home, often making the boundary indistinct. </a:t>
            </a:r>
          </a:p>
          <a:p>
            <a:r>
              <a:rPr lang="en-GB" dirty="0">
                <a:solidFill>
                  <a:schemeClr val="bg1">
                    <a:lumMod val="85000"/>
                  </a:schemeClr>
                </a:solidFill>
              </a:rPr>
              <a:t>Companies can offer 24/7 services.</a:t>
            </a:r>
          </a:p>
          <a:p>
            <a:r>
              <a:rPr lang="en-GB" dirty="0">
                <a:solidFill>
                  <a:schemeClr val="bg1">
                    <a:lumMod val="85000"/>
                  </a:schemeClr>
                </a:solidFill>
              </a:rPr>
              <a:t>This means staff can often work day shifts/night shifts.</a:t>
            </a:r>
          </a:p>
        </p:txBody>
      </p:sp>
      <p:pic>
        <p:nvPicPr>
          <p:cNvPr id="1026" name="Picture 2" descr="Image result for teleworking">
            <a:extLst>
              <a:ext uri="{FF2B5EF4-FFF2-40B4-BE49-F238E27FC236}">
                <a16:creationId xmlns:a16="http://schemas.microsoft.com/office/drawing/2014/main" id="{49BAC974-D9BE-4B2C-A7D4-CB56D45A8D92}"/>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b="17279"/>
          <a:stretch/>
        </p:blipFill>
        <p:spPr bwMode="auto">
          <a:xfrm>
            <a:off x="8074931" y="340135"/>
            <a:ext cx="3828670" cy="23753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8469124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p:cTn id="7" dur="1000" fill="hold"/>
                                        <p:tgtEl>
                                          <p:spTgt spid="3">
                                            <p:txEl>
                                              <p:pRg st="0" end="0"/>
                                            </p:txEl>
                                          </p:spTgt>
                                        </p:tgtEl>
                                        <p:attrNameLst>
                                          <p:attrName>ppt_w</p:attrName>
                                        </p:attrNameLst>
                                      </p:cBhvr>
                                      <p:tavLst>
                                        <p:tav tm="0">
                                          <p:val>
                                            <p:fltVal val="0"/>
                                          </p:val>
                                        </p:tav>
                                        <p:tav tm="100000">
                                          <p:val>
                                            <p:strVal val="#ppt_w"/>
                                          </p:val>
                                        </p:tav>
                                      </p:tavLst>
                                    </p:anim>
                                    <p:anim calcmode="lin" valueType="num">
                                      <p:cBhvr>
                                        <p:cTn id="8" dur="1000" fill="hold"/>
                                        <p:tgtEl>
                                          <p:spTgt spid="3">
                                            <p:txEl>
                                              <p:pRg st="0" end="0"/>
                                            </p:txEl>
                                          </p:spTgt>
                                        </p:tgtEl>
                                        <p:attrNameLst>
                                          <p:attrName>ppt_h</p:attrName>
                                        </p:attrNameLst>
                                      </p:cBhvr>
                                      <p:tavLst>
                                        <p:tav tm="0">
                                          <p:val>
                                            <p:fltVal val="0"/>
                                          </p:val>
                                        </p:tav>
                                        <p:tav tm="100000">
                                          <p:val>
                                            <p:strVal val="#ppt_h"/>
                                          </p:val>
                                        </p:tav>
                                      </p:tavLst>
                                    </p:anim>
                                    <p:anim calcmode="lin" valueType="num">
                                      <p:cBhvr>
                                        <p:cTn id="9" dur="1000" fill="hold"/>
                                        <p:tgtEl>
                                          <p:spTgt spid="3">
                                            <p:txEl>
                                              <p:pRg st="0" end="0"/>
                                            </p:txEl>
                                          </p:spTgt>
                                        </p:tgtEl>
                                        <p:attrNameLst>
                                          <p:attrName>style.rotation</p:attrName>
                                        </p:attrNameLst>
                                      </p:cBhvr>
                                      <p:tavLst>
                                        <p:tav tm="0">
                                          <p:val>
                                            <p:fltVal val="90"/>
                                          </p:val>
                                        </p:tav>
                                        <p:tav tm="100000">
                                          <p:val>
                                            <p:fltVal val="0"/>
                                          </p:val>
                                        </p:tav>
                                      </p:tavLst>
                                    </p:anim>
                                    <p:animEffect transition="in" filter="fade">
                                      <p:cBhvr>
                                        <p:cTn id="10" dur="1000"/>
                                        <p:tgtEl>
                                          <p:spTgt spid="3">
                                            <p:txEl>
                                              <p:pRg st="0" end="0"/>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31" presetClass="entr" presetSubtype="0" fill="hold" nodeType="click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 calcmode="lin" valueType="num">
                                      <p:cBhvr>
                                        <p:cTn id="15" dur="1000" fill="hold"/>
                                        <p:tgtEl>
                                          <p:spTgt spid="3">
                                            <p:txEl>
                                              <p:pRg st="1" end="1"/>
                                            </p:txEl>
                                          </p:spTgt>
                                        </p:tgtEl>
                                        <p:attrNameLst>
                                          <p:attrName>ppt_w</p:attrName>
                                        </p:attrNameLst>
                                      </p:cBhvr>
                                      <p:tavLst>
                                        <p:tav tm="0">
                                          <p:val>
                                            <p:fltVal val="0"/>
                                          </p:val>
                                        </p:tav>
                                        <p:tav tm="100000">
                                          <p:val>
                                            <p:strVal val="#ppt_w"/>
                                          </p:val>
                                        </p:tav>
                                      </p:tavLst>
                                    </p:anim>
                                    <p:anim calcmode="lin" valueType="num">
                                      <p:cBhvr>
                                        <p:cTn id="16" dur="1000" fill="hold"/>
                                        <p:tgtEl>
                                          <p:spTgt spid="3">
                                            <p:txEl>
                                              <p:pRg st="1" end="1"/>
                                            </p:txEl>
                                          </p:spTgt>
                                        </p:tgtEl>
                                        <p:attrNameLst>
                                          <p:attrName>ppt_h</p:attrName>
                                        </p:attrNameLst>
                                      </p:cBhvr>
                                      <p:tavLst>
                                        <p:tav tm="0">
                                          <p:val>
                                            <p:fltVal val="0"/>
                                          </p:val>
                                        </p:tav>
                                        <p:tav tm="100000">
                                          <p:val>
                                            <p:strVal val="#ppt_h"/>
                                          </p:val>
                                        </p:tav>
                                      </p:tavLst>
                                    </p:anim>
                                    <p:anim calcmode="lin" valueType="num">
                                      <p:cBhvr>
                                        <p:cTn id="17" dur="1000" fill="hold"/>
                                        <p:tgtEl>
                                          <p:spTgt spid="3">
                                            <p:txEl>
                                              <p:pRg st="1" end="1"/>
                                            </p:txEl>
                                          </p:spTgt>
                                        </p:tgtEl>
                                        <p:attrNameLst>
                                          <p:attrName>style.rotation</p:attrName>
                                        </p:attrNameLst>
                                      </p:cBhvr>
                                      <p:tavLst>
                                        <p:tav tm="0">
                                          <p:val>
                                            <p:fltVal val="90"/>
                                          </p:val>
                                        </p:tav>
                                        <p:tav tm="100000">
                                          <p:val>
                                            <p:fltVal val="0"/>
                                          </p:val>
                                        </p:tav>
                                      </p:tavLst>
                                    </p:anim>
                                    <p:animEffect transition="in" filter="fade">
                                      <p:cBhvr>
                                        <p:cTn id="18" dur="1000"/>
                                        <p:tgtEl>
                                          <p:spTgt spid="3">
                                            <p:txEl>
                                              <p:pRg st="1" end="1"/>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31" presetClass="entr" presetSubtype="0" fill="hold" nodeType="clickEffect">
                                  <p:stCondLst>
                                    <p:cond delay="0"/>
                                  </p:stCondLst>
                                  <p:childTnLst>
                                    <p:set>
                                      <p:cBhvr>
                                        <p:cTn id="22" dur="1" fill="hold">
                                          <p:stCondLst>
                                            <p:cond delay="0"/>
                                          </p:stCondLst>
                                        </p:cTn>
                                        <p:tgtEl>
                                          <p:spTgt spid="3">
                                            <p:txEl>
                                              <p:pRg st="3" end="3"/>
                                            </p:txEl>
                                          </p:spTgt>
                                        </p:tgtEl>
                                        <p:attrNameLst>
                                          <p:attrName>style.visibility</p:attrName>
                                        </p:attrNameLst>
                                      </p:cBhvr>
                                      <p:to>
                                        <p:strVal val="visible"/>
                                      </p:to>
                                    </p:set>
                                    <p:anim calcmode="lin" valueType="num">
                                      <p:cBhvr>
                                        <p:cTn id="23" dur="1000" fill="hold"/>
                                        <p:tgtEl>
                                          <p:spTgt spid="3">
                                            <p:txEl>
                                              <p:pRg st="3" end="3"/>
                                            </p:txEl>
                                          </p:spTgt>
                                        </p:tgtEl>
                                        <p:attrNameLst>
                                          <p:attrName>ppt_w</p:attrName>
                                        </p:attrNameLst>
                                      </p:cBhvr>
                                      <p:tavLst>
                                        <p:tav tm="0">
                                          <p:val>
                                            <p:fltVal val="0"/>
                                          </p:val>
                                        </p:tav>
                                        <p:tav tm="100000">
                                          <p:val>
                                            <p:strVal val="#ppt_w"/>
                                          </p:val>
                                        </p:tav>
                                      </p:tavLst>
                                    </p:anim>
                                    <p:anim calcmode="lin" valueType="num">
                                      <p:cBhvr>
                                        <p:cTn id="24" dur="1000" fill="hold"/>
                                        <p:tgtEl>
                                          <p:spTgt spid="3">
                                            <p:txEl>
                                              <p:pRg st="3" end="3"/>
                                            </p:txEl>
                                          </p:spTgt>
                                        </p:tgtEl>
                                        <p:attrNameLst>
                                          <p:attrName>ppt_h</p:attrName>
                                        </p:attrNameLst>
                                      </p:cBhvr>
                                      <p:tavLst>
                                        <p:tav tm="0">
                                          <p:val>
                                            <p:fltVal val="0"/>
                                          </p:val>
                                        </p:tav>
                                        <p:tav tm="100000">
                                          <p:val>
                                            <p:strVal val="#ppt_h"/>
                                          </p:val>
                                        </p:tav>
                                      </p:tavLst>
                                    </p:anim>
                                    <p:anim calcmode="lin" valueType="num">
                                      <p:cBhvr>
                                        <p:cTn id="25" dur="1000" fill="hold"/>
                                        <p:tgtEl>
                                          <p:spTgt spid="3">
                                            <p:txEl>
                                              <p:pRg st="3" end="3"/>
                                            </p:txEl>
                                          </p:spTgt>
                                        </p:tgtEl>
                                        <p:attrNameLst>
                                          <p:attrName>style.rotation</p:attrName>
                                        </p:attrNameLst>
                                      </p:cBhvr>
                                      <p:tavLst>
                                        <p:tav tm="0">
                                          <p:val>
                                            <p:fltVal val="90"/>
                                          </p:val>
                                        </p:tav>
                                        <p:tav tm="100000">
                                          <p:val>
                                            <p:fltVal val="0"/>
                                          </p:val>
                                        </p:tav>
                                      </p:tavLst>
                                    </p:anim>
                                    <p:animEffect transition="in" filter="fade">
                                      <p:cBhvr>
                                        <p:cTn id="26" dur="1000"/>
                                        <p:tgtEl>
                                          <p:spTgt spid="3">
                                            <p:txEl>
                                              <p:pRg st="3" end="3"/>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31" presetClass="entr" presetSubtype="0" fill="hold" nodeType="click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anim calcmode="lin" valueType="num">
                                      <p:cBhvr>
                                        <p:cTn id="31" dur="1000" fill="hold"/>
                                        <p:tgtEl>
                                          <p:spTgt spid="3">
                                            <p:txEl>
                                              <p:pRg st="4" end="4"/>
                                            </p:txEl>
                                          </p:spTgt>
                                        </p:tgtEl>
                                        <p:attrNameLst>
                                          <p:attrName>ppt_w</p:attrName>
                                        </p:attrNameLst>
                                      </p:cBhvr>
                                      <p:tavLst>
                                        <p:tav tm="0">
                                          <p:val>
                                            <p:fltVal val="0"/>
                                          </p:val>
                                        </p:tav>
                                        <p:tav tm="100000">
                                          <p:val>
                                            <p:strVal val="#ppt_w"/>
                                          </p:val>
                                        </p:tav>
                                      </p:tavLst>
                                    </p:anim>
                                    <p:anim calcmode="lin" valueType="num">
                                      <p:cBhvr>
                                        <p:cTn id="32" dur="1000" fill="hold"/>
                                        <p:tgtEl>
                                          <p:spTgt spid="3">
                                            <p:txEl>
                                              <p:pRg st="4" end="4"/>
                                            </p:txEl>
                                          </p:spTgt>
                                        </p:tgtEl>
                                        <p:attrNameLst>
                                          <p:attrName>ppt_h</p:attrName>
                                        </p:attrNameLst>
                                      </p:cBhvr>
                                      <p:tavLst>
                                        <p:tav tm="0">
                                          <p:val>
                                            <p:fltVal val="0"/>
                                          </p:val>
                                        </p:tav>
                                        <p:tav tm="100000">
                                          <p:val>
                                            <p:strVal val="#ppt_h"/>
                                          </p:val>
                                        </p:tav>
                                      </p:tavLst>
                                    </p:anim>
                                    <p:anim calcmode="lin" valueType="num">
                                      <p:cBhvr>
                                        <p:cTn id="33" dur="1000" fill="hold"/>
                                        <p:tgtEl>
                                          <p:spTgt spid="3">
                                            <p:txEl>
                                              <p:pRg st="4" end="4"/>
                                            </p:txEl>
                                          </p:spTgt>
                                        </p:tgtEl>
                                        <p:attrNameLst>
                                          <p:attrName>style.rotation</p:attrName>
                                        </p:attrNameLst>
                                      </p:cBhvr>
                                      <p:tavLst>
                                        <p:tav tm="0">
                                          <p:val>
                                            <p:fltVal val="90"/>
                                          </p:val>
                                        </p:tav>
                                        <p:tav tm="100000">
                                          <p:val>
                                            <p:fltVal val="0"/>
                                          </p:val>
                                        </p:tav>
                                      </p:tavLst>
                                    </p:anim>
                                    <p:animEffect transition="in" filter="fade">
                                      <p:cBhvr>
                                        <p:cTn id="34" dur="1000"/>
                                        <p:tgtEl>
                                          <p:spTgt spid="3">
                                            <p:txEl>
                                              <p:pRg st="4" end="4"/>
                                            </p:txEl>
                                          </p:spTgt>
                                        </p:tgtEl>
                                      </p:cBhvr>
                                    </p:animEffect>
                                  </p:childTnLst>
                                </p:cTn>
                              </p:par>
                            </p:childTnLst>
                          </p:cTn>
                        </p:par>
                      </p:childTnLst>
                    </p:cTn>
                  </p:par>
                  <p:par>
                    <p:cTn id="35" fill="hold">
                      <p:stCondLst>
                        <p:cond delay="indefinite"/>
                      </p:stCondLst>
                      <p:childTnLst>
                        <p:par>
                          <p:cTn id="36" fill="hold">
                            <p:stCondLst>
                              <p:cond delay="0"/>
                            </p:stCondLst>
                            <p:childTnLst>
                              <p:par>
                                <p:cTn id="37" presetID="31" presetClass="entr" presetSubtype="0" fill="hold" nodeType="clickEffect">
                                  <p:stCondLst>
                                    <p:cond delay="0"/>
                                  </p:stCondLst>
                                  <p:childTnLst>
                                    <p:set>
                                      <p:cBhvr>
                                        <p:cTn id="38" dur="1" fill="hold">
                                          <p:stCondLst>
                                            <p:cond delay="0"/>
                                          </p:stCondLst>
                                        </p:cTn>
                                        <p:tgtEl>
                                          <p:spTgt spid="3">
                                            <p:txEl>
                                              <p:pRg st="5" end="5"/>
                                            </p:txEl>
                                          </p:spTgt>
                                        </p:tgtEl>
                                        <p:attrNameLst>
                                          <p:attrName>style.visibility</p:attrName>
                                        </p:attrNameLst>
                                      </p:cBhvr>
                                      <p:to>
                                        <p:strVal val="visible"/>
                                      </p:to>
                                    </p:set>
                                    <p:anim calcmode="lin" valueType="num">
                                      <p:cBhvr>
                                        <p:cTn id="39" dur="1000" fill="hold"/>
                                        <p:tgtEl>
                                          <p:spTgt spid="3">
                                            <p:txEl>
                                              <p:pRg st="5" end="5"/>
                                            </p:txEl>
                                          </p:spTgt>
                                        </p:tgtEl>
                                        <p:attrNameLst>
                                          <p:attrName>ppt_w</p:attrName>
                                        </p:attrNameLst>
                                      </p:cBhvr>
                                      <p:tavLst>
                                        <p:tav tm="0">
                                          <p:val>
                                            <p:fltVal val="0"/>
                                          </p:val>
                                        </p:tav>
                                        <p:tav tm="100000">
                                          <p:val>
                                            <p:strVal val="#ppt_w"/>
                                          </p:val>
                                        </p:tav>
                                      </p:tavLst>
                                    </p:anim>
                                    <p:anim calcmode="lin" valueType="num">
                                      <p:cBhvr>
                                        <p:cTn id="40" dur="1000" fill="hold"/>
                                        <p:tgtEl>
                                          <p:spTgt spid="3">
                                            <p:txEl>
                                              <p:pRg st="5" end="5"/>
                                            </p:txEl>
                                          </p:spTgt>
                                        </p:tgtEl>
                                        <p:attrNameLst>
                                          <p:attrName>ppt_h</p:attrName>
                                        </p:attrNameLst>
                                      </p:cBhvr>
                                      <p:tavLst>
                                        <p:tav tm="0">
                                          <p:val>
                                            <p:fltVal val="0"/>
                                          </p:val>
                                        </p:tav>
                                        <p:tav tm="100000">
                                          <p:val>
                                            <p:strVal val="#ppt_h"/>
                                          </p:val>
                                        </p:tav>
                                      </p:tavLst>
                                    </p:anim>
                                    <p:anim calcmode="lin" valueType="num">
                                      <p:cBhvr>
                                        <p:cTn id="41" dur="1000" fill="hold"/>
                                        <p:tgtEl>
                                          <p:spTgt spid="3">
                                            <p:txEl>
                                              <p:pRg st="5" end="5"/>
                                            </p:txEl>
                                          </p:spTgt>
                                        </p:tgtEl>
                                        <p:attrNameLst>
                                          <p:attrName>style.rotation</p:attrName>
                                        </p:attrNameLst>
                                      </p:cBhvr>
                                      <p:tavLst>
                                        <p:tav tm="0">
                                          <p:val>
                                            <p:fltVal val="90"/>
                                          </p:val>
                                        </p:tav>
                                        <p:tav tm="100000">
                                          <p:val>
                                            <p:fltVal val="0"/>
                                          </p:val>
                                        </p:tav>
                                      </p:tavLst>
                                    </p:anim>
                                    <p:animEffect transition="in" filter="fade">
                                      <p:cBhvr>
                                        <p:cTn id="42" dur="1000"/>
                                        <p:tgtEl>
                                          <p:spTgt spid="3">
                                            <p:txEl>
                                              <p:pRg st="5" end="5"/>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31" presetClass="entr" presetSubtype="0" fill="hold" nodeType="clickEffect">
                                  <p:stCondLst>
                                    <p:cond delay="0"/>
                                  </p:stCondLst>
                                  <p:childTnLst>
                                    <p:set>
                                      <p:cBhvr>
                                        <p:cTn id="46" dur="1" fill="hold">
                                          <p:stCondLst>
                                            <p:cond delay="0"/>
                                          </p:stCondLst>
                                        </p:cTn>
                                        <p:tgtEl>
                                          <p:spTgt spid="3">
                                            <p:txEl>
                                              <p:pRg st="6" end="6"/>
                                            </p:txEl>
                                          </p:spTgt>
                                        </p:tgtEl>
                                        <p:attrNameLst>
                                          <p:attrName>style.visibility</p:attrName>
                                        </p:attrNameLst>
                                      </p:cBhvr>
                                      <p:to>
                                        <p:strVal val="visible"/>
                                      </p:to>
                                    </p:set>
                                    <p:anim calcmode="lin" valueType="num">
                                      <p:cBhvr>
                                        <p:cTn id="47" dur="1000" fill="hold"/>
                                        <p:tgtEl>
                                          <p:spTgt spid="3">
                                            <p:txEl>
                                              <p:pRg st="6" end="6"/>
                                            </p:txEl>
                                          </p:spTgt>
                                        </p:tgtEl>
                                        <p:attrNameLst>
                                          <p:attrName>ppt_w</p:attrName>
                                        </p:attrNameLst>
                                      </p:cBhvr>
                                      <p:tavLst>
                                        <p:tav tm="0">
                                          <p:val>
                                            <p:fltVal val="0"/>
                                          </p:val>
                                        </p:tav>
                                        <p:tav tm="100000">
                                          <p:val>
                                            <p:strVal val="#ppt_w"/>
                                          </p:val>
                                        </p:tav>
                                      </p:tavLst>
                                    </p:anim>
                                    <p:anim calcmode="lin" valueType="num">
                                      <p:cBhvr>
                                        <p:cTn id="48" dur="1000" fill="hold"/>
                                        <p:tgtEl>
                                          <p:spTgt spid="3">
                                            <p:txEl>
                                              <p:pRg st="6" end="6"/>
                                            </p:txEl>
                                          </p:spTgt>
                                        </p:tgtEl>
                                        <p:attrNameLst>
                                          <p:attrName>ppt_h</p:attrName>
                                        </p:attrNameLst>
                                      </p:cBhvr>
                                      <p:tavLst>
                                        <p:tav tm="0">
                                          <p:val>
                                            <p:fltVal val="0"/>
                                          </p:val>
                                        </p:tav>
                                        <p:tav tm="100000">
                                          <p:val>
                                            <p:strVal val="#ppt_h"/>
                                          </p:val>
                                        </p:tav>
                                      </p:tavLst>
                                    </p:anim>
                                    <p:anim calcmode="lin" valueType="num">
                                      <p:cBhvr>
                                        <p:cTn id="49" dur="1000" fill="hold"/>
                                        <p:tgtEl>
                                          <p:spTgt spid="3">
                                            <p:txEl>
                                              <p:pRg st="6" end="6"/>
                                            </p:txEl>
                                          </p:spTgt>
                                        </p:tgtEl>
                                        <p:attrNameLst>
                                          <p:attrName>style.rotation</p:attrName>
                                        </p:attrNameLst>
                                      </p:cBhvr>
                                      <p:tavLst>
                                        <p:tav tm="0">
                                          <p:val>
                                            <p:fltVal val="90"/>
                                          </p:val>
                                        </p:tav>
                                        <p:tav tm="100000">
                                          <p:val>
                                            <p:fltVal val="0"/>
                                          </p:val>
                                        </p:tav>
                                      </p:tavLst>
                                    </p:anim>
                                    <p:animEffect transition="in" filter="fade">
                                      <p:cBhvr>
                                        <p:cTn id="50" dur="1000"/>
                                        <p:tgtEl>
                                          <p:spTgt spid="3">
                                            <p:txEl>
                                              <p:pRg st="6" end="6"/>
                                            </p:txEl>
                                          </p:spTgt>
                                        </p:tgtEl>
                                      </p:cBhvr>
                                    </p:animEffect>
                                  </p:childTnLst>
                                </p:cTn>
                              </p:par>
                            </p:childTnLst>
                          </p:cTn>
                        </p:par>
                      </p:childTnLst>
                    </p:cTn>
                  </p:par>
                  <p:par>
                    <p:cTn id="51" fill="hold">
                      <p:stCondLst>
                        <p:cond delay="indefinite"/>
                      </p:stCondLst>
                      <p:childTnLst>
                        <p:par>
                          <p:cTn id="52" fill="hold">
                            <p:stCondLst>
                              <p:cond delay="0"/>
                            </p:stCondLst>
                            <p:childTnLst>
                              <p:par>
                                <p:cTn id="53" presetID="31" presetClass="entr" presetSubtype="0" fill="hold" nodeType="clickEffect">
                                  <p:stCondLst>
                                    <p:cond delay="0"/>
                                  </p:stCondLst>
                                  <p:childTnLst>
                                    <p:set>
                                      <p:cBhvr>
                                        <p:cTn id="54" dur="1" fill="hold">
                                          <p:stCondLst>
                                            <p:cond delay="0"/>
                                          </p:stCondLst>
                                        </p:cTn>
                                        <p:tgtEl>
                                          <p:spTgt spid="3">
                                            <p:txEl>
                                              <p:pRg st="7" end="7"/>
                                            </p:txEl>
                                          </p:spTgt>
                                        </p:tgtEl>
                                        <p:attrNameLst>
                                          <p:attrName>style.visibility</p:attrName>
                                        </p:attrNameLst>
                                      </p:cBhvr>
                                      <p:to>
                                        <p:strVal val="visible"/>
                                      </p:to>
                                    </p:set>
                                    <p:anim calcmode="lin" valueType="num">
                                      <p:cBhvr>
                                        <p:cTn id="55" dur="1000" fill="hold"/>
                                        <p:tgtEl>
                                          <p:spTgt spid="3">
                                            <p:txEl>
                                              <p:pRg st="7" end="7"/>
                                            </p:txEl>
                                          </p:spTgt>
                                        </p:tgtEl>
                                        <p:attrNameLst>
                                          <p:attrName>ppt_w</p:attrName>
                                        </p:attrNameLst>
                                      </p:cBhvr>
                                      <p:tavLst>
                                        <p:tav tm="0">
                                          <p:val>
                                            <p:fltVal val="0"/>
                                          </p:val>
                                        </p:tav>
                                        <p:tav tm="100000">
                                          <p:val>
                                            <p:strVal val="#ppt_w"/>
                                          </p:val>
                                        </p:tav>
                                      </p:tavLst>
                                    </p:anim>
                                    <p:anim calcmode="lin" valueType="num">
                                      <p:cBhvr>
                                        <p:cTn id="56" dur="1000" fill="hold"/>
                                        <p:tgtEl>
                                          <p:spTgt spid="3">
                                            <p:txEl>
                                              <p:pRg st="7" end="7"/>
                                            </p:txEl>
                                          </p:spTgt>
                                        </p:tgtEl>
                                        <p:attrNameLst>
                                          <p:attrName>ppt_h</p:attrName>
                                        </p:attrNameLst>
                                      </p:cBhvr>
                                      <p:tavLst>
                                        <p:tav tm="0">
                                          <p:val>
                                            <p:fltVal val="0"/>
                                          </p:val>
                                        </p:tav>
                                        <p:tav tm="100000">
                                          <p:val>
                                            <p:strVal val="#ppt_h"/>
                                          </p:val>
                                        </p:tav>
                                      </p:tavLst>
                                    </p:anim>
                                    <p:anim calcmode="lin" valueType="num">
                                      <p:cBhvr>
                                        <p:cTn id="57" dur="1000" fill="hold"/>
                                        <p:tgtEl>
                                          <p:spTgt spid="3">
                                            <p:txEl>
                                              <p:pRg st="7" end="7"/>
                                            </p:txEl>
                                          </p:spTgt>
                                        </p:tgtEl>
                                        <p:attrNameLst>
                                          <p:attrName>style.rotation</p:attrName>
                                        </p:attrNameLst>
                                      </p:cBhvr>
                                      <p:tavLst>
                                        <p:tav tm="0">
                                          <p:val>
                                            <p:fltVal val="90"/>
                                          </p:val>
                                        </p:tav>
                                        <p:tav tm="100000">
                                          <p:val>
                                            <p:fltVal val="0"/>
                                          </p:val>
                                        </p:tav>
                                      </p:tavLst>
                                    </p:anim>
                                    <p:animEffect transition="in" filter="fade">
                                      <p:cBhvr>
                                        <p:cTn id="58" dur="100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6.xml><?xml version="1.0" encoding="utf-8"?>
<p:sld xmlns:a="http://schemas.openxmlformats.org/drawingml/2006/main" xmlns:r="http://schemas.openxmlformats.org/officeDocument/2006/relationships" xmlns:p="http://schemas.openxmlformats.org/presentationml/2006/main">
  <p:cSld>
    <p:bg>
      <p:bgPr>
        <a:gradFill flip="none" rotWithShape="1">
          <a:gsLst>
            <a:gs pos="98000">
              <a:srgbClr val="000A1E"/>
            </a:gs>
            <a:gs pos="0">
              <a:srgbClr val="002060"/>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853A75-EBAF-4A25-AE3F-0333CF8E3B42}"/>
              </a:ext>
            </a:extLst>
          </p:cNvPr>
          <p:cNvSpPr>
            <a:spLocks noGrp="1"/>
          </p:cNvSpPr>
          <p:nvPr>
            <p:ph type="title"/>
          </p:nvPr>
        </p:nvSpPr>
        <p:spPr/>
        <p:txBody>
          <a:bodyPr/>
          <a:lstStyle/>
          <a:p>
            <a:r>
              <a:rPr lang="en-GB" dirty="0">
                <a:solidFill>
                  <a:schemeClr val="bg1">
                    <a:lumMod val="85000"/>
                  </a:schemeClr>
                </a:solidFill>
              </a:rPr>
              <a:t>Health Problems associated with Teleworking</a:t>
            </a:r>
          </a:p>
        </p:txBody>
      </p:sp>
      <p:sp>
        <p:nvSpPr>
          <p:cNvPr id="3" name="Content Placeholder 2">
            <a:extLst>
              <a:ext uri="{FF2B5EF4-FFF2-40B4-BE49-F238E27FC236}">
                <a16:creationId xmlns:a16="http://schemas.microsoft.com/office/drawing/2014/main" id="{0198E63B-B074-4C4C-B544-24A662163492}"/>
              </a:ext>
            </a:extLst>
          </p:cNvPr>
          <p:cNvSpPr>
            <a:spLocks noGrp="1"/>
          </p:cNvSpPr>
          <p:nvPr>
            <p:ph idx="1"/>
          </p:nvPr>
        </p:nvSpPr>
        <p:spPr/>
        <p:txBody>
          <a:bodyPr/>
          <a:lstStyle/>
          <a:p>
            <a:r>
              <a:rPr lang="en-GB" dirty="0">
                <a:solidFill>
                  <a:schemeClr val="bg1">
                    <a:lumMod val="85000"/>
                  </a:schemeClr>
                </a:solidFill>
              </a:rPr>
              <a:t>If work is taken home, employees can find that their stress levels are increased as there is ‘no escape’ from work life.</a:t>
            </a:r>
          </a:p>
          <a:p>
            <a:r>
              <a:rPr lang="en-GB" dirty="0">
                <a:solidFill>
                  <a:schemeClr val="bg1">
                    <a:lumMod val="85000"/>
                  </a:schemeClr>
                </a:solidFill>
              </a:rPr>
              <a:t>Lack of support/inadequate equipment</a:t>
            </a:r>
          </a:p>
          <a:p>
            <a:r>
              <a:rPr lang="en-GB" dirty="0">
                <a:solidFill>
                  <a:schemeClr val="bg1">
                    <a:lumMod val="85000"/>
                  </a:schemeClr>
                </a:solidFill>
              </a:rPr>
              <a:t>Social Isolation</a:t>
            </a:r>
          </a:p>
          <a:p>
            <a:r>
              <a:rPr lang="en-GB" dirty="0">
                <a:solidFill>
                  <a:schemeClr val="bg1">
                    <a:lumMod val="85000"/>
                  </a:schemeClr>
                </a:solidFill>
              </a:rPr>
              <a:t>Can work longer hours than paid/ required (aka presenteeism)</a:t>
            </a:r>
          </a:p>
          <a:p>
            <a:r>
              <a:rPr lang="en-GB" dirty="0">
                <a:solidFill>
                  <a:schemeClr val="bg1">
                    <a:lumMod val="85000"/>
                  </a:schemeClr>
                </a:solidFill>
              </a:rPr>
              <a:t>Increased stress levels / feeling of overburdening</a:t>
            </a:r>
          </a:p>
          <a:p>
            <a:endParaRPr lang="en-GB" dirty="0"/>
          </a:p>
        </p:txBody>
      </p:sp>
      <p:pic>
        <p:nvPicPr>
          <p:cNvPr id="2050" name="Picture 2" descr="Image result for teleworking sign">
            <a:extLst>
              <a:ext uri="{FF2B5EF4-FFF2-40B4-BE49-F238E27FC236}">
                <a16:creationId xmlns:a16="http://schemas.microsoft.com/office/drawing/2014/main" id="{6A3242A2-19EA-45F6-8921-C144862FC293}"/>
              </a:ext>
            </a:extLst>
          </p:cNvPr>
          <p:cNvPicPr>
            <a:picLocks noChangeAspect="1" noChangeArrowheads="1"/>
          </p:cNvPicPr>
          <p:nvPr/>
        </p:nvPicPr>
        <p:blipFill>
          <a:blip r:embed="rId2">
            <a:extLst>
              <a:ext uri="{BEBA8EAE-BF5A-486C-A8C5-ECC9F3942E4B}">
                <a14:imgProps xmlns:a14="http://schemas.microsoft.com/office/drawing/2010/main">
                  <a14:imgLayer r:embed="rId3">
                    <a14:imgEffect>
                      <a14:backgroundRemoval t="8800" b="94000" l="7000" r="94400">
                        <a14:foregroundMark x1="50200" y1="8800" x2="58000" y2="15200"/>
                        <a14:foregroundMark x1="8200" y1="46400" x2="7000" y2="46000"/>
                        <a14:foregroundMark x1="94400" y1="47600" x2="93400" y2="47600"/>
                        <a14:foregroundMark x1="67200" y1="58000" x2="65400" y2="62800"/>
                        <a14:foregroundMark x1="57800" y1="40600" x2="59600" y2="38800"/>
                        <a14:foregroundMark x1="36000" y1="60000" x2="38400" y2="60000"/>
                        <a14:foregroundMark x1="49600" y1="67200" x2="49600" y2="71000"/>
                        <a14:foregroundMark x1="65400" y1="93400" x2="51800" y2="94000"/>
                        <a14:foregroundMark x1="63000" y1="48200" x2="63800" y2="48200"/>
                      </a14:backgroundRemoval>
                    </a14:imgEffect>
                  </a14:imgLayer>
                </a14:imgProps>
              </a:ext>
              <a:ext uri="{28A0092B-C50C-407E-A947-70E740481C1C}">
                <a14:useLocalDpi xmlns:a14="http://schemas.microsoft.com/office/drawing/2010/main" val="0"/>
              </a:ext>
            </a:extLst>
          </a:blip>
          <a:srcRect/>
          <a:stretch>
            <a:fillRect/>
          </a:stretch>
        </p:blipFill>
        <p:spPr bwMode="auto">
          <a:xfrm>
            <a:off x="9401876" y="4085734"/>
            <a:ext cx="2679701" cy="2679701"/>
          </a:xfrm>
          <a:prstGeom prst="rect">
            <a:avLst/>
          </a:prstGeom>
          <a:noFill/>
          <a:effectLst>
            <a:glow rad="63500">
              <a:schemeClr val="accent1">
                <a:satMod val="175000"/>
                <a:alpha val="40000"/>
              </a:schemeClr>
            </a:glow>
          </a:effectLst>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7622603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 presetClass="entr" presetSubtype="16"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circle(in)">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6" presetClass="entr" presetSubtype="16" fill="hold"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circle(in)">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6" presetClass="entr" presetSubtype="16" fill="hold"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circle(in)">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6" presetClass="entr" presetSubtype="16" fill="hold"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circle(in)">
                                      <p:cBhvr>
                                        <p:cTn id="22" dur="2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6" presetClass="entr" presetSubtype="16" fill="hold"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circle(in)">
                                      <p:cBhvr>
                                        <p:cTn id="27" dur="20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7.xml><?xml version="1.0" encoding="utf-8"?>
<p:sld xmlns:a="http://schemas.openxmlformats.org/drawingml/2006/main" xmlns:r="http://schemas.openxmlformats.org/officeDocument/2006/relationships" xmlns:p="http://schemas.openxmlformats.org/presentationml/2006/main">
  <p:cSld>
    <p:bg>
      <p:bgPr>
        <a:gradFill flip="none" rotWithShape="1">
          <a:gsLst>
            <a:gs pos="98000">
              <a:srgbClr val="000A1E"/>
            </a:gs>
            <a:gs pos="0">
              <a:srgbClr val="002060"/>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3A37C3-E2B9-4D1D-A813-C8E8B9A52184}"/>
              </a:ext>
            </a:extLst>
          </p:cNvPr>
          <p:cNvSpPr>
            <a:spLocks noGrp="1"/>
          </p:cNvSpPr>
          <p:nvPr>
            <p:ph type="title"/>
          </p:nvPr>
        </p:nvSpPr>
        <p:spPr>
          <a:xfrm>
            <a:off x="280700" y="5375476"/>
            <a:ext cx="7772400" cy="1223963"/>
          </a:xfrm>
        </p:spPr>
        <p:txBody>
          <a:bodyPr/>
          <a:lstStyle/>
          <a:p>
            <a:r>
              <a:rPr lang="en-GB" dirty="0" err="1">
                <a:solidFill>
                  <a:schemeClr val="bg1"/>
                </a:solidFill>
              </a:rPr>
              <a:t>WALT</a:t>
            </a:r>
            <a:r>
              <a:rPr lang="en-GB" cap="none" dirty="0" err="1">
                <a:solidFill>
                  <a:schemeClr val="bg1"/>
                </a:solidFill>
              </a:rPr>
              <a:t>er</a:t>
            </a:r>
            <a:endParaRPr lang="en-GB" dirty="0">
              <a:solidFill>
                <a:schemeClr val="bg1"/>
              </a:solidFill>
            </a:endParaRPr>
          </a:p>
        </p:txBody>
      </p:sp>
      <p:sp>
        <p:nvSpPr>
          <p:cNvPr id="5" name="Speech Bubble: Rectangle 4">
            <a:extLst>
              <a:ext uri="{FF2B5EF4-FFF2-40B4-BE49-F238E27FC236}">
                <a16:creationId xmlns:a16="http://schemas.microsoft.com/office/drawing/2014/main" id="{68993BD5-E96D-4564-87B9-E78F2A76CC04}"/>
              </a:ext>
            </a:extLst>
          </p:cNvPr>
          <p:cNvSpPr/>
          <p:nvPr/>
        </p:nvSpPr>
        <p:spPr>
          <a:xfrm>
            <a:off x="2129441" y="558344"/>
            <a:ext cx="8373539" cy="3672407"/>
          </a:xfrm>
          <a:prstGeom prst="wedgeRectCallout">
            <a:avLst>
              <a:gd name="adj1" fmla="val 36167"/>
              <a:gd name="adj2" fmla="val 62983"/>
            </a:avLst>
          </a:prstGeom>
          <a:noFill/>
          <a:ln w="57150">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14313" indent="-214313">
              <a:buFont typeface="Arial" panose="020B0604020202020204" pitchFamily="34" charset="0"/>
              <a:buChar char="•"/>
            </a:pPr>
            <a:r>
              <a:rPr lang="en-GB" sz="2000" dirty="0"/>
              <a:t>List 5 hazards related to ICT that should be addressed by an employer.</a:t>
            </a:r>
          </a:p>
          <a:p>
            <a:pPr marL="214313" indent="-214313">
              <a:buFont typeface="Arial" panose="020B0604020202020204" pitchFamily="34" charset="0"/>
              <a:buChar char="•"/>
            </a:pPr>
            <a:r>
              <a:rPr lang="en-GB" sz="2000" dirty="0"/>
              <a:t>Surmise how employers can address these issues in the workplace</a:t>
            </a:r>
          </a:p>
          <a:p>
            <a:pPr marL="214313" indent="-214313">
              <a:buFont typeface="Arial" panose="020B0604020202020204" pitchFamily="34" charset="0"/>
              <a:buChar char="•"/>
            </a:pPr>
            <a:r>
              <a:rPr lang="en-GB" sz="2000" dirty="0"/>
              <a:t>Explain the Term “Teleworking”</a:t>
            </a:r>
          </a:p>
          <a:p>
            <a:pPr marL="214313" indent="-214313">
              <a:buFont typeface="Arial" panose="020B0604020202020204" pitchFamily="34" charset="0"/>
              <a:buChar char="•"/>
            </a:pPr>
            <a:r>
              <a:rPr lang="en-GB" sz="2000" dirty="0"/>
              <a:t>Give three examples of health problems associated with teleworking</a:t>
            </a:r>
          </a:p>
          <a:p>
            <a:pPr marL="214313" indent="-214313">
              <a:buFont typeface="Arial" panose="020B0604020202020204" pitchFamily="34" charset="0"/>
              <a:buChar char="•"/>
            </a:pPr>
            <a:r>
              <a:rPr lang="en-GB" sz="2000" dirty="0"/>
              <a:t>Describe the causes, symptoms and prevention of Deep Vein Thrombosis</a:t>
            </a:r>
          </a:p>
          <a:p>
            <a:endParaRPr lang="en-GB" dirty="0"/>
          </a:p>
          <a:p>
            <a:pPr algn="ctr"/>
            <a:r>
              <a:rPr lang="en-GB" dirty="0"/>
              <a:t> </a:t>
            </a:r>
          </a:p>
        </p:txBody>
      </p:sp>
      <p:pic>
        <p:nvPicPr>
          <p:cNvPr id="4" name="Content Placeholder 1">
            <a:extLst>
              <a:ext uri="{FF2B5EF4-FFF2-40B4-BE49-F238E27FC236}">
                <a16:creationId xmlns:a16="http://schemas.microsoft.com/office/drawing/2014/main" id="{4E13202A-6AB1-4326-A914-CAD023A42BE4}"/>
              </a:ext>
            </a:extLst>
          </p:cNvPr>
          <p:cNvPicPr>
            <a:picLocks noGrp="1" noChangeAspect="1"/>
          </p:cNvPicPr>
          <p:nvPr/>
        </p:nvPicPr>
        <p:blipFill>
          <a:blip r:embed="rId2" cstate="print">
            <a:extLst>
              <a:ext uri="{28A0092B-C50C-407E-A947-70E740481C1C}">
                <a14:useLocalDpi xmlns:a14="http://schemas.microsoft.com/office/drawing/2010/main" val="0"/>
              </a:ext>
            </a:extLst>
          </a:blip>
          <a:stretch>
            <a:fillRect/>
          </a:stretch>
        </p:blipFill>
        <p:spPr>
          <a:xfrm>
            <a:off x="8826025" y="4349977"/>
            <a:ext cx="1871929" cy="2510789"/>
          </a:xfrm>
          <a:prstGeom prst="rect">
            <a:avLst/>
          </a:prstGeom>
        </p:spPr>
      </p:pic>
    </p:spTree>
    <p:extLst>
      <p:ext uri="{BB962C8B-B14F-4D97-AF65-F5344CB8AC3E}">
        <p14:creationId xmlns:p14="http://schemas.microsoft.com/office/powerpoint/2010/main" val="116483512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par>
                          <p:cTn id="9" fill="hold">
                            <p:stCondLst>
                              <p:cond delay="500"/>
                            </p:stCondLst>
                            <p:childTnLst>
                              <p:par>
                                <p:cTn id="10" presetID="2" presetClass="entr" presetSubtype="6" fill="hold" grpId="0" nodeType="afterEffect">
                                  <p:stCondLst>
                                    <p:cond delay="0"/>
                                  </p:stCondLst>
                                  <p:childTnLst>
                                    <p:set>
                                      <p:cBhvr>
                                        <p:cTn id="11" dur="1" fill="hold">
                                          <p:stCondLst>
                                            <p:cond delay="0"/>
                                          </p:stCondLst>
                                        </p:cTn>
                                        <p:tgtEl>
                                          <p:spTgt spid="5"/>
                                        </p:tgtEl>
                                        <p:attrNameLst>
                                          <p:attrName>style.visibility</p:attrName>
                                        </p:attrNameLst>
                                      </p:cBhvr>
                                      <p:to>
                                        <p:strVal val="visible"/>
                                      </p:to>
                                    </p:set>
                                    <p:anim calcmode="lin" valueType="num">
                                      <p:cBhvr additive="base">
                                        <p:cTn id="12" dur="500" fill="hold"/>
                                        <p:tgtEl>
                                          <p:spTgt spid="5"/>
                                        </p:tgtEl>
                                        <p:attrNameLst>
                                          <p:attrName>ppt_x</p:attrName>
                                        </p:attrNameLst>
                                      </p:cBhvr>
                                      <p:tavLst>
                                        <p:tav tm="0">
                                          <p:val>
                                            <p:strVal val="1+#ppt_w/2"/>
                                          </p:val>
                                        </p:tav>
                                        <p:tav tm="100000">
                                          <p:val>
                                            <p:strVal val="#ppt_x"/>
                                          </p:val>
                                        </p:tav>
                                      </p:tavLst>
                                    </p:anim>
                                    <p:anim calcmode="lin" valueType="num">
                                      <p:cBhvr additive="base">
                                        <p:cTn id="13" dur="500" fill="hold"/>
                                        <p:tgtEl>
                                          <p:spTgt spid="5"/>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58.xml><?xml version="1.0" encoding="utf-8"?>
<p:sld xmlns:a="http://schemas.openxmlformats.org/drawingml/2006/main" xmlns:r="http://schemas.openxmlformats.org/officeDocument/2006/relationships" xmlns:p="http://schemas.openxmlformats.org/presentationml/2006/main">
  <p:cSld>
    <p:bg>
      <p:bgPr>
        <a:gradFill flip="none" rotWithShape="1">
          <a:gsLst>
            <a:gs pos="98000">
              <a:srgbClr val="000A1E"/>
            </a:gs>
            <a:gs pos="0">
              <a:srgbClr val="002060"/>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A1A355-F209-4099-8849-B6DE30ADD0C8}"/>
              </a:ext>
            </a:extLst>
          </p:cNvPr>
          <p:cNvSpPr>
            <a:spLocks noGrp="1"/>
          </p:cNvSpPr>
          <p:nvPr>
            <p:ph type="title"/>
          </p:nvPr>
        </p:nvSpPr>
        <p:spPr/>
        <p:txBody>
          <a:bodyPr/>
          <a:lstStyle/>
          <a:p>
            <a:r>
              <a:rPr lang="en-GB" dirty="0">
                <a:solidFill>
                  <a:schemeClr val="bg1">
                    <a:lumMod val="85000"/>
                  </a:schemeClr>
                </a:solidFill>
              </a:rPr>
              <a:t>Checkpoint</a:t>
            </a:r>
          </a:p>
        </p:txBody>
      </p:sp>
      <p:sp>
        <p:nvSpPr>
          <p:cNvPr id="3" name="Content Placeholder 2">
            <a:extLst>
              <a:ext uri="{FF2B5EF4-FFF2-40B4-BE49-F238E27FC236}">
                <a16:creationId xmlns:a16="http://schemas.microsoft.com/office/drawing/2014/main" id="{C87737E0-449C-4CCB-9F0B-3F27A82AF0A9}"/>
              </a:ext>
            </a:extLst>
          </p:cNvPr>
          <p:cNvSpPr>
            <a:spLocks noGrp="1"/>
          </p:cNvSpPr>
          <p:nvPr>
            <p:ph idx="1"/>
          </p:nvPr>
        </p:nvSpPr>
        <p:spPr/>
        <p:txBody>
          <a:bodyPr>
            <a:normAutofit/>
          </a:bodyPr>
          <a:lstStyle/>
          <a:p>
            <a:endParaRPr lang="en-GB" dirty="0"/>
          </a:p>
          <a:p>
            <a:r>
              <a:rPr lang="en-GB" dirty="0">
                <a:solidFill>
                  <a:schemeClr val="bg1">
                    <a:lumMod val="85000"/>
                  </a:schemeClr>
                </a:solidFill>
              </a:rPr>
              <a:t>Health problems associated with the regular use of computers include RSI, back strain and eye strain.</a:t>
            </a:r>
          </a:p>
          <a:p>
            <a:r>
              <a:rPr lang="en-GB" dirty="0">
                <a:solidFill>
                  <a:schemeClr val="bg1">
                    <a:lumMod val="85000"/>
                  </a:schemeClr>
                </a:solidFill>
              </a:rPr>
              <a:t>By using ergonomically designed furniture, we can help to reduce these risks.</a:t>
            </a:r>
          </a:p>
          <a:p>
            <a:r>
              <a:rPr lang="en-GB" dirty="0">
                <a:solidFill>
                  <a:schemeClr val="bg1">
                    <a:lumMod val="85000"/>
                  </a:schemeClr>
                </a:solidFill>
              </a:rPr>
              <a:t>Employers have an obligation to provide a safe working environment for employers, whether or not the work is conducted at home (teleworking), or in the office.</a:t>
            </a:r>
          </a:p>
          <a:p>
            <a:r>
              <a:rPr lang="en-GB" dirty="0">
                <a:solidFill>
                  <a:schemeClr val="bg1">
                    <a:lumMod val="85000"/>
                  </a:schemeClr>
                </a:solidFill>
              </a:rPr>
              <a:t>The Health and Safety at Work etc. Act 1974 states this responsibility. </a:t>
            </a:r>
          </a:p>
        </p:txBody>
      </p:sp>
      <p:pic>
        <p:nvPicPr>
          <p:cNvPr id="1028" name="Picture 4" descr="Image result for checkpoint icon">
            <a:extLst>
              <a:ext uri="{FF2B5EF4-FFF2-40B4-BE49-F238E27FC236}">
                <a16:creationId xmlns:a16="http://schemas.microsoft.com/office/drawing/2014/main" id="{7A1E6C44-5C13-48D0-B1EE-795016810C85}"/>
              </a:ext>
            </a:extLst>
          </p:cNvPr>
          <p:cNvPicPr>
            <a:picLocks noChangeAspect="1" noChangeArrowheads="1"/>
          </p:cNvPicPr>
          <p:nvPr/>
        </p:nvPicPr>
        <p:blipFill>
          <a:blip r:embed="rId2">
            <a:duotone>
              <a:schemeClr val="accent5">
                <a:shade val="45000"/>
                <a:satMod val="135000"/>
              </a:schemeClr>
              <a:prstClr val="white"/>
            </a:duotone>
            <a:extLst>
              <a:ext uri="{BEBA8EAE-BF5A-486C-A8C5-ECC9F3942E4B}">
                <a14:imgProps xmlns:a14="http://schemas.microsoft.com/office/drawing/2010/main">
                  <a14:imgLayer r:embed="rId3">
                    <a14:imgEffect>
                      <a14:backgroundRemoval t="2667" b="95556" l="9778" r="89778">
                        <a14:foregroundMark x1="30667" y1="40889" x2="32000" y2="48444"/>
                        <a14:foregroundMark x1="34667" y1="95111" x2="33333" y2="95556"/>
                        <a14:foregroundMark x1="45333" y1="7111" x2="48000" y2="7111"/>
                        <a14:foregroundMark x1="34222" y1="2667" x2="32889" y2="2667"/>
                      </a14:backgroundRemoval>
                    </a14:imgEffect>
                  </a14:imgLayer>
                </a14:imgProps>
              </a:ext>
              <a:ext uri="{28A0092B-C50C-407E-A947-70E740481C1C}">
                <a14:useLocalDpi xmlns:a14="http://schemas.microsoft.com/office/drawing/2010/main" val="0"/>
              </a:ext>
            </a:extLst>
          </a:blip>
          <a:srcRect/>
          <a:stretch>
            <a:fillRect/>
          </a:stretch>
        </p:blipFill>
        <p:spPr bwMode="auto">
          <a:xfrm>
            <a:off x="8976321" y="317211"/>
            <a:ext cx="1384587" cy="138458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2732406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Effect transition="in" filter="barn(inVertical)">
                                      <p:cBhvr>
                                        <p:cTn id="7" dur="500"/>
                                        <p:tgtEl>
                                          <p:spTgt spid="3">
                                            <p:txEl>
                                              <p:pRg st="1" end="1"/>
                                            </p:txEl>
                                          </p:spTgt>
                                        </p:tgtEl>
                                      </p:cBhvr>
                                    </p:animEffect>
                                  </p:childTnLst>
                                </p:cTn>
                              </p:par>
                            </p:childTnLst>
                          </p:cTn>
                        </p:par>
                      </p:childTnLst>
                    </p:cTn>
                  </p:par>
                  <p:par>
                    <p:cTn id="8" fill="hold">
                      <p:stCondLst>
                        <p:cond delay="indefinite"/>
                      </p:stCondLst>
                      <p:childTnLst>
                        <p:par>
                          <p:cTn id="9" fill="hold">
                            <p:stCondLst>
                              <p:cond delay="0"/>
                            </p:stCondLst>
                            <p:childTnLst>
                              <p:par>
                                <p:cTn id="10" presetID="16" presetClass="entr" presetSubtype="21"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barn(inVertical)">
                                      <p:cBhvr>
                                        <p:cTn id="12" dur="50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6" presetClass="entr" presetSubtype="21"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barn(inVertical)">
                                      <p:cBhvr>
                                        <p:cTn id="17" dur="500"/>
                                        <p:tgtEl>
                                          <p:spTgt spid="3">
                                            <p:txEl>
                                              <p:pRg st="3" end="3"/>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6" presetClass="entr" presetSubtype="21" fill="hold" nodeType="clickEffect">
                                  <p:stCondLst>
                                    <p:cond delay="0"/>
                                  </p:stCondLst>
                                  <p:childTnLst>
                                    <p:set>
                                      <p:cBhvr>
                                        <p:cTn id="21" dur="1" fill="hold">
                                          <p:stCondLst>
                                            <p:cond delay="0"/>
                                          </p:stCondLst>
                                        </p:cTn>
                                        <p:tgtEl>
                                          <p:spTgt spid="3">
                                            <p:txEl>
                                              <p:pRg st="4" end="4"/>
                                            </p:txEl>
                                          </p:spTgt>
                                        </p:tgtEl>
                                        <p:attrNameLst>
                                          <p:attrName>style.visibility</p:attrName>
                                        </p:attrNameLst>
                                      </p:cBhvr>
                                      <p:to>
                                        <p:strVal val="visible"/>
                                      </p:to>
                                    </p:set>
                                    <p:animEffect transition="in" filter="barn(inVertical)">
                                      <p:cBhvr>
                                        <p:cTn id="22" dur="5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9.xml><?xml version="1.0" encoding="utf-8"?>
<p:sld xmlns:a="http://schemas.openxmlformats.org/drawingml/2006/main" xmlns:r="http://schemas.openxmlformats.org/officeDocument/2006/relationships" xmlns:p="http://schemas.openxmlformats.org/presentationml/2006/main">
  <p:cSld>
    <p:bg>
      <p:bgPr>
        <a:solidFill>
          <a:schemeClr val="accent5">
            <a:lumMod val="50000"/>
          </a:schemeClr>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3922336" cy="1325563"/>
          </a:xfrm>
        </p:spPr>
        <p:txBody>
          <a:bodyPr/>
          <a:lstStyle/>
          <a:p>
            <a:r>
              <a:rPr lang="en-GB" dirty="0">
                <a:solidFill>
                  <a:schemeClr val="bg1"/>
                </a:solidFill>
              </a:rPr>
              <a:t>Internet Misuse</a:t>
            </a:r>
          </a:p>
        </p:txBody>
      </p:sp>
      <p:sp>
        <p:nvSpPr>
          <p:cNvPr id="3" name="Content Placeholder 2"/>
          <p:cNvSpPr>
            <a:spLocks noGrp="1"/>
          </p:cNvSpPr>
          <p:nvPr>
            <p:ph idx="1"/>
          </p:nvPr>
        </p:nvSpPr>
        <p:spPr>
          <a:xfrm>
            <a:off x="9002598" y="3866526"/>
            <a:ext cx="3073138" cy="2906631"/>
          </a:xfrm>
          <a:solidFill>
            <a:schemeClr val="tx1"/>
          </a:solidFill>
          <a:ln w="76200">
            <a:solidFill>
              <a:srgbClr val="FF0000"/>
            </a:solidFill>
          </a:ln>
        </p:spPr>
        <p:txBody>
          <a:bodyPr>
            <a:normAutofit fontScale="62500" lnSpcReduction="20000"/>
          </a:bodyPr>
          <a:lstStyle/>
          <a:p>
            <a:endParaRPr lang="en-GB" sz="1300" dirty="0">
              <a:solidFill>
                <a:schemeClr val="bg1"/>
              </a:solidFill>
            </a:endParaRPr>
          </a:p>
          <a:p>
            <a:r>
              <a:rPr lang="en-GB" dirty="0">
                <a:solidFill>
                  <a:schemeClr val="bg1"/>
                </a:solidFill>
              </a:rPr>
              <a:t>describe the ethical impact of technology on society, referring to the following: </a:t>
            </a:r>
          </a:p>
          <a:p>
            <a:pPr lvl="1"/>
            <a:r>
              <a:rPr lang="en-GB" dirty="0">
                <a:solidFill>
                  <a:srgbClr val="FFFF00"/>
                </a:solidFill>
              </a:rPr>
              <a:t>internet misuse; </a:t>
            </a:r>
          </a:p>
          <a:p>
            <a:pPr lvl="1"/>
            <a:r>
              <a:rPr lang="en-GB" dirty="0">
                <a:solidFill>
                  <a:schemeClr val="bg1"/>
                </a:solidFill>
              </a:rPr>
              <a:t>access to personal information; </a:t>
            </a:r>
          </a:p>
          <a:p>
            <a:pPr lvl="1"/>
            <a:r>
              <a:rPr lang="en-GB" dirty="0">
                <a:solidFill>
                  <a:schemeClr val="bg1"/>
                </a:solidFill>
              </a:rPr>
              <a:t>social media misuse; </a:t>
            </a:r>
          </a:p>
          <a:p>
            <a:pPr lvl="1"/>
            <a:r>
              <a:rPr lang="en-GB" dirty="0">
                <a:solidFill>
                  <a:schemeClr val="bg1"/>
                </a:solidFill>
              </a:rPr>
              <a:t>the implications of global positioning system (GPS) and tracking; </a:t>
            </a:r>
          </a:p>
          <a:p>
            <a:pPr lvl="1"/>
            <a:r>
              <a:rPr lang="en-GB" dirty="0">
                <a:solidFill>
                  <a:schemeClr val="bg1"/>
                </a:solidFill>
              </a:rPr>
              <a:t>concerns about the security of personal data.</a:t>
            </a:r>
          </a:p>
        </p:txBody>
      </p:sp>
      <p:sp>
        <p:nvSpPr>
          <p:cNvPr id="4" name="TextBox 3"/>
          <p:cNvSpPr txBox="1"/>
          <p:nvPr/>
        </p:nvSpPr>
        <p:spPr>
          <a:xfrm>
            <a:off x="-1" y="1435953"/>
            <a:ext cx="8936611" cy="5078313"/>
          </a:xfrm>
          <a:prstGeom prst="rect">
            <a:avLst/>
          </a:prstGeom>
          <a:noFill/>
        </p:spPr>
        <p:txBody>
          <a:bodyPr wrap="square" rtlCol="0">
            <a:spAutoFit/>
          </a:bodyPr>
          <a:lstStyle/>
          <a:p>
            <a:pPr marL="285750" indent="-285750">
              <a:buFont typeface="Arial" panose="020B0604020202020204" pitchFamily="34" charset="0"/>
              <a:buChar char="•"/>
            </a:pPr>
            <a:r>
              <a:rPr lang="en-GB" dirty="0">
                <a:solidFill>
                  <a:schemeClr val="bg1"/>
                </a:solidFill>
              </a:rPr>
              <a:t>Think about the following situations and think about whether it is right or wrong:</a:t>
            </a:r>
          </a:p>
          <a:p>
            <a:pPr marL="742950" lvl="1" indent="-285750">
              <a:buFont typeface="Arial" panose="020B0604020202020204" pitchFamily="34" charset="0"/>
              <a:buChar char="•"/>
            </a:pPr>
            <a:r>
              <a:rPr lang="en-GB" dirty="0">
                <a:solidFill>
                  <a:schemeClr val="bg1"/>
                </a:solidFill>
              </a:rPr>
              <a:t>Copying work from a website and using it as your own </a:t>
            </a:r>
          </a:p>
          <a:p>
            <a:pPr marL="742950" lvl="1" indent="-285750">
              <a:buFont typeface="Arial" panose="020B0604020202020204" pitchFamily="34" charset="0"/>
              <a:buChar char="•"/>
            </a:pPr>
            <a:r>
              <a:rPr lang="en-GB" dirty="0">
                <a:solidFill>
                  <a:schemeClr val="bg1"/>
                </a:solidFill>
              </a:rPr>
              <a:t>Copying a CD you have bought for a friend </a:t>
            </a:r>
          </a:p>
          <a:p>
            <a:pPr marL="742950" lvl="1" indent="-285750">
              <a:buFont typeface="Arial" panose="020B0604020202020204" pitchFamily="34" charset="0"/>
              <a:buChar char="•"/>
            </a:pPr>
            <a:r>
              <a:rPr lang="en-GB" dirty="0">
                <a:solidFill>
                  <a:schemeClr val="bg1"/>
                </a:solidFill>
              </a:rPr>
              <a:t>Spreading malicious rumours about someone online </a:t>
            </a:r>
          </a:p>
          <a:p>
            <a:pPr marL="742950" lvl="1" indent="-285750">
              <a:buFont typeface="Arial" panose="020B0604020202020204" pitchFamily="34" charset="0"/>
              <a:buChar char="•"/>
            </a:pPr>
            <a:r>
              <a:rPr lang="en-GB" dirty="0">
                <a:solidFill>
                  <a:schemeClr val="bg1"/>
                </a:solidFill>
              </a:rPr>
              <a:t>Using someone else’s password </a:t>
            </a:r>
          </a:p>
          <a:p>
            <a:pPr marL="742950" lvl="1" indent="-285750">
              <a:buFont typeface="Arial" panose="020B0604020202020204" pitchFamily="34" charset="0"/>
              <a:buChar char="•"/>
            </a:pPr>
            <a:r>
              <a:rPr lang="en-GB" dirty="0">
                <a:solidFill>
                  <a:schemeClr val="bg1"/>
                </a:solidFill>
              </a:rPr>
              <a:t>Taking and distributing a picture of someone with the purpose of embarrassing them </a:t>
            </a:r>
          </a:p>
          <a:p>
            <a:pPr marL="285750" indent="-285750">
              <a:buFont typeface="Arial" panose="020B0604020202020204" pitchFamily="34" charset="0"/>
              <a:buChar char="•"/>
            </a:pPr>
            <a:endParaRPr lang="en-GB" dirty="0">
              <a:solidFill>
                <a:schemeClr val="bg1"/>
              </a:solidFill>
            </a:endParaRPr>
          </a:p>
          <a:p>
            <a:pPr marL="285750" indent="-285750">
              <a:buFont typeface="Arial" panose="020B0604020202020204" pitchFamily="34" charset="0"/>
              <a:buChar char="•"/>
            </a:pPr>
            <a:r>
              <a:rPr lang="en-GB" u="sng" dirty="0">
                <a:solidFill>
                  <a:schemeClr val="bg1"/>
                </a:solidFill>
              </a:rPr>
              <a:t>Ethical Issues</a:t>
            </a:r>
            <a:r>
              <a:rPr lang="en-GB" dirty="0">
                <a:solidFill>
                  <a:schemeClr val="bg1"/>
                </a:solidFill>
              </a:rPr>
              <a:t>: Your sense of what is right and what is wrong. </a:t>
            </a:r>
          </a:p>
          <a:p>
            <a:pPr marL="285750" indent="-285750">
              <a:buFont typeface="Arial" panose="020B0604020202020204" pitchFamily="34" charset="0"/>
              <a:buChar char="•"/>
            </a:pPr>
            <a:endParaRPr lang="en-GB" dirty="0">
              <a:solidFill>
                <a:schemeClr val="bg1"/>
              </a:solidFill>
            </a:endParaRPr>
          </a:p>
          <a:p>
            <a:pPr marL="285750" indent="-285750">
              <a:buFont typeface="Arial" panose="020B0604020202020204" pitchFamily="34" charset="0"/>
              <a:buChar char="•"/>
            </a:pPr>
            <a:r>
              <a:rPr lang="en-GB" u="sng" dirty="0">
                <a:solidFill>
                  <a:schemeClr val="bg1"/>
                </a:solidFill>
              </a:rPr>
              <a:t>Plagiarism</a:t>
            </a:r>
            <a:r>
              <a:rPr lang="en-GB" dirty="0">
                <a:solidFill>
                  <a:schemeClr val="bg1"/>
                </a:solidFill>
              </a:rPr>
              <a:t>: The internet is an excellent source of information on almost anything you want to find out about. The problem is that it is all too easy for someone to copy work from the internet and use it as their own. Educators also have a big issue with </a:t>
            </a:r>
            <a:r>
              <a:rPr lang="en-GB" b="1" dirty="0">
                <a:solidFill>
                  <a:schemeClr val="bg1"/>
                </a:solidFill>
              </a:rPr>
              <a:t>plagiarism</a:t>
            </a:r>
            <a:r>
              <a:rPr lang="en-GB" dirty="0">
                <a:solidFill>
                  <a:schemeClr val="bg1"/>
                </a:solidFill>
              </a:rPr>
              <a:t> in schools and universities as students can easily copy work from the internet and try to pass it off as their own.</a:t>
            </a:r>
          </a:p>
          <a:p>
            <a:pPr marL="285750" indent="-285750">
              <a:buFont typeface="Arial" panose="020B0604020202020204" pitchFamily="34" charset="0"/>
              <a:buChar char="•"/>
            </a:pPr>
            <a:endParaRPr lang="en-GB" dirty="0">
              <a:solidFill>
                <a:schemeClr val="bg1"/>
              </a:solidFill>
            </a:endParaRPr>
          </a:p>
          <a:p>
            <a:pPr marL="285750" indent="-285750">
              <a:buFont typeface="Arial" panose="020B0604020202020204" pitchFamily="34" charset="0"/>
              <a:buChar char="•"/>
            </a:pPr>
            <a:r>
              <a:rPr lang="en-GB" b="1" u="sng" dirty="0">
                <a:solidFill>
                  <a:schemeClr val="bg1"/>
                </a:solidFill>
              </a:rPr>
              <a:t>Hackers</a:t>
            </a:r>
            <a:r>
              <a:rPr lang="en-GB" dirty="0">
                <a:solidFill>
                  <a:schemeClr val="bg1"/>
                </a:solidFill>
              </a:rPr>
              <a:t> can misuse the internet to gain unauthorised access to personal and/or private data. Another problem with internet misuse is the spread of </a:t>
            </a:r>
            <a:r>
              <a:rPr lang="en-GB" b="1" dirty="0">
                <a:solidFill>
                  <a:schemeClr val="bg1"/>
                </a:solidFill>
              </a:rPr>
              <a:t>viruses</a:t>
            </a:r>
            <a:r>
              <a:rPr lang="en-GB" dirty="0">
                <a:solidFill>
                  <a:schemeClr val="bg1"/>
                </a:solidFill>
              </a:rPr>
              <a:t>. Viruses don’t happen accidentally. </a:t>
            </a:r>
          </a:p>
        </p:txBody>
      </p:sp>
      <p:grpSp>
        <p:nvGrpSpPr>
          <p:cNvPr id="6" name="Group 5"/>
          <p:cNvGrpSpPr/>
          <p:nvPr/>
        </p:nvGrpSpPr>
        <p:grpSpPr>
          <a:xfrm>
            <a:off x="9149499" y="154648"/>
            <a:ext cx="2926237" cy="2843079"/>
            <a:chOff x="8948786" y="173501"/>
            <a:chExt cx="2926237" cy="2843079"/>
          </a:xfrm>
        </p:grpSpPr>
        <p:sp>
          <p:nvSpPr>
            <p:cNvPr id="7" name="Pentagon 6"/>
            <p:cNvSpPr/>
            <p:nvPr/>
          </p:nvSpPr>
          <p:spPr>
            <a:xfrm rot="5400000">
              <a:off x="9294134" y="696304"/>
              <a:ext cx="2254981" cy="2385571"/>
            </a:xfrm>
            <a:prstGeom prst="homePlate">
              <a:avLst/>
            </a:prstGeom>
            <a:solidFill>
              <a:schemeClr val="bg1">
                <a:lumMod val="95000"/>
              </a:schemeClr>
            </a:solidFill>
            <a:ln w="762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vert="vert270" rtlCol="0" anchor="ctr"/>
            <a:lstStyle/>
            <a:p>
              <a:pPr algn="ctr"/>
              <a:endParaRPr lang="en-GB" dirty="0">
                <a:solidFill>
                  <a:srgbClr val="00B0F0"/>
                </a:solidFill>
                <a:latin typeface="Berlin Sans FB Demi" panose="020E0802020502020306" pitchFamily="34" charset="0"/>
              </a:endParaRPr>
            </a:p>
            <a:p>
              <a:pPr algn="ctr"/>
              <a:endParaRPr lang="en-GB" sz="1600" dirty="0">
                <a:solidFill>
                  <a:srgbClr val="00B0F0"/>
                </a:solidFill>
                <a:latin typeface="Berlin Sans FB Demi" panose="020E0802020502020306" pitchFamily="34" charset="0"/>
              </a:endParaRPr>
            </a:p>
            <a:p>
              <a:pPr algn="ctr"/>
              <a:r>
                <a:rPr lang="en-GB" dirty="0">
                  <a:solidFill>
                    <a:srgbClr val="00B0F0"/>
                  </a:solidFill>
                  <a:latin typeface="Berlin Sans FB Demi" panose="020E0802020502020306" pitchFamily="34" charset="0"/>
                </a:rPr>
                <a:t>ETHICAL ISSUES</a:t>
              </a:r>
            </a:p>
            <a:p>
              <a:pPr algn="ctr"/>
              <a:endParaRPr lang="en-GB" dirty="0">
                <a:solidFill>
                  <a:srgbClr val="00B0F0"/>
                </a:solidFill>
                <a:latin typeface="Berlin Sans FB Demi" panose="020E0802020502020306" pitchFamily="34" charset="0"/>
              </a:endParaRPr>
            </a:p>
            <a:p>
              <a:pPr algn="ctr"/>
              <a:r>
                <a:rPr lang="en-GB" dirty="0">
                  <a:solidFill>
                    <a:srgbClr val="00B0F0"/>
                  </a:solidFill>
                  <a:latin typeface="Berlin Sans FB Demi" panose="020E0802020502020306" pitchFamily="34" charset="0"/>
                </a:rPr>
                <a:t>PLAGAIRISM</a:t>
              </a:r>
            </a:p>
            <a:p>
              <a:pPr algn="ctr"/>
              <a:endParaRPr lang="en-GB" dirty="0">
                <a:solidFill>
                  <a:srgbClr val="00B0F0"/>
                </a:solidFill>
                <a:latin typeface="Berlin Sans FB Demi" panose="020E0802020502020306" pitchFamily="34" charset="0"/>
              </a:endParaRPr>
            </a:p>
            <a:p>
              <a:pPr algn="ctr"/>
              <a:r>
                <a:rPr lang="en-GB" dirty="0">
                  <a:solidFill>
                    <a:srgbClr val="00B0F0"/>
                  </a:solidFill>
                  <a:latin typeface="Berlin Sans FB Demi" panose="020E0802020502020306" pitchFamily="34" charset="0"/>
                </a:rPr>
                <a:t>HACKERS</a:t>
              </a:r>
            </a:p>
          </p:txBody>
        </p:sp>
        <p:pic>
          <p:nvPicPr>
            <p:cNvPr id="8" name="Picture 2" descr="Missing Comma With a Non-Restrictive Element by jasleengil on emaze"/>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948786" y="173501"/>
              <a:ext cx="2926237" cy="1123577"/>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1970778488"/>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rgbClr val="002060"/>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solidFill>
                  <a:schemeClr val="bg1"/>
                </a:solidFill>
              </a:rPr>
              <a:t>Access to Personal Information</a:t>
            </a:r>
          </a:p>
        </p:txBody>
      </p:sp>
      <p:sp>
        <p:nvSpPr>
          <p:cNvPr id="3" name="Content Placeholder 2"/>
          <p:cNvSpPr>
            <a:spLocks noGrp="1"/>
          </p:cNvSpPr>
          <p:nvPr>
            <p:ph idx="1"/>
          </p:nvPr>
        </p:nvSpPr>
        <p:spPr>
          <a:xfrm>
            <a:off x="838200" y="2526383"/>
            <a:ext cx="7721338" cy="3864989"/>
          </a:xfrm>
        </p:spPr>
        <p:txBody>
          <a:bodyPr>
            <a:normAutofit/>
          </a:bodyPr>
          <a:lstStyle/>
          <a:p>
            <a:r>
              <a:rPr lang="en-GB" b="1" dirty="0">
                <a:solidFill>
                  <a:schemeClr val="bg1"/>
                </a:solidFill>
              </a:rPr>
              <a:t>Identity Theft</a:t>
            </a:r>
            <a:r>
              <a:rPr lang="en-GB" dirty="0">
                <a:solidFill>
                  <a:schemeClr val="bg1"/>
                </a:solidFill>
              </a:rPr>
              <a:t>: This has become an alarmingly increasing problem in society today. </a:t>
            </a:r>
          </a:p>
          <a:p>
            <a:r>
              <a:rPr lang="en-GB" dirty="0">
                <a:solidFill>
                  <a:schemeClr val="bg1"/>
                </a:solidFill>
              </a:rPr>
              <a:t>People tend to post a lot of personal information about themselves on various different social media platforms. </a:t>
            </a:r>
          </a:p>
          <a:p>
            <a:r>
              <a:rPr lang="en-GB" dirty="0">
                <a:solidFill>
                  <a:schemeClr val="bg1"/>
                </a:solidFill>
              </a:rPr>
              <a:t>This makes it very easy for someone else to effectively steal their information in order to use them to create a bank account, get a credit card etc.</a:t>
            </a:r>
          </a:p>
        </p:txBody>
      </p:sp>
      <p:sp>
        <p:nvSpPr>
          <p:cNvPr id="4" name="Content Placeholder 2"/>
          <p:cNvSpPr txBox="1">
            <a:spLocks/>
          </p:cNvSpPr>
          <p:nvPr/>
        </p:nvSpPr>
        <p:spPr>
          <a:xfrm>
            <a:off x="9002598" y="3866526"/>
            <a:ext cx="3073138" cy="2906631"/>
          </a:xfrm>
          <a:prstGeom prst="rect">
            <a:avLst/>
          </a:prstGeom>
          <a:solidFill>
            <a:schemeClr val="tx1"/>
          </a:solidFill>
          <a:ln w="76200">
            <a:solidFill>
              <a:srgbClr val="FF0000"/>
            </a:solidFill>
          </a:ln>
        </p:spPr>
        <p:txBody>
          <a:bodyPr vert="horz" lIns="91440" tIns="45720" rIns="91440" bIns="45720" rtlCol="0">
            <a:normAutofit fontScale="62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GB" sz="1300" dirty="0">
              <a:solidFill>
                <a:schemeClr val="bg1"/>
              </a:solidFill>
            </a:endParaRPr>
          </a:p>
          <a:p>
            <a:r>
              <a:rPr lang="en-GB" dirty="0">
                <a:solidFill>
                  <a:schemeClr val="bg1"/>
                </a:solidFill>
              </a:rPr>
              <a:t>describe the ethical impact of technology on society, referring to the following: </a:t>
            </a:r>
          </a:p>
          <a:p>
            <a:pPr lvl="1"/>
            <a:r>
              <a:rPr lang="en-GB" dirty="0">
                <a:solidFill>
                  <a:schemeClr val="bg1"/>
                </a:solidFill>
              </a:rPr>
              <a:t>internet misuse; </a:t>
            </a:r>
          </a:p>
          <a:p>
            <a:pPr lvl="1"/>
            <a:r>
              <a:rPr lang="en-GB" dirty="0">
                <a:solidFill>
                  <a:srgbClr val="FFFF00"/>
                </a:solidFill>
              </a:rPr>
              <a:t>access to personal information; </a:t>
            </a:r>
          </a:p>
          <a:p>
            <a:pPr lvl="1"/>
            <a:r>
              <a:rPr lang="en-GB" dirty="0">
                <a:solidFill>
                  <a:schemeClr val="bg1"/>
                </a:solidFill>
              </a:rPr>
              <a:t>social media misuse; </a:t>
            </a:r>
          </a:p>
          <a:p>
            <a:pPr lvl="1"/>
            <a:r>
              <a:rPr lang="en-GB" dirty="0">
                <a:solidFill>
                  <a:schemeClr val="bg1"/>
                </a:solidFill>
              </a:rPr>
              <a:t>the implications of global positioning system (GPS) and tracking; </a:t>
            </a:r>
          </a:p>
          <a:p>
            <a:pPr lvl="1"/>
            <a:r>
              <a:rPr lang="en-GB" dirty="0">
                <a:solidFill>
                  <a:schemeClr val="bg1"/>
                </a:solidFill>
              </a:rPr>
              <a:t>concerns about the security of personal data.</a:t>
            </a:r>
          </a:p>
        </p:txBody>
      </p:sp>
      <p:grpSp>
        <p:nvGrpSpPr>
          <p:cNvPr id="8" name="Group 7"/>
          <p:cNvGrpSpPr/>
          <p:nvPr/>
        </p:nvGrpSpPr>
        <p:grpSpPr>
          <a:xfrm>
            <a:off x="9149499" y="154648"/>
            <a:ext cx="2926237" cy="2843079"/>
            <a:chOff x="8948786" y="173501"/>
            <a:chExt cx="2926237" cy="2843079"/>
          </a:xfrm>
        </p:grpSpPr>
        <p:sp>
          <p:nvSpPr>
            <p:cNvPr id="7" name="Pentagon 6"/>
            <p:cNvSpPr/>
            <p:nvPr/>
          </p:nvSpPr>
          <p:spPr>
            <a:xfrm rot="5400000">
              <a:off x="9294134" y="696304"/>
              <a:ext cx="2254981" cy="2385571"/>
            </a:xfrm>
            <a:prstGeom prst="homePlate">
              <a:avLst/>
            </a:prstGeom>
            <a:solidFill>
              <a:schemeClr val="bg1">
                <a:lumMod val="95000"/>
              </a:schemeClr>
            </a:solidFill>
            <a:ln w="762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vert="vert270" rtlCol="0" anchor="ctr"/>
            <a:lstStyle/>
            <a:p>
              <a:pPr algn="ctr"/>
              <a:r>
                <a:rPr lang="en-GB" dirty="0">
                  <a:solidFill>
                    <a:srgbClr val="00B0F0"/>
                  </a:solidFill>
                  <a:latin typeface="Berlin Sans FB Demi" panose="020E0802020502020306" pitchFamily="34" charset="0"/>
                </a:rPr>
                <a:t>PHISHING</a:t>
              </a:r>
            </a:p>
            <a:p>
              <a:pPr algn="ctr"/>
              <a:endParaRPr lang="en-GB" dirty="0">
                <a:solidFill>
                  <a:srgbClr val="00B0F0"/>
                </a:solidFill>
                <a:latin typeface="Berlin Sans FB Demi" panose="020E0802020502020306" pitchFamily="34" charset="0"/>
              </a:endParaRPr>
            </a:p>
            <a:p>
              <a:pPr algn="ctr"/>
              <a:r>
                <a:rPr lang="en-GB" dirty="0">
                  <a:solidFill>
                    <a:srgbClr val="00B0F0"/>
                  </a:solidFill>
                  <a:latin typeface="Berlin Sans FB Demi" panose="020E0802020502020306" pitchFamily="34" charset="0"/>
                </a:rPr>
                <a:t>IDENTITY THEFT</a:t>
              </a:r>
            </a:p>
          </p:txBody>
        </p:sp>
        <p:pic>
          <p:nvPicPr>
            <p:cNvPr id="1026" name="Picture 2" descr="Missing Comma With a Non-Restrictive Element by jasleengil on emaze"/>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948786" y="173501"/>
              <a:ext cx="2926237" cy="1123577"/>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216419679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rgbClr val="002060"/>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solidFill>
                  <a:schemeClr val="bg1"/>
                </a:solidFill>
              </a:rPr>
              <a:t>Social Media Misuse</a:t>
            </a:r>
          </a:p>
        </p:txBody>
      </p:sp>
      <p:sp>
        <p:nvSpPr>
          <p:cNvPr id="3" name="Content Placeholder 2"/>
          <p:cNvSpPr>
            <a:spLocks noGrp="1"/>
          </p:cNvSpPr>
          <p:nvPr>
            <p:ph idx="1"/>
          </p:nvPr>
        </p:nvSpPr>
        <p:spPr>
          <a:xfrm>
            <a:off x="527902" y="1825624"/>
            <a:ext cx="8116478" cy="4528041"/>
          </a:xfrm>
        </p:spPr>
        <p:txBody>
          <a:bodyPr>
            <a:normAutofit/>
          </a:bodyPr>
          <a:lstStyle/>
          <a:p>
            <a:r>
              <a:rPr lang="en-GB" b="1" dirty="0">
                <a:solidFill>
                  <a:schemeClr val="bg1"/>
                </a:solidFill>
              </a:rPr>
              <a:t>Cyberbullying</a:t>
            </a:r>
            <a:r>
              <a:rPr lang="en-GB" dirty="0">
                <a:solidFill>
                  <a:schemeClr val="bg1"/>
                </a:solidFill>
              </a:rPr>
              <a:t> is a huge problem with young people using social media. Bullies can post nasty comments or messages about their victim. </a:t>
            </a:r>
          </a:p>
          <a:p>
            <a:r>
              <a:rPr lang="en-GB" dirty="0">
                <a:solidFill>
                  <a:schemeClr val="bg1"/>
                </a:solidFill>
              </a:rPr>
              <a:t>Even worse is that they can hide behind a fake profile (Catfish) or even post anonymously on some platforms (</a:t>
            </a:r>
            <a:r>
              <a:rPr lang="en-GB" dirty="0" err="1">
                <a:solidFill>
                  <a:schemeClr val="bg1"/>
                </a:solidFill>
              </a:rPr>
              <a:t>Yik</a:t>
            </a:r>
            <a:r>
              <a:rPr lang="en-GB" dirty="0">
                <a:solidFill>
                  <a:schemeClr val="bg1"/>
                </a:solidFill>
              </a:rPr>
              <a:t> Yak). </a:t>
            </a:r>
          </a:p>
          <a:p>
            <a:r>
              <a:rPr lang="en-GB" dirty="0">
                <a:solidFill>
                  <a:schemeClr val="bg1"/>
                </a:solidFill>
              </a:rPr>
              <a:t>There is also a privacy issue when social media users give away too much personal information about themselves such their address, date of birth etc and leave it accessible to everyone</a:t>
            </a:r>
          </a:p>
        </p:txBody>
      </p:sp>
      <p:sp>
        <p:nvSpPr>
          <p:cNvPr id="4" name="Content Placeholder 2"/>
          <p:cNvSpPr txBox="1">
            <a:spLocks/>
          </p:cNvSpPr>
          <p:nvPr/>
        </p:nvSpPr>
        <p:spPr>
          <a:xfrm>
            <a:off x="9002598" y="3866526"/>
            <a:ext cx="3073138" cy="2906631"/>
          </a:xfrm>
          <a:prstGeom prst="rect">
            <a:avLst/>
          </a:prstGeom>
          <a:solidFill>
            <a:schemeClr val="tx1"/>
          </a:solidFill>
          <a:ln w="76200">
            <a:solidFill>
              <a:srgbClr val="FF0000"/>
            </a:solidFill>
          </a:ln>
        </p:spPr>
        <p:txBody>
          <a:bodyPr vert="horz" lIns="91440" tIns="45720" rIns="91440" bIns="45720" rtlCol="0">
            <a:normAutofit fontScale="62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GB" sz="1300" dirty="0">
              <a:solidFill>
                <a:schemeClr val="bg1"/>
              </a:solidFill>
            </a:endParaRPr>
          </a:p>
          <a:p>
            <a:r>
              <a:rPr lang="en-GB" dirty="0">
                <a:solidFill>
                  <a:schemeClr val="bg1"/>
                </a:solidFill>
              </a:rPr>
              <a:t>describe the ethical impact of technology on society, referring to the following: </a:t>
            </a:r>
          </a:p>
          <a:p>
            <a:pPr lvl="1"/>
            <a:r>
              <a:rPr lang="en-GB" dirty="0">
                <a:solidFill>
                  <a:schemeClr val="bg1"/>
                </a:solidFill>
              </a:rPr>
              <a:t>internet misuse; </a:t>
            </a:r>
          </a:p>
          <a:p>
            <a:pPr lvl="1"/>
            <a:r>
              <a:rPr lang="en-GB" dirty="0">
                <a:solidFill>
                  <a:schemeClr val="bg1"/>
                </a:solidFill>
              </a:rPr>
              <a:t>access to personal information; </a:t>
            </a:r>
          </a:p>
          <a:p>
            <a:pPr lvl="1"/>
            <a:r>
              <a:rPr lang="en-GB" dirty="0">
                <a:solidFill>
                  <a:srgbClr val="FFFF00"/>
                </a:solidFill>
              </a:rPr>
              <a:t>social media misuse; </a:t>
            </a:r>
          </a:p>
          <a:p>
            <a:pPr lvl="1"/>
            <a:r>
              <a:rPr lang="en-GB" dirty="0">
                <a:solidFill>
                  <a:schemeClr val="bg1"/>
                </a:solidFill>
              </a:rPr>
              <a:t>the implications of global positioning system (GPS) and tracking; </a:t>
            </a:r>
          </a:p>
          <a:p>
            <a:pPr lvl="1"/>
            <a:r>
              <a:rPr lang="en-GB" dirty="0">
                <a:solidFill>
                  <a:schemeClr val="bg1"/>
                </a:solidFill>
              </a:rPr>
              <a:t>concerns about the security of personal data.</a:t>
            </a:r>
          </a:p>
        </p:txBody>
      </p:sp>
      <p:grpSp>
        <p:nvGrpSpPr>
          <p:cNvPr id="6" name="Group 5"/>
          <p:cNvGrpSpPr/>
          <p:nvPr/>
        </p:nvGrpSpPr>
        <p:grpSpPr>
          <a:xfrm>
            <a:off x="9149499" y="154648"/>
            <a:ext cx="2926237" cy="2843079"/>
            <a:chOff x="8948786" y="173501"/>
            <a:chExt cx="2926237" cy="2843079"/>
          </a:xfrm>
        </p:grpSpPr>
        <p:sp>
          <p:nvSpPr>
            <p:cNvPr id="7" name="Pentagon 6"/>
            <p:cNvSpPr/>
            <p:nvPr/>
          </p:nvSpPr>
          <p:spPr>
            <a:xfrm rot="5400000">
              <a:off x="9294134" y="696304"/>
              <a:ext cx="2254981" cy="2385571"/>
            </a:xfrm>
            <a:prstGeom prst="homePlate">
              <a:avLst/>
            </a:prstGeom>
            <a:solidFill>
              <a:schemeClr val="bg1">
                <a:lumMod val="95000"/>
              </a:schemeClr>
            </a:solidFill>
            <a:ln w="762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vert="vert270" rtlCol="0" anchor="ctr"/>
            <a:lstStyle/>
            <a:p>
              <a:pPr algn="ctr"/>
              <a:r>
                <a:rPr lang="en-GB" dirty="0">
                  <a:solidFill>
                    <a:srgbClr val="00B0F0"/>
                  </a:solidFill>
                  <a:latin typeface="Berlin Sans FB Demi" panose="020E0802020502020306" pitchFamily="34" charset="0"/>
                </a:rPr>
                <a:t>CYBERBULLYING</a:t>
              </a:r>
            </a:p>
          </p:txBody>
        </p:sp>
        <p:pic>
          <p:nvPicPr>
            <p:cNvPr id="8" name="Picture 2" descr="Missing Comma With a Non-Restrictive Element by jasleengil on emaze"/>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948786" y="173501"/>
              <a:ext cx="2926237" cy="1123577"/>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3080433818"/>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rgbClr val="002060"/>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solidFill>
                  <a:schemeClr val="bg1"/>
                </a:solidFill>
              </a:rPr>
              <a:t>GPS and Tracking</a:t>
            </a:r>
          </a:p>
        </p:txBody>
      </p:sp>
      <p:sp>
        <p:nvSpPr>
          <p:cNvPr id="3" name="Content Placeholder 2"/>
          <p:cNvSpPr>
            <a:spLocks noGrp="1"/>
          </p:cNvSpPr>
          <p:nvPr>
            <p:ph idx="1"/>
          </p:nvPr>
        </p:nvSpPr>
        <p:spPr>
          <a:xfrm>
            <a:off x="366861" y="1611984"/>
            <a:ext cx="8635737" cy="5161173"/>
          </a:xfrm>
        </p:spPr>
        <p:txBody>
          <a:bodyPr>
            <a:normAutofit fontScale="70000" lnSpcReduction="20000"/>
          </a:bodyPr>
          <a:lstStyle/>
          <a:p>
            <a:r>
              <a:rPr lang="en-GB" dirty="0">
                <a:solidFill>
                  <a:schemeClr val="bg1"/>
                </a:solidFill>
              </a:rPr>
              <a:t>GPS stands for Global Positioning System. </a:t>
            </a:r>
          </a:p>
          <a:p>
            <a:r>
              <a:rPr lang="en-GB" dirty="0">
                <a:solidFill>
                  <a:schemeClr val="bg1"/>
                </a:solidFill>
              </a:rPr>
              <a:t>It was invented by the US military to allow soldiers to know where exactly they were in the world. </a:t>
            </a:r>
          </a:p>
          <a:p>
            <a:r>
              <a:rPr lang="en-GB" dirty="0">
                <a:solidFill>
                  <a:schemeClr val="bg1"/>
                </a:solidFill>
              </a:rPr>
              <a:t>GPS uses a process called ‘Triangulation’ to work out the location using </a:t>
            </a:r>
            <a:r>
              <a:rPr lang="en-GB" dirty="0" err="1">
                <a:solidFill>
                  <a:schemeClr val="bg1"/>
                </a:solidFill>
              </a:rPr>
              <a:t>triangluation</a:t>
            </a:r>
            <a:r>
              <a:rPr lang="en-GB" dirty="0">
                <a:solidFill>
                  <a:schemeClr val="bg1"/>
                </a:solidFill>
              </a:rPr>
              <a:t>. </a:t>
            </a:r>
          </a:p>
          <a:p>
            <a:pPr lvl="1"/>
            <a:r>
              <a:rPr lang="en-GB" dirty="0">
                <a:solidFill>
                  <a:schemeClr val="bg1"/>
                </a:solidFill>
              </a:rPr>
              <a:t>Satellites are used to help pinpoint the location. </a:t>
            </a:r>
          </a:p>
          <a:p>
            <a:pPr lvl="1"/>
            <a:r>
              <a:rPr lang="en-GB" dirty="0">
                <a:solidFill>
                  <a:schemeClr val="bg1"/>
                </a:solidFill>
              </a:rPr>
              <a:t>It works best outdoors but does give an accurate location. </a:t>
            </a:r>
          </a:p>
          <a:p>
            <a:pPr lvl="1"/>
            <a:r>
              <a:rPr lang="en-GB" dirty="0">
                <a:solidFill>
                  <a:schemeClr val="bg1"/>
                </a:solidFill>
              </a:rPr>
              <a:t>It may not be accurate if the preinstalled map on the device is not up to date. </a:t>
            </a:r>
          </a:p>
          <a:p>
            <a:pPr marL="0" indent="0">
              <a:buNone/>
            </a:pPr>
            <a:r>
              <a:rPr lang="en-GB" dirty="0">
                <a:solidFill>
                  <a:schemeClr val="bg1"/>
                </a:solidFill>
              </a:rPr>
              <a:t>How does GPS work? </a:t>
            </a:r>
          </a:p>
          <a:p>
            <a:r>
              <a:rPr lang="en-GB" dirty="0">
                <a:solidFill>
                  <a:schemeClr val="bg1"/>
                </a:solidFill>
              </a:rPr>
              <a:t>Satellites transmit signals to earth, where the GPS device receives the signals </a:t>
            </a:r>
          </a:p>
          <a:p>
            <a:r>
              <a:rPr lang="en-GB" dirty="0">
                <a:solidFill>
                  <a:schemeClr val="bg1"/>
                </a:solidFill>
              </a:rPr>
              <a:t>The device calculates its location based on the information from at least 3 satellites (Triangulation) </a:t>
            </a:r>
          </a:p>
          <a:p>
            <a:r>
              <a:rPr lang="en-GB" dirty="0">
                <a:solidFill>
                  <a:schemeClr val="bg1"/>
                </a:solidFill>
              </a:rPr>
              <a:t>Then the location is shown on a map that is preinstalled in the GPS device to within a couple of metres.</a:t>
            </a:r>
          </a:p>
          <a:p>
            <a:r>
              <a:rPr lang="en-GB" dirty="0">
                <a:solidFill>
                  <a:schemeClr val="bg1"/>
                </a:solidFill>
              </a:rPr>
              <a:t>GPS is also used to help ships navigate the sea, to ‘tag’ criminals so the police can monitor their whereabouts and even for recreational purposes by the likes of hikers and mountaineers to identify their location.</a:t>
            </a:r>
          </a:p>
        </p:txBody>
      </p:sp>
      <p:sp>
        <p:nvSpPr>
          <p:cNvPr id="4" name="Content Placeholder 2"/>
          <p:cNvSpPr txBox="1">
            <a:spLocks/>
          </p:cNvSpPr>
          <p:nvPr/>
        </p:nvSpPr>
        <p:spPr>
          <a:xfrm>
            <a:off x="9002598" y="3866526"/>
            <a:ext cx="3073138" cy="2906631"/>
          </a:xfrm>
          <a:prstGeom prst="rect">
            <a:avLst/>
          </a:prstGeom>
          <a:solidFill>
            <a:schemeClr val="tx1"/>
          </a:solidFill>
          <a:ln w="76200">
            <a:solidFill>
              <a:srgbClr val="FF0000"/>
            </a:solidFill>
          </a:ln>
        </p:spPr>
        <p:txBody>
          <a:bodyPr vert="horz" lIns="91440" tIns="45720" rIns="91440" bIns="45720" rtlCol="0">
            <a:normAutofit fontScale="62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GB" sz="1300" dirty="0">
              <a:solidFill>
                <a:schemeClr val="bg1"/>
              </a:solidFill>
            </a:endParaRPr>
          </a:p>
          <a:p>
            <a:r>
              <a:rPr lang="en-GB" dirty="0">
                <a:solidFill>
                  <a:schemeClr val="bg1"/>
                </a:solidFill>
              </a:rPr>
              <a:t>describe the ethical impact of technology on society, referring to the following: </a:t>
            </a:r>
          </a:p>
          <a:p>
            <a:pPr lvl="1"/>
            <a:r>
              <a:rPr lang="en-GB" dirty="0">
                <a:solidFill>
                  <a:schemeClr val="bg1"/>
                </a:solidFill>
              </a:rPr>
              <a:t>internet misuse; </a:t>
            </a:r>
          </a:p>
          <a:p>
            <a:pPr lvl="1"/>
            <a:r>
              <a:rPr lang="en-GB" dirty="0">
                <a:solidFill>
                  <a:schemeClr val="bg1"/>
                </a:solidFill>
              </a:rPr>
              <a:t>access to personal information; </a:t>
            </a:r>
          </a:p>
          <a:p>
            <a:pPr lvl="1"/>
            <a:r>
              <a:rPr lang="en-GB" dirty="0">
                <a:solidFill>
                  <a:schemeClr val="bg1"/>
                </a:solidFill>
              </a:rPr>
              <a:t>social media misuse; </a:t>
            </a:r>
          </a:p>
          <a:p>
            <a:pPr lvl="1"/>
            <a:r>
              <a:rPr lang="en-GB" dirty="0">
                <a:solidFill>
                  <a:srgbClr val="FFFF00"/>
                </a:solidFill>
              </a:rPr>
              <a:t>the implications of global positioning system (GPS) and tracking; </a:t>
            </a:r>
          </a:p>
          <a:p>
            <a:pPr lvl="1"/>
            <a:r>
              <a:rPr lang="en-GB" dirty="0">
                <a:solidFill>
                  <a:schemeClr val="bg1"/>
                </a:solidFill>
              </a:rPr>
              <a:t>concerns about the security of personal data.</a:t>
            </a:r>
          </a:p>
        </p:txBody>
      </p:sp>
      <p:grpSp>
        <p:nvGrpSpPr>
          <p:cNvPr id="5" name="Group 4"/>
          <p:cNvGrpSpPr/>
          <p:nvPr/>
        </p:nvGrpSpPr>
        <p:grpSpPr>
          <a:xfrm>
            <a:off x="9149499" y="154648"/>
            <a:ext cx="2926237" cy="2843079"/>
            <a:chOff x="8948786" y="173501"/>
            <a:chExt cx="2926237" cy="2843079"/>
          </a:xfrm>
        </p:grpSpPr>
        <p:sp>
          <p:nvSpPr>
            <p:cNvPr id="6" name="Pentagon 5"/>
            <p:cNvSpPr/>
            <p:nvPr/>
          </p:nvSpPr>
          <p:spPr>
            <a:xfrm rot="5400000">
              <a:off x="9294134" y="696304"/>
              <a:ext cx="2254981" cy="2385571"/>
            </a:xfrm>
            <a:prstGeom prst="homePlate">
              <a:avLst/>
            </a:prstGeom>
            <a:solidFill>
              <a:schemeClr val="bg1">
                <a:lumMod val="95000"/>
              </a:schemeClr>
            </a:solidFill>
            <a:ln w="762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vert="vert270" rtlCol="0" anchor="ctr"/>
            <a:lstStyle/>
            <a:p>
              <a:pPr algn="ctr"/>
              <a:r>
                <a:rPr lang="en-GB" dirty="0">
                  <a:solidFill>
                    <a:srgbClr val="00B0F0"/>
                  </a:solidFill>
                  <a:latin typeface="Berlin Sans FB Demi" panose="020E0802020502020306" pitchFamily="34" charset="0"/>
                </a:rPr>
                <a:t>GLOBAL POSITIONING SYSTEM</a:t>
              </a:r>
            </a:p>
            <a:p>
              <a:pPr algn="ctr"/>
              <a:endParaRPr lang="en-GB" dirty="0">
                <a:solidFill>
                  <a:srgbClr val="00B0F0"/>
                </a:solidFill>
                <a:latin typeface="Berlin Sans FB Demi" panose="020E0802020502020306" pitchFamily="34" charset="0"/>
              </a:endParaRPr>
            </a:p>
            <a:p>
              <a:pPr algn="ctr"/>
              <a:r>
                <a:rPr lang="en-GB" dirty="0">
                  <a:solidFill>
                    <a:srgbClr val="00B0F0"/>
                  </a:solidFill>
                  <a:latin typeface="Berlin Sans FB Demi" panose="020E0802020502020306" pitchFamily="34" charset="0"/>
                </a:rPr>
                <a:t>TRIANGULATION</a:t>
              </a:r>
            </a:p>
          </p:txBody>
        </p:sp>
        <p:pic>
          <p:nvPicPr>
            <p:cNvPr id="7" name="Picture 2" descr="Missing Comma With a Non-Restrictive Element by jasleengil on emaze"/>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948786" y="173501"/>
              <a:ext cx="2926237" cy="1123577"/>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2688098515"/>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002060"/>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solidFill>
                  <a:schemeClr val="bg1"/>
                </a:solidFill>
              </a:rPr>
              <a:t>Security of Personal Data</a:t>
            </a:r>
          </a:p>
        </p:txBody>
      </p:sp>
      <p:sp>
        <p:nvSpPr>
          <p:cNvPr id="3" name="Content Placeholder 2"/>
          <p:cNvSpPr>
            <a:spLocks noGrp="1"/>
          </p:cNvSpPr>
          <p:nvPr>
            <p:ph idx="1"/>
          </p:nvPr>
        </p:nvSpPr>
        <p:spPr>
          <a:xfrm>
            <a:off x="263951" y="1825625"/>
            <a:ext cx="8478034" cy="4754284"/>
          </a:xfrm>
        </p:spPr>
        <p:txBody>
          <a:bodyPr>
            <a:normAutofit fontScale="70000" lnSpcReduction="20000"/>
          </a:bodyPr>
          <a:lstStyle/>
          <a:p>
            <a:r>
              <a:rPr lang="en-GB" dirty="0">
                <a:solidFill>
                  <a:schemeClr val="bg1"/>
                </a:solidFill>
              </a:rPr>
              <a:t>We all willingly give up our personal data on a daily basis on the internet. </a:t>
            </a:r>
          </a:p>
          <a:p>
            <a:r>
              <a:rPr lang="en-GB" dirty="0">
                <a:solidFill>
                  <a:schemeClr val="bg1"/>
                </a:solidFill>
              </a:rPr>
              <a:t>This is done every time you fill in an online form, register your details on a website etc. </a:t>
            </a:r>
          </a:p>
          <a:p>
            <a:r>
              <a:rPr lang="en-GB" dirty="0">
                <a:solidFill>
                  <a:schemeClr val="bg1"/>
                </a:solidFill>
              </a:rPr>
              <a:t>Through social media sites such Facebook and online collaboration sites such as Google, we are putting our own personal data at risk. Concerns have been raised about how this data is being used. </a:t>
            </a:r>
          </a:p>
          <a:p>
            <a:r>
              <a:rPr lang="en-GB" dirty="0">
                <a:solidFill>
                  <a:schemeClr val="bg1"/>
                </a:solidFill>
              </a:rPr>
              <a:t>It is up to the user to check their privacy settings to try to control the privacy of their data effectively. Often these privacy settings can be confusing and therefore make it difficult for the user to know what to choose. </a:t>
            </a:r>
          </a:p>
          <a:p>
            <a:r>
              <a:rPr lang="en-GB" dirty="0">
                <a:solidFill>
                  <a:schemeClr val="bg1"/>
                </a:solidFill>
              </a:rPr>
              <a:t>Any example of this is that by default, a Facebook user profile will automatically be public when the user turns 18. The sharing of our personal data with third party websites and applications is also a huge concern. </a:t>
            </a:r>
          </a:p>
          <a:p>
            <a:r>
              <a:rPr lang="en-GB" dirty="0">
                <a:solidFill>
                  <a:schemeClr val="bg1"/>
                </a:solidFill>
              </a:rPr>
              <a:t>This data could be used for data mining which is when organisations turn raw data into useful information. Mobile technology users are exposed to continuous streams of adverts online based on previous online searches. </a:t>
            </a:r>
          </a:p>
        </p:txBody>
      </p:sp>
      <p:sp>
        <p:nvSpPr>
          <p:cNvPr id="4" name="Content Placeholder 2"/>
          <p:cNvSpPr txBox="1">
            <a:spLocks/>
          </p:cNvSpPr>
          <p:nvPr/>
        </p:nvSpPr>
        <p:spPr>
          <a:xfrm>
            <a:off x="9002598" y="3866526"/>
            <a:ext cx="3073138" cy="2906631"/>
          </a:xfrm>
          <a:prstGeom prst="rect">
            <a:avLst/>
          </a:prstGeom>
          <a:solidFill>
            <a:schemeClr val="tx1"/>
          </a:solidFill>
          <a:ln w="76200">
            <a:solidFill>
              <a:srgbClr val="FF0000"/>
            </a:solidFill>
          </a:ln>
        </p:spPr>
        <p:txBody>
          <a:bodyPr vert="horz" lIns="91440" tIns="45720" rIns="91440" bIns="45720" rtlCol="0">
            <a:normAutofit fontScale="62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GB" sz="1300" dirty="0">
              <a:solidFill>
                <a:schemeClr val="bg1"/>
              </a:solidFill>
            </a:endParaRPr>
          </a:p>
          <a:p>
            <a:r>
              <a:rPr lang="en-GB" dirty="0">
                <a:solidFill>
                  <a:schemeClr val="bg1"/>
                </a:solidFill>
              </a:rPr>
              <a:t>describe the ethical impact of technology on society, referring to the following: </a:t>
            </a:r>
          </a:p>
          <a:p>
            <a:pPr lvl="1"/>
            <a:r>
              <a:rPr lang="en-GB" dirty="0">
                <a:solidFill>
                  <a:schemeClr val="bg1"/>
                </a:solidFill>
              </a:rPr>
              <a:t>internet misuse; </a:t>
            </a:r>
          </a:p>
          <a:p>
            <a:pPr lvl="1"/>
            <a:r>
              <a:rPr lang="en-GB" dirty="0">
                <a:solidFill>
                  <a:schemeClr val="bg1"/>
                </a:solidFill>
              </a:rPr>
              <a:t>access to personal information; </a:t>
            </a:r>
          </a:p>
          <a:p>
            <a:pPr lvl="1"/>
            <a:r>
              <a:rPr lang="en-GB" dirty="0">
                <a:solidFill>
                  <a:schemeClr val="bg1"/>
                </a:solidFill>
              </a:rPr>
              <a:t>social media misuse; </a:t>
            </a:r>
          </a:p>
          <a:p>
            <a:pPr lvl="1"/>
            <a:r>
              <a:rPr lang="en-GB" dirty="0">
                <a:solidFill>
                  <a:schemeClr val="bg1"/>
                </a:solidFill>
              </a:rPr>
              <a:t>the implications of global positioning system (GPS) and tracking; </a:t>
            </a:r>
          </a:p>
          <a:p>
            <a:pPr lvl="1"/>
            <a:r>
              <a:rPr lang="en-GB" dirty="0">
                <a:solidFill>
                  <a:srgbClr val="FFFF00"/>
                </a:solidFill>
              </a:rPr>
              <a:t>concerns about the security of personal data.</a:t>
            </a:r>
          </a:p>
        </p:txBody>
      </p:sp>
      <p:grpSp>
        <p:nvGrpSpPr>
          <p:cNvPr id="5" name="Group 4"/>
          <p:cNvGrpSpPr/>
          <p:nvPr/>
        </p:nvGrpSpPr>
        <p:grpSpPr>
          <a:xfrm>
            <a:off x="9149499" y="154648"/>
            <a:ext cx="2926237" cy="2843079"/>
            <a:chOff x="8948786" y="173501"/>
            <a:chExt cx="2926237" cy="2843079"/>
          </a:xfrm>
        </p:grpSpPr>
        <p:sp>
          <p:nvSpPr>
            <p:cNvPr id="6" name="Pentagon 5"/>
            <p:cNvSpPr/>
            <p:nvPr/>
          </p:nvSpPr>
          <p:spPr>
            <a:xfrm rot="5400000">
              <a:off x="9294134" y="696304"/>
              <a:ext cx="2254981" cy="2385571"/>
            </a:xfrm>
            <a:prstGeom prst="homePlate">
              <a:avLst/>
            </a:prstGeom>
            <a:solidFill>
              <a:schemeClr val="bg1">
                <a:lumMod val="95000"/>
              </a:schemeClr>
            </a:solidFill>
            <a:ln w="762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vert="vert270" rtlCol="0" anchor="ctr"/>
            <a:lstStyle/>
            <a:p>
              <a:pPr algn="ctr"/>
              <a:endParaRPr lang="en-GB" sz="1000" dirty="0">
                <a:solidFill>
                  <a:srgbClr val="00B0F0"/>
                </a:solidFill>
                <a:latin typeface="Berlin Sans FB Demi" panose="020E0802020502020306" pitchFamily="34" charset="0"/>
              </a:endParaRPr>
            </a:p>
            <a:p>
              <a:pPr algn="ctr"/>
              <a:r>
                <a:rPr lang="en-GB" sz="1600" dirty="0">
                  <a:solidFill>
                    <a:srgbClr val="00B0F0"/>
                  </a:solidFill>
                  <a:latin typeface="Berlin Sans FB Demi" panose="020E0802020502020306" pitchFamily="34" charset="0"/>
                </a:rPr>
                <a:t>DATA PROTECTION ACT</a:t>
              </a:r>
            </a:p>
            <a:p>
              <a:pPr algn="ctr"/>
              <a:endParaRPr lang="en-GB" dirty="0">
                <a:solidFill>
                  <a:srgbClr val="00B0F0"/>
                </a:solidFill>
                <a:latin typeface="Berlin Sans FB Demi" panose="020E0802020502020306" pitchFamily="34" charset="0"/>
              </a:endParaRPr>
            </a:p>
            <a:p>
              <a:pPr algn="ctr"/>
              <a:r>
                <a:rPr lang="en-GB" dirty="0">
                  <a:solidFill>
                    <a:srgbClr val="00B0F0"/>
                  </a:solidFill>
                  <a:latin typeface="Berlin Sans FB Demi" panose="020E0802020502020306" pitchFamily="34" charset="0"/>
                </a:rPr>
                <a:t>PRIVACY SETTINGS</a:t>
              </a:r>
            </a:p>
          </p:txBody>
        </p:sp>
        <p:pic>
          <p:nvPicPr>
            <p:cNvPr id="7" name="Picture 2" descr="Missing Comma With a Non-Restrictive Element by jasleengil on emaze"/>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948786" y="173501"/>
              <a:ext cx="2926237" cy="1123577"/>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2343858549"/>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p:cNvGrpSpPr/>
        <p:nvPr/>
      </p:nvGrpSpPr>
      <p:grpSpPr>
        <a:xfrm>
          <a:off x="0" y="0"/>
          <a:ext cx="0" cy="0"/>
          <a:chOff x="0" y="0"/>
          <a:chExt cx="0" cy="0"/>
        </a:xfrm>
      </p:grpSpPr>
      <p:sp>
        <p:nvSpPr>
          <p:cNvPr id="10" name="Rounded Rectangular Callout 9"/>
          <p:cNvSpPr/>
          <p:nvPr/>
        </p:nvSpPr>
        <p:spPr>
          <a:xfrm>
            <a:off x="179109" y="2672500"/>
            <a:ext cx="8616099" cy="4034673"/>
          </a:xfrm>
          <a:prstGeom prst="wedgeRoundRectCallout">
            <a:avLst>
              <a:gd name="adj1" fmla="val 59113"/>
              <a:gd name="adj2" fmla="val 25177"/>
              <a:gd name="adj3" fmla="val 16667"/>
            </a:avLst>
          </a:prstGeom>
          <a:solidFill>
            <a:schemeClr val="bg1"/>
          </a:solidFill>
          <a:ln w="762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 name="Content Placeholder 4"/>
          <p:cNvSpPr>
            <a:spLocks noGrp="1"/>
          </p:cNvSpPr>
          <p:nvPr>
            <p:ph sz="quarter" idx="2"/>
          </p:nvPr>
        </p:nvSpPr>
        <p:spPr>
          <a:xfrm>
            <a:off x="471340" y="2908170"/>
            <a:ext cx="8484124" cy="3949830"/>
          </a:xfrm>
        </p:spPr>
        <p:txBody>
          <a:bodyPr>
            <a:normAutofit/>
          </a:bodyPr>
          <a:lstStyle/>
          <a:p>
            <a:r>
              <a:rPr lang="en-GB" dirty="0"/>
              <a:t>In the 1930’s a computer was a job</a:t>
            </a:r>
          </a:p>
          <a:p>
            <a:pPr lvl="1"/>
            <a:r>
              <a:rPr lang="en-GB" dirty="0"/>
              <a:t>What did it do</a:t>
            </a:r>
          </a:p>
          <a:p>
            <a:pPr lvl="2"/>
            <a:r>
              <a:rPr lang="en-GB" dirty="0"/>
              <a:t>The same thing it does now. Calculates large or difficult maths problems for companies or research groups</a:t>
            </a:r>
          </a:p>
          <a:p>
            <a:r>
              <a:rPr lang="en-GB" dirty="0"/>
              <a:t>Jobs continually change depending on changes in the technology of the time</a:t>
            </a:r>
          </a:p>
          <a:p>
            <a:r>
              <a:rPr lang="en-GB" dirty="0"/>
              <a:t>Computers have made a massive difference in the way we work and which jobs we do</a:t>
            </a:r>
          </a:p>
        </p:txBody>
      </p:sp>
      <p:pic>
        <p:nvPicPr>
          <p:cNvPr id="2050" name="Picture 2" descr="http://images.boomsbeat.com/data/images/full/209/jobs-jpg.jpg"/>
          <p:cNvPicPr>
            <a:picLocks noChangeAspect="1" noChangeArrowheads="1"/>
          </p:cNvPicPr>
          <p:nvPr/>
        </p:nvPicPr>
        <p:blipFill rotWithShape="1">
          <a:blip r:embed="rId2" cstate="print">
            <a:extLst>
              <a:ext uri="{BEBA8EAE-BF5A-486C-A8C5-ECC9F3942E4B}">
                <a14:imgProps xmlns:a14="http://schemas.microsoft.com/office/drawing/2010/main">
                  <a14:imgLayer r:embed="rId3">
                    <a14:imgEffect>
                      <a14:backgroundRemoval t="1180" b="100000" l="26207" r="100000"/>
                    </a14:imgEffect>
                  </a14:imgLayer>
                </a14:imgProps>
              </a:ext>
              <a:ext uri="{28A0092B-C50C-407E-A947-70E740481C1C}">
                <a14:useLocalDpi xmlns:a14="http://schemas.microsoft.com/office/drawing/2010/main" val="0"/>
              </a:ext>
            </a:extLst>
          </a:blip>
          <a:srcRect l="34192"/>
          <a:stretch/>
        </p:blipFill>
        <p:spPr bwMode="auto">
          <a:xfrm>
            <a:off x="9386661" y="4362255"/>
            <a:ext cx="2805339" cy="2495745"/>
          </a:xfrm>
          <a:prstGeom prst="rect">
            <a:avLst/>
          </a:prstGeom>
          <a:noFill/>
          <a:extLst>
            <a:ext uri="{909E8E84-426E-40DD-AFC4-6F175D3DCCD1}">
              <a14:hiddenFill xmlns:a14="http://schemas.microsoft.com/office/drawing/2010/main">
                <a:solidFill>
                  <a:srgbClr val="FFFFFF"/>
                </a:solidFill>
              </a14:hiddenFill>
            </a:ext>
          </a:extLst>
        </p:spPr>
      </p:pic>
      <p:sp>
        <p:nvSpPr>
          <p:cNvPr id="7" name="Content Placeholder 2"/>
          <p:cNvSpPr txBox="1">
            <a:spLocks/>
          </p:cNvSpPr>
          <p:nvPr/>
        </p:nvSpPr>
        <p:spPr>
          <a:xfrm>
            <a:off x="8955464" y="548291"/>
            <a:ext cx="3073138" cy="2906631"/>
          </a:xfrm>
          <a:prstGeom prst="rect">
            <a:avLst/>
          </a:prstGeom>
          <a:solidFill>
            <a:schemeClr val="tx1"/>
          </a:solidFill>
          <a:ln w="76200">
            <a:solidFill>
              <a:srgbClr val="FF0000"/>
            </a:solidFill>
          </a:ln>
        </p:spPr>
        <p:txBody>
          <a:bodyPr vert="horz" lIns="91440" tIns="45720" rIns="91440" bIns="45720" rtlCol="0">
            <a:normAutofit fontScale="8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GB" sz="1300" dirty="0">
              <a:solidFill>
                <a:schemeClr val="bg1"/>
              </a:solidFill>
            </a:endParaRPr>
          </a:p>
          <a:p>
            <a:r>
              <a:rPr lang="en-GB" dirty="0">
                <a:solidFill>
                  <a:schemeClr val="bg1"/>
                </a:solidFill>
              </a:rPr>
              <a:t>Describe the impact of digital technology on employment including</a:t>
            </a:r>
          </a:p>
          <a:p>
            <a:pPr lvl="1"/>
            <a:r>
              <a:rPr lang="en-GB" dirty="0">
                <a:solidFill>
                  <a:srgbClr val="FFFF00"/>
                </a:solidFill>
              </a:rPr>
              <a:t>Job opportunities</a:t>
            </a:r>
          </a:p>
          <a:p>
            <a:pPr lvl="1"/>
            <a:r>
              <a:rPr lang="en-GB" dirty="0">
                <a:solidFill>
                  <a:schemeClr val="bg1"/>
                </a:solidFill>
              </a:rPr>
              <a:t>Job displacement</a:t>
            </a:r>
          </a:p>
          <a:p>
            <a:pPr lvl="1"/>
            <a:r>
              <a:rPr lang="en-GB" dirty="0">
                <a:solidFill>
                  <a:schemeClr val="bg1"/>
                </a:solidFill>
              </a:rPr>
              <a:t>Changes in work patterns</a:t>
            </a:r>
          </a:p>
          <a:p>
            <a:pPr lvl="1"/>
            <a:r>
              <a:rPr lang="en-GB" dirty="0">
                <a:solidFill>
                  <a:schemeClr val="bg1"/>
                </a:solidFill>
              </a:rPr>
              <a:t>Need for upskilling</a:t>
            </a:r>
          </a:p>
        </p:txBody>
      </p:sp>
      <p:pic>
        <p:nvPicPr>
          <p:cNvPr id="8" name="Picture 2" descr="Job search - Free professions and jobs icons"/>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79109" y="29817"/>
            <a:ext cx="1621409" cy="162141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598413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xEl>
                                              <p:pRg st="2" end="2"/>
                                            </p:txEl>
                                          </p:spTgt>
                                        </p:tgtEl>
                                        <p:attrNameLst>
                                          <p:attrName>style.visibility</p:attrName>
                                        </p:attrNameLst>
                                      </p:cBhvr>
                                      <p:to>
                                        <p:strVal val="visible"/>
                                      </p:to>
                                    </p:set>
                                    <p:animEffect transition="in" filter="fade">
                                      <p:cBhvr>
                                        <p:cTn id="7" dur="500"/>
                                        <p:tgtEl>
                                          <p:spTgt spid="5">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5.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p:cNvGrpSpPr/>
        <p:nvPr/>
      </p:nvGrpSpPr>
      <p:grpSpPr>
        <a:xfrm>
          <a:off x="0" y="0"/>
          <a:ext cx="0" cy="0"/>
          <a:chOff x="0" y="0"/>
          <a:chExt cx="0" cy="0"/>
        </a:xfrm>
      </p:grpSpPr>
      <p:sp>
        <p:nvSpPr>
          <p:cNvPr id="11" name="Rounded Rectangular Callout 10"/>
          <p:cNvSpPr/>
          <p:nvPr/>
        </p:nvSpPr>
        <p:spPr>
          <a:xfrm>
            <a:off x="75415" y="1913642"/>
            <a:ext cx="8616097" cy="4724794"/>
          </a:xfrm>
          <a:prstGeom prst="wedgeRoundRectCallout">
            <a:avLst>
              <a:gd name="adj1" fmla="val 63035"/>
              <a:gd name="adj2" fmla="val 31443"/>
              <a:gd name="adj3" fmla="val 16667"/>
            </a:avLst>
          </a:prstGeom>
          <a:solidFill>
            <a:schemeClr val="bg1"/>
          </a:solidFill>
          <a:ln w="762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 name="Content Placeholder 4"/>
          <p:cNvSpPr>
            <a:spLocks noGrp="1"/>
          </p:cNvSpPr>
          <p:nvPr>
            <p:ph sz="quarter" idx="2"/>
          </p:nvPr>
        </p:nvSpPr>
        <p:spPr>
          <a:xfrm>
            <a:off x="179109" y="2133208"/>
            <a:ext cx="8512403" cy="4458093"/>
          </a:xfrm>
        </p:spPr>
        <p:txBody>
          <a:bodyPr>
            <a:normAutofit/>
          </a:bodyPr>
          <a:lstStyle/>
          <a:p>
            <a:r>
              <a:rPr lang="en-GB" dirty="0"/>
              <a:t>While computers are reducing the need for jobs in other sectors there is a continual increase in computing related jobs</a:t>
            </a:r>
          </a:p>
          <a:p>
            <a:pPr lvl="1"/>
            <a:r>
              <a:rPr lang="en-GB" dirty="0"/>
              <a:t>Programmers</a:t>
            </a:r>
          </a:p>
          <a:p>
            <a:pPr lvl="1"/>
            <a:r>
              <a:rPr lang="en-GB" dirty="0"/>
              <a:t>Software Engineers</a:t>
            </a:r>
          </a:p>
          <a:p>
            <a:pPr lvl="1"/>
            <a:r>
              <a:rPr lang="en-GB" dirty="0"/>
              <a:t>ICT Technicians</a:t>
            </a:r>
          </a:p>
          <a:p>
            <a:pPr lvl="1"/>
            <a:r>
              <a:rPr lang="en-GB" dirty="0"/>
              <a:t>Network Managers</a:t>
            </a:r>
          </a:p>
          <a:p>
            <a:pPr lvl="1"/>
            <a:r>
              <a:rPr lang="en-GB" dirty="0"/>
              <a:t>ICT Consultants</a:t>
            </a:r>
          </a:p>
          <a:p>
            <a:pPr lvl="1"/>
            <a:r>
              <a:rPr lang="en-GB" dirty="0"/>
              <a:t>App Developers</a:t>
            </a:r>
          </a:p>
          <a:p>
            <a:pPr lvl="1"/>
            <a:r>
              <a:rPr lang="en-GB" dirty="0"/>
              <a:t>Web Designers</a:t>
            </a:r>
          </a:p>
          <a:p>
            <a:pPr lvl="1"/>
            <a:r>
              <a:rPr lang="en-GB" dirty="0"/>
              <a:t>Social Media Manager</a:t>
            </a:r>
          </a:p>
        </p:txBody>
      </p:sp>
      <p:pic>
        <p:nvPicPr>
          <p:cNvPr id="7" name="Picture 2" descr="http://images.boomsbeat.com/data/images/full/209/jobs-jpg.jpg"/>
          <p:cNvPicPr>
            <a:picLocks noChangeAspect="1" noChangeArrowheads="1"/>
          </p:cNvPicPr>
          <p:nvPr/>
        </p:nvPicPr>
        <p:blipFill rotWithShape="1">
          <a:blip r:embed="rId2" cstate="print">
            <a:extLst>
              <a:ext uri="{BEBA8EAE-BF5A-486C-A8C5-ECC9F3942E4B}">
                <a14:imgProps xmlns:a14="http://schemas.microsoft.com/office/drawing/2010/main">
                  <a14:imgLayer r:embed="rId3">
                    <a14:imgEffect>
                      <a14:backgroundRemoval t="1180" b="100000" l="26207" r="100000"/>
                    </a14:imgEffect>
                  </a14:imgLayer>
                </a14:imgProps>
              </a:ext>
              <a:ext uri="{28A0092B-C50C-407E-A947-70E740481C1C}">
                <a14:useLocalDpi xmlns:a14="http://schemas.microsoft.com/office/drawing/2010/main" val="0"/>
              </a:ext>
            </a:extLst>
          </a:blip>
          <a:srcRect l="34192"/>
          <a:stretch/>
        </p:blipFill>
        <p:spPr bwMode="auto">
          <a:xfrm>
            <a:off x="9386661" y="4362255"/>
            <a:ext cx="2805339" cy="2495745"/>
          </a:xfrm>
          <a:prstGeom prst="rect">
            <a:avLst/>
          </a:prstGeom>
          <a:noFill/>
          <a:extLst>
            <a:ext uri="{909E8E84-426E-40DD-AFC4-6F175D3DCCD1}">
              <a14:hiddenFill xmlns:a14="http://schemas.microsoft.com/office/drawing/2010/main">
                <a:solidFill>
                  <a:srgbClr val="FFFFFF"/>
                </a:solidFill>
              </a14:hiddenFill>
            </a:ext>
          </a:extLst>
        </p:spPr>
      </p:pic>
      <p:sp>
        <p:nvSpPr>
          <p:cNvPr id="8" name="Content Placeholder 2"/>
          <p:cNvSpPr txBox="1">
            <a:spLocks/>
          </p:cNvSpPr>
          <p:nvPr/>
        </p:nvSpPr>
        <p:spPr>
          <a:xfrm>
            <a:off x="8955464" y="548291"/>
            <a:ext cx="3073138" cy="2906631"/>
          </a:xfrm>
          <a:prstGeom prst="rect">
            <a:avLst/>
          </a:prstGeom>
          <a:solidFill>
            <a:schemeClr val="tx1"/>
          </a:solidFill>
          <a:ln w="76200">
            <a:solidFill>
              <a:srgbClr val="FF0000"/>
            </a:solidFill>
          </a:ln>
        </p:spPr>
        <p:txBody>
          <a:bodyPr vert="horz" lIns="91440" tIns="45720" rIns="91440" bIns="45720" rtlCol="0">
            <a:normAutofit fontScale="8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GB" sz="1300" dirty="0">
              <a:solidFill>
                <a:schemeClr val="bg1"/>
              </a:solidFill>
            </a:endParaRPr>
          </a:p>
          <a:p>
            <a:r>
              <a:rPr lang="en-GB" dirty="0">
                <a:solidFill>
                  <a:schemeClr val="bg1"/>
                </a:solidFill>
              </a:rPr>
              <a:t>Describe the impact of digital technology on employment including</a:t>
            </a:r>
          </a:p>
          <a:p>
            <a:pPr lvl="1"/>
            <a:r>
              <a:rPr lang="en-GB" dirty="0">
                <a:solidFill>
                  <a:srgbClr val="FFFF00"/>
                </a:solidFill>
              </a:rPr>
              <a:t>Job opportunities</a:t>
            </a:r>
          </a:p>
          <a:p>
            <a:pPr lvl="1"/>
            <a:r>
              <a:rPr lang="en-GB" dirty="0">
                <a:solidFill>
                  <a:schemeClr val="bg1"/>
                </a:solidFill>
              </a:rPr>
              <a:t>Job displacement</a:t>
            </a:r>
          </a:p>
          <a:p>
            <a:pPr lvl="1"/>
            <a:r>
              <a:rPr lang="en-GB" dirty="0">
                <a:solidFill>
                  <a:schemeClr val="bg1"/>
                </a:solidFill>
              </a:rPr>
              <a:t>Changes in work patterns</a:t>
            </a:r>
          </a:p>
          <a:p>
            <a:pPr lvl="1"/>
            <a:r>
              <a:rPr lang="en-GB" dirty="0">
                <a:solidFill>
                  <a:schemeClr val="bg1"/>
                </a:solidFill>
              </a:rPr>
              <a:t>Need for upskilling</a:t>
            </a:r>
          </a:p>
        </p:txBody>
      </p:sp>
      <p:pic>
        <p:nvPicPr>
          <p:cNvPr id="9" name="Picture 2" descr="Job search - Free professions and jobs icons"/>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79109" y="29817"/>
            <a:ext cx="1621409" cy="162141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38276250"/>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p:cNvGrpSpPr/>
        <p:nvPr/>
      </p:nvGrpSpPr>
      <p:grpSpPr>
        <a:xfrm>
          <a:off x="0" y="0"/>
          <a:ext cx="0" cy="0"/>
          <a:chOff x="0" y="0"/>
          <a:chExt cx="0" cy="0"/>
        </a:xfrm>
      </p:grpSpPr>
      <p:sp>
        <p:nvSpPr>
          <p:cNvPr id="11" name="Rounded Rectangular Callout 10"/>
          <p:cNvSpPr/>
          <p:nvPr/>
        </p:nvSpPr>
        <p:spPr>
          <a:xfrm>
            <a:off x="179109" y="2799761"/>
            <a:ext cx="8587819" cy="3789575"/>
          </a:xfrm>
          <a:prstGeom prst="wedgeRoundRectCallout">
            <a:avLst>
              <a:gd name="adj1" fmla="val 66680"/>
              <a:gd name="adj2" fmla="val 24843"/>
              <a:gd name="adj3" fmla="val 16667"/>
            </a:avLst>
          </a:prstGeom>
          <a:solidFill>
            <a:schemeClr val="bg1"/>
          </a:solidFill>
          <a:ln w="762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 name="Content Placeholder 4"/>
          <p:cNvSpPr>
            <a:spLocks noGrp="1"/>
          </p:cNvSpPr>
          <p:nvPr>
            <p:ph sz="quarter" idx="2"/>
          </p:nvPr>
        </p:nvSpPr>
        <p:spPr>
          <a:xfrm>
            <a:off x="311085" y="2960016"/>
            <a:ext cx="8559537" cy="3704735"/>
          </a:xfrm>
        </p:spPr>
        <p:txBody>
          <a:bodyPr>
            <a:normAutofit/>
          </a:bodyPr>
          <a:lstStyle/>
          <a:p>
            <a:r>
              <a:rPr lang="en-GB" dirty="0"/>
              <a:t>This is down to a number of factors;</a:t>
            </a:r>
          </a:p>
          <a:p>
            <a:pPr lvl="1"/>
            <a:r>
              <a:rPr lang="en-GB" dirty="0"/>
              <a:t>New jobs being created due to technology that previously didn’t exist</a:t>
            </a:r>
          </a:p>
          <a:p>
            <a:pPr lvl="1"/>
            <a:r>
              <a:rPr lang="en-GB" dirty="0"/>
              <a:t>More and more demand for computing within work places</a:t>
            </a:r>
          </a:p>
          <a:p>
            <a:pPr lvl="2"/>
            <a:r>
              <a:rPr lang="en-GB" dirty="0"/>
              <a:t>Jobs in installation</a:t>
            </a:r>
          </a:p>
          <a:p>
            <a:pPr lvl="2"/>
            <a:r>
              <a:rPr lang="en-GB" dirty="0"/>
              <a:t>Jobs in maintaining</a:t>
            </a:r>
          </a:p>
          <a:p>
            <a:pPr lvl="2"/>
            <a:r>
              <a:rPr lang="en-GB" dirty="0"/>
              <a:t>Jobs in production</a:t>
            </a:r>
          </a:p>
          <a:p>
            <a:pPr lvl="1"/>
            <a:r>
              <a:rPr lang="en-GB" dirty="0"/>
              <a:t>More jobs being automated or streamlined due to computing so higher demand for those skills</a:t>
            </a:r>
          </a:p>
          <a:p>
            <a:pPr lvl="1"/>
            <a:endParaRPr lang="en-GB" dirty="0"/>
          </a:p>
        </p:txBody>
      </p:sp>
      <p:pic>
        <p:nvPicPr>
          <p:cNvPr id="7" name="Picture 2" descr="http://images.boomsbeat.com/data/images/full/209/jobs-jpg.jpg"/>
          <p:cNvPicPr>
            <a:picLocks noChangeAspect="1" noChangeArrowheads="1"/>
          </p:cNvPicPr>
          <p:nvPr/>
        </p:nvPicPr>
        <p:blipFill rotWithShape="1">
          <a:blip r:embed="rId2" cstate="print">
            <a:extLst>
              <a:ext uri="{BEBA8EAE-BF5A-486C-A8C5-ECC9F3942E4B}">
                <a14:imgProps xmlns:a14="http://schemas.microsoft.com/office/drawing/2010/main">
                  <a14:imgLayer r:embed="rId3">
                    <a14:imgEffect>
                      <a14:backgroundRemoval t="1180" b="100000" l="26207" r="100000"/>
                    </a14:imgEffect>
                  </a14:imgLayer>
                </a14:imgProps>
              </a:ext>
              <a:ext uri="{28A0092B-C50C-407E-A947-70E740481C1C}">
                <a14:useLocalDpi xmlns:a14="http://schemas.microsoft.com/office/drawing/2010/main" val="0"/>
              </a:ext>
            </a:extLst>
          </a:blip>
          <a:srcRect l="34192"/>
          <a:stretch/>
        </p:blipFill>
        <p:spPr bwMode="auto">
          <a:xfrm>
            <a:off x="9386661" y="4362255"/>
            <a:ext cx="2805339" cy="2495745"/>
          </a:xfrm>
          <a:prstGeom prst="rect">
            <a:avLst/>
          </a:prstGeom>
          <a:noFill/>
          <a:extLst>
            <a:ext uri="{909E8E84-426E-40DD-AFC4-6F175D3DCCD1}">
              <a14:hiddenFill xmlns:a14="http://schemas.microsoft.com/office/drawing/2010/main">
                <a:solidFill>
                  <a:srgbClr val="FFFFFF"/>
                </a:solidFill>
              </a14:hiddenFill>
            </a:ext>
          </a:extLst>
        </p:spPr>
      </p:pic>
      <p:sp>
        <p:nvSpPr>
          <p:cNvPr id="8" name="Content Placeholder 2"/>
          <p:cNvSpPr txBox="1">
            <a:spLocks/>
          </p:cNvSpPr>
          <p:nvPr/>
        </p:nvSpPr>
        <p:spPr>
          <a:xfrm>
            <a:off x="8955464" y="548291"/>
            <a:ext cx="3073138" cy="2906631"/>
          </a:xfrm>
          <a:prstGeom prst="rect">
            <a:avLst/>
          </a:prstGeom>
          <a:solidFill>
            <a:schemeClr val="tx1"/>
          </a:solidFill>
          <a:ln w="76200">
            <a:solidFill>
              <a:srgbClr val="FF0000"/>
            </a:solidFill>
          </a:ln>
        </p:spPr>
        <p:txBody>
          <a:bodyPr vert="horz" lIns="91440" tIns="45720" rIns="91440" bIns="45720" rtlCol="0">
            <a:normAutofit fontScale="8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GB" sz="1300" dirty="0">
              <a:solidFill>
                <a:schemeClr val="bg1"/>
              </a:solidFill>
            </a:endParaRPr>
          </a:p>
          <a:p>
            <a:r>
              <a:rPr lang="en-GB" dirty="0">
                <a:solidFill>
                  <a:schemeClr val="bg1"/>
                </a:solidFill>
              </a:rPr>
              <a:t>Describe the impact of digital technology on employment including</a:t>
            </a:r>
          </a:p>
          <a:p>
            <a:pPr lvl="1"/>
            <a:r>
              <a:rPr lang="en-GB" dirty="0">
                <a:solidFill>
                  <a:srgbClr val="FFFF00"/>
                </a:solidFill>
              </a:rPr>
              <a:t>Job opportunities</a:t>
            </a:r>
          </a:p>
          <a:p>
            <a:pPr lvl="1"/>
            <a:r>
              <a:rPr lang="en-GB" dirty="0">
                <a:solidFill>
                  <a:schemeClr val="bg1"/>
                </a:solidFill>
              </a:rPr>
              <a:t>Job displacement</a:t>
            </a:r>
          </a:p>
          <a:p>
            <a:pPr lvl="1"/>
            <a:r>
              <a:rPr lang="en-GB" dirty="0">
                <a:solidFill>
                  <a:schemeClr val="bg1"/>
                </a:solidFill>
              </a:rPr>
              <a:t>Changes in work patterns</a:t>
            </a:r>
          </a:p>
          <a:p>
            <a:pPr lvl="1"/>
            <a:r>
              <a:rPr lang="en-GB" dirty="0">
                <a:solidFill>
                  <a:schemeClr val="bg1"/>
                </a:solidFill>
              </a:rPr>
              <a:t>Need for upskilling</a:t>
            </a:r>
          </a:p>
        </p:txBody>
      </p:sp>
      <p:pic>
        <p:nvPicPr>
          <p:cNvPr id="8194" name="Picture 2" descr="Job search - Free professions and jobs icons"/>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79109" y="29817"/>
            <a:ext cx="1621409" cy="162141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5810878"/>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p:cNvGrpSpPr/>
        <p:nvPr/>
      </p:nvGrpSpPr>
      <p:grpSpPr>
        <a:xfrm>
          <a:off x="0" y="0"/>
          <a:ext cx="0" cy="0"/>
          <a:chOff x="0" y="0"/>
          <a:chExt cx="0" cy="0"/>
        </a:xfrm>
      </p:grpSpPr>
      <p:sp>
        <p:nvSpPr>
          <p:cNvPr id="11" name="Rounded Rectangular Callout 10"/>
          <p:cNvSpPr/>
          <p:nvPr/>
        </p:nvSpPr>
        <p:spPr>
          <a:xfrm>
            <a:off x="179109" y="3563725"/>
            <a:ext cx="9530499" cy="2318601"/>
          </a:xfrm>
          <a:prstGeom prst="wedgeRoundRectCallout">
            <a:avLst>
              <a:gd name="adj1" fmla="val 55923"/>
              <a:gd name="adj2" fmla="val 38027"/>
              <a:gd name="adj3" fmla="val 16667"/>
            </a:avLst>
          </a:prstGeom>
          <a:solidFill>
            <a:schemeClr val="bg1"/>
          </a:solidFill>
          <a:ln w="762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 name="Content Placeholder 4"/>
          <p:cNvSpPr>
            <a:spLocks noGrp="1"/>
          </p:cNvSpPr>
          <p:nvPr>
            <p:ph sz="quarter" idx="2"/>
          </p:nvPr>
        </p:nvSpPr>
        <p:spPr>
          <a:xfrm>
            <a:off x="454842" y="3563725"/>
            <a:ext cx="8931819" cy="3213362"/>
          </a:xfrm>
        </p:spPr>
        <p:txBody>
          <a:bodyPr>
            <a:normAutofit/>
          </a:bodyPr>
          <a:lstStyle/>
          <a:p>
            <a:r>
              <a:rPr lang="en-GB" dirty="0"/>
              <a:t>Currently there are more jobs being created in computing than there are people to fill them</a:t>
            </a:r>
          </a:p>
          <a:p>
            <a:r>
              <a:rPr lang="en-GB" dirty="0"/>
              <a:t>Have some extremely good pay schemes</a:t>
            </a:r>
          </a:p>
          <a:p>
            <a:r>
              <a:rPr lang="en-GB" dirty="0"/>
              <a:t>Huge ability to travel and work in more enjoyable environments and ways</a:t>
            </a:r>
          </a:p>
        </p:txBody>
      </p:sp>
      <p:pic>
        <p:nvPicPr>
          <p:cNvPr id="7" name="Picture 2" descr="http://images.boomsbeat.com/data/images/full/209/jobs-jpg.jpg"/>
          <p:cNvPicPr>
            <a:picLocks noChangeAspect="1" noChangeArrowheads="1"/>
          </p:cNvPicPr>
          <p:nvPr/>
        </p:nvPicPr>
        <p:blipFill rotWithShape="1">
          <a:blip r:embed="rId2" cstate="print">
            <a:extLst>
              <a:ext uri="{BEBA8EAE-BF5A-486C-A8C5-ECC9F3942E4B}">
                <a14:imgProps xmlns:a14="http://schemas.microsoft.com/office/drawing/2010/main">
                  <a14:imgLayer r:embed="rId3">
                    <a14:imgEffect>
                      <a14:backgroundRemoval t="1180" b="100000" l="26207" r="100000"/>
                    </a14:imgEffect>
                  </a14:imgLayer>
                </a14:imgProps>
              </a:ext>
              <a:ext uri="{28A0092B-C50C-407E-A947-70E740481C1C}">
                <a14:useLocalDpi xmlns:a14="http://schemas.microsoft.com/office/drawing/2010/main" val="0"/>
              </a:ext>
            </a:extLst>
          </a:blip>
          <a:srcRect l="34192"/>
          <a:stretch/>
        </p:blipFill>
        <p:spPr bwMode="auto">
          <a:xfrm>
            <a:off x="9386661" y="4362255"/>
            <a:ext cx="2805339" cy="2495745"/>
          </a:xfrm>
          <a:prstGeom prst="rect">
            <a:avLst/>
          </a:prstGeom>
          <a:noFill/>
          <a:extLst>
            <a:ext uri="{909E8E84-426E-40DD-AFC4-6F175D3DCCD1}">
              <a14:hiddenFill xmlns:a14="http://schemas.microsoft.com/office/drawing/2010/main">
                <a:solidFill>
                  <a:srgbClr val="FFFFFF"/>
                </a:solidFill>
              </a14:hiddenFill>
            </a:ext>
          </a:extLst>
        </p:spPr>
      </p:pic>
      <p:sp>
        <p:nvSpPr>
          <p:cNvPr id="8" name="Content Placeholder 2"/>
          <p:cNvSpPr txBox="1">
            <a:spLocks/>
          </p:cNvSpPr>
          <p:nvPr/>
        </p:nvSpPr>
        <p:spPr>
          <a:xfrm>
            <a:off x="8955464" y="548291"/>
            <a:ext cx="3073138" cy="2906631"/>
          </a:xfrm>
          <a:prstGeom prst="rect">
            <a:avLst/>
          </a:prstGeom>
          <a:solidFill>
            <a:schemeClr val="tx1"/>
          </a:solidFill>
          <a:ln w="76200">
            <a:solidFill>
              <a:srgbClr val="FF0000"/>
            </a:solidFill>
          </a:ln>
        </p:spPr>
        <p:txBody>
          <a:bodyPr vert="horz" lIns="91440" tIns="45720" rIns="91440" bIns="45720" rtlCol="0">
            <a:normAutofit fontScale="8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GB" sz="1300" dirty="0">
              <a:solidFill>
                <a:schemeClr val="bg1"/>
              </a:solidFill>
            </a:endParaRPr>
          </a:p>
          <a:p>
            <a:r>
              <a:rPr lang="en-GB" dirty="0">
                <a:solidFill>
                  <a:schemeClr val="bg1"/>
                </a:solidFill>
              </a:rPr>
              <a:t>Describe the impact of digital technology on employment including</a:t>
            </a:r>
          </a:p>
          <a:p>
            <a:pPr lvl="1"/>
            <a:r>
              <a:rPr lang="en-GB" dirty="0">
                <a:solidFill>
                  <a:srgbClr val="FFFF00"/>
                </a:solidFill>
              </a:rPr>
              <a:t>Job opportunities</a:t>
            </a:r>
          </a:p>
          <a:p>
            <a:pPr lvl="1"/>
            <a:r>
              <a:rPr lang="en-GB" dirty="0">
                <a:solidFill>
                  <a:schemeClr val="bg1"/>
                </a:solidFill>
              </a:rPr>
              <a:t>Job displacement</a:t>
            </a:r>
          </a:p>
          <a:p>
            <a:pPr lvl="1"/>
            <a:r>
              <a:rPr lang="en-GB" dirty="0">
                <a:solidFill>
                  <a:schemeClr val="bg1"/>
                </a:solidFill>
              </a:rPr>
              <a:t>Changes in work patterns</a:t>
            </a:r>
          </a:p>
          <a:p>
            <a:pPr lvl="1"/>
            <a:r>
              <a:rPr lang="en-GB" dirty="0">
                <a:solidFill>
                  <a:schemeClr val="bg1"/>
                </a:solidFill>
              </a:rPr>
              <a:t>Need for upskilling</a:t>
            </a:r>
          </a:p>
        </p:txBody>
      </p:sp>
      <p:pic>
        <p:nvPicPr>
          <p:cNvPr id="9" name="Picture 2" descr="Job search - Free professions and jobs icons"/>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79109" y="29817"/>
            <a:ext cx="1621409" cy="162141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69393801"/>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p:cNvGrpSpPr/>
        <p:nvPr/>
      </p:nvGrpSpPr>
      <p:grpSpPr>
        <a:xfrm>
          <a:off x="0" y="0"/>
          <a:ext cx="0" cy="0"/>
          <a:chOff x="0" y="0"/>
          <a:chExt cx="0" cy="0"/>
        </a:xfrm>
      </p:grpSpPr>
      <p:sp>
        <p:nvSpPr>
          <p:cNvPr id="11" name="Rounded Rectangular Callout 10"/>
          <p:cNvSpPr/>
          <p:nvPr/>
        </p:nvSpPr>
        <p:spPr>
          <a:xfrm>
            <a:off x="772998" y="2246705"/>
            <a:ext cx="7918516" cy="4231099"/>
          </a:xfrm>
          <a:prstGeom prst="wedgeRoundRectCallout">
            <a:avLst>
              <a:gd name="adj1" fmla="val 62590"/>
              <a:gd name="adj2" fmla="val 29115"/>
              <a:gd name="adj3" fmla="val 16667"/>
            </a:avLst>
          </a:prstGeom>
          <a:solidFill>
            <a:schemeClr val="bg1"/>
          </a:solidFill>
          <a:ln w="762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 name="Content Placeholder 4"/>
          <p:cNvSpPr>
            <a:spLocks noGrp="1"/>
          </p:cNvSpPr>
          <p:nvPr>
            <p:ph sz="quarter" idx="2"/>
          </p:nvPr>
        </p:nvSpPr>
        <p:spPr>
          <a:xfrm>
            <a:off x="1300898" y="2423492"/>
            <a:ext cx="7843101" cy="4572000"/>
          </a:xfrm>
        </p:spPr>
        <p:txBody>
          <a:bodyPr>
            <a:normAutofit/>
          </a:bodyPr>
          <a:lstStyle/>
          <a:p>
            <a:r>
              <a:rPr lang="en-GB" dirty="0"/>
              <a:t>Job displacement</a:t>
            </a:r>
          </a:p>
          <a:p>
            <a:pPr lvl="1"/>
            <a:r>
              <a:rPr lang="en-GB" dirty="0"/>
              <a:t>A computer was one job that has vanished</a:t>
            </a:r>
          </a:p>
          <a:p>
            <a:pPr lvl="1"/>
            <a:r>
              <a:rPr lang="en-GB" dirty="0"/>
              <a:t>Can we think of anymore that are on the decline or disappeared</a:t>
            </a:r>
          </a:p>
          <a:p>
            <a:pPr lvl="2"/>
            <a:r>
              <a:rPr lang="en-GB" dirty="0"/>
              <a:t>Typist</a:t>
            </a:r>
          </a:p>
          <a:p>
            <a:pPr lvl="2"/>
            <a:r>
              <a:rPr lang="en-GB" dirty="0"/>
              <a:t>Secretary</a:t>
            </a:r>
          </a:p>
          <a:p>
            <a:pPr lvl="2"/>
            <a:r>
              <a:rPr lang="en-GB" dirty="0"/>
              <a:t>Factory workers</a:t>
            </a:r>
          </a:p>
          <a:p>
            <a:pPr lvl="2"/>
            <a:r>
              <a:rPr lang="en-GB" dirty="0"/>
              <a:t>Bankers</a:t>
            </a:r>
          </a:p>
          <a:p>
            <a:pPr lvl="2"/>
            <a:r>
              <a:rPr lang="en-GB" dirty="0"/>
              <a:t>Post sorters</a:t>
            </a:r>
          </a:p>
          <a:p>
            <a:pPr lvl="2"/>
            <a:r>
              <a:rPr lang="en-GB" dirty="0"/>
              <a:t>Manufacturing of clothes (or anything)</a:t>
            </a:r>
          </a:p>
          <a:p>
            <a:pPr lvl="2"/>
            <a:r>
              <a:rPr lang="en-GB" dirty="0"/>
              <a:t>Street shops</a:t>
            </a:r>
          </a:p>
          <a:p>
            <a:pPr lvl="2"/>
            <a:endParaRPr lang="en-GB" dirty="0"/>
          </a:p>
        </p:txBody>
      </p:sp>
      <p:pic>
        <p:nvPicPr>
          <p:cNvPr id="7" name="Picture 2" descr="http://images.boomsbeat.com/data/images/full/209/jobs-jpg.jpg"/>
          <p:cNvPicPr>
            <a:picLocks noChangeAspect="1" noChangeArrowheads="1"/>
          </p:cNvPicPr>
          <p:nvPr/>
        </p:nvPicPr>
        <p:blipFill rotWithShape="1">
          <a:blip r:embed="rId2" cstate="print">
            <a:extLst>
              <a:ext uri="{BEBA8EAE-BF5A-486C-A8C5-ECC9F3942E4B}">
                <a14:imgProps xmlns:a14="http://schemas.microsoft.com/office/drawing/2010/main">
                  <a14:imgLayer r:embed="rId3">
                    <a14:imgEffect>
                      <a14:backgroundRemoval t="1180" b="100000" l="26207" r="100000"/>
                    </a14:imgEffect>
                  </a14:imgLayer>
                </a14:imgProps>
              </a:ext>
              <a:ext uri="{28A0092B-C50C-407E-A947-70E740481C1C}">
                <a14:useLocalDpi xmlns:a14="http://schemas.microsoft.com/office/drawing/2010/main" val="0"/>
              </a:ext>
            </a:extLst>
          </a:blip>
          <a:srcRect l="34192"/>
          <a:stretch/>
        </p:blipFill>
        <p:spPr bwMode="auto">
          <a:xfrm>
            <a:off x="9386661" y="4362255"/>
            <a:ext cx="2805339" cy="2495745"/>
          </a:xfrm>
          <a:prstGeom prst="rect">
            <a:avLst/>
          </a:prstGeom>
          <a:noFill/>
          <a:extLst>
            <a:ext uri="{909E8E84-426E-40DD-AFC4-6F175D3DCCD1}">
              <a14:hiddenFill xmlns:a14="http://schemas.microsoft.com/office/drawing/2010/main">
                <a:solidFill>
                  <a:srgbClr val="FFFFFF"/>
                </a:solidFill>
              </a14:hiddenFill>
            </a:ext>
          </a:extLst>
        </p:spPr>
      </p:pic>
      <p:sp>
        <p:nvSpPr>
          <p:cNvPr id="8" name="Content Placeholder 2"/>
          <p:cNvSpPr txBox="1">
            <a:spLocks/>
          </p:cNvSpPr>
          <p:nvPr/>
        </p:nvSpPr>
        <p:spPr>
          <a:xfrm>
            <a:off x="8955464" y="548291"/>
            <a:ext cx="3073138" cy="2906631"/>
          </a:xfrm>
          <a:prstGeom prst="rect">
            <a:avLst/>
          </a:prstGeom>
          <a:solidFill>
            <a:schemeClr val="tx1"/>
          </a:solidFill>
          <a:ln w="76200">
            <a:solidFill>
              <a:srgbClr val="FF0000"/>
            </a:solidFill>
          </a:ln>
        </p:spPr>
        <p:txBody>
          <a:bodyPr vert="horz" lIns="91440" tIns="45720" rIns="91440" bIns="45720" rtlCol="0">
            <a:normAutofit fontScale="8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GB" sz="1300" dirty="0">
              <a:solidFill>
                <a:schemeClr val="bg1"/>
              </a:solidFill>
            </a:endParaRPr>
          </a:p>
          <a:p>
            <a:r>
              <a:rPr lang="en-GB" dirty="0">
                <a:solidFill>
                  <a:schemeClr val="bg1"/>
                </a:solidFill>
              </a:rPr>
              <a:t>Describe the impact of digital technology on employment including</a:t>
            </a:r>
          </a:p>
          <a:p>
            <a:pPr lvl="1"/>
            <a:r>
              <a:rPr lang="en-GB" dirty="0">
                <a:solidFill>
                  <a:schemeClr val="bg1"/>
                </a:solidFill>
              </a:rPr>
              <a:t>Job opportunities</a:t>
            </a:r>
          </a:p>
          <a:p>
            <a:pPr lvl="1"/>
            <a:r>
              <a:rPr lang="en-GB" dirty="0">
                <a:solidFill>
                  <a:srgbClr val="FFFF00"/>
                </a:solidFill>
              </a:rPr>
              <a:t>Job displacement</a:t>
            </a:r>
          </a:p>
          <a:p>
            <a:pPr lvl="1"/>
            <a:r>
              <a:rPr lang="en-GB" dirty="0">
                <a:solidFill>
                  <a:schemeClr val="bg1"/>
                </a:solidFill>
              </a:rPr>
              <a:t>Changes in work patterns</a:t>
            </a:r>
          </a:p>
          <a:p>
            <a:pPr lvl="1"/>
            <a:r>
              <a:rPr lang="en-GB" dirty="0">
                <a:solidFill>
                  <a:schemeClr val="bg1"/>
                </a:solidFill>
              </a:rPr>
              <a:t>Need for upskilling</a:t>
            </a:r>
          </a:p>
        </p:txBody>
      </p:sp>
      <p:pic>
        <p:nvPicPr>
          <p:cNvPr id="9" name="Picture 2" descr="Job search - Free professions and jobs icons"/>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79109" y="29817"/>
            <a:ext cx="1621409" cy="162141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85222144"/>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p:cNvGrpSpPr/>
        <p:nvPr/>
      </p:nvGrpSpPr>
      <p:grpSpPr>
        <a:xfrm>
          <a:off x="0" y="0"/>
          <a:ext cx="0" cy="0"/>
          <a:chOff x="0" y="0"/>
          <a:chExt cx="0" cy="0"/>
        </a:xfrm>
      </p:grpSpPr>
      <p:sp>
        <p:nvSpPr>
          <p:cNvPr id="11" name="Rounded Rectangular Callout 10"/>
          <p:cNvSpPr/>
          <p:nvPr/>
        </p:nvSpPr>
        <p:spPr>
          <a:xfrm>
            <a:off x="1329179" y="1915177"/>
            <a:ext cx="7466029" cy="4748787"/>
          </a:xfrm>
          <a:prstGeom prst="wedgeRoundRectCallout">
            <a:avLst>
              <a:gd name="adj1" fmla="val 61731"/>
              <a:gd name="adj2" fmla="val 29689"/>
              <a:gd name="adj3" fmla="val 16667"/>
            </a:avLst>
          </a:prstGeom>
          <a:solidFill>
            <a:schemeClr val="bg1"/>
          </a:solidFill>
          <a:ln w="762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 name="Content Placeholder 4"/>
          <p:cNvSpPr>
            <a:spLocks noGrp="1"/>
          </p:cNvSpPr>
          <p:nvPr>
            <p:ph sz="quarter" idx="2"/>
          </p:nvPr>
        </p:nvSpPr>
        <p:spPr>
          <a:xfrm>
            <a:off x="1489434" y="2091964"/>
            <a:ext cx="7049011" cy="4572000"/>
          </a:xfrm>
        </p:spPr>
        <p:txBody>
          <a:bodyPr>
            <a:normAutofit/>
          </a:bodyPr>
          <a:lstStyle/>
          <a:p>
            <a:r>
              <a:rPr lang="en-GB" dirty="0"/>
              <a:t>Work patterns</a:t>
            </a:r>
          </a:p>
          <a:p>
            <a:pPr lvl="1"/>
            <a:r>
              <a:rPr lang="en-GB" dirty="0"/>
              <a:t>Traditional</a:t>
            </a:r>
          </a:p>
          <a:p>
            <a:pPr lvl="2"/>
            <a:r>
              <a:rPr lang="en-GB" dirty="0"/>
              <a:t>Working 9 to 5</a:t>
            </a:r>
          </a:p>
          <a:p>
            <a:pPr lvl="2"/>
            <a:r>
              <a:rPr lang="en-GB" dirty="0"/>
              <a:t>Based in an office block</a:t>
            </a:r>
          </a:p>
          <a:p>
            <a:pPr lvl="2"/>
            <a:r>
              <a:rPr lang="en-GB" dirty="0"/>
              <a:t>Generally assign asks to do solo</a:t>
            </a:r>
          </a:p>
          <a:p>
            <a:pPr lvl="1"/>
            <a:r>
              <a:rPr lang="en-GB" dirty="0"/>
              <a:t>Current changes</a:t>
            </a:r>
          </a:p>
          <a:p>
            <a:pPr lvl="2"/>
            <a:r>
              <a:rPr lang="en-GB" dirty="0"/>
              <a:t>Offices still exist but the layout and style has changed</a:t>
            </a:r>
          </a:p>
          <a:p>
            <a:pPr lvl="2"/>
            <a:r>
              <a:rPr lang="en-GB" dirty="0"/>
              <a:t>Can work any hour you wish in some cases providing you still work the required amount of time</a:t>
            </a:r>
          </a:p>
          <a:p>
            <a:pPr lvl="3"/>
            <a:r>
              <a:rPr lang="en-GB" dirty="0"/>
              <a:t>Helpful for families</a:t>
            </a:r>
          </a:p>
          <a:p>
            <a:pPr lvl="2"/>
            <a:r>
              <a:rPr lang="en-GB" dirty="0"/>
              <a:t>Can work anywhere with teleworking</a:t>
            </a:r>
          </a:p>
          <a:p>
            <a:pPr lvl="1"/>
            <a:r>
              <a:rPr lang="en-GB" dirty="0"/>
              <a:t>Find pictures showing the two examples</a:t>
            </a:r>
          </a:p>
          <a:p>
            <a:pPr lvl="2"/>
            <a:endParaRPr lang="en-GB" dirty="0"/>
          </a:p>
        </p:txBody>
      </p:sp>
      <p:pic>
        <p:nvPicPr>
          <p:cNvPr id="7" name="Picture 2" descr="http://images.boomsbeat.com/data/images/full/209/jobs-jpg.jpg"/>
          <p:cNvPicPr>
            <a:picLocks noChangeAspect="1" noChangeArrowheads="1"/>
          </p:cNvPicPr>
          <p:nvPr/>
        </p:nvPicPr>
        <p:blipFill rotWithShape="1">
          <a:blip r:embed="rId2" cstate="print">
            <a:extLst>
              <a:ext uri="{BEBA8EAE-BF5A-486C-A8C5-ECC9F3942E4B}">
                <a14:imgProps xmlns:a14="http://schemas.microsoft.com/office/drawing/2010/main">
                  <a14:imgLayer r:embed="rId3">
                    <a14:imgEffect>
                      <a14:backgroundRemoval t="1180" b="100000" l="26207" r="100000"/>
                    </a14:imgEffect>
                  </a14:imgLayer>
                </a14:imgProps>
              </a:ext>
              <a:ext uri="{28A0092B-C50C-407E-A947-70E740481C1C}">
                <a14:useLocalDpi xmlns:a14="http://schemas.microsoft.com/office/drawing/2010/main" val="0"/>
              </a:ext>
            </a:extLst>
          </a:blip>
          <a:srcRect l="34192"/>
          <a:stretch/>
        </p:blipFill>
        <p:spPr bwMode="auto">
          <a:xfrm>
            <a:off x="9386661" y="4362255"/>
            <a:ext cx="2805339" cy="2495745"/>
          </a:xfrm>
          <a:prstGeom prst="rect">
            <a:avLst/>
          </a:prstGeom>
          <a:noFill/>
          <a:extLst>
            <a:ext uri="{909E8E84-426E-40DD-AFC4-6F175D3DCCD1}">
              <a14:hiddenFill xmlns:a14="http://schemas.microsoft.com/office/drawing/2010/main">
                <a:solidFill>
                  <a:srgbClr val="FFFFFF"/>
                </a:solidFill>
              </a14:hiddenFill>
            </a:ext>
          </a:extLst>
        </p:spPr>
      </p:pic>
      <p:sp>
        <p:nvSpPr>
          <p:cNvPr id="8" name="Content Placeholder 2"/>
          <p:cNvSpPr txBox="1">
            <a:spLocks/>
          </p:cNvSpPr>
          <p:nvPr/>
        </p:nvSpPr>
        <p:spPr>
          <a:xfrm>
            <a:off x="8955464" y="548291"/>
            <a:ext cx="3073138" cy="2906631"/>
          </a:xfrm>
          <a:prstGeom prst="rect">
            <a:avLst/>
          </a:prstGeom>
          <a:solidFill>
            <a:schemeClr val="tx1"/>
          </a:solidFill>
          <a:ln w="76200">
            <a:solidFill>
              <a:srgbClr val="FF0000"/>
            </a:solidFill>
          </a:ln>
        </p:spPr>
        <p:txBody>
          <a:bodyPr vert="horz" lIns="91440" tIns="45720" rIns="91440" bIns="45720" rtlCol="0">
            <a:normAutofit fontScale="8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GB" sz="1300" dirty="0">
              <a:solidFill>
                <a:schemeClr val="bg1"/>
              </a:solidFill>
            </a:endParaRPr>
          </a:p>
          <a:p>
            <a:r>
              <a:rPr lang="en-GB" dirty="0">
                <a:solidFill>
                  <a:schemeClr val="bg1"/>
                </a:solidFill>
              </a:rPr>
              <a:t>Describe the impact of digital technology on employment including</a:t>
            </a:r>
          </a:p>
          <a:p>
            <a:pPr lvl="1"/>
            <a:r>
              <a:rPr lang="en-GB" dirty="0">
                <a:solidFill>
                  <a:schemeClr val="bg1"/>
                </a:solidFill>
              </a:rPr>
              <a:t>Job opportunities</a:t>
            </a:r>
          </a:p>
          <a:p>
            <a:pPr lvl="1"/>
            <a:r>
              <a:rPr lang="en-GB" dirty="0">
                <a:solidFill>
                  <a:schemeClr val="bg1"/>
                </a:solidFill>
              </a:rPr>
              <a:t>Job displacement</a:t>
            </a:r>
          </a:p>
          <a:p>
            <a:pPr lvl="1"/>
            <a:r>
              <a:rPr lang="en-GB" dirty="0">
                <a:solidFill>
                  <a:srgbClr val="FFFF00"/>
                </a:solidFill>
              </a:rPr>
              <a:t>Changes in work patterns</a:t>
            </a:r>
          </a:p>
          <a:p>
            <a:pPr lvl="1"/>
            <a:r>
              <a:rPr lang="en-GB" dirty="0">
                <a:solidFill>
                  <a:schemeClr val="bg1"/>
                </a:solidFill>
              </a:rPr>
              <a:t>Need for upskilling</a:t>
            </a:r>
          </a:p>
        </p:txBody>
      </p:sp>
      <p:pic>
        <p:nvPicPr>
          <p:cNvPr id="9" name="Picture 2" descr="Job search - Free professions and jobs icons"/>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79109" y="29817"/>
            <a:ext cx="1621409" cy="162141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00520789"/>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p:cNvGrpSpPr/>
        <p:nvPr/>
      </p:nvGrpSpPr>
      <p:grpSpPr>
        <a:xfrm>
          <a:off x="0" y="0"/>
          <a:ext cx="0" cy="0"/>
          <a:chOff x="0" y="0"/>
          <a:chExt cx="0" cy="0"/>
        </a:xfrm>
      </p:grpSpPr>
      <p:sp>
        <p:nvSpPr>
          <p:cNvPr id="11" name="Rounded Rectangular Callout 10"/>
          <p:cNvSpPr/>
          <p:nvPr/>
        </p:nvSpPr>
        <p:spPr>
          <a:xfrm>
            <a:off x="358220" y="2102177"/>
            <a:ext cx="8182466" cy="3242821"/>
          </a:xfrm>
          <a:prstGeom prst="wedgeRoundRectCallout">
            <a:avLst>
              <a:gd name="adj1" fmla="val 61453"/>
              <a:gd name="adj2" fmla="val 48532"/>
              <a:gd name="adj3" fmla="val 16667"/>
            </a:avLst>
          </a:prstGeom>
          <a:solidFill>
            <a:schemeClr val="bg1"/>
          </a:solidFill>
          <a:ln w="762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 name="Content Placeholder 4"/>
          <p:cNvSpPr>
            <a:spLocks noGrp="1"/>
          </p:cNvSpPr>
          <p:nvPr>
            <p:ph sz="quarter" idx="2"/>
          </p:nvPr>
        </p:nvSpPr>
        <p:spPr>
          <a:xfrm>
            <a:off x="518474" y="2286000"/>
            <a:ext cx="7407229" cy="4572000"/>
          </a:xfrm>
        </p:spPr>
        <p:txBody>
          <a:bodyPr>
            <a:normAutofit/>
          </a:bodyPr>
          <a:lstStyle/>
          <a:p>
            <a:r>
              <a:rPr lang="en-GB" dirty="0"/>
              <a:t>Teleworking</a:t>
            </a:r>
          </a:p>
          <a:p>
            <a:pPr lvl="1"/>
            <a:r>
              <a:rPr lang="en-GB" dirty="0"/>
              <a:t>The ability to work from home using computers, mobile devices and internet connections</a:t>
            </a:r>
          </a:p>
          <a:p>
            <a:pPr lvl="1"/>
            <a:r>
              <a:rPr lang="en-GB" dirty="0"/>
              <a:t>Through email and video conferencing an employee is never out of touch</a:t>
            </a:r>
          </a:p>
          <a:p>
            <a:pPr lvl="1"/>
            <a:r>
              <a:rPr lang="en-GB" dirty="0"/>
              <a:t>However there are advantages and disadvantages to the employee and employer</a:t>
            </a:r>
          </a:p>
          <a:p>
            <a:pPr marL="914400" lvl="2" indent="0">
              <a:buNone/>
            </a:pPr>
            <a:endParaRPr lang="en-GB" dirty="0"/>
          </a:p>
        </p:txBody>
      </p:sp>
      <p:pic>
        <p:nvPicPr>
          <p:cNvPr id="7" name="Picture 2" descr="http://images.boomsbeat.com/data/images/full/209/jobs-jpg.jpg"/>
          <p:cNvPicPr>
            <a:picLocks noChangeAspect="1" noChangeArrowheads="1"/>
          </p:cNvPicPr>
          <p:nvPr/>
        </p:nvPicPr>
        <p:blipFill rotWithShape="1">
          <a:blip r:embed="rId2" cstate="print">
            <a:extLst>
              <a:ext uri="{BEBA8EAE-BF5A-486C-A8C5-ECC9F3942E4B}">
                <a14:imgProps xmlns:a14="http://schemas.microsoft.com/office/drawing/2010/main">
                  <a14:imgLayer r:embed="rId3">
                    <a14:imgEffect>
                      <a14:backgroundRemoval t="1180" b="100000" l="26207" r="100000"/>
                    </a14:imgEffect>
                  </a14:imgLayer>
                </a14:imgProps>
              </a:ext>
              <a:ext uri="{28A0092B-C50C-407E-A947-70E740481C1C}">
                <a14:useLocalDpi xmlns:a14="http://schemas.microsoft.com/office/drawing/2010/main" val="0"/>
              </a:ext>
            </a:extLst>
          </a:blip>
          <a:srcRect l="34192"/>
          <a:stretch/>
        </p:blipFill>
        <p:spPr bwMode="auto">
          <a:xfrm>
            <a:off x="9386661" y="4362255"/>
            <a:ext cx="2805339" cy="2495745"/>
          </a:xfrm>
          <a:prstGeom prst="rect">
            <a:avLst/>
          </a:prstGeom>
          <a:noFill/>
          <a:extLst>
            <a:ext uri="{909E8E84-426E-40DD-AFC4-6F175D3DCCD1}">
              <a14:hiddenFill xmlns:a14="http://schemas.microsoft.com/office/drawing/2010/main">
                <a:solidFill>
                  <a:srgbClr val="FFFFFF"/>
                </a:solidFill>
              </a14:hiddenFill>
            </a:ext>
          </a:extLst>
        </p:spPr>
      </p:pic>
      <p:sp>
        <p:nvSpPr>
          <p:cNvPr id="8" name="Content Placeholder 2"/>
          <p:cNvSpPr txBox="1">
            <a:spLocks/>
          </p:cNvSpPr>
          <p:nvPr/>
        </p:nvSpPr>
        <p:spPr>
          <a:xfrm>
            <a:off x="8955464" y="548291"/>
            <a:ext cx="3073138" cy="2906631"/>
          </a:xfrm>
          <a:prstGeom prst="rect">
            <a:avLst/>
          </a:prstGeom>
          <a:solidFill>
            <a:schemeClr val="tx1"/>
          </a:solidFill>
          <a:ln w="76200">
            <a:solidFill>
              <a:srgbClr val="FF0000"/>
            </a:solidFill>
          </a:ln>
        </p:spPr>
        <p:txBody>
          <a:bodyPr vert="horz" lIns="91440" tIns="45720" rIns="91440" bIns="45720" rtlCol="0">
            <a:normAutofit fontScale="8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GB" sz="1300" dirty="0">
              <a:solidFill>
                <a:schemeClr val="bg1"/>
              </a:solidFill>
            </a:endParaRPr>
          </a:p>
          <a:p>
            <a:r>
              <a:rPr lang="en-GB" dirty="0">
                <a:solidFill>
                  <a:schemeClr val="bg1"/>
                </a:solidFill>
              </a:rPr>
              <a:t>Describe the impact of digital technology on employment including</a:t>
            </a:r>
          </a:p>
          <a:p>
            <a:pPr lvl="1"/>
            <a:r>
              <a:rPr lang="en-GB" dirty="0">
                <a:solidFill>
                  <a:schemeClr val="bg1"/>
                </a:solidFill>
              </a:rPr>
              <a:t>Job opportunities</a:t>
            </a:r>
          </a:p>
          <a:p>
            <a:pPr lvl="1"/>
            <a:r>
              <a:rPr lang="en-GB" dirty="0">
                <a:solidFill>
                  <a:schemeClr val="bg1"/>
                </a:solidFill>
              </a:rPr>
              <a:t>Job displacement</a:t>
            </a:r>
          </a:p>
          <a:p>
            <a:pPr lvl="1"/>
            <a:r>
              <a:rPr lang="en-GB" dirty="0">
                <a:solidFill>
                  <a:srgbClr val="FFFF00"/>
                </a:solidFill>
              </a:rPr>
              <a:t>Changes in work patterns</a:t>
            </a:r>
          </a:p>
          <a:p>
            <a:pPr lvl="1"/>
            <a:r>
              <a:rPr lang="en-GB" dirty="0">
                <a:solidFill>
                  <a:schemeClr val="bg1"/>
                </a:solidFill>
              </a:rPr>
              <a:t>Need for upskilling</a:t>
            </a:r>
          </a:p>
        </p:txBody>
      </p:sp>
      <p:pic>
        <p:nvPicPr>
          <p:cNvPr id="9" name="Picture 2" descr="Job search - Free professions and jobs icons"/>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79109" y="29817"/>
            <a:ext cx="1621409" cy="162141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07913197"/>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p:cNvGrpSpPr/>
        <p:nvPr/>
      </p:nvGrpSpPr>
      <p:grpSpPr>
        <a:xfrm>
          <a:off x="0" y="0"/>
          <a:ext cx="0" cy="0"/>
          <a:chOff x="0" y="0"/>
          <a:chExt cx="0" cy="0"/>
        </a:xfrm>
      </p:grpSpPr>
      <p:sp>
        <p:nvSpPr>
          <p:cNvPr id="11" name="Rounded Rectangular Callout 10"/>
          <p:cNvSpPr/>
          <p:nvPr/>
        </p:nvSpPr>
        <p:spPr>
          <a:xfrm>
            <a:off x="94268" y="1895966"/>
            <a:ext cx="8663233" cy="4391712"/>
          </a:xfrm>
          <a:prstGeom prst="wedgeRoundRectCallout">
            <a:avLst>
              <a:gd name="adj1" fmla="val 63932"/>
              <a:gd name="adj2" fmla="val 34163"/>
              <a:gd name="adj3" fmla="val 16667"/>
            </a:avLst>
          </a:prstGeom>
          <a:solidFill>
            <a:schemeClr val="bg1"/>
          </a:solidFill>
          <a:ln w="762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7" name="Table 6"/>
          <p:cNvGraphicFramePr>
            <a:graphicFrameLocks noGrp="1"/>
          </p:cNvGraphicFramePr>
          <p:nvPr>
            <p:extLst>
              <p:ext uri="{D42A27DB-BD31-4B8C-83A1-F6EECF244321}">
                <p14:modId xmlns:p14="http://schemas.microsoft.com/office/powerpoint/2010/main" val="3217989352"/>
              </p:ext>
            </p:extLst>
          </p:nvPr>
        </p:nvGraphicFramePr>
        <p:xfrm>
          <a:off x="490194" y="2080142"/>
          <a:ext cx="7824247" cy="4023360"/>
        </p:xfrm>
        <a:graphic>
          <a:graphicData uri="http://schemas.openxmlformats.org/drawingml/2006/table">
            <a:tbl>
              <a:tblPr firstRow="1" bandRow="1">
                <a:effectLst>
                  <a:outerShdw blurRad="50800" dist="38100" dir="2700000" algn="tl" rotWithShape="0">
                    <a:prstClr val="black">
                      <a:alpha val="40000"/>
                    </a:prstClr>
                  </a:outerShdw>
                </a:effectLst>
                <a:tableStyleId>{5C22544A-7EE6-4342-B048-85BDC9FD1C3A}</a:tableStyleId>
              </a:tblPr>
              <a:tblGrid>
                <a:gridCol w="4842895">
                  <a:extLst>
                    <a:ext uri="{9D8B030D-6E8A-4147-A177-3AD203B41FA5}">
                      <a16:colId xmlns:a16="http://schemas.microsoft.com/office/drawing/2014/main" val="20000"/>
                    </a:ext>
                  </a:extLst>
                </a:gridCol>
                <a:gridCol w="2981352">
                  <a:extLst>
                    <a:ext uri="{9D8B030D-6E8A-4147-A177-3AD203B41FA5}">
                      <a16:colId xmlns:a16="http://schemas.microsoft.com/office/drawing/2014/main" val="20001"/>
                    </a:ext>
                  </a:extLst>
                </a:gridCol>
              </a:tblGrid>
              <a:tr h="223584">
                <a:tc>
                  <a:txBody>
                    <a:bodyPr/>
                    <a:lstStyle/>
                    <a:p>
                      <a:pPr algn="ctr"/>
                      <a:r>
                        <a:rPr lang="en-GB" dirty="0"/>
                        <a:t>Advantages</a:t>
                      </a:r>
                    </a:p>
                  </a:txBody>
                  <a:tcPr/>
                </a:tc>
                <a:tc>
                  <a:txBody>
                    <a:bodyPr/>
                    <a:lstStyle/>
                    <a:p>
                      <a:pPr algn="ctr"/>
                      <a:r>
                        <a:rPr lang="en-GB" dirty="0"/>
                        <a:t>Disadvantages</a:t>
                      </a:r>
                    </a:p>
                  </a:txBody>
                  <a:tcPr/>
                </a:tc>
                <a:extLst>
                  <a:ext uri="{0D108BD9-81ED-4DB2-BD59-A6C34878D82A}">
                    <a16:rowId xmlns:a16="http://schemas.microsoft.com/office/drawing/2014/main" val="10000"/>
                  </a:ext>
                </a:extLst>
              </a:tr>
              <a:tr h="723887">
                <a:tc>
                  <a:txBody>
                    <a:bodyPr/>
                    <a:lstStyle/>
                    <a:p>
                      <a:r>
                        <a:rPr lang="en-GB" sz="1400" b="1" dirty="0"/>
                        <a:t>Costs</a:t>
                      </a:r>
                      <a:r>
                        <a:rPr lang="en-GB" sz="1400" baseline="0" dirty="0"/>
                        <a:t> – saves travel costs and time for employer and employee</a:t>
                      </a:r>
                    </a:p>
                    <a:p>
                      <a:r>
                        <a:rPr lang="en-GB" sz="1400" dirty="0"/>
                        <a:t>    - cheaper</a:t>
                      </a:r>
                      <a:r>
                        <a:rPr lang="en-GB" sz="1400" baseline="0" dirty="0"/>
                        <a:t> on electricity, heating and office space for employer</a:t>
                      </a:r>
                      <a:endParaRPr lang="en-GB" sz="1400" dirty="0"/>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GB" sz="1400" b="1" dirty="0"/>
                        <a:t>Discipline</a:t>
                      </a:r>
                      <a:r>
                        <a:rPr lang="en-GB" sz="1400" dirty="0"/>
                        <a:t> – employees need to remain focused themselves by either having their own office</a:t>
                      </a:r>
                      <a:r>
                        <a:rPr lang="en-GB" sz="1400" baseline="0" dirty="0"/>
                        <a:t> or working the required amount of time</a:t>
                      </a:r>
                      <a:endParaRPr lang="en-GB" sz="1400" dirty="0"/>
                    </a:p>
                  </a:txBody>
                  <a:tcPr/>
                </a:tc>
                <a:extLst>
                  <a:ext uri="{0D108BD9-81ED-4DB2-BD59-A6C34878D82A}">
                    <a16:rowId xmlns:a16="http://schemas.microsoft.com/office/drawing/2014/main" val="10001"/>
                  </a:ext>
                </a:extLst>
              </a:tr>
              <a:tr h="498678">
                <a:tc>
                  <a:txBody>
                    <a:bodyPr/>
                    <a:lstStyle/>
                    <a:p>
                      <a:r>
                        <a:rPr lang="en-GB" sz="1400" b="1" dirty="0"/>
                        <a:t>Location</a:t>
                      </a:r>
                      <a:r>
                        <a:rPr lang="en-GB" sz="1400" dirty="0"/>
                        <a:t> – ability to hire people from any location in the world providing a wider range of suitable employees</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GB" sz="1400" b="1" dirty="0"/>
                        <a:t>Social</a:t>
                      </a:r>
                      <a:r>
                        <a:rPr lang="en-GB" sz="1400" baseline="0" dirty="0"/>
                        <a:t> – employees can feel isolated because there is less team working and social interaction</a:t>
                      </a:r>
                    </a:p>
                  </a:txBody>
                  <a:tcPr/>
                </a:tc>
                <a:extLst>
                  <a:ext uri="{0D108BD9-81ED-4DB2-BD59-A6C34878D82A}">
                    <a16:rowId xmlns:a16="http://schemas.microsoft.com/office/drawing/2014/main" val="10002"/>
                  </a:ext>
                </a:extLst>
              </a:tr>
              <a:tr h="386073">
                <a:tc>
                  <a:txBody>
                    <a:bodyPr/>
                    <a:lstStyle/>
                    <a:p>
                      <a:r>
                        <a:rPr lang="en-GB" sz="1400" b="1" dirty="0"/>
                        <a:t>Flexibility</a:t>
                      </a:r>
                      <a:r>
                        <a:rPr lang="en-GB" sz="1400" dirty="0"/>
                        <a:t> – flexible working hours which allows more people to work around other commitments</a:t>
                      </a:r>
                    </a:p>
                  </a:txBody>
                  <a:tcPr/>
                </a:tc>
                <a:tc rowSpan="3">
                  <a:txBody>
                    <a:bodyPr/>
                    <a:lstStyle/>
                    <a:p>
                      <a:r>
                        <a:rPr lang="en-GB" sz="1400" b="1" dirty="0"/>
                        <a:t>Monitoring</a:t>
                      </a:r>
                      <a:r>
                        <a:rPr lang="en-GB" sz="1400" dirty="0"/>
                        <a:t> – it is harder for managers to</a:t>
                      </a:r>
                      <a:r>
                        <a:rPr lang="en-GB" sz="1400" baseline="0" dirty="0"/>
                        <a:t> check how everything is going and employees can find it hard to contact someone in an emergency</a:t>
                      </a:r>
                      <a:endParaRPr lang="en-GB" sz="1400" dirty="0"/>
                    </a:p>
                  </a:txBody>
                  <a:tcPr/>
                </a:tc>
                <a:extLst>
                  <a:ext uri="{0D108BD9-81ED-4DB2-BD59-A6C34878D82A}">
                    <a16:rowId xmlns:a16="http://schemas.microsoft.com/office/drawing/2014/main" val="10003"/>
                  </a:ext>
                </a:extLst>
              </a:tr>
              <a:tr h="386073">
                <a:tc>
                  <a:txBody>
                    <a:bodyPr/>
                    <a:lstStyle/>
                    <a:p>
                      <a:r>
                        <a:rPr lang="en-GB" sz="1400" b="1" dirty="0"/>
                        <a:t>Society</a:t>
                      </a:r>
                      <a:r>
                        <a:rPr lang="en-GB" sz="1400" dirty="0"/>
                        <a:t> – fewer cars on the road means less pollution and congestion</a:t>
                      </a:r>
                    </a:p>
                    <a:p>
                      <a:r>
                        <a:rPr lang="en-GB" sz="1400" dirty="0"/>
                        <a:t>    - Wealth is no longer centred on cities</a:t>
                      </a:r>
                    </a:p>
                  </a:txBody>
                  <a:tcPr/>
                </a:tc>
                <a:tc vMerge="1">
                  <a:txBody>
                    <a:bodyPr/>
                    <a:lstStyle/>
                    <a:p>
                      <a:endParaRPr lang="en-GB" dirty="0"/>
                    </a:p>
                  </a:txBody>
                  <a:tcPr/>
                </a:tc>
                <a:extLst>
                  <a:ext uri="{0D108BD9-81ED-4DB2-BD59-A6C34878D82A}">
                    <a16:rowId xmlns:a16="http://schemas.microsoft.com/office/drawing/2014/main" val="10004"/>
                  </a:ext>
                </a:extLst>
              </a:tr>
              <a:tr h="498678">
                <a:tc>
                  <a:txBody>
                    <a:bodyPr/>
                    <a:lstStyle/>
                    <a:p>
                      <a:r>
                        <a:rPr lang="en-GB" sz="1400" b="1" dirty="0"/>
                        <a:t>Equal opportunities </a:t>
                      </a:r>
                      <a:r>
                        <a:rPr lang="en-GB" sz="1400" dirty="0"/>
                        <a:t>– people with disabilities that might limit their movement can work in a comfortable</a:t>
                      </a:r>
                      <a:r>
                        <a:rPr lang="en-GB" sz="1400" baseline="0" dirty="0"/>
                        <a:t> environment for them</a:t>
                      </a:r>
                      <a:endParaRPr lang="en-GB" sz="1400" dirty="0"/>
                    </a:p>
                  </a:txBody>
                  <a:tcPr/>
                </a:tc>
                <a:tc vMerge="1">
                  <a:txBody>
                    <a:bodyPr/>
                    <a:lstStyle/>
                    <a:p>
                      <a:endParaRPr lang="en-GB" dirty="0"/>
                    </a:p>
                  </a:txBody>
                  <a:tcPr/>
                </a:tc>
                <a:extLst>
                  <a:ext uri="{0D108BD9-81ED-4DB2-BD59-A6C34878D82A}">
                    <a16:rowId xmlns:a16="http://schemas.microsoft.com/office/drawing/2014/main" val="10005"/>
                  </a:ext>
                </a:extLst>
              </a:tr>
            </a:tbl>
          </a:graphicData>
        </a:graphic>
      </p:graphicFrame>
      <p:pic>
        <p:nvPicPr>
          <p:cNvPr id="6" name="Picture 2" descr="http://images.boomsbeat.com/data/images/full/209/jobs-jpg.jpg"/>
          <p:cNvPicPr>
            <a:picLocks noChangeAspect="1" noChangeArrowheads="1"/>
          </p:cNvPicPr>
          <p:nvPr/>
        </p:nvPicPr>
        <p:blipFill rotWithShape="1">
          <a:blip r:embed="rId2" cstate="print">
            <a:extLst>
              <a:ext uri="{BEBA8EAE-BF5A-486C-A8C5-ECC9F3942E4B}">
                <a14:imgProps xmlns:a14="http://schemas.microsoft.com/office/drawing/2010/main">
                  <a14:imgLayer r:embed="rId3">
                    <a14:imgEffect>
                      <a14:backgroundRemoval t="1180" b="100000" l="26207" r="100000"/>
                    </a14:imgEffect>
                  </a14:imgLayer>
                </a14:imgProps>
              </a:ext>
              <a:ext uri="{28A0092B-C50C-407E-A947-70E740481C1C}">
                <a14:useLocalDpi xmlns:a14="http://schemas.microsoft.com/office/drawing/2010/main" val="0"/>
              </a:ext>
            </a:extLst>
          </a:blip>
          <a:srcRect l="34192"/>
          <a:stretch/>
        </p:blipFill>
        <p:spPr bwMode="auto">
          <a:xfrm>
            <a:off x="9386661" y="4362255"/>
            <a:ext cx="2805339" cy="2495745"/>
          </a:xfrm>
          <a:prstGeom prst="rect">
            <a:avLst/>
          </a:prstGeom>
          <a:noFill/>
          <a:extLst>
            <a:ext uri="{909E8E84-426E-40DD-AFC4-6F175D3DCCD1}">
              <a14:hiddenFill xmlns:a14="http://schemas.microsoft.com/office/drawing/2010/main">
                <a:solidFill>
                  <a:srgbClr val="FFFFFF"/>
                </a:solidFill>
              </a14:hiddenFill>
            </a:ext>
          </a:extLst>
        </p:spPr>
      </p:pic>
      <p:sp>
        <p:nvSpPr>
          <p:cNvPr id="8" name="Content Placeholder 2"/>
          <p:cNvSpPr txBox="1">
            <a:spLocks/>
          </p:cNvSpPr>
          <p:nvPr/>
        </p:nvSpPr>
        <p:spPr>
          <a:xfrm>
            <a:off x="8955464" y="548291"/>
            <a:ext cx="3073138" cy="2906631"/>
          </a:xfrm>
          <a:prstGeom prst="rect">
            <a:avLst/>
          </a:prstGeom>
          <a:solidFill>
            <a:schemeClr val="tx1"/>
          </a:solidFill>
          <a:ln w="76200">
            <a:solidFill>
              <a:srgbClr val="FF0000"/>
            </a:solidFill>
          </a:ln>
        </p:spPr>
        <p:txBody>
          <a:bodyPr vert="horz" lIns="91440" tIns="45720" rIns="91440" bIns="45720" rtlCol="0">
            <a:normAutofit fontScale="8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GB" sz="1300" dirty="0">
              <a:solidFill>
                <a:schemeClr val="bg1"/>
              </a:solidFill>
            </a:endParaRPr>
          </a:p>
          <a:p>
            <a:r>
              <a:rPr lang="en-GB" dirty="0">
                <a:solidFill>
                  <a:schemeClr val="bg1"/>
                </a:solidFill>
              </a:rPr>
              <a:t>Describe the impact of digital technology on employment including</a:t>
            </a:r>
          </a:p>
          <a:p>
            <a:pPr lvl="1"/>
            <a:r>
              <a:rPr lang="en-GB" dirty="0">
                <a:solidFill>
                  <a:schemeClr val="bg1"/>
                </a:solidFill>
              </a:rPr>
              <a:t>Job opportunities</a:t>
            </a:r>
          </a:p>
          <a:p>
            <a:pPr lvl="1"/>
            <a:r>
              <a:rPr lang="en-GB" dirty="0">
                <a:solidFill>
                  <a:schemeClr val="bg1"/>
                </a:solidFill>
              </a:rPr>
              <a:t>Job displacement</a:t>
            </a:r>
          </a:p>
          <a:p>
            <a:pPr lvl="1"/>
            <a:r>
              <a:rPr lang="en-GB" dirty="0">
                <a:solidFill>
                  <a:srgbClr val="FFFF00"/>
                </a:solidFill>
              </a:rPr>
              <a:t>Changes in work patterns</a:t>
            </a:r>
          </a:p>
          <a:p>
            <a:pPr lvl="1"/>
            <a:r>
              <a:rPr lang="en-GB" dirty="0">
                <a:solidFill>
                  <a:schemeClr val="bg1"/>
                </a:solidFill>
              </a:rPr>
              <a:t>Need for upskilling</a:t>
            </a:r>
          </a:p>
        </p:txBody>
      </p:sp>
      <p:pic>
        <p:nvPicPr>
          <p:cNvPr id="10" name="Picture 2" descr="Job search - Free professions and jobs icons"/>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79109" y="29817"/>
            <a:ext cx="1621409" cy="162141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52111067"/>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p:cNvGrpSpPr/>
        <p:nvPr/>
      </p:nvGrpSpPr>
      <p:grpSpPr>
        <a:xfrm>
          <a:off x="0" y="0"/>
          <a:ext cx="0" cy="0"/>
          <a:chOff x="0" y="0"/>
          <a:chExt cx="0" cy="0"/>
        </a:xfrm>
      </p:grpSpPr>
      <p:sp>
        <p:nvSpPr>
          <p:cNvPr id="10" name="Rounded Rectangular Callout 9"/>
          <p:cNvSpPr/>
          <p:nvPr/>
        </p:nvSpPr>
        <p:spPr>
          <a:xfrm>
            <a:off x="179109" y="3563725"/>
            <a:ext cx="9530499" cy="2318601"/>
          </a:xfrm>
          <a:prstGeom prst="wedgeRoundRectCallout">
            <a:avLst>
              <a:gd name="adj1" fmla="val 55923"/>
              <a:gd name="adj2" fmla="val 38027"/>
              <a:gd name="adj3" fmla="val 16667"/>
            </a:avLst>
          </a:prstGeom>
          <a:solidFill>
            <a:schemeClr val="bg1"/>
          </a:solidFill>
          <a:ln w="762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 name="Content Placeholder 4"/>
          <p:cNvSpPr>
            <a:spLocks noGrp="1"/>
          </p:cNvSpPr>
          <p:nvPr>
            <p:ph sz="quarter" idx="2"/>
          </p:nvPr>
        </p:nvSpPr>
        <p:spPr>
          <a:xfrm>
            <a:off x="358219" y="3695307"/>
            <a:ext cx="9658663" cy="2339026"/>
          </a:xfrm>
        </p:spPr>
        <p:txBody>
          <a:bodyPr>
            <a:normAutofit/>
          </a:bodyPr>
          <a:lstStyle/>
          <a:p>
            <a:r>
              <a:rPr lang="en-GB" dirty="0"/>
              <a:t>Upskilling</a:t>
            </a:r>
          </a:p>
          <a:p>
            <a:pPr lvl="1"/>
            <a:r>
              <a:rPr lang="en-GB" dirty="0"/>
              <a:t>Technology keeps moving</a:t>
            </a:r>
          </a:p>
          <a:p>
            <a:pPr lvl="2"/>
            <a:r>
              <a:rPr lang="en-GB" dirty="0"/>
              <a:t>We need to keep our skills inline with current technology</a:t>
            </a:r>
          </a:p>
          <a:p>
            <a:pPr lvl="1"/>
            <a:r>
              <a:rPr lang="en-GB" dirty="0"/>
              <a:t>Companies need to keep training their employees to keep their skills relevant to the latest hardware or software</a:t>
            </a:r>
          </a:p>
          <a:p>
            <a:pPr lvl="2"/>
            <a:endParaRPr lang="en-GB" dirty="0"/>
          </a:p>
        </p:txBody>
      </p:sp>
      <p:pic>
        <p:nvPicPr>
          <p:cNvPr id="7" name="Picture 2" descr="http://images.boomsbeat.com/data/images/full/209/jobs-jpg.jpg"/>
          <p:cNvPicPr>
            <a:picLocks noChangeAspect="1" noChangeArrowheads="1"/>
          </p:cNvPicPr>
          <p:nvPr/>
        </p:nvPicPr>
        <p:blipFill rotWithShape="1">
          <a:blip r:embed="rId2" cstate="print">
            <a:extLst>
              <a:ext uri="{BEBA8EAE-BF5A-486C-A8C5-ECC9F3942E4B}">
                <a14:imgProps xmlns:a14="http://schemas.microsoft.com/office/drawing/2010/main">
                  <a14:imgLayer r:embed="rId3">
                    <a14:imgEffect>
                      <a14:backgroundRemoval t="1180" b="100000" l="26207" r="100000"/>
                    </a14:imgEffect>
                  </a14:imgLayer>
                </a14:imgProps>
              </a:ext>
              <a:ext uri="{28A0092B-C50C-407E-A947-70E740481C1C}">
                <a14:useLocalDpi xmlns:a14="http://schemas.microsoft.com/office/drawing/2010/main" val="0"/>
              </a:ext>
            </a:extLst>
          </a:blip>
          <a:srcRect l="34192"/>
          <a:stretch/>
        </p:blipFill>
        <p:spPr bwMode="auto">
          <a:xfrm>
            <a:off x="9386661" y="4362255"/>
            <a:ext cx="2805339" cy="2495745"/>
          </a:xfrm>
          <a:prstGeom prst="rect">
            <a:avLst/>
          </a:prstGeom>
          <a:noFill/>
          <a:extLst>
            <a:ext uri="{909E8E84-426E-40DD-AFC4-6F175D3DCCD1}">
              <a14:hiddenFill xmlns:a14="http://schemas.microsoft.com/office/drawing/2010/main">
                <a:solidFill>
                  <a:srgbClr val="FFFFFF"/>
                </a:solidFill>
              </a14:hiddenFill>
            </a:ext>
          </a:extLst>
        </p:spPr>
      </p:pic>
      <p:sp>
        <p:nvSpPr>
          <p:cNvPr id="8" name="Content Placeholder 2"/>
          <p:cNvSpPr txBox="1">
            <a:spLocks/>
          </p:cNvSpPr>
          <p:nvPr/>
        </p:nvSpPr>
        <p:spPr>
          <a:xfrm>
            <a:off x="8955464" y="548291"/>
            <a:ext cx="3073138" cy="2906631"/>
          </a:xfrm>
          <a:prstGeom prst="rect">
            <a:avLst/>
          </a:prstGeom>
          <a:solidFill>
            <a:schemeClr val="tx1"/>
          </a:solidFill>
          <a:ln w="76200">
            <a:solidFill>
              <a:srgbClr val="FF0000"/>
            </a:solidFill>
          </a:ln>
        </p:spPr>
        <p:txBody>
          <a:bodyPr vert="horz" lIns="91440" tIns="45720" rIns="91440" bIns="45720" rtlCol="0">
            <a:normAutofit fontScale="8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GB" sz="1300" dirty="0">
              <a:solidFill>
                <a:schemeClr val="bg1"/>
              </a:solidFill>
            </a:endParaRPr>
          </a:p>
          <a:p>
            <a:r>
              <a:rPr lang="en-GB" dirty="0">
                <a:solidFill>
                  <a:schemeClr val="bg1"/>
                </a:solidFill>
              </a:rPr>
              <a:t>Describe the impact of digital technology on employment including</a:t>
            </a:r>
          </a:p>
          <a:p>
            <a:pPr lvl="1"/>
            <a:r>
              <a:rPr lang="en-GB" dirty="0">
                <a:solidFill>
                  <a:schemeClr val="bg1"/>
                </a:solidFill>
              </a:rPr>
              <a:t>Job opportunities</a:t>
            </a:r>
          </a:p>
          <a:p>
            <a:pPr lvl="1"/>
            <a:r>
              <a:rPr lang="en-GB" dirty="0">
                <a:solidFill>
                  <a:schemeClr val="bg1"/>
                </a:solidFill>
              </a:rPr>
              <a:t>Job displacement</a:t>
            </a:r>
          </a:p>
          <a:p>
            <a:pPr lvl="1"/>
            <a:r>
              <a:rPr lang="en-GB" dirty="0">
                <a:solidFill>
                  <a:schemeClr val="bg1"/>
                </a:solidFill>
              </a:rPr>
              <a:t>Changes in work patterns</a:t>
            </a:r>
          </a:p>
          <a:p>
            <a:pPr lvl="1"/>
            <a:r>
              <a:rPr lang="en-GB" dirty="0">
                <a:solidFill>
                  <a:srgbClr val="FFFF00"/>
                </a:solidFill>
              </a:rPr>
              <a:t>Need for upskilling</a:t>
            </a:r>
          </a:p>
        </p:txBody>
      </p:sp>
      <p:pic>
        <p:nvPicPr>
          <p:cNvPr id="9" name="Picture 2" descr="Job search - Free professions and jobs icons"/>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79109" y="29817"/>
            <a:ext cx="1621409" cy="162141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7825371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249</TotalTime>
  <Words>4470</Words>
  <Application>Microsoft Office PowerPoint</Application>
  <PresentationFormat>Widescreen</PresentationFormat>
  <Paragraphs>602</Paragraphs>
  <Slides>72</Slides>
  <Notes>0</Notes>
  <HiddenSlides>0</HiddenSlides>
  <MMClips>0</MMClips>
  <ScaleCrop>false</ScaleCrop>
  <HeadingPairs>
    <vt:vector size="6" baseType="variant">
      <vt:variant>
        <vt:lpstr>Fonts Used</vt:lpstr>
      </vt:variant>
      <vt:variant>
        <vt:i4>5</vt:i4>
      </vt:variant>
      <vt:variant>
        <vt:lpstr>Theme</vt:lpstr>
      </vt:variant>
      <vt:variant>
        <vt:i4>2</vt:i4>
      </vt:variant>
      <vt:variant>
        <vt:lpstr>Slide Titles</vt:lpstr>
      </vt:variant>
      <vt:variant>
        <vt:i4>72</vt:i4>
      </vt:variant>
    </vt:vector>
  </HeadingPairs>
  <TitlesOfParts>
    <vt:vector size="79" baseType="lpstr">
      <vt:lpstr>Arial</vt:lpstr>
      <vt:lpstr>Berlin Sans FB Demi</vt:lpstr>
      <vt:lpstr>Calibri</vt:lpstr>
      <vt:lpstr>Calibri Light</vt:lpstr>
      <vt:lpstr>Copperplate Gothic Light</vt:lpstr>
      <vt:lpstr>Office Theme</vt:lpstr>
      <vt:lpstr>1_Office Theme</vt:lpstr>
      <vt:lpstr>Ethical, Legal and Environmental Impact of Digital Technology</vt:lpstr>
      <vt:lpstr>What laws do we need to know?</vt:lpstr>
      <vt:lpstr>Consumer Contracts Regulations, 2013</vt:lpstr>
      <vt:lpstr>Data Protection Act, 1998</vt:lpstr>
      <vt:lpstr>The Spec</vt:lpstr>
      <vt:lpstr>Data Protection Act</vt:lpstr>
      <vt:lpstr>The Key Roles</vt:lpstr>
      <vt:lpstr>Data Subject Rights</vt:lpstr>
      <vt:lpstr>Data Subject Rights</vt:lpstr>
      <vt:lpstr>Data Subject Rights</vt:lpstr>
      <vt:lpstr>Data Subject Rights</vt:lpstr>
      <vt:lpstr>The 8 Principles</vt:lpstr>
      <vt:lpstr>Copyright Designs and Patents Act, 1988</vt:lpstr>
      <vt:lpstr>The Specification</vt:lpstr>
      <vt:lpstr>PowerPoint Presentation</vt:lpstr>
      <vt:lpstr>To breach or not to breach?</vt:lpstr>
      <vt:lpstr>What is the Act for?</vt:lpstr>
      <vt:lpstr>How do you break the Act?</vt:lpstr>
      <vt:lpstr>Copying Images from the WWW</vt:lpstr>
      <vt:lpstr>Using Software</vt:lpstr>
      <vt:lpstr>Protecting against Software Misuse</vt:lpstr>
      <vt:lpstr>File Sharing</vt:lpstr>
      <vt:lpstr>Plagiarism</vt:lpstr>
      <vt:lpstr>The Computer Misuse Act, 1990</vt:lpstr>
      <vt:lpstr>WALTer</vt:lpstr>
      <vt:lpstr>Computer Misuse in the News</vt:lpstr>
      <vt:lpstr>The Computer Misuse: The 4 Main Offences</vt:lpstr>
      <vt:lpstr>PowerPoint Presentation</vt:lpstr>
      <vt:lpstr>The Computer Misuse: The 4 Main Offences</vt:lpstr>
      <vt:lpstr>PowerPoint Presentation</vt:lpstr>
      <vt:lpstr>Hacking</vt:lpstr>
      <vt:lpstr>Virus</vt:lpstr>
      <vt:lpstr>Spyware</vt:lpstr>
      <vt:lpstr>Phishing</vt:lpstr>
      <vt:lpstr>Preventing Computer Misuse</vt:lpstr>
      <vt:lpstr>Issues with Prosecuting</vt:lpstr>
      <vt:lpstr>Reminder: Key Terms</vt:lpstr>
      <vt:lpstr>Health and Safety when working with ICT</vt:lpstr>
      <vt:lpstr>WALTer</vt:lpstr>
      <vt:lpstr>Poor Ergonomics</vt:lpstr>
      <vt:lpstr>A danger or risk which is any source of potential damage, harm or adverse health effects on something or someone.</vt:lpstr>
      <vt:lpstr>THE IDEAL SETUP</vt:lpstr>
      <vt:lpstr>Repetitive Strain Injury</vt:lpstr>
      <vt:lpstr>Back Pain</vt:lpstr>
      <vt:lpstr>Eye Strain</vt:lpstr>
      <vt:lpstr>ELF Radiation</vt:lpstr>
      <vt:lpstr>WALTer</vt:lpstr>
      <vt:lpstr>Health and Safety in the Workplace</vt:lpstr>
      <vt:lpstr>WALTer</vt:lpstr>
      <vt:lpstr>Risks in the ICT Room</vt:lpstr>
      <vt:lpstr>Health and Safety: Employers Responsibilities</vt:lpstr>
      <vt:lpstr>Ergonomics</vt:lpstr>
      <vt:lpstr>Q. Do Laser Printers have an impact on our health?</vt:lpstr>
      <vt:lpstr>Deep Vein Thrombosis (DVT)</vt:lpstr>
      <vt:lpstr>Teleworking</vt:lpstr>
      <vt:lpstr>Health Problems associated with Teleworking</vt:lpstr>
      <vt:lpstr>WALTer</vt:lpstr>
      <vt:lpstr>Checkpoint</vt:lpstr>
      <vt:lpstr>Internet Misuse</vt:lpstr>
      <vt:lpstr>Access to Personal Information</vt:lpstr>
      <vt:lpstr>Social Media Misuse</vt:lpstr>
      <vt:lpstr>GPS and Tracking</vt:lpstr>
      <vt:lpstr>Security of Personal Data</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C2k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Ethical, Legal and Environmental Impact of Digital Technology</dc:title>
  <dc:creator>J Butler</dc:creator>
  <cp:lastModifiedBy>J Butler</cp:lastModifiedBy>
  <cp:revision>16</cp:revision>
  <dcterms:created xsi:type="dcterms:W3CDTF">2022-05-27T09:18:54Z</dcterms:created>
  <dcterms:modified xsi:type="dcterms:W3CDTF">2023-03-06T09:58:53Z</dcterms:modified>
</cp:coreProperties>
</file>