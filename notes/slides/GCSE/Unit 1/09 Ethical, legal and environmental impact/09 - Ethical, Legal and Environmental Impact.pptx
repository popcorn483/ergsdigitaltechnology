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5" r:id="rId37"/>
    <p:sldId id="296" r:id="rId38"/>
    <p:sldId id="297" r:id="rId39"/>
    <p:sldId id="299" r:id="rId40"/>
    <p:sldId id="300" r:id="rId41"/>
    <p:sldId id="301" r:id="rId42"/>
    <p:sldId id="302" r:id="rId43"/>
    <p:sldId id="303" r:id="rId44"/>
    <p:sldId id="304" r:id="rId45"/>
    <p:sldId id="305" r:id="rId46"/>
    <p:sldId id="306" r:id="rId47"/>
    <p:sldId id="307" r:id="rId48"/>
    <p:sldId id="308" r:id="rId49"/>
    <p:sldId id="310" r:id="rId50"/>
    <p:sldId id="312" r:id="rId51"/>
    <p:sldId id="313" r:id="rId52"/>
    <p:sldId id="314" r:id="rId53"/>
    <p:sldId id="315" r:id="rId54"/>
    <p:sldId id="316" r:id="rId55"/>
    <p:sldId id="317" r:id="rId56"/>
    <p:sldId id="319" r:id="rId57"/>
    <p:sldId id="321" r:id="rId58"/>
    <p:sldId id="322" r:id="rId59"/>
    <p:sldId id="323" r:id="rId60"/>
    <p:sldId id="325" r:id="rId61"/>
    <p:sldId id="336" r:id="rId62"/>
    <p:sldId id="337" r:id="rId63"/>
    <p:sldId id="338" r:id="rId64"/>
    <p:sldId id="339" r:id="rId65"/>
    <p:sldId id="327" r:id="rId66"/>
    <p:sldId id="328" r:id="rId67"/>
    <p:sldId id="329" r:id="rId68"/>
    <p:sldId id="330" r:id="rId69"/>
    <p:sldId id="331" r:id="rId70"/>
    <p:sldId id="332" r:id="rId71"/>
    <p:sldId id="333" r:id="rId72"/>
    <p:sldId id="334" r:id="rId73"/>
    <p:sldId id="335"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E3F7F89-DF4D-4ADE-9FAB-D167AC1CEC76}">
          <p14:sldIdLst>
            <p14:sldId id="256"/>
            <p14:sldId id="257"/>
          </p14:sldIdLst>
        </p14:section>
        <p14:section name="Consumer Contracts Regluations" id="{632039EB-674D-4B97-ACB6-090791638A8A}">
          <p14:sldIdLst>
            <p14:sldId id="258"/>
          </p14:sldIdLst>
        </p14:section>
        <p14:section name="Data Protection Act 1998" id="{387D0323-7153-4E9D-BE37-3AE6FFB4180E}">
          <p14:sldIdLst>
            <p14:sldId id="259"/>
            <p14:sldId id="260"/>
            <p14:sldId id="261"/>
            <p14:sldId id="262"/>
            <p14:sldId id="263"/>
            <p14:sldId id="264"/>
            <p14:sldId id="265"/>
            <p14:sldId id="266"/>
            <p14:sldId id="267"/>
          </p14:sldIdLst>
        </p14:section>
        <p14:section name="Copyright Designs and Patents Act 1988" id="{6199FCCE-ED6E-48AF-875E-5B37BC38E03F}">
          <p14:sldIdLst>
            <p14:sldId id="270"/>
            <p14:sldId id="271"/>
            <p14:sldId id="272"/>
            <p14:sldId id="273"/>
            <p14:sldId id="274"/>
            <p14:sldId id="275"/>
            <p14:sldId id="276"/>
            <p14:sldId id="277"/>
            <p14:sldId id="278"/>
            <p14:sldId id="279"/>
            <p14:sldId id="280"/>
          </p14:sldIdLst>
        </p14:section>
        <p14:section name="Computer Misuse Act 1990" id="{B8BCEEDB-1293-44E7-A4ED-CA6933B947DF}">
          <p14:sldIdLst>
            <p14:sldId id="282"/>
            <p14:sldId id="283"/>
            <p14:sldId id="284"/>
            <p14:sldId id="285"/>
            <p14:sldId id="286"/>
            <p14:sldId id="287"/>
            <p14:sldId id="288"/>
            <p14:sldId id="289"/>
            <p14:sldId id="290"/>
            <p14:sldId id="291"/>
            <p14:sldId id="292"/>
            <p14:sldId id="295"/>
            <p14:sldId id="296"/>
            <p14:sldId id="297"/>
          </p14:sldIdLst>
        </p14:section>
        <p14:section name="Health and Safety" id="{FD783B96-6E2D-4326-9007-6DB9E9B9705B}">
          <p14:sldIdLst>
            <p14:sldId id="299"/>
            <p14:sldId id="300"/>
            <p14:sldId id="301"/>
            <p14:sldId id="302"/>
            <p14:sldId id="303"/>
            <p14:sldId id="304"/>
            <p14:sldId id="305"/>
            <p14:sldId id="306"/>
            <p14:sldId id="307"/>
            <p14:sldId id="308"/>
            <p14:sldId id="310"/>
            <p14:sldId id="312"/>
            <p14:sldId id="313"/>
            <p14:sldId id="314"/>
            <p14:sldId id="315"/>
            <p14:sldId id="316"/>
            <p14:sldId id="317"/>
            <p14:sldId id="319"/>
            <p14:sldId id="321"/>
            <p14:sldId id="322"/>
            <p14:sldId id="323"/>
          </p14:sldIdLst>
        </p14:section>
        <p14:section name="Morals and Ethical Issues" id="{B1E360A0-4D36-4B40-8BDC-B76E97FB9861}">
          <p14:sldIdLst>
            <p14:sldId id="325"/>
            <p14:sldId id="336"/>
            <p14:sldId id="337"/>
            <p14:sldId id="338"/>
            <p14:sldId id="339"/>
          </p14:sldIdLst>
        </p14:section>
        <p14:section name="Jobs" id="{D2F57DB7-46E0-445A-9CE8-8B836BC41A1E}">
          <p14:sldIdLst>
            <p14:sldId id="327"/>
            <p14:sldId id="328"/>
            <p14:sldId id="329"/>
            <p14:sldId id="330"/>
            <p14:sldId id="331"/>
            <p14:sldId id="332"/>
            <p14:sldId id="333"/>
            <p14:sldId id="334"/>
            <p14:sldId id="3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0E0"/>
    <a:srgbClr val="30261C"/>
    <a:srgbClr val="52402F"/>
    <a:srgbClr val="AD0101"/>
    <a:srgbClr val="000A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8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4225548-E725-4E7A-AF68-C28E4B22023F}" type="datetimeFigureOut">
              <a:rPr lang="en-GB" smtClean="0"/>
              <a:t>06/03/2023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217528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Date Placeholder 3"/>
          <p:cNvSpPr>
            <a:spLocks noGrp="1"/>
          </p:cNvSpPr>
          <p:nvPr>
            <p:ph type="dt" sz="half" idx="10"/>
          </p:nvPr>
        </p:nvSpPr>
        <p:spPr/>
        <p:txBody>
          <a:bodyPr/>
          <a:lstStyle/>
          <a:p>
            <a:fld id="{14225548-E725-4E7A-AF68-C28E4B22023F}" type="datetimeFigureOut">
              <a:rPr lang="en-GB" smtClean="0"/>
              <a:t>06/03/2023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6D1B4D-CCB1-4F2C-A93F-80592B09E816}" type="slidenum">
              <a:rPr lang="en-GB" smtClean="0"/>
              <a:t>‹#›</a:t>
            </a:fld>
            <a:endParaRPr lang="en-GB"/>
          </a:p>
        </p:txBody>
      </p:sp>
      <p:sp>
        <p:nvSpPr>
          <p:cNvPr id="7" name="Content Placeholder 2">
            <a:extLst>
              <a:ext uri="{FF2B5EF4-FFF2-40B4-BE49-F238E27FC236}">
                <a16:creationId xmlns:a16="http://schemas.microsoft.com/office/drawing/2014/main" id="{5E6AA3ED-2FF8-4BF9-A97B-F9B6DB7A81E6}"/>
              </a:ext>
            </a:extLst>
          </p:cNvPr>
          <p:cNvSpPr>
            <a:spLocks noGrp="1"/>
          </p:cNvSpPr>
          <p:nvPr>
            <p:ph idx="13"/>
          </p:nvPr>
        </p:nvSpPr>
        <p:spPr>
          <a:xfrm>
            <a:off x="838200" y="1847850"/>
            <a:ext cx="10515600" cy="4351338"/>
          </a:xfrm>
          <a:solidFill>
            <a:srgbClr val="003300">
              <a:alpha val="50196"/>
            </a:srgbClr>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8661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25548-E725-4E7A-AF68-C28E4B22023F}" type="datetimeFigureOut">
              <a:rPr lang="en-GB" smtClean="0"/>
              <a:t>06/03/2023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2156019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4225548-E725-4E7A-AF68-C28E4B22023F}" type="datetimeFigureOut">
              <a:rPr lang="en-GB" smtClean="0"/>
              <a:t>06/03/2023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366771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4225548-E725-4E7A-AF68-C28E4B22023F}" type="datetimeFigureOut">
              <a:rPr lang="en-GB" smtClean="0"/>
              <a:t>06/03/2023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1845531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4225548-E725-4E7A-AF68-C28E4B22023F}" type="datetimeFigureOut">
              <a:rPr lang="en-GB" smtClean="0"/>
              <a:t>06/03/2023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3912646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25548-E725-4E7A-AF68-C28E4B22023F}" type="datetimeFigureOut">
              <a:rPr lang="en-GB" smtClean="0"/>
              <a:t>06/03/2023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241941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225548-E725-4E7A-AF68-C28E4B22023F}" type="datetimeFigureOut">
              <a:rPr lang="en-GB" smtClean="0"/>
              <a:t>06/03/2023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553831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225548-E725-4E7A-AF68-C28E4B22023F}" type="datetimeFigureOut">
              <a:rPr lang="en-GB" smtClean="0"/>
              <a:t>06/03/2023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671065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4225548-E725-4E7A-AF68-C28E4B22023F}" type="datetimeFigureOut">
              <a:rPr lang="en-GB" smtClean="0"/>
              <a:t>06/03/2023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273994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4225548-E725-4E7A-AF68-C28E4B22023F}" type="datetimeFigureOut">
              <a:rPr lang="en-GB" smtClean="0"/>
              <a:t>06/03/2023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6D1B4D-CCB1-4F2C-A93F-80592B09E816}" type="slidenum">
              <a:rPr lang="en-GB" smtClean="0"/>
              <a:t>‹#›</a:t>
            </a:fld>
            <a:endParaRPr lang="en-GB"/>
          </a:p>
        </p:txBody>
      </p:sp>
    </p:spTree>
    <p:extLst>
      <p:ext uri="{BB962C8B-B14F-4D97-AF65-F5344CB8AC3E}">
        <p14:creationId xmlns:p14="http://schemas.microsoft.com/office/powerpoint/2010/main" val="3731898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EC19-A7F3-491A-96A2-827E754F4D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B3B260-2E47-47E1-AA34-CF397C96188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E537D-2A58-48E3-9FD7-6581E91B2DA4}"/>
              </a:ext>
            </a:extLst>
          </p:cNvPr>
          <p:cNvSpPr>
            <a:spLocks noGrp="1"/>
          </p:cNvSpPr>
          <p:nvPr>
            <p:ph type="dt" sz="half" idx="10"/>
          </p:nvPr>
        </p:nvSpPr>
        <p:spPr/>
        <p:txBody>
          <a:bodyPr/>
          <a:lstStyle/>
          <a:p>
            <a:fld id="{C42F7E74-2007-4763-83D1-AEFEF9E5EA46}" type="datetimeFigureOut">
              <a:rPr lang="en-US" smtClean="0"/>
              <a:t>3/6/2023</a:t>
            </a:fld>
            <a:endParaRPr lang="en-US"/>
          </a:p>
        </p:txBody>
      </p:sp>
      <p:sp>
        <p:nvSpPr>
          <p:cNvPr id="5" name="Footer Placeholder 4">
            <a:extLst>
              <a:ext uri="{FF2B5EF4-FFF2-40B4-BE49-F238E27FC236}">
                <a16:creationId xmlns:a16="http://schemas.microsoft.com/office/drawing/2014/main" id="{7AD92A47-EAFF-4607-A11B-C676D5EA8C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307286-3ABA-44BE-BA6F-FC1DB374B81F}"/>
              </a:ext>
            </a:extLst>
          </p:cNvPr>
          <p:cNvSpPr>
            <a:spLocks noGrp="1"/>
          </p:cNvSpPr>
          <p:nvPr>
            <p:ph type="sldNum" sz="quarter" idx="12"/>
          </p:nvPr>
        </p:nvSpPr>
        <p:spPr/>
        <p:txBody>
          <a:bodyPr/>
          <a:lstStyle/>
          <a:p>
            <a:fld id="{CE443D6F-4415-4060-A637-3353F32B1585}" type="slidenum">
              <a:rPr lang="en-US" smtClean="0"/>
              <a:t>‹#›</a:t>
            </a:fld>
            <a:endParaRPr lang="en-US"/>
          </a:p>
        </p:txBody>
      </p:sp>
    </p:spTree>
    <p:extLst>
      <p:ext uri="{BB962C8B-B14F-4D97-AF65-F5344CB8AC3E}">
        <p14:creationId xmlns:p14="http://schemas.microsoft.com/office/powerpoint/2010/main" val="1073049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92FE2-D5A6-430C-9D50-365B7FCA39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0E57DC-4030-4E88-ACB2-7B5FCDAC97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3EFE6E-BD54-4755-8719-566A861F1817}"/>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5" name="Footer Placeholder 4">
            <a:extLst>
              <a:ext uri="{FF2B5EF4-FFF2-40B4-BE49-F238E27FC236}">
                <a16:creationId xmlns:a16="http://schemas.microsoft.com/office/drawing/2014/main" id="{8E4A5EE9-EEE3-4F9C-8BD3-685CAA372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DD49A-5A4A-402F-8C6B-9771B71601A1}"/>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91278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4FBEEA"/>
        </a:solidFill>
        <a:effectLst/>
      </p:bgPr>
    </p:bg>
    <p:spTree>
      <p:nvGrpSpPr>
        <p:cNvPr id="1" name=""/>
        <p:cNvGrpSpPr/>
        <p:nvPr/>
      </p:nvGrpSpPr>
      <p:grpSpPr>
        <a:xfrm>
          <a:off x="0" y="0"/>
          <a:ext cx="0" cy="0"/>
          <a:chOff x="0" y="0"/>
          <a:chExt cx="0" cy="0"/>
        </a:xfrm>
      </p:grpSpPr>
      <p:pic>
        <p:nvPicPr>
          <p:cNvPr id="2052" name="Picture 4" descr="Image result for data protection act wallpaper">
            <a:extLst>
              <a:ext uri="{FF2B5EF4-FFF2-40B4-BE49-F238E27FC236}">
                <a16:creationId xmlns:a16="http://schemas.microsoft.com/office/drawing/2014/main" id="{5B1F1B38-9BED-49C1-B946-C173AD5E76F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6875"/>
          <a:stretch/>
        </p:blipFill>
        <p:spPr bwMode="auto">
          <a:xfrm>
            <a:off x="838200" y="0"/>
            <a:ext cx="11353800" cy="68832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92321EB-793E-4AEB-ACEC-2C35D72F9FC9}"/>
              </a:ext>
            </a:extLst>
          </p:cNvPr>
          <p:cNvSpPr>
            <a:spLocks noGrp="1"/>
          </p:cNvSpPr>
          <p:nvPr>
            <p:ph type="title"/>
          </p:nvPr>
        </p:nvSpPr>
        <p:spPr>
          <a:xfrm rot="16200000">
            <a:off x="-3022520" y="3022520"/>
            <a:ext cx="6883241" cy="838200"/>
          </a:xfrm>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127D1BF4-5D61-451E-BF0E-DFC0D691804F}"/>
              </a:ext>
            </a:extLst>
          </p:cNvPr>
          <p:cNvSpPr>
            <a:spLocks noGrp="1"/>
          </p:cNvSpPr>
          <p:nvPr>
            <p:ph idx="1"/>
          </p:nvPr>
        </p:nvSpPr>
        <p:spPr>
          <a:xfrm>
            <a:off x="1058778" y="288758"/>
            <a:ext cx="10940717" cy="5905826"/>
          </a:xfrm>
          <a:solidFill>
            <a:srgbClr val="203864">
              <a:alpha val="80000"/>
            </a:srgbClr>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36532F0-C3FC-4210-8C43-CABD9B605E1D}"/>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5" name="Footer Placeholder 4">
            <a:extLst>
              <a:ext uri="{FF2B5EF4-FFF2-40B4-BE49-F238E27FC236}">
                <a16:creationId xmlns:a16="http://schemas.microsoft.com/office/drawing/2014/main" id="{181254CA-F99D-4F15-A02A-9160DE74CB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EA3830-CFD3-4F7F-B331-B68EE771AA50}"/>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4212613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D9A5B-1423-47C1-8416-46BA549FA6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6953F4-C50F-4F0E-A684-88287D0FD8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C4C45A6-BC24-4B74-A36F-065481C42717}"/>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5" name="Footer Placeholder 4">
            <a:extLst>
              <a:ext uri="{FF2B5EF4-FFF2-40B4-BE49-F238E27FC236}">
                <a16:creationId xmlns:a16="http://schemas.microsoft.com/office/drawing/2014/main" id="{310F7CF8-E6CF-4FA2-8F78-ED880CC7C0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9C616-B556-45C9-A386-15E091E761A4}"/>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3213004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7EABD-FD0A-49B8-B432-BCE802503A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3BF39B-CE7B-404B-93A7-998116FC07B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F0131A-A302-442F-9184-94EB5A3A4C5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7C87D9-D826-4D12-9244-1FDBABDBB9FC}"/>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6" name="Footer Placeholder 5">
            <a:extLst>
              <a:ext uri="{FF2B5EF4-FFF2-40B4-BE49-F238E27FC236}">
                <a16:creationId xmlns:a16="http://schemas.microsoft.com/office/drawing/2014/main" id="{8B28B4C5-C215-4E1F-AF02-9D47DE368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C061D4-28BA-4C01-AC83-676B3C4DC95E}"/>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1216241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CC1CC-6135-4BB9-8BAD-1996E22002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3A430F-0D59-4357-8529-5A2D5F8C5F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03D54DA-3639-4FFF-BB7C-C26070C7FD5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1FB87-5897-4C0C-8F02-0CD06E730A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5AFF14B-BCEB-40C0-837B-7A86D4A71B0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AD65C8-EAE9-4932-93FD-B7483ACD7888}"/>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8" name="Footer Placeholder 7">
            <a:extLst>
              <a:ext uri="{FF2B5EF4-FFF2-40B4-BE49-F238E27FC236}">
                <a16:creationId xmlns:a16="http://schemas.microsoft.com/office/drawing/2014/main" id="{FCEB0011-8873-499D-A417-478D1AEF8B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F5A6F3-22D5-45CF-8C38-83BA0CE7C072}"/>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2430875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DB051-88FF-4D73-A870-7E28BD17D9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1E1EF2-9741-43E8-902D-AD567AF07031}"/>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4" name="Footer Placeholder 3">
            <a:extLst>
              <a:ext uri="{FF2B5EF4-FFF2-40B4-BE49-F238E27FC236}">
                <a16:creationId xmlns:a16="http://schemas.microsoft.com/office/drawing/2014/main" id="{5BE26470-5F84-4536-A023-FF5DCA5238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BDF761-2711-4DAB-9CAA-64D885337269}"/>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33258123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106355-AF27-4C0B-9A12-42FEA9162E29}"/>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3" name="Footer Placeholder 2">
            <a:extLst>
              <a:ext uri="{FF2B5EF4-FFF2-40B4-BE49-F238E27FC236}">
                <a16:creationId xmlns:a16="http://schemas.microsoft.com/office/drawing/2014/main" id="{67C848C1-8B2C-4720-9295-90AFD45DE6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9C92B1-D3E0-43F3-9DBA-56720B884F8B}"/>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313401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87A8-2ED3-4999-BB22-F009DD08D9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E8A707-C485-4DFF-A72A-9199ADDFD3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5DB4F8-D720-45D5-AF8B-DE741B41B6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0A01DBA-6C72-4552-AEEA-60E47C682C80}"/>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6" name="Footer Placeholder 5">
            <a:extLst>
              <a:ext uri="{FF2B5EF4-FFF2-40B4-BE49-F238E27FC236}">
                <a16:creationId xmlns:a16="http://schemas.microsoft.com/office/drawing/2014/main" id="{8BA6D384-0EF9-4DA8-B80F-62BE20E07D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45D8A7-3F54-422A-B473-EFC279EFBFD6}"/>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31580298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D682C-BE7B-4237-8FA6-8D7279232B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5224DA-590C-467C-8DFA-D7E8E04706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52DD45-6B89-44BA-944C-115432ABC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24A5B0D-A0B0-47D5-9DAA-4EAEE03BDC16}"/>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6" name="Footer Placeholder 5">
            <a:extLst>
              <a:ext uri="{FF2B5EF4-FFF2-40B4-BE49-F238E27FC236}">
                <a16:creationId xmlns:a16="http://schemas.microsoft.com/office/drawing/2014/main" id="{39AD3435-3C93-4E27-9C88-2B77FEA110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58472-9C78-428A-AF6B-165571FC184C}"/>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41626561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63300-A8FB-4C0A-B4B1-A50A9DE874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51BDD7-74B5-4DB1-BD12-2A61AACD141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BAF9CC-AF20-4853-BF98-F88FB68139FD}"/>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5" name="Footer Placeholder 4">
            <a:extLst>
              <a:ext uri="{FF2B5EF4-FFF2-40B4-BE49-F238E27FC236}">
                <a16:creationId xmlns:a16="http://schemas.microsoft.com/office/drawing/2014/main" id="{6635FE70-8D70-47E1-88F2-76573FD0C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A230A7-B74F-4F43-BA27-5E5D9E0D40FA}"/>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20538160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88F533-5756-4634-B38D-71A253DDC5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E3DA40-D53F-4732-8AB7-15A0792E57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82745-7849-42AB-811E-4F7A476361EC}"/>
              </a:ext>
            </a:extLst>
          </p:cNvPr>
          <p:cNvSpPr>
            <a:spLocks noGrp="1"/>
          </p:cNvSpPr>
          <p:nvPr>
            <p:ph type="dt" sz="half" idx="10"/>
          </p:nvPr>
        </p:nvSpPr>
        <p:spPr/>
        <p:txBody>
          <a:bodyPr/>
          <a:lstStyle/>
          <a:p>
            <a:fld id="{F04C6893-CC51-4966-98FC-FC2B8C019ED6}" type="datetimeFigureOut">
              <a:rPr lang="en-US" smtClean="0"/>
              <a:t>3/6/2023</a:t>
            </a:fld>
            <a:endParaRPr lang="en-US"/>
          </a:p>
        </p:txBody>
      </p:sp>
      <p:sp>
        <p:nvSpPr>
          <p:cNvPr id="5" name="Footer Placeholder 4">
            <a:extLst>
              <a:ext uri="{FF2B5EF4-FFF2-40B4-BE49-F238E27FC236}">
                <a16:creationId xmlns:a16="http://schemas.microsoft.com/office/drawing/2014/main" id="{A03961CA-700B-4A57-B3F5-5BBE3B428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DBEAC-5B79-479F-B9EB-105D8B4039E5}"/>
              </a:ext>
            </a:extLst>
          </p:cNvPr>
          <p:cNvSpPr>
            <a:spLocks noGrp="1"/>
          </p:cNvSpPr>
          <p:nvPr>
            <p:ph type="sldNum" sz="quarter" idx="12"/>
          </p:nvPr>
        </p:nvSpPr>
        <p:spPr/>
        <p:txBody>
          <a:bodyPr/>
          <a:lstStyle/>
          <a:p>
            <a:fld id="{27F6369C-F931-4A40-8796-D36FBF65184B}" type="slidenum">
              <a:rPr lang="en-US" smtClean="0"/>
              <a:t>‹#›</a:t>
            </a:fld>
            <a:endParaRPr lang="en-US"/>
          </a:p>
        </p:txBody>
      </p:sp>
    </p:spTree>
    <p:extLst>
      <p:ext uri="{BB962C8B-B14F-4D97-AF65-F5344CB8AC3E}">
        <p14:creationId xmlns:p14="http://schemas.microsoft.com/office/powerpoint/2010/main" val="1862284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25548-E725-4E7A-AF68-C28E4B22023F}" type="datetimeFigureOut">
              <a:rPr lang="en-GB" smtClean="0"/>
              <a:t>06/03/2023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6D1B4D-CCB1-4F2C-A93F-80592B09E816}" type="slidenum">
              <a:rPr lang="en-GB" smtClean="0"/>
              <a:t>‹#›</a:t>
            </a:fld>
            <a:endParaRPr lang="en-GB"/>
          </a:p>
        </p:txBody>
      </p:sp>
    </p:spTree>
    <p:extLst>
      <p:ext uri="{BB962C8B-B14F-4D97-AF65-F5344CB8AC3E}">
        <p14:creationId xmlns:p14="http://schemas.microsoft.com/office/powerpoint/2010/main" val="682202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EF76B8-E6AB-4BF7-B359-9F537D8C8C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A1EAAE-35B3-46DD-A85A-EF1C34E5D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EA3D0A-3399-4083-B3D9-BBAC56F816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4C6893-CC51-4966-98FC-FC2B8C019ED6}" type="datetimeFigureOut">
              <a:rPr lang="en-US" smtClean="0"/>
              <a:t>3/6/2023</a:t>
            </a:fld>
            <a:endParaRPr lang="en-US"/>
          </a:p>
        </p:txBody>
      </p:sp>
      <p:sp>
        <p:nvSpPr>
          <p:cNvPr id="5" name="Footer Placeholder 4">
            <a:extLst>
              <a:ext uri="{FF2B5EF4-FFF2-40B4-BE49-F238E27FC236}">
                <a16:creationId xmlns:a16="http://schemas.microsoft.com/office/drawing/2014/main" id="{C92A31FB-396F-4419-A7B8-44F3D8343F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AFE4E2-88FC-4F22-AEE3-8547DD1AA0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F6369C-F931-4A40-8796-D36FBF65184B}" type="slidenum">
              <a:rPr lang="en-US" smtClean="0"/>
              <a:t>‹#›</a:t>
            </a:fld>
            <a:endParaRPr lang="en-US"/>
          </a:p>
        </p:txBody>
      </p:sp>
    </p:spTree>
    <p:extLst>
      <p:ext uri="{BB962C8B-B14F-4D97-AF65-F5344CB8AC3E}">
        <p14:creationId xmlns:p14="http://schemas.microsoft.com/office/powerpoint/2010/main" val="3441371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image" Target="../media/image15.gif"/><Relationship Id="rId1" Type="http://schemas.openxmlformats.org/officeDocument/2006/relationships/slideLayout" Target="../slideLayouts/slideLayout12.xml"/><Relationship Id="rId6" Type="http://schemas.openxmlformats.org/officeDocument/2006/relationships/image" Target="../media/image18.jpeg"/><Relationship Id="rId5" Type="http://schemas.microsoft.com/office/2007/relationships/hdphoto" Target="../media/hdphoto2.wdp"/><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12.xml"/><Relationship Id="rId5" Type="http://schemas.microsoft.com/office/2007/relationships/hdphoto" Target="../media/hdphoto3.wdp"/><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3.png"/><Relationship Id="rId5" Type="http://schemas.microsoft.com/office/2007/relationships/hdphoto" Target="../media/hdphoto3.wdp"/><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4.png"/><Relationship Id="rId1" Type="http://schemas.openxmlformats.org/officeDocument/2006/relationships/slideLayout" Target="../slideLayouts/slideLayout12.xml"/><Relationship Id="rId5" Type="http://schemas.openxmlformats.org/officeDocument/2006/relationships/image" Target="../media/image24.png"/><Relationship Id="rId4" Type="http://schemas.microsoft.com/office/2007/relationships/hdphoto" Target="../media/hdphoto3.wdp"/></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5.png"/><Relationship Id="rId5" Type="http://schemas.microsoft.com/office/2007/relationships/hdphoto" Target="../media/hdphoto3.wdp"/><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gif"/><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3.png"/><Relationship Id="rId1" Type="http://schemas.openxmlformats.org/officeDocument/2006/relationships/slideLayout" Target="../slideLayouts/slideLayout12.xml"/><Relationship Id="rId5" Type="http://schemas.microsoft.com/office/2007/relationships/hdphoto" Target="../media/hdphoto5.wdp"/><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65.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67.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6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69.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7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71.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72.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dirty="0"/>
              <a:t>Ethical, Legal and Environmental Impact of Digital Technology</a:t>
            </a:r>
          </a:p>
        </p:txBody>
      </p:sp>
      <p:sp>
        <p:nvSpPr>
          <p:cNvPr id="3" name="Subtitle 2"/>
          <p:cNvSpPr>
            <a:spLocks noGrp="1"/>
          </p:cNvSpPr>
          <p:nvPr>
            <p:ph type="subTitle" idx="1"/>
          </p:nvPr>
        </p:nvSpPr>
        <p:spPr/>
        <p:txBody>
          <a:bodyPr/>
          <a:lstStyle/>
          <a:p>
            <a:r>
              <a:rPr lang="en-GB" dirty="0"/>
              <a:t>U01C09 | Mr Butler</a:t>
            </a:r>
          </a:p>
        </p:txBody>
      </p:sp>
    </p:spTree>
    <p:extLst>
      <p:ext uri="{BB962C8B-B14F-4D97-AF65-F5344CB8AC3E}">
        <p14:creationId xmlns:p14="http://schemas.microsoft.com/office/powerpoint/2010/main" val="2577923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0261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rPr>
              <a:t>What laws do we need to know?</a:t>
            </a:r>
          </a:p>
        </p:txBody>
      </p:sp>
      <p:sp>
        <p:nvSpPr>
          <p:cNvPr id="3" name="Content Placeholder 2"/>
          <p:cNvSpPr>
            <a:spLocks noGrp="1"/>
          </p:cNvSpPr>
          <p:nvPr>
            <p:ph idx="4294967295"/>
          </p:nvPr>
        </p:nvSpPr>
        <p:spPr>
          <a:xfrm>
            <a:off x="102909" y="3258499"/>
            <a:ext cx="7730765" cy="4351338"/>
          </a:xfrm>
        </p:spPr>
        <p:txBody>
          <a:bodyPr/>
          <a:lstStyle/>
          <a:p>
            <a:r>
              <a:rPr lang="en-GB" dirty="0">
                <a:solidFill>
                  <a:srgbClr val="E0E0E0"/>
                </a:solidFill>
              </a:rPr>
              <a:t>The specification states we need to know about:</a:t>
            </a:r>
          </a:p>
          <a:p>
            <a:pPr lvl="1"/>
            <a:r>
              <a:rPr lang="en-GB" dirty="0">
                <a:solidFill>
                  <a:srgbClr val="E0E0E0"/>
                </a:solidFill>
              </a:rPr>
              <a:t>Consumer Contracts Regulations Act 2013</a:t>
            </a:r>
          </a:p>
          <a:p>
            <a:pPr lvl="1"/>
            <a:r>
              <a:rPr lang="en-GB" dirty="0">
                <a:solidFill>
                  <a:srgbClr val="E0E0E0"/>
                </a:solidFill>
              </a:rPr>
              <a:t>Data Protection Act 1998</a:t>
            </a:r>
          </a:p>
          <a:p>
            <a:pPr lvl="1"/>
            <a:r>
              <a:rPr lang="en-GB" dirty="0">
                <a:solidFill>
                  <a:srgbClr val="E0E0E0"/>
                </a:solidFill>
              </a:rPr>
              <a:t>Copyright, Designs and Patents Act 1988</a:t>
            </a:r>
          </a:p>
          <a:p>
            <a:pPr lvl="1"/>
            <a:r>
              <a:rPr lang="en-GB" dirty="0">
                <a:solidFill>
                  <a:srgbClr val="E0E0E0"/>
                </a:solidFill>
              </a:rPr>
              <a:t>Computer Misuse Act 1990</a:t>
            </a:r>
          </a:p>
          <a:p>
            <a:pPr marL="0" indent="0">
              <a:buNone/>
            </a:pPr>
            <a:endParaRPr lang="en-GB" dirty="0"/>
          </a:p>
        </p:txBody>
      </p:sp>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backgroundRemoval t="8444" b="90667" l="9778" r="89778">
                        <a14:foregroundMark x1="36889" y1="83556" x2="42222" y2="77333"/>
                      </a14:backgroundRemoval>
                    </a14:imgEffect>
                  </a14:imgLayer>
                </a14:imgProps>
              </a:ext>
            </a:extLst>
          </a:blip>
          <a:srcRect b="11289"/>
          <a:stretch/>
        </p:blipFill>
        <p:spPr>
          <a:xfrm>
            <a:off x="6721311" y="2004919"/>
            <a:ext cx="5470689" cy="4853081"/>
          </a:xfrm>
          <a:prstGeom prst="rect">
            <a:avLst/>
          </a:prstGeom>
          <a:effectLst>
            <a:outerShdw blurRad="63500" sx="102000" sy="102000" algn="ctr" rotWithShape="0">
              <a:prstClr val="black">
                <a:alpha val="40000"/>
              </a:prstClr>
            </a:outerShdw>
            <a:softEdge rad="63500"/>
          </a:effectLst>
        </p:spPr>
      </p:pic>
    </p:spTree>
    <p:extLst>
      <p:ext uri="{BB962C8B-B14F-4D97-AF65-F5344CB8AC3E}">
        <p14:creationId xmlns:p14="http://schemas.microsoft.com/office/powerpoint/2010/main" val="1024267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56" y="91799"/>
            <a:ext cx="8918542" cy="1325563"/>
          </a:xfrm>
        </p:spPr>
        <p:txBody>
          <a:bodyPr/>
          <a:lstStyle/>
          <a:p>
            <a:r>
              <a:rPr lang="en-GB" dirty="0"/>
              <a:t>Consumer Contracts Regulations, 2013</a:t>
            </a:r>
          </a:p>
        </p:txBody>
      </p:sp>
      <p:sp>
        <p:nvSpPr>
          <p:cNvPr id="3" name="Content Placeholder 2"/>
          <p:cNvSpPr>
            <a:spLocks noGrp="1"/>
          </p:cNvSpPr>
          <p:nvPr>
            <p:ph idx="4294967295"/>
          </p:nvPr>
        </p:nvSpPr>
        <p:spPr>
          <a:xfrm>
            <a:off x="280657" y="1706252"/>
            <a:ext cx="11073143" cy="4893723"/>
          </a:xfrm>
        </p:spPr>
        <p:txBody>
          <a:bodyPr>
            <a:normAutofit fontScale="77500" lnSpcReduction="20000"/>
          </a:bodyPr>
          <a:lstStyle/>
          <a:p>
            <a:pPr lvl="0"/>
            <a:r>
              <a:rPr lang="en-GB" dirty="0"/>
              <a:t>Specifies the rights of customers when shopping online</a:t>
            </a:r>
          </a:p>
          <a:p>
            <a:pPr lvl="0"/>
            <a:r>
              <a:rPr lang="en-GB" dirty="0"/>
              <a:t>Require online traders to provide customers with:</a:t>
            </a:r>
          </a:p>
          <a:p>
            <a:pPr lvl="1"/>
            <a:r>
              <a:rPr lang="en-GB" dirty="0"/>
              <a:t>A full description of the products available</a:t>
            </a:r>
          </a:p>
          <a:p>
            <a:pPr lvl="1"/>
            <a:r>
              <a:rPr lang="en-GB" dirty="0"/>
              <a:t>For digital download, compatibility (hardware/software requirements) must be given.</a:t>
            </a:r>
          </a:p>
          <a:p>
            <a:pPr lvl="1"/>
            <a:r>
              <a:rPr lang="en-GB" dirty="0"/>
              <a:t>Product prices</a:t>
            </a:r>
          </a:p>
          <a:p>
            <a:pPr lvl="1"/>
            <a:r>
              <a:rPr lang="en-GB" dirty="0"/>
              <a:t>Delivery charges</a:t>
            </a:r>
          </a:p>
          <a:p>
            <a:pPr lvl="1"/>
            <a:r>
              <a:rPr lang="en-GB" dirty="0"/>
              <a:t>Methods of payment accepted</a:t>
            </a:r>
          </a:p>
          <a:p>
            <a:pPr lvl="1"/>
            <a:r>
              <a:rPr lang="en-GB" dirty="0"/>
              <a:t>Information on how the products can be returned</a:t>
            </a:r>
          </a:p>
          <a:p>
            <a:pPr lvl="0"/>
            <a:r>
              <a:rPr lang="en-GB" dirty="0"/>
              <a:t>A customer has the right to:</a:t>
            </a:r>
          </a:p>
          <a:p>
            <a:pPr lvl="1"/>
            <a:r>
              <a:rPr lang="en-GB" dirty="0"/>
              <a:t>cancel an order</a:t>
            </a:r>
          </a:p>
          <a:p>
            <a:pPr lvl="1"/>
            <a:r>
              <a:rPr lang="en-GB" dirty="0"/>
              <a:t>given a full refund for physical products (up to 14 days from received date)</a:t>
            </a:r>
          </a:p>
          <a:p>
            <a:pPr lvl="2"/>
            <a:r>
              <a:rPr lang="en-GB" dirty="0"/>
              <a:t>If digital download, may not be entitled to cancel</a:t>
            </a:r>
          </a:p>
          <a:p>
            <a:pPr lvl="0"/>
            <a:r>
              <a:rPr lang="en-GB" dirty="0"/>
              <a:t>If the security seal is broken on a DVD/Blu-ray etc, they lose the right to cancel their order</a:t>
            </a:r>
          </a:p>
          <a:p>
            <a:pPr lvl="1"/>
            <a:r>
              <a:rPr lang="en-GB" dirty="0"/>
              <a:t>Also applies to digital goods that are tailor made by a company (i.e. wedding video)</a:t>
            </a:r>
          </a:p>
          <a:p>
            <a:pPr lvl="0"/>
            <a:r>
              <a:rPr lang="en-GB" dirty="0"/>
              <a:t>Companies are not allowed to charge for items placed in electronic shopping baskets until the customer ‘checks out’ and agrees to purchase items</a:t>
            </a:r>
          </a:p>
          <a:p>
            <a:pPr marL="0" indent="0">
              <a:buNone/>
            </a:pPr>
            <a:endParaRPr lang="en-GB" dirty="0"/>
          </a:p>
        </p:txBody>
      </p:sp>
      <p:pic>
        <p:nvPicPr>
          <p:cNvPr id="16386" name="Picture 2" descr="agreement meme - Google Search | Humor, Memes, The walking de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8417" y="91799"/>
            <a:ext cx="2964062" cy="2321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21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Effect transition="in" filter="fade">
                                      <p:cBhvr>
                                        <p:cTn id="44" dur="500"/>
                                        <p:tgtEl>
                                          <p:spTgt spid="3">
                                            <p:txEl>
                                              <p:pRg st="11" end="1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500"/>
                                        <p:tgtEl>
                                          <p:spTgt spid="3">
                                            <p:txEl>
                                              <p:pRg st="12" end="1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3" name="Freeform: Shape 72">
            <a:extLst>
              <a:ext uri="{FF2B5EF4-FFF2-40B4-BE49-F238E27FC236}">
                <a16:creationId xmlns:a16="http://schemas.microsoft.com/office/drawing/2014/main" id="{E26B9EF5-5D92-4AC7-BC55-FC5C4C98ED4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199" y="548"/>
            <a:ext cx="4349752" cy="3142889"/>
          </a:xfrm>
          <a:custGeom>
            <a:avLst/>
            <a:gdLst>
              <a:gd name="connsiteX0" fmla="*/ 229420 w 4349752"/>
              <a:gd name="connsiteY0" fmla="*/ 0 h 3142889"/>
              <a:gd name="connsiteX1" fmla="*/ 4120333 w 4349752"/>
              <a:gd name="connsiteY1" fmla="*/ 0 h 3142889"/>
              <a:gd name="connsiteX2" fmla="*/ 4178840 w 4349752"/>
              <a:gd name="connsiteY2" fmla="*/ 121453 h 3142889"/>
              <a:gd name="connsiteX3" fmla="*/ 4349752 w 4349752"/>
              <a:gd name="connsiteY3" fmla="*/ 968013 h 3142889"/>
              <a:gd name="connsiteX4" fmla="*/ 2174876 w 4349752"/>
              <a:gd name="connsiteY4" fmla="*/ 3142889 h 3142889"/>
              <a:gd name="connsiteX5" fmla="*/ 0 w 4349752"/>
              <a:gd name="connsiteY5" fmla="*/ 968013 h 3142889"/>
              <a:gd name="connsiteX6" fmla="*/ 170913 w 4349752"/>
              <a:gd name="connsiteY6" fmla="*/ 121453 h 314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9752" h="3142889">
                <a:moveTo>
                  <a:pt x="229420" y="0"/>
                </a:moveTo>
                <a:lnTo>
                  <a:pt x="4120333" y="0"/>
                </a:lnTo>
                <a:lnTo>
                  <a:pt x="4178840" y="121453"/>
                </a:lnTo>
                <a:cubicBezTo>
                  <a:pt x="4288894" y="381652"/>
                  <a:pt x="4349752" y="667725"/>
                  <a:pt x="4349752" y="968013"/>
                </a:cubicBezTo>
                <a:cubicBezTo>
                  <a:pt x="4349752" y="2169164"/>
                  <a:pt x="3376027" y="3142889"/>
                  <a:pt x="2174876" y="3142889"/>
                </a:cubicBezTo>
                <a:cubicBezTo>
                  <a:pt x="973725" y="3142889"/>
                  <a:pt x="0" y="2169164"/>
                  <a:pt x="0" y="968013"/>
                </a:cubicBezTo>
                <a:cubicBezTo>
                  <a:pt x="0" y="667725"/>
                  <a:pt x="60858" y="381652"/>
                  <a:pt x="170913" y="12145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F05C5575-0F07-43D0-AE78-81EAA8E67152}"/>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3759" y="1421356"/>
            <a:ext cx="4538241" cy="5436644"/>
          </a:xfrm>
          <a:custGeom>
            <a:avLst/>
            <a:gdLst>
              <a:gd name="connsiteX0" fmla="*/ 3084645 w 4538241"/>
              <a:gd name="connsiteY0" fmla="*/ 0 h 5436644"/>
              <a:gd name="connsiteX1" fmla="*/ 4285328 w 4538241"/>
              <a:gd name="connsiteY1" fmla="*/ 242407 h 5436644"/>
              <a:gd name="connsiteX2" fmla="*/ 4538241 w 4538241"/>
              <a:gd name="connsiteY2" fmla="*/ 364242 h 5436644"/>
              <a:gd name="connsiteX3" fmla="*/ 4538241 w 4538241"/>
              <a:gd name="connsiteY3" fmla="*/ 5436644 h 5436644"/>
              <a:gd name="connsiteX4" fmla="*/ 1091428 w 4538241"/>
              <a:gd name="connsiteY4" fmla="*/ 5436644 h 5436644"/>
              <a:gd name="connsiteX5" fmla="*/ 903472 w 4538241"/>
              <a:gd name="connsiteY5" fmla="*/ 5265818 h 5436644"/>
              <a:gd name="connsiteX6" fmla="*/ 0 w 4538241"/>
              <a:gd name="connsiteY6" fmla="*/ 3084645 h 5436644"/>
              <a:gd name="connsiteX7" fmla="*/ 3084645 w 4538241"/>
              <a:gd name="connsiteY7" fmla="*/ 0 h 543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8241" h="5436644">
                <a:moveTo>
                  <a:pt x="3084645" y="0"/>
                </a:moveTo>
                <a:cubicBezTo>
                  <a:pt x="3510546" y="0"/>
                  <a:pt x="3916286" y="86315"/>
                  <a:pt x="4285328" y="242407"/>
                </a:cubicBezTo>
                <a:lnTo>
                  <a:pt x="4538241" y="364242"/>
                </a:lnTo>
                <a:lnTo>
                  <a:pt x="4538241" y="5436644"/>
                </a:lnTo>
                <a:lnTo>
                  <a:pt x="1091428" y="5436644"/>
                </a:lnTo>
                <a:lnTo>
                  <a:pt x="903472" y="5265818"/>
                </a:lnTo>
                <a:cubicBezTo>
                  <a:pt x="345261" y="4707608"/>
                  <a:pt x="0" y="3936446"/>
                  <a:pt x="0" y="3084645"/>
                </a:cubicBezTo>
                <a:cubicBezTo>
                  <a:pt x="0" y="1381043"/>
                  <a:pt x="1381043" y="0"/>
                  <a:pt x="3084645"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Image result for data protection act">
            <a:extLst>
              <a:ext uri="{FF2B5EF4-FFF2-40B4-BE49-F238E27FC236}">
                <a16:creationId xmlns:a16="http://schemas.microsoft.com/office/drawing/2014/main" id="{95511CBE-3DF2-4B0A-8CF9-027B97419B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966" b="21198"/>
          <a:stretch/>
        </p:blipFill>
        <p:spPr bwMode="auto">
          <a:xfrm>
            <a:off x="3639395" y="10"/>
            <a:ext cx="4023360" cy="2980230"/>
          </a:xfrm>
          <a:custGeom>
            <a:avLst/>
            <a:gdLst>
              <a:gd name="connsiteX0" fmla="*/ 248676 w 4023360"/>
              <a:gd name="connsiteY0" fmla="*/ 0 h 2980240"/>
              <a:gd name="connsiteX1" fmla="*/ 3774684 w 4023360"/>
              <a:gd name="connsiteY1" fmla="*/ 0 h 2980240"/>
              <a:gd name="connsiteX2" fmla="*/ 3780561 w 4023360"/>
              <a:gd name="connsiteY2" fmla="*/ 9674 h 2980240"/>
              <a:gd name="connsiteX3" fmla="*/ 4023360 w 4023360"/>
              <a:gd name="connsiteY3" fmla="*/ 968560 h 2980240"/>
              <a:gd name="connsiteX4" fmla="*/ 2011680 w 4023360"/>
              <a:gd name="connsiteY4" fmla="*/ 2980240 h 2980240"/>
              <a:gd name="connsiteX5" fmla="*/ 0 w 4023360"/>
              <a:gd name="connsiteY5" fmla="*/ 968560 h 2980240"/>
              <a:gd name="connsiteX6" fmla="*/ 242799 w 4023360"/>
              <a:gd name="connsiteY6" fmla="*/ 9674 h 298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23360" h="2980240">
                <a:moveTo>
                  <a:pt x="248676" y="0"/>
                </a:moveTo>
                <a:lnTo>
                  <a:pt x="3774684" y="0"/>
                </a:lnTo>
                <a:lnTo>
                  <a:pt x="3780561" y="9674"/>
                </a:lnTo>
                <a:cubicBezTo>
                  <a:pt x="3935405" y="294716"/>
                  <a:pt x="4023360" y="621366"/>
                  <a:pt x="4023360" y="968560"/>
                </a:cubicBezTo>
                <a:cubicBezTo>
                  <a:pt x="4023360" y="2079580"/>
                  <a:pt x="3122700" y="2980240"/>
                  <a:pt x="2011680" y="2980240"/>
                </a:cubicBezTo>
                <a:cubicBezTo>
                  <a:pt x="900660" y="2980240"/>
                  <a:pt x="0" y="2079580"/>
                  <a:pt x="0" y="968560"/>
                </a:cubicBezTo>
                <a:cubicBezTo>
                  <a:pt x="0" y="621366"/>
                  <a:pt x="87955" y="294716"/>
                  <a:pt x="242799" y="9674"/>
                </a:cubicBezTo>
                <a:close/>
              </a:path>
            </a:pathLst>
          </a:custGeom>
          <a:noFill/>
          <a:extLst>
            <a:ext uri="{909E8E84-426E-40DD-AFC4-6F175D3DCCD1}">
              <a14:hiddenFill xmlns:a14="http://schemas.microsoft.com/office/drawing/2010/main">
                <a:solidFill>
                  <a:srgbClr val="FFFFFF"/>
                </a:solidFill>
              </a14:hiddenFill>
            </a:ext>
          </a:extLst>
        </p:spPr>
      </p:pic>
      <p:pic>
        <p:nvPicPr>
          <p:cNvPr id="1028" name="Picture 4" descr="Image result for data protection act wallpaper">
            <a:extLst>
              <a:ext uri="{FF2B5EF4-FFF2-40B4-BE49-F238E27FC236}">
                <a16:creationId xmlns:a16="http://schemas.microsoft.com/office/drawing/2014/main" id="{4D776362-B858-4510-B6B3-B34E2A6B41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122" r="19654" b="-2"/>
          <a:stretch/>
        </p:blipFill>
        <p:spPr bwMode="auto">
          <a:xfrm>
            <a:off x="7816897" y="1584494"/>
            <a:ext cx="4375105" cy="5273507"/>
          </a:xfrm>
          <a:custGeom>
            <a:avLst/>
            <a:gdLst>
              <a:gd name="connsiteX0" fmla="*/ 2921508 w 4375105"/>
              <a:gd name="connsiteY0" fmla="*/ 0 h 5273507"/>
              <a:gd name="connsiteX1" fmla="*/ 4314072 w 4375105"/>
              <a:gd name="connsiteY1" fmla="*/ 352611 h 5273507"/>
              <a:gd name="connsiteX2" fmla="*/ 4375105 w 4375105"/>
              <a:gd name="connsiteY2" fmla="*/ 389689 h 5273507"/>
              <a:gd name="connsiteX3" fmla="*/ 4375105 w 4375105"/>
              <a:gd name="connsiteY3" fmla="*/ 5273507 h 5273507"/>
              <a:gd name="connsiteX4" fmla="*/ 1193705 w 4375105"/>
              <a:gd name="connsiteY4" fmla="*/ 5273507 h 5273507"/>
              <a:gd name="connsiteX5" fmla="*/ 1063158 w 4375105"/>
              <a:gd name="connsiteY5" fmla="*/ 5175886 h 5273507"/>
              <a:gd name="connsiteX6" fmla="*/ 0 w 4375105"/>
              <a:gd name="connsiteY6" fmla="*/ 2921508 h 5273507"/>
              <a:gd name="connsiteX7" fmla="*/ 2921508 w 4375105"/>
              <a:gd name="connsiteY7" fmla="*/ 0 h 527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5105" h="5273507">
                <a:moveTo>
                  <a:pt x="2921508" y="0"/>
                </a:moveTo>
                <a:cubicBezTo>
                  <a:pt x="3425728" y="0"/>
                  <a:pt x="3900114" y="127735"/>
                  <a:pt x="4314072" y="352611"/>
                </a:cubicBezTo>
                <a:lnTo>
                  <a:pt x="4375105" y="389689"/>
                </a:lnTo>
                <a:lnTo>
                  <a:pt x="4375105" y="5273507"/>
                </a:lnTo>
                <a:lnTo>
                  <a:pt x="1193705" y="5273507"/>
                </a:lnTo>
                <a:lnTo>
                  <a:pt x="1063158" y="5175886"/>
                </a:lnTo>
                <a:cubicBezTo>
                  <a:pt x="413861" y="4640038"/>
                  <a:pt x="0" y="3829104"/>
                  <a:pt x="0" y="2921508"/>
                </a:cubicBezTo>
                <a:cubicBezTo>
                  <a:pt x="0" y="1308004"/>
                  <a:pt x="1308004" y="0"/>
                  <a:pt x="2921508" y="0"/>
                </a:cubicBez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2D91B4B-336A-47EE-95D6-653705C8B99A}"/>
              </a:ext>
            </a:extLst>
          </p:cNvPr>
          <p:cNvSpPr>
            <a:spLocks noGrp="1"/>
          </p:cNvSpPr>
          <p:nvPr>
            <p:ph type="ctrTitle"/>
          </p:nvPr>
        </p:nvSpPr>
        <p:spPr>
          <a:xfrm>
            <a:off x="804672" y="4007335"/>
            <a:ext cx="7021279" cy="1497998"/>
          </a:xfrm>
        </p:spPr>
        <p:txBody>
          <a:bodyPr anchor="t">
            <a:normAutofit/>
          </a:bodyPr>
          <a:lstStyle/>
          <a:p>
            <a:pPr algn="l"/>
            <a:r>
              <a:rPr lang="en-GB" sz="4800" dirty="0"/>
              <a:t>Data Protection Act, 1998</a:t>
            </a:r>
            <a:endParaRPr lang="en-US" sz="4800" dirty="0"/>
          </a:p>
        </p:txBody>
      </p:sp>
      <p:sp>
        <p:nvSpPr>
          <p:cNvPr id="3" name="Subtitle 2">
            <a:extLst>
              <a:ext uri="{FF2B5EF4-FFF2-40B4-BE49-F238E27FC236}">
                <a16:creationId xmlns:a16="http://schemas.microsoft.com/office/drawing/2014/main" id="{F7320F7A-05D2-4188-B9FC-517D47B41EE9}"/>
              </a:ext>
            </a:extLst>
          </p:cNvPr>
          <p:cNvSpPr>
            <a:spLocks noGrp="1"/>
          </p:cNvSpPr>
          <p:nvPr>
            <p:ph type="subTitle" idx="1"/>
          </p:nvPr>
        </p:nvSpPr>
        <p:spPr>
          <a:xfrm>
            <a:off x="804672" y="3288965"/>
            <a:ext cx="6455833" cy="665853"/>
          </a:xfrm>
        </p:spPr>
        <p:txBody>
          <a:bodyPr anchor="b">
            <a:normAutofit/>
          </a:bodyPr>
          <a:lstStyle/>
          <a:p>
            <a:pPr algn="l"/>
            <a:r>
              <a:rPr lang="en-GB" sz="2000" dirty="0"/>
              <a:t>Legal Implications | Mr Butler</a:t>
            </a:r>
            <a:endParaRPr lang="en-US" sz="2000" dirty="0"/>
          </a:p>
        </p:txBody>
      </p:sp>
    </p:spTree>
    <p:extLst>
      <p:ext uri="{BB962C8B-B14F-4D97-AF65-F5344CB8AC3E}">
        <p14:creationId xmlns:p14="http://schemas.microsoft.com/office/powerpoint/2010/main" val="181289019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58330-3440-4DAF-A18D-5AC3E2FA90D1}"/>
              </a:ext>
            </a:extLst>
          </p:cNvPr>
          <p:cNvSpPr>
            <a:spLocks noGrp="1"/>
          </p:cNvSpPr>
          <p:nvPr>
            <p:ph type="title"/>
          </p:nvPr>
        </p:nvSpPr>
        <p:spPr/>
        <p:txBody>
          <a:bodyPr/>
          <a:lstStyle/>
          <a:p>
            <a:r>
              <a:rPr lang="en-GB" dirty="0"/>
              <a:t>The Spec</a:t>
            </a:r>
            <a:endParaRPr lang="en-US" dirty="0"/>
          </a:p>
        </p:txBody>
      </p:sp>
      <p:sp>
        <p:nvSpPr>
          <p:cNvPr id="3" name="Content Placeholder 2">
            <a:extLst>
              <a:ext uri="{FF2B5EF4-FFF2-40B4-BE49-F238E27FC236}">
                <a16:creationId xmlns:a16="http://schemas.microsoft.com/office/drawing/2014/main" id="{2ACBAB61-AB7D-49CD-AE5B-A4C76A054C42}"/>
              </a:ext>
            </a:extLst>
          </p:cNvPr>
          <p:cNvSpPr>
            <a:spLocks noGrp="1"/>
          </p:cNvSpPr>
          <p:nvPr>
            <p:ph idx="1"/>
          </p:nvPr>
        </p:nvSpPr>
        <p:spPr>
          <a:xfrm>
            <a:off x="1058778" y="288758"/>
            <a:ext cx="10451447" cy="5641717"/>
          </a:xfrm>
        </p:spPr>
        <p:txBody>
          <a:bodyPr/>
          <a:lstStyle/>
          <a:p>
            <a:endParaRPr lang="en-US" dirty="0"/>
          </a:p>
        </p:txBody>
      </p:sp>
      <p:pic>
        <p:nvPicPr>
          <p:cNvPr id="4" name="Picture 3">
            <a:extLst>
              <a:ext uri="{FF2B5EF4-FFF2-40B4-BE49-F238E27FC236}">
                <a16:creationId xmlns:a16="http://schemas.microsoft.com/office/drawing/2014/main" id="{D0860E6B-E8A0-48C9-B7F0-5DCD5A3A02D9}"/>
              </a:ext>
            </a:extLst>
          </p:cNvPr>
          <p:cNvPicPr>
            <a:picLocks noChangeAspect="1"/>
          </p:cNvPicPr>
          <p:nvPr/>
        </p:nvPicPr>
        <p:blipFill>
          <a:blip r:embed="rId2"/>
          <a:stretch>
            <a:fillRect/>
          </a:stretch>
        </p:blipFill>
        <p:spPr>
          <a:xfrm>
            <a:off x="1548048" y="3938955"/>
            <a:ext cx="10451447" cy="2755214"/>
          </a:xfrm>
          <a:prstGeom prst="rect">
            <a:avLst/>
          </a:prstGeom>
        </p:spPr>
      </p:pic>
    </p:spTree>
    <p:extLst>
      <p:ext uri="{BB962C8B-B14F-4D97-AF65-F5344CB8AC3E}">
        <p14:creationId xmlns:p14="http://schemas.microsoft.com/office/powerpoint/2010/main" val="390183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F643-72B4-43C6-92F5-097D813B0502}"/>
              </a:ext>
            </a:extLst>
          </p:cNvPr>
          <p:cNvSpPr>
            <a:spLocks noGrp="1"/>
          </p:cNvSpPr>
          <p:nvPr>
            <p:ph type="title"/>
          </p:nvPr>
        </p:nvSpPr>
        <p:spPr/>
        <p:txBody>
          <a:bodyPr/>
          <a:lstStyle/>
          <a:p>
            <a:r>
              <a:rPr lang="en-GB" dirty="0"/>
              <a:t>Data Protection Act</a:t>
            </a:r>
            <a:endParaRPr lang="en-US" dirty="0"/>
          </a:p>
        </p:txBody>
      </p:sp>
      <p:sp>
        <p:nvSpPr>
          <p:cNvPr id="3" name="Content Placeholder 2">
            <a:extLst>
              <a:ext uri="{FF2B5EF4-FFF2-40B4-BE49-F238E27FC236}">
                <a16:creationId xmlns:a16="http://schemas.microsoft.com/office/drawing/2014/main" id="{698C7702-979B-4A11-9C65-C4E95B914A04}"/>
              </a:ext>
            </a:extLst>
          </p:cNvPr>
          <p:cNvSpPr>
            <a:spLocks noGrp="1"/>
          </p:cNvSpPr>
          <p:nvPr>
            <p:ph idx="1"/>
          </p:nvPr>
        </p:nvSpPr>
        <p:spPr>
          <a:xfrm>
            <a:off x="1058778" y="288757"/>
            <a:ext cx="10940717" cy="6240379"/>
          </a:xfrm>
        </p:spPr>
        <p:txBody>
          <a:bodyPr/>
          <a:lstStyle/>
          <a:p>
            <a:r>
              <a:rPr lang="en-GB" dirty="0"/>
              <a:t>Covers facts, figures and opinions about a person.</a:t>
            </a:r>
          </a:p>
          <a:p>
            <a:endParaRPr lang="en-GB" dirty="0"/>
          </a:p>
          <a:p>
            <a:r>
              <a:rPr lang="en-GB" dirty="0"/>
              <a:t>Provides a legal backup to protect </a:t>
            </a:r>
            <a:r>
              <a:rPr lang="en-GB" b="1" dirty="0"/>
              <a:t>Data Subjects</a:t>
            </a:r>
            <a:r>
              <a:rPr lang="en-GB" dirty="0"/>
              <a:t> from </a:t>
            </a:r>
            <a:r>
              <a:rPr lang="en-GB" b="1" dirty="0"/>
              <a:t>Data Users</a:t>
            </a:r>
          </a:p>
          <a:p>
            <a:endParaRPr lang="en-GB" b="1" dirty="0"/>
          </a:p>
          <a:p>
            <a:endParaRPr lang="en-GB" b="1" dirty="0"/>
          </a:p>
          <a:p>
            <a:endParaRPr lang="en-GB" b="1" dirty="0"/>
          </a:p>
          <a:p>
            <a:endParaRPr lang="en-GB" b="1" dirty="0"/>
          </a:p>
          <a:p>
            <a:r>
              <a:rPr lang="en-GB" dirty="0"/>
              <a:t>Empowers individuals more control over how their information is used by individuals and organisations</a:t>
            </a:r>
          </a:p>
          <a:p>
            <a:endParaRPr lang="en-GB" dirty="0"/>
          </a:p>
          <a:p>
            <a:endParaRPr lang="en-US" dirty="0"/>
          </a:p>
        </p:txBody>
      </p:sp>
      <p:sp>
        <p:nvSpPr>
          <p:cNvPr id="5" name="TextBox 4">
            <a:extLst>
              <a:ext uri="{FF2B5EF4-FFF2-40B4-BE49-F238E27FC236}">
                <a16:creationId xmlns:a16="http://schemas.microsoft.com/office/drawing/2014/main" id="{08E4B6F2-49AB-4F9C-956F-FCA52BF8331B}"/>
              </a:ext>
            </a:extLst>
          </p:cNvPr>
          <p:cNvSpPr txBox="1"/>
          <p:nvPr/>
        </p:nvSpPr>
        <p:spPr>
          <a:xfrm>
            <a:off x="7507705" y="2228671"/>
            <a:ext cx="449179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Calibri" panose="020F0502020204030204"/>
                <a:ea typeface="+mn-ea"/>
                <a:cs typeface="+mn-cs"/>
              </a:rPr>
              <a:t>Person who makes use of personal information for a certain purpose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Calibri" panose="020F0502020204030204"/>
                <a:ea typeface="+mn-ea"/>
                <a:cs typeface="+mn-cs"/>
              </a:rPr>
              <a:t>i.e. secretary </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E38220B6-4922-4447-B9A3-321ADA5D7C54}"/>
              </a:ext>
            </a:extLst>
          </p:cNvPr>
          <p:cNvGrpSpPr/>
          <p:nvPr/>
        </p:nvGrpSpPr>
        <p:grpSpPr>
          <a:xfrm>
            <a:off x="3850105" y="1748590"/>
            <a:ext cx="3412956" cy="1293854"/>
            <a:chOff x="3850105" y="1748590"/>
            <a:chExt cx="3412956" cy="1293854"/>
          </a:xfrm>
        </p:grpSpPr>
        <p:sp>
          <p:nvSpPr>
            <p:cNvPr id="4" name="TextBox 3">
              <a:extLst>
                <a:ext uri="{FF2B5EF4-FFF2-40B4-BE49-F238E27FC236}">
                  <a16:creationId xmlns:a16="http://schemas.microsoft.com/office/drawing/2014/main" id="{2419FB68-2435-4474-B4D4-4F85387CD658}"/>
                </a:ext>
              </a:extLst>
            </p:cNvPr>
            <p:cNvSpPr txBox="1"/>
            <p:nvPr/>
          </p:nvSpPr>
          <p:spPr>
            <a:xfrm>
              <a:off x="3850105" y="2211447"/>
              <a:ext cx="319237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Calibri" panose="020F0502020204030204"/>
                  <a:ea typeface="+mn-ea"/>
                  <a:cs typeface="+mn-cs"/>
                </a:rPr>
                <a:t>The person of whom the data is about</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5C1F0737-58BF-420E-A4A1-DD0B3CDE5A2F}"/>
                </a:ext>
              </a:extLst>
            </p:cNvPr>
            <p:cNvCxnSpPr>
              <a:cxnSpLocks/>
            </p:cNvCxnSpPr>
            <p:nvPr/>
          </p:nvCxnSpPr>
          <p:spPr>
            <a:xfrm flipV="1">
              <a:off x="6096000" y="1748590"/>
              <a:ext cx="1167061" cy="480081"/>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 name="Straight Arrow Connector 9">
            <a:extLst>
              <a:ext uri="{FF2B5EF4-FFF2-40B4-BE49-F238E27FC236}">
                <a16:creationId xmlns:a16="http://schemas.microsoft.com/office/drawing/2014/main" id="{BF3D91BD-E208-4712-8613-7D65506A4F59}"/>
              </a:ext>
            </a:extLst>
          </p:cNvPr>
          <p:cNvCxnSpPr>
            <a:cxnSpLocks/>
          </p:cNvCxnSpPr>
          <p:nvPr/>
        </p:nvCxnSpPr>
        <p:spPr>
          <a:xfrm flipH="1" flipV="1">
            <a:off x="9673389" y="1731366"/>
            <a:ext cx="160422" cy="480081"/>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645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 calcmode="lin" valueType="num">
                                      <p:cBhvr additive="base">
                                        <p:cTn id="3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E39D-6D35-4660-BA6E-2AA7D53CD7FA}"/>
              </a:ext>
            </a:extLst>
          </p:cNvPr>
          <p:cNvSpPr>
            <a:spLocks noGrp="1"/>
          </p:cNvSpPr>
          <p:nvPr>
            <p:ph type="title"/>
          </p:nvPr>
        </p:nvSpPr>
        <p:spPr/>
        <p:txBody>
          <a:bodyPr/>
          <a:lstStyle/>
          <a:p>
            <a:r>
              <a:rPr lang="en-GB" dirty="0"/>
              <a:t>The Key Roles</a:t>
            </a:r>
            <a:endParaRPr lang="en-US" dirty="0"/>
          </a:p>
        </p:txBody>
      </p:sp>
      <p:sp>
        <p:nvSpPr>
          <p:cNvPr id="3" name="Content Placeholder 2">
            <a:extLst>
              <a:ext uri="{FF2B5EF4-FFF2-40B4-BE49-F238E27FC236}">
                <a16:creationId xmlns:a16="http://schemas.microsoft.com/office/drawing/2014/main" id="{3BE61B4A-7A8E-41CD-A1B6-F48FEDD91B01}"/>
              </a:ext>
            </a:extLst>
          </p:cNvPr>
          <p:cNvSpPr>
            <a:spLocks noGrp="1"/>
          </p:cNvSpPr>
          <p:nvPr>
            <p:ph idx="1"/>
          </p:nvPr>
        </p:nvSpPr>
        <p:spPr>
          <a:xfrm>
            <a:off x="2053389" y="176464"/>
            <a:ext cx="9946106" cy="3140242"/>
          </a:xfrm>
        </p:spPr>
        <p:txBody>
          <a:bodyPr/>
          <a:lstStyle/>
          <a:p>
            <a:endParaRPr lang="en-GB" dirty="0"/>
          </a:p>
          <a:p>
            <a:r>
              <a:rPr lang="en-GB" dirty="0"/>
              <a:t>Person responsible for enforcing the Data Protection Act within the UK</a:t>
            </a:r>
          </a:p>
          <a:p>
            <a:endParaRPr lang="en-GB" dirty="0"/>
          </a:p>
          <a:p>
            <a:r>
              <a:rPr lang="en-GB" dirty="0"/>
              <a:t>Organizations need to apply to in order to gain permission to collect and store personal information</a:t>
            </a:r>
            <a:endParaRPr lang="en-US" dirty="0"/>
          </a:p>
        </p:txBody>
      </p:sp>
      <p:sp>
        <p:nvSpPr>
          <p:cNvPr id="4" name="Content Placeholder 2">
            <a:extLst>
              <a:ext uri="{FF2B5EF4-FFF2-40B4-BE49-F238E27FC236}">
                <a16:creationId xmlns:a16="http://schemas.microsoft.com/office/drawing/2014/main" id="{858FBBC6-355A-499C-9724-818F4FFC9374}"/>
              </a:ext>
            </a:extLst>
          </p:cNvPr>
          <p:cNvSpPr txBox="1">
            <a:spLocks/>
          </p:cNvSpPr>
          <p:nvPr/>
        </p:nvSpPr>
        <p:spPr>
          <a:xfrm>
            <a:off x="2053389" y="3541883"/>
            <a:ext cx="9946106" cy="3140242"/>
          </a:xfrm>
          <a:prstGeom prst="rect">
            <a:avLst/>
          </a:prstGeom>
          <a:solidFill>
            <a:srgbClr val="203864">
              <a:alpha val="80000"/>
            </a:srgb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Usually in charge of the organisation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Decides what data needs to be collected and what it will be used for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Responsible for applying for permission to collect and store data in the first place.</a:t>
            </a:r>
            <a:endPar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72323095-F354-4E43-B6E8-117D88B84306}"/>
              </a:ext>
            </a:extLst>
          </p:cNvPr>
          <p:cNvSpPr txBox="1">
            <a:spLocks/>
          </p:cNvSpPr>
          <p:nvPr/>
        </p:nvSpPr>
        <p:spPr>
          <a:xfrm rot="16200000">
            <a:off x="64170" y="1326896"/>
            <a:ext cx="3140242" cy="838199"/>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Data Commissioner</a:t>
            </a:r>
          </a:p>
        </p:txBody>
      </p:sp>
      <p:sp>
        <p:nvSpPr>
          <p:cNvPr id="6" name="Title 1">
            <a:extLst>
              <a:ext uri="{FF2B5EF4-FFF2-40B4-BE49-F238E27FC236}">
                <a16:creationId xmlns:a16="http://schemas.microsoft.com/office/drawing/2014/main" id="{C66B41A1-2799-44B9-BC55-4A51D799A9F4}"/>
              </a:ext>
            </a:extLst>
          </p:cNvPr>
          <p:cNvSpPr txBox="1">
            <a:spLocks/>
          </p:cNvSpPr>
          <p:nvPr/>
        </p:nvSpPr>
        <p:spPr>
          <a:xfrm rot="16200000">
            <a:off x="64169" y="4692904"/>
            <a:ext cx="3140242" cy="838199"/>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Data Controller</a:t>
            </a:r>
          </a:p>
        </p:txBody>
      </p:sp>
    </p:spTree>
    <p:extLst>
      <p:ext uri="{BB962C8B-B14F-4D97-AF65-F5344CB8AC3E}">
        <p14:creationId xmlns:p14="http://schemas.microsoft.com/office/powerpoint/2010/main" val="411128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0-#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E39D-6D35-4660-BA6E-2AA7D53CD7FA}"/>
              </a:ext>
            </a:extLst>
          </p:cNvPr>
          <p:cNvSpPr>
            <a:spLocks noGrp="1"/>
          </p:cNvSpPr>
          <p:nvPr>
            <p:ph type="title"/>
          </p:nvPr>
        </p:nvSpPr>
        <p:spPr/>
        <p:txBody>
          <a:bodyPr/>
          <a:lstStyle/>
          <a:p>
            <a:r>
              <a:rPr lang="en-GB" dirty="0"/>
              <a:t>Data Subject Rights</a:t>
            </a:r>
            <a:endParaRPr lang="en-US" dirty="0"/>
          </a:p>
        </p:txBody>
      </p:sp>
      <p:sp>
        <p:nvSpPr>
          <p:cNvPr id="3" name="Content Placeholder 2">
            <a:extLst>
              <a:ext uri="{FF2B5EF4-FFF2-40B4-BE49-F238E27FC236}">
                <a16:creationId xmlns:a16="http://schemas.microsoft.com/office/drawing/2014/main" id="{3BE61B4A-7A8E-41CD-A1B6-F48FEDD91B01}"/>
              </a:ext>
            </a:extLst>
          </p:cNvPr>
          <p:cNvSpPr>
            <a:spLocks noGrp="1"/>
          </p:cNvSpPr>
          <p:nvPr>
            <p:ph idx="1"/>
          </p:nvPr>
        </p:nvSpPr>
        <p:spPr>
          <a:xfrm>
            <a:off x="2053389" y="176464"/>
            <a:ext cx="9946106" cy="3140242"/>
          </a:xfrm>
        </p:spPr>
        <p:txBody>
          <a:bodyPr/>
          <a:lstStyle/>
          <a:p>
            <a:endParaRPr lang="en-GB" dirty="0"/>
          </a:p>
          <a:p>
            <a:r>
              <a:rPr lang="en-GB" dirty="0"/>
              <a:t>Has a right to be supplied by a data controller with the personal data held about him or her. </a:t>
            </a:r>
          </a:p>
          <a:p>
            <a:endParaRPr lang="en-GB" dirty="0"/>
          </a:p>
          <a:p>
            <a:r>
              <a:rPr lang="en-GB" dirty="0"/>
              <a:t>The data controller can charge for this (usually around £10 pounds).</a:t>
            </a:r>
            <a:endParaRPr lang="en-US" dirty="0"/>
          </a:p>
        </p:txBody>
      </p:sp>
      <p:sp>
        <p:nvSpPr>
          <p:cNvPr id="4" name="Content Placeholder 2">
            <a:extLst>
              <a:ext uri="{FF2B5EF4-FFF2-40B4-BE49-F238E27FC236}">
                <a16:creationId xmlns:a16="http://schemas.microsoft.com/office/drawing/2014/main" id="{858FBBC6-355A-499C-9724-818F4FFC9374}"/>
              </a:ext>
            </a:extLst>
          </p:cNvPr>
          <p:cNvSpPr txBox="1">
            <a:spLocks/>
          </p:cNvSpPr>
          <p:nvPr/>
        </p:nvSpPr>
        <p:spPr>
          <a:xfrm>
            <a:off x="2053389" y="3541883"/>
            <a:ext cx="9946106" cy="3140242"/>
          </a:xfrm>
          <a:prstGeom prst="rect">
            <a:avLst/>
          </a:prstGeom>
          <a:solidFill>
            <a:srgbClr val="203864">
              <a:alpha val="80000"/>
            </a:srgb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A data subject may force the data controller to correct any mistakes in the data held about them</a:t>
            </a:r>
            <a:endPar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72323095-F354-4E43-B6E8-117D88B84306}"/>
              </a:ext>
            </a:extLst>
          </p:cNvPr>
          <p:cNvSpPr txBox="1">
            <a:spLocks/>
          </p:cNvSpPr>
          <p:nvPr/>
        </p:nvSpPr>
        <p:spPr>
          <a:xfrm rot="16200000">
            <a:off x="64170" y="1326896"/>
            <a:ext cx="3140242" cy="838199"/>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Subject Access</a:t>
            </a:r>
          </a:p>
        </p:txBody>
      </p:sp>
      <p:sp>
        <p:nvSpPr>
          <p:cNvPr id="6" name="Title 1">
            <a:extLst>
              <a:ext uri="{FF2B5EF4-FFF2-40B4-BE49-F238E27FC236}">
                <a16:creationId xmlns:a16="http://schemas.microsoft.com/office/drawing/2014/main" id="{C66B41A1-2799-44B9-BC55-4A51D799A9F4}"/>
              </a:ext>
            </a:extLst>
          </p:cNvPr>
          <p:cNvSpPr txBox="1">
            <a:spLocks/>
          </p:cNvSpPr>
          <p:nvPr/>
        </p:nvSpPr>
        <p:spPr>
          <a:xfrm rot="16200000">
            <a:off x="64169" y="4692904"/>
            <a:ext cx="3140242" cy="838199"/>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Right of Correction</a:t>
            </a:r>
          </a:p>
        </p:txBody>
      </p:sp>
    </p:spTree>
    <p:extLst>
      <p:ext uri="{BB962C8B-B14F-4D97-AF65-F5344CB8AC3E}">
        <p14:creationId xmlns:p14="http://schemas.microsoft.com/office/powerpoint/2010/main" val="142249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0-#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E39D-6D35-4660-BA6E-2AA7D53CD7FA}"/>
              </a:ext>
            </a:extLst>
          </p:cNvPr>
          <p:cNvSpPr>
            <a:spLocks noGrp="1"/>
          </p:cNvSpPr>
          <p:nvPr>
            <p:ph type="title"/>
          </p:nvPr>
        </p:nvSpPr>
        <p:spPr/>
        <p:txBody>
          <a:bodyPr/>
          <a:lstStyle/>
          <a:p>
            <a:r>
              <a:rPr lang="en-GB" dirty="0"/>
              <a:t>Data Subject Rights</a:t>
            </a:r>
            <a:endParaRPr lang="en-US" dirty="0"/>
          </a:p>
        </p:txBody>
      </p:sp>
      <p:sp>
        <p:nvSpPr>
          <p:cNvPr id="3" name="Content Placeholder 2">
            <a:extLst>
              <a:ext uri="{FF2B5EF4-FFF2-40B4-BE49-F238E27FC236}">
                <a16:creationId xmlns:a16="http://schemas.microsoft.com/office/drawing/2014/main" id="{3BE61B4A-7A8E-41CD-A1B6-F48FEDD91B01}"/>
              </a:ext>
            </a:extLst>
          </p:cNvPr>
          <p:cNvSpPr>
            <a:spLocks noGrp="1"/>
          </p:cNvSpPr>
          <p:nvPr>
            <p:ph idx="1"/>
          </p:nvPr>
        </p:nvSpPr>
        <p:spPr>
          <a:xfrm>
            <a:off x="2053389" y="176464"/>
            <a:ext cx="9946106" cy="3140242"/>
          </a:xfrm>
        </p:spPr>
        <p:txBody>
          <a:bodyPr/>
          <a:lstStyle/>
          <a:p>
            <a:endParaRPr lang="en-GB" dirty="0"/>
          </a:p>
          <a:p>
            <a:endParaRPr lang="en-GB" dirty="0"/>
          </a:p>
          <a:p>
            <a:r>
              <a:rPr lang="en-GB" dirty="0"/>
              <a:t>The data subject may prevent the use of information if it would be likely to cause them distress. </a:t>
            </a:r>
          </a:p>
        </p:txBody>
      </p:sp>
      <p:sp>
        <p:nvSpPr>
          <p:cNvPr id="4" name="Content Placeholder 2">
            <a:extLst>
              <a:ext uri="{FF2B5EF4-FFF2-40B4-BE49-F238E27FC236}">
                <a16:creationId xmlns:a16="http://schemas.microsoft.com/office/drawing/2014/main" id="{858FBBC6-355A-499C-9724-818F4FFC9374}"/>
              </a:ext>
            </a:extLst>
          </p:cNvPr>
          <p:cNvSpPr txBox="1">
            <a:spLocks/>
          </p:cNvSpPr>
          <p:nvPr/>
        </p:nvSpPr>
        <p:spPr>
          <a:xfrm>
            <a:off x="2053389" y="3541883"/>
            <a:ext cx="9946106" cy="3140242"/>
          </a:xfrm>
          <a:prstGeom prst="rect">
            <a:avLst/>
          </a:prstGeom>
          <a:solidFill>
            <a:srgbClr val="203864">
              <a:alpha val="80000"/>
            </a:srgb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The data subject may stop their data being used in attempts to sell them things (i.e. via junk mail or cold calling). </a:t>
            </a:r>
          </a:p>
        </p:txBody>
      </p:sp>
      <p:sp>
        <p:nvSpPr>
          <p:cNvPr id="5" name="Title 1">
            <a:extLst>
              <a:ext uri="{FF2B5EF4-FFF2-40B4-BE49-F238E27FC236}">
                <a16:creationId xmlns:a16="http://schemas.microsoft.com/office/drawing/2014/main" id="{72323095-F354-4E43-B6E8-117D88B84306}"/>
              </a:ext>
            </a:extLst>
          </p:cNvPr>
          <p:cNvSpPr txBox="1">
            <a:spLocks/>
          </p:cNvSpPr>
          <p:nvPr/>
        </p:nvSpPr>
        <p:spPr>
          <a:xfrm rot="16200000">
            <a:off x="64170" y="1326896"/>
            <a:ext cx="3140242" cy="838199"/>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Prevent Distress</a:t>
            </a:r>
          </a:p>
        </p:txBody>
      </p:sp>
      <p:sp>
        <p:nvSpPr>
          <p:cNvPr id="6" name="Title 1">
            <a:extLst>
              <a:ext uri="{FF2B5EF4-FFF2-40B4-BE49-F238E27FC236}">
                <a16:creationId xmlns:a16="http://schemas.microsoft.com/office/drawing/2014/main" id="{C66B41A1-2799-44B9-BC55-4A51D799A9F4}"/>
              </a:ext>
            </a:extLst>
          </p:cNvPr>
          <p:cNvSpPr txBox="1">
            <a:spLocks/>
          </p:cNvSpPr>
          <p:nvPr/>
        </p:nvSpPr>
        <p:spPr>
          <a:xfrm rot="16200000">
            <a:off x="64169" y="4692904"/>
            <a:ext cx="3140242" cy="838199"/>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Right to Prevent Direct Marketing</a:t>
            </a:r>
          </a:p>
        </p:txBody>
      </p:sp>
    </p:spTree>
    <p:extLst>
      <p:ext uri="{BB962C8B-B14F-4D97-AF65-F5344CB8AC3E}">
        <p14:creationId xmlns:p14="http://schemas.microsoft.com/office/powerpoint/2010/main" val="232625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0-#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E39D-6D35-4660-BA6E-2AA7D53CD7FA}"/>
              </a:ext>
            </a:extLst>
          </p:cNvPr>
          <p:cNvSpPr>
            <a:spLocks noGrp="1"/>
          </p:cNvSpPr>
          <p:nvPr>
            <p:ph type="title"/>
          </p:nvPr>
        </p:nvSpPr>
        <p:spPr/>
        <p:txBody>
          <a:bodyPr/>
          <a:lstStyle/>
          <a:p>
            <a:r>
              <a:rPr lang="en-GB" dirty="0"/>
              <a:t>Data Subject Rights</a:t>
            </a:r>
            <a:endParaRPr lang="en-US" dirty="0"/>
          </a:p>
        </p:txBody>
      </p:sp>
      <p:sp>
        <p:nvSpPr>
          <p:cNvPr id="3" name="Content Placeholder 2">
            <a:extLst>
              <a:ext uri="{FF2B5EF4-FFF2-40B4-BE49-F238E27FC236}">
                <a16:creationId xmlns:a16="http://schemas.microsoft.com/office/drawing/2014/main" id="{3BE61B4A-7A8E-41CD-A1B6-F48FEDD91B01}"/>
              </a:ext>
            </a:extLst>
          </p:cNvPr>
          <p:cNvSpPr>
            <a:spLocks noGrp="1"/>
          </p:cNvSpPr>
          <p:nvPr>
            <p:ph idx="1"/>
          </p:nvPr>
        </p:nvSpPr>
        <p:spPr>
          <a:xfrm>
            <a:off x="2053389" y="176464"/>
            <a:ext cx="9946106" cy="3140242"/>
          </a:xfrm>
        </p:spPr>
        <p:txBody>
          <a:bodyPr>
            <a:normAutofit lnSpcReduction="10000"/>
          </a:bodyPr>
          <a:lstStyle/>
          <a:p>
            <a:pPr marL="0" indent="0">
              <a:buNone/>
            </a:pPr>
            <a:endParaRPr lang="en-GB" dirty="0"/>
          </a:p>
          <a:p>
            <a:r>
              <a:rPr lang="en-GB" dirty="0"/>
              <a:t>A data subject may specify that they do not want a data user to make "automated" decisions about them </a:t>
            </a:r>
          </a:p>
          <a:p>
            <a:endParaRPr lang="en-GB" dirty="0"/>
          </a:p>
          <a:p>
            <a:r>
              <a:rPr lang="en-GB" dirty="0"/>
              <a:t>I.e. An individual applying for a personal loan online. The website uses algorithms and auto credit searching to provide an immediate yes/no decision on the application.</a:t>
            </a:r>
          </a:p>
          <a:p>
            <a:endParaRPr lang="en-GB" dirty="0"/>
          </a:p>
          <a:p>
            <a:endParaRPr lang="en-GB" dirty="0"/>
          </a:p>
        </p:txBody>
      </p:sp>
      <p:sp>
        <p:nvSpPr>
          <p:cNvPr id="4" name="Content Placeholder 2">
            <a:extLst>
              <a:ext uri="{FF2B5EF4-FFF2-40B4-BE49-F238E27FC236}">
                <a16:creationId xmlns:a16="http://schemas.microsoft.com/office/drawing/2014/main" id="{858FBBC6-355A-499C-9724-818F4FFC9374}"/>
              </a:ext>
            </a:extLst>
          </p:cNvPr>
          <p:cNvSpPr txBox="1">
            <a:spLocks/>
          </p:cNvSpPr>
          <p:nvPr/>
        </p:nvSpPr>
        <p:spPr>
          <a:xfrm>
            <a:off x="2053389" y="3541883"/>
            <a:ext cx="9946106" cy="3140242"/>
          </a:xfrm>
          <a:prstGeom prst="rect">
            <a:avLst/>
          </a:prstGeom>
          <a:solidFill>
            <a:srgbClr val="203864">
              <a:alpha val="80000"/>
            </a:srgb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GB" altLang="en-US" sz="2800" b="0" i="0" u="none" strike="noStrike" kern="1200" cap="none" spc="0" normalizeH="0" baseline="0" noProof="0" dirty="0">
                <a:ln>
                  <a:noFill/>
                </a:ln>
                <a:solidFill>
                  <a:prstClr val="white"/>
                </a:solidFill>
                <a:effectLst/>
                <a:uLnTx/>
                <a:uFillTx/>
                <a:latin typeface="Calibri" panose="020F0502020204030204"/>
                <a:ea typeface="+mn-ea"/>
                <a:cs typeface="+mn-cs"/>
              </a:rPr>
              <a:t>A data subject can ask for the use of their personal data to be reviewed by the Information Commissioner who can enforce a ruling using the DPA. </a:t>
            </a: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endParaRPr kumimoji="0" lang="en-GB" altLang="en-US" sz="2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GB" altLang="en-US" sz="2800" b="0" i="0" u="none" strike="noStrike" kern="1200" cap="none" spc="0" normalizeH="0" baseline="0" noProof="0" dirty="0">
                <a:ln>
                  <a:noFill/>
                </a:ln>
                <a:solidFill>
                  <a:prstClr val="white"/>
                </a:solidFill>
                <a:effectLst/>
                <a:uLnTx/>
                <a:uFillTx/>
                <a:latin typeface="Calibri" panose="020F0502020204030204"/>
                <a:ea typeface="+mn-ea"/>
                <a:cs typeface="+mn-cs"/>
              </a:rPr>
              <a:t>The Commissioner may inspect a controller's computers to help in the investigation. </a:t>
            </a:r>
          </a:p>
        </p:txBody>
      </p:sp>
      <p:sp>
        <p:nvSpPr>
          <p:cNvPr id="5" name="Title 1">
            <a:extLst>
              <a:ext uri="{FF2B5EF4-FFF2-40B4-BE49-F238E27FC236}">
                <a16:creationId xmlns:a16="http://schemas.microsoft.com/office/drawing/2014/main" id="{72323095-F354-4E43-B6E8-117D88B84306}"/>
              </a:ext>
            </a:extLst>
          </p:cNvPr>
          <p:cNvSpPr txBox="1">
            <a:spLocks/>
          </p:cNvSpPr>
          <p:nvPr/>
        </p:nvSpPr>
        <p:spPr>
          <a:xfrm rot="16200000">
            <a:off x="-6012" y="1256713"/>
            <a:ext cx="3140242" cy="978565"/>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Prevent Automatic Decisions</a:t>
            </a:r>
          </a:p>
        </p:txBody>
      </p:sp>
      <p:sp>
        <p:nvSpPr>
          <p:cNvPr id="6" name="Title 1">
            <a:extLst>
              <a:ext uri="{FF2B5EF4-FFF2-40B4-BE49-F238E27FC236}">
                <a16:creationId xmlns:a16="http://schemas.microsoft.com/office/drawing/2014/main" id="{C66B41A1-2799-44B9-BC55-4A51D799A9F4}"/>
              </a:ext>
            </a:extLst>
          </p:cNvPr>
          <p:cNvSpPr txBox="1">
            <a:spLocks/>
          </p:cNvSpPr>
          <p:nvPr/>
        </p:nvSpPr>
        <p:spPr>
          <a:xfrm rot="16200000">
            <a:off x="-6013" y="4622721"/>
            <a:ext cx="3140242" cy="978566"/>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Complaint to the Information Commissioner</a:t>
            </a:r>
          </a:p>
        </p:txBody>
      </p:sp>
    </p:spTree>
    <p:extLst>
      <p:ext uri="{BB962C8B-B14F-4D97-AF65-F5344CB8AC3E}">
        <p14:creationId xmlns:p14="http://schemas.microsoft.com/office/powerpoint/2010/main" val="396404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E39D-6D35-4660-BA6E-2AA7D53CD7FA}"/>
              </a:ext>
            </a:extLst>
          </p:cNvPr>
          <p:cNvSpPr>
            <a:spLocks noGrp="1"/>
          </p:cNvSpPr>
          <p:nvPr>
            <p:ph type="title"/>
          </p:nvPr>
        </p:nvSpPr>
        <p:spPr/>
        <p:txBody>
          <a:bodyPr/>
          <a:lstStyle/>
          <a:p>
            <a:r>
              <a:rPr lang="en-GB" dirty="0"/>
              <a:t>Data Subject Rights</a:t>
            </a:r>
            <a:endParaRPr lang="en-US" dirty="0"/>
          </a:p>
        </p:txBody>
      </p:sp>
      <p:sp>
        <p:nvSpPr>
          <p:cNvPr id="3" name="Content Placeholder 2">
            <a:extLst>
              <a:ext uri="{FF2B5EF4-FFF2-40B4-BE49-F238E27FC236}">
                <a16:creationId xmlns:a16="http://schemas.microsoft.com/office/drawing/2014/main" id="{3BE61B4A-7A8E-41CD-A1B6-F48FEDD91B01}"/>
              </a:ext>
            </a:extLst>
          </p:cNvPr>
          <p:cNvSpPr>
            <a:spLocks noGrp="1"/>
          </p:cNvSpPr>
          <p:nvPr>
            <p:ph idx="1"/>
          </p:nvPr>
        </p:nvSpPr>
        <p:spPr>
          <a:xfrm>
            <a:off x="2053389" y="176464"/>
            <a:ext cx="9946106" cy="3140242"/>
          </a:xfrm>
        </p:spPr>
        <p:txBody>
          <a:bodyPr/>
          <a:lstStyle/>
          <a:p>
            <a:endParaRPr lang="en-GB" altLang="en-US" dirty="0"/>
          </a:p>
          <a:p>
            <a:r>
              <a:rPr lang="en-GB" altLang="en-US" dirty="0"/>
              <a:t>The data subject is entitled to use the law to get compensation for damage caused ("damages") if personal data about them is inaccurate, lost, or disclosed. </a:t>
            </a:r>
          </a:p>
          <a:p>
            <a:pPr lvl="1"/>
            <a:r>
              <a:rPr lang="en-GB" dirty="0"/>
              <a:t>These rights only exist if you know who has data stored about you</a:t>
            </a:r>
          </a:p>
          <a:p>
            <a:pPr lvl="1"/>
            <a:r>
              <a:rPr lang="en-GB" dirty="0"/>
              <a:t>Some data controllers are exempt from the Act</a:t>
            </a:r>
          </a:p>
        </p:txBody>
      </p:sp>
      <p:sp>
        <p:nvSpPr>
          <p:cNvPr id="5" name="Title 1">
            <a:extLst>
              <a:ext uri="{FF2B5EF4-FFF2-40B4-BE49-F238E27FC236}">
                <a16:creationId xmlns:a16="http://schemas.microsoft.com/office/drawing/2014/main" id="{72323095-F354-4E43-B6E8-117D88B84306}"/>
              </a:ext>
            </a:extLst>
          </p:cNvPr>
          <p:cNvSpPr txBox="1">
            <a:spLocks/>
          </p:cNvSpPr>
          <p:nvPr/>
        </p:nvSpPr>
        <p:spPr>
          <a:xfrm rot="16200000">
            <a:off x="64170" y="1326896"/>
            <a:ext cx="3140242" cy="838199"/>
          </a:xfrm>
          <a:prstGeom prst="rect">
            <a:avLst/>
          </a:prstGeom>
          <a:solidFill>
            <a:srgbClr val="00B0F0"/>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j-ea"/>
                <a:cs typeface="+mj-cs"/>
              </a:rPr>
              <a:t>Right to Compensation</a:t>
            </a:r>
          </a:p>
        </p:txBody>
      </p:sp>
    </p:spTree>
    <p:extLst>
      <p:ext uri="{BB962C8B-B14F-4D97-AF65-F5344CB8AC3E}">
        <p14:creationId xmlns:p14="http://schemas.microsoft.com/office/powerpoint/2010/main" val="406890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8C8BA-B0AF-481F-973D-E3428D79A207}"/>
              </a:ext>
            </a:extLst>
          </p:cNvPr>
          <p:cNvSpPr>
            <a:spLocks noGrp="1"/>
          </p:cNvSpPr>
          <p:nvPr>
            <p:ph type="title"/>
          </p:nvPr>
        </p:nvSpPr>
        <p:spPr/>
        <p:txBody>
          <a:bodyPr/>
          <a:lstStyle/>
          <a:p>
            <a:r>
              <a:rPr lang="en-GB" dirty="0"/>
              <a:t>The 8 Principles</a:t>
            </a:r>
            <a:endParaRPr lang="en-US" dirty="0"/>
          </a:p>
        </p:txBody>
      </p:sp>
      <p:pic>
        <p:nvPicPr>
          <p:cNvPr id="4" name="Content Placeholder 3">
            <a:extLst>
              <a:ext uri="{FF2B5EF4-FFF2-40B4-BE49-F238E27FC236}">
                <a16:creationId xmlns:a16="http://schemas.microsoft.com/office/drawing/2014/main" id="{80A76480-B963-44ED-9831-E5364CFDB49B}"/>
              </a:ext>
            </a:extLst>
          </p:cNvPr>
          <p:cNvPicPr>
            <a:picLocks noGrp="1" noChangeAspect="1"/>
          </p:cNvPicPr>
          <p:nvPr>
            <p:ph idx="1"/>
          </p:nvPr>
        </p:nvPicPr>
        <p:blipFill>
          <a:blip r:embed="rId2"/>
          <a:stretch>
            <a:fillRect/>
          </a:stretch>
        </p:blipFill>
        <p:spPr>
          <a:xfrm>
            <a:off x="968398" y="92484"/>
            <a:ext cx="9591143" cy="6718861"/>
          </a:xfrm>
          <a:prstGeom prst="rect">
            <a:avLst/>
          </a:prstGeom>
        </p:spPr>
      </p:pic>
      <p:pic>
        <p:nvPicPr>
          <p:cNvPr id="5" name="Content Placeholder 3">
            <a:extLst>
              <a:ext uri="{FF2B5EF4-FFF2-40B4-BE49-F238E27FC236}">
                <a16:creationId xmlns:a16="http://schemas.microsoft.com/office/drawing/2014/main" id="{06986CD7-2E69-4E0E-A893-1BCB654F3316}"/>
              </a:ext>
            </a:extLst>
          </p:cNvPr>
          <p:cNvPicPr>
            <a:picLocks noChangeAspect="1"/>
          </p:cNvPicPr>
          <p:nvPr/>
        </p:nvPicPr>
        <p:blipFill rotWithShape="1">
          <a:blip r:embed="rId2"/>
          <a:srcRect l="92124" t="1894" r="2211" b="82327"/>
          <a:stretch/>
        </p:blipFill>
        <p:spPr>
          <a:xfrm>
            <a:off x="8154950" y="6260839"/>
            <a:ext cx="2404592" cy="550506"/>
          </a:xfrm>
          <a:prstGeom prst="rect">
            <a:avLst/>
          </a:prstGeom>
          <a:solidFill>
            <a:srgbClr val="203864">
              <a:alpha val="80000"/>
            </a:srgbClr>
          </a:solidFill>
        </p:spPr>
      </p:pic>
    </p:spTree>
    <p:extLst>
      <p:ext uri="{BB962C8B-B14F-4D97-AF65-F5344CB8AC3E}">
        <p14:creationId xmlns:p14="http://schemas.microsoft.com/office/powerpoint/2010/main" val="1355514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Image result for copyright background">
            <a:extLst>
              <a:ext uri="{FF2B5EF4-FFF2-40B4-BE49-F238E27FC236}">
                <a16:creationId xmlns:a16="http://schemas.microsoft.com/office/drawing/2014/main" id="{0A310150-6A8B-43A1-BCCC-02BA149CD96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760" t="4840" b="4251"/>
          <a:stretch/>
        </p:blipFill>
        <p:spPr bwMode="auto">
          <a:xfrm>
            <a:off x="4818888" y="10"/>
            <a:ext cx="7373112" cy="6857989"/>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8">
            <a:extLst>
              <a:ext uri="{FF2B5EF4-FFF2-40B4-BE49-F238E27FC236}">
                <a16:creationId xmlns:a16="http://schemas.microsoft.com/office/drawing/2014/main" id="{9225B0D8-E56E-4ACC-A464-81F4062765C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1" y="-479"/>
            <a:ext cx="9468701" cy="6858478"/>
          </a:xfrm>
          <a:custGeom>
            <a:avLst/>
            <a:gdLst>
              <a:gd name="connsiteX0" fmla="*/ 0 w 8078051"/>
              <a:gd name="connsiteY0" fmla="*/ 0 h 5829300"/>
              <a:gd name="connsiteX1" fmla="*/ 4453793 w 8078051"/>
              <a:gd name="connsiteY1" fmla="*/ 0 h 5829300"/>
              <a:gd name="connsiteX2" fmla="*/ 5363426 w 8078051"/>
              <a:gd name="connsiteY2" fmla="*/ 0 h 5829300"/>
              <a:gd name="connsiteX3" fmla="*/ 5368184 w 8078051"/>
              <a:gd name="connsiteY3" fmla="*/ 0 h 5829300"/>
              <a:gd name="connsiteX4" fmla="*/ 8078051 w 8078051"/>
              <a:gd name="connsiteY4" fmla="*/ 5829300 h 5829300"/>
              <a:gd name="connsiteX5" fmla="*/ 1743926 w 8078051"/>
              <a:gd name="connsiteY5" fmla="*/ 5829300 h 5829300"/>
              <a:gd name="connsiteX6" fmla="*/ 1744148 w 8078051"/>
              <a:gd name="connsiteY6" fmla="*/ 5828822 h 5829300"/>
              <a:gd name="connsiteX7" fmla="*/ 0 w 8078051"/>
              <a:gd name="connsiteY7" fmla="*/ 5828822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1" h="5829300">
                <a:moveTo>
                  <a:pt x="0" y="0"/>
                </a:moveTo>
                <a:lnTo>
                  <a:pt x="4453793" y="0"/>
                </a:lnTo>
                <a:lnTo>
                  <a:pt x="5363426" y="0"/>
                </a:lnTo>
                <a:lnTo>
                  <a:pt x="5368184" y="0"/>
                </a:lnTo>
                <a:lnTo>
                  <a:pt x="8078051" y="5829300"/>
                </a:lnTo>
                <a:lnTo>
                  <a:pt x="1743926" y="5829300"/>
                </a:lnTo>
                <a:lnTo>
                  <a:pt x="1744148" y="5828822"/>
                </a:lnTo>
                <a:lnTo>
                  <a:pt x="0" y="5828822"/>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Freeform 11">
            <a:extLst>
              <a:ext uri="{FF2B5EF4-FFF2-40B4-BE49-F238E27FC236}">
                <a16:creationId xmlns:a16="http://schemas.microsoft.com/office/drawing/2014/main" id="{8F5D1B28-3976-4367-807C-CAD629CDD838}"/>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 y="-479"/>
            <a:ext cx="8078052" cy="6858478"/>
          </a:xfrm>
          <a:custGeom>
            <a:avLst/>
            <a:gdLst>
              <a:gd name="connsiteX0" fmla="*/ 0 w 8078052"/>
              <a:gd name="connsiteY0" fmla="*/ 0 h 6858478"/>
              <a:gd name="connsiteX1" fmla="*/ 3829872 w 8078052"/>
              <a:gd name="connsiteY1" fmla="*/ 0 h 6858478"/>
              <a:gd name="connsiteX2" fmla="*/ 4896100 w 8078052"/>
              <a:gd name="connsiteY2" fmla="*/ 0 h 6858478"/>
              <a:gd name="connsiteX3" fmla="*/ 4901677 w 8078052"/>
              <a:gd name="connsiteY3" fmla="*/ 0 h 6858478"/>
              <a:gd name="connsiteX4" fmla="*/ 8078052 w 8078052"/>
              <a:gd name="connsiteY4" fmla="*/ 6858478 h 6858478"/>
              <a:gd name="connsiteX5" fmla="*/ 653497 w 8078052"/>
              <a:gd name="connsiteY5" fmla="*/ 6858478 h 6858478"/>
              <a:gd name="connsiteX6" fmla="*/ 653757 w 8078052"/>
              <a:gd name="connsiteY6" fmla="*/ 6857916 h 6858478"/>
              <a:gd name="connsiteX7" fmla="*/ 0 w 8078052"/>
              <a:gd name="connsiteY7" fmla="*/ 6857916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2" h="6858478">
                <a:moveTo>
                  <a:pt x="0" y="0"/>
                </a:moveTo>
                <a:lnTo>
                  <a:pt x="3829872" y="0"/>
                </a:lnTo>
                <a:lnTo>
                  <a:pt x="4896100" y="0"/>
                </a:lnTo>
                <a:lnTo>
                  <a:pt x="4901677" y="0"/>
                </a:lnTo>
                <a:lnTo>
                  <a:pt x="8078052" y="6858478"/>
                </a:lnTo>
                <a:lnTo>
                  <a:pt x="653497" y="6858478"/>
                </a:lnTo>
                <a:lnTo>
                  <a:pt x="653757" y="6857916"/>
                </a:lnTo>
                <a:lnTo>
                  <a:pt x="0" y="6857916"/>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39A613-3A20-4C01-9F0B-5AFDF096AD7A}"/>
              </a:ext>
            </a:extLst>
          </p:cNvPr>
          <p:cNvSpPr>
            <a:spLocks noGrp="1"/>
          </p:cNvSpPr>
          <p:nvPr>
            <p:ph type="ctrTitle"/>
          </p:nvPr>
        </p:nvSpPr>
        <p:spPr>
          <a:xfrm>
            <a:off x="211113" y="5197513"/>
            <a:ext cx="7184297" cy="3320973"/>
          </a:xfrm>
        </p:spPr>
        <p:txBody>
          <a:bodyPr anchor="t">
            <a:normAutofit/>
          </a:bodyPr>
          <a:lstStyle/>
          <a:p>
            <a:pPr algn="l"/>
            <a:r>
              <a:rPr lang="en-GB" sz="5400" dirty="0"/>
              <a:t>Copyright Designs and Patents Act, 1988</a:t>
            </a:r>
            <a:endParaRPr lang="en-US" sz="5400" dirty="0"/>
          </a:p>
        </p:txBody>
      </p:sp>
      <p:sp>
        <p:nvSpPr>
          <p:cNvPr id="3" name="Subtitle 2">
            <a:extLst>
              <a:ext uri="{FF2B5EF4-FFF2-40B4-BE49-F238E27FC236}">
                <a16:creationId xmlns:a16="http://schemas.microsoft.com/office/drawing/2014/main" id="{6E326B5C-BF7A-4AC2-A311-9287D7AE27D2}"/>
              </a:ext>
            </a:extLst>
          </p:cNvPr>
          <p:cNvSpPr>
            <a:spLocks noGrp="1"/>
          </p:cNvSpPr>
          <p:nvPr>
            <p:ph type="subTitle" idx="1"/>
          </p:nvPr>
        </p:nvSpPr>
        <p:spPr>
          <a:xfrm>
            <a:off x="325331" y="4041988"/>
            <a:ext cx="4167376" cy="1155525"/>
          </a:xfrm>
        </p:spPr>
        <p:txBody>
          <a:bodyPr anchor="b">
            <a:normAutofit/>
          </a:bodyPr>
          <a:lstStyle/>
          <a:p>
            <a:pPr algn="l"/>
            <a:r>
              <a:rPr lang="en-GB" sz="2000" dirty="0"/>
              <a:t>Legal Implications | Mr Butler</a:t>
            </a:r>
            <a:endParaRPr lang="en-US" sz="2000" dirty="0"/>
          </a:p>
        </p:txBody>
      </p:sp>
    </p:spTree>
    <p:extLst>
      <p:ext uri="{BB962C8B-B14F-4D97-AF65-F5344CB8AC3E}">
        <p14:creationId xmlns:p14="http://schemas.microsoft.com/office/powerpoint/2010/main" val="3696203815"/>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31BCB-1CF0-4DC6-B62D-824E09721B8F}"/>
              </a:ext>
            </a:extLst>
          </p:cNvPr>
          <p:cNvSpPr>
            <a:spLocks noGrp="1"/>
          </p:cNvSpPr>
          <p:nvPr>
            <p:ph type="title"/>
          </p:nvPr>
        </p:nvSpPr>
        <p:spPr>
          <a:solidFill>
            <a:srgbClr val="253917">
              <a:alpha val="78824"/>
            </a:srgbClr>
          </a:solidFill>
        </p:spPr>
        <p:txBody>
          <a:bodyPr/>
          <a:lstStyle/>
          <a:p>
            <a:pPr algn="ctr"/>
            <a:r>
              <a:rPr lang="en-GB" dirty="0">
                <a:solidFill>
                  <a:schemeClr val="bg1"/>
                </a:solidFill>
              </a:rPr>
              <a:t>The Specification</a:t>
            </a:r>
            <a:endParaRPr lang="en-US" dirty="0">
              <a:solidFill>
                <a:schemeClr val="bg1"/>
              </a:solidFill>
            </a:endParaRPr>
          </a:p>
        </p:txBody>
      </p:sp>
      <p:pic>
        <p:nvPicPr>
          <p:cNvPr id="9" name="Content Placeholder 3">
            <a:extLst>
              <a:ext uri="{FF2B5EF4-FFF2-40B4-BE49-F238E27FC236}">
                <a16:creationId xmlns:a16="http://schemas.microsoft.com/office/drawing/2014/main" id="{52FE1AE5-7A39-4127-8303-4D208BA61F5C}"/>
              </a:ext>
            </a:extLst>
          </p:cNvPr>
          <p:cNvPicPr>
            <a:picLocks noGrp="1" noChangeAspect="1"/>
          </p:cNvPicPr>
          <p:nvPr>
            <p:ph idx="4294967295"/>
          </p:nvPr>
        </p:nvPicPr>
        <p:blipFill>
          <a:blip r:embed="rId3"/>
          <a:stretch>
            <a:fillRect/>
          </a:stretch>
        </p:blipFill>
        <p:spPr>
          <a:xfrm>
            <a:off x="838200" y="2179318"/>
            <a:ext cx="10516790" cy="2647205"/>
          </a:xfrm>
          <a:prstGeom prst="rect">
            <a:avLst/>
          </a:prstGeom>
        </p:spPr>
      </p:pic>
    </p:spTree>
    <p:extLst>
      <p:ext uri="{BB962C8B-B14F-4D97-AF65-F5344CB8AC3E}">
        <p14:creationId xmlns:p14="http://schemas.microsoft.com/office/powerpoint/2010/main" val="200011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ular Callout 4">
            <a:extLst>
              <a:ext uri="{FF2B5EF4-FFF2-40B4-BE49-F238E27FC236}">
                <a16:creationId xmlns:a16="http://schemas.microsoft.com/office/drawing/2014/main" id="{A0DE7804-DF79-4E98-83ED-A17F94147C37}"/>
              </a:ext>
            </a:extLst>
          </p:cNvPr>
          <p:cNvSpPr/>
          <p:nvPr/>
        </p:nvSpPr>
        <p:spPr>
          <a:xfrm>
            <a:off x="336885" y="274637"/>
            <a:ext cx="10647948" cy="3802435"/>
          </a:xfrm>
          <a:prstGeom prst="wedgeRectCallout">
            <a:avLst>
              <a:gd name="adj1" fmla="val 39579"/>
              <a:gd name="adj2" fmla="val 65533"/>
            </a:avLst>
          </a:prstGeom>
          <a:solidFill>
            <a:schemeClr val="accent6">
              <a:lumMod val="50000"/>
              <a:alpha val="50196"/>
            </a:schemeClr>
          </a:solidFill>
          <a:ln w="635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Explain the principles behind the Copyright, Designs and Patents Act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List the implications of breaking the act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Distinguish between the 3 types of software licence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State 2 methods of protecting against software piracy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white"/>
                </a:solidFill>
                <a:effectLst/>
                <a:uLnTx/>
                <a:uFillTx/>
                <a:latin typeface="Calibri" panose="020F0502020204030204"/>
                <a:ea typeface="+mn-ea"/>
                <a:cs typeface="+mn-cs"/>
              </a:rPr>
              <a:t>Define the term plagiarism</a:t>
            </a:r>
            <a:endPar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Content Placeholder 1">
            <a:extLst>
              <a:ext uri="{FF2B5EF4-FFF2-40B4-BE49-F238E27FC236}">
                <a16:creationId xmlns:a16="http://schemas.microsoft.com/office/drawing/2014/main" id="{F17D89B3-F0F0-48CA-958E-C417CF7EE4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59210" y="3510281"/>
            <a:ext cx="2495905" cy="3347719"/>
          </a:xfrm>
          <a:prstGeom prst="rect">
            <a:avLst/>
          </a:prstGeom>
        </p:spPr>
      </p:pic>
      <p:sp>
        <p:nvSpPr>
          <p:cNvPr id="6" name="Title 5"/>
          <p:cNvSpPr>
            <a:spLocks noGrp="1"/>
          </p:cNvSpPr>
          <p:nvPr>
            <p:ph type="title"/>
          </p:nvPr>
        </p:nvSpPr>
        <p:spPr/>
        <p:txBody>
          <a:bodyPr/>
          <a:lstStyle/>
          <a:p>
            <a:endParaRPr lang="en-GB"/>
          </a:p>
        </p:txBody>
      </p:sp>
      <p:sp>
        <p:nvSpPr>
          <p:cNvPr id="7" name="Content Placeholder 6"/>
          <p:cNvSpPr>
            <a:spLocks noGrp="1"/>
          </p:cNvSpPr>
          <p:nvPr>
            <p:ph idx="4294967295"/>
          </p:nvPr>
        </p:nvSpPr>
        <p:spPr>
          <a:xfrm>
            <a:off x="838200" y="1825625"/>
            <a:ext cx="10515600" cy="4351338"/>
          </a:xfrm>
        </p:spPr>
        <p:txBody>
          <a:bodyPr/>
          <a:lstStyle/>
          <a:p>
            <a:endParaRPr lang="en-GB"/>
          </a:p>
        </p:txBody>
      </p:sp>
    </p:spTree>
    <p:extLst>
      <p:ext uri="{BB962C8B-B14F-4D97-AF65-F5344CB8AC3E}">
        <p14:creationId xmlns:p14="http://schemas.microsoft.com/office/powerpoint/2010/main" val="3598009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fade">
                                      <p:cBhvr>
                                        <p:cTn id="16" dur="500"/>
                                        <p:tgtEl>
                                          <p:spTgt spid="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500"/>
                                        <p:tgtEl>
                                          <p:spTgt spid="4">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500"/>
                                        <p:tgtEl>
                                          <p:spTgt spid="4">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Effect transition="in" filter="fade">
                                      <p:cBhvr>
                                        <p:cTn id="31" dur="500"/>
                                        <p:tgtEl>
                                          <p:spTgt spid="4">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animEffect transition="in" filter="fade">
                                      <p:cBhvr>
                                        <p:cTn id="3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07457-7650-4902-8E93-C7B9DD1D9D59}"/>
              </a:ext>
            </a:extLst>
          </p:cNvPr>
          <p:cNvSpPr>
            <a:spLocks noGrp="1"/>
          </p:cNvSpPr>
          <p:nvPr>
            <p:ph type="title"/>
          </p:nvPr>
        </p:nvSpPr>
        <p:spPr/>
        <p:txBody>
          <a:bodyPr/>
          <a:lstStyle/>
          <a:p>
            <a:r>
              <a:rPr lang="en-GB" dirty="0">
                <a:solidFill>
                  <a:srgbClr val="FF0000"/>
                </a:solidFill>
              </a:rPr>
              <a:t>To breach or not to breach?</a:t>
            </a:r>
            <a:endParaRPr lang="en-US" dirty="0">
              <a:solidFill>
                <a:srgbClr val="FF0000"/>
              </a:solidFill>
            </a:endParaRPr>
          </a:p>
        </p:txBody>
      </p:sp>
      <p:sp>
        <p:nvSpPr>
          <p:cNvPr id="3" name="Content Placeholder 2">
            <a:extLst>
              <a:ext uri="{FF2B5EF4-FFF2-40B4-BE49-F238E27FC236}">
                <a16:creationId xmlns:a16="http://schemas.microsoft.com/office/drawing/2014/main" id="{8BE65030-971E-4613-A1EC-D30438702E5A}"/>
              </a:ext>
            </a:extLst>
          </p:cNvPr>
          <p:cNvSpPr>
            <a:spLocks noGrp="1"/>
          </p:cNvSpPr>
          <p:nvPr>
            <p:ph idx="4294967295"/>
          </p:nvPr>
        </p:nvSpPr>
        <p:spPr>
          <a:xfrm>
            <a:off x="838200" y="1825625"/>
            <a:ext cx="10515600" cy="4351338"/>
          </a:xfrm>
          <a:solidFill>
            <a:srgbClr val="003300">
              <a:alpha val="50196"/>
            </a:srgbClr>
          </a:solidFill>
        </p:spPr>
        <p:txBody>
          <a:bodyPr vert="horz" lIns="91440" tIns="45720" rIns="91440" bIns="45720" rtlCol="0">
            <a:normAutofit lnSpcReduction="10000"/>
          </a:bodyPr>
          <a:lstStyle/>
          <a:p>
            <a:r>
              <a:rPr lang="en-GB" dirty="0">
                <a:solidFill>
                  <a:schemeClr val="bg1"/>
                </a:solidFill>
              </a:rPr>
              <a:t>Jane wants to use an image she found on the internet for her ICT coursework. She contacts the owner to check if she can use it. The owner gives Jane their permission. Has Jane breached the act? Why? Why not?</a:t>
            </a:r>
          </a:p>
          <a:p>
            <a:pPr lvl="1"/>
            <a:r>
              <a:rPr lang="en-GB" dirty="0">
                <a:solidFill>
                  <a:schemeClr val="bg1"/>
                </a:solidFill>
              </a:rPr>
              <a:t>No, she has not breached the act. She gained the owners permission from the owner before using the material.</a:t>
            </a:r>
          </a:p>
          <a:p>
            <a:r>
              <a:rPr lang="en-GB" dirty="0">
                <a:solidFill>
                  <a:schemeClr val="bg1"/>
                </a:solidFill>
              </a:rPr>
              <a:t>Sam purchases a song from iTunes to use in his Moving Image coursework. His friend, Tom, asks for a copy of the song for his project. Is this a breach of the Act?</a:t>
            </a:r>
          </a:p>
          <a:p>
            <a:pPr lvl="1"/>
            <a:r>
              <a:rPr lang="en-GB" dirty="0">
                <a:solidFill>
                  <a:schemeClr val="bg1"/>
                </a:solidFill>
              </a:rPr>
              <a:t>Yes, both Sam and Tom have breached the Act. Although Sam legally purchased the music, he breached the act by sharing the music file. Tom also breached the act as he has used the song without a licence.</a:t>
            </a:r>
            <a:endParaRPr lang="en-US" dirty="0">
              <a:solidFill>
                <a:schemeClr val="bg1"/>
              </a:solidFill>
            </a:endParaRPr>
          </a:p>
        </p:txBody>
      </p:sp>
    </p:spTree>
    <p:extLst>
      <p:ext uri="{BB962C8B-B14F-4D97-AF65-F5344CB8AC3E}">
        <p14:creationId xmlns:p14="http://schemas.microsoft.com/office/powerpoint/2010/main" val="352910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6613-BF98-4F99-907C-C2EDBF3442A6}"/>
              </a:ext>
            </a:extLst>
          </p:cNvPr>
          <p:cNvSpPr>
            <a:spLocks noGrp="1"/>
          </p:cNvSpPr>
          <p:nvPr>
            <p:ph type="title"/>
          </p:nvPr>
        </p:nvSpPr>
        <p:spPr/>
        <p:txBody>
          <a:bodyPr/>
          <a:lstStyle/>
          <a:p>
            <a:pPr algn="r"/>
            <a:r>
              <a:rPr lang="en-GB" dirty="0"/>
              <a:t>What is the Act for?</a:t>
            </a:r>
            <a:endParaRPr lang="en-US" dirty="0"/>
          </a:p>
        </p:txBody>
      </p:sp>
      <p:sp>
        <p:nvSpPr>
          <p:cNvPr id="4" name="Content Placeholder 3">
            <a:extLst>
              <a:ext uri="{FF2B5EF4-FFF2-40B4-BE49-F238E27FC236}">
                <a16:creationId xmlns:a16="http://schemas.microsoft.com/office/drawing/2014/main" id="{D6F1D6A5-5B4D-4C1C-8D6D-C7A003EB2BAF}"/>
              </a:ext>
            </a:extLst>
          </p:cNvPr>
          <p:cNvSpPr>
            <a:spLocks noGrp="1"/>
          </p:cNvSpPr>
          <p:nvPr>
            <p:ph idx="4294967295"/>
          </p:nvPr>
        </p:nvSpPr>
        <p:spPr>
          <a:xfrm>
            <a:off x="838200" y="1825625"/>
            <a:ext cx="10515600" cy="4351338"/>
          </a:xfrm>
          <a:solidFill>
            <a:srgbClr val="003300">
              <a:alpha val="50196"/>
            </a:srgbClr>
          </a:solidFill>
        </p:spPr>
        <p:txBody>
          <a:bodyPr vert="horz" lIns="91440" tIns="45720" rIns="91440" bIns="45720" rtlCol="0">
            <a:normAutofit lnSpcReduction="10000"/>
          </a:bodyPr>
          <a:lstStyle/>
          <a:p>
            <a:r>
              <a:rPr lang="en-GB" dirty="0">
                <a:solidFill>
                  <a:schemeClr val="bg1"/>
                </a:solidFill>
              </a:rPr>
              <a:t>This act was designed to address:</a:t>
            </a:r>
          </a:p>
          <a:p>
            <a:endParaRPr lang="en-GB" dirty="0">
              <a:solidFill>
                <a:schemeClr val="bg1"/>
              </a:solidFill>
            </a:endParaRPr>
          </a:p>
          <a:p>
            <a:r>
              <a:rPr lang="en-GB" dirty="0">
                <a:solidFill>
                  <a:schemeClr val="bg1"/>
                </a:solidFill>
              </a:rPr>
              <a:t>Illegally copying/distributing/downloading software</a:t>
            </a:r>
          </a:p>
          <a:p>
            <a:endParaRPr lang="en-GB" dirty="0">
              <a:solidFill>
                <a:schemeClr val="bg1"/>
              </a:solidFill>
            </a:endParaRPr>
          </a:p>
          <a:p>
            <a:r>
              <a:rPr lang="en-GB" dirty="0">
                <a:solidFill>
                  <a:schemeClr val="bg1"/>
                </a:solidFill>
              </a:rPr>
              <a:t>Theft of ideas from one company for use in another</a:t>
            </a:r>
          </a:p>
          <a:p>
            <a:endParaRPr lang="en-GB" dirty="0">
              <a:solidFill>
                <a:schemeClr val="bg1"/>
              </a:solidFill>
            </a:endParaRPr>
          </a:p>
          <a:p>
            <a:r>
              <a:rPr lang="en-GB" dirty="0">
                <a:solidFill>
                  <a:schemeClr val="bg1"/>
                </a:solidFill>
              </a:rPr>
              <a:t>Using software with an unlicensed key</a:t>
            </a:r>
          </a:p>
          <a:p>
            <a:endParaRPr lang="en-GB" dirty="0">
              <a:solidFill>
                <a:schemeClr val="bg1"/>
              </a:solidFill>
            </a:endParaRPr>
          </a:p>
          <a:p>
            <a:r>
              <a:rPr lang="en-GB" dirty="0">
                <a:solidFill>
                  <a:schemeClr val="bg1"/>
                </a:solidFill>
              </a:rPr>
              <a:t>Downloading software/images without payment</a:t>
            </a:r>
          </a:p>
          <a:p>
            <a:endParaRPr lang="en-US" dirty="0">
              <a:solidFill>
                <a:schemeClr val="bg1"/>
              </a:solidFill>
            </a:endParaRPr>
          </a:p>
        </p:txBody>
      </p:sp>
    </p:spTree>
    <p:extLst>
      <p:ext uri="{BB962C8B-B14F-4D97-AF65-F5344CB8AC3E}">
        <p14:creationId xmlns:p14="http://schemas.microsoft.com/office/powerpoint/2010/main" val="284563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 calcmode="lin" valueType="num">
                                      <p:cBhvr additive="base">
                                        <p:cTn id="3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D1076-F6CB-45FE-AA4F-230EBE0D9E0A}"/>
              </a:ext>
            </a:extLst>
          </p:cNvPr>
          <p:cNvSpPr>
            <a:spLocks noGrp="1"/>
          </p:cNvSpPr>
          <p:nvPr>
            <p:ph type="title"/>
          </p:nvPr>
        </p:nvSpPr>
        <p:spPr/>
        <p:txBody>
          <a:bodyPr/>
          <a:lstStyle/>
          <a:p>
            <a:r>
              <a:rPr lang="en-GB" dirty="0">
                <a:solidFill>
                  <a:srgbClr val="FF0000"/>
                </a:solidFill>
              </a:rPr>
              <a:t>How do you break the Act?</a:t>
            </a:r>
            <a:endParaRPr lang="en-US" dirty="0">
              <a:solidFill>
                <a:srgbClr val="FF0000"/>
              </a:solidFill>
            </a:endParaRPr>
          </a:p>
        </p:txBody>
      </p:sp>
      <p:sp>
        <p:nvSpPr>
          <p:cNvPr id="3" name="Content Placeholder 2">
            <a:extLst>
              <a:ext uri="{FF2B5EF4-FFF2-40B4-BE49-F238E27FC236}">
                <a16:creationId xmlns:a16="http://schemas.microsoft.com/office/drawing/2014/main" id="{0A4442EF-F27E-4C47-B08A-AC2BAFC969D6}"/>
              </a:ext>
            </a:extLst>
          </p:cNvPr>
          <p:cNvSpPr>
            <a:spLocks noGrp="1"/>
          </p:cNvSpPr>
          <p:nvPr>
            <p:ph idx="4294967295"/>
          </p:nvPr>
        </p:nvSpPr>
        <p:spPr>
          <a:xfrm>
            <a:off x="838200" y="1825625"/>
            <a:ext cx="10515600" cy="4351338"/>
          </a:xfrm>
          <a:solidFill>
            <a:srgbClr val="003300">
              <a:alpha val="50196"/>
            </a:srgbClr>
          </a:solidFill>
        </p:spPr>
        <p:txBody>
          <a:bodyPr vert="horz" lIns="91440" tIns="45720" rIns="91440" bIns="45720" rtlCol="0">
            <a:normAutofit/>
          </a:bodyPr>
          <a:lstStyle/>
          <a:p>
            <a:r>
              <a:rPr lang="en-GB" dirty="0">
                <a:solidFill>
                  <a:schemeClr val="bg1"/>
                </a:solidFill>
              </a:rPr>
              <a:t>Download and use copyrighted images </a:t>
            </a:r>
          </a:p>
          <a:p>
            <a:r>
              <a:rPr lang="en-GB" dirty="0">
                <a:solidFill>
                  <a:schemeClr val="bg1"/>
                </a:solidFill>
              </a:rPr>
              <a:t>Install software without licence / bypassing the licence </a:t>
            </a:r>
          </a:p>
          <a:p>
            <a:r>
              <a:rPr lang="en-GB" dirty="0">
                <a:solidFill>
                  <a:schemeClr val="bg1"/>
                </a:solidFill>
              </a:rPr>
              <a:t>Illegal file-sharing</a:t>
            </a:r>
          </a:p>
          <a:p>
            <a:r>
              <a:rPr lang="en-GB" dirty="0">
                <a:solidFill>
                  <a:schemeClr val="bg1"/>
                </a:solidFill>
              </a:rPr>
              <a:t>Copy/pasting from a website/</a:t>
            </a:r>
            <a:r>
              <a:rPr lang="en-GB" dirty="0" err="1">
                <a:solidFill>
                  <a:schemeClr val="bg1"/>
                </a:solidFill>
              </a:rPr>
              <a:t>ebook</a:t>
            </a:r>
            <a:r>
              <a:rPr lang="en-GB" dirty="0">
                <a:solidFill>
                  <a:schemeClr val="bg1"/>
                </a:solidFill>
              </a:rPr>
              <a:t>/etc and declaring it as your own</a:t>
            </a:r>
            <a:endParaRPr lang="en-US" dirty="0">
              <a:solidFill>
                <a:schemeClr val="bg1"/>
              </a:solidFill>
            </a:endParaRPr>
          </a:p>
        </p:txBody>
      </p:sp>
    </p:spTree>
    <p:extLst>
      <p:ext uri="{BB962C8B-B14F-4D97-AF65-F5344CB8AC3E}">
        <p14:creationId xmlns:p14="http://schemas.microsoft.com/office/powerpoint/2010/main" val="286743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84EA7-8D07-41A0-91FF-E4F8BC9F76A4}"/>
              </a:ext>
            </a:extLst>
          </p:cNvPr>
          <p:cNvSpPr>
            <a:spLocks noGrp="1"/>
          </p:cNvSpPr>
          <p:nvPr>
            <p:ph type="title"/>
          </p:nvPr>
        </p:nvSpPr>
        <p:spPr/>
        <p:txBody>
          <a:bodyPr>
            <a:normAutofit/>
          </a:bodyPr>
          <a:lstStyle/>
          <a:p>
            <a:r>
              <a:rPr lang="en-GB" dirty="0">
                <a:solidFill>
                  <a:srgbClr val="FF0000"/>
                </a:solidFill>
              </a:rPr>
              <a:t>Copying Images from the WWW</a:t>
            </a:r>
            <a:endParaRPr lang="en-US" dirty="0">
              <a:solidFill>
                <a:srgbClr val="FF0000"/>
              </a:solidFill>
            </a:endParaRPr>
          </a:p>
        </p:txBody>
      </p:sp>
      <p:sp>
        <p:nvSpPr>
          <p:cNvPr id="3" name="Content Placeholder 2">
            <a:extLst>
              <a:ext uri="{FF2B5EF4-FFF2-40B4-BE49-F238E27FC236}">
                <a16:creationId xmlns:a16="http://schemas.microsoft.com/office/drawing/2014/main" id="{3D80AB63-9B87-4114-8E65-3F17A306916D}"/>
              </a:ext>
            </a:extLst>
          </p:cNvPr>
          <p:cNvSpPr>
            <a:spLocks noGrp="1"/>
          </p:cNvSpPr>
          <p:nvPr>
            <p:ph idx="4294967295"/>
          </p:nvPr>
        </p:nvSpPr>
        <p:spPr>
          <a:xfrm>
            <a:off x="838200" y="1825625"/>
            <a:ext cx="10515600" cy="4351338"/>
          </a:xfrm>
          <a:solidFill>
            <a:srgbClr val="003300">
              <a:alpha val="50196"/>
            </a:srgbClr>
          </a:solidFill>
        </p:spPr>
        <p:txBody>
          <a:bodyPr vert="horz" lIns="91440" tIns="45720" rIns="91440" bIns="45720" rtlCol="0">
            <a:normAutofit lnSpcReduction="10000"/>
          </a:bodyPr>
          <a:lstStyle/>
          <a:p>
            <a:r>
              <a:rPr lang="en-GB" dirty="0">
                <a:solidFill>
                  <a:schemeClr val="bg1"/>
                </a:solidFill>
              </a:rPr>
              <a:t>Images and photos on the WWW are protected the exact same as printed/published work</a:t>
            </a:r>
          </a:p>
          <a:p>
            <a:pPr lvl="1"/>
            <a:r>
              <a:rPr lang="en-GB" dirty="0">
                <a:solidFill>
                  <a:schemeClr val="bg1"/>
                </a:solidFill>
              </a:rPr>
              <a:t>I.e. Soft copies are still protected by copyright law</a:t>
            </a:r>
          </a:p>
          <a:p>
            <a:r>
              <a:rPr lang="en-GB" dirty="0">
                <a:solidFill>
                  <a:schemeClr val="bg1"/>
                </a:solidFill>
              </a:rPr>
              <a:t>Images can be downloaded legally under the following circumstances:</a:t>
            </a:r>
          </a:p>
          <a:p>
            <a:pPr lvl="1"/>
            <a:r>
              <a:rPr lang="en-GB" dirty="0">
                <a:solidFill>
                  <a:schemeClr val="bg1"/>
                </a:solidFill>
              </a:rPr>
              <a:t>The image is open source / Non-copyright</a:t>
            </a:r>
          </a:p>
          <a:p>
            <a:pPr lvl="1"/>
            <a:r>
              <a:rPr lang="en-GB" dirty="0">
                <a:solidFill>
                  <a:schemeClr val="bg1"/>
                </a:solidFill>
              </a:rPr>
              <a:t>Credit is given to the creator</a:t>
            </a:r>
          </a:p>
          <a:p>
            <a:pPr lvl="1"/>
            <a:r>
              <a:rPr lang="en-GB" dirty="0">
                <a:solidFill>
                  <a:schemeClr val="bg1"/>
                </a:solidFill>
              </a:rPr>
              <a:t>Pay the publisher to use the material</a:t>
            </a:r>
          </a:p>
          <a:p>
            <a:pPr lvl="1"/>
            <a:r>
              <a:rPr lang="en-GB" dirty="0">
                <a:solidFill>
                  <a:schemeClr val="bg1"/>
                </a:solidFill>
              </a:rPr>
              <a:t>Do not use the image for profit/commercial use</a:t>
            </a:r>
          </a:p>
          <a:p>
            <a:pPr lvl="1"/>
            <a:endParaRPr lang="en-GB" dirty="0"/>
          </a:p>
          <a:p>
            <a:r>
              <a:rPr lang="en-GB" dirty="0">
                <a:solidFill>
                  <a:schemeClr val="bg1"/>
                </a:solidFill>
              </a:rPr>
              <a:t>         Allows people to publish images/etc for public to use 	conditionally free of charge</a:t>
            </a:r>
          </a:p>
          <a:p>
            <a:endParaRPr lang="en-US" dirty="0">
              <a:solidFill>
                <a:schemeClr val="bg1"/>
              </a:solidFill>
            </a:endParaRPr>
          </a:p>
        </p:txBody>
      </p:sp>
      <p:pic>
        <p:nvPicPr>
          <p:cNvPr id="4100" name="Picture 4" descr="Image result for creative commons">
            <a:extLst>
              <a:ext uri="{FF2B5EF4-FFF2-40B4-BE49-F238E27FC236}">
                <a16:creationId xmlns:a16="http://schemas.microsoft.com/office/drawing/2014/main" id="{58CFF9B0-F0B0-428E-A2E4-F1C2BFB2AE63}"/>
              </a:ext>
            </a:extLst>
          </p:cNvPr>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912893" y="5101381"/>
            <a:ext cx="931197" cy="931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001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1" presetID="21" presetClass="entr" presetSubtype="1" fill="hold" nodeType="withEffect">
                                  <p:stCondLst>
                                    <p:cond delay="0"/>
                                  </p:stCondLst>
                                  <p:childTnLst>
                                    <p:set>
                                      <p:cBhvr>
                                        <p:cTn id="52" dur="1" fill="hold">
                                          <p:stCondLst>
                                            <p:cond delay="0"/>
                                          </p:stCondLst>
                                        </p:cTn>
                                        <p:tgtEl>
                                          <p:spTgt spid="4100"/>
                                        </p:tgtEl>
                                        <p:attrNameLst>
                                          <p:attrName>style.visibility</p:attrName>
                                        </p:attrNameLst>
                                      </p:cBhvr>
                                      <p:to>
                                        <p:strVal val="visible"/>
                                      </p:to>
                                    </p:set>
                                    <p:animEffect transition="in" filter="wheel(1)">
                                      <p:cBhvr>
                                        <p:cTn id="53"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9FF1E-E453-4E19-AD0F-41469F580951}"/>
              </a:ext>
            </a:extLst>
          </p:cNvPr>
          <p:cNvSpPr>
            <a:spLocks noGrp="1"/>
          </p:cNvSpPr>
          <p:nvPr>
            <p:ph type="title"/>
          </p:nvPr>
        </p:nvSpPr>
        <p:spPr/>
        <p:txBody>
          <a:bodyPr/>
          <a:lstStyle/>
          <a:p>
            <a:r>
              <a:rPr lang="en-GB" dirty="0">
                <a:solidFill>
                  <a:srgbClr val="FF0000"/>
                </a:solidFill>
              </a:rPr>
              <a:t>Using Software</a:t>
            </a:r>
            <a:endParaRPr lang="en-US" dirty="0">
              <a:solidFill>
                <a:srgbClr val="FF0000"/>
              </a:solidFill>
            </a:endParaRPr>
          </a:p>
        </p:txBody>
      </p:sp>
      <p:sp>
        <p:nvSpPr>
          <p:cNvPr id="3" name="Content Placeholder 2">
            <a:extLst>
              <a:ext uri="{FF2B5EF4-FFF2-40B4-BE49-F238E27FC236}">
                <a16:creationId xmlns:a16="http://schemas.microsoft.com/office/drawing/2014/main" id="{07DE96FC-4A38-4FDC-A19C-B73DF6CCD78F}"/>
              </a:ext>
            </a:extLst>
          </p:cNvPr>
          <p:cNvSpPr>
            <a:spLocks noGrp="1"/>
          </p:cNvSpPr>
          <p:nvPr>
            <p:ph idx="4294967295"/>
          </p:nvPr>
        </p:nvSpPr>
        <p:spPr>
          <a:xfrm>
            <a:off x="838200" y="1825625"/>
            <a:ext cx="10515600" cy="4351338"/>
          </a:xfrm>
          <a:solidFill>
            <a:srgbClr val="003300">
              <a:alpha val="50196"/>
            </a:srgbClr>
          </a:solidFill>
        </p:spPr>
        <p:txBody>
          <a:bodyPr vert="horz" lIns="91440" tIns="45720" rIns="91440" bIns="45720" rtlCol="0">
            <a:normAutofit/>
          </a:bodyPr>
          <a:lstStyle/>
          <a:p>
            <a:r>
              <a:rPr lang="en-GB" dirty="0">
                <a:solidFill>
                  <a:schemeClr val="bg1"/>
                </a:solidFill>
              </a:rPr>
              <a:t>Software can only be installed on a PC/network if the correct licence is obtained</a:t>
            </a:r>
          </a:p>
          <a:p>
            <a:r>
              <a:rPr lang="en-GB" dirty="0">
                <a:solidFill>
                  <a:schemeClr val="bg1"/>
                </a:solidFill>
              </a:rPr>
              <a:t>Network admins must be careful to get the correct licence when installing on a network</a:t>
            </a:r>
          </a:p>
          <a:p>
            <a:r>
              <a:rPr lang="en-GB" dirty="0">
                <a:solidFill>
                  <a:schemeClr val="bg1"/>
                </a:solidFill>
              </a:rPr>
              <a:t>Three categories:</a:t>
            </a:r>
          </a:p>
          <a:p>
            <a:pPr lvl="1"/>
            <a:r>
              <a:rPr lang="en-GB" b="1" dirty="0">
                <a:solidFill>
                  <a:srgbClr val="FF0000"/>
                </a:solidFill>
              </a:rPr>
              <a:t>Single</a:t>
            </a:r>
            <a:r>
              <a:rPr lang="en-GB" dirty="0">
                <a:solidFill>
                  <a:schemeClr val="bg1"/>
                </a:solidFill>
              </a:rPr>
              <a:t>: Only one instance of software / single PC</a:t>
            </a:r>
          </a:p>
          <a:p>
            <a:pPr lvl="1"/>
            <a:r>
              <a:rPr lang="en-GB" b="1" dirty="0">
                <a:solidFill>
                  <a:srgbClr val="FF0000"/>
                </a:solidFill>
              </a:rPr>
              <a:t>Multi-user</a:t>
            </a:r>
            <a:r>
              <a:rPr lang="en-GB" dirty="0">
                <a:solidFill>
                  <a:schemeClr val="bg1"/>
                </a:solidFill>
              </a:rPr>
              <a:t>: Specified number of instances of software/PCs</a:t>
            </a:r>
          </a:p>
          <a:p>
            <a:pPr lvl="1"/>
            <a:r>
              <a:rPr lang="en-GB" b="1" dirty="0">
                <a:solidFill>
                  <a:srgbClr val="FF0000"/>
                </a:solidFill>
              </a:rPr>
              <a:t>Site</a:t>
            </a:r>
            <a:r>
              <a:rPr lang="en-GB" dirty="0">
                <a:solidFill>
                  <a:schemeClr val="bg1"/>
                </a:solidFill>
              </a:rPr>
              <a:t>: All PCs connected on the network can be installed at any site</a:t>
            </a:r>
            <a:endParaRPr lang="en-US" dirty="0">
              <a:solidFill>
                <a:schemeClr val="bg1"/>
              </a:solidFill>
            </a:endParaRPr>
          </a:p>
        </p:txBody>
      </p:sp>
    </p:spTree>
    <p:extLst>
      <p:ext uri="{BB962C8B-B14F-4D97-AF65-F5344CB8AC3E}">
        <p14:creationId xmlns:p14="http://schemas.microsoft.com/office/powerpoint/2010/main" val="49987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A73E8-7203-4D7E-A4BE-EA22FC7D9C4F}"/>
              </a:ext>
            </a:extLst>
          </p:cNvPr>
          <p:cNvSpPr>
            <a:spLocks noGrp="1"/>
          </p:cNvSpPr>
          <p:nvPr>
            <p:ph type="title"/>
          </p:nvPr>
        </p:nvSpPr>
        <p:spPr/>
        <p:txBody>
          <a:bodyPr>
            <a:normAutofit/>
          </a:bodyPr>
          <a:lstStyle/>
          <a:p>
            <a:r>
              <a:rPr lang="en-GB" dirty="0">
                <a:solidFill>
                  <a:srgbClr val="FF0000"/>
                </a:solidFill>
              </a:rPr>
              <a:t>Protecting against Software Misuse</a:t>
            </a:r>
            <a:endParaRPr lang="en-US" dirty="0">
              <a:solidFill>
                <a:srgbClr val="FF0000"/>
              </a:solidFill>
            </a:endParaRPr>
          </a:p>
        </p:txBody>
      </p:sp>
      <p:sp>
        <p:nvSpPr>
          <p:cNvPr id="3" name="Content Placeholder 2">
            <a:extLst>
              <a:ext uri="{FF2B5EF4-FFF2-40B4-BE49-F238E27FC236}">
                <a16:creationId xmlns:a16="http://schemas.microsoft.com/office/drawing/2014/main" id="{C54E0621-CD2F-4872-9A2E-8E6CE3A52466}"/>
              </a:ext>
            </a:extLst>
          </p:cNvPr>
          <p:cNvSpPr>
            <a:spLocks noGrp="1"/>
          </p:cNvSpPr>
          <p:nvPr>
            <p:ph idx="4294967295"/>
          </p:nvPr>
        </p:nvSpPr>
        <p:spPr>
          <a:xfrm>
            <a:off x="838200" y="1825625"/>
            <a:ext cx="10515600" cy="4351338"/>
          </a:xfrm>
          <a:solidFill>
            <a:srgbClr val="003300">
              <a:alpha val="50196"/>
            </a:srgbClr>
          </a:solidFill>
        </p:spPr>
        <p:txBody>
          <a:bodyPr vert="horz" lIns="91440" tIns="45720" rIns="91440" bIns="45720" rtlCol="0">
            <a:normAutofit lnSpcReduction="10000"/>
          </a:bodyPr>
          <a:lstStyle/>
          <a:p>
            <a:r>
              <a:rPr lang="en-GB" dirty="0">
                <a:solidFill>
                  <a:srgbClr val="FF0000"/>
                </a:solidFill>
              </a:rPr>
              <a:t>F</a:t>
            </a:r>
            <a:r>
              <a:rPr lang="en-GB" dirty="0">
                <a:solidFill>
                  <a:schemeClr val="bg1"/>
                </a:solidFill>
              </a:rPr>
              <a:t>ederation</a:t>
            </a:r>
          </a:p>
          <a:p>
            <a:r>
              <a:rPr lang="en-GB" dirty="0">
                <a:solidFill>
                  <a:srgbClr val="FF0000"/>
                </a:solidFill>
              </a:rPr>
              <a:t>A</a:t>
            </a:r>
            <a:r>
              <a:rPr lang="en-GB" dirty="0">
                <a:solidFill>
                  <a:schemeClr val="bg1"/>
                </a:solidFill>
              </a:rPr>
              <a:t>gainst</a:t>
            </a:r>
          </a:p>
          <a:p>
            <a:r>
              <a:rPr lang="en-GB" dirty="0">
                <a:solidFill>
                  <a:srgbClr val="FF0000"/>
                </a:solidFill>
              </a:rPr>
              <a:t>S</a:t>
            </a:r>
            <a:r>
              <a:rPr lang="en-GB" dirty="0">
                <a:solidFill>
                  <a:schemeClr val="bg1"/>
                </a:solidFill>
              </a:rPr>
              <a:t>oftware				- Organisation to police software licencing</a:t>
            </a:r>
          </a:p>
          <a:p>
            <a:r>
              <a:rPr lang="en-GB" dirty="0">
                <a:solidFill>
                  <a:srgbClr val="FF0000"/>
                </a:solidFill>
              </a:rPr>
              <a:t>T</a:t>
            </a:r>
            <a:r>
              <a:rPr lang="en-GB" dirty="0">
                <a:solidFill>
                  <a:schemeClr val="bg1"/>
                </a:solidFill>
              </a:rPr>
              <a:t>heft				- Prosecutes those breaching licence</a:t>
            </a:r>
          </a:p>
          <a:p>
            <a:endParaRPr lang="en-GB" dirty="0">
              <a:solidFill>
                <a:schemeClr val="bg1"/>
              </a:solidFill>
            </a:endParaRPr>
          </a:p>
          <a:p>
            <a:r>
              <a:rPr lang="en-GB" dirty="0">
                <a:solidFill>
                  <a:schemeClr val="bg1"/>
                </a:solidFill>
              </a:rPr>
              <a:t>Online Registration		- must authenticate online before use</a:t>
            </a:r>
          </a:p>
          <a:p>
            <a:endParaRPr lang="en-GB" dirty="0">
              <a:solidFill>
                <a:schemeClr val="bg1"/>
              </a:solidFill>
            </a:endParaRPr>
          </a:p>
          <a:p>
            <a:r>
              <a:rPr lang="en-GB" dirty="0">
                <a:solidFill>
                  <a:schemeClr val="bg1"/>
                </a:solidFill>
              </a:rPr>
              <a:t>CD/DVD Use			- CD must be in tray to use</a:t>
            </a:r>
            <a:endParaRPr lang="en-US" dirty="0">
              <a:solidFill>
                <a:schemeClr val="bg1"/>
              </a:solidFill>
            </a:endParaRPr>
          </a:p>
        </p:txBody>
      </p:sp>
      <p:cxnSp>
        <p:nvCxnSpPr>
          <p:cNvPr id="5" name="Straight Connector 4">
            <a:extLst>
              <a:ext uri="{FF2B5EF4-FFF2-40B4-BE49-F238E27FC236}">
                <a16:creationId xmlns:a16="http://schemas.microsoft.com/office/drawing/2014/main" id="{43A53206-11C9-4BB3-AFC4-E529F772DEC4}"/>
              </a:ext>
            </a:extLst>
          </p:cNvPr>
          <p:cNvCxnSpPr/>
          <p:nvPr/>
        </p:nvCxnSpPr>
        <p:spPr>
          <a:xfrm>
            <a:off x="5329988" y="1949116"/>
            <a:ext cx="0" cy="190099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082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additive="base">
                                        <p:cTn id="2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 calcmode="lin" valueType="num">
                                      <p:cBhvr additive="base">
                                        <p:cTn id="3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7AD88-4E6B-4B15-B8B2-27338B9C2530}"/>
              </a:ext>
            </a:extLst>
          </p:cNvPr>
          <p:cNvSpPr>
            <a:spLocks noGrp="1"/>
          </p:cNvSpPr>
          <p:nvPr>
            <p:ph type="title"/>
          </p:nvPr>
        </p:nvSpPr>
        <p:spPr/>
        <p:txBody>
          <a:bodyPr/>
          <a:lstStyle/>
          <a:p>
            <a:r>
              <a:rPr lang="en-GB" dirty="0">
                <a:solidFill>
                  <a:srgbClr val="FF0000"/>
                </a:solidFill>
              </a:rPr>
              <a:t>File Sharing</a:t>
            </a:r>
            <a:endParaRPr lang="en-US" dirty="0">
              <a:solidFill>
                <a:srgbClr val="FF0000"/>
              </a:solidFill>
            </a:endParaRPr>
          </a:p>
        </p:txBody>
      </p:sp>
      <p:sp>
        <p:nvSpPr>
          <p:cNvPr id="3" name="Content Placeholder 2">
            <a:extLst>
              <a:ext uri="{FF2B5EF4-FFF2-40B4-BE49-F238E27FC236}">
                <a16:creationId xmlns:a16="http://schemas.microsoft.com/office/drawing/2014/main" id="{EF60FF99-1681-4D39-BA96-75337C41A802}"/>
              </a:ext>
            </a:extLst>
          </p:cNvPr>
          <p:cNvSpPr>
            <a:spLocks noGrp="1"/>
          </p:cNvSpPr>
          <p:nvPr>
            <p:ph idx="4294967295"/>
          </p:nvPr>
        </p:nvSpPr>
        <p:spPr>
          <a:xfrm>
            <a:off x="838200" y="1825625"/>
            <a:ext cx="10515600" cy="4351338"/>
          </a:xfrm>
          <a:solidFill>
            <a:srgbClr val="003300">
              <a:alpha val="50196"/>
            </a:srgbClr>
          </a:solidFill>
        </p:spPr>
        <p:txBody>
          <a:bodyPr vert="horz" lIns="91440" tIns="45720" rIns="91440" bIns="45720" rtlCol="0">
            <a:normAutofit/>
          </a:bodyPr>
          <a:lstStyle/>
          <a:p>
            <a:r>
              <a:rPr lang="en-GB" dirty="0">
                <a:solidFill>
                  <a:schemeClr val="bg1"/>
                </a:solidFill>
              </a:rPr>
              <a:t>Unless you specifically own the copyright, file sharing is illegal</a:t>
            </a:r>
          </a:p>
          <a:p>
            <a:r>
              <a:rPr lang="en-GB" dirty="0">
                <a:solidFill>
                  <a:schemeClr val="bg1"/>
                </a:solidFill>
              </a:rPr>
              <a:t>iTunes, for example, has a licence – so you can legally download music/films</a:t>
            </a:r>
          </a:p>
          <a:p>
            <a:pPr lvl="1"/>
            <a:r>
              <a:rPr lang="en-GB" b="1" dirty="0">
                <a:solidFill>
                  <a:srgbClr val="FF0000"/>
                </a:solidFill>
              </a:rPr>
              <a:t>You can ‘rip’ CDs (make a copy) to backup the original disk – but you cannot distribute it</a:t>
            </a:r>
          </a:p>
          <a:p>
            <a:pPr lvl="1"/>
            <a:r>
              <a:rPr lang="en-GB" b="1" dirty="0">
                <a:solidFill>
                  <a:srgbClr val="FF0000"/>
                </a:solidFill>
              </a:rPr>
              <a:t>You cannot give a copy in any format to anyone else (unless it is the licensee).</a:t>
            </a:r>
            <a:endParaRPr lang="en-US" b="1" dirty="0">
              <a:solidFill>
                <a:srgbClr val="FF0000"/>
              </a:solidFill>
            </a:endParaRPr>
          </a:p>
        </p:txBody>
      </p:sp>
    </p:spTree>
    <p:extLst>
      <p:ext uri="{BB962C8B-B14F-4D97-AF65-F5344CB8AC3E}">
        <p14:creationId xmlns:p14="http://schemas.microsoft.com/office/powerpoint/2010/main" val="308061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88FCC-8FD2-41A1-9FDD-46AE446FE1EF}"/>
              </a:ext>
            </a:extLst>
          </p:cNvPr>
          <p:cNvSpPr>
            <a:spLocks noGrp="1"/>
          </p:cNvSpPr>
          <p:nvPr>
            <p:ph type="title"/>
          </p:nvPr>
        </p:nvSpPr>
        <p:spPr/>
        <p:txBody>
          <a:bodyPr/>
          <a:lstStyle/>
          <a:p>
            <a:r>
              <a:rPr lang="en-GB" dirty="0">
                <a:solidFill>
                  <a:srgbClr val="FF0000"/>
                </a:solidFill>
              </a:rPr>
              <a:t>Plagiarism</a:t>
            </a:r>
            <a:endParaRPr lang="en-US" dirty="0">
              <a:solidFill>
                <a:srgbClr val="FF0000"/>
              </a:solidFill>
            </a:endParaRPr>
          </a:p>
        </p:txBody>
      </p:sp>
      <p:sp>
        <p:nvSpPr>
          <p:cNvPr id="3" name="Content Placeholder 2">
            <a:extLst>
              <a:ext uri="{FF2B5EF4-FFF2-40B4-BE49-F238E27FC236}">
                <a16:creationId xmlns:a16="http://schemas.microsoft.com/office/drawing/2014/main" id="{AF602E6B-6AB5-4281-88A5-431AEBE76FC2}"/>
              </a:ext>
            </a:extLst>
          </p:cNvPr>
          <p:cNvSpPr>
            <a:spLocks noGrp="1"/>
          </p:cNvSpPr>
          <p:nvPr>
            <p:ph idx="4294967295"/>
          </p:nvPr>
        </p:nvSpPr>
        <p:spPr>
          <a:xfrm>
            <a:off x="838200" y="1825625"/>
            <a:ext cx="10515600" cy="4351338"/>
          </a:xfrm>
          <a:solidFill>
            <a:srgbClr val="003300">
              <a:alpha val="50196"/>
            </a:srgbClr>
          </a:solidFill>
        </p:spPr>
        <p:txBody>
          <a:bodyPr vert="horz" lIns="91440" tIns="45720" rIns="91440" bIns="45720" rtlCol="0">
            <a:normAutofit fontScale="92500" lnSpcReduction="20000"/>
          </a:bodyPr>
          <a:lstStyle/>
          <a:p>
            <a:r>
              <a:rPr lang="en-GB" dirty="0">
                <a:solidFill>
                  <a:schemeClr val="bg1"/>
                </a:solidFill>
              </a:rPr>
              <a:t>Using others work without credit and claiming it as your own</a:t>
            </a:r>
          </a:p>
          <a:p>
            <a:endParaRPr lang="en-GB" dirty="0">
              <a:solidFill>
                <a:schemeClr val="bg1"/>
              </a:solidFill>
            </a:endParaRPr>
          </a:p>
          <a:p>
            <a:endParaRPr lang="en-GB" dirty="0">
              <a:solidFill>
                <a:schemeClr val="bg1"/>
              </a:solidFill>
            </a:endParaRPr>
          </a:p>
          <a:p>
            <a:endParaRPr lang="en-GB" dirty="0">
              <a:solidFill>
                <a:schemeClr val="bg1"/>
              </a:solidFill>
            </a:endParaRPr>
          </a:p>
          <a:p>
            <a:r>
              <a:rPr lang="en-GB" dirty="0">
                <a:solidFill>
                  <a:schemeClr val="bg1"/>
                </a:solidFill>
              </a:rPr>
              <a:t>Increasing problem in schools</a:t>
            </a:r>
          </a:p>
          <a:p>
            <a:endParaRPr lang="en-GB" dirty="0">
              <a:solidFill>
                <a:schemeClr val="bg1"/>
              </a:solidFill>
            </a:endParaRPr>
          </a:p>
          <a:p>
            <a:endParaRPr lang="en-GB" dirty="0">
              <a:solidFill>
                <a:schemeClr val="bg1"/>
              </a:solidFill>
            </a:endParaRPr>
          </a:p>
          <a:p>
            <a:endParaRPr lang="en-GB" dirty="0">
              <a:solidFill>
                <a:schemeClr val="bg1"/>
              </a:solidFill>
            </a:endParaRPr>
          </a:p>
          <a:p>
            <a:endParaRPr lang="en-GB" dirty="0">
              <a:solidFill>
                <a:schemeClr val="bg1"/>
              </a:solidFill>
            </a:endParaRPr>
          </a:p>
          <a:p>
            <a:r>
              <a:rPr lang="en-GB" dirty="0">
                <a:solidFill>
                  <a:schemeClr val="bg1"/>
                </a:solidFill>
              </a:rPr>
              <a:t>Sophisticated software is used to detect cases of plagiarism</a:t>
            </a:r>
            <a:endParaRPr lang="en-US" dirty="0">
              <a:solidFill>
                <a:schemeClr val="bg1"/>
              </a:solidFill>
            </a:endParaRPr>
          </a:p>
        </p:txBody>
      </p:sp>
      <p:grpSp>
        <p:nvGrpSpPr>
          <p:cNvPr id="4" name="Group 3">
            <a:extLst>
              <a:ext uri="{FF2B5EF4-FFF2-40B4-BE49-F238E27FC236}">
                <a16:creationId xmlns:a16="http://schemas.microsoft.com/office/drawing/2014/main" id="{4DE3C4EE-64C3-4E3B-A0F1-B5D68D612DAD}"/>
              </a:ext>
            </a:extLst>
          </p:cNvPr>
          <p:cNvGrpSpPr/>
          <p:nvPr/>
        </p:nvGrpSpPr>
        <p:grpSpPr>
          <a:xfrm>
            <a:off x="8285303" y="0"/>
            <a:ext cx="4405746" cy="1264209"/>
            <a:chOff x="7786254" y="365125"/>
            <a:chExt cx="4405746" cy="1264209"/>
          </a:xfrm>
        </p:grpSpPr>
        <p:pic>
          <p:nvPicPr>
            <p:cNvPr id="5" name="Content Placeholder 3">
              <a:extLst>
                <a:ext uri="{FF2B5EF4-FFF2-40B4-BE49-F238E27FC236}">
                  <a16:creationId xmlns:a16="http://schemas.microsoft.com/office/drawing/2014/main" id="{16AE4BF2-FD23-4D6B-AB59-A52EC34979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6254" y="365125"/>
              <a:ext cx="3666836" cy="1264209"/>
            </a:xfrm>
            <a:prstGeom prst="rect">
              <a:avLst/>
            </a:prstGeom>
          </p:spPr>
        </p:pic>
        <p:sp>
          <p:nvSpPr>
            <p:cNvPr id="6" name="TextBox 5">
              <a:extLst>
                <a:ext uri="{FF2B5EF4-FFF2-40B4-BE49-F238E27FC236}">
                  <a16:creationId xmlns:a16="http://schemas.microsoft.com/office/drawing/2014/main" id="{C391AD02-5190-436F-883B-776F184210BE}"/>
                </a:ext>
              </a:extLst>
            </p:cNvPr>
            <p:cNvSpPr txBox="1"/>
            <p:nvPr/>
          </p:nvSpPr>
          <p:spPr>
            <a:xfrm>
              <a:off x="7908758" y="614201"/>
              <a:ext cx="428324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white"/>
                  </a:solidFill>
                  <a:effectLst/>
                  <a:uLnTx/>
                  <a:uFillTx/>
                  <a:latin typeface="Copperplate Gothic Light" panose="020E0507020206020404" pitchFamily="34" charset="0"/>
                  <a:ea typeface="+mn-ea"/>
                  <a:cs typeface="+mn-cs"/>
                </a:rPr>
                <a:t>Glossary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white"/>
                  </a:solidFill>
                  <a:effectLst/>
                  <a:uLnTx/>
                  <a:uFillTx/>
                  <a:latin typeface="Copperplate Gothic Light" panose="020E0507020206020404" pitchFamily="34" charset="0"/>
                  <a:ea typeface="+mn-ea"/>
                  <a:cs typeface="+mn-cs"/>
                </a:rPr>
                <a:t>Item Added</a:t>
              </a:r>
              <a:endParaRPr kumimoji="0" lang="en-GB" sz="2000" b="0" i="0" u="none" strike="noStrike" kern="1200" cap="none" spc="0" normalizeH="0" baseline="0" noProof="0" dirty="0">
                <a:ln>
                  <a:noFill/>
                </a:ln>
                <a:solidFill>
                  <a:prstClr val="white"/>
                </a:solidFill>
                <a:effectLst/>
                <a:uLnTx/>
                <a:uFillTx/>
                <a:latin typeface="Copperplate Gothic Light" panose="020E0507020206020404" pitchFamily="34" charset="0"/>
                <a:ea typeface="+mn-ea"/>
                <a:cs typeface="+mn-cs"/>
              </a:endParaRPr>
            </a:p>
          </p:txBody>
        </p:sp>
      </p:grpSp>
    </p:spTree>
    <p:extLst>
      <p:ext uri="{BB962C8B-B14F-4D97-AF65-F5344CB8AC3E}">
        <p14:creationId xmlns:p14="http://schemas.microsoft.com/office/powerpoint/2010/main" val="204760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17" fill="hold">
                            <p:stCondLst>
                              <p:cond delay="1000"/>
                            </p:stCondLst>
                            <p:childTnLst>
                              <p:par>
                                <p:cTn id="18" presetID="10" presetClass="exit" presetSubtype="0" fill="hold" nodeType="afterEffect">
                                  <p:stCondLst>
                                    <p:cond delay="4400"/>
                                  </p:stCondLst>
                                  <p:childTnLst>
                                    <p:animEffect transition="out" filter="fade">
                                      <p:cBhvr>
                                        <p:cTn id="19" dur="2000"/>
                                        <p:tgtEl>
                                          <p:spTgt spid="4"/>
                                        </p:tgtEl>
                                      </p:cBhvr>
                                    </p:animEffect>
                                    <p:set>
                                      <p:cBhvr>
                                        <p:cTn id="20" dur="1" fill="hold">
                                          <p:stCondLst>
                                            <p:cond delay="1999"/>
                                          </p:stCondLst>
                                        </p:cTn>
                                        <p:tgtEl>
                                          <p:spTgt spid="4"/>
                                        </p:tgtEl>
                                        <p:attrNameLst>
                                          <p:attrName>style.visibility</p:attrName>
                                        </p:attrNameLst>
                                      </p:cBhvr>
                                      <p:to>
                                        <p:strVal val="hidden"/>
                                      </p:to>
                                    </p:set>
                                  </p:childTnLst>
                                </p:cTn>
                              </p:par>
                              <p:par>
                                <p:cTn id="21" presetID="2" presetClass="exit" presetSubtype="2" fill="hold" nodeType="withEffect">
                                  <p:stCondLst>
                                    <p:cond delay="5000"/>
                                  </p:stCondLst>
                                  <p:childTnLst>
                                    <p:anim calcmode="lin" valueType="num">
                                      <p:cBhvr additive="base">
                                        <p:cTn id="22" dur="1000"/>
                                        <p:tgtEl>
                                          <p:spTgt spid="4"/>
                                        </p:tgtEl>
                                        <p:attrNameLst>
                                          <p:attrName>ppt_x</p:attrName>
                                        </p:attrNameLst>
                                      </p:cBhvr>
                                      <p:tavLst>
                                        <p:tav tm="0">
                                          <p:val>
                                            <p:strVal val="ppt_x"/>
                                          </p:val>
                                        </p:tav>
                                        <p:tav tm="100000">
                                          <p:val>
                                            <p:strVal val="1+ppt_w/2"/>
                                          </p:val>
                                        </p:tav>
                                      </p:tavLst>
                                    </p:anim>
                                    <p:anim calcmode="lin" valueType="num">
                                      <p:cBhvr additive="base">
                                        <p:cTn id="23" dur="1000"/>
                                        <p:tgtEl>
                                          <p:spTgt spid="4"/>
                                        </p:tgtEl>
                                        <p:attrNameLst>
                                          <p:attrName>ppt_y</p:attrName>
                                        </p:attrNameLst>
                                      </p:cBhvr>
                                      <p:tavLst>
                                        <p:tav tm="0">
                                          <p:val>
                                            <p:strVal val="ppt_y"/>
                                          </p:val>
                                        </p:tav>
                                        <p:tav tm="100000">
                                          <p:val>
                                            <p:strVal val="ppt_y"/>
                                          </p:val>
                                        </p:tav>
                                      </p:tavLst>
                                    </p:anim>
                                    <p:set>
                                      <p:cBhvr>
                                        <p:cTn id="24" dur="1" fill="hold">
                                          <p:stCondLst>
                                            <p:cond delay="999"/>
                                          </p:stCondLst>
                                        </p:cTn>
                                        <p:tgtEl>
                                          <p:spTgt spid="4"/>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pic>
        <p:nvPicPr>
          <p:cNvPr id="1026" name="Picture 2" descr="Image result for legislation icon">
            <a:extLst>
              <a:ext uri="{FF2B5EF4-FFF2-40B4-BE49-F238E27FC236}">
                <a16:creationId xmlns:a16="http://schemas.microsoft.com/office/drawing/2014/main" id="{DD197A0C-5807-4315-8907-6F3F05FBBE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113" r="9093" b="4331"/>
          <a:stretch/>
        </p:blipFill>
        <p:spPr bwMode="auto">
          <a:xfrm>
            <a:off x="4818888" y="10"/>
            <a:ext cx="7373112" cy="68579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5C2123E-D668-4755-A2B1-9EA028465FB8}"/>
              </a:ext>
            </a:extLst>
          </p:cNvPr>
          <p:cNvSpPr>
            <a:spLocks noGrp="1"/>
          </p:cNvSpPr>
          <p:nvPr>
            <p:ph type="ctrTitle"/>
          </p:nvPr>
        </p:nvSpPr>
        <p:spPr>
          <a:xfrm>
            <a:off x="0" y="4077551"/>
            <a:ext cx="5058370" cy="3320973"/>
          </a:xfrm>
        </p:spPr>
        <p:txBody>
          <a:bodyPr anchor="t">
            <a:normAutofit/>
          </a:bodyPr>
          <a:lstStyle/>
          <a:p>
            <a:pPr algn="l"/>
            <a:r>
              <a:rPr lang="en-GB" sz="5400" dirty="0">
                <a:solidFill>
                  <a:schemeClr val="bg1">
                    <a:lumMod val="85000"/>
                  </a:schemeClr>
                </a:solidFill>
              </a:rPr>
              <a:t>The Computer Misuse Act, 1990</a:t>
            </a:r>
            <a:endParaRPr lang="en-US" sz="5400" dirty="0">
              <a:solidFill>
                <a:schemeClr val="bg1">
                  <a:lumMod val="85000"/>
                </a:schemeClr>
              </a:solidFill>
            </a:endParaRPr>
          </a:p>
        </p:txBody>
      </p:sp>
    </p:spTree>
    <p:extLst>
      <p:ext uri="{BB962C8B-B14F-4D97-AF65-F5344CB8AC3E}">
        <p14:creationId xmlns:p14="http://schemas.microsoft.com/office/powerpoint/2010/main" val="218916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4" name="Rectangular Callout 4">
            <a:extLst>
              <a:ext uri="{FF2B5EF4-FFF2-40B4-BE49-F238E27FC236}">
                <a16:creationId xmlns:a16="http://schemas.microsoft.com/office/drawing/2014/main" id="{73D8140D-9CDA-47D6-986C-91386F609075}"/>
              </a:ext>
            </a:extLst>
          </p:cNvPr>
          <p:cNvSpPr/>
          <p:nvPr/>
        </p:nvSpPr>
        <p:spPr>
          <a:xfrm>
            <a:off x="398585" y="274637"/>
            <a:ext cx="10955215" cy="3802435"/>
          </a:xfrm>
          <a:prstGeom prst="wedgeRectCallout">
            <a:avLst>
              <a:gd name="adj1" fmla="val 39579"/>
              <a:gd name="adj2" fmla="val 65533"/>
            </a:avLst>
          </a:prstGeom>
          <a:noFill/>
          <a:ln w="63500" cmpd="dbl">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dirty="0">
                <a:solidFill>
                  <a:schemeClr val="bg1">
                    <a:lumMod val="95000"/>
                  </a:schemeClr>
                </a:solidFill>
              </a:rPr>
              <a:t>By the end of this lesson, you should be able to:</a:t>
            </a:r>
          </a:p>
          <a:p>
            <a:endParaRPr lang="en-GB" sz="2800" dirty="0">
              <a:solidFill>
                <a:schemeClr val="bg1">
                  <a:lumMod val="95000"/>
                </a:schemeClr>
              </a:solidFill>
            </a:endParaRPr>
          </a:p>
          <a:p>
            <a:pPr marL="457200" indent="-457200">
              <a:buFont typeface="Arial" panose="020B0604020202020204" pitchFamily="34" charset="0"/>
              <a:buChar char="•"/>
            </a:pPr>
            <a:r>
              <a:rPr lang="en-GB" sz="2800" dirty="0">
                <a:solidFill>
                  <a:schemeClr val="bg1">
                    <a:lumMod val="95000"/>
                  </a:schemeClr>
                </a:solidFill>
              </a:rPr>
              <a:t>Describe and explain the purpose of the Computer Misuse Act</a:t>
            </a:r>
          </a:p>
          <a:p>
            <a:pPr marL="457200" indent="-457200">
              <a:buFont typeface="Arial" panose="020B0604020202020204" pitchFamily="34" charset="0"/>
              <a:buChar char="•"/>
            </a:pPr>
            <a:r>
              <a:rPr lang="en-GB" sz="2800" dirty="0">
                <a:solidFill>
                  <a:schemeClr val="bg1">
                    <a:lumMod val="95000"/>
                  </a:schemeClr>
                </a:solidFill>
              </a:rPr>
              <a:t>List the 4 main offences set out in the act.</a:t>
            </a:r>
          </a:p>
          <a:p>
            <a:pPr marL="457200" indent="-457200">
              <a:buFont typeface="Arial" panose="020B0604020202020204" pitchFamily="34" charset="0"/>
              <a:buChar char="•"/>
            </a:pPr>
            <a:r>
              <a:rPr lang="en-GB" sz="2800" dirty="0">
                <a:solidFill>
                  <a:schemeClr val="bg1">
                    <a:lumMod val="95000"/>
                  </a:schemeClr>
                </a:solidFill>
              </a:rPr>
              <a:t>Define 2 preventive measures companies and individuals can take</a:t>
            </a:r>
          </a:p>
          <a:p>
            <a:pPr marL="457200" indent="-457200">
              <a:buFont typeface="Arial" panose="020B0604020202020204" pitchFamily="34" charset="0"/>
              <a:buChar char="•"/>
            </a:pPr>
            <a:r>
              <a:rPr lang="en-GB" sz="2800" dirty="0">
                <a:solidFill>
                  <a:schemeClr val="bg1">
                    <a:lumMod val="95000"/>
                  </a:schemeClr>
                </a:solidFill>
              </a:rPr>
              <a:t>Define the terms ‘hacking’, ‘virus’, ‘spyware’ and ‘phishing’.</a:t>
            </a:r>
          </a:p>
        </p:txBody>
      </p:sp>
      <p:pic>
        <p:nvPicPr>
          <p:cNvPr id="5" name="Content Placeholder 1">
            <a:extLst>
              <a:ext uri="{FF2B5EF4-FFF2-40B4-BE49-F238E27FC236}">
                <a16:creationId xmlns:a16="http://schemas.microsoft.com/office/drawing/2014/main" id="{418C8D72-3127-40C7-A2CA-9EA7C40670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29646" y="3510281"/>
            <a:ext cx="2495905" cy="3347719"/>
          </a:xfrm>
          <a:prstGeom prst="rect">
            <a:avLst/>
          </a:prstGeom>
        </p:spPr>
      </p:pic>
      <p:sp>
        <p:nvSpPr>
          <p:cNvPr id="6" name="Title 12">
            <a:extLst>
              <a:ext uri="{FF2B5EF4-FFF2-40B4-BE49-F238E27FC236}">
                <a16:creationId xmlns:a16="http://schemas.microsoft.com/office/drawing/2014/main" id="{E923A50F-9647-4CC3-B4D2-FB3FFF45D79E}"/>
              </a:ext>
            </a:extLst>
          </p:cNvPr>
          <p:cNvSpPr>
            <a:spLocks noGrp="1"/>
          </p:cNvSpPr>
          <p:nvPr>
            <p:ph type="title"/>
          </p:nvPr>
        </p:nvSpPr>
        <p:spPr>
          <a:xfrm>
            <a:off x="398585" y="5634037"/>
            <a:ext cx="3788404" cy="1223963"/>
          </a:xfrm>
        </p:spPr>
        <p:txBody>
          <a:bodyPr/>
          <a:lstStyle/>
          <a:p>
            <a:r>
              <a:rPr lang="en-US" dirty="0" err="1">
                <a:solidFill>
                  <a:srgbClr val="00B0F0"/>
                </a:solidFill>
              </a:rPr>
              <a:t>WALTer</a:t>
            </a:r>
            <a:endParaRPr lang="en-US" dirty="0">
              <a:solidFill>
                <a:srgbClr val="00B0F0"/>
              </a:solidFill>
            </a:endParaRPr>
          </a:p>
        </p:txBody>
      </p:sp>
    </p:spTree>
    <p:extLst>
      <p:ext uri="{BB962C8B-B14F-4D97-AF65-F5344CB8AC3E}">
        <p14:creationId xmlns:p14="http://schemas.microsoft.com/office/powerpoint/2010/main" val="114804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1CAB58-3497-4DBF-A93C-8F0382D2AD1A}"/>
              </a:ext>
            </a:extLst>
          </p:cNvPr>
          <p:cNvSpPr/>
          <p:nvPr/>
        </p:nvSpPr>
        <p:spPr>
          <a:xfrm>
            <a:off x="5206482" y="0"/>
            <a:ext cx="698551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CB1412-70A2-45EA-873A-27FFAB933969}"/>
              </a:ext>
            </a:extLst>
          </p:cNvPr>
          <p:cNvSpPr>
            <a:spLocks noGrp="1"/>
          </p:cNvSpPr>
          <p:nvPr>
            <p:ph type="title"/>
          </p:nvPr>
        </p:nvSpPr>
        <p:spPr>
          <a:xfrm>
            <a:off x="119257" y="159798"/>
            <a:ext cx="4959799" cy="2015231"/>
          </a:xfrm>
        </p:spPr>
        <p:txBody>
          <a:bodyPr>
            <a:normAutofit/>
          </a:bodyPr>
          <a:lstStyle/>
          <a:p>
            <a:r>
              <a:rPr lang="en-GB" dirty="0">
                <a:solidFill>
                  <a:schemeClr val="bg1">
                    <a:lumMod val="85000"/>
                  </a:schemeClr>
                </a:solidFill>
              </a:rPr>
              <a:t>Computer Misuse in the News</a:t>
            </a:r>
            <a:endParaRPr lang="en-US" dirty="0">
              <a:solidFill>
                <a:schemeClr val="bg1">
                  <a:lumMod val="85000"/>
                </a:schemeClr>
              </a:solidFill>
            </a:endParaRPr>
          </a:p>
        </p:txBody>
      </p:sp>
      <p:sp>
        <p:nvSpPr>
          <p:cNvPr id="3" name="Content Placeholder 2">
            <a:extLst>
              <a:ext uri="{FF2B5EF4-FFF2-40B4-BE49-F238E27FC236}">
                <a16:creationId xmlns:a16="http://schemas.microsoft.com/office/drawing/2014/main" id="{6C98270B-7B1C-49AB-8A41-49E819EFB1E6}"/>
              </a:ext>
            </a:extLst>
          </p:cNvPr>
          <p:cNvSpPr>
            <a:spLocks noGrp="1"/>
          </p:cNvSpPr>
          <p:nvPr>
            <p:ph idx="1"/>
          </p:nvPr>
        </p:nvSpPr>
        <p:spPr>
          <a:xfrm>
            <a:off x="160749" y="2565646"/>
            <a:ext cx="4959799" cy="4132555"/>
          </a:xfrm>
        </p:spPr>
        <p:txBody>
          <a:bodyPr/>
          <a:lstStyle/>
          <a:p>
            <a:r>
              <a:rPr lang="en-GB" dirty="0">
                <a:solidFill>
                  <a:schemeClr val="bg1">
                    <a:lumMod val="85000"/>
                  </a:schemeClr>
                </a:solidFill>
              </a:rPr>
              <a:t>The misuse of computers appears in the news quite regularly nowadays</a:t>
            </a:r>
          </a:p>
          <a:p>
            <a:endParaRPr lang="en-GB" dirty="0">
              <a:solidFill>
                <a:schemeClr val="bg1">
                  <a:lumMod val="85000"/>
                </a:schemeClr>
              </a:solidFill>
            </a:endParaRPr>
          </a:p>
          <a:p>
            <a:r>
              <a:rPr lang="en-GB" dirty="0">
                <a:solidFill>
                  <a:schemeClr val="bg1">
                    <a:lumMod val="85000"/>
                  </a:schemeClr>
                </a:solidFill>
              </a:rPr>
              <a:t>The NHS, TalkTalk and (possibly) the Whitehouse Emails  by the Russians</a:t>
            </a:r>
            <a:endParaRPr lang="en-US" dirty="0">
              <a:solidFill>
                <a:schemeClr val="bg1">
                  <a:lumMod val="85000"/>
                </a:schemeClr>
              </a:solidFill>
            </a:endParaRPr>
          </a:p>
        </p:txBody>
      </p:sp>
      <p:pic>
        <p:nvPicPr>
          <p:cNvPr id="2054" name="Picture 6" descr="Image result for binary animated .gif">
            <a:extLst>
              <a:ext uri="{FF2B5EF4-FFF2-40B4-BE49-F238E27FC236}">
                <a16:creationId xmlns:a16="http://schemas.microsoft.com/office/drawing/2014/main" id="{E5ECF9E6-3A31-496B-98DA-7ACB0000B95C}"/>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561190" y="1516140"/>
            <a:ext cx="5621309" cy="310024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BB8B3ED-E8D3-413C-9344-6B88DF9B45C5}"/>
              </a:ext>
            </a:extLst>
          </p:cNvPr>
          <p:cNvPicPr>
            <a:picLocks noChangeAspect="1"/>
          </p:cNvPicPr>
          <p:nvPr/>
        </p:nvPicPr>
        <p:blipFill>
          <a:blip r:embed="rId3"/>
          <a:stretch>
            <a:fillRect/>
          </a:stretch>
        </p:blipFill>
        <p:spPr>
          <a:xfrm>
            <a:off x="6641610" y="0"/>
            <a:ext cx="5794062" cy="2175029"/>
          </a:xfrm>
          <a:prstGeom prst="rect">
            <a:avLst/>
          </a:prstGeom>
        </p:spPr>
      </p:pic>
      <p:pic>
        <p:nvPicPr>
          <p:cNvPr id="8" name="Picture 7">
            <a:extLst>
              <a:ext uri="{FF2B5EF4-FFF2-40B4-BE49-F238E27FC236}">
                <a16:creationId xmlns:a16="http://schemas.microsoft.com/office/drawing/2014/main" id="{69F9BF3D-A150-4B95-B81B-2D9A7943A6A5}"/>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6944" b="88889" l="2128" r="91489">
                        <a14:foregroundMark x1="2128" y1="41667" x2="2128" y2="41667"/>
                        <a14:foregroundMark x1="13298" y1="44444" x2="13298" y2="44444"/>
                        <a14:foregroundMark x1="28457" y1="44444" x2="28457" y2="44444"/>
                        <a14:foregroundMark x1="36702" y1="44444" x2="36702" y2="44444"/>
                        <a14:foregroundMark x1="23670" y1="44444" x2="23670" y2="44444"/>
                        <a14:foregroundMark x1="45479" y1="51389" x2="45479" y2="51389"/>
                        <a14:foregroundMark x1="55851" y1="22222" x2="55851" y2="22222"/>
                        <a14:foregroundMark x1="63830" y1="22222" x2="63830" y2="22222"/>
                        <a14:foregroundMark x1="64096" y1="41667" x2="64096" y2="41667"/>
                        <a14:foregroundMark x1="68883" y1="52778" x2="68883" y2="52778"/>
                        <a14:foregroundMark x1="77660" y1="51389" x2="77660" y2="51389"/>
                        <a14:foregroundMark x1="86968" y1="43056" x2="86968" y2="43056"/>
                        <a14:foregroundMark x1="91489" y1="22222" x2="91489" y2="22222"/>
                        <a14:foregroundMark x1="28457" y1="29167" x2="28191" y2="56944"/>
                        <a14:foregroundMark x1="32979" y1="69444" x2="30585" y2="69444"/>
                        <a14:foregroundMark x1="41223" y1="59722" x2="40426" y2="45833"/>
                        <a14:foregroundMark x1="36702" y1="54135" x2="36702" y2="48611"/>
                        <a14:foregroundMark x1="36702" y1="65278" x2="36702" y2="54306"/>
                        <a14:foregroundMark x1="32447" y1="16667" x2="30851" y2="16667"/>
                        <a14:foregroundMark x1="32447" y1="41667" x2="29787" y2="41667"/>
                        <a14:foregroundMark x1="16489" y1="19444" x2="15426" y2="31944"/>
                        <a14:foregroundMark x1="12234" y1="37500" x2="11170" y2="20833"/>
                        <a14:foregroundMark x1="7713" y1="20833" x2="4787" y2="19444"/>
                        <a14:foregroundMark x1="8511" y1="65278" x2="3989" y2="66667"/>
                        <a14:foregroundMark x1="36968" y1="31944" x2="36968" y2="22222"/>
                        <a14:backgroundMark x1="5851" y1="37500" x2="8245" y2="45833"/>
                        <a14:backgroundMark x1="21809" y1="33333" x2="21809" y2="26389"/>
                        <a14:backgroundMark x1="22074" y1="58333" x2="22074" y2="51389"/>
                        <a14:backgroundMark x1="38032" y1="34722" x2="38298" y2="30556"/>
                      </a14:backgroundRemoval>
                    </a14:imgEffect>
                  </a14:imgLayer>
                </a14:imgProps>
              </a:ext>
            </a:extLst>
          </a:blip>
          <a:srcRect r="5643"/>
          <a:stretch/>
        </p:blipFill>
        <p:spPr>
          <a:xfrm>
            <a:off x="6648369" y="2229004"/>
            <a:ext cx="5368376" cy="1146021"/>
          </a:xfrm>
          <a:prstGeom prst="rect">
            <a:avLst/>
          </a:prstGeom>
          <a:effectLst>
            <a:glow rad="101600">
              <a:schemeClr val="tx1">
                <a:alpha val="60000"/>
              </a:schemeClr>
            </a:glow>
          </a:effectLst>
        </p:spPr>
      </p:pic>
      <p:pic>
        <p:nvPicPr>
          <p:cNvPr id="2050" name="Picture 2" descr="Image result for computer misuse act in the news">
            <a:extLst>
              <a:ext uri="{FF2B5EF4-FFF2-40B4-BE49-F238E27FC236}">
                <a16:creationId xmlns:a16="http://schemas.microsoft.com/office/drawing/2014/main" id="{2D01B5CD-C6C5-42EB-86A8-E732F6781A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6722" y="3427570"/>
            <a:ext cx="5495778" cy="343042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2DCB0B1-9DE1-499A-A10F-8B300DEEC236}"/>
              </a:ext>
            </a:extLst>
          </p:cNvPr>
          <p:cNvPicPr>
            <a:picLocks noChangeAspect="1"/>
          </p:cNvPicPr>
          <p:nvPr/>
        </p:nvPicPr>
        <p:blipFill rotWithShape="1">
          <a:blip r:embed="rId7"/>
          <a:srcRect b="49637"/>
          <a:stretch/>
        </p:blipFill>
        <p:spPr>
          <a:xfrm rot="16200000">
            <a:off x="2517602" y="2823911"/>
            <a:ext cx="6857999" cy="1210176"/>
          </a:xfrm>
          <a:prstGeom prst="rect">
            <a:avLst/>
          </a:prstGeom>
        </p:spPr>
      </p:pic>
    </p:spTree>
    <p:extLst>
      <p:ext uri="{BB962C8B-B14F-4D97-AF65-F5344CB8AC3E}">
        <p14:creationId xmlns:p14="http://schemas.microsoft.com/office/powerpoint/2010/main" val="1036379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BBB494-9679-4B19-93EE-0A965531065E}"/>
              </a:ext>
            </a:extLst>
          </p:cNvPr>
          <p:cNvSpPr/>
          <p:nvPr/>
        </p:nvSpPr>
        <p:spPr>
          <a:xfrm>
            <a:off x="7261934" y="5743852"/>
            <a:ext cx="4634144" cy="918559"/>
          </a:xfrm>
          <a:prstGeom prst="rect">
            <a:avLst/>
          </a:prstGeom>
          <a:solidFill>
            <a:schemeClr val="tx1"/>
          </a:solid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solidFill>
                  <a:srgbClr val="FF9B2C"/>
                </a:solidFill>
              </a:rPr>
              <a:t>Jail: Up to 2 years</a:t>
            </a:r>
          </a:p>
          <a:p>
            <a:pPr algn="ctr"/>
            <a:r>
              <a:rPr lang="en-GB" dirty="0">
                <a:solidFill>
                  <a:srgbClr val="FF9B2C"/>
                </a:solidFill>
              </a:rPr>
              <a:t>Fine: £5000</a:t>
            </a:r>
            <a:endParaRPr lang="en-US" dirty="0">
              <a:solidFill>
                <a:srgbClr val="FF9B2C"/>
              </a:solidFill>
            </a:endParaRPr>
          </a:p>
        </p:txBody>
      </p:sp>
      <p:pic>
        <p:nvPicPr>
          <p:cNvPr id="3074" name="Picture 2" descr="Image result for Act icon">
            <a:extLst>
              <a:ext uri="{FF2B5EF4-FFF2-40B4-BE49-F238E27FC236}">
                <a16:creationId xmlns:a16="http://schemas.microsoft.com/office/drawing/2014/main" id="{5F3FF7B6-DE90-42D4-863B-2180580777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4057" y="643002"/>
            <a:ext cx="3796790" cy="37967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78BC6C8-D6A6-4535-BDFB-31F7EDB96996}"/>
              </a:ext>
            </a:extLst>
          </p:cNvPr>
          <p:cNvSpPr>
            <a:spLocks noGrp="1"/>
          </p:cNvSpPr>
          <p:nvPr>
            <p:ph type="title"/>
          </p:nvPr>
        </p:nvSpPr>
        <p:spPr>
          <a:xfrm>
            <a:off x="195310" y="803325"/>
            <a:ext cx="6387470" cy="1325563"/>
          </a:xfrm>
        </p:spPr>
        <p:txBody>
          <a:bodyPr>
            <a:normAutofit/>
          </a:bodyPr>
          <a:lstStyle/>
          <a:p>
            <a:r>
              <a:rPr lang="en-GB" sz="3600" dirty="0">
                <a:solidFill>
                  <a:srgbClr val="00B0F0"/>
                </a:solidFill>
              </a:rPr>
              <a:t>The Computer Misuse: The 4 Main Offences</a:t>
            </a:r>
            <a:endParaRPr lang="en-US" sz="3600" dirty="0">
              <a:solidFill>
                <a:srgbClr val="00B0F0"/>
              </a:solidFill>
            </a:endParaRPr>
          </a:p>
        </p:txBody>
      </p:sp>
      <p:sp>
        <p:nvSpPr>
          <p:cNvPr id="3" name="Content Placeholder 2">
            <a:extLst>
              <a:ext uri="{FF2B5EF4-FFF2-40B4-BE49-F238E27FC236}">
                <a16:creationId xmlns:a16="http://schemas.microsoft.com/office/drawing/2014/main" id="{68DE8948-2A04-4F67-ABA8-D35AE56017F5}"/>
              </a:ext>
            </a:extLst>
          </p:cNvPr>
          <p:cNvSpPr>
            <a:spLocks noGrp="1"/>
          </p:cNvSpPr>
          <p:nvPr>
            <p:ph idx="1"/>
          </p:nvPr>
        </p:nvSpPr>
        <p:spPr>
          <a:xfrm>
            <a:off x="44102" y="4057095"/>
            <a:ext cx="7007247" cy="2605316"/>
          </a:xfrm>
        </p:spPr>
        <p:txBody>
          <a:bodyPr anchor="t">
            <a:normAutofit/>
          </a:bodyPr>
          <a:lstStyle/>
          <a:p>
            <a:r>
              <a:rPr lang="en-GB" sz="2400" dirty="0">
                <a:solidFill>
                  <a:srgbClr val="00B0F0"/>
                </a:solidFill>
              </a:rPr>
              <a:t>This is the lowest level of the offence.</a:t>
            </a:r>
          </a:p>
          <a:p>
            <a:endParaRPr lang="en-GB" sz="2400" dirty="0">
              <a:solidFill>
                <a:srgbClr val="00B0F0"/>
              </a:solidFill>
            </a:endParaRPr>
          </a:p>
          <a:p>
            <a:r>
              <a:rPr lang="en-GB" sz="2400" dirty="0">
                <a:solidFill>
                  <a:srgbClr val="00B0F0"/>
                </a:solidFill>
              </a:rPr>
              <a:t>Example: A business owner hacking into a competitors network</a:t>
            </a:r>
            <a:endParaRPr lang="en-US" sz="2400" dirty="0">
              <a:solidFill>
                <a:srgbClr val="00B0F0"/>
              </a:solidFill>
            </a:endParaRPr>
          </a:p>
        </p:txBody>
      </p:sp>
      <p:pic>
        <p:nvPicPr>
          <p:cNvPr id="3078" name="Picture 6" descr="Rendered Image">
            <a:extLst>
              <a:ext uri="{FF2B5EF4-FFF2-40B4-BE49-F238E27FC236}">
                <a16:creationId xmlns:a16="http://schemas.microsoft.com/office/drawing/2014/main" id="{2D3545FA-48D5-4256-AB0B-EBB4B5C7F2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310" y="2283827"/>
            <a:ext cx="4638675" cy="84772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Related image">
            <a:extLst>
              <a:ext uri="{FF2B5EF4-FFF2-40B4-BE49-F238E27FC236}">
                <a16:creationId xmlns:a16="http://schemas.microsoft.com/office/drawing/2014/main" id="{259DF605-5CD7-4FCA-B580-45E7FFE9832E}"/>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4911" b="94643" l="4889" r="93778">
                        <a14:foregroundMark x1="43111" y1="39286" x2="43111" y2="34375"/>
                        <a14:foregroundMark x1="16444" y1="93304" x2="16000" y2="91518"/>
                        <a14:foregroundMark x1="7556" y1="83482" x2="6667" y2="83482"/>
                        <a14:foregroundMark x1="32444" y1="5357" x2="31556" y2="10714"/>
                        <a14:foregroundMark x1="92000" y1="16071" x2="92889" y2="16071"/>
                        <a14:foregroundMark x1="65778" y1="95089" x2="67111" y2="94643"/>
                        <a14:foregroundMark x1="6667" y1="14732" x2="6222" y2="14732"/>
                        <a14:foregroundMark x1="6667" y1="84375" x2="5333" y2="84375"/>
                        <a14:foregroundMark x1="91556" y1="84821" x2="93778" y2="84821"/>
                      </a14:backgroundRemoval>
                    </a14:imgEffect>
                    <a14:imgEffect>
                      <a14:sharpenSoften amount="-50000"/>
                    </a14:imgEffect>
                    <a14:imgEffect>
                      <a14:colorTemperature colorTemp="88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rot="20710396">
            <a:off x="6924582" y="5259637"/>
            <a:ext cx="736847" cy="733572"/>
          </a:xfrm>
          <a:prstGeom prst="rect">
            <a:avLst/>
          </a:prstGeom>
          <a:noFill/>
          <a:effectLst>
            <a:glow rad="25400">
              <a:srgbClr val="FF0000"/>
            </a:glo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B3AE75F-4648-4B96-9785-578B2DC912E0}"/>
              </a:ext>
            </a:extLst>
          </p:cNvPr>
          <p:cNvSpPr txBox="1"/>
          <p:nvPr/>
        </p:nvSpPr>
        <p:spPr>
          <a:xfrm>
            <a:off x="1329226" y="3134634"/>
            <a:ext cx="4929214" cy="369332"/>
          </a:xfrm>
          <a:prstGeom prst="rect">
            <a:avLst/>
          </a:prstGeom>
          <a:noFill/>
        </p:spPr>
        <p:txBody>
          <a:bodyPr wrap="square" rtlCol="0">
            <a:spAutoFit/>
          </a:bodyPr>
          <a:lstStyle/>
          <a:p>
            <a:r>
              <a:rPr lang="en-GB" b="1" dirty="0">
                <a:solidFill>
                  <a:srgbClr val="FF9929"/>
                </a:solidFill>
              </a:rPr>
              <a:t>Unauthorised access to computer material</a:t>
            </a:r>
            <a:endParaRPr lang="en-US" b="1" dirty="0">
              <a:solidFill>
                <a:srgbClr val="FF9929"/>
              </a:solidFill>
            </a:endParaRPr>
          </a:p>
        </p:txBody>
      </p:sp>
    </p:spTree>
    <p:extLst>
      <p:ext uri="{BB962C8B-B14F-4D97-AF65-F5344CB8AC3E}">
        <p14:creationId xmlns:p14="http://schemas.microsoft.com/office/powerpoint/2010/main" val="368319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500" fill="hold"/>
                                        <p:tgtEl>
                                          <p:spTgt spid="3074"/>
                                        </p:tgtEl>
                                        <p:attrNameLst>
                                          <p:attrName>ppt_w</p:attrName>
                                        </p:attrNameLst>
                                      </p:cBhvr>
                                      <p:tavLst>
                                        <p:tav tm="0">
                                          <p:val>
                                            <p:fltVal val="0"/>
                                          </p:val>
                                        </p:tav>
                                        <p:tav tm="100000">
                                          <p:val>
                                            <p:strVal val="#ppt_w"/>
                                          </p:val>
                                        </p:tav>
                                      </p:tavLst>
                                    </p:anim>
                                    <p:anim calcmode="lin" valueType="num">
                                      <p:cBhvr>
                                        <p:cTn id="8" dur="500" fill="hold"/>
                                        <p:tgtEl>
                                          <p:spTgt spid="307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wipe(left)">
                                      <p:cBhvr>
                                        <p:cTn id="12" dur="500"/>
                                        <p:tgtEl>
                                          <p:spTgt spid="3078"/>
                                        </p:tgtEl>
                                      </p:cBhvr>
                                    </p:animEffect>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par>
                          <p:cTn id="34" fill="hold">
                            <p:stCondLst>
                              <p:cond delay="500"/>
                            </p:stCondLst>
                            <p:childTnLst>
                              <p:par>
                                <p:cTn id="35" presetID="31" presetClass="entr" presetSubtype="0" fill="hold" nodeType="afterEffect">
                                  <p:stCondLst>
                                    <p:cond delay="0"/>
                                  </p:stCondLst>
                                  <p:childTnLst>
                                    <p:set>
                                      <p:cBhvr>
                                        <p:cTn id="36" dur="1" fill="hold">
                                          <p:stCondLst>
                                            <p:cond delay="0"/>
                                          </p:stCondLst>
                                        </p:cTn>
                                        <p:tgtEl>
                                          <p:spTgt spid="3080"/>
                                        </p:tgtEl>
                                        <p:attrNameLst>
                                          <p:attrName>style.visibility</p:attrName>
                                        </p:attrNameLst>
                                      </p:cBhvr>
                                      <p:to>
                                        <p:strVal val="visible"/>
                                      </p:to>
                                    </p:set>
                                    <p:anim calcmode="lin" valueType="num">
                                      <p:cBhvr>
                                        <p:cTn id="37" dur="1000" fill="hold"/>
                                        <p:tgtEl>
                                          <p:spTgt spid="3080"/>
                                        </p:tgtEl>
                                        <p:attrNameLst>
                                          <p:attrName>ppt_w</p:attrName>
                                        </p:attrNameLst>
                                      </p:cBhvr>
                                      <p:tavLst>
                                        <p:tav tm="0">
                                          <p:val>
                                            <p:fltVal val="0"/>
                                          </p:val>
                                        </p:tav>
                                        <p:tav tm="100000">
                                          <p:val>
                                            <p:strVal val="#ppt_w"/>
                                          </p:val>
                                        </p:tav>
                                      </p:tavLst>
                                    </p:anim>
                                    <p:anim calcmode="lin" valueType="num">
                                      <p:cBhvr>
                                        <p:cTn id="38" dur="1000" fill="hold"/>
                                        <p:tgtEl>
                                          <p:spTgt spid="3080"/>
                                        </p:tgtEl>
                                        <p:attrNameLst>
                                          <p:attrName>ppt_h</p:attrName>
                                        </p:attrNameLst>
                                      </p:cBhvr>
                                      <p:tavLst>
                                        <p:tav tm="0">
                                          <p:val>
                                            <p:fltVal val="0"/>
                                          </p:val>
                                        </p:tav>
                                        <p:tav tm="100000">
                                          <p:val>
                                            <p:strVal val="#ppt_h"/>
                                          </p:val>
                                        </p:tav>
                                      </p:tavLst>
                                    </p:anim>
                                    <p:anim calcmode="lin" valueType="num">
                                      <p:cBhvr>
                                        <p:cTn id="39" dur="1000" fill="hold"/>
                                        <p:tgtEl>
                                          <p:spTgt spid="3080"/>
                                        </p:tgtEl>
                                        <p:attrNameLst>
                                          <p:attrName>style.rotation</p:attrName>
                                        </p:attrNameLst>
                                      </p:cBhvr>
                                      <p:tavLst>
                                        <p:tav tm="0">
                                          <p:val>
                                            <p:fltVal val="90"/>
                                          </p:val>
                                        </p:tav>
                                        <p:tav tm="100000">
                                          <p:val>
                                            <p:fltVal val="0"/>
                                          </p:val>
                                        </p:tav>
                                      </p:tavLst>
                                    </p:anim>
                                    <p:animEffect transition="in" filter="fade">
                                      <p:cBhvr>
                                        <p:cTn id="40" dur="10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2CE9A1-5986-4983-993F-DD91D55B23AF}"/>
              </a:ext>
            </a:extLst>
          </p:cNvPr>
          <p:cNvSpPr>
            <a:spLocks noGrp="1"/>
          </p:cNvSpPr>
          <p:nvPr>
            <p:ph type="title"/>
          </p:nvPr>
        </p:nvSpPr>
        <p:spPr/>
        <p:txBody>
          <a:bodyPr/>
          <a:lstStyle/>
          <a:p>
            <a:endParaRPr lang="en-US"/>
          </a:p>
        </p:txBody>
      </p:sp>
      <p:sp>
        <p:nvSpPr>
          <p:cNvPr id="8" name="Content Placeholder 7">
            <a:extLst>
              <a:ext uri="{FF2B5EF4-FFF2-40B4-BE49-F238E27FC236}">
                <a16:creationId xmlns:a16="http://schemas.microsoft.com/office/drawing/2014/main" id="{18AEA170-5DF8-4526-8AD9-0E2C56A87D47}"/>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9287BE66-7046-4374-BCF4-60E86909F1B5}"/>
              </a:ext>
            </a:extLst>
          </p:cNvPr>
          <p:cNvPicPr>
            <a:picLocks noChangeAspect="1"/>
          </p:cNvPicPr>
          <p:nvPr/>
        </p:nvPicPr>
        <p:blipFill>
          <a:blip r:embed="rId2"/>
          <a:stretch>
            <a:fillRect/>
          </a:stretch>
        </p:blipFill>
        <p:spPr>
          <a:xfrm rot="10800000">
            <a:off x="0" y="0"/>
            <a:ext cx="12192000" cy="6858000"/>
          </a:xfrm>
          <a:prstGeom prst="rect">
            <a:avLst/>
          </a:prstGeom>
        </p:spPr>
      </p:pic>
      <p:sp>
        <p:nvSpPr>
          <p:cNvPr id="14" name="Rectangle 13">
            <a:extLst>
              <a:ext uri="{FF2B5EF4-FFF2-40B4-BE49-F238E27FC236}">
                <a16:creationId xmlns:a16="http://schemas.microsoft.com/office/drawing/2014/main" id="{88CAE210-133B-426A-86E7-90BB4FD99B0B}"/>
              </a:ext>
            </a:extLst>
          </p:cNvPr>
          <p:cNvSpPr/>
          <p:nvPr/>
        </p:nvSpPr>
        <p:spPr>
          <a:xfrm>
            <a:off x="7373798" y="5716144"/>
            <a:ext cx="4634144" cy="918559"/>
          </a:xfrm>
          <a:prstGeom prst="rect">
            <a:avLst/>
          </a:prstGeom>
          <a:solidFill>
            <a:schemeClr val="tx1"/>
          </a:solid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solidFill>
                  <a:srgbClr val="FF9B2C"/>
                </a:solidFill>
              </a:rPr>
              <a:t>Jail: Up to 5 Years</a:t>
            </a:r>
          </a:p>
          <a:p>
            <a:pPr algn="ctr"/>
            <a:r>
              <a:rPr lang="en-GB" dirty="0">
                <a:solidFill>
                  <a:srgbClr val="FF9B2C"/>
                </a:solidFill>
              </a:rPr>
              <a:t>Fine: Unlimited</a:t>
            </a:r>
            <a:endParaRPr lang="en-US" dirty="0">
              <a:solidFill>
                <a:srgbClr val="FF9B2C"/>
              </a:solidFill>
            </a:endParaRPr>
          </a:p>
        </p:txBody>
      </p:sp>
      <p:pic>
        <p:nvPicPr>
          <p:cNvPr id="15" name="Picture 2" descr="Image result for Act icon">
            <a:extLst>
              <a:ext uri="{FF2B5EF4-FFF2-40B4-BE49-F238E27FC236}">
                <a16:creationId xmlns:a16="http://schemas.microsoft.com/office/drawing/2014/main" id="{46A55825-81CB-4AC7-BA8F-7C28BC3B3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175" y="2584405"/>
            <a:ext cx="3796790" cy="3796790"/>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a:extLst>
              <a:ext uri="{FF2B5EF4-FFF2-40B4-BE49-F238E27FC236}">
                <a16:creationId xmlns:a16="http://schemas.microsoft.com/office/drawing/2014/main" id="{081ACE0F-4155-4B3E-9A20-0CA2EC393D4D}"/>
              </a:ext>
            </a:extLst>
          </p:cNvPr>
          <p:cNvSpPr txBox="1">
            <a:spLocks/>
          </p:cNvSpPr>
          <p:nvPr/>
        </p:nvSpPr>
        <p:spPr>
          <a:xfrm>
            <a:off x="43309" y="18255"/>
            <a:ext cx="99042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solidFill>
                  <a:srgbClr val="00B0F0"/>
                </a:solidFill>
              </a:rPr>
              <a:t>The Computer Misuse: The 4 Main Offences</a:t>
            </a:r>
            <a:endParaRPr lang="en-US" sz="3600" dirty="0">
              <a:solidFill>
                <a:srgbClr val="00B0F0"/>
              </a:solidFill>
            </a:endParaRPr>
          </a:p>
        </p:txBody>
      </p:sp>
      <p:sp>
        <p:nvSpPr>
          <p:cNvPr id="17" name="Content Placeholder 2">
            <a:extLst>
              <a:ext uri="{FF2B5EF4-FFF2-40B4-BE49-F238E27FC236}">
                <a16:creationId xmlns:a16="http://schemas.microsoft.com/office/drawing/2014/main" id="{15DBA85F-6FC8-49C5-B3E9-DA23F8FA5297}"/>
              </a:ext>
            </a:extLst>
          </p:cNvPr>
          <p:cNvSpPr txBox="1">
            <a:spLocks/>
          </p:cNvSpPr>
          <p:nvPr/>
        </p:nvSpPr>
        <p:spPr>
          <a:xfrm>
            <a:off x="5979645" y="2872824"/>
            <a:ext cx="5860936" cy="260531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solidFill>
                  <a:srgbClr val="00B0F0"/>
                </a:solidFill>
              </a:rPr>
              <a:t>Examples include planting a virus or stealing a password to bank account</a:t>
            </a:r>
          </a:p>
          <a:p>
            <a:endParaRPr lang="en-GB" sz="2400" dirty="0">
              <a:solidFill>
                <a:srgbClr val="00B0F0"/>
              </a:solidFill>
            </a:endParaRPr>
          </a:p>
          <a:p>
            <a:r>
              <a:rPr lang="en-GB" sz="2400" dirty="0">
                <a:solidFill>
                  <a:srgbClr val="00B0F0"/>
                </a:solidFill>
              </a:rPr>
              <a:t>So this business owner has hacked into a competitors network in order to plant a virus</a:t>
            </a:r>
            <a:endParaRPr lang="en-US" sz="2400" dirty="0">
              <a:solidFill>
                <a:srgbClr val="00B0F0"/>
              </a:solidFill>
            </a:endParaRPr>
          </a:p>
        </p:txBody>
      </p:sp>
      <p:pic>
        <p:nvPicPr>
          <p:cNvPr id="19" name="Picture 8" descr="Related image">
            <a:extLst>
              <a:ext uri="{FF2B5EF4-FFF2-40B4-BE49-F238E27FC236}">
                <a16:creationId xmlns:a16="http://schemas.microsoft.com/office/drawing/2014/main" id="{627AB72F-0E5E-4594-A7A4-D0E179512478}"/>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4911" b="94643" l="4889" r="93778">
                        <a14:foregroundMark x1="43111" y1="39286" x2="43111" y2="34375"/>
                        <a14:foregroundMark x1="16444" y1="93304" x2="16000" y2="91518"/>
                        <a14:foregroundMark x1="7556" y1="83482" x2="6667" y2="83482"/>
                        <a14:foregroundMark x1="32444" y1="5357" x2="31556" y2="10714"/>
                        <a14:foregroundMark x1="92000" y1="16071" x2="92889" y2="16071"/>
                        <a14:foregroundMark x1="65778" y1="95089" x2="67111" y2="94643"/>
                        <a14:foregroundMark x1="6667" y1="14732" x2="6222" y2="14732"/>
                        <a14:foregroundMark x1="6667" y1="84375" x2="5333" y2="84375"/>
                        <a14:foregroundMark x1="91556" y1="84821" x2="93778" y2="84821"/>
                      </a14:backgroundRemoval>
                    </a14:imgEffect>
                    <a14:imgEffect>
                      <a14:sharpenSoften amount="-50000"/>
                    </a14:imgEffect>
                    <a14:imgEffect>
                      <a14:colorTemperature colorTemp="88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rot="20710396">
            <a:off x="7036446" y="5231929"/>
            <a:ext cx="736847" cy="733572"/>
          </a:xfrm>
          <a:prstGeom prst="rect">
            <a:avLst/>
          </a:prstGeom>
          <a:noFill/>
          <a:effectLst>
            <a:glow rad="25400">
              <a:srgbClr val="FF0000"/>
            </a:glow>
          </a:effectLst>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5AB2B0-98AB-4E12-ADAC-1582486E6053}"/>
              </a:ext>
            </a:extLst>
          </p:cNvPr>
          <p:cNvSpPr txBox="1"/>
          <p:nvPr/>
        </p:nvSpPr>
        <p:spPr>
          <a:xfrm>
            <a:off x="6096000" y="2133162"/>
            <a:ext cx="5609220" cy="646331"/>
          </a:xfrm>
          <a:prstGeom prst="rect">
            <a:avLst/>
          </a:prstGeom>
          <a:noFill/>
        </p:spPr>
        <p:txBody>
          <a:bodyPr wrap="square" rtlCol="0">
            <a:spAutoFit/>
          </a:bodyPr>
          <a:lstStyle/>
          <a:p>
            <a:r>
              <a:rPr lang="en-GB" b="1" dirty="0">
                <a:solidFill>
                  <a:srgbClr val="FF9929"/>
                </a:solidFill>
              </a:rPr>
              <a:t>Unauthorised access to computer materials with </a:t>
            </a:r>
            <a:r>
              <a:rPr lang="en-GB" b="1" u="sng" dirty="0">
                <a:solidFill>
                  <a:srgbClr val="FF9929"/>
                </a:solidFill>
              </a:rPr>
              <a:t>intent</a:t>
            </a:r>
            <a:r>
              <a:rPr lang="en-GB" b="1" dirty="0">
                <a:solidFill>
                  <a:srgbClr val="FF9929"/>
                </a:solidFill>
              </a:rPr>
              <a:t> to commit a further crime</a:t>
            </a:r>
          </a:p>
        </p:txBody>
      </p:sp>
      <p:pic>
        <p:nvPicPr>
          <p:cNvPr id="21" name="Picture 2" descr="Rendered Image">
            <a:extLst>
              <a:ext uri="{FF2B5EF4-FFF2-40B4-BE49-F238E27FC236}">
                <a16:creationId xmlns:a16="http://schemas.microsoft.com/office/drawing/2014/main" id="{F5461357-31C6-4AA3-84AB-0E529844CB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4575" y="1329570"/>
            <a:ext cx="4667250" cy="847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454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right)">
                                      <p:cBhvr>
                                        <p:cTn id="12" dur="500"/>
                                        <p:tgtEl>
                                          <p:spTgt spid="21"/>
                                        </p:tgtEl>
                                      </p:cBhvr>
                                    </p:animEffect>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1000"/>
                                        <p:tgtEl>
                                          <p:spTgt spid="20"/>
                                        </p:tgtEl>
                                      </p:cBhvr>
                                    </p:animEffect>
                                    <p:anim calcmode="lin" valueType="num">
                                      <p:cBhvr>
                                        <p:cTn id="17" dur="1000" fill="hold"/>
                                        <p:tgtEl>
                                          <p:spTgt spid="20"/>
                                        </p:tgtEl>
                                        <p:attrNameLst>
                                          <p:attrName>ppt_x</p:attrName>
                                        </p:attrNameLst>
                                      </p:cBhvr>
                                      <p:tavLst>
                                        <p:tav tm="0">
                                          <p:val>
                                            <p:strVal val="#ppt_x"/>
                                          </p:val>
                                        </p:tav>
                                        <p:tav tm="100000">
                                          <p:val>
                                            <p:strVal val="#ppt_x"/>
                                          </p:val>
                                        </p:tav>
                                      </p:tavLst>
                                    </p:anim>
                                    <p:anim calcmode="lin" valueType="num">
                                      <p:cBhvr>
                                        <p:cTn id="1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animEffect transition="in" filter="fade">
                                      <p:cBhvr>
                                        <p:cTn id="23" dur="500"/>
                                        <p:tgtEl>
                                          <p:spTgt spid="1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xEl>
                                              <p:pRg st="2" end="2"/>
                                            </p:txEl>
                                          </p:spTgt>
                                        </p:tgtEl>
                                        <p:attrNameLst>
                                          <p:attrName>style.visibility</p:attrName>
                                        </p:attrNameLst>
                                      </p:cBhvr>
                                      <p:to>
                                        <p:strVal val="visible"/>
                                      </p:to>
                                    </p:set>
                                    <p:animEffect transition="in" filter="fade">
                                      <p:cBhvr>
                                        <p:cTn id="28" dur="500"/>
                                        <p:tgtEl>
                                          <p:spTgt spid="17">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childTnLst>
                          </p:cTn>
                        </p:par>
                        <p:par>
                          <p:cTn id="34" fill="hold">
                            <p:stCondLst>
                              <p:cond delay="500"/>
                            </p:stCondLst>
                            <p:childTnLst>
                              <p:par>
                                <p:cTn id="35" presetID="31" presetClass="entr" presetSubtype="0" fill="hold" nodeType="after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p:cTn id="37" dur="1000" fill="hold"/>
                                        <p:tgtEl>
                                          <p:spTgt spid="19"/>
                                        </p:tgtEl>
                                        <p:attrNameLst>
                                          <p:attrName>ppt_w</p:attrName>
                                        </p:attrNameLst>
                                      </p:cBhvr>
                                      <p:tavLst>
                                        <p:tav tm="0">
                                          <p:val>
                                            <p:fltVal val="0"/>
                                          </p:val>
                                        </p:tav>
                                        <p:tav tm="100000">
                                          <p:val>
                                            <p:strVal val="#ppt_w"/>
                                          </p:val>
                                        </p:tav>
                                      </p:tavLst>
                                    </p:anim>
                                    <p:anim calcmode="lin" valueType="num">
                                      <p:cBhvr>
                                        <p:cTn id="38" dur="1000" fill="hold"/>
                                        <p:tgtEl>
                                          <p:spTgt spid="19"/>
                                        </p:tgtEl>
                                        <p:attrNameLst>
                                          <p:attrName>ppt_h</p:attrName>
                                        </p:attrNameLst>
                                      </p:cBhvr>
                                      <p:tavLst>
                                        <p:tav tm="0">
                                          <p:val>
                                            <p:fltVal val="0"/>
                                          </p:val>
                                        </p:tav>
                                        <p:tav tm="100000">
                                          <p:val>
                                            <p:strVal val="#ppt_h"/>
                                          </p:val>
                                        </p:tav>
                                      </p:tavLst>
                                    </p:anim>
                                    <p:anim calcmode="lin" valueType="num">
                                      <p:cBhvr>
                                        <p:cTn id="39" dur="1000" fill="hold"/>
                                        <p:tgtEl>
                                          <p:spTgt spid="19"/>
                                        </p:tgtEl>
                                        <p:attrNameLst>
                                          <p:attrName>style.rotation</p:attrName>
                                        </p:attrNameLst>
                                      </p:cBhvr>
                                      <p:tavLst>
                                        <p:tav tm="0">
                                          <p:val>
                                            <p:fltVal val="90"/>
                                          </p:val>
                                        </p:tav>
                                        <p:tav tm="100000">
                                          <p:val>
                                            <p:fltVal val="0"/>
                                          </p:val>
                                        </p:tav>
                                      </p:tavLst>
                                    </p:anim>
                                    <p:animEffect transition="in" filter="fade">
                                      <p:cBhvr>
                                        <p:cTn id="40"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build="p"/>
      <p:bldP spid="20"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BBB494-9679-4B19-93EE-0A965531065E}"/>
              </a:ext>
            </a:extLst>
          </p:cNvPr>
          <p:cNvSpPr/>
          <p:nvPr/>
        </p:nvSpPr>
        <p:spPr>
          <a:xfrm>
            <a:off x="7261934" y="5743852"/>
            <a:ext cx="4634144" cy="918559"/>
          </a:xfrm>
          <a:prstGeom prst="rect">
            <a:avLst/>
          </a:prstGeom>
          <a:solidFill>
            <a:schemeClr val="tx1"/>
          </a:solid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solidFill>
                  <a:srgbClr val="FF9B2C"/>
                </a:solidFill>
              </a:rPr>
              <a:t>Jail: Up to 10 Years</a:t>
            </a:r>
          </a:p>
          <a:p>
            <a:pPr algn="ctr"/>
            <a:r>
              <a:rPr lang="en-GB" dirty="0">
                <a:solidFill>
                  <a:srgbClr val="FF9B2C"/>
                </a:solidFill>
              </a:rPr>
              <a:t>Fine: Unlimited</a:t>
            </a:r>
            <a:endParaRPr lang="en-US" dirty="0">
              <a:solidFill>
                <a:srgbClr val="FF9B2C"/>
              </a:solidFill>
            </a:endParaRPr>
          </a:p>
        </p:txBody>
      </p:sp>
      <p:pic>
        <p:nvPicPr>
          <p:cNvPr id="3074" name="Picture 2" descr="Image result for Act icon">
            <a:extLst>
              <a:ext uri="{FF2B5EF4-FFF2-40B4-BE49-F238E27FC236}">
                <a16:creationId xmlns:a16="http://schemas.microsoft.com/office/drawing/2014/main" id="{5F3FF7B6-DE90-42D4-863B-2180580777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4057" y="643002"/>
            <a:ext cx="3796790" cy="37967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78BC6C8-D6A6-4535-BDFB-31F7EDB96996}"/>
              </a:ext>
            </a:extLst>
          </p:cNvPr>
          <p:cNvSpPr>
            <a:spLocks noGrp="1"/>
          </p:cNvSpPr>
          <p:nvPr>
            <p:ph type="title"/>
          </p:nvPr>
        </p:nvSpPr>
        <p:spPr>
          <a:xfrm>
            <a:off x="74386" y="39199"/>
            <a:ext cx="7187548" cy="1325563"/>
          </a:xfrm>
        </p:spPr>
        <p:txBody>
          <a:bodyPr>
            <a:normAutofit/>
          </a:bodyPr>
          <a:lstStyle/>
          <a:p>
            <a:r>
              <a:rPr lang="en-GB" sz="3600" dirty="0">
                <a:solidFill>
                  <a:srgbClr val="00B0F0"/>
                </a:solidFill>
              </a:rPr>
              <a:t>The Computer Misuse: The 4 Main Offences</a:t>
            </a:r>
            <a:endParaRPr lang="en-US" sz="3600" dirty="0">
              <a:solidFill>
                <a:srgbClr val="00B0F0"/>
              </a:solidFill>
            </a:endParaRPr>
          </a:p>
        </p:txBody>
      </p:sp>
      <p:sp>
        <p:nvSpPr>
          <p:cNvPr id="3" name="Content Placeholder 2">
            <a:extLst>
              <a:ext uri="{FF2B5EF4-FFF2-40B4-BE49-F238E27FC236}">
                <a16:creationId xmlns:a16="http://schemas.microsoft.com/office/drawing/2014/main" id="{68DE8948-2A04-4F67-ABA8-D35AE56017F5}"/>
              </a:ext>
            </a:extLst>
          </p:cNvPr>
          <p:cNvSpPr>
            <a:spLocks noGrp="1"/>
          </p:cNvSpPr>
          <p:nvPr>
            <p:ph idx="1"/>
          </p:nvPr>
        </p:nvSpPr>
        <p:spPr>
          <a:xfrm>
            <a:off x="44102" y="4057095"/>
            <a:ext cx="7007247" cy="2605316"/>
          </a:xfrm>
        </p:spPr>
        <p:txBody>
          <a:bodyPr anchor="t">
            <a:normAutofit/>
          </a:bodyPr>
          <a:lstStyle/>
          <a:p>
            <a:r>
              <a:rPr lang="en-GB" sz="2400" dirty="0">
                <a:solidFill>
                  <a:srgbClr val="00B0F0"/>
                </a:solidFill>
              </a:rPr>
              <a:t>Changing or deleting data, including the use of spyware</a:t>
            </a:r>
          </a:p>
          <a:p>
            <a:endParaRPr lang="en-GB" sz="2400" dirty="0">
              <a:solidFill>
                <a:srgbClr val="00B0F0"/>
              </a:solidFill>
            </a:endParaRPr>
          </a:p>
          <a:p>
            <a:r>
              <a:rPr lang="en-GB" sz="2400" dirty="0">
                <a:solidFill>
                  <a:srgbClr val="00B0F0"/>
                </a:solidFill>
              </a:rPr>
              <a:t>Example: A business owner hacking into a network to change data</a:t>
            </a:r>
            <a:endParaRPr lang="en-US" sz="2400" dirty="0">
              <a:solidFill>
                <a:srgbClr val="00B0F0"/>
              </a:solidFill>
            </a:endParaRPr>
          </a:p>
        </p:txBody>
      </p:sp>
      <p:pic>
        <p:nvPicPr>
          <p:cNvPr id="3080" name="Picture 8" descr="Related image">
            <a:extLst>
              <a:ext uri="{FF2B5EF4-FFF2-40B4-BE49-F238E27FC236}">
                <a16:creationId xmlns:a16="http://schemas.microsoft.com/office/drawing/2014/main" id="{259DF605-5CD7-4FCA-B580-45E7FFE9832E}"/>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4911" b="94643" l="4889" r="93778">
                        <a14:foregroundMark x1="43111" y1="39286" x2="43111" y2="34375"/>
                        <a14:foregroundMark x1="16444" y1="93304" x2="16000" y2="91518"/>
                        <a14:foregroundMark x1="7556" y1="83482" x2="6667" y2="83482"/>
                        <a14:foregroundMark x1="32444" y1="5357" x2="31556" y2="10714"/>
                        <a14:foregroundMark x1="92000" y1="16071" x2="92889" y2="16071"/>
                        <a14:foregroundMark x1="65778" y1="95089" x2="67111" y2="94643"/>
                        <a14:foregroundMark x1="6667" y1="14732" x2="6222" y2="14732"/>
                        <a14:foregroundMark x1="6667" y1="84375" x2="5333" y2="84375"/>
                        <a14:foregroundMark x1="91556" y1="84821" x2="93778" y2="84821"/>
                      </a14:backgroundRemoval>
                    </a14:imgEffect>
                    <a14:imgEffect>
                      <a14:sharpenSoften amount="-50000"/>
                    </a14:imgEffect>
                    <a14:imgEffect>
                      <a14:colorTemperature colorTemp="88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rot="20710396">
            <a:off x="6924582" y="5259637"/>
            <a:ext cx="736847" cy="733572"/>
          </a:xfrm>
          <a:prstGeom prst="rect">
            <a:avLst/>
          </a:prstGeom>
          <a:noFill/>
          <a:effectLst>
            <a:glow rad="25400">
              <a:srgbClr val="FF0000"/>
            </a:glo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B3AE75F-4648-4B96-9785-578B2DC912E0}"/>
              </a:ext>
            </a:extLst>
          </p:cNvPr>
          <p:cNvSpPr txBox="1"/>
          <p:nvPr/>
        </p:nvSpPr>
        <p:spPr>
          <a:xfrm>
            <a:off x="1329226" y="3134634"/>
            <a:ext cx="4929214" cy="369332"/>
          </a:xfrm>
          <a:prstGeom prst="rect">
            <a:avLst/>
          </a:prstGeom>
          <a:noFill/>
        </p:spPr>
        <p:txBody>
          <a:bodyPr wrap="square" rtlCol="0">
            <a:spAutoFit/>
          </a:bodyPr>
          <a:lstStyle/>
          <a:p>
            <a:r>
              <a:rPr lang="en-GB" b="1" dirty="0">
                <a:solidFill>
                  <a:srgbClr val="FF9929"/>
                </a:solidFill>
              </a:rPr>
              <a:t>Unauthorised Modification of Data</a:t>
            </a:r>
            <a:endParaRPr lang="en-US" b="1" dirty="0">
              <a:solidFill>
                <a:srgbClr val="FF9929"/>
              </a:solidFill>
            </a:endParaRPr>
          </a:p>
        </p:txBody>
      </p:sp>
      <p:pic>
        <p:nvPicPr>
          <p:cNvPr id="11" name="Picture 4" descr="Rendered Image">
            <a:extLst>
              <a:ext uri="{FF2B5EF4-FFF2-40B4-BE49-F238E27FC236}">
                <a16:creationId xmlns:a16="http://schemas.microsoft.com/office/drawing/2014/main" id="{6E8905EF-70B1-4F6F-B34E-8434C3A733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310" y="2245266"/>
            <a:ext cx="4667250" cy="847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57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500" fill="hold"/>
                                        <p:tgtEl>
                                          <p:spTgt spid="3074"/>
                                        </p:tgtEl>
                                        <p:attrNameLst>
                                          <p:attrName>ppt_w</p:attrName>
                                        </p:attrNameLst>
                                      </p:cBhvr>
                                      <p:tavLst>
                                        <p:tav tm="0">
                                          <p:val>
                                            <p:fltVal val="0"/>
                                          </p:val>
                                        </p:tav>
                                        <p:tav tm="100000">
                                          <p:val>
                                            <p:strVal val="#ppt_w"/>
                                          </p:val>
                                        </p:tav>
                                      </p:tavLst>
                                    </p:anim>
                                    <p:anim calcmode="lin" valueType="num">
                                      <p:cBhvr>
                                        <p:cTn id="8" dur="500" fill="hold"/>
                                        <p:tgtEl>
                                          <p:spTgt spid="307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par>
                          <p:cTn id="34" fill="hold">
                            <p:stCondLst>
                              <p:cond delay="500"/>
                            </p:stCondLst>
                            <p:childTnLst>
                              <p:par>
                                <p:cTn id="35" presetID="31" presetClass="entr" presetSubtype="0" fill="hold" nodeType="afterEffect">
                                  <p:stCondLst>
                                    <p:cond delay="0"/>
                                  </p:stCondLst>
                                  <p:childTnLst>
                                    <p:set>
                                      <p:cBhvr>
                                        <p:cTn id="36" dur="1" fill="hold">
                                          <p:stCondLst>
                                            <p:cond delay="0"/>
                                          </p:stCondLst>
                                        </p:cTn>
                                        <p:tgtEl>
                                          <p:spTgt spid="3080"/>
                                        </p:tgtEl>
                                        <p:attrNameLst>
                                          <p:attrName>style.visibility</p:attrName>
                                        </p:attrNameLst>
                                      </p:cBhvr>
                                      <p:to>
                                        <p:strVal val="visible"/>
                                      </p:to>
                                    </p:set>
                                    <p:anim calcmode="lin" valueType="num">
                                      <p:cBhvr>
                                        <p:cTn id="37" dur="1000" fill="hold"/>
                                        <p:tgtEl>
                                          <p:spTgt spid="3080"/>
                                        </p:tgtEl>
                                        <p:attrNameLst>
                                          <p:attrName>ppt_w</p:attrName>
                                        </p:attrNameLst>
                                      </p:cBhvr>
                                      <p:tavLst>
                                        <p:tav tm="0">
                                          <p:val>
                                            <p:fltVal val="0"/>
                                          </p:val>
                                        </p:tav>
                                        <p:tav tm="100000">
                                          <p:val>
                                            <p:strVal val="#ppt_w"/>
                                          </p:val>
                                        </p:tav>
                                      </p:tavLst>
                                    </p:anim>
                                    <p:anim calcmode="lin" valueType="num">
                                      <p:cBhvr>
                                        <p:cTn id="38" dur="1000" fill="hold"/>
                                        <p:tgtEl>
                                          <p:spTgt spid="3080"/>
                                        </p:tgtEl>
                                        <p:attrNameLst>
                                          <p:attrName>ppt_h</p:attrName>
                                        </p:attrNameLst>
                                      </p:cBhvr>
                                      <p:tavLst>
                                        <p:tav tm="0">
                                          <p:val>
                                            <p:fltVal val="0"/>
                                          </p:val>
                                        </p:tav>
                                        <p:tav tm="100000">
                                          <p:val>
                                            <p:strVal val="#ppt_h"/>
                                          </p:val>
                                        </p:tav>
                                      </p:tavLst>
                                    </p:anim>
                                    <p:anim calcmode="lin" valueType="num">
                                      <p:cBhvr>
                                        <p:cTn id="39" dur="1000" fill="hold"/>
                                        <p:tgtEl>
                                          <p:spTgt spid="3080"/>
                                        </p:tgtEl>
                                        <p:attrNameLst>
                                          <p:attrName>style.rotation</p:attrName>
                                        </p:attrNameLst>
                                      </p:cBhvr>
                                      <p:tavLst>
                                        <p:tav tm="0">
                                          <p:val>
                                            <p:fltVal val="90"/>
                                          </p:val>
                                        </p:tav>
                                        <p:tav tm="100000">
                                          <p:val>
                                            <p:fltVal val="0"/>
                                          </p:val>
                                        </p:tav>
                                      </p:tavLst>
                                    </p:anim>
                                    <p:animEffect transition="in" filter="fade">
                                      <p:cBhvr>
                                        <p:cTn id="40" dur="10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2CE9A1-5986-4983-993F-DD91D55B23AF}"/>
              </a:ext>
            </a:extLst>
          </p:cNvPr>
          <p:cNvSpPr>
            <a:spLocks noGrp="1"/>
          </p:cNvSpPr>
          <p:nvPr>
            <p:ph type="title"/>
          </p:nvPr>
        </p:nvSpPr>
        <p:spPr/>
        <p:txBody>
          <a:bodyPr/>
          <a:lstStyle/>
          <a:p>
            <a:endParaRPr lang="en-US"/>
          </a:p>
        </p:txBody>
      </p:sp>
      <p:sp>
        <p:nvSpPr>
          <p:cNvPr id="8" name="Content Placeholder 7">
            <a:extLst>
              <a:ext uri="{FF2B5EF4-FFF2-40B4-BE49-F238E27FC236}">
                <a16:creationId xmlns:a16="http://schemas.microsoft.com/office/drawing/2014/main" id="{18AEA170-5DF8-4526-8AD9-0E2C56A87D47}"/>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9287BE66-7046-4374-BCF4-60E86909F1B5}"/>
              </a:ext>
            </a:extLst>
          </p:cNvPr>
          <p:cNvPicPr>
            <a:picLocks noChangeAspect="1"/>
          </p:cNvPicPr>
          <p:nvPr/>
        </p:nvPicPr>
        <p:blipFill>
          <a:blip r:embed="rId2"/>
          <a:stretch>
            <a:fillRect/>
          </a:stretch>
        </p:blipFill>
        <p:spPr>
          <a:xfrm rot="10800000">
            <a:off x="0" y="0"/>
            <a:ext cx="12192000" cy="6858000"/>
          </a:xfrm>
          <a:prstGeom prst="rect">
            <a:avLst/>
          </a:prstGeom>
        </p:spPr>
      </p:pic>
      <p:sp>
        <p:nvSpPr>
          <p:cNvPr id="14" name="Rectangle 13">
            <a:extLst>
              <a:ext uri="{FF2B5EF4-FFF2-40B4-BE49-F238E27FC236}">
                <a16:creationId xmlns:a16="http://schemas.microsoft.com/office/drawing/2014/main" id="{88CAE210-133B-426A-86E7-90BB4FD99B0B}"/>
              </a:ext>
            </a:extLst>
          </p:cNvPr>
          <p:cNvSpPr/>
          <p:nvPr/>
        </p:nvSpPr>
        <p:spPr>
          <a:xfrm>
            <a:off x="7373798" y="5716144"/>
            <a:ext cx="4634144" cy="918559"/>
          </a:xfrm>
          <a:prstGeom prst="rect">
            <a:avLst/>
          </a:prstGeom>
          <a:solidFill>
            <a:schemeClr val="tx1"/>
          </a:solidFill>
          <a:ln w="571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solidFill>
                  <a:srgbClr val="FF9B2C"/>
                </a:solidFill>
              </a:rPr>
              <a:t>Jail: Up to 10 Years</a:t>
            </a:r>
          </a:p>
          <a:p>
            <a:pPr algn="ctr"/>
            <a:r>
              <a:rPr lang="en-GB" dirty="0">
                <a:solidFill>
                  <a:srgbClr val="FF9B2C"/>
                </a:solidFill>
              </a:rPr>
              <a:t>Fine: Unlimited</a:t>
            </a:r>
            <a:endParaRPr lang="en-US" dirty="0">
              <a:solidFill>
                <a:srgbClr val="FF9B2C"/>
              </a:solidFill>
            </a:endParaRPr>
          </a:p>
        </p:txBody>
      </p:sp>
      <p:pic>
        <p:nvPicPr>
          <p:cNvPr id="15" name="Picture 2" descr="Image result for Act icon">
            <a:extLst>
              <a:ext uri="{FF2B5EF4-FFF2-40B4-BE49-F238E27FC236}">
                <a16:creationId xmlns:a16="http://schemas.microsoft.com/office/drawing/2014/main" id="{46A55825-81CB-4AC7-BA8F-7C28BC3B3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175" y="2584405"/>
            <a:ext cx="3796790" cy="3796790"/>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a:extLst>
              <a:ext uri="{FF2B5EF4-FFF2-40B4-BE49-F238E27FC236}">
                <a16:creationId xmlns:a16="http://schemas.microsoft.com/office/drawing/2014/main" id="{081ACE0F-4155-4B3E-9A20-0CA2EC393D4D}"/>
              </a:ext>
            </a:extLst>
          </p:cNvPr>
          <p:cNvSpPr txBox="1">
            <a:spLocks/>
          </p:cNvSpPr>
          <p:nvPr/>
        </p:nvSpPr>
        <p:spPr>
          <a:xfrm>
            <a:off x="43309" y="18255"/>
            <a:ext cx="99042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solidFill>
                  <a:srgbClr val="00B0F0"/>
                </a:solidFill>
              </a:rPr>
              <a:t>The Computer Misuse: The 4 Main Offences</a:t>
            </a:r>
            <a:endParaRPr lang="en-US" sz="3600" dirty="0">
              <a:solidFill>
                <a:srgbClr val="00B0F0"/>
              </a:solidFill>
            </a:endParaRPr>
          </a:p>
        </p:txBody>
      </p:sp>
      <p:sp>
        <p:nvSpPr>
          <p:cNvPr id="17" name="Content Placeholder 2">
            <a:extLst>
              <a:ext uri="{FF2B5EF4-FFF2-40B4-BE49-F238E27FC236}">
                <a16:creationId xmlns:a16="http://schemas.microsoft.com/office/drawing/2014/main" id="{15DBA85F-6FC8-49C5-B3E9-DA23F8FA5297}"/>
              </a:ext>
            </a:extLst>
          </p:cNvPr>
          <p:cNvSpPr txBox="1">
            <a:spLocks/>
          </p:cNvSpPr>
          <p:nvPr/>
        </p:nvSpPr>
        <p:spPr>
          <a:xfrm>
            <a:off x="5979645" y="2872824"/>
            <a:ext cx="5860936" cy="260531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solidFill>
                  <a:srgbClr val="00B0F0"/>
                </a:solidFill>
              </a:rPr>
              <a:t>Creating virus’ or spyware, selling spyware or purchasing spyware</a:t>
            </a:r>
            <a:endParaRPr lang="en-US" sz="2400" dirty="0">
              <a:solidFill>
                <a:srgbClr val="00B0F0"/>
              </a:solidFill>
            </a:endParaRPr>
          </a:p>
        </p:txBody>
      </p:sp>
      <p:pic>
        <p:nvPicPr>
          <p:cNvPr id="19" name="Picture 8" descr="Related image">
            <a:extLst>
              <a:ext uri="{FF2B5EF4-FFF2-40B4-BE49-F238E27FC236}">
                <a16:creationId xmlns:a16="http://schemas.microsoft.com/office/drawing/2014/main" id="{627AB72F-0E5E-4594-A7A4-D0E179512478}"/>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4911" b="94643" l="4889" r="93778">
                        <a14:foregroundMark x1="43111" y1="39286" x2="43111" y2="34375"/>
                        <a14:foregroundMark x1="16444" y1="93304" x2="16000" y2="91518"/>
                        <a14:foregroundMark x1="7556" y1="83482" x2="6667" y2="83482"/>
                        <a14:foregroundMark x1="32444" y1="5357" x2="31556" y2="10714"/>
                        <a14:foregroundMark x1="92000" y1="16071" x2="92889" y2="16071"/>
                        <a14:foregroundMark x1="65778" y1="95089" x2="67111" y2="94643"/>
                        <a14:foregroundMark x1="6667" y1="14732" x2="6222" y2="14732"/>
                        <a14:foregroundMark x1="6667" y1="84375" x2="5333" y2="84375"/>
                        <a14:foregroundMark x1="91556" y1="84821" x2="93778" y2="84821"/>
                      </a14:backgroundRemoval>
                    </a14:imgEffect>
                    <a14:imgEffect>
                      <a14:sharpenSoften amount="-50000"/>
                    </a14:imgEffect>
                    <a14:imgEffect>
                      <a14:colorTemperature colorTemp="88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rot="20710396">
            <a:off x="7036446" y="5231929"/>
            <a:ext cx="736847" cy="733572"/>
          </a:xfrm>
          <a:prstGeom prst="rect">
            <a:avLst/>
          </a:prstGeom>
          <a:noFill/>
          <a:effectLst>
            <a:glow rad="25400">
              <a:srgbClr val="FF0000"/>
            </a:glow>
          </a:effectLst>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5AB2B0-98AB-4E12-ADAC-1582486E6053}"/>
              </a:ext>
            </a:extLst>
          </p:cNvPr>
          <p:cNvSpPr txBox="1"/>
          <p:nvPr/>
        </p:nvSpPr>
        <p:spPr>
          <a:xfrm>
            <a:off x="6096000" y="2133162"/>
            <a:ext cx="5609220" cy="646331"/>
          </a:xfrm>
          <a:prstGeom prst="rect">
            <a:avLst/>
          </a:prstGeom>
          <a:noFill/>
        </p:spPr>
        <p:txBody>
          <a:bodyPr wrap="square" rtlCol="0">
            <a:spAutoFit/>
          </a:bodyPr>
          <a:lstStyle/>
          <a:p>
            <a:r>
              <a:rPr lang="en-GB" b="1" dirty="0">
                <a:solidFill>
                  <a:srgbClr val="FF9929"/>
                </a:solidFill>
              </a:rPr>
              <a:t>Making, supplying or obtaining anything which could be used in computer misuse offences</a:t>
            </a:r>
          </a:p>
        </p:txBody>
      </p:sp>
      <p:pic>
        <p:nvPicPr>
          <p:cNvPr id="18" name="Picture 6" descr="Rendered Image">
            <a:extLst>
              <a:ext uri="{FF2B5EF4-FFF2-40B4-BE49-F238E27FC236}">
                <a16:creationId xmlns:a16="http://schemas.microsoft.com/office/drawing/2014/main" id="{BF6B4A69-58B1-4EB9-A3BD-592AC851EF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5650" y="1227492"/>
            <a:ext cx="4667250" cy="847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398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right)">
                                      <p:cBhvr>
                                        <p:cTn id="12" dur="500"/>
                                        <p:tgtEl>
                                          <p:spTgt spid="18"/>
                                        </p:tgtEl>
                                      </p:cBhvr>
                                    </p:animEffect>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1000"/>
                                        <p:tgtEl>
                                          <p:spTgt spid="20"/>
                                        </p:tgtEl>
                                      </p:cBhvr>
                                    </p:animEffect>
                                    <p:anim calcmode="lin" valueType="num">
                                      <p:cBhvr>
                                        <p:cTn id="17" dur="1000" fill="hold"/>
                                        <p:tgtEl>
                                          <p:spTgt spid="20"/>
                                        </p:tgtEl>
                                        <p:attrNameLst>
                                          <p:attrName>ppt_x</p:attrName>
                                        </p:attrNameLst>
                                      </p:cBhvr>
                                      <p:tavLst>
                                        <p:tav tm="0">
                                          <p:val>
                                            <p:strVal val="#ppt_x"/>
                                          </p:val>
                                        </p:tav>
                                        <p:tav tm="100000">
                                          <p:val>
                                            <p:strVal val="#ppt_x"/>
                                          </p:val>
                                        </p:tav>
                                      </p:tavLst>
                                    </p:anim>
                                    <p:anim calcmode="lin" valueType="num">
                                      <p:cBhvr>
                                        <p:cTn id="1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animEffect transition="in" filter="fade">
                                      <p:cBhvr>
                                        <p:cTn id="23" dur="500"/>
                                        <p:tgtEl>
                                          <p:spTgt spid="1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par>
                          <p:cTn id="29" fill="hold">
                            <p:stCondLst>
                              <p:cond delay="500"/>
                            </p:stCondLst>
                            <p:childTnLst>
                              <p:par>
                                <p:cTn id="30" presetID="31" presetClass="entr" presetSubtype="0" fill="hold" nodeType="after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p:cTn id="32" dur="1000" fill="hold"/>
                                        <p:tgtEl>
                                          <p:spTgt spid="19"/>
                                        </p:tgtEl>
                                        <p:attrNameLst>
                                          <p:attrName>ppt_w</p:attrName>
                                        </p:attrNameLst>
                                      </p:cBhvr>
                                      <p:tavLst>
                                        <p:tav tm="0">
                                          <p:val>
                                            <p:fltVal val="0"/>
                                          </p:val>
                                        </p:tav>
                                        <p:tav tm="100000">
                                          <p:val>
                                            <p:strVal val="#ppt_w"/>
                                          </p:val>
                                        </p:tav>
                                      </p:tavLst>
                                    </p:anim>
                                    <p:anim calcmode="lin" valueType="num">
                                      <p:cBhvr>
                                        <p:cTn id="33" dur="1000" fill="hold"/>
                                        <p:tgtEl>
                                          <p:spTgt spid="19"/>
                                        </p:tgtEl>
                                        <p:attrNameLst>
                                          <p:attrName>ppt_h</p:attrName>
                                        </p:attrNameLst>
                                      </p:cBhvr>
                                      <p:tavLst>
                                        <p:tav tm="0">
                                          <p:val>
                                            <p:fltVal val="0"/>
                                          </p:val>
                                        </p:tav>
                                        <p:tav tm="100000">
                                          <p:val>
                                            <p:strVal val="#ppt_h"/>
                                          </p:val>
                                        </p:tav>
                                      </p:tavLst>
                                    </p:anim>
                                    <p:anim calcmode="lin" valueType="num">
                                      <p:cBhvr>
                                        <p:cTn id="34" dur="1000" fill="hold"/>
                                        <p:tgtEl>
                                          <p:spTgt spid="19"/>
                                        </p:tgtEl>
                                        <p:attrNameLst>
                                          <p:attrName>style.rotation</p:attrName>
                                        </p:attrNameLst>
                                      </p:cBhvr>
                                      <p:tavLst>
                                        <p:tav tm="0">
                                          <p:val>
                                            <p:fltVal val="90"/>
                                          </p:val>
                                        </p:tav>
                                        <p:tav tm="100000">
                                          <p:val>
                                            <p:fltVal val="0"/>
                                          </p:val>
                                        </p:tav>
                                      </p:tavLst>
                                    </p:anim>
                                    <p:animEffect transition="in" filter="fade">
                                      <p:cBhvr>
                                        <p:cTn id="35"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build="p"/>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87CFF-A96B-4D32-AA69-DEDC50733168}"/>
              </a:ext>
            </a:extLst>
          </p:cNvPr>
          <p:cNvSpPr>
            <a:spLocks noGrp="1"/>
          </p:cNvSpPr>
          <p:nvPr>
            <p:ph type="title"/>
          </p:nvPr>
        </p:nvSpPr>
        <p:spPr>
          <a:xfrm>
            <a:off x="136451" y="83877"/>
            <a:ext cx="10515600" cy="1325563"/>
          </a:xfrm>
        </p:spPr>
        <p:txBody>
          <a:bodyPr/>
          <a:lstStyle/>
          <a:p>
            <a:r>
              <a:rPr lang="en-GB" dirty="0">
                <a:solidFill>
                  <a:srgbClr val="00B0F0"/>
                </a:solidFill>
              </a:rPr>
              <a:t>Hacking</a:t>
            </a:r>
            <a:endParaRPr lang="en-US" dirty="0">
              <a:solidFill>
                <a:srgbClr val="00B0F0"/>
              </a:solidFill>
            </a:endParaRPr>
          </a:p>
        </p:txBody>
      </p:sp>
      <p:sp>
        <p:nvSpPr>
          <p:cNvPr id="3" name="Content Placeholder 2">
            <a:extLst>
              <a:ext uri="{FF2B5EF4-FFF2-40B4-BE49-F238E27FC236}">
                <a16:creationId xmlns:a16="http://schemas.microsoft.com/office/drawing/2014/main" id="{B73841A4-D1DB-4A4E-B029-8C7A700B3219}"/>
              </a:ext>
            </a:extLst>
          </p:cNvPr>
          <p:cNvSpPr>
            <a:spLocks noGrp="1"/>
          </p:cNvSpPr>
          <p:nvPr>
            <p:ph idx="1"/>
          </p:nvPr>
        </p:nvSpPr>
        <p:spPr>
          <a:xfrm>
            <a:off x="136451" y="1843493"/>
            <a:ext cx="5816010" cy="4351338"/>
          </a:xfrm>
        </p:spPr>
        <p:txBody>
          <a:bodyPr/>
          <a:lstStyle/>
          <a:p>
            <a:r>
              <a:rPr lang="en-GB" dirty="0">
                <a:solidFill>
                  <a:srgbClr val="00B0F0"/>
                </a:solidFill>
              </a:rPr>
              <a:t>The act of intentionally accessing a computer system without consent</a:t>
            </a:r>
          </a:p>
          <a:p>
            <a:endParaRPr lang="en-GB" dirty="0">
              <a:solidFill>
                <a:srgbClr val="00B0F0"/>
              </a:solidFill>
            </a:endParaRPr>
          </a:p>
          <a:p>
            <a:r>
              <a:rPr lang="en-GB" dirty="0">
                <a:solidFill>
                  <a:srgbClr val="00B0F0"/>
                </a:solidFill>
              </a:rPr>
              <a:t>‘Hackers’ attempt to take control of a system by viewing, accessing or running programs from another persons computer without their permission</a:t>
            </a:r>
            <a:endParaRPr lang="en-US" dirty="0">
              <a:solidFill>
                <a:srgbClr val="00B0F0"/>
              </a:solidFill>
            </a:endParaRPr>
          </a:p>
        </p:txBody>
      </p:sp>
      <p:pic>
        <p:nvPicPr>
          <p:cNvPr id="4104" name="Picture 8" descr="Image result for hacking animated .gif">
            <a:extLst>
              <a:ext uri="{FF2B5EF4-FFF2-40B4-BE49-F238E27FC236}">
                <a16:creationId xmlns:a16="http://schemas.microsoft.com/office/drawing/2014/main" id="{BDACE0CA-7CEC-4A86-8023-94023771FB00}"/>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952461" y="3212693"/>
            <a:ext cx="6103088" cy="3432987"/>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FA3526E3-C01F-4A78-B8C8-73847F22B70E}"/>
              </a:ext>
            </a:extLst>
          </p:cNvPr>
          <p:cNvGrpSpPr/>
          <p:nvPr/>
        </p:nvGrpSpPr>
        <p:grpSpPr>
          <a:xfrm>
            <a:off x="8441714" y="212320"/>
            <a:ext cx="4405746" cy="1264209"/>
            <a:chOff x="7786254" y="365125"/>
            <a:chExt cx="4405746" cy="1264209"/>
          </a:xfrm>
        </p:grpSpPr>
        <p:pic>
          <p:nvPicPr>
            <p:cNvPr id="11" name="Content Placeholder 3">
              <a:extLst>
                <a:ext uri="{FF2B5EF4-FFF2-40B4-BE49-F238E27FC236}">
                  <a16:creationId xmlns:a16="http://schemas.microsoft.com/office/drawing/2014/main" id="{6548891B-3E06-4513-BF69-81895ACAFB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6254" y="365125"/>
              <a:ext cx="3666836" cy="1264209"/>
            </a:xfrm>
            <a:prstGeom prst="rect">
              <a:avLst/>
            </a:prstGeom>
          </p:spPr>
        </p:pic>
        <p:sp>
          <p:nvSpPr>
            <p:cNvPr id="12" name="TextBox 11">
              <a:extLst>
                <a:ext uri="{FF2B5EF4-FFF2-40B4-BE49-F238E27FC236}">
                  <a16:creationId xmlns:a16="http://schemas.microsoft.com/office/drawing/2014/main" id="{A9D440F4-946F-43D5-9F31-3A99655293D5}"/>
                </a:ext>
              </a:extLst>
            </p:cNvPr>
            <p:cNvSpPr txBox="1"/>
            <p:nvPr/>
          </p:nvSpPr>
          <p:spPr>
            <a:xfrm>
              <a:off x="7908758" y="614201"/>
              <a:ext cx="4283242" cy="707886"/>
            </a:xfrm>
            <a:prstGeom prst="rect">
              <a:avLst/>
            </a:prstGeom>
            <a:noFill/>
          </p:spPr>
          <p:txBody>
            <a:bodyPr wrap="square" rtlCol="0">
              <a:spAutoFit/>
            </a:bodyPr>
            <a:lstStyle/>
            <a:p>
              <a:pPr algn="ctr"/>
              <a:r>
                <a:rPr lang="en-GB" sz="2000" b="1" dirty="0">
                  <a:solidFill>
                    <a:schemeClr val="bg1"/>
                  </a:solidFill>
                  <a:latin typeface="Copperplate Gothic Light" panose="020E0507020206020404" pitchFamily="34" charset="0"/>
                </a:rPr>
                <a:t>Glossary </a:t>
              </a:r>
            </a:p>
            <a:p>
              <a:pPr algn="ctr"/>
              <a:r>
                <a:rPr lang="en-GB" sz="2000" b="1" dirty="0">
                  <a:solidFill>
                    <a:schemeClr val="bg1"/>
                  </a:solidFill>
                  <a:latin typeface="Copperplate Gothic Light" panose="020E0507020206020404" pitchFamily="34" charset="0"/>
                </a:rPr>
                <a:t>Item Added</a:t>
              </a:r>
              <a:endParaRPr lang="en-GB" sz="2000" dirty="0">
                <a:solidFill>
                  <a:schemeClr val="bg1"/>
                </a:solidFill>
                <a:latin typeface="Copperplate Gothic Light" panose="020E0507020206020404" pitchFamily="34" charset="0"/>
              </a:endParaRPr>
            </a:p>
          </p:txBody>
        </p:sp>
      </p:grpSp>
    </p:spTree>
    <p:extLst>
      <p:ext uri="{BB962C8B-B14F-4D97-AF65-F5344CB8AC3E}">
        <p14:creationId xmlns:p14="http://schemas.microsoft.com/office/powerpoint/2010/main" val="244569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500"/>
                            </p:stCondLst>
                            <p:childTnLst>
                              <p:par>
                                <p:cTn id="13" presetID="10" presetClass="exit" presetSubtype="0" fill="hold" nodeType="afterEffect">
                                  <p:stCondLst>
                                    <p:cond delay="4400"/>
                                  </p:stCondLst>
                                  <p:childTnLst>
                                    <p:animEffect transition="out" filter="fade">
                                      <p:cBhvr>
                                        <p:cTn id="14" dur="2000"/>
                                        <p:tgtEl>
                                          <p:spTgt spid="10"/>
                                        </p:tgtEl>
                                      </p:cBhvr>
                                    </p:animEffect>
                                    <p:set>
                                      <p:cBhvr>
                                        <p:cTn id="15" dur="1" fill="hold">
                                          <p:stCondLst>
                                            <p:cond delay="1999"/>
                                          </p:stCondLst>
                                        </p:cTn>
                                        <p:tgtEl>
                                          <p:spTgt spid="10"/>
                                        </p:tgtEl>
                                        <p:attrNameLst>
                                          <p:attrName>style.visibility</p:attrName>
                                        </p:attrNameLst>
                                      </p:cBhvr>
                                      <p:to>
                                        <p:strVal val="hidden"/>
                                      </p:to>
                                    </p:set>
                                  </p:childTnLst>
                                </p:cTn>
                              </p:par>
                              <p:par>
                                <p:cTn id="16" presetID="2" presetClass="exit" presetSubtype="2" fill="hold" nodeType="withEffect">
                                  <p:stCondLst>
                                    <p:cond delay="5000"/>
                                  </p:stCondLst>
                                  <p:childTnLst>
                                    <p:anim calcmode="lin" valueType="num">
                                      <p:cBhvr additive="base">
                                        <p:cTn id="17" dur="1000"/>
                                        <p:tgtEl>
                                          <p:spTgt spid="10"/>
                                        </p:tgtEl>
                                        <p:attrNameLst>
                                          <p:attrName>ppt_x</p:attrName>
                                        </p:attrNameLst>
                                      </p:cBhvr>
                                      <p:tavLst>
                                        <p:tav tm="0">
                                          <p:val>
                                            <p:strVal val="ppt_x"/>
                                          </p:val>
                                        </p:tav>
                                        <p:tav tm="100000">
                                          <p:val>
                                            <p:strVal val="1+ppt_w/2"/>
                                          </p:val>
                                        </p:tav>
                                      </p:tavLst>
                                    </p:anim>
                                    <p:anim calcmode="lin" valueType="num">
                                      <p:cBhvr additive="base">
                                        <p:cTn id="18" dur="1000"/>
                                        <p:tgtEl>
                                          <p:spTgt spid="10"/>
                                        </p:tgtEl>
                                        <p:attrNameLst>
                                          <p:attrName>ppt_y</p:attrName>
                                        </p:attrNameLst>
                                      </p:cBhvr>
                                      <p:tavLst>
                                        <p:tav tm="0">
                                          <p:val>
                                            <p:strVal val="ppt_y"/>
                                          </p:val>
                                        </p:tav>
                                        <p:tav tm="100000">
                                          <p:val>
                                            <p:strVal val="ppt_y"/>
                                          </p:val>
                                        </p:tav>
                                      </p:tavLst>
                                    </p:anim>
                                    <p:set>
                                      <p:cBhvr>
                                        <p:cTn id="19"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pic>
        <p:nvPicPr>
          <p:cNvPr id="9218" name="Picture 2" descr="Image result for HIV virus">
            <a:extLst>
              <a:ext uri="{FF2B5EF4-FFF2-40B4-BE49-F238E27FC236}">
                <a16:creationId xmlns:a16="http://schemas.microsoft.com/office/drawing/2014/main" id="{AB79B58B-D69A-4E4E-9A52-22B5BE3DB2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3731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9D81B27-9D5F-4B59-8E2D-9747C9A01503}"/>
              </a:ext>
            </a:extLst>
          </p:cNvPr>
          <p:cNvSpPr>
            <a:spLocks noGrp="1"/>
          </p:cNvSpPr>
          <p:nvPr>
            <p:ph idx="1"/>
          </p:nvPr>
        </p:nvSpPr>
        <p:spPr>
          <a:xfrm>
            <a:off x="212651" y="233916"/>
            <a:ext cx="4625163" cy="6411433"/>
          </a:xfrm>
          <a:solidFill>
            <a:srgbClr val="000000">
              <a:alpha val="80000"/>
            </a:srgbClr>
          </a:solidFill>
        </p:spPr>
        <p:txBody>
          <a:bodyPr/>
          <a:lstStyle/>
          <a:p>
            <a:endParaRPr lang="en-GB" dirty="0">
              <a:solidFill>
                <a:srgbClr val="00B0F0"/>
              </a:solidFill>
            </a:endParaRPr>
          </a:p>
          <a:p>
            <a:endParaRPr lang="en-GB" dirty="0">
              <a:solidFill>
                <a:srgbClr val="00B0F0"/>
              </a:solidFill>
            </a:endParaRPr>
          </a:p>
          <a:p>
            <a:pPr marL="0" indent="0">
              <a:buNone/>
            </a:pPr>
            <a:endParaRPr lang="en-GB" dirty="0">
              <a:solidFill>
                <a:srgbClr val="00B0F0"/>
              </a:solidFill>
            </a:endParaRPr>
          </a:p>
          <a:p>
            <a:r>
              <a:rPr lang="en-GB" dirty="0">
                <a:solidFill>
                  <a:srgbClr val="00B0F0"/>
                </a:solidFill>
              </a:rPr>
              <a:t>A program that has been designed to damage the operation of a computer automatically</a:t>
            </a:r>
          </a:p>
          <a:p>
            <a:endParaRPr lang="en-GB" dirty="0">
              <a:solidFill>
                <a:srgbClr val="00B0F0"/>
              </a:solidFill>
            </a:endParaRPr>
          </a:p>
          <a:p>
            <a:endParaRPr lang="en-GB" dirty="0">
              <a:solidFill>
                <a:srgbClr val="00B0F0"/>
              </a:solidFill>
            </a:endParaRPr>
          </a:p>
          <a:p>
            <a:r>
              <a:rPr lang="en-GB" dirty="0">
                <a:solidFill>
                  <a:srgbClr val="00B0F0"/>
                </a:solidFill>
              </a:rPr>
              <a:t>They can corrupt, erase or alter files and can slow down/crash computers</a:t>
            </a:r>
            <a:endParaRPr lang="en-US" dirty="0">
              <a:solidFill>
                <a:srgbClr val="00B0F0"/>
              </a:solidFill>
            </a:endParaRPr>
          </a:p>
        </p:txBody>
      </p:sp>
      <p:sp>
        <p:nvSpPr>
          <p:cNvPr id="2" name="Title 1">
            <a:extLst>
              <a:ext uri="{FF2B5EF4-FFF2-40B4-BE49-F238E27FC236}">
                <a16:creationId xmlns:a16="http://schemas.microsoft.com/office/drawing/2014/main" id="{E0407C68-C82E-4DB7-9988-0751145139A9}"/>
              </a:ext>
            </a:extLst>
          </p:cNvPr>
          <p:cNvSpPr>
            <a:spLocks noGrp="1"/>
          </p:cNvSpPr>
          <p:nvPr>
            <p:ph type="title"/>
          </p:nvPr>
        </p:nvSpPr>
        <p:spPr>
          <a:xfrm>
            <a:off x="212651" y="212651"/>
            <a:ext cx="4625163" cy="914400"/>
          </a:xfrm>
        </p:spPr>
        <p:txBody>
          <a:bodyPr/>
          <a:lstStyle/>
          <a:p>
            <a:pPr algn="ctr"/>
            <a:r>
              <a:rPr lang="en-GB" dirty="0">
                <a:solidFill>
                  <a:srgbClr val="00B0F0"/>
                </a:solidFill>
              </a:rPr>
              <a:t>Virus</a:t>
            </a:r>
            <a:endParaRPr lang="en-US" dirty="0">
              <a:solidFill>
                <a:srgbClr val="00B0F0"/>
              </a:solidFill>
            </a:endParaRPr>
          </a:p>
        </p:txBody>
      </p:sp>
      <p:cxnSp>
        <p:nvCxnSpPr>
          <p:cNvPr id="5" name="Straight Connector 4">
            <a:extLst>
              <a:ext uri="{FF2B5EF4-FFF2-40B4-BE49-F238E27FC236}">
                <a16:creationId xmlns:a16="http://schemas.microsoft.com/office/drawing/2014/main" id="{B00032EF-44C0-4514-99E3-539616F0382F}"/>
              </a:ext>
            </a:extLst>
          </p:cNvPr>
          <p:cNvCxnSpPr/>
          <p:nvPr/>
        </p:nvCxnSpPr>
        <p:spPr>
          <a:xfrm>
            <a:off x="520995" y="1201479"/>
            <a:ext cx="3880884"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9338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72C4-4522-4DC7-A60E-FAC0ED49104F}"/>
              </a:ext>
            </a:extLst>
          </p:cNvPr>
          <p:cNvSpPr>
            <a:spLocks noGrp="1"/>
          </p:cNvSpPr>
          <p:nvPr>
            <p:ph type="title"/>
          </p:nvPr>
        </p:nvSpPr>
        <p:spPr>
          <a:xfrm>
            <a:off x="4838247" y="355888"/>
            <a:ext cx="3114262" cy="1325563"/>
          </a:xfrm>
        </p:spPr>
        <p:txBody>
          <a:bodyPr/>
          <a:lstStyle/>
          <a:p>
            <a:r>
              <a:rPr lang="en-GB" dirty="0">
                <a:solidFill>
                  <a:srgbClr val="00B0F0"/>
                </a:solidFill>
              </a:rPr>
              <a:t>Spyware</a:t>
            </a:r>
            <a:endParaRPr lang="en-US" dirty="0">
              <a:solidFill>
                <a:srgbClr val="00B0F0"/>
              </a:solidFill>
            </a:endParaRPr>
          </a:p>
        </p:txBody>
      </p:sp>
      <p:sp>
        <p:nvSpPr>
          <p:cNvPr id="3" name="Content Placeholder 2">
            <a:extLst>
              <a:ext uri="{FF2B5EF4-FFF2-40B4-BE49-F238E27FC236}">
                <a16:creationId xmlns:a16="http://schemas.microsoft.com/office/drawing/2014/main" id="{0A0F0E13-8312-47FA-BF9B-0E31143C17D8}"/>
              </a:ext>
            </a:extLst>
          </p:cNvPr>
          <p:cNvSpPr>
            <a:spLocks noGrp="1"/>
          </p:cNvSpPr>
          <p:nvPr>
            <p:ph idx="1"/>
          </p:nvPr>
        </p:nvSpPr>
        <p:spPr>
          <a:xfrm>
            <a:off x="838200" y="4293703"/>
            <a:ext cx="10515600" cy="1883259"/>
          </a:xfrm>
        </p:spPr>
        <p:txBody>
          <a:bodyPr/>
          <a:lstStyle/>
          <a:p>
            <a:r>
              <a:rPr lang="en-GB" dirty="0">
                <a:solidFill>
                  <a:srgbClr val="00B0F0"/>
                </a:solidFill>
              </a:rPr>
              <a:t>Malicious software which is secretly installed on a users computer</a:t>
            </a:r>
          </a:p>
          <a:p>
            <a:r>
              <a:rPr lang="en-GB" dirty="0">
                <a:solidFill>
                  <a:srgbClr val="00B0F0"/>
                </a:solidFill>
              </a:rPr>
              <a:t>Uses an internet connection to send information back to hacker about the users activity</a:t>
            </a:r>
            <a:endParaRPr lang="en-US" dirty="0">
              <a:solidFill>
                <a:srgbClr val="00B0F0"/>
              </a:solidFill>
            </a:endParaRPr>
          </a:p>
        </p:txBody>
      </p:sp>
      <p:pic>
        <p:nvPicPr>
          <p:cNvPr id="1026" name="Picture 2" descr="Image result for spyware animated .gif">
            <a:extLst>
              <a:ext uri="{FF2B5EF4-FFF2-40B4-BE49-F238E27FC236}">
                <a16:creationId xmlns:a16="http://schemas.microsoft.com/office/drawing/2014/main" id="{07EF2051-F671-4401-89CA-06F69525F59B}"/>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921565" y="28852"/>
            <a:ext cx="8348870" cy="5009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610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par>
                          <p:cTn id="10" fill="hold">
                            <p:stCondLst>
                              <p:cond delay="500"/>
                            </p:stCondLst>
                            <p:childTnLst>
                              <p:par>
                                <p:cTn id="11" presetID="1" presetClass="entr" presetSubtype="0" fill="hold" grpId="1" nodeType="after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par>
                          <p:cTn id="13" fill="hold">
                            <p:stCondLst>
                              <p:cond delay="500"/>
                            </p:stCondLst>
                            <p:childTnLst>
                              <p:par>
                                <p:cTn id="14" presetID="42" presetClass="path" presetSubtype="0" accel="50000" decel="50000" fill="hold" grpId="0" nodeType="afterEffect">
                                  <p:stCondLst>
                                    <p:cond delay="0"/>
                                  </p:stCondLst>
                                  <p:childTnLst>
                                    <p:animMotion origin="layout" path="M 8.33333E-7 3.7037E-7 L 0.38008 -0.00023 " pathEditMode="relative" rAng="0" ptsTypes="AA">
                                      <p:cBhvr>
                                        <p:cTn id="15" dur="2000" fill="hold"/>
                                        <p:tgtEl>
                                          <p:spTgt spid="2"/>
                                        </p:tgtEl>
                                        <p:attrNameLst>
                                          <p:attrName>ppt_x</p:attrName>
                                          <p:attrName>ppt_y</p:attrName>
                                        </p:attrNameLst>
                                      </p:cBhvr>
                                      <p:rCtr x="18997" y="-23"/>
                                    </p:animMotion>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 calcmode="lin" valueType="num">
                                      <p:cBhvr additive="base">
                                        <p:cTn id="2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1" end="1"/>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pic>
        <p:nvPicPr>
          <p:cNvPr id="2050" name="Picture 2" descr="Image result for Phishing">
            <a:extLst>
              <a:ext uri="{FF2B5EF4-FFF2-40B4-BE49-F238E27FC236}">
                <a16:creationId xmlns:a16="http://schemas.microsoft.com/office/drawing/2014/main" id="{06F1F1BA-F752-418A-8C5C-A0CB48DEB5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120C329-1379-4B1D-96AA-F3C960B37CD5}"/>
              </a:ext>
            </a:extLst>
          </p:cNvPr>
          <p:cNvSpPr>
            <a:spLocks noGrp="1"/>
          </p:cNvSpPr>
          <p:nvPr>
            <p:ph type="title"/>
          </p:nvPr>
        </p:nvSpPr>
        <p:spPr>
          <a:xfrm>
            <a:off x="3985729" y="3241326"/>
            <a:ext cx="3852041" cy="1834056"/>
          </a:xfrm>
        </p:spPr>
        <p:txBody>
          <a:bodyPr vert="horz" lIns="91440" tIns="45720" rIns="91440" bIns="45720" rtlCol="0" anchor="b">
            <a:normAutofit/>
          </a:bodyPr>
          <a:lstStyle/>
          <a:p>
            <a:pPr algn="ctr"/>
            <a:r>
              <a:rPr lang="en-US" sz="4000" dirty="0"/>
              <a:t>Phishing</a:t>
            </a:r>
          </a:p>
        </p:txBody>
      </p:sp>
      <p:sp>
        <p:nvSpPr>
          <p:cNvPr id="3" name="Content Placeholder 2">
            <a:extLst>
              <a:ext uri="{FF2B5EF4-FFF2-40B4-BE49-F238E27FC236}">
                <a16:creationId xmlns:a16="http://schemas.microsoft.com/office/drawing/2014/main" id="{1802C279-4ECF-488F-965E-69A3C99D1883}"/>
              </a:ext>
            </a:extLst>
          </p:cNvPr>
          <p:cNvSpPr>
            <a:spLocks noGrp="1"/>
          </p:cNvSpPr>
          <p:nvPr>
            <p:ph idx="1"/>
          </p:nvPr>
        </p:nvSpPr>
        <p:spPr>
          <a:xfrm>
            <a:off x="7543800" y="1439918"/>
            <a:ext cx="4330262" cy="1124255"/>
          </a:xfrm>
        </p:spPr>
        <p:txBody>
          <a:bodyPr vert="horz" lIns="91440" tIns="45720" rIns="91440" bIns="45720" rtlCol="0">
            <a:normAutofit/>
          </a:bodyPr>
          <a:lstStyle/>
          <a:p>
            <a:pPr marL="0" indent="0" algn="ctr">
              <a:buNone/>
            </a:pPr>
            <a:r>
              <a:rPr lang="en-GB" sz="2400" dirty="0"/>
              <a:t>Attempting </a:t>
            </a:r>
            <a:r>
              <a:rPr lang="en-US" sz="2400" dirty="0"/>
              <a:t>to gain personal information about someone by deceiving them.</a:t>
            </a:r>
          </a:p>
        </p:txBody>
      </p:sp>
      <p:sp>
        <p:nvSpPr>
          <p:cNvPr id="4" name="TextBox 3">
            <a:extLst>
              <a:ext uri="{FF2B5EF4-FFF2-40B4-BE49-F238E27FC236}">
                <a16:creationId xmlns:a16="http://schemas.microsoft.com/office/drawing/2014/main" id="{DC1B8C26-1088-483F-B69D-7B16AA4EFB46}"/>
              </a:ext>
            </a:extLst>
          </p:cNvPr>
          <p:cNvSpPr txBox="1"/>
          <p:nvPr/>
        </p:nvSpPr>
        <p:spPr>
          <a:xfrm>
            <a:off x="0" y="230909"/>
            <a:ext cx="4507345" cy="2554545"/>
          </a:xfrm>
          <a:prstGeom prst="rect">
            <a:avLst/>
          </a:prstGeom>
          <a:noFill/>
        </p:spPr>
        <p:txBody>
          <a:bodyPr wrap="square" rtlCol="0">
            <a:spAutoFit/>
          </a:bodyPr>
          <a:lstStyle/>
          <a:p>
            <a:pPr marL="285750" indent="-285750">
              <a:buFont typeface="Arial" panose="020B0604020202020204" pitchFamily="34" charset="0"/>
              <a:buChar char="•"/>
            </a:pPr>
            <a:r>
              <a:rPr lang="en-GB" sz="2000" dirty="0"/>
              <a:t>Sending emails that appear to be from a reliable source</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These often ask to update their personal information by clicking on a hyperlink to a bogus website</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Used in identity theft</a:t>
            </a:r>
            <a:endParaRPr lang="en-US" sz="2000" dirty="0"/>
          </a:p>
        </p:txBody>
      </p:sp>
    </p:spTree>
    <p:extLst>
      <p:ext uri="{BB962C8B-B14F-4D97-AF65-F5344CB8AC3E}">
        <p14:creationId xmlns:p14="http://schemas.microsoft.com/office/powerpoint/2010/main" val="3314973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 calcmode="lin" valueType="num">
                                      <p:cBhvr additive="base">
                                        <p:cTn id="23"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 calcmode="lin" valueType="num">
                                      <p:cBhvr additive="base">
                                        <p:cTn id="29"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A62F-01D7-4A58-9937-50A1D7546380}"/>
              </a:ext>
            </a:extLst>
          </p:cNvPr>
          <p:cNvSpPr>
            <a:spLocks noGrp="1"/>
          </p:cNvSpPr>
          <p:nvPr>
            <p:ph type="title"/>
          </p:nvPr>
        </p:nvSpPr>
        <p:spPr>
          <a:xfrm rot="16200000">
            <a:off x="-2766219" y="2766217"/>
            <a:ext cx="6858001" cy="1325563"/>
          </a:xfrm>
          <a:solidFill>
            <a:schemeClr val="bg1">
              <a:lumMod val="85000"/>
            </a:schemeClr>
          </a:solidFill>
        </p:spPr>
        <p:txBody>
          <a:bodyPr/>
          <a:lstStyle/>
          <a:p>
            <a:pPr algn="ctr"/>
            <a:r>
              <a:rPr lang="en-GB" dirty="0"/>
              <a:t>Preventing Computer Misuse</a:t>
            </a:r>
            <a:endParaRPr lang="en-US" dirty="0"/>
          </a:p>
        </p:txBody>
      </p:sp>
      <p:sp>
        <p:nvSpPr>
          <p:cNvPr id="3" name="Content Placeholder 2">
            <a:extLst>
              <a:ext uri="{FF2B5EF4-FFF2-40B4-BE49-F238E27FC236}">
                <a16:creationId xmlns:a16="http://schemas.microsoft.com/office/drawing/2014/main" id="{77E1BD0E-FE30-459F-97A7-9231F7E25345}"/>
              </a:ext>
            </a:extLst>
          </p:cNvPr>
          <p:cNvSpPr>
            <a:spLocks noGrp="1"/>
          </p:cNvSpPr>
          <p:nvPr>
            <p:ph idx="1"/>
          </p:nvPr>
        </p:nvSpPr>
        <p:spPr>
          <a:xfrm>
            <a:off x="1559858" y="290456"/>
            <a:ext cx="10391888" cy="6282466"/>
          </a:xfrm>
        </p:spPr>
        <p:txBody>
          <a:bodyPr anchor="ctr">
            <a:normAutofit/>
          </a:bodyPr>
          <a:lstStyle/>
          <a:p>
            <a:pPr marL="0" indent="0">
              <a:buNone/>
            </a:pPr>
            <a:r>
              <a:rPr lang="en-GB" sz="4000" dirty="0">
                <a:solidFill>
                  <a:srgbClr val="00B050"/>
                </a:solidFill>
              </a:rPr>
              <a:t>We can protect ourselves against hackers by:</a:t>
            </a:r>
          </a:p>
          <a:p>
            <a:endParaRPr lang="en-GB" sz="4000" dirty="0">
              <a:solidFill>
                <a:srgbClr val="00B050"/>
              </a:solidFill>
            </a:endParaRPr>
          </a:p>
          <a:p>
            <a:r>
              <a:rPr lang="en-GB" sz="4000" dirty="0">
                <a:solidFill>
                  <a:srgbClr val="00B050"/>
                </a:solidFill>
              </a:rPr>
              <a:t>Complete Regular backups</a:t>
            </a:r>
          </a:p>
          <a:p>
            <a:r>
              <a:rPr lang="en-GB" sz="4000" dirty="0">
                <a:solidFill>
                  <a:srgbClr val="00B050"/>
                </a:solidFill>
              </a:rPr>
              <a:t>Use Antivirus software</a:t>
            </a:r>
          </a:p>
          <a:p>
            <a:r>
              <a:rPr lang="en-GB" sz="4000" dirty="0">
                <a:solidFill>
                  <a:srgbClr val="00B050"/>
                </a:solidFill>
              </a:rPr>
              <a:t>Use Strong passwords</a:t>
            </a:r>
          </a:p>
          <a:p>
            <a:r>
              <a:rPr lang="en-GB" sz="4000" dirty="0">
                <a:solidFill>
                  <a:srgbClr val="00B050"/>
                </a:solidFill>
              </a:rPr>
              <a:t>Be vigilant with suspicious/spam emails</a:t>
            </a:r>
            <a:endParaRPr lang="en-US" sz="4000" dirty="0">
              <a:solidFill>
                <a:srgbClr val="00B050"/>
              </a:solidFill>
            </a:endParaRPr>
          </a:p>
        </p:txBody>
      </p:sp>
    </p:spTree>
    <p:extLst>
      <p:ext uri="{BB962C8B-B14F-4D97-AF65-F5344CB8AC3E}">
        <p14:creationId xmlns:p14="http://schemas.microsoft.com/office/powerpoint/2010/main" val="2974222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A62F-01D7-4A58-9937-50A1D7546380}"/>
              </a:ext>
            </a:extLst>
          </p:cNvPr>
          <p:cNvSpPr>
            <a:spLocks noGrp="1"/>
          </p:cNvSpPr>
          <p:nvPr>
            <p:ph type="title"/>
          </p:nvPr>
        </p:nvSpPr>
        <p:spPr>
          <a:xfrm rot="16200000">
            <a:off x="-2766219" y="2766217"/>
            <a:ext cx="6858001" cy="1325563"/>
          </a:xfrm>
          <a:solidFill>
            <a:schemeClr val="bg1">
              <a:lumMod val="85000"/>
            </a:schemeClr>
          </a:solidFill>
        </p:spPr>
        <p:txBody>
          <a:bodyPr/>
          <a:lstStyle/>
          <a:p>
            <a:pPr algn="ctr"/>
            <a:r>
              <a:rPr lang="en-GB" dirty="0"/>
              <a:t>Issues with Prosecuting</a:t>
            </a:r>
            <a:endParaRPr lang="en-US" dirty="0"/>
          </a:p>
        </p:txBody>
      </p:sp>
      <p:sp>
        <p:nvSpPr>
          <p:cNvPr id="3" name="Content Placeholder 2">
            <a:extLst>
              <a:ext uri="{FF2B5EF4-FFF2-40B4-BE49-F238E27FC236}">
                <a16:creationId xmlns:a16="http://schemas.microsoft.com/office/drawing/2014/main" id="{77E1BD0E-FE30-459F-97A7-9231F7E25345}"/>
              </a:ext>
            </a:extLst>
          </p:cNvPr>
          <p:cNvSpPr>
            <a:spLocks noGrp="1"/>
          </p:cNvSpPr>
          <p:nvPr>
            <p:ph idx="1"/>
          </p:nvPr>
        </p:nvSpPr>
        <p:spPr>
          <a:xfrm>
            <a:off x="1559858" y="290456"/>
            <a:ext cx="10391888" cy="6282466"/>
          </a:xfrm>
        </p:spPr>
        <p:txBody>
          <a:bodyPr anchor="ctr">
            <a:normAutofit/>
          </a:bodyPr>
          <a:lstStyle/>
          <a:p>
            <a:pPr marL="0" indent="0">
              <a:buNone/>
            </a:pPr>
            <a:r>
              <a:rPr lang="en-GB" sz="4000" dirty="0">
                <a:solidFill>
                  <a:srgbClr val="00B050"/>
                </a:solidFill>
              </a:rPr>
              <a:t>Very few cases are filed under the computer misuse act due to:</a:t>
            </a:r>
          </a:p>
          <a:p>
            <a:pPr marL="0" indent="0">
              <a:buNone/>
            </a:pPr>
            <a:endParaRPr lang="en-GB" sz="4000" dirty="0">
              <a:solidFill>
                <a:srgbClr val="00B050"/>
              </a:solidFill>
            </a:endParaRPr>
          </a:p>
          <a:p>
            <a:r>
              <a:rPr lang="en-GB" sz="4000" dirty="0">
                <a:solidFill>
                  <a:srgbClr val="00B050"/>
                </a:solidFill>
              </a:rPr>
              <a:t>Hard to trace perpetrator</a:t>
            </a:r>
          </a:p>
          <a:p>
            <a:r>
              <a:rPr lang="en-GB" sz="4000" dirty="0">
                <a:solidFill>
                  <a:srgbClr val="00B050"/>
                </a:solidFill>
              </a:rPr>
              <a:t>Hard to collect evidence</a:t>
            </a:r>
          </a:p>
          <a:p>
            <a:r>
              <a:rPr lang="en-GB" sz="4000" dirty="0">
                <a:solidFill>
                  <a:srgbClr val="00B050"/>
                </a:solidFill>
              </a:rPr>
              <a:t>Seen as ‘soft crime’</a:t>
            </a:r>
          </a:p>
          <a:p>
            <a:r>
              <a:rPr lang="en-GB" sz="4000" dirty="0">
                <a:solidFill>
                  <a:srgbClr val="00B050"/>
                </a:solidFill>
              </a:rPr>
              <a:t>Difficult to prove intent</a:t>
            </a:r>
            <a:endParaRPr lang="en-US" sz="4000" dirty="0">
              <a:solidFill>
                <a:srgbClr val="00B050"/>
              </a:solidFill>
            </a:endParaRPr>
          </a:p>
        </p:txBody>
      </p:sp>
    </p:spTree>
    <p:extLst>
      <p:ext uri="{BB962C8B-B14F-4D97-AF65-F5344CB8AC3E}">
        <p14:creationId xmlns:p14="http://schemas.microsoft.com/office/powerpoint/2010/main" val="325736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BDB89-CB4B-4F2E-B44E-8556F1712CEB}"/>
              </a:ext>
            </a:extLst>
          </p:cNvPr>
          <p:cNvSpPr>
            <a:spLocks noGrp="1"/>
          </p:cNvSpPr>
          <p:nvPr>
            <p:ph type="title"/>
          </p:nvPr>
        </p:nvSpPr>
        <p:spPr/>
        <p:txBody>
          <a:bodyPr/>
          <a:lstStyle/>
          <a:p>
            <a:r>
              <a:rPr lang="en-GB" dirty="0">
                <a:solidFill>
                  <a:srgbClr val="00B0F0"/>
                </a:solidFill>
              </a:rPr>
              <a:t>Reminder: Key Terms</a:t>
            </a:r>
            <a:endParaRPr lang="en-US" dirty="0">
              <a:solidFill>
                <a:srgbClr val="00B0F0"/>
              </a:solidFill>
            </a:endParaRPr>
          </a:p>
        </p:txBody>
      </p:sp>
      <p:sp>
        <p:nvSpPr>
          <p:cNvPr id="3" name="Content Placeholder 2">
            <a:extLst>
              <a:ext uri="{FF2B5EF4-FFF2-40B4-BE49-F238E27FC236}">
                <a16:creationId xmlns:a16="http://schemas.microsoft.com/office/drawing/2014/main" id="{DE7B5ACE-84F6-4990-AC80-C6FDB6FC10B2}"/>
              </a:ext>
            </a:extLst>
          </p:cNvPr>
          <p:cNvSpPr>
            <a:spLocks noGrp="1"/>
          </p:cNvSpPr>
          <p:nvPr>
            <p:ph idx="1"/>
          </p:nvPr>
        </p:nvSpPr>
        <p:spPr>
          <a:xfrm>
            <a:off x="838200" y="1825625"/>
            <a:ext cx="10515600" cy="4820056"/>
          </a:xfrm>
        </p:spPr>
        <p:txBody>
          <a:bodyPr>
            <a:normAutofit fontScale="92500" lnSpcReduction="10000"/>
          </a:bodyPr>
          <a:lstStyle/>
          <a:p>
            <a:r>
              <a:rPr lang="en-GB" dirty="0">
                <a:solidFill>
                  <a:schemeClr val="bg1"/>
                </a:solidFill>
              </a:rPr>
              <a:t>Hacker</a:t>
            </a:r>
          </a:p>
          <a:p>
            <a:pPr lvl="1"/>
            <a:r>
              <a:rPr lang="en-GB" dirty="0">
                <a:solidFill>
                  <a:schemeClr val="bg1"/>
                </a:solidFill>
              </a:rPr>
              <a:t>A person/group involved in cyber crime. i.e. who access a computer system without permission in order to do damage </a:t>
            </a:r>
          </a:p>
          <a:p>
            <a:pPr lvl="1"/>
            <a:endParaRPr lang="en-GB" dirty="0">
              <a:solidFill>
                <a:schemeClr val="bg1"/>
              </a:solidFill>
            </a:endParaRPr>
          </a:p>
          <a:p>
            <a:r>
              <a:rPr lang="en-GB" dirty="0">
                <a:solidFill>
                  <a:schemeClr val="bg1"/>
                </a:solidFill>
              </a:rPr>
              <a:t>Virus</a:t>
            </a:r>
          </a:p>
          <a:p>
            <a:pPr lvl="1"/>
            <a:r>
              <a:rPr lang="en-GB" dirty="0">
                <a:solidFill>
                  <a:schemeClr val="bg1"/>
                </a:solidFill>
              </a:rPr>
              <a:t>A piece of software designed to disrupt the normal operation of a computer</a:t>
            </a:r>
          </a:p>
          <a:p>
            <a:pPr lvl="1"/>
            <a:endParaRPr lang="en-GB" dirty="0">
              <a:solidFill>
                <a:schemeClr val="bg1"/>
              </a:solidFill>
            </a:endParaRPr>
          </a:p>
          <a:p>
            <a:r>
              <a:rPr lang="en-GB" dirty="0">
                <a:solidFill>
                  <a:schemeClr val="bg1"/>
                </a:solidFill>
              </a:rPr>
              <a:t>Spyware</a:t>
            </a:r>
          </a:p>
          <a:p>
            <a:pPr lvl="1"/>
            <a:r>
              <a:rPr lang="en-GB" dirty="0">
                <a:solidFill>
                  <a:schemeClr val="bg1"/>
                </a:solidFill>
              </a:rPr>
              <a:t>Software that can steal data/information from a computer system</a:t>
            </a:r>
          </a:p>
          <a:p>
            <a:endParaRPr lang="en-GB" dirty="0">
              <a:solidFill>
                <a:schemeClr val="bg1"/>
              </a:solidFill>
            </a:endParaRPr>
          </a:p>
          <a:p>
            <a:r>
              <a:rPr lang="en-GB" dirty="0">
                <a:solidFill>
                  <a:schemeClr val="bg1"/>
                </a:solidFill>
              </a:rPr>
              <a:t>Piracy</a:t>
            </a:r>
          </a:p>
          <a:p>
            <a:pPr lvl="1"/>
            <a:r>
              <a:rPr lang="en-GB" dirty="0">
                <a:solidFill>
                  <a:schemeClr val="bg1"/>
                </a:solidFill>
              </a:rPr>
              <a:t>Illegally downloading information/data which you do not have permission to have</a:t>
            </a:r>
            <a:endParaRPr lang="en-US" dirty="0">
              <a:solidFill>
                <a:schemeClr val="bg1"/>
              </a:solidFill>
            </a:endParaRPr>
          </a:p>
        </p:txBody>
      </p:sp>
      <p:grpSp>
        <p:nvGrpSpPr>
          <p:cNvPr id="4" name="Group 3">
            <a:extLst>
              <a:ext uri="{FF2B5EF4-FFF2-40B4-BE49-F238E27FC236}">
                <a16:creationId xmlns:a16="http://schemas.microsoft.com/office/drawing/2014/main" id="{BDD709C4-0724-445F-88D0-554A17826830}"/>
              </a:ext>
            </a:extLst>
          </p:cNvPr>
          <p:cNvGrpSpPr/>
          <p:nvPr/>
        </p:nvGrpSpPr>
        <p:grpSpPr>
          <a:xfrm>
            <a:off x="8441714" y="212320"/>
            <a:ext cx="4405746" cy="1264209"/>
            <a:chOff x="7786254" y="365125"/>
            <a:chExt cx="4405746" cy="1264209"/>
          </a:xfrm>
        </p:grpSpPr>
        <p:pic>
          <p:nvPicPr>
            <p:cNvPr id="5" name="Content Placeholder 3">
              <a:extLst>
                <a:ext uri="{FF2B5EF4-FFF2-40B4-BE49-F238E27FC236}">
                  <a16:creationId xmlns:a16="http://schemas.microsoft.com/office/drawing/2014/main" id="{9E5CBAE2-51FA-43F5-AAC9-8381440A36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6254" y="365125"/>
              <a:ext cx="3666836" cy="1264209"/>
            </a:xfrm>
            <a:prstGeom prst="rect">
              <a:avLst/>
            </a:prstGeom>
          </p:spPr>
        </p:pic>
        <p:sp>
          <p:nvSpPr>
            <p:cNvPr id="6" name="TextBox 5">
              <a:extLst>
                <a:ext uri="{FF2B5EF4-FFF2-40B4-BE49-F238E27FC236}">
                  <a16:creationId xmlns:a16="http://schemas.microsoft.com/office/drawing/2014/main" id="{1185A063-A3FC-468F-A40D-034AAB1ADF46}"/>
                </a:ext>
              </a:extLst>
            </p:cNvPr>
            <p:cNvSpPr txBox="1"/>
            <p:nvPr/>
          </p:nvSpPr>
          <p:spPr>
            <a:xfrm>
              <a:off x="7908758" y="614201"/>
              <a:ext cx="4283242" cy="707886"/>
            </a:xfrm>
            <a:prstGeom prst="rect">
              <a:avLst/>
            </a:prstGeom>
            <a:noFill/>
          </p:spPr>
          <p:txBody>
            <a:bodyPr wrap="square" rtlCol="0">
              <a:spAutoFit/>
            </a:bodyPr>
            <a:lstStyle/>
            <a:p>
              <a:pPr algn="ctr"/>
              <a:r>
                <a:rPr lang="en-GB" sz="2000" b="1" dirty="0">
                  <a:solidFill>
                    <a:schemeClr val="bg1"/>
                  </a:solidFill>
                  <a:latin typeface="Copperplate Gothic Light" panose="020E0507020206020404" pitchFamily="34" charset="0"/>
                </a:rPr>
                <a:t>Glossary </a:t>
              </a:r>
            </a:p>
            <a:p>
              <a:pPr algn="ctr"/>
              <a:r>
                <a:rPr lang="en-GB" sz="2000" b="1" dirty="0">
                  <a:solidFill>
                    <a:schemeClr val="bg1"/>
                  </a:solidFill>
                  <a:latin typeface="Copperplate Gothic Light" panose="020E0507020206020404" pitchFamily="34" charset="0"/>
                </a:rPr>
                <a:t>Items Added</a:t>
              </a:r>
              <a:endParaRPr lang="en-GB" sz="2000" dirty="0">
                <a:solidFill>
                  <a:schemeClr val="bg1"/>
                </a:solidFill>
                <a:latin typeface="Copperplate Gothic Light" panose="020E0507020206020404" pitchFamily="34" charset="0"/>
              </a:endParaRPr>
            </a:p>
          </p:txBody>
        </p:sp>
      </p:grpSp>
    </p:spTree>
    <p:extLst>
      <p:ext uri="{BB962C8B-B14F-4D97-AF65-F5344CB8AC3E}">
        <p14:creationId xmlns:p14="http://schemas.microsoft.com/office/powerpoint/2010/main" val="3448828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500"/>
                            </p:stCondLst>
                            <p:childTnLst>
                              <p:par>
                                <p:cTn id="13" presetID="10" presetClass="exit" presetSubtype="0" fill="hold" nodeType="afterEffect">
                                  <p:stCondLst>
                                    <p:cond delay="4400"/>
                                  </p:stCondLst>
                                  <p:childTnLst>
                                    <p:animEffect transition="out" filter="fade">
                                      <p:cBhvr>
                                        <p:cTn id="14" dur="2000"/>
                                        <p:tgtEl>
                                          <p:spTgt spid="4"/>
                                        </p:tgtEl>
                                      </p:cBhvr>
                                    </p:animEffect>
                                    <p:set>
                                      <p:cBhvr>
                                        <p:cTn id="15" dur="1" fill="hold">
                                          <p:stCondLst>
                                            <p:cond delay="1999"/>
                                          </p:stCondLst>
                                        </p:cTn>
                                        <p:tgtEl>
                                          <p:spTgt spid="4"/>
                                        </p:tgtEl>
                                        <p:attrNameLst>
                                          <p:attrName>style.visibility</p:attrName>
                                        </p:attrNameLst>
                                      </p:cBhvr>
                                      <p:to>
                                        <p:strVal val="hidden"/>
                                      </p:to>
                                    </p:set>
                                  </p:childTnLst>
                                </p:cTn>
                              </p:par>
                              <p:par>
                                <p:cTn id="16" presetID="2" presetClass="exit" presetSubtype="2" fill="hold" nodeType="withEffect">
                                  <p:stCondLst>
                                    <p:cond delay="5000"/>
                                  </p:stCondLst>
                                  <p:childTnLst>
                                    <p:anim calcmode="lin" valueType="num">
                                      <p:cBhvr additive="base">
                                        <p:cTn id="17" dur="1000"/>
                                        <p:tgtEl>
                                          <p:spTgt spid="4"/>
                                        </p:tgtEl>
                                        <p:attrNameLst>
                                          <p:attrName>ppt_x</p:attrName>
                                        </p:attrNameLst>
                                      </p:cBhvr>
                                      <p:tavLst>
                                        <p:tav tm="0">
                                          <p:val>
                                            <p:strVal val="ppt_x"/>
                                          </p:val>
                                        </p:tav>
                                        <p:tav tm="100000">
                                          <p:val>
                                            <p:strVal val="1+ppt_w/2"/>
                                          </p:val>
                                        </p:tav>
                                      </p:tavLst>
                                    </p:anim>
                                    <p:anim calcmode="lin" valueType="num">
                                      <p:cBhvr additive="base">
                                        <p:cTn id="18" dur="1000"/>
                                        <p:tgtEl>
                                          <p:spTgt spid="4"/>
                                        </p:tgtEl>
                                        <p:attrNameLst>
                                          <p:attrName>ppt_y</p:attrName>
                                        </p:attrNameLst>
                                      </p:cBhvr>
                                      <p:tavLst>
                                        <p:tav tm="0">
                                          <p:val>
                                            <p:strVal val="ppt_y"/>
                                          </p:val>
                                        </p:tav>
                                        <p:tav tm="100000">
                                          <p:val>
                                            <p:strVal val="ppt_y"/>
                                          </p:val>
                                        </p:tav>
                                      </p:tavLst>
                                    </p:anim>
                                    <p:set>
                                      <p:cBhvr>
                                        <p:cTn id="19" dur="1" fill="hold">
                                          <p:stCondLst>
                                            <p:cond delay="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1294846"/>
            <a:ext cx="7782446" cy="1500579"/>
          </a:xfrm>
        </p:spPr>
        <p:txBody>
          <a:bodyPr>
            <a:normAutofit fontScale="90000"/>
          </a:bodyPr>
          <a:lstStyle/>
          <a:p>
            <a:r>
              <a:rPr lang="en-US" dirty="0">
                <a:solidFill>
                  <a:schemeClr val="bg1">
                    <a:lumMod val="85000"/>
                  </a:schemeClr>
                </a:solidFill>
              </a:rPr>
              <a:t>Health and Safety when working with ICT</a:t>
            </a:r>
          </a:p>
        </p:txBody>
      </p:sp>
    </p:spTree>
    <p:extLst>
      <p:ext uri="{BB962C8B-B14F-4D97-AF65-F5344CB8AC3E}">
        <p14:creationId xmlns:p14="http://schemas.microsoft.com/office/powerpoint/2010/main" val="260637729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4849216" y="5593478"/>
            <a:ext cx="7772400" cy="1223963"/>
          </a:xfrm>
        </p:spPr>
        <p:txBody>
          <a:bodyPr/>
          <a:lstStyle/>
          <a:p>
            <a:pPr algn="r"/>
            <a:r>
              <a:rPr lang="en-US" dirty="0" err="1">
                <a:solidFill>
                  <a:schemeClr val="bg1">
                    <a:lumMod val="85000"/>
                  </a:schemeClr>
                </a:solidFill>
              </a:rPr>
              <a:t>WALTer</a:t>
            </a:r>
            <a:endParaRPr lang="en-US" dirty="0">
              <a:solidFill>
                <a:schemeClr val="bg1">
                  <a:lumMod val="85000"/>
                </a:schemeClr>
              </a:solidFill>
            </a:endParaRPr>
          </a:p>
        </p:txBody>
      </p:sp>
      <p:sp>
        <p:nvSpPr>
          <p:cNvPr id="5" name="Rectangular Callout 4"/>
          <p:cNvSpPr/>
          <p:nvPr/>
        </p:nvSpPr>
        <p:spPr>
          <a:xfrm>
            <a:off x="2438402" y="274638"/>
            <a:ext cx="6753943" cy="3802435"/>
          </a:xfrm>
          <a:prstGeom prst="wedgeRectCallout">
            <a:avLst>
              <a:gd name="adj1" fmla="val 39579"/>
              <a:gd name="adj2" fmla="val 65533"/>
            </a:avLst>
          </a:prstGeom>
          <a:noFill/>
          <a:ln w="635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endParaRPr lang="en-GB" sz="2800" dirty="0"/>
          </a:p>
        </p:txBody>
      </p:sp>
      <p:pic>
        <p:nvPicPr>
          <p:cNvPr id="2" name="Content Placeholder 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112225" y="3510282"/>
            <a:ext cx="2495905" cy="3347719"/>
          </a:xfrm>
        </p:spPr>
      </p:pic>
      <p:sp>
        <p:nvSpPr>
          <p:cNvPr id="3" name="TextBox 2"/>
          <p:cNvSpPr txBox="1"/>
          <p:nvPr/>
        </p:nvSpPr>
        <p:spPr>
          <a:xfrm>
            <a:off x="2510408" y="406139"/>
            <a:ext cx="6897960" cy="3539430"/>
          </a:xfrm>
          <a:prstGeom prst="rect">
            <a:avLst/>
          </a:prstGeom>
          <a:noFill/>
        </p:spPr>
        <p:txBody>
          <a:bodyPr wrap="square" rtlCol="0">
            <a:spAutoFit/>
          </a:bodyPr>
          <a:lstStyle/>
          <a:p>
            <a:pPr marL="457200" indent="-457200">
              <a:buFont typeface="Arial" panose="020B0604020202020204" pitchFamily="34" charset="0"/>
              <a:buChar char="•"/>
            </a:pPr>
            <a:r>
              <a:rPr lang="en-GB" sz="2800" dirty="0">
                <a:solidFill>
                  <a:schemeClr val="bg1">
                    <a:lumMod val="85000"/>
                  </a:schemeClr>
                </a:solidFill>
              </a:rPr>
              <a:t>Identify the Health and Safety issues related to Digital Technology</a:t>
            </a:r>
          </a:p>
          <a:p>
            <a:pPr marL="457200" indent="-457200">
              <a:buFont typeface="Arial" panose="020B0604020202020204" pitchFamily="34" charset="0"/>
              <a:buChar char="•"/>
            </a:pPr>
            <a:endParaRPr lang="en-GB" sz="2800" dirty="0">
              <a:solidFill>
                <a:schemeClr val="bg1">
                  <a:lumMod val="85000"/>
                </a:schemeClr>
              </a:solidFill>
            </a:endParaRPr>
          </a:p>
          <a:p>
            <a:pPr marL="457200" indent="-457200">
              <a:buFont typeface="Arial" panose="020B0604020202020204" pitchFamily="34" charset="0"/>
              <a:buChar char="•"/>
            </a:pPr>
            <a:r>
              <a:rPr lang="en-GB" sz="2800" dirty="0">
                <a:solidFill>
                  <a:schemeClr val="bg1">
                    <a:lumMod val="85000"/>
                  </a:schemeClr>
                </a:solidFill>
              </a:rPr>
              <a:t>Apply your knowledge to suggest why these issues arise</a:t>
            </a:r>
          </a:p>
          <a:p>
            <a:pPr marL="457200" indent="-457200">
              <a:buFont typeface="Arial" panose="020B0604020202020204" pitchFamily="34" charset="0"/>
              <a:buChar char="•"/>
            </a:pPr>
            <a:endParaRPr lang="en-GB" sz="2800" dirty="0">
              <a:solidFill>
                <a:schemeClr val="bg1">
                  <a:lumMod val="85000"/>
                </a:schemeClr>
              </a:solidFill>
            </a:endParaRPr>
          </a:p>
          <a:p>
            <a:pPr marL="457200" indent="-457200">
              <a:buFont typeface="Arial" panose="020B0604020202020204" pitchFamily="34" charset="0"/>
              <a:buChar char="•"/>
            </a:pPr>
            <a:r>
              <a:rPr lang="en-GB" sz="2800" dirty="0">
                <a:solidFill>
                  <a:schemeClr val="bg1">
                    <a:lumMod val="85000"/>
                  </a:schemeClr>
                </a:solidFill>
              </a:rPr>
              <a:t>Offer a possible solution to eradicate or reduce these problems</a:t>
            </a:r>
          </a:p>
        </p:txBody>
      </p:sp>
    </p:spTree>
    <p:extLst>
      <p:ext uri="{BB962C8B-B14F-4D97-AF65-F5344CB8AC3E}">
        <p14:creationId xmlns:p14="http://schemas.microsoft.com/office/powerpoint/2010/main" val="27665530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29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122548" y="260648"/>
            <a:ext cx="5109328" cy="861142"/>
          </a:xfrm>
        </p:spPr>
        <p:txBody>
          <a:bodyPr>
            <a:normAutofit fontScale="90000"/>
          </a:bodyPr>
          <a:lstStyle/>
          <a:p>
            <a:r>
              <a:rPr lang="en-US" dirty="0">
                <a:solidFill>
                  <a:schemeClr val="bg1">
                    <a:lumMod val="85000"/>
                  </a:schemeClr>
                </a:solidFill>
              </a:rPr>
              <a:t>Poor Ergonomics</a:t>
            </a:r>
          </a:p>
        </p:txBody>
      </p:sp>
      <p:sp>
        <p:nvSpPr>
          <p:cNvPr id="5" name="Text Placeholder 4"/>
          <p:cNvSpPr>
            <a:spLocks noGrp="1"/>
          </p:cNvSpPr>
          <p:nvPr>
            <p:ph type="body" idx="1"/>
          </p:nvPr>
        </p:nvSpPr>
        <p:spPr>
          <a:xfrm>
            <a:off x="5591944" y="831774"/>
            <a:ext cx="5663660" cy="4613450"/>
          </a:xfrm>
        </p:spPr>
        <p:txBody>
          <a:bodyPr>
            <a:normAutofit/>
          </a:bodyPr>
          <a:lstStyle/>
          <a:p>
            <a:pPr marL="342900" indent="-342900">
              <a:buFont typeface="Arial" panose="020B0604020202020204" pitchFamily="34" charset="0"/>
              <a:buChar char="•"/>
            </a:pPr>
            <a:r>
              <a:rPr lang="en-US" cap="none" dirty="0">
                <a:solidFill>
                  <a:schemeClr val="bg1">
                    <a:lumMod val="85000"/>
                  </a:schemeClr>
                </a:solidFill>
              </a:rPr>
              <a:t>The science concerned with designing safe and </a:t>
            </a:r>
            <a:r>
              <a:rPr lang="en-US" cap="none" dirty="0">
                <a:solidFill>
                  <a:srgbClr val="009999"/>
                </a:solidFill>
              </a:rPr>
              <a:t>comfortable</a:t>
            </a:r>
            <a:r>
              <a:rPr lang="en-US" cap="none" dirty="0"/>
              <a:t> </a:t>
            </a:r>
            <a:r>
              <a:rPr lang="en-US" cap="none" dirty="0">
                <a:solidFill>
                  <a:schemeClr val="bg1">
                    <a:lumMod val="85000"/>
                  </a:schemeClr>
                </a:solidFill>
              </a:rPr>
              <a:t>hardware and office furniture for humans</a:t>
            </a:r>
          </a:p>
          <a:p>
            <a:pPr marL="342900" indent="-342900">
              <a:buFont typeface="Arial" panose="020B0604020202020204" pitchFamily="34" charset="0"/>
              <a:buChar char="•"/>
            </a:pPr>
            <a:endParaRPr lang="en-US" cap="none" dirty="0"/>
          </a:p>
          <a:p>
            <a:pPr marL="342900" indent="-342900">
              <a:buFont typeface="Arial" panose="020B0604020202020204" pitchFamily="34" charset="0"/>
              <a:buChar char="•"/>
            </a:pPr>
            <a:endParaRPr lang="en-US" cap="none" dirty="0"/>
          </a:p>
          <a:p>
            <a:pPr marL="342900" indent="-342900">
              <a:buFont typeface="Arial" panose="020B0604020202020204" pitchFamily="34" charset="0"/>
              <a:buChar char="•"/>
            </a:pPr>
            <a:r>
              <a:rPr lang="en-US" i="1" cap="none" dirty="0">
                <a:solidFill>
                  <a:schemeClr val="bg1">
                    <a:lumMod val="85000"/>
                  </a:schemeClr>
                </a:solidFill>
              </a:rPr>
              <a:t>What is wrong with this posture? </a:t>
            </a:r>
          </a:p>
          <a:p>
            <a:pPr marL="342900" indent="-342900">
              <a:buFont typeface="Arial" panose="020B0604020202020204" pitchFamily="34" charset="0"/>
              <a:buChar char="•"/>
            </a:pPr>
            <a:endParaRPr lang="en-US" i="1" cap="none" dirty="0">
              <a:solidFill>
                <a:schemeClr val="bg1">
                  <a:lumMod val="85000"/>
                </a:schemeClr>
              </a:solidFill>
            </a:endParaRPr>
          </a:p>
          <a:p>
            <a:pPr marL="342900" indent="-342900">
              <a:buFont typeface="Arial" panose="020B0604020202020204" pitchFamily="34" charset="0"/>
              <a:buChar char="•"/>
            </a:pPr>
            <a:r>
              <a:rPr lang="en-US" i="1" cap="none" dirty="0">
                <a:solidFill>
                  <a:schemeClr val="bg1">
                    <a:lumMod val="85000"/>
                  </a:schemeClr>
                </a:solidFill>
              </a:rPr>
              <a:t>TASK: Complete the Health and Safety Worksheet by suggesting what is wrong with the environment / ergonomics</a:t>
            </a:r>
            <a:endParaRPr lang="en-US" dirty="0">
              <a:solidFill>
                <a:schemeClr val="bg1">
                  <a:lumMod val="85000"/>
                </a:schemeClr>
              </a:solidFill>
            </a:endParaRPr>
          </a:p>
        </p:txBody>
      </p:sp>
      <p:pic>
        <p:nvPicPr>
          <p:cNvPr id="6" name="Picture 2" descr="https://i.kinja-img.com/gawker-media/image/upload/s--DpofeTg1--/c_scale,fl_progressive,q_80,w_800/18iy3ged5mvm4jpg.jpg"/>
          <p:cNvPicPr>
            <a:picLocks noChangeAspect="1" noChangeArrowheads="1"/>
          </p:cNvPicPr>
          <p:nvPr/>
        </p:nvPicPr>
        <p:blipFill rotWithShape="1">
          <a:blip r:embed="rId2">
            <a:extLst>
              <a:ext uri="{28A0092B-C50C-407E-A947-70E740481C1C}">
                <a14:useLocalDpi xmlns:a14="http://schemas.microsoft.com/office/drawing/2010/main" val="0"/>
              </a:ext>
            </a:extLst>
          </a:blip>
          <a:srcRect l="33538" r="35278"/>
          <a:stretch/>
        </p:blipFill>
        <p:spPr bwMode="auto">
          <a:xfrm>
            <a:off x="331200" y="1100585"/>
            <a:ext cx="4379345" cy="549444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i.kinja-img.com/gawker-media/image/upload/s--DpofeTg1--/c_scale,fl_progressive,q_80,w_800/18iy3ged5mvm4jpg.jpg"/>
          <p:cNvPicPr>
            <a:picLocks noChangeAspect="1" noChangeArrowheads="1"/>
          </p:cNvPicPr>
          <p:nvPr/>
        </p:nvPicPr>
        <p:blipFill rotWithShape="1">
          <a:blip r:embed="rId2">
            <a:extLst>
              <a:ext uri="{28A0092B-C50C-407E-A947-70E740481C1C}">
                <a14:useLocalDpi xmlns:a14="http://schemas.microsoft.com/office/drawing/2010/main" val="0"/>
              </a:ext>
            </a:extLst>
          </a:blip>
          <a:srcRect r="68815"/>
          <a:stretch/>
        </p:blipFill>
        <p:spPr bwMode="auto">
          <a:xfrm>
            <a:off x="331200" y="1100585"/>
            <a:ext cx="4379343" cy="5494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91567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50D9-A6A9-45D1-8BEB-279DAD512019}"/>
              </a:ext>
            </a:extLst>
          </p:cNvPr>
          <p:cNvSpPr>
            <a:spLocks noGrp="1"/>
          </p:cNvSpPr>
          <p:nvPr>
            <p:ph type="title"/>
          </p:nvPr>
        </p:nvSpPr>
        <p:spPr>
          <a:xfrm>
            <a:off x="537328" y="2573517"/>
            <a:ext cx="7852528" cy="1787878"/>
          </a:xfrm>
        </p:spPr>
        <p:txBody>
          <a:bodyPr>
            <a:normAutofit/>
          </a:bodyPr>
          <a:lstStyle/>
          <a:p>
            <a:pPr algn="just"/>
            <a:r>
              <a:rPr lang="en-GB" sz="3600" dirty="0">
                <a:solidFill>
                  <a:schemeClr val="bg1">
                    <a:lumMod val="85000"/>
                  </a:schemeClr>
                </a:solidFill>
              </a:rPr>
              <a:t>A danger or risk which is any source of </a:t>
            </a:r>
            <a:r>
              <a:rPr lang="en-GB" sz="3600" b="1" dirty="0">
                <a:solidFill>
                  <a:srgbClr val="00B0F0"/>
                </a:solidFill>
              </a:rPr>
              <a:t>potential</a:t>
            </a:r>
            <a:r>
              <a:rPr lang="en-GB" sz="3600" dirty="0">
                <a:solidFill>
                  <a:schemeClr val="bg1">
                    <a:lumMod val="85000"/>
                  </a:schemeClr>
                </a:solidFill>
              </a:rPr>
              <a:t> damage, harm or adverse health effects on something or someone.</a:t>
            </a:r>
            <a:endParaRPr lang="en-US" sz="3600" dirty="0">
              <a:solidFill>
                <a:schemeClr val="bg1">
                  <a:lumMod val="85000"/>
                </a:schemeClr>
              </a:solidFill>
            </a:endParaRPr>
          </a:p>
        </p:txBody>
      </p:sp>
      <p:sp>
        <p:nvSpPr>
          <p:cNvPr id="3" name="Text Placeholder 2">
            <a:extLst>
              <a:ext uri="{FF2B5EF4-FFF2-40B4-BE49-F238E27FC236}">
                <a16:creationId xmlns:a16="http://schemas.microsoft.com/office/drawing/2014/main" id="{8A931830-7B45-4468-BC34-E676ED041369}"/>
              </a:ext>
            </a:extLst>
          </p:cNvPr>
          <p:cNvSpPr>
            <a:spLocks noGrp="1"/>
          </p:cNvSpPr>
          <p:nvPr>
            <p:ph type="body" idx="1"/>
          </p:nvPr>
        </p:nvSpPr>
        <p:spPr>
          <a:xfrm>
            <a:off x="4263207" y="4540505"/>
            <a:ext cx="4126649" cy="783814"/>
          </a:xfrm>
        </p:spPr>
        <p:txBody>
          <a:bodyPr>
            <a:noAutofit/>
          </a:bodyPr>
          <a:lstStyle/>
          <a:p>
            <a:pPr algn="r"/>
            <a:r>
              <a:rPr lang="en-GB" sz="3600" dirty="0"/>
              <a:t>Definition: Hazard</a:t>
            </a:r>
            <a:endParaRPr lang="en-US" sz="3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6348" y="221873"/>
            <a:ext cx="6079158" cy="6079158"/>
          </a:xfrm>
          <a:prstGeom prst="rect">
            <a:avLst/>
          </a:prstGeom>
        </p:spPr>
      </p:pic>
      <p:sp>
        <p:nvSpPr>
          <p:cNvPr id="5" name="Rectangle 4"/>
          <p:cNvSpPr/>
          <p:nvPr/>
        </p:nvSpPr>
        <p:spPr>
          <a:xfrm flipV="1">
            <a:off x="622169" y="4386131"/>
            <a:ext cx="7767687" cy="45719"/>
          </a:xfrm>
          <a:prstGeom prst="rect">
            <a:avLst/>
          </a:prstGeom>
          <a:solidFill>
            <a:srgbClr val="AD0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8690184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rot="5400000">
            <a:off x="6847655" y="2776738"/>
            <a:ext cx="6705600" cy="1152127"/>
          </a:xfrm>
        </p:spPr>
        <p:txBody>
          <a:bodyPr>
            <a:normAutofit/>
          </a:bodyPr>
          <a:lstStyle/>
          <a:p>
            <a:r>
              <a:rPr lang="en-GB" sz="4800" dirty="0">
                <a:solidFill>
                  <a:srgbClr val="00B0F0"/>
                </a:solidFill>
                <a:effectLst>
                  <a:outerShdw blurRad="38100" dist="38100" dir="2700000" algn="tl">
                    <a:srgbClr val="000000">
                      <a:alpha val="43137"/>
                    </a:srgbClr>
                  </a:outerShdw>
                </a:effectLst>
              </a:rPr>
              <a:t>THE IDEAL SETUP</a:t>
            </a:r>
          </a:p>
        </p:txBody>
      </p:sp>
      <p:sp>
        <p:nvSpPr>
          <p:cNvPr id="3" name="Text Placeholder 2"/>
          <p:cNvSpPr>
            <a:spLocks noGrp="1"/>
          </p:cNvSpPr>
          <p:nvPr>
            <p:ph type="body" idx="1"/>
          </p:nvPr>
        </p:nvSpPr>
        <p:spPr/>
        <p:txBody>
          <a:bodyPr/>
          <a:lstStyle/>
          <a:p>
            <a:endParaRPr lang="en-GB"/>
          </a:p>
        </p:txBody>
      </p:sp>
      <p:pic>
        <p:nvPicPr>
          <p:cNvPr id="2054" name="Picture 6" descr="https://scontent.flhr4-1.fna.fbcdn.net/v/t34.0-12/22156871_1424654007583459_1564398988_n.jpg?oh=35ed7996d0ded132bee26bad2c5b9e8b&amp;oe=59D2C129"/>
          <p:cNvPicPr>
            <a:picLocks noChangeAspect="1" noChangeArrowheads="1"/>
          </p:cNvPicPr>
          <p:nvPr/>
        </p:nvPicPr>
        <p:blipFill rotWithShape="1">
          <a:blip r:embed="rId2">
            <a:duotone>
              <a:prstClr val="black"/>
              <a:schemeClr val="tx2">
                <a:lumMod val="40000"/>
                <a:lumOff val="60000"/>
                <a:tint val="45000"/>
                <a:satMod val="400000"/>
              </a:schemeClr>
            </a:duotone>
            <a:extLst>
              <a:ext uri="{28A0092B-C50C-407E-A947-70E740481C1C}">
                <a14:useLocalDpi xmlns:a14="http://schemas.microsoft.com/office/drawing/2010/main" val="0"/>
              </a:ext>
            </a:extLst>
          </a:blip>
          <a:srcRect l="31295" t="25536" r="10390" b="5040"/>
          <a:stretch/>
        </p:blipFill>
        <p:spPr bwMode="auto">
          <a:xfrm rot="5400000">
            <a:off x="1844649" y="401782"/>
            <a:ext cx="6774513" cy="6048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57665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54"/>
                                        </p:tgtEl>
                                        <p:attrNameLst>
                                          <p:attrName>style.visibility</p:attrName>
                                        </p:attrNameLst>
                                      </p:cBhvr>
                                      <p:to>
                                        <p:strVal val="visible"/>
                                      </p:to>
                                    </p:set>
                                    <p:animEffect transition="in" filter="fade">
                                      <p:cBhvr>
                                        <p:cTn id="7"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1" y="1701797"/>
            <a:ext cx="7772400" cy="5039571"/>
          </a:xfrm>
        </p:spPr>
        <p:txBody>
          <a:bodyPr>
            <a:normAutofit fontScale="92500" lnSpcReduction="10000"/>
          </a:bodyPr>
          <a:lstStyle/>
          <a:p>
            <a:r>
              <a:rPr lang="en-GB" dirty="0">
                <a:solidFill>
                  <a:schemeClr val="bg1">
                    <a:lumMod val="85000"/>
                  </a:schemeClr>
                </a:solidFill>
              </a:rPr>
              <a:t>Repetitive Strain Injury (RSI) is a range of conditions, and can affect:</a:t>
            </a:r>
          </a:p>
          <a:p>
            <a:pPr lvl="3"/>
            <a:r>
              <a:rPr lang="en-GB" dirty="0">
                <a:solidFill>
                  <a:schemeClr val="bg1">
                    <a:lumMod val="85000"/>
                  </a:schemeClr>
                </a:solidFill>
              </a:rPr>
              <a:t>The Neck</a:t>
            </a:r>
          </a:p>
          <a:p>
            <a:pPr lvl="3"/>
            <a:r>
              <a:rPr lang="en-GB" dirty="0">
                <a:solidFill>
                  <a:schemeClr val="bg1">
                    <a:lumMod val="85000"/>
                  </a:schemeClr>
                </a:solidFill>
              </a:rPr>
              <a:t>Shoulders</a:t>
            </a:r>
          </a:p>
          <a:p>
            <a:pPr lvl="3"/>
            <a:r>
              <a:rPr lang="en-GB" dirty="0">
                <a:solidFill>
                  <a:schemeClr val="bg1">
                    <a:lumMod val="85000"/>
                  </a:schemeClr>
                </a:solidFill>
              </a:rPr>
              <a:t>Arms</a:t>
            </a:r>
          </a:p>
          <a:p>
            <a:pPr lvl="3"/>
            <a:r>
              <a:rPr lang="en-GB" dirty="0">
                <a:solidFill>
                  <a:schemeClr val="bg1">
                    <a:lumMod val="85000"/>
                  </a:schemeClr>
                </a:solidFill>
              </a:rPr>
              <a:t>Hands/Fingers</a:t>
            </a:r>
          </a:p>
          <a:p>
            <a:r>
              <a:rPr lang="en-GB" dirty="0">
                <a:solidFill>
                  <a:schemeClr val="bg1">
                    <a:lumMod val="85000"/>
                  </a:schemeClr>
                </a:solidFill>
              </a:rPr>
              <a:t>What Causes RSI?</a:t>
            </a:r>
          </a:p>
          <a:p>
            <a:pPr lvl="3"/>
            <a:r>
              <a:rPr lang="en-GB" dirty="0">
                <a:solidFill>
                  <a:schemeClr val="bg1">
                    <a:lumMod val="85000"/>
                  </a:schemeClr>
                </a:solidFill>
              </a:rPr>
              <a:t>Repetitive actions, such as working on a keyboard all day</a:t>
            </a:r>
          </a:p>
          <a:p>
            <a:pPr lvl="3"/>
            <a:r>
              <a:rPr lang="en-GB" dirty="0">
                <a:solidFill>
                  <a:schemeClr val="bg1">
                    <a:lumMod val="85000"/>
                  </a:schemeClr>
                </a:solidFill>
              </a:rPr>
              <a:t>Using controller for extended periods</a:t>
            </a:r>
          </a:p>
          <a:p>
            <a:pPr lvl="3"/>
            <a:r>
              <a:rPr lang="en-GB" dirty="0">
                <a:solidFill>
                  <a:schemeClr val="bg1">
                    <a:lumMod val="85000"/>
                  </a:schemeClr>
                </a:solidFill>
              </a:rPr>
              <a:t>Can result in Carpal Tunnel Syndrome (A condition in the wrists)</a:t>
            </a:r>
          </a:p>
          <a:p>
            <a:r>
              <a:rPr lang="en-GB" dirty="0">
                <a:solidFill>
                  <a:schemeClr val="bg1">
                    <a:lumMod val="85000"/>
                  </a:schemeClr>
                </a:solidFill>
              </a:rPr>
              <a:t>Reduction of RSI</a:t>
            </a:r>
          </a:p>
          <a:p>
            <a:pPr lvl="3"/>
            <a:r>
              <a:rPr lang="en-GB" dirty="0">
                <a:solidFill>
                  <a:schemeClr val="bg1">
                    <a:lumMod val="85000"/>
                  </a:schemeClr>
                </a:solidFill>
              </a:rPr>
              <a:t>Taking regular breaks</a:t>
            </a:r>
          </a:p>
          <a:p>
            <a:pPr lvl="3"/>
            <a:r>
              <a:rPr lang="en-GB" dirty="0">
                <a:solidFill>
                  <a:schemeClr val="bg1">
                    <a:lumMod val="85000"/>
                  </a:schemeClr>
                </a:solidFill>
              </a:rPr>
              <a:t>Using ergonomically designed products (such as keyboards, mouse and foot stools)</a:t>
            </a:r>
          </a:p>
          <a:p>
            <a:pPr lvl="3"/>
            <a:r>
              <a:rPr lang="en-GB" dirty="0">
                <a:solidFill>
                  <a:schemeClr val="bg1">
                    <a:lumMod val="85000"/>
                  </a:schemeClr>
                </a:solidFill>
              </a:rPr>
              <a:t>Use appropriate furniture (such as adjustable swivel chair)</a:t>
            </a:r>
          </a:p>
          <a:p>
            <a:pPr lvl="3"/>
            <a:r>
              <a:rPr lang="en-GB" dirty="0">
                <a:solidFill>
                  <a:schemeClr val="bg1">
                    <a:lumMod val="85000"/>
                  </a:schemeClr>
                </a:solidFill>
              </a:rPr>
              <a:t>Use an arm rest to avoid carpel tunnel</a:t>
            </a:r>
          </a:p>
          <a:p>
            <a:pPr lvl="3"/>
            <a:endParaRPr lang="en-GB" dirty="0">
              <a:solidFill>
                <a:schemeClr val="bg1">
                  <a:lumMod val="85000"/>
                </a:schemeClr>
              </a:solidFill>
            </a:endParaRPr>
          </a:p>
        </p:txBody>
      </p:sp>
      <p:sp>
        <p:nvSpPr>
          <p:cNvPr id="4" name="Title 3"/>
          <p:cNvSpPr>
            <a:spLocks noGrp="1"/>
          </p:cNvSpPr>
          <p:nvPr>
            <p:ph type="title"/>
          </p:nvPr>
        </p:nvSpPr>
        <p:spPr/>
        <p:txBody>
          <a:bodyPr/>
          <a:lstStyle/>
          <a:p>
            <a:r>
              <a:rPr lang="en-GB" dirty="0">
                <a:solidFill>
                  <a:schemeClr val="bg1">
                    <a:lumMod val="85000"/>
                  </a:schemeClr>
                </a:solidFill>
              </a:rPr>
              <a:t>Repetitive Strain Injury</a:t>
            </a:r>
          </a:p>
        </p:txBody>
      </p:sp>
    </p:spTree>
    <p:extLst>
      <p:ext uri="{BB962C8B-B14F-4D97-AF65-F5344CB8AC3E}">
        <p14:creationId xmlns:p14="http://schemas.microsoft.com/office/powerpoint/2010/main" val="42296113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1" y="1701797"/>
            <a:ext cx="7772400" cy="5039571"/>
          </a:xfrm>
        </p:spPr>
        <p:txBody>
          <a:bodyPr/>
          <a:lstStyle/>
          <a:p>
            <a:r>
              <a:rPr lang="en-GB" dirty="0">
                <a:solidFill>
                  <a:schemeClr val="bg1">
                    <a:lumMod val="85000"/>
                  </a:schemeClr>
                </a:solidFill>
              </a:rPr>
              <a:t>This is a common problem which has been related to poor posture</a:t>
            </a:r>
          </a:p>
          <a:p>
            <a:pPr lvl="3"/>
            <a:r>
              <a:rPr lang="en-GB" dirty="0">
                <a:solidFill>
                  <a:schemeClr val="bg1">
                    <a:lumMod val="85000"/>
                  </a:schemeClr>
                </a:solidFill>
              </a:rPr>
              <a:t>Sitting at a PC all day without breaks, and with incorrect seating position</a:t>
            </a:r>
          </a:p>
          <a:p>
            <a:r>
              <a:rPr lang="en-GB" dirty="0">
                <a:solidFill>
                  <a:schemeClr val="bg1">
                    <a:lumMod val="85000"/>
                  </a:schemeClr>
                </a:solidFill>
              </a:rPr>
              <a:t>Possibly lead to mobility problems</a:t>
            </a:r>
          </a:p>
          <a:p>
            <a:r>
              <a:rPr lang="en-GB" dirty="0">
                <a:solidFill>
                  <a:schemeClr val="bg1">
                    <a:lumMod val="85000"/>
                  </a:schemeClr>
                </a:solidFill>
              </a:rPr>
              <a:t>Reduction of Back Problems</a:t>
            </a:r>
          </a:p>
          <a:p>
            <a:pPr lvl="4"/>
            <a:r>
              <a:rPr lang="en-GB" dirty="0">
                <a:solidFill>
                  <a:schemeClr val="bg1">
                    <a:lumMod val="85000"/>
                  </a:schemeClr>
                </a:solidFill>
              </a:rPr>
              <a:t>Use an adjustable chair (tilting, adjustable height) – one that supports your back</a:t>
            </a:r>
          </a:p>
          <a:p>
            <a:pPr lvl="4"/>
            <a:r>
              <a:rPr lang="en-GB" dirty="0">
                <a:solidFill>
                  <a:schemeClr val="bg1">
                    <a:lumMod val="85000"/>
                  </a:schemeClr>
                </a:solidFill>
              </a:rPr>
              <a:t>Taking regular breaks</a:t>
            </a:r>
          </a:p>
          <a:p>
            <a:pPr lvl="4"/>
            <a:r>
              <a:rPr lang="en-GB" dirty="0">
                <a:solidFill>
                  <a:schemeClr val="bg1">
                    <a:lumMod val="85000"/>
                  </a:schemeClr>
                </a:solidFill>
              </a:rPr>
              <a:t>Regularly exercising (walking/</a:t>
            </a:r>
            <a:r>
              <a:rPr lang="en-GB" dirty="0" err="1">
                <a:solidFill>
                  <a:schemeClr val="bg1">
                    <a:lumMod val="85000"/>
                  </a:schemeClr>
                </a:solidFill>
              </a:rPr>
              <a:t>etc</a:t>
            </a:r>
            <a:r>
              <a:rPr lang="en-GB" dirty="0">
                <a:solidFill>
                  <a:schemeClr val="bg1">
                    <a:lumMod val="85000"/>
                  </a:schemeClr>
                </a:solidFill>
              </a:rPr>
              <a:t> during break)</a:t>
            </a:r>
          </a:p>
          <a:p>
            <a:pPr lvl="4"/>
            <a:r>
              <a:rPr lang="en-GB" dirty="0">
                <a:solidFill>
                  <a:schemeClr val="bg1">
                    <a:lumMod val="85000"/>
                  </a:schemeClr>
                </a:solidFill>
              </a:rPr>
              <a:t>Ensure posture is correct when seated</a:t>
            </a:r>
          </a:p>
          <a:p>
            <a:pPr lvl="4"/>
            <a:endParaRPr lang="en-GB" dirty="0">
              <a:solidFill>
                <a:schemeClr val="bg1">
                  <a:lumMod val="85000"/>
                </a:schemeClr>
              </a:solidFill>
            </a:endParaRPr>
          </a:p>
          <a:p>
            <a:pPr marL="0" indent="0">
              <a:buNone/>
            </a:pPr>
            <a:endParaRPr lang="en-GB" dirty="0">
              <a:solidFill>
                <a:schemeClr val="bg1">
                  <a:lumMod val="85000"/>
                </a:schemeClr>
              </a:solidFill>
            </a:endParaRPr>
          </a:p>
        </p:txBody>
      </p:sp>
      <p:sp>
        <p:nvSpPr>
          <p:cNvPr id="4" name="Title 3"/>
          <p:cNvSpPr>
            <a:spLocks noGrp="1"/>
          </p:cNvSpPr>
          <p:nvPr>
            <p:ph type="title"/>
          </p:nvPr>
        </p:nvSpPr>
        <p:spPr/>
        <p:txBody>
          <a:bodyPr/>
          <a:lstStyle/>
          <a:p>
            <a:r>
              <a:rPr lang="en-GB" dirty="0">
                <a:solidFill>
                  <a:schemeClr val="bg1">
                    <a:lumMod val="85000"/>
                  </a:schemeClr>
                </a:solidFill>
              </a:rPr>
              <a:t>Back Pain</a:t>
            </a:r>
          </a:p>
        </p:txBody>
      </p:sp>
    </p:spTree>
    <p:extLst>
      <p:ext uri="{BB962C8B-B14F-4D97-AF65-F5344CB8AC3E}">
        <p14:creationId xmlns:p14="http://schemas.microsoft.com/office/powerpoint/2010/main" val="417790431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1" y="1701797"/>
            <a:ext cx="7772400" cy="5039571"/>
          </a:xfrm>
        </p:spPr>
        <p:txBody>
          <a:bodyPr/>
          <a:lstStyle/>
          <a:p>
            <a:r>
              <a:rPr lang="en-GB" dirty="0">
                <a:solidFill>
                  <a:schemeClr val="bg1">
                    <a:lumMod val="85000"/>
                  </a:schemeClr>
                </a:solidFill>
              </a:rPr>
              <a:t>This is a common problem caused by over-exposure to computer/digital screens</a:t>
            </a:r>
          </a:p>
          <a:p>
            <a:r>
              <a:rPr lang="en-GB" dirty="0">
                <a:solidFill>
                  <a:schemeClr val="bg1">
                    <a:lumMod val="85000"/>
                  </a:schemeClr>
                </a:solidFill>
              </a:rPr>
              <a:t>Can cause headaches, blurred vision, and bad eyesight</a:t>
            </a:r>
          </a:p>
          <a:p>
            <a:r>
              <a:rPr lang="en-GB" dirty="0">
                <a:solidFill>
                  <a:schemeClr val="bg1">
                    <a:lumMod val="85000"/>
                  </a:schemeClr>
                </a:solidFill>
              </a:rPr>
              <a:t>Reduction of Eye Strain</a:t>
            </a:r>
          </a:p>
          <a:p>
            <a:pPr lvl="4"/>
            <a:r>
              <a:rPr lang="en-GB" dirty="0">
                <a:solidFill>
                  <a:schemeClr val="bg1">
                    <a:lumMod val="85000"/>
                  </a:schemeClr>
                </a:solidFill>
              </a:rPr>
              <a:t>Using anti glare screens</a:t>
            </a:r>
          </a:p>
          <a:p>
            <a:pPr lvl="4"/>
            <a:r>
              <a:rPr lang="en-GB" dirty="0">
                <a:solidFill>
                  <a:schemeClr val="bg1">
                    <a:lumMod val="85000"/>
                  </a:schemeClr>
                </a:solidFill>
              </a:rPr>
              <a:t>Use an adjustable screen (swivel/</a:t>
            </a:r>
            <a:r>
              <a:rPr lang="en-GB" dirty="0" err="1">
                <a:solidFill>
                  <a:schemeClr val="bg1">
                    <a:lumMod val="85000"/>
                  </a:schemeClr>
                </a:solidFill>
              </a:rPr>
              <a:t>etc</a:t>
            </a:r>
            <a:r>
              <a:rPr lang="en-GB" dirty="0">
                <a:solidFill>
                  <a:schemeClr val="bg1">
                    <a:lumMod val="85000"/>
                  </a:schemeClr>
                </a:solidFill>
              </a:rPr>
              <a:t>) that can be adjusted to reduce glare</a:t>
            </a:r>
          </a:p>
          <a:p>
            <a:pPr lvl="4"/>
            <a:r>
              <a:rPr lang="en-GB" dirty="0">
                <a:solidFill>
                  <a:schemeClr val="bg1">
                    <a:lumMod val="85000"/>
                  </a:schemeClr>
                </a:solidFill>
              </a:rPr>
              <a:t>Adjust brightness/contrast on the monitor</a:t>
            </a:r>
          </a:p>
          <a:p>
            <a:pPr lvl="4"/>
            <a:r>
              <a:rPr lang="en-GB" dirty="0">
                <a:solidFill>
                  <a:schemeClr val="bg1">
                    <a:lumMod val="85000"/>
                  </a:schemeClr>
                </a:solidFill>
              </a:rPr>
              <a:t>Good natural light / brightly lit room</a:t>
            </a:r>
          </a:p>
          <a:p>
            <a:pPr lvl="4"/>
            <a:r>
              <a:rPr lang="en-GB" dirty="0">
                <a:solidFill>
                  <a:schemeClr val="bg1">
                    <a:lumMod val="85000"/>
                  </a:schemeClr>
                </a:solidFill>
              </a:rPr>
              <a:t>Have regular eye tests</a:t>
            </a:r>
          </a:p>
          <a:p>
            <a:pPr marL="0" indent="0">
              <a:buNone/>
            </a:pPr>
            <a:endParaRPr lang="en-GB" dirty="0"/>
          </a:p>
        </p:txBody>
      </p:sp>
      <p:sp>
        <p:nvSpPr>
          <p:cNvPr id="4" name="Title 3"/>
          <p:cNvSpPr>
            <a:spLocks noGrp="1"/>
          </p:cNvSpPr>
          <p:nvPr>
            <p:ph type="title"/>
          </p:nvPr>
        </p:nvSpPr>
        <p:spPr/>
        <p:txBody>
          <a:bodyPr/>
          <a:lstStyle/>
          <a:p>
            <a:r>
              <a:rPr lang="en-GB" dirty="0">
                <a:solidFill>
                  <a:schemeClr val="bg1">
                    <a:lumMod val="85000"/>
                  </a:schemeClr>
                </a:solidFill>
              </a:rPr>
              <a:t>Eye Strain</a:t>
            </a:r>
          </a:p>
        </p:txBody>
      </p:sp>
    </p:spTree>
    <p:extLst>
      <p:ext uri="{BB962C8B-B14F-4D97-AF65-F5344CB8AC3E}">
        <p14:creationId xmlns:p14="http://schemas.microsoft.com/office/powerpoint/2010/main" val="159214334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1" y="1701797"/>
            <a:ext cx="7772400" cy="5039571"/>
          </a:xfrm>
        </p:spPr>
        <p:txBody>
          <a:bodyPr/>
          <a:lstStyle/>
          <a:p>
            <a:r>
              <a:rPr lang="en-GB" dirty="0">
                <a:solidFill>
                  <a:schemeClr val="bg1">
                    <a:lumMod val="85000"/>
                  </a:schemeClr>
                </a:solidFill>
              </a:rPr>
              <a:t>Older monitors emit very low levels of </a:t>
            </a:r>
            <a:r>
              <a:rPr lang="en-GB" b="1" dirty="0">
                <a:solidFill>
                  <a:schemeClr val="bg1">
                    <a:lumMod val="85000"/>
                  </a:schemeClr>
                </a:solidFill>
              </a:rPr>
              <a:t>extremely low frequency radiation</a:t>
            </a:r>
          </a:p>
          <a:p>
            <a:r>
              <a:rPr lang="en-GB" b="1" dirty="0">
                <a:solidFill>
                  <a:schemeClr val="bg1">
                    <a:lumMod val="85000"/>
                  </a:schemeClr>
                </a:solidFill>
              </a:rPr>
              <a:t>LCD</a:t>
            </a:r>
            <a:r>
              <a:rPr lang="en-GB" dirty="0">
                <a:solidFill>
                  <a:schemeClr val="bg1">
                    <a:lumMod val="85000"/>
                  </a:schemeClr>
                </a:solidFill>
              </a:rPr>
              <a:t> screens emit virtually no radiation</a:t>
            </a:r>
          </a:p>
          <a:p>
            <a:endParaRPr lang="en-GB" dirty="0">
              <a:solidFill>
                <a:schemeClr val="bg1">
                  <a:lumMod val="85000"/>
                </a:schemeClr>
              </a:solidFill>
            </a:endParaRPr>
          </a:p>
          <a:p>
            <a:endParaRPr lang="en-GB" dirty="0">
              <a:solidFill>
                <a:schemeClr val="bg1">
                  <a:lumMod val="85000"/>
                </a:schemeClr>
              </a:solidFill>
            </a:endParaRPr>
          </a:p>
          <a:p>
            <a:pPr marL="0" indent="0">
              <a:buNone/>
            </a:pPr>
            <a:r>
              <a:rPr lang="en-GB" dirty="0">
                <a:solidFill>
                  <a:schemeClr val="bg1">
                    <a:lumMod val="85000"/>
                  </a:schemeClr>
                </a:solidFill>
              </a:rPr>
              <a:t>Solutions:</a:t>
            </a:r>
          </a:p>
          <a:p>
            <a:r>
              <a:rPr lang="en-GB" dirty="0">
                <a:solidFill>
                  <a:schemeClr val="bg1">
                    <a:lumMod val="85000"/>
                  </a:schemeClr>
                </a:solidFill>
              </a:rPr>
              <a:t>Best to sit at least 2 feet from the monitor.</a:t>
            </a:r>
          </a:p>
          <a:p>
            <a:r>
              <a:rPr lang="en-GB" dirty="0">
                <a:solidFill>
                  <a:schemeClr val="bg1">
                    <a:lumMod val="85000"/>
                  </a:schemeClr>
                </a:solidFill>
              </a:rPr>
              <a:t>Cover the screen with an anti-radiation protector</a:t>
            </a:r>
          </a:p>
          <a:p>
            <a:r>
              <a:rPr lang="en-GB" dirty="0">
                <a:solidFill>
                  <a:schemeClr val="bg1">
                    <a:lumMod val="85000"/>
                  </a:schemeClr>
                </a:solidFill>
              </a:rPr>
              <a:t>Restrict time in front of monitor.</a:t>
            </a:r>
          </a:p>
          <a:p>
            <a:pPr marL="0" indent="0">
              <a:buNone/>
            </a:pPr>
            <a:endParaRPr lang="en-GB" dirty="0"/>
          </a:p>
        </p:txBody>
      </p:sp>
      <p:sp>
        <p:nvSpPr>
          <p:cNvPr id="4" name="Title 3"/>
          <p:cNvSpPr>
            <a:spLocks noGrp="1"/>
          </p:cNvSpPr>
          <p:nvPr>
            <p:ph type="title"/>
          </p:nvPr>
        </p:nvSpPr>
        <p:spPr/>
        <p:txBody>
          <a:bodyPr/>
          <a:lstStyle/>
          <a:p>
            <a:r>
              <a:rPr lang="en-GB" dirty="0">
                <a:solidFill>
                  <a:schemeClr val="bg1">
                    <a:lumMod val="85000"/>
                  </a:schemeClr>
                </a:solidFill>
              </a:rPr>
              <a:t>ELF Radiation</a:t>
            </a:r>
          </a:p>
        </p:txBody>
      </p:sp>
    </p:spTree>
    <p:extLst>
      <p:ext uri="{BB962C8B-B14F-4D97-AF65-F5344CB8AC3E}">
        <p14:creationId xmlns:p14="http://schemas.microsoft.com/office/powerpoint/2010/main" val="8316273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a:xfrm>
            <a:off x="-4849216" y="5593478"/>
            <a:ext cx="7772400" cy="1223963"/>
          </a:xfrm>
        </p:spPr>
        <p:txBody>
          <a:bodyPr/>
          <a:lstStyle/>
          <a:p>
            <a:pPr algn="r"/>
            <a:r>
              <a:rPr lang="en-US" dirty="0" err="1"/>
              <a:t>WALTer</a:t>
            </a:r>
            <a:endParaRPr lang="en-US" dirty="0"/>
          </a:p>
        </p:txBody>
      </p:sp>
      <p:sp>
        <p:nvSpPr>
          <p:cNvPr id="5" name="Rectangular Callout 4"/>
          <p:cNvSpPr/>
          <p:nvPr/>
        </p:nvSpPr>
        <p:spPr>
          <a:xfrm>
            <a:off x="2438402" y="274638"/>
            <a:ext cx="6753943" cy="3802435"/>
          </a:xfrm>
          <a:prstGeom prst="wedgeRectCallout">
            <a:avLst>
              <a:gd name="adj1" fmla="val 39579"/>
              <a:gd name="adj2" fmla="val 65533"/>
            </a:avLst>
          </a:prstGeom>
          <a:noFill/>
          <a:ln w="635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endParaRPr lang="en-GB" sz="2800" dirty="0"/>
          </a:p>
        </p:txBody>
      </p:sp>
      <p:pic>
        <p:nvPicPr>
          <p:cNvPr id="2" name="Content Placeholder 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112225" y="3510282"/>
            <a:ext cx="2495905" cy="3347719"/>
          </a:xfrm>
        </p:spPr>
      </p:pic>
      <p:sp>
        <p:nvSpPr>
          <p:cNvPr id="3" name="TextBox 2"/>
          <p:cNvSpPr txBox="1"/>
          <p:nvPr/>
        </p:nvSpPr>
        <p:spPr>
          <a:xfrm>
            <a:off x="2510408" y="406139"/>
            <a:ext cx="6897960" cy="3539430"/>
          </a:xfrm>
          <a:prstGeom prst="rect">
            <a:avLst/>
          </a:prstGeom>
          <a:noFill/>
        </p:spPr>
        <p:txBody>
          <a:bodyPr wrap="square" rtlCol="0">
            <a:spAutoFit/>
          </a:bodyPr>
          <a:lstStyle/>
          <a:p>
            <a:pPr marL="457200" indent="-457200">
              <a:buFont typeface="Arial" panose="020B0604020202020204" pitchFamily="34" charset="0"/>
              <a:buChar char="•"/>
            </a:pPr>
            <a:r>
              <a:rPr lang="en-GB" sz="2800" dirty="0">
                <a:solidFill>
                  <a:schemeClr val="bg1">
                    <a:lumMod val="85000"/>
                  </a:schemeClr>
                </a:solidFill>
              </a:rPr>
              <a:t>Identify the Health and Safety issues related to Digital Technology</a:t>
            </a:r>
          </a:p>
          <a:p>
            <a:pPr marL="457200" indent="-457200">
              <a:buFont typeface="Arial" panose="020B0604020202020204" pitchFamily="34" charset="0"/>
              <a:buChar char="•"/>
            </a:pPr>
            <a:endParaRPr lang="en-GB" sz="2800" dirty="0">
              <a:solidFill>
                <a:schemeClr val="bg1">
                  <a:lumMod val="85000"/>
                </a:schemeClr>
              </a:solidFill>
            </a:endParaRPr>
          </a:p>
          <a:p>
            <a:pPr marL="457200" indent="-457200">
              <a:buFont typeface="Arial" panose="020B0604020202020204" pitchFamily="34" charset="0"/>
              <a:buChar char="•"/>
            </a:pPr>
            <a:r>
              <a:rPr lang="en-GB" sz="2800" dirty="0">
                <a:solidFill>
                  <a:schemeClr val="bg1">
                    <a:lumMod val="85000"/>
                  </a:schemeClr>
                </a:solidFill>
              </a:rPr>
              <a:t>Apply your knowledge to suggest why these issues arise</a:t>
            </a:r>
          </a:p>
          <a:p>
            <a:pPr marL="457200" indent="-457200">
              <a:buFont typeface="Arial" panose="020B0604020202020204" pitchFamily="34" charset="0"/>
              <a:buChar char="•"/>
            </a:pPr>
            <a:endParaRPr lang="en-GB" sz="2800" dirty="0">
              <a:solidFill>
                <a:schemeClr val="bg1">
                  <a:lumMod val="85000"/>
                </a:schemeClr>
              </a:solidFill>
            </a:endParaRPr>
          </a:p>
          <a:p>
            <a:pPr marL="457200" indent="-457200">
              <a:buFont typeface="Arial" panose="020B0604020202020204" pitchFamily="34" charset="0"/>
              <a:buChar char="•"/>
            </a:pPr>
            <a:r>
              <a:rPr lang="en-GB" sz="2800" dirty="0">
                <a:solidFill>
                  <a:schemeClr val="bg1">
                    <a:lumMod val="85000"/>
                  </a:schemeClr>
                </a:solidFill>
              </a:rPr>
              <a:t>Offer a possible solution to eradicate or reduce these problems</a:t>
            </a:r>
          </a:p>
        </p:txBody>
      </p:sp>
    </p:spTree>
    <p:extLst>
      <p:ext uri="{BB962C8B-B14F-4D97-AF65-F5344CB8AC3E}">
        <p14:creationId xmlns:p14="http://schemas.microsoft.com/office/powerpoint/2010/main" val="37722189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29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61E26-31CA-469F-8B59-FB63B4E52591}"/>
              </a:ext>
            </a:extLst>
          </p:cNvPr>
          <p:cNvSpPr>
            <a:spLocks noGrp="1"/>
          </p:cNvSpPr>
          <p:nvPr>
            <p:ph type="ctrTitle"/>
          </p:nvPr>
        </p:nvSpPr>
        <p:spPr/>
        <p:txBody>
          <a:bodyPr/>
          <a:lstStyle/>
          <a:p>
            <a:r>
              <a:rPr lang="en-GB" dirty="0">
                <a:solidFill>
                  <a:schemeClr val="bg1">
                    <a:lumMod val="85000"/>
                  </a:schemeClr>
                </a:solidFill>
              </a:rPr>
              <a:t>Health and Safety in the Workplace</a:t>
            </a:r>
          </a:p>
        </p:txBody>
      </p:sp>
      <p:sp>
        <p:nvSpPr>
          <p:cNvPr id="3" name="Subtitle 2">
            <a:extLst>
              <a:ext uri="{FF2B5EF4-FFF2-40B4-BE49-F238E27FC236}">
                <a16:creationId xmlns:a16="http://schemas.microsoft.com/office/drawing/2014/main" id="{6421F440-02A9-433E-B9EE-044B905AB23C}"/>
              </a:ext>
            </a:extLst>
          </p:cNvPr>
          <p:cNvSpPr>
            <a:spLocks noGrp="1"/>
          </p:cNvSpPr>
          <p:nvPr>
            <p:ph type="subTitle" idx="1"/>
          </p:nvPr>
        </p:nvSpPr>
        <p:spPr/>
        <p:txBody>
          <a:bodyPr/>
          <a:lstStyle/>
          <a:p>
            <a:r>
              <a:rPr lang="en-GB" dirty="0">
                <a:solidFill>
                  <a:schemeClr val="bg1">
                    <a:lumMod val="85000"/>
                  </a:schemeClr>
                </a:solidFill>
              </a:rPr>
              <a:t>Teleworking | Employers Obligations </a:t>
            </a:r>
          </a:p>
        </p:txBody>
      </p:sp>
    </p:spTree>
    <p:extLst>
      <p:ext uri="{BB962C8B-B14F-4D97-AF65-F5344CB8AC3E}">
        <p14:creationId xmlns:p14="http://schemas.microsoft.com/office/powerpoint/2010/main" val="20735749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A37C3-E2B9-4D1D-A813-C8E8B9A52184}"/>
              </a:ext>
            </a:extLst>
          </p:cNvPr>
          <p:cNvSpPr>
            <a:spLocks noGrp="1"/>
          </p:cNvSpPr>
          <p:nvPr>
            <p:ph type="title"/>
          </p:nvPr>
        </p:nvSpPr>
        <p:spPr/>
        <p:txBody>
          <a:bodyPr/>
          <a:lstStyle/>
          <a:p>
            <a:r>
              <a:rPr lang="en-GB" dirty="0" err="1">
                <a:solidFill>
                  <a:schemeClr val="bg1">
                    <a:lumMod val="85000"/>
                  </a:schemeClr>
                </a:solidFill>
              </a:rPr>
              <a:t>WALT</a:t>
            </a:r>
            <a:r>
              <a:rPr lang="en-GB" cap="none" dirty="0" err="1">
                <a:solidFill>
                  <a:schemeClr val="bg1">
                    <a:lumMod val="85000"/>
                  </a:schemeClr>
                </a:solidFill>
              </a:rPr>
              <a:t>er</a:t>
            </a:r>
            <a:endParaRPr lang="en-GB" dirty="0">
              <a:solidFill>
                <a:schemeClr val="bg1">
                  <a:lumMod val="85000"/>
                </a:schemeClr>
              </a:solidFill>
            </a:endParaRPr>
          </a:p>
        </p:txBody>
      </p:sp>
      <p:pic>
        <p:nvPicPr>
          <p:cNvPr id="4" name="Content Placeholder 1">
            <a:extLst>
              <a:ext uri="{FF2B5EF4-FFF2-40B4-BE49-F238E27FC236}">
                <a16:creationId xmlns:a16="http://schemas.microsoft.com/office/drawing/2014/main" id="{4E13202A-6AB1-4326-A914-CAD023A42BE4}"/>
              </a:ext>
            </a:extLst>
          </p:cNvPr>
          <p:cNvPicPr>
            <a:picLocks noGrp="1"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6072" y="4399504"/>
            <a:ext cx="1871929" cy="2510789"/>
          </a:xfrm>
          <a:prstGeom prst="rect">
            <a:avLst/>
          </a:prstGeom>
        </p:spPr>
      </p:pic>
      <p:sp>
        <p:nvSpPr>
          <p:cNvPr id="5" name="Speech Bubble: Rectangle 4">
            <a:extLst>
              <a:ext uri="{FF2B5EF4-FFF2-40B4-BE49-F238E27FC236}">
                <a16:creationId xmlns:a16="http://schemas.microsoft.com/office/drawing/2014/main" id="{68993BD5-E96D-4564-87B9-E78F2A76CC04}"/>
              </a:ext>
            </a:extLst>
          </p:cNvPr>
          <p:cNvSpPr/>
          <p:nvPr/>
        </p:nvSpPr>
        <p:spPr>
          <a:xfrm>
            <a:off x="2430012" y="1628801"/>
            <a:ext cx="6762333" cy="3384375"/>
          </a:xfrm>
          <a:prstGeom prst="wedgeRectCallout">
            <a:avLst>
              <a:gd name="adj1" fmla="val 49157"/>
              <a:gd name="adj2" fmla="val 61088"/>
            </a:avLst>
          </a:prstGeom>
          <a:noFill/>
          <a:ln w="571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14313" indent="-214313">
              <a:buFont typeface="Arial" panose="020B0604020202020204" pitchFamily="34" charset="0"/>
              <a:buChar char="•"/>
            </a:pPr>
            <a:r>
              <a:rPr lang="en-GB" dirty="0"/>
              <a:t>List 5 hazards related to ICT that should be addressed by an employer.</a:t>
            </a:r>
          </a:p>
          <a:p>
            <a:pPr marL="214313" indent="-214313">
              <a:buFont typeface="Arial" panose="020B0604020202020204" pitchFamily="34" charset="0"/>
              <a:buChar char="•"/>
            </a:pPr>
            <a:r>
              <a:rPr lang="en-GB" dirty="0"/>
              <a:t>Surmise how employers can address these issues in the workplace</a:t>
            </a:r>
          </a:p>
          <a:p>
            <a:pPr marL="214313" indent="-214313">
              <a:buFont typeface="Arial" panose="020B0604020202020204" pitchFamily="34" charset="0"/>
              <a:buChar char="•"/>
            </a:pPr>
            <a:r>
              <a:rPr lang="en-GB" dirty="0"/>
              <a:t>Explain the Term “Teleworking”</a:t>
            </a:r>
          </a:p>
          <a:p>
            <a:pPr marL="214313" indent="-214313">
              <a:buFont typeface="Arial" panose="020B0604020202020204" pitchFamily="34" charset="0"/>
              <a:buChar char="•"/>
            </a:pPr>
            <a:r>
              <a:rPr lang="en-GB" dirty="0"/>
              <a:t>Give three examples of health problems associated with teleworking</a:t>
            </a:r>
          </a:p>
          <a:p>
            <a:pPr marL="214313" indent="-214313">
              <a:buFont typeface="Arial" panose="020B0604020202020204" pitchFamily="34" charset="0"/>
              <a:buChar char="•"/>
            </a:pPr>
            <a:r>
              <a:rPr lang="en-GB" dirty="0"/>
              <a:t>Describe the causes, symptoms and prevention of Deep Vein Thrombosis</a:t>
            </a:r>
          </a:p>
          <a:p>
            <a:pPr algn="ctr"/>
            <a:r>
              <a:rPr lang="en-GB" dirty="0"/>
              <a:t> </a:t>
            </a:r>
          </a:p>
        </p:txBody>
      </p:sp>
    </p:spTree>
    <p:extLst>
      <p:ext uri="{BB962C8B-B14F-4D97-AF65-F5344CB8AC3E}">
        <p14:creationId xmlns:p14="http://schemas.microsoft.com/office/powerpoint/2010/main" val="4226080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5F19F-2065-4182-A836-8A4EBAA3A253}"/>
              </a:ext>
            </a:extLst>
          </p:cNvPr>
          <p:cNvSpPr>
            <a:spLocks noGrp="1"/>
          </p:cNvSpPr>
          <p:nvPr>
            <p:ph type="title"/>
          </p:nvPr>
        </p:nvSpPr>
        <p:spPr/>
        <p:txBody>
          <a:bodyPr/>
          <a:lstStyle/>
          <a:p>
            <a:r>
              <a:rPr lang="en-GB" dirty="0">
                <a:solidFill>
                  <a:schemeClr val="bg1">
                    <a:lumMod val="85000"/>
                  </a:schemeClr>
                </a:solidFill>
              </a:rPr>
              <a:t>Risks in the ICT Room</a:t>
            </a:r>
          </a:p>
        </p:txBody>
      </p:sp>
      <p:sp>
        <p:nvSpPr>
          <p:cNvPr id="3" name="Content Placeholder 2">
            <a:extLst>
              <a:ext uri="{FF2B5EF4-FFF2-40B4-BE49-F238E27FC236}">
                <a16:creationId xmlns:a16="http://schemas.microsoft.com/office/drawing/2014/main" id="{DD788F56-70B6-4FB8-9AFE-8D5A739CDAD1}"/>
              </a:ext>
            </a:extLst>
          </p:cNvPr>
          <p:cNvSpPr>
            <a:spLocks noGrp="1"/>
          </p:cNvSpPr>
          <p:nvPr>
            <p:ph idx="1"/>
          </p:nvPr>
        </p:nvSpPr>
        <p:spPr/>
        <p:txBody>
          <a:bodyPr>
            <a:normAutofit lnSpcReduction="10000"/>
          </a:bodyPr>
          <a:lstStyle/>
          <a:p>
            <a:r>
              <a:rPr lang="en-GB" dirty="0">
                <a:solidFill>
                  <a:schemeClr val="bg1">
                    <a:lumMod val="85000"/>
                  </a:schemeClr>
                </a:solidFill>
              </a:rPr>
              <a:t>Overloaded Sockets</a:t>
            </a:r>
          </a:p>
          <a:p>
            <a:r>
              <a:rPr lang="en-GB" dirty="0">
                <a:solidFill>
                  <a:schemeClr val="bg1">
                    <a:lumMod val="85000"/>
                  </a:schemeClr>
                </a:solidFill>
              </a:rPr>
              <a:t>Wires on / across the floor</a:t>
            </a:r>
          </a:p>
          <a:p>
            <a:r>
              <a:rPr lang="en-GB" dirty="0">
                <a:solidFill>
                  <a:schemeClr val="bg1">
                    <a:lumMod val="85000"/>
                  </a:schemeClr>
                </a:solidFill>
              </a:rPr>
              <a:t>Food and Drinks near the computers</a:t>
            </a:r>
          </a:p>
          <a:p>
            <a:r>
              <a:rPr lang="en-GB" dirty="0">
                <a:solidFill>
                  <a:schemeClr val="bg1">
                    <a:lumMod val="85000"/>
                  </a:schemeClr>
                </a:solidFill>
              </a:rPr>
              <a:t>Heating / ventilation requirements (not blocking fans etc)</a:t>
            </a:r>
          </a:p>
          <a:p>
            <a:r>
              <a:rPr lang="en-GB" dirty="0">
                <a:solidFill>
                  <a:schemeClr val="bg1">
                    <a:lumMod val="85000"/>
                  </a:schemeClr>
                </a:solidFill>
              </a:rPr>
              <a:t>Suitable desks and equipment</a:t>
            </a:r>
          </a:p>
          <a:p>
            <a:r>
              <a:rPr lang="en-GB" dirty="0">
                <a:solidFill>
                  <a:schemeClr val="bg1">
                    <a:lumMod val="85000"/>
                  </a:schemeClr>
                </a:solidFill>
              </a:rPr>
              <a:t>Adequate space around the machine</a:t>
            </a:r>
          </a:p>
          <a:p>
            <a:r>
              <a:rPr lang="en-GB" dirty="0">
                <a:solidFill>
                  <a:schemeClr val="bg1">
                    <a:lumMod val="85000"/>
                  </a:schemeClr>
                </a:solidFill>
              </a:rPr>
              <a:t>Frequent Breaks </a:t>
            </a:r>
          </a:p>
          <a:p>
            <a:r>
              <a:rPr lang="en-GB" dirty="0">
                <a:solidFill>
                  <a:schemeClr val="bg1">
                    <a:lumMod val="85000"/>
                  </a:schemeClr>
                </a:solidFill>
              </a:rPr>
              <a:t>Foot / hand supports</a:t>
            </a:r>
          </a:p>
          <a:p>
            <a:r>
              <a:rPr lang="en-GB" dirty="0">
                <a:solidFill>
                  <a:schemeClr val="bg1">
                    <a:lumMod val="85000"/>
                  </a:schemeClr>
                </a:solidFill>
              </a:rPr>
              <a:t>Heating/ Air conditioning Units</a:t>
            </a:r>
          </a:p>
        </p:txBody>
      </p:sp>
      <p:pic>
        <p:nvPicPr>
          <p:cNvPr id="2050" name="Picture 2" descr="Image result for gel support for ict">
            <a:extLst>
              <a:ext uri="{FF2B5EF4-FFF2-40B4-BE49-F238E27FC236}">
                <a16:creationId xmlns:a16="http://schemas.microsoft.com/office/drawing/2014/main" id="{FB7F4C68-6489-40E5-A4C2-F84C811032D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5208" r="90000">
                        <a14:foregroundMark x1="81875" y1="28750" x2="63750" y2="32708"/>
                        <a14:foregroundMark x1="36250" y1="63125" x2="25833" y2="63958"/>
                        <a14:foregroundMark x1="25833" y1="63958" x2="22292" y2="62500"/>
                        <a14:foregroundMark x1="5208" y1="46875" x2="5833" y2="46458"/>
                      </a14:backgroundRemoval>
                    </a14:imgEffect>
                  </a14:imgLayer>
                </a14:imgProps>
              </a:ext>
              <a:ext uri="{28A0092B-C50C-407E-A947-70E740481C1C}">
                <a14:useLocalDpi xmlns:a14="http://schemas.microsoft.com/office/drawing/2010/main" val="0"/>
              </a:ext>
            </a:extLst>
          </a:blip>
          <a:srcRect/>
          <a:stretch>
            <a:fillRect/>
          </a:stretch>
        </p:blipFill>
        <p:spPr bwMode="auto">
          <a:xfrm>
            <a:off x="5930900" y="3217805"/>
            <a:ext cx="3429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overloaded ict socket">
            <a:extLst>
              <a:ext uri="{FF2B5EF4-FFF2-40B4-BE49-F238E27FC236}">
                <a16:creationId xmlns:a16="http://schemas.microsoft.com/office/drawing/2014/main" id="{F2142078-30EE-404C-82EF-8BFED0DD971C}"/>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140" b="98925" l="538" r="89785">
                        <a14:foregroundMark x1="9140" y1="24731" x2="18817" y2="40323"/>
                        <a14:foregroundMark x1="18817" y1="40323" x2="37097" y2="51613"/>
                        <a14:foregroundMark x1="37097" y1="51613" x2="40323" y2="52151"/>
                        <a14:foregroundMark x1="1075" y1="31183" x2="1075" y2="48925"/>
                        <a14:foregroundMark x1="1075" y1="48925" x2="3763" y2="53226"/>
                        <a14:foregroundMark x1="43011" y1="91935" x2="43011" y2="91935"/>
                        <a14:foregroundMark x1="39247" y1="98925" x2="40323" y2="97849"/>
                        <a14:foregroundMark x1="42473" y1="26882" x2="43011" y2="26882"/>
                        <a14:foregroundMark x1="44624" y1="29032" x2="44624" y2="26344"/>
                      </a14:backgroundRemoval>
                    </a14:imgEffect>
                  </a14:imgLayer>
                </a14:imgProps>
              </a:ext>
              <a:ext uri="{28A0092B-C50C-407E-A947-70E740481C1C}">
                <a14:useLocalDpi xmlns:a14="http://schemas.microsoft.com/office/drawing/2010/main" val="0"/>
              </a:ext>
            </a:extLst>
          </a:blip>
          <a:srcRect/>
          <a:stretch>
            <a:fillRect/>
          </a:stretch>
        </p:blipFill>
        <p:spPr bwMode="auto">
          <a:xfrm>
            <a:off x="7222332" y="571501"/>
            <a:ext cx="2975769" cy="2975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0522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3">
                                            <p:txEl>
                                              <p:pRg st="5" end="5"/>
                                            </p:txEl>
                                          </p:spTgt>
                                        </p:tgtEl>
                                        <p:attrNameLst>
                                          <p:attrName>style.visibility</p:attrName>
                                        </p:attrNameLst>
                                      </p:cBhvr>
                                      <p:to>
                                        <p:strVal val="visible"/>
                                      </p:to>
                                    </p:set>
                                    <p:animEffect transition="in" filter="wipe(down)">
                                      <p:cBhvr>
                                        <p:cTn id="97" dur="580">
                                          <p:stCondLst>
                                            <p:cond delay="0"/>
                                          </p:stCondLst>
                                        </p:cTn>
                                        <p:tgtEl>
                                          <p:spTgt spid="3">
                                            <p:txEl>
                                              <p:pRg st="5" end="5"/>
                                            </p:txEl>
                                          </p:spTgt>
                                        </p:tgtEl>
                                      </p:cBhvr>
                                    </p:animEffect>
                                    <p:anim calcmode="lin" valueType="num">
                                      <p:cBhvr>
                                        <p:cTn id="9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5" end="5"/>
                                            </p:txEl>
                                          </p:spTgt>
                                        </p:tgtEl>
                                      </p:cBhvr>
                                      <p:to x="100000" y="60000"/>
                                    </p:animScale>
                                    <p:animScale>
                                      <p:cBhvr>
                                        <p:cTn id="104" dur="166" decel="50000">
                                          <p:stCondLst>
                                            <p:cond delay="676"/>
                                          </p:stCondLst>
                                        </p:cTn>
                                        <p:tgtEl>
                                          <p:spTgt spid="3">
                                            <p:txEl>
                                              <p:pRg st="5" end="5"/>
                                            </p:txEl>
                                          </p:spTgt>
                                        </p:tgtEl>
                                      </p:cBhvr>
                                      <p:to x="100000" y="100000"/>
                                    </p:animScale>
                                    <p:animScale>
                                      <p:cBhvr>
                                        <p:cTn id="105" dur="26">
                                          <p:stCondLst>
                                            <p:cond delay="1312"/>
                                          </p:stCondLst>
                                        </p:cTn>
                                        <p:tgtEl>
                                          <p:spTgt spid="3">
                                            <p:txEl>
                                              <p:pRg st="5" end="5"/>
                                            </p:txEl>
                                          </p:spTgt>
                                        </p:tgtEl>
                                      </p:cBhvr>
                                      <p:to x="100000" y="80000"/>
                                    </p:animScale>
                                    <p:animScale>
                                      <p:cBhvr>
                                        <p:cTn id="106" dur="166" decel="50000">
                                          <p:stCondLst>
                                            <p:cond delay="1338"/>
                                          </p:stCondLst>
                                        </p:cTn>
                                        <p:tgtEl>
                                          <p:spTgt spid="3">
                                            <p:txEl>
                                              <p:pRg st="5" end="5"/>
                                            </p:txEl>
                                          </p:spTgt>
                                        </p:tgtEl>
                                      </p:cBhvr>
                                      <p:to x="100000" y="100000"/>
                                    </p:animScale>
                                    <p:animScale>
                                      <p:cBhvr>
                                        <p:cTn id="107" dur="26">
                                          <p:stCondLst>
                                            <p:cond delay="1642"/>
                                          </p:stCondLst>
                                        </p:cTn>
                                        <p:tgtEl>
                                          <p:spTgt spid="3">
                                            <p:txEl>
                                              <p:pRg st="5" end="5"/>
                                            </p:txEl>
                                          </p:spTgt>
                                        </p:tgtEl>
                                      </p:cBhvr>
                                      <p:to x="100000" y="90000"/>
                                    </p:animScale>
                                    <p:animScale>
                                      <p:cBhvr>
                                        <p:cTn id="108" dur="166" decel="50000">
                                          <p:stCondLst>
                                            <p:cond delay="1668"/>
                                          </p:stCondLst>
                                        </p:cTn>
                                        <p:tgtEl>
                                          <p:spTgt spid="3">
                                            <p:txEl>
                                              <p:pRg st="5" end="5"/>
                                            </p:txEl>
                                          </p:spTgt>
                                        </p:tgtEl>
                                      </p:cBhvr>
                                      <p:to x="100000" y="100000"/>
                                    </p:animScale>
                                    <p:animScale>
                                      <p:cBhvr>
                                        <p:cTn id="109" dur="26">
                                          <p:stCondLst>
                                            <p:cond delay="1808"/>
                                          </p:stCondLst>
                                        </p:cTn>
                                        <p:tgtEl>
                                          <p:spTgt spid="3">
                                            <p:txEl>
                                              <p:pRg st="5" end="5"/>
                                            </p:txEl>
                                          </p:spTgt>
                                        </p:tgtEl>
                                      </p:cBhvr>
                                      <p:to x="100000" y="95000"/>
                                    </p:animScale>
                                    <p:animScale>
                                      <p:cBhvr>
                                        <p:cTn id="110" dur="166" decel="50000">
                                          <p:stCondLst>
                                            <p:cond delay="1834"/>
                                          </p:stCondLst>
                                        </p:cTn>
                                        <p:tgtEl>
                                          <p:spTgt spid="3">
                                            <p:txEl>
                                              <p:pRg st="5" end="5"/>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nodeType="clickEffect">
                                  <p:stCondLst>
                                    <p:cond delay="0"/>
                                  </p:stCondLst>
                                  <p:childTnLst>
                                    <p:set>
                                      <p:cBhvr>
                                        <p:cTn id="114" dur="1" fill="hold">
                                          <p:stCondLst>
                                            <p:cond delay="0"/>
                                          </p:stCondLst>
                                        </p:cTn>
                                        <p:tgtEl>
                                          <p:spTgt spid="3">
                                            <p:txEl>
                                              <p:pRg st="6" end="6"/>
                                            </p:txEl>
                                          </p:spTgt>
                                        </p:tgtEl>
                                        <p:attrNameLst>
                                          <p:attrName>style.visibility</p:attrName>
                                        </p:attrNameLst>
                                      </p:cBhvr>
                                      <p:to>
                                        <p:strVal val="visible"/>
                                      </p:to>
                                    </p:set>
                                    <p:animEffect transition="in" filter="wipe(down)">
                                      <p:cBhvr>
                                        <p:cTn id="115" dur="580">
                                          <p:stCondLst>
                                            <p:cond delay="0"/>
                                          </p:stCondLst>
                                        </p:cTn>
                                        <p:tgtEl>
                                          <p:spTgt spid="3">
                                            <p:txEl>
                                              <p:pRg st="6" end="6"/>
                                            </p:txEl>
                                          </p:spTgt>
                                        </p:tgtEl>
                                      </p:cBhvr>
                                    </p:animEffect>
                                    <p:anim calcmode="lin" valueType="num">
                                      <p:cBhvr>
                                        <p:cTn id="116"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6" end="6"/>
                                            </p:txEl>
                                          </p:spTgt>
                                        </p:tgtEl>
                                      </p:cBhvr>
                                      <p:to x="100000" y="60000"/>
                                    </p:animScale>
                                    <p:animScale>
                                      <p:cBhvr>
                                        <p:cTn id="122" dur="166" decel="50000">
                                          <p:stCondLst>
                                            <p:cond delay="676"/>
                                          </p:stCondLst>
                                        </p:cTn>
                                        <p:tgtEl>
                                          <p:spTgt spid="3">
                                            <p:txEl>
                                              <p:pRg st="6" end="6"/>
                                            </p:txEl>
                                          </p:spTgt>
                                        </p:tgtEl>
                                      </p:cBhvr>
                                      <p:to x="100000" y="100000"/>
                                    </p:animScale>
                                    <p:animScale>
                                      <p:cBhvr>
                                        <p:cTn id="123" dur="26">
                                          <p:stCondLst>
                                            <p:cond delay="1312"/>
                                          </p:stCondLst>
                                        </p:cTn>
                                        <p:tgtEl>
                                          <p:spTgt spid="3">
                                            <p:txEl>
                                              <p:pRg st="6" end="6"/>
                                            </p:txEl>
                                          </p:spTgt>
                                        </p:tgtEl>
                                      </p:cBhvr>
                                      <p:to x="100000" y="80000"/>
                                    </p:animScale>
                                    <p:animScale>
                                      <p:cBhvr>
                                        <p:cTn id="124" dur="166" decel="50000">
                                          <p:stCondLst>
                                            <p:cond delay="1338"/>
                                          </p:stCondLst>
                                        </p:cTn>
                                        <p:tgtEl>
                                          <p:spTgt spid="3">
                                            <p:txEl>
                                              <p:pRg st="6" end="6"/>
                                            </p:txEl>
                                          </p:spTgt>
                                        </p:tgtEl>
                                      </p:cBhvr>
                                      <p:to x="100000" y="100000"/>
                                    </p:animScale>
                                    <p:animScale>
                                      <p:cBhvr>
                                        <p:cTn id="125" dur="26">
                                          <p:stCondLst>
                                            <p:cond delay="1642"/>
                                          </p:stCondLst>
                                        </p:cTn>
                                        <p:tgtEl>
                                          <p:spTgt spid="3">
                                            <p:txEl>
                                              <p:pRg st="6" end="6"/>
                                            </p:txEl>
                                          </p:spTgt>
                                        </p:tgtEl>
                                      </p:cBhvr>
                                      <p:to x="100000" y="90000"/>
                                    </p:animScale>
                                    <p:animScale>
                                      <p:cBhvr>
                                        <p:cTn id="126" dur="166" decel="50000">
                                          <p:stCondLst>
                                            <p:cond delay="1668"/>
                                          </p:stCondLst>
                                        </p:cTn>
                                        <p:tgtEl>
                                          <p:spTgt spid="3">
                                            <p:txEl>
                                              <p:pRg st="6" end="6"/>
                                            </p:txEl>
                                          </p:spTgt>
                                        </p:tgtEl>
                                      </p:cBhvr>
                                      <p:to x="100000" y="100000"/>
                                    </p:animScale>
                                    <p:animScale>
                                      <p:cBhvr>
                                        <p:cTn id="127" dur="26">
                                          <p:stCondLst>
                                            <p:cond delay="1808"/>
                                          </p:stCondLst>
                                        </p:cTn>
                                        <p:tgtEl>
                                          <p:spTgt spid="3">
                                            <p:txEl>
                                              <p:pRg st="6" end="6"/>
                                            </p:txEl>
                                          </p:spTgt>
                                        </p:tgtEl>
                                      </p:cBhvr>
                                      <p:to x="100000" y="95000"/>
                                    </p:animScale>
                                    <p:animScale>
                                      <p:cBhvr>
                                        <p:cTn id="128" dur="166" decel="50000">
                                          <p:stCondLst>
                                            <p:cond delay="1834"/>
                                          </p:stCondLst>
                                        </p:cTn>
                                        <p:tgtEl>
                                          <p:spTgt spid="3">
                                            <p:txEl>
                                              <p:pRg st="6" end="6"/>
                                            </p:txEl>
                                          </p:spTgt>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nodeType="clickEffect">
                                  <p:stCondLst>
                                    <p:cond delay="0"/>
                                  </p:stCondLst>
                                  <p:childTnLst>
                                    <p:set>
                                      <p:cBhvr>
                                        <p:cTn id="132" dur="1" fill="hold">
                                          <p:stCondLst>
                                            <p:cond delay="0"/>
                                          </p:stCondLst>
                                        </p:cTn>
                                        <p:tgtEl>
                                          <p:spTgt spid="3">
                                            <p:txEl>
                                              <p:pRg st="7" end="7"/>
                                            </p:txEl>
                                          </p:spTgt>
                                        </p:tgtEl>
                                        <p:attrNameLst>
                                          <p:attrName>style.visibility</p:attrName>
                                        </p:attrNameLst>
                                      </p:cBhvr>
                                      <p:to>
                                        <p:strVal val="visible"/>
                                      </p:to>
                                    </p:set>
                                    <p:animEffect transition="in" filter="wipe(down)">
                                      <p:cBhvr>
                                        <p:cTn id="133" dur="580">
                                          <p:stCondLst>
                                            <p:cond delay="0"/>
                                          </p:stCondLst>
                                        </p:cTn>
                                        <p:tgtEl>
                                          <p:spTgt spid="3">
                                            <p:txEl>
                                              <p:pRg st="7" end="7"/>
                                            </p:txEl>
                                          </p:spTgt>
                                        </p:tgtEl>
                                      </p:cBhvr>
                                    </p:animEffect>
                                    <p:anim calcmode="lin" valueType="num">
                                      <p:cBhvr>
                                        <p:cTn id="134"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9" dur="26">
                                          <p:stCondLst>
                                            <p:cond delay="650"/>
                                          </p:stCondLst>
                                        </p:cTn>
                                        <p:tgtEl>
                                          <p:spTgt spid="3">
                                            <p:txEl>
                                              <p:pRg st="7" end="7"/>
                                            </p:txEl>
                                          </p:spTgt>
                                        </p:tgtEl>
                                      </p:cBhvr>
                                      <p:to x="100000" y="60000"/>
                                    </p:animScale>
                                    <p:animScale>
                                      <p:cBhvr>
                                        <p:cTn id="140" dur="166" decel="50000">
                                          <p:stCondLst>
                                            <p:cond delay="676"/>
                                          </p:stCondLst>
                                        </p:cTn>
                                        <p:tgtEl>
                                          <p:spTgt spid="3">
                                            <p:txEl>
                                              <p:pRg st="7" end="7"/>
                                            </p:txEl>
                                          </p:spTgt>
                                        </p:tgtEl>
                                      </p:cBhvr>
                                      <p:to x="100000" y="100000"/>
                                    </p:animScale>
                                    <p:animScale>
                                      <p:cBhvr>
                                        <p:cTn id="141" dur="26">
                                          <p:stCondLst>
                                            <p:cond delay="1312"/>
                                          </p:stCondLst>
                                        </p:cTn>
                                        <p:tgtEl>
                                          <p:spTgt spid="3">
                                            <p:txEl>
                                              <p:pRg st="7" end="7"/>
                                            </p:txEl>
                                          </p:spTgt>
                                        </p:tgtEl>
                                      </p:cBhvr>
                                      <p:to x="100000" y="80000"/>
                                    </p:animScale>
                                    <p:animScale>
                                      <p:cBhvr>
                                        <p:cTn id="142" dur="166" decel="50000">
                                          <p:stCondLst>
                                            <p:cond delay="1338"/>
                                          </p:stCondLst>
                                        </p:cTn>
                                        <p:tgtEl>
                                          <p:spTgt spid="3">
                                            <p:txEl>
                                              <p:pRg st="7" end="7"/>
                                            </p:txEl>
                                          </p:spTgt>
                                        </p:tgtEl>
                                      </p:cBhvr>
                                      <p:to x="100000" y="100000"/>
                                    </p:animScale>
                                    <p:animScale>
                                      <p:cBhvr>
                                        <p:cTn id="143" dur="26">
                                          <p:stCondLst>
                                            <p:cond delay="1642"/>
                                          </p:stCondLst>
                                        </p:cTn>
                                        <p:tgtEl>
                                          <p:spTgt spid="3">
                                            <p:txEl>
                                              <p:pRg st="7" end="7"/>
                                            </p:txEl>
                                          </p:spTgt>
                                        </p:tgtEl>
                                      </p:cBhvr>
                                      <p:to x="100000" y="90000"/>
                                    </p:animScale>
                                    <p:animScale>
                                      <p:cBhvr>
                                        <p:cTn id="144" dur="166" decel="50000">
                                          <p:stCondLst>
                                            <p:cond delay="1668"/>
                                          </p:stCondLst>
                                        </p:cTn>
                                        <p:tgtEl>
                                          <p:spTgt spid="3">
                                            <p:txEl>
                                              <p:pRg st="7" end="7"/>
                                            </p:txEl>
                                          </p:spTgt>
                                        </p:tgtEl>
                                      </p:cBhvr>
                                      <p:to x="100000" y="100000"/>
                                    </p:animScale>
                                    <p:animScale>
                                      <p:cBhvr>
                                        <p:cTn id="145" dur="26">
                                          <p:stCondLst>
                                            <p:cond delay="1808"/>
                                          </p:stCondLst>
                                        </p:cTn>
                                        <p:tgtEl>
                                          <p:spTgt spid="3">
                                            <p:txEl>
                                              <p:pRg st="7" end="7"/>
                                            </p:txEl>
                                          </p:spTgt>
                                        </p:tgtEl>
                                      </p:cBhvr>
                                      <p:to x="100000" y="95000"/>
                                    </p:animScale>
                                    <p:animScale>
                                      <p:cBhvr>
                                        <p:cTn id="146" dur="166" decel="50000">
                                          <p:stCondLst>
                                            <p:cond delay="1834"/>
                                          </p:stCondLst>
                                        </p:cTn>
                                        <p:tgtEl>
                                          <p:spTgt spid="3">
                                            <p:txEl>
                                              <p:pRg st="7" end="7"/>
                                            </p:txEl>
                                          </p:spTgt>
                                        </p:tgtEl>
                                      </p:cBhvr>
                                      <p:to x="100000" y="100000"/>
                                    </p:animScale>
                                  </p:childTnLst>
                                </p:cTn>
                              </p:par>
                            </p:childTnLst>
                          </p:cTn>
                        </p:par>
                      </p:childTnLst>
                    </p:cTn>
                  </p:par>
                  <p:par>
                    <p:cTn id="147" fill="hold">
                      <p:stCondLst>
                        <p:cond delay="indefinite"/>
                      </p:stCondLst>
                      <p:childTnLst>
                        <p:par>
                          <p:cTn id="148" fill="hold">
                            <p:stCondLst>
                              <p:cond delay="0"/>
                            </p:stCondLst>
                            <p:childTnLst>
                              <p:par>
                                <p:cTn id="149" presetID="26" presetClass="entr" presetSubtype="0" fill="hold" nodeType="clickEffect">
                                  <p:stCondLst>
                                    <p:cond delay="0"/>
                                  </p:stCondLst>
                                  <p:childTnLst>
                                    <p:set>
                                      <p:cBhvr>
                                        <p:cTn id="150" dur="1" fill="hold">
                                          <p:stCondLst>
                                            <p:cond delay="0"/>
                                          </p:stCondLst>
                                        </p:cTn>
                                        <p:tgtEl>
                                          <p:spTgt spid="3">
                                            <p:txEl>
                                              <p:pRg st="8" end="8"/>
                                            </p:txEl>
                                          </p:spTgt>
                                        </p:tgtEl>
                                        <p:attrNameLst>
                                          <p:attrName>style.visibility</p:attrName>
                                        </p:attrNameLst>
                                      </p:cBhvr>
                                      <p:to>
                                        <p:strVal val="visible"/>
                                      </p:to>
                                    </p:set>
                                    <p:animEffect transition="in" filter="wipe(down)">
                                      <p:cBhvr>
                                        <p:cTn id="151" dur="580">
                                          <p:stCondLst>
                                            <p:cond delay="0"/>
                                          </p:stCondLst>
                                        </p:cTn>
                                        <p:tgtEl>
                                          <p:spTgt spid="3">
                                            <p:txEl>
                                              <p:pRg st="8" end="8"/>
                                            </p:txEl>
                                          </p:spTgt>
                                        </p:tgtEl>
                                      </p:cBhvr>
                                    </p:animEffect>
                                    <p:anim calcmode="lin" valueType="num">
                                      <p:cBhvr>
                                        <p:cTn id="152"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157" dur="26">
                                          <p:stCondLst>
                                            <p:cond delay="650"/>
                                          </p:stCondLst>
                                        </p:cTn>
                                        <p:tgtEl>
                                          <p:spTgt spid="3">
                                            <p:txEl>
                                              <p:pRg st="8" end="8"/>
                                            </p:txEl>
                                          </p:spTgt>
                                        </p:tgtEl>
                                      </p:cBhvr>
                                      <p:to x="100000" y="60000"/>
                                    </p:animScale>
                                    <p:animScale>
                                      <p:cBhvr>
                                        <p:cTn id="158" dur="166" decel="50000">
                                          <p:stCondLst>
                                            <p:cond delay="676"/>
                                          </p:stCondLst>
                                        </p:cTn>
                                        <p:tgtEl>
                                          <p:spTgt spid="3">
                                            <p:txEl>
                                              <p:pRg st="8" end="8"/>
                                            </p:txEl>
                                          </p:spTgt>
                                        </p:tgtEl>
                                      </p:cBhvr>
                                      <p:to x="100000" y="100000"/>
                                    </p:animScale>
                                    <p:animScale>
                                      <p:cBhvr>
                                        <p:cTn id="159" dur="26">
                                          <p:stCondLst>
                                            <p:cond delay="1312"/>
                                          </p:stCondLst>
                                        </p:cTn>
                                        <p:tgtEl>
                                          <p:spTgt spid="3">
                                            <p:txEl>
                                              <p:pRg st="8" end="8"/>
                                            </p:txEl>
                                          </p:spTgt>
                                        </p:tgtEl>
                                      </p:cBhvr>
                                      <p:to x="100000" y="80000"/>
                                    </p:animScale>
                                    <p:animScale>
                                      <p:cBhvr>
                                        <p:cTn id="160" dur="166" decel="50000">
                                          <p:stCondLst>
                                            <p:cond delay="1338"/>
                                          </p:stCondLst>
                                        </p:cTn>
                                        <p:tgtEl>
                                          <p:spTgt spid="3">
                                            <p:txEl>
                                              <p:pRg st="8" end="8"/>
                                            </p:txEl>
                                          </p:spTgt>
                                        </p:tgtEl>
                                      </p:cBhvr>
                                      <p:to x="100000" y="100000"/>
                                    </p:animScale>
                                    <p:animScale>
                                      <p:cBhvr>
                                        <p:cTn id="161" dur="26">
                                          <p:stCondLst>
                                            <p:cond delay="1642"/>
                                          </p:stCondLst>
                                        </p:cTn>
                                        <p:tgtEl>
                                          <p:spTgt spid="3">
                                            <p:txEl>
                                              <p:pRg st="8" end="8"/>
                                            </p:txEl>
                                          </p:spTgt>
                                        </p:tgtEl>
                                      </p:cBhvr>
                                      <p:to x="100000" y="90000"/>
                                    </p:animScale>
                                    <p:animScale>
                                      <p:cBhvr>
                                        <p:cTn id="162" dur="166" decel="50000">
                                          <p:stCondLst>
                                            <p:cond delay="1668"/>
                                          </p:stCondLst>
                                        </p:cTn>
                                        <p:tgtEl>
                                          <p:spTgt spid="3">
                                            <p:txEl>
                                              <p:pRg st="8" end="8"/>
                                            </p:txEl>
                                          </p:spTgt>
                                        </p:tgtEl>
                                      </p:cBhvr>
                                      <p:to x="100000" y="100000"/>
                                    </p:animScale>
                                    <p:animScale>
                                      <p:cBhvr>
                                        <p:cTn id="163" dur="26">
                                          <p:stCondLst>
                                            <p:cond delay="1808"/>
                                          </p:stCondLst>
                                        </p:cTn>
                                        <p:tgtEl>
                                          <p:spTgt spid="3">
                                            <p:txEl>
                                              <p:pRg st="8" end="8"/>
                                            </p:txEl>
                                          </p:spTgt>
                                        </p:tgtEl>
                                      </p:cBhvr>
                                      <p:to x="100000" y="95000"/>
                                    </p:animScale>
                                    <p:animScale>
                                      <p:cBhvr>
                                        <p:cTn id="164" dur="166" decel="50000">
                                          <p:stCondLst>
                                            <p:cond delay="1834"/>
                                          </p:stCondLst>
                                        </p:cTn>
                                        <p:tgtEl>
                                          <p:spTgt spid="3">
                                            <p:txEl>
                                              <p:pRg st="8" end="8"/>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99143-816B-4416-AE4E-A478745CACDD}"/>
              </a:ext>
            </a:extLst>
          </p:cNvPr>
          <p:cNvSpPr>
            <a:spLocks noGrp="1"/>
          </p:cNvSpPr>
          <p:nvPr>
            <p:ph type="title"/>
          </p:nvPr>
        </p:nvSpPr>
        <p:spPr/>
        <p:txBody>
          <a:bodyPr/>
          <a:lstStyle/>
          <a:p>
            <a:r>
              <a:rPr lang="en-GB" dirty="0">
                <a:solidFill>
                  <a:schemeClr val="bg1">
                    <a:lumMod val="85000"/>
                  </a:schemeClr>
                </a:solidFill>
              </a:rPr>
              <a:t>Health and Safety: Employers Responsibilities</a:t>
            </a:r>
          </a:p>
        </p:txBody>
      </p:sp>
      <p:sp>
        <p:nvSpPr>
          <p:cNvPr id="3" name="Content Placeholder 2">
            <a:extLst>
              <a:ext uri="{FF2B5EF4-FFF2-40B4-BE49-F238E27FC236}">
                <a16:creationId xmlns:a16="http://schemas.microsoft.com/office/drawing/2014/main" id="{8CF68BCD-DBBD-4108-94F4-F9CA88EF3CF3}"/>
              </a:ext>
            </a:extLst>
          </p:cNvPr>
          <p:cNvSpPr>
            <a:spLocks noGrp="1"/>
          </p:cNvSpPr>
          <p:nvPr>
            <p:ph idx="1"/>
          </p:nvPr>
        </p:nvSpPr>
        <p:spPr>
          <a:xfrm>
            <a:off x="527901" y="2544366"/>
            <a:ext cx="9281659" cy="3931848"/>
          </a:xfrm>
        </p:spPr>
        <p:txBody>
          <a:bodyPr>
            <a:normAutofit lnSpcReduction="10000"/>
          </a:bodyPr>
          <a:lstStyle/>
          <a:p>
            <a:r>
              <a:rPr lang="en-GB" dirty="0">
                <a:solidFill>
                  <a:schemeClr val="bg1">
                    <a:lumMod val="85000"/>
                  </a:schemeClr>
                </a:solidFill>
              </a:rPr>
              <a:t>Covered in the Health and Safety at Work etc. Act 1974</a:t>
            </a:r>
          </a:p>
          <a:p>
            <a:r>
              <a:rPr lang="en-GB" dirty="0">
                <a:solidFill>
                  <a:schemeClr val="bg1">
                    <a:lumMod val="85000"/>
                  </a:schemeClr>
                </a:solidFill>
              </a:rPr>
              <a:t>By Law, an employer is required to ensure/ provide:</a:t>
            </a:r>
          </a:p>
          <a:p>
            <a:pPr lvl="1"/>
            <a:r>
              <a:rPr lang="en-GB" dirty="0">
                <a:solidFill>
                  <a:schemeClr val="bg1">
                    <a:lumMod val="85000"/>
                  </a:schemeClr>
                </a:solidFill>
              </a:rPr>
              <a:t>Staff have access to </a:t>
            </a:r>
            <a:r>
              <a:rPr lang="en-GB" dirty="0" err="1">
                <a:solidFill>
                  <a:schemeClr val="bg1">
                    <a:lumMod val="85000"/>
                  </a:schemeClr>
                </a:solidFill>
              </a:rPr>
              <a:t>tiltable</a:t>
            </a:r>
            <a:r>
              <a:rPr lang="en-GB" dirty="0">
                <a:solidFill>
                  <a:schemeClr val="bg1">
                    <a:lumMod val="85000"/>
                  </a:schemeClr>
                </a:solidFill>
              </a:rPr>
              <a:t> Screens</a:t>
            </a:r>
          </a:p>
          <a:p>
            <a:pPr lvl="1"/>
            <a:r>
              <a:rPr lang="en-GB" dirty="0">
                <a:solidFill>
                  <a:schemeClr val="bg1">
                    <a:lumMod val="85000"/>
                  </a:schemeClr>
                </a:solidFill>
              </a:rPr>
              <a:t>anti-glare screen filters</a:t>
            </a:r>
          </a:p>
          <a:p>
            <a:pPr lvl="1"/>
            <a:r>
              <a:rPr lang="en-GB" dirty="0">
                <a:solidFill>
                  <a:schemeClr val="bg1">
                    <a:lumMod val="85000"/>
                  </a:schemeClr>
                </a:solidFill>
              </a:rPr>
              <a:t>Provide adjustable chairs</a:t>
            </a:r>
          </a:p>
          <a:p>
            <a:pPr lvl="1"/>
            <a:r>
              <a:rPr lang="en-GB" dirty="0">
                <a:solidFill>
                  <a:schemeClr val="bg1">
                    <a:lumMod val="85000"/>
                  </a:schemeClr>
                </a:solidFill>
              </a:rPr>
              <a:t>Provide foot supports</a:t>
            </a:r>
          </a:p>
          <a:p>
            <a:pPr lvl="1"/>
            <a:r>
              <a:rPr lang="en-GB" dirty="0">
                <a:solidFill>
                  <a:schemeClr val="bg1">
                    <a:lumMod val="85000"/>
                  </a:schemeClr>
                </a:solidFill>
              </a:rPr>
              <a:t>Ensure workstations are not cramped</a:t>
            </a:r>
          </a:p>
          <a:p>
            <a:pPr lvl="1"/>
            <a:r>
              <a:rPr lang="en-GB" dirty="0">
                <a:solidFill>
                  <a:schemeClr val="bg1">
                    <a:lumMod val="85000"/>
                  </a:schemeClr>
                </a:solidFill>
              </a:rPr>
              <a:t>Plan work at a computer so that there are suitable/frequent breaks</a:t>
            </a:r>
          </a:p>
          <a:p>
            <a:pPr lvl="1"/>
            <a:r>
              <a:rPr lang="en-GB" dirty="0">
                <a:solidFill>
                  <a:schemeClr val="bg1">
                    <a:lumMod val="85000"/>
                  </a:schemeClr>
                </a:solidFill>
              </a:rPr>
              <a:t>Pay/provide appropriate eye tests by an optician</a:t>
            </a:r>
          </a:p>
          <a:p>
            <a:pPr marL="342900" lvl="1" indent="0">
              <a:buNone/>
            </a:pPr>
            <a:r>
              <a:rPr lang="en-GB" dirty="0">
                <a:solidFill>
                  <a:srgbClr val="00B0F0"/>
                </a:solidFill>
              </a:rPr>
              <a:t>These regulations </a:t>
            </a:r>
            <a:r>
              <a:rPr lang="en-GB" b="1" dirty="0">
                <a:solidFill>
                  <a:srgbClr val="00B0F0"/>
                </a:solidFill>
              </a:rPr>
              <a:t>do not </a:t>
            </a:r>
            <a:r>
              <a:rPr lang="en-GB" dirty="0">
                <a:solidFill>
                  <a:srgbClr val="00B0F0"/>
                </a:solidFill>
              </a:rPr>
              <a:t>apply to students in schools/ colleges</a:t>
            </a:r>
          </a:p>
        </p:txBody>
      </p:sp>
      <p:pic>
        <p:nvPicPr>
          <p:cNvPr id="2050" name="Picture 2" descr="Related image">
            <a:extLst>
              <a:ext uri="{FF2B5EF4-FFF2-40B4-BE49-F238E27FC236}">
                <a16:creationId xmlns:a16="http://schemas.microsoft.com/office/drawing/2014/main" id="{2D7BC076-6030-47C5-9F64-58B165FE68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9794" y="2774465"/>
            <a:ext cx="3586740" cy="2434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729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01B8-7479-4D6A-B47C-DF355562D962}"/>
              </a:ext>
            </a:extLst>
          </p:cNvPr>
          <p:cNvSpPr>
            <a:spLocks noGrp="1"/>
          </p:cNvSpPr>
          <p:nvPr>
            <p:ph type="title"/>
          </p:nvPr>
        </p:nvSpPr>
        <p:spPr/>
        <p:txBody>
          <a:bodyPr/>
          <a:lstStyle/>
          <a:p>
            <a:r>
              <a:rPr lang="en-GB" dirty="0">
                <a:solidFill>
                  <a:schemeClr val="bg1">
                    <a:lumMod val="85000"/>
                  </a:schemeClr>
                </a:solidFill>
              </a:rPr>
              <a:t>Ergonomics</a:t>
            </a:r>
          </a:p>
        </p:txBody>
      </p:sp>
      <p:sp>
        <p:nvSpPr>
          <p:cNvPr id="3" name="Content Placeholder 2">
            <a:extLst>
              <a:ext uri="{FF2B5EF4-FFF2-40B4-BE49-F238E27FC236}">
                <a16:creationId xmlns:a16="http://schemas.microsoft.com/office/drawing/2014/main" id="{CC81D569-7EA6-4D0E-AA91-EA71280345EC}"/>
              </a:ext>
            </a:extLst>
          </p:cNvPr>
          <p:cNvSpPr>
            <a:spLocks noGrp="1"/>
          </p:cNvSpPr>
          <p:nvPr>
            <p:ph idx="1"/>
          </p:nvPr>
        </p:nvSpPr>
        <p:spPr/>
        <p:txBody>
          <a:bodyPr/>
          <a:lstStyle/>
          <a:p>
            <a:r>
              <a:rPr lang="en-GB" dirty="0">
                <a:solidFill>
                  <a:schemeClr val="bg1">
                    <a:lumMod val="85000"/>
                  </a:schemeClr>
                </a:solidFill>
              </a:rPr>
              <a:t>A way to ensure these regulations are met is by using </a:t>
            </a:r>
            <a:r>
              <a:rPr lang="en-GB" dirty="0">
                <a:solidFill>
                  <a:srgbClr val="FF0000"/>
                </a:solidFill>
              </a:rPr>
              <a:t>ergonomics</a:t>
            </a:r>
            <a:r>
              <a:rPr lang="en-GB" dirty="0">
                <a:solidFill>
                  <a:schemeClr val="bg1">
                    <a:lumMod val="85000"/>
                    <a:lumOff val="15000"/>
                  </a:schemeClr>
                </a:solidFill>
              </a:rPr>
              <a:t>.</a:t>
            </a:r>
          </a:p>
          <a:p>
            <a:r>
              <a:rPr lang="en-GB" dirty="0">
                <a:solidFill>
                  <a:srgbClr val="FF0000"/>
                </a:solidFill>
              </a:rPr>
              <a:t>This is the science concerned with designing safe and comfortable working environments for humans.</a:t>
            </a:r>
          </a:p>
          <a:p>
            <a:pPr lvl="1"/>
            <a:r>
              <a:rPr lang="en-GB" dirty="0">
                <a:solidFill>
                  <a:schemeClr val="bg1">
                    <a:lumMod val="85000"/>
                  </a:schemeClr>
                </a:solidFill>
              </a:rPr>
              <a:t>This includes furniture design, as well as equipment such as keyboard and mouse.</a:t>
            </a:r>
          </a:p>
        </p:txBody>
      </p:sp>
      <p:pic>
        <p:nvPicPr>
          <p:cNvPr id="3074" name="Picture 2" descr="Image result for ergonomics">
            <a:extLst>
              <a:ext uri="{FF2B5EF4-FFF2-40B4-BE49-F238E27FC236}">
                <a16:creationId xmlns:a16="http://schemas.microsoft.com/office/drawing/2014/main" id="{B4DA35EA-B6EC-4A68-B7D8-8A8A12DD628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49714" b="96000" l="10000" r="90000">
                        <a14:foregroundMark x1="24500" y1="96000" x2="24500" y2="94857"/>
                        <a14:foregroundMark x1="15250" y1="93714" x2="15250" y2="91714"/>
                        <a14:foregroundMark x1="34875" y1="64286" x2="32375" y2="72571"/>
                        <a14:foregroundMark x1="47500" y1="60857" x2="45375" y2="67714"/>
                        <a14:foregroundMark x1="59625" y1="62000" x2="59625" y2="66286"/>
                        <a14:foregroundMark x1="75500" y1="71714" x2="78625" y2="77714"/>
                      </a14:backgroundRemoval>
                    </a14:imgEffect>
                    <a14:imgEffect>
                      <a14:artisticGlowEdges/>
                    </a14:imgEffect>
                  </a14:imgLayer>
                </a14:imgProps>
              </a:ext>
              <a:ext uri="{28A0092B-C50C-407E-A947-70E740481C1C}">
                <a14:useLocalDpi xmlns:a14="http://schemas.microsoft.com/office/drawing/2010/main" val="0"/>
              </a:ext>
            </a:extLst>
          </a:blip>
          <a:srcRect t="44275"/>
          <a:stretch/>
        </p:blipFill>
        <p:spPr bwMode="auto">
          <a:xfrm>
            <a:off x="3056039" y="4430960"/>
            <a:ext cx="5715000" cy="1393294"/>
          </a:xfrm>
          <a:prstGeom prst="rect">
            <a:avLst/>
          </a:prstGeom>
          <a:noFill/>
          <a:effectLst>
            <a:glow rad="635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1426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B2AC7-EEDC-4B0D-A6A1-036E388ABEA6}"/>
              </a:ext>
            </a:extLst>
          </p:cNvPr>
          <p:cNvSpPr>
            <a:spLocks noGrp="1"/>
          </p:cNvSpPr>
          <p:nvPr>
            <p:ph type="title"/>
          </p:nvPr>
        </p:nvSpPr>
        <p:spPr/>
        <p:txBody>
          <a:bodyPr/>
          <a:lstStyle/>
          <a:p>
            <a:r>
              <a:rPr lang="en-GB" dirty="0">
                <a:solidFill>
                  <a:schemeClr val="bg1">
                    <a:lumMod val="85000"/>
                  </a:schemeClr>
                </a:solidFill>
              </a:rPr>
              <a:t>Q. Do Laser Printers have an impact on our health?</a:t>
            </a:r>
          </a:p>
        </p:txBody>
      </p:sp>
      <p:sp>
        <p:nvSpPr>
          <p:cNvPr id="3" name="Content Placeholder 2">
            <a:extLst>
              <a:ext uri="{FF2B5EF4-FFF2-40B4-BE49-F238E27FC236}">
                <a16:creationId xmlns:a16="http://schemas.microsoft.com/office/drawing/2014/main" id="{627B2A22-BB9D-4C6A-BDB3-BED0F9F433E7}"/>
              </a:ext>
            </a:extLst>
          </p:cNvPr>
          <p:cNvSpPr>
            <a:spLocks noGrp="1"/>
          </p:cNvSpPr>
          <p:nvPr>
            <p:ph idx="1"/>
          </p:nvPr>
        </p:nvSpPr>
        <p:spPr/>
        <p:txBody>
          <a:bodyPr/>
          <a:lstStyle/>
          <a:p>
            <a:r>
              <a:rPr lang="en-GB" dirty="0">
                <a:solidFill>
                  <a:schemeClr val="bg1">
                    <a:lumMod val="85000"/>
                  </a:schemeClr>
                </a:solidFill>
              </a:rPr>
              <a:t>Answer: Yes, they can. They are suggested that ozone emitted from these printers can lead to breathing problems. </a:t>
            </a:r>
          </a:p>
          <a:p>
            <a:r>
              <a:rPr lang="en-GB" dirty="0">
                <a:solidFill>
                  <a:schemeClr val="bg1">
                    <a:lumMod val="85000"/>
                  </a:schemeClr>
                </a:solidFill>
              </a:rPr>
              <a:t>A possible solution for this would be to ensure printers are situated away from where people are sitting, and have good ventilation in the immediate area. </a:t>
            </a:r>
          </a:p>
        </p:txBody>
      </p:sp>
      <p:pic>
        <p:nvPicPr>
          <p:cNvPr id="3074" name="Picture 2" descr="Image result for laser printer icon">
            <a:extLst>
              <a:ext uri="{FF2B5EF4-FFF2-40B4-BE49-F238E27FC236}">
                <a16:creationId xmlns:a16="http://schemas.microsoft.com/office/drawing/2014/main" id="{A97AC19E-9418-4E0A-8CDF-06D9E6C48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9950" y="3994150"/>
            <a:ext cx="2019300" cy="20193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laser icon">
            <a:extLst>
              <a:ext uri="{FF2B5EF4-FFF2-40B4-BE49-F238E27FC236}">
                <a16:creationId xmlns:a16="http://schemas.microsoft.com/office/drawing/2014/main" id="{3040E095-1140-4B94-AF68-D511C3C3C0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0630" y="4289425"/>
            <a:ext cx="1428750" cy="1428750"/>
          </a:xfrm>
          <a:prstGeom prst="rect">
            <a:avLst/>
          </a:prstGeom>
          <a:noFill/>
          <a:effectLst>
            <a:glow rad="1397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873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B2AC7-EEDC-4B0D-A6A1-036E388ABEA6}"/>
              </a:ext>
            </a:extLst>
          </p:cNvPr>
          <p:cNvSpPr>
            <a:spLocks noGrp="1"/>
          </p:cNvSpPr>
          <p:nvPr>
            <p:ph type="title"/>
          </p:nvPr>
        </p:nvSpPr>
        <p:spPr/>
        <p:txBody>
          <a:bodyPr/>
          <a:lstStyle/>
          <a:p>
            <a:r>
              <a:rPr lang="en-GB" dirty="0">
                <a:solidFill>
                  <a:schemeClr val="bg1">
                    <a:lumMod val="85000"/>
                  </a:schemeClr>
                </a:solidFill>
              </a:rPr>
              <a:t>Deep Vein Thrombosis (DVT)</a:t>
            </a:r>
          </a:p>
        </p:txBody>
      </p:sp>
      <p:sp>
        <p:nvSpPr>
          <p:cNvPr id="3" name="Content Placeholder 2">
            <a:extLst>
              <a:ext uri="{FF2B5EF4-FFF2-40B4-BE49-F238E27FC236}">
                <a16:creationId xmlns:a16="http://schemas.microsoft.com/office/drawing/2014/main" id="{627B2A22-BB9D-4C6A-BDB3-BED0F9F433E7}"/>
              </a:ext>
            </a:extLst>
          </p:cNvPr>
          <p:cNvSpPr>
            <a:spLocks noGrp="1"/>
          </p:cNvSpPr>
          <p:nvPr>
            <p:ph idx="1"/>
          </p:nvPr>
        </p:nvSpPr>
        <p:spPr>
          <a:xfrm>
            <a:off x="311085" y="2544365"/>
            <a:ext cx="6567189" cy="3941276"/>
          </a:xfrm>
        </p:spPr>
        <p:txBody>
          <a:bodyPr>
            <a:normAutofit fontScale="92500" lnSpcReduction="10000"/>
          </a:bodyPr>
          <a:lstStyle/>
          <a:p>
            <a:r>
              <a:rPr lang="en-GB" dirty="0">
                <a:solidFill>
                  <a:schemeClr val="bg1">
                    <a:lumMod val="85000"/>
                  </a:schemeClr>
                </a:solidFill>
              </a:rPr>
              <a:t>DVT is a condition in which a clot is formed in a leg vein.</a:t>
            </a:r>
          </a:p>
          <a:p>
            <a:r>
              <a:rPr lang="en-GB" dirty="0">
                <a:solidFill>
                  <a:schemeClr val="bg1">
                    <a:lumMod val="85000"/>
                  </a:schemeClr>
                </a:solidFill>
              </a:rPr>
              <a:t>Requires hospital treatment, and can be life threatening.</a:t>
            </a:r>
          </a:p>
          <a:p>
            <a:r>
              <a:rPr lang="en-GB" dirty="0">
                <a:solidFill>
                  <a:schemeClr val="bg1">
                    <a:lumMod val="85000"/>
                  </a:schemeClr>
                </a:solidFill>
              </a:rPr>
              <a:t>Caused by sitting for long periods of time</a:t>
            </a:r>
          </a:p>
          <a:p>
            <a:pPr marL="0" indent="0">
              <a:buNone/>
            </a:pPr>
            <a:r>
              <a:rPr lang="en-GB" dirty="0">
                <a:solidFill>
                  <a:schemeClr val="bg1">
                    <a:lumMod val="85000"/>
                  </a:schemeClr>
                </a:solidFill>
              </a:rPr>
              <a:t>Prevention</a:t>
            </a:r>
          </a:p>
          <a:p>
            <a:pPr lvl="1"/>
            <a:r>
              <a:rPr lang="en-GB" dirty="0">
                <a:solidFill>
                  <a:schemeClr val="bg1">
                    <a:lumMod val="85000"/>
                  </a:schemeClr>
                </a:solidFill>
              </a:rPr>
              <a:t>Take regular breaks</a:t>
            </a:r>
          </a:p>
          <a:p>
            <a:pPr lvl="1"/>
            <a:r>
              <a:rPr lang="en-GB" dirty="0">
                <a:solidFill>
                  <a:schemeClr val="bg1">
                    <a:lumMod val="85000"/>
                  </a:schemeClr>
                </a:solidFill>
              </a:rPr>
              <a:t>Use an adjustable chair, with feet flat on ground</a:t>
            </a:r>
          </a:p>
          <a:p>
            <a:pPr lvl="1"/>
            <a:r>
              <a:rPr lang="en-GB" dirty="0">
                <a:solidFill>
                  <a:schemeClr val="bg1">
                    <a:lumMod val="85000"/>
                  </a:schemeClr>
                </a:solidFill>
              </a:rPr>
              <a:t>Sit with a suitable posture – do not cross your legs for long periods</a:t>
            </a:r>
          </a:p>
          <a:p>
            <a:pPr lvl="1"/>
            <a:endParaRPr lang="en-GB" dirty="0"/>
          </a:p>
        </p:txBody>
      </p:sp>
      <p:pic>
        <p:nvPicPr>
          <p:cNvPr id="3074" name="Picture 2">
            <a:extLst>
              <a:ext uri="{FF2B5EF4-FFF2-40B4-BE49-F238E27FC236}">
                <a16:creationId xmlns:a16="http://schemas.microsoft.com/office/drawing/2014/main" id="{A97AC19E-9418-4E0A-8CDF-06D9E6C4804C}"/>
              </a:ext>
            </a:extLst>
          </p:cNvPr>
          <p:cNvPicPr>
            <a:picLocks noChangeAspect="1" noChangeArrowheads="1"/>
          </p:cNvPicPr>
          <p:nvPr/>
        </p:nvPicPr>
        <p:blipFill>
          <a:blip r:embed="rId2"/>
          <a:stretch>
            <a:fillRect/>
          </a:stretch>
        </p:blipFill>
        <p:spPr bwMode="auto">
          <a:xfrm>
            <a:off x="7098596" y="2285356"/>
            <a:ext cx="3404215" cy="3583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307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1595B-C4E1-490C-892C-5C91F8AB74E7}"/>
              </a:ext>
            </a:extLst>
          </p:cNvPr>
          <p:cNvSpPr>
            <a:spLocks noGrp="1"/>
          </p:cNvSpPr>
          <p:nvPr>
            <p:ph type="title"/>
          </p:nvPr>
        </p:nvSpPr>
        <p:spPr/>
        <p:txBody>
          <a:bodyPr/>
          <a:lstStyle/>
          <a:p>
            <a:r>
              <a:rPr lang="en-GB" dirty="0">
                <a:solidFill>
                  <a:schemeClr val="bg1">
                    <a:lumMod val="85000"/>
                  </a:schemeClr>
                </a:solidFill>
              </a:rPr>
              <a:t>Teleworking</a:t>
            </a:r>
          </a:p>
        </p:txBody>
      </p:sp>
      <p:sp>
        <p:nvSpPr>
          <p:cNvPr id="3" name="Content Placeholder 2">
            <a:extLst>
              <a:ext uri="{FF2B5EF4-FFF2-40B4-BE49-F238E27FC236}">
                <a16:creationId xmlns:a16="http://schemas.microsoft.com/office/drawing/2014/main" id="{3BCE1D46-4C74-40B2-AFE4-C0BF15E43679}"/>
              </a:ext>
            </a:extLst>
          </p:cNvPr>
          <p:cNvSpPr>
            <a:spLocks noGrp="1"/>
          </p:cNvSpPr>
          <p:nvPr>
            <p:ph idx="1"/>
          </p:nvPr>
        </p:nvSpPr>
        <p:spPr>
          <a:xfrm>
            <a:off x="405353" y="2073897"/>
            <a:ext cx="9159707" cy="4225293"/>
          </a:xfrm>
        </p:spPr>
        <p:txBody>
          <a:bodyPr>
            <a:normAutofit fontScale="92500" lnSpcReduction="10000"/>
          </a:bodyPr>
          <a:lstStyle/>
          <a:p>
            <a:r>
              <a:rPr lang="en-GB" dirty="0">
                <a:solidFill>
                  <a:srgbClr val="FF0000"/>
                </a:solidFill>
              </a:rPr>
              <a:t>Using technology and telecommunications to work </a:t>
            </a:r>
          </a:p>
          <a:p>
            <a:pPr marL="0" indent="0">
              <a:buNone/>
            </a:pPr>
            <a:r>
              <a:rPr lang="en-GB" dirty="0">
                <a:solidFill>
                  <a:srgbClr val="FF0000"/>
                </a:solidFill>
              </a:rPr>
              <a:t>   from home, which replaces work related travel.</a:t>
            </a:r>
          </a:p>
          <a:p>
            <a:endParaRPr lang="en-GB" dirty="0">
              <a:solidFill>
                <a:schemeClr val="bg1"/>
              </a:solidFill>
            </a:endParaRPr>
          </a:p>
          <a:p>
            <a:r>
              <a:rPr lang="en-GB" dirty="0">
                <a:solidFill>
                  <a:schemeClr val="bg1">
                    <a:lumMod val="85000"/>
                  </a:schemeClr>
                </a:solidFill>
              </a:rPr>
              <a:t>Saves on travel costs.</a:t>
            </a:r>
          </a:p>
          <a:p>
            <a:r>
              <a:rPr lang="en-GB" dirty="0">
                <a:solidFill>
                  <a:schemeClr val="bg1">
                    <a:lumMod val="85000"/>
                  </a:schemeClr>
                </a:solidFill>
              </a:rPr>
              <a:t>Uses tablets and other mobile devices to access the internet/etc and video conferencing.</a:t>
            </a:r>
          </a:p>
          <a:p>
            <a:r>
              <a:rPr lang="en-GB" dirty="0">
                <a:solidFill>
                  <a:schemeClr val="bg1">
                    <a:lumMod val="85000"/>
                  </a:schemeClr>
                </a:solidFill>
              </a:rPr>
              <a:t>Reduces boundaries between work and home, often making the boundary indistinct. </a:t>
            </a:r>
          </a:p>
          <a:p>
            <a:r>
              <a:rPr lang="en-GB" dirty="0">
                <a:solidFill>
                  <a:schemeClr val="bg1">
                    <a:lumMod val="85000"/>
                  </a:schemeClr>
                </a:solidFill>
              </a:rPr>
              <a:t>Companies can offer 24/7 services.</a:t>
            </a:r>
          </a:p>
          <a:p>
            <a:r>
              <a:rPr lang="en-GB" dirty="0">
                <a:solidFill>
                  <a:schemeClr val="bg1">
                    <a:lumMod val="85000"/>
                  </a:schemeClr>
                </a:solidFill>
              </a:rPr>
              <a:t>This means staff can often work day shifts/night shifts.</a:t>
            </a:r>
          </a:p>
        </p:txBody>
      </p:sp>
      <p:pic>
        <p:nvPicPr>
          <p:cNvPr id="1026" name="Picture 2" descr="Image result for teleworking">
            <a:extLst>
              <a:ext uri="{FF2B5EF4-FFF2-40B4-BE49-F238E27FC236}">
                <a16:creationId xmlns:a16="http://schemas.microsoft.com/office/drawing/2014/main" id="{49BAC974-D9BE-4B2C-A7D4-CB56D45A8D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7279"/>
          <a:stretch/>
        </p:blipFill>
        <p:spPr bwMode="auto">
          <a:xfrm>
            <a:off x="8074931" y="340135"/>
            <a:ext cx="3828670" cy="2375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691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p:cTn id="23"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p:cTn id="39"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42" dur="10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p:cTn id="47"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50" dur="1000"/>
                                        <p:tgtEl>
                                          <p:spTgt spid="3">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p:cTn id="55"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6"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57" dur="1000" fill="hold"/>
                                        <p:tgtEl>
                                          <p:spTgt spid="3">
                                            <p:txEl>
                                              <p:pRg st="7" end="7"/>
                                            </p:txEl>
                                          </p:spTgt>
                                        </p:tgtEl>
                                        <p:attrNameLst>
                                          <p:attrName>style.rotation</p:attrName>
                                        </p:attrNameLst>
                                      </p:cBhvr>
                                      <p:tavLst>
                                        <p:tav tm="0">
                                          <p:val>
                                            <p:fltVal val="90"/>
                                          </p:val>
                                        </p:tav>
                                        <p:tav tm="100000">
                                          <p:val>
                                            <p:fltVal val="0"/>
                                          </p:val>
                                        </p:tav>
                                      </p:tavLst>
                                    </p:anim>
                                    <p:animEffect transition="in" filter="fade">
                                      <p:cBhvr>
                                        <p:cTn id="58"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53A75-EBAF-4A25-AE3F-0333CF8E3B42}"/>
              </a:ext>
            </a:extLst>
          </p:cNvPr>
          <p:cNvSpPr>
            <a:spLocks noGrp="1"/>
          </p:cNvSpPr>
          <p:nvPr>
            <p:ph type="title"/>
          </p:nvPr>
        </p:nvSpPr>
        <p:spPr/>
        <p:txBody>
          <a:bodyPr/>
          <a:lstStyle/>
          <a:p>
            <a:r>
              <a:rPr lang="en-GB" dirty="0">
                <a:solidFill>
                  <a:schemeClr val="bg1">
                    <a:lumMod val="85000"/>
                  </a:schemeClr>
                </a:solidFill>
              </a:rPr>
              <a:t>Health Problems associated with Teleworking</a:t>
            </a:r>
          </a:p>
        </p:txBody>
      </p:sp>
      <p:sp>
        <p:nvSpPr>
          <p:cNvPr id="3" name="Content Placeholder 2">
            <a:extLst>
              <a:ext uri="{FF2B5EF4-FFF2-40B4-BE49-F238E27FC236}">
                <a16:creationId xmlns:a16="http://schemas.microsoft.com/office/drawing/2014/main" id="{0198E63B-B074-4C4C-B544-24A662163492}"/>
              </a:ext>
            </a:extLst>
          </p:cNvPr>
          <p:cNvSpPr>
            <a:spLocks noGrp="1"/>
          </p:cNvSpPr>
          <p:nvPr>
            <p:ph idx="1"/>
          </p:nvPr>
        </p:nvSpPr>
        <p:spPr/>
        <p:txBody>
          <a:bodyPr/>
          <a:lstStyle/>
          <a:p>
            <a:r>
              <a:rPr lang="en-GB" dirty="0">
                <a:solidFill>
                  <a:schemeClr val="bg1">
                    <a:lumMod val="85000"/>
                  </a:schemeClr>
                </a:solidFill>
              </a:rPr>
              <a:t>If work is taken home, employees can find that their stress levels are increased as there is ‘no escape’ from work life.</a:t>
            </a:r>
          </a:p>
          <a:p>
            <a:r>
              <a:rPr lang="en-GB" dirty="0">
                <a:solidFill>
                  <a:schemeClr val="bg1">
                    <a:lumMod val="85000"/>
                  </a:schemeClr>
                </a:solidFill>
              </a:rPr>
              <a:t>Lack of support/inadequate equipment</a:t>
            </a:r>
          </a:p>
          <a:p>
            <a:r>
              <a:rPr lang="en-GB" dirty="0">
                <a:solidFill>
                  <a:schemeClr val="bg1">
                    <a:lumMod val="85000"/>
                  </a:schemeClr>
                </a:solidFill>
              </a:rPr>
              <a:t>Social Isolation</a:t>
            </a:r>
          </a:p>
          <a:p>
            <a:r>
              <a:rPr lang="en-GB" dirty="0">
                <a:solidFill>
                  <a:schemeClr val="bg1">
                    <a:lumMod val="85000"/>
                  </a:schemeClr>
                </a:solidFill>
              </a:rPr>
              <a:t>Can work longer hours than paid/ required (aka presenteeism)</a:t>
            </a:r>
          </a:p>
          <a:p>
            <a:r>
              <a:rPr lang="en-GB" dirty="0">
                <a:solidFill>
                  <a:schemeClr val="bg1">
                    <a:lumMod val="85000"/>
                  </a:schemeClr>
                </a:solidFill>
              </a:rPr>
              <a:t>Increased stress levels / feeling of overburdening</a:t>
            </a:r>
          </a:p>
          <a:p>
            <a:endParaRPr lang="en-GB" dirty="0"/>
          </a:p>
        </p:txBody>
      </p:sp>
      <p:pic>
        <p:nvPicPr>
          <p:cNvPr id="2050" name="Picture 2" descr="Image result for teleworking sign">
            <a:extLst>
              <a:ext uri="{FF2B5EF4-FFF2-40B4-BE49-F238E27FC236}">
                <a16:creationId xmlns:a16="http://schemas.microsoft.com/office/drawing/2014/main" id="{6A3242A2-19EA-45F6-8921-C144862FC29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8800" b="94000" l="7000" r="94400">
                        <a14:foregroundMark x1="50200" y1="8800" x2="58000" y2="15200"/>
                        <a14:foregroundMark x1="8200" y1="46400" x2="7000" y2="46000"/>
                        <a14:foregroundMark x1="94400" y1="47600" x2="93400" y2="47600"/>
                        <a14:foregroundMark x1="67200" y1="58000" x2="65400" y2="62800"/>
                        <a14:foregroundMark x1="57800" y1="40600" x2="59600" y2="38800"/>
                        <a14:foregroundMark x1="36000" y1="60000" x2="38400" y2="60000"/>
                        <a14:foregroundMark x1="49600" y1="67200" x2="49600" y2="71000"/>
                        <a14:foregroundMark x1="65400" y1="93400" x2="51800" y2="94000"/>
                        <a14:foregroundMark x1="63000" y1="48200" x2="63800" y2="48200"/>
                      </a14:backgroundRemoval>
                    </a14:imgEffect>
                  </a14:imgLayer>
                </a14:imgProps>
              </a:ext>
              <a:ext uri="{28A0092B-C50C-407E-A947-70E740481C1C}">
                <a14:useLocalDpi xmlns:a14="http://schemas.microsoft.com/office/drawing/2010/main" val="0"/>
              </a:ext>
            </a:extLst>
          </a:blip>
          <a:srcRect/>
          <a:stretch>
            <a:fillRect/>
          </a:stretch>
        </p:blipFill>
        <p:spPr bwMode="auto">
          <a:xfrm>
            <a:off x="9401876" y="4085734"/>
            <a:ext cx="2679701" cy="2679701"/>
          </a:xfrm>
          <a:prstGeom prst="rect">
            <a:avLst/>
          </a:prstGeom>
          <a:noFill/>
          <a:effectLst>
            <a:glow rad="63500">
              <a:schemeClr val="accent1">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6226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A37C3-E2B9-4D1D-A813-C8E8B9A52184}"/>
              </a:ext>
            </a:extLst>
          </p:cNvPr>
          <p:cNvSpPr>
            <a:spLocks noGrp="1"/>
          </p:cNvSpPr>
          <p:nvPr>
            <p:ph type="title"/>
          </p:nvPr>
        </p:nvSpPr>
        <p:spPr>
          <a:xfrm>
            <a:off x="280700" y="5375476"/>
            <a:ext cx="7772400" cy="1223963"/>
          </a:xfrm>
        </p:spPr>
        <p:txBody>
          <a:bodyPr/>
          <a:lstStyle/>
          <a:p>
            <a:r>
              <a:rPr lang="en-GB" dirty="0" err="1">
                <a:solidFill>
                  <a:schemeClr val="bg1"/>
                </a:solidFill>
              </a:rPr>
              <a:t>WALT</a:t>
            </a:r>
            <a:r>
              <a:rPr lang="en-GB" cap="none" dirty="0" err="1">
                <a:solidFill>
                  <a:schemeClr val="bg1"/>
                </a:solidFill>
              </a:rPr>
              <a:t>er</a:t>
            </a:r>
            <a:endParaRPr lang="en-GB" dirty="0">
              <a:solidFill>
                <a:schemeClr val="bg1"/>
              </a:solidFill>
            </a:endParaRPr>
          </a:p>
        </p:txBody>
      </p:sp>
      <p:sp>
        <p:nvSpPr>
          <p:cNvPr id="5" name="Speech Bubble: Rectangle 4">
            <a:extLst>
              <a:ext uri="{FF2B5EF4-FFF2-40B4-BE49-F238E27FC236}">
                <a16:creationId xmlns:a16="http://schemas.microsoft.com/office/drawing/2014/main" id="{68993BD5-E96D-4564-87B9-E78F2A76CC04}"/>
              </a:ext>
            </a:extLst>
          </p:cNvPr>
          <p:cNvSpPr/>
          <p:nvPr/>
        </p:nvSpPr>
        <p:spPr>
          <a:xfrm>
            <a:off x="2129441" y="558344"/>
            <a:ext cx="8373539" cy="3672407"/>
          </a:xfrm>
          <a:prstGeom prst="wedgeRectCallout">
            <a:avLst>
              <a:gd name="adj1" fmla="val 36167"/>
              <a:gd name="adj2" fmla="val 62983"/>
            </a:avLst>
          </a:prstGeom>
          <a:noFill/>
          <a:ln w="571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14313" indent="-214313">
              <a:buFont typeface="Arial" panose="020B0604020202020204" pitchFamily="34" charset="0"/>
              <a:buChar char="•"/>
            </a:pPr>
            <a:r>
              <a:rPr lang="en-GB" sz="2000" dirty="0"/>
              <a:t>List 5 hazards related to ICT that should be addressed by an employer.</a:t>
            </a:r>
          </a:p>
          <a:p>
            <a:pPr marL="214313" indent="-214313">
              <a:buFont typeface="Arial" panose="020B0604020202020204" pitchFamily="34" charset="0"/>
              <a:buChar char="•"/>
            </a:pPr>
            <a:r>
              <a:rPr lang="en-GB" sz="2000" dirty="0"/>
              <a:t>Surmise how employers can address these issues in the workplace</a:t>
            </a:r>
          </a:p>
          <a:p>
            <a:pPr marL="214313" indent="-214313">
              <a:buFont typeface="Arial" panose="020B0604020202020204" pitchFamily="34" charset="0"/>
              <a:buChar char="•"/>
            </a:pPr>
            <a:r>
              <a:rPr lang="en-GB" sz="2000" dirty="0"/>
              <a:t>Explain the Term “Teleworking”</a:t>
            </a:r>
          </a:p>
          <a:p>
            <a:pPr marL="214313" indent="-214313">
              <a:buFont typeface="Arial" panose="020B0604020202020204" pitchFamily="34" charset="0"/>
              <a:buChar char="•"/>
            </a:pPr>
            <a:r>
              <a:rPr lang="en-GB" sz="2000" dirty="0"/>
              <a:t>Give three examples of health problems associated with teleworking</a:t>
            </a:r>
          </a:p>
          <a:p>
            <a:pPr marL="214313" indent="-214313">
              <a:buFont typeface="Arial" panose="020B0604020202020204" pitchFamily="34" charset="0"/>
              <a:buChar char="•"/>
            </a:pPr>
            <a:r>
              <a:rPr lang="en-GB" sz="2000" dirty="0"/>
              <a:t>Describe the causes, symptoms and prevention of Deep Vein Thrombosis</a:t>
            </a:r>
          </a:p>
          <a:p>
            <a:endParaRPr lang="en-GB" dirty="0"/>
          </a:p>
          <a:p>
            <a:pPr algn="ctr"/>
            <a:r>
              <a:rPr lang="en-GB" dirty="0"/>
              <a:t> </a:t>
            </a:r>
          </a:p>
        </p:txBody>
      </p:sp>
      <p:pic>
        <p:nvPicPr>
          <p:cNvPr id="4" name="Content Placeholder 1">
            <a:extLst>
              <a:ext uri="{FF2B5EF4-FFF2-40B4-BE49-F238E27FC236}">
                <a16:creationId xmlns:a16="http://schemas.microsoft.com/office/drawing/2014/main" id="{4E13202A-6AB1-4326-A914-CAD023A42BE4}"/>
              </a:ext>
            </a:extLst>
          </p:cNvPr>
          <p:cNvPicPr>
            <a:picLocks noGrp="1"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26025" y="4349977"/>
            <a:ext cx="1871929" cy="2510789"/>
          </a:xfrm>
          <a:prstGeom prst="rect">
            <a:avLst/>
          </a:prstGeom>
        </p:spPr>
      </p:pic>
    </p:spTree>
    <p:extLst>
      <p:ext uri="{BB962C8B-B14F-4D97-AF65-F5344CB8AC3E}">
        <p14:creationId xmlns:p14="http://schemas.microsoft.com/office/powerpoint/2010/main" val="1164835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gradFill flip="none" rotWithShape="1">
          <a:gsLst>
            <a:gs pos="98000">
              <a:srgbClr val="000A1E"/>
            </a:gs>
            <a:gs pos="0">
              <a:srgbClr val="00206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1A355-F209-4099-8849-B6DE30ADD0C8}"/>
              </a:ext>
            </a:extLst>
          </p:cNvPr>
          <p:cNvSpPr>
            <a:spLocks noGrp="1"/>
          </p:cNvSpPr>
          <p:nvPr>
            <p:ph type="title"/>
          </p:nvPr>
        </p:nvSpPr>
        <p:spPr/>
        <p:txBody>
          <a:bodyPr/>
          <a:lstStyle/>
          <a:p>
            <a:r>
              <a:rPr lang="en-GB" dirty="0">
                <a:solidFill>
                  <a:schemeClr val="bg1">
                    <a:lumMod val="85000"/>
                  </a:schemeClr>
                </a:solidFill>
              </a:rPr>
              <a:t>Checkpoint</a:t>
            </a:r>
          </a:p>
        </p:txBody>
      </p:sp>
      <p:sp>
        <p:nvSpPr>
          <p:cNvPr id="3" name="Content Placeholder 2">
            <a:extLst>
              <a:ext uri="{FF2B5EF4-FFF2-40B4-BE49-F238E27FC236}">
                <a16:creationId xmlns:a16="http://schemas.microsoft.com/office/drawing/2014/main" id="{C87737E0-449C-4CCB-9F0B-3F27A82AF0A9}"/>
              </a:ext>
            </a:extLst>
          </p:cNvPr>
          <p:cNvSpPr>
            <a:spLocks noGrp="1"/>
          </p:cNvSpPr>
          <p:nvPr>
            <p:ph idx="1"/>
          </p:nvPr>
        </p:nvSpPr>
        <p:spPr/>
        <p:txBody>
          <a:bodyPr>
            <a:normAutofit/>
          </a:bodyPr>
          <a:lstStyle/>
          <a:p>
            <a:endParaRPr lang="en-GB" dirty="0"/>
          </a:p>
          <a:p>
            <a:r>
              <a:rPr lang="en-GB" dirty="0">
                <a:solidFill>
                  <a:schemeClr val="bg1">
                    <a:lumMod val="85000"/>
                  </a:schemeClr>
                </a:solidFill>
              </a:rPr>
              <a:t>Health problems associated with the regular use of computers include RSI, back strain and eye strain.</a:t>
            </a:r>
          </a:p>
          <a:p>
            <a:r>
              <a:rPr lang="en-GB" dirty="0">
                <a:solidFill>
                  <a:schemeClr val="bg1">
                    <a:lumMod val="85000"/>
                  </a:schemeClr>
                </a:solidFill>
              </a:rPr>
              <a:t>By using ergonomically designed furniture, we can help to reduce these risks.</a:t>
            </a:r>
          </a:p>
          <a:p>
            <a:r>
              <a:rPr lang="en-GB" dirty="0">
                <a:solidFill>
                  <a:schemeClr val="bg1">
                    <a:lumMod val="85000"/>
                  </a:schemeClr>
                </a:solidFill>
              </a:rPr>
              <a:t>Employers have an obligation to provide a safe working environment for employers, whether or not the work is conducted at home (teleworking), or in the office.</a:t>
            </a:r>
          </a:p>
          <a:p>
            <a:r>
              <a:rPr lang="en-GB" dirty="0">
                <a:solidFill>
                  <a:schemeClr val="bg1">
                    <a:lumMod val="85000"/>
                  </a:schemeClr>
                </a:solidFill>
              </a:rPr>
              <a:t>The Health and Safety at Work etc. Act 1974 states this responsibility. </a:t>
            </a:r>
          </a:p>
        </p:txBody>
      </p:sp>
      <p:pic>
        <p:nvPicPr>
          <p:cNvPr id="1028" name="Picture 4" descr="Image result for checkpoint icon">
            <a:extLst>
              <a:ext uri="{FF2B5EF4-FFF2-40B4-BE49-F238E27FC236}">
                <a16:creationId xmlns:a16="http://schemas.microsoft.com/office/drawing/2014/main" id="{7A1E6C44-5C13-48D0-B1EE-795016810C85}"/>
              </a:ext>
            </a:extLst>
          </p:cNvPr>
          <p:cNvPicPr>
            <a:picLocks noChangeAspect="1" noChangeArrowheads="1"/>
          </p:cNvPicPr>
          <p:nvPr/>
        </p:nvPicPr>
        <p:blipFill>
          <a:blip r:embed="rId2">
            <a:duotone>
              <a:schemeClr val="accent5">
                <a:shade val="45000"/>
                <a:satMod val="135000"/>
              </a:schemeClr>
              <a:prstClr val="white"/>
            </a:duotone>
            <a:extLst>
              <a:ext uri="{BEBA8EAE-BF5A-486C-A8C5-ECC9F3942E4B}">
                <a14:imgProps xmlns:a14="http://schemas.microsoft.com/office/drawing/2010/main">
                  <a14:imgLayer r:embed="rId3">
                    <a14:imgEffect>
                      <a14:backgroundRemoval t="2667" b="95556" l="9778" r="89778">
                        <a14:foregroundMark x1="30667" y1="40889" x2="32000" y2="48444"/>
                        <a14:foregroundMark x1="34667" y1="95111" x2="33333" y2="95556"/>
                        <a14:foregroundMark x1="45333" y1="7111" x2="48000" y2="7111"/>
                        <a14:foregroundMark x1="34222" y1="2667" x2="32889"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8976321" y="317211"/>
            <a:ext cx="1384587" cy="1384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7324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922336" cy="1325563"/>
          </a:xfrm>
        </p:spPr>
        <p:txBody>
          <a:bodyPr/>
          <a:lstStyle/>
          <a:p>
            <a:r>
              <a:rPr lang="en-GB" dirty="0">
                <a:solidFill>
                  <a:schemeClr val="bg1"/>
                </a:solidFill>
              </a:rPr>
              <a:t>Internet Misuse</a:t>
            </a:r>
          </a:p>
        </p:txBody>
      </p:sp>
      <p:sp>
        <p:nvSpPr>
          <p:cNvPr id="3" name="Content Placeholder 2"/>
          <p:cNvSpPr>
            <a:spLocks noGrp="1"/>
          </p:cNvSpPr>
          <p:nvPr>
            <p:ph idx="1"/>
          </p:nvPr>
        </p:nvSpPr>
        <p:spPr>
          <a:xfrm>
            <a:off x="9002598" y="3866526"/>
            <a:ext cx="3073138" cy="2906631"/>
          </a:xfrm>
          <a:solidFill>
            <a:schemeClr val="tx1"/>
          </a:solidFill>
          <a:ln w="76200">
            <a:solidFill>
              <a:srgbClr val="FF0000"/>
            </a:solidFill>
          </a:ln>
        </p:spPr>
        <p:txBody>
          <a:bodyPr>
            <a:normAutofit fontScale="62500" lnSpcReduction="20000"/>
          </a:bodyPr>
          <a:lstStyle/>
          <a:p>
            <a:endParaRPr lang="en-GB" sz="1300" dirty="0">
              <a:solidFill>
                <a:schemeClr val="bg1"/>
              </a:solidFill>
            </a:endParaRPr>
          </a:p>
          <a:p>
            <a:r>
              <a:rPr lang="en-GB" dirty="0">
                <a:solidFill>
                  <a:schemeClr val="bg1"/>
                </a:solidFill>
              </a:rPr>
              <a:t>describe the ethical impact of technology on society, referring to the following: </a:t>
            </a:r>
          </a:p>
          <a:p>
            <a:pPr lvl="1"/>
            <a:r>
              <a:rPr lang="en-GB" dirty="0">
                <a:solidFill>
                  <a:srgbClr val="FFFF00"/>
                </a:solidFill>
              </a:rPr>
              <a:t>internet misuse; </a:t>
            </a:r>
          </a:p>
          <a:p>
            <a:pPr lvl="1"/>
            <a:r>
              <a:rPr lang="en-GB" dirty="0">
                <a:solidFill>
                  <a:schemeClr val="bg1"/>
                </a:solidFill>
              </a:rPr>
              <a:t>access to personal information; </a:t>
            </a:r>
          </a:p>
          <a:p>
            <a:pPr lvl="1"/>
            <a:r>
              <a:rPr lang="en-GB" dirty="0">
                <a:solidFill>
                  <a:schemeClr val="bg1"/>
                </a:solidFill>
              </a:rPr>
              <a:t>social media misuse; </a:t>
            </a:r>
          </a:p>
          <a:p>
            <a:pPr lvl="1"/>
            <a:r>
              <a:rPr lang="en-GB" dirty="0">
                <a:solidFill>
                  <a:schemeClr val="bg1"/>
                </a:solidFill>
              </a:rPr>
              <a:t>the implications of global positioning system (GPS) and tracking; </a:t>
            </a:r>
          </a:p>
          <a:p>
            <a:pPr lvl="1"/>
            <a:r>
              <a:rPr lang="en-GB" dirty="0">
                <a:solidFill>
                  <a:schemeClr val="bg1"/>
                </a:solidFill>
              </a:rPr>
              <a:t>concerns about the security of personal data.</a:t>
            </a:r>
          </a:p>
        </p:txBody>
      </p:sp>
      <p:sp>
        <p:nvSpPr>
          <p:cNvPr id="4" name="TextBox 3"/>
          <p:cNvSpPr txBox="1"/>
          <p:nvPr/>
        </p:nvSpPr>
        <p:spPr>
          <a:xfrm>
            <a:off x="-1" y="1435953"/>
            <a:ext cx="8936611" cy="5078313"/>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chemeClr val="bg1"/>
                </a:solidFill>
              </a:rPr>
              <a:t>Think about the following situations and think about whether it is right or wrong:</a:t>
            </a:r>
          </a:p>
          <a:p>
            <a:pPr marL="742950" lvl="1" indent="-285750">
              <a:buFont typeface="Arial" panose="020B0604020202020204" pitchFamily="34" charset="0"/>
              <a:buChar char="•"/>
            </a:pPr>
            <a:r>
              <a:rPr lang="en-GB" dirty="0">
                <a:solidFill>
                  <a:schemeClr val="bg1"/>
                </a:solidFill>
              </a:rPr>
              <a:t>Copying work from a website and using it as your own </a:t>
            </a:r>
          </a:p>
          <a:p>
            <a:pPr marL="742950" lvl="1" indent="-285750">
              <a:buFont typeface="Arial" panose="020B0604020202020204" pitchFamily="34" charset="0"/>
              <a:buChar char="•"/>
            </a:pPr>
            <a:r>
              <a:rPr lang="en-GB" dirty="0">
                <a:solidFill>
                  <a:schemeClr val="bg1"/>
                </a:solidFill>
              </a:rPr>
              <a:t>Copying a CD you have bought for a friend </a:t>
            </a:r>
          </a:p>
          <a:p>
            <a:pPr marL="742950" lvl="1" indent="-285750">
              <a:buFont typeface="Arial" panose="020B0604020202020204" pitchFamily="34" charset="0"/>
              <a:buChar char="•"/>
            </a:pPr>
            <a:r>
              <a:rPr lang="en-GB" dirty="0">
                <a:solidFill>
                  <a:schemeClr val="bg1"/>
                </a:solidFill>
              </a:rPr>
              <a:t>Spreading malicious rumours about someone online </a:t>
            </a:r>
          </a:p>
          <a:p>
            <a:pPr marL="742950" lvl="1" indent="-285750">
              <a:buFont typeface="Arial" panose="020B0604020202020204" pitchFamily="34" charset="0"/>
              <a:buChar char="•"/>
            </a:pPr>
            <a:r>
              <a:rPr lang="en-GB" dirty="0">
                <a:solidFill>
                  <a:schemeClr val="bg1"/>
                </a:solidFill>
              </a:rPr>
              <a:t>Using someone else’s password </a:t>
            </a:r>
          </a:p>
          <a:p>
            <a:pPr marL="742950" lvl="1" indent="-285750">
              <a:buFont typeface="Arial" panose="020B0604020202020204" pitchFamily="34" charset="0"/>
              <a:buChar char="•"/>
            </a:pPr>
            <a:r>
              <a:rPr lang="en-GB" dirty="0">
                <a:solidFill>
                  <a:schemeClr val="bg1"/>
                </a:solidFill>
              </a:rPr>
              <a:t>Taking and distributing a picture of someone with the purpose of embarrassing them </a:t>
            </a:r>
          </a:p>
          <a:p>
            <a:pPr marL="285750" indent="-285750">
              <a:buFont typeface="Arial" panose="020B0604020202020204" pitchFamily="34" charset="0"/>
              <a:buChar char="•"/>
            </a:pPr>
            <a:endParaRPr lang="en-GB" dirty="0">
              <a:solidFill>
                <a:schemeClr val="bg1"/>
              </a:solidFill>
            </a:endParaRPr>
          </a:p>
          <a:p>
            <a:pPr marL="285750" indent="-285750">
              <a:buFont typeface="Arial" panose="020B0604020202020204" pitchFamily="34" charset="0"/>
              <a:buChar char="•"/>
            </a:pPr>
            <a:r>
              <a:rPr lang="en-GB" u="sng" dirty="0">
                <a:solidFill>
                  <a:schemeClr val="bg1"/>
                </a:solidFill>
              </a:rPr>
              <a:t>Ethical Issues</a:t>
            </a:r>
            <a:r>
              <a:rPr lang="en-GB" dirty="0">
                <a:solidFill>
                  <a:schemeClr val="bg1"/>
                </a:solidFill>
              </a:rPr>
              <a:t>: Your sense of what is right and what is wrong. </a:t>
            </a:r>
          </a:p>
          <a:p>
            <a:pPr marL="285750" indent="-285750">
              <a:buFont typeface="Arial" panose="020B0604020202020204" pitchFamily="34" charset="0"/>
              <a:buChar char="•"/>
            </a:pPr>
            <a:endParaRPr lang="en-GB" dirty="0">
              <a:solidFill>
                <a:schemeClr val="bg1"/>
              </a:solidFill>
            </a:endParaRPr>
          </a:p>
          <a:p>
            <a:pPr marL="285750" indent="-285750">
              <a:buFont typeface="Arial" panose="020B0604020202020204" pitchFamily="34" charset="0"/>
              <a:buChar char="•"/>
            </a:pPr>
            <a:r>
              <a:rPr lang="en-GB" u="sng" dirty="0">
                <a:solidFill>
                  <a:schemeClr val="bg1"/>
                </a:solidFill>
              </a:rPr>
              <a:t>Plagiarism</a:t>
            </a:r>
            <a:r>
              <a:rPr lang="en-GB" dirty="0">
                <a:solidFill>
                  <a:schemeClr val="bg1"/>
                </a:solidFill>
              </a:rPr>
              <a:t>: The internet is an excellent source of information on almost anything you want to find out about. The problem is that it is all too easy for someone to copy work from the internet and use it as their own. Educators also have a big issue with </a:t>
            </a:r>
            <a:r>
              <a:rPr lang="en-GB" b="1" dirty="0">
                <a:solidFill>
                  <a:schemeClr val="bg1"/>
                </a:solidFill>
              </a:rPr>
              <a:t>plagiarism</a:t>
            </a:r>
            <a:r>
              <a:rPr lang="en-GB" dirty="0">
                <a:solidFill>
                  <a:schemeClr val="bg1"/>
                </a:solidFill>
              </a:rPr>
              <a:t> in schools and universities as students can easily copy work from the internet and try to pass it off as their own.</a:t>
            </a:r>
          </a:p>
          <a:p>
            <a:pPr marL="285750" indent="-285750">
              <a:buFont typeface="Arial" panose="020B0604020202020204" pitchFamily="34" charset="0"/>
              <a:buChar char="•"/>
            </a:pPr>
            <a:endParaRPr lang="en-GB" dirty="0">
              <a:solidFill>
                <a:schemeClr val="bg1"/>
              </a:solidFill>
            </a:endParaRPr>
          </a:p>
          <a:p>
            <a:pPr marL="285750" indent="-285750">
              <a:buFont typeface="Arial" panose="020B0604020202020204" pitchFamily="34" charset="0"/>
              <a:buChar char="•"/>
            </a:pPr>
            <a:r>
              <a:rPr lang="en-GB" b="1" u="sng" dirty="0">
                <a:solidFill>
                  <a:schemeClr val="bg1"/>
                </a:solidFill>
              </a:rPr>
              <a:t>Hackers</a:t>
            </a:r>
            <a:r>
              <a:rPr lang="en-GB" dirty="0">
                <a:solidFill>
                  <a:schemeClr val="bg1"/>
                </a:solidFill>
              </a:rPr>
              <a:t> can misuse the internet to gain unauthorised access to personal and/or private data. Another problem with internet misuse is the spread of </a:t>
            </a:r>
            <a:r>
              <a:rPr lang="en-GB" b="1" dirty="0">
                <a:solidFill>
                  <a:schemeClr val="bg1"/>
                </a:solidFill>
              </a:rPr>
              <a:t>viruses</a:t>
            </a:r>
            <a:r>
              <a:rPr lang="en-GB" dirty="0">
                <a:solidFill>
                  <a:schemeClr val="bg1"/>
                </a:solidFill>
              </a:rPr>
              <a:t>. Viruses don’t happen accidentally. </a:t>
            </a:r>
          </a:p>
        </p:txBody>
      </p:sp>
      <p:grpSp>
        <p:nvGrpSpPr>
          <p:cNvPr id="6" name="Group 5"/>
          <p:cNvGrpSpPr/>
          <p:nvPr/>
        </p:nvGrpSpPr>
        <p:grpSpPr>
          <a:xfrm>
            <a:off x="9149499" y="154648"/>
            <a:ext cx="2926237" cy="2843079"/>
            <a:chOff x="8948786" y="173501"/>
            <a:chExt cx="2926237" cy="2843079"/>
          </a:xfrm>
        </p:grpSpPr>
        <p:sp>
          <p:nvSpPr>
            <p:cNvPr id="7" name="Pentagon 6"/>
            <p:cNvSpPr/>
            <p:nvPr/>
          </p:nvSpPr>
          <p:spPr>
            <a:xfrm rot="5400000">
              <a:off x="9294134" y="696304"/>
              <a:ext cx="2254981" cy="2385571"/>
            </a:xfrm>
            <a:prstGeom prst="homePlate">
              <a:avLst/>
            </a:prstGeom>
            <a:solidFill>
              <a:schemeClr val="bg1">
                <a:lumMod val="9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GB" dirty="0">
                <a:solidFill>
                  <a:srgbClr val="00B0F0"/>
                </a:solidFill>
                <a:latin typeface="Berlin Sans FB Demi" panose="020E0802020502020306" pitchFamily="34" charset="0"/>
              </a:endParaRPr>
            </a:p>
            <a:p>
              <a:pPr algn="ctr"/>
              <a:endParaRPr lang="en-GB" sz="1600" dirty="0">
                <a:solidFill>
                  <a:srgbClr val="00B0F0"/>
                </a:solidFill>
                <a:latin typeface="Berlin Sans FB Demi" panose="020E0802020502020306" pitchFamily="34" charset="0"/>
              </a:endParaRPr>
            </a:p>
            <a:p>
              <a:pPr algn="ctr"/>
              <a:r>
                <a:rPr lang="en-GB" dirty="0">
                  <a:solidFill>
                    <a:srgbClr val="00B0F0"/>
                  </a:solidFill>
                  <a:latin typeface="Berlin Sans FB Demi" panose="020E0802020502020306" pitchFamily="34" charset="0"/>
                </a:rPr>
                <a:t>ETHICAL ISSUES</a:t>
              </a:r>
            </a:p>
            <a:p>
              <a:pPr algn="ctr"/>
              <a:endParaRPr lang="en-GB" dirty="0">
                <a:solidFill>
                  <a:srgbClr val="00B0F0"/>
                </a:solidFill>
                <a:latin typeface="Berlin Sans FB Demi" panose="020E0802020502020306" pitchFamily="34" charset="0"/>
              </a:endParaRPr>
            </a:p>
            <a:p>
              <a:pPr algn="ctr"/>
              <a:r>
                <a:rPr lang="en-GB" dirty="0">
                  <a:solidFill>
                    <a:srgbClr val="00B0F0"/>
                  </a:solidFill>
                  <a:latin typeface="Berlin Sans FB Demi" panose="020E0802020502020306" pitchFamily="34" charset="0"/>
                </a:rPr>
                <a:t>PLAGAIRISM</a:t>
              </a:r>
            </a:p>
            <a:p>
              <a:pPr algn="ctr"/>
              <a:endParaRPr lang="en-GB" dirty="0">
                <a:solidFill>
                  <a:srgbClr val="00B0F0"/>
                </a:solidFill>
                <a:latin typeface="Berlin Sans FB Demi" panose="020E0802020502020306" pitchFamily="34" charset="0"/>
              </a:endParaRPr>
            </a:p>
            <a:p>
              <a:pPr algn="ctr"/>
              <a:r>
                <a:rPr lang="en-GB" dirty="0">
                  <a:solidFill>
                    <a:srgbClr val="00B0F0"/>
                  </a:solidFill>
                  <a:latin typeface="Berlin Sans FB Demi" panose="020E0802020502020306" pitchFamily="34" charset="0"/>
                </a:rPr>
                <a:t>HACKERS</a:t>
              </a:r>
            </a:p>
          </p:txBody>
        </p:sp>
        <p:pic>
          <p:nvPicPr>
            <p:cNvPr id="8" name="Picture 2" descr="Missing Comma With a Non-Restrictive Element by jasleengil on emaz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8786" y="173501"/>
              <a:ext cx="2926237" cy="112357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707784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rPr>
              <a:t>Access to Personal Information</a:t>
            </a:r>
          </a:p>
        </p:txBody>
      </p:sp>
      <p:sp>
        <p:nvSpPr>
          <p:cNvPr id="3" name="Content Placeholder 2"/>
          <p:cNvSpPr>
            <a:spLocks noGrp="1"/>
          </p:cNvSpPr>
          <p:nvPr>
            <p:ph idx="1"/>
          </p:nvPr>
        </p:nvSpPr>
        <p:spPr>
          <a:xfrm>
            <a:off x="838200" y="2526383"/>
            <a:ext cx="7721338" cy="3864989"/>
          </a:xfrm>
        </p:spPr>
        <p:txBody>
          <a:bodyPr>
            <a:normAutofit/>
          </a:bodyPr>
          <a:lstStyle/>
          <a:p>
            <a:r>
              <a:rPr lang="en-GB" b="1" dirty="0">
                <a:solidFill>
                  <a:schemeClr val="bg1"/>
                </a:solidFill>
              </a:rPr>
              <a:t>Identity Theft</a:t>
            </a:r>
            <a:r>
              <a:rPr lang="en-GB" dirty="0">
                <a:solidFill>
                  <a:schemeClr val="bg1"/>
                </a:solidFill>
              </a:rPr>
              <a:t>: This has become an alarmingly increasing problem in society today. </a:t>
            </a:r>
          </a:p>
          <a:p>
            <a:r>
              <a:rPr lang="en-GB" dirty="0">
                <a:solidFill>
                  <a:schemeClr val="bg1"/>
                </a:solidFill>
              </a:rPr>
              <a:t>People tend to post a lot of personal information about themselves on various different social media platforms. </a:t>
            </a:r>
          </a:p>
          <a:p>
            <a:r>
              <a:rPr lang="en-GB" dirty="0">
                <a:solidFill>
                  <a:schemeClr val="bg1"/>
                </a:solidFill>
              </a:rPr>
              <a:t>This makes it very easy for someone else to effectively steal their information in order to use them to create a bank account, get a credit card etc.</a:t>
            </a:r>
          </a:p>
        </p:txBody>
      </p:sp>
      <p:sp>
        <p:nvSpPr>
          <p:cNvPr id="4" name="Content Placeholder 2"/>
          <p:cNvSpPr txBox="1">
            <a:spLocks/>
          </p:cNvSpPr>
          <p:nvPr/>
        </p:nvSpPr>
        <p:spPr>
          <a:xfrm>
            <a:off x="9002598" y="3866526"/>
            <a:ext cx="3073138" cy="2906631"/>
          </a:xfrm>
          <a:prstGeom prst="rect">
            <a:avLst/>
          </a:prstGeom>
          <a:solidFill>
            <a:schemeClr val="tx1"/>
          </a:solidFill>
          <a:ln w="76200">
            <a:solidFill>
              <a:srgbClr val="FF0000"/>
            </a:solidFill>
          </a:ln>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ethical impact of technology on society, referring to the following: </a:t>
            </a:r>
          </a:p>
          <a:p>
            <a:pPr lvl="1"/>
            <a:r>
              <a:rPr lang="en-GB" dirty="0">
                <a:solidFill>
                  <a:schemeClr val="bg1"/>
                </a:solidFill>
              </a:rPr>
              <a:t>internet misuse; </a:t>
            </a:r>
          </a:p>
          <a:p>
            <a:pPr lvl="1"/>
            <a:r>
              <a:rPr lang="en-GB" dirty="0">
                <a:solidFill>
                  <a:srgbClr val="FFFF00"/>
                </a:solidFill>
              </a:rPr>
              <a:t>access to personal information; </a:t>
            </a:r>
          </a:p>
          <a:p>
            <a:pPr lvl="1"/>
            <a:r>
              <a:rPr lang="en-GB" dirty="0">
                <a:solidFill>
                  <a:schemeClr val="bg1"/>
                </a:solidFill>
              </a:rPr>
              <a:t>social media misuse; </a:t>
            </a:r>
          </a:p>
          <a:p>
            <a:pPr lvl="1"/>
            <a:r>
              <a:rPr lang="en-GB" dirty="0">
                <a:solidFill>
                  <a:schemeClr val="bg1"/>
                </a:solidFill>
              </a:rPr>
              <a:t>the implications of global positioning system (GPS) and tracking; </a:t>
            </a:r>
          </a:p>
          <a:p>
            <a:pPr lvl="1"/>
            <a:r>
              <a:rPr lang="en-GB" dirty="0">
                <a:solidFill>
                  <a:schemeClr val="bg1"/>
                </a:solidFill>
              </a:rPr>
              <a:t>concerns about the security of personal data.</a:t>
            </a:r>
          </a:p>
        </p:txBody>
      </p:sp>
      <p:grpSp>
        <p:nvGrpSpPr>
          <p:cNvPr id="8" name="Group 7"/>
          <p:cNvGrpSpPr/>
          <p:nvPr/>
        </p:nvGrpSpPr>
        <p:grpSpPr>
          <a:xfrm>
            <a:off x="9149499" y="154648"/>
            <a:ext cx="2926237" cy="2843079"/>
            <a:chOff x="8948786" y="173501"/>
            <a:chExt cx="2926237" cy="2843079"/>
          </a:xfrm>
        </p:grpSpPr>
        <p:sp>
          <p:nvSpPr>
            <p:cNvPr id="7" name="Pentagon 6"/>
            <p:cNvSpPr/>
            <p:nvPr/>
          </p:nvSpPr>
          <p:spPr>
            <a:xfrm rot="5400000">
              <a:off x="9294134" y="696304"/>
              <a:ext cx="2254981" cy="2385571"/>
            </a:xfrm>
            <a:prstGeom prst="homePlate">
              <a:avLst/>
            </a:prstGeom>
            <a:solidFill>
              <a:schemeClr val="bg1">
                <a:lumMod val="9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dirty="0">
                  <a:solidFill>
                    <a:srgbClr val="00B0F0"/>
                  </a:solidFill>
                  <a:latin typeface="Berlin Sans FB Demi" panose="020E0802020502020306" pitchFamily="34" charset="0"/>
                </a:rPr>
                <a:t>PHISHING</a:t>
              </a:r>
            </a:p>
            <a:p>
              <a:pPr algn="ctr"/>
              <a:endParaRPr lang="en-GB" dirty="0">
                <a:solidFill>
                  <a:srgbClr val="00B0F0"/>
                </a:solidFill>
                <a:latin typeface="Berlin Sans FB Demi" panose="020E0802020502020306" pitchFamily="34" charset="0"/>
              </a:endParaRPr>
            </a:p>
            <a:p>
              <a:pPr algn="ctr"/>
              <a:r>
                <a:rPr lang="en-GB" dirty="0">
                  <a:solidFill>
                    <a:srgbClr val="00B0F0"/>
                  </a:solidFill>
                  <a:latin typeface="Berlin Sans FB Demi" panose="020E0802020502020306" pitchFamily="34" charset="0"/>
                </a:rPr>
                <a:t>IDENTITY THEFT</a:t>
              </a:r>
            </a:p>
          </p:txBody>
        </p:sp>
        <p:pic>
          <p:nvPicPr>
            <p:cNvPr id="1026" name="Picture 2" descr="Missing Comma With a Non-Restrictive Element by jasleengil on emaz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8786" y="173501"/>
              <a:ext cx="2926237" cy="112357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641967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rPr>
              <a:t>Social Media Misuse</a:t>
            </a:r>
          </a:p>
        </p:txBody>
      </p:sp>
      <p:sp>
        <p:nvSpPr>
          <p:cNvPr id="3" name="Content Placeholder 2"/>
          <p:cNvSpPr>
            <a:spLocks noGrp="1"/>
          </p:cNvSpPr>
          <p:nvPr>
            <p:ph idx="1"/>
          </p:nvPr>
        </p:nvSpPr>
        <p:spPr>
          <a:xfrm>
            <a:off x="527902" y="1825624"/>
            <a:ext cx="8116478" cy="4528041"/>
          </a:xfrm>
        </p:spPr>
        <p:txBody>
          <a:bodyPr>
            <a:normAutofit/>
          </a:bodyPr>
          <a:lstStyle/>
          <a:p>
            <a:r>
              <a:rPr lang="en-GB" b="1" dirty="0">
                <a:solidFill>
                  <a:schemeClr val="bg1"/>
                </a:solidFill>
              </a:rPr>
              <a:t>Cyberbullying</a:t>
            </a:r>
            <a:r>
              <a:rPr lang="en-GB" dirty="0">
                <a:solidFill>
                  <a:schemeClr val="bg1"/>
                </a:solidFill>
              </a:rPr>
              <a:t> is a huge problem with young people using social media. Bullies can post nasty comments or messages about their victim. </a:t>
            </a:r>
          </a:p>
          <a:p>
            <a:r>
              <a:rPr lang="en-GB" dirty="0">
                <a:solidFill>
                  <a:schemeClr val="bg1"/>
                </a:solidFill>
              </a:rPr>
              <a:t>Even worse is that they can hide behind a fake profile (Catfish) or even post anonymously on some platforms (</a:t>
            </a:r>
            <a:r>
              <a:rPr lang="en-GB" dirty="0" err="1">
                <a:solidFill>
                  <a:schemeClr val="bg1"/>
                </a:solidFill>
              </a:rPr>
              <a:t>Yik</a:t>
            </a:r>
            <a:r>
              <a:rPr lang="en-GB" dirty="0">
                <a:solidFill>
                  <a:schemeClr val="bg1"/>
                </a:solidFill>
              </a:rPr>
              <a:t> Yak). </a:t>
            </a:r>
          </a:p>
          <a:p>
            <a:r>
              <a:rPr lang="en-GB" dirty="0">
                <a:solidFill>
                  <a:schemeClr val="bg1"/>
                </a:solidFill>
              </a:rPr>
              <a:t>There is also a privacy issue when social media users give away too much personal information about themselves such their address, date of birth etc and leave it accessible to everyone</a:t>
            </a:r>
          </a:p>
        </p:txBody>
      </p:sp>
      <p:sp>
        <p:nvSpPr>
          <p:cNvPr id="4" name="Content Placeholder 2"/>
          <p:cNvSpPr txBox="1">
            <a:spLocks/>
          </p:cNvSpPr>
          <p:nvPr/>
        </p:nvSpPr>
        <p:spPr>
          <a:xfrm>
            <a:off x="9002598" y="3866526"/>
            <a:ext cx="3073138" cy="2906631"/>
          </a:xfrm>
          <a:prstGeom prst="rect">
            <a:avLst/>
          </a:prstGeom>
          <a:solidFill>
            <a:schemeClr val="tx1"/>
          </a:solidFill>
          <a:ln w="76200">
            <a:solidFill>
              <a:srgbClr val="FF0000"/>
            </a:solidFill>
          </a:ln>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ethical impact of technology on society, referring to the following: </a:t>
            </a:r>
          </a:p>
          <a:p>
            <a:pPr lvl="1"/>
            <a:r>
              <a:rPr lang="en-GB" dirty="0">
                <a:solidFill>
                  <a:schemeClr val="bg1"/>
                </a:solidFill>
              </a:rPr>
              <a:t>internet misuse; </a:t>
            </a:r>
          </a:p>
          <a:p>
            <a:pPr lvl="1"/>
            <a:r>
              <a:rPr lang="en-GB" dirty="0">
                <a:solidFill>
                  <a:schemeClr val="bg1"/>
                </a:solidFill>
              </a:rPr>
              <a:t>access to personal information; </a:t>
            </a:r>
          </a:p>
          <a:p>
            <a:pPr lvl="1"/>
            <a:r>
              <a:rPr lang="en-GB" dirty="0">
                <a:solidFill>
                  <a:srgbClr val="FFFF00"/>
                </a:solidFill>
              </a:rPr>
              <a:t>social media misuse; </a:t>
            </a:r>
          </a:p>
          <a:p>
            <a:pPr lvl="1"/>
            <a:r>
              <a:rPr lang="en-GB" dirty="0">
                <a:solidFill>
                  <a:schemeClr val="bg1"/>
                </a:solidFill>
              </a:rPr>
              <a:t>the implications of global positioning system (GPS) and tracking; </a:t>
            </a:r>
          </a:p>
          <a:p>
            <a:pPr lvl="1"/>
            <a:r>
              <a:rPr lang="en-GB" dirty="0">
                <a:solidFill>
                  <a:schemeClr val="bg1"/>
                </a:solidFill>
              </a:rPr>
              <a:t>concerns about the security of personal data.</a:t>
            </a:r>
          </a:p>
        </p:txBody>
      </p:sp>
      <p:grpSp>
        <p:nvGrpSpPr>
          <p:cNvPr id="6" name="Group 5"/>
          <p:cNvGrpSpPr/>
          <p:nvPr/>
        </p:nvGrpSpPr>
        <p:grpSpPr>
          <a:xfrm>
            <a:off x="9149499" y="154648"/>
            <a:ext cx="2926237" cy="2843079"/>
            <a:chOff x="8948786" y="173501"/>
            <a:chExt cx="2926237" cy="2843079"/>
          </a:xfrm>
        </p:grpSpPr>
        <p:sp>
          <p:nvSpPr>
            <p:cNvPr id="7" name="Pentagon 6"/>
            <p:cNvSpPr/>
            <p:nvPr/>
          </p:nvSpPr>
          <p:spPr>
            <a:xfrm rot="5400000">
              <a:off x="9294134" y="696304"/>
              <a:ext cx="2254981" cy="2385571"/>
            </a:xfrm>
            <a:prstGeom prst="homePlate">
              <a:avLst/>
            </a:prstGeom>
            <a:solidFill>
              <a:schemeClr val="bg1">
                <a:lumMod val="9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dirty="0">
                  <a:solidFill>
                    <a:srgbClr val="00B0F0"/>
                  </a:solidFill>
                  <a:latin typeface="Berlin Sans FB Demi" panose="020E0802020502020306" pitchFamily="34" charset="0"/>
                </a:rPr>
                <a:t>CYBERBULLYING</a:t>
              </a:r>
            </a:p>
          </p:txBody>
        </p:sp>
        <p:pic>
          <p:nvPicPr>
            <p:cNvPr id="8" name="Picture 2" descr="Missing Comma With a Non-Restrictive Element by jasleengil on emaz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8786" y="173501"/>
              <a:ext cx="2926237" cy="112357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804338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rPr>
              <a:t>GPS and Tracking</a:t>
            </a:r>
          </a:p>
        </p:txBody>
      </p:sp>
      <p:sp>
        <p:nvSpPr>
          <p:cNvPr id="3" name="Content Placeholder 2"/>
          <p:cNvSpPr>
            <a:spLocks noGrp="1"/>
          </p:cNvSpPr>
          <p:nvPr>
            <p:ph idx="1"/>
          </p:nvPr>
        </p:nvSpPr>
        <p:spPr>
          <a:xfrm>
            <a:off x="366861" y="1611984"/>
            <a:ext cx="8635737" cy="5161173"/>
          </a:xfrm>
        </p:spPr>
        <p:txBody>
          <a:bodyPr>
            <a:normAutofit fontScale="70000" lnSpcReduction="20000"/>
          </a:bodyPr>
          <a:lstStyle/>
          <a:p>
            <a:r>
              <a:rPr lang="en-GB" dirty="0">
                <a:solidFill>
                  <a:schemeClr val="bg1"/>
                </a:solidFill>
              </a:rPr>
              <a:t>GPS stands for Global Positioning System. </a:t>
            </a:r>
          </a:p>
          <a:p>
            <a:r>
              <a:rPr lang="en-GB" dirty="0">
                <a:solidFill>
                  <a:schemeClr val="bg1"/>
                </a:solidFill>
              </a:rPr>
              <a:t>It was invented by the US military to allow soldiers to know where exactly they were in the world. </a:t>
            </a:r>
          </a:p>
          <a:p>
            <a:r>
              <a:rPr lang="en-GB" dirty="0">
                <a:solidFill>
                  <a:schemeClr val="bg1"/>
                </a:solidFill>
              </a:rPr>
              <a:t>GPS uses a process called ‘Triangulation’ to work out the location using </a:t>
            </a:r>
            <a:r>
              <a:rPr lang="en-GB" dirty="0" err="1">
                <a:solidFill>
                  <a:schemeClr val="bg1"/>
                </a:solidFill>
              </a:rPr>
              <a:t>triangluation</a:t>
            </a:r>
            <a:r>
              <a:rPr lang="en-GB" dirty="0">
                <a:solidFill>
                  <a:schemeClr val="bg1"/>
                </a:solidFill>
              </a:rPr>
              <a:t>. </a:t>
            </a:r>
          </a:p>
          <a:p>
            <a:pPr lvl="1"/>
            <a:r>
              <a:rPr lang="en-GB" dirty="0">
                <a:solidFill>
                  <a:schemeClr val="bg1"/>
                </a:solidFill>
              </a:rPr>
              <a:t>Satellites are used to help pinpoint the location. </a:t>
            </a:r>
          </a:p>
          <a:p>
            <a:pPr lvl="1"/>
            <a:r>
              <a:rPr lang="en-GB" dirty="0">
                <a:solidFill>
                  <a:schemeClr val="bg1"/>
                </a:solidFill>
              </a:rPr>
              <a:t>It works best outdoors but does give an accurate location. </a:t>
            </a:r>
          </a:p>
          <a:p>
            <a:pPr lvl="1"/>
            <a:r>
              <a:rPr lang="en-GB" dirty="0">
                <a:solidFill>
                  <a:schemeClr val="bg1"/>
                </a:solidFill>
              </a:rPr>
              <a:t>It may not be accurate if the preinstalled map on the device is not up to date. </a:t>
            </a:r>
          </a:p>
          <a:p>
            <a:pPr marL="0" indent="0">
              <a:buNone/>
            </a:pPr>
            <a:r>
              <a:rPr lang="en-GB" dirty="0">
                <a:solidFill>
                  <a:schemeClr val="bg1"/>
                </a:solidFill>
              </a:rPr>
              <a:t>How does GPS work? </a:t>
            </a:r>
          </a:p>
          <a:p>
            <a:r>
              <a:rPr lang="en-GB" dirty="0">
                <a:solidFill>
                  <a:schemeClr val="bg1"/>
                </a:solidFill>
              </a:rPr>
              <a:t>Satellites transmit signals to earth, where the GPS device receives the signals </a:t>
            </a:r>
          </a:p>
          <a:p>
            <a:r>
              <a:rPr lang="en-GB" dirty="0">
                <a:solidFill>
                  <a:schemeClr val="bg1"/>
                </a:solidFill>
              </a:rPr>
              <a:t>The device calculates its location based on the information from at least 3 satellites (Triangulation) </a:t>
            </a:r>
          </a:p>
          <a:p>
            <a:r>
              <a:rPr lang="en-GB" dirty="0">
                <a:solidFill>
                  <a:schemeClr val="bg1"/>
                </a:solidFill>
              </a:rPr>
              <a:t>Then the location is shown on a map that is preinstalled in the GPS device to within a couple of metres.</a:t>
            </a:r>
          </a:p>
          <a:p>
            <a:r>
              <a:rPr lang="en-GB" dirty="0">
                <a:solidFill>
                  <a:schemeClr val="bg1"/>
                </a:solidFill>
              </a:rPr>
              <a:t>GPS is also used to help ships navigate the sea, to ‘tag’ criminals so the police can monitor their whereabouts and even for recreational purposes by the likes of hikers and mountaineers to identify their location.</a:t>
            </a:r>
          </a:p>
        </p:txBody>
      </p:sp>
      <p:sp>
        <p:nvSpPr>
          <p:cNvPr id="4" name="Content Placeholder 2"/>
          <p:cNvSpPr txBox="1">
            <a:spLocks/>
          </p:cNvSpPr>
          <p:nvPr/>
        </p:nvSpPr>
        <p:spPr>
          <a:xfrm>
            <a:off x="9002598" y="3866526"/>
            <a:ext cx="3073138" cy="2906631"/>
          </a:xfrm>
          <a:prstGeom prst="rect">
            <a:avLst/>
          </a:prstGeom>
          <a:solidFill>
            <a:schemeClr val="tx1"/>
          </a:solidFill>
          <a:ln w="76200">
            <a:solidFill>
              <a:srgbClr val="FF0000"/>
            </a:solidFill>
          </a:ln>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ethical impact of technology on society, referring to the following: </a:t>
            </a:r>
          </a:p>
          <a:p>
            <a:pPr lvl="1"/>
            <a:r>
              <a:rPr lang="en-GB" dirty="0">
                <a:solidFill>
                  <a:schemeClr val="bg1"/>
                </a:solidFill>
              </a:rPr>
              <a:t>internet misuse; </a:t>
            </a:r>
          </a:p>
          <a:p>
            <a:pPr lvl="1"/>
            <a:r>
              <a:rPr lang="en-GB" dirty="0">
                <a:solidFill>
                  <a:schemeClr val="bg1"/>
                </a:solidFill>
              </a:rPr>
              <a:t>access to personal information; </a:t>
            </a:r>
          </a:p>
          <a:p>
            <a:pPr lvl="1"/>
            <a:r>
              <a:rPr lang="en-GB" dirty="0">
                <a:solidFill>
                  <a:schemeClr val="bg1"/>
                </a:solidFill>
              </a:rPr>
              <a:t>social media misuse; </a:t>
            </a:r>
          </a:p>
          <a:p>
            <a:pPr lvl="1"/>
            <a:r>
              <a:rPr lang="en-GB" dirty="0">
                <a:solidFill>
                  <a:srgbClr val="FFFF00"/>
                </a:solidFill>
              </a:rPr>
              <a:t>the implications of global positioning system (GPS) and tracking; </a:t>
            </a:r>
          </a:p>
          <a:p>
            <a:pPr lvl="1"/>
            <a:r>
              <a:rPr lang="en-GB" dirty="0">
                <a:solidFill>
                  <a:schemeClr val="bg1"/>
                </a:solidFill>
              </a:rPr>
              <a:t>concerns about the security of personal data.</a:t>
            </a:r>
          </a:p>
        </p:txBody>
      </p:sp>
      <p:grpSp>
        <p:nvGrpSpPr>
          <p:cNvPr id="5" name="Group 4"/>
          <p:cNvGrpSpPr/>
          <p:nvPr/>
        </p:nvGrpSpPr>
        <p:grpSpPr>
          <a:xfrm>
            <a:off x="9149499" y="154648"/>
            <a:ext cx="2926237" cy="2843079"/>
            <a:chOff x="8948786" y="173501"/>
            <a:chExt cx="2926237" cy="2843079"/>
          </a:xfrm>
        </p:grpSpPr>
        <p:sp>
          <p:nvSpPr>
            <p:cNvPr id="6" name="Pentagon 5"/>
            <p:cNvSpPr/>
            <p:nvPr/>
          </p:nvSpPr>
          <p:spPr>
            <a:xfrm rot="5400000">
              <a:off x="9294134" y="696304"/>
              <a:ext cx="2254981" cy="2385571"/>
            </a:xfrm>
            <a:prstGeom prst="homePlate">
              <a:avLst/>
            </a:prstGeom>
            <a:solidFill>
              <a:schemeClr val="bg1">
                <a:lumMod val="9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dirty="0">
                  <a:solidFill>
                    <a:srgbClr val="00B0F0"/>
                  </a:solidFill>
                  <a:latin typeface="Berlin Sans FB Demi" panose="020E0802020502020306" pitchFamily="34" charset="0"/>
                </a:rPr>
                <a:t>GLOBAL POSITIONING SYSTEM</a:t>
              </a:r>
            </a:p>
            <a:p>
              <a:pPr algn="ctr"/>
              <a:endParaRPr lang="en-GB" dirty="0">
                <a:solidFill>
                  <a:srgbClr val="00B0F0"/>
                </a:solidFill>
                <a:latin typeface="Berlin Sans FB Demi" panose="020E0802020502020306" pitchFamily="34" charset="0"/>
              </a:endParaRPr>
            </a:p>
            <a:p>
              <a:pPr algn="ctr"/>
              <a:r>
                <a:rPr lang="en-GB" dirty="0">
                  <a:solidFill>
                    <a:srgbClr val="00B0F0"/>
                  </a:solidFill>
                  <a:latin typeface="Berlin Sans FB Demi" panose="020E0802020502020306" pitchFamily="34" charset="0"/>
                </a:rPr>
                <a:t>TRIANGULATION</a:t>
              </a:r>
            </a:p>
          </p:txBody>
        </p:sp>
        <p:pic>
          <p:nvPicPr>
            <p:cNvPr id="7" name="Picture 2" descr="Missing Comma With a Non-Restrictive Element by jasleengil on emaz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8786" y="173501"/>
              <a:ext cx="2926237" cy="112357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880985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rPr>
              <a:t>Security of Personal Data</a:t>
            </a:r>
          </a:p>
        </p:txBody>
      </p:sp>
      <p:sp>
        <p:nvSpPr>
          <p:cNvPr id="3" name="Content Placeholder 2"/>
          <p:cNvSpPr>
            <a:spLocks noGrp="1"/>
          </p:cNvSpPr>
          <p:nvPr>
            <p:ph idx="1"/>
          </p:nvPr>
        </p:nvSpPr>
        <p:spPr>
          <a:xfrm>
            <a:off x="263951" y="1825625"/>
            <a:ext cx="8478034" cy="4754284"/>
          </a:xfrm>
        </p:spPr>
        <p:txBody>
          <a:bodyPr>
            <a:normAutofit fontScale="70000" lnSpcReduction="20000"/>
          </a:bodyPr>
          <a:lstStyle/>
          <a:p>
            <a:r>
              <a:rPr lang="en-GB" dirty="0">
                <a:solidFill>
                  <a:schemeClr val="bg1"/>
                </a:solidFill>
              </a:rPr>
              <a:t>We all willingly give up our personal data on a daily basis on the internet. </a:t>
            </a:r>
          </a:p>
          <a:p>
            <a:r>
              <a:rPr lang="en-GB" dirty="0">
                <a:solidFill>
                  <a:schemeClr val="bg1"/>
                </a:solidFill>
              </a:rPr>
              <a:t>This is done every time you fill in an online form, register your details on a website etc. </a:t>
            </a:r>
          </a:p>
          <a:p>
            <a:r>
              <a:rPr lang="en-GB" dirty="0">
                <a:solidFill>
                  <a:schemeClr val="bg1"/>
                </a:solidFill>
              </a:rPr>
              <a:t>Through social media sites such Facebook and online collaboration sites such as Google, we are putting our own personal data at risk. Concerns have been raised about how this data is being used. </a:t>
            </a:r>
          </a:p>
          <a:p>
            <a:r>
              <a:rPr lang="en-GB" dirty="0">
                <a:solidFill>
                  <a:schemeClr val="bg1"/>
                </a:solidFill>
              </a:rPr>
              <a:t>It is up to the user to check their privacy settings to try to control the privacy of their data effectively. Often these privacy settings can be confusing and therefore make it difficult for the user to know what to choose. </a:t>
            </a:r>
          </a:p>
          <a:p>
            <a:r>
              <a:rPr lang="en-GB" dirty="0">
                <a:solidFill>
                  <a:schemeClr val="bg1"/>
                </a:solidFill>
              </a:rPr>
              <a:t>Any example of this is that by default, a Facebook user profile will automatically be public when the user turns 18. The sharing of our personal data with third party websites and applications is also a huge concern. </a:t>
            </a:r>
          </a:p>
          <a:p>
            <a:r>
              <a:rPr lang="en-GB" dirty="0">
                <a:solidFill>
                  <a:schemeClr val="bg1"/>
                </a:solidFill>
              </a:rPr>
              <a:t>This data could be used for data mining which is when organisations turn raw data into useful information. Mobile technology users are exposed to continuous streams of adverts online based on previous online searches. </a:t>
            </a:r>
          </a:p>
        </p:txBody>
      </p:sp>
      <p:sp>
        <p:nvSpPr>
          <p:cNvPr id="4" name="Content Placeholder 2"/>
          <p:cNvSpPr txBox="1">
            <a:spLocks/>
          </p:cNvSpPr>
          <p:nvPr/>
        </p:nvSpPr>
        <p:spPr>
          <a:xfrm>
            <a:off x="9002598" y="3866526"/>
            <a:ext cx="3073138" cy="2906631"/>
          </a:xfrm>
          <a:prstGeom prst="rect">
            <a:avLst/>
          </a:prstGeom>
          <a:solidFill>
            <a:schemeClr val="tx1"/>
          </a:solidFill>
          <a:ln w="76200">
            <a:solidFill>
              <a:srgbClr val="FF0000"/>
            </a:solidFill>
          </a:ln>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ethical impact of technology on society, referring to the following: </a:t>
            </a:r>
          </a:p>
          <a:p>
            <a:pPr lvl="1"/>
            <a:r>
              <a:rPr lang="en-GB" dirty="0">
                <a:solidFill>
                  <a:schemeClr val="bg1"/>
                </a:solidFill>
              </a:rPr>
              <a:t>internet misuse; </a:t>
            </a:r>
          </a:p>
          <a:p>
            <a:pPr lvl="1"/>
            <a:r>
              <a:rPr lang="en-GB" dirty="0">
                <a:solidFill>
                  <a:schemeClr val="bg1"/>
                </a:solidFill>
              </a:rPr>
              <a:t>access to personal information; </a:t>
            </a:r>
          </a:p>
          <a:p>
            <a:pPr lvl="1"/>
            <a:r>
              <a:rPr lang="en-GB" dirty="0">
                <a:solidFill>
                  <a:schemeClr val="bg1"/>
                </a:solidFill>
              </a:rPr>
              <a:t>social media misuse; </a:t>
            </a:r>
          </a:p>
          <a:p>
            <a:pPr lvl="1"/>
            <a:r>
              <a:rPr lang="en-GB" dirty="0">
                <a:solidFill>
                  <a:schemeClr val="bg1"/>
                </a:solidFill>
              </a:rPr>
              <a:t>the implications of global positioning system (GPS) and tracking; </a:t>
            </a:r>
          </a:p>
          <a:p>
            <a:pPr lvl="1"/>
            <a:r>
              <a:rPr lang="en-GB" dirty="0">
                <a:solidFill>
                  <a:srgbClr val="FFFF00"/>
                </a:solidFill>
              </a:rPr>
              <a:t>concerns about the security of personal data.</a:t>
            </a:r>
          </a:p>
        </p:txBody>
      </p:sp>
      <p:grpSp>
        <p:nvGrpSpPr>
          <p:cNvPr id="5" name="Group 4"/>
          <p:cNvGrpSpPr/>
          <p:nvPr/>
        </p:nvGrpSpPr>
        <p:grpSpPr>
          <a:xfrm>
            <a:off x="9149499" y="154648"/>
            <a:ext cx="2926237" cy="2843079"/>
            <a:chOff x="8948786" y="173501"/>
            <a:chExt cx="2926237" cy="2843079"/>
          </a:xfrm>
        </p:grpSpPr>
        <p:sp>
          <p:nvSpPr>
            <p:cNvPr id="6" name="Pentagon 5"/>
            <p:cNvSpPr/>
            <p:nvPr/>
          </p:nvSpPr>
          <p:spPr>
            <a:xfrm rot="5400000">
              <a:off x="9294134" y="696304"/>
              <a:ext cx="2254981" cy="2385571"/>
            </a:xfrm>
            <a:prstGeom prst="homePlate">
              <a:avLst/>
            </a:prstGeom>
            <a:solidFill>
              <a:schemeClr val="bg1">
                <a:lumMod val="9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GB" sz="1000" dirty="0">
                <a:solidFill>
                  <a:srgbClr val="00B0F0"/>
                </a:solidFill>
                <a:latin typeface="Berlin Sans FB Demi" panose="020E0802020502020306" pitchFamily="34" charset="0"/>
              </a:endParaRPr>
            </a:p>
            <a:p>
              <a:pPr algn="ctr"/>
              <a:r>
                <a:rPr lang="en-GB" sz="1600" dirty="0">
                  <a:solidFill>
                    <a:srgbClr val="00B0F0"/>
                  </a:solidFill>
                  <a:latin typeface="Berlin Sans FB Demi" panose="020E0802020502020306" pitchFamily="34" charset="0"/>
                </a:rPr>
                <a:t>DATA PROTECTION ACT</a:t>
              </a:r>
            </a:p>
            <a:p>
              <a:pPr algn="ctr"/>
              <a:endParaRPr lang="en-GB" dirty="0">
                <a:solidFill>
                  <a:srgbClr val="00B0F0"/>
                </a:solidFill>
                <a:latin typeface="Berlin Sans FB Demi" panose="020E0802020502020306" pitchFamily="34" charset="0"/>
              </a:endParaRPr>
            </a:p>
            <a:p>
              <a:pPr algn="ctr"/>
              <a:r>
                <a:rPr lang="en-GB" dirty="0">
                  <a:solidFill>
                    <a:srgbClr val="00B0F0"/>
                  </a:solidFill>
                  <a:latin typeface="Berlin Sans FB Demi" panose="020E0802020502020306" pitchFamily="34" charset="0"/>
                </a:rPr>
                <a:t>PRIVACY SETTINGS</a:t>
              </a:r>
            </a:p>
          </p:txBody>
        </p:sp>
        <p:pic>
          <p:nvPicPr>
            <p:cNvPr id="7" name="Picture 2" descr="Missing Comma With a Non-Restrictive Element by jasleengil on emaz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8786" y="173501"/>
              <a:ext cx="2926237" cy="112357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438585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 name="Rounded Rectangular Callout 9"/>
          <p:cNvSpPr/>
          <p:nvPr/>
        </p:nvSpPr>
        <p:spPr>
          <a:xfrm>
            <a:off x="179109" y="2672500"/>
            <a:ext cx="8616099" cy="4034673"/>
          </a:xfrm>
          <a:prstGeom prst="wedgeRoundRectCallout">
            <a:avLst>
              <a:gd name="adj1" fmla="val 59113"/>
              <a:gd name="adj2" fmla="val 25177"/>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ontent Placeholder 4"/>
          <p:cNvSpPr>
            <a:spLocks noGrp="1"/>
          </p:cNvSpPr>
          <p:nvPr>
            <p:ph sz="quarter" idx="2"/>
          </p:nvPr>
        </p:nvSpPr>
        <p:spPr>
          <a:xfrm>
            <a:off x="471340" y="2908170"/>
            <a:ext cx="8484124" cy="3949830"/>
          </a:xfrm>
        </p:spPr>
        <p:txBody>
          <a:bodyPr>
            <a:normAutofit/>
          </a:bodyPr>
          <a:lstStyle/>
          <a:p>
            <a:r>
              <a:rPr lang="en-GB" dirty="0"/>
              <a:t>In the 1930’s a computer was a job</a:t>
            </a:r>
          </a:p>
          <a:p>
            <a:pPr lvl="1"/>
            <a:r>
              <a:rPr lang="en-GB" dirty="0"/>
              <a:t>What did it do</a:t>
            </a:r>
          </a:p>
          <a:p>
            <a:pPr lvl="2"/>
            <a:r>
              <a:rPr lang="en-GB" dirty="0"/>
              <a:t>The same thing it does now. Calculates large or difficult maths problems for companies or research groups</a:t>
            </a:r>
          </a:p>
          <a:p>
            <a:r>
              <a:rPr lang="en-GB" dirty="0"/>
              <a:t>Jobs continually change depending on changes in the technology of the time</a:t>
            </a:r>
          </a:p>
          <a:p>
            <a:r>
              <a:rPr lang="en-GB" dirty="0"/>
              <a:t>Computers have made a massive difference in the way we work and which jobs we do</a:t>
            </a:r>
          </a:p>
        </p:txBody>
      </p:sp>
      <p:pic>
        <p:nvPicPr>
          <p:cNvPr id="2050"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rgbClr val="FFFF00"/>
                </a:solidFill>
              </a:rPr>
              <a:t>Job opportunities</a:t>
            </a:r>
          </a:p>
          <a:p>
            <a:pPr lvl="1"/>
            <a:r>
              <a:rPr lang="en-GB" dirty="0">
                <a:solidFill>
                  <a:schemeClr val="bg1"/>
                </a:solidFill>
              </a:rPr>
              <a:t>Job displacement</a:t>
            </a:r>
          </a:p>
          <a:p>
            <a:pPr lvl="1"/>
            <a:r>
              <a:rPr lang="en-GB" dirty="0">
                <a:solidFill>
                  <a:schemeClr val="bg1"/>
                </a:solidFill>
              </a:rPr>
              <a:t>Changes in work patterns</a:t>
            </a:r>
          </a:p>
          <a:p>
            <a:pPr lvl="1"/>
            <a:r>
              <a:rPr lang="en-GB" dirty="0">
                <a:solidFill>
                  <a:schemeClr val="bg1"/>
                </a:solidFill>
              </a:rPr>
              <a:t>Need for upskilling</a:t>
            </a:r>
          </a:p>
        </p:txBody>
      </p:sp>
      <p:pic>
        <p:nvPicPr>
          <p:cNvPr id="8"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984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1" name="Rounded Rectangular Callout 10"/>
          <p:cNvSpPr/>
          <p:nvPr/>
        </p:nvSpPr>
        <p:spPr>
          <a:xfrm>
            <a:off x="75415" y="1913642"/>
            <a:ext cx="8616097" cy="4724794"/>
          </a:xfrm>
          <a:prstGeom prst="wedgeRoundRectCallout">
            <a:avLst>
              <a:gd name="adj1" fmla="val 63035"/>
              <a:gd name="adj2" fmla="val 31443"/>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ontent Placeholder 4"/>
          <p:cNvSpPr>
            <a:spLocks noGrp="1"/>
          </p:cNvSpPr>
          <p:nvPr>
            <p:ph sz="quarter" idx="2"/>
          </p:nvPr>
        </p:nvSpPr>
        <p:spPr>
          <a:xfrm>
            <a:off x="179109" y="2133208"/>
            <a:ext cx="8512403" cy="4458093"/>
          </a:xfrm>
        </p:spPr>
        <p:txBody>
          <a:bodyPr>
            <a:normAutofit/>
          </a:bodyPr>
          <a:lstStyle/>
          <a:p>
            <a:r>
              <a:rPr lang="en-GB" dirty="0"/>
              <a:t>While computers are reducing the need for jobs in other sectors there is a continual increase in computing related jobs</a:t>
            </a:r>
          </a:p>
          <a:p>
            <a:pPr lvl="1"/>
            <a:r>
              <a:rPr lang="en-GB" dirty="0"/>
              <a:t>Programmers</a:t>
            </a:r>
          </a:p>
          <a:p>
            <a:pPr lvl="1"/>
            <a:r>
              <a:rPr lang="en-GB" dirty="0"/>
              <a:t>Software Engineers</a:t>
            </a:r>
          </a:p>
          <a:p>
            <a:pPr lvl="1"/>
            <a:r>
              <a:rPr lang="en-GB" dirty="0"/>
              <a:t>ICT Technicians</a:t>
            </a:r>
          </a:p>
          <a:p>
            <a:pPr lvl="1"/>
            <a:r>
              <a:rPr lang="en-GB" dirty="0"/>
              <a:t>Network Managers</a:t>
            </a:r>
          </a:p>
          <a:p>
            <a:pPr lvl="1"/>
            <a:r>
              <a:rPr lang="en-GB" dirty="0"/>
              <a:t>ICT Consultants</a:t>
            </a:r>
          </a:p>
          <a:p>
            <a:pPr lvl="1"/>
            <a:r>
              <a:rPr lang="en-GB" dirty="0"/>
              <a:t>App Developers</a:t>
            </a:r>
          </a:p>
          <a:p>
            <a:pPr lvl="1"/>
            <a:r>
              <a:rPr lang="en-GB" dirty="0"/>
              <a:t>Web Designers</a:t>
            </a:r>
          </a:p>
          <a:p>
            <a:pPr lvl="1"/>
            <a:r>
              <a:rPr lang="en-GB" dirty="0"/>
              <a:t>Social Media Manager</a:t>
            </a:r>
          </a:p>
        </p:txBody>
      </p:sp>
      <p:pic>
        <p:nvPicPr>
          <p:cNvPr id="7"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rgbClr val="FFFF00"/>
                </a:solidFill>
              </a:rPr>
              <a:t>Job opportunities</a:t>
            </a:r>
          </a:p>
          <a:p>
            <a:pPr lvl="1"/>
            <a:r>
              <a:rPr lang="en-GB" dirty="0">
                <a:solidFill>
                  <a:schemeClr val="bg1"/>
                </a:solidFill>
              </a:rPr>
              <a:t>Job displacement</a:t>
            </a:r>
          </a:p>
          <a:p>
            <a:pPr lvl="1"/>
            <a:r>
              <a:rPr lang="en-GB" dirty="0">
                <a:solidFill>
                  <a:schemeClr val="bg1"/>
                </a:solidFill>
              </a:rPr>
              <a:t>Changes in work patterns</a:t>
            </a:r>
          </a:p>
          <a:p>
            <a:pPr lvl="1"/>
            <a:r>
              <a:rPr lang="en-GB" dirty="0">
                <a:solidFill>
                  <a:schemeClr val="bg1"/>
                </a:solidFill>
              </a:rPr>
              <a:t>Need for upskilling</a:t>
            </a:r>
          </a:p>
        </p:txBody>
      </p:sp>
      <p:pic>
        <p:nvPicPr>
          <p:cNvPr id="9"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82762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1" name="Rounded Rectangular Callout 10"/>
          <p:cNvSpPr/>
          <p:nvPr/>
        </p:nvSpPr>
        <p:spPr>
          <a:xfrm>
            <a:off x="179109" y="2799761"/>
            <a:ext cx="8587819" cy="3789575"/>
          </a:xfrm>
          <a:prstGeom prst="wedgeRoundRectCallout">
            <a:avLst>
              <a:gd name="adj1" fmla="val 66680"/>
              <a:gd name="adj2" fmla="val 24843"/>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ontent Placeholder 4"/>
          <p:cNvSpPr>
            <a:spLocks noGrp="1"/>
          </p:cNvSpPr>
          <p:nvPr>
            <p:ph sz="quarter" idx="2"/>
          </p:nvPr>
        </p:nvSpPr>
        <p:spPr>
          <a:xfrm>
            <a:off x="311085" y="2960016"/>
            <a:ext cx="8559537" cy="3704735"/>
          </a:xfrm>
        </p:spPr>
        <p:txBody>
          <a:bodyPr>
            <a:normAutofit/>
          </a:bodyPr>
          <a:lstStyle/>
          <a:p>
            <a:r>
              <a:rPr lang="en-GB" dirty="0"/>
              <a:t>This is down to a number of factors;</a:t>
            </a:r>
          </a:p>
          <a:p>
            <a:pPr lvl="1"/>
            <a:r>
              <a:rPr lang="en-GB" dirty="0"/>
              <a:t>New jobs being created due to technology that previously didn’t exist</a:t>
            </a:r>
          </a:p>
          <a:p>
            <a:pPr lvl="1"/>
            <a:r>
              <a:rPr lang="en-GB" dirty="0"/>
              <a:t>More and more demand for computing within work places</a:t>
            </a:r>
          </a:p>
          <a:p>
            <a:pPr lvl="2"/>
            <a:r>
              <a:rPr lang="en-GB" dirty="0"/>
              <a:t>Jobs in installation</a:t>
            </a:r>
          </a:p>
          <a:p>
            <a:pPr lvl="2"/>
            <a:r>
              <a:rPr lang="en-GB" dirty="0"/>
              <a:t>Jobs in maintaining</a:t>
            </a:r>
          </a:p>
          <a:p>
            <a:pPr lvl="2"/>
            <a:r>
              <a:rPr lang="en-GB" dirty="0"/>
              <a:t>Jobs in production</a:t>
            </a:r>
          </a:p>
          <a:p>
            <a:pPr lvl="1"/>
            <a:r>
              <a:rPr lang="en-GB" dirty="0"/>
              <a:t>More jobs being automated or streamlined due to computing so higher demand for those skills</a:t>
            </a:r>
          </a:p>
          <a:p>
            <a:pPr lvl="1"/>
            <a:endParaRPr lang="en-GB" dirty="0"/>
          </a:p>
        </p:txBody>
      </p:sp>
      <p:pic>
        <p:nvPicPr>
          <p:cNvPr id="7"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rgbClr val="FFFF00"/>
                </a:solidFill>
              </a:rPr>
              <a:t>Job opportunities</a:t>
            </a:r>
          </a:p>
          <a:p>
            <a:pPr lvl="1"/>
            <a:r>
              <a:rPr lang="en-GB" dirty="0">
                <a:solidFill>
                  <a:schemeClr val="bg1"/>
                </a:solidFill>
              </a:rPr>
              <a:t>Job displacement</a:t>
            </a:r>
          </a:p>
          <a:p>
            <a:pPr lvl="1"/>
            <a:r>
              <a:rPr lang="en-GB" dirty="0">
                <a:solidFill>
                  <a:schemeClr val="bg1"/>
                </a:solidFill>
              </a:rPr>
              <a:t>Changes in work patterns</a:t>
            </a:r>
          </a:p>
          <a:p>
            <a:pPr lvl="1"/>
            <a:r>
              <a:rPr lang="en-GB" dirty="0">
                <a:solidFill>
                  <a:schemeClr val="bg1"/>
                </a:solidFill>
              </a:rPr>
              <a:t>Need for upskilling</a:t>
            </a:r>
          </a:p>
        </p:txBody>
      </p:sp>
      <p:pic>
        <p:nvPicPr>
          <p:cNvPr id="8194"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108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1" name="Rounded Rectangular Callout 10"/>
          <p:cNvSpPr/>
          <p:nvPr/>
        </p:nvSpPr>
        <p:spPr>
          <a:xfrm>
            <a:off x="179109" y="3563725"/>
            <a:ext cx="9530499" cy="2318601"/>
          </a:xfrm>
          <a:prstGeom prst="wedgeRoundRectCallout">
            <a:avLst>
              <a:gd name="adj1" fmla="val 55923"/>
              <a:gd name="adj2" fmla="val 38027"/>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ontent Placeholder 4"/>
          <p:cNvSpPr>
            <a:spLocks noGrp="1"/>
          </p:cNvSpPr>
          <p:nvPr>
            <p:ph sz="quarter" idx="2"/>
          </p:nvPr>
        </p:nvSpPr>
        <p:spPr>
          <a:xfrm>
            <a:off x="454842" y="3563725"/>
            <a:ext cx="8931819" cy="3213362"/>
          </a:xfrm>
        </p:spPr>
        <p:txBody>
          <a:bodyPr>
            <a:normAutofit/>
          </a:bodyPr>
          <a:lstStyle/>
          <a:p>
            <a:r>
              <a:rPr lang="en-GB" dirty="0"/>
              <a:t>Currently there are more jobs being created in computing than there are people to fill them</a:t>
            </a:r>
          </a:p>
          <a:p>
            <a:r>
              <a:rPr lang="en-GB" dirty="0"/>
              <a:t>Have some extremely good pay schemes</a:t>
            </a:r>
          </a:p>
          <a:p>
            <a:r>
              <a:rPr lang="en-GB" dirty="0"/>
              <a:t>Huge ability to travel and work in more enjoyable environments and ways</a:t>
            </a:r>
          </a:p>
        </p:txBody>
      </p:sp>
      <p:pic>
        <p:nvPicPr>
          <p:cNvPr id="7"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rgbClr val="FFFF00"/>
                </a:solidFill>
              </a:rPr>
              <a:t>Job opportunities</a:t>
            </a:r>
          </a:p>
          <a:p>
            <a:pPr lvl="1"/>
            <a:r>
              <a:rPr lang="en-GB" dirty="0">
                <a:solidFill>
                  <a:schemeClr val="bg1"/>
                </a:solidFill>
              </a:rPr>
              <a:t>Job displacement</a:t>
            </a:r>
          </a:p>
          <a:p>
            <a:pPr lvl="1"/>
            <a:r>
              <a:rPr lang="en-GB" dirty="0">
                <a:solidFill>
                  <a:schemeClr val="bg1"/>
                </a:solidFill>
              </a:rPr>
              <a:t>Changes in work patterns</a:t>
            </a:r>
          </a:p>
          <a:p>
            <a:pPr lvl="1"/>
            <a:r>
              <a:rPr lang="en-GB" dirty="0">
                <a:solidFill>
                  <a:schemeClr val="bg1"/>
                </a:solidFill>
              </a:rPr>
              <a:t>Need for upskilling</a:t>
            </a:r>
          </a:p>
        </p:txBody>
      </p:sp>
      <p:pic>
        <p:nvPicPr>
          <p:cNvPr id="9"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3938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1" name="Rounded Rectangular Callout 10"/>
          <p:cNvSpPr/>
          <p:nvPr/>
        </p:nvSpPr>
        <p:spPr>
          <a:xfrm>
            <a:off x="772998" y="2246705"/>
            <a:ext cx="7918516" cy="4231099"/>
          </a:xfrm>
          <a:prstGeom prst="wedgeRoundRectCallout">
            <a:avLst>
              <a:gd name="adj1" fmla="val 62590"/>
              <a:gd name="adj2" fmla="val 29115"/>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ontent Placeholder 4"/>
          <p:cNvSpPr>
            <a:spLocks noGrp="1"/>
          </p:cNvSpPr>
          <p:nvPr>
            <p:ph sz="quarter" idx="2"/>
          </p:nvPr>
        </p:nvSpPr>
        <p:spPr>
          <a:xfrm>
            <a:off x="1300898" y="2423492"/>
            <a:ext cx="7843101" cy="4572000"/>
          </a:xfrm>
        </p:spPr>
        <p:txBody>
          <a:bodyPr>
            <a:normAutofit/>
          </a:bodyPr>
          <a:lstStyle/>
          <a:p>
            <a:r>
              <a:rPr lang="en-GB" dirty="0"/>
              <a:t>Job displacement</a:t>
            </a:r>
          </a:p>
          <a:p>
            <a:pPr lvl="1"/>
            <a:r>
              <a:rPr lang="en-GB" dirty="0"/>
              <a:t>A computer was one job that has vanished</a:t>
            </a:r>
          </a:p>
          <a:p>
            <a:pPr lvl="1"/>
            <a:r>
              <a:rPr lang="en-GB" dirty="0"/>
              <a:t>Can we think of anymore that are on the decline or disappeared</a:t>
            </a:r>
          </a:p>
          <a:p>
            <a:pPr lvl="2"/>
            <a:r>
              <a:rPr lang="en-GB" dirty="0"/>
              <a:t>Typist</a:t>
            </a:r>
          </a:p>
          <a:p>
            <a:pPr lvl="2"/>
            <a:r>
              <a:rPr lang="en-GB" dirty="0"/>
              <a:t>Secretary</a:t>
            </a:r>
          </a:p>
          <a:p>
            <a:pPr lvl="2"/>
            <a:r>
              <a:rPr lang="en-GB" dirty="0"/>
              <a:t>Factory workers</a:t>
            </a:r>
          </a:p>
          <a:p>
            <a:pPr lvl="2"/>
            <a:r>
              <a:rPr lang="en-GB" dirty="0"/>
              <a:t>Bankers</a:t>
            </a:r>
          </a:p>
          <a:p>
            <a:pPr lvl="2"/>
            <a:r>
              <a:rPr lang="en-GB" dirty="0"/>
              <a:t>Post sorters</a:t>
            </a:r>
          </a:p>
          <a:p>
            <a:pPr lvl="2"/>
            <a:r>
              <a:rPr lang="en-GB" dirty="0"/>
              <a:t>Manufacturing of clothes (or anything)</a:t>
            </a:r>
          </a:p>
          <a:p>
            <a:pPr lvl="2"/>
            <a:r>
              <a:rPr lang="en-GB" dirty="0"/>
              <a:t>Street shops</a:t>
            </a:r>
          </a:p>
          <a:p>
            <a:pPr lvl="2"/>
            <a:endParaRPr lang="en-GB" dirty="0"/>
          </a:p>
        </p:txBody>
      </p:sp>
      <p:pic>
        <p:nvPicPr>
          <p:cNvPr id="7"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chemeClr val="bg1"/>
                </a:solidFill>
              </a:rPr>
              <a:t>Job opportunities</a:t>
            </a:r>
          </a:p>
          <a:p>
            <a:pPr lvl="1"/>
            <a:r>
              <a:rPr lang="en-GB" dirty="0">
                <a:solidFill>
                  <a:srgbClr val="FFFF00"/>
                </a:solidFill>
              </a:rPr>
              <a:t>Job displacement</a:t>
            </a:r>
          </a:p>
          <a:p>
            <a:pPr lvl="1"/>
            <a:r>
              <a:rPr lang="en-GB" dirty="0">
                <a:solidFill>
                  <a:schemeClr val="bg1"/>
                </a:solidFill>
              </a:rPr>
              <a:t>Changes in work patterns</a:t>
            </a:r>
          </a:p>
          <a:p>
            <a:pPr lvl="1"/>
            <a:r>
              <a:rPr lang="en-GB" dirty="0">
                <a:solidFill>
                  <a:schemeClr val="bg1"/>
                </a:solidFill>
              </a:rPr>
              <a:t>Need for upskilling</a:t>
            </a:r>
          </a:p>
        </p:txBody>
      </p:sp>
      <p:pic>
        <p:nvPicPr>
          <p:cNvPr id="9"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2221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1" name="Rounded Rectangular Callout 10"/>
          <p:cNvSpPr/>
          <p:nvPr/>
        </p:nvSpPr>
        <p:spPr>
          <a:xfrm>
            <a:off x="1329179" y="1915177"/>
            <a:ext cx="7466029" cy="4748787"/>
          </a:xfrm>
          <a:prstGeom prst="wedgeRoundRectCallout">
            <a:avLst>
              <a:gd name="adj1" fmla="val 61731"/>
              <a:gd name="adj2" fmla="val 29689"/>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ontent Placeholder 4"/>
          <p:cNvSpPr>
            <a:spLocks noGrp="1"/>
          </p:cNvSpPr>
          <p:nvPr>
            <p:ph sz="quarter" idx="2"/>
          </p:nvPr>
        </p:nvSpPr>
        <p:spPr>
          <a:xfrm>
            <a:off x="1489434" y="2091964"/>
            <a:ext cx="7049011" cy="4572000"/>
          </a:xfrm>
        </p:spPr>
        <p:txBody>
          <a:bodyPr>
            <a:normAutofit/>
          </a:bodyPr>
          <a:lstStyle/>
          <a:p>
            <a:r>
              <a:rPr lang="en-GB" dirty="0"/>
              <a:t>Work patterns</a:t>
            </a:r>
          </a:p>
          <a:p>
            <a:pPr lvl="1"/>
            <a:r>
              <a:rPr lang="en-GB" dirty="0"/>
              <a:t>Traditional</a:t>
            </a:r>
          </a:p>
          <a:p>
            <a:pPr lvl="2"/>
            <a:r>
              <a:rPr lang="en-GB" dirty="0"/>
              <a:t>Working 9 to 5</a:t>
            </a:r>
          </a:p>
          <a:p>
            <a:pPr lvl="2"/>
            <a:r>
              <a:rPr lang="en-GB" dirty="0"/>
              <a:t>Based in an office block</a:t>
            </a:r>
          </a:p>
          <a:p>
            <a:pPr lvl="2"/>
            <a:r>
              <a:rPr lang="en-GB" dirty="0"/>
              <a:t>Generally assign asks to do solo</a:t>
            </a:r>
          </a:p>
          <a:p>
            <a:pPr lvl="1"/>
            <a:r>
              <a:rPr lang="en-GB" dirty="0"/>
              <a:t>Current changes</a:t>
            </a:r>
          </a:p>
          <a:p>
            <a:pPr lvl="2"/>
            <a:r>
              <a:rPr lang="en-GB" dirty="0"/>
              <a:t>Offices still exist but the layout and style has changed</a:t>
            </a:r>
          </a:p>
          <a:p>
            <a:pPr lvl="2"/>
            <a:r>
              <a:rPr lang="en-GB" dirty="0"/>
              <a:t>Can work any hour you wish in some cases providing you still work the required amount of time</a:t>
            </a:r>
          </a:p>
          <a:p>
            <a:pPr lvl="3"/>
            <a:r>
              <a:rPr lang="en-GB" dirty="0"/>
              <a:t>Helpful for families</a:t>
            </a:r>
          </a:p>
          <a:p>
            <a:pPr lvl="2"/>
            <a:r>
              <a:rPr lang="en-GB" dirty="0"/>
              <a:t>Can work anywhere with teleworking</a:t>
            </a:r>
          </a:p>
          <a:p>
            <a:pPr lvl="1"/>
            <a:r>
              <a:rPr lang="en-GB" dirty="0"/>
              <a:t>Find pictures showing the two examples</a:t>
            </a:r>
          </a:p>
          <a:p>
            <a:pPr lvl="2"/>
            <a:endParaRPr lang="en-GB" dirty="0"/>
          </a:p>
        </p:txBody>
      </p:sp>
      <p:pic>
        <p:nvPicPr>
          <p:cNvPr id="7"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chemeClr val="bg1"/>
                </a:solidFill>
              </a:rPr>
              <a:t>Job opportunities</a:t>
            </a:r>
          </a:p>
          <a:p>
            <a:pPr lvl="1"/>
            <a:r>
              <a:rPr lang="en-GB" dirty="0">
                <a:solidFill>
                  <a:schemeClr val="bg1"/>
                </a:solidFill>
              </a:rPr>
              <a:t>Job displacement</a:t>
            </a:r>
          </a:p>
          <a:p>
            <a:pPr lvl="1"/>
            <a:r>
              <a:rPr lang="en-GB" dirty="0">
                <a:solidFill>
                  <a:srgbClr val="FFFF00"/>
                </a:solidFill>
              </a:rPr>
              <a:t>Changes in work patterns</a:t>
            </a:r>
          </a:p>
          <a:p>
            <a:pPr lvl="1"/>
            <a:r>
              <a:rPr lang="en-GB" dirty="0">
                <a:solidFill>
                  <a:schemeClr val="bg1"/>
                </a:solidFill>
              </a:rPr>
              <a:t>Need for upskilling</a:t>
            </a:r>
          </a:p>
        </p:txBody>
      </p:sp>
      <p:pic>
        <p:nvPicPr>
          <p:cNvPr id="9"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05207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1" name="Rounded Rectangular Callout 10"/>
          <p:cNvSpPr/>
          <p:nvPr/>
        </p:nvSpPr>
        <p:spPr>
          <a:xfrm>
            <a:off x="358220" y="2102177"/>
            <a:ext cx="8182466" cy="3242821"/>
          </a:xfrm>
          <a:prstGeom prst="wedgeRoundRectCallout">
            <a:avLst>
              <a:gd name="adj1" fmla="val 61453"/>
              <a:gd name="adj2" fmla="val 48532"/>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ontent Placeholder 4"/>
          <p:cNvSpPr>
            <a:spLocks noGrp="1"/>
          </p:cNvSpPr>
          <p:nvPr>
            <p:ph sz="quarter" idx="2"/>
          </p:nvPr>
        </p:nvSpPr>
        <p:spPr>
          <a:xfrm>
            <a:off x="518474" y="2286000"/>
            <a:ext cx="7407229" cy="4572000"/>
          </a:xfrm>
        </p:spPr>
        <p:txBody>
          <a:bodyPr>
            <a:normAutofit/>
          </a:bodyPr>
          <a:lstStyle/>
          <a:p>
            <a:r>
              <a:rPr lang="en-GB" dirty="0"/>
              <a:t>Teleworking</a:t>
            </a:r>
          </a:p>
          <a:p>
            <a:pPr lvl="1"/>
            <a:r>
              <a:rPr lang="en-GB" dirty="0"/>
              <a:t>The ability to work from home using computers, mobile devices and internet connections</a:t>
            </a:r>
          </a:p>
          <a:p>
            <a:pPr lvl="1"/>
            <a:r>
              <a:rPr lang="en-GB" dirty="0"/>
              <a:t>Through email and video conferencing an employee is never out of touch</a:t>
            </a:r>
          </a:p>
          <a:p>
            <a:pPr lvl="1"/>
            <a:r>
              <a:rPr lang="en-GB" dirty="0"/>
              <a:t>However there are advantages and disadvantages to the employee and employer</a:t>
            </a:r>
          </a:p>
          <a:p>
            <a:pPr marL="914400" lvl="2" indent="0">
              <a:buNone/>
            </a:pPr>
            <a:endParaRPr lang="en-GB" dirty="0"/>
          </a:p>
        </p:txBody>
      </p:sp>
      <p:pic>
        <p:nvPicPr>
          <p:cNvPr id="7"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chemeClr val="bg1"/>
                </a:solidFill>
              </a:rPr>
              <a:t>Job opportunities</a:t>
            </a:r>
          </a:p>
          <a:p>
            <a:pPr lvl="1"/>
            <a:r>
              <a:rPr lang="en-GB" dirty="0">
                <a:solidFill>
                  <a:schemeClr val="bg1"/>
                </a:solidFill>
              </a:rPr>
              <a:t>Job displacement</a:t>
            </a:r>
          </a:p>
          <a:p>
            <a:pPr lvl="1"/>
            <a:r>
              <a:rPr lang="en-GB" dirty="0">
                <a:solidFill>
                  <a:srgbClr val="FFFF00"/>
                </a:solidFill>
              </a:rPr>
              <a:t>Changes in work patterns</a:t>
            </a:r>
          </a:p>
          <a:p>
            <a:pPr lvl="1"/>
            <a:r>
              <a:rPr lang="en-GB" dirty="0">
                <a:solidFill>
                  <a:schemeClr val="bg1"/>
                </a:solidFill>
              </a:rPr>
              <a:t>Need for upskilling</a:t>
            </a:r>
          </a:p>
        </p:txBody>
      </p:sp>
      <p:pic>
        <p:nvPicPr>
          <p:cNvPr id="9"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9131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1" name="Rounded Rectangular Callout 10"/>
          <p:cNvSpPr/>
          <p:nvPr/>
        </p:nvSpPr>
        <p:spPr>
          <a:xfrm>
            <a:off x="94268" y="1895966"/>
            <a:ext cx="8663233" cy="4391712"/>
          </a:xfrm>
          <a:prstGeom prst="wedgeRoundRectCallout">
            <a:avLst>
              <a:gd name="adj1" fmla="val 63932"/>
              <a:gd name="adj2" fmla="val 34163"/>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7" name="Table 6"/>
          <p:cNvGraphicFramePr>
            <a:graphicFrameLocks noGrp="1"/>
          </p:cNvGraphicFramePr>
          <p:nvPr>
            <p:extLst>
              <p:ext uri="{D42A27DB-BD31-4B8C-83A1-F6EECF244321}">
                <p14:modId xmlns:p14="http://schemas.microsoft.com/office/powerpoint/2010/main" val="3217989352"/>
              </p:ext>
            </p:extLst>
          </p:nvPr>
        </p:nvGraphicFramePr>
        <p:xfrm>
          <a:off x="490194" y="2080142"/>
          <a:ext cx="7824247" cy="40233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842895">
                  <a:extLst>
                    <a:ext uri="{9D8B030D-6E8A-4147-A177-3AD203B41FA5}">
                      <a16:colId xmlns:a16="http://schemas.microsoft.com/office/drawing/2014/main" val="20000"/>
                    </a:ext>
                  </a:extLst>
                </a:gridCol>
                <a:gridCol w="2981352">
                  <a:extLst>
                    <a:ext uri="{9D8B030D-6E8A-4147-A177-3AD203B41FA5}">
                      <a16:colId xmlns:a16="http://schemas.microsoft.com/office/drawing/2014/main" val="20001"/>
                    </a:ext>
                  </a:extLst>
                </a:gridCol>
              </a:tblGrid>
              <a:tr h="223584">
                <a:tc>
                  <a:txBody>
                    <a:bodyPr/>
                    <a:lstStyle/>
                    <a:p>
                      <a:pPr algn="ctr"/>
                      <a:r>
                        <a:rPr lang="en-GB" dirty="0"/>
                        <a:t>Advantages</a:t>
                      </a:r>
                    </a:p>
                  </a:txBody>
                  <a:tcPr/>
                </a:tc>
                <a:tc>
                  <a:txBody>
                    <a:bodyPr/>
                    <a:lstStyle/>
                    <a:p>
                      <a:pPr algn="ctr"/>
                      <a:r>
                        <a:rPr lang="en-GB" dirty="0"/>
                        <a:t>Disadvantages</a:t>
                      </a:r>
                    </a:p>
                  </a:txBody>
                  <a:tcPr/>
                </a:tc>
                <a:extLst>
                  <a:ext uri="{0D108BD9-81ED-4DB2-BD59-A6C34878D82A}">
                    <a16:rowId xmlns:a16="http://schemas.microsoft.com/office/drawing/2014/main" val="10000"/>
                  </a:ext>
                </a:extLst>
              </a:tr>
              <a:tr h="723887">
                <a:tc>
                  <a:txBody>
                    <a:bodyPr/>
                    <a:lstStyle/>
                    <a:p>
                      <a:r>
                        <a:rPr lang="en-GB" sz="1400" b="1" dirty="0"/>
                        <a:t>Costs</a:t>
                      </a:r>
                      <a:r>
                        <a:rPr lang="en-GB" sz="1400" baseline="0" dirty="0"/>
                        <a:t> – saves travel costs and time for employer and employee</a:t>
                      </a:r>
                    </a:p>
                    <a:p>
                      <a:r>
                        <a:rPr lang="en-GB" sz="1400" dirty="0"/>
                        <a:t>    - cheaper</a:t>
                      </a:r>
                      <a:r>
                        <a:rPr lang="en-GB" sz="1400" baseline="0" dirty="0"/>
                        <a:t> on electricity, heating and office space for employer</a:t>
                      </a:r>
                      <a:endParaRPr lang="en-GB"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b="1" dirty="0"/>
                        <a:t>Discipline</a:t>
                      </a:r>
                      <a:r>
                        <a:rPr lang="en-GB" sz="1400" dirty="0"/>
                        <a:t> – employees need to remain focused themselves by either having their own office</a:t>
                      </a:r>
                      <a:r>
                        <a:rPr lang="en-GB" sz="1400" baseline="0" dirty="0"/>
                        <a:t> or working the required amount of time</a:t>
                      </a:r>
                      <a:endParaRPr lang="en-GB" sz="1400" dirty="0"/>
                    </a:p>
                  </a:txBody>
                  <a:tcPr/>
                </a:tc>
                <a:extLst>
                  <a:ext uri="{0D108BD9-81ED-4DB2-BD59-A6C34878D82A}">
                    <a16:rowId xmlns:a16="http://schemas.microsoft.com/office/drawing/2014/main" val="10001"/>
                  </a:ext>
                </a:extLst>
              </a:tr>
              <a:tr h="498678">
                <a:tc>
                  <a:txBody>
                    <a:bodyPr/>
                    <a:lstStyle/>
                    <a:p>
                      <a:r>
                        <a:rPr lang="en-GB" sz="1400" b="1" dirty="0"/>
                        <a:t>Location</a:t>
                      </a:r>
                      <a:r>
                        <a:rPr lang="en-GB" sz="1400" dirty="0"/>
                        <a:t> – ability to hire people from any location in the world providing a wider range of suitable employees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b="1" dirty="0"/>
                        <a:t>Social</a:t>
                      </a:r>
                      <a:r>
                        <a:rPr lang="en-GB" sz="1400" baseline="0" dirty="0"/>
                        <a:t> – employees can feel isolated because there is less team working and social interaction</a:t>
                      </a:r>
                    </a:p>
                  </a:txBody>
                  <a:tcPr/>
                </a:tc>
                <a:extLst>
                  <a:ext uri="{0D108BD9-81ED-4DB2-BD59-A6C34878D82A}">
                    <a16:rowId xmlns:a16="http://schemas.microsoft.com/office/drawing/2014/main" val="10002"/>
                  </a:ext>
                </a:extLst>
              </a:tr>
              <a:tr h="386073">
                <a:tc>
                  <a:txBody>
                    <a:bodyPr/>
                    <a:lstStyle/>
                    <a:p>
                      <a:r>
                        <a:rPr lang="en-GB" sz="1400" b="1" dirty="0"/>
                        <a:t>Flexibility</a:t>
                      </a:r>
                      <a:r>
                        <a:rPr lang="en-GB" sz="1400" dirty="0"/>
                        <a:t> – flexible working hours which allows more people to work around other commitments</a:t>
                      </a:r>
                    </a:p>
                  </a:txBody>
                  <a:tcPr/>
                </a:tc>
                <a:tc rowSpan="3">
                  <a:txBody>
                    <a:bodyPr/>
                    <a:lstStyle/>
                    <a:p>
                      <a:r>
                        <a:rPr lang="en-GB" sz="1400" b="1" dirty="0"/>
                        <a:t>Monitoring</a:t>
                      </a:r>
                      <a:r>
                        <a:rPr lang="en-GB" sz="1400" dirty="0"/>
                        <a:t> – it is harder for managers to</a:t>
                      </a:r>
                      <a:r>
                        <a:rPr lang="en-GB" sz="1400" baseline="0" dirty="0"/>
                        <a:t> check how everything is going and employees can find it hard to contact someone in an emergency</a:t>
                      </a:r>
                      <a:endParaRPr lang="en-GB" sz="1400" dirty="0"/>
                    </a:p>
                  </a:txBody>
                  <a:tcPr/>
                </a:tc>
                <a:extLst>
                  <a:ext uri="{0D108BD9-81ED-4DB2-BD59-A6C34878D82A}">
                    <a16:rowId xmlns:a16="http://schemas.microsoft.com/office/drawing/2014/main" val="10003"/>
                  </a:ext>
                </a:extLst>
              </a:tr>
              <a:tr h="386073">
                <a:tc>
                  <a:txBody>
                    <a:bodyPr/>
                    <a:lstStyle/>
                    <a:p>
                      <a:r>
                        <a:rPr lang="en-GB" sz="1400" b="1" dirty="0"/>
                        <a:t>Society</a:t>
                      </a:r>
                      <a:r>
                        <a:rPr lang="en-GB" sz="1400" dirty="0"/>
                        <a:t> – fewer cars on the road means less pollution and congestion</a:t>
                      </a:r>
                    </a:p>
                    <a:p>
                      <a:r>
                        <a:rPr lang="en-GB" sz="1400" dirty="0"/>
                        <a:t>    - Wealth is no longer centred on cities</a:t>
                      </a:r>
                    </a:p>
                  </a:txBody>
                  <a:tcPr/>
                </a:tc>
                <a:tc vMerge="1">
                  <a:txBody>
                    <a:bodyPr/>
                    <a:lstStyle/>
                    <a:p>
                      <a:endParaRPr lang="en-GB" dirty="0"/>
                    </a:p>
                  </a:txBody>
                  <a:tcPr/>
                </a:tc>
                <a:extLst>
                  <a:ext uri="{0D108BD9-81ED-4DB2-BD59-A6C34878D82A}">
                    <a16:rowId xmlns:a16="http://schemas.microsoft.com/office/drawing/2014/main" val="10004"/>
                  </a:ext>
                </a:extLst>
              </a:tr>
              <a:tr h="498678">
                <a:tc>
                  <a:txBody>
                    <a:bodyPr/>
                    <a:lstStyle/>
                    <a:p>
                      <a:r>
                        <a:rPr lang="en-GB" sz="1400" b="1" dirty="0"/>
                        <a:t>Equal opportunities </a:t>
                      </a:r>
                      <a:r>
                        <a:rPr lang="en-GB" sz="1400" dirty="0"/>
                        <a:t>– people with disabilities that might limit their movement can work in a comfortable</a:t>
                      </a:r>
                      <a:r>
                        <a:rPr lang="en-GB" sz="1400" baseline="0" dirty="0"/>
                        <a:t> environment for them</a:t>
                      </a:r>
                      <a:endParaRPr lang="en-GB" sz="1400" dirty="0"/>
                    </a:p>
                  </a:txBody>
                  <a:tcPr/>
                </a:tc>
                <a:tc vMerge="1">
                  <a:txBody>
                    <a:bodyPr/>
                    <a:lstStyle/>
                    <a:p>
                      <a:endParaRPr lang="en-GB" dirty="0"/>
                    </a:p>
                  </a:txBody>
                  <a:tcPr/>
                </a:tc>
                <a:extLst>
                  <a:ext uri="{0D108BD9-81ED-4DB2-BD59-A6C34878D82A}">
                    <a16:rowId xmlns:a16="http://schemas.microsoft.com/office/drawing/2014/main" val="10005"/>
                  </a:ext>
                </a:extLst>
              </a:tr>
            </a:tbl>
          </a:graphicData>
        </a:graphic>
      </p:graphicFrame>
      <p:pic>
        <p:nvPicPr>
          <p:cNvPr id="6"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chemeClr val="bg1"/>
                </a:solidFill>
              </a:rPr>
              <a:t>Job opportunities</a:t>
            </a:r>
          </a:p>
          <a:p>
            <a:pPr lvl="1"/>
            <a:r>
              <a:rPr lang="en-GB" dirty="0">
                <a:solidFill>
                  <a:schemeClr val="bg1"/>
                </a:solidFill>
              </a:rPr>
              <a:t>Job displacement</a:t>
            </a:r>
          </a:p>
          <a:p>
            <a:pPr lvl="1"/>
            <a:r>
              <a:rPr lang="en-GB" dirty="0">
                <a:solidFill>
                  <a:srgbClr val="FFFF00"/>
                </a:solidFill>
              </a:rPr>
              <a:t>Changes in work patterns</a:t>
            </a:r>
          </a:p>
          <a:p>
            <a:pPr lvl="1"/>
            <a:r>
              <a:rPr lang="en-GB" dirty="0">
                <a:solidFill>
                  <a:schemeClr val="bg1"/>
                </a:solidFill>
              </a:rPr>
              <a:t>Need for upskilling</a:t>
            </a:r>
          </a:p>
        </p:txBody>
      </p:sp>
      <p:pic>
        <p:nvPicPr>
          <p:cNvPr id="10"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1110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 name="Rounded Rectangular Callout 9"/>
          <p:cNvSpPr/>
          <p:nvPr/>
        </p:nvSpPr>
        <p:spPr>
          <a:xfrm>
            <a:off x="179109" y="3563725"/>
            <a:ext cx="9530499" cy="2318601"/>
          </a:xfrm>
          <a:prstGeom prst="wedgeRoundRectCallout">
            <a:avLst>
              <a:gd name="adj1" fmla="val 55923"/>
              <a:gd name="adj2" fmla="val 38027"/>
              <a:gd name="adj3" fmla="val 1666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ontent Placeholder 4"/>
          <p:cNvSpPr>
            <a:spLocks noGrp="1"/>
          </p:cNvSpPr>
          <p:nvPr>
            <p:ph sz="quarter" idx="2"/>
          </p:nvPr>
        </p:nvSpPr>
        <p:spPr>
          <a:xfrm>
            <a:off x="358219" y="3695307"/>
            <a:ext cx="9658663" cy="2339026"/>
          </a:xfrm>
        </p:spPr>
        <p:txBody>
          <a:bodyPr>
            <a:normAutofit/>
          </a:bodyPr>
          <a:lstStyle/>
          <a:p>
            <a:r>
              <a:rPr lang="en-GB" dirty="0"/>
              <a:t>Upskilling</a:t>
            </a:r>
          </a:p>
          <a:p>
            <a:pPr lvl="1"/>
            <a:r>
              <a:rPr lang="en-GB" dirty="0"/>
              <a:t>Technology keeps moving</a:t>
            </a:r>
          </a:p>
          <a:p>
            <a:pPr lvl="2"/>
            <a:r>
              <a:rPr lang="en-GB" dirty="0"/>
              <a:t>We need to keep our skills inline with current technology</a:t>
            </a:r>
          </a:p>
          <a:p>
            <a:pPr lvl="1"/>
            <a:r>
              <a:rPr lang="en-GB" dirty="0"/>
              <a:t>Companies need to keep training their employees to keep their skills relevant to the latest hardware or software</a:t>
            </a:r>
          </a:p>
          <a:p>
            <a:pPr lvl="2"/>
            <a:endParaRPr lang="en-GB" dirty="0"/>
          </a:p>
        </p:txBody>
      </p:sp>
      <p:pic>
        <p:nvPicPr>
          <p:cNvPr id="7" name="Picture 2" descr="http://images.boomsbeat.com/data/images/full/209/jobs-jpg.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180" b="100000" l="26207" r="100000"/>
                    </a14:imgEffect>
                  </a14:imgLayer>
                </a14:imgProps>
              </a:ext>
              <a:ext uri="{28A0092B-C50C-407E-A947-70E740481C1C}">
                <a14:useLocalDpi xmlns:a14="http://schemas.microsoft.com/office/drawing/2010/main" val="0"/>
              </a:ext>
            </a:extLst>
          </a:blip>
          <a:srcRect l="34192"/>
          <a:stretch/>
        </p:blipFill>
        <p:spPr bwMode="auto">
          <a:xfrm>
            <a:off x="9386661" y="4362255"/>
            <a:ext cx="2805339" cy="249574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a:xfrm>
            <a:off x="8955464" y="548291"/>
            <a:ext cx="3073138" cy="2906631"/>
          </a:xfrm>
          <a:prstGeom prst="rect">
            <a:avLst/>
          </a:prstGeom>
          <a:solidFill>
            <a:schemeClr val="tx1"/>
          </a:solidFill>
          <a:ln w="76200">
            <a:solidFill>
              <a:srgbClr val="FF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300" dirty="0">
              <a:solidFill>
                <a:schemeClr val="bg1"/>
              </a:solidFill>
            </a:endParaRPr>
          </a:p>
          <a:p>
            <a:r>
              <a:rPr lang="en-GB" dirty="0">
                <a:solidFill>
                  <a:schemeClr val="bg1"/>
                </a:solidFill>
              </a:rPr>
              <a:t>Describe the impact of digital technology on employment including</a:t>
            </a:r>
          </a:p>
          <a:p>
            <a:pPr lvl="1"/>
            <a:r>
              <a:rPr lang="en-GB" dirty="0">
                <a:solidFill>
                  <a:schemeClr val="bg1"/>
                </a:solidFill>
              </a:rPr>
              <a:t>Job opportunities</a:t>
            </a:r>
          </a:p>
          <a:p>
            <a:pPr lvl="1"/>
            <a:r>
              <a:rPr lang="en-GB" dirty="0">
                <a:solidFill>
                  <a:schemeClr val="bg1"/>
                </a:solidFill>
              </a:rPr>
              <a:t>Job displacement</a:t>
            </a:r>
          </a:p>
          <a:p>
            <a:pPr lvl="1"/>
            <a:r>
              <a:rPr lang="en-GB" dirty="0">
                <a:solidFill>
                  <a:schemeClr val="bg1"/>
                </a:solidFill>
              </a:rPr>
              <a:t>Changes in work patterns</a:t>
            </a:r>
          </a:p>
          <a:p>
            <a:pPr lvl="1"/>
            <a:r>
              <a:rPr lang="en-GB" dirty="0">
                <a:solidFill>
                  <a:srgbClr val="FFFF00"/>
                </a:solidFill>
              </a:rPr>
              <a:t>Need for upskilling</a:t>
            </a:r>
          </a:p>
        </p:txBody>
      </p:sp>
      <p:pic>
        <p:nvPicPr>
          <p:cNvPr id="9" name="Picture 2" descr="Job search - Free professions and jobs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109" y="29817"/>
            <a:ext cx="1621409" cy="1621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253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4470</Words>
  <Application>Microsoft Office PowerPoint</Application>
  <PresentationFormat>Widescreen</PresentationFormat>
  <Paragraphs>602</Paragraphs>
  <Slides>72</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72</vt:i4>
      </vt:variant>
    </vt:vector>
  </HeadingPairs>
  <TitlesOfParts>
    <vt:vector size="79" baseType="lpstr">
      <vt:lpstr>Arial</vt:lpstr>
      <vt:lpstr>Berlin Sans FB Demi</vt:lpstr>
      <vt:lpstr>Calibri</vt:lpstr>
      <vt:lpstr>Calibri Light</vt:lpstr>
      <vt:lpstr>Copperplate Gothic Light</vt:lpstr>
      <vt:lpstr>Office Theme</vt:lpstr>
      <vt:lpstr>1_Office Theme</vt:lpstr>
      <vt:lpstr>Ethical, Legal and Environmental Impact of Digital Technology</vt:lpstr>
      <vt:lpstr>What laws do we need to know?</vt:lpstr>
      <vt:lpstr>Consumer Contracts Regulations, 2013</vt:lpstr>
      <vt:lpstr>Data Protection Act, 1998</vt:lpstr>
      <vt:lpstr>The Spec</vt:lpstr>
      <vt:lpstr>Data Protection Act</vt:lpstr>
      <vt:lpstr>The Key Roles</vt:lpstr>
      <vt:lpstr>Data Subject Rights</vt:lpstr>
      <vt:lpstr>Data Subject Rights</vt:lpstr>
      <vt:lpstr>Data Subject Rights</vt:lpstr>
      <vt:lpstr>Data Subject Rights</vt:lpstr>
      <vt:lpstr>The 8 Principles</vt:lpstr>
      <vt:lpstr>Copyright Designs and Patents Act, 1988</vt:lpstr>
      <vt:lpstr>The Specification</vt:lpstr>
      <vt:lpstr>PowerPoint Presentation</vt:lpstr>
      <vt:lpstr>To breach or not to breach?</vt:lpstr>
      <vt:lpstr>What is the Act for?</vt:lpstr>
      <vt:lpstr>How do you break the Act?</vt:lpstr>
      <vt:lpstr>Copying Images from the WWW</vt:lpstr>
      <vt:lpstr>Using Software</vt:lpstr>
      <vt:lpstr>Protecting against Software Misuse</vt:lpstr>
      <vt:lpstr>File Sharing</vt:lpstr>
      <vt:lpstr>Plagiarism</vt:lpstr>
      <vt:lpstr>The Computer Misuse Act, 1990</vt:lpstr>
      <vt:lpstr>WALTer</vt:lpstr>
      <vt:lpstr>Computer Misuse in the News</vt:lpstr>
      <vt:lpstr>The Computer Misuse: The 4 Main Offences</vt:lpstr>
      <vt:lpstr>PowerPoint Presentation</vt:lpstr>
      <vt:lpstr>The Computer Misuse: The 4 Main Offences</vt:lpstr>
      <vt:lpstr>PowerPoint Presentation</vt:lpstr>
      <vt:lpstr>Hacking</vt:lpstr>
      <vt:lpstr>Virus</vt:lpstr>
      <vt:lpstr>Spyware</vt:lpstr>
      <vt:lpstr>Phishing</vt:lpstr>
      <vt:lpstr>Preventing Computer Misuse</vt:lpstr>
      <vt:lpstr>Issues with Prosecuting</vt:lpstr>
      <vt:lpstr>Reminder: Key Terms</vt:lpstr>
      <vt:lpstr>Health and Safety when working with ICT</vt:lpstr>
      <vt:lpstr>WALTer</vt:lpstr>
      <vt:lpstr>Poor Ergonomics</vt:lpstr>
      <vt:lpstr>A danger or risk which is any source of potential damage, harm or adverse health effects on something or someone.</vt:lpstr>
      <vt:lpstr>THE IDEAL SETUP</vt:lpstr>
      <vt:lpstr>Repetitive Strain Injury</vt:lpstr>
      <vt:lpstr>Back Pain</vt:lpstr>
      <vt:lpstr>Eye Strain</vt:lpstr>
      <vt:lpstr>ELF Radiation</vt:lpstr>
      <vt:lpstr>WALTer</vt:lpstr>
      <vt:lpstr>Health and Safety in the Workplace</vt:lpstr>
      <vt:lpstr>WALTer</vt:lpstr>
      <vt:lpstr>Risks in the ICT Room</vt:lpstr>
      <vt:lpstr>Health and Safety: Employers Responsibilities</vt:lpstr>
      <vt:lpstr>Ergonomics</vt:lpstr>
      <vt:lpstr>Q. Do Laser Printers have an impact on our health?</vt:lpstr>
      <vt:lpstr>Deep Vein Thrombosis (DVT)</vt:lpstr>
      <vt:lpstr>Teleworking</vt:lpstr>
      <vt:lpstr>Health Problems associated with Teleworking</vt:lpstr>
      <vt:lpstr>WALTer</vt:lpstr>
      <vt:lpstr>Checkpoint</vt:lpstr>
      <vt:lpstr>Internet Misuse</vt:lpstr>
      <vt:lpstr>Access to Personal Information</vt:lpstr>
      <vt:lpstr>Social Media Misuse</vt:lpstr>
      <vt:lpstr>GPS and Tracking</vt:lpstr>
      <vt:lpstr>Security of Personal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C2k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Legal and Environmental Impact of Digital Technology</dc:title>
  <dc:creator>J Butler</dc:creator>
  <cp:lastModifiedBy>J Butler</cp:lastModifiedBy>
  <cp:revision>16</cp:revision>
  <dcterms:created xsi:type="dcterms:W3CDTF">2022-05-27T09:18:54Z</dcterms:created>
  <dcterms:modified xsi:type="dcterms:W3CDTF">2023-03-06T09:58:53Z</dcterms:modified>
</cp:coreProperties>
</file>