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8" r:id="rId10"/>
    <p:sldId id="265" r:id="rId11"/>
    <p:sldId id="278" r:id="rId12"/>
    <p:sldId id="267" r:id="rId13"/>
    <p:sldId id="269" r:id="rId14"/>
    <p:sldId id="274" r:id="rId15"/>
    <p:sldId id="275" r:id="rId16"/>
    <p:sldId id="276" r:id="rId17"/>
    <p:sldId id="273" r:id="rId18"/>
    <p:sldId id="280" r:id="rId19"/>
    <p:sldId id="281" r:id="rId20"/>
    <p:sldId id="282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F7F7"/>
    <a:srgbClr val="A6A6A6"/>
    <a:srgbClr val="FBF4EE"/>
    <a:srgbClr val="FFCC00"/>
    <a:srgbClr val="F6F6F6"/>
    <a:srgbClr val="41916C"/>
    <a:srgbClr val="B25BA8"/>
    <a:srgbClr val="DD72D2"/>
    <a:srgbClr val="000000"/>
    <a:srgbClr val="DF73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1" d="100"/>
          <a:sy n="151" d="100"/>
        </p:scale>
        <p:origin x="576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2C1BB2-5B6B-4D9A-A778-4EF4F688025F}" type="datetimeFigureOut">
              <a:rPr lang="en-GB" smtClean="0"/>
              <a:t>30/10/2026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0DD204-7240-49A6-B416-9E7407FF7F4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55841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0DD204-7240-49A6-B416-9E7407FF7F40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62875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VLOOKUP will be shown</a:t>
            </a:r>
            <a:r>
              <a:rPr lang="en-GB" baseline="0" dirty="0" smtClean="0"/>
              <a:t> later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0DD204-7240-49A6-B416-9E7407FF7F40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73680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Relative and Absolute Cell referencing</a:t>
            </a:r>
            <a:r>
              <a:rPr lang="en-GB" baseline="0" dirty="0" smtClean="0"/>
              <a:t> defined on next slide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0DD204-7240-49A6-B416-9E7407FF7F40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25214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3176D-08E8-483E-81F5-3170AD8D09F6}" type="datetimeFigureOut">
              <a:rPr lang="en-GB" smtClean="0"/>
              <a:t>30/10/2026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63D23-718C-43A1-9A52-3059340943D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05188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3176D-08E8-483E-81F5-3170AD8D09F6}" type="datetimeFigureOut">
              <a:rPr lang="en-GB" smtClean="0"/>
              <a:t>30/10/2026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63D23-718C-43A1-9A52-3059340943D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38977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3176D-08E8-483E-81F5-3170AD8D09F6}" type="datetimeFigureOut">
              <a:rPr lang="en-GB" smtClean="0"/>
              <a:t>30/10/2026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63D23-718C-43A1-9A52-3059340943D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19223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3176D-08E8-483E-81F5-3170AD8D09F6}" type="datetimeFigureOut">
              <a:rPr lang="en-GB" smtClean="0"/>
              <a:t>30/10/2026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63D23-718C-43A1-9A52-3059340943D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34384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3176D-08E8-483E-81F5-3170AD8D09F6}" type="datetimeFigureOut">
              <a:rPr lang="en-GB" smtClean="0"/>
              <a:t>30/10/2026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63D23-718C-43A1-9A52-3059340943D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39623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3176D-08E8-483E-81F5-3170AD8D09F6}" type="datetimeFigureOut">
              <a:rPr lang="en-GB" smtClean="0"/>
              <a:t>30/10/2026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63D23-718C-43A1-9A52-3059340943D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45146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3176D-08E8-483E-81F5-3170AD8D09F6}" type="datetimeFigureOut">
              <a:rPr lang="en-GB" smtClean="0"/>
              <a:t>30/10/2026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63D23-718C-43A1-9A52-3059340943D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58752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3176D-08E8-483E-81F5-3170AD8D09F6}" type="datetimeFigureOut">
              <a:rPr lang="en-GB" smtClean="0"/>
              <a:t>30/10/2026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63D23-718C-43A1-9A52-3059340943D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28288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3176D-08E8-483E-81F5-3170AD8D09F6}" type="datetimeFigureOut">
              <a:rPr lang="en-GB" smtClean="0"/>
              <a:t>30/10/2026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63D23-718C-43A1-9A52-3059340943D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70892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3176D-08E8-483E-81F5-3170AD8D09F6}" type="datetimeFigureOut">
              <a:rPr lang="en-GB" smtClean="0"/>
              <a:t>30/10/2026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63D23-718C-43A1-9A52-3059340943D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62849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3176D-08E8-483E-81F5-3170AD8D09F6}" type="datetimeFigureOut">
              <a:rPr lang="en-GB" smtClean="0"/>
              <a:t>30/10/2026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63D23-718C-43A1-9A52-3059340943D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09734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23176D-08E8-483E-81F5-3170AD8D09F6}" type="datetimeFigureOut">
              <a:rPr lang="en-GB" smtClean="0"/>
              <a:t>30/10/2026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663D23-718C-43A1-9A52-3059340943D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16230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3350" y="3130318"/>
            <a:ext cx="11925300" cy="1094609"/>
          </a:xfrm>
        </p:spPr>
        <p:txBody>
          <a:bodyPr/>
          <a:lstStyle/>
          <a:p>
            <a:r>
              <a:rPr lang="en-GB" dirty="0" smtClean="0">
                <a:ln>
                  <a:solidFill>
                    <a:schemeClr val="accent6">
                      <a:lumMod val="60000"/>
                      <a:lumOff val="40000"/>
                    </a:schemeClr>
                  </a:solidFill>
                </a:ln>
                <a:solidFill>
                  <a:schemeClr val="accent6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 Black" panose="020B0A04020102020204" pitchFamily="34" charset="0"/>
              </a:rPr>
              <a:t>Spread</a:t>
            </a:r>
            <a:r>
              <a:rPr lang="en-GB" dirty="0" smtClean="0">
                <a:ln>
                  <a:solidFill>
                    <a:schemeClr val="accent6">
                      <a:lumMod val="60000"/>
                      <a:lumOff val="40000"/>
                    </a:schemeClr>
                  </a:solidFill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 Black" panose="020B0A04020102020204" pitchFamily="34" charset="0"/>
              </a:rPr>
              <a:t>sheet</a:t>
            </a:r>
            <a:r>
              <a:rPr lang="en-GB" dirty="0" smtClean="0">
                <a:ln>
                  <a:solidFill>
                    <a:schemeClr val="accent6">
                      <a:lumMod val="60000"/>
                      <a:lumOff val="40000"/>
                    </a:schemeClr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 Black" panose="020B0A04020102020204" pitchFamily="34" charset="0"/>
              </a:rPr>
              <a:t> </a:t>
            </a:r>
            <a:r>
              <a:rPr lang="en-GB" dirty="0" smtClean="0">
                <a:ln>
                  <a:solidFill>
                    <a:schemeClr val="accent6">
                      <a:lumMod val="60000"/>
                      <a:lumOff val="40000"/>
                    </a:schemeClr>
                  </a:solidFill>
                </a:ln>
                <a:solidFill>
                  <a:schemeClr val="accent6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 Black" panose="020B0A04020102020204" pitchFamily="34" charset="0"/>
              </a:rPr>
              <a:t>A</a:t>
            </a:r>
            <a:r>
              <a:rPr lang="en-GB" dirty="0" smtClean="0">
                <a:ln>
                  <a:solidFill>
                    <a:schemeClr val="accent6">
                      <a:lumMod val="60000"/>
                      <a:lumOff val="40000"/>
                    </a:schemeClr>
                  </a:solidFill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 Black" panose="020B0A04020102020204" pitchFamily="34" charset="0"/>
              </a:rPr>
              <a:t>pplications</a:t>
            </a:r>
            <a:endParaRPr lang="en-GB" dirty="0"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  <a:solidFill>
                <a:schemeClr val="accent6">
                  <a:lumMod val="40000"/>
                  <a:lumOff val="60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Arial Black" panose="020B0A040201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18955" y="6415320"/>
            <a:ext cx="5455252" cy="442680"/>
          </a:xfrm>
        </p:spPr>
        <p:txBody>
          <a:bodyPr/>
          <a:lstStyle/>
          <a:p>
            <a:r>
              <a:rPr lang="en-GB" dirty="0" smtClean="0"/>
              <a:t>GCSE Digital Technology | Chapter 4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0931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5D5B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23536" b="19630"/>
          <a:stretch/>
        </p:blipFill>
        <p:spPr>
          <a:xfrm>
            <a:off x="0" y="-1"/>
            <a:ext cx="12192000" cy="6910665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>
                <a:solidFill>
                  <a:schemeClr val="accent6">
                    <a:lumMod val="75000"/>
                  </a:schemeClr>
                </a:solidFill>
                <a:latin typeface="LEMON MILK" panose="00000500000000000000" pitchFamily="50" charset="0"/>
              </a:rPr>
              <a:t>Specification </a:t>
            </a:r>
            <a:r>
              <a:rPr lang="en-GB" dirty="0" smtClean="0">
                <a:solidFill>
                  <a:schemeClr val="accent6">
                    <a:lumMod val="50000"/>
                  </a:schemeClr>
                </a:solidFill>
                <a:latin typeface="LEMON MILK" panose="00000500000000000000" pitchFamily="50" charset="0"/>
              </a:rPr>
              <a:t>Breakdown</a:t>
            </a:r>
            <a:endParaRPr lang="en-GB" dirty="0">
              <a:solidFill>
                <a:schemeClr val="accent6">
                  <a:lumMod val="50000"/>
                </a:schemeClr>
              </a:solidFill>
              <a:latin typeface="LEMON MILK" panose="00000500000000000000" pitchFamily="50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22825"/>
          </a:xfrm>
        </p:spPr>
        <p:txBody>
          <a:bodyPr>
            <a:noAutofit/>
          </a:bodyPr>
          <a:lstStyle/>
          <a:p>
            <a:pPr marL="360363" indent="-360363">
              <a:buFont typeface="Wingdings" panose="05000000000000000000" pitchFamily="2" charset="2"/>
              <a:buChar char="q"/>
            </a:pPr>
            <a:r>
              <a:rPr lang="en-GB" sz="2000" dirty="0" smtClean="0"/>
              <a:t>describe the following basic structures of spreadsheet software: cells, rows and columns; </a:t>
            </a:r>
          </a:p>
          <a:p>
            <a:pPr marL="360363" indent="-360363">
              <a:buFont typeface="Wingdings" panose="05000000000000000000" pitchFamily="2" charset="2"/>
              <a:buChar char="q"/>
            </a:pPr>
            <a:r>
              <a:rPr lang="en-GB" sz="2000" dirty="0" smtClean="0"/>
              <a:t>describe and use the following features of spreadsheet software: </a:t>
            </a:r>
          </a:p>
          <a:p>
            <a:pPr marL="893763" lvl="1" indent="-360363">
              <a:buFont typeface="Wingdings" panose="05000000000000000000" pitchFamily="2" charset="2"/>
              <a:buChar char="q"/>
            </a:pPr>
            <a:r>
              <a:rPr lang="en-GB" sz="1800" dirty="0" smtClean="0"/>
              <a:t>data types; </a:t>
            </a:r>
          </a:p>
          <a:p>
            <a:pPr marL="893763" lvl="1" indent="-360363">
              <a:buFont typeface="Wingdings" panose="05000000000000000000" pitchFamily="2" charset="2"/>
              <a:buChar char="q"/>
            </a:pPr>
            <a:r>
              <a:rPr lang="en-GB" sz="1800" dirty="0" smtClean="0"/>
              <a:t>templates, headers and footers, conditional formatting, validation, and importing data; </a:t>
            </a:r>
          </a:p>
          <a:p>
            <a:pPr marL="893763" lvl="1" indent="-360363">
              <a:buFont typeface="Wingdings" panose="05000000000000000000" pitchFamily="2" charset="2"/>
              <a:buChar char="q"/>
            </a:pPr>
            <a:r>
              <a:rPr lang="en-GB" sz="1800" dirty="0" smtClean="0"/>
              <a:t>entering text, numbers and formulae; </a:t>
            </a:r>
          </a:p>
          <a:p>
            <a:pPr marL="893763" lvl="1" indent="-360363">
              <a:buFont typeface="Wingdings" panose="05000000000000000000" pitchFamily="2" charset="2"/>
              <a:buChar char="q"/>
            </a:pPr>
            <a:r>
              <a:rPr lang="en-GB" sz="1800" dirty="0" smtClean="0"/>
              <a:t>formatting cells, rows and columns; </a:t>
            </a:r>
          </a:p>
          <a:p>
            <a:pPr marL="893763" lvl="1" indent="-360363">
              <a:buFont typeface="Wingdings" panose="05000000000000000000" pitchFamily="2" charset="2"/>
              <a:buChar char="q"/>
            </a:pPr>
            <a:r>
              <a:rPr lang="en-GB" sz="1800" dirty="0" smtClean="0"/>
              <a:t>creating and replicating formulae; </a:t>
            </a:r>
          </a:p>
          <a:p>
            <a:pPr marL="893763" lvl="1" indent="-360363">
              <a:buFont typeface="Wingdings" panose="05000000000000000000" pitchFamily="2" charset="2"/>
              <a:buChar char="q"/>
            </a:pPr>
            <a:r>
              <a:rPr lang="en-GB" sz="1800" dirty="0" smtClean="0"/>
              <a:t>creating a simple template for others to use; </a:t>
            </a:r>
          </a:p>
          <a:p>
            <a:pPr marL="893763" lvl="1" indent="-360363">
              <a:buFont typeface="Wingdings" panose="05000000000000000000" pitchFamily="2" charset="2"/>
              <a:buChar char="q"/>
            </a:pPr>
            <a:r>
              <a:rPr lang="en-GB" sz="1800" dirty="0" smtClean="0"/>
              <a:t>using simple functions, relative and absolute cell referencing, IF statements and VLOOKUPs; </a:t>
            </a:r>
          </a:p>
          <a:p>
            <a:pPr marL="360363" indent="-360363">
              <a:buFont typeface="Wingdings" panose="05000000000000000000" pitchFamily="2" charset="2"/>
              <a:buChar char="q"/>
            </a:pPr>
            <a:r>
              <a:rPr lang="en-GB" sz="2000" dirty="0" smtClean="0"/>
              <a:t>use a spreadsheet for data modelling; </a:t>
            </a:r>
          </a:p>
          <a:p>
            <a:pPr marL="360363" indent="-360363">
              <a:buFont typeface="Wingdings" panose="05000000000000000000" pitchFamily="2" charset="2"/>
              <a:buChar char="q"/>
            </a:pPr>
            <a:r>
              <a:rPr lang="en-GB" sz="2000" dirty="0" smtClean="0"/>
              <a:t>create, label and format charts; </a:t>
            </a:r>
          </a:p>
          <a:p>
            <a:pPr marL="360363" indent="-360363">
              <a:buFont typeface="Wingdings" panose="05000000000000000000" pitchFamily="2" charset="2"/>
              <a:buChar char="q"/>
            </a:pPr>
            <a:r>
              <a:rPr lang="en-GB" sz="2000" dirty="0" smtClean="0"/>
              <a:t>create simple macros. 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8083565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What actually is a spreadsheet?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 smtClean="0"/>
              <a:t>A </a:t>
            </a:r>
            <a:r>
              <a:rPr lang="en-GB" b="1" dirty="0" smtClean="0"/>
              <a:t>spreadsheet</a:t>
            </a:r>
            <a:r>
              <a:rPr lang="en-GB" dirty="0" smtClean="0"/>
              <a:t> is </a:t>
            </a:r>
            <a:r>
              <a:rPr lang="en-GB" b="1" dirty="0" smtClean="0">
                <a:solidFill>
                  <a:srgbClr val="FF0000"/>
                </a:solidFill>
              </a:rPr>
              <a:t>an application often used to process and display financial or statistical information, where data is organised in a grid layout consisting of rows and columns. </a:t>
            </a:r>
          </a:p>
          <a:p>
            <a:r>
              <a:rPr lang="en-GB" dirty="0" smtClean="0"/>
              <a:t>It is used by people in many different occupations such as engineers, scientists, teachers, designers and people who run their own business.</a:t>
            </a:r>
          </a:p>
          <a:p>
            <a:endParaRPr lang="en-GB" dirty="0"/>
          </a:p>
          <a:p>
            <a:r>
              <a:rPr lang="en-GB" dirty="0" smtClean="0"/>
              <a:t>It contains one or more </a:t>
            </a:r>
            <a:r>
              <a:rPr lang="en-GB" b="1" dirty="0" smtClean="0">
                <a:solidFill>
                  <a:srgbClr val="FF0000"/>
                </a:solidFill>
              </a:rPr>
              <a:t>worksheets</a:t>
            </a:r>
            <a:endParaRPr lang="en-GB" dirty="0" smtClean="0">
              <a:solidFill>
                <a:srgbClr val="FF0000"/>
              </a:solidFill>
            </a:endParaRPr>
          </a:p>
          <a:p>
            <a:r>
              <a:rPr lang="en-GB" b="1" dirty="0" smtClean="0">
                <a:solidFill>
                  <a:srgbClr val="FF0000"/>
                </a:solidFill>
              </a:rPr>
              <a:t>Used to create/manipulate data</a:t>
            </a:r>
          </a:p>
          <a:p>
            <a:r>
              <a:rPr lang="en-GB" dirty="0" smtClean="0"/>
              <a:t>Can </a:t>
            </a:r>
            <a:r>
              <a:rPr lang="en-GB" b="1" dirty="0" smtClean="0">
                <a:solidFill>
                  <a:srgbClr val="FF0000"/>
                </a:solidFill>
              </a:rPr>
              <a:t>perform calculations</a:t>
            </a:r>
            <a:endParaRPr lang="en-GB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7911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3594537" cy="6858000"/>
          </a:xfrm>
        </p:spPr>
        <p:txBody>
          <a:bodyPr/>
          <a:lstStyle/>
          <a:p>
            <a:pPr algn="r"/>
            <a:r>
              <a:rPr lang="en-GB" dirty="0" smtClean="0"/>
              <a:t>Cell</a:t>
            </a:r>
            <a:br>
              <a:rPr lang="en-GB" dirty="0" smtClean="0"/>
            </a:br>
            <a:r>
              <a:rPr lang="en-GB" dirty="0" smtClean="0"/>
              <a:t>Range of Cells</a:t>
            </a:r>
            <a:br>
              <a:rPr lang="en-GB" dirty="0" smtClean="0"/>
            </a:br>
            <a:r>
              <a:rPr lang="en-GB" dirty="0" smtClean="0"/>
              <a:t>Column</a:t>
            </a:r>
            <a:br>
              <a:rPr lang="en-GB" dirty="0" smtClean="0"/>
            </a:br>
            <a:r>
              <a:rPr lang="en-GB" dirty="0" smtClean="0"/>
              <a:t>Row</a:t>
            </a:r>
            <a:br>
              <a:rPr lang="en-GB" dirty="0" smtClean="0"/>
            </a:br>
            <a:r>
              <a:rPr lang="en-GB" dirty="0" smtClean="0"/>
              <a:t>Formula Bar</a:t>
            </a:r>
            <a:br>
              <a:rPr lang="en-GB" dirty="0" smtClean="0"/>
            </a:br>
            <a:r>
              <a:rPr lang="en-GB" dirty="0" smtClean="0"/>
              <a:t>Name Box</a:t>
            </a:r>
            <a:br>
              <a:rPr lang="en-GB" dirty="0" smtClean="0"/>
            </a:br>
            <a:endParaRPr lang="en-GB" dirty="0"/>
          </a:p>
        </p:txBody>
      </p:sp>
      <p:pic>
        <p:nvPicPr>
          <p:cNvPr id="5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t="13116" r="68274" b="48779"/>
          <a:stretch/>
        </p:blipFill>
        <p:spPr>
          <a:xfrm>
            <a:off x="5031449" y="1295291"/>
            <a:ext cx="6950343" cy="4695606"/>
          </a:xfrm>
          <a:prstGeom prst="rect">
            <a:avLst/>
          </a:prstGeom>
        </p:spPr>
      </p:pic>
      <p:pic>
        <p:nvPicPr>
          <p:cNvPr id="6" name="Content Placeholder 3"/>
          <p:cNvPicPr>
            <a:picLocks noChangeAspect="1"/>
          </p:cNvPicPr>
          <p:nvPr/>
        </p:nvPicPr>
        <p:blipFill rotWithShape="1">
          <a:blip r:embed="rId3"/>
          <a:srcRect t="91830" r="68274" b="5233"/>
          <a:stretch/>
        </p:blipFill>
        <p:spPr>
          <a:xfrm>
            <a:off x="5031448" y="5990897"/>
            <a:ext cx="6950343" cy="361950"/>
          </a:xfrm>
          <a:prstGeom prst="rect">
            <a:avLst/>
          </a:prstGeom>
        </p:spPr>
      </p:pic>
      <p:cxnSp>
        <p:nvCxnSpPr>
          <p:cNvPr id="7" name="Elbow Connector 6"/>
          <p:cNvCxnSpPr/>
          <p:nvPr/>
        </p:nvCxnSpPr>
        <p:spPr>
          <a:xfrm>
            <a:off x="3594537" y="1576552"/>
            <a:ext cx="5833242" cy="1040524"/>
          </a:xfrm>
          <a:prstGeom prst="bentConnector3">
            <a:avLst>
              <a:gd name="adj1" fmla="val 16757"/>
            </a:avLst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Elbow Connector 7"/>
          <p:cNvCxnSpPr/>
          <p:nvPr/>
        </p:nvCxnSpPr>
        <p:spPr>
          <a:xfrm>
            <a:off x="3746937" y="2188889"/>
            <a:ext cx="6390291" cy="2130863"/>
          </a:xfrm>
          <a:prstGeom prst="bentConnector3">
            <a:avLst>
              <a:gd name="adj1" fmla="val 100082"/>
            </a:avLst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/>
          <p:cNvCxnSpPr/>
          <p:nvPr/>
        </p:nvCxnSpPr>
        <p:spPr>
          <a:xfrm flipV="1">
            <a:off x="3746937" y="1954925"/>
            <a:ext cx="3647091" cy="804041"/>
          </a:xfrm>
          <a:prstGeom prst="bentConnector3">
            <a:avLst>
              <a:gd name="adj1" fmla="val 50000"/>
            </a:avLst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Elbow Connector 9"/>
          <p:cNvCxnSpPr/>
          <p:nvPr/>
        </p:nvCxnSpPr>
        <p:spPr>
          <a:xfrm>
            <a:off x="3746937" y="3389587"/>
            <a:ext cx="1284511" cy="394137"/>
          </a:xfrm>
          <a:prstGeom prst="bentConnector3">
            <a:avLst>
              <a:gd name="adj1" fmla="val 50000"/>
            </a:avLst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/>
          <p:cNvCxnSpPr/>
          <p:nvPr/>
        </p:nvCxnSpPr>
        <p:spPr>
          <a:xfrm flipV="1">
            <a:off x="3746937" y="1576552"/>
            <a:ext cx="4246180" cy="2514600"/>
          </a:xfrm>
          <a:prstGeom prst="bentConnector3">
            <a:avLst>
              <a:gd name="adj1" fmla="val 50000"/>
            </a:avLst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Elbow Connector 11"/>
          <p:cNvCxnSpPr/>
          <p:nvPr/>
        </p:nvCxnSpPr>
        <p:spPr>
          <a:xfrm rot="5400000" flipH="1" flipV="1">
            <a:off x="3146862" y="2427014"/>
            <a:ext cx="2876550" cy="1676401"/>
          </a:xfrm>
          <a:prstGeom prst="bentConnector3">
            <a:avLst>
              <a:gd name="adj1" fmla="val -423"/>
            </a:avLst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1540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Features of a spreadsheet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7000" y="1825625"/>
            <a:ext cx="10750550" cy="49244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 smtClean="0"/>
              <a:t>Data Types</a:t>
            </a:r>
          </a:p>
          <a:p>
            <a:pPr marL="0" indent="0">
              <a:buNone/>
            </a:pPr>
            <a:r>
              <a:rPr lang="en-GB" dirty="0" smtClean="0"/>
              <a:t>Many different types of data can be entered into a spreadsheet.</a:t>
            </a:r>
          </a:p>
          <a:p>
            <a:pPr marL="0" indent="0">
              <a:buNone/>
            </a:pPr>
            <a:endParaRPr lang="en-GB" dirty="0" smtClean="0"/>
          </a:p>
          <a:p>
            <a:pPr marL="0" indent="0">
              <a:buNone/>
            </a:pPr>
            <a:endParaRPr lang="en-GB" dirty="0" smtClean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b="1" dirty="0" smtClean="0"/>
              <a:t>Formatting Data</a:t>
            </a:r>
          </a:p>
          <a:p>
            <a:pPr marL="0" indent="0">
              <a:buNone/>
            </a:pPr>
            <a:r>
              <a:rPr lang="en-GB" dirty="0" smtClean="0"/>
              <a:t>Data within a spreadsheet can be given certain formatting, including:</a:t>
            </a:r>
          </a:p>
          <a:p>
            <a:pPr marL="0" indent="0">
              <a:buNone/>
            </a:pPr>
            <a:endParaRPr lang="en-GB" b="1" dirty="0"/>
          </a:p>
        </p:txBody>
      </p:sp>
      <p:grpSp>
        <p:nvGrpSpPr>
          <p:cNvPr id="10" name="Group 9"/>
          <p:cNvGrpSpPr/>
          <p:nvPr/>
        </p:nvGrpSpPr>
        <p:grpSpPr>
          <a:xfrm>
            <a:off x="127000" y="2904302"/>
            <a:ext cx="3924300" cy="1383535"/>
            <a:chOff x="349250" y="3346449"/>
            <a:chExt cx="2628900" cy="1383535"/>
          </a:xfrm>
        </p:grpSpPr>
        <p:sp>
          <p:nvSpPr>
            <p:cNvPr id="4" name="Rectangle 3"/>
            <p:cNvSpPr/>
            <p:nvPr/>
          </p:nvSpPr>
          <p:spPr>
            <a:xfrm>
              <a:off x="349250" y="3346449"/>
              <a:ext cx="2609850" cy="664401"/>
            </a:xfrm>
            <a:custGeom>
              <a:avLst/>
              <a:gdLst>
                <a:gd name="connsiteX0" fmla="*/ 0 w 2273300"/>
                <a:gd name="connsiteY0" fmla="*/ 0 h 577850"/>
                <a:gd name="connsiteX1" fmla="*/ 2273300 w 2273300"/>
                <a:gd name="connsiteY1" fmla="*/ 0 h 577850"/>
                <a:gd name="connsiteX2" fmla="*/ 2273300 w 2273300"/>
                <a:gd name="connsiteY2" fmla="*/ 577850 h 577850"/>
                <a:gd name="connsiteX3" fmla="*/ 0 w 2273300"/>
                <a:gd name="connsiteY3" fmla="*/ 577850 h 577850"/>
                <a:gd name="connsiteX4" fmla="*/ 0 w 2273300"/>
                <a:gd name="connsiteY4" fmla="*/ 0 h 577850"/>
                <a:gd name="connsiteX0" fmla="*/ 0 w 2444750"/>
                <a:gd name="connsiteY0" fmla="*/ 0 h 857250"/>
                <a:gd name="connsiteX1" fmla="*/ 2273300 w 2444750"/>
                <a:gd name="connsiteY1" fmla="*/ 0 h 857250"/>
                <a:gd name="connsiteX2" fmla="*/ 2444750 w 2444750"/>
                <a:gd name="connsiteY2" fmla="*/ 857250 h 857250"/>
                <a:gd name="connsiteX3" fmla="*/ 0 w 2444750"/>
                <a:gd name="connsiteY3" fmla="*/ 577850 h 857250"/>
                <a:gd name="connsiteX4" fmla="*/ 0 w 2444750"/>
                <a:gd name="connsiteY4" fmla="*/ 0 h 857250"/>
                <a:gd name="connsiteX0" fmla="*/ 177800 w 2622550"/>
                <a:gd name="connsiteY0" fmla="*/ 0 h 857250"/>
                <a:gd name="connsiteX1" fmla="*/ 2451100 w 2622550"/>
                <a:gd name="connsiteY1" fmla="*/ 0 h 857250"/>
                <a:gd name="connsiteX2" fmla="*/ 2622550 w 2622550"/>
                <a:gd name="connsiteY2" fmla="*/ 857250 h 857250"/>
                <a:gd name="connsiteX3" fmla="*/ 0 w 2622550"/>
                <a:gd name="connsiteY3" fmla="*/ 781050 h 857250"/>
                <a:gd name="connsiteX4" fmla="*/ 177800 w 2622550"/>
                <a:gd name="connsiteY4" fmla="*/ 0 h 857250"/>
                <a:gd name="connsiteX0" fmla="*/ 177800 w 2622550"/>
                <a:gd name="connsiteY0" fmla="*/ 69850 h 927100"/>
                <a:gd name="connsiteX1" fmla="*/ 2178050 w 2622550"/>
                <a:gd name="connsiteY1" fmla="*/ 0 h 927100"/>
                <a:gd name="connsiteX2" fmla="*/ 2622550 w 2622550"/>
                <a:gd name="connsiteY2" fmla="*/ 927100 h 927100"/>
                <a:gd name="connsiteX3" fmla="*/ 0 w 2622550"/>
                <a:gd name="connsiteY3" fmla="*/ 850900 h 927100"/>
                <a:gd name="connsiteX4" fmla="*/ 177800 w 2622550"/>
                <a:gd name="connsiteY4" fmla="*/ 69850 h 927100"/>
                <a:gd name="connsiteX0" fmla="*/ 508000 w 2622550"/>
                <a:gd name="connsiteY0" fmla="*/ 6350 h 927100"/>
                <a:gd name="connsiteX1" fmla="*/ 2178050 w 2622550"/>
                <a:gd name="connsiteY1" fmla="*/ 0 h 927100"/>
                <a:gd name="connsiteX2" fmla="*/ 2622550 w 2622550"/>
                <a:gd name="connsiteY2" fmla="*/ 927100 h 927100"/>
                <a:gd name="connsiteX3" fmla="*/ 0 w 2622550"/>
                <a:gd name="connsiteY3" fmla="*/ 850900 h 927100"/>
                <a:gd name="connsiteX4" fmla="*/ 508000 w 2622550"/>
                <a:gd name="connsiteY4" fmla="*/ 6350 h 927100"/>
                <a:gd name="connsiteX0" fmla="*/ 400050 w 2622550"/>
                <a:gd name="connsiteY0" fmla="*/ 6350 h 927100"/>
                <a:gd name="connsiteX1" fmla="*/ 2178050 w 2622550"/>
                <a:gd name="connsiteY1" fmla="*/ 0 h 927100"/>
                <a:gd name="connsiteX2" fmla="*/ 2622550 w 2622550"/>
                <a:gd name="connsiteY2" fmla="*/ 927100 h 927100"/>
                <a:gd name="connsiteX3" fmla="*/ 0 w 2622550"/>
                <a:gd name="connsiteY3" fmla="*/ 850900 h 927100"/>
                <a:gd name="connsiteX4" fmla="*/ 400050 w 2622550"/>
                <a:gd name="connsiteY4" fmla="*/ 6350 h 927100"/>
                <a:gd name="connsiteX0" fmla="*/ 400050 w 2641600"/>
                <a:gd name="connsiteY0" fmla="*/ 6350 h 850900"/>
                <a:gd name="connsiteX1" fmla="*/ 2178050 w 2641600"/>
                <a:gd name="connsiteY1" fmla="*/ 0 h 850900"/>
                <a:gd name="connsiteX2" fmla="*/ 2641600 w 2641600"/>
                <a:gd name="connsiteY2" fmla="*/ 829511 h 850900"/>
                <a:gd name="connsiteX3" fmla="*/ 0 w 2641600"/>
                <a:gd name="connsiteY3" fmla="*/ 850900 h 850900"/>
                <a:gd name="connsiteX4" fmla="*/ 400050 w 2641600"/>
                <a:gd name="connsiteY4" fmla="*/ 6350 h 850900"/>
                <a:gd name="connsiteX0" fmla="*/ 400050 w 2609850"/>
                <a:gd name="connsiteY0" fmla="*/ 6350 h 850900"/>
                <a:gd name="connsiteX1" fmla="*/ 2178050 w 2609850"/>
                <a:gd name="connsiteY1" fmla="*/ 0 h 850900"/>
                <a:gd name="connsiteX2" fmla="*/ 2609850 w 2609850"/>
                <a:gd name="connsiteY2" fmla="*/ 837643 h 850900"/>
                <a:gd name="connsiteX3" fmla="*/ 0 w 2609850"/>
                <a:gd name="connsiteY3" fmla="*/ 850900 h 850900"/>
                <a:gd name="connsiteX4" fmla="*/ 400050 w 2609850"/>
                <a:gd name="connsiteY4" fmla="*/ 6350 h 850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09850" h="850900">
                  <a:moveTo>
                    <a:pt x="400050" y="6350"/>
                  </a:moveTo>
                  <a:lnTo>
                    <a:pt x="2178050" y="0"/>
                  </a:lnTo>
                  <a:lnTo>
                    <a:pt x="2609850" y="837643"/>
                  </a:lnTo>
                  <a:lnTo>
                    <a:pt x="0" y="850900"/>
                  </a:lnTo>
                  <a:lnTo>
                    <a:pt x="400050" y="6350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GB" dirty="0" smtClean="0">
                  <a:solidFill>
                    <a:schemeClr val="tx1"/>
                  </a:solidFill>
                </a:rPr>
                <a:t>Labels (Text)</a:t>
              </a:r>
              <a:endParaRPr lang="en-GB" dirty="0">
                <a:solidFill>
                  <a:schemeClr val="tx1"/>
                </a:solidFill>
              </a:endParaRPr>
            </a:p>
          </p:txBody>
        </p:sp>
        <p:sp>
          <p:nvSpPr>
            <p:cNvPr id="5" name="Rectangle 4"/>
            <p:cNvSpPr/>
            <p:nvPr/>
          </p:nvSpPr>
          <p:spPr>
            <a:xfrm>
              <a:off x="349250" y="3814762"/>
              <a:ext cx="2628900" cy="91522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 smtClean="0">
                  <a:solidFill>
                    <a:schemeClr val="tx1"/>
                  </a:solidFill>
                </a:rPr>
                <a:t>A piece of text used to identify the contents of a  row or column.</a:t>
              </a:r>
            </a:p>
            <a:p>
              <a:pPr algn="ctr"/>
              <a:r>
                <a:rPr lang="en-GB" dirty="0" smtClean="0">
                  <a:solidFill>
                    <a:schemeClr val="tx1"/>
                  </a:solidFill>
                </a:rPr>
                <a:t>i.e. </a:t>
              </a:r>
              <a:r>
                <a:rPr lang="en-GB" b="1" dirty="0" smtClean="0">
                  <a:solidFill>
                    <a:schemeClr val="tx1"/>
                  </a:solidFill>
                </a:rPr>
                <a:t>Name</a:t>
              </a:r>
              <a:r>
                <a:rPr lang="en-GB" dirty="0" smtClean="0">
                  <a:solidFill>
                    <a:schemeClr val="tx1"/>
                  </a:solidFill>
                </a:rPr>
                <a:t>, </a:t>
              </a:r>
              <a:r>
                <a:rPr lang="en-GB" b="1" dirty="0" smtClean="0">
                  <a:solidFill>
                    <a:schemeClr val="tx1"/>
                  </a:solidFill>
                </a:rPr>
                <a:t>Age</a:t>
              </a: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4148068" y="2904302"/>
            <a:ext cx="3895863" cy="1383535"/>
            <a:chOff x="3670300" y="4010850"/>
            <a:chExt cx="2628900" cy="1383535"/>
          </a:xfrm>
        </p:grpSpPr>
        <p:sp>
          <p:nvSpPr>
            <p:cNvPr id="6" name="Rectangle 3"/>
            <p:cNvSpPr/>
            <p:nvPr/>
          </p:nvSpPr>
          <p:spPr>
            <a:xfrm>
              <a:off x="3670300" y="4010850"/>
              <a:ext cx="2609850" cy="664401"/>
            </a:xfrm>
            <a:custGeom>
              <a:avLst/>
              <a:gdLst>
                <a:gd name="connsiteX0" fmla="*/ 0 w 2273300"/>
                <a:gd name="connsiteY0" fmla="*/ 0 h 577850"/>
                <a:gd name="connsiteX1" fmla="*/ 2273300 w 2273300"/>
                <a:gd name="connsiteY1" fmla="*/ 0 h 577850"/>
                <a:gd name="connsiteX2" fmla="*/ 2273300 w 2273300"/>
                <a:gd name="connsiteY2" fmla="*/ 577850 h 577850"/>
                <a:gd name="connsiteX3" fmla="*/ 0 w 2273300"/>
                <a:gd name="connsiteY3" fmla="*/ 577850 h 577850"/>
                <a:gd name="connsiteX4" fmla="*/ 0 w 2273300"/>
                <a:gd name="connsiteY4" fmla="*/ 0 h 577850"/>
                <a:gd name="connsiteX0" fmla="*/ 0 w 2444750"/>
                <a:gd name="connsiteY0" fmla="*/ 0 h 857250"/>
                <a:gd name="connsiteX1" fmla="*/ 2273300 w 2444750"/>
                <a:gd name="connsiteY1" fmla="*/ 0 h 857250"/>
                <a:gd name="connsiteX2" fmla="*/ 2444750 w 2444750"/>
                <a:gd name="connsiteY2" fmla="*/ 857250 h 857250"/>
                <a:gd name="connsiteX3" fmla="*/ 0 w 2444750"/>
                <a:gd name="connsiteY3" fmla="*/ 577850 h 857250"/>
                <a:gd name="connsiteX4" fmla="*/ 0 w 2444750"/>
                <a:gd name="connsiteY4" fmla="*/ 0 h 857250"/>
                <a:gd name="connsiteX0" fmla="*/ 177800 w 2622550"/>
                <a:gd name="connsiteY0" fmla="*/ 0 h 857250"/>
                <a:gd name="connsiteX1" fmla="*/ 2451100 w 2622550"/>
                <a:gd name="connsiteY1" fmla="*/ 0 h 857250"/>
                <a:gd name="connsiteX2" fmla="*/ 2622550 w 2622550"/>
                <a:gd name="connsiteY2" fmla="*/ 857250 h 857250"/>
                <a:gd name="connsiteX3" fmla="*/ 0 w 2622550"/>
                <a:gd name="connsiteY3" fmla="*/ 781050 h 857250"/>
                <a:gd name="connsiteX4" fmla="*/ 177800 w 2622550"/>
                <a:gd name="connsiteY4" fmla="*/ 0 h 857250"/>
                <a:gd name="connsiteX0" fmla="*/ 177800 w 2622550"/>
                <a:gd name="connsiteY0" fmla="*/ 69850 h 927100"/>
                <a:gd name="connsiteX1" fmla="*/ 2178050 w 2622550"/>
                <a:gd name="connsiteY1" fmla="*/ 0 h 927100"/>
                <a:gd name="connsiteX2" fmla="*/ 2622550 w 2622550"/>
                <a:gd name="connsiteY2" fmla="*/ 927100 h 927100"/>
                <a:gd name="connsiteX3" fmla="*/ 0 w 2622550"/>
                <a:gd name="connsiteY3" fmla="*/ 850900 h 927100"/>
                <a:gd name="connsiteX4" fmla="*/ 177800 w 2622550"/>
                <a:gd name="connsiteY4" fmla="*/ 69850 h 927100"/>
                <a:gd name="connsiteX0" fmla="*/ 508000 w 2622550"/>
                <a:gd name="connsiteY0" fmla="*/ 6350 h 927100"/>
                <a:gd name="connsiteX1" fmla="*/ 2178050 w 2622550"/>
                <a:gd name="connsiteY1" fmla="*/ 0 h 927100"/>
                <a:gd name="connsiteX2" fmla="*/ 2622550 w 2622550"/>
                <a:gd name="connsiteY2" fmla="*/ 927100 h 927100"/>
                <a:gd name="connsiteX3" fmla="*/ 0 w 2622550"/>
                <a:gd name="connsiteY3" fmla="*/ 850900 h 927100"/>
                <a:gd name="connsiteX4" fmla="*/ 508000 w 2622550"/>
                <a:gd name="connsiteY4" fmla="*/ 6350 h 927100"/>
                <a:gd name="connsiteX0" fmla="*/ 400050 w 2622550"/>
                <a:gd name="connsiteY0" fmla="*/ 6350 h 927100"/>
                <a:gd name="connsiteX1" fmla="*/ 2178050 w 2622550"/>
                <a:gd name="connsiteY1" fmla="*/ 0 h 927100"/>
                <a:gd name="connsiteX2" fmla="*/ 2622550 w 2622550"/>
                <a:gd name="connsiteY2" fmla="*/ 927100 h 927100"/>
                <a:gd name="connsiteX3" fmla="*/ 0 w 2622550"/>
                <a:gd name="connsiteY3" fmla="*/ 850900 h 927100"/>
                <a:gd name="connsiteX4" fmla="*/ 400050 w 2622550"/>
                <a:gd name="connsiteY4" fmla="*/ 6350 h 927100"/>
                <a:gd name="connsiteX0" fmla="*/ 400050 w 2641600"/>
                <a:gd name="connsiteY0" fmla="*/ 6350 h 850900"/>
                <a:gd name="connsiteX1" fmla="*/ 2178050 w 2641600"/>
                <a:gd name="connsiteY1" fmla="*/ 0 h 850900"/>
                <a:gd name="connsiteX2" fmla="*/ 2641600 w 2641600"/>
                <a:gd name="connsiteY2" fmla="*/ 829511 h 850900"/>
                <a:gd name="connsiteX3" fmla="*/ 0 w 2641600"/>
                <a:gd name="connsiteY3" fmla="*/ 850900 h 850900"/>
                <a:gd name="connsiteX4" fmla="*/ 400050 w 2641600"/>
                <a:gd name="connsiteY4" fmla="*/ 6350 h 850900"/>
                <a:gd name="connsiteX0" fmla="*/ 400050 w 2609850"/>
                <a:gd name="connsiteY0" fmla="*/ 6350 h 850900"/>
                <a:gd name="connsiteX1" fmla="*/ 2178050 w 2609850"/>
                <a:gd name="connsiteY1" fmla="*/ 0 h 850900"/>
                <a:gd name="connsiteX2" fmla="*/ 2609850 w 2609850"/>
                <a:gd name="connsiteY2" fmla="*/ 837643 h 850900"/>
                <a:gd name="connsiteX3" fmla="*/ 0 w 2609850"/>
                <a:gd name="connsiteY3" fmla="*/ 850900 h 850900"/>
                <a:gd name="connsiteX4" fmla="*/ 400050 w 2609850"/>
                <a:gd name="connsiteY4" fmla="*/ 6350 h 850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09850" h="850900">
                  <a:moveTo>
                    <a:pt x="400050" y="6350"/>
                  </a:moveTo>
                  <a:lnTo>
                    <a:pt x="2178050" y="0"/>
                  </a:lnTo>
                  <a:lnTo>
                    <a:pt x="2609850" y="837643"/>
                  </a:lnTo>
                  <a:lnTo>
                    <a:pt x="0" y="850900"/>
                  </a:lnTo>
                  <a:lnTo>
                    <a:pt x="400050" y="6350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GB" dirty="0" smtClean="0">
                  <a:solidFill>
                    <a:schemeClr val="tx1"/>
                  </a:solidFill>
                </a:rPr>
                <a:t>Values (Numbers)</a:t>
              </a:r>
              <a:endParaRPr lang="en-GB" dirty="0">
                <a:solidFill>
                  <a:schemeClr val="tx1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3670300" y="4479163"/>
              <a:ext cx="2628900" cy="91522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 smtClean="0">
                  <a:solidFill>
                    <a:schemeClr val="tx1"/>
                  </a:solidFill>
                </a:rPr>
                <a:t>These must be entered in to allow for calculations to be carried out.</a:t>
              </a:r>
            </a:p>
            <a:p>
              <a:pPr algn="ctr"/>
              <a:r>
                <a:rPr lang="en-GB" dirty="0" smtClean="0">
                  <a:solidFill>
                    <a:schemeClr val="tx1"/>
                  </a:solidFill>
                </a:rPr>
                <a:t>i.e. </a:t>
              </a:r>
              <a:r>
                <a:rPr lang="en-GB" b="1" dirty="0" smtClean="0">
                  <a:solidFill>
                    <a:schemeClr val="tx1"/>
                  </a:solidFill>
                </a:rPr>
                <a:t>5</a:t>
              </a:r>
              <a:r>
                <a:rPr lang="en-GB" dirty="0" smtClean="0">
                  <a:solidFill>
                    <a:schemeClr val="tx1"/>
                  </a:solidFill>
                </a:rPr>
                <a:t>, </a:t>
              </a:r>
              <a:r>
                <a:rPr lang="en-GB" b="1" dirty="0" smtClean="0">
                  <a:solidFill>
                    <a:schemeClr val="tx1"/>
                  </a:solidFill>
                </a:rPr>
                <a:t>23</a:t>
              </a:r>
              <a:endParaRPr lang="en-GB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8112468" y="2905890"/>
            <a:ext cx="3895863" cy="1383535"/>
            <a:chOff x="7562850" y="3346449"/>
            <a:chExt cx="2628900" cy="1383535"/>
          </a:xfrm>
        </p:grpSpPr>
        <p:sp>
          <p:nvSpPr>
            <p:cNvPr id="8" name="Rectangle 3"/>
            <p:cNvSpPr/>
            <p:nvPr/>
          </p:nvSpPr>
          <p:spPr>
            <a:xfrm>
              <a:off x="7562850" y="3346449"/>
              <a:ext cx="2609850" cy="664401"/>
            </a:xfrm>
            <a:custGeom>
              <a:avLst/>
              <a:gdLst>
                <a:gd name="connsiteX0" fmla="*/ 0 w 2273300"/>
                <a:gd name="connsiteY0" fmla="*/ 0 h 577850"/>
                <a:gd name="connsiteX1" fmla="*/ 2273300 w 2273300"/>
                <a:gd name="connsiteY1" fmla="*/ 0 h 577850"/>
                <a:gd name="connsiteX2" fmla="*/ 2273300 w 2273300"/>
                <a:gd name="connsiteY2" fmla="*/ 577850 h 577850"/>
                <a:gd name="connsiteX3" fmla="*/ 0 w 2273300"/>
                <a:gd name="connsiteY3" fmla="*/ 577850 h 577850"/>
                <a:gd name="connsiteX4" fmla="*/ 0 w 2273300"/>
                <a:gd name="connsiteY4" fmla="*/ 0 h 577850"/>
                <a:gd name="connsiteX0" fmla="*/ 0 w 2444750"/>
                <a:gd name="connsiteY0" fmla="*/ 0 h 857250"/>
                <a:gd name="connsiteX1" fmla="*/ 2273300 w 2444750"/>
                <a:gd name="connsiteY1" fmla="*/ 0 h 857250"/>
                <a:gd name="connsiteX2" fmla="*/ 2444750 w 2444750"/>
                <a:gd name="connsiteY2" fmla="*/ 857250 h 857250"/>
                <a:gd name="connsiteX3" fmla="*/ 0 w 2444750"/>
                <a:gd name="connsiteY3" fmla="*/ 577850 h 857250"/>
                <a:gd name="connsiteX4" fmla="*/ 0 w 2444750"/>
                <a:gd name="connsiteY4" fmla="*/ 0 h 857250"/>
                <a:gd name="connsiteX0" fmla="*/ 177800 w 2622550"/>
                <a:gd name="connsiteY0" fmla="*/ 0 h 857250"/>
                <a:gd name="connsiteX1" fmla="*/ 2451100 w 2622550"/>
                <a:gd name="connsiteY1" fmla="*/ 0 h 857250"/>
                <a:gd name="connsiteX2" fmla="*/ 2622550 w 2622550"/>
                <a:gd name="connsiteY2" fmla="*/ 857250 h 857250"/>
                <a:gd name="connsiteX3" fmla="*/ 0 w 2622550"/>
                <a:gd name="connsiteY3" fmla="*/ 781050 h 857250"/>
                <a:gd name="connsiteX4" fmla="*/ 177800 w 2622550"/>
                <a:gd name="connsiteY4" fmla="*/ 0 h 857250"/>
                <a:gd name="connsiteX0" fmla="*/ 177800 w 2622550"/>
                <a:gd name="connsiteY0" fmla="*/ 69850 h 927100"/>
                <a:gd name="connsiteX1" fmla="*/ 2178050 w 2622550"/>
                <a:gd name="connsiteY1" fmla="*/ 0 h 927100"/>
                <a:gd name="connsiteX2" fmla="*/ 2622550 w 2622550"/>
                <a:gd name="connsiteY2" fmla="*/ 927100 h 927100"/>
                <a:gd name="connsiteX3" fmla="*/ 0 w 2622550"/>
                <a:gd name="connsiteY3" fmla="*/ 850900 h 927100"/>
                <a:gd name="connsiteX4" fmla="*/ 177800 w 2622550"/>
                <a:gd name="connsiteY4" fmla="*/ 69850 h 927100"/>
                <a:gd name="connsiteX0" fmla="*/ 508000 w 2622550"/>
                <a:gd name="connsiteY0" fmla="*/ 6350 h 927100"/>
                <a:gd name="connsiteX1" fmla="*/ 2178050 w 2622550"/>
                <a:gd name="connsiteY1" fmla="*/ 0 h 927100"/>
                <a:gd name="connsiteX2" fmla="*/ 2622550 w 2622550"/>
                <a:gd name="connsiteY2" fmla="*/ 927100 h 927100"/>
                <a:gd name="connsiteX3" fmla="*/ 0 w 2622550"/>
                <a:gd name="connsiteY3" fmla="*/ 850900 h 927100"/>
                <a:gd name="connsiteX4" fmla="*/ 508000 w 2622550"/>
                <a:gd name="connsiteY4" fmla="*/ 6350 h 927100"/>
                <a:gd name="connsiteX0" fmla="*/ 400050 w 2622550"/>
                <a:gd name="connsiteY0" fmla="*/ 6350 h 927100"/>
                <a:gd name="connsiteX1" fmla="*/ 2178050 w 2622550"/>
                <a:gd name="connsiteY1" fmla="*/ 0 h 927100"/>
                <a:gd name="connsiteX2" fmla="*/ 2622550 w 2622550"/>
                <a:gd name="connsiteY2" fmla="*/ 927100 h 927100"/>
                <a:gd name="connsiteX3" fmla="*/ 0 w 2622550"/>
                <a:gd name="connsiteY3" fmla="*/ 850900 h 927100"/>
                <a:gd name="connsiteX4" fmla="*/ 400050 w 2622550"/>
                <a:gd name="connsiteY4" fmla="*/ 6350 h 927100"/>
                <a:gd name="connsiteX0" fmla="*/ 400050 w 2641600"/>
                <a:gd name="connsiteY0" fmla="*/ 6350 h 850900"/>
                <a:gd name="connsiteX1" fmla="*/ 2178050 w 2641600"/>
                <a:gd name="connsiteY1" fmla="*/ 0 h 850900"/>
                <a:gd name="connsiteX2" fmla="*/ 2641600 w 2641600"/>
                <a:gd name="connsiteY2" fmla="*/ 829511 h 850900"/>
                <a:gd name="connsiteX3" fmla="*/ 0 w 2641600"/>
                <a:gd name="connsiteY3" fmla="*/ 850900 h 850900"/>
                <a:gd name="connsiteX4" fmla="*/ 400050 w 2641600"/>
                <a:gd name="connsiteY4" fmla="*/ 6350 h 850900"/>
                <a:gd name="connsiteX0" fmla="*/ 400050 w 2609850"/>
                <a:gd name="connsiteY0" fmla="*/ 6350 h 850900"/>
                <a:gd name="connsiteX1" fmla="*/ 2178050 w 2609850"/>
                <a:gd name="connsiteY1" fmla="*/ 0 h 850900"/>
                <a:gd name="connsiteX2" fmla="*/ 2609850 w 2609850"/>
                <a:gd name="connsiteY2" fmla="*/ 837643 h 850900"/>
                <a:gd name="connsiteX3" fmla="*/ 0 w 2609850"/>
                <a:gd name="connsiteY3" fmla="*/ 850900 h 850900"/>
                <a:gd name="connsiteX4" fmla="*/ 400050 w 2609850"/>
                <a:gd name="connsiteY4" fmla="*/ 6350 h 850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09850" h="850900">
                  <a:moveTo>
                    <a:pt x="400050" y="6350"/>
                  </a:moveTo>
                  <a:lnTo>
                    <a:pt x="2178050" y="0"/>
                  </a:lnTo>
                  <a:lnTo>
                    <a:pt x="2609850" y="837643"/>
                  </a:lnTo>
                  <a:lnTo>
                    <a:pt x="0" y="850900"/>
                  </a:lnTo>
                  <a:lnTo>
                    <a:pt x="400050" y="6350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GB" dirty="0" smtClean="0">
                  <a:solidFill>
                    <a:schemeClr val="tx1"/>
                  </a:solidFill>
                </a:rPr>
                <a:t>Formula</a:t>
              </a:r>
              <a:endParaRPr lang="en-GB" dirty="0">
                <a:solidFill>
                  <a:schemeClr val="tx1"/>
                </a:solidFill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7562850" y="3814762"/>
              <a:ext cx="2628900" cy="91522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 smtClean="0">
                  <a:solidFill>
                    <a:schemeClr val="tx1"/>
                  </a:solidFill>
                </a:rPr>
                <a:t>A formula is an instruction to carry out a calculation</a:t>
              </a:r>
            </a:p>
            <a:p>
              <a:pPr algn="ctr"/>
              <a:r>
                <a:rPr lang="en-GB" dirty="0" smtClean="0">
                  <a:solidFill>
                    <a:schemeClr val="tx1"/>
                  </a:solidFill>
                </a:rPr>
                <a:t>i.e. </a:t>
              </a:r>
              <a:r>
                <a:rPr lang="en-GB" b="1" dirty="0" smtClean="0">
                  <a:solidFill>
                    <a:schemeClr val="tx1"/>
                  </a:solidFill>
                </a:rPr>
                <a:t>= A1 + B1</a:t>
              </a:r>
              <a:endParaRPr lang="en-GB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13" name="Rectangle 12"/>
          <p:cNvSpPr/>
          <p:nvPr/>
        </p:nvSpPr>
        <p:spPr>
          <a:xfrm>
            <a:off x="184150" y="5409377"/>
            <a:ext cx="1905000" cy="5969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>
                <a:solidFill>
                  <a:schemeClr val="accent6">
                    <a:lumMod val="75000"/>
                  </a:schemeClr>
                </a:solidFill>
              </a:rPr>
              <a:t>Text (General)</a:t>
            </a:r>
            <a:endParaRPr lang="en-GB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84150" y="6079713"/>
            <a:ext cx="1905000" cy="5969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>
                <a:solidFill>
                  <a:schemeClr val="accent6">
                    <a:lumMod val="75000"/>
                  </a:schemeClr>
                </a:solidFill>
              </a:rPr>
              <a:t>Number (real)</a:t>
            </a:r>
            <a:endParaRPr lang="en-GB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146300" y="5409377"/>
            <a:ext cx="1905000" cy="5969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>
                <a:solidFill>
                  <a:schemeClr val="accent6">
                    <a:lumMod val="75000"/>
                  </a:schemeClr>
                </a:solidFill>
              </a:rPr>
              <a:t>Currency</a:t>
            </a:r>
            <a:endParaRPr lang="en-GB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2146300" y="6079713"/>
            <a:ext cx="1905000" cy="5969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>
                <a:solidFill>
                  <a:schemeClr val="accent6">
                    <a:lumMod val="75000"/>
                  </a:schemeClr>
                </a:solidFill>
              </a:rPr>
              <a:t>Date</a:t>
            </a:r>
            <a:endParaRPr lang="en-GB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4108450" y="5409377"/>
            <a:ext cx="1905000" cy="5969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>
                <a:solidFill>
                  <a:schemeClr val="accent6">
                    <a:lumMod val="75000"/>
                  </a:schemeClr>
                </a:solidFill>
              </a:rPr>
              <a:t>Time</a:t>
            </a:r>
            <a:endParaRPr lang="en-GB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108450" y="6079713"/>
            <a:ext cx="1905000" cy="5969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>
                <a:solidFill>
                  <a:schemeClr val="accent6">
                    <a:lumMod val="75000"/>
                  </a:schemeClr>
                </a:solidFill>
              </a:rPr>
              <a:t>Percentage</a:t>
            </a:r>
            <a:endParaRPr lang="en-GB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9" name="Content Placeholder 2"/>
          <p:cNvSpPr txBox="1">
            <a:spLocks/>
          </p:cNvSpPr>
          <p:nvPr/>
        </p:nvSpPr>
        <p:spPr>
          <a:xfrm>
            <a:off x="7035799" y="5409377"/>
            <a:ext cx="5238751" cy="1385124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5400" u="sng" dirty="0" smtClean="0">
                <a:solidFill>
                  <a:srgbClr val="FF0000"/>
                </a:solidFill>
                <a:sym typeface="Wingdings" panose="05000000000000000000" pitchFamily="2" charset="2"/>
              </a:rPr>
              <a:t> </a:t>
            </a:r>
            <a:r>
              <a:rPr lang="en-GB" sz="5400" u="sng" dirty="0" smtClean="0">
                <a:solidFill>
                  <a:srgbClr val="FF0000"/>
                </a:solidFill>
              </a:rPr>
              <a:t>Data Types_______ </a:t>
            </a:r>
            <a:endParaRPr lang="en-GB" u="sng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GB" dirty="0" smtClean="0"/>
              <a:t>Formats applied to cell contents to specify stored data (e.g. Currency, Real/Number, Text/String, Date/Time, Boolean).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58145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A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4" name="Picture 6" descr="ACTIVITY writing vector design on a yellow background 11594360 Vector Art  at Vecteezy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541"/>
          <a:stretch/>
        </p:blipFill>
        <p:spPr bwMode="auto">
          <a:xfrm>
            <a:off x="-15520" y="0"/>
            <a:ext cx="4220337" cy="2114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8194" y="1825625"/>
            <a:ext cx="8662906" cy="1579725"/>
          </a:xfrm>
        </p:spPr>
        <p:txBody>
          <a:bodyPr/>
          <a:lstStyle/>
          <a:p>
            <a:r>
              <a:rPr lang="en-GB" dirty="0" smtClean="0"/>
              <a:t>Open Microsoft Excel and enter in the following data.</a:t>
            </a:r>
          </a:p>
          <a:p>
            <a:r>
              <a:rPr lang="en-GB" dirty="0" smtClean="0"/>
              <a:t>Within the </a:t>
            </a:r>
            <a:r>
              <a:rPr lang="en-GB" b="1" dirty="0" smtClean="0"/>
              <a:t>Home</a:t>
            </a:r>
            <a:r>
              <a:rPr lang="en-GB" dirty="0" smtClean="0"/>
              <a:t> tab, use the dropdown to format the data using a suitable data format.</a:t>
            </a:r>
            <a:endParaRPr lang="en-GB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l="287" t="14061" r="62644" b="61111"/>
          <a:stretch/>
        </p:blipFill>
        <p:spPr>
          <a:xfrm>
            <a:off x="46718" y="3505464"/>
            <a:ext cx="8704128" cy="3279230"/>
          </a:xfrm>
          <a:prstGeom prst="rect">
            <a:avLst/>
          </a:prstGeom>
        </p:spPr>
      </p:pic>
      <p:sp>
        <p:nvSpPr>
          <p:cNvPr id="6" name="Content Placeholder 2"/>
          <p:cNvSpPr txBox="1">
            <a:spLocks/>
          </p:cNvSpPr>
          <p:nvPr/>
        </p:nvSpPr>
        <p:spPr>
          <a:xfrm>
            <a:off x="8756650" y="4327036"/>
            <a:ext cx="3435350" cy="23575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400" b="1" u="sng" dirty="0" smtClean="0"/>
              <a:t>Extension Task</a:t>
            </a:r>
          </a:p>
          <a:p>
            <a:r>
              <a:rPr lang="en-GB" sz="2400" dirty="0" smtClean="0"/>
              <a:t>Format the whole data as a table.</a:t>
            </a:r>
          </a:p>
          <a:p>
            <a:r>
              <a:rPr lang="en-GB" sz="2400" dirty="0" smtClean="0"/>
              <a:t>Add a total at the bottom which adds the total cost for a group</a:t>
            </a:r>
            <a:endParaRPr lang="en-GB" sz="2400" dirty="0"/>
          </a:p>
        </p:txBody>
      </p:sp>
      <p:sp>
        <p:nvSpPr>
          <p:cNvPr id="8" name="Rectangle 7"/>
          <p:cNvSpPr/>
          <p:nvPr/>
        </p:nvSpPr>
        <p:spPr>
          <a:xfrm>
            <a:off x="8801100" y="173536"/>
            <a:ext cx="3286334" cy="3577506"/>
          </a:xfrm>
          <a:prstGeom prst="rect">
            <a:avLst/>
          </a:prstGeom>
          <a:solidFill>
            <a:srgbClr val="DD72D2"/>
          </a:solidFill>
          <a:ln w="762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dirty="0" smtClean="0">
                <a:ln w="12700">
                  <a:solidFill>
                    <a:schemeClr val="tx1"/>
                  </a:solidFill>
                </a:ln>
                <a:solidFill>
                  <a:srgbClr val="B25BA8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LEMON MILK" panose="00000500000000000000" pitchFamily="50" charset="0"/>
              </a:rPr>
              <a:t>General/Text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dirty="0" smtClean="0">
                <a:ln w="12700">
                  <a:solidFill>
                    <a:schemeClr val="tx1"/>
                  </a:solidFill>
                </a:ln>
                <a:solidFill>
                  <a:srgbClr val="B25BA8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LEMON MILK" panose="00000500000000000000" pitchFamily="50" charset="0"/>
              </a:rPr>
              <a:t>Number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dirty="0" smtClean="0">
                <a:ln w="12700">
                  <a:solidFill>
                    <a:schemeClr val="tx1"/>
                  </a:solidFill>
                </a:ln>
                <a:solidFill>
                  <a:srgbClr val="B25BA8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LEMON MILK" panose="00000500000000000000" pitchFamily="50" charset="0"/>
              </a:rPr>
              <a:t>Currency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dirty="0" smtClean="0">
                <a:ln w="12700">
                  <a:solidFill>
                    <a:schemeClr val="tx1"/>
                  </a:solidFill>
                </a:ln>
                <a:solidFill>
                  <a:srgbClr val="B25BA8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LEMON MILK" panose="00000500000000000000" pitchFamily="50" charset="0"/>
              </a:rPr>
              <a:t>Date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dirty="0" smtClean="0">
                <a:ln w="12700">
                  <a:solidFill>
                    <a:schemeClr val="tx1"/>
                  </a:solidFill>
                </a:ln>
                <a:solidFill>
                  <a:srgbClr val="B25BA8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LEMON MILK" panose="00000500000000000000" pitchFamily="50" charset="0"/>
              </a:rPr>
              <a:t>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dirty="0" smtClean="0">
                <a:ln w="12700">
                  <a:solidFill>
                    <a:schemeClr val="tx1"/>
                  </a:solidFill>
                </a:ln>
                <a:solidFill>
                  <a:srgbClr val="B25BA8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LEMON MILK" panose="00000500000000000000" pitchFamily="50" charset="0"/>
              </a:rPr>
              <a:t>Percentage</a:t>
            </a:r>
            <a:endParaRPr lang="en-GB" sz="2800" dirty="0">
              <a:ln w="12700">
                <a:solidFill>
                  <a:schemeClr val="tx1"/>
                </a:solidFill>
              </a:ln>
              <a:solidFill>
                <a:srgbClr val="B25BA8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LEMON MILK" panose="000005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7423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2"/>
          <a:srcRect l="2270" t="2108" r="76351" b="81648"/>
          <a:stretch/>
        </p:blipFill>
        <p:spPr>
          <a:xfrm>
            <a:off x="4592558" y="1212433"/>
            <a:ext cx="5179376" cy="221376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Making a Spreadsheet look good</a:t>
            </a:r>
            <a:endParaRPr lang="en-GB" dirty="0"/>
          </a:p>
        </p:txBody>
      </p:sp>
      <p:grpSp>
        <p:nvGrpSpPr>
          <p:cNvPr id="4" name="Group 3"/>
          <p:cNvGrpSpPr/>
          <p:nvPr/>
        </p:nvGrpSpPr>
        <p:grpSpPr>
          <a:xfrm>
            <a:off x="107950" y="1470001"/>
            <a:ext cx="4629150" cy="1685925"/>
            <a:chOff x="7353300" y="104775"/>
            <a:chExt cx="4629150" cy="1685925"/>
          </a:xfrm>
        </p:grpSpPr>
        <p:sp>
          <p:nvSpPr>
            <p:cNvPr id="5" name="Rectangle 4"/>
            <p:cNvSpPr/>
            <p:nvPr/>
          </p:nvSpPr>
          <p:spPr>
            <a:xfrm>
              <a:off x="7353300" y="584200"/>
              <a:ext cx="4629150" cy="1206500"/>
            </a:xfrm>
            <a:prstGeom prst="rect">
              <a:avLst/>
            </a:prstGeom>
            <a:solidFill>
              <a:srgbClr val="DEEBF7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 smtClean="0">
                  <a:solidFill>
                    <a:schemeClr val="tx1"/>
                  </a:solidFill>
                  <a:latin typeface="Ink Free" panose="03080402000500000000" pitchFamily="66" charset="0"/>
                </a:rPr>
                <a:t>A predesigned spreadsheet/document/layout that can be reused/used/edited to create documents with the same formatting and formulas.</a:t>
              </a:r>
              <a:endParaRPr lang="en-GB" dirty="0">
                <a:solidFill>
                  <a:schemeClr val="tx1"/>
                </a:solidFill>
                <a:latin typeface="Ink Free" panose="03080402000500000000" pitchFamily="66" charset="0"/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7353300" y="104775"/>
              <a:ext cx="2749550" cy="479425"/>
            </a:xfrm>
            <a:custGeom>
              <a:avLst/>
              <a:gdLst>
                <a:gd name="connsiteX0" fmla="*/ 0 w 2749550"/>
                <a:gd name="connsiteY0" fmla="*/ 0 h 479425"/>
                <a:gd name="connsiteX1" fmla="*/ 2749550 w 2749550"/>
                <a:gd name="connsiteY1" fmla="*/ 0 h 479425"/>
                <a:gd name="connsiteX2" fmla="*/ 2749550 w 2749550"/>
                <a:gd name="connsiteY2" fmla="*/ 479425 h 479425"/>
                <a:gd name="connsiteX3" fmla="*/ 0 w 2749550"/>
                <a:gd name="connsiteY3" fmla="*/ 479425 h 479425"/>
                <a:gd name="connsiteX4" fmla="*/ 0 w 2749550"/>
                <a:gd name="connsiteY4" fmla="*/ 0 h 479425"/>
                <a:gd name="connsiteX0" fmla="*/ 0 w 2749550"/>
                <a:gd name="connsiteY0" fmla="*/ 0 h 479425"/>
                <a:gd name="connsiteX1" fmla="*/ 2419350 w 2749550"/>
                <a:gd name="connsiteY1" fmla="*/ 6350 h 479425"/>
                <a:gd name="connsiteX2" fmla="*/ 2749550 w 2749550"/>
                <a:gd name="connsiteY2" fmla="*/ 479425 h 479425"/>
                <a:gd name="connsiteX3" fmla="*/ 0 w 2749550"/>
                <a:gd name="connsiteY3" fmla="*/ 479425 h 479425"/>
                <a:gd name="connsiteX4" fmla="*/ 0 w 2749550"/>
                <a:gd name="connsiteY4" fmla="*/ 0 h 479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49550" h="479425">
                  <a:moveTo>
                    <a:pt x="0" y="0"/>
                  </a:moveTo>
                  <a:lnTo>
                    <a:pt x="2419350" y="6350"/>
                  </a:lnTo>
                  <a:lnTo>
                    <a:pt x="2749550" y="479425"/>
                  </a:lnTo>
                  <a:lnTo>
                    <a:pt x="0" y="4794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GB" b="1" dirty="0">
                  <a:solidFill>
                    <a:schemeClr val="tx1"/>
                  </a:solidFill>
                  <a:sym typeface="Wingdings" panose="05000000000000000000" pitchFamily="2" charset="2"/>
                </a:rPr>
                <a:t> </a:t>
              </a:r>
              <a:r>
                <a:rPr lang="en-GB" dirty="0" smtClean="0">
                  <a:solidFill>
                    <a:schemeClr val="tx1"/>
                  </a:solidFill>
                  <a:latin typeface="LEMON MILK" panose="00000500000000000000" pitchFamily="50" charset="0"/>
                </a:rPr>
                <a:t>Template</a:t>
              </a:r>
              <a:endParaRPr lang="en-GB" dirty="0">
                <a:solidFill>
                  <a:schemeClr val="tx1"/>
                </a:solidFill>
                <a:latin typeface="LEMON MILK" panose="00000500000000000000" pitchFamily="50" charset="0"/>
              </a:endParaRPr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107950" y="3217047"/>
            <a:ext cx="4629150" cy="1685925"/>
            <a:chOff x="7353300" y="104775"/>
            <a:chExt cx="4629150" cy="1685925"/>
          </a:xfrm>
        </p:grpSpPr>
        <p:sp>
          <p:nvSpPr>
            <p:cNvPr id="8" name="Rectangle 7"/>
            <p:cNvSpPr/>
            <p:nvPr/>
          </p:nvSpPr>
          <p:spPr>
            <a:xfrm>
              <a:off x="7353300" y="584200"/>
              <a:ext cx="4629150" cy="1206500"/>
            </a:xfrm>
            <a:prstGeom prst="rect">
              <a:avLst/>
            </a:prstGeom>
            <a:solidFill>
              <a:srgbClr val="DEEBF7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 smtClean="0">
                  <a:solidFill>
                    <a:schemeClr val="tx1"/>
                  </a:solidFill>
                  <a:latin typeface="Ink Free" panose="03080402000500000000" pitchFamily="66" charset="0"/>
                </a:rPr>
                <a:t>Information or text placed at the top/bottom of a worksheet or document page to improve the presentation by displaying page numbers/etc.</a:t>
              </a:r>
              <a:endParaRPr lang="en-GB" dirty="0">
                <a:solidFill>
                  <a:schemeClr val="tx1"/>
                </a:solidFill>
                <a:latin typeface="Ink Free" panose="03080402000500000000" pitchFamily="66" charset="0"/>
              </a:endParaRPr>
            </a:p>
          </p:txBody>
        </p:sp>
        <p:sp>
          <p:nvSpPr>
            <p:cNvPr id="9" name="Rectangle 5"/>
            <p:cNvSpPr/>
            <p:nvPr/>
          </p:nvSpPr>
          <p:spPr>
            <a:xfrm>
              <a:off x="7353300" y="104775"/>
              <a:ext cx="3238500" cy="479425"/>
            </a:xfrm>
            <a:custGeom>
              <a:avLst/>
              <a:gdLst>
                <a:gd name="connsiteX0" fmla="*/ 0 w 2749550"/>
                <a:gd name="connsiteY0" fmla="*/ 0 h 479425"/>
                <a:gd name="connsiteX1" fmla="*/ 2749550 w 2749550"/>
                <a:gd name="connsiteY1" fmla="*/ 0 h 479425"/>
                <a:gd name="connsiteX2" fmla="*/ 2749550 w 2749550"/>
                <a:gd name="connsiteY2" fmla="*/ 479425 h 479425"/>
                <a:gd name="connsiteX3" fmla="*/ 0 w 2749550"/>
                <a:gd name="connsiteY3" fmla="*/ 479425 h 479425"/>
                <a:gd name="connsiteX4" fmla="*/ 0 w 2749550"/>
                <a:gd name="connsiteY4" fmla="*/ 0 h 479425"/>
                <a:gd name="connsiteX0" fmla="*/ 0 w 2749550"/>
                <a:gd name="connsiteY0" fmla="*/ 0 h 479425"/>
                <a:gd name="connsiteX1" fmla="*/ 2419350 w 2749550"/>
                <a:gd name="connsiteY1" fmla="*/ 6350 h 479425"/>
                <a:gd name="connsiteX2" fmla="*/ 2749550 w 2749550"/>
                <a:gd name="connsiteY2" fmla="*/ 479425 h 479425"/>
                <a:gd name="connsiteX3" fmla="*/ 0 w 2749550"/>
                <a:gd name="connsiteY3" fmla="*/ 479425 h 479425"/>
                <a:gd name="connsiteX4" fmla="*/ 0 w 2749550"/>
                <a:gd name="connsiteY4" fmla="*/ 0 h 479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49550" h="479425">
                  <a:moveTo>
                    <a:pt x="0" y="0"/>
                  </a:moveTo>
                  <a:lnTo>
                    <a:pt x="2419350" y="6350"/>
                  </a:lnTo>
                  <a:lnTo>
                    <a:pt x="2749550" y="479425"/>
                  </a:lnTo>
                  <a:lnTo>
                    <a:pt x="0" y="4794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GB" dirty="0" smtClean="0">
                  <a:solidFill>
                    <a:schemeClr val="tx1"/>
                  </a:solidFill>
                  <a:latin typeface="LEMON MILK" panose="00000500000000000000" pitchFamily="50" charset="0"/>
                </a:rPr>
                <a:t>Headers &amp; Footers</a:t>
              </a:r>
              <a:endParaRPr lang="en-GB" dirty="0">
                <a:solidFill>
                  <a:schemeClr val="tx1"/>
                </a:solidFill>
                <a:latin typeface="LEMON MILK" panose="00000500000000000000" pitchFamily="50" charset="0"/>
              </a:endParaRP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107950" y="4984349"/>
            <a:ext cx="4978400" cy="1685925"/>
            <a:chOff x="7353300" y="104775"/>
            <a:chExt cx="4629150" cy="1685925"/>
          </a:xfrm>
        </p:grpSpPr>
        <p:sp>
          <p:nvSpPr>
            <p:cNvPr id="11" name="Rectangle 10"/>
            <p:cNvSpPr/>
            <p:nvPr/>
          </p:nvSpPr>
          <p:spPr>
            <a:xfrm>
              <a:off x="7353300" y="584200"/>
              <a:ext cx="4629150" cy="1206500"/>
            </a:xfrm>
            <a:prstGeom prst="rect">
              <a:avLst/>
            </a:prstGeom>
            <a:solidFill>
              <a:srgbClr val="DEEBF7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 smtClean="0">
                  <a:solidFill>
                    <a:schemeClr val="tx1"/>
                  </a:solidFill>
                  <a:latin typeface="Ink Free" panose="03080402000500000000" pitchFamily="66" charset="0"/>
                </a:rPr>
                <a:t>Moving, transferring, or bringing digital content between software applications/platforms without having to re-enter the data (e.g. bringing CSV data into a table).</a:t>
              </a:r>
              <a:endParaRPr lang="en-GB" dirty="0">
                <a:solidFill>
                  <a:schemeClr val="tx1"/>
                </a:solidFill>
                <a:latin typeface="Ink Free" panose="03080402000500000000" pitchFamily="66" charset="0"/>
              </a:endParaRPr>
            </a:p>
          </p:txBody>
        </p:sp>
        <p:sp>
          <p:nvSpPr>
            <p:cNvPr id="12" name="Rectangle 5"/>
            <p:cNvSpPr/>
            <p:nvPr/>
          </p:nvSpPr>
          <p:spPr>
            <a:xfrm>
              <a:off x="7353300" y="104775"/>
              <a:ext cx="2749550" cy="479425"/>
            </a:xfrm>
            <a:custGeom>
              <a:avLst/>
              <a:gdLst>
                <a:gd name="connsiteX0" fmla="*/ 0 w 2749550"/>
                <a:gd name="connsiteY0" fmla="*/ 0 h 479425"/>
                <a:gd name="connsiteX1" fmla="*/ 2749550 w 2749550"/>
                <a:gd name="connsiteY1" fmla="*/ 0 h 479425"/>
                <a:gd name="connsiteX2" fmla="*/ 2749550 w 2749550"/>
                <a:gd name="connsiteY2" fmla="*/ 479425 h 479425"/>
                <a:gd name="connsiteX3" fmla="*/ 0 w 2749550"/>
                <a:gd name="connsiteY3" fmla="*/ 479425 h 479425"/>
                <a:gd name="connsiteX4" fmla="*/ 0 w 2749550"/>
                <a:gd name="connsiteY4" fmla="*/ 0 h 479425"/>
                <a:gd name="connsiteX0" fmla="*/ 0 w 2749550"/>
                <a:gd name="connsiteY0" fmla="*/ 0 h 479425"/>
                <a:gd name="connsiteX1" fmla="*/ 2419350 w 2749550"/>
                <a:gd name="connsiteY1" fmla="*/ 6350 h 479425"/>
                <a:gd name="connsiteX2" fmla="*/ 2749550 w 2749550"/>
                <a:gd name="connsiteY2" fmla="*/ 479425 h 479425"/>
                <a:gd name="connsiteX3" fmla="*/ 0 w 2749550"/>
                <a:gd name="connsiteY3" fmla="*/ 479425 h 479425"/>
                <a:gd name="connsiteX4" fmla="*/ 0 w 2749550"/>
                <a:gd name="connsiteY4" fmla="*/ 0 h 479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49550" h="479425">
                  <a:moveTo>
                    <a:pt x="0" y="0"/>
                  </a:moveTo>
                  <a:lnTo>
                    <a:pt x="2419350" y="6350"/>
                  </a:lnTo>
                  <a:lnTo>
                    <a:pt x="2749550" y="479425"/>
                  </a:lnTo>
                  <a:lnTo>
                    <a:pt x="0" y="4794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GB" b="1" dirty="0">
                  <a:solidFill>
                    <a:schemeClr val="tx1"/>
                  </a:solidFill>
                  <a:sym typeface="Wingdings" panose="05000000000000000000" pitchFamily="2" charset="2"/>
                </a:rPr>
                <a:t> </a:t>
              </a:r>
              <a:r>
                <a:rPr lang="en-GB" dirty="0" smtClean="0">
                  <a:solidFill>
                    <a:schemeClr val="tx1"/>
                  </a:solidFill>
                  <a:latin typeface="LEMON MILK" panose="00000500000000000000" pitchFamily="50" charset="0"/>
                </a:rPr>
                <a:t>Importing Data</a:t>
              </a:r>
              <a:endParaRPr lang="en-GB" dirty="0">
                <a:solidFill>
                  <a:schemeClr val="tx1"/>
                </a:solidFill>
                <a:latin typeface="LEMON MILK" panose="00000500000000000000" pitchFamily="50" charset="0"/>
              </a:endParaRPr>
            </a:p>
          </p:txBody>
        </p:sp>
      </p:grpSp>
      <p:sp>
        <p:nvSpPr>
          <p:cNvPr id="13" name="Content Placeholder 2"/>
          <p:cNvSpPr txBox="1">
            <a:spLocks/>
          </p:cNvSpPr>
          <p:nvPr/>
        </p:nvSpPr>
        <p:spPr>
          <a:xfrm>
            <a:off x="8489904" y="92014"/>
            <a:ext cx="3702096" cy="341158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400" b="1" u="sng" dirty="0" smtClean="0"/>
              <a:t>Cell Formatting</a:t>
            </a:r>
          </a:p>
          <a:p>
            <a:r>
              <a:rPr lang="en-GB" sz="2400" dirty="0" smtClean="0"/>
              <a:t>We can add different styling to cells, including:</a:t>
            </a:r>
          </a:p>
          <a:p>
            <a:r>
              <a:rPr lang="en-GB" sz="2400" dirty="0" smtClean="0"/>
              <a:t>Borders</a:t>
            </a:r>
          </a:p>
          <a:p>
            <a:r>
              <a:rPr lang="en-GB" sz="2400" dirty="0" smtClean="0"/>
              <a:t>Background colours</a:t>
            </a:r>
          </a:p>
          <a:p>
            <a:r>
              <a:rPr lang="en-GB" sz="2400" dirty="0" smtClean="0"/>
              <a:t>Bold, Italic &amp; Underlining</a:t>
            </a:r>
          </a:p>
          <a:p>
            <a:r>
              <a:rPr lang="en-GB" sz="2400" dirty="0" smtClean="0"/>
              <a:t>“Negative” money can be set to automatically change to red.</a:t>
            </a:r>
          </a:p>
          <a:p>
            <a:r>
              <a:rPr lang="en-GB" sz="2400" dirty="0" smtClean="0"/>
              <a:t>Wrap Text</a:t>
            </a:r>
            <a:endParaRPr lang="en-GB" sz="2400" dirty="0"/>
          </a:p>
        </p:txBody>
      </p:sp>
      <p:grpSp>
        <p:nvGrpSpPr>
          <p:cNvPr id="15" name="Group 14"/>
          <p:cNvGrpSpPr/>
          <p:nvPr/>
        </p:nvGrpSpPr>
        <p:grpSpPr>
          <a:xfrm>
            <a:off x="5162506" y="4984349"/>
            <a:ext cx="4629150" cy="1685925"/>
            <a:chOff x="7353300" y="104775"/>
            <a:chExt cx="4629150" cy="1685925"/>
          </a:xfrm>
        </p:grpSpPr>
        <p:sp>
          <p:nvSpPr>
            <p:cNvPr id="16" name="Rectangle 15"/>
            <p:cNvSpPr/>
            <p:nvPr/>
          </p:nvSpPr>
          <p:spPr>
            <a:xfrm>
              <a:off x="7353300" y="584200"/>
              <a:ext cx="4629150" cy="1206500"/>
            </a:xfrm>
            <a:prstGeom prst="rect">
              <a:avLst/>
            </a:prstGeom>
            <a:solidFill>
              <a:srgbClr val="DEEBF7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 smtClean="0">
                  <a:solidFill>
                    <a:schemeClr val="tx1"/>
                  </a:solidFill>
                  <a:latin typeface="Ink Free" panose="03080402000500000000" pitchFamily="66" charset="0"/>
                </a:rPr>
                <a:t>Formatting cell text so that long text strings wrap onto multiple lines within the cell border.</a:t>
              </a:r>
              <a:endParaRPr lang="en-GB" dirty="0">
                <a:solidFill>
                  <a:schemeClr val="tx1"/>
                </a:solidFill>
                <a:latin typeface="Ink Free" panose="03080402000500000000" pitchFamily="66" charset="0"/>
              </a:endParaRPr>
            </a:p>
          </p:txBody>
        </p:sp>
        <p:sp>
          <p:nvSpPr>
            <p:cNvPr id="17" name="Rectangle 5"/>
            <p:cNvSpPr/>
            <p:nvPr/>
          </p:nvSpPr>
          <p:spPr>
            <a:xfrm>
              <a:off x="7353300" y="104775"/>
              <a:ext cx="2749550" cy="479425"/>
            </a:xfrm>
            <a:custGeom>
              <a:avLst/>
              <a:gdLst>
                <a:gd name="connsiteX0" fmla="*/ 0 w 2749550"/>
                <a:gd name="connsiteY0" fmla="*/ 0 h 479425"/>
                <a:gd name="connsiteX1" fmla="*/ 2749550 w 2749550"/>
                <a:gd name="connsiteY1" fmla="*/ 0 h 479425"/>
                <a:gd name="connsiteX2" fmla="*/ 2749550 w 2749550"/>
                <a:gd name="connsiteY2" fmla="*/ 479425 h 479425"/>
                <a:gd name="connsiteX3" fmla="*/ 0 w 2749550"/>
                <a:gd name="connsiteY3" fmla="*/ 479425 h 479425"/>
                <a:gd name="connsiteX4" fmla="*/ 0 w 2749550"/>
                <a:gd name="connsiteY4" fmla="*/ 0 h 479425"/>
                <a:gd name="connsiteX0" fmla="*/ 0 w 2749550"/>
                <a:gd name="connsiteY0" fmla="*/ 0 h 479425"/>
                <a:gd name="connsiteX1" fmla="*/ 2419350 w 2749550"/>
                <a:gd name="connsiteY1" fmla="*/ 6350 h 479425"/>
                <a:gd name="connsiteX2" fmla="*/ 2749550 w 2749550"/>
                <a:gd name="connsiteY2" fmla="*/ 479425 h 479425"/>
                <a:gd name="connsiteX3" fmla="*/ 0 w 2749550"/>
                <a:gd name="connsiteY3" fmla="*/ 479425 h 479425"/>
                <a:gd name="connsiteX4" fmla="*/ 0 w 2749550"/>
                <a:gd name="connsiteY4" fmla="*/ 0 h 479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49550" h="479425">
                  <a:moveTo>
                    <a:pt x="0" y="0"/>
                  </a:moveTo>
                  <a:lnTo>
                    <a:pt x="2419350" y="6350"/>
                  </a:lnTo>
                  <a:lnTo>
                    <a:pt x="2749550" y="479425"/>
                  </a:lnTo>
                  <a:lnTo>
                    <a:pt x="0" y="4794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GB" b="1" dirty="0">
                  <a:solidFill>
                    <a:schemeClr val="tx1"/>
                  </a:solidFill>
                  <a:sym typeface="Wingdings" panose="05000000000000000000" pitchFamily="2" charset="2"/>
                </a:rPr>
                <a:t> </a:t>
              </a:r>
              <a:r>
                <a:rPr lang="en-GB" dirty="0" smtClean="0">
                  <a:solidFill>
                    <a:schemeClr val="tx1"/>
                  </a:solidFill>
                  <a:latin typeface="LEMON MILK" panose="00000500000000000000" pitchFamily="50" charset="0"/>
                </a:rPr>
                <a:t>Wrap text</a:t>
              </a:r>
              <a:endParaRPr lang="en-GB" dirty="0">
                <a:solidFill>
                  <a:schemeClr val="tx1"/>
                </a:solidFill>
                <a:latin typeface="LEMON MILK" panose="00000500000000000000" pitchFamily="50" charset="0"/>
              </a:endParaRP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5162506" y="3217977"/>
            <a:ext cx="4629150" cy="1685925"/>
            <a:chOff x="7353300" y="104775"/>
            <a:chExt cx="4629150" cy="1685925"/>
          </a:xfrm>
        </p:grpSpPr>
        <p:sp>
          <p:nvSpPr>
            <p:cNvPr id="19" name="Rectangle 18"/>
            <p:cNvSpPr/>
            <p:nvPr/>
          </p:nvSpPr>
          <p:spPr>
            <a:xfrm>
              <a:off x="7353300" y="584200"/>
              <a:ext cx="4629150" cy="1206500"/>
            </a:xfrm>
            <a:prstGeom prst="rect">
              <a:avLst/>
            </a:prstGeom>
            <a:solidFill>
              <a:srgbClr val="DEEBF7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 smtClean="0">
                  <a:solidFill>
                    <a:schemeClr val="tx1"/>
                  </a:solidFill>
                  <a:latin typeface="Ink Free" panose="03080402000500000000" pitchFamily="66" charset="0"/>
                </a:rPr>
                <a:t>Combining two or more adjacent cells into a single unified cell (often formatted as Merged and Centred).</a:t>
              </a:r>
              <a:endParaRPr lang="en-GB" dirty="0">
                <a:solidFill>
                  <a:schemeClr val="tx1"/>
                </a:solidFill>
                <a:latin typeface="Ink Free" panose="03080402000500000000" pitchFamily="66" charset="0"/>
              </a:endParaRPr>
            </a:p>
          </p:txBody>
        </p:sp>
        <p:sp>
          <p:nvSpPr>
            <p:cNvPr id="20" name="Rectangle 5"/>
            <p:cNvSpPr/>
            <p:nvPr/>
          </p:nvSpPr>
          <p:spPr>
            <a:xfrm>
              <a:off x="7353300" y="104775"/>
              <a:ext cx="2749550" cy="479425"/>
            </a:xfrm>
            <a:custGeom>
              <a:avLst/>
              <a:gdLst>
                <a:gd name="connsiteX0" fmla="*/ 0 w 2749550"/>
                <a:gd name="connsiteY0" fmla="*/ 0 h 479425"/>
                <a:gd name="connsiteX1" fmla="*/ 2749550 w 2749550"/>
                <a:gd name="connsiteY1" fmla="*/ 0 h 479425"/>
                <a:gd name="connsiteX2" fmla="*/ 2749550 w 2749550"/>
                <a:gd name="connsiteY2" fmla="*/ 479425 h 479425"/>
                <a:gd name="connsiteX3" fmla="*/ 0 w 2749550"/>
                <a:gd name="connsiteY3" fmla="*/ 479425 h 479425"/>
                <a:gd name="connsiteX4" fmla="*/ 0 w 2749550"/>
                <a:gd name="connsiteY4" fmla="*/ 0 h 479425"/>
                <a:gd name="connsiteX0" fmla="*/ 0 w 2749550"/>
                <a:gd name="connsiteY0" fmla="*/ 0 h 479425"/>
                <a:gd name="connsiteX1" fmla="*/ 2419350 w 2749550"/>
                <a:gd name="connsiteY1" fmla="*/ 6350 h 479425"/>
                <a:gd name="connsiteX2" fmla="*/ 2749550 w 2749550"/>
                <a:gd name="connsiteY2" fmla="*/ 479425 h 479425"/>
                <a:gd name="connsiteX3" fmla="*/ 0 w 2749550"/>
                <a:gd name="connsiteY3" fmla="*/ 479425 h 479425"/>
                <a:gd name="connsiteX4" fmla="*/ 0 w 2749550"/>
                <a:gd name="connsiteY4" fmla="*/ 0 h 479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49550" h="479425">
                  <a:moveTo>
                    <a:pt x="0" y="0"/>
                  </a:moveTo>
                  <a:lnTo>
                    <a:pt x="2419350" y="6350"/>
                  </a:lnTo>
                  <a:lnTo>
                    <a:pt x="2749550" y="479425"/>
                  </a:lnTo>
                  <a:lnTo>
                    <a:pt x="0" y="4794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GB" b="1" dirty="0">
                  <a:solidFill>
                    <a:schemeClr val="tx1"/>
                  </a:solidFill>
                  <a:sym typeface="Wingdings" panose="05000000000000000000" pitchFamily="2" charset="2"/>
                </a:rPr>
                <a:t> </a:t>
              </a:r>
              <a:r>
                <a:rPr lang="en-GB" dirty="0" smtClean="0">
                  <a:solidFill>
                    <a:schemeClr val="tx1"/>
                  </a:solidFill>
                  <a:latin typeface="LEMON MILK" panose="00000500000000000000" pitchFamily="50" charset="0"/>
                </a:rPr>
                <a:t>Merge Cells</a:t>
              </a:r>
              <a:endParaRPr lang="en-GB" dirty="0">
                <a:solidFill>
                  <a:schemeClr val="tx1"/>
                </a:solidFill>
                <a:latin typeface="LEMON MILK" panose="00000500000000000000" pitchFamily="50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03797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8" name="Picture 6" descr="Cartoon Gold Brick PNG Images, Cartoon Clipart, Gold Brick, Cartoon PNG  Transparent Background - Pngtree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93205" y="372435"/>
            <a:ext cx="1496344" cy="1498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Simple Formulas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6816" y="1943320"/>
            <a:ext cx="11953944" cy="2261586"/>
          </a:xfrm>
        </p:spPr>
        <p:txBody>
          <a:bodyPr/>
          <a:lstStyle/>
          <a:p>
            <a:r>
              <a:rPr lang="en-GB" dirty="0" smtClean="0"/>
              <a:t>A formula is a way a calculation is represented in a cell, using mathematical operators and references to other cells. </a:t>
            </a:r>
          </a:p>
          <a:p>
            <a:r>
              <a:rPr lang="en-GB" dirty="0" smtClean="0"/>
              <a:t>The formula is entered into a cell, but the display shows the current result of the calculation, which may change as the values in other cells change. </a:t>
            </a:r>
          </a:p>
          <a:p>
            <a:pPr lvl="1"/>
            <a:r>
              <a:rPr lang="en-GB" dirty="0" smtClean="0"/>
              <a:t>All formulae start with an equals sign.</a:t>
            </a:r>
            <a:endParaRPr lang="en-GB" dirty="0"/>
          </a:p>
        </p:txBody>
      </p:sp>
      <p:grpSp>
        <p:nvGrpSpPr>
          <p:cNvPr id="12" name="Group 11"/>
          <p:cNvGrpSpPr/>
          <p:nvPr/>
        </p:nvGrpSpPr>
        <p:grpSpPr>
          <a:xfrm>
            <a:off x="8915955" y="0"/>
            <a:ext cx="3925690" cy="1994557"/>
            <a:chOff x="8915955" y="0"/>
            <a:chExt cx="3925690" cy="1994557"/>
          </a:xfrm>
        </p:grpSpPr>
        <p:sp>
          <p:nvSpPr>
            <p:cNvPr id="11" name="Rectangle 10"/>
            <p:cNvSpPr/>
            <p:nvPr/>
          </p:nvSpPr>
          <p:spPr>
            <a:xfrm>
              <a:off x="9637904" y="1471001"/>
              <a:ext cx="2574117" cy="4111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8" name="Group 7"/>
            <p:cNvGrpSpPr/>
            <p:nvPr/>
          </p:nvGrpSpPr>
          <p:grpSpPr>
            <a:xfrm>
              <a:off x="8915955" y="0"/>
              <a:ext cx="3925690" cy="1407692"/>
              <a:chOff x="8575558" y="180205"/>
              <a:chExt cx="3925690" cy="1407692"/>
            </a:xfrm>
          </p:grpSpPr>
          <p:grpSp>
            <p:nvGrpSpPr>
              <p:cNvPr id="7" name="Group 6"/>
              <p:cNvGrpSpPr/>
              <p:nvPr/>
            </p:nvGrpSpPr>
            <p:grpSpPr>
              <a:xfrm>
                <a:off x="8575558" y="180205"/>
                <a:ext cx="3269370" cy="1407692"/>
                <a:chOff x="8922630" y="140159"/>
                <a:chExt cx="3269370" cy="1407692"/>
              </a:xfrm>
            </p:grpSpPr>
            <p:sp>
              <p:nvSpPr>
                <p:cNvPr id="4" name="Rectangle 3"/>
                <p:cNvSpPr/>
                <p:nvPr/>
              </p:nvSpPr>
              <p:spPr>
                <a:xfrm>
                  <a:off x="9651258" y="409430"/>
                  <a:ext cx="2540742" cy="725228"/>
                </a:xfrm>
                <a:prstGeom prst="rect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6" name="Rectangle 5"/>
                <p:cNvSpPr/>
                <p:nvPr/>
              </p:nvSpPr>
              <p:spPr>
                <a:xfrm>
                  <a:off x="9651258" y="140159"/>
                  <a:ext cx="2540742" cy="342685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dirty="0" smtClean="0">
                      <a:solidFill>
                        <a:schemeClr val="tx1"/>
                      </a:solidFill>
                      <a:latin typeface="Impact" panose="020B0806030902050204" pitchFamily="34" charset="0"/>
                    </a:rPr>
                    <a:t>THE</a:t>
                  </a:r>
                  <a:endParaRPr lang="en-GB" dirty="0">
                    <a:solidFill>
                      <a:schemeClr val="tx1"/>
                    </a:solidFill>
                    <a:latin typeface="Impact" panose="020B0806030902050204" pitchFamily="34" charset="0"/>
                  </a:endParaRPr>
                </a:p>
              </p:txBody>
            </p:sp>
            <p:sp>
              <p:nvSpPr>
                <p:cNvPr id="9" name="Rectangle 8"/>
                <p:cNvSpPr/>
                <p:nvPr/>
              </p:nvSpPr>
              <p:spPr>
                <a:xfrm>
                  <a:off x="8922630" y="1205166"/>
                  <a:ext cx="2540742" cy="342685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4800" dirty="0" smtClean="0">
                      <a:solidFill>
                        <a:schemeClr val="tx1"/>
                      </a:solidFill>
                      <a:latin typeface="Impact" panose="020B0806030902050204" pitchFamily="34" charset="0"/>
                    </a:rPr>
                    <a:t>RULE</a:t>
                  </a:r>
                  <a:endParaRPr lang="en-GB" sz="4800" dirty="0">
                    <a:solidFill>
                      <a:schemeClr val="tx1"/>
                    </a:solidFill>
                    <a:latin typeface="Impact" panose="020B0806030902050204" pitchFamily="34" charset="0"/>
                  </a:endParaRPr>
                </a:p>
              </p:txBody>
            </p:sp>
          </p:grpSp>
          <p:sp>
            <p:nvSpPr>
              <p:cNvPr id="5" name="TextBox 4"/>
              <p:cNvSpPr txBox="1"/>
              <p:nvPr/>
            </p:nvSpPr>
            <p:spPr>
              <a:xfrm>
                <a:off x="9217418" y="261102"/>
                <a:ext cx="3283830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6600" dirty="0" smtClean="0">
                    <a:solidFill>
                      <a:srgbClr val="FFCC00"/>
                    </a:solidFill>
                    <a:latin typeface="Impact" panose="020B0806030902050204" pitchFamily="34" charset="0"/>
                  </a:rPr>
                  <a:t>GOLDEN</a:t>
                </a:r>
                <a:endParaRPr lang="en-GB" sz="6600" dirty="0">
                  <a:solidFill>
                    <a:srgbClr val="FFCC00"/>
                  </a:solidFill>
                  <a:latin typeface="Impact" panose="020B0806030902050204" pitchFamily="34" charset="0"/>
                </a:endParaRPr>
              </a:p>
            </p:txBody>
          </p:sp>
        </p:grpSp>
        <p:sp>
          <p:nvSpPr>
            <p:cNvPr id="10" name="TextBox 9"/>
            <p:cNvSpPr txBox="1"/>
            <p:nvPr/>
          </p:nvSpPr>
          <p:spPr>
            <a:xfrm>
              <a:off x="10745869" y="994499"/>
              <a:ext cx="143945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400" dirty="0" smtClean="0">
                  <a:latin typeface="LEMON MILK" panose="00000500000000000000" pitchFamily="50" charset="0"/>
                </a:rPr>
                <a:t>The Equals Sign =</a:t>
              </a:r>
              <a:endParaRPr lang="en-GB" sz="1400" dirty="0">
                <a:latin typeface="LEMON MILK" panose="00000500000000000000" pitchFamily="50" charset="0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9644582" y="1409782"/>
              <a:ext cx="263418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3200" dirty="0" smtClean="0">
                  <a:solidFill>
                    <a:srgbClr val="FFCC00"/>
                  </a:solidFill>
                  <a:latin typeface="LEMON MILK" panose="00000500000000000000" pitchFamily="50" charset="0"/>
                </a:rPr>
                <a:t>GOES FIRST</a:t>
              </a:r>
              <a:endParaRPr lang="en-GB" sz="3200" dirty="0">
                <a:solidFill>
                  <a:srgbClr val="FFCC00"/>
                </a:solidFill>
                <a:latin typeface="LEMON MILK" panose="00000500000000000000" pitchFamily="50" charset="0"/>
              </a:endParaRP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126816" y="4204906"/>
            <a:ext cx="2235942" cy="1715334"/>
            <a:chOff x="487235" y="4204905"/>
            <a:chExt cx="2235942" cy="1715334"/>
          </a:xfrm>
        </p:grpSpPr>
        <p:sp>
          <p:nvSpPr>
            <p:cNvPr id="15" name="Rectangle 14"/>
            <p:cNvSpPr/>
            <p:nvPr/>
          </p:nvSpPr>
          <p:spPr>
            <a:xfrm>
              <a:off x="487235" y="4204906"/>
              <a:ext cx="86768" cy="1715333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574002" y="4204905"/>
              <a:ext cx="2149175" cy="171533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 smtClean="0">
                  <a:solidFill>
                    <a:schemeClr val="accent6">
                      <a:lumMod val="50000"/>
                    </a:schemeClr>
                  </a:solidFill>
                  <a:latin typeface="LEMON MILK" panose="00000500000000000000" pitchFamily="50" charset="0"/>
                </a:rPr>
                <a:t>ADDING CELLS</a:t>
              </a:r>
            </a:p>
            <a:p>
              <a:pPr algn="ctr"/>
              <a:r>
                <a:rPr lang="en-GB" dirty="0" smtClean="0">
                  <a:solidFill>
                    <a:schemeClr val="accent6">
                      <a:lumMod val="50000"/>
                    </a:schemeClr>
                  </a:solidFill>
                </a:rPr>
                <a:t>= A1 + B1</a:t>
              </a:r>
            </a:p>
            <a:p>
              <a:pPr algn="ctr"/>
              <a:r>
                <a:rPr lang="en-GB" dirty="0" smtClean="0">
                  <a:solidFill>
                    <a:schemeClr val="accent6">
                      <a:lumMod val="50000"/>
                    </a:schemeClr>
                  </a:solidFill>
                </a:rPr>
                <a:t>Will add the contents of these two cells together</a:t>
              </a:r>
              <a:endParaRPr lang="en-GB" dirty="0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2449525" y="5062572"/>
            <a:ext cx="2235942" cy="1715334"/>
            <a:chOff x="487235" y="4204905"/>
            <a:chExt cx="2235942" cy="1715334"/>
          </a:xfrm>
        </p:grpSpPr>
        <p:sp>
          <p:nvSpPr>
            <p:cNvPr id="21" name="Rectangle 20"/>
            <p:cNvSpPr/>
            <p:nvPr/>
          </p:nvSpPr>
          <p:spPr>
            <a:xfrm>
              <a:off x="487235" y="4204906"/>
              <a:ext cx="86768" cy="1715333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574002" y="4204905"/>
              <a:ext cx="2149175" cy="171533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 smtClean="0">
                  <a:solidFill>
                    <a:schemeClr val="accent6">
                      <a:lumMod val="50000"/>
                    </a:schemeClr>
                  </a:solidFill>
                  <a:latin typeface="LEMON MILK" panose="00000500000000000000" pitchFamily="50" charset="0"/>
                </a:rPr>
                <a:t>Subtracting CELLS</a:t>
              </a:r>
            </a:p>
            <a:p>
              <a:pPr algn="ctr"/>
              <a:r>
                <a:rPr lang="en-GB" dirty="0" smtClean="0">
                  <a:solidFill>
                    <a:schemeClr val="accent6">
                      <a:lumMod val="50000"/>
                    </a:schemeClr>
                  </a:solidFill>
                </a:rPr>
                <a:t>= D1 - C1</a:t>
              </a:r>
            </a:p>
            <a:p>
              <a:pPr algn="ctr"/>
              <a:r>
                <a:rPr lang="en-GB" dirty="0" smtClean="0">
                  <a:solidFill>
                    <a:schemeClr val="accent6">
                      <a:lumMod val="50000"/>
                    </a:schemeClr>
                  </a:solidFill>
                </a:rPr>
                <a:t>Will subtract the contents of C1 from D1</a:t>
              </a:r>
              <a:endParaRPr lang="en-GB" dirty="0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4772236" y="4204904"/>
            <a:ext cx="2235942" cy="1715334"/>
            <a:chOff x="487235" y="4204905"/>
            <a:chExt cx="2235942" cy="1715334"/>
          </a:xfrm>
        </p:grpSpPr>
        <p:sp>
          <p:nvSpPr>
            <p:cNvPr id="24" name="Rectangle 23"/>
            <p:cNvSpPr/>
            <p:nvPr/>
          </p:nvSpPr>
          <p:spPr>
            <a:xfrm>
              <a:off x="487235" y="4204906"/>
              <a:ext cx="86768" cy="1715333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574002" y="4204905"/>
              <a:ext cx="2149175" cy="171533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 smtClean="0">
                  <a:solidFill>
                    <a:schemeClr val="accent6">
                      <a:lumMod val="50000"/>
                    </a:schemeClr>
                  </a:solidFill>
                  <a:latin typeface="LEMON MILK" panose="00000500000000000000" pitchFamily="50" charset="0"/>
                </a:rPr>
                <a:t>Multiplying CELLS</a:t>
              </a:r>
            </a:p>
            <a:p>
              <a:pPr algn="ctr"/>
              <a:r>
                <a:rPr lang="en-GB" dirty="0" smtClean="0">
                  <a:solidFill>
                    <a:schemeClr val="accent6">
                      <a:lumMod val="50000"/>
                    </a:schemeClr>
                  </a:solidFill>
                </a:rPr>
                <a:t>= A2 * B2</a:t>
              </a:r>
            </a:p>
            <a:p>
              <a:pPr algn="ctr"/>
              <a:r>
                <a:rPr lang="en-GB" dirty="0" smtClean="0">
                  <a:solidFill>
                    <a:schemeClr val="accent6">
                      <a:lumMod val="50000"/>
                    </a:schemeClr>
                  </a:solidFill>
                </a:rPr>
                <a:t>Will multiply the contents of these two cells together</a:t>
              </a:r>
              <a:endParaRPr lang="en-GB" dirty="0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7175039" y="5062571"/>
            <a:ext cx="2235942" cy="1715334"/>
            <a:chOff x="487235" y="4204905"/>
            <a:chExt cx="2235942" cy="1715334"/>
          </a:xfrm>
        </p:grpSpPr>
        <p:sp>
          <p:nvSpPr>
            <p:cNvPr id="27" name="Rectangle 26"/>
            <p:cNvSpPr/>
            <p:nvPr/>
          </p:nvSpPr>
          <p:spPr>
            <a:xfrm>
              <a:off x="487235" y="4204906"/>
              <a:ext cx="86768" cy="1715333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574002" y="4204905"/>
              <a:ext cx="2149175" cy="171533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 smtClean="0">
                  <a:solidFill>
                    <a:schemeClr val="accent6">
                      <a:lumMod val="50000"/>
                    </a:schemeClr>
                  </a:solidFill>
                  <a:latin typeface="LEMON MILK" panose="00000500000000000000" pitchFamily="50" charset="0"/>
                </a:rPr>
                <a:t>Dividing CELLS</a:t>
              </a:r>
            </a:p>
            <a:p>
              <a:pPr algn="ctr"/>
              <a:r>
                <a:rPr lang="en-GB" dirty="0" smtClean="0">
                  <a:solidFill>
                    <a:schemeClr val="accent6">
                      <a:lumMod val="50000"/>
                    </a:schemeClr>
                  </a:solidFill>
                </a:rPr>
                <a:t>= A3 / A4</a:t>
              </a:r>
            </a:p>
            <a:p>
              <a:pPr algn="ctr"/>
              <a:r>
                <a:rPr lang="en-GB" dirty="0" smtClean="0">
                  <a:solidFill>
                    <a:schemeClr val="accent6">
                      <a:lumMod val="50000"/>
                    </a:schemeClr>
                  </a:solidFill>
                </a:rPr>
                <a:t>Will divide the contents of A3 by the contents of A4</a:t>
              </a:r>
              <a:endParaRPr lang="en-GB" dirty="0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521257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roup 48"/>
          <p:cNvGrpSpPr/>
          <p:nvPr/>
        </p:nvGrpSpPr>
        <p:grpSpPr>
          <a:xfrm>
            <a:off x="8280779" y="1280526"/>
            <a:ext cx="3884530" cy="5520740"/>
            <a:chOff x="8280779" y="1280526"/>
            <a:chExt cx="3884530" cy="5520740"/>
          </a:xfrm>
        </p:grpSpPr>
        <p:grpSp>
          <p:nvGrpSpPr>
            <p:cNvPr id="41" name="Group 40"/>
            <p:cNvGrpSpPr/>
            <p:nvPr/>
          </p:nvGrpSpPr>
          <p:grpSpPr>
            <a:xfrm>
              <a:off x="8280779" y="1280526"/>
              <a:ext cx="3884530" cy="5520740"/>
              <a:chOff x="487235" y="4204905"/>
              <a:chExt cx="3884530" cy="1715334"/>
            </a:xfrm>
          </p:grpSpPr>
          <p:sp>
            <p:nvSpPr>
              <p:cNvPr id="42" name="Rectangle 41"/>
              <p:cNvSpPr/>
              <p:nvPr/>
            </p:nvSpPr>
            <p:spPr>
              <a:xfrm>
                <a:off x="487235" y="4204906"/>
                <a:ext cx="86768" cy="1715333"/>
              </a:xfrm>
              <a:prstGeom prst="rect">
                <a:avLst/>
              </a:prstGeom>
              <a:solidFill>
                <a:schemeClr val="accent6">
                  <a:lumMod val="5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3" name="Rectangle 42"/>
              <p:cNvSpPr/>
              <p:nvPr/>
            </p:nvSpPr>
            <p:spPr>
              <a:xfrm>
                <a:off x="574002" y="4204905"/>
                <a:ext cx="3797763" cy="1715333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 smtClean="0">
                    <a:solidFill>
                      <a:schemeClr val="accent6">
                        <a:lumMod val="50000"/>
                      </a:schemeClr>
                    </a:solidFill>
                    <a:latin typeface="LEMON MILK" panose="00000500000000000000" pitchFamily="50" charset="0"/>
                  </a:rPr>
                  <a:t>VLOOKUP</a:t>
                </a:r>
              </a:p>
              <a:p>
                <a:pPr algn="ctr"/>
                <a:r>
                  <a:rPr lang="en-GB" dirty="0" smtClean="0">
                    <a:solidFill>
                      <a:schemeClr val="accent6">
                        <a:lumMod val="50000"/>
                      </a:schemeClr>
                    </a:solidFill>
                  </a:rPr>
                  <a:t>=VLOOKUP( “Blue”, A1:B2, 2)</a:t>
                </a:r>
              </a:p>
              <a:p>
                <a:pPr algn="ctr"/>
                <a:endParaRPr lang="en-GB" dirty="0" smtClean="0">
                  <a:solidFill>
                    <a:schemeClr val="accent6">
                      <a:lumMod val="50000"/>
                    </a:schemeClr>
                  </a:solidFill>
                </a:endParaRPr>
              </a:p>
              <a:p>
                <a:pPr algn="ctr"/>
                <a:endParaRPr lang="en-GB" dirty="0">
                  <a:solidFill>
                    <a:schemeClr val="accent6">
                      <a:lumMod val="50000"/>
                    </a:schemeClr>
                  </a:solidFill>
                </a:endParaRPr>
              </a:p>
              <a:p>
                <a:pPr algn="ctr"/>
                <a:endParaRPr lang="en-GB" dirty="0" smtClean="0">
                  <a:solidFill>
                    <a:schemeClr val="accent6">
                      <a:lumMod val="50000"/>
                    </a:schemeClr>
                  </a:solidFill>
                </a:endParaRPr>
              </a:p>
              <a:p>
                <a:pPr algn="ctr"/>
                <a:endParaRPr lang="en-GB" dirty="0">
                  <a:solidFill>
                    <a:schemeClr val="accent6">
                      <a:lumMod val="50000"/>
                    </a:schemeClr>
                  </a:solidFill>
                </a:endParaRPr>
              </a:p>
              <a:p>
                <a:pPr algn="ctr"/>
                <a:endParaRPr lang="en-GB" dirty="0">
                  <a:solidFill>
                    <a:schemeClr val="accent6">
                      <a:lumMod val="50000"/>
                    </a:schemeClr>
                  </a:solidFill>
                </a:endParaRPr>
              </a:p>
              <a:p>
                <a:pPr algn="ctr"/>
                <a:endParaRPr lang="en-GB" dirty="0" smtClean="0">
                  <a:solidFill>
                    <a:schemeClr val="accent6">
                      <a:lumMod val="50000"/>
                    </a:schemeClr>
                  </a:solidFill>
                </a:endParaRPr>
              </a:p>
              <a:p>
                <a:pPr algn="ctr"/>
                <a:r>
                  <a:rPr lang="en-GB" dirty="0" smtClean="0">
                    <a:solidFill>
                      <a:schemeClr val="accent6">
                        <a:lumMod val="50000"/>
                      </a:schemeClr>
                    </a:solidFill>
                  </a:rPr>
                  <a:t>Short for Vertical Lookup. This allows you to look up a value in a range of cells in a column and display that value. In this example, the number 20.0 is returned.</a:t>
                </a:r>
              </a:p>
              <a:p>
                <a:pPr algn="ctr"/>
                <a:endParaRPr lang="en-GB" dirty="0">
                  <a:solidFill>
                    <a:schemeClr val="accent6">
                      <a:lumMod val="50000"/>
                    </a:schemeClr>
                  </a:solidFill>
                </a:endParaRPr>
              </a:p>
              <a:p>
                <a:pPr marL="447675" algn="ctr"/>
                <a:r>
                  <a:rPr lang="en-GB" b="1" dirty="0" smtClean="0">
                    <a:solidFill>
                      <a:schemeClr val="accent6">
                        <a:lumMod val="50000"/>
                      </a:schemeClr>
                    </a:solidFill>
                  </a:rPr>
                  <a:t>A function used to search for a value in a column or table cell range and return a corresponding value. Updates automatically if source data changes.</a:t>
                </a:r>
                <a:endParaRPr lang="en-GB" b="1" dirty="0">
                  <a:solidFill>
                    <a:schemeClr val="accent6">
                      <a:lumMod val="50000"/>
                    </a:schemeClr>
                  </a:solidFill>
                </a:endParaRPr>
              </a:p>
            </p:txBody>
          </p:sp>
        </p:grpSp>
        <p:sp>
          <p:nvSpPr>
            <p:cNvPr id="44" name="Rectangle 43"/>
            <p:cNvSpPr/>
            <p:nvPr/>
          </p:nvSpPr>
          <p:spPr>
            <a:xfrm>
              <a:off x="8280779" y="5231820"/>
              <a:ext cx="808235" cy="7078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4000" dirty="0" smtClean="0">
                  <a:solidFill>
                    <a:schemeClr val="accent6">
                      <a:lumMod val="50000"/>
                    </a:schemeClr>
                  </a:solidFill>
                  <a:sym typeface="Wingdings" panose="05000000000000000000" pitchFamily="2" charset="2"/>
                </a:rPr>
                <a:t></a:t>
              </a:r>
              <a:endParaRPr lang="en-GB" sz="4000" dirty="0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89"/>
            <a:ext cx="10515600" cy="1325563"/>
          </a:xfrm>
        </p:spPr>
        <p:txBody>
          <a:bodyPr/>
          <a:lstStyle/>
          <a:p>
            <a:r>
              <a:rPr lang="en-GB" dirty="0" smtClean="0">
                <a:latin typeface="LEMON MILK" panose="00000500000000000000" pitchFamily="50" charset="0"/>
              </a:rPr>
              <a:t>Simple Functions</a:t>
            </a:r>
            <a:endParaRPr lang="en-GB" dirty="0">
              <a:latin typeface="LEMON MILK" panose="00000500000000000000" pitchFamily="50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10010" y="863764"/>
            <a:ext cx="8103343" cy="5321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dirty="0" smtClean="0"/>
              <a:t>A function is used to do a very specific job within a spreadsheet</a:t>
            </a:r>
            <a:endParaRPr lang="en-GB" sz="2400" dirty="0"/>
          </a:p>
        </p:txBody>
      </p:sp>
      <p:grpSp>
        <p:nvGrpSpPr>
          <p:cNvPr id="16" name="Group 15"/>
          <p:cNvGrpSpPr/>
          <p:nvPr/>
        </p:nvGrpSpPr>
        <p:grpSpPr>
          <a:xfrm>
            <a:off x="86770" y="2091297"/>
            <a:ext cx="3787208" cy="2881917"/>
            <a:chOff x="487235" y="4204905"/>
            <a:chExt cx="3787208" cy="1715334"/>
          </a:xfrm>
        </p:grpSpPr>
        <p:sp>
          <p:nvSpPr>
            <p:cNvPr id="15" name="Rectangle 14"/>
            <p:cNvSpPr/>
            <p:nvPr/>
          </p:nvSpPr>
          <p:spPr>
            <a:xfrm>
              <a:off x="487235" y="4204906"/>
              <a:ext cx="86768" cy="1715333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574003" y="4204905"/>
              <a:ext cx="3700440" cy="171533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 smtClean="0">
                  <a:solidFill>
                    <a:schemeClr val="accent6">
                      <a:lumMod val="50000"/>
                    </a:schemeClr>
                  </a:solidFill>
                  <a:latin typeface="LEMON MILK" panose="00000500000000000000" pitchFamily="50" charset="0"/>
                </a:rPr>
                <a:t>Autosum / SUM</a:t>
              </a:r>
            </a:p>
            <a:p>
              <a:pPr algn="ctr"/>
              <a:r>
                <a:rPr lang="en-GB" dirty="0" smtClean="0">
                  <a:solidFill>
                    <a:schemeClr val="accent6">
                      <a:lumMod val="50000"/>
                    </a:schemeClr>
                  </a:solidFill>
                </a:rPr>
                <a:t>=SUM(A1:A10)</a:t>
              </a:r>
            </a:p>
            <a:p>
              <a:pPr marL="447675"/>
              <a:r>
                <a:rPr lang="en-GB" b="1" dirty="0" smtClean="0">
                  <a:solidFill>
                    <a:schemeClr val="accent6">
                      <a:lumMod val="50000"/>
                    </a:schemeClr>
                  </a:solidFill>
                </a:rPr>
                <a:t>A function used to add a range of contiguous cell values together. </a:t>
              </a:r>
            </a:p>
            <a:p>
              <a:endParaRPr lang="en-GB" dirty="0">
                <a:solidFill>
                  <a:schemeClr val="accent6">
                    <a:lumMod val="50000"/>
                  </a:schemeClr>
                </a:solidFill>
              </a:endParaRPr>
            </a:p>
            <a:p>
              <a:pPr algn="ctr"/>
              <a:r>
                <a:rPr lang="en-GB" dirty="0" smtClean="0">
                  <a:solidFill>
                    <a:schemeClr val="accent6">
                      <a:lumMod val="50000"/>
                    </a:schemeClr>
                  </a:solidFill>
                </a:rPr>
                <a:t>A1 is the first cell in the range and A10 is the last cell in the range.</a:t>
              </a:r>
            </a:p>
            <a:p>
              <a:pPr algn="ctr"/>
              <a:r>
                <a:rPr lang="en-GB" dirty="0" smtClean="0">
                  <a:solidFill>
                    <a:schemeClr val="accent6">
                      <a:lumMod val="50000"/>
                    </a:schemeClr>
                  </a:solidFill>
                </a:rPr>
                <a:t>This formula will add A1 through to A10 together.</a:t>
              </a:r>
              <a:endParaRPr lang="en-GB" dirty="0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3944987" y="2091298"/>
            <a:ext cx="4223811" cy="1343668"/>
            <a:chOff x="487235" y="4204905"/>
            <a:chExt cx="4223811" cy="1715334"/>
          </a:xfrm>
        </p:grpSpPr>
        <p:sp>
          <p:nvSpPr>
            <p:cNvPr id="33" name="Rectangle 32"/>
            <p:cNvSpPr/>
            <p:nvPr/>
          </p:nvSpPr>
          <p:spPr>
            <a:xfrm>
              <a:off x="487235" y="4204906"/>
              <a:ext cx="86768" cy="1715333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574002" y="4204905"/>
              <a:ext cx="4137044" cy="171533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 smtClean="0">
                  <a:solidFill>
                    <a:schemeClr val="accent6">
                      <a:lumMod val="50000"/>
                    </a:schemeClr>
                  </a:solidFill>
                  <a:latin typeface="LEMON MILK" panose="00000500000000000000" pitchFamily="50" charset="0"/>
                </a:rPr>
                <a:t>MAX</a:t>
              </a:r>
            </a:p>
            <a:p>
              <a:pPr algn="ctr"/>
              <a:r>
                <a:rPr lang="en-GB" dirty="0" smtClean="0">
                  <a:solidFill>
                    <a:schemeClr val="accent6">
                      <a:lumMod val="50000"/>
                    </a:schemeClr>
                  </a:solidFill>
                </a:rPr>
                <a:t>=MAX(A1:A10)</a:t>
              </a:r>
            </a:p>
            <a:p>
              <a:pPr marL="720725">
                <a:tabLst>
                  <a:tab pos="720725" algn="l"/>
                </a:tabLst>
              </a:pPr>
              <a:r>
                <a:rPr lang="en-GB" b="1" dirty="0" smtClean="0">
                  <a:solidFill>
                    <a:schemeClr val="accent6">
                      <a:lumMod val="50000"/>
                    </a:schemeClr>
                  </a:solidFill>
                </a:rPr>
                <a:t>Identifies &amp; returns the highest numeric value within a specified range.</a:t>
              </a:r>
              <a:endParaRPr lang="en-GB" b="1" dirty="0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</p:grpSp>
      <p:grpSp>
        <p:nvGrpSpPr>
          <p:cNvPr id="38" name="Group 37"/>
          <p:cNvGrpSpPr/>
          <p:nvPr/>
        </p:nvGrpSpPr>
        <p:grpSpPr>
          <a:xfrm>
            <a:off x="86770" y="5078147"/>
            <a:ext cx="8071090" cy="1723120"/>
            <a:chOff x="487235" y="4204905"/>
            <a:chExt cx="8071090" cy="1715334"/>
          </a:xfrm>
        </p:grpSpPr>
        <p:sp>
          <p:nvSpPr>
            <p:cNvPr id="39" name="Rectangle 38"/>
            <p:cNvSpPr/>
            <p:nvPr/>
          </p:nvSpPr>
          <p:spPr>
            <a:xfrm>
              <a:off x="487235" y="4204906"/>
              <a:ext cx="86768" cy="1715333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574002" y="4204905"/>
              <a:ext cx="7984323" cy="171533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 smtClean="0">
                  <a:solidFill>
                    <a:schemeClr val="accent6">
                      <a:lumMod val="50000"/>
                    </a:schemeClr>
                  </a:solidFill>
                  <a:latin typeface="LEMON MILK" panose="00000500000000000000" pitchFamily="50" charset="0"/>
                </a:rPr>
                <a:t>IF</a:t>
              </a:r>
            </a:p>
            <a:p>
              <a:pPr algn="ctr"/>
              <a:r>
                <a:rPr lang="en-GB" dirty="0" smtClean="0">
                  <a:solidFill>
                    <a:schemeClr val="accent6">
                      <a:lumMod val="50000"/>
                    </a:schemeClr>
                  </a:solidFill>
                </a:rPr>
                <a:t>=IF(A1&gt; 60, “PASS”, “FAIL”)</a:t>
              </a:r>
            </a:p>
            <a:p>
              <a:pPr algn="ctr"/>
              <a:r>
                <a:rPr lang="en-GB" dirty="0" smtClean="0">
                  <a:solidFill>
                    <a:schemeClr val="accent6">
                      <a:lumMod val="50000"/>
                    </a:schemeClr>
                  </a:solidFill>
                </a:rPr>
                <a:t>If the contents of cell A1 is greater than 60 then the word PASS will be entered, if it lower than 60, the word FAIL will be entered.</a:t>
              </a:r>
            </a:p>
            <a:p>
              <a:pPr marL="627063"/>
              <a:r>
                <a:rPr lang="en-GB" b="1" dirty="0" smtClean="0">
                  <a:solidFill>
                    <a:schemeClr val="accent6">
                      <a:lumMod val="50000"/>
                    </a:schemeClr>
                  </a:solidFill>
                </a:rPr>
                <a:t>Used to evaluate a condition and return or change a formula value in a cell if a condition is met.</a:t>
              </a:r>
              <a:endParaRPr lang="en-GB" b="1" dirty="0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</p:grp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1669482"/>
              </p:ext>
            </p:extLst>
          </p:nvPr>
        </p:nvGraphicFramePr>
        <p:xfrm>
          <a:off x="8479528" y="2285868"/>
          <a:ext cx="3619035" cy="1112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06345"/>
                <a:gridCol w="1206345"/>
                <a:gridCol w="1206345"/>
              </a:tblGrid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A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B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smtClean="0"/>
                        <a:t>1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Blue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20.0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smtClean="0"/>
                        <a:t>2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Pink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1.0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sp>
        <p:nvSpPr>
          <p:cNvPr id="17" name="Rectangle 16"/>
          <p:cNvSpPr/>
          <p:nvPr/>
        </p:nvSpPr>
        <p:spPr>
          <a:xfrm>
            <a:off x="116806" y="6163462"/>
            <a:ext cx="80823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4000" dirty="0" smtClean="0">
                <a:solidFill>
                  <a:schemeClr val="accent6">
                    <a:lumMod val="50000"/>
                  </a:schemeClr>
                </a:solidFill>
                <a:sym typeface="Wingdings" panose="05000000000000000000" pitchFamily="2" charset="2"/>
              </a:rPr>
              <a:t></a:t>
            </a:r>
            <a:endParaRPr lang="en-GB" sz="40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116806" y="2771866"/>
            <a:ext cx="68480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3200" dirty="0" smtClean="0">
                <a:solidFill>
                  <a:schemeClr val="accent6">
                    <a:lumMod val="50000"/>
                  </a:schemeClr>
                </a:solidFill>
                <a:sym typeface="Wingdings" panose="05000000000000000000" pitchFamily="2" charset="2"/>
              </a:rPr>
              <a:t></a:t>
            </a:r>
            <a:endParaRPr lang="en-GB" sz="3200" dirty="0">
              <a:solidFill>
                <a:schemeClr val="accent6">
                  <a:lumMod val="50000"/>
                </a:schemeClr>
              </a:solidFill>
            </a:endParaRPr>
          </a:p>
        </p:txBody>
      </p:sp>
      <p:grpSp>
        <p:nvGrpSpPr>
          <p:cNvPr id="19" name="Group 18"/>
          <p:cNvGrpSpPr/>
          <p:nvPr/>
        </p:nvGrpSpPr>
        <p:grpSpPr>
          <a:xfrm>
            <a:off x="8274099" y="47438"/>
            <a:ext cx="3884531" cy="1185462"/>
            <a:chOff x="8006566" y="-28838"/>
            <a:chExt cx="3884531" cy="1185462"/>
          </a:xfrm>
        </p:grpSpPr>
        <p:grpSp>
          <p:nvGrpSpPr>
            <p:cNvPr id="29" name="Group 28"/>
            <p:cNvGrpSpPr/>
            <p:nvPr/>
          </p:nvGrpSpPr>
          <p:grpSpPr>
            <a:xfrm>
              <a:off x="8006567" y="-28838"/>
              <a:ext cx="3884530" cy="1163495"/>
              <a:chOff x="487235" y="4204905"/>
              <a:chExt cx="3884530" cy="1715334"/>
            </a:xfrm>
          </p:grpSpPr>
          <p:sp>
            <p:nvSpPr>
              <p:cNvPr id="30" name="Rectangle 29"/>
              <p:cNvSpPr/>
              <p:nvPr/>
            </p:nvSpPr>
            <p:spPr>
              <a:xfrm>
                <a:off x="487235" y="4204906"/>
                <a:ext cx="86768" cy="1715333"/>
              </a:xfrm>
              <a:prstGeom prst="rect">
                <a:avLst/>
              </a:prstGeom>
              <a:solidFill>
                <a:schemeClr val="accent6">
                  <a:lumMod val="5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1" name="Rectangle 30"/>
              <p:cNvSpPr/>
              <p:nvPr/>
            </p:nvSpPr>
            <p:spPr>
              <a:xfrm>
                <a:off x="574002" y="4204905"/>
                <a:ext cx="3797763" cy="1715333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 smtClean="0">
                    <a:solidFill>
                      <a:schemeClr val="accent6">
                        <a:lumMod val="50000"/>
                      </a:schemeClr>
                    </a:solidFill>
                    <a:latin typeface="LEMON MILK" panose="00000500000000000000" pitchFamily="50" charset="0"/>
                  </a:rPr>
                  <a:t>AVERAGE</a:t>
                </a:r>
              </a:p>
              <a:p>
                <a:pPr algn="ctr"/>
                <a:r>
                  <a:rPr lang="en-GB" dirty="0" smtClean="0">
                    <a:solidFill>
                      <a:schemeClr val="accent6">
                        <a:lumMod val="50000"/>
                      </a:schemeClr>
                    </a:solidFill>
                  </a:rPr>
                  <a:t>=SUM(A1:A10)</a:t>
                </a:r>
              </a:p>
              <a:p>
                <a:pPr marL="360363" algn="ctr"/>
                <a:r>
                  <a:rPr lang="en-GB" b="1" dirty="0" smtClean="0">
                    <a:solidFill>
                      <a:schemeClr val="accent6">
                        <a:lumMod val="50000"/>
                      </a:schemeClr>
                    </a:solidFill>
                  </a:rPr>
                  <a:t>Calculates the arithmetic mean of a specified range of cell values. </a:t>
                </a:r>
                <a:endParaRPr lang="en-GB" b="1" dirty="0">
                  <a:solidFill>
                    <a:schemeClr val="accent6">
                      <a:lumMod val="50000"/>
                    </a:schemeClr>
                  </a:solidFill>
                </a:endParaRPr>
              </a:p>
            </p:txBody>
          </p:sp>
        </p:grpSp>
        <p:sp>
          <p:nvSpPr>
            <p:cNvPr id="46" name="Rectangle 45"/>
            <p:cNvSpPr/>
            <p:nvPr/>
          </p:nvSpPr>
          <p:spPr>
            <a:xfrm>
              <a:off x="8006566" y="571849"/>
              <a:ext cx="684803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3200" dirty="0" smtClean="0">
                  <a:solidFill>
                    <a:schemeClr val="accent6">
                      <a:lumMod val="50000"/>
                    </a:schemeClr>
                  </a:solidFill>
                  <a:sym typeface="Wingdings" panose="05000000000000000000" pitchFamily="2" charset="2"/>
                </a:rPr>
                <a:t></a:t>
              </a:r>
              <a:endParaRPr lang="en-GB" sz="3200" dirty="0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</p:grpSp>
      <p:grpSp>
        <p:nvGrpSpPr>
          <p:cNvPr id="48" name="Group 47"/>
          <p:cNvGrpSpPr/>
          <p:nvPr/>
        </p:nvGrpSpPr>
        <p:grpSpPr>
          <a:xfrm>
            <a:off x="3940723" y="3537148"/>
            <a:ext cx="4217137" cy="1436067"/>
            <a:chOff x="4056961" y="3703279"/>
            <a:chExt cx="4217137" cy="1436067"/>
          </a:xfrm>
        </p:grpSpPr>
        <p:grpSp>
          <p:nvGrpSpPr>
            <p:cNvPr id="35" name="Group 34"/>
            <p:cNvGrpSpPr/>
            <p:nvPr/>
          </p:nvGrpSpPr>
          <p:grpSpPr>
            <a:xfrm>
              <a:off x="4056961" y="3703279"/>
              <a:ext cx="4217137" cy="1436067"/>
              <a:chOff x="487235" y="4204905"/>
              <a:chExt cx="4217137" cy="1715334"/>
            </a:xfrm>
          </p:grpSpPr>
          <p:sp>
            <p:nvSpPr>
              <p:cNvPr id="36" name="Rectangle 35"/>
              <p:cNvSpPr/>
              <p:nvPr/>
            </p:nvSpPr>
            <p:spPr>
              <a:xfrm>
                <a:off x="487235" y="4204906"/>
                <a:ext cx="86768" cy="1715333"/>
              </a:xfrm>
              <a:prstGeom prst="rect">
                <a:avLst/>
              </a:prstGeom>
              <a:solidFill>
                <a:schemeClr val="accent6">
                  <a:lumMod val="5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7" name="Rectangle 36"/>
              <p:cNvSpPr/>
              <p:nvPr/>
            </p:nvSpPr>
            <p:spPr>
              <a:xfrm>
                <a:off x="574001" y="4204905"/>
                <a:ext cx="4130371" cy="1715333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 smtClean="0">
                    <a:solidFill>
                      <a:schemeClr val="accent6">
                        <a:lumMod val="50000"/>
                      </a:schemeClr>
                    </a:solidFill>
                    <a:latin typeface="LEMON MILK" panose="00000500000000000000" pitchFamily="50" charset="0"/>
                  </a:rPr>
                  <a:t>MIN</a:t>
                </a:r>
              </a:p>
              <a:p>
                <a:pPr algn="ctr"/>
                <a:r>
                  <a:rPr lang="en-GB" dirty="0" smtClean="0">
                    <a:solidFill>
                      <a:schemeClr val="accent6">
                        <a:lumMod val="50000"/>
                      </a:schemeClr>
                    </a:solidFill>
                  </a:rPr>
                  <a:t>=MIN(A1:A10)</a:t>
                </a:r>
              </a:p>
              <a:p>
                <a:pPr marL="720725"/>
                <a:r>
                  <a:rPr lang="en-GB" b="1" dirty="0" smtClean="0">
                    <a:solidFill>
                      <a:schemeClr val="accent6">
                        <a:lumMod val="50000"/>
                      </a:schemeClr>
                    </a:solidFill>
                  </a:rPr>
                  <a:t>Identifies and returns the lowest numeric value within a specified range.</a:t>
                </a:r>
                <a:endParaRPr lang="en-GB" b="1" dirty="0">
                  <a:solidFill>
                    <a:schemeClr val="accent6">
                      <a:lumMod val="50000"/>
                    </a:schemeClr>
                  </a:solidFill>
                </a:endParaRPr>
              </a:p>
            </p:txBody>
          </p:sp>
        </p:grpSp>
        <p:sp>
          <p:nvSpPr>
            <p:cNvPr id="47" name="Rectangle 46"/>
            <p:cNvSpPr/>
            <p:nvPr/>
          </p:nvSpPr>
          <p:spPr>
            <a:xfrm>
              <a:off x="4229390" y="4308420"/>
              <a:ext cx="684803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3200" dirty="0" smtClean="0">
                  <a:solidFill>
                    <a:schemeClr val="accent6">
                      <a:lumMod val="50000"/>
                    </a:schemeClr>
                  </a:solidFill>
                  <a:sym typeface="Wingdings" panose="05000000000000000000" pitchFamily="2" charset="2"/>
                </a:rPr>
                <a:t></a:t>
              </a:r>
              <a:endParaRPr lang="en-GB" sz="3200" dirty="0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</p:grpSp>
      <p:sp>
        <p:nvSpPr>
          <p:cNvPr id="50" name="Rectangle 49"/>
          <p:cNvSpPr/>
          <p:nvPr/>
        </p:nvSpPr>
        <p:spPr>
          <a:xfrm>
            <a:off x="4113151" y="2701105"/>
            <a:ext cx="68480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3200" dirty="0" smtClean="0">
                <a:solidFill>
                  <a:schemeClr val="accent6">
                    <a:lumMod val="50000"/>
                  </a:schemeClr>
                </a:solidFill>
                <a:sym typeface="Wingdings" panose="05000000000000000000" pitchFamily="2" charset="2"/>
              </a:rPr>
              <a:t></a:t>
            </a:r>
            <a:endParaRPr lang="en-GB" sz="3200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9037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Activity: Part B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7406" y="1856677"/>
            <a:ext cx="7464819" cy="4351338"/>
          </a:xfrm>
        </p:spPr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GB" dirty="0" smtClean="0"/>
              <a:t>A mistake was made! It should have been </a:t>
            </a:r>
            <a:r>
              <a:rPr lang="en-GB" b="1" dirty="0" smtClean="0"/>
              <a:t>–£20.00 </a:t>
            </a:r>
            <a:r>
              <a:rPr lang="en-GB" dirty="0" smtClean="0"/>
              <a:t>in cell B1.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 smtClean="0"/>
              <a:t>I was really bad and it should have been a positive number in cell B3. Fix this also.</a:t>
            </a:r>
          </a:p>
          <a:p>
            <a:pPr marL="0" indent="0">
              <a:buNone/>
            </a:pPr>
            <a:endParaRPr lang="en-GB" dirty="0" smtClean="0"/>
          </a:p>
          <a:p>
            <a:pPr marL="0" indent="0">
              <a:buNone/>
            </a:pPr>
            <a:r>
              <a:rPr lang="en-GB" dirty="0" smtClean="0"/>
              <a:t>When we change this, we shouldn’t have to manually change the background colours – this just adds another possibility of doing something wrong.</a:t>
            </a:r>
          </a:p>
          <a:p>
            <a:pPr marL="0" indent="0">
              <a:buNone/>
            </a:pPr>
            <a:r>
              <a:rPr lang="en-GB" dirty="0" smtClean="0"/>
              <a:t>Instead, we should use </a:t>
            </a:r>
            <a:r>
              <a:rPr lang="en-GB" b="1" dirty="0" smtClean="0"/>
              <a:t>conditional formatting</a:t>
            </a:r>
            <a:endParaRPr lang="en-GB" dirty="0"/>
          </a:p>
          <a:p>
            <a:endParaRPr lang="en-GB" dirty="0" smtClean="0"/>
          </a:p>
          <a:p>
            <a:endParaRPr lang="en-GB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151" y="1856677"/>
            <a:ext cx="4648849" cy="5001323"/>
          </a:xfrm>
          <a:prstGeom prst="rect">
            <a:avLst/>
          </a:prstGeom>
        </p:spPr>
      </p:pic>
      <p:sp>
        <p:nvSpPr>
          <p:cNvPr id="6" name="Content Placeholder 2"/>
          <p:cNvSpPr txBox="1">
            <a:spLocks/>
          </p:cNvSpPr>
          <p:nvPr/>
        </p:nvSpPr>
        <p:spPr>
          <a:xfrm>
            <a:off x="6881361" y="143234"/>
            <a:ext cx="5310639" cy="1547454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5400" u="sng" dirty="0" smtClean="0">
                <a:solidFill>
                  <a:srgbClr val="FF0000"/>
                </a:solidFill>
                <a:sym typeface="Wingdings" panose="05000000000000000000" pitchFamily="2" charset="2"/>
              </a:rPr>
              <a:t> </a:t>
            </a:r>
            <a:r>
              <a:rPr lang="en-GB" sz="5400" u="sng" dirty="0" smtClean="0">
                <a:solidFill>
                  <a:srgbClr val="FF0000"/>
                </a:solidFill>
              </a:rPr>
              <a:t>Conditional Formatting__ </a:t>
            </a:r>
            <a:endParaRPr lang="en-GB" u="sng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GB" sz="3200" dirty="0"/>
              <a:t>Automatically highlights or formats cells if a specified condition is met (e.g. automatically highlighting hours worked &gt; 40 in a different </a:t>
            </a:r>
            <a:r>
              <a:rPr lang="en-GB" sz="3200" dirty="0" smtClean="0"/>
              <a:t>colour</a:t>
            </a:r>
            <a:r>
              <a:rPr lang="en-GB" sz="3200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340773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52724" y="365125"/>
            <a:ext cx="8601075" cy="1325563"/>
          </a:xfrm>
        </p:spPr>
        <p:txBody>
          <a:bodyPr/>
          <a:lstStyle/>
          <a:p>
            <a:r>
              <a:rPr lang="en-GB" dirty="0" smtClean="0">
                <a:latin typeface="LEMON MILK" panose="00000500000000000000" pitchFamily="50" charset="0"/>
              </a:rPr>
              <a:t>Validation</a:t>
            </a:r>
            <a:endParaRPr lang="en-GB" dirty="0">
              <a:latin typeface="LEMON MILK" panose="00000500000000000000" pitchFamily="50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4649" y="2111375"/>
            <a:ext cx="5362575" cy="483235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dirty="0" smtClean="0"/>
              <a:t>We can ensure data being entered is </a:t>
            </a:r>
            <a:r>
              <a:rPr lang="en-GB" b="1" dirty="0" smtClean="0"/>
              <a:t>suitable</a:t>
            </a:r>
          </a:p>
          <a:p>
            <a:pPr marL="0" indent="0">
              <a:buNone/>
            </a:pPr>
            <a:endParaRPr lang="en-GB" dirty="0" smtClean="0"/>
          </a:p>
          <a:p>
            <a:pPr marL="0" indent="0">
              <a:buNone/>
            </a:pPr>
            <a:r>
              <a:rPr lang="en-GB" dirty="0" smtClean="0"/>
              <a:t>We can also ensure a certain </a:t>
            </a:r>
            <a:r>
              <a:rPr lang="en-GB" b="1" dirty="0" smtClean="0"/>
              <a:t>data type </a:t>
            </a:r>
            <a:r>
              <a:rPr lang="en-GB" dirty="0" smtClean="0"/>
              <a:t>is entered</a:t>
            </a:r>
          </a:p>
          <a:p>
            <a:pPr marL="0" indent="0">
              <a:buNone/>
            </a:pPr>
            <a:endParaRPr lang="en-GB" dirty="0" smtClean="0"/>
          </a:p>
          <a:p>
            <a:pPr marL="0" indent="0">
              <a:buNone/>
            </a:pPr>
            <a:r>
              <a:rPr lang="en-GB" dirty="0" smtClean="0"/>
              <a:t>Want to display a message to the user if the data isn’t entered correctly? We can do that using an </a:t>
            </a:r>
            <a:r>
              <a:rPr lang="en-GB" b="1" dirty="0"/>
              <a:t>E</a:t>
            </a:r>
            <a:r>
              <a:rPr lang="en-GB" b="1" dirty="0" smtClean="0"/>
              <a:t>rror Alert.</a:t>
            </a:r>
            <a:r>
              <a:rPr lang="en-GB" dirty="0" smtClean="0"/>
              <a:t> </a:t>
            </a:r>
          </a:p>
          <a:p>
            <a:pPr marL="0" indent="0">
              <a:buNone/>
            </a:pPr>
            <a:endParaRPr lang="en-GB" dirty="0" smtClean="0"/>
          </a:p>
          <a:p>
            <a:pPr marL="0" indent="0">
              <a:buNone/>
            </a:pPr>
            <a:r>
              <a:rPr lang="en-GB" dirty="0" smtClean="0"/>
              <a:t>This can encourage the user to retry entering </a:t>
            </a:r>
            <a:r>
              <a:rPr lang="en-GB" b="1" dirty="0" smtClean="0"/>
              <a:t>valid data</a:t>
            </a:r>
            <a:r>
              <a:rPr lang="en-GB" dirty="0" smtClean="0"/>
              <a:t>.</a:t>
            </a:r>
          </a:p>
          <a:p>
            <a:endParaRPr lang="en-GB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6881361" y="143234"/>
            <a:ext cx="5310639" cy="1547454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5400" u="sng" dirty="0" smtClean="0">
                <a:solidFill>
                  <a:srgbClr val="FF0000"/>
                </a:solidFill>
                <a:sym typeface="Wingdings" panose="05000000000000000000" pitchFamily="2" charset="2"/>
              </a:rPr>
              <a:t> </a:t>
            </a:r>
            <a:r>
              <a:rPr lang="en-GB" sz="5400" u="sng" dirty="0" smtClean="0">
                <a:solidFill>
                  <a:srgbClr val="FF0000"/>
                </a:solidFill>
              </a:rPr>
              <a:t>Data Validation	__ </a:t>
            </a:r>
            <a:endParaRPr lang="en-GB" u="sng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GB" dirty="0" smtClean="0"/>
              <a:t>An automatic computer check that ensures data entered is sensible and reasonable, and within acceptable limits at the input stage. It cannot check the data entered is correct.</a:t>
            </a:r>
            <a:endParaRPr lang="en-GB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5864" y="2524124"/>
            <a:ext cx="4026372" cy="3169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363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Replicating Formula</a:t>
            </a:r>
            <a:endParaRPr lang="en-GB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129093" y="2011930"/>
            <a:ext cx="2567387" cy="3905939"/>
          </a:xfrm>
          <a:prstGeom prst="rect">
            <a:avLst/>
          </a:prstGeom>
        </p:spPr>
      </p:pic>
      <p:sp>
        <p:nvSpPr>
          <p:cNvPr id="4" name="Content Placeholder 2"/>
          <p:cNvSpPr txBox="1">
            <a:spLocks/>
          </p:cNvSpPr>
          <p:nvPr/>
        </p:nvSpPr>
        <p:spPr>
          <a:xfrm>
            <a:off x="6762147" y="440501"/>
            <a:ext cx="5238751" cy="1385124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5400" u="sng" dirty="0" smtClean="0">
                <a:solidFill>
                  <a:schemeClr val="accent6">
                    <a:lumMod val="75000"/>
                  </a:schemeClr>
                </a:solidFill>
                <a:sym typeface="Wingdings" panose="05000000000000000000" pitchFamily="2" charset="2"/>
              </a:rPr>
              <a:t> </a:t>
            </a:r>
            <a:r>
              <a:rPr lang="en-GB" sz="5400" u="sng" dirty="0" smtClean="0">
                <a:solidFill>
                  <a:schemeClr val="accent6">
                    <a:lumMod val="75000"/>
                  </a:schemeClr>
                </a:solidFill>
              </a:rPr>
              <a:t>Replicating Formulae______ </a:t>
            </a:r>
            <a:endParaRPr lang="en-GB" u="sng" dirty="0" smtClean="0">
              <a:solidFill>
                <a:schemeClr val="accent6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GB" dirty="0" smtClean="0"/>
              <a:t>Copying a formula down or across cells (by dragging or pasting), where the spreadsheet automatically changes row numbers to match the row being used (saves time).</a:t>
            </a:r>
            <a:endParaRPr lang="en-GB" dirty="0"/>
          </a:p>
        </p:txBody>
      </p:sp>
      <p:sp>
        <p:nvSpPr>
          <p:cNvPr id="6" name="Rectangle 5"/>
          <p:cNvSpPr/>
          <p:nvPr/>
        </p:nvSpPr>
        <p:spPr>
          <a:xfrm>
            <a:off x="2429501" y="2382780"/>
            <a:ext cx="193559" cy="17353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8" name="Straight Connector 7"/>
          <p:cNvCxnSpPr>
            <a:stCxn id="6" idx="3"/>
          </p:cNvCxnSpPr>
          <p:nvPr/>
        </p:nvCxnSpPr>
        <p:spPr>
          <a:xfrm flipV="1">
            <a:off x="2623060" y="2135825"/>
            <a:ext cx="1575171" cy="33372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251626" y="1684448"/>
            <a:ext cx="319823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This is known as the fill handle.</a:t>
            </a:r>
          </a:p>
          <a:p>
            <a:endParaRPr lang="en-GB" dirty="0"/>
          </a:p>
          <a:p>
            <a:r>
              <a:rPr lang="en-GB" dirty="0" smtClean="0"/>
              <a:t>Click and Drag this down will allow you to replicate the formula for the other calculations.</a:t>
            </a:r>
            <a:endParaRPr lang="en-GB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3283" y="3197062"/>
            <a:ext cx="4350568" cy="35828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10198007" y="3322766"/>
            <a:ext cx="1675844" cy="353523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2" name="Straight Connector 11"/>
          <p:cNvCxnSpPr/>
          <p:nvPr/>
        </p:nvCxnSpPr>
        <p:spPr>
          <a:xfrm flipV="1">
            <a:off x="6714499" y="5593191"/>
            <a:ext cx="3483508" cy="45386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793258" y="4194559"/>
            <a:ext cx="432563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Notice how the cell references also change. Unless absolute cell referencing is used, spreadsheets rely on </a:t>
            </a:r>
            <a:r>
              <a:rPr lang="en-GB" b="1" dirty="0" smtClean="0"/>
              <a:t>relative</a:t>
            </a:r>
            <a:r>
              <a:rPr lang="en-GB" dirty="0" smtClean="0"/>
              <a:t> cell referencing.</a:t>
            </a:r>
          </a:p>
          <a:p>
            <a:endParaRPr lang="en-GB" dirty="0"/>
          </a:p>
          <a:p>
            <a:r>
              <a:rPr lang="en-GB" dirty="0" smtClean="0"/>
              <a:t> When a formula is replicated, the software automatically adjusts the cell references (row numbers or column letters) to match the row or column being used.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12619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 animBg="1"/>
      <p:bldP spid="1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3000" b="-1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81262" y="914400"/>
            <a:ext cx="498581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i="1" dirty="0" smtClean="0">
                <a:solidFill>
                  <a:schemeClr val="bg1"/>
                </a:solidFill>
                <a:latin typeface="LEMON MILK" panose="00000500000000000000" pitchFamily="50" charset="0"/>
              </a:rPr>
              <a:t>Relative Cell Refencing</a:t>
            </a:r>
            <a:endParaRPr lang="en-GB" sz="3200" i="1" dirty="0">
              <a:solidFill>
                <a:schemeClr val="bg1"/>
              </a:solidFill>
              <a:latin typeface="LEMON MILK" panose="00000500000000000000" pitchFamily="50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879081" y="5171588"/>
            <a:ext cx="498581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i="1" dirty="0" smtClean="0">
                <a:solidFill>
                  <a:schemeClr val="bg1"/>
                </a:solidFill>
                <a:latin typeface="LEMON MILK" panose="00000500000000000000" pitchFamily="50" charset="0"/>
              </a:rPr>
              <a:t>Absolute Cell Refencing</a:t>
            </a:r>
            <a:endParaRPr lang="en-GB" sz="3200" i="1" dirty="0">
              <a:solidFill>
                <a:schemeClr val="bg1"/>
              </a:solidFill>
              <a:latin typeface="LEMON MILK" panose="00000500000000000000" pitchFamily="50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522108" y="1742032"/>
            <a:ext cx="345736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>
                <a:solidFill>
                  <a:schemeClr val="bg1"/>
                </a:solidFill>
              </a:rPr>
              <a:t>A cell reference that stays the same / does not change when the formula is copied, replicated, or dragged </a:t>
            </a:r>
            <a:r>
              <a:rPr lang="en-GB" sz="2400" b="1" dirty="0" smtClean="0">
                <a:solidFill>
                  <a:schemeClr val="bg1"/>
                </a:solidFill>
              </a:rPr>
              <a:t>down.</a:t>
            </a:r>
            <a:r>
              <a:rPr lang="en-GB" sz="2400" dirty="0" smtClean="0">
                <a:solidFill>
                  <a:schemeClr val="bg1"/>
                </a:solidFill>
              </a:rPr>
              <a:t> </a:t>
            </a:r>
          </a:p>
          <a:p>
            <a:pPr algn="ctr"/>
            <a:endParaRPr lang="en-GB" sz="2400" dirty="0">
              <a:solidFill>
                <a:schemeClr val="bg1"/>
              </a:solidFill>
            </a:endParaRPr>
          </a:p>
          <a:p>
            <a:pPr algn="ctr"/>
            <a:r>
              <a:rPr lang="en-GB" sz="2400" dirty="0" smtClean="0">
                <a:solidFill>
                  <a:schemeClr val="bg1"/>
                </a:solidFill>
              </a:rPr>
              <a:t>i.e. </a:t>
            </a:r>
            <a:r>
              <a:rPr lang="en-GB" sz="2400" dirty="0">
                <a:solidFill>
                  <a:schemeClr val="bg1"/>
                </a:solidFill>
              </a:rPr>
              <a:t>$</a:t>
            </a:r>
            <a:r>
              <a:rPr lang="en-GB" sz="2400" dirty="0" smtClean="0">
                <a:solidFill>
                  <a:schemeClr val="bg1"/>
                </a:solidFill>
              </a:rPr>
              <a:t>B$9.</a:t>
            </a:r>
            <a:endParaRPr lang="en-GB" sz="2400" i="1" dirty="0">
              <a:solidFill>
                <a:schemeClr val="bg1"/>
              </a:solidFill>
              <a:latin typeface="LEMON MILK" panose="00000500000000000000" pitchFamily="50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700872" y="2242775"/>
            <a:ext cx="345736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>
                <a:solidFill>
                  <a:schemeClr val="bg1"/>
                </a:solidFill>
              </a:rPr>
              <a:t>A cell reference that </a:t>
            </a:r>
            <a:r>
              <a:rPr lang="en-GB" sz="2400" b="1" dirty="0" smtClean="0">
                <a:solidFill>
                  <a:schemeClr val="bg1"/>
                </a:solidFill>
              </a:rPr>
              <a:t>changes </a:t>
            </a:r>
            <a:r>
              <a:rPr lang="en-GB" sz="2400" b="1" dirty="0">
                <a:solidFill>
                  <a:schemeClr val="bg1"/>
                </a:solidFill>
              </a:rPr>
              <a:t>when the formula </a:t>
            </a:r>
            <a:r>
              <a:rPr lang="en-GB" sz="2400" b="1" dirty="0" smtClean="0">
                <a:solidFill>
                  <a:schemeClr val="bg1"/>
                </a:solidFill>
              </a:rPr>
              <a:t>is replicated.</a:t>
            </a:r>
          </a:p>
          <a:p>
            <a:pPr algn="ctr"/>
            <a:endParaRPr lang="en-GB" sz="2400" dirty="0" smtClean="0">
              <a:solidFill>
                <a:schemeClr val="bg1"/>
              </a:solidFill>
            </a:endParaRPr>
          </a:p>
          <a:p>
            <a:pPr algn="ctr"/>
            <a:r>
              <a:rPr lang="en-GB" sz="2400" dirty="0" smtClean="0">
                <a:solidFill>
                  <a:schemeClr val="bg1"/>
                </a:solidFill>
              </a:rPr>
              <a:t>i.e. B9.</a:t>
            </a:r>
            <a:endParaRPr lang="en-GB" sz="2400" i="1" dirty="0">
              <a:solidFill>
                <a:schemeClr val="bg1"/>
              </a:solidFill>
              <a:latin typeface="LEMON MILK" panose="00000500000000000000" pitchFamily="50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248807"/>
            <a:ext cx="12192000" cy="609194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i="1" dirty="0" smtClean="0">
                <a:latin typeface="LEMON MILK" panose="00000500000000000000" pitchFamily="50" charset="0"/>
              </a:rPr>
              <a:t>Pr</a:t>
            </a:r>
            <a:r>
              <a:rPr lang="en-GB" sz="1600" i="1" dirty="0">
                <a:latin typeface="LEMON MILK" panose="00000500000000000000" pitchFamily="50" charset="0"/>
              </a:rPr>
              <a:t>o Tip: Absolute cell Refencing is tested in almost every exam series. Always remember to state that the cell reference does not change when copied or replicated and mention the $ sign </a:t>
            </a:r>
          </a:p>
        </p:txBody>
      </p:sp>
    </p:spTree>
    <p:extLst>
      <p:ext uri="{BB962C8B-B14F-4D97-AF65-F5344CB8AC3E}">
        <p14:creationId xmlns:p14="http://schemas.microsoft.com/office/powerpoint/2010/main" val="2179704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69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90950" y="365125"/>
            <a:ext cx="5019675" cy="1325563"/>
          </a:xfrm>
        </p:spPr>
        <p:txBody>
          <a:bodyPr/>
          <a:lstStyle/>
          <a:p>
            <a:r>
              <a:rPr lang="en-GB" dirty="0" smtClean="0">
                <a:latin typeface="LEMON MILK" panose="00000500000000000000" pitchFamily="50" charset="0"/>
              </a:rPr>
              <a:t>IF Statements</a:t>
            </a:r>
            <a:endParaRPr lang="en-GB" dirty="0">
              <a:latin typeface="LEMON MILK" panose="00000500000000000000" pitchFamily="50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8125" y="1816100"/>
            <a:ext cx="4772025" cy="3051175"/>
          </a:xfrm>
        </p:spPr>
        <p:txBody>
          <a:bodyPr/>
          <a:lstStyle/>
          <a:p>
            <a:pPr marL="0" indent="0" algn="ctr">
              <a:buNone/>
            </a:pPr>
            <a:r>
              <a:rPr lang="en-GB" dirty="0" smtClean="0">
                <a:latin typeface="LEMON MILK" panose="00000500000000000000" pitchFamily="50" charset="0"/>
              </a:rPr>
              <a:t>PSEUDOCODE</a:t>
            </a:r>
          </a:p>
          <a:p>
            <a:pPr marL="0" indent="0">
              <a:buNone/>
            </a:pPr>
            <a:r>
              <a:rPr lang="en-GB" dirty="0" smtClean="0"/>
              <a:t>IF </a:t>
            </a:r>
            <a:r>
              <a:rPr lang="en-GB" dirty="0">
                <a:solidFill>
                  <a:schemeClr val="accent1">
                    <a:lumMod val="75000"/>
                  </a:schemeClr>
                </a:solidFill>
              </a:rPr>
              <a:t>&lt;condition is true&gt; </a:t>
            </a:r>
            <a:r>
              <a:rPr lang="en-GB" dirty="0"/>
              <a:t>THEN </a:t>
            </a:r>
            <a:endParaRPr lang="en-GB" dirty="0" smtClean="0"/>
          </a:p>
          <a:p>
            <a:pPr marL="0" indent="0">
              <a:buNone/>
            </a:pPr>
            <a:r>
              <a:rPr lang="en-GB" dirty="0">
                <a:solidFill>
                  <a:schemeClr val="accent1">
                    <a:lumMod val="75000"/>
                  </a:schemeClr>
                </a:solidFill>
              </a:rPr>
              <a:t>	</a:t>
            </a:r>
            <a:r>
              <a:rPr lang="en-GB" dirty="0" smtClean="0">
                <a:solidFill>
                  <a:schemeClr val="accent1">
                    <a:lumMod val="75000"/>
                  </a:schemeClr>
                </a:solidFill>
              </a:rPr>
              <a:t>&lt;</a:t>
            </a:r>
            <a:r>
              <a:rPr lang="en-GB" dirty="0">
                <a:solidFill>
                  <a:schemeClr val="accent1">
                    <a:lumMod val="75000"/>
                  </a:schemeClr>
                </a:solidFill>
              </a:rPr>
              <a:t>action 1&gt; </a:t>
            </a:r>
            <a:endParaRPr lang="en-GB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GB" dirty="0" smtClean="0"/>
              <a:t>ELSE </a:t>
            </a:r>
          </a:p>
          <a:p>
            <a:pPr marL="0" indent="0">
              <a:buNone/>
            </a:pPr>
            <a:r>
              <a:rPr lang="en-GB" dirty="0">
                <a:solidFill>
                  <a:schemeClr val="accent1">
                    <a:lumMod val="75000"/>
                  </a:schemeClr>
                </a:solidFill>
              </a:rPr>
              <a:t>	</a:t>
            </a:r>
            <a:r>
              <a:rPr lang="en-GB" dirty="0" smtClean="0">
                <a:solidFill>
                  <a:schemeClr val="accent1">
                    <a:lumMod val="75000"/>
                  </a:schemeClr>
                </a:solidFill>
              </a:rPr>
              <a:t>&lt;</a:t>
            </a:r>
            <a:r>
              <a:rPr lang="en-GB" dirty="0">
                <a:solidFill>
                  <a:schemeClr val="accent1">
                    <a:lumMod val="75000"/>
                  </a:schemeClr>
                </a:solidFill>
              </a:rPr>
              <a:t>action 2&gt; </a:t>
            </a:r>
            <a:endParaRPr lang="en-GB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GB" dirty="0" smtClean="0"/>
              <a:t>ENDIF</a:t>
            </a:r>
            <a:endParaRPr lang="en-GB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6324600" y="1692275"/>
            <a:ext cx="4772025" cy="30511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GB" dirty="0" smtClean="0">
                <a:latin typeface="LEMON MILK" panose="00000500000000000000" pitchFamily="50" charset="0"/>
              </a:rPr>
              <a:t>EXCEL IF STATEMENT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dirty="0" smtClean="0"/>
              <a:t>IF( </a:t>
            </a:r>
            <a:r>
              <a:rPr lang="en-GB" dirty="0" smtClean="0">
                <a:solidFill>
                  <a:schemeClr val="accent1">
                    <a:lumMod val="75000"/>
                  </a:schemeClr>
                </a:solidFill>
              </a:rPr>
              <a:t>&lt;condition is true&gt; </a:t>
            </a:r>
            <a:r>
              <a:rPr lang="en-GB" dirty="0" smtClean="0"/>
              <a:t>,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dirty="0" smtClean="0">
                <a:solidFill>
                  <a:schemeClr val="accent1">
                    <a:lumMod val="75000"/>
                  </a:schemeClr>
                </a:solidFill>
              </a:rPr>
              <a:t>	&lt;action 1&gt;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dirty="0" smtClean="0"/>
              <a:t>,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dirty="0" smtClean="0">
                <a:solidFill>
                  <a:schemeClr val="accent1">
                    <a:lumMod val="75000"/>
                  </a:schemeClr>
                </a:solidFill>
              </a:rPr>
              <a:t>	&lt;action 2&gt;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dirty="0" smtClean="0"/>
              <a:t>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17740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69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>
          <a:xfrm>
            <a:off x="6324600" y="1692275"/>
            <a:ext cx="4772025" cy="30511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GB" dirty="0" smtClean="0">
                <a:latin typeface="LEMON MILK" panose="00000500000000000000" pitchFamily="50" charset="0"/>
              </a:rPr>
              <a:t>EXCEL IF STATEMENT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dirty="0" smtClean="0"/>
              <a:t>IF( </a:t>
            </a:r>
            <a:r>
              <a:rPr lang="en-GB" dirty="0" smtClean="0">
                <a:solidFill>
                  <a:schemeClr val="accent1">
                    <a:lumMod val="75000"/>
                  </a:schemeClr>
                </a:solidFill>
              </a:rPr>
              <a:t>&lt;condition is true&gt; </a:t>
            </a:r>
            <a:r>
              <a:rPr lang="en-GB" dirty="0" smtClean="0"/>
              <a:t>,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dirty="0" smtClean="0">
                <a:solidFill>
                  <a:schemeClr val="accent1">
                    <a:lumMod val="75000"/>
                  </a:schemeClr>
                </a:solidFill>
              </a:rPr>
              <a:t>	&lt;action 1&gt;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dirty="0" smtClean="0"/>
              <a:t>,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dirty="0" smtClean="0">
                <a:solidFill>
                  <a:schemeClr val="accent1">
                    <a:lumMod val="75000"/>
                  </a:schemeClr>
                </a:solidFill>
              </a:rPr>
              <a:t>	&lt;action 2&gt;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dirty="0" smtClean="0"/>
              <a:t>)</a:t>
            </a:r>
            <a:endParaRPr lang="en-GB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448" y="2027142"/>
            <a:ext cx="5374274" cy="2125758"/>
          </a:xfrm>
          <a:prstGeom prst="rect">
            <a:avLst/>
          </a:prstGeom>
        </p:spPr>
      </p:pic>
      <p:sp>
        <p:nvSpPr>
          <p:cNvPr id="7" name="Content Placeholder 2"/>
          <p:cNvSpPr txBox="1">
            <a:spLocks/>
          </p:cNvSpPr>
          <p:nvPr/>
        </p:nvSpPr>
        <p:spPr>
          <a:xfrm>
            <a:off x="6830035" y="2230342"/>
            <a:ext cx="2723540" cy="360458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GB" dirty="0" smtClean="0"/>
              <a:t>B2 &gt;= 60</a:t>
            </a:r>
            <a:endParaRPr lang="en-GB" dirty="0"/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6963385" y="2768409"/>
            <a:ext cx="2723540" cy="360458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GB" dirty="0" smtClean="0"/>
              <a:t>“Pass”</a:t>
            </a:r>
            <a:endParaRPr lang="en-GB" dirty="0"/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6963385" y="3792442"/>
            <a:ext cx="2723540" cy="360458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GB" dirty="0" smtClean="0"/>
              <a:t>“Fail”</a:t>
            </a:r>
            <a:endParaRPr lang="en-GB" dirty="0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161449" y="5407025"/>
            <a:ext cx="6334602" cy="109874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GB" dirty="0" smtClean="0"/>
              <a:t>This can also be written in one line,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GB" dirty="0" smtClean="0"/>
              <a:t>IF(B2&gt;=60, “Pass”, “Fail”)</a:t>
            </a:r>
            <a:endParaRPr lang="en-GB" dirty="0"/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3790950" y="365125"/>
            <a:ext cx="5019675" cy="1325563"/>
          </a:xfrm>
        </p:spPr>
        <p:txBody>
          <a:bodyPr/>
          <a:lstStyle/>
          <a:p>
            <a:r>
              <a:rPr lang="en-GB" dirty="0" smtClean="0">
                <a:latin typeface="LEMON MILK" panose="00000500000000000000" pitchFamily="50" charset="0"/>
              </a:rPr>
              <a:t>IF Statements</a:t>
            </a:r>
            <a:endParaRPr lang="en-GB" dirty="0">
              <a:latin typeface="LEMON MILK" panose="000005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7795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69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>
                <a:latin typeface="LEMON MILK" panose="00000500000000000000" pitchFamily="50" charset="0"/>
              </a:rPr>
              <a:t>IF Statements</a:t>
            </a:r>
            <a:endParaRPr lang="en-GB" dirty="0">
              <a:latin typeface="LEMON MILK" panose="00000500000000000000" pitchFamily="50" charset="0"/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6843713" y="444500"/>
            <a:ext cx="4772025" cy="5080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GB" dirty="0" smtClean="0">
                <a:latin typeface="LEMON MILK" panose="00000500000000000000" pitchFamily="50" charset="0"/>
              </a:rPr>
              <a:t>EXCEL IF STATEMENT</a:t>
            </a:r>
          </a:p>
          <a:p>
            <a:pPr marL="0" indent="0">
              <a:buNone/>
            </a:pPr>
            <a:r>
              <a:rPr lang="en-GB" dirty="0" smtClean="0"/>
              <a:t>IF( B2&gt;=80,</a:t>
            </a:r>
          </a:p>
          <a:p>
            <a:pPr marL="0" indent="0">
              <a:buNone/>
            </a:pPr>
            <a:r>
              <a:rPr lang="en-GB" dirty="0"/>
              <a:t>	</a:t>
            </a:r>
            <a:r>
              <a:rPr lang="en-GB" dirty="0" smtClean="0"/>
              <a:t>“</a:t>
            </a:r>
            <a:r>
              <a:rPr lang="en-GB" dirty="0"/>
              <a:t>Distinction”</a:t>
            </a:r>
          </a:p>
          <a:p>
            <a:pPr marL="0" indent="0">
              <a:buNone/>
            </a:pPr>
            <a:r>
              <a:rPr lang="en-GB" dirty="0"/>
              <a:t>,</a:t>
            </a:r>
          </a:p>
          <a:p>
            <a:pPr marL="0" indent="0">
              <a:buNone/>
            </a:pPr>
            <a:r>
              <a:rPr lang="en-GB" dirty="0"/>
              <a:t>	</a:t>
            </a:r>
            <a:r>
              <a:rPr lang="en-GB" dirty="0">
                <a:solidFill>
                  <a:schemeClr val="accent1">
                    <a:lumMod val="75000"/>
                  </a:schemeClr>
                </a:solidFill>
              </a:rPr>
              <a:t>IF( B2 &gt;=65,</a:t>
            </a:r>
          </a:p>
          <a:p>
            <a:pPr marL="0" indent="0">
              <a:buNone/>
            </a:pPr>
            <a:r>
              <a:rPr lang="en-GB" dirty="0">
                <a:solidFill>
                  <a:schemeClr val="accent1">
                    <a:lumMod val="75000"/>
                  </a:schemeClr>
                </a:solidFill>
              </a:rPr>
              <a:t>		“Merit</a:t>
            </a:r>
            <a:r>
              <a:rPr lang="en-GB" dirty="0" smtClean="0">
                <a:solidFill>
                  <a:schemeClr val="accent1">
                    <a:lumMod val="75000"/>
                  </a:schemeClr>
                </a:solidFill>
              </a:rPr>
              <a:t>”</a:t>
            </a:r>
            <a:endParaRPr lang="en-GB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GB" dirty="0">
                <a:solidFill>
                  <a:schemeClr val="accent1">
                    <a:lumMod val="75000"/>
                  </a:schemeClr>
                </a:solidFill>
              </a:rPr>
              <a:t>	,</a:t>
            </a:r>
          </a:p>
          <a:p>
            <a:pPr marL="0" indent="0">
              <a:buNone/>
            </a:pPr>
            <a:r>
              <a:rPr lang="en-GB" dirty="0">
                <a:solidFill>
                  <a:schemeClr val="accent1">
                    <a:lumMod val="75000"/>
                  </a:schemeClr>
                </a:solidFill>
              </a:rPr>
              <a:t>		“Fail”</a:t>
            </a:r>
          </a:p>
          <a:p>
            <a:pPr marL="0" indent="0">
              <a:buNone/>
            </a:pPr>
            <a:r>
              <a:rPr lang="en-GB" dirty="0">
                <a:solidFill>
                  <a:schemeClr val="accent1">
                    <a:lumMod val="75000"/>
                  </a:schemeClr>
                </a:solidFill>
              </a:rPr>
              <a:t>	)</a:t>
            </a:r>
          </a:p>
          <a:p>
            <a:pPr marL="0" indent="0">
              <a:buNone/>
            </a:pPr>
            <a:r>
              <a:rPr lang="en-GB" dirty="0"/>
              <a:t>)</a:t>
            </a:r>
          </a:p>
          <a:p>
            <a:pPr marL="0" indent="0">
              <a:buNone/>
            </a:pPr>
            <a:endParaRPr lang="en-GB" dirty="0" smtClean="0">
              <a:latin typeface="LEMON MILK" panose="00000500000000000000" pitchFamily="50" charset="0"/>
            </a:endParaRP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0" y="5759354"/>
            <a:ext cx="12192000" cy="109874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GB" dirty="0" smtClean="0"/>
              <a:t>This can also be written in one line,</a:t>
            </a:r>
          </a:p>
          <a:p>
            <a:pPr marL="0" indent="0">
              <a:buNone/>
            </a:pPr>
            <a:r>
              <a:rPr lang="en-GB" dirty="0" smtClean="0"/>
              <a:t>IF( B2&gt;=80, “Distinction”,	</a:t>
            </a:r>
            <a:r>
              <a:rPr lang="en-GB" dirty="0" smtClean="0">
                <a:solidFill>
                  <a:schemeClr val="accent1">
                    <a:lumMod val="75000"/>
                  </a:schemeClr>
                </a:solidFill>
              </a:rPr>
              <a:t>IF( B2 &gt;=65, “Merit”, “Fail”)</a:t>
            </a:r>
            <a:r>
              <a:rPr lang="en-GB" dirty="0" smtClean="0"/>
              <a:t>)</a:t>
            </a:r>
            <a:endParaRPr lang="en-GB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399" y="1925542"/>
            <a:ext cx="5851588" cy="2305171"/>
          </a:xfrm>
          <a:prstGeom prst="rect">
            <a:avLst/>
          </a:prstGeom>
        </p:spPr>
      </p:pic>
      <p:sp>
        <p:nvSpPr>
          <p:cNvPr id="11" name="Content Placeholder 2"/>
          <p:cNvSpPr txBox="1">
            <a:spLocks/>
          </p:cNvSpPr>
          <p:nvPr/>
        </p:nvSpPr>
        <p:spPr>
          <a:xfrm>
            <a:off x="84248" y="4349750"/>
            <a:ext cx="5909739" cy="13081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GB" dirty="0" smtClean="0"/>
              <a:t>We can also add an IF statement into another IF statement. The inner IF statement can be said to be </a:t>
            </a:r>
            <a:r>
              <a:rPr lang="en-GB" b="1" dirty="0" smtClean="0"/>
              <a:t>nested</a:t>
            </a:r>
            <a:r>
              <a:rPr lang="en-GB" dirty="0" smtClean="0"/>
              <a:t>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87196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595957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-47625" y="270329"/>
            <a:ext cx="10515600" cy="1325563"/>
          </a:xfrm>
        </p:spPr>
        <p:txBody>
          <a:bodyPr/>
          <a:lstStyle/>
          <a:p>
            <a:r>
              <a:rPr lang="en-GB" dirty="0" smtClean="0">
                <a:latin typeface="LEMON MILK" panose="00000500000000000000" pitchFamily="50" charset="0"/>
              </a:rPr>
              <a:t>VLookup</a:t>
            </a:r>
            <a:endParaRPr lang="en-GB" dirty="0">
              <a:latin typeface="LEMON MILK" panose="00000500000000000000" pitchFamily="50" charset="0"/>
            </a:endParaRP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304800" y="2425700"/>
            <a:ext cx="6629400" cy="4351338"/>
          </a:xfrm>
        </p:spPr>
        <p:txBody>
          <a:bodyPr/>
          <a:lstStyle/>
          <a:p>
            <a:pPr marL="0" indent="0">
              <a:buNone/>
            </a:pPr>
            <a:r>
              <a:rPr lang="en-GB" dirty="0" smtClean="0"/>
              <a:t>Termed ‘Vertical Lookup’</a:t>
            </a:r>
          </a:p>
          <a:p>
            <a:pPr marL="0" indent="0">
              <a:buNone/>
            </a:pPr>
            <a:r>
              <a:rPr lang="en-GB" dirty="0" smtClean="0"/>
              <a:t>Looks at a value in a table and returns a specific value from a specified column in the same row.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 smtClean="0"/>
              <a:t>So, we can find the activity ‘Rock Climbing’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 smtClean="0"/>
              <a:t>…but return the price instead!</a:t>
            </a:r>
            <a:endParaRPr lang="en-GB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329605"/>
              </p:ext>
            </p:extLst>
          </p:nvPr>
        </p:nvGraphicFramePr>
        <p:xfrm>
          <a:off x="7609668" y="3358470"/>
          <a:ext cx="3744132" cy="29534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2066">
                  <a:extLst>
                    <a:ext uri="{9D8B030D-6E8A-4147-A177-3AD203B41FA5}">
                      <a16:colId xmlns="" xmlns:a16="http://schemas.microsoft.com/office/drawing/2014/main" val="291853449"/>
                    </a:ext>
                  </a:extLst>
                </a:gridCol>
                <a:gridCol w="1872066">
                  <a:extLst>
                    <a:ext uri="{9D8B030D-6E8A-4147-A177-3AD203B41FA5}">
                      <a16:colId xmlns="" xmlns:a16="http://schemas.microsoft.com/office/drawing/2014/main" val="1709929867"/>
                    </a:ext>
                  </a:extLst>
                </a:gridCol>
              </a:tblGrid>
              <a:tr h="590686">
                <a:tc>
                  <a:txBody>
                    <a:bodyPr/>
                    <a:lstStyle/>
                    <a:p>
                      <a:r>
                        <a:rPr lang="en-GB" dirty="0" smtClean="0"/>
                        <a:t>Activity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Cost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069236794"/>
                  </a:ext>
                </a:extLst>
              </a:tr>
              <a:tr h="590686">
                <a:tc>
                  <a:txBody>
                    <a:bodyPr/>
                    <a:lstStyle/>
                    <a:p>
                      <a:r>
                        <a:rPr lang="en-GB" dirty="0" smtClean="0"/>
                        <a:t>Safari</a:t>
                      </a:r>
                      <a:r>
                        <a:rPr lang="en-GB" baseline="0" dirty="0" smtClean="0"/>
                        <a:t> Walk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£5.00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517624645"/>
                  </a:ext>
                </a:extLst>
              </a:tr>
              <a:tr h="590686">
                <a:tc>
                  <a:txBody>
                    <a:bodyPr/>
                    <a:lstStyle/>
                    <a:p>
                      <a:r>
                        <a:rPr lang="en-GB" dirty="0" smtClean="0"/>
                        <a:t>Swimming Lesson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£15.00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247651182"/>
                  </a:ext>
                </a:extLst>
              </a:tr>
              <a:tr h="590686">
                <a:tc>
                  <a:txBody>
                    <a:bodyPr/>
                    <a:lstStyle/>
                    <a:p>
                      <a:r>
                        <a:rPr lang="en-GB" dirty="0" smtClean="0"/>
                        <a:t>Rock Climbing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£10.00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183165000"/>
                  </a:ext>
                </a:extLst>
              </a:tr>
              <a:tr h="590686">
                <a:tc>
                  <a:txBody>
                    <a:bodyPr/>
                    <a:lstStyle/>
                    <a:p>
                      <a:r>
                        <a:rPr lang="en-GB" dirty="0" smtClean="0"/>
                        <a:t>Archery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£12.50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79644123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609668" y="5124450"/>
            <a:ext cx="1896282" cy="62865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267200" y="86667"/>
            <a:ext cx="7924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i="1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=VLOOKUP(“Rock Climbing”, A1:B5, 2, FALSE)</a:t>
            </a:r>
            <a:endParaRPr lang="en-GB" sz="2400" i="1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8494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42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82 -0.26806 L -2.5E-6 3.33333E-6 " pathEditMode="relative" rAng="0" ptsTypes="AA">
                                      <p:cBhvr>
                                        <p:cTn id="3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8" y="1333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91667E-6 4.44444E-6 L 0.15599 -0.00139 " pathEditMode="relative" rAng="0" ptsTypes="AA">
                                      <p:cBhvr>
                                        <p:cTn id="44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799" y="-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build="p"/>
      <p:bldP spid="7" grpId="0" animBg="1"/>
      <p:bldP spid="7" grpId="1" animBg="1"/>
      <p:bldP spid="7" grpId="2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What is Data Modelling?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 smtClean="0"/>
              <a:t>A model is created to replicate a real-life situation. In a spreadsheet application, a model can be created using different functions and formula to see what impact a change in the data entered by the user may have on other data held in the spreadsheet. This can then be used to help users make important decisions. </a:t>
            </a:r>
          </a:p>
          <a:p>
            <a:endParaRPr lang="en-GB" dirty="0"/>
          </a:p>
          <a:p>
            <a:r>
              <a:rPr lang="en-GB" dirty="0" smtClean="0"/>
              <a:t>For example, business users could assess the impact a change in unit price may have on their overall profit (what-if), or teachers could use a spreadsheet model to work out how many marks a student needs to achieve a particular grade, based on what they have achieved so far. Spreadsheets can also be used to forecast. For example, if sales of a product continue to g</a:t>
            </a:r>
            <a:endParaRPr lang="en-GB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6881361" y="143234"/>
            <a:ext cx="5310639" cy="1547454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5400" u="sng" dirty="0" smtClean="0">
                <a:solidFill>
                  <a:srgbClr val="FF0000"/>
                </a:solidFill>
                <a:sym typeface="Wingdings" panose="05000000000000000000" pitchFamily="2" charset="2"/>
              </a:rPr>
              <a:t> </a:t>
            </a:r>
            <a:r>
              <a:rPr lang="en-GB" sz="5400" u="sng" dirty="0" smtClean="0">
                <a:solidFill>
                  <a:srgbClr val="FF0000"/>
                </a:solidFill>
              </a:rPr>
              <a:t>Data Modelling		__ </a:t>
            </a:r>
            <a:endParaRPr lang="en-GB" u="sng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GB" sz="3200" dirty="0" smtClean="0"/>
              <a:t>Changing input values in a spreadsheet model to predict outcomes and analyse the impact of changes (e.g. changing tax rates or unit prices to evaluate total cost).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9992095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Data Modelling: Charts and Graphs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675" y="2353239"/>
            <a:ext cx="6048375" cy="4351338"/>
          </a:xfrm>
        </p:spPr>
        <p:txBody>
          <a:bodyPr>
            <a:normAutofit fontScale="92500"/>
          </a:bodyPr>
          <a:lstStyle/>
          <a:p>
            <a:r>
              <a:rPr lang="en-GB" dirty="0"/>
              <a:t>Tools used to </a:t>
            </a:r>
            <a:r>
              <a:rPr lang="en-GB" b="1" dirty="0"/>
              <a:t>visually represent data</a:t>
            </a:r>
            <a:r>
              <a:rPr lang="en-GB" dirty="0"/>
              <a:t> (e.g. </a:t>
            </a:r>
            <a:r>
              <a:rPr lang="en-GB" b="1" dirty="0"/>
              <a:t>Bar/Column chart</a:t>
            </a:r>
            <a:r>
              <a:rPr lang="en-GB" dirty="0"/>
              <a:t>, </a:t>
            </a:r>
            <a:r>
              <a:rPr lang="en-GB" b="1" dirty="0"/>
              <a:t>Pie chart</a:t>
            </a:r>
            <a:r>
              <a:rPr lang="en-GB" dirty="0"/>
              <a:t>) to compare values or show percentages of a total</a:t>
            </a:r>
            <a:r>
              <a:rPr lang="en-GB" dirty="0" smtClean="0"/>
              <a:t>.</a:t>
            </a:r>
          </a:p>
          <a:p>
            <a:r>
              <a:rPr lang="en-GB" dirty="0" smtClean="0"/>
              <a:t>Lots of different chart types are available. The most common are:</a:t>
            </a:r>
          </a:p>
          <a:p>
            <a:pPr lvl="1"/>
            <a:r>
              <a:rPr lang="en-GB" dirty="0" smtClean="0"/>
              <a:t>Bar Charts</a:t>
            </a:r>
          </a:p>
          <a:p>
            <a:pPr lvl="1"/>
            <a:r>
              <a:rPr lang="en-GB" dirty="0" smtClean="0"/>
              <a:t>Pie Charts</a:t>
            </a:r>
          </a:p>
          <a:p>
            <a:pPr lvl="1"/>
            <a:r>
              <a:rPr lang="en-GB" dirty="0" smtClean="0"/>
              <a:t>Scatter Charts</a:t>
            </a:r>
          </a:p>
          <a:p>
            <a:r>
              <a:rPr lang="en-GB" dirty="0" smtClean="0"/>
              <a:t>Charts and graphs can be copied into other software applications such as word processing or presentation software.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5147" y="2353239"/>
            <a:ext cx="5772956" cy="3296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4191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Macros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7650" y="2244725"/>
            <a:ext cx="10515600" cy="4351338"/>
          </a:xfrm>
        </p:spPr>
        <p:txBody>
          <a:bodyPr/>
          <a:lstStyle/>
          <a:p>
            <a:r>
              <a:rPr lang="en-GB" dirty="0" smtClean="0"/>
              <a:t>A macro is a small program created to perform a repetitive task. It allows the user to perform a task by using the macro rather than having to enter the individual instructions. </a:t>
            </a:r>
          </a:p>
          <a:p>
            <a:r>
              <a:rPr lang="en-GB" dirty="0" smtClean="0"/>
              <a:t>If the task is likely to be used many times it is much easier and more user friendly to use a macro. </a:t>
            </a:r>
          </a:p>
          <a:p>
            <a:r>
              <a:rPr lang="en-GB" dirty="0" smtClean="0"/>
              <a:t>It is a set of commands/instructions recorded together that can be activated by a mouse click or pressing a key. </a:t>
            </a:r>
          </a:p>
          <a:p>
            <a:r>
              <a:rPr lang="en-GB" dirty="0" smtClean="0"/>
              <a:t>In simple terms it is a short cut to a task. A macro is created by recording the tasks to be carried out. It can then be named and saved. You can also write a macro using a script editor.</a:t>
            </a:r>
            <a:endParaRPr lang="en-GB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6881361" y="143234"/>
            <a:ext cx="5310639" cy="1547454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5400" u="sng" dirty="0" smtClean="0">
                <a:solidFill>
                  <a:srgbClr val="FF0000"/>
                </a:solidFill>
                <a:sym typeface="Wingdings" panose="05000000000000000000" pitchFamily="2" charset="2"/>
              </a:rPr>
              <a:t> </a:t>
            </a:r>
            <a:r>
              <a:rPr lang="en-GB" sz="5400" u="sng" dirty="0" smtClean="0">
                <a:solidFill>
                  <a:srgbClr val="FF0000"/>
                </a:solidFill>
              </a:rPr>
              <a:t>Macro			__</a:t>
            </a:r>
            <a:endParaRPr lang="en-GB" u="sng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GB" sz="3200" dirty="0" smtClean="0"/>
              <a:t>A small program or set of instructions used to perform a repetitive task, usually initiated through a click of a button.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3388429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653</TotalTime>
  <Words>1825</Words>
  <Application>Microsoft Office PowerPoint</Application>
  <PresentationFormat>Widescreen</PresentationFormat>
  <Paragraphs>262</Paragraphs>
  <Slides>20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Arial</vt:lpstr>
      <vt:lpstr>Arial Black</vt:lpstr>
      <vt:lpstr>Calibri</vt:lpstr>
      <vt:lpstr>Calibri Light</vt:lpstr>
      <vt:lpstr>Impact</vt:lpstr>
      <vt:lpstr>Ink Free</vt:lpstr>
      <vt:lpstr>LEMON MILK</vt:lpstr>
      <vt:lpstr>Wingdings</vt:lpstr>
      <vt:lpstr>Office Theme</vt:lpstr>
      <vt:lpstr>Spreadsheet Applications</vt:lpstr>
      <vt:lpstr>Specification Breakdown</vt:lpstr>
      <vt:lpstr>What actually is a spreadsheet?</vt:lpstr>
      <vt:lpstr>Cell Range of Cells Column Row Formula Bar Name Box </vt:lpstr>
      <vt:lpstr>Features of a spreadsheet</vt:lpstr>
      <vt:lpstr>PowerPoint Presentation</vt:lpstr>
      <vt:lpstr>Making a Spreadsheet look good</vt:lpstr>
      <vt:lpstr>Simple Formulas</vt:lpstr>
      <vt:lpstr>Simple Functions</vt:lpstr>
      <vt:lpstr>Activity: Part B</vt:lpstr>
      <vt:lpstr>Validation</vt:lpstr>
      <vt:lpstr>Replicating Formula</vt:lpstr>
      <vt:lpstr>PowerPoint Presentation</vt:lpstr>
      <vt:lpstr>IF Statements</vt:lpstr>
      <vt:lpstr>IF Statements</vt:lpstr>
      <vt:lpstr>IF Statements</vt:lpstr>
      <vt:lpstr>VLookup</vt:lpstr>
      <vt:lpstr>What is Data Modelling?</vt:lpstr>
      <vt:lpstr>Data Modelling: Charts and Graphs</vt:lpstr>
      <vt:lpstr>Macros</vt:lpstr>
    </vt:vector>
  </TitlesOfParts>
  <Company>Microsoft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Spreadsheet Applications</dc:title>
  <dc:creator>Microsoft account</dc:creator>
  <cp:lastModifiedBy>Microsoft account</cp:lastModifiedBy>
  <cp:revision>31</cp:revision>
  <dcterms:created xsi:type="dcterms:W3CDTF">2026-10-11T09:12:52Z</dcterms:created>
  <dcterms:modified xsi:type="dcterms:W3CDTF">2026-10-30T10:40:46Z</dcterms:modified>
</cp:coreProperties>
</file>