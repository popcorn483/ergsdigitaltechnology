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65.xml" ContentType="application/vnd.openxmlformats-officedocument.presentationml.slide+xml"/>
  <Override PartName="/ppt/slides/slide166.xml" ContentType="application/vnd.openxmlformats-officedocument.presentationml.slide+xml"/>
  <Override PartName="/ppt/slides/slide167.xml" ContentType="application/vnd.openxmlformats-officedocument.presentationml.slide+xml"/>
  <Override PartName="/ppt/slides/slide168.xml" ContentType="application/vnd.openxmlformats-officedocument.presentationml.slide+xml"/>
  <Override PartName="/ppt/slides/slide169.xml" ContentType="application/vnd.openxmlformats-officedocument.presentationml.slide+xml"/>
  <Override PartName="/ppt/slides/slide170.xml" ContentType="application/vnd.openxmlformats-officedocument.presentationml.slide+xml"/>
  <Override PartName="/ppt/slides/slide171.xml" ContentType="application/vnd.openxmlformats-officedocument.presentationml.slide+xml"/>
  <Override PartName="/ppt/slides/slide17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  <p:sldMasterId id="2147483672" r:id="rId3"/>
  </p:sldMasterIdLst>
  <p:notesMasterIdLst>
    <p:notesMasterId r:id="rId176"/>
  </p:notesMasterIdLst>
  <p:sldIdLst>
    <p:sldId id="478" r:id="rId168"/>
    <p:sldId id="479" r:id="rId169"/>
    <p:sldId id="480" r:id="rId170"/>
    <p:sldId id="481" r:id="rId171"/>
    <p:sldId id="482" r:id="rId172"/>
    <p:sldId id="489" r:id="rId173"/>
    <p:sldId id="490" r:id="rId174"/>
    <p:sldId id="491" r:id="rId17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EDEDE"/>
    <a:srgbClr val="003140"/>
    <a:srgbClr val="FFFFFF"/>
    <a:srgbClr val="DE6BF9"/>
    <a:srgbClr val="EDB0FC"/>
    <a:srgbClr val="1C74A6"/>
    <a:srgbClr val="00B050"/>
    <a:srgbClr val="E0E0E0"/>
    <a:srgbClr val="00B653"/>
    <a:srgbClr val="07E07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347" autoAdjust="0"/>
    <p:restoredTop sz="94660"/>
  </p:normalViewPr>
  <p:slideViewPr>
    <p:cSldViewPr snapToGrid="0">
      <p:cViewPr varScale="1">
        <p:scale>
          <a:sx n="151" d="100"/>
          <a:sy n="151" d="100"/>
        </p:scale>
        <p:origin x="594" y="15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slideMaster" Target="slideMasters/slideMaster3.xml"/><Relationship Id="rId168" Type="http://schemas.openxmlformats.org/officeDocument/2006/relationships/slide" Target="slides/slide165.xml"/><Relationship Id="rId169" Type="http://schemas.openxmlformats.org/officeDocument/2006/relationships/slide" Target="slides/slide166.xml"/><Relationship Id="rId170" Type="http://schemas.openxmlformats.org/officeDocument/2006/relationships/slide" Target="slides/slide167.xml"/><Relationship Id="rId171" Type="http://schemas.openxmlformats.org/officeDocument/2006/relationships/slide" Target="slides/slide168.xml"/><Relationship Id="rId172" Type="http://schemas.openxmlformats.org/officeDocument/2006/relationships/slide" Target="slides/slide169.xml"/><Relationship Id="rId173" Type="http://schemas.openxmlformats.org/officeDocument/2006/relationships/slide" Target="slides/slide170.xml"/><Relationship Id="rId174" Type="http://schemas.openxmlformats.org/officeDocument/2006/relationships/slide" Target="slides/slide171.xml"/><Relationship Id="rId175" Type="http://schemas.openxmlformats.org/officeDocument/2006/relationships/slide" Target="slides/slide172.xml"/><Relationship Id="rId176" Type="http://schemas.openxmlformats.org/officeDocument/2006/relationships/notesMaster" Target="notesMasters/notesMaster1.xml"/><Relationship Id="rId177" Type="http://schemas.openxmlformats.org/officeDocument/2006/relationships/presProps" Target="presProps.xml"/><Relationship Id="rId178" Type="http://schemas.openxmlformats.org/officeDocument/2006/relationships/viewProps" Target="viewProps.xml"/><Relationship Id="rId179" Type="http://schemas.openxmlformats.org/officeDocument/2006/relationships/theme" Target="theme/theme1.xml"/><Relationship Id="rId180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3B09DC5-68F2-4230-868B-6FA81117FBD2}" type="datetimeFigureOut">
              <a:rPr lang="en-GB" smtClean="0"/>
              <a:t>31/10/2026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2A05367-3E37-47F2-9543-A194C2AE934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669938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1.xml"/></Relationship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1F0D959-6624-44F0-97C0-C2AD085E9C73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171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55839197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9863C437-BADB-26F1-1744-B58FF528749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xmlns="" id="{4CBFB801-A7E3-D5F2-41AF-20AE09E78C3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22AA20C0-F91E-718E-0FAA-2C1C860446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CA588B-1EB2-4626-8DAE-58E29C46CB1E}" type="datetimeFigureOut">
              <a:rPr lang="en-GB" smtClean="0"/>
              <a:t>31/10/2026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35EF3A6F-1787-E73E-F0CA-8B77F6566E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0D4A7528-8DB0-F884-7366-D4348D2CC2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311636-159F-4811-B362-FA6899840FE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91296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solidFill>
          <a:srgbClr val="191B5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1D630BFD-41C9-4443-37A0-7DA0E7E8E2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latin typeface="LEMON MILK" panose="00000500000000000000" pitchFamily="50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6808EC02-734E-FDAE-7DF3-8DB3C6AA7C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EC58D06E-8825-23B1-C07E-FF963A9AC4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CA588B-1EB2-4626-8DAE-58E29C46CB1E}" type="datetimeFigureOut">
              <a:rPr lang="en-GB" smtClean="0"/>
              <a:t>31/10/2026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191823C9-1047-477F-F79E-CBC28BFEDD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DB9EB253-8011-048D-8449-60840055D3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311636-159F-4811-B362-FA6899840FE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561734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57529FD9-52B6-B3F1-3ACC-92EB9B7544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E9D83799-5349-F038-E14F-DB614AE9FBB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B12A1649-151D-93EA-631F-B609963630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CA588B-1EB2-4626-8DAE-58E29C46CB1E}" type="datetimeFigureOut">
              <a:rPr lang="en-GB" smtClean="0"/>
              <a:t>31/10/2026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056C4EBE-9CE4-D786-4093-C4BB2FD7F5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AF731C0E-1C01-5CD7-8D36-2CAB20EAFA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311636-159F-4811-B362-FA6899840FE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696531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D77D0B23-99D8-5C9C-2DB4-375C26F10F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30A73CCA-A2D9-9C14-2365-AA1EE615E1C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7A55BD96-FD5E-73F6-F796-4F1494B897B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5E5168EB-58D8-A759-0050-632F4F55C9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CA588B-1EB2-4626-8DAE-58E29C46CB1E}" type="datetimeFigureOut">
              <a:rPr lang="en-GB" smtClean="0"/>
              <a:t>31/10/2026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1EF8AA03-4BAF-F0E0-E32D-60119D79A0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280E02D9-AF26-C903-50A9-55EC973563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311636-159F-4811-B362-FA6899840FE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215767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1B7BB497-6D57-98B6-5EC8-FDE5CB6E02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5FD1B0F7-B6C5-B1D4-D80E-9B9C972D77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28D0C5B9-F4F6-0165-1411-ADCFCB843EF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xmlns="" id="{421935E2-B472-EA91-DB4E-C839D7805D4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xmlns="" id="{7B760D12-2E96-23CB-A91A-8971B42F95C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xmlns="" id="{CACE3A3C-35F0-AF39-42CD-735B600489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CA588B-1EB2-4626-8DAE-58E29C46CB1E}" type="datetimeFigureOut">
              <a:rPr lang="en-GB" smtClean="0"/>
              <a:t>31/10/2026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xmlns="" id="{DAFE4A0E-F73F-2032-32AC-526010C731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xmlns="" id="{731E3EB0-9117-A459-5243-B3DC56052A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311636-159F-4811-B362-FA6899840FE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576373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0BE51F82-84B2-5D36-C364-390E8923CF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xmlns="" id="{A2D17616-652E-05AA-FE9A-067BD8CA53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CA588B-1EB2-4626-8DAE-58E29C46CB1E}" type="datetimeFigureOut">
              <a:rPr lang="en-GB" smtClean="0"/>
              <a:t>31/10/2026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78750DCC-3A1E-8816-A369-7128F0B40A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7ADB4CC8-7E5E-0E1E-CFB2-324D93DDAC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311636-159F-4811-B362-FA6899840FE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082204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xmlns="" id="{6B481DC6-E884-9B37-F7D3-8D1D2BA38B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CA588B-1EB2-4626-8DAE-58E29C46CB1E}" type="datetimeFigureOut">
              <a:rPr lang="en-GB" smtClean="0"/>
              <a:t>31/10/2026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xmlns="" id="{0C177595-7DBE-CA37-A966-4329AD60CF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2357C3EF-50D5-B3D7-5976-F3C994131A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311636-159F-4811-B362-FA6899840FE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404442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918163C3-090A-ED96-6BA2-12BC4401C0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167BE877-B5AD-73D5-AD39-54969DF411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xmlns="" id="{DDF72D7E-4E92-4511-E3CA-11933BE62F1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E945A9D1-C06F-C729-CF79-95BAE94CD8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CA588B-1EB2-4626-8DAE-58E29C46CB1E}" type="datetimeFigureOut">
              <a:rPr lang="en-GB" smtClean="0"/>
              <a:t>31/10/2026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95D04E4A-A893-479C-B352-D71BEB8B73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8EA53356-B1BC-934B-E7DC-9884409BFD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311636-159F-4811-B362-FA6899840FE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841726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9B16F818-E602-7294-7934-E1A4F112C1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xmlns="" id="{B74AACFF-11BF-EF5A-730B-C80F1E14963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xmlns="" id="{0211D112-7B44-9FA8-E772-0B9B1C36BC2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4559975E-D19D-D6D9-CB9D-D4D3F75539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CA588B-1EB2-4626-8DAE-58E29C46CB1E}" type="datetimeFigureOut">
              <a:rPr lang="en-GB" smtClean="0"/>
              <a:t>31/10/2026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953D0A71-3B59-7F44-56F9-706ADF9398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C9D60747-C038-AAFF-A862-7D574E1E88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311636-159F-4811-B362-FA6899840FE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179585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5B8EB0AA-CC24-AF77-4BB4-53FB7D3E75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xmlns="" id="{95A0E8B6-4DFD-4D88-8F1D-40849C2C516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D7A9F494-B3DE-6065-F2BF-6F8ED78FD0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CA588B-1EB2-4626-8DAE-58E29C46CB1E}" type="datetimeFigureOut">
              <a:rPr lang="en-GB" smtClean="0"/>
              <a:t>31/10/2026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613C085F-8685-2373-EC66-78868E8A06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8EEDB663-CDFD-1779-C76A-5B386BB5D7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311636-159F-4811-B362-FA6899840FE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357536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xmlns="" id="{AEE53677-52B7-BFC6-E572-A036BEA9CD6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xmlns="" id="{8D729EDA-7926-9172-54DD-D0A3E3BB19D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F6DAF23D-0B70-7617-B809-9045D499C0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CA588B-1EB2-4626-8DAE-58E29C46CB1E}" type="datetimeFigureOut">
              <a:rPr lang="en-GB" smtClean="0"/>
              <a:t>31/10/2026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C29A83D4-743A-E1E6-0109-C9B1F12D0D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DED7CA8C-5DC8-E3F6-69F3-D3DF791D3A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311636-159F-4811-B362-FA6899840FE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396849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145FC9BC-F7EB-4679-B546-E51CDD23258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xmlns="" id="{95842375-5315-4C45-AF9B-0AFFA874C3F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27235C8F-4E0E-4286-81DC-9D2934CD4E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0BDD50-FA08-4D10-AB54-82CC49CA31D3}" type="datetimeFigureOut">
              <a:rPr lang="en-GB" smtClean="0"/>
              <a:t>31/10/2026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D65B17F6-EB77-4D18-ABF1-CA328B1D4E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A33EBF0D-FE71-47F9-AA17-799D923C98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147FB2-A101-491A-ACE6-1492808EAC6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1920220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7EEA7CC0-4E8D-49BB-BCEA-E0CD81FF96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56EC2238-C309-4CD6-9323-09399FB937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FCC8AAC1-9A0B-4FF8-956F-71104D753C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0BDD50-FA08-4D10-AB54-82CC49CA31D3}" type="datetimeFigureOut">
              <a:rPr lang="en-GB" smtClean="0"/>
              <a:t>31/10/2026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CD723DC7-A23C-4813-A731-5094F3711C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44D32689-12A9-4737-A421-ECDD1EFC58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147FB2-A101-491A-ACE6-1492808EAC6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3417155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4702290A-5F3A-44C5-9884-1F6AE2A118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A9F1DEA4-386A-429E-BD37-5198B65EC2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1F1F06AB-A623-4C1A-8BC4-1BB08A9BDF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0BDD50-FA08-4D10-AB54-82CC49CA31D3}" type="datetimeFigureOut">
              <a:rPr lang="en-GB" smtClean="0"/>
              <a:t>31/10/2026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372F7FE7-E3CA-4757-9230-6214C1A2B8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1621482D-7CC6-4B0D-BDF6-B339329641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147FB2-A101-491A-ACE6-1492808EAC6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997236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E6A3C2C9-F2C5-4A0E-8BC3-F6585AC53E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0213A83B-6149-449B-8CE9-1B69397245B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E2B727F1-78E5-412E-80D4-A77416759A8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1CBA42B1-3B39-4377-8297-74AE3F3D93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0BDD50-FA08-4D10-AB54-82CC49CA31D3}" type="datetimeFigureOut">
              <a:rPr lang="en-GB" smtClean="0"/>
              <a:t>31/10/2026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2ED6D471-C1B0-4477-B277-57E83E61CC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61C8BDC9-EABC-4145-821B-4B47D43B33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147FB2-A101-491A-ACE6-1492808EAC6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8303635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B8029212-66E6-4851-9704-D1D0E013EC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58FBF198-7E05-45D2-9C13-5D98728656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6E74D802-FCBE-448C-877C-CD24B8D8958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xmlns="" id="{3CECCDE9-518A-445E-8F0C-E41DE2F4386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xmlns="" id="{E6F49ED5-CDFC-4F48-BEBC-0C7E15B92A0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xmlns="" id="{4391BB69-7E14-4641-B195-CD6323A00E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0BDD50-FA08-4D10-AB54-82CC49CA31D3}" type="datetimeFigureOut">
              <a:rPr lang="en-GB" smtClean="0"/>
              <a:t>31/10/2026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xmlns="" id="{23BF9193-A1D4-4A3F-83AB-2FDB7A8A68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xmlns="" id="{F021F8D8-E735-45F3-BA7F-1414D06019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147FB2-A101-491A-ACE6-1492808EAC6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5154311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130A5104-FAA2-4170-8DC5-CFB596EE73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xmlns="" id="{6158F3E3-39C2-43A6-AF89-6A707E9EEC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0BDD50-FA08-4D10-AB54-82CC49CA31D3}" type="datetimeFigureOut">
              <a:rPr lang="en-GB" smtClean="0"/>
              <a:t>31/10/2026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F66A3E8F-6D2B-4FDC-8ACF-6DB7072335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3523EEF6-CBD1-4990-A771-459D7D0CE8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147FB2-A101-491A-ACE6-1492808EAC6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2145393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xmlns="" id="{431E45BA-EB29-4DE5-9CBF-B462C2933E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0BDD50-FA08-4D10-AB54-82CC49CA31D3}" type="datetimeFigureOut">
              <a:rPr lang="en-GB" smtClean="0"/>
              <a:t>31/10/2026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xmlns="" id="{7F172DBB-7912-4C35-A748-6D67714657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CF8631C7-72D5-46AA-86D1-51198C4D0B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147FB2-A101-491A-ACE6-1492808EAC6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0334145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D7708D40-C553-41FF-B9A1-3BFA221213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C685827A-DCE8-4E98-B355-4B724B1823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xmlns="" id="{508DDB70-AE7E-4870-B4A8-95E93C4ECC1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8F394F09-A5BE-4260-8E8E-A6746C823E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0BDD50-FA08-4D10-AB54-82CC49CA31D3}" type="datetimeFigureOut">
              <a:rPr lang="en-GB" smtClean="0"/>
              <a:t>31/10/2026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D57C977C-02CF-4A0A-8605-4B9B6E6F29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D279887B-2092-40E1-9799-B078E7ADFC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147FB2-A101-491A-ACE6-1492808EAC6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8803016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8853F6C2-2A79-425F-B78B-87E3060E65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xmlns="" id="{A8BD401A-AEF7-4778-BEEC-3903604690F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xmlns="" id="{C76C66DF-B660-483E-BD6F-84C7873EB11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F899C61D-403E-483F-83C3-8BFE32B4E5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0BDD50-FA08-4D10-AB54-82CC49CA31D3}" type="datetimeFigureOut">
              <a:rPr lang="en-GB" smtClean="0"/>
              <a:t>31/10/2026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4D7277D8-0608-4176-8C79-5A670155E9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15492866-2110-4E4B-9E03-868470DE9A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147FB2-A101-491A-ACE6-1492808EAC6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0406883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CB50BBE8-8A19-4CA3-B0D0-3D5AB372C1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xmlns="" id="{27AF79E3-F4D3-4DBF-8A24-0B13305987C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91CB6C27-17B1-4FAF-8C3A-012979C948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0BDD50-FA08-4D10-AB54-82CC49CA31D3}" type="datetimeFigureOut">
              <a:rPr lang="en-GB" smtClean="0"/>
              <a:t>31/10/2026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82589D89-8DB0-4C87-8159-392A520158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3CB50750-AAD6-4519-B3A2-D55A447F26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147FB2-A101-491A-ACE6-1492808EAC6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2012169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xmlns="" id="{C1B17744-BE0E-4C2D-8E85-A98C36E1AAB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xmlns="" id="{ABC260B5-3633-4226-81DC-11D7CFA74BC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ABBF93D7-48DF-4F02-BA34-CA5CED79E8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0BDD50-FA08-4D10-AB54-82CC49CA31D3}" type="datetimeFigureOut">
              <a:rPr lang="en-GB" smtClean="0"/>
              <a:t>31/10/2026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905904DB-50B8-4D9A-AB54-A21CBA5B64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639EE86D-7426-4CBD-BA36-150F0FD580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147FB2-A101-491A-ACE6-1492808EAC6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60055623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E93D6B-74CE-4FDD-8BD0-E21F83B4F91E}" type="datetimeFigureOut">
              <a:rPr lang="en-GB" smtClean="0"/>
              <a:t>31/10/2026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C25D40-B648-423D-A62F-831986932A0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6501727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E93D6B-74CE-4FDD-8BD0-E21F83B4F91E}" type="datetimeFigureOut">
              <a:rPr lang="en-GB" smtClean="0"/>
              <a:t>31/10/2026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C25D40-B648-423D-A62F-831986932A0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04056818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E93D6B-74CE-4FDD-8BD0-E21F83B4F91E}" type="datetimeFigureOut">
              <a:rPr lang="en-GB" smtClean="0"/>
              <a:t>31/10/2026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C25D40-B648-423D-A62F-831986932A0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39037388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E93D6B-74CE-4FDD-8BD0-E21F83B4F91E}" type="datetimeFigureOut">
              <a:rPr lang="en-GB" smtClean="0"/>
              <a:t>31/10/2026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C25D40-B648-423D-A62F-831986932A0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08510852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E93D6B-74CE-4FDD-8BD0-E21F83B4F91E}" type="datetimeFigureOut">
              <a:rPr lang="en-GB" smtClean="0"/>
              <a:t>31/10/2026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C25D40-B648-423D-A62F-831986932A0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4759985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E93D6B-74CE-4FDD-8BD0-E21F83B4F91E}" type="datetimeFigureOut">
              <a:rPr lang="en-GB" smtClean="0"/>
              <a:t>31/10/2026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C25D40-B648-423D-A62F-831986932A0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53198606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E93D6B-74CE-4FDD-8BD0-E21F83B4F91E}" type="datetimeFigureOut">
              <a:rPr lang="en-GB" smtClean="0"/>
              <a:t>31/10/2026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C25D40-B648-423D-A62F-831986932A0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13581897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E93D6B-74CE-4FDD-8BD0-E21F83B4F91E}" type="datetimeFigureOut">
              <a:rPr lang="en-GB" smtClean="0"/>
              <a:t>31/10/2026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C25D40-B648-423D-A62F-831986932A0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33560033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E93D6B-74CE-4FDD-8BD0-E21F83B4F91E}" type="datetimeFigureOut">
              <a:rPr lang="en-GB" smtClean="0"/>
              <a:t>31/10/2026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C25D40-B648-423D-A62F-831986932A0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03113244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E93D6B-74CE-4FDD-8BD0-E21F83B4F91E}" type="datetimeFigureOut">
              <a:rPr lang="en-GB" smtClean="0"/>
              <a:t>31/10/2026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C25D40-B648-423D-A62F-831986932A0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67971251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E93D6B-74CE-4FDD-8BD0-E21F83B4F91E}" type="datetimeFigureOut">
              <a:rPr lang="en-GB" smtClean="0"/>
              <a:t>31/10/2026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C25D40-B648-423D-A62F-831986932A0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96947327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theme" Target="../theme/theme2.xml"/></Relationships>
</file>

<file path=ppt/slideMasters/_rels/slideMaster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slideLayout" Target="../slideLayouts/slideLayout24.xml"/><Relationship Id="rId3" Type="http://schemas.openxmlformats.org/officeDocument/2006/relationships/slideLayout" Target="../slideLayouts/slideLayout25.xml"/><Relationship Id="rId4" Type="http://schemas.openxmlformats.org/officeDocument/2006/relationships/slideLayout" Target="../slideLayouts/slideLayout26.xml"/><Relationship Id="rId5" Type="http://schemas.openxmlformats.org/officeDocument/2006/relationships/slideLayout" Target="../slideLayouts/slideLayout27.xml"/><Relationship Id="rId6" Type="http://schemas.openxmlformats.org/officeDocument/2006/relationships/slideLayout" Target="../slideLayouts/slideLayout28.xml"/><Relationship Id="rId7" Type="http://schemas.openxmlformats.org/officeDocument/2006/relationships/slideLayout" Target="../slideLayouts/slideLayout29.xml"/><Relationship Id="rId8" Type="http://schemas.openxmlformats.org/officeDocument/2006/relationships/slideLayout" Target="../slideLayouts/slideLayout30.xml"/><Relationship Id="rId9" Type="http://schemas.openxmlformats.org/officeDocument/2006/relationships/slideLayout" Target="../slideLayouts/slideLayout31.xml"/><Relationship Id="rId10" Type="http://schemas.openxmlformats.org/officeDocument/2006/relationships/slideLayout" Target="../slideLayouts/slideLayout32.xml"/><Relationship Id="rId11" Type="http://schemas.openxmlformats.org/officeDocument/2006/relationships/slideLayout" Target="../slideLayouts/slideLayout33.xml"/><Relationship Id="rId12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91B5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xmlns="" id="{AF0FABDB-F7B5-76B6-20FE-C0AED463EB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50B11D2A-37FD-254F-F7BF-12ACEBDC14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9C57448D-2A1A-EE33-37F7-8EE210FF11C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3CA588B-1EB2-4626-8DAE-58E29C46CB1E}" type="datetimeFigureOut">
              <a:rPr lang="en-GB" smtClean="0"/>
              <a:t>31/10/2026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DC48344B-9636-6D43-B7A1-AFC23066C0A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63939D83-EBE7-5C4B-33F0-232FADF5BD0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E311636-159F-4811-B362-FA6899840FE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374119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bg1"/>
          </a:solidFill>
          <a:latin typeface="LEMON MILK" panose="00000500000000000000" pitchFamily="50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bg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bg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bg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xmlns="" id="{F7B86FEB-A93A-4930-B294-B95D0D6039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7412376B-86F3-4635-9383-75143BB0C2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6370128D-5950-47CB-BA99-F9601858C49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E0BDD50-FA08-4D10-AB54-82CC49CA31D3}" type="datetimeFigureOut">
              <a:rPr lang="en-GB" smtClean="0"/>
              <a:t>31/10/2026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88BA322D-0C39-4F81-B6F5-292F37C22DA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060B5791-46F1-4425-BB08-95908C5D449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147FB2-A101-491A-ACE6-1492808EAC6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911221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ight Triangle 6"/>
          <p:cNvSpPr/>
          <p:nvPr userDrawn="1"/>
        </p:nvSpPr>
        <p:spPr>
          <a:xfrm flipH="1">
            <a:off x="0" y="0"/>
            <a:ext cx="12192000" cy="6858000"/>
          </a:xfrm>
          <a:prstGeom prst="rtTriangl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EE93D6B-74CE-4FDD-8BD0-E21F83B4F91E}" type="datetimeFigureOut">
              <a:rPr lang="en-GB" smtClean="0"/>
              <a:t>31/10/2026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4C25D40-B648-423D-A62F-831986932A0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096670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2" grpId="0"/>
      <p:bldP spid="3" grpId="0" build="p">
        <p:tmplLst>
          <p:tmpl lvl="1">
            <p:tnLst>
              <p:par>
                <p:cTn presetID="10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  <p:tmpl lvl="2">
            <p:tnLst>
              <p:par>
                <p:cTn presetID="10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  <p:tmpl lvl="3">
            <p:tnLst>
              <p:par>
                <p:cTn presetID="10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  <p:tmpl lvl="4">
            <p:tnLst>
              <p:par>
                <p:cTn presetID="10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  <p:tmpl lvl="5">
            <p:tnLst>
              <p:par>
                <p:cTn presetID="10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accent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rgbClr val="00B0F0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rgbClr val="00B0F0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rgbClr val="00B0F0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00B0F0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00B0F0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image" Target="../media/image117.png"/><Relationship Id="rId3" Type="http://schemas.microsoft.com/office/2007/relationships/hdphoto" Target="../media/hdphoto9.wdp"/></Relationships>
</file>

<file path=ppt/slides/_rels/slide1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1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1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image" Target="../media/image118.png"/></Relationships>
</file>

<file path=ppt/slides/_rels/slide1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1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1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12.xml"/></Relationships>
</file>

<file path=ppt/slides/_rels/slide1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slide1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2387600"/>
          </a:xfrm>
        </p:spPr>
        <p:txBody>
          <a:bodyPr/>
          <a:lstStyle/>
          <a:p>
            <a:r>
              <a:rPr lang="en-GB" dirty="0"/>
              <a:t>Evaluation Of Digitally Authored Systems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2387600"/>
            <a:ext cx="9144000" cy="993710"/>
          </a:xfrm>
        </p:spPr>
        <p:txBody>
          <a:bodyPr/>
          <a:lstStyle/>
          <a:p>
            <a:r>
              <a:rPr lang="en-GB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Chapter 27 | Mr Butler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4883" b="97656" l="8789" r="92578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7094759" y="792480"/>
            <a:ext cx="5838419" cy="5838419"/>
          </a:xfrm>
          <a:prstGeom prst="rect">
            <a:avLst/>
          </a:prstGeom>
          <a:effectLst>
            <a:glow rad="101600">
              <a:schemeClr val="accent2">
                <a:satMod val="175000"/>
                <a:alpha val="40000"/>
              </a:schemeClr>
            </a:glow>
          </a:effectLst>
          <a:scene3d>
            <a:camera prst="isometricOffAxis2Left"/>
            <a:lightRig rig="threePt" dir="t"/>
          </a:scene3d>
        </p:spPr>
      </p:pic>
    </p:spTree>
    <p:extLst>
      <p:ext uri="{BB962C8B-B14F-4D97-AF65-F5344CB8AC3E}">
        <p14:creationId xmlns:p14="http://schemas.microsoft.com/office/powerpoint/2010/main" val="1833186517"/>
      </p:ext>
    </p:extLst>
  </p:cSld>
  <p:clrMapOvr>
    <a:masterClrMapping/>
  </p:clrMapOvr>
</p:sld>
</file>

<file path=ppt/slides/slide1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4FD54B26-2717-C4D7-D9D0-FCFFD3CD38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What the Spec Says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188A8E34-C795-E9DF-D7B4-2EB08738F7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explain how evaluation is used to ensure that a solution: </a:t>
            </a:r>
          </a:p>
          <a:p>
            <a:pPr lvl="1"/>
            <a:r>
              <a:rPr lang="en-GB" dirty="0"/>
              <a:t>meets the original design criteria; </a:t>
            </a:r>
          </a:p>
          <a:p>
            <a:pPr lvl="1"/>
            <a:r>
              <a:rPr lang="en-GB" dirty="0"/>
              <a:t>is a full and complete solution; </a:t>
            </a:r>
          </a:p>
          <a:p>
            <a:pPr lvl="1"/>
            <a:r>
              <a:rPr lang="en-GB" dirty="0"/>
              <a:t>is an efficient solution; and </a:t>
            </a:r>
          </a:p>
          <a:p>
            <a:pPr lvl="1"/>
            <a:r>
              <a:rPr lang="en-GB" dirty="0"/>
              <a:t>is a robust solution.</a:t>
            </a:r>
          </a:p>
        </p:txBody>
      </p:sp>
    </p:spTree>
    <p:extLst>
      <p:ext uri="{BB962C8B-B14F-4D97-AF65-F5344CB8AC3E}">
        <p14:creationId xmlns:p14="http://schemas.microsoft.com/office/powerpoint/2010/main" val="813245949"/>
      </p:ext>
    </p:extLst>
  </p:cSld>
  <p:clrMapOvr>
    <a:masterClrMapping/>
  </p:clrMapOvr>
</p:sld>
</file>

<file path=ppt/slides/slide1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The Importance of Evaluating a 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May</a:t>
            </a:r>
            <a:r>
              <a:rPr lang="en-GB" dirty="0"/>
              <a:t> </a:t>
            </a:r>
            <a:r>
              <a:rPr lang="en-GB" dirty="0">
                <a:solidFill>
                  <a:srgbClr val="FFC000"/>
                </a:solidFill>
              </a:rPr>
              <a:t>highlight problems </a:t>
            </a:r>
            <a:r>
              <a:rPr lang="en-GB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with an algorithm’s logic.</a:t>
            </a:r>
          </a:p>
          <a:p>
            <a:endParaRPr lang="en-GB" dirty="0"/>
          </a:p>
          <a:p>
            <a:r>
              <a:rPr lang="en-GB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Areas where the user requirements are </a:t>
            </a:r>
            <a:r>
              <a:rPr lang="en-GB" dirty="0">
                <a:solidFill>
                  <a:srgbClr val="FFC000"/>
                </a:solidFill>
              </a:rPr>
              <a:t>not being met </a:t>
            </a:r>
            <a:r>
              <a:rPr lang="en-GB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are highlighted.</a:t>
            </a:r>
          </a:p>
          <a:p>
            <a:endParaRPr lang="en-GB" dirty="0"/>
          </a:p>
          <a:p>
            <a:r>
              <a:rPr lang="en-GB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Assesses the degree to which the final product meets the </a:t>
            </a:r>
            <a:r>
              <a:rPr lang="en-GB" dirty="0">
                <a:solidFill>
                  <a:srgbClr val="FFC000"/>
                </a:solidFill>
              </a:rPr>
              <a:t>functional and non functional requirements</a:t>
            </a:r>
            <a:r>
              <a:rPr lang="en-GB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615597077"/>
      </p:ext>
    </p:extLst>
  </p:cSld>
  <p:clrMapOvr>
    <a:masterClrMapping/>
  </p:clrMapOvr>
</p:sld>
</file>

<file path=ppt/slides/slide1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456" y="220152"/>
            <a:ext cx="10515600" cy="1325563"/>
          </a:xfrm>
        </p:spPr>
        <p:txBody>
          <a:bodyPr/>
          <a:lstStyle/>
          <a:p>
            <a:r>
              <a:rPr lang="en-GB" dirty="0"/>
              <a:t>Functional and Non Functional Requirements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The design criteria for any software system is driven by the user requirements</a:t>
            </a:r>
          </a:p>
          <a:p>
            <a:endParaRPr lang="en-GB" dirty="0"/>
          </a:p>
          <a:p>
            <a:r>
              <a:rPr lang="en-GB" dirty="0">
                <a:solidFill>
                  <a:srgbClr val="FFC000"/>
                </a:solidFill>
              </a:rPr>
              <a:t>Functional requirements </a:t>
            </a:r>
            <a:r>
              <a:rPr lang="en-GB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describe the things that the system should do. i.e. what the user wants the system to do</a:t>
            </a:r>
          </a:p>
          <a:p>
            <a:endParaRPr lang="en-GB" dirty="0"/>
          </a:p>
          <a:p>
            <a:r>
              <a:rPr lang="en-GB" dirty="0">
                <a:solidFill>
                  <a:srgbClr val="FFC000"/>
                </a:solidFill>
              </a:rPr>
              <a:t>Non functional requirements </a:t>
            </a:r>
            <a:r>
              <a:rPr lang="en-GB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describe the way in which the system should work. I.e. performance in terms of user response time, usability and reliability of the system</a:t>
            </a:r>
          </a:p>
        </p:txBody>
      </p:sp>
      <p:sp>
        <p:nvSpPr>
          <p:cNvPr id="5" name="Rectangle 4"/>
          <p:cNvSpPr/>
          <p:nvPr/>
        </p:nvSpPr>
        <p:spPr>
          <a:xfrm>
            <a:off x="11353800" y="882933"/>
            <a:ext cx="579120" cy="5975067"/>
          </a:xfrm>
          <a:prstGeom prst="rect">
            <a:avLst/>
          </a:prstGeom>
          <a:solidFill>
            <a:srgbClr val="367C0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srgbClr val="3C790A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26131" y="59756"/>
            <a:ext cx="1765869" cy="17658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1920653"/>
      </p:ext>
    </p:extLst>
  </p:cSld>
  <p:clrMapOvr>
    <a:masterClrMapping/>
  </p:clrMapOvr>
</p:sld>
</file>

<file path=ppt/slides/slide1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Robustness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770047"/>
          </a:xfrm>
        </p:spPr>
        <p:txBody>
          <a:bodyPr>
            <a:normAutofit/>
          </a:bodyPr>
          <a:lstStyle/>
          <a:p>
            <a:r>
              <a:rPr lang="en-GB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Evaluating the robustness of a system ensures a true evaluation of its performance</a:t>
            </a:r>
          </a:p>
          <a:p>
            <a:endParaRPr lang="en-GB" dirty="0">
              <a:solidFill>
                <a:schemeClr val="accent1">
                  <a:lumMod val="40000"/>
                  <a:lumOff val="60000"/>
                </a:schemeClr>
              </a:solidFill>
            </a:endParaRPr>
          </a:p>
          <a:p>
            <a:r>
              <a:rPr lang="en-GB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Any system </a:t>
            </a:r>
            <a:r>
              <a:rPr lang="en-GB" dirty="0">
                <a:solidFill>
                  <a:srgbClr val="FFC000"/>
                </a:solidFill>
              </a:rPr>
              <a:t>may perform well when valid data </a:t>
            </a:r>
            <a:r>
              <a:rPr lang="en-GB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is being entered</a:t>
            </a:r>
          </a:p>
          <a:p>
            <a:endParaRPr lang="en-GB" dirty="0"/>
          </a:p>
          <a:p>
            <a:r>
              <a:rPr lang="en-GB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The ability to handle </a:t>
            </a:r>
            <a:r>
              <a:rPr lang="en-GB" dirty="0">
                <a:solidFill>
                  <a:srgbClr val="FFC000"/>
                </a:solidFill>
              </a:rPr>
              <a:t>invalid and exceptional data </a:t>
            </a:r>
            <a:r>
              <a:rPr lang="en-GB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is a measure of its </a:t>
            </a:r>
            <a:r>
              <a:rPr lang="en-GB" dirty="0">
                <a:solidFill>
                  <a:srgbClr val="FFC000"/>
                </a:solidFill>
              </a:rPr>
              <a:t>robustness</a:t>
            </a:r>
          </a:p>
          <a:p>
            <a:endParaRPr lang="en-GB" dirty="0">
              <a:solidFill>
                <a:srgbClr val="FFC000"/>
              </a:solidFill>
            </a:endParaRPr>
          </a:p>
          <a:p>
            <a:r>
              <a:rPr lang="en-GB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If the system does not crash when processing </a:t>
            </a:r>
            <a:r>
              <a:rPr lang="en-GB" dirty="0">
                <a:solidFill>
                  <a:srgbClr val="FFC000"/>
                </a:solidFill>
              </a:rPr>
              <a:t>high volumes of valid, invalid or exceptional data</a:t>
            </a:r>
            <a:r>
              <a:rPr lang="en-GB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, then we can say </a:t>
            </a:r>
            <a:r>
              <a:rPr lang="en-GB" dirty="0">
                <a:solidFill>
                  <a:srgbClr val="FFC000"/>
                </a:solidFill>
              </a:rPr>
              <a:t>it is robust</a:t>
            </a:r>
          </a:p>
        </p:txBody>
      </p:sp>
    </p:spTree>
    <p:extLst>
      <p:ext uri="{BB962C8B-B14F-4D97-AF65-F5344CB8AC3E}">
        <p14:creationId xmlns:p14="http://schemas.microsoft.com/office/powerpoint/2010/main" val="2182669142"/>
      </p:ext>
    </p:extLst>
  </p:cSld>
  <p:clrMapOvr>
    <a:masterClrMapping/>
  </p:clrMapOvr>
</p:sld>
</file>

<file path=ppt/slides/slide1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/>
          <a:lstStyle/>
          <a:p>
            <a:r>
              <a:rPr lang="en-GB" dirty="0"/>
              <a:t>An Evaluation Table</a:t>
            </a: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</p:nvPr>
        </p:nvGraphicFramePr>
        <p:xfrm>
          <a:off x="2136514" y="4049814"/>
          <a:ext cx="9955958" cy="2640235"/>
        </p:xfrm>
        <a:graphic>
          <a:graphicData uri="http://schemas.openxmlformats.org/drawingml/2006/table">
            <a:tbl>
              <a:tblPr>
                <a:tableStyleId>{BDBED569-4797-4DF1-A0F4-6AAB3CD982D8}</a:tableStyleId>
              </a:tblPr>
              <a:tblGrid>
                <a:gridCol w="2494627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427246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3199324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2834761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</a:tblGrid>
              <a:tr h="792071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GB" sz="2000" dirty="0">
                          <a:solidFill>
                            <a:srgbClr val="FFC000"/>
                          </a:solidFill>
                          <a:effectLst/>
                        </a:rPr>
                        <a:t>User Requirement </a:t>
                      </a:r>
                      <a:endParaRPr lang="en-GB" sz="2000" dirty="0">
                        <a:solidFill>
                          <a:srgbClr val="FFC000"/>
                        </a:solidFill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GB" sz="2000">
                          <a:solidFill>
                            <a:srgbClr val="FFC000"/>
                          </a:solidFill>
                          <a:effectLst/>
                        </a:rPr>
                        <a:t>Met (yes/no) </a:t>
                      </a:r>
                      <a:endParaRPr lang="en-GB" sz="2000">
                        <a:solidFill>
                          <a:srgbClr val="FFC000"/>
                        </a:solidFill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GB" sz="2000">
                          <a:solidFill>
                            <a:srgbClr val="FFC000"/>
                          </a:solidFill>
                          <a:effectLst/>
                        </a:rPr>
                        <a:t>Evidence </a:t>
                      </a:r>
                      <a:endParaRPr lang="en-GB" sz="2000">
                        <a:solidFill>
                          <a:srgbClr val="FFC000"/>
                        </a:solidFill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GB" sz="2000">
                          <a:solidFill>
                            <a:srgbClr val="FFC000"/>
                          </a:solidFill>
                          <a:effectLst/>
                        </a:rPr>
                        <a:t>Evaluation </a:t>
                      </a:r>
                      <a:endParaRPr lang="en-GB" sz="2000">
                        <a:solidFill>
                          <a:srgbClr val="FFC000"/>
                        </a:solidFill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1848164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GB" sz="2000" dirty="0">
                          <a:solidFill>
                            <a:srgbClr val="FFC000"/>
                          </a:solidFill>
                          <a:effectLst/>
                        </a:rPr>
                        <a:t>1. Allow user to enter and store student names  </a:t>
                      </a:r>
                      <a:endParaRPr lang="en-GB" sz="2000" dirty="0">
                        <a:solidFill>
                          <a:srgbClr val="FFC000"/>
                        </a:solidFill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GB" sz="2000" dirty="0">
                          <a:solidFill>
                            <a:srgbClr val="FFC000"/>
                          </a:solidFill>
                          <a:effectLst/>
                        </a:rPr>
                        <a:t>Yes </a:t>
                      </a:r>
                      <a:endParaRPr lang="en-GB" sz="2000" dirty="0">
                        <a:solidFill>
                          <a:srgbClr val="FFC000"/>
                        </a:solidFill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GB" sz="2000">
                          <a:solidFill>
                            <a:srgbClr val="FFC000"/>
                          </a:solidFill>
                          <a:effectLst/>
                        </a:rPr>
                        <a:t>In the Add student form, the user can enter the student name. When they click the submit button it is stored in the text file.</a:t>
                      </a:r>
                      <a:endParaRPr lang="en-GB" sz="2000">
                        <a:solidFill>
                          <a:srgbClr val="FFC000"/>
                        </a:solidFill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GB" sz="2000" dirty="0">
                          <a:solidFill>
                            <a:srgbClr val="FFC000"/>
                          </a:solidFill>
                          <a:effectLst/>
                        </a:rPr>
                        <a:t>The user can easily enter the name and just have to click a button to write it to the text file. </a:t>
                      </a:r>
                      <a:endParaRPr lang="en-GB" sz="2000" dirty="0">
                        <a:solidFill>
                          <a:srgbClr val="FFC000"/>
                        </a:solidFill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</a:tbl>
          </a:graphicData>
        </a:graphic>
      </p:graphicFrame>
      <p:sp>
        <p:nvSpPr>
          <p:cNvPr id="5" name="Content Placeholder 2"/>
          <p:cNvSpPr txBox="1">
            <a:spLocks/>
          </p:cNvSpPr>
          <p:nvPr/>
        </p:nvSpPr>
        <p:spPr>
          <a:xfrm>
            <a:off x="297024" y="1527045"/>
            <a:ext cx="11291596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rgbClr val="00B0F0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rgbClr val="00B0F0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rgbClr val="00B0F0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rgbClr val="00B0F0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rgbClr val="00B0F0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2800" b="0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40000"/>
                    <a:lumOff val="6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By taking each user requirement in turn and evaluating the outcome it will give you a clear indication whether or not you have achieved a good solution 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2800" b="0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40000"/>
                    <a:lumOff val="6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However you if you evaluate just the user requirements individually your solution will appear to be successful but the whole system may be less successful. 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GB" sz="2800" b="0" i="0" u="none" strike="noStrike" kern="1200" cap="none" spc="0" normalizeH="0" baseline="0" noProof="0" dirty="0">
              <a:ln>
                <a:noFill/>
              </a:ln>
              <a:solidFill>
                <a:srgbClr val="00B0F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91004300"/>
      </p:ext>
    </p:extLst>
  </p:cSld>
  <p:clrMapOvr>
    <a:masterClrMapping/>
  </p:clrMapOvr>
</p:sld>
</file>

<file path=ppt/slides/slide1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36837862-A7C7-15C1-927C-C818918A5C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1800" b="0" i="0" u="none" strike="noStrike" baseline="0" dirty="0">
                <a:latin typeface="ArialMT"/>
              </a:rPr>
              <a:t>Complete the paragraph below, about evaluation, using terms from the list provided. (Not all terms will be used.)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CFC5F4C2-210F-301A-10C9-F42F2D0D51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712116" cy="4351338"/>
          </a:xfrm>
        </p:spPr>
        <p:txBody>
          <a:bodyPr/>
          <a:lstStyle/>
          <a:p>
            <a:pPr marL="0" indent="0" algn="l">
              <a:buNone/>
            </a:pPr>
            <a:r>
              <a:rPr lang="en-GB" sz="1800" b="1" i="0" u="none" strike="noStrike" baseline="0" dirty="0">
                <a:latin typeface="Arial-BoldMT"/>
              </a:rPr>
              <a:t>CONTINUOUSLY 		SOLUTION 			USER REQUIREMENTS</a:t>
            </a:r>
          </a:p>
          <a:p>
            <a:pPr marL="0" indent="0" algn="l">
              <a:buNone/>
            </a:pPr>
            <a:r>
              <a:rPr lang="en-GB" sz="1800" b="1" i="0" u="none" strike="noStrike" baseline="0" dirty="0">
                <a:latin typeface="Arial-BoldMT"/>
              </a:rPr>
              <a:t>DESIGN 		</a:t>
            </a:r>
            <a:r>
              <a:rPr lang="en-GB" sz="1800" b="1" i="0" u="none" strike="noStrike" baseline="0">
                <a:latin typeface="Arial-BoldMT"/>
              </a:rPr>
              <a:t>	DEVELOPMENT </a:t>
            </a:r>
            <a:r>
              <a:rPr lang="en-GB" sz="1800" b="1" i="0" u="none" strike="noStrike" baseline="0" dirty="0">
                <a:latin typeface="Arial-BoldMT"/>
              </a:rPr>
              <a:t>PROCESS 	USER INTERFACE</a:t>
            </a:r>
          </a:p>
          <a:p>
            <a:pPr marL="0" indent="0" algn="l">
              <a:buNone/>
            </a:pPr>
            <a:endParaRPr lang="en-GB" sz="1800" b="1" dirty="0">
              <a:latin typeface="Arial-BoldMT"/>
            </a:endParaRPr>
          </a:p>
          <a:p>
            <a:pPr algn="l"/>
            <a:r>
              <a:rPr lang="en-GB" sz="1800" b="0" i="0" u="none" strike="noStrike" baseline="0" dirty="0">
                <a:latin typeface="ArialMT"/>
              </a:rPr>
              <a:t>When evaluating a system, it is important to ensure that the _____________________ [1] meets its original _____________________ [1] criteria.</a:t>
            </a:r>
          </a:p>
          <a:p>
            <a:pPr algn="l"/>
            <a:r>
              <a:rPr lang="en-GB" sz="1800" b="0" i="0" u="none" strike="noStrike" baseline="0" dirty="0">
                <a:latin typeface="ArialMT"/>
              </a:rPr>
              <a:t>This can be done by comparing it with the _____________________ [1].</a:t>
            </a:r>
          </a:p>
          <a:p>
            <a:pPr algn="l"/>
            <a:r>
              <a:rPr lang="en-GB" sz="1800" b="0" i="0" u="none" strike="noStrike" baseline="0" dirty="0">
                <a:latin typeface="ArialMT"/>
              </a:rPr>
              <a:t>Evaluation should occur _____________________ [1] during the _____________________[1].</a:t>
            </a:r>
            <a:endParaRPr lang="en-GB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xmlns="" id="{31A6D397-3851-897A-5AD9-14B28C66D0ED}"/>
              </a:ext>
            </a:extLst>
          </p:cNvPr>
          <p:cNvSpPr txBox="1"/>
          <p:nvPr/>
        </p:nvSpPr>
        <p:spPr>
          <a:xfrm>
            <a:off x="76200" y="4988461"/>
            <a:ext cx="12039600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000" b="0" i="0" u="none" strike="noStrike" kern="1200" cap="none" spc="0" normalizeH="0" baseline="0" noProof="0" dirty="0">
                <a:ln>
                  <a:noFill/>
                </a:ln>
                <a:solidFill>
                  <a:srgbClr val="3C790A"/>
                </a:solidFill>
                <a:effectLst/>
                <a:uLnTx/>
                <a:uFillTx/>
                <a:latin typeface="ArialMT"/>
                <a:ea typeface="+mn-ea"/>
                <a:cs typeface="+mn-cs"/>
              </a:rPr>
              <a:t>When evaluating a system, it is important to ensure that the </a:t>
            </a:r>
            <a:r>
              <a:rPr kumimoji="0" lang="en-GB" sz="2000" b="0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ArialMT"/>
                <a:ea typeface="+mn-ea"/>
                <a:cs typeface="+mn-cs"/>
              </a:rPr>
              <a:t>SOLUTION [1] </a:t>
            </a:r>
            <a:r>
              <a:rPr kumimoji="0" lang="en-GB" sz="2000" b="0" i="0" u="none" strike="noStrike" kern="1200" cap="none" spc="0" normalizeH="0" baseline="0" noProof="0" dirty="0">
                <a:ln>
                  <a:noFill/>
                </a:ln>
                <a:solidFill>
                  <a:srgbClr val="3C790A"/>
                </a:solidFill>
                <a:effectLst/>
                <a:uLnTx/>
                <a:uFillTx/>
                <a:latin typeface="ArialMT"/>
                <a:ea typeface="+mn-ea"/>
                <a:cs typeface="+mn-cs"/>
              </a:rPr>
              <a:t>meets its original </a:t>
            </a:r>
            <a:r>
              <a:rPr kumimoji="0" lang="en-GB" sz="2000" b="0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ArialMT"/>
                <a:ea typeface="+mn-ea"/>
                <a:cs typeface="+mn-cs"/>
              </a:rPr>
              <a:t>DESIGN [1] </a:t>
            </a:r>
            <a:r>
              <a:rPr kumimoji="0" lang="en-GB" sz="2000" b="0" i="0" u="none" strike="noStrike" kern="1200" cap="none" spc="0" normalizeH="0" baseline="0" noProof="0" dirty="0">
                <a:ln>
                  <a:noFill/>
                </a:ln>
                <a:solidFill>
                  <a:srgbClr val="3C790A"/>
                </a:solidFill>
                <a:effectLst/>
                <a:uLnTx/>
                <a:uFillTx/>
                <a:latin typeface="ArialMT"/>
                <a:ea typeface="+mn-ea"/>
                <a:cs typeface="+mn-cs"/>
              </a:rPr>
              <a:t>criteria.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000" b="0" i="0" u="none" strike="noStrike" kern="1200" cap="none" spc="0" normalizeH="0" baseline="0" noProof="0" dirty="0">
                <a:ln>
                  <a:noFill/>
                </a:ln>
                <a:solidFill>
                  <a:srgbClr val="3C790A"/>
                </a:solidFill>
                <a:effectLst/>
                <a:uLnTx/>
                <a:uFillTx/>
                <a:latin typeface="ArialMT"/>
                <a:ea typeface="+mn-ea"/>
                <a:cs typeface="+mn-cs"/>
              </a:rPr>
              <a:t>This can be done by comparing it with the </a:t>
            </a:r>
            <a:r>
              <a:rPr kumimoji="0" lang="en-GB" sz="2000" b="0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ArialMT"/>
                <a:ea typeface="+mn-ea"/>
                <a:cs typeface="+mn-cs"/>
              </a:rPr>
              <a:t>USER REQUIREMENTS [1]</a:t>
            </a:r>
            <a:r>
              <a:rPr kumimoji="0" lang="en-GB" sz="2000" b="0" i="0" u="none" strike="noStrike" kern="1200" cap="none" spc="0" normalizeH="0" baseline="0" noProof="0" dirty="0">
                <a:ln>
                  <a:noFill/>
                </a:ln>
                <a:solidFill>
                  <a:srgbClr val="3C790A"/>
                </a:solidFill>
                <a:effectLst/>
                <a:uLnTx/>
                <a:uFillTx/>
                <a:latin typeface="ArialMT"/>
                <a:ea typeface="+mn-ea"/>
                <a:cs typeface="+mn-cs"/>
              </a:rPr>
              <a:t>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000" b="0" i="0" u="none" strike="noStrike" kern="1200" cap="none" spc="0" normalizeH="0" baseline="0" noProof="0" dirty="0">
                <a:ln>
                  <a:noFill/>
                </a:ln>
                <a:solidFill>
                  <a:srgbClr val="3C790A"/>
                </a:solidFill>
                <a:effectLst/>
                <a:uLnTx/>
                <a:uFillTx/>
                <a:latin typeface="ArialMT"/>
                <a:ea typeface="+mn-ea"/>
                <a:cs typeface="+mn-cs"/>
              </a:rPr>
              <a:t>Evaluation should occur </a:t>
            </a:r>
            <a:r>
              <a:rPr kumimoji="0" lang="en-GB" sz="2000" b="0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ArialMT"/>
                <a:ea typeface="+mn-ea"/>
                <a:cs typeface="+mn-cs"/>
              </a:rPr>
              <a:t>CONTINUOUSLY [1] </a:t>
            </a:r>
            <a:r>
              <a:rPr kumimoji="0" lang="en-GB" sz="2000" b="0" i="0" u="none" strike="noStrike" kern="1200" cap="none" spc="0" normalizeH="0" baseline="0" noProof="0" dirty="0">
                <a:ln>
                  <a:noFill/>
                </a:ln>
                <a:solidFill>
                  <a:srgbClr val="3C790A"/>
                </a:solidFill>
                <a:effectLst/>
                <a:uLnTx/>
                <a:uFillTx/>
                <a:latin typeface="ArialMT"/>
                <a:ea typeface="+mn-ea"/>
                <a:cs typeface="+mn-cs"/>
              </a:rPr>
              <a:t>during the</a:t>
            </a:r>
            <a:r>
              <a:rPr kumimoji="0" lang="en-GB" sz="2000" b="0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ArialMT"/>
                <a:ea typeface="+mn-ea"/>
                <a:cs typeface="+mn-cs"/>
              </a:rPr>
              <a:t> DEVELOPMENT PROCESS [1]</a:t>
            </a:r>
            <a:r>
              <a:rPr kumimoji="0" lang="en-GB" sz="2000" b="0" i="0" u="none" strike="noStrike" kern="1200" cap="none" spc="0" normalizeH="0" baseline="0" noProof="0" dirty="0">
                <a:ln>
                  <a:noFill/>
                </a:ln>
                <a:solidFill>
                  <a:srgbClr val="3C790A"/>
                </a:solidFill>
                <a:effectLst/>
                <a:uLnTx/>
                <a:uFillTx/>
                <a:latin typeface="ArialMT"/>
                <a:ea typeface="+mn-ea"/>
                <a:cs typeface="+mn-cs"/>
              </a:rPr>
              <a:t>.</a:t>
            </a:r>
            <a:endParaRPr kumimoji="0" lang="en-GB" sz="2000" b="0" i="0" u="none" strike="noStrike" kern="1200" cap="none" spc="0" normalizeH="0" baseline="0" noProof="0" dirty="0">
              <a:ln>
                <a:noFill/>
              </a:ln>
              <a:solidFill>
                <a:srgbClr val="3C790A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350465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1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371668" y="407372"/>
            <a:ext cx="11599507" cy="6086734"/>
          </a:xfrm>
        </p:spPr>
        <p:txBody>
          <a:bodyPr>
            <a:normAutofit/>
          </a:bodyPr>
          <a:lstStyle/>
          <a:p>
            <a:r>
              <a:rPr lang="en-GB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Take each requirement in turn and test the solution to ensure that it meets each one. </a:t>
            </a:r>
          </a:p>
          <a:p>
            <a:r>
              <a:rPr lang="en-GB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If there is a requirement that has not been fully met justification should be given as to why this was not achieved. </a:t>
            </a:r>
          </a:p>
          <a:p>
            <a:endParaRPr lang="en-GB" dirty="0">
              <a:solidFill>
                <a:schemeClr val="accent1">
                  <a:lumMod val="40000"/>
                  <a:lumOff val="60000"/>
                </a:schemeClr>
              </a:solidFill>
            </a:endParaRPr>
          </a:p>
          <a:p>
            <a:r>
              <a:rPr lang="en-GB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If the solution has not been fully satisfied reasons must be given, for example: </a:t>
            </a:r>
          </a:p>
          <a:p>
            <a:pPr lvl="1"/>
            <a:r>
              <a:rPr lang="en-GB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Were there time constraints that made it impossible to build a suitable solution? </a:t>
            </a:r>
          </a:p>
          <a:p>
            <a:pPr lvl="1"/>
            <a:r>
              <a:rPr lang="en-GB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Were there hardware or software constraints that made it difficult to build a suitable solution? </a:t>
            </a:r>
          </a:p>
          <a:p>
            <a:pPr lvl="1"/>
            <a:r>
              <a:rPr lang="en-GB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Were there financial constraints? </a:t>
            </a:r>
          </a:p>
          <a:p>
            <a:pPr marL="457200" lvl="1" indent="0">
              <a:buNone/>
            </a:pPr>
            <a:endParaRPr lang="en-GB" dirty="0">
              <a:solidFill>
                <a:schemeClr val="accent1">
                  <a:lumMod val="40000"/>
                  <a:lumOff val="60000"/>
                </a:schemeClr>
              </a:solidFill>
            </a:endParaRPr>
          </a:p>
          <a:p>
            <a:r>
              <a:rPr lang="en-GB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 At this point the developer must consider what the implications are for not having a fully functioning solution. 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47202871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2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1016</TotalTime>
  <Words>12845</Words>
  <Application>Microsoft Office PowerPoint</Application>
  <PresentationFormat>Widescreen</PresentationFormat>
  <Paragraphs>1986</Paragraphs>
  <Slides>172</Slides>
  <Notes>12</Notes>
  <HiddenSlides>0</HiddenSlides>
  <MMClips>5</MMClips>
  <ScaleCrop>false</ScaleCrop>
  <HeadingPairs>
    <vt:vector size="6" baseType="variant">
      <vt:variant>
        <vt:lpstr>Fonts Used</vt:lpstr>
      </vt:variant>
      <vt:variant>
        <vt:i4>19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172</vt:i4>
      </vt:variant>
    </vt:vector>
  </HeadingPairs>
  <TitlesOfParts>
    <vt:vector size="194" baseType="lpstr">
      <vt:lpstr>Abadi</vt:lpstr>
      <vt:lpstr>Agency FB</vt:lpstr>
      <vt:lpstr>Aptos</vt:lpstr>
      <vt:lpstr>Arial</vt:lpstr>
      <vt:lpstr>Arial-BoldMT</vt:lpstr>
      <vt:lpstr>ArialMT</vt:lpstr>
      <vt:lpstr>Bell MT</vt:lpstr>
      <vt:lpstr>Calibri</vt:lpstr>
      <vt:lpstr>Calibri Light</vt:lpstr>
      <vt:lpstr>Century Gothic</vt:lpstr>
      <vt:lpstr>Comic Sans MS</vt:lpstr>
      <vt:lpstr>Cordia New</vt:lpstr>
      <vt:lpstr>Courier New</vt:lpstr>
      <vt:lpstr>Forte</vt:lpstr>
      <vt:lpstr>Ink Free</vt:lpstr>
      <vt:lpstr>LEMON MILK</vt:lpstr>
      <vt:lpstr>Symbol</vt:lpstr>
      <vt:lpstr>Times New Roman</vt:lpstr>
      <vt:lpstr>Wingdings</vt:lpstr>
      <vt:lpstr>Office Theme</vt:lpstr>
      <vt:lpstr>1_Office Theme</vt:lpstr>
      <vt:lpstr>2_Office Theme</vt:lpstr>
      <vt:lpstr>PROGRAMMING</vt:lpstr>
      <vt:lpstr>PowerPoint Presentation</vt:lpstr>
      <vt:lpstr>What is a Computer Program?</vt:lpstr>
      <vt:lpstr>Data</vt:lpstr>
      <vt:lpstr>Variables and Constants</vt:lpstr>
      <vt:lpstr>Why use constants?</vt:lpstr>
      <vt:lpstr>Why use variables?</vt:lpstr>
      <vt:lpstr>Data Types</vt:lpstr>
      <vt:lpstr>Variable Names</vt:lpstr>
      <vt:lpstr>camelCase</vt:lpstr>
      <vt:lpstr>Hello, World!</vt:lpstr>
      <vt:lpstr>Developing Programs</vt:lpstr>
      <vt:lpstr>Programming Paradigms</vt:lpstr>
      <vt:lpstr>Procedural Programming</vt:lpstr>
      <vt:lpstr>So, What is this program doing?</vt:lpstr>
      <vt:lpstr>User Defined Functions</vt:lpstr>
      <vt:lpstr>Object Oriented Programming </vt:lpstr>
      <vt:lpstr>Object Oriented Programming </vt:lpstr>
      <vt:lpstr>Features of OOP: Inheritance</vt:lpstr>
      <vt:lpstr>Encapsulation</vt:lpstr>
      <vt:lpstr>Benefits of OOP</vt:lpstr>
      <vt:lpstr>Example of OOP</vt:lpstr>
      <vt:lpstr>Example of OOP</vt:lpstr>
      <vt:lpstr>Example of OOP</vt:lpstr>
      <vt:lpstr>Software Development Environments</vt:lpstr>
      <vt:lpstr>Features of an IDE</vt:lpstr>
      <vt:lpstr>PowerPoint Presentation</vt:lpstr>
      <vt:lpstr>Compiling Code</vt:lpstr>
      <vt:lpstr>Unit 4 | Chapter 22 – Digital Data</vt:lpstr>
      <vt:lpstr>Learning Intentions</vt:lpstr>
      <vt:lpstr>Let’s start with a bunch of key terms.</vt:lpstr>
      <vt:lpstr>Converting Numbers into Binary Patterns</vt:lpstr>
      <vt:lpstr>So how does this help with binary?</vt:lpstr>
      <vt:lpstr>This still doesn’t answer the question of how we read a binary value?</vt:lpstr>
      <vt:lpstr>I can have 8</vt:lpstr>
      <vt:lpstr>So, let’s get back to our base 2 stuff:</vt:lpstr>
      <vt:lpstr>We can make any integer using this system</vt:lpstr>
      <vt:lpstr>PowerPoint Presentation</vt:lpstr>
      <vt:lpstr>Can we convert a denary number to binary? </vt:lpstr>
      <vt:lpstr>PowerPoint Presentation</vt:lpstr>
      <vt:lpstr>Binary Coded Decimal</vt:lpstr>
      <vt:lpstr>Character Sets</vt:lpstr>
      <vt:lpstr>Representing Characters</vt:lpstr>
      <vt:lpstr>Representing Characters</vt:lpstr>
      <vt:lpstr>Hexadecimal Number System</vt:lpstr>
      <vt:lpstr>Converting a 16-bit Binary pattern to Hex</vt:lpstr>
      <vt:lpstr>Sign, magnitude and Complementation</vt:lpstr>
      <vt:lpstr>Complementation</vt:lpstr>
      <vt:lpstr>One’s Complement</vt:lpstr>
      <vt:lpstr>Two’s Complement</vt:lpstr>
      <vt:lpstr>PowerPoint Presentation</vt:lpstr>
      <vt:lpstr>Overflow</vt:lpstr>
      <vt:lpstr>Overflow</vt:lpstr>
      <vt:lpstr>Truth Tables</vt:lpstr>
      <vt:lpstr>NOT Operator</vt:lpstr>
      <vt:lpstr>AND Operator</vt:lpstr>
      <vt:lpstr>OR Operator</vt:lpstr>
      <vt:lpstr>XOR Operator</vt:lpstr>
      <vt:lpstr>There are a few notable others</vt:lpstr>
      <vt:lpstr>Using Data Types</vt:lpstr>
      <vt:lpstr>PowerPoint Presentation</vt:lpstr>
      <vt:lpstr>Digital Design Principles</vt:lpstr>
      <vt:lpstr>PowerPoint Presentation</vt:lpstr>
      <vt:lpstr>The Underlying Concepts of Computational Thinking</vt:lpstr>
      <vt:lpstr>Algorithm Design: Flowcharts</vt:lpstr>
      <vt:lpstr>PowerPoint Presentation</vt:lpstr>
      <vt:lpstr>Quick Examples</vt:lpstr>
      <vt:lpstr>Activity: Create Your Own</vt:lpstr>
      <vt:lpstr>Algorithm Design: Pseudocode</vt:lpstr>
      <vt:lpstr>Quick Examples</vt:lpstr>
      <vt:lpstr>Best Practice for Writing Pseudocode</vt:lpstr>
      <vt:lpstr>Activity: Create Your Own</vt:lpstr>
      <vt:lpstr>Program Control Structures</vt:lpstr>
      <vt:lpstr>Program Control Structures</vt:lpstr>
      <vt:lpstr>Program Control Structures</vt:lpstr>
      <vt:lpstr>Unconditional loops</vt:lpstr>
      <vt:lpstr>Condition Controlled Loops</vt:lpstr>
      <vt:lpstr>PowerPoint Presentation</vt:lpstr>
      <vt:lpstr>Sorting Algorithms: Bubble sort</vt:lpstr>
      <vt:lpstr>Sorting Algorithms: insertion sort</vt:lpstr>
      <vt:lpstr>Bubble Sort Vs Insertion Sort</vt:lpstr>
      <vt:lpstr>Algorithms for Searching</vt:lpstr>
      <vt:lpstr>Searching Algorithms: Linear Search &amp;  Binary Search</vt:lpstr>
      <vt:lpstr>PowerPoint Presentation</vt:lpstr>
      <vt:lpstr>Designing Solutions: Models</vt:lpstr>
      <vt:lpstr>Identifying Data Requirements for a Solution</vt:lpstr>
      <vt:lpstr>Developing an Appropriate User Interface</vt:lpstr>
      <vt:lpstr>Using a Dry Run to Test a Solution</vt:lpstr>
      <vt:lpstr>Creating a Trace Table</vt:lpstr>
      <vt:lpstr>PowerPoint Presentation</vt:lpstr>
      <vt:lpstr>The Specification</vt:lpstr>
      <vt:lpstr>The Difference Between Variables &amp; Constants</vt:lpstr>
      <vt:lpstr>Fix the code</vt:lpstr>
      <vt:lpstr>Displaying Your Data</vt:lpstr>
      <vt:lpstr>Coding Challenge: Digital ID Card</vt:lpstr>
      <vt:lpstr>Activity: What’s wrong here then?</vt:lpstr>
      <vt:lpstr>PowerPoint Presentation</vt:lpstr>
      <vt:lpstr>Making Programs Interactive in C#</vt:lpstr>
      <vt:lpstr>Capturing Data with Console.ReadLine()</vt:lpstr>
      <vt:lpstr>Check Yourself (before you wreck yourself!)</vt:lpstr>
      <vt:lpstr>Making Choices: The IF Statement</vt:lpstr>
      <vt:lpstr>Code Structure: Input + Logic</vt:lpstr>
      <vt:lpstr>PowerPoint Presentation</vt:lpstr>
      <vt:lpstr>Operator Check</vt:lpstr>
      <vt:lpstr>The Power of Repetition</vt:lpstr>
      <vt:lpstr>The FOR Loop Structure</vt:lpstr>
      <vt:lpstr>Anatomy of a For Loop</vt:lpstr>
      <vt:lpstr>Check your Knowledge!</vt:lpstr>
      <vt:lpstr>Going around in circles? MORE LOOPS?</vt:lpstr>
      <vt:lpstr>Anatomy of a While Loop</vt:lpstr>
      <vt:lpstr>PowerPoint Presentation</vt:lpstr>
      <vt:lpstr>Choosing the Right Tool</vt:lpstr>
      <vt:lpstr>Task: Times Table Generator</vt:lpstr>
      <vt:lpstr>Explain it to a 10 Year Old</vt:lpstr>
      <vt:lpstr>Features of Programming Languages</vt:lpstr>
      <vt:lpstr>Arrays</vt:lpstr>
      <vt:lpstr>Declaring an Array</vt:lpstr>
      <vt:lpstr>Using Arrays</vt:lpstr>
      <vt:lpstr>Looping through Arrays</vt:lpstr>
      <vt:lpstr>Sorting: BUBBLE SORT</vt:lpstr>
      <vt:lpstr>Sorting: INSERTION SORT</vt:lpstr>
      <vt:lpstr>Simple Searching: Linear Search</vt:lpstr>
      <vt:lpstr>Simple Searching: Binary Search</vt:lpstr>
      <vt:lpstr>The Specification</vt:lpstr>
      <vt:lpstr>String Manipulation Functions</vt:lpstr>
      <vt:lpstr>string myText = “WELL DONE”;</vt:lpstr>
      <vt:lpstr>string myText = “WELL DONE”;</vt:lpstr>
      <vt:lpstr>string myText = “WELL DONE”;</vt:lpstr>
      <vt:lpstr>string myText = “WELL DONE”;</vt:lpstr>
      <vt:lpstr>string myText = “WELL DONE”;</vt:lpstr>
      <vt:lpstr>string myText = “WELL DONE”;</vt:lpstr>
      <vt:lpstr>string myText = “WELL DONE”;</vt:lpstr>
      <vt:lpstr>string myText = “WELL DONE”;</vt:lpstr>
      <vt:lpstr>Building Reusable Code</vt:lpstr>
      <vt:lpstr>User Defined Functions</vt:lpstr>
      <vt:lpstr>Basic File Handling</vt:lpstr>
      <vt:lpstr>Your PC hasn’t looked at Error Handling Yet, so this Lesson will Look to Teaching You How to Handle and Resolve Errors in Programming</vt:lpstr>
      <vt:lpstr>Learning Intentions</vt:lpstr>
      <vt:lpstr>PowerPoint Presentation</vt:lpstr>
      <vt:lpstr>What Does The Error Handling Topic Involve?</vt:lpstr>
      <vt:lpstr>Data Validation</vt:lpstr>
      <vt:lpstr>Why do we need validation?</vt:lpstr>
      <vt:lpstr>Data Validation Checks</vt:lpstr>
      <vt:lpstr>Write TRUE or FALSE beside each of the following statements about validation.</vt:lpstr>
      <vt:lpstr>Write TRUE or FALSE beside each of the following statements about validation.</vt:lpstr>
      <vt:lpstr>Detection And Correction Techniques</vt:lpstr>
      <vt:lpstr>PowerPoint Presentation</vt:lpstr>
      <vt:lpstr>Debugging</vt:lpstr>
      <vt:lpstr>Simple Error-trapping Techniques </vt:lpstr>
      <vt:lpstr>Exception Handling</vt:lpstr>
      <vt:lpstr>PowerPoint Presentation</vt:lpstr>
      <vt:lpstr>PowerPoint Presentation</vt:lpstr>
      <vt:lpstr>What You Need To Know</vt:lpstr>
      <vt:lpstr>PowerPoint Presentation</vt:lpstr>
      <vt:lpstr>White Box Testing</vt:lpstr>
      <vt:lpstr>White Box Testing</vt:lpstr>
      <vt:lpstr>Black Box Testing</vt:lpstr>
      <vt:lpstr>Black Box Testing</vt:lpstr>
      <vt:lpstr>Unit Testing</vt:lpstr>
      <vt:lpstr>Integration Testing</vt:lpstr>
      <vt:lpstr>System Testing</vt:lpstr>
      <vt:lpstr>Creating and Using a Test Plan</vt:lpstr>
      <vt:lpstr>Ingredients to a Test Plan</vt:lpstr>
      <vt:lpstr>The Types of Test Data To Use</vt:lpstr>
      <vt:lpstr>Evaluation Of Digitally Authored Systems</vt:lpstr>
      <vt:lpstr>What the Spec Says</vt:lpstr>
      <vt:lpstr>The Importance of Evaluating a System</vt:lpstr>
      <vt:lpstr>Functional and Non Functional Requirements</vt:lpstr>
      <vt:lpstr>Robustness</vt:lpstr>
      <vt:lpstr>An Evaluation Table</vt:lpstr>
      <vt:lpstr>Complete the paragraph below, about evaluation, using terms from the list provided. (Not all terms will be used.)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PROGRAMMING</dc:title>
  <dc:creator>J Butler</dc:creator>
  <cp:lastModifiedBy>Microsoft account</cp:lastModifiedBy>
  <cp:revision>55</cp:revision>
  <dcterms:created xsi:type="dcterms:W3CDTF">2026-01-05T15:57:32Z</dcterms:created>
  <dcterms:modified xsi:type="dcterms:W3CDTF">2026-10-31T12:15:45Z</dcterms:modified>
</cp:coreProperties>
</file>