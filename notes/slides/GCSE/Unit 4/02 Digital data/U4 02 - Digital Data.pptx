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76"/>
  </p:notesMasterIdLst>
  <p:sldIdLst>
    <p:sldId id="309" r:id="rId32"/>
    <p:sldId id="310" r:id="rId33"/>
    <p:sldId id="311" r:id="rId34"/>
    <p:sldId id="312" r:id="rId35"/>
    <p:sldId id="313" r:id="rId36"/>
    <p:sldId id="314" r:id="rId37"/>
    <p:sldId id="315" r:id="rId38"/>
    <p:sldId id="316" r:id="rId39"/>
    <p:sldId id="317" r:id="rId40"/>
    <p:sldId id="318" r:id="rId41"/>
    <p:sldId id="319" r:id="rId42"/>
    <p:sldId id="346" r:id="rId43"/>
    <p:sldId id="320" r:id="rId44"/>
    <p:sldId id="323" r:id="rId45"/>
    <p:sldId id="321" r:id="rId46"/>
    <p:sldId id="322" r:id="rId47"/>
    <p:sldId id="324" r:id="rId48"/>
    <p:sldId id="326" r:id="rId49"/>
    <p:sldId id="327" r:id="rId50"/>
    <p:sldId id="328" r:id="rId51"/>
    <p:sldId id="329" r:id="rId52"/>
    <p:sldId id="330" r:id="rId53"/>
    <p:sldId id="333" r:id="rId54"/>
    <p:sldId id="334" r:id="rId55"/>
    <p:sldId id="335" r:id="rId56"/>
    <p:sldId id="336" r:id="rId57"/>
    <p:sldId id="337" r:id="rId58"/>
    <p:sldId id="338" r:id="rId59"/>
    <p:sldId id="339" r:id="rId60"/>
    <p:sldId id="340" r:id="rId61"/>
    <p:sldId id="370" r:id="rId62"/>
    <p:sldId id="341" r:id="rId63"/>
    <p:sldId id="342"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EDE"/>
    <a:srgbClr val="003140"/>
    <a:srgbClr val="FFFFFF"/>
    <a:srgbClr val="DE6BF9"/>
    <a:srgbClr val="EDB0FC"/>
    <a:srgbClr val="1C74A6"/>
    <a:srgbClr val="00B050"/>
    <a:srgbClr val="E0E0E0"/>
    <a:srgbClr val="00B653"/>
    <a:srgbClr val="07E0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7" autoAdjust="0"/>
    <p:restoredTop sz="94660"/>
  </p:normalViewPr>
  <p:slideViewPr>
    <p:cSldViewPr snapToGrid="0">
      <p:cViewPr varScale="1">
        <p:scale>
          <a:sx n="151" d="100"/>
          <a:sy n="151" d="100"/>
        </p:scale>
        <p:origin x="594"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176" Type="http://schemas.openxmlformats.org/officeDocument/2006/relationships/notesMaster" Target="notesMasters/notesMaster1.xml"/><Relationship Id="rId177" Type="http://schemas.openxmlformats.org/officeDocument/2006/relationships/presProps" Target="presProps.xml"/><Relationship Id="rId178" Type="http://schemas.openxmlformats.org/officeDocument/2006/relationships/viewProps" Target="viewProps.xml"/><Relationship Id="rId179" Type="http://schemas.openxmlformats.org/officeDocument/2006/relationships/theme" Target="theme/theme1.xml"/><Relationship Id="rId18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09DC5-68F2-4230-868B-6FA81117FBD2}" type="datetimeFigureOut">
              <a:rPr lang="en-GB" smtClean="0"/>
              <a:t>31/10/2026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A05367-3E37-47F2-9543-A194C2AE934D}" type="slidenum">
              <a:rPr lang="en-GB" smtClean="0"/>
              <a:t>‹#›</a:t>
            </a:fld>
            <a:endParaRPr lang="en-GB"/>
          </a:p>
        </p:txBody>
      </p:sp>
    </p:spTree>
    <p:extLst>
      <p:ext uri="{BB962C8B-B14F-4D97-AF65-F5344CB8AC3E}">
        <p14:creationId xmlns:p14="http://schemas.microsoft.com/office/powerpoint/2010/main" val="3966993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Adding binary</a:t>
            </a:r>
            <a:r>
              <a:rPr lang="en-GB" baseline="0" dirty="0"/>
              <a:t> notes</a:t>
            </a:r>
            <a:endParaRPr lang="en-GB" dirty="0"/>
          </a:p>
        </p:txBody>
      </p:sp>
      <p:sp>
        <p:nvSpPr>
          <p:cNvPr id="4" name="Slide Number Placeholder 3"/>
          <p:cNvSpPr>
            <a:spLocks noGrp="1"/>
          </p:cNvSpPr>
          <p:nvPr>
            <p:ph type="sldNum" sz="quarter" idx="10"/>
          </p:nvPr>
        </p:nvSpPr>
        <p:spPr/>
        <p:txBody>
          <a:bodyPr/>
          <a:lstStyle/>
          <a:p>
            <a:fld id="{90D94524-7777-48C9-95D0-8D525AF2A7A0}" type="slidenum">
              <a:rPr lang="en-GB" smtClean="0"/>
              <a:t>51</a:t>
            </a:fld>
            <a:endParaRPr lang="en-GB"/>
          </a:p>
        </p:txBody>
      </p:sp>
    </p:spTree>
    <p:extLst>
      <p:ext uri="{BB962C8B-B14F-4D97-AF65-F5344CB8AC3E}">
        <p14:creationId xmlns:p14="http://schemas.microsoft.com/office/powerpoint/2010/main" val="3699167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Buffer: Used to boost a weak signal</a:t>
            </a:r>
          </a:p>
          <a:p>
            <a:r>
              <a:rPr lang="en-GB" dirty="0"/>
              <a:t>XNOR: If</a:t>
            </a:r>
            <a:r>
              <a:rPr lang="en-GB" baseline="0" dirty="0"/>
              <a:t> the inputs differ then give 0. If inputs are the same output 1</a:t>
            </a:r>
          </a:p>
          <a:p>
            <a:endParaRPr lang="en-GB" dirty="0"/>
          </a:p>
        </p:txBody>
      </p:sp>
      <p:sp>
        <p:nvSpPr>
          <p:cNvPr id="4" name="Slide Number Placeholder 3"/>
          <p:cNvSpPr>
            <a:spLocks noGrp="1"/>
          </p:cNvSpPr>
          <p:nvPr>
            <p:ph type="sldNum" sz="quarter" idx="10"/>
          </p:nvPr>
        </p:nvSpPr>
        <p:spPr/>
        <p:txBody>
          <a:bodyPr/>
          <a:lstStyle/>
          <a:p>
            <a:fld id="{92A05367-3E37-47F2-9543-A194C2AE934D}" type="slidenum">
              <a:rPr lang="en-GB" smtClean="0"/>
              <a:t>59</a:t>
            </a:fld>
            <a:endParaRPr lang="en-GB"/>
          </a:p>
        </p:txBody>
      </p:sp>
    </p:spTree>
    <p:extLst>
      <p:ext uri="{BB962C8B-B14F-4D97-AF65-F5344CB8AC3E}">
        <p14:creationId xmlns:p14="http://schemas.microsoft.com/office/powerpoint/2010/main" val="3499700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63C437-BADB-26F1-1744-B58FF5287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4CBFB801-A7E3-D5F2-41AF-20AE09E78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2AA20C0-F91E-718E-0FAA-2C1C8604461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35EF3A6F-1787-E73E-F0CA-8B77F6566E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0D4A7528-8DB0-F884-7366-D4348D2CC2C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75912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191B5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630BFD-41C9-4443-37A0-7DA0E7E8E211}"/>
              </a:ext>
            </a:extLst>
          </p:cNvPr>
          <p:cNvSpPr>
            <a:spLocks noGrp="1"/>
          </p:cNvSpPr>
          <p:nvPr>
            <p:ph type="title"/>
          </p:nvPr>
        </p:nvSpPr>
        <p:spPr/>
        <p:txBody>
          <a:bodyPr/>
          <a:lstStyle>
            <a:lvl1pPr>
              <a:defRPr>
                <a:solidFill>
                  <a:schemeClr val="bg1"/>
                </a:solidFill>
                <a:latin typeface="LEMON MILK" panose="00000500000000000000" pitchFamily="50"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xmlns="" id="{6808EC02-734E-FDAE-7DF3-8DB3C6AA7C0A}"/>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EC58D06E-8825-23B1-C07E-FF963A9AC48D}"/>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191823C9-1047-477F-F79E-CBC28BFEDD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B9EB253-8011-048D-8449-60840055D35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65617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29FD9-52B6-B3F1-3ACC-92EB9B7544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E9D83799-5349-F038-E14F-DB614AE9FB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12A1649-151D-93EA-631F-B6099636307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056C4EBE-9CE4-D786-4093-C4BB2FD7F5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F731C0E-1C01-5CD7-8D36-2CAB20EAFAF1}"/>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06965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D0B23-99D8-5C9C-2DB4-375C26F10F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30A73CCA-A2D9-9C14-2365-AA1EE615E1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7A55BD96-FD5E-73F6-F796-4F1494B897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5E5168EB-58D8-A759-0050-632F4F55C931}"/>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1EF8AA03-4BAF-F0E0-E32D-60119D79A0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280E02D9-AF26-C903-50A9-55EC9735636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921576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7BB497-6D57-98B6-5EC8-FDE5CB6E02B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FD1B0F7-B6C5-B1D4-D80E-9B9C972D77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8D0C5B9-F4F6-0165-1411-ADCFCB843E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421935E2-B472-EA91-DB4E-C839D7805D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B760D12-2E96-23CB-A91A-8971B42F9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CACE3A3C-35F0-AF39-42CD-735B600489D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8" name="Footer Placeholder 7">
            <a:extLst>
              <a:ext uri="{FF2B5EF4-FFF2-40B4-BE49-F238E27FC236}">
                <a16:creationId xmlns:a16="http://schemas.microsoft.com/office/drawing/2014/main" xmlns="" id="{DAFE4A0E-F73F-2032-32AC-526010C7310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731E3EB0-9117-A459-5243-B3DC56052A2E}"/>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757637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E51F82-84B2-5D36-C364-390E8923CF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A2D17616-652E-05AA-FE9A-067BD8CA531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4" name="Footer Placeholder 3">
            <a:extLst>
              <a:ext uri="{FF2B5EF4-FFF2-40B4-BE49-F238E27FC236}">
                <a16:creationId xmlns:a16="http://schemas.microsoft.com/office/drawing/2014/main" xmlns="" id="{78750DCC-3A1E-8816-A369-7128F0B40A3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7ADB4CC8-7E5E-0E1E-CFB2-324D93DDAC9C}"/>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420822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B481DC6-E884-9B37-F7D3-8D1D2BA38B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3" name="Footer Placeholder 2">
            <a:extLst>
              <a:ext uri="{FF2B5EF4-FFF2-40B4-BE49-F238E27FC236}">
                <a16:creationId xmlns:a16="http://schemas.microsoft.com/office/drawing/2014/main" xmlns="" id="{0C177595-7DBE-CA37-A966-4329AD60CF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2357C3EF-50D5-B3D7-5976-F3C994131A46}"/>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840444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8163C3-090A-ED96-6BA2-12BC4401C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167BE877-B5AD-73D5-AD39-54969DF411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DDF72D7E-4E92-4511-E3CA-11933BE62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945A9D1-C06F-C729-CF79-95BAE94CD88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D04E4A-A893-479C-B352-D71BEB8B73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8EA53356-B1BC-934B-E7DC-9884409BFD6A}"/>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384172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16F818-E602-7294-7934-E1A4F112C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B74AACFF-11BF-EF5A-730B-C80F1E1496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0211D112-7B44-9FA8-E772-0B9B1C36B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559975E-D19D-D6D9-CB9D-D4D3F75539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3D0A71-3B59-7F44-56F9-706ADF9398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C9D60747-C038-AAFF-A862-7D574E1E8824}"/>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217958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8EB0AA-CC24-AF77-4BB4-53FB7D3E752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95A0E8B6-4DFD-4D88-8F1D-40849C2C5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D7A9F494-B3DE-6065-F2BF-6F8ED78FD09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613C085F-8685-2373-EC66-78868E8A06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EEDB663-CDFD-1779-C76A-5B386BB5D71B}"/>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935753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EE53677-52B7-BFC6-E572-A036BEA9C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8D729EDA-7926-9172-54DD-D0A3E3BB19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6DAF23D-0B70-7617-B809-9045D499C02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C29A83D4-743A-E1E6-0109-C9B1F12D0D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ED7CA8C-5DC8-E3F6-69F3-D3DF791D3A5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073968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5FC9BC-F7EB-4679-B546-E51CDD2325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95842375-5315-4C45-AF9B-0AFFA874C3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7235C8F-4E0E-4286-81DC-9D2934CD4E1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D65B17F6-EB77-4D18-ABF1-CA328B1D4E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33EBF0D-FE71-47F9-AA17-799D923C9877}"/>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1219202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EA7CC0-4E8D-49BB-BCEA-E0CD81FF96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56EC2238-C309-4CD6-9323-09399FB937C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CC8AAC1-9A0B-4FF8-956F-71104D753C8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CD723DC7-A23C-4813-A731-5094F3711C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44D32689-12A9-4737-A421-ECDD1EFC583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34171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02290A-5F3A-44C5-9884-1F6AE2A118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A9F1DEA4-386A-429E-BD37-5198B65EC2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1F1F06AB-A623-4C1A-8BC4-1BB08A9BDFD2}"/>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372F7FE7-E3CA-4757-9230-6214C1A2B8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1621482D-7CC6-4B0D-BDF6-B33932964174}"/>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19972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A3C2C9-F2C5-4A0E-8BC3-F6585AC53E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0213A83B-6149-449B-8CE9-1B69397245B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E2B727F1-78E5-412E-80D4-A77416759A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1CBA42B1-3B39-4377-8297-74AE3F3D934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2ED6D471-C1B0-4477-B277-57E83E61CC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61C8BDC9-EABC-4145-821B-4B47D43B331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383036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029212-66E6-4851-9704-D1D0E013EC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8FBF198-7E05-45D2-9C13-5D9872865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6E74D802-FCBE-448C-877C-CD24B8D895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3CECCDE9-518A-445E-8F0C-E41DE2F43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E6F49ED5-CDFC-4F48-BEBC-0C7E15B92A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4391BB69-7E14-4641-B195-CD6323A00E70}"/>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8" name="Footer Placeholder 7">
            <a:extLst>
              <a:ext uri="{FF2B5EF4-FFF2-40B4-BE49-F238E27FC236}">
                <a16:creationId xmlns:a16="http://schemas.microsoft.com/office/drawing/2014/main" xmlns="" id="{23BF9193-A1D4-4A3F-83AB-2FDB7A8A681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F021F8D8-E735-45F3-BA7F-1414D06019E0}"/>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5154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0A5104-FAA2-4170-8DC5-CFB596EE739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6158F3E3-39C2-43A6-AF89-6A707E9EEC27}"/>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4" name="Footer Placeholder 3">
            <a:extLst>
              <a:ext uri="{FF2B5EF4-FFF2-40B4-BE49-F238E27FC236}">
                <a16:creationId xmlns:a16="http://schemas.microsoft.com/office/drawing/2014/main" xmlns="" id="{F66A3E8F-6D2B-4FDC-8ACF-6DB7072335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3523EEF6-CBD1-4990-A771-459D7D0CE8E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7214539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31E45BA-EB29-4DE5-9CBF-B462C2933E21}"/>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3" name="Footer Placeholder 2">
            <a:extLst>
              <a:ext uri="{FF2B5EF4-FFF2-40B4-BE49-F238E27FC236}">
                <a16:creationId xmlns:a16="http://schemas.microsoft.com/office/drawing/2014/main" xmlns="" id="{7F172DBB-7912-4C35-A748-6D67714657D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CF8631C7-72D5-46AA-86D1-51198C4D0BF3}"/>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9033414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08D40-C553-41FF-B9A1-3BFA221213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C685827A-DCE8-4E98-B355-4B724B1823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508DDB70-AE7E-4870-B4A8-95E93C4EC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8F394F09-A5BE-4260-8E8E-A6746C823E4B}"/>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D57C977C-02CF-4A0A-8605-4B9B6E6F29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D279887B-2092-40E1-9799-B078E7ADFCAE}"/>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4288030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53F6C2-2A79-425F-B78B-87E3060E6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A8BD401A-AEF7-4778-BEEC-3903604690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C76C66DF-B660-483E-BD6F-84C7873EB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F899C61D-403E-483F-83C3-8BFE32B4E5B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4D7277D8-0608-4176-8C79-5A670155E9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15492866-2110-4E4B-9E03-868470DE9AED}"/>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404068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0BBE8-8A19-4CA3-B0D0-3D5AB372C1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27AF79E3-F4D3-4DBF-8A24-0B13305987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1CB6C27-17B1-4FAF-8C3A-012979C9484C}"/>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2589D89-8DB0-4C87-8159-392A520158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3CB50750-AAD6-4519-B3A2-D55A447F265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920121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1B17744-BE0E-4C2D-8E85-A98C36E1AA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ABC260B5-3633-4226-81DC-11D7CFA74B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ABBF93D7-48DF-4F02-BA34-CA5CED79E856}"/>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905904DB-50B8-4D9A-AB54-A21CBA5B64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639EE86D-7426-4CBD-BA36-150F0FD58079}"/>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8600556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565017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904056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8390373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0085108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EE93D6B-74CE-4FDD-8BD0-E21F83B4F91E}" type="datetimeFigureOut">
              <a:rPr lang="en-GB" smtClean="0"/>
              <a:t>31/10/2026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84759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EE93D6B-74CE-4FDD-8BD0-E21F83B4F91E}" type="datetimeFigureOut">
              <a:rPr lang="en-GB" smtClean="0"/>
              <a:t>31/10/2026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4531986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E93D6B-74CE-4FDD-8BD0-E21F83B4F91E}" type="datetimeFigureOut">
              <a:rPr lang="en-GB" smtClean="0"/>
              <a:t>31/10/2026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4113581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9335600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9031132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6679712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2969473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91B5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F0FABDB-F7B5-76B6-20FE-C0AED463EB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xmlns="" id="{50B11D2A-37FD-254F-F7BF-12ACEBDC1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9C57448D-2A1A-EE33-37F7-8EE210FF1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DC48344B-9636-6D43-B7A1-AFC23066C0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xmlns="" id="{63939D83-EBE7-5C4B-33F0-232FADF5BD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11636-159F-4811-B362-FA6899840FE0}" type="slidenum">
              <a:rPr lang="en-GB" smtClean="0"/>
              <a:t>‹#›</a:t>
            </a:fld>
            <a:endParaRPr lang="en-GB"/>
          </a:p>
        </p:txBody>
      </p:sp>
    </p:spTree>
    <p:extLst>
      <p:ext uri="{BB962C8B-B14F-4D97-AF65-F5344CB8AC3E}">
        <p14:creationId xmlns:p14="http://schemas.microsoft.com/office/powerpoint/2010/main" val="2337411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latin typeface="LEMON MILK" panose="000005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7B86FEB-A93A-4930-B294-B95D0D6039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7412376B-86F3-4635-9383-75143BB0C2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370128D-5950-47CB-BA99-F9601858C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8BA322D-0C39-4F81-B6F5-292F37C22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xmlns="" id="{060B5791-46F1-4425-BB08-95908C5D44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147FB2-A101-491A-ACE6-1492808EAC6D}" type="slidenum">
              <a:rPr lang="en-GB" smtClean="0"/>
              <a:t>‹#›</a:t>
            </a:fld>
            <a:endParaRPr lang="en-GB"/>
          </a:p>
        </p:txBody>
      </p:sp>
    </p:spTree>
    <p:extLst>
      <p:ext uri="{BB962C8B-B14F-4D97-AF65-F5344CB8AC3E}">
        <p14:creationId xmlns:p14="http://schemas.microsoft.com/office/powerpoint/2010/main" val="2291122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Right Triangle 6"/>
          <p:cNvSpPr/>
          <p:nvPr userDrawn="1"/>
        </p:nvSpPr>
        <p:spPr>
          <a:xfrm flipH="1">
            <a:off x="0" y="0"/>
            <a:ext cx="12192000" cy="6858000"/>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E93D6B-74CE-4FDD-8BD0-E21F83B4F91E}" type="datetimeFigureOut">
              <a:rPr lang="en-GB" smtClean="0"/>
              <a:t>31/10/2026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25D40-B648-423D-A62F-831986932A01}" type="slidenum">
              <a:rPr lang="en-GB" smtClean="0"/>
              <a:t>‹#›</a:t>
            </a:fld>
            <a:endParaRPr lang="en-GB"/>
          </a:p>
        </p:txBody>
      </p:sp>
    </p:spTree>
    <p:extLst>
      <p:ext uri="{BB962C8B-B14F-4D97-AF65-F5344CB8AC3E}">
        <p14:creationId xmlns:p14="http://schemas.microsoft.com/office/powerpoint/2010/main" val="19096670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B0F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B0F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B0F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2.xml"/><Relationship Id="rId5"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jpeg"/></Relationships>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1122363"/>
            <a:ext cx="12192000" cy="2387600"/>
          </a:xfrm>
        </p:spPr>
        <p:txBody>
          <a:bodyPr>
            <a:normAutofit/>
          </a:bodyPr>
          <a:lstStyle/>
          <a:p>
            <a:r>
              <a:rPr lang="en-GB" sz="4800" dirty="0">
                <a:solidFill>
                  <a:schemeClr val="tx1"/>
                </a:solidFill>
              </a:rPr>
              <a:t>Unit 4 | Chapter 22 – Digital Data</a:t>
            </a:r>
          </a:p>
        </p:txBody>
      </p:sp>
      <p:sp>
        <p:nvSpPr>
          <p:cNvPr id="3" name="Subtitle 2"/>
          <p:cNvSpPr>
            <a:spLocks noGrp="1"/>
          </p:cNvSpPr>
          <p:nvPr>
            <p:ph type="subTitle" idx="1"/>
          </p:nvPr>
        </p:nvSpPr>
        <p:spPr>
          <a:xfrm>
            <a:off x="4435365" y="2430463"/>
            <a:ext cx="7542362" cy="1655762"/>
          </a:xfrm>
        </p:spPr>
        <p:txBody>
          <a:bodyPr/>
          <a:lstStyle/>
          <a:p>
            <a:pPr algn="r"/>
            <a:r>
              <a:rPr lang="en-GB" dirty="0">
                <a:solidFill>
                  <a:schemeClr val="tx1"/>
                </a:solidFill>
              </a:rPr>
              <a:t>Mr Butler</a:t>
            </a:r>
          </a:p>
        </p:txBody>
      </p:sp>
    </p:spTree>
    <p:extLst>
      <p:ext uri="{BB962C8B-B14F-4D97-AF65-F5344CB8AC3E}">
        <p14:creationId xmlns:p14="http://schemas.microsoft.com/office/powerpoint/2010/main" val="2037532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4D51BC-14C5-A969-9220-E7002D1381C4}"/>
              </a:ext>
            </a:extLst>
          </p:cNvPr>
          <p:cNvSpPr>
            <a:spLocks noGrp="1"/>
          </p:cNvSpPr>
          <p:nvPr>
            <p:ph type="title"/>
          </p:nvPr>
        </p:nvSpPr>
        <p:spPr/>
        <p:txBody>
          <a:bodyPr/>
          <a:lstStyle/>
          <a:p>
            <a:r>
              <a:rPr lang="en-GB" dirty="0">
                <a:solidFill>
                  <a:schemeClr val="tx1"/>
                </a:solidFill>
              </a:rPr>
              <a:t>Learning Intentions</a:t>
            </a:r>
          </a:p>
        </p:txBody>
      </p:sp>
      <p:sp>
        <p:nvSpPr>
          <p:cNvPr id="3" name="Content Placeholder 2">
            <a:extLst>
              <a:ext uri="{FF2B5EF4-FFF2-40B4-BE49-F238E27FC236}">
                <a16:creationId xmlns:a16="http://schemas.microsoft.com/office/drawing/2014/main" xmlns="" id="{3643D0F4-5070-0F5A-E611-96E4FF04BBC7}"/>
              </a:ext>
            </a:extLst>
          </p:cNvPr>
          <p:cNvSpPr>
            <a:spLocks noGrp="1"/>
          </p:cNvSpPr>
          <p:nvPr>
            <p:ph idx="1"/>
          </p:nvPr>
        </p:nvSpPr>
        <p:spPr/>
        <p:txBody>
          <a:bodyPr>
            <a:normAutofit lnSpcReduction="10000"/>
          </a:bodyPr>
          <a:lstStyle/>
          <a:p>
            <a:r>
              <a:rPr lang="en-GB" dirty="0">
                <a:solidFill>
                  <a:schemeClr val="tx1"/>
                </a:solidFill>
              </a:rPr>
              <a:t>describe how a number is converted to a binary pattern for storage in a computer; </a:t>
            </a:r>
          </a:p>
          <a:p>
            <a:r>
              <a:rPr lang="en-GB" dirty="0">
                <a:solidFill>
                  <a:schemeClr val="tx1"/>
                </a:solidFill>
              </a:rPr>
              <a:t>demonstrate understanding of the following units of data;</a:t>
            </a:r>
          </a:p>
          <a:p>
            <a:pPr lvl="1"/>
            <a:r>
              <a:rPr lang="en-GB" dirty="0">
                <a:solidFill>
                  <a:schemeClr val="tx1"/>
                </a:solidFill>
              </a:rPr>
              <a:t>Bit; Nibble; Byte; Kilobyte; Megabyte; Gigabyte; Terabyte; </a:t>
            </a:r>
          </a:p>
          <a:p>
            <a:r>
              <a:rPr lang="en-GB" dirty="0">
                <a:solidFill>
                  <a:schemeClr val="tx1"/>
                </a:solidFill>
              </a:rPr>
              <a:t>demonstrate understanding of the following types of character representation:– ASCII (7-bit and 8-bit); and– Unicode; </a:t>
            </a:r>
          </a:p>
          <a:p>
            <a:r>
              <a:rPr lang="en-GB" dirty="0">
                <a:solidFill>
                  <a:schemeClr val="tx1"/>
                </a:solidFill>
              </a:rPr>
              <a:t>demonstrate understanding of and use number representation and convert between denary, binary and hexadecimal; </a:t>
            </a:r>
          </a:p>
          <a:p>
            <a:r>
              <a:rPr lang="en-GB" dirty="0">
                <a:solidFill>
                  <a:schemeClr val="tx1"/>
                </a:solidFill>
              </a:rPr>
              <a:t>perform the addition of two bytes and explain the meaning of overflow.</a:t>
            </a:r>
          </a:p>
          <a:p>
            <a:endParaRPr lang="en-GB" dirty="0"/>
          </a:p>
        </p:txBody>
      </p:sp>
    </p:spTree>
    <p:extLst>
      <p:ext uri="{BB962C8B-B14F-4D97-AF65-F5344CB8AC3E}">
        <p14:creationId xmlns:p14="http://schemas.microsoft.com/office/powerpoint/2010/main" val="2956814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FEDEEC-DB4C-C22B-DA83-B2DFC1E6EDDF}"/>
              </a:ext>
            </a:extLst>
          </p:cNvPr>
          <p:cNvSpPr>
            <a:spLocks noGrp="1"/>
          </p:cNvSpPr>
          <p:nvPr>
            <p:ph type="title"/>
          </p:nvPr>
        </p:nvSpPr>
        <p:spPr/>
        <p:txBody>
          <a:bodyPr/>
          <a:lstStyle/>
          <a:p>
            <a:r>
              <a:rPr lang="en-GB" dirty="0">
                <a:solidFill>
                  <a:schemeClr val="tx1"/>
                </a:solidFill>
              </a:rPr>
              <a:t>Let’s start with a bunch of key terms.</a:t>
            </a:r>
          </a:p>
        </p:txBody>
      </p:sp>
      <p:sp>
        <p:nvSpPr>
          <p:cNvPr id="3" name="Content Placeholder 2">
            <a:extLst>
              <a:ext uri="{FF2B5EF4-FFF2-40B4-BE49-F238E27FC236}">
                <a16:creationId xmlns:a16="http://schemas.microsoft.com/office/drawing/2014/main" xmlns="" id="{A4241371-624F-882A-F722-DC64A61492DF}"/>
              </a:ext>
            </a:extLst>
          </p:cNvPr>
          <p:cNvSpPr>
            <a:spLocks noGrp="1"/>
          </p:cNvSpPr>
          <p:nvPr>
            <p:ph idx="1"/>
          </p:nvPr>
        </p:nvSpPr>
        <p:spPr>
          <a:xfrm>
            <a:off x="169682" y="1825625"/>
            <a:ext cx="11698664" cy="4839126"/>
          </a:xfrm>
        </p:spPr>
        <p:txBody>
          <a:bodyPr>
            <a:normAutofit fontScale="77500" lnSpcReduction="20000"/>
          </a:bodyPr>
          <a:lstStyle/>
          <a:p>
            <a:pPr marL="2063750" indent="-2063750">
              <a:buNone/>
            </a:pPr>
            <a:r>
              <a:rPr lang="en-GB" b="1" dirty="0">
                <a:solidFill>
                  <a:schemeClr val="tx1"/>
                </a:solidFill>
              </a:rPr>
              <a:t>Bit</a:t>
            </a:r>
            <a:r>
              <a:rPr lang="en-GB" dirty="0">
                <a:solidFill>
                  <a:schemeClr val="tx1"/>
                </a:solidFill>
              </a:rPr>
              <a:t> 	The word bit stands for Binary digit. It is a single digit in a binary number. It will either be 0 or 1. Bits are the smallest unit of storage on a computer. All data is stored as binary. </a:t>
            </a:r>
          </a:p>
          <a:p>
            <a:pPr marL="2063750" indent="-2063750">
              <a:buNone/>
            </a:pPr>
            <a:r>
              <a:rPr lang="en-GB" b="1" dirty="0">
                <a:solidFill>
                  <a:schemeClr val="tx1"/>
                </a:solidFill>
              </a:rPr>
              <a:t>Byte</a:t>
            </a:r>
            <a:r>
              <a:rPr lang="en-GB" dirty="0">
                <a:solidFill>
                  <a:schemeClr val="tx1"/>
                </a:solidFill>
              </a:rPr>
              <a:t> 	This is a group of 8 bits, which is made up of a series of 0’s and 1’s. Each byte represents a single character. The storage capacity of all computers is measured in multiples of bytes – Kilobytes, Megabytes, Gigabytes and Terabytes. </a:t>
            </a:r>
          </a:p>
          <a:p>
            <a:pPr marL="2063750" indent="-2063750">
              <a:buNone/>
            </a:pPr>
            <a:r>
              <a:rPr lang="en-GB" b="1" dirty="0">
                <a:solidFill>
                  <a:schemeClr val="tx1"/>
                </a:solidFill>
              </a:rPr>
              <a:t>Nibble</a:t>
            </a:r>
            <a:r>
              <a:rPr lang="en-GB" dirty="0">
                <a:solidFill>
                  <a:schemeClr val="tx1"/>
                </a:solidFill>
              </a:rPr>
              <a:t> 	A nibble is half a byte, only consisting of 4 binary digits. It can be represented by one 	hexadecimal digit. </a:t>
            </a:r>
          </a:p>
          <a:p>
            <a:pPr marL="2063750" indent="-2063750">
              <a:buNone/>
            </a:pPr>
            <a:r>
              <a:rPr lang="en-GB" b="1" dirty="0">
                <a:solidFill>
                  <a:schemeClr val="tx1"/>
                </a:solidFill>
              </a:rPr>
              <a:t>Kilobyte (KB) </a:t>
            </a:r>
            <a:r>
              <a:rPr lang="en-GB" dirty="0">
                <a:solidFill>
                  <a:schemeClr val="tx1"/>
                </a:solidFill>
              </a:rPr>
              <a:t>	This is larger than a Byte. 1 Kilobyte is equal to 1024 Bytes. </a:t>
            </a:r>
          </a:p>
          <a:p>
            <a:pPr marL="2063750" indent="-2063750">
              <a:buNone/>
            </a:pPr>
            <a:r>
              <a:rPr lang="en-GB" b="1" dirty="0">
                <a:solidFill>
                  <a:schemeClr val="tx1"/>
                </a:solidFill>
              </a:rPr>
              <a:t>Megabyte (MB) </a:t>
            </a:r>
            <a:r>
              <a:rPr lang="en-GB" dirty="0">
                <a:solidFill>
                  <a:schemeClr val="tx1"/>
                </a:solidFill>
              </a:rPr>
              <a:t>	This is larger than a Kilobyte. 1 Megabyte is equal to 1024 Kilobytes or 1048576 Bytes </a:t>
            </a:r>
          </a:p>
          <a:p>
            <a:pPr marL="2063750" indent="-2063750">
              <a:buNone/>
            </a:pPr>
            <a:r>
              <a:rPr lang="en-GB" b="1" dirty="0">
                <a:solidFill>
                  <a:schemeClr val="tx1"/>
                </a:solidFill>
              </a:rPr>
              <a:t>Gigabyte (GB) </a:t>
            </a:r>
            <a:r>
              <a:rPr lang="en-GB" dirty="0">
                <a:solidFill>
                  <a:schemeClr val="tx1"/>
                </a:solidFill>
              </a:rPr>
              <a:t>	This is larger than a Megabyte. 1 Gigabyte is equal to 1024 Megabytes </a:t>
            </a:r>
          </a:p>
          <a:p>
            <a:pPr marL="2063750" indent="-2063750">
              <a:buNone/>
            </a:pPr>
            <a:r>
              <a:rPr lang="en-GB" b="1" dirty="0">
                <a:solidFill>
                  <a:schemeClr val="tx1"/>
                </a:solidFill>
              </a:rPr>
              <a:t>Terabyte (TB) </a:t>
            </a:r>
            <a:r>
              <a:rPr lang="en-GB" dirty="0">
                <a:solidFill>
                  <a:schemeClr val="tx1"/>
                </a:solidFill>
              </a:rPr>
              <a:t>	This is larger than a Gigabyte. 1 Terabyte is equal to 1024 Gigabytes or one trillion Bytes</a:t>
            </a:r>
          </a:p>
          <a:p>
            <a:pPr marL="2063750" indent="-2063750">
              <a:buNone/>
            </a:pPr>
            <a:endParaRPr lang="en-GB" dirty="0"/>
          </a:p>
        </p:txBody>
      </p:sp>
    </p:spTree>
    <p:extLst>
      <p:ext uri="{BB962C8B-B14F-4D97-AF65-F5344CB8AC3E}">
        <p14:creationId xmlns:p14="http://schemas.microsoft.com/office/powerpoint/2010/main" val="1620659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62704" y="1435080"/>
            <a:ext cx="10515600" cy="1374775"/>
          </a:xfrm>
        </p:spPr>
        <p:txBody>
          <a:bodyPr/>
          <a:lstStyle/>
          <a:p>
            <a:r>
              <a:rPr lang="en-GB" dirty="0">
                <a:solidFill>
                  <a:schemeClr val="tx1"/>
                </a:solidFill>
              </a:rPr>
              <a:t>Numbers in denary (base 10) allow for 10 different digits to represent numbers:</a:t>
            </a:r>
          </a:p>
          <a:p>
            <a:pPr lvl="1"/>
            <a:r>
              <a:rPr lang="en-GB" dirty="0">
                <a:solidFill>
                  <a:schemeClr val="tx1"/>
                </a:solidFill>
              </a:rPr>
              <a:t>For example, we know</a:t>
            </a:r>
          </a:p>
          <a:p>
            <a:pPr marL="914400" lvl="2" indent="0">
              <a:buNone/>
            </a:pPr>
            <a:endParaRPr lang="en-GB" dirty="0"/>
          </a:p>
        </p:txBody>
      </p:sp>
      <p:sp>
        <p:nvSpPr>
          <p:cNvPr id="10" name="TextBox 9"/>
          <p:cNvSpPr txBox="1"/>
          <p:nvPr/>
        </p:nvSpPr>
        <p:spPr>
          <a:xfrm>
            <a:off x="8289887" y="2389069"/>
            <a:ext cx="3364302" cy="707886"/>
          </a:xfrm>
          <a:prstGeom prst="rect">
            <a:avLst/>
          </a:prstGeom>
          <a:noFill/>
        </p:spPr>
        <p:txBody>
          <a:bodyPr wrap="square" rtlCol="0">
            <a:spAutoFit/>
          </a:bodyPr>
          <a:lstStyle/>
          <a:p>
            <a:pPr algn="ctr"/>
            <a:r>
              <a:rPr lang="en-GB" sz="2000" dirty="0"/>
              <a:t>So we know we go up x10 each time</a:t>
            </a:r>
          </a:p>
        </p:txBody>
      </p:sp>
      <p:sp>
        <p:nvSpPr>
          <p:cNvPr id="2" name="Title 1"/>
          <p:cNvSpPr>
            <a:spLocks noGrp="1"/>
          </p:cNvSpPr>
          <p:nvPr>
            <p:ph type="title"/>
          </p:nvPr>
        </p:nvSpPr>
        <p:spPr>
          <a:xfrm>
            <a:off x="0" y="26332"/>
            <a:ext cx="10515600" cy="1325563"/>
          </a:xfrm>
        </p:spPr>
        <p:txBody>
          <a:bodyPr/>
          <a:lstStyle/>
          <a:p>
            <a:r>
              <a:rPr lang="en-GB" dirty="0">
                <a:solidFill>
                  <a:schemeClr val="tx1"/>
                </a:solidFill>
              </a:rPr>
              <a:t>Converting Numbers into Binary Patterns</a:t>
            </a:r>
          </a:p>
        </p:txBody>
      </p:sp>
      <p:sp>
        <p:nvSpPr>
          <p:cNvPr id="4" name="TextBox 3"/>
          <p:cNvSpPr txBox="1"/>
          <p:nvPr/>
        </p:nvSpPr>
        <p:spPr>
          <a:xfrm>
            <a:off x="6871069" y="2986926"/>
            <a:ext cx="3364302" cy="1107996"/>
          </a:xfrm>
          <a:prstGeom prst="rect">
            <a:avLst/>
          </a:prstGeom>
          <a:noFill/>
        </p:spPr>
        <p:txBody>
          <a:bodyPr wrap="square" rtlCol="0">
            <a:spAutoFit/>
          </a:bodyPr>
          <a:lstStyle/>
          <a:p>
            <a:pPr algn="ctr"/>
            <a:r>
              <a:rPr lang="en-GB" sz="6600" dirty="0"/>
              <a:t>256</a:t>
            </a:r>
          </a:p>
        </p:txBody>
      </p:sp>
      <p:sp>
        <p:nvSpPr>
          <p:cNvPr id="5" name="TextBox 4"/>
          <p:cNvSpPr txBox="1"/>
          <p:nvPr/>
        </p:nvSpPr>
        <p:spPr>
          <a:xfrm>
            <a:off x="9395016" y="3101880"/>
            <a:ext cx="3364302" cy="461665"/>
          </a:xfrm>
          <a:prstGeom prst="rect">
            <a:avLst/>
          </a:prstGeom>
          <a:noFill/>
        </p:spPr>
        <p:txBody>
          <a:bodyPr wrap="square" rtlCol="0">
            <a:spAutoFit/>
          </a:bodyPr>
          <a:lstStyle/>
          <a:p>
            <a:pPr algn="ctr"/>
            <a:r>
              <a:rPr lang="en-GB" sz="2400" dirty="0"/>
              <a:t>Means we have</a:t>
            </a:r>
          </a:p>
        </p:txBody>
      </p:sp>
      <p:sp>
        <p:nvSpPr>
          <p:cNvPr id="6" name="TextBox 5"/>
          <p:cNvSpPr txBox="1"/>
          <p:nvPr/>
        </p:nvSpPr>
        <p:spPr>
          <a:xfrm>
            <a:off x="7992276" y="3985427"/>
            <a:ext cx="3364302" cy="769441"/>
          </a:xfrm>
          <a:prstGeom prst="rect">
            <a:avLst/>
          </a:prstGeom>
          <a:noFill/>
        </p:spPr>
        <p:txBody>
          <a:bodyPr wrap="square" rtlCol="0">
            <a:spAutoFit/>
          </a:bodyPr>
          <a:lstStyle/>
          <a:p>
            <a:pPr algn="ctr"/>
            <a:r>
              <a:rPr lang="en-GB" sz="4400" dirty="0"/>
              <a:t>6 Units</a:t>
            </a:r>
          </a:p>
        </p:txBody>
      </p:sp>
      <p:sp>
        <p:nvSpPr>
          <p:cNvPr id="7" name="TextBox 6"/>
          <p:cNvSpPr txBox="1"/>
          <p:nvPr/>
        </p:nvSpPr>
        <p:spPr>
          <a:xfrm>
            <a:off x="7712865" y="4598673"/>
            <a:ext cx="3364302" cy="769441"/>
          </a:xfrm>
          <a:prstGeom prst="rect">
            <a:avLst/>
          </a:prstGeom>
          <a:noFill/>
        </p:spPr>
        <p:txBody>
          <a:bodyPr wrap="square" rtlCol="0">
            <a:spAutoFit/>
          </a:bodyPr>
          <a:lstStyle/>
          <a:p>
            <a:pPr algn="ctr"/>
            <a:r>
              <a:rPr lang="en-GB" sz="4400" dirty="0"/>
              <a:t>50 Tens</a:t>
            </a:r>
          </a:p>
        </p:txBody>
      </p:sp>
      <p:sp>
        <p:nvSpPr>
          <p:cNvPr id="8" name="TextBox 7"/>
          <p:cNvSpPr txBox="1"/>
          <p:nvPr/>
        </p:nvSpPr>
        <p:spPr>
          <a:xfrm>
            <a:off x="7802610" y="5221458"/>
            <a:ext cx="3568460" cy="769441"/>
          </a:xfrm>
          <a:prstGeom prst="rect">
            <a:avLst/>
          </a:prstGeom>
          <a:noFill/>
        </p:spPr>
        <p:txBody>
          <a:bodyPr wrap="square" rtlCol="0">
            <a:spAutoFit/>
          </a:bodyPr>
          <a:lstStyle/>
          <a:p>
            <a:pPr algn="ctr"/>
            <a:r>
              <a:rPr lang="en-GB" sz="4400" dirty="0"/>
              <a:t>200 Hundreds</a:t>
            </a:r>
          </a:p>
        </p:txBody>
      </p:sp>
      <p:sp>
        <p:nvSpPr>
          <p:cNvPr id="9" name="Curved Up Arrow 8"/>
          <p:cNvSpPr/>
          <p:nvPr/>
        </p:nvSpPr>
        <p:spPr>
          <a:xfrm rot="10800000">
            <a:off x="8415633" y="2805182"/>
            <a:ext cx="650631" cy="281271"/>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Curved Up Arrow 10"/>
          <p:cNvSpPr/>
          <p:nvPr/>
        </p:nvSpPr>
        <p:spPr>
          <a:xfrm rot="10800000">
            <a:off x="7992276" y="2815684"/>
            <a:ext cx="650631" cy="281271"/>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TextBox 11"/>
          <p:cNvSpPr txBox="1"/>
          <p:nvPr/>
        </p:nvSpPr>
        <p:spPr>
          <a:xfrm>
            <a:off x="4984787" y="2122467"/>
            <a:ext cx="3364302" cy="707886"/>
          </a:xfrm>
          <a:prstGeom prst="rect">
            <a:avLst/>
          </a:prstGeom>
          <a:noFill/>
        </p:spPr>
        <p:txBody>
          <a:bodyPr wrap="square" rtlCol="0">
            <a:spAutoFit/>
          </a:bodyPr>
          <a:lstStyle/>
          <a:p>
            <a:pPr algn="ctr"/>
            <a:r>
              <a:rPr lang="en-GB" sz="2000" dirty="0"/>
              <a:t>And again, x10 to go to the next ‘bit’</a:t>
            </a:r>
          </a:p>
        </p:txBody>
      </p:sp>
      <p:sp>
        <p:nvSpPr>
          <p:cNvPr id="13" name="TextBox 12"/>
          <p:cNvSpPr txBox="1"/>
          <p:nvPr/>
        </p:nvSpPr>
        <p:spPr>
          <a:xfrm>
            <a:off x="386862" y="3368901"/>
            <a:ext cx="2927838" cy="646331"/>
          </a:xfrm>
          <a:prstGeom prst="rect">
            <a:avLst/>
          </a:prstGeom>
          <a:noFill/>
        </p:spPr>
        <p:txBody>
          <a:bodyPr wrap="square" rtlCol="0">
            <a:spAutoFit/>
          </a:bodyPr>
          <a:lstStyle/>
          <a:p>
            <a:r>
              <a:rPr lang="en-GB" dirty="0"/>
              <a:t>What we can do is represent this in a table format</a:t>
            </a:r>
          </a:p>
        </p:txBody>
      </p:sp>
      <p:cxnSp>
        <p:nvCxnSpPr>
          <p:cNvPr id="16" name="Straight Connector 15"/>
          <p:cNvCxnSpPr/>
          <p:nvPr/>
        </p:nvCxnSpPr>
        <p:spPr>
          <a:xfrm>
            <a:off x="1705708" y="4308396"/>
            <a:ext cx="0" cy="1608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001108" y="4308396"/>
            <a:ext cx="0" cy="1608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92015" y="4692435"/>
            <a:ext cx="3489219" cy="320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948104" y="4289261"/>
            <a:ext cx="401515" cy="369332"/>
          </a:xfrm>
          <a:prstGeom prst="rect">
            <a:avLst/>
          </a:prstGeom>
          <a:noFill/>
        </p:spPr>
        <p:txBody>
          <a:bodyPr wrap="square" rtlCol="0">
            <a:spAutoFit/>
          </a:bodyPr>
          <a:lstStyle/>
          <a:p>
            <a:r>
              <a:rPr lang="en-GB" dirty="0"/>
              <a:t>H</a:t>
            </a:r>
          </a:p>
        </p:txBody>
      </p:sp>
      <p:cxnSp>
        <p:nvCxnSpPr>
          <p:cNvPr id="21" name="Straight Connector 20"/>
          <p:cNvCxnSpPr/>
          <p:nvPr/>
        </p:nvCxnSpPr>
        <p:spPr>
          <a:xfrm>
            <a:off x="592014" y="5137935"/>
            <a:ext cx="3489219" cy="320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184972" y="4289261"/>
            <a:ext cx="401515" cy="369332"/>
          </a:xfrm>
          <a:prstGeom prst="rect">
            <a:avLst/>
          </a:prstGeom>
          <a:noFill/>
        </p:spPr>
        <p:txBody>
          <a:bodyPr wrap="square" rtlCol="0">
            <a:spAutoFit/>
          </a:bodyPr>
          <a:lstStyle/>
          <a:p>
            <a:r>
              <a:rPr lang="en-GB" dirty="0"/>
              <a:t>T</a:t>
            </a:r>
          </a:p>
        </p:txBody>
      </p:sp>
      <p:sp>
        <p:nvSpPr>
          <p:cNvPr id="23" name="TextBox 22"/>
          <p:cNvSpPr txBox="1"/>
          <p:nvPr/>
        </p:nvSpPr>
        <p:spPr>
          <a:xfrm>
            <a:off x="3397536" y="4294398"/>
            <a:ext cx="401515" cy="369332"/>
          </a:xfrm>
          <a:prstGeom prst="rect">
            <a:avLst/>
          </a:prstGeom>
          <a:noFill/>
        </p:spPr>
        <p:txBody>
          <a:bodyPr wrap="square" rtlCol="0">
            <a:spAutoFit/>
          </a:bodyPr>
          <a:lstStyle/>
          <a:p>
            <a:r>
              <a:rPr lang="en-GB" dirty="0"/>
              <a:t>U</a:t>
            </a:r>
          </a:p>
        </p:txBody>
      </p:sp>
      <p:sp>
        <p:nvSpPr>
          <p:cNvPr id="24" name="TextBox 23"/>
          <p:cNvSpPr txBox="1"/>
          <p:nvPr/>
        </p:nvSpPr>
        <p:spPr>
          <a:xfrm>
            <a:off x="937502" y="4755424"/>
            <a:ext cx="650866" cy="369332"/>
          </a:xfrm>
          <a:prstGeom prst="rect">
            <a:avLst/>
          </a:prstGeom>
          <a:noFill/>
        </p:spPr>
        <p:txBody>
          <a:bodyPr wrap="square" rtlCol="0">
            <a:spAutoFit/>
          </a:bodyPr>
          <a:lstStyle/>
          <a:p>
            <a:r>
              <a:rPr lang="en-GB" dirty="0"/>
              <a:t>10</a:t>
            </a:r>
          </a:p>
        </p:txBody>
      </p:sp>
      <p:sp>
        <p:nvSpPr>
          <p:cNvPr id="25" name="TextBox 24"/>
          <p:cNvSpPr txBox="1"/>
          <p:nvPr/>
        </p:nvSpPr>
        <p:spPr>
          <a:xfrm>
            <a:off x="2171867" y="4760829"/>
            <a:ext cx="772231" cy="369332"/>
          </a:xfrm>
          <a:prstGeom prst="rect">
            <a:avLst/>
          </a:prstGeom>
          <a:noFill/>
        </p:spPr>
        <p:txBody>
          <a:bodyPr wrap="square" rtlCol="0">
            <a:spAutoFit/>
          </a:bodyPr>
          <a:lstStyle/>
          <a:p>
            <a:r>
              <a:rPr lang="en-GB" dirty="0"/>
              <a:t>10</a:t>
            </a:r>
          </a:p>
        </p:txBody>
      </p:sp>
      <p:sp>
        <p:nvSpPr>
          <p:cNvPr id="26" name="TextBox 25"/>
          <p:cNvSpPr txBox="1"/>
          <p:nvPr/>
        </p:nvSpPr>
        <p:spPr>
          <a:xfrm>
            <a:off x="3340622" y="4773758"/>
            <a:ext cx="650866" cy="369332"/>
          </a:xfrm>
          <a:prstGeom prst="rect">
            <a:avLst/>
          </a:prstGeom>
          <a:noFill/>
        </p:spPr>
        <p:txBody>
          <a:bodyPr wrap="square" rtlCol="0">
            <a:spAutoFit/>
          </a:bodyPr>
          <a:lstStyle/>
          <a:p>
            <a:r>
              <a:rPr lang="en-GB" dirty="0"/>
              <a:t>10</a:t>
            </a:r>
          </a:p>
        </p:txBody>
      </p:sp>
      <p:sp>
        <p:nvSpPr>
          <p:cNvPr id="27" name="TextBox 26"/>
          <p:cNvSpPr txBox="1"/>
          <p:nvPr/>
        </p:nvSpPr>
        <p:spPr>
          <a:xfrm>
            <a:off x="928028" y="5313574"/>
            <a:ext cx="650866" cy="369332"/>
          </a:xfrm>
          <a:prstGeom prst="rect">
            <a:avLst/>
          </a:prstGeom>
          <a:noFill/>
        </p:spPr>
        <p:txBody>
          <a:bodyPr wrap="square" rtlCol="0">
            <a:spAutoFit/>
          </a:bodyPr>
          <a:lstStyle/>
          <a:p>
            <a:r>
              <a:rPr lang="en-GB" dirty="0"/>
              <a:t>2</a:t>
            </a:r>
          </a:p>
        </p:txBody>
      </p:sp>
      <p:sp>
        <p:nvSpPr>
          <p:cNvPr id="28" name="TextBox 27"/>
          <p:cNvSpPr txBox="1"/>
          <p:nvPr/>
        </p:nvSpPr>
        <p:spPr>
          <a:xfrm>
            <a:off x="2166417" y="5309672"/>
            <a:ext cx="650866" cy="369332"/>
          </a:xfrm>
          <a:prstGeom prst="rect">
            <a:avLst/>
          </a:prstGeom>
          <a:noFill/>
        </p:spPr>
        <p:txBody>
          <a:bodyPr wrap="square" rtlCol="0">
            <a:spAutoFit/>
          </a:bodyPr>
          <a:lstStyle/>
          <a:p>
            <a:r>
              <a:rPr lang="en-GB" dirty="0"/>
              <a:t>5</a:t>
            </a:r>
          </a:p>
        </p:txBody>
      </p:sp>
      <p:sp>
        <p:nvSpPr>
          <p:cNvPr id="29" name="TextBox 28"/>
          <p:cNvSpPr txBox="1"/>
          <p:nvPr/>
        </p:nvSpPr>
        <p:spPr>
          <a:xfrm>
            <a:off x="3421063" y="5298450"/>
            <a:ext cx="650866" cy="369332"/>
          </a:xfrm>
          <a:prstGeom prst="rect">
            <a:avLst/>
          </a:prstGeom>
          <a:noFill/>
        </p:spPr>
        <p:txBody>
          <a:bodyPr wrap="square" rtlCol="0">
            <a:spAutoFit/>
          </a:bodyPr>
          <a:lstStyle/>
          <a:p>
            <a:r>
              <a:rPr lang="en-GB" dirty="0"/>
              <a:t>6</a:t>
            </a:r>
          </a:p>
        </p:txBody>
      </p:sp>
      <p:sp>
        <p:nvSpPr>
          <p:cNvPr id="30" name="TextBox 29"/>
          <p:cNvSpPr txBox="1"/>
          <p:nvPr/>
        </p:nvSpPr>
        <p:spPr>
          <a:xfrm>
            <a:off x="3614880" y="4724670"/>
            <a:ext cx="650866" cy="246221"/>
          </a:xfrm>
          <a:prstGeom prst="rect">
            <a:avLst/>
          </a:prstGeom>
          <a:noFill/>
        </p:spPr>
        <p:txBody>
          <a:bodyPr wrap="square" rtlCol="0">
            <a:spAutoFit/>
          </a:bodyPr>
          <a:lstStyle/>
          <a:p>
            <a:r>
              <a:rPr lang="en-GB" sz="1000" dirty="0"/>
              <a:t>0</a:t>
            </a:r>
          </a:p>
        </p:txBody>
      </p:sp>
      <p:sp>
        <p:nvSpPr>
          <p:cNvPr id="31" name="TextBox 30"/>
          <p:cNvSpPr txBox="1"/>
          <p:nvPr/>
        </p:nvSpPr>
        <p:spPr>
          <a:xfrm>
            <a:off x="2415498" y="4712203"/>
            <a:ext cx="650866" cy="246221"/>
          </a:xfrm>
          <a:prstGeom prst="rect">
            <a:avLst/>
          </a:prstGeom>
          <a:noFill/>
        </p:spPr>
        <p:txBody>
          <a:bodyPr wrap="square" rtlCol="0">
            <a:spAutoFit/>
          </a:bodyPr>
          <a:lstStyle/>
          <a:p>
            <a:r>
              <a:rPr lang="en-GB" sz="1000" dirty="0"/>
              <a:t>1</a:t>
            </a:r>
          </a:p>
        </p:txBody>
      </p:sp>
      <p:sp>
        <p:nvSpPr>
          <p:cNvPr id="32" name="TextBox 31"/>
          <p:cNvSpPr txBox="1"/>
          <p:nvPr/>
        </p:nvSpPr>
        <p:spPr>
          <a:xfrm>
            <a:off x="1195558" y="4732214"/>
            <a:ext cx="650866" cy="246221"/>
          </a:xfrm>
          <a:prstGeom prst="rect">
            <a:avLst/>
          </a:prstGeom>
          <a:noFill/>
        </p:spPr>
        <p:txBody>
          <a:bodyPr wrap="square" rtlCol="0">
            <a:spAutoFit/>
          </a:bodyPr>
          <a:lstStyle/>
          <a:p>
            <a:r>
              <a:rPr lang="en-GB" sz="1000" dirty="0"/>
              <a:t>2</a:t>
            </a:r>
          </a:p>
        </p:txBody>
      </p:sp>
      <p:sp>
        <p:nvSpPr>
          <p:cNvPr id="33" name="TextBox 32"/>
          <p:cNvSpPr txBox="1"/>
          <p:nvPr/>
        </p:nvSpPr>
        <p:spPr>
          <a:xfrm>
            <a:off x="161992" y="6056640"/>
            <a:ext cx="2309754" cy="338554"/>
          </a:xfrm>
          <a:prstGeom prst="rect">
            <a:avLst/>
          </a:prstGeom>
          <a:noFill/>
        </p:spPr>
        <p:txBody>
          <a:bodyPr wrap="square" rtlCol="0">
            <a:spAutoFit/>
          </a:bodyPr>
          <a:lstStyle/>
          <a:p>
            <a:r>
              <a:rPr lang="en-GB" sz="1600" dirty="0"/>
              <a:t>Well we have 2 of these</a:t>
            </a:r>
          </a:p>
        </p:txBody>
      </p:sp>
      <p:cxnSp>
        <p:nvCxnSpPr>
          <p:cNvPr id="15" name="Straight Arrow Connector 14"/>
          <p:cNvCxnSpPr/>
          <p:nvPr/>
        </p:nvCxnSpPr>
        <p:spPr>
          <a:xfrm flipV="1">
            <a:off x="485769" y="5667782"/>
            <a:ext cx="442259" cy="343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24" idx="1"/>
          </p:cNvCxnSpPr>
          <p:nvPr/>
        </p:nvCxnSpPr>
        <p:spPr>
          <a:xfrm flipV="1">
            <a:off x="485769" y="4940090"/>
            <a:ext cx="451733" cy="1071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104095" y="6384587"/>
            <a:ext cx="2309754" cy="338554"/>
          </a:xfrm>
          <a:prstGeom prst="rect">
            <a:avLst/>
          </a:prstGeom>
          <a:noFill/>
        </p:spPr>
        <p:txBody>
          <a:bodyPr wrap="square" rtlCol="0">
            <a:spAutoFit/>
          </a:bodyPr>
          <a:lstStyle/>
          <a:p>
            <a:r>
              <a:rPr lang="en-GB" sz="1600" dirty="0"/>
              <a:t>5 of these</a:t>
            </a:r>
          </a:p>
        </p:txBody>
      </p:sp>
      <p:cxnSp>
        <p:nvCxnSpPr>
          <p:cNvPr id="38" name="Straight Arrow Connector 37"/>
          <p:cNvCxnSpPr/>
          <p:nvPr/>
        </p:nvCxnSpPr>
        <p:spPr>
          <a:xfrm flipH="1" flipV="1">
            <a:off x="2491339" y="5679004"/>
            <a:ext cx="137442" cy="716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858929" y="4447762"/>
            <a:ext cx="2309754" cy="1569660"/>
          </a:xfrm>
          <a:prstGeom prst="rect">
            <a:avLst/>
          </a:prstGeom>
          <a:noFill/>
        </p:spPr>
        <p:txBody>
          <a:bodyPr wrap="square" rtlCol="0">
            <a:spAutoFit/>
          </a:bodyPr>
          <a:lstStyle/>
          <a:p>
            <a:r>
              <a:rPr lang="en-GB" sz="1600" dirty="0"/>
              <a:t>So two 10² = 200 +</a:t>
            </a:r>
          </a:p>
          <a:p>
            <a:r>
              <a:rPr lang="en-GB" sz="1600" dirty="0"/>
              <a:t>five 10¹ = 50 + </a:t>
            </a:r>
          </a:p>
          <a:p>
            <a:r>
              <a:rPr lang="en-GB" sz="1600" dirty="0"/>
              <a:t>Six 10° = 6</a:t>
            </a:r>
          </a:p>
          <a:p>
            <a:r>
              <a:rPr lang="en-GB" sz="1600" dirty="0"/>
              <a:t>_________________</a:t>
            </a:r>
          </a:p>
          <a:p>
            <a:r>
              <a:rPr lang="en-GB" sz="1600" dirty="0"/>
              <a:t>	256</a:t>
            </a:r>
          </a:p>
          <a:p>
            <a:endParaRPr lang="en-GB" sz="1600" dirty="0"/>
          </a:p>
        </p:txBody>
      </p:sp>
      <p:cxnSp>
        <p:nvCxnSpPr>
          <p:cNvPr id="41" name="Straight Arrow Connector 40"/>
          <p:cNvCxnSpPr/>
          <p:nvPr/>
        </p:nvCxnSpPr>
        <p:spPr>
          <a:xfrm flipH="1" flipV="1">
            <a:off x="3770377" y="5583435"/>
            <a:ext cx="643472" cy="412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4231093" y="6091487"/>
            <a:ext cx="2309754" cy="338554"/>
          </a:xfrm>
          <a:prstGeom prst="rect">
            <a:avLst/>
          </a:prstGeom>
          <a:noFill/>
        </p:spPr>
        <p:txBody>
          <a:bodyPr wrap="square" rtlCol="0">
            <a:spAutoFit/>
          </a:bodyPr>
          <a:lstStyle/>
          <a:p>
            <a:r>
              <a:rPr lang="en-GB" sz="1600" dirty="0"/>
              <a:t>And 6 of these</a:t>
            </a:r>
          </a:p>
        </p:txBody>
      </p:sp>
      <p:cxnSp>
        <p:nvCxnSpPr>
          <p:cNvPr id="44" name="Straight Arrow Connector 43"/>
          <p:cNvCxnSpPr/>
          <p:nvPr/>
        </p:nvCxnSpPr>
        <p:spPr>
          <a:xfrm flipH="1">
            <a:off x="3917762" y="3988721"/>
            <a:ext cx="734255" cy="932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314270" y="3378913"/>
            <a:ext cx="2309754" cy="584775"/>
          </a:xfrm>
          <a:prstGeom prst="rect">
            <a:avLst/>
          </a:prstGeom>
          <a:noFill/>
        </p:spPr>
        <p:txBody>
          <a:bodyPr wrap="square" rtlCol="0">
            <a:spAutoFit/>
          </a:bodyPr>
          <a:lstStyle/>
          <a:p>
            <a:r>
              <a:rPr lang="en-GB" sz="1600" dirty="0"/>
              <a:t>Hint: Anything to the power of 0 is 1</a:t>
            </a:r>
          </a:p>
        </p:txBody>
      </p:sp>
    </p:spTree>
    <p:extLst>
      <p:ext uri="{BB962C8B-B14F-4D97-AF65-F5344CB8AC3E}">
        <p14:creationId xmlns:p14="http://schemas.microsoft.com/office/powerpoint/2010/main" val="665672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fade">
                                      <p:cBhvr>
                                        <p:cTn id="27" dur="5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3" presetID="10" presetClass="exit" presetSubtype="0" fill="hold" grpId="0" nodeType="withEffect">
                                  <p:stCondLst>
                                    <p:cond delay="0"/>
                                  </p:stCondLst>
                                  <p:childTnLst>
                                    <p:animEffect transition="out" filter="fade">
                                      <p:cBhvr>
                                        <p:cTn id="44" dur="500"/>
                                        <p:tgtEl>
                                          <p:spTgt spid="5">
                                            <p:txEl>
                                              <p:pRg st="0" end="0"/>
                                            </p:txEl>
                                          </p:spTgt>
                                        </p:tgtEl>
                                      </p:cBhvr>
                                    </p:animEffect>
                                    <p:set>
                                      <p:cBhvr>
                                        <p:cTn id="45" dur="1" fill="hold">
                                          <p:stCondLst>
                                            <p:cond delay="499"/>
                                          </p:stCondLst>
                                        </p:cTn>
                                        <p:tgtEl>
                                          <p:spTgt spid="5">
                                            <p:txEl>
                                              <p:pRg st="0" end="0"/>
                                            </p:txEl>
                                          </p:spTgt>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500"/>
                                        <p:tgtEl>
                                          <p:spTgt spid="10"/>
                                        </p:tgtEl>
                                      </p:cBhvr>
                                    </p:animEffect>
                                  </p:childTnLst>
                                </p:cTn>
                              </p:par>
                              <p:par>
                                <p:cTn id="54" presetID="10" presetClass="exit" presetSubtype="0" fill="hold" grpId="1" nodeType="withEffect">
                                  <p:stCondLst>
                                    <p:cond delay="0"/>
                                  </p:stCondLst>
                                  <p:childTnLst>
                                    <p:animEffect transition="out" filter="fade">
                                      <p:cBhvr>
                                        <p:cTn id="55" dur="500"/>
                                        <p:tgtEl>
                                          <p:spTgt spid="6"/>
                                        </p:tgtEl>
                                      </p:cBhvr>
                                    </p:animEffect>
                                    <p:set>
                                      <p:cBhvr>
                                        <p:cTn id="56" dur="1" fill="hold">
                                          <p:stCondLst>
                                            <p:cond delay="499"/>
                                          </p:stCondLst>
                                        </p:cTn>
                                        <p:tgtEl>
                                          <p:spTgt spid="6"/>
                                        </p:tgtEl>
                                        <p:attrNameLst>
                                          <p:attrName>style.visibility</p:attrName>
                                        </p:attrNameLst>
                                      </p:cBhvr>
                                      <p:to>
                                        <p:strVal val="hidden"/>
                                      </p:to>
                                    </p:set>
                                  </p:childTnLst>
                                </p:cTn>
                              </p:par>
                            </p:childTnLst>
                          </p:cTn>
                        </p:par>
                        <p:par>
                          <p:cTn id="57" fill="hold">
                            <p:stCondLst>
                              <p:cond delay="500"/>
                            </p:stCondLst>
                            <p:childTnLst>
                              <p:par>
                                <p:cTn id="58" presetID="10" presetClass="exit" presetSubtype="0" fill="hold" grpId="1" nodeType="afterEffect">
                                  <p:stCondLst>
                                    <p:cond delay="0"/>
                                  </p:stCondLst>
                                  <p:childTnLst>
                                    <p:animEffect transition="out" filter="fade">
                                      <p:cBhvr>
                                        <p:cTn id="59" dur="500"/>
                                        <p:tgtEl>
                                          <p:spTgt spid="7"/>
                                        </p:tgtEl>
                                      </p:cBhvr>
                                    </p:animEffect>
                                    <p:set>
                                      <p:cBhvr>
                                        <p:cTn id="60" dur="1" fill="hold">
                                          <p:stCondLst>
                                            <p:cond delay="499"/>
                                          </p:stCondLst>
                                        </p:cTn>
                                        <p:tgtEl>
                                          <p:spTgt spid="7"/>
                                        </p:tgtEl>
                                        <p:attrNameLst>
                                          <p:attrName>style.visibility</p:attrName>
                                        </p:attrNameLst>
                                      </p:cBhvr>
                                      <p:to>
                                        <p:strVal val="hidden"/>
                                      </p:to>
                                    </p:set>
                                  </p:childTnLst>
                                </p:cTn>
                              </p:par>
                            </p:childTnLst>
                          </p:cTn>
                        </p:par>
                        <p:par>
                          <p:cTn id="61" fill="hold">
                            <p:stCondLst>
                              <p:cond delay="1000"/>
                            </p:stCondLst>
                            <p:childTnLst>
                              <p:par>
                                <p:cTn id="62" presetID="10" presetClass="exit" presetSubtype="0" fill="hold" grpId="1" nodeType="afterEffect">
                                  <p:stCondLst>
                                    <p:cond delay="0"/>
                                  </p:stCondLst>
                                  <p:childTnLst>
                                    <p:animEffect transition="out" filter="fade">
                                      <p:cBhvr>
                                        <p:cTn id="63" dur="500"/>
                                        <p:tgtEl>
                                          <p:spTgt spid="8"/>
                                        </p:tgtEl>
                                      </p:cBhvr>
                                    </p:animEffect>
                                    <p:set>
                                      <p:cBhvr>
                                        <p:cTn id="64" dur="1" fill="hold">
                                          <p:stCondLst>
                                            <p:cond delay="499"/>
                                          </p:stCondLst>
                                        </p:cTn>
                                        <p:tgtEl>
                                          <p:spTgt spid="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p:tgtEl>
                                          <p:spTgt spid="11"/>
                                        </p:tgtEl>
                                      </p:cBhvr>
                                    </p:animEffect>
                                  </p:childTnLst>
                                </p:cTn>
                              </p:par>
                              <p:par>
                                <p:cTn id="70" presetID="10" presetClass="exit" presetSubtype="0" fill="hold" grpId="0" nodeType="withEffect">
                                  <p:stCondLst>
                                    <p:cond delay="0"/>
                                  </p:stCondLst>
                                  <p:childTnLst>
                                    <p:animEffect transition="out" filter="fade">
                                      <p:cBhvr>
                                        <p:cTn id="71" dur="500"/>
                                        <p:tgtEl>
                                          <p:spTgt spid="3">
                                            <p:txEl>
                                              <p:pRg st="0" end="0"/>
                                            </p:txEl>
                                          </p:spTgt>
                                        </p:tgtEl>
                                      </p:cBhvr>
                                    </p:animEffect>
                                    <p:set>
                                      <p:cBhvr>
                                        <p:cTn id="72" dur="1" fill="hold">
                                          <p:stCondLst>
                                            <p:cond delay="499"/>
                                          </p:stCondLst>
                                        </p:cTn>
                                        <p:tgtEl>
                                          <p:spTgt spid="3">
                                            <p:txEl>
                                              <p:pRg st="0" end="0"/>
                                            </p:txEl>
                                          </p:spTgt>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500"/>
                                        <p:tgtEl>
                                          <p:spTgt spid="3">
                                            <p:txEl>
                                              <p:pRg st="1" end="1"/>
                                            </p:txEl>
                                          </p:spTgt>
                                        </p:tgtEl>
                                      </p:cBhvr>
                                    </p:animEffect>
                                    <p:set>
                                      <p:cBhvr>
                                        <p:cTn id="75" dur="1" fill="hold">
                                          <p:stCondLst>
                                            <p:cond delay="499"/>
                                          </p:stCondLst>
                                        </p:cTn>
                                        <p:tgtEl>
                                          <p:spTgt spid="3">
                                            <p:txEl>
                                              <p:pRg st="1" end="1"/>
                                            </p:txEl>
                                          </p:spTgt>
                                        </p:tgtEl>
                                        <p:attrNameLst>
                                          <p:attrName>style.visibility</p:attrName>
                                        </p:attrNameLst>
                                      </p:cBhvr>
                                      <p:to>
                                        <p:strVal val="hidden"/>
                                      </p:to>
                                    </p:set>
                                  </p:childTnLst>
                                </p:cTn>
                              </p:par>
                            </p:childTnLst>
                          </p:cTn>
                        </p:par>
                        <p:par>
                          <p:cTn id="76" fill="hold">
                            <p:stCondLst>
                              <p:cond delay="500"/>
                            </p:stCondLst>
                            <p:childTnLst>
                              <p:par>
                                <p:cTn id="77" presetID="10" presetClass="entr" presetSubtype="0" fill="hold" grpId="0" nodeType="after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fade">
                                      <p:cBhvr>
                                        <p:cTn id="79" dur="500"/>
                                        <p:tgtEl>
                                          <p:spTgt spid="1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grpId="1" nodeType="clickEffect">
                                  <p:stCondLst>
                                    <p:cond delay="0"/>
                                  </p:stCondLst>
                                  <p:childTnLst>
                                    <p:animEffect transition="out" filter="fade">
                                      <p:cBhvr>
                                        <p:cTn id="83" dur="500"/>
                                        <p:tgtEl>
                                          <p:spTgt spid="10"/>
                                        </p:tgtEl>
                                      </p:cBhvr>
                                    </p:animEffect>
                                    <p:set>
                                      <p:cBhvr>
                                        <p:cTn id="84" dur="1" fill="hold">
                                          <p:stCondLst>
                                            <p:cond delay="499"/>
                                          </p:stCondLst>
                                        </p:cTn>
                                        <p:tgtEl>
                                          <p:spTgt spid="10"/>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500"/>
                                        <p:tgtEl>
                                          <p:spTgt spid="12"/>
                                        </p:tgtEl>
                                      </p:cBhvr>
                                    </p:animEffect>
                                    <p:set>
                                      <p:cBhvr>
                                        <p:cTn id="87" dur="1" fill="hold">
                                          <p:stCondLst>
                                            <p:cond delay="499"/>
                                          </p:stCondLst>
                                        </p:cTn>
                                        <p:tgtEl>
                                          <p:spTgt spid="12"/>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500"/>
                                        <p:tgtEl>
                                          <p:spTgt spid="9"/>
                                        </p:tgtEl>
                                      </p:cBhvr>
                                    </p:animEffect>
                                    <p:set>
                                      <p:cBhvr>
                                        <p:cTn id="90" dur="1" fill="hold">
                                          <p:stCondLst>
                                            <p:cond delay="499"/>
                                          </p:stCondLst>
                                        </p:cTn>
                                        <p:tgtEl>
                                          <p:spTgt spid="9"/>
                                        </p:tgtEl>
                                        <p:attrNameLst>
                                          <p:attrName>style.visibility</p:attrName>
                                        </p:attrNameLst>
                                      </p:cBhvr>
                                      <p:to>
                                        <p:strVal val="hidden"/>
                                      </p:to>
                                    </p:set>
                                  </p:childTnLst>
                                </p:cTn>
                              </p:par>
                              <p:par>
                                <p:cTn id="91" presetID="10" presetClass="exit" presetSubtype="0" fill="hold" grpId="1" nodeType="withEffect">
                                  <p:stCondLst>
                                    <p:cond delay="0"/>
                                  </p:stCondLst>
                                  <p:childTnLst>
                                    <p:animEffect transition="out" filter="fade">
                                      <p:cBhvr>
                                        <p:cTn id="92" dur="500"/>
                                        <p:tgtEl>
                                          <p:spTgt spid="11"/>
                                        </p:tgtEl>
                                      </p:cBhvr>
                                    </p:animEffect>
                                    <p:set>
                                      <p:cBhvr>
                                        <p:cTn id="93" dur="1" fill="hold">
                                          <p:stCondLst>
                                            <p:cond delay="499"/>
                                          </p:stCondLst>
                                        </p:cTn>
                                        <p:tgtEl>
                                          <p:spTgt spid="11"/>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13"/>
                                        </p:tgtEl>
                                        <p:attrNameLst>
                                          <p:attrName>style.visibility</p:attrName>
                                        </p:attrNameLst>
                                      </p:cBhvr>
                                      <p:to>
                                        <p:strVal val="visible"/>
                                      </p:to>
                                    </p:set>
                                    <p:animEffect transition="in" filter="fade">
                                      <p:cBhvr>
                                        <p:cTn id="98" dur="500"/>
                                        <p:tgtEl>
                                          <p:spTgt spid="13"/>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16"/>
                                        </p:tgtEl>
                                        <p:attrNameLst>
                                          <p:attrName>style.visibility</p:attrName>
                                        </p:attrNameLst>
                                      </p:cBhvr>
                                      <p:to>
                                        <p:strVal val="visible"/>
                                      </p:to>
                                    </p:set>
                                    <p:animEffect transition="in" filter="wipe(up)">
                                      <p:cBhvr>
                                        <p:cTn id="103" dur="500"/>
                                        <p:tgtEl>
                                          <p:spTgt spid="16"/>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17"/>
                                        </p:tgtEl>
                                        <p:attrNameLst>
                                          <p:attrName>style.visibility</p:attrName>
                                        </p:attrNameLst>
                                      </p:cBhvr>
                                      <p:to>
                                        <p:strVal val="visible"/>
                                      </p:to>
                                    </p:set>
                                    <p:animEffect transition="in" filter="wipe(up)">
                                      <p:cBhvr>
                                        <p:cTn id="108" dur="500"/>
                                        <p:tgtEl>
                                          <p:spTgt spid="17"/>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wipe(left)">
                                      <p:cBhvr>
                                        <p:cTn id="113" dur="500"/>
                                        <p:tgtEl>
                                          <p:spTgt spid="1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21"/>
                                        </p:tgtEl>
                                        <p:attrNameLst>
                                          <p:attrName>style.visibility</p:attrName>
                                        </p:attrNameLst>
                                      </p:cBhvr>
                                      <p:to>
                                        <p:strVal val="visible"/>
                                      </p:to>
                                    </p:set>
                                    <p:animEffect transition="in" filter="wipe(left)">
                                      <p:cBhvr>
                                        <p:cTn id="118" dur="500"/>
                                        <p:tgtEl>
                                          <p:spTgt spid="21"/>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20"/>
                                        </p:tgtEl>
                                        <p:attrNameLst>
                                          <p:attrName>style.visibility</p:attrName>
                                        </p:attrNameLst>
                                      </p:cBhvr>
                                      <p:to>
                                        <p:strVal val="visible"/>
                                      </p:to>
                                    </p:set>
                                    <p:animEffect transition="in" filter="fade">
                                      <p:cBhvr>
                                        <p:cTn id="123" dur="500"/>
                                        <p:tgtEl>
                                          <p:spTgt spid="20"/>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22"/>
                                        </p:tgtEl>
                                        <p:attrNameLst>
                                          <p:attrName>style.visibility</p:attrName>
                                        </p:attrNameLst>
                                      </p:cBhvr>
                                      <p:to>
                                        <p:strVal val="visible"/>
                                      </p:to>
                                    </p:set>
                                    <p:animEffect transition="in" filter="fade">
                                      <p:cBhvr>
                                        <p:cTn id="128" dur="500"/>
                                        <p:tgtEl>
                                          <p:spTgt spid="22"/>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23"/>
                                        </p:tgtEl>
                                        <p:attrNameLst>
                                          <p:attrName>style.visibility</p:attrName>
                                        </p:attrNameLst>
                                      </p:cBhvr>
                                      <p:to>
                                        <p:strVal val="visible"/>
                                      </p:to>
                                    </p:set>
                                    <p:animEffect transition="in" filter="fade">
                                      <p:cBhvr>
                                        <p:cTn id="133" dur="500"/>
                                        <p:tgtEl>
                                          <p:spTgt spid="2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24"/>
                                        </p:tgtEl>
                                        <p:attrNameLst>
                                          <p:attrName>style.visibility</p:attrName>
                                        </p:attrNameLst>
                                      </p:cBhvr>
                                      <p:to>
                                        <p:strVal val="visible"/>
                                      </p:to>
                                    </p:set>
                                    <p:animEffect transition="in" filter="fade">
                                      <p:cBhvr>
                                        <p:cTn id="138" dur="500"/>
                                        <p:tgtEl>
                                          <p:spTgt spid="24"/>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25"/>
                                        </p:tgtEl>
                                        <p:attrNameLst>
                                          <p:attrName>style.visibility</p:attrName>
                                        </p:attrNameLst>
                                      </p:cBhvr>
                                      <p:to>
                                        <p:strVal val="visible"/>
                                      </p:to>
                                    </p:set>
                                    <p:animEffect transition="in" filter="fade">
                                      <p:cBhvr>
                                        <p:cTn id="143" dur="500"/>
                                        <p:tgtEl>
                                          <p:spTgt spid="25"/>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26"/>
                                        </p:tgtEl>
                                        <p:attrNameLst>
                                          <p:attrName>style.visibility</p:attrName>
                                        </p:attrNameLst>
                                      </p:cBhvr>
                                      <p:to>
                                        <p:strVal val="visible"/>
                                      </p:to>
                                    </p:set>
                                    <p:animEffect transition="in" filter="fade">
                                      <p:cBhvr>
                                        <p:cTn id="148" dur="500"/>
                                        <p:tgtEl>
                                          <p:spTgt spid="26"/>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27"/>
                                        </p:tgtEl>
                                        <p:attrNameLst>
                                          <p:attrName>style.visibility</p:attrName>
                                        </p:attrNameLst>
                                      </p:cBhvr>
                                      <p:to>
                                        <p:strVal val="visible"/>
                                      </p:to>
                                    </p:set>
                                    <p:animEffect transition="in" filter="fade">
                                      <p:cBhvr>
                                        <p:cTn id="153" dur="500"/>
                                        <p:tgtEl>
                                          <p:spTgt spid="27"/>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28"/>
                                        </p:tgtEl>
                                        <p:attrNameLst>
                                          <p:attrName>style.visibility</p:attrName>
                                        </p:attrNameLst>
                                      </p:cBhvr>
                                      <p:to>
                                        <p:strVal val="visible"/>
                                      </p:to>
                                    </p:set>
                                    <p:animEffect transition="in" filter="fade">
                                      <p:cBhvr>
                                        <p:cTn id="158" dur="500"/>
                                        <p:tgtEl>
                                          <p:spTgt spid="28"/>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9"/>
                                        </p:tgtEl>
                                        <p:attrNameLst>
                                          <p:attrName>style.visibility</p:attrName>
                                        </p:attrNameLst>
                                      </p:cBhvr>
                                      <p:to>
                                        <p:strVal val="visible"/>
                                      </p:to>
                                    </p:set>
                                    <p:animEffect transition="in" filter="fade">
                                      <p:cBhvr>
                                        <p:cTn id="163" dur="500"/>
                                        <p:tgtEl>
                                          <p:spTgt spid="29"/>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30"/>
                                        </p:tgtEl>
                                        <p:attrNameLst>
                                          <p:attrName>style.visibility</p:attrName>
                                        </p:attrNameLst>
                                      </p:cBhvr>
                                      <p:to>
                                        <p:strVal val="visible"/>
                                      </p:to>
                                    </p:set>
                                    <p:animEffect transition="in" filter="fade">
                                      <p:cBhvr>
                                        <p:cTn id="168" dur="500"/>
                                        <p:tgtEl>
                                          <p:spTgt spid="30"/>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grpId="0" nodeType="clickEffect">
                                  <p:stCondLst>
                                    <p:cond delay="0"/>
                                  </p:stCondLst>
                                  <p:childTnLst>
                                    <p:set>
                                      <p:cBhvr>
                                        <p:cTn id="172" dur="1" fill="hold">
                                          <p:stCondLst>
                                            <p:cond delay="0"/>
                                          </p:stCondLst>
                                        </p:cTn>
                                        <p:tgtEl>
                                          <p:spTgt spid="31"/>
                                        </p:tgtEl>
                                        <p:attrNameLst>
                                          <p:attrName>style.visibility</p:attrName>
                                        </p:attrNameLst>
                                      </p:cBhvr>
                                      <p:to>
                                        <p:strVal val="visible"/>
                                      </p:to>
                                    </p:set>
                                    <p:animEffect transition="in" filter="fade">
                                      <p:cBhvr>
                                        <p:cTn id="173" dur="500"/>
                                        <p:tgtEl>
                                          <p:spTgt spid="31"/>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grpId="0" nodeType="clickEffect">
                                  <p:stCondLst>
                                    <p:cond delay="0"/>
                                  </p:stCondLst>
                                  <p:childTnLst>
                                    <p:set>
                                      <p:cBhvr>
                                        <p:cTn id="177" dur="1" fill="hold">
                                          <p:stCondLst>
                                            <p:cond delay="0"/>
                                          </p:stCondLst>
                                        </p:cTn>
                                        <p:tgtEl>
                                          <p:spTgt spid="32"/>
                                        </p:tgtEl>
                                        <p:attrNameLst>
                                          <p:attrName>style.visibility</p:attrName>
                                        </p:attrNameLst>
                                      </p:cBhvr>
                                      <p:to>
                                        <p:strVal val="visible"/>
                                      </p:to>
                                    </p:set>
                                    <p:animEffect transition="in" filter="fade">
                                      <p:cBhvr>
                                        <p:cTn id="178" dur="500"/>
                                        <p:tgtEl>
                                          <p:spTgt spid="32"/>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grpId="0" nodeType="clickEffect">
                                  <p:stCondLst>
                                    <p:cond delay="0"/>
                                  </p:stCondLst>
                                  <p:childTnLst>
                                    <p:set>
                                      <p:cBhvr>
                                        <p:cTn id="182" dur="1" fill="hold">
                                          <p:stCondLst>
                                            <p:cond delay="0"/>
                                          </p:stCondLst>
                                        </p:cTn>
                                        <p:tgtEl>
                                          <p:spTgt spid="33"/>
                                        </p:tgtEl>
                                        <p:attrNameLst>
                                          <p:attrName>style.visibility</p:attrName>
                                        </p:attrNameLst>
                                      </p:cBhvr>
                                      <p:to>
                                        <p:strVal val="visible"/>
                                      </p:to>
                                    </p:set>
                                    <p:animEffect transition="in" filter="fade">
                                      <p:cBhvr>
                                        <p:cTn id="183" dur="500"/>
                                        <p:tgtEl>
                                          <p:spTgt spid="33"/>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nodeType="clickEffect">
                                  <p:stCondLst>
                                    <p:cond delay="0"/>
                                  </p:stCondLst>
                                  <p:childTnLst>
                                    <p:set>
                                      <p:cBhvr>
                                        <p:cTn id="187" dur="1" fill="hold">
                                          <p:stCondLst>
                                            <p:cond delay="0"/>
                                          </p:stCondLst>
                                        </p:cTn>
                                        <p:tgtEl>
                                          <p:spTgt spid="15"/>
                                        </p:tgtEl>
                                        <p:attrNameLst>
                                          <p:attrName>style.visibility</p:attrName>
                                        </p:attrNameLst>
                                      </p:cBhvr>
                                      <p:to>
                                        <p:strVal val="visible"/>
                                      </p:to>
                                    </p:set>
                                    <p:animEffect transition="in" filter="fade">
                                      <p:cBhvr>
                                        <p:cTn id="188" dur="500"/>
                                        <p:tgtEl>
                                          <p:spTgt spid="15"/>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nodeType="clickEffect">
                                  <p:stCondLst>
                                    <p:cond delay="0"/>
                                  </p:stCondLst>
                                  <p:childTnLst>
                                    <p:set>
                                      <p:cBhvr>
                                        <p:cTn id="192" dur="1" fill="hold">
                                          <p:stCondLst>
                                            <p:cond delay="0"/>
                                          </p:stCondLst>
                                        </p:cTn>
                                        <p:tgtEl>
                                          <p:spTgt spid="34"/>
                                        </p:tgtEl>
                                        <p:attrNameLst>
                                          <p:attrName>style.visibility</p:attrName>
                                        </p:attrNameLst>
                                      </p:cBhvr>
                                      <p:to>
                                        <p:strVal val="visible"/>
                                      </p:to>
                                    </p:set>
                                    <p:animEffect transition="in" filter="fade">
                                      <p:cBhvr>
                                        <p:cTn id="193" dur="500"/>
                                        <p:tgtEl>
                                          <p:spTgt spid="34"/>
                                        </p:tgtEl>
                                      </p:cBhvr>
                                    </p:animEffect>
                                  </p:childTnLst>
                                </p:cTn>
                              </p:par>
                            </p:childTnLst>
                          </p:cTn>
                        </p:par>
                      </p:childTnLst>
                    </p:cTn>
                  </p:par>
                  <p:par>
                    <p:cTn id="194" fill="hold">
                      <p:stCondLst>
                        <p:cond delay="indefinite"/>
                      </p:stCondLst>
                      <p:childTnLst>
                        <p:par>
                          <p:cTn id="195" fill="hold">
                            <p:stCondLst>
                              <p:cond delay="0"/>
                            </p:stCondLst>
                            <p:childTnLst>
                              <p:par>
                                <p:cTn id="196" presetID="10" presetClass="entr" presetSubtype="0" fill="hold" grpId="0" nodeType="clickEffect">
                                  <p:stCondLst>
                                    <p:cond delay="0"/>
                                  </p:stCondLst>
                                  <p:childTnLst>
                                    <p:set>
                                      <p:cBhvr>
                                        <p:cTn id="197" dur="1" fill="hold">
                                          <p:stCondLst>
                                            <p:cond delay="0"/>
                                          </p:stCondLst>
                                        </p:cTn>
                                        <p:tgtEl>
                                          <p:spTgt spid="37"/>
                                        </p:tgtEl>
                                        <p:attrNameLst>
                                          <p:attrName>style.visibility</p:attrName>
                                        </p:attrNameLst>
                                      </p:cBhvr>
                                      <p:to>
                                        <p:strVal val="visible"/>
                                      </p:to>
                                    </p:set>
                                    <p:animEffect transition="in" filter="fade">
                                      <p:cBhvr>
                                        <p:cTn id="198" dur="500"/>
                                        <p:tgtEl>
                                          <p:spTgt spid="37"/>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ntr" presetSubtype="0" fill="hold" nodeType="clickEffect">
                                  <p:stCondLst>
                                    <p:cond delay="0"/>
                                  </p:stCondLst>
                                  <p:childTnLst>
                                    <p:set>
                                      <p:cBhvr>
                                        <p:cTn id="202" dur="1" fill="hold">
                                          <p:stCondLst>
                                            <p:cond delay="0"/>
                                          </p:stCondLst>
                                        </p:cTn>
                                        <p:tgtEl>
                                          <p:spTgt spid="38"/>
                                        </p:tgtEl>
                                        <p:attrNameLst>
                                          <p:attrName>style.visibility</p:attrName>
                                        </p:attrNameLst>
                                      </p:cBhvr>
                                      <p:to>
                                        <p:strVal val="visible"/>
                                      </p:to>
                                    </p:set>
                                    <p:animEffect transition="in" filter="fade">
                                      <p:cBhvr>
                                        <p:cTn id="203" dur="500"/>
                                        <p:tgtEl>
                                          <p:spTgt spid="38"/>
                                        </p:tgtEl>
                                      </p:cBhvr>
                                    </p:animEffect>
                                  </p:childTnLst>
                                </p:cTn>
                              </p:par>
                            </p:childTnLst>
                          </p:cTn>
                        </p:par>
                      </p:childTnLst>
                    </p:cTn>
                  </p:par>
                  <p:par>
                    <p:cTn id="204" fill="hold">
                      <p:stCondLst>
                        <p:cond delay="indefinite"/>
                      </p:stCondLst>
                      <p:childTnLst>
                        <p:par>
                          <p:cTn id="205" fill="hold">
                            <p:stCondLst>
                              <p:cond delay="0"/>
                            </p:stCondLst>
                            <p:childTnLst>
                              <p:par>
                                <p:cTn id="206" presetID="10" presetClass="entr" presetSubtype="0" fill="hold" grpId="0" nodeType="clickEffect">
                                  <p:stCondLst>
                                    <p:cond delay="0"/>
                                  </p:stCondLst>
                                  <p:childTnLst>
                                    <p:set>
                                      <p:cBhvr>
                                        <p:cTn id="207" dur="1" fill="hold">
                                          <p:stCondLst>
                                            <p:cond delay="0"/>
                                          </p:stCondLst>
                                        </p:cTn>
                                        <p:tgtEl>
                                          <p:spTgt spid="40"/>
                                        </p:tgtEl>
                                        <p:attrNameLst>
                                          <p:attrName>style.visibility</p:attrName>
                                        </p:attrNameLst>
                                      </p:cBhvr>
                                      <p:to>
                                        <p:strVal val="visible"/>
                                      </p:to>
                                    </p:set>
                                    <p:animEffect transition="in" filter="fade">
                                      <p:cBhvr>
                                        <p:cTn id="208" dur="500"/>
                                        <p:tgtEl>
                                          <p:spTgt spid="40"/>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nodeType="clickEffect">
                                  <p:stCondLst>
                                    <p:cond delay="0"/>
                                  </p:stCondLst>
                                  <p:childTnLst>
                                    <p:set>
                                      <p:cBhvr>
                                        <p:cTn id="212" dur="1" fill="hold">
                                          <p:stCondLst>
                                            <p:cond delay="0"/>
                                          </p:stCondLst>
                                        </p:cTn>
                                        <p:tgtEl>
                                          <p:spTgt spid="41"/>
                                        </p:tgtEl>
                                        <p:attrNameLst>
                                          <p:attrName>style.visibility</p:attrName>
                                        </p:attrNameLst>
                                      </p:cBhvr>
                                      <p:to>
                                        <p:strVal val="visible"/>
                                      </p:to>
                                    </p:set>
                                    <p:animEffect transition="in" filter="fade">
                                      <p:cBhvr>
                                        <p:cTn id="213" dur="500"/>
                                        <p:tgtEl>
                                          <p:spTgt spid="41"/>
                                        </p:tgtEl>
                                      </p:cBhvr>
                                    </p:animEffect>
                                  </p:childTnLst>
                                </p:cTn>
                              </p:par>
                            </p:childTnLst>
                          </p:cTn>
                        </p:par>
                      </p:childTnLst>
                    </p:cTn>
                  </p:par>
                  <p:par>
                    <p:cTn id="214" fill="hold">
                      <p:stCondLst>
                        <p:cond delay="indefinite"/>
                      </p:stCondLst>
                      <p:childTnLst>
                        <p:par>
                          <p:cTn id="215" fill="hold">
                            <p:stCondLst>
                              <p:cond delay="0"/>
                            </p:stCondLst>
                            <p:childTnLst>
                              <p:par>
                                <p:cTn id="216" presetID="10" presetClass="entr" presetSubtype="0" fill="hold" grpId="0" nodeType="clickEffect">
                                  <p:stCondLst>
                                    <p:cond delay="0"/>
                                  </p:stCondLst>
                                  <p:childTnLst>
                                    <p:set>
                                      <p:cBhvr>
                                        <p:cTn id="217" dur="1" fill="hold">
                                          <p:stCondLst>
                                            <p:cond delay="0"/>
                                          </p:stCondLst>
                                        </p:cTn>
                                        <p:tgtEl>
                                          <p:spTgt spid="43"/>
                                        </p:tgtEl>
                                        <p:attrNameLst>
                                          <p:attrName>style.visibility</p:attrName>
                                        </p:attrNameLst>
                                      </p:cBhvr>
                                      <p:to>
                                        <p:strVal val="visible"/>
                                      </p:to>
                                    </p:set>
                                    <p:animEffect transition="in" filter="fade">
                                      <p:cBhvr>
                                        <p:cTn id="218" dur="500"/>
                                        <p:tgtEl>
                                          <p:spTgt spid="43"/>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ntr" presetSubtype="0" fill="hold" nodeType="clickEffect">
                                  <p:stCondLst>
                                    <p:cond delay="0"/>
                                  </p:stCondLst>
                                  <p:childTnLst>
                                    <p:set>
                                      <p:cBhvr>
                                        <p:cTn id="222" dur="1" fill="hold">
                                          <p:stCondLst>
                                            <p:cond delay="0"/>
                                          </p:stCondLst>
                                        </p:cTn>
                                        <p:tgtEl>
                                          <p:spTgt spid="44"/>
                                        </p:tgtEl>
                                        <p:attrNameLst>
                                          <p:attrName>style.visibility</p:attrName>
                                        </p:attrNameLst>
                                      </p:cBhvr>
                                      <p:to>
                                        <p:strVal val="visible"/>
                                      </p:to>
                                    </p:set>
                                    <p:animEffect transition="in" filter="fade">
                                      <p:cBhvr>
                                        <p:cTn id="223" dur="500"/>
                                        <p:tgtEl>
                                          <p:spTgt spid="44"/>
                                        </p:tgtEl>
                                      </p:cBhvr>
                                    </p:animEffect>
                                  </p:childTnLst>
                                </p:cTn>
                              </p:par>
                            </p:childTnLst>
                          </p:cTn>
                        </p:par>
                      </p:childTnLst>
                    </p:cTn>
                  </p:par>
                  <p:par>
                    <p:cTn id="224" fill="hold">
                      <p:stCondLst>
                        <p:cond delay="indefinite"/>
                      </p:stCondLst>
                      <p:childTnLst>
                        <p:par>
                          <p:cTn id="225" fill="hold">
                            <p:stCondLst>
                              <p:cond delay="0"/>
                            </p:stCondLst>
                            <p:childTnLst>
                              <p:par>
                                <p:cTn id="226" presetID="10" presetClass="entr" presetSubtype="0" fill="hold" grpId="0" nodeType="clickEffect">
                                  <p:stCondLst>
                                    <p:cond delay="0"/>
                                  </p:stCondLst>
                                  <p:childTnLst>
                                    <p:set>
                                      <p:cBhvr>
                                        <p:cTn id="227" dur="1" fill="hold">
                                          <p:stCondLst>
                                            <p:cond delay="0"/>
                                          </p:stCondLst>
                                        </p:cTn>
                                        <p:tgtEl>
                                          <p:spTgt spid="46"/>
                                        </p:tgtEl>
                                        <p:attrNameLst>
                                          <p:attrName>style.visibility</p:attrName>
                                        </p:attrNameLst>
                                      </p:cBhvr>
                                      <p:to>
                                        <p:strVal val="visible"/>
                                      </p:to>
                                    </p:set>
                                    <p:animEffect transition="in" filter="fade">
                                      <p:cBhvr>
                                        <p:cTn id="22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0" grpId="1"/>
      <p:bldP spid="2" grpId="0"/>
      <p:bldP spid="4" grpId="0"/>
      <p:bldP spid="5" grpId="0" build="allAtOnce"/>
      <p:bldP spid="6" grpId="0"/>
      <p:bldP spid="6" grpId="1"/>
      <p:bldP spid="7" grpId="0"/>
      <p:bldP spid="7" grpId="1"/>
      <p:bldP spid="8" grpId="0"/>
      <p:bldP spid="8" grpId="1"/>
      <p:bldP spid="9" grpId="0" animBg="1"/>
      <p:bldP spid="9" grpId="1" animBg="1"/>
      <p:bldP spid="11" grpId="0" animBg="1"/>
      <p:bldP spid="11" grpId="1" animBg="1"/>
      <p:bldP spid="12" grpId="0"/>
      <p:bldP spid="12" grpId="1"/>
      <p:bldP spid="13" grpId="0"/>
      <p:bldP spid="20" grpId="0"/>
      <p:bldP spid="22" grpId="0"/>
      <p:bldP spid="23" grpId="0"/>
      <p:bldP spid="24" grpId="0"/>
      <p:bldP spid="25" grpId="0"/>
      <p:bldP spid="26" grpId="0"/>
      <p:bldP spid="27" grpId="0"/>
      <p:bldP spid="28" grpId="0"/>
      <p:bldP spid="29" grpId="0"/>
      <p:bldP spid="30" grpId="0"/>
      <p:bldP spid="31" grpId="0"/>
      <p:bldP spid="32" grpId="0"/>
      <p:bldP spid="33" grpId="0"/>
      <p:bldP spid="37" grpId="0"/>
      <p:bldP spid="40" grpId="0"/>
      <p:bldP spid="43" grpId="0"/>
      <p:bldP spid="46"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1973"/>
            <a:ext cx="12192000" cy="1325563"/>
          </a:xfrm>
        </p:spPr>
        <p:txBody>
          <a:bodyPr/>
          <a:lstStyle/>
          <a:p>
            <a:r>
              <a:rPr lang="en-GB" dirty="0">
                <a:solidFill>
                  <a:schemeClr val="tx1"/>
                </a:solidFill>
              </a:rPr>
              <a:t>So how does this help with binary?</a:t>
            </a:r>
          </a:p>
        </p:txBody>
      </p:sp>
      <p:sp>
        <p:nvSpPr>
          <p:cNvPr id="3" name="Content Placeholder 2"/>
          <p:cNvSpPr>
            <a:spLocks noGrp="1"/>
          </p:cNvSpPr>
          <p:nvPr>
            <p:ph idx="1"/>
          </p:nvPr>
        </p:nvSpPr>
        <p:spPr/>
        <p:txBody>
          <a:bodyPr/>
          <a:lstStyle/>
          <a:p>
            <a:r>
              <a:rPr lang="en-GB" dirty="0">
                <a:solidFill>
                  <a:schemeClr val="tx1"/>
                </a:solidFill>
              </a:rPr>
              <a:t>In binary, we don’t have 10 different digits to select from and use. We can only use two – 1 and 0.</a:t>
            </a:r>
          </a:p>
          <a:p>
            <a:r>
              <a:rPr lang="en-GB" dirty="0">
                <a:solidFill>
                  <a:schemeClr val="tx1"/>
                </a:solidFill>
              </a:rPr>
              <a:t>So we need to use what is known as base 2, so this time we will draw a similar table, but this time using 2’s:</a:t>
            </a:r>
          </a:p>
        </p:txBody>
      </p:sp>
      <p:cxnSp>
        <p:nvCxnSpPr>
          <p:cNvPr id="4" name="Straight Connector 3"/>
          <p:cNvCxnSpPr/>
          <p:nvPr/>
        </p:nvCxnSpPr>
        <p:spPr>
          <a:xfrm>
            <a:off x="1705708" y="4308396"/>
            <a:ext cx="0" cy="1608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3001108" y="4308396"/>
            <a:ext cx="0" cy="1608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92015" y="4692435"/>
            <a:ext cx="3489219" cy="320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92014" y="5137935"/>
            <a:ext cx="3489219" cy="320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37502" y="4755424"/>
            <a:ext cx="650866" cy="369332"/>
          </a:xfrm>
          <a:prstGeom prst="rect">
            <a:avLst/>
          </a:prstGeom>
          <a:noFill/>
        </p:spPr>
        <p:txBody>
          <a:bodyPr wrap="square" rtlCol="0">
            <a:spAutoFit/>
          </a:bodyPr>
          <a:lstStyle/>
          <a:p>
            <a:r>
              <a:rPr lang="en-GB" dirty="0"/>
              <a:t>2</a:t>
            </a:r>
          </a:p>
        </p:txBody>
      </p:sp>
      <p:sp>
        <p:nvSpPr>
          <p:cNvPr id="9" name="TextBox 8"/>
          <p:cNvSpPr txBox="1"/>
          <p:nvPr/>
        </p:nvSpPr>
        <p:spPr>
          <a:xfrm>
            <a:off x="2130443" y="4768603"/>
            <a:ext cx="650866" cy="369332"/>
          </a:xfrm>
          <a:prstGeom prst="rect">
            <a:avLst/>
          </a:prstGeom>
          <a:noFill/>
        </p:spPr>
        <p:txBody>
          <a:bodyPr wrap="square" rtlCol="0">
            <a:spAutoFit/>
          </a:bodyPr>
          <a:lstStyle/>
          <a:p>
            <a:r>
              <a:rPr lang="en-GB" dirty="0"/>
              <a:t>2</a:t>
            </a:r>
          </a:p>
        </p:txBody>
      </p:sp>
      <p:sp>
        <p:nvSpPr>
          <p:cNvPr id="10" name="TextBox 9"/>
          <p:cNvSpPr txBox="1"/>
          <p:nvPr/>
        </p:nvSpPr>
        <p:spPr>
          <a:xfrm>
            <a:off x="3425842" y="4762016"/>
            <a:ext cx="650866" cy="369332"/>
          </a:xfrm>
          <a:prstGeom prst="rect">
            <a:avLst/>
          </a:prstGeom>
          <a:noFill/>
        </p:spPr>
        <p:txBody>
          <a:bodyPr wrap="square" rtlCol="0">
            <a:spAutoFit/>
          </a:bodyPr>
          <a:lstStyle/>
          <a:p>
            <a:r>
              <a:rPr lang="en-GB" dirty="0"/>
              <a:t>2</a:t>
            </a:r>
          </a:p>
        </p:txBody>
      </p:sp>
      <p:sp>
        <p:nvSpPr>
          <p:cNvPr id="11" name="TextBox 10"/>
          <p:cNvSpPr txBox="1"/>
          <p:nvPr/>
        </p:nvSpPr>
        <p:spPr>
          <a:xfrm>
            <a:off x="4646453" y="3733949"/>
            <a:ext cx="3568460" cy="707886"/>
          </a:xfrm>
          <a:prstGeom prst="rect">
            <a:avLst/>
          </a:prstGeom>
          <a:noFill/>
        </p:spPr>
        <p:txBody>
          <a:bodyPr wrap="square" rtlCol="0">
            <a:spAutoFit/>
          </a:bodyPr>
          <a:lstStyle/>
          <a:p>
            <a:pPr algn="ctr"/>
            <a:r>
              <a:rPr lang="en-GB" sz="2000" dirty="0"/>
              <a:t>We still need to use powers, so let’s add these in again</a:t>
            </a:r>
          </a:p>
        </p:txBody>
      </p:sp>
      <p:cxnSp>
        <p:nvCxnSpPr>
          <p:cNvPr id="13" name="Straight Arrow Connector 12"/>
          <p:cNvCxnSpPr/>
          <p:nvPr/>
        </p:nvCxnSpPr>
        <p:spPr>
          <a:xfrm flipH="1">
            <a:off x="4076708" y="4308396"/>
            <a:ext cx="948053" cy="460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614880" y="4724670"/>
            <a:ext cx="650866" cy="246221"/>
          </a:xfrm>
          <a:prstGeom prst="rect">
            <a:avLst/>
          </a:prstGeom>
          <a:noFill/>
        </p:spPr>
        <p:txBody>
          <a:bodyPr wrap="square" rtlCol="0">
            <a:spAutoFit/>
          </a:bodyPr>
          <a:lstStyle/>
          <a:p>
            <a:r>
              <a:rPr lang="en-GB" sz="1000" dirty="0"/>
              <a:t>0</a:t>
            </a:r>
          </a:p>
        </p:txBody>
      </p:sp>
      <p:sp>
        <p:nvSpPr>
          <p:cNvPr id="15" name="TextBox 14"/>
          <p:cNvSpPr txBox="1"/>
          <p:nvPr/>
        </p:nvSpPr>
        <p:spPr>
          <a:xfrm>
            <a:off x="2415498" y="4712203"/>
            <a:ext cx="650866" cy="246221"/>
          </a:xfrm>
          <a:prstGeom prst="rect">
            <a:avLst/>
          </a:prstGeom>
          <a:noFill/>
        </p:spPr>
        <p:txBody>
          <a:bodyPr wrap="square" rtlCol="0">
            <a:spAutoFit/>
          </a:bodyPr>
          <a:lstStyle/>
          <a:p>
            <a:r>
              <a:rPr lang="en-GB" sz="1000" dirty="0"/>
              <a:t>1</a:t>
            </a:r>
          </a:p>
        </p:txBody>
      </p:sp>
      <p:sp>
        <p:nvSpPr>
          <p:cNvPr id="16" name="TextBox 15"/>
          <p:cNvSpPr txBox="1"/>
          <p:nvPr/>
        </p:nvSpPr>
        <p:spPr>
          <a:xfrm>
            <a:off x="1195558" y="4732214"/>
            <a:ext cx="650866" cy="246221"/>
          </a:xfrm>
          <a:prstGeom prst="rect">
            <a:avLst/>
          </a:prstGeom>
          <a:noFill/>
        </p:spPr>
        <p:txBody>
          <a:bodyPr wrap="square" rtlCol="0">
            <a:spAutoFit/>
          </a:bodyPr>
          <a:lstStyle/>
          <a:p>
            <a:r>
              <a:rPr lang="en-GB" sz="1000" dirty="0"/>
              <a:t>2</a:t>
            </a:r>
          </a:p>
        </p:txBody>
      </p:sp>
      <p:sp>
        <p:nvSpPr>
          <p:cNvPr id="17" name="TextBox 16"/>
          <p:cNvSpPr txBox="1"/>
          <p:nvPr/>
        </p:nvSpPr>
        <p:spPr>
          <a:xfrm>
            <a:off x="3425842" y="5384318"/>
            <a:ext cx="650866" cy="369332"/>
          </a:xfrm>
          <a:prstGeom prst="rect">
            <a:avLst/>
          </a:prstGeom>
          <a:noFill/>
        </p:spPr>
        <p:txBody>
          <a:bodyPr wrap="square" rtlCol="0">
            <a:spAutoFit/>
          </a:bodyPr>
          <a:lstStyle/>
          <a:p>
            <a:r>
              <a:rPr lang="en-GB" dirty="0"/>
              <a:t>1</a:t>
            </a:r>
          </a:p>
        </p:txBody>
      </p:sp>
      <p:sp>
        <p:nvSpPr>
          <p:cNvPr id="18" name="TextBox 17"/>
          <p:cNvSpPr txBox="1"/>
          <p:nvPr/>
        </p:nvSpPr>
        <p:spPr>
          <a:xfrm>
            <a:off x="2137876" y="5384318"/>
            <a:ext cx="650866" cy="369332"/>
          </a:xfrm>
          <a:prstGeom prst="rect">
            <a:avLst/>
          </a:prstGeom>
          <a:noFill/>
        </p:spPr>
        <p:txBody>
          <a:bodyPr wrap="square" rtlCol="0">
            <a:spAutoFit/>
          </a:bodyPr>
          <a:lstStyle/>
          <a:p>
            <a:r>
              <a:rPr lang="en-GB" dirty="0"/>
              <a:t>2</a:t>
            </a:r>
          </a:p>
        </p:txBody>
      </p:sp>
      <p:sp>
        <p:nvSpPr>
          <p:cNvPr id="19" name="TextBox 18"/>
          <p:cNvSpPr txBox="1"/>
          <p:nvPr/>
        </p:nvSpPr>
        <p:spPr>
          <a:xfrm>
            <a:off x="916792" y="5384318"/>
            <a:ext cx="650866" cy="369332"/>
          </a:xfrm>
          <a:prstGeom prst="rect">
            <a:avLst/>
          </a:prstGeom>
          <a:noFill/>
        </p:spPr>
        <p:txBody>
          <a:bodyPr wrap="square" rtlCol="0">
            <a:spAutoFit/>
          </a:bodyPr>
          <a:lstStyle/>
          <a:p>
            <a:r>
              <a:rPr lang="en-GB" dirty="0"/>
              <a:t>4</a:t>
            </a:r>
          </a:p>
        </p:txBody>
      </p:sp>
      <p:cxnSp>
        <p:nvCxnSpPr>
          <p:cNvPr id="20" name="Straight Arrow Connector 19"/>
          <p:cNvCxnSpPr>
            <a:endCxn id="15" idx="0"/>
          </p:cNvCxnSpPr>
          <p:nvPr/>
        </p:nvCxnSpPr>
        <p:spPr>
          <a:xfrm flipH="1">
            <a:off x="2740931" y="4169381"/>
            <a:ext cx="2261824" cy="542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6" idx="0"/>
          </p:cNvCxnSpPr>
          <p:nvPr/>
        </p:nvCxnSpPr>
        <p:spPr>
          <a:xfrm flipH="1">
            <a:off x="1520991" y="4107366"/>
            <a:ext cx="3367376" cy="624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066364" y="6079955"/>
            <a:ext cx="4019586" cy="707886"/>
          </a:xfrm>
          <a:prstGeom prst="rect">
            <a:avLst/>
          </a:prstGeom>
          <a:noFill/>
        </p:spPr>
        <p:txBody>
          <a:bodyPr wrap="square" rtlCol="0">
            <a:spAutoFit/>
          </a:bodyPr>
          <a:lstStyle/>
          <a:p>
            <a:pPr algn="ctr"/>
            <a:r>
              <a:rPr lang="en-GB" sz="2000" dirty="0"/>
              <a:t>So this time, our place value increases by 2 (double) each time.</a:t>
            </a:r>
          </a:p>
        </p:txBody>
      </p:sp>
      <p:sp>
        <p:nvSpPr>
          <p:cNvPr id="25" name="TextBox 24"/>
          <p:cNvSpPr txBox="1"/>
          <p:nvPr/>
        </p:nvSpPr>
        <p:spPr>
          <a:xfrm>
            <a:off x="8214913" y="3984501"/>
            <a:ext cx="3364302" cy="1107996"/>
          </a:xfrm>
          <a:prstGeom prst="rect">
            <a:avLst/>
          </a:prstGeom>
          <a:noFill/>
        </p:spPr>
        <p:txBody>
          <a:bodyPr wrap="square" rtlCol="0">
            <a:spAutoFit/>
          </a:bodyPr>
          <a:lstStyle/>
          <a:p>
            <a:pPr algn="ctr"/>
            <a:r>
              <a:rPr lang="en-GB" sz="6600" dirty="0"/>
              <a:t>010</a:t>
            </a:r>
          </a:p>
        </p:txBody>
      </p:sp>
      <p:sp>
        <p:nvSpPr>
          <p:cNvPr id="26" name="TextBox 25"/>
          <p:cNvSpPr txBox="1"/>
          <p:nvPr/>
        </p:nvSpPr>
        <p:spPr>
          <a:xfrm>
            <a:off x="7814653" y="3745691"/>
            <a:ext cx="4019586" cy="400110"/>
          </a:xfrm>
          <a:prstGeom prst="rect">
            <a:avLst/>
          </a:prstGeom>
          <a:noFill/>
        </p:spPr>
        <p:txBody>
          <a:bodyPr wrap="square" rtlCol="0">
            <a:spAutoFit/>
          </a:bodyPr>
          <a:lstStyle/>
          <a:p>
            <a:pPr algn="ctr"/>
            <a:r>
              <a:rPr lang="en-GB" sz="2000" dirty="0"/>
              <a:t>This means that</a:t>
            </a:r>
          </a:p>
        </p:txBody>
      </p:sp>
      <p:sp>
        <p:nvSpPr>
          <p:cNvPr id="27" name="TextBox 26"/>
          <p:cNvSpPr txBox="1"/>
          <p:nvPr/>
        </p:nvSpPr>
        <p:spPr>
          <a:xfrm>
            <a:off x="7790824" y="4919924"/>
            <a:ext cx="4019586" cy="400110"/>
          </a:xfrm>
          <a:prstGeom prst="rect">
            <a:avLst/>
          </a:prstGeom>
          <a:noFill/>
        </p:spPr>
        <p:txBody>
          <a:bodyPr wrap="square" rtlCol="0">
            <a:spAutoFit/>
          </a:bodyPr>
          <a:lstStyle/>
          <a:p>
            <a:pPr algn="ctr"/>
            <a:r>
              <a:rPr lang="en-GB" sz="2000" dirty="0"/>
              <a:t>Is twice the size of</a:t>
            </a:r>
          </a:p>
        </p:txBody>
      </p:sp>
      <p:sp>
        <p:nvSpPr>
          <p:cNvPr id="28" name="TextBox 27"/>
          <p:cNvSpPr txBox="1"/>
          <p:nvPr/>
        </p:nvSpPr>
        <p:spPr>
          <a:xfrm>
            <a:off x="8257877" y="5170008"/>
            <a:ext cx="3364302" cy="1107996"/>
          </a:xfrm>
          <a:prstGeom prst="rect">
            <a:avLst/>
          </a:prstGeom>
          <a:noFill/>
        </p:spPr>
        <p:txBody>
          <a:bodyPr wrap="square" rtlCol="0">
            <a:spAutoFit/>
          </a:bodyPr>
          <a:lstStyle/>
          <a:p>
            <a:pPr algn="ctr"/>
            <a:r>
              <a:rPr lang="en-GB" sz="6600" dirty="0"/>
              <a:t>001</a:t>
            </a:r>
          </a:p>
        </p:txBody>
      </p:sp>
      <p:sp>
        <p:nvSpPr>
          <p:cNvPr id="29" name="TextBox 28"/>
          <p:cNvSpPr txBox="1"/>
          <p:nvPr/>
        </p:nvSpPr>
        <p:spPr>
          <a:xfrm>
            <a:off x="7790824" y="6198744"/>
            <a:ext cx="4019586" cy="707886"/>
          </a:xfrm>
          <a:prstGeom prst="rect">
            <a:avLst/>
          </a:prstGeom>
          <a:noFill/>
        </p:spPr>
        <p:txBody>
          <a:bodyPr wrap="square" rtlCol="0">
            <a:spAutoFit/>
          </a:bodyPr>
          <a:lstStyle/>
          <a:p>
            <a:pPr algn="ctr"/>
            <a:r>
              <a:rPr lang="en-GB" sz="2000" dirty="0"/>
              <a:t>Unlike in denary where it would be 10 times instead.</a:t>
            </a:r>
          </a:p>
        </p:txBody>
      </p:sp>
    </p:spTree>
    <p:extLst>
      <p:ext uri="{BB962C8B-B14F-4D97-AF65-F5344CB8AC3E}">
        <p14:creationId xmlns:p14="http://schemas.microsoft.com/office/powerpoint/2010/main" val="407236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22" presetClass="entr" presetSubtype="2"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right)">
                                      <p:cBhvr>
                                        <p:cTn id="47" dur="500"/>
                                        <p:tgtEl>
                                          <p:spTgt spid="13"/>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par>
                                <p:cTn id="52" presetID="22" presetClass="entr" presetSubtype="2"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right)">
                                      <p:cBhvr>
                                        <p:cTn id="54" dur="500"/>
                                        <p:tgtEl>
                                          <p:spTgt spid="20"/>
                                        </p:tgtEl>
                                      </p:cBhvr>
                                    </p:animEffect>
                                  </p:childTnLst>
                                </p:cTn>
                              </p:par>
                            </p:childTnLst>
                          </p:cTn>
                        </p:par>
                        <p:par>
                          <p:cTn id="55" fill="hold">
                            <p:stCondLst>
                              <p:cond delay="100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par>
                                <p:cTn id="59" presetID="22" presetClass="entr" presetSubtype="2"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right)">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500"/>
                                        <p:tgtEl>
                                          <p:spTgt spid="1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500"/>
                                        <p:tgtEl>
                                          <p:spTgt spid="24"/>
                                        </p:tgtEl>
                                      </p:cBhvr>
                                    </p:animEffect>
                                  </p:childTnLst>
                                </p:cTn>
                              </p:par>
                              <p:par>
                                <p:cTn id="82" presetID="10" presetClass="exit" presetSubtype="0" fill="hold" grpId="1" nodeType="withEffect">
                                  <p:stCondLst>
                                    <p:cond delay="0"/>
                                  </p:stCondLst>
                                  <p:childTnLst>
                                    <p:animEffect transition="out" filter="fade">
                                      <p:cBhvr>
                                        <p:cTn id="83" dur="500"/>
                                        <p:tgtEl>
                                          <p:spTgt spid="11"/>
                                        </p:tgtEl>
                                      </p:cBhvr>
                                    </p:animEffect>
                                    <p:set>
                                      <p:cBhvr>
                                        <p:cTn id="84" dur="1" fill="hold">
                                          <p:stCondLst>
                                            <p:cond delay="499"/>
                                          </p:stCondLst>
                                        </p:cTn>
                                        <p:tgtEl>
                                          <p:spTgt spid="11"/>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21"/>
                                        </p:tgtEl>
                                      </p:cBhvr>
                                    </p:animEffect>
                                    <p:set>
                                      <p:cBhvr>
                                        <p:cTn id="87" dur="1" fill="hold">
                                          <p:stCondLst>
                                            <p:cond delay="499"/>
                                          </p:stCondLst>
                                        </p:cTn>
                                        <p:tgtEl>
                                          <p:spTgt spid="21"/>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20"/>
                                        </p:tgtEl>
                                      </p:cBhvr>
                                    </p:animEffect>
                                    <p:set>
                                      <p:cBhvr>
                                        <p:cTn id="90" dur="1" fill="hold">
                                          <p:stCondLst>
                                            <p:cond delay="499"/>
                                          </p:stCondLst>
                                        </p:cTn>
                                        <p:tgtEl>
                                          <p:spTgt spid="20"/>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13"/>
                                        </p:tgtEl>
                                      </p:cBhvr>
                                    </p:animEffect>
                                    <p:set>
                                      <p:cBhvr>
                                        <p:cTn id="93" dur="1" fill="hold">
                                          <p:stCondLst>
                                            <p:cond delay="499"/>
                                          </p:stCondLst>
                                        </p:cTn>
                                        <p:tgtEl>
                                          <p:spTgt spid="13"/>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00"/>
                                        <p:tgtEl>
                                          <p:spTgt spid="26"/>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500"/>
                                        <p:tgtEl>
                                          <p:spTgt spid="27"/>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500"/>
                                        <p:tgtEl>
                                          <p:spTgt spid="28"/>
                                        </p:tgtEl>
                                      </p:cBhvr>
                                    </p:animEffec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29"/>
                                        </p:tgtEl>
                                        <p:attrNameLst>
                                          <p:attrName>style.visibility</p:attrName>
                                        </p:attrNameLst>
                                      </p:cBhvr>
                                      <p:to>
                                        <p:strVal val="visible"/>
                                      </p:to>
                                    </p:set>
                                    <p:animEffect transition="in" filter="fade">
                                      <p:cBhvr>
                                        <p:cTn id="11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1" grpId="1"/>
      <p:bldP spid="14" grpId="0"/>
      <p:bldP spid="15" grpId="0"/>
      <p:bldP spid="16" grpId="0"/>
      <p:bldP spid="17" grpId="0"/>
      <p:bldP spid="18" grpId="0"/>
      <p:bldP spid="19" grpId="0"/>
      <p:bldP spid="24" grpId="0"/>
      <p:bldP spid="25" grpId="0"/>
      <p:bldP spid="26" grpId="0"/>
      <p:bldP spid="27" grpId="0"/>
      <p:bldP spid="28" grpId="0"/>
      <p:bldP spid="29"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14" name="TextBox 13"/>
          <p:cNvSpPr txBox="1"/>
          <p:nvPr/>
        </p:nvSpPr>
        <p:spPr>
          <a:xfrm>
            <a:off x="5774231" y="5346363"/>
            <a:ext cx="3364302" cy="400110"/>
          </a:xfrm>
          <a:prstGeom prst="rect">
            <a:avLst/>
          </a:prstGeom>
          <a:noFill/>
        </p:spPr>
        <p:txBody>
          <a:bodyPr wrap="square" rtlCol="0">
            <a:spAutoFit/>
          </a:bodyPr>
          <a:lstStyle/>
          <a:p>
            <a:pPr algn="ctr"/>
            <a:r>
              <a:rPr lang="en-GB" sz="2000" dirty="0"/>
              <a:t>I can have </a:t>
            </a:r>
            <a:r>
              <a:rPr lang="en-GB" sz="2000" b="1" dirty="0"/>
              <a:t>ON </a:t>
            </a:r>
            <a:r>
              <a:rPr lang="en-GB" sz="2000" b="1" dirty="0" err="1"/>
              <a:t>ON</a:t>
            </a:r>
            <a:endParaRPr lang="en-GB" sz="2000" dirty="0"/>
          </a:p>
        </p:txBody>
      </p:sp>
      <p:sp>
        <p:nvSpPr>
          <p:cNvPr id="2" name="Title 1"/>
          <p:cNvSpPr>
            <a:spLocks noGrp="1"/>
          </p:cNvSpPr>
          <p:nvPr>
            <p:ph type="title"/>
          </p:nvPr>
        </p:nvSpPr>
        <p:spPr>
          <a:xfrm>
            <a:off x="0" y="0"/>
            <a:ext cx="12192000" cy="1649674"/>
          </a:xfrm>
        </p:spPr>
        <p:txBody>
          <a:bodyPr>
            <a:normAutofit fontScale="90000"/>
          </a:bodyPr>
          <a:lstStyle/>
          <a:p>
            <a:r>
              <a:rPr lang="en-GB" dirty="0">
                <a:solidFill>
                  <a:schemeClr val="tx1"/>
                </a:solidFill>
              </a:rPr>
              <a:t>This still doesn’t answer the question of how we read a binary value?</a:t>
            </a:r>
          </a:p>
        </p:txBody>
      </p:sp>
      <p:sp>
        <p:nvSpPr>
          <p:cNvPr id="3" name="Content Placeholder 2"/>
          <p:cNvSpPr>
            <a:spLocks noGrp="1"/>
          </p:cNvSpPr>
          <p:nvPr>
            <p:ph idx="1"/>
          </p:nvPr>
        </p:nvSpPr>
        <p:spPr/>
        <p:txBody>
          <a:bodyPr/>
          <a:lstStyle/>
          <a:p>
            <a:r>
              <a:rPr lang="en-GB" dirty="0">
                <a:solidFill>
                  <a:schemeClr val="tx1"/>
                </a:solidFill>
              </a:rPr>
              <a:t>Let’s make a visual example:</a:t>
            </a:r>
          </a:p>
          <a:p>
            <a:r>
              <a:rPr lang="en-GB" dirty="0">
                <a:solidFill>
                  <a:schemeClr val="tx1"/>
                </a:solidFill>
              </a:rPr>
              <a:t>A light can be turned OFF…</a:t>
            </a: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r>
              <a:rPr lang="en-GB" dirty="0">
                <a:solidFill>
                  <a:schemeClr val="tx1"/>
                </a:solidFill>
              </a:rPr>
              <a:t>… or ON</a:t>
            </a:r>
          </a:p>
        </p:txBody>
      </p:sp>
      <p:pic>
        <p:nvPicPr>
          <p:cNvPr id="1026"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r="49694"/>
          <a:stretch/>
        </p:blipFill>
        <p:spPr bwMode="auto">
          <a:xfrm>
            <a:off x="5003492" y="3272870"/>
            <a:ext cx="1092508" cy="16383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l="49080"/>
          <a:stretch/>
        </p:blipFill>
        <p:spPr bwMode="auto">
          <a:xfrm>
            <a:off x="5157554" y="3272870"/>
            <a:ext cx="1105825" cy="1638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827698" y="1825625"/>
            <a:ext cx="3364302" cy="400110"/>
          </a:xfrm>
          <a:prstGeom prst="rect">
            <a:avLst/>
          </a:prstGeom>
          <a:noFill/>
        </p:spPr>
        <p:txBody>
          <a:bodyPr wrap="square" rtlCol="0">
            <a:spAutoFit/>
          </a:bodyPr>
          <a:lstStyle/>
          <a:p>
            <a:pPr algn="ctr"/>
            <a:r>
              <a:rPr lang="en-GB" sz="2000" dirty="0"/>
              <a:t>So it has </a:t>
            </a:r>
            <a:r>
              <a:rPr lang="en-GB" sz="2000" b="1" dirty="0"/>
              <a:t>2 </a:t>
            </a:r>
            <a:r>
              <a:rPr lang="en-GB" sz="2000" dirty="0"/>
              <a:t>possible states</a:t>
            </a:r>
          </a:p>
        </p:txBody>
      </p:sp>
      <p:pic>
        <p:nvPicPr>
          <p:cNvPr id="7" name="Picture 2" descr="Related image"/>
          <p:cNvPicPr>
            <a:picLocks noChangeAspect="1" noChangeArrowheads="1"/>
          </p:cNvPicPr>
          <p:nvPr/>
        </p:nvPicPr>
        <p:blipFill rotWithShape="1">
          <a:blip r:embed="rId2">
            <a:extLst>
              <a:ext uri="{28A0092B-C50C-407E-A947-70E740481C1C}">
                <a14:useLocalDpi xmlns:a14="http://schemas.microsoft.com/office/drawing/2010/main" val="0"/>
              </a:ext>
            </a:extLst>
          </a:blip>
          <a:srcRect r="49694"/>
          <a:stretch/>
        </p:blipFill>
        <p:spPr bwMode="auto">
          <a:xfrm>
            <a:off x="6923161" y="2533511"/>
            <a:ext cx="1092508" cy="16383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5787264" y="1825625"/>
            <a:ext cx="3364302" cy="707886"/>
          </a:xfrm>
          <a:prstGeom prst="rect">
            <a:avLst/>
          </a:prstGeom>
          <a:noFill/>
        </p:spPr>
        <p:txBody>
          <a:bodyPr wrap="square" rtlCol="0">
            <a:spAutoFit/>
          </a:bodyPr>
          <a:lstStyle/>
          <a:p>
            <a:pPr algn="ctr"/>
            <a:r>
              <a:rPr lang="en-GB" sz="2000" dirty="0"/>
              <a:t>If I add a second bulb next to this:</a:t>
            </a:r>
          </a:p>
        </p:txBody>
      </p:sp>
      <p:sp>
        <p:nvSpPr>
          <p:cNvPr id="9" name="TextBox 8"/>
          <p:cNvSpPr txBox="1"/>
          <p:nvPr/>
        </p:nvSpPr>
        <p:spPr>
          <a:xfrm>
            <a:off x="8408598" y="4059404"/>
            <a:ext cx="3364302" cy="707886"/>
          </a:xfrm>
          <a:prstGeom prst="rect">
            <a:avLst/>
          </a:prstGeom>
          <a:noFill/>
        </p:spPr>
        <p:txBody>
          <a:bodyPr wrap="square" rtlCol="0">
            <a:spAutoFit/>
          </a:bodyPr>
          <a:lstStyle/>
          <a:p>
            <a:pPr algn="ctr"/>
            <a:r>
              <a:rPr lang="en-GB" sz="2000" dirty="0"/>
              <a:t>How many different combinations can I have?</a:t>
            </a:r>
          </a:p>
        </p:txBody>
      </p:sp>
      <p:sp>
        <p:nvSpPr>
          <p:cNvPr id="10" name="TextBox 9"/>
          <p:cNvSpPr txBox="1"/>
          <p:nvPr/>
        </p:nvSpPr>
        <p:spPr>
          <a:xfrm>
            <a:off x="5807447" y="4911170"/>
            <a:ext cx="3364302" cy="400110"/>
          </a:xfrm>
          <a:prstGeom prst="rect">
            <a:avLst/>
          </a:prstGeom>
          <a:noFill/>
        </p:spPr>
        <p:txBody>
          <a:bodyPr wrap="square" rtlCol="0">
            <a:spAutoFit/>
          </a:bodyPr>
          <a:lstStyle/>
          <a:p>
            <a:pPr algn="ctr"/>
            <a:r>
              <a:rPr lang="en-GB" sz="2000" dirty="0"/>
              <a:t>I can have </a:t>
            </a:r>
            <a:r>
              <a:rPr lang="en-GB" sz="2000" b="1" dirty="0"/>
              <a:t>OFF </a:t>
            </a:r>
            <a:r>
              <a:rPr lang="en-GB" sz="2000" b="1" dirty="0" err="1"/>
              <a:t>OFF</a:t>
            </a:r>
            <a:endParaRPr lang="en-GB" sz="2000" dirty="0"/>
          </a:p>
        </p:txBody>
      </p:sp>
      <p:pic>
        <p:nvPicPr>
          <p:cNvPr id="11"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9694"/>
          <a:stretch/>
        </p:blipFill>
        <p:spPr bwMode="auto">
          <a:xfrm>
            <a:off x="8923966" y="4887716"/>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9694"/>
          <a:stretch/>
        </p:blipFill>
        <p:spPr bwMode="auto">
          <a:xfrm>
            <a:off x="9442823" y="4887716"/>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Related image"/>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9080"/>
          <a:stretch/>
        </p:blipFill>
        <p:spPr bwMode="auto">
          <a:xfrm>
            <a:off x="8923966" y="5341188"/>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Related image"/>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9080"/>
          <a:stretch/>
        </p:blipFill>
        <p:spPr bwMode="auto">
          <a:xfrm>
            <a:off x="9501806" y="5334734"/>
            <a:ext cx="317481" cy="47035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5774231" y="5724798"/>
            <a:ext cx="3364302" cy="400110"/>
          </a:xfrm>
          <a:prstGeom prst="rect">
            <a:avLst/>
          </a:prstGeom>
          <a:noFill/>
        </p:spPr>
        <p:txBody>
          <a:bodyPr wrap="square" rtlCol="0">
            <a:spAutoFit/>
          </a:bodyPr>
          <a:lstStyle/>
          <a:p>
            <a:pPr algn="ctr"/>
            <a:r>
              <a:rPr lang="en-GB" sz="2000" dirty="0"/>
              <a:t>I can have </a:t>
            </a:r>
            <a:r>
              <a:rPr lang="en-GB" sz="2000" b="1" dirty="0"/>
              <a:t>ON OFF</a:t>
            </a:r>
            <a:endParaRPr lang="en-GB" sz="2000" dirty="0"/>
          </a:p>
        </p:txBody>
      </p:sp>
      <p:pic>
        <p:nvPicPr>
          <p:cNvPr id="17" name="Picture 2" descr="Related image"/>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9080"/>
          <a:stretch/>
        </p:blipFill>
        <p:spPr bwMode="auto">
          <a:xfrm>
            <a:off x="8898727" y="5787105"/>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9694"/>
          <a:stretch/>
        </p:blipFill>
        <p:spPr bwMode="auto">
          <a:xfrm>
            <a:off x="9476567" y="5798773"/>
            <a:ext cx="298096" cy="447018"/>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a:xfrm>
            <a:off x="5746170" y="6150791"/>
            <a:ext cx="3364302" cy="400110"/>
          </a:xfrm>
          <a:prstGeom prst="rect">
            <a:avLst/>
          </a:prstGeom>
          <a:noFill/>
        </p:spPr>
        <p:txBody>
          <a:bodyPr wrap="square" rtlCol="0">
            <a:spAutoFit/>
          </a:bodyPr>
          <a:lstStyle/>
          <a:p>
            <a:pPr algn="ctr"/>
            <a:r>
              <a:rPr lang="en-GB" sz="2000" dirty="0"/>
              <a:t>Or </a:t>
            </a:r>
            <a:r>
              <a:rPr lang="en-GB" sz="2000" b="1" dirty="0"/>
              <a:t>OFF ON</a:t>
            </a:r>
            <a:endParaRPr lang="en-GB" sz="2000" dirty="0"/>
          </a:p>
        </p:txBody>
      </p:sp>
      <p:pic>
        <p:nvPicPr>
          <p:cNvPr id="20"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9694"/>
          <a:stretch/>
        </p:blipFill>
        <p:spPr bwMode="auto">
          <a:xfrm>
            <a:off x="8865244" y="6279834"/>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Related image"/>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9080"/>
          <a:stretch/>
        </p:blipFill>
        <p:spPr bwMode="auto">
          <a:xfrm>
            <a:off x="9504933" y="6268166"/>
            <a:ext cx="317481" cy="470354"/>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10429476" y="5215336"/>
            <a:ext cx="1673344" cy="1323439"/>
          </a:xfrm>
          <a:prstGeom prst="rect">
            <a:avLst/>
          </a:prstGeom>
          <a:noFill/>
        </p:spPr>
        <p:txBody>
          <a:bodyPr wrap="square" rtlCol="0">
            <a:spAutoFit/>
          </a:bodyPr>
          <a:lstStyle/>
          <a:p>
            <a:pPr algn="ctr"/>
            <a:r>
              <a:rPr lang="en-GB" sz="2000" dirty="0"/>
              <a:t>Q. How many combinations could I have for 3 bulbs?</a:t>
            </a:r>
          </a:p>
        </p:txBody>
      </p:sp>
    </p:spTree>
    <p:extLst>
      <p:ext uri="{BB962C8B-B14F-4D97-AF65-F5344CB8AC3E}">
        <p14:creationId xmlns:p14="http://schemas.microsoft.com/office/powerpoint/2010/main" val="140690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1"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02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nodeType="clickEffect">
                                  <p:stCondLst>
                                    <p:cond delay="0"/>
                                  </p:stCondLst>
                                  <p:childTnLst>
                                    <p:animMotion origin="layout" path="M 6.25E-7 7.40741E-7 L 0.39414 -0.1088 " pathEditMode="relative" rAng="0" ptsTypes="AA">
                                      <p:cBhvr>
                                        <p:cTn id="27" dur="2000" fill="hold"/>
                                        <p:tgtEl>
                                          <p:spTgt spid="5"/>
                                        </p:tgtEl>
                                        <p:attrNameLst>
                                          <p:attrName>ppt_x</p:attrName>
                                          <p:attrName>ppt_y</p:attrName>
                                        </p:attrNameLst>
                                      </p:cBhvr>
                                      <p:rCtr x="19701" y="-5440"/>
                                    </p:animMotion>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xit" presetSubtype="0" fill="hold" grpId="1" nodeType="withEffect">
                                  <p:stCondLst>
                                    <p:cond delay="0"/>
                                  </p:stCondLst>
                                  <p:childTnLst>
                                    <p:animEffect transition="out" filter="fade">
                                      <p:cBhvr>
                                        <p:cTn id="32" dur="500"/>
                                        <p:tgtEl>
                                          <p:spTgt spid="3">
                                            <p:txEl>
                                              <p:pRg st="0" end="0"/>
                                            </p:txEl>
                                          </p:spTgt>
                                        </p:tgtEl>
                                      </p:cBhvr>
                                    </p:animEffect>
                                    <p:set>
                                      <p:cBhvr>
                                        <p:cTn id="33" dur="1" fill="hold">
                                          <p:stCondLst>
                                            <p:cond delay="499"/>
                                          </p:stCondLst>
                                        </p:cTn>
                                        <p:tgtEl>
                                          <p:spTgt spid="3">
                                            <p:txEl>
                                              <p:pRg st="0" end="0"/>
                                            </p:txEl>
                                          </p:spTgt>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500"/>
                                        <p:tgtEl>
                                          <p:spTgt spid="3">
                                            <p:txEl>
                                              <p:pRg st="1" end="1"/>
                                            </p:txEl>
                                          </p:spTgt>
                                        </p:tgtEl>
                                      </p:cBhvr>
                                    </p:animEffect>
                                    <p:set>
                                      <p:cBhvr>
                                        <p:cTn id="36" dur="1" fill="hold">
                                          <p:stCondLst>
                                            <p:cond delay="499"/>
                                          </p:stCondLst>
                                        </p:cTn>
                                        <p:tgtEl>
                                          <p:spTgt spid="3">
                                            <p:txEl>
                                              <p:pRg st="1" end="1"/>
                                            </p:txEl>
                                          </p:spTgt>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500"/>
                                        <p:tgtEl>
                                          <p:spTgt spid="3">
                                            <p:txEl>
                                              <p:pRg st="7" end="7"/>
                                            </p:txEl>
                                          </p:spTgt>
                                        </p:tgtEl>
                                      </p:cBhvr>
                                    </p:animEffect>
                                    <p:set>
                                      <p:cBhvr>
                                        <p:cTn id="39" dur="1" fill="hold">
                                          <p:stCondLst>
                                            <p:cond delay="499"/>
                                          </p:stCondLst>
                                        </p:cTn>
                                        <p:tgtEl>
                                          <p:spTgt spid="3">
                                            <p:txEl>
                                              <p:pRg st="7" end="7"/>
                                            </p:txEl>
                                          </p:spTgt>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par>
                                <p:cTn id="45" presetID="1"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par>
                                <p:cTn id="57" presetID="1" presetClass="entr" presetSubtype="0" fill="hold"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childTnLst>
                                </p:cTn>
                              </p:par>
                              <p:par>
                                <p:cTn id="66" presetID="1" presetClass="entr" presetSubtype="0" fill="hold" nodeType="withEffect">
                                  <p:stCondLst>
                                    <p:cond delay="0"/>
                                  </p:stCondLst>
                                  <p:childTnLst>
                                    <p:set>
                                      <p:cBhvr>
                                        <p:cTn id="67" dur="1" fill="hold">
                                          <p:stCondLst>
                                            <p:cond delay="0"/>
                                          </p:stCondLst>
                                        </p:cTn>
                                        <p:tgtEl>
                                          <p:spTgt spid="13"/>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childTnLst>
                                </p:cTn>
                              </p:par>
                              <p:par>
                                <p:cTn id="75" presetID="1" presetClass="entr" presetSubtype="0" fill="hold" nodeType="with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500"/>
                                        <p:tgtEl>
                                          <p:spTgt spid="19"/>
                                        </p:tgtEl>
                                      </p:cBhvr>
                                    </p:animEffect>
                                  </p:childTnLst>
                                </p:cTn>
                              </p:par>
                              <p:par>
                                <p:cTn id="84" presetID="1" presetClass="entr" presetSubtype="0" fill="hold" nodeType="withEffect">
                                  <p:stCondLst>
                                    <p:cond delay="0"/>
                                  </p:stCondLst>
                                  <p:childTnLst>
                                    <p:set>
                                      <p:cBhvr>
                                        <p:cTn id="85" dur="1" fill="hold">
                                          <p:stCondLst>
                                            <p:cond delay="0"/>
                                          </p:stCondLst>
                                        </p:cTn>
                                        <p:tgtEl>
                                          <p:spTgt spid="20"/>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2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fade">
                                      <p:cBhvr>
                                        <p:cTn id="9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build="p"/>
      <p:bldP spid="3" grpId="1" build="p"/>
      <p:bldP spid="6" grpId="0"/>
      <p:bldP spid="8" grpId="0"/>
      <p:bldP spid="9" grpId="0"/>
      <p:bldP spid="10" grpId="0"/>
      <p:bldP spid="16" grpId="0"/>
      <p:bldP spid="19"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35542"/>
            <a:ext cx="10515600" cy="1325563"/>
          </a:xfrm>
        </p:spPr>
        <p:txBody>
          <a:bodyPr/>
          <a:lstStyle/>
          <a:p>
            <a:r>
              <a:rPr lang="en-GB" dirty="0">
                <a:solidFill>
                  <a:schemeClr val="tx1"/>
                </a:solidFill>
              </a:rPr>
              <a:t>I can have 8</a:t>
            </a:r>
          </a:p>
        </p:txBody>
      </p:sp>
      <p:sp>
        <p:nvSpPr>
          <p:cNvPr id="3" name="Content Placeholder 2"/>
          <p:cNvSpPr>
            <a:spLocks noGrp="1"/>
          </p:cNvSpPr>
          <p:nvPr>
            <p:ph idx="1"/>
          </p:nvPr>
        </p:nvSpPr>
        <p:spPr>
          <a:xfrm>
            <a:off x="838200" y="1825625"/>
            <a:ext cx="3281039" cy="1290437"/>
          </a:xfrm>
        </p:spPr>
        <p:txBody>
          <a:bodyPr>
            <a:normAutofit fontScale="92500"/>
          </a:bodyPr>
          <a:lstStyle/>
          <a:p>
            <a:r>
              <a:rPr lang="en-GB" dirty="0">
                <a:solidFill>
                  <a:schemeClr val="tx1"/>
                </a:solidFill>
              </a:rPr>
              <a:t>That’s right, the combinations have doubled again.</a:t>
            </a:r>
          </a:p>
        </p:txBody>
      </p:sp>
      <p:pic>
        <p:nvPicPr>
          <p:cNvPr id="4"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406129" y="1366939"/>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7412265" y="1825625"/>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909197" y="1366939"/>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7412265" y="1366939"/>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406129" y="1809010"/>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909197" y="1809010"/>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942246" y="2304736"/>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406129" y="2295979"/>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7412265" y="2338476"/>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942246" y="2870076"/>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7412265" y="2870076"/>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406129" y="2870076"/>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7373039" y="3459894"/>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415445" y="3459894"/>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909197" y="3459894"/>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415444" y="4050606"/>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6909197" y="4050606"/>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7383565" y="4015873"/>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415444" y="4571852"/>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49694"/>
          <a:stretch/>
        </p:blipFill>
        <p:spPr bwMode="auto">
          <a:xfrm>
            <a:off x="7345847" y="4595188"/>
            <a:ext cx="298096" cy="44701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940599" y="4576926"/>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415444" y="5161161"/>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6940599" y="5168052"/>
            <a:ext cx="317481" cy="47035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Related imag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9080"/>
          <a:stretch/>
        </p:blipFill>
        <p:spPr bwMode="auto">
          <a:xfrm>
            <a:off x="7352143" y="5168052"/>
            <a:ext cx="317481" cy="470354"/>
          </a:xfrm>
          <a:prstGeom prst="rect">
            <a:avLst/>
          </a:prstGeom>
          <a:noFill/>
          <a:extLst>
            <a:ext uri="{909E8E84-426E-40DD-AFC4-6F175D3DCCD1}">
              <a14:hiddenFill xmlns:a14="http://schemas.microsoft.com/office/drawing/2010/main">
                <a:solidFill>
                  <a:srgbClr val="FFFFFF"/>
                </a:solidFill>
              </a14:hiddenFill>
            </a:ext>
          </a:extLst>
        </p:spPr>
      </p:pic>
      <p:sp>
        <p:nvSpPr>
          <p:cNvPr id="34" name="Content Placeholder 2"/>
          <p:cNvSpPr txBox="1">
            <a:spLocks/>
          </p:cNvSpPr>
          <p:nvPr/>
        </p:nvSpPr>
        <p:spPr>
          <a:xfrm>
            <a:off x="8385699" y="212292"/>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So If I labelled them…</a:t>
            </a:r>
          </a:p>
        </p:txBody>
      </p:sp>
      <p:sp>
        <p:nvSpPr>
          <p:cNvPr id="35" name="Content Placeholder 2"/>
          <p:cNvSpPr txBox="1">
            <a:spLocks/>
          </p:cNvSpPr>
          <p:nvPr/>
        </p:nvSpPr>
        <p:spPr>
          <a:xfrm>
            <a:off x="8067584" y="1279829"/>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36" name="Content Placeholder 2"/>
          <p:cNvSpPr txBox="1">
            <a:spLocks/>
          </p:cNvSpPr>
          <p:nvPr/>
        </p:nvSpPr>
        <p:spPr>
          <a:xfrm>
            <a:off x="8098715" y="1806020"/>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37" name="Content Placeholder 2"/>
          <p:cNvSpPr txBox="1">
            <a:spLocks/>
          </p:cNvSpPr>
          <p:nvPr/>
        </p:nvSpPr>
        <p:spPr>
          <a:xfrm>
            <a:off x="8098715" y="2335201"/>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2</a:t>
            </a:r>
          </a:p>
        </p:txBody>
      </p:sp>
      <p:sp>
        <p:nvSpPr>
          <p:cNvPr id="38" name="Content Placeholder 2"/>
          <p:cNvSpPr txBox="1">
            <a:spLocks/>
          </p:cNvSpPr>
          <p:nvPr/>
        </p:nvSpPr>
        <p:spPr>
          <a:xfrm>
            <a:off x="8067584" y="2851471"/>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3</a:t>
            </a:r>
          </a:p>
        </p:txBody>
      </p:sp>
      <p:sp>
        <p:nvSpPr>
          <p:cNvPr id="39" name="Content Placeholder 2"/>
          <p:cNvSpPr txBox="1">
            <a:spLocks/>
          </p:cNvSpPr>
          <p:nvPr/>
        </p:nvSpPr>
        <p:spPr>
          <a:xfrm>
            <a:off x="8098715" y="3418812"/>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4</a:t>
            </a:r>
          </a:p>
        </p:txBody>
      </p:sp>
      <p:sp>
        <p:nvSpPr>
          <p:cNvPr id="40" name="Content Placeholder 2"/>
          <p:cNvSpPr txBox="1">
            <a:spLocks/>
          </p:cNvSpPr>
          <p:nvPr/>
        </p:nvSpPr>
        <p:spPr>
          <a:xfrm>
            <a:off x="8067584" y="4009524"/>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5</a:t>
            </a:r>
          </a:p>
        </p:txBody>
      </p:sp>
      <p:sp>
        <p:nvSpPr>
          <p:cNvPr id="41" name="Content Placeholder 2"/>
          <p:cNvSpPr txBox="1">
            <a:spLocks/>
          </p:cNvSpPr>
          <p:nvPr/>
        </p:nvSpPr>
        <p:spPr>
          <a:xfrm>
            <a:off x="8047238" y="4595188"/>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6</a:t>
            </a:r>
          </a:p>
        </p:txBody>
      </p:sp>
      <p:sp>
        <p:nvSpPr>
          <p:cNvPr id="42" name="Content Placeholder 2"/>
          <p:cNvSpPr txBox="1">
            <a:spLocks/>
          </p:cNvSpPr>
          <p:nvPr/>
        </p:nvSpPr>
        <p:spPr>
          <a:xfrm>
            <a:off x="8047238" y="5138638"/>
            <a:ext cx="676922" cy="5291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7</a:t>
            </a:r>
          </a:p>
        </p:txBody>
      </p:sp>
      <p:sp>
        <p:nvSpPr>
          <p:cNvPr id="43" name="Content Placeholder 2"/>
          <p:cNvSpPr txBox="1">
            <a:spLocks/>
          </p:cNvSpPr>
          <p:nvPr/>
        </p:nvSpPr>
        <p:spPr>
          <a:xfrm>
            <a:off x="1710016" y="4285783"/>
            <a:ext cx="3281039" cy="95068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But because we don’t have light bulbs in binary, we will say that when the bulb is off, we will use a 0.</a:t>
            </a:r>
          </a:p>
        </p:txBody>
      </p:sp>
      <p:sp>
        <p:nvSpPr>
          <p:cNvPr id="44" name="Content Placeholder 2"/>
          <p:cNvSpPr txBox="1">
            <a:spLocks/>
          </p:cNvSpPr>
          <p:nvPr/>
        </p:nvSpPr>
        <p:spPr>
          <a:xfrm>
            <a:off x="6393609" y="1338439"/>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45" name="Content Placeholder 2"/>
          <p:cNvSpPr txBox="1">
            <a:spLocks/>
          </p:cNvSpPr>
          <p:nvPr/>
        </p:nvSpPr>
        <p:spPr>
          <a:xfrm>
            <a:off x="6914302" y="1344438"/>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46" name="Content Placeholder 2"/>
          <p:cNvSpPr txBox="1">
            <a:spLocks/>
          </p:cNvSpPr>
          <p:nvPr/>
        </p:nvSpPr>
        <p:spPr>
          <a:xfrm>
            <a:off x="7391655" y="1352772"/>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47" name="Content Placeholder 2"/>
          <p:cNvSpPr txBox="1">
            <a:spLocks/>
          </p:cNvSpPr>
          <p:nvPr/>
        </p:nvSpPr>
        <p:spPr>
          <a:xfrm>
            <a:off x="6390502" y="1797234"/>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48" name="Content Placeholder 2"/>
          <p:cNvSpPr txBox="1">
            <a:spLocks/>
          </p:cNvSpPr>
          <p:nvPr/>
        </p:nvSpPr>
        <p:spPr>
          <a:xfrm>
            <a:off x="6903536" y="1789567"/>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49" name="Content Placeholder 2"/>
          <p:cNvSpPr txBox="1">
            <a:spLocks/>
          </p:cNvSpPr>
          <p:nvPr/>
        </p:nvSpPr>
        <p:spPr>
          <a:xfrm>
            <a:off x="6393609" y="2303381"/>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50" name="Content Placeholder 2"/>
          <p:cNvSpPr txBox="1">
            <a:spLocks/>
          </p:cNvSpPr>
          <p:nvPr/>
        </p:nvSpPr>
        <p:spPr>
          <a:xfrm>
            <a:off x="7412265" y="2347926"/>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51" name="Content Placeholder 2"/>
          <p:cNvSpPr txBox="1">
            <a:spLocks/>
          </p:cNvSpPr>
          <p:nvPr/>
        </p:nvSpPr>
        <p:spPr>
          <a:xfrm>
            <a:off x="6406129" y="2892468"/>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52" name="Content Placeholder 2"/>
          <p:cNvSpPr txBox="1">
            <a:spLocks/>
          </p:cNvSpPr>
          <p:nvPr/>
        </p:nvSpPr>
        <p:spPr>
          <a:xfrm>
            <a:off x="6888587" y="3448985"/>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53" name="Content Placeholder 2"/>
          <p:cNvSpPr txBox="1">
            <a:spLocks/>
          </p:cNvSpPr>
          <p:nvPr/>
        </p:nvSpPr>
        <p:spPr>
          <a:xfrm>
            <a:off x="7383564" y="3466276"/>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54" name="Content Placeholder 2"/>
          <p:cNvSpPr txBox="1">
            <a:spLocks/>
          </p:cNvSpPr>
          <p:nvPr/>
        </p:nvSpPr>
        <p:spPr>
          <a:xfrm>
            <a:off x="6888587" y="4036355"/>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55" name="Content Placeholder 2"/>
          <p:cNvSpPr txBox="1">
            <a:spLocks/>
          </p:cNvSpPr>
          <p:nvPr/>
        </p:nvSpPr>
        <p:spPr>
          <a:xfrm>
            <a:off x="7330308" y="4576465"/>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56" name="Content Placeholder 2"/>
          <p:cNvSpPr txBox="1">
            <a:spLocks/>
          </p:cNvSpPr>
          <p:nvPr/>
        </p:nvSpPr>
        <p:spPr>
          <a:xfrm>
            <a:off x="8875080" y="4384436"/>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And if a bulb is on, we will use 1</a:t>
            </a:r>
          </a:p>
        </p:txBody>
      </p:sp>
      <p:sp>
        <p:nvSpPr>
          <p:cNvPr id="57" name="Content Placeholder 2"/>
          <p:cNvSpPr txBox="1">
            <a:spLocks/>
          </p:cNvSpPr>
          <p:nvPr/>
        </p:nvSpPr>
        <p:spPr>
          <a:xfrm>
            <a:off x="7362618" y="1798939"/>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58" name="Content Placeholder 2"/>
          <p:cNvSpPr txBox="1">
            <a:spLocks/>
          </p:cNvSpPr>
          <p:nvPr/>
        </p:nvSpPr>
        <p:spPr>
          <a:xfrm>
            <a:off x="6910401" y="2308051"/>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59" name="Content Placeholder 2"/>
          <p:cNvSpPr txBox="1">
            <a:spLocks/>
          </p:cNvSpPr>
          <p:nvPr/>
        </p:nvSpPr>
        <p:spPr>
          <a:xfrm>
            <a:off x="6909197" y="2855827"/>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0" name="Content Placeholder 2"/>
          <p:cNvSpPr txBox="1">
            <a:spLocks/>
          </p:cNvSpPr>
          <p:nvPr/>
        </p:nvSpPr>
        <p:spPr>
          <a:xfrm>
            <a:off x="7371045" y="2858041"/>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1" name="Content Placeholder 2"/>
          <p:cNvSpPr txBox="1">
            <a:spLocks/>
          </p:cNvSpPr>
          <p:nvPr/>
        </p:nvSpPr>
        <p:spPr>
          <a:xfrm>
            <a:off x="6390502" y="3459894"/>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2" name="Content Placeholder 2"/>
          <p:cNvSpPr txBox="1">
            <a:spLocks/>
          </p:cNvSpPr>
          <p:nvPr/>
        </p:nvSpPr>
        <p:spPr>
          <a:xfrm>
            <a:off x="6373001" y="4020769"/>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3" name="Content Placeholder 2"/>
          <p:cNvSpPr txBox="1">
            <a:spLocks/>
          </p:cNvSpPr>
          <p:nvPr/>
        </p:nvSpPr>
        <p:spPr>
          <a:xfrm>
            <a:off x="7337867" y="4029432"/>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4" name="Content Placeholder 2"/>
          <p:cNvSpPr txBox="1">
            <a:spLocks/>
          </p:cNvSpPr>
          <p:nvPr/>
        </p:nvSpPr>
        <p:spPr>
          <a:xfrm>
            <a:off x="6376362" y="4559923"/>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5" name="Content Placeholder 2"/>
          <p:cNvSpPr txBox="1">
            <a:spLocks/>
          </p:cNvSpPr>
          <p:nvPr/>
        </p:nvSpPr>
        <p:spPr>
          <a:xfrm>
            <a:off x="6899422" y="4578472"/>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6" name="Content Placeholder 2"/>
          <p:cNvSpPr txBox="1">
            <a:spLocks/>
          </p:cNvSpPr>
          <p:nvPr/>
        </p:nvSpPr>
        <p:spPr>
          <a:xfrm>
            <a:off x="7313343" y="5155997"/>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7" name="Content Placeholder 2"/>
          <p:cNvSpPr txBox="1">
            <a:spLocks/>
          </p:cNvSpPr>
          <p:nvPr/>
        </p:nvSpPr>
        <p:spPr>
          <a:xfrm>
            <a:off x="6883845" y="5150047"/>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8" name="Content Placeholder 2"/>
          <p:cNvSpPr txBox="1">
            <a:spLocks/>
          </p:cNvSpPr>
          <p:nvPr/>
        </p:nvSpPr>
        <p:spPr>
          <a:xfrm>
            <a:off x="6375309" y="5145853"/>
            <a:ext cx="339316" cy="4755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69" name="Content Placeholder 2"/>
          <p:cNvSpPr txBox="1">
            <a:spLocks/>
          </p:cNvSpPr>
          <p:nvPr/>
        </p:nvSpPr>
        <p:spPr>
          <a:xfrm>
            <a:off x="5063705" y="5863563"/>
            <a:ext cx="3281039" cy="950684"/>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So we now have used just 1’s and 0’s to represent different numbers:</a:t>
            </a:r>
          </a:p>
        </p:txBody>
      </p:sp>
      <p:sp>
        <p:nvSpPr>
          <p:cNvPr id="70" name="Content Placeholder 2"/>
          <p:cNvSpPr txBox="1">
            <a:spLocks/>
          </p:cNvSpPr>
          <p:nvPr/>
        </p:nvSpPr>
        <p:spPr>
          <a:xfrm>
            <a:off x="7696968" y="1254943"/>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
        <p:nvSpPr>
          <p:cNvPr id="72" name="Content Placeholder 2"/>
          <p:cNvSpPr txBox="1">
            <a:spLocks/>
          </p:cNvSpPr>
          <p:nvPr/>
        </p:nvSpPr>
        <p:spPr>
          <a:xfrm>
            <a:off x="7710361" y="1740431"/>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
        <p:nvSpPr>
          <p:cNvPr id="73" name="Content Placeholder 2"/>
          <p:cNvSpPr txBox="1">
            <a:spLocks/>
          </p:cNvSpPr>
          <p:nvPr/>
        </p:nvSpPr>
        <p:spPr>
          <a:xfrm>
            <a:off x="7750356" y="2234147"/>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
        <p:nvSpPr>
          <p:cNvPr id="74" name="Content Placeholder 2"/>
          <p:cNvSpPr txBox="1">
            <a:spLocks/>
          </p:cNvSpPr>
          <p:nvPr/>
        </p:nvSpPr>
        <p:spPr>
          <a:xfrm>
            <a:off x="7750355" y="2796703"/>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
        <p:nvSpPr>
          <p:cNvPr id="75" name="Content Placeholder 2"/>
          <p:cNvSpPr txBox="1">
            <a:spLocks/>
          </p:cNvSpPr>
          <p:nvPr/>
        </p:nvSpPr>
        <p:spPr>
          <a:xfrm>
            <a:off x="7756339" y="3320263"/>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
        <p:nvSpPr>
          <p:cNvPr id="76" name="Content Placeholder 2"/>
          <p:cNvSpPr txBox="1">
            <a:spLocks/>
          </p:cNvSpPr>
          <p:nvPr/>
        </p:nvSpPr>
        <p:spPr>
          <a:xfrm>
            <a:off x="7729746" y="3923707"/>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
        <p:nvSpPr>
          <p:cNvPr id="77" name="Content Placeholder 2"/>
          <p:cNvSpPr txBox="1">
            <a:spLocks/>
          </p:cNvSpPr>
          <p:nvPr/>
        </p:nvSpPr>
        <p:spPr>
          <a:xfrm>
            <a:off x="7710361" y="4518101"/>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
        <p:nvSpPr>
          <p:cNvPr id="78" name="Content Placeholder 2"/>
          <p:cNvSpPr txBox="1">
            <a:spLocks/>
          </p:cNvSpPr>
          <p:nvPr/>
        </p:nvSpPr>
        <p:spPr>
          <a:xfrm>
            <a:off x="7701046" y="5035441"/>
            <a:ext cx="400987" cy="5706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200" dirty="0"/>
              <a:t>=</a:t>
            </a:r>
          </a:p>
        </p:txBody>
      </p:sp>
    </p:spTree>
    <p:extLst>
      <p:ext uri="{BB962C8B-B14F-4D97-AF65-F5344CB8AC3E}">
        <p14:creationId xmlns:p14="http://schemas.microsoft.com/office/powerpoint/2010/main" val="377065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2500"/>
                            </p:stCondLst>
                            <p:childTnLst>
                              <p:par>
                                <p:cTn id="36" presetID="10" presetClass="entr" presetSubtype="0" fill="hold"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3000"/>
                            </p:stCondLst>
                            <p:childTnLst>
                              <p:par>
                                <p:cTn id="40" presetID="10" presetClass="entr" presetSubtype="0" fill="hold"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par>
                          <p:cTn id="43" fill="hold">
                            <p:stCondLst>
                              <p:cond delay="3500"/>
                            </p:stCondLst>
                            <p:childTnLst>
                              <p:par>
                                <p:cTn id="44" presetID="10" presetClass="entr" presetSubtype="0"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par>
                          <p:cTn id="47" fill="hold">
                            <p:stCondLst>
                              <p:cond delay="4000"/>
                            </p:stCondLst>
                            <p:childTnLst>
                              <p:par>
                                <p:cTn id="48" presetID="10" presetClass="entr" presetSubtype="0"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par>
                          <p:cTn id="51" fill="hold">
                            <p:stCondLst>
                              <p:cond delay="4500"/>
                            </p:stCondLst>
                            <p:childTnLst>
                              <p:par>
                                <p:cTn id="52" presetID="10" presetClass="entr" presetSubtype="0" fill="hold"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childTnLst>
                          </p:cTn>
                        </p:par>
                        <p:par>
                          <p:cTn id="55" fill="hold">
                            <p:stCondLst>
                              <p:cond delay="5000"/>
                            </p:stCondLst>
                            <p:childTnLst>
                              <p:par>
                                <p:cTn id="56" presetID="10" presetClass="entr" presetSubtype="0"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par>
                          <p:cTn id="59" fill="hold">
                            <p:stCondLst>
                              <p:cond delay="5500"/>
                            </p:stCondLst>
                            <p:childTnLst>
                              <p:par>
                                <p:cTn id="60" presetID="10" presetClass="entr" presetSubtype="0" fill="hold" nodeType="after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childTnLst>
                                </p:cTn>
                              </p:par>
                            </p:childTnLst>
                          </p:cTn>
                        </p:par>
                        <p:par>
                          <p:cTn id="63" fill="hold">
                            <p:stCondLst>
                              <p:cond delay="6000"/>
                            </p:stCondLst>
                            <p:childTnLst>
                              <p:par>
                                <p:cTn id="64" presetID="10" presetClass="entr" presetSubtype="0" fill="hold" nodeType="after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childTnLst>
                          </p:cTn>
                        </p:par>
                        <p:par>
                          <p:cTn id="67" fill="hold">
                            <p:stCondLst>
                              <p:cond delay="6500"/>
                            </p:stCondLst>
                            <p:childTnLst>
                              <p:par>
                                <p:cTn id="68" presetID="10" presetClass="entr" presetSubtype="0"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par>
                          <p:cTn id="71" fill="hold">
                            <p:stCondLst>
                              <p:cond delay="7000"/>
                            </p:stCondLst>
                            <p:childTnLst>
                              <p:par>
                                <p:cTn id="72" presetID="10" presetClass="entr" presetSubtype="0" fill="hold"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childTnLst>
                          </p:cTn>
                        </p:par>
                        <p:par>
                          <p:cTn id="75" fill="hold">
                            <p:stCondLst>
                              <p:cond delay="7500"/>
                            </p:stCondLst>
                            <p:childTnLst>
                              <p:par>
                                <p:cTn id="76" presetID="10" presetClass="entr" presetSubtype="0" fill="hold" nodeType="after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childTnLst>
                          </p:cTn>
                        </p:par>
                        <p:par>
                          <p:cTn id="79" fill="hold">
                            <p:stCondLst>
                              <p:cond delay="8000"/>
                            </p:stCondLst>
                            <p:childTnLst>
                              <p:par>
                                <p:cTn id="80" presetID="10" presetClass="entr" presetSubtype="0" fill="hold"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par>
                          <p:cTn id="83" fill="hold">
                            <p:stCondLst>
                              <p:cond delay="8500"/>
                            </p:stCondLst>
                            <p:childTnLst>
                              <p:par>
                                <p:cTn id="84" presetID="10" presetClass="entr" presetSubtype="0" fill="hold" nodeType="after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childTnLst>
                          </p:cTn>
                        </p:par>
                        <p:par>
                          <p:cTn id="87" fill="hold">
                            <p:stCondLst>
                              <p:cond delay="9000"/>
                            </p:stCondLst>
                            <p:childTnLst>
                              <p:par>
                                <p:cTn id="88" presetID="10" presetClass="entr" presetSubtype="0" fill="hold" nodeType="after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childTnLst>
                          </p:cTn>
                        </p:par>
                        <p:par>
                          <p:cTn id="91" fill="hold">
                            <p:stCondLst>
                              <p:cond delay="9500"/>
                            </p:stCondLst>
                            <p:childTnLst>
                              <p:par>
                                <p:cTn id="92" presetID="10" presetClass="entr" presetSubtype="0" fill="hold" nodeType="after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par>
                          <p:cTn id="95" fill="hold">
                            <p:stCondLst>
                              <p:cond delay="10000"/>
                            </p:stCondLst>
                            <p:childTnLst>
                              <p:par>
                                <p:cTn id="96" presetID="10" presetClass="entr" presetSubtype="0" fill="hold" nodeType="after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childTnLst>
                                </p:cTn>
                              </p:par>
                            </p:childTnLst>
                          </p:cTn>
                        </p:par>
                        <p:par>
                          <p:cTn id="99" fill="hold">
                            <p:stCondLst>
                              <p:cond delay="10500"/>
                            </p:stCondLst>
                            <p:childTnLst>
                              <p:par>
                                <p:cTn id="100" presetID="10" presetClass="entr" presetSubtype="0" fill="hold" nodeType="after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500"/>
                                        <p:tgtEl>
                                          <p:spTgt spid="33"/>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4">
                                            <p:txEl>
                                              <p:pRg st="0" end="0"/>
                                            </p:txEl>
                                          </p:spTgt>
                                        </p:tgtEl>
                                        <p:attrNameLst>
                                          <p:attrName>style.visibility</p:attrName>
                                        </p:attrNameLst>
                                      </p:cBhvr>
                                      <p:to>
                                        <p:strVal val="visible"/>
                                      </p:to>
                                    </p:set>
                                    <p:animEffect transition="in" filter="fade">
                                      <p:cBhvr>
                                        <p:cTn id="107" dur="500"/>
                                        <p:tgtEl>
                                          <p:spTgt spid="34">
                                            <p:txEl>
                                              <p:pRg st="0" end="0"/>
                                            </p:txEl>
                                          </p:spTgt>
                                        </p:tgtEl>
                                      </p:cBhvr>
                                    </p:animEffect>
                                  </p:childTnLst>
                                </p:cTn>
                              </p:par>
                            </p:childTnLst>
                          </p:cTn>
                        </p:par>
                        <p:par>
                          <p:cTn id="108" fill="hold">
                            <p:stCondLst>
                              <p:cond delay="500"/>
                            </p:stCondLst>
                            <p:childTnLst>
                              <p:par>
                                <p:cTn id="109" presetID="10" presetClass="entr" presetSubtype="0" fill="hold" grpId="0" nodeType="afterEffect">
                                  <p:stCondLst>
                                    <p:cond delay="0"/>
                                  </p:stCondLst>
                                  <p:childTnLst>
                                    <p:set>
                                      <p:cBhvr>
                                        <p:cTn id="110" dur="1" fill="hold">
                                          <p:stCondLst>
                                            <p:cond delay="0"/>
                                          </p:stCondLst>
                                        </p:cTn>
                                        <p:tgtEl>
                                          <p:spTgt spid="35">
                                            <p:txEl>
                                              <p:pRg st="0" end="0"/>
                                            </p:txEl>
                                          </p:spTgt>
                                        </p:tgtEl>
                                        <p:attrNameLst>
                                          <p:attrName>style.visibility</p:attrName>
                                        </p:attrNameLst>
                                      </p:cBhvr>
                                      <p:to>
                                        <p:strVal val="visible"/>
                                      </p:to>
                                    </p:set>
                                    <p:animEffect transition="in" filter="fade">
                                      <p:cBhvr>
                                        <p:cTn id="111" dur="500"/>
                                        <p:tgtEl>
                                          <p:spTgt spid="35">
                                            <p:txEl>
                                              <p:pRg st="0" end="0"/>
                                            </p:txEl>
                                          </p:spTgt>
                                        </p:tgtEl>
                                      </p:cBhvr>
                                    </p:animEffect>
                                  </p:childTnLst>
                                </p:cTn>
                              </p:par>
                            </p:childTnLst>
                          </p:cTn>
                        </p:par>
                        <p:par>
                          <p:cTn id="112" fill="hold">
                            <p:stCondLst>
                              <p:cond delay="1000"/>
                            </p:stCondLst>
                            <p:childTnLst>
                              <p:par>
                                <p:cTn id="113" presetID="10" presetClass="entr" presetSubtype="0" fill="hold" grpId="0" nodeType="afterEffect">
                                  <p:stCondLst>
                                    <p:cond delay="0"/>
                                  </p:stCondLst>
                                  <p:childTnLst>
                                    <p:set>
                                      <p:cBhvr>
                                        <p:cTn id="114" dur="1" fill="hold">
                                          <p:stCondLst>
                                            <p:cond delay="0"/>
                                          </p:stCondLst>
                                        </p:cTn>
                                        <p:tgtEl>
                                          <p:spTgt spid="36">
                                            <p:txEl>
                                              <p:pRg st="0" end="0"/>
                                            </p:txEl>
                                          </p:spTgt>
                                        </p:tgtEl>
                                        <p:attrNameLst>
                                          <p:attrName>style.visibility</p:attrName>
                                        </p:attrNameLst>
                                      </p:cBhvr>
                                      <p:to>
                                        <p:strVal val="visible"/>
                                      </p:to>
                                    </p:set>
                                    <p:animEffect transition="in" filter="fade">
                                      <p:cBhvr>
                                        <p:cTn id="115" dur="500"/>
                                        <p:tgtEl>
                                          <p:spTgt spid="36">
                                            <p:txEl>
                                              <p:pRg st="0" end="0"/>
                                            </p:txEl>
                                          </p:spTgt>
                                        </p:tgtEl>
                                      </p:cBhvr>
                                    </p:animEffect>
                                  </p:childTnLst>
                                </p:cTn>
                              </p:par>
                            </p:childTnLst>
                          </p:cTn>
                        </p:par>
                        <p:par>
                          <p:cTn id="116" fill="hold">
                            <p:stCondLst>
                              <p:cond delay="1500"/>
                            </p:stCondLst>
                            <p:childTnLst>
                              <p:par>
                                <p:cTn id="117" presetID="10" presetClass="entr" presetSubtype="0" fill="hold" grpId="0" nodeType="afterEffect">
                                  <p:stCondLst>
                                    <p:cond delay="0"/>
                                  </p:stCondLst>
                                  <p:childTnLst>
                                    <p:set>
                                      <p:cBhvr>
                                        <p:cTn id="118" dur="1" fill="hold">
                                          <p:stCondLst>
                                            <p:cond delay="0"/>
                                          </p:stCondLst>
                                        </p:cTn>
                                        <p:tgtEl>
                                          <p:spTgt spid="37">
                                            <p:txEl>
                                              <p:pRg st="0" end="0"/>
                                            </p:txEl>
                                          </p:spTgt>
                                        </p:tgtEl>
                                        <p:attrNameLst>
                                          <p:attrName>style.visibility</p:attrName>
                                        </p:attrNameLst>
                                      </p:cBhvr>
                                      <p:to>
                                        <p:strVal val="visible"/>
                                      </p:to>
                                    </p:set>
                                    <p:animEffect transition="in" filter="fade">
                                      <p:cBhvr>
                                        <p:cTn id="119" dur="500"/>
                                        <p:tgtEl>
                                          <p:spTgt spid="37">
                                            <p:txEl>
                                              <p:pRg st="0" end="0"/>
                                            </p:txEl>
                                          </p:spTgt>
                                        </p:tgtEl>
                                      </p:cBhvr>
                                    </p:animEffect>
                                  </p:childTnLst>
                                </p:cTn>
                              </p:par>
                            </p:childTnLst>
                          </p:cTn>
                        </p:par>
                        <p:par>
                          <p:cTn id="120" fill="hold">
                            <p:stCondLst>
                              <p:cond delay="2000"/>
                            </p:stCondLst>
                            <p:childTnLst>
                              <p:par>
                                <p:cTn id="121" presetID="10" presetClass="entr" presetSubtype="0" fill="hold" grpId="0" nodeType="afterEffect">
                                  <p:stCondLst>
                                    <p:cond delay="0"/>
                                  </p:stCondLst>
                                  <p:childTnLst>
                                    <p:set>
                                      <p:cBhvr>
                                        <p:cTn id="122" dur="1" fill="hold">
                                          <p:stCondLst>
                                            <p:cond delay="0"/>
                                          </p:stCondLst>
                                        </p:cTn>
                                        <p:tgtEl>
                                          <p:spTgt spid="38">
                                            <p:txEl>
                                              <p:pRg st="0" end="0"/>
                                            </p:txEl>
                                          </p:spTgt>
                                        </p:tgtEl>
                                        <p:attrNameLst>
                                          <p:attrName>style.visibility</p:attrName>
                                        </p:attrNameLst>
                                      </p:cBhvr>
                                      <p:to>
                                        <p:strVal val="visible"/>
                                      </p:to>
                                    </p:set>
                                    <p:animEffect transition="in" filter="fade">
                                      <p:cBhvr>
                                        <p:cTn id="123" dur="500"/>
                                        <p:tgtEl>
                                          <p:spTgt spid="38">
                                            <p:txEl>
                                              <p:pRg st="0" end="0"/>
                                            </p:txEl>
                                          </p:spTgt>
                                        </p:tgtEl>
                                      </p:cBhvr>
                                    </p:animEffect>
                                  </p:childTnLst>
                                </p:cTn>
                              </p:par>
                            </p:childTnLst>
                          </p:cTn>
                        </p:par>
                        <p:par>
                          <p:cTn id="124" fill="hold">
                            <p:stCondLst>
                              <p:cond delay="2500"/>
                            </p:stCondLst>
                            <p:childTnLst>
                              <p:par>
                                <p:cTn id="125" presetID="10" presetClass="entr" presetSubtype="0" fill="hold" grpId="0" nodeType="afterEffect">
                                  <p:stCondLst>
                                    <p:cond delay="0"/>
                                  </p:stCondLst>
                                  <p:childTnLst>
                                    <p:set>
                                      <p:cBhvr>
                                        <p:cTn id="126" dur="1" fill="hold">
                                          <p:stCondLst>
                                            <p:cond delay="0"/>
                                          </p:stCondLst>
                                        </p:cTn>
                                        <p:tgtEl>
                                          <p:spTgt spid="39">
                                            <p:txEl>
                                              <p:pRg st="0" end="0"/>
                                            </p:txEl>
                                          </p:spTgt>
                                        </p:tgtEl>
                                        <p:attrNameLst>
                                          <p:attrName>style.visibility</p:attrName>
                                        </p:attrNameLst>
                                      </p:cBhvr>
                                      <p:to>
                                        <p:strVal val="visible"/>
                                      </p:to>
                                    </p:set>
                                    <p:animEffect transition="in" filter="fade">
                                      <p:cBhvr>
                                        <p:cTn id="127" dur="500"/>
                                        <p:tgtEl>
                                          <p:spTgt spid="39">
                                            <p:txEl>
                                              <p:pRg st="0" end="0"/>
                                            </p:txEl>
                                          </p:spTgt>
                                        </p:tgtEl>
                                      </p:cBhvr>
                                    </p:animEffect>
                                  </p:childTnLst>
                                </p:cTn>
                              </p:par>
                            </p:childTnLst>
                          </p:cTn>
                        </p:par>
                        <p:par>
                          <p:cTn id="128" fill="hold">
                            <p:stCondLst>
                              <p:cond delay="3000"/>
                            </p:stCondLst>
                            <p:childTnLst>
                              <p:par>
                                <p:cTn id="129" presetID="10" presetClass="entr" presetSubtype="0" fill="hold" grpId="0" nodeType="afterEffect">
                                  <p:stCondLst>
                                    <p:cond delay="0"/>
                                  </p:stCondLst>
                                  <p:childTnLst>
                                    <p:set>
                                      <p:cBhvr>
                                        <p:cTn id="130" dur="1" fill="hold">
                                          <p:stCondLst>
                                            <p:cond delay="0"/>
                                          </p:stCondLst>
                                        </p:cTn>
                                        <p:tgtEl>
                                          <p:spTgt spid="40">
                                            <p:txEl>
                                              <p:pRg st="0" end="0"/>
                                            </p:txEl>
                                          </p:spTgt>
                                        </p:tgtEl>
                                        <p:attrNameLst>
                                          <p:attrName>style.visibility</p:attrName>
                                        </p:attrNameLst>
                                      </p:cBhvr>
                                      <p:to>
                                        <p:strVal val="visible"/>
                                      </p:to>
                                    </p:set>
                                    <p:animEffect transition="in" filter="fade">
                                      <p:cBhvr>
                                        <p:cTn id="131" dur="500"/>
                                        <p:tgtEl>
                                          <p:spTgt spid="40">
                                            <p:txEl>
                                              <p:pRg st="0" end="0"/>
                                            </p:txEl>
                                          </p:spTgt>
                                        </p:tgtEl>
                                      </p:cBhvr>
                                    </p:animEffect>
                                  </p:childTnLst>
                                </p:cTn>
                              </p:par>
                            </p:childTnLst>
                          </p:cTn>
                        </p:par>
                        <p:par>
                          <p:cTn id="132" fill="hold">
                            <p:stCondLst>
                              <p:cond delay="3500"/>
                            </p:stCondLst>
                            <p:childTnLst>
                              <p:par>
                                <p:cTn id="133" presetID="10" presetClass="entr" presetSubtype="0" fill="hold" grpId="0" nodeType="afterEffect">
                                  <p:stCondLst>
                                    <p:cond delay="0"/>
                                  </p:stCondLst>
                                  <p:childTnLst>
                                    <p:set>
                                      <p:cBhvr>
                                        <p:cTn id="134" dur="1" fill="hold">
                                          <p:stCondLst>
                                            <p:cond delay="0"/>
                                          </p:stCondLst>
                                        </p:cTn>
                                        <p:tgtEl>
                                          <p:spTgt spid="41">
                                            <p:txEl>
                                              <p:pRg st="0" end="0"/>
                                            </p:txEl>
                                          </p:spTgt>
                                        </p:tgtEl>
                                        <p:attrNameLst>
                                          <p:attrName>style.visibility</p:attrName>
                                        </p:attrNameLst>
                                      </p:cBhvr>
                                      <p:to>
                                        <p:strVal val="visible"/>
                                      </p:to>
                                    </p:set>
                                    <p:animEffect transition="in" filter="fade">
                                      <p:cBhvr>
                                        <p:cTn id="135" dur="500"/>
                                        <p:tgtEl>
                                          <p:spTgt spid="41">
                                            <p:txEl>
                                              <p:pRg st="0" end="0"/>
                                            </p:txEl>
                                          </p:spTgt>
                                        </p:tgtEl>
                                      </p:cBhvr>
                                    </p:animEffect>
                                  </p:childTnLst>
                                </p:cTn>
                              </p:par>
                            </p:childTnLst>
                          </p:cTn>
                        </p:par>
                        <p:par>
                          <p:cTn id="136" fill="hold">
                            <p:stCondLst>
                              <p:cond delay="4000"/>
                            </p:stCondLst>
                            <p:childTnLst>
                              <p:par>
                                <p:cTn id="137" presetID="10" presetClass="entr" presetSubtype="0" fill="hold" grpId="0" nodeType="afterEffect">
                                  <p:stCondLst>
                                    <p:cond delay="0"/>
                                  </p:stCondLst>
                                  <p:childTnLst>
                                    <p:set>
                                      <p:cBhvr>
                                        <p:cTn id="138" dur="1" fill="hold">
                                          <p:stCondLst>
                                            <p:cond delay="0"/>
                                          </p:stCondLst>
                                        </p:cTn>
                                        <p:tgtEl>
                                          <p:spTgt spid="42">
                                            <p:txEl>
                                              <p:pRg st="0" end="0"/>
                                            </p:txEl>
                                          </p:spTgt>
                                        </p:tgtEl>
                                        <p:attrNameLst>
                                          <p:attrName>style.visibility</p:attrName>
                                        </p:attrNameLst>
                                      </p:cBhvr>
                                      <p:to>
                                        <p:strVal val="visible"/>
                                      </p:to>
                                    </p:set>
                                    <p:animEffect transition="in" filter="fade">
                                      <p:cBhvr>
                                        <p:cTn id="139" dur="500"/>
                                        <p:tgtEl>
                                          <p:spTgt spid="42">
                                            <p:txEl>
                                              <p:pRg st="0" end="0"/>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43">
                                            <p:txEl>
                                              <p:pRg st="0" end="0"/>
                                            </p:txEl>
                                          </p:spTgt>
                                        </p:tgtEl>
                                        <p:attrNameLst>
                                          <p:attrName>style.visibility</p:attrName>
                                        </p:attrNameLst>
                                      </p:cBhvr>
                                      <p:to>
                                        <p:strVal val="visible"/>
                                      </p:to>
                                    </p:set>
                                    <p:animEffect transition="in" filter="fade">
                                      <p:cBhvr>
                                        <p:cTn id="144" dur="500"/>
                                        <p:tgtEl>
                                          <p:spTgt spid="43">
                                            <p:txEl>
                                              <p:pRg st="0" end="0"/>
                                            </p:txEl>
                                          </p:spTgt>
                                        </p:tgtEl>
                                      </p:cBhvr>
                                    </p:animEffect>
                                  </p:childTnLst>
                                </p:cTn>
                              </p:par>
                            </p:childTnLst>
                          </p:cTn>
                        </p:par>
                        <p:par>
                          <p:cTn id="145" fill="hold">
                            <p:stCondLst>
                              <p:cond delay="500"/>
                            </p:stCondLst>
                            <p:childTnLst>
                              <p:par>
                                <p:cTn id="146" presetID="10" presetClass="exit" presetSubtype="0" fill="hold" nodeType="afterEffect">
                                  <p:stCondLst>
                                    <p:cond delay="250"/>
                                  </p:stCondLst>
                                  <p:childTnLst>
                                    <p:animEffect transition="out" filter="fade">
                                      <p:cBhvr>
                                        <p:cTn id="147" dur="500"/>
                                        <p:tgtEl>
                                          <p:spTgt spid="4"/>
                                        </p:tgtEl>
                                      </p:cBhvr>
                                    </p:animEffect>
                                    <p:set>
                                      <p:cBhvr>
                                        <p:cTn id="148" dur="1" fill="hold">
                                          <p:stCondLst>
                                            <p:cond delay="499"/>
                                          </p:stCondLst>
                                        </p:cTn>
                                        <p:tgtEl>
                                          <p:spTgt spid="4"/>
                                        </p:tgtEl>
                                        <p:attrNameLst>
                                          <p:attrName>style.visibility</p:attrName>
                                        </p:attrNameLst>
                                      </p:cBhvr>
                                      <p:to>
                                        <p:strVal val="hidden"/>
                                      </p:to>
                                    </p:set>
                                  </p:childTnLst>
                                </p:cTn>
                              </p:par>
                              <p:par>
                                <p:cTn id="149" presetID="10" presetClass="exit" presetSubtype="0" fill="hold" nodeType="withEffect">
                                  <p:stCondLst>
                                    <p:cond delay="0"/>
                                  </p:stCondLst>
                                  <p:childTnLst>
                                    <p:animEffect transition="out" filter="fade">
                                      <p:cBhvr>
                                        <p:cTn id="150" dur="500"/>
                                        <p:tgtEl>
                                          <p:spTgt spid="6"/>
                                        </p:tgtEl>
                                      </p:cBhvr>
                                    </p:animEffect>
                                    <p:set>
                                      <p:cBhvr>
                                        <p:cTn id="151" dur="1" fill="hold">
                                          <p:stCondLst>
                                            <p:cond delay="499"/>
                                          </p:stCondLst>
                                        </p:cTn>
                                        <p:tgtEl>
                                          <p:spTgt spid="6"/>
                                        </p:tgtEl>
                                        <p:attrNameLst>
                                          <p:attrName>style.visibility</p:attrName>
                                        </p:attrNameLst>
                                      </p:cBhvr>
                                      <p:to>
                                        <p:strVal val="hidden"/>
                                      </p:to>
                                    </p:set>
                                  </p:childTnLst>
                                </p:cTn>
                              </p:par>
                              <p:par>
                                <p:cTn id="152" presetID="10" presetClass="exit" presetSubtype="0" fill="hold" nodeType="withEffect">
                                  <p:stCondLst>
                                    <p:cond delay="0"/>
                                  </p:stCondLst>
                                  <p:childTnLst>
                                    <p:animEffect transition="out" filter="fade">
                                      <p:cBhvr>
                                        <p:cTn id="153" dur="500"/>
                                        <p:tgtEl>
                                          <p:spTgt spid="7"/>
                                        </p:tgtEl>
                                      </p:cBhvr>
                                    </p:animEffect>
                                    <p:set>
                                      <p:cBhvr>
                                        <p:cTn id="154" dur="1" fill="hold">
                                          <p:stCondLst>
                                            <p:cond delay="499"/>
                                          </p:stCondLst>
                                        </p:cTn>
                                        <p:tgtEl>
                                          <p:spTgt spid="7"/>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8"/>
                                        </p:tgtEl>
                                      </p:cBhvr>
                                    </p:animEffect>
                                    <p:set>
                                      <p:cBhvr>
                                        <p:cTn id="157" dur="1" fill="hold">
                                          <p:stCondLst>
                                            <p:cond delay="499"/>
                                          </p:stCondLst>
                                        </p:cTn>
                                        <p:tgtEl>
                                          <p:spTgt spid="8"/>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500"/>
                                        <p:tgtEl>
                                          <p:spTgt spid="9"/>
                                        </p:tgtEl>
                                      </p:cBhvr>
                                    </p:animEffect>
                                    <p:set>
                                      <p:cBhvr>
                                        <p:cTn id="160" dur="1" fill="hold">
                                          <p:stCondLst>
                                            <p:cond delay="499"/>
                                          </p:stCondLst>
                                        </p:cTn>
                                        <p:tgtEl>
                                          <p:spTgt spid="9"/>
                                        </p:tgtEl>
                                        <p:attrNameLst>
                                          <p:attrName>style.visibility</p:attrName>
                                        </p:attrNameLst>
                                      </p:cBhvr>
                                      <p:to>
                                        <p:strVal val="hidden"/>
                                      </p:to>
                                    </p:set>
                                  </p:childTnLst>
                                </p:cTn>
                              </p:par>
                              <p:par>
                                <p:cTn id="161" presetID="10" presetClass="exit" presetSubtype="0" fill="hold" nodeType="withEffect">
                                  <p:stCondLst>
                                    <p:cond delay="0"/>
                                  </p:stCondLst>
                                  <p:childTnLst>
                                    <p:animEffect transition="out" filter="fade">
                                      <p:cBhvr>
                                        <p:cTn id="162" dur="500"/>
                                        <p:tgtEl>
                                          <p:spTgt spid="11"/>
                                        </p:tgtEl>
                                      </p:cBhvr>
                                    </p:animEffect>
                                    <p:set>
                                      <p:cBhvr>
                                        <p:cTn id="163" dur="1" fill="hold">
                                          <p:stCondLst>
                                            <p:cond delay="499"/>
                                          </p:stCondLst>
                                        </p:cTn>
                                        <p:tgtEl>
                                          <p:spTgt spid="11"/>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500"/>
                                        <p:tgtEl>
                                          <p:spTgt spid="12"/>
                                        </p:tgtEl>
                                      </p:cBhvr>
                                    </p:animEffect>
                                    <p:set>
                                      <p:cBhvr>
                                        <p:cTn id="166" dur="1" fill="hold">
                                          <p:stCondLst>
                                            <p:cond delay="499"/>
                                          </p:stCondLst>
                                        </p:cTn>
                                        <p:tgtEl>
                                          <p:spTgt spid="12"/>
                                        </p:tgtEl>
                                        <p:attrNameLst>
                                          <p:attrName>style.visibility</p:attrName>
                                        </p:attrNameLst>
                                      </p:cBhvr>
                                      <p:to>
                                        <p:strVal val="hidden"/>
                                      </p:to>
                                    </p:set>
                                  </p:childTnLst>
                                </p:cTn>
                              </p:par>
                              <p:par>
                                <p:cTn id="167" presetID="10" presetClass="exit" presetSubtype="0" fill="hold" nodeType="withEffect">
                                  <p:stCondLst>
                                    <p:cond delay="0"/>
                                  </p:stCondLst>
                                  <p:childTnLst>
                                    <p:animEffect transition="out" filter="fade">
                                      <p:cBhvr>
                                        <p:cTn id="168" dur="500"/>
                                        <p:tgtEl>
                                          <p:spTgt spid="17"/>
                                        </p:tgtEl>
                                      </p:cBhvr>
                                    </p:animEffect>
                                    <p:set>
                                      <p:cBhvr>
                                        <p:cTn id="169" dur="1" fill="hold">
                                          <p:stCondLst>
                                            <p:cond delay="499"/>
                                          </p:stCondLst>
                                        </p:cTn>
                                        <p:tgtEl>
                                          <p:spTgt spid="17"/>
                                        </p:tgtEl>
                                        <p:attrNameLst>
                                          <p:attrName>style.visibility</p:attrName>
                                        </p:attrNameLst>
                                      </p:cBhvr>
                                      <p:to>
                                        <p:strVal val="hidden"/>
                                      </p:to>
                                    </p:set>
                                  </p:childTnLst>
                                </p:cTn>
                              </p:par>
                              <p:par>
                                <p:cTn id="170" presetID="10" presetClass="exit" presetSubtype="0" fill="hold" nodeType="withEffect">
                                  <p:stCondLst>
                                    <p:cond delay="0"/>
                                  </p:stCondLst>
                                  <p:childTnLst>
                                    <p:animEffect transition="out" filter="fade">
                                      <p:cBhvr>
                                        <p:cTn id="171" dur="500"/>
                                        <p:tgtEl>
                                          <p:spTgt spid="18"/>
                                        </p:tgtEl>
                                      </p:cBhvr>
                                    </p:animEffect>
                                    <p:set>
                                      <p:cBhvr>
                                        <p:cTn id="172" dur="1" fill="hold">
                                          <p:stCondLst>
                                            <p:cond delay="499"/>
                                          </p:stCondLst>
                                        </p:cTn>
                                        <p:tgtEl>
                                          <p:spTgt spid="18"/>
                                        </p:tgtEl>
                                        <p:attrNameLst>
                                          <p:attrName>style.visibility</p:attrName>
                                        </p:attrNameLst>
                                      </p:cBhvr>
                                      <p:to>
                                        <p:strVal val="hidden"/>
                                      </p:to>
                                    </p:set>
                                  </p:childTnLst>
                                </p:cTn>
                              </p:par>
                              <p:par>
                                <p:cTn id="173" presetID="10" presetClass="exit" presetSubtype="0" fill="hold" nodeType="withEffect">
                                  <p:stCondLst>
                                    <p:cond delay="0"/>
                                  </p:stCondLst>
                                  <p:childTnLst>
                                    <p:animEffect transition="out" filter="fade">
                                      <p:cBhvr>
                                        <p:cTn id="174" dur="500"/>
                                        <p:tgtEl>
                                          <p:spTgt spid="20"/>
                                        </p:tgtEl>
                                      </p:cBhvr>
                                    </p:animEffect>
                                    <p:set>
                                      <p:cBhvr>
                                        <p:cTn id="175" dur="1" fill="hold">
                                          <p:stCondLst>
                                            <p:cond delay="499"/>
                                          </p:stCondLst>
                                        </p:cTn>
                                        <p:tgtEl>
                                          <p:spTgt spid="20"/>
                                        </p:tgtEl>
                                        <p:attrNameLst>
                                          <p:attrName>style.visibility</p:attrName>
                                        </p:attrNameLst>
                                      </p:cBhvr>
                                      <p:to>
                                        <p:strVal val="hidden"/>
                                      </p:to>
                                    </p:set>
                                  </p:childTnLst>
                                </p:cTn>
                              </p:par>
                              <p:par>
                                <p:cTn id="176" presetID="10" presetClass="exit" presetSubtype="0" fill="hold" nodeType="withEffect">
                                  <p:stCondLst>
                                    <p:cond delay="0"/>
                                  </p:stCondLst>
                                  <p:childTnLst>
                                    <p:animEffect transition="out" filter="fade">
                                      <p:cBhvr>
                                        <p:cTn id="177" dur="500"/>
                                        <p:tgtEl>
                                          <p:spTgt spid="23"/>
                                        </p:tgtEl>
                                      </p:cBhvr>
                                    </p:animEffect>
                                    <p:set>
                                      <p:cBhvr>
                                        <p:cTn id="178" dur="1" fill="hold">
                                          <p:stCondLst>
                                            <p:cond delay="499"/>
                                          </p:stCondLst>
                                        </p:cTn>
                                        <p:tgtEl>
                                          <p:spTgt spid="23"/>
                                        </p:tgtEl>
                                        <p:attrNameLst>
                                          <p:attrName>style.visibility</p:attrName>
                                        </p:attrNameLst>
                                      </p:cBhvr>
                                      <p:to>
                                        <p:strVal val="hidden"/>
                                      </p:to>
                                    </p:set>
                                  </p:childTnLst>
                                </p:cTn>
                              </p:par>
                              <p:par>
                                <p:cTn id="179" presetID="10" presetClass="exit" presetSubtype="0" fill="hold" nodeType="withEffect">
                                  <p:stCondLst>
                                    <p:cond delay="0"/>
                                  </p:stCondLst>
                                  <p:childTnLst>
                                    <p:animEffect transition="out" filter="fade">
                                      <p:cBhvr>
                                        <p:cTn id="180" dur="500"/>
                                        <p:tgtEl>
                                          <p:spTgt spid="29"/>
                                        </p:tgtEl>
                                      </p:cBhvr>
                                    </p:animEffect>
                                    <p:set>
                                      <p:cBhvr>
                                        <p:cTn id="181" dur="1" fill="hold">
                                          <p:stCondLst>
                                            <p:cond delay="499"/>
                                          </p:stCondLst>
                                        </p:cTn>
                                        <p:tgtEl>
                                          <p:spTgt spid="29"/>
                                        </p:tgtEl>
                                        <p:attrNameLst>
                                          <p:attrName>style.visibility</p:attrName>
                                        </p:attrNameLst>
                                      </p:cBhvr>
                                      <p:to>
                                        <p:strVal val="hidden"/>
                                      </p:to>
                                    </p:set>
                                  </p:childTnLst>
                                </p:cTn>
                              </p:par>
                              <p:par>
                                <p:cTn id="182" presetID="10" presetClass="entr" presetSubtype="0" fill="hold" grpId="0" nodeType="withEffect">
                                  <p:stCondLst>
                                    <p:cond delay="0"/>
                                  </p:stCondLst>
                                  <p:childTnLst>
                                    <p:set>
                                      <p:cBhvr>
                                        <p:cTn id="183" dur="1" fill="hold">
                                          <p:stCondLst>
                                            <p:cond delay="0"/>
                                          </p:stCondLst>
                                        </p:cTn>
                                        <p:tgtEl>
                                          <p:spTgt spid="44">
                                            <p:txEl>
                                              <p:pRg st="0" end="0"/>
                                            </p:txEl>
                                          </p:spTgt>
                                        </p:tgtEl>
                                        <p:attrNameLst>
                                          <p:attrName>style.visibility</p:attrName>
                                        </p:attrNameLst>
                                      </p:cBhvr>
                                      <p:to>
                                        <p:strVal val="visible"/>
                                      </p:to>
                                    </p:set>
                                    <p:animEffect transition="in" filter="fade">
                                      <p:cBhvr>
                                        <p:cTn id="184" dur="500"/>
                                        <p:tgtEl>
                                          <p:spTgt spid="44">
                                            <p:txEl>
                                              <p:pRg st="0" end="0"/>
                                            </p:txEl>
                                          </p:spTgt>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45">
                                            <p:txEl>
                                              <p:pRg st="0" end="0"/>
                                            </p:txEl>
                                          </p:spTgt>
                                        </p:tgtEl>
                                        <p:attrNameLst>
                                          <p:attrName>style.visibility</p:attrName>
                                        </p:attrNameLst>
                                      </p:cBhvr>
                                      <p:to>
                                        <p:strVal val="visible"/>
                                      </p:to>
                                    </p:set>
                                    <p:animEffect transition="in" filter="fade">
                                      <p:cBhvr>
                                        <p:cTn id="187" dur="500"/>
                                        <p:tgtEl>
                                          <p:spTgt spid="45">
                                            <p:txEl>
                                              <p:pRg st="0" end="0"/>
                                            </p:txEl>
                                          </p:spTgt>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46">
                                            <p:txEl>
                                              <p:pRg st="0" end="0"/>
                                            </p:txEl>
                                          </p:spTgt>
                                        </p:tgtEl>
                                        <p:attrNameLst>
                                          <p:attrName>style.visibility</p:attrName>
                                        </p:attrNameLst>
                                      </p:cBhvr>
                                      <p:to>
                                        <p:strVal val="visible"/>
                                      </p:to>
                                    </p:set>
                                    <p:animEffect transition="in" filter="fade">
                                      <p:cBhvr>
                                        <p:cTn id="190" dur="500"/>
                                        <p:tgtEl>
                                          <p:spTgt spid="46">
                                            <p:txEl>
                                              <p:pRg st="0" end="0"/>
                                            </p:txEl>
                                          </p:spTgt>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47">
                                            <p:txEl>
                                              <p:pRg st="0" end="0"/>
                                            </p:txEl>
                                          </p:spTgt>
                                        </p:tgtEl>
                                        <p:attrNameLst>
                                          <p:attrName>style.visibility</p:attrName>
                                        </p:attrNameLst>
                                      </p:cBhvr>
                                      <p:to>
                                        <p:strVal val="visible"/>
                                      </p:to>
                                    </p:set>
                                    <p:animEffect transition="in" filter="fade">
                                      <p:cBhvr>
                                        <p:cTn id="193" dur="500"/>
                                        <p:tgtEl>
                                          <p:spTgt spid="47">
                                            <p:txEl>
                                              <p:pRg st="0" end="0"/>
                                            </p:txEl>
                                          </p:spTgt>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48">
                                            <p:txEl>
                                              <p:pRg st="0" end="0"/>
                                            </p:txEl>
                                          </p:spTgt>
                                        </p:tgtEl>
                                        <p:attrNameLst>
                                          <p:attrName>style.visibility</p:attrName>
                                        </p:attrNameLst>
                                      </p:cBhvr>
                                      <p:to>
                                        <p:strVal val="visible"/>
                                      </p:to>
                                    </p:set>
                                    <p:animEffect transition="in" filter="fade">
                                      <p:cBhvr>
                                        <p:cTn id="196" dur="500"/>
                                        <p:tgtEl>
                                          <p:spTgt spid="48">
                                            <p:txEl>
                                              <p:pRg st="0" end="0"/>
                                            </p:txEl>
                                          </p:spTgt>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49">
                                            <p:txEl>
                                              <p:pRg st="0" end="0"/>
                                            </p:txEl>
                                          </p:spTgt>
                                        </p:tgtEl>
                                        <p:attrNameLst>
                                          <p:attrName>style.visibility</p:attrName>
                                        </p:attrNameLst>
                                      </p:cBhvr>
                                      <p:to>
                                        <p:strVal val="visible"/>
                                      </p:to>
                                    </p:set>
                                    <p:animEffect transition="in" filter="fade">
                                      <p:cBhvr>
                                        <p:cTn id="199" dur="500"/>
                                        <p:tgtEl>
                                          <p:spTgt spid="49">
                                            <p:txEl>
                                              <p:pRg st="0" end="0"/>
                                            </p:txEl>
                                          </p:spTgt>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50">
                                            <p:txEl>
                                              <p:pRg st="0" end="0"/>
                                            </p:txEl>
                                          </p:spTgt>
                                        </p:tgtEl>
                                        <p:attrNameLst>
                                          <p:attrName>style.visibility</p:attrName>
                                        </p:attrNameLst>
                                      </p:cBhvr>
                                      <p:to>
                                        <p:strVal val="visible"/>
                                      </p:to>
                                    </p:set>
                                    <p:animEffect transition="in" filter="fade">
                                      <p:cBhvr>
                                        <p:cTn id="202" dur="500"/>
                                        <p:tgtEl>
                                          <p:spTgt spid="50">
                                            <p:txEl>
                                              <p:pRg st="0" end="0"/>
                                            </p:txEl>
                                          </p:spTgt>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51">
                                            <p:txEl>
                                              <p:pRg st="0" end="0"/>
                                            </p:txEl>
                                          </p:spTgt>
                                        </p:tgtEl>
                                        <p:attrNameLst>
                                          <p:attrName>style.visibility</p:attrName>
                                        </p:attrNameLst>
                                      </p:cBhvr>
                                      <p:to>
                                        <p:strVal val="visible"/>
                                      </p:to>
                                    </p:set>
                                    <p:animEffect transition="in" filter="fade">
                                      <p:cBhvr>
                                        <p:cTn id="205" dur="500"/>
                                        <p:tgtEl>
                                          <p:spTgt spid="51">
                                            <p:txEl>
                                              <p:pRg st="0" end="0"/>
                                            </p:txEl>
                                          </p:spTgt>
                                        </p:tgtEl>
                                      </p:cBhvr>
                                    </p:animEffect>
                                  </p:childTnLst>
                                </p:cTn>
                              </p:par>
                              <p:par>
                                <p:cTn id="206" presetID="10" presetClass="entr" presetSubtype="0" fill="hold" grpId="0" nodeType="withEffect">
                                  <p:stCondLst>
                                    <p:cond delay="0"/>
                                  </p:stCondLst>
                                  <p:childTnLst>
                                    <p:set>
                                      <p:cBhvr>
                                        <p:cTn id="207" dur="1" fill="hold">
                                          <p:stCondLst>
                                            <p:cond delay="0"/>
                                          </p:stCondLst>
                                        </p:cTn>
                                        <p:tgtEl>
                                          <p:spTgt spid="52">
                                            <p:txEl>
                                              <p:pRg st="0" end="0"/>
                                            </p:txEl>
                                          </p:spTgt>
                                        </p:tgtEl>
                                        <p:attrNameLst>
                                          <p:attrName>style.visibility</p:attrName>
                                        </p:attrNameLst>
                                      </p:cBhvr>
                                      <p:to>
                                        <p:strVal val="visible"/>
                                      </p:to>
                                    </p:set>
                                    <p:animEffect transition="in" filter="fade">
                                      <p:cBhvr>
                                        <p:cTn id="208" dur="500"/>
                                        <p:tgtEl>
                                          <p:spTgt spid="52">
                                            <p:txEl>
                                              <p:pRg st="0" end="0"/>
                                            </p:txEl>
                                          </p:spTgt>
                                        </p:tgtEl>
                                      </p:cBhvr>
                                    </p:animEffect>
                                  </p:childTnLst>
                                </p:cTn>
                              </p:par>
                              <p:par>
                                <p:cTn id="209" presetID="10" presetClass="entr" presetSubtype="0" fill="hold" grpId="0" nodeType="withEffect">
                                  <p:stCondLst>
                                    <p:cond delay="0"/>
                                  </p:stCondLst>
                                  <p:childTnLst>
                                    <p:set>
                                      <p:cBhvr>
                                        <p:cTn id="210" dur="1" fill="hold">
                                          <p:stCondLst>
                                            <p:cond delay="0"/>
                                          </p:stCondLst>
                                        </p:cTn>
                                        <p:tgtEl>
                                          <p:spTgt spid="53">
                                            <p:txEl>
                                              <p:pRg st="0" end="0"/>
                                            </p:txEl>
                                          </p:spTgt>
                                        </p:tgtEl>
                                        <p:attrNameLst>
                                          <p:attrName>style.visibility</p:attrName>
                                        </p:attrNameLst>
                                      </p:cBhvr>
                                      <p:to>
                                        <p:strVal val="visible"/>
                                      </p:to>
                                    </p:set>
                                    <p:animEffect transition="in" filter="fade">
                                      <p:cBhvr>
                                        <p:cTn id="211" dur="500"/>
                                        <p:tgtEl>
                                          <p:spTgt spid="53">
                                            <p:txEl>
                                              <p:pRg st="0" end="0"/>
                                            </p:txEl>
                                          </p:spTgt>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54">
                                            <p:txEl>
                                              <p:pRg st="0" end="0"/>
                                            </p:txEl>
                                          </p:spTgt>
                                        </p:tgtEl>
                                        <p:attrNameLst>
                                          <p:attrName>style.visibility</p:attrName>
                                        </p:attrNameLst>
                                      </p:cBhvr>
                                      <p:to>
                                        <p:strVal val="visible"/>
                                      </p:to>
                                    </p:set>
                                    <p:animEffect transition="in" filter="fade">
                                      <p:cBhvr>
                                        <p:cTn id="214" dur="500"/>
                                        <p:tgtEl>
                                          <p:spTgt spid="54">
                                            <p:txEl>
                                              <p:pRg st="0" end="0"/>
                                            </p:txEl>
                                          </p:spTgt>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55">
                                            <p:txEl>
                                              <p:pRg st="0" end="0"/>
                                            </p:txEl>
                                          </p:spTgt>
                                        </p:tgtEl>
                                        <p:attrNameLst>
                                          <p:attrName>style.visibility</p:attrName>
                                        </p:attrNameLst>
                                      </p:cBhvr>
                                      <p:to>
                                        <p:strVal val="visible"/>
                                      </p:to>
                                    </p:set>
                                    <p:animEffect transition="in" filter="fade">
                                      <p:cBhvr>
                                        <p:cTn id="217" dur="500"/>
                                        <p:tgtEl>
                                          <p:spTgt spid="55">
                                            <p:txEl>
                                              <p:pRg st="0" end="0"/>
                                            </p:txEl>
                                          </p:spTgt>
                                        </p:tgtEl>
                                      </p:cBhvr>
                                    </p:animEffect>
                                  </p:childTnLst>
                                </p:cTn>
                              </p:par>
                            </p:childTnLst>
                          </p:cTn>
                        </p:par>
                      </p:childTnLst>
                    </p:cTn>
                  </p:par>
                  <p:par>
                    <p:cTn id="218" fill="hold">
                      <p:stCondLst>
                        <p:cond delay="indefinite"/>
                      </p:stCondLst>
                      <p:childTnLst>
                        <p:par>
                          <p:cTn id="219" fill="hold">
                            <p:stCondLst>
                              <p:cond delay="0"/>
                            </p:stCondLst>
                            <p:childTnLst>
                              <p:par>
                                <p:cTn id="220" presetID="10" presetClass="entr" presetSubtype="0" fill="hold" grpId="0" nodeType="clickEffect">
                                  <p:stCondLst>
                                    <p:cond delay="0"/>
                                  </p:stCondLst>
                                  <p:childTnLst>
                                    <p:set>
                                      <p:cBhvr>
                                        <p:cTn id="221" dur="1" fill="hold">
                                          <p:stCondLst>
                                            <p:cond delay="0"/>
                                          </p:stCondLst>
                                        </p:cTn>
                                        <p:tgtEl>
                                          <p:spTgt spid="56">
                                            <p:txEl>
                                              <p:pRg st="0" end="0"/>
                                            </p:txEl>
                                          </p:spTgt>
                                        </p:tgtEl>
                                        <p:attrNameLst>
                                          <p:attrName>style.visibility</p:attrName>
                                        </p:attrNameLst>
                                      </p:cBhvr>
                                      <p:to>
                                        <p:strVal val="visible"/>
                                      </p:to>
                                    </p:set>
                                    <p:animEffect transition="in" filter="fade">
                                      <p:cBhvr>
                                        <p:cTn id="222" dur="500"/>
                                        <p:tgtEl>
                                          <p:spTgt spid="56">
                                            <p:txEl>
                                              <p:pRg st="0" end="0"/>
                                            </p:txEl>
                                          </p:spTgt>
                                        </p:tgtEl>
                                      </p:cBhvr>
                                    </p:animEffect>
                                  </p:childTnLst>
                                </p:cTn>
                              </p:par>
                            </p:childTnLst>
                          </p:cTn>
                        </p:par>
                        <p:par>
                          <p:cTn id="223" fill="hold">
                            <p:stCondLst>
                              <p:cond delay="500"/>
                            </p:stCondLst>
                            <p:childTnLst>
                              <p:par>
                                <p:cTn id="224" presetID="10" presetClass="exit" presetSubtype="0" fill="hold" nodeType="afterEffect">
                                  <p:stCondLst>
                                    <p:cond delay="0"/>
                                  </p:stCondLst>
                                  <p:childTnLst>
                                    <p:animEffect transition="out" filter="fade">
                                      <p:cBhvr>
                                        <p:cTn id="225" dur="500"/>
                                        <p:tgtEl>
                                          <p:spTgt spid="5"/>
                                        </p:tgtEl>
                                      </p:cBhvr>
                                    </p:animEffect>
                                    <p:set>
                                      <p:cBhvr>
                                        <p:cTn id="226" dur="1" fill="hold">
                                          <p:stCondLst>
                                            <p:cond delay="499"/>
                                          </p:stCondLst>
                                        </p:cTn>
                                        <p:tgtEl>
                                          <p:spTgt spid="5"/>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500"/>
                                        <p:tgtEl>
                                          <p:spTgt spid="10"/>
                                        </p:tgtEl>
                                      </p:cBhvr>
                                    </p:animEffect>
                                    <p:set>
                                      <p:cBhvr>
                                        <p:cTn id="229" dur="1" fill="hold">
                                          <p:stCondLst>
                                            <p:cond delay="499"/>
                                          </p:stCondLst>
                                        </p:cTn>
                                        <p:tgtEl>
                                          <p:spTgt spid="10"/>
                                        </p:tgtEl>
                                        <p:attrNameLst>
                                          <p:attrName>style.visibility</p:attrName>
                                        </p:attrNameLst>
                                      </p:cBhvr>
                                      <p:to>
                                        <p:strVal val="hidden"/>
                                      </p:to>
                                    </p:set>
                                  </p:childTnLst>
                                </p:cTn>
                              </p:par>
                              <p:par>
                                <p:cTn id="230" presetID="10" presetClass="exit" presetSubtype="0" fill="hold" nodeType="withEffect">
                                  <p:stCondLst>
                                    <p:cond delay="0"/>
                                  </p:stCondLst>
                                  <p:childTnLst>
                                    <p:animEffect transition="out" filter="fade">
                                      <p:cBhvr>
                                        <p:cTn id="231" dur="500"/>
                                        <p:tgtEl>
                                          <p:spTgt spid="13"/>
                                        </p:tgtEl>
                                      </p:cBhvr>
                                    </p:animEffect>
                                    <p:set>
                                      <p:cBhvr>
                                        <p:cTn id="232" dur="1" fill="hold">
                                          <p:stCondLst>
                                            <p:cond delay="499"/>
                                          </p:stCondLst>
                                        </p:cTn>
                                        <p:tgtEl>
                                          <p:spTgt spid="13"/>
                                        </p:tgtEl>
                                        <p:attrNameLst>
                                          <p:attrName>style.visibility</p:attrName>
                                        </p:attrNameLst>
                                      </p:cBhvr>
                                      <p:to>
                                        <p:strVal val="hidden"/>
                                      </p:to>
                                    </p:set>
                                  </p:childTnLst>
                                </p:cTn>
                              </p:par>
                              <p:par>
                                <p:cTn id="233" presetID="10" presetClass="exit" presetSubtype="0" fill="hold" nodeType="withEffect">
                                  <p:stCondLst>
                                    <p:cond delay="0"/>
                                  </p:stCondLst>
                                  <p:childTnLst>
                                    <p:animEffect transition="out" filter="fade">
                                      <p:cBhvr>
                                        <p:cTn id="234" dur="500"/>
                                        <p:tgtEl>
                                          <p:spTgt spid="16"/>
                                        </p:tgtEl>
                                      </p:cBhvr>
                                    </p:animEffect>
                                    <p:set>
                                      <p:cBhvr>
                                        <p:cTn id="235" dur="1" fill="hold">
                                          <p:stCondLst>
                                            <p:cond delay="499"/>
                                          </p:stCondLst>
                                        </p:cTn>
                                        <p:tgtEl>
                                          <p:spTgt spid="16"/>
                                        </p:tgtEl>
                                        <p:attrNameLst>
                                          <p:attrName>style.visibility</p:attrName>
                                        </p:attrNameLst>
                                      </p:cBhvr>
                                      <p:to>
                                        <p:strVal val="hidden"/>
                                      </p:to>
                                    </p:set>
                                  </p:childTnLst>
                                </p:cTn>
                              </p:par>
                              <p:par>
                                <p:cTn id="236" presetID="10" presetClass="exit" presetSubtype="0" fill="hold" nodeType="withEffect">
                                  <p:stCondLst>
                                    <p:cond delay="0"/>
                                  </p:stCondLst>
                                  <p:childTnLst>
                                    <p:animEffect transition="out" filter="fade">
                                      <p:cBhvr>
                                        <p:cTn id="237" dur="500"/>
                                        <p:tgtEl>
                                          <p:spTgt spid="19"/>
                                        </p:tgtEl>
                                      </p:cBhvr>
                                    </p:animEffect>
                                    <p:set>
                                      <p:cBhvr>
                                        <p:cTn id="238" dur="1" fill="hold">
                                          <p:stCondLst>
                                            <p:cond delay="499"/>
                                          </p:stCondLst>
                                        </p:cTn>
                                        <p:tgtEl>
                                          <p:spTgt spid="19"/>
                                        </p:tgtEl>
                                        <p:attrNameLst>
                                          <p:attrName>style.visibility</p:attrName>
                                        </p:attrNameLst>
                                      </p:cBhvr>
                                      <p:to>
                                        <p:strVal val="hidden"/>
                                      </p:to>
                                    </p:set>
                                  </p:childTnLst>
                                </p:cTn>
                              </p:par>
                              <p:par>
                                <p:cTn id="239" presetID="10" presetClass="exit" presetSubtype="0" fill="hold" nodeType="withEffect">
                                  <p:stCondLst>
                                    <p:cond delay="0"/>
                                  </p:stCondLst>
                                  <p:childTnLst>
                                    <p:animEffect transition="out" filter="fade">
                                      <p:cBhvr>
                                        <p:cTn id="240" dur="500"/>
                                        <p:tgtEl>
                                          <p:spTgt spid="22"/>
                                        </p:tgtEl>
                                      </p:cBhvr>
                                    </p:animEffect>
                                    <p:set>
                                      <p:cBhvr>
                                        <p:cTn id="241" dur="1" fill="hold">
                                          <p:stCondLst>
                                            <p:cond delay="499"/>
                                          </p:stCondLst>
                                        </p:cTn>
                                        <p:tgtEl>
                                          <p:spTgt spid="22"/>
                                        </p:tgtEl>
                                        <p:attrNameLst>
                                          <p:attrName>style.visibility</p:attrName>
                                        </p:attrNameLst>
                                      </p:cBhvr>
                                      <p:to>
                                        <p:strVal val="hidden"/>
                                      </p:to>
                                    </p:set>
                                  </p:childTnLst>
                                </p:cTn>
                              </p:par>
                              <p:par>
                                <p:cTn id="242" presetID="10" presetClass="exit" presetSubtype="0" fill="hold" nodeType="withEffect">
                                  <p:stCondLst>
                                    <p:cond delay="0"/>
                                  </p:stCondLst>
                                  <p:childTnLst>
                                    <p:animEffect transition="out" filter="fade">
                                      <p:cBhvr>
                                        <p:cTn id="243" dur="500"/>
                                        <p:tgtEl>
                                          <p:spTgt spid="25"/>
                                        </p:tgtEl>
                                      </p:cBhvr>
                                    </p:animEffect>
                                    <p:set>
                                      <p:cBhvr>
                                        <p:cTn id="244" dur="1" fill="hold">
                                          <p:stCondLst>
                                            <p:cond delay="499"/>
                                          </p:stCondLst>
                                        </p:cTn>
                                        <p:tgtEl>
                                          <p:spTgt spid="25"/>
                                        </p:tgtEl>
                                        <p:attrNameLst>
                                          <p:attrName>style.visibility</p:attrName>
                                        </p:attrNameLst>
                                      </p:cBhvr>
                                      <p:to>
                                        <p:strVal val="hidden"/>
                                      </p:to>
                                    </p:set>
                                  </p:childTnLst>
                                </p:cTn>
                              </p:par>
                              <p:par>
                                <p:cTn id="245" presetID="10" presetClass="exit" presetSubtype="0" fill="hold" nodeType="withEffect">
                                  <p:stCondLst>
                                    <p:cond delay="0"/>
                                  </p:stCondLst>
                                  <p:childTnLst>
                                    <p:animEffect transition="out" filter="fade">
                                      <p:cBhvr>
                                        <p:cTn id="246" dur="500"/>
                                        <p:tgtEl>
                                          <p:spTgt spid="28"/>
                                        </p:tgtEl>
                                      </p:cBhvr>
                                    </p:animEffect>
                                    <p:set>
                                      <p:cBhvr>
                                        <p:cTn id="247" dur="1" fill="hold">
                                          <p:stCondLst>
                                            <p:cond delay="499"/>
                                          </p:stCondLst>
                                        </p:cTn>
                                        <p:tgtEl>
                                          <p:spTgt spid="28"/>
                                        </p:tgtEl>
                                        <p:attrNameLst>
                                          <p:attrName>style.visibility</p:attrName>
                                        </p:attrNameLst>
                                      </p:cBhvr>
                                      <p:to>
                                        <p:strVal val="hidden"/>
                                      </p:to>
                                    </p:set>
                                  </p:childTnLst>
                                </p:cTn>
                              </p:par>
                              <p:par>
                                <p:cTn id="248" presetID="10" presetClass="exit" presetSubtype="0" fill="hold" nodeType="withEffect">
                                  <p:stCondLst>
                                    <p:cond delay="0"/>
                                  </p:stCondLst>
                                  <p:childTnLst>
                                    <p:animEffect transition="out" filter="fade">
                                      <p:cBhvr>
                                        <p:cTn id="249" dur="500"/>
                                        <p:tgtEl>
                                          <p:spTgt spid="30"/>
                                        </p:tgtEl>
                                      </p:cBhvr>
                                    </p:animEffect>
                                    <p:set>
                                      <p:cBhvr>
                                        <p:cTn id="250" dur="1" fill="hold">
                                          <p:stCondLst>
                                            <p:cond delay="499"/>
                                          </p:stCondLst>
                                        </p:cTn>
                                        <p:tgtEl>
                                          <p:spTgt spid="30"/>
                                        </p:tgtEl>
                                        <p:attrNameLst>
                                          <p:attrName>style.visibility</p:attrName>
                                        </p:attrNameLst>
                                      </p:cBhvr>
                                      <p:to>
                                        <p:strVal val="hidden"/>
                                      </p:to>
                                    </p:set>
                                  </p:childTnLst>
                                </p:cTn>
                              </p:par>
                              <p:par>
                                <p:cTn id="251" presetID="10" presetClass="exit" presetSubtype="0" fill="hold" nodeType="withEffect">
                                  <p:stCondLst>
                                    <p:cond delay="0"/>
                                  </p:stCondLst>
                                  <p:childTnLst>
                                    <p:animEffect transition="out" filter="fade">
                                      <p:cBhvr>
                                        <p:cTn id="252" dur="500"/>
                                        <p:tgtEl>
                                          <p:spTgt spid="31"/>
                                        </p:tgtEl>
                                      </p:cBhvr>
                                    </p:animEffect>
                                    <p:set>
                                      <p:cBhvr>
                                        <p:cTn id="253" dur="1" fill="hold">
                                          <p:stCondLst>
                                            <p:cond delay="499"/>
                                          </p:stCondLst>
                                        </p:cTn>
                                        <p:tgtEl>
                                          <p:spTgt spid="31"/>
                                        </p:tgtEl>
                                        <p:attrNameLst>
                                          <p:attrName>style.visibility</p:attrName>
                                        </p:attrNameLst>
                                      </p:cBhvr>
                                      <p:to>
                                        <p:strVal val="hidden"/>
                                      </p:to>
                                    </p:set>
                                  </p:childTnLst>
                                </p:cTn>
                              </p:par>
                              <p:par>
                                <p:cTn id="254" presetID="10" presetClass="exit" presetSubtype="0" fill="hold" nodeType="withEffect">
                                  <p:stCondLst>
                                    <p:cond delay="0"/>
                                  </p:stCondLst>
                                  <p:childTnLst>
                                    <p:animEffect transition="out" filter="fade">
                                      <p:cBhvr>
                                        <p:cTn id="255" dur="500"/>
                                        <p:tgtEl>
                                          <p:spTgt spid="32"/>
                                        </p:tgtEl>
                                      </p:cBhvr>
                                    </p:animEffect>
                                    <p:set>
                                      <p:cBhvr>
                                        <p:cTn id="256" dur="1" fill="hold">
                                          <p:stCondLst>
                                            <p:cond delay="499"/>
                                          </p:stCondLst>
                                        </p:cTn>
                                        <p:tgtEl>
                                          <p:spTgt spid="32"/>
                                        </p:tgtEl>
                                        <p:attrNameLst>
                                          <p:attrName>style.visibility</p:attrName>
                                        </p:attrNameLst>
                                      </p:cBhvr>
                                      <p:to>
                                        <p:strVal val="hidden"/>
                                      </p:to>
                                    </p:set>
                                  </p:childTnLst>
                                </p:cTn>
                              </p:par>
                              <p:par>
                                <p:cTn id="257" presetID="10" presetClass="exit" presetSubtype="0" fill="hold" nodeType="withEffect">
                                  <p:stCondLst>
                                    <p:cond delay="0"/>
                                  </p:stCondLst>
                                  <p:childTnLst>
                                    <p:animEffect transition="out" filter="fade">
                                      <p:cBhvr>
                                        <p:cTn id="258" dur="500"/>
                                        <p:tgtEl>
                                          <p:spTgt spid="33"/>
                                        </p:tgtEl>
                                      </p:cBhvr>
                                    </p:animEffect>
                                    <p:set>
                                      <p:cBhvr>
                                        <p:cTn id="259" dur="1" fill="hold">
                                          <p:stCondLst>
                                            <p:cond delay="499"/>
                                          </p:stCondLst>
                                        </p:cTn>
                                        <p:tgtEl>
                                          <p:spTgt spid="33"/>
                                        </p:tgtEl>
                                        <p:attrNameLst>
                                          <p:attrName>style.visibility</p:attrName>
                                        </p:attrNameLst>
                                      </p:cBhvr>
                                      <p:to>
                                        <p:strVal val="hidden"/>
                                      </p:to>
                                    </p:set>
                                  </p:childTnLst>
                                </p:cTn>
                              </p:par>
                              <p:par>
                                <p:cTn id="260" presetID="10" presetClass="entr" presetSubtype="0" fill="hold" grpId="0" nodeType="withEffect">
                                  <p:stCondLst>
                                    <p:cond delay="0"/>
                                  </p:stCondLst>
                                  <p:childTnLst>
                                    <p:set>
                                      <p:cBhvr>
                                        <p:cTn id="261" dur="1" fill="hold">
                                          <p:stCondLst>
                                            <p:cond delay="0"/>
                                          </p:stCondLst>
                                        </p:cTn>
                                        <p:tgtEl>
                                          <p:spTgt spid="57">
                                            <p:txEl>
                                              <p:pRg st="0" end="0"/>
                                            </p:txEl>
                                          </p:spTgt>
                                        </p:tgtEl>
                                        <p:attrNameLst>
                                          <p:attrName>style.visibility</p:attrName>
                                        </p:attrNameLst>
                                      </p:cBhvr>
                                      <p:to>
                                        <p:strVal val="visible"/>
                                      </p:to>
                                    </p:set>
                                    <p:animEffect transition="in" filter="fade">
                                      <p:cBhvr>
                                        <p:cTn id="262" dur="500"/>
                                        <p:tgtEl>
                                          <p:spTgt spid="57">
                                            <p:txEl>
                                              <p:pRg st="0" end="0"/>
                                            </p:txEl>
                                          </p:spTgt>
                                        </p:tgtEl>
                                      </p:cBhvr>
                                    </p:animEffect>
                                  </p:childTnLst>
                                </p:cTn>
                              </p:par>
                              <p:par>
                                <p:cTn id="263" presetID="10" presetClass="entr" presetSubtype="0" fill="hold" grpId="0" nodeType="withEffect">
                                  <p:stCondLst>
                                    <p:cond delay="0"/>
                                  </p:stCondLst>
                                  <p:childTnLst>
                                    <p:set>
                                      <p:cBhvr>
                                        <p:cTn id="264" dur="1" fill="hold">
                                          <p:stCondLst>
                                            <p:cond delay="0"/>
                                          </p:stCondLst>
                                        </p:cTn>
                                        <p:tgtEl>
                                          <p:spTgt spid="58">
                                            <p:txEl>
                                              <p:pRg st="0" end="0"/>
                                            </p:txEl>
                                          </p:spTgt>
                                        </p:tgtEl>
                                        <p:attrNameLst>
                                          <p:attrName>style.visibility</p:attrName>
                                        </p:attrNameLst>
                                      </p:cBhvr>
                                      <p:to>
                                        <p:strVal val="visible"/>
                                      </p:to>
                                    </p:set>
                                    <p:animEffect transition="in" filter="fade">
                                      <p:cBhvr>
                                        <p:cTn id="265" dur="500"/>
                                        <p:tgtEl>
                                          <p:spTgt spid="58">
                                            <p:txEl>
                                              <p:pRg st="0" end="0"/>
                                            </p:txEl>
                                          </p:spTgt>
                                        </p:tgtEl>
                                      </p:cBhvr>
                                    </p:animEffect>
                                  </p:childTnLst>
                                </p:cTn>
                              </p:par>
                              <p:par>
                                <p:cTn id="266" presetID="10" presetClass="entr" presetSubtype="0" fill="hold" grpId="0" nodeType="withEffect">
                                  <p:stCondLst>
                                    <p:cond delay="0"/>
                                  </p:stCondLst>
                                  <p:childTnLst>
                                    <p:set>
                                      <p:cBhvr>
                                        <p:cTn id="267" dur="1" fill="hold">
                                          <p:stCondLst>
                                            <p:cond delay="0"/>
                                          </p:stCondLst>
                                        </p:cTn>
                                        <p:tgtEl>
                                          <p:spTgt spid="59">
                                            <p:txEl>
                                              <p:pRg st="0" end="0"/>
                                            </p:txEl>
                                          </p:spTgt>
                                        </p:tgtEl>
                                        <p:attrNameLst>
                                          <p:attrName>style.visibility</p:attrName>
                                        </p:attrNameLst>
                                      </p:cBhvr>
                                      <p:to>
                                        <p:strVal val="visible"/>
                                      </p:to>
                                    </p:set>
                                    <p:animEffect transition="in" filter="fade">
                                      <p:cBhvr>
                                        <p:cTn id="268" dur="500"/>
                                        <p:tgtEl>
                                          <p:spTgt spid="59">
                                            <p:txEl>
                                              <p:pRg st="0" end="0"/>
                                            </p:txEl>
                                          </p:spTgt>
                                        </p:tgtEl>
                                      </p:cBhvr>
                                    </p:animEffect>
                                  </p:childTnLst>
                                </p:cTn>
                              </p:par>
                              <p:par>
                                <p:cTn id="269" presetID="10" presetClass="entr" presetSubtype="0" fill="hold" grpId="0" nodeType="withEffect">
                                  <p:stCondLst>
                                    <p:cond delay="0"/>
                                  </p:stCondLst>
                                  <p:childTnLst>
                                    <p:set>
                                      <p:cBhvr>
                                        <p:cTn id="270" dur="1" fill="hold">
                                          <p:stCondLst>
                                            <p:cond delay="0"/>
                                          </p:stCondLst>
                                        </p:cTn>
                                        <p:tgtEl>
                                          <p:spTgt spid="60">
                                            <p:txEl>
                                              <p:pRg st="0" end="0"/>
                                            </p:txEl>
                                          </p:spTgt>
                                        </p:tgtEl>
                                        <p:attrNameLst>
                                          <p:attrName>style.visibility</p:attrName>
                                        </p:attrNameLst>
                                      </p:cBhvr>
                                      <p:to>
                                        <p:strVal val="visible"/>
                                      </p:to>
                                    </p:set>
                                    <p:animEffect transition="in" filter="fade">
                                      <p:cBhvr>
                                        <p:cTn id="271" dur="500"/>
                                        <p:tgtEl>
                                          <p:spTgt spid="60">
                                            <p:txEl>
                                              <p:pRg st="0" end="0"/>
                                            </p:txEl>
                                          </p:spTgt>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61">
                                            <p:txEl>
                                              <p:pRg st="0" end="0"/>
                                            </p:txEl>
                                          </p:spTgt>
                                        </p:tgtEl>
                                        <p:attrNameLst>
                                          <p:attrName>style.visibility</p:attrName>
                                        </p:attrNameLst>
                                      </p:cBhvr>
                                      <p:to>
                                        <p:strVal val="visible"/>
                                      </p:to>
                                    </p:set>
                                    <p:animEffect transition="in" filter="fade">
                                      <p:cBhvr>
                                        <p:cTn id="274" dur="500"/>
                                        <p:tgtEl>
                                          <p:spTgt spid="61">
                                            <p:txEl>
                                              <p:pRg st="0" end="0"/>
                                            </p:txEl>
                                          </p:spTgt>
                                        </p:tgtEl>
                                      </p:cBhvr>
                                    </p:animEffect>
                                  </p:childTnLst>
                                </p:cTn>
                              </p:par>
                              <p:par>
                                <p:cTn id="275" presetID="10" presetClass="entr" presetSubtype="0" fill="hold" grpId="0" nodeType="withEffect">
                                  <p:stCondLst>
                                    <p:cond delay="0"/>
                                  </p:stCondLst>
                                  <p:childTnLst>
                                    <p:set>
                                      <p:cBhvr>
                                        <p:cTn id="276" dur="1" fill="hold">
                                          <p:stCondLst>
                                            <p:cond delay="0"/>
                                          </p:stCondLst>
                                        </p:cTn>
                                        <p:tgtEl>
                                          <p:spTgt spid="62">
                                            <p:txEl>
                                              <p:pRg st="0" end="0"/>
                                            </p:txEl>
                                          </p:spTgt>
                                        </p:tgtEl>
                                        <p:attrNameLst>
                                          <p:attrName>style.visibility</p:attrName>
                                        </p:attrNameLst>
                                      </p:cBhvr>
                                      <p:to>
                                        <p:strVal val="visible"/>
                                      </p:to>
                                    </p:set>
                                    <p:animEffect transition="in" filter="fade">
                                      <p:cBhvr>
                                        <p:cTn id="277" dur="500"/>
                                        <p:tgtEl>
                                          <p:spTgt spid="62">
                                            <p:txEl>
                                              <p:pRg st="0" end="0"/>
                                            </p:txEl>
                                          </p:spTgt>
                                        </p:tgtEl>
                                      </p:cBhvr>
                                    </p:animEffect>
                                  </p:childTnLst>
                                </p:cTn>
                              </p:par>
                              <p:par>
                                <p:cTn id="278" presetID="10" presetClass="entr" presetSubtype="0" fill="hold" grpId="0" nodeType="withEffect">
                                  <p:stCondLst>
                                    <p:cond delay="0"/>
                                  </p:stCondLst>
                                  <p:childTnLst>
                                    <p:set>
                                      <p:cBhvr>
                                        <p:cTn id="279" dur="1" fill="hold">
                                          <p:stCondLst>
                                            <p:cond delay="0"/>
                                          </p:stCondLst>
                                        </p:cTn>
                                        <p:tgtEl>
                                          <p:spTgt spid="63">
                                            <p:txEl>
                                              <p:pRg st="0" end="0"/>
                                            </p:txEl>
                                          </p:spTgt>
                                        </p:tgtEl>
                                        <p:attrNameLst>
                                          <p:attrName>style.visibility</p:attrName>
                                        </p:attrNameLst>
                                      </p:cBhvr>
                                      <p:to>
                                        <p:strVal val="visible"/>
                                      </p:to>
                                    </p:set>
                                    <p:animEffect transition="in" filter="fade">
                                      <p:cBhvr>
                                        <p:cTn id="280" dur="500"/>
                                        <p:tgtEl>
                                          <p:spTgt spid="63">
                                            <p:txEl>
                                              <p:pRg st="0" end="0"/>
                                            </p:txEl>
                                          </p:spTgt>
                                        </p:tgtEl>
                                      </p:cBhvr>
                                    </p:animEffect>
                                  </p:childTnLst>
                                </p:cTn>
                              </p:par>
                              <p:par>
                                <p:cTn id="281" presetID="10" presetClass="entr" presetSubtype="0" fill="hold" grpId="0" nodeType="withEffect">
                                  <p:stCondLst>
                                    <p:cond delay="0"/>
                                  </p:stCondLst>
                                  <p:childTnLst>
                                    <p:set>
                                      <p:cBhvr>
                                        <p:cTn id="282" dur="1" fill="hold">
                                          <p:stCondLst>
                                            <p:cond delay="0"/>
                                          </p:stCondLst>
                                        </p:cTn>
                                        <p:tgtEl>
                                          <p:spTgt spid="64">
                                            <p:txEl>
                                              <p:pRg st="0" end="0"/>
                                            </p:txEl>
                                          </p:spTgt>
                                        </p:tgtEl>
                                        <p:attrNameLst>
                                          <p:attrName>style.visibility</p:attrName>
                                        </p:attrNameLst>
                                      </p:cBhvr>
                                      <p:to>
                                        <p:strVal val="visible"/>
                                      </p:to>
                                    </p:set>
                                    <p:animEffect transition="in" filter="fade">
                                      <p:cBhvr>
                                        <p:cTn id="283" dur="500"/>
                                        <p:tgtEl>
                                          <p:spTgt spid="64">
                                            <p:txEl>
                                              <p:pRg st="0" end="0"/>
                                            </p:txEl>
                                          </p:spTgt>
                                        </p:tgtEl>
                                      </p:cBhvr>
                                    </p:animEffect>
                                  </p:childTnLst>
                                </p:cTn>
                              </p:par>
                              <p:par>
                                <p:cTn id="284" presetID="10" presetClass="entr" presetSubtype="0" fill="hold" grpId="0" nodeType="withEffect">
                                  <p:stCondLst>
                                    <p:cond delay="0"/>
                                  </p:stCondLst>
                                  <p:childTnLst>
                                    <p:set>
                                      <p:cBhvr>
                                        <p:cTn id="285" dur="1" fill="hold">
                                          <p:stCondLst>
                                            <p:cond delay="0"/>
                                          </p:stCondLst>
                                        </p:cTn>
                                        <p:tgtEl>
                                          <p:spTgt spid="65">
                                            <p:txEl>
                                              <p:pRg st="0" end="0"/>
                                            </p:txEl>
                                          </p:spTgt>
                                        </p:tgtEl>
                                        <p:attrNameLst>
                                          <p:attrName>style.visibility</p:attrName>
                                        </p:attrNameLst>
                                      </p:cBhvr>
                                      <p:to>
                                        <p:strVal val="visible"/>
                                      </p:to>
                                    </p:set>
                                    <p:animEffect transition="in" filter="fade">
                                      <p:cBhvr>
                                        <p:cTn id="286" dur="500"/>
                                        <p:tgtEl>
                                          <p:spTgt spid="65">
                                            <p:txEl>
                                              <p:pRg st="0" end="0"/>
                                            </p:txEl>
                                          </p:spTgt>
                                        </p:tgtEl>
                                      </p:cBhvr>
                                    </p:animEffect>
                                  </p:childTnLst>
                                </p:cTn>
                              </p:par>
                              <p:par>
                                <p:cTn id="287" presetID="10" presetClass="entr" presetSubtype="0" fill="hold" grpId="0" nodeType="withEffect">
                                  <p:stCondLst>
                                    <p:cond delay="0"/>
                                  </p:stCondLst>
                                  <p:childTnLst>
                                    <p:set>
                                      <p:cBhvr>
                                        <p:cTn id="288" dur="1" fill="hold">
                                          <p:stCondLst>
                                            <p:cond delay="0"/>
                                          </p:stCondLst>
                                        </p:cTn>
                                        <p:tgtEl>
                                          <p:spTgt spid="66">
                                            <p:txEl>
                                              <p:pRg st="0" end="0"/>
                                            </p:txEl>
                                          </p:spTgt>
                                        </p:tgtEl>
                                        <p:attrNameLst>
                                          <p:attrName>style.visibility</p:attrName>
                                        </p:attrNameLst>
                                      </p:cBhvr>
                                      <p:to>
                                        <p:strVal val="visible"/>
                                      </p:to>
                                    </p:set>
                                    <p:animEffect transition="in" filter="fade">
                                      <p:cBhvr>
                                        <p:cTn id="289" dur="500"/>
                                        <p:tgtEl>
                                          <p:spTgt spid="66">
                                            <p:txEl>
                                              <p:pRg st="0" end="0"/>
                                            </p:txEl>
                                          </p:spTgt>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67">
                                            <p:txEl>
                                              <p:pRg st="0" end="0"/>
                                            </p:txEl>
                                          </p:spTgt>
                                        </p:tgtEl>
                                        <p:attrNameLst>
                                          <p:attrName>style.visibility</p:attrName>
                                        </p:attrNameLst>
                                      </p:cBhvr>
                                      <p:to>
                                        <p:strVal val="visible"/>
                                      </p:to>
                                    </p:set>
                                    <p:animEffect transition="in" filter="fade">
                                      <p:cBhvr>
                                        <p:cTn id="292" dur="500"/>
                                        <p:tgtEl>
                                          <p:spTgt spid="67">
                                            <p:txEl>
                                              <p:pRg st="0" end="0"/>
                                            </p:txEl>
                                          </p:spTgt>
                                        </p:tgtEl>
                                      </p:cBhvr>
                                    </p:animEffect>
                                  </p:childTnLst>
                                </p:cTn>
                              </p:par>
                              <p:par>
                                <p:cTn id="293" presetID="10" presetClass="entr" presetSubtype="0" fill="hold" grpId="0" nodeType="withEffect">
                                  <p:stCondLst>
                                    <p:cond delay="0"/>
                                  </p:stCondLst>
                                  <p:childTnLst>
                                    <p:set>
                                      <p:cBhvr>
                                        <p:cTn id="294" dur="1" fill="hold">
                                          <p:stCondLst>
                                            <p:cond delay="0"/>
                                          </p:stCondLst>
                                        </p:cTn>
                                        <p:tgtEl>
                                          <p:spTgt spid="68">
                                            <p:txEl>
                                              <p:pRg st="0" end="0"/>
                                            </p:txEl>
                                          </p:spTgt>
                                        </p:tgtEl>
                                        <p:attrNameLst>
                                          <p:attrName>style.visibility</p:attrName>
                                        </p:attrNameLst>
                                      </p:cBhvr>
                                      <p:to>
                                        <p:strVal val="visible"/>
                                      </p:to>
                                    </p:set>
                                    <p:animEffect transition="in" filter="fade">
                                      <p:cBhvr>
                                        <p:cTn id="295" dur="500"/>
                                        <p:tgtEl>
                                          <p:spTgt spid="68">
                                            <p:txEl>
                                              <p:pRg st="0" end="0"/>
                                            </p:txEl>
                                          </p:spTgt>
                                        </p:tgtEl>
                                      </p:cBhvr>
                                    </p:animEffect>
                                  </p:childTnLst>
                                </p:cTn>
                              </p:par>
                            </p:childTnLst>
                          </p:cTn>
                        </p:par>
                      </p:childTnLst>
                    </p:cTn>
                  </p:par>
                  <p:par>
                    <p:cTn id="296" fill="hold">
                      <p:stCondLst>
                        <p:cond delay="indefinite"/>
                      </p:stCondLst>
                      <p:childTnLst>
                        <p:par>
                          <p:cTn id="297" fill="hold">
                            <p:stCondLst>
                              <p:cond delay="0"/>
                            </p:stCondLst>
                            <p:childTnLst>
                              <p:par>
                                <p:cTn id="298" presetID="10" presetClass="entr" presetSubtype="0" fill="hold" grpId="0" nodeType="clickEffect">
                                  <p:stCondLst>
                                    <p:cond delay="0"/>
                                  </p:stCondLst>
                                  <p:childTnLst>
                                    <p:set>
                                      <p:cBhvr>
                                        <p:cTn id="299" dur="1" fill="hold">
                                          <p:stCondLst>
                                            <p:cond delay="0"/>
                                          </p:stCondLst>
                                        </p:cTn>
                                        <p:tgtEl>
                                          <p:spTgt spid="69">
                                            <p:txEl>
                                              <p:pRg st="0" end="0"/>
                                            </p:txEl>
                                          </p:spTgt>
                                        </p:tgtEl>
                                        <p:attrNameLst>
                                          <p:attrName>style.visibility</p:attrName>
                                        </p:attrNameLst>
                                      </p:cBhvr>
                                      <p:to>
                                        <p:strVal val="visible"/>
                                      </p:to>
                                    </p:set>
                                    <p:animEffect transition="in" filter="fade">
                                      <p:cBhvr>
                                        <p:cTn id="300" dur="500"/>
                                        <p:tgtEl>
                                          <p:spTgt spid="69">
                                            <p:txEl>
                                              <p:pRg st="0" end="0"/>
                                            </p:txEl>
                                          </p:spTgt>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70">
                                            <p:txEl>
                                              <p:pRg st="0" end="0"/>
                                            </p:txEl>
                                          </p:spTgt>
                                        </p:tgtEl>
                                        <p:attrNameLst>
                                          <p:attrName>style.visibility</p:attrName>
                                        </p:attrNameLst>
                                      </p:cBhvr>
                                      <p:to>
                                        <p:strVal val="visible"/>
                                      </p:to>
                                    </p:set>
                                    <p:animEffect transition="in" filter="fade">
                                      <p:cBhvr>
                                        <p:cTn id="303" dur="500"/>
                                        <p:tgtEl>
                                          <p:spTgt spid="70">
                                            <p:txEl>
                                              <p:pRg st="0" end="0"/>
                                            </p:txEl>
                                          </p:spTgt>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72">
                                            <p:txEl>
                                              <p:pRg st="0" end="0"/>
                                            </p:txEl>
                                          </p:spTgt>
                                        </p:tgtEl>
                                        <p:attrNameLst>
                                          <p:attrName>style.visibility</p:attrName>
                                        </p:attrNameLst>
                                      </p:cBhvr>
                                      <p:to>
                                        <p:strVal val="visible"/>
                                      </p:to>
                                    </p:set>
                                    <p:animEffect transition="in" filter="fade">
                                      <p:cBhvr>
                                        <p:cTn id="306" dur="500"/>
                                        <p:tgtEl>
                                          <p:spTgt spid="72">
                                            <p:txEl>
                                              <p:pRg st="0" end="0"/>
                                            </p:txEl>
                                          </p:spTgt>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73">
                                            <p:txEl>
                                              <p:pRg st="0" end="0"/>
                                            </p:txEl>
                                          </p:spTgt>
                                        </p:tgtEl>
                                        <p:attrNameLst>
                                          <p:attrName>style.visibility</p:attrName>
                                        </p:attrNameLst>
                                      </p:cBhvr>
                                      <p:to>
                                        <p:strVal val="visible"/>
                                      </p:to>
                                    </p:set>
                                    <p:animEffect transition="in" filter="fade">
                                      <p:cBhvr>
                                        <p:cTn id="309" dur="500"/>
                                        <p:tgtEl>
                                          <p:spTgt spid="73">
                                            <p:txEl>
                                              <p:pRg st="0" end="0"/>
                                            </p:txEl>
                                          </p:spTgt>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74">
                                            <p:txEl>
                                              <p:pRg st="0" end="0"/>
                                            </p:txEl>
                                          </p:spTgt>
                                        </p:tgtEl>
                                        <p:attrNameLst>
                                          <p:attrName>style.visibility</p:attrName>
                                        </p:attrNameLst>
                                      </p:cBhvr>
                                      <p:to>
                                        <p:strVal val="visible"/>
                                      </p:to>
                                    </p:set>
                                    <p:animEffect transition="in" filter="fade">
                                      <p:cBhvr>
                                        <p:cTn id="312" dur="500"/>
                                        <p:tgtEl>
                                          <p:spTgt spid="74">
                                            <p:txEl>
                                              <p:pRg st="0" end="0"/>
                                            </p:txEl>
                                          </p:spTgt>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75">
                                            <p:txEl>
                                              <p:pRg st="0" end="0"/>
                                            </p:txEl>
                                          </p:spTgt>
                                        </p:tgtEl>
                                        <p:attrNameLst>
                                          <p:attrName>style.visibility</p:attrName>
                                        </p:attrNameLst>
                                      </p:cBhvr>
                                      <p:to>
                                        <p:strVal val="visible"/>
                                      </p:to>
                                    </p:set>
                                    <p:animEffect transition="in" filter="fade">
                                      <p:cBhvr>
                                        <p:cTn id="315" dur="500"/>
                                        <p:tgtEl>
                                          <p:spTgt spid="75">
                                            <p:txEl>
                                              <p:pRg st="0" end="0"/>
                                            </p:txEl>
                                          </p:spTgt>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76">
                                            <p:txEl>
                                              <p:pRg st="0" end="0"/>
                                            </p:txEl>
                                          </p:spTgt>
                                        </p:tgtEl>
                                        <p:attrNameLst>
                                          <p:attrName>style.visibility</p:attrName>
                                        </p:attrNameLst>
                                      </p:cBhvr>
                                      <p:to>
                                        <p:strVal val="visible"/>
                                      </p:to>
                                    </p:set>
                                    <p:animEffect transition="in" filter="fade">
                                      <p:cBhvr>
                                        <p:cTn id="318" dur="500"/>
                                        <p:tgtEl>
                                          <p:spTgt spid="76">
                                            <p:txEl>
                                              <p:pRg st="0" end="0"/>
                                            </p:txEl>
                                          </p:spTgt>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77">
                                            <p:txEl>
                                              <p:pRg st="0" end="0"/>
                                            </p:txEl>
                                          </p:spTgt>
                                        </p:tgtEl>
                                        <p:attrNameLst>
                                          <p:attrName>style.visibility</p:attrName>
                                        </p:attrNameLst>
                                      </p:cBhvr>
                                      <p:to>
                                        <p:strVal val="visible"/>
                                      </p:to>
                                    </p:set>
                                    <p:animEffect transition="in" filter="fade">
                                      <p:cBhvr>
                                        <p:cTn id="321" dur="500"/>
                                        <p:tgtEl>
                                          <p:spTgt spid="77">
                                            <p:txEl>
                                              <p:pRg st="0" end="0"/>
                                            </p:txEl>
                                          </p:spTgt>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78">
                                            <p:txEl>
                                              <p:pRg st="0" end="0"/>
                                            </p:txEl>
                                          </p:spTgt>
                                        </p:tgtEl>
                                        <p:attrNameLst>
                                          <p:attrName>style.visibility</p:attrName>
                                        </p:attrNameLst>
                                      </p:cBhvr>
                                      <p:to>
                                        <p:strVal val="visible"/>
                                      </p:to>
                                    </p:set>
                                    <p:animEffect transition="in" filter="fade">
                                      <p:cBhvr>
                                        <p:cTn id="324" dur="500"/>
                                        <p:tgtEl>
                                          <p:spTgt spid="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4" grpId="0" build="p"/>
      <p:bldP spid="35" grpId="0" build="p"/>
      <p:bldP spid="36" grpId="0" build="p"/>
      <p:bldP spid="37" grpId="0" build="p"/>
      <p:bldP spid="38" grpId="0" build="p"/>
      <p:bldP spid="39" grpId="0" build="p"/>
      <p:bldP spid="40" grpId="0" build="p"/>
      <p:bldP spid="41" grpId="0" build="p"/>
      <p:bldP spid="42" grpId="0" build="p"/>
      <p:bldP spid="43" grpId="0" build="p"/>
      <p:bldP spid="44" grpId="0" build="p"/>
      <p:bldP spid="45" grpId="0" build="p"/>
      <p:bldP spid="46" grpId="0" build="p"/>
      <p:bldP spid="47" grpId="0" build="p"/>
      <p:bldP spid="48" grpId="0" build="p"/>
      <p:bldP spid="49" grpId="0" build="p"/>
      <p:bldP spid="50" grpId="0" build="p"/>
      <p:bldP spid="51" grpId="0" build="p"/>
      <p:bldP spid="52" grpId="0" build="p"/>
      <p:bldP spid="53" grpId="0" build="p"/>
      <p:bldP spid="54" grpId="0" build="p"/>
      <p:bldP spid="55" grpId="0" build="p"/>
      <p:bldP spid="56" grpId="0" build="p"/>
      <p:bldP spid="57" grpId="0" build="p"/>
      <p:bldP spid="58" grpId="0" build="p"/>
      <p:bldP spid="59" grpId="0" build="p"/>
      <p:bldP spid="60" grpId="0" build="p"/>
      <p:bldP spid="61" grpId="0" build="p"/>
      <p:bldP spid="62" grpId="0" build="p"/>
      <p:bldP spid="63" grpId="0" build="p"/>
      <p:bldP spid="64" grpId="0" build="p"/>
      <p:bldP spid="65" grpId="0" build="p"/>
      <p:bldP spid="66" grpId="0" build="p"/>
      <p:bldP spid="67" grpId="0" build="p"/>
      <p:bldP spid="68" grpId="0" build="p"/>
      <p:bldP spid="69" grpId="0" build="p"/>
      <p:bldP spid="70" grpId="0" build="p"/>
      <p:bldP spid="72" grpId="0" build="p"/>
      <p:bldP spid="73" grpId="0" build="p"/>
      <p:bldP spid="74" grpId="0" build="p"/>
      <p:bldP spid="75" grpId="0" build="p"/>
      <p:bldP spid="76" grpId="0" build="p"/>
      <p:bldP spid="77" grpId="0" build="p"/>
      <p:bldP spid="7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136371"/>
            <a:ext cx="10515600" cy="1325563"/>
          </a:xfrm>
        </p:spPr>
        <p:txBody>
          <a:bodyPr/>
          <a:lstStyle/>
          <a:p>
            <a:r>
              <a:rPr lang="en-GB" dirty="0">
                <a:solidFill>
                  <a:schemeClr val="tx1"/>
                </a:solidFill>
              </a:rPr>
              <a:t>So, let’s get back to our base 2 stuff:</a:t>
            </a:r>
          </a:p>
        </p:txBody>
      </p:sp>
      <p:sp>
        <p:nvSpPr>
          <p:cNvPr id="3" name="Content Placeholder 2"/>
          <p:cNvSpPr>
            <a:spLocks noGrp="1"/>
          </p:cNvSpPr>
          <p:nvPr>
            <p:ph idx="1"/>
          </p:nvPr>
        </p:nvSpPr>
        <p:spPr>
          <a:xfrm>
            <a:off x="9568" y="1506029"/>
            <a:ext cx="10515600" cy="570976"/>
          </a:xfrm>
        </p:spPr>
        <p:txBody>
          <a:bodyPr/>
          <a:lstStyle/>
          <a:p>
            <a:r>
              <a:rPr lang="en-GB" dirty="0">
                <a:solidFill>
                  <a:schemeClr val="tx1"/>
                </a:solidFill>
              </a:rPr>
              <a:t>Let’s use a forth column (a bit like a forth light bulb)</a:t>
            </a:r>
          </a:p>
        </p:txBody>
      </p:sp>
      <p:cxnSp>
        <p:nvCxnSpPr>
          <p:cNvPr id="4" name="Straight Connector 3"/>
          <p:cNvCxnSpPr/>
          <p:nvPr/>
        </p:nvCxnSpPr>
        <p:spPr>
          <a:xfrm>
            <a:off x="5496473" y="2310921"/>
            <a:ext cx="0" cy="1608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6791873" y="2310921"/>
            <a:ext cx="0" cy="1608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542190" y="2713713"/>
            <a:ext cx="4329809" cy="133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542190" y="3150491"/>
            <a:ext cx="4329808" cy="220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728267" y="2757949"/>
            <a:ext cx="650866" cy="369332"/>
          </a:xfrm>
          <a:prstGeom prst="rect">
            <a:avLst/>
          </a:prstGeom>
          <a:noFill/>
        </p:spPr>
        <p:txBody>
          <a:bodyPr wrap="square" rtlCol="0">
            <a:spAutoFit/>
          </a:bodyPr>
          <a:lstStyle/>
          <a:p>
            <a:r>
              <a:rPr lang="en-GB" dirty="0"/>
              <a:t>2</a:t>
            </a:r>
          </a:p>
        </p:txBody>
      </p:sp>
      <p:sp>
        <p:nvSpPr>
          <p:cNvPr id="9" name="TextBox 8"/>
          <p:cNvSpPr txBox="1"/>
          <p:nvPr/>
        </p:nvSpPr>
        <p:spPr>
          <a:xfrm>
            <a:off x="5921208" y="2771128"/>
            <a:ext cx="650866" cy="369332"/>
          </a:xfrm>
          <a:prstGeom prst="rect">
            <a:avLst/>
          </a:prstGeom>
          <a:noFill/>
        </p:spPr>
        <p:txBody>
          <a:bodyPr wrap="square" rtlCol="0">
            <a:spAutoFit/>
          </a:bodyPr>
          <a:lstStyle/>
          <a:p>
            <a:r>
              <a:rPr lang="en-GB" dirty="0"/>
              <a:t>2</a:t>
            </a:r>
          </a:p>
        </p:txBody>
      </p:sp>
      <p:sp>
        <p:nvSpPr>
          <p:cNvPr id="10" name="TextBox 9"/>
          <p:cNvSpPr txBox="1"/>
          <p:nvPr/>
        </p:nvSpPr>
        <p:spPr>
          <a:xfrm>
            <a:off x="7216607" y="2764541"/>
            <a:ext cx="650866" cy="369332"/>
          </a:xfrm>
          <a:prstGeom prst="rect">
            <a:avLst/>
          </a:prstGeom>
          <a:noFill/>
        </p:spPr>
        <p:txBody>
          <a:bodyPr wrap="square" rtlCol="0">
            <a:spAutoFit/>
          </a:bodyPr>
          <a:lstStyle/>
          <a:p>
            <a:r>
              <a:rPr lang="en-GB" dirty="0"/>
              <a:t>2</a:t>
            </a:r>
          </a:p>
        </p:txBody>
      </p:sp>
      <p:sp>
        <p:nvSpPr>
          <p:cNvPr id="11" name="TextBox 10"/>
          <p:cNvSpPr txBox="1"/>
          <p:nvPr/>
        </p:nvSpPr>
        <p:spPr>
          <a:xfrm>
            <a:off x="7405645" y="2727195"/>
            <a:ext cx="650866" cy="246221"/>
          </a:xfrm>
          <a:prstGeom prst="rect">
            <a:avLst/>
          </a:prstGeom>
          <a:noFill/>
        </p:spPr>
        <p:txBody>
          <a:bodyPr wrap="square" rtlCol="0">
            <a:spAutoFit/>
          </a:bodyPr>
          <a:lstStyle/>
          <a:p>
            <a:r>
              <a:rPr lang="en-GB" sz="1000" dirty="0"/>
              <a:t>0</a:t>
            </a:r>
          </a:p>
        </p:txBody>
      </p:sp>
      <p:sp>
        <p:nvSpPr>
          <p:cNvPr id="12" name="TextBox 11"/>
          <p:cNvSpPr txBox="1"/>
          <p:nvPr/>
        </p:nvSpPr>
        <p:spPr>
          <a:xfrm>
            <a:off x="6206263" y="2714728"/>
            <a:ext cx="650866" cy="246221"/>
          </a:xfrm>
          <a:prstGeom prst="rect">
            <a:avLst/>
          </a:prstGeom>
          <a:noFill/>
        </p:spPr>
        <p:txBody>
          <a:bodyPr wrap="square" rtlCol="0">
            <a:spAutoFit/>
          </a:bodyPr>
          <a:lstStyle/>
          <a:p>
            <a:r>
              <a:rPr lang="en-GB" sz="1000" dirty="0"/>
              <a:t>1</a:t>
            </a:r>
          </a:p>
        </p:txBody>
      </p:sp>
      <p:sp>
        <p:nvSpPr>
          <p:cNvPr id="13" name="TextBox 12"/>
          <p:cNvSpPr txBox="1"/>
          <p:nvPr/>
        </p:nvSpPr>
        <p:spPr>
          <a:xfrm>
            <a:off x="4986323" y="2734739"/>
            <a:ext cx="650866" cy="246221"/>
          </a:xfrm>
          <a:prstGeom prst="rect">
            <a:avLst/>
          </a:prstGeom>
          <a:noFill/>
        </p:spPr>
        <p:txBody>
          <a:bodyPr wrap="square" rtlCol="0">
            <a:spAutoFit/>
          </a:bodyPr>
          <a:lstStyle/>
          <a:p>
            <a:r>
              <a:rPr lang="en-GB" sz="1000" dirty="0"/>
              <a:t>2</a:t>
            </a:r>
          </a:p>
        </p:txBody>
      </p:sp>
      <p:sp>
        <p:nvSpPr>
          <p:cNvPr id="14" name="TextBox 13"/>
          <p:cNvSpPr txBox="1"/>
          <p:nvPr/>
        </p:nvSpPr>
        <p:spPr>
          <a:xfrm>
            <a:off x="7216607" y="3386843"/>
            <a:ext cx="650866" cy="369332"/>
          </a:xfrm>
          <a:prstGeom prst="rect">
            <a:avLst/>
          </a:prstGeom>
          <a:noFill/>
        </p:spPr>
        <p:txBody>
          <a:bodyPr wrap="square" rtlCol="0">
            <a:spAutoFit/>
          </a:bodyPr>
          <a:lstStyle/>
          <a:p>
            <a:r>
              <a:rPr lang="en-GB" dirty="0"/>
              <a:t>1</a:t>
            </a:r>
          </a:p>
        </p:txBody>
      </p:sp>
      <p:sp>
        <p:nvSpPr>
          <p:cNvPr id="15" name="TextBox 14"/>
          <p:cNvSpPr txBox="1"/>
          <p:nvPr/>
        </p:nvSpPr>
        <p:spPr>
          <a:xfrm>
            <a:off x="5928641" y="3386843"/>
            <a:ext cx="650866" cy="369332"/>
          </a:xfrm>
          <a:prstGeom prst="rect">
            <a:avLst/>
          </a:prstGeom>
          <a:noFill/>
        </p:spPr>
        <p:txBody>
          <a:bodyPr wrap="square" rtlCol="0">
            <a:spAutoFit/>
          </a:bodyPr>
          <a:lstStyle/>
          <a:p>
            <a:r>
              <a:rPr lang="en-GB" dirty="0"/>
              <a:t>2</a:t>
            </a:r>
          </a:p>
        </p:txBody>
      </p:sp>
      <p:sp>
        <p:nvSpPr>
          <p:cNvPr id="16" name="TextBox 15"/>
          <p:cNvSpPr txBox="1"/>
          <p:nvPr/>
        </p:nvSpPr>
        <p:spPr>
          <a:xfrm>
            <a:off x="4707557" y="3386843"/>
            <a:ext cx="650866" cy="369332"/>
          </a:xfrm>
          <a:prstGeom prst="rect">
            <a:avLst/>
          </a:prstGeom>
          <a:noFill/>
        </p:spPr>
        <p:txBody>
          <a:bodyPr wrap="square" rtlCol="0">
            <a:spAutoFit/>
          </a:bodyPr>
          <a:lstStyle/>
          <a:p>
            <a:r>
              <a:rPr lang="en-GB" dirty="0"/>
              <a:t>4</a:t>
            </a:r>
          </a:p>
        </p:txBody>
      </p:sp>
      <p:cxnSp>
        <p:nvCxnSpPr>
          <p:cNvPr id="17" name="Straight Connector 16"/>
          <p:cNvCxnSpPr/>
          <p:nvPr/>
        </p:nvCxnSpPr>
        <p:spPr>
          <a:xfrm>
            <a:off x="4382779" y="2310921"/>
            <a:ext cx="0" cy="16085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734139" y="2768152"/>
            <a:ext cx="650866" cy="369332"/>
          </a:xfrm>
          <a:prstGeom prst="rect">
            <a:avLst/>
          </a:prstGeom>
          <a:noFill/>
        </p:spPr>
        <p:txBody>
          <a:bodyPr wrap="square" rtlCol="0">
            <a:spAutoFit/>
          </a:bodyPr>
          <a:lstStyle/>
          <a:p>
            <a:r>
              <a:rPr lang="en-GB" dirty="0"/>
              <a:t>2</a:t>
            </a:r>
          </a:p>
        </p:txBody>
      </p:sp>
      <p:sp>
        <p:nvSpPr>
          <p:cNvPr id="21" name="TextBox 20"/>
          <p:cNvSpPr txBox="1"/>
          <p:nvPr/>
        </p:nvSpPr>
        <p:spPr>
          <a:xfrm>
            <a:off x="3930021" y="2743651"/>
            <a:ext cx="650866" cy="246221"/>
          </a:xfrm>
          <a:prstGeom prst="rect">
            <a:avLst/>
          </a:prstGeom>
          <a:noFill/>
        </p:spPr>
        <p:txBody>
          <a:bodyPr wrap="square" rtlCol="0">
            <a:spAutoFit/>
          </a:bodyPr>
          <a:lstStyle/>
          <a:p>
            <a:r>
              <a:rPr lang="en-GB" sz="1000" dirty="0"/>
              <a:t>3</a:t>
            </a:r>
          </a:p>
        </p:txBody>
      </p:sp>
      <p:sp>
        <p:nvSpPr>
          <p:cNvPr id="22" name="TextBox 21"/>
          <p:cNvSpPr txBox="1"/>
          <p:nvPr/>
        </p:nvSpPr>
        <p:spPr>
          <a:xfrm>
            <a:off x="3763886" y="3371812"/>
            <a:ext cx="650866" cy="369332"/>
          </a:xfrm>
          <a:prstGeom prst="rect">
            <a:avLst/>
          </a:prstGeom>
          <a:noFill/>
        </p:spPr>
        <p:txBody>
          <a:bodyPr wrap="square" rtlCol="0">
            <a:spAutoFit/>
          </a:bodyPr>
          <a:lstStyle/>
          <a:p>
            <a:r>
              <a:rPr lang="en-GB" dirty="0"/>
              <a:t>8</a:t>
            </a:r>
          </a:p>
        </p:txBody>
      </p:sp>
      <p:sp>
        <p:nvSpPr>
          <p:cNvPr id="23" name="Content Placeholder 2"/>
          <p:cNvSpPr txBox="1">
            <a:spLocks/>
          </p:cNvSpPr>
          <p:nvPr/>
        </p:nvSpPr>
        <p:spPr>
          <a:xfrm>
            <a:off x="358541" y="3984812"/>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And let’s pick a random four bits:</a:t>
            </a:r>
          </a:p>
        </p:txBody>
      </p:sp>
      <p:sp>
        <p:nvSpPr>
          <p:cNvPr id="24" name="Content Placeholder 2"/>
          <p:cNvSpPr txBox="1">
            <a:spLocks/>
          </p:cNvSpPr>
          <p:nvPr/>
        </p:nvSpPr>
        <p:spPr>
          <a:xfrm>
            <a:off x="3731352" y="4096753"/>
            <a:ext cx="516841" cy="5551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25" name="Content Placeholder 2"/>
          <p:cNvSpPr txBox="1">
            <a:spLocks/>
          </p:cNvSpPr>
          <p:nvPr/>
        </p:nvSpPr>
        <p:spPr>
          <a:xfrm>
            <a:off x="4774569" y="4074707"/>
            <a:ext cx="516841" cy="5551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26" name="Content Placeholder 2"/>
          <p:cNvSpPr txBox="1">
            <a:spLocks/>
          </p:cNvSpPr>
          <p:nvPr/>
        </p:nvSpPr>
        <p:spPr>
          <a:xfrm>
            <a:off x="5909540" y="4074707"/>
            <a:ext cx="516841" cy="5551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27" name="Content Placeholder 2"/>
          <p:cNvSpPr txBox="1">
            <a:spLocks/>
          </p:cNvSpPr>
          <p:nvPr/>
        </p:nvSpPr>
        <p:spPr>
          <a:xfrm>
            <a:off x="7214237" y="4074707"/>
            <a:ext cx="516841" cy="5551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18" name="Oval 17"/>
          <p:cNvSpPr/>
          <p:nvPr/>
        </p:nvSpPr>
        <p:spPr>
          <a:xfrm>
            <a:off x="3471081" y="3298103"/>
            <a:ext cx="840589" cy="153583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Content Placeholder 2"/>
          <p:cNvSpPr txBox="1">
            <a:spLocks/>
          </p:cNvSpPr>
          <p:nvPr/>
        </p:nvSpPr>
        <p:spPr>
          <a:xfrm>
            <a:off x="209966" y="5520227"/>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So our ‘8’ bulb is switched on:</a:t>
            </a:r>
          </a:p>
        </p:txBody>
      </p:sp>
      <p:sp>
        <p:nvSpPr>
          <p:cNvPr id="29" name="Content Placeholder 2"/>
          <p:cNvSpPr txBox="1">
            <a:spLocks/>
          </p:cNvSpPr>
          <p:nvPr/>
        </p:nvSpPr>
        <p:spPr>
          <a:xfrm>
            <a:off x="3708066" y="5108765"/>
            <a:ext cx="383334"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8</a:t>
            </a:r>
          </a:p>
        </p:txBody>
      </p:sp>
      <p:sp>
        <p:nvSpPr>
          <p:cNvPr id="30" name="Oval 29"/>
          <p:cNvSpPr/>
          <p:nvPr/>
        </p:nvSpPr>
        <p:spPr>
          <a:xfrm>
            <a:off x="4494968" y="3287900"/>
            <a:ext cx="840589" cy="153583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Content Placeholder 2"/>
          <p:cNvSpPr txBox="1">
            <a:spLocks/>
          </p:cNvSpPr>
          <p:nvPr/>
        </p:nvSpPr>
        <p:spPr>
          <a:xfrm>
            <a:off x="2973035" y="5753792"/>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As is our 4 bulb</a:t>
            </a:r>
          </a:p>
        </p:txBody>
      </p:sp>
      <p:sp>
        <p:nvSpPr>
          <p:cNvPr id="32" name="Content Placeholder 2"/>
          <p:cNvSpPr txBox="1">
            <a:spLocks/>
          </p:cNvSpPr>
          <p:nvPr/>
        </p:nvSpPr>
        <p:spPr>
          <a:xfrm>
            <a:off x="4741811" y="5106365"/>
            <a:ext cx="383334"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4</a:t>
            </a:r>
          </a:p>
        </p:txBody>
      </p:sp>
      <p:sp>
        <p:nvSpPr>
          <p:cNvPr id="33" name="Content Placeholder 2"/>
          <p:cNvSpPr txBox="1">
            <a:spLocks/>
          </p:cNvSpPr>
          <p:nvPr/>
        </p:nvSpPr>
        <p:spPr>
          <a:xfrm>
            <a:off x="5496473" y="6337434"/>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Our 2 is switched off</a:t>
            </a:r>
          </a:p>
        </p:txBody>
      </p:sp>
      <p:sp>
        <p:nvSpPr>
          <p:cNvPr id="34" name="Oval 33"/>
          <p:cNvSpPr/>
          <p:nvPr/>
        </p:nvSpPr>
        <p:spPr>
          <a:xfrm>
            <a:off x="5703118" y="3263277"/>
            <a:ext cx="840589" cy="153583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Content Placeholder 2"/>
          <p:cNvSpPr txBox="1">
            <a:spLocks/>
          </p:cNvSpPr>
          <p:nvPr/>
        </p:nvSpPr>
        <p:spPr>
          <a:xfrm>
            <a:off x="5903572" y="5099499"/>
            <a:ext cx="383334"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0</a:t>
            </a:r>
          </a:p>
        </p:txBody>
      </p:sp>
      <p:sp>
        <p:nvSpPr>
          <p:cNvPr id="36" name="Oval 35"/>
          <p:cNvSpPr/>
          <p:nvPr/>
        </p:nvSpPr>
        <p:spPr>
          <a:xfrm>
            <a:off x="7026884" y="3275316"/>
            <a:ext cx="840589" cy="153583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ontent Placeholder 2"/>
          <p:cNvSpPr txBox="1">
            <a:spLocks/>
          </p:cNvSpPr>
          <p:nvPr/>
        </p:nvSpPr>
        <p:spPr>
          <a:xfrm>
            <a:off x="8777512" y="5584908"/>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Our ‘1’ switch is also on</a:t>
            </a:r>
          </a:p>
        </p:txBody>
      </p:sp>
      <p:sp>
        <p:nvSpPr>
          <p:cNvPr id="38" name="Content Placeholder 2"/>
          <p:cNvSpPr txBox="1">
            <a:spLocks/>
          </p:cNvSpPr>
          <p:nvPr/>
        </p:nvSpPr>
        <p:spPr>
          <a:xfrm>
            <a:off x="7280990" y="5110731"/>
            <a:ext cx="383334"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1</a:t>
            </a:r>
          </a:p>
        </p:txBody>
      </p:sp>
      <p:sp>
        <p:nvSpPr>
          <p:cNvPr id="39" name="Content Placeholder 2"/>
          <p:cNvSpPr txBox="1">
            <a:spLocks/>
          </p:cNvSpPr>
          <p:nvPr/>
        </p:nvSpPr>
        <p:spPr>
          <a:xfrm>
            <a:off x="8520639" y="2121100"/>
            <a:ext cx="3281039" cy="95068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Much like our denary, we now need to add these up:</a:t>
            </a:r>
          </a:p>
        </p:txBody>
      </p:sp>
      <p:sp>
        <p:nvSpPr>
          <p:cNvPr id="40" name="Content Placeholder 2"/>
          <p:cNvSpPr txBox="1">
            <a:spLocks/>
          </p:cNvSpPr>
          <p:nvPr/>
        </p:nvSpPr>
        <p:spPr>
          <a:xfrm>
            <a:off x="4234921" y="5094848"/>
            <a:ext cx="383334"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t>
            </a:r>
          </a:p>
        </p:txBody>
      </p:sp>
      <p:sp>
        <p:nvSpPr>
          <p:cNvPr id="41" name="Content Placeholder 2"/>
          <p:cNvSpPr txBox="1">
            <a:spLocks/>
          </p:cNvSpPr>
          <p:nvPr/>
        </p:nvSpPr>
        <p:spPr>
          <a:xfrm>
            <a:off x="5310139" y="5094848"/>
            <a:ext cx="383334"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t>
            </a:r>
          </a:p>
        </p:txBody>
      </p:sp>
      <p:sp>
        <p:nvSpPr>
          <p:cNvPr id="42" name="Content Placeholder 2"/>
          <p:cNvSpPr txBox="1">
            <a:spLocks/>
          </p:cNvSpPr>
          <p:nvPr/>
        </p:nvSpPr>
        <p:spPr>
          <a:xfrm>
            <a:off x="6535041" y="5096539"/>
            <a:ext cx="383334"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a:t>
            </a:r>
          </a:p>
        </p:txBody>
      </p:sp>
      <p:sp>
        <p:nvSpPr>
          <p:cNvPr id="43" name="Content Placeholder 2"/>
          <p:cNvSpPr txBox="1">
            <a:spLocks/>
          </p:cNvSpPr>
          <p:nvPr/>
        </p:nvSpPr>
        <p:spPr>
          <a:xfrm>
            <a:off x="7959235" y="5144756"/>
            <a:ext cx="897885" cy="6835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=13</a:t>
            </a:r>
          </a:p>
        </p:txBody>
      </p:sp>
      <p:sp>
        <p:nvSpPr>
          <p:cNvPr id="44" name="Content Placeholder 2"/>
          <p:cNvSpPr txBox="1">
            <a:spLocks/>
          </p:cNvSpPr>
          <p:nvPr/>
        </p:nvSpPr>
        <p:spPr>
          <a:xfrm>
            <a:off x="8875080" y="3655741"/>
            <a:ext cx="3281039" cy="9506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So our binary value is 13</a:t>
            </a:r>
          </a:p>
        </p:txBody>
      </p:sp>
    </p:spTree>
    <p:extLst>
      <p:ext uri="{BB962C8B-B14F-4D97-AF65-F5344CB8AC3E}">
        <p14:creationId xmlns:p14="http://schemas.microsoft.com/office/powerpoint/2010/main" val="304208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left)">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par>
                          <p:cTn id="49" fill="hold">
                            <p:stCondLst>
                              <p:cond delay="500"/>
                            </p:stCondLst>
                            <p:childTnLst>
                              <p:par>
                                <p:cTn id="50" presetID="10"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par>
                          <p:cTn id="53" fill="hold">
                            <p:stCondLst>
                              <p:cond delay="1000"/>
                            </p:stCondLst>
                            <p:childTnLst>
                              <p:par>
                                <p:cTn id="54" presetID="10" presetClass="entr" presetSubtype="0" fill="hold" grpId="0" nodeType="after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500"/>
                                        <p:tgtEl>
                                          <p:spTgt spid="22"/>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3">
                                            <p:txEl>
                                              <p:pRg st="0" end="0"/>
                                            </p:txEl>
                                          </p:spTgt>
                                        </p:tgtEl>
                                        <p:attrNameLst>
                                          <p:attrName>style.visibility</p:attrName>
                                        </p:attrNameLst>
                                      </p:cBhvr>
                                      <p:to>
                                        <p:strVal val="visible"/>
                                      </p:to>
                                    </p:set>
                                    <p:animEffect transition="in" filter="fade">
                                      <p:cBhvr>
                                        <p:cTn id="85" dur="500"/>
                                        <p:tgtEl>
                                          <p:spTgt spid="23">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4">
                                            <p:txEl>
                                              <p:pRg st="0" end="0"/>
                                            </p:txEl>
                                          </p:spTgt>
                                        </p:tgtEl>
                                        <p:attrNameLst>
                                          <p:attrName>style.visibility</p:attrName>
                                        </p:attrNameLst>
                                      </p:cBhvr>
                                      <p:to>
                                        <p:strVal val="visible"/>
                                      </p:to>
                                    </p:set>
                                    <p:animEffect transition="in" filter="fade">
                                      <p:cBhvr>
                                        <p:cTn id="90" dur="500"/>
                                        <p:tgtEl>
                                          <p:spTgt spid="24">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25">
                                            <p:txEl>
                                              <p:pRg st="0" end="0"/>
                                            </p:txEl>
                                          </p:spTgt>
                                        </p:tgtEl>
                                        <p:attrNameLst>
                                          <p:attrName>style.visibility</p:attrName>
                                        </p:attrNameLst>
                                      </p:cBhvr>
                                      <p:to>
                                        <p:strVal val="visible"/>
                                      </p:to>
                                    </p:set>
                                    <p:animEffect transition="in" filter="fade">
                                      <p:cBhvr>
                                        <p:cTn id="95" dur="500"/>
                                        <p:tgtEl>
                                          <p:spTgt spid="25">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26">
                                            <p:txEl>
                                              <p:pRg st="0" end="0"/>
                                            </p:txEl>
                                          </p:spTgt>
                                        </p:tgtEl>
                                        <p:attrNameLst>
                                          <p:attrName>style.visibility</p:attrName>
                                        </p:attrNameLst>
                                      </p:cBhvr>
                                      <p:to>
                                        <p:strVal val="visible"/>
                                      </p:to>
                                    </p:set>
                                    <p:animEffect transition="in" filter="fade">
                                      <p:cBhvr>
                                        <p:cTn id="100" dur="500"/>
                                        <p:tgtEl>
                                          <p:spTgt spid="26">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27">
                                            <p:txEl>
                                              <p:pRg st="0" end="0"/>
                                            </p:txEl>
                                          </p:spTgt>
                                        </p:tgtEl>
                                        <p:attrNameLst>
                                          <p:attrName>style.visibility</p:attrName>
                                        </p:attrNameLst>
                                      </p:cBhvr>
                                      <p:to>
                                        <p:strVal val="visible"/>
                                      </p:to>
                                    </p:set>
                                    <p:animEffect transition="in" filter="fade">
                                      <p:cBhvr>
                                        <p:cTn id="105" dur="500"/>
                                        <p:tgtEl>
                                          <p:spTgt spid="27">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18"/>
                                        </p:tgtEl>
                                        <p:attrNameLst>
                                          <p:attrName>style.visibility</p:attrName>
                                        </p:attrNameLst>
                                      </p:cBhvr>
                                      <p:to>
                                        <p:strVal val="visible"/>
                                      </p:to>
                                    </p:set>
                                    <p:animEffect transition="in" filter="fade">
                                      <p:cBhvr>
                                        <p:cTn id="110" dur="500"/>
                                        <p:tgtEl>
                                          <p:spTgt spid="18"/>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28">
                                            <p:txEl>
                                              <p:pRg st="0" end="0"/>
                                            </p:txEl>
                                          </p:spTgt>
                                        </p:tgtEl>
                                        <p:attrNameLst>
                                          <p:attrName>style.visibility</p:attrName>
                                        </p:attrNameLst>
                                      </p:cBhvr>
                                      <p:to>
                                        <p:strVal val="visible"/>
                                      </p:to>
                                    </p:set>
                                    <p:animEffect transition="in" filter="fade">
                                      <p:cBhvr>
                                        <p:cTn id="115" dur="500"/>
                                        <p:tgtEl>
                                          <p:spTgt spid="28">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29">
                                            <p:txEl>
                                              <p:pRg st="0" end="0"/>
                                            </p:txEl>
                                          </p:spTgt>
                                        </p:tgtEl>
                                        <p:attrNameLst>
                                          <p:attrName>style.visibility</p:attrName>
                                        </p:attrNameLst>
                                      </p:cBhvr>
                                      <p:to>
                                        <p:strVal val="visible"/>
                                      </p:to>
                                    </p:set>
                                    <p:animEffect transition="in" filter="fade">
                                      <p:cBhvr>
                                        <p:cTn id="120" dur="500"/>
                                        <p:tgtEl>
                                          <p:spTgt spid="29">
                                            <p:txEl>
                                              <p:pRg st="0" end="0"/>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30"/>
                                        </p:tgtEl>
                                        <p:attrNameLst>
                                          <p:attrName>style.visibility</p:attrName>
                                        </p:attrNameLst>
                                      </p:cBhvr>
                                      <p:to>
                                        <p:strVal val="visible"/>
                                      </p:to>
                                    </p:set>
                                    <p:animEffect transition="in" filter="fade">
                                      <p:cBhvr>
                                        <p:cTn id="125" dur="500"/>
                                        <p:tgtEl>
                                          <p:spTgt spid="30"/>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31">
                                            <p:txEl>
                                              <p:pRg st="0" end="0"/>
                                            </p:txEl>
                                          </p:spTgt>
                                        </p:tgtEl>
                                        <p:attrNameLst>
                                          <p:attrName>style.visibility</p:attrName>
                                        </p:attrNameLst>
                                      </p:cBhvr>
                                      <p:to>
                                        <p:strVal val="visible"/>
                                      </p:to>
                                    </p:set>
                                    <p:animEffect transition="in" filter="fade">
                                      <p:cBhvr>
                                        <p:cTn id="130" dur="500"/>
                                        <p:tgtEl>
                                          <p:spTgt spid="31">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32">
                                            <p:txEl>
                                              <p:pRg st="0" end="0"/>
                                            </p:txEl>
                                          </p:spTgt>
                                        </p:tgtEl>
                                        <p:attrNameLst>
                                          <p:attrName>style.visibility</p:attrName>
                                        </p:attrNameLst>
                                      </p:cBhvr>
                                      <p:to>
                                        <p:strVal val="visible"/>
                                      </p:to>
                                    </p:set>
                                    <p:animEffect transition="in" filter="fade">
                                      <p:cBhvr>
                                        <p:cTn id="135" dur="500"/>
                                        <p:tgtEl>
                                          <p:spTgt spid="32">
                                            <p:txEl>
                                              <p:pRg st="0" end="0"/>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4"/>
                                        </p:tgtEl>
                                        <p:attrNameLst>
                                          <p:attrName>style.visibility</p:attrName>
                                        </p:attrNameLst>
                                      </p:cBhvr>
                                      <p:to>
                                        <p:strVal val="visible"/>
                                      </p:to>
                                    </p:set>
                                    <p:animEffect transition="in" filter="fade">
                                      <p:cBhvr>
                                        <p:cTn id="140" dur="500"/>
                                        <p:tgtEl>
                                          <p:spTgt spid="34"/>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33">
                                            <p:txEl>
                                              <p:pRg st="0" end="0"/>
                                            </p:txEl>
                                          </p:spTgt>
                                        </p:tgtEl>
                                        <p:attrNameLst>
                                          <p:attrName>style.visibility</p:attrName>
                                        </p:attrNameLst>
                                      </p:cBhvr>
                                      <p:to>
                                        <p:strVal val="visible"/>
                                      </p:to>
                                    </p:set>
                                    <p:animEffect transition="in" filter="fade">
                                      <p:cBhvr>
                                        <p:cTn id="145" dur="500"/>
                                        <p:tgtEl>
                                          <p:spTgt spid="33">
                                            <p:txEl>
                                              <p:pRg st="0" end="0"/>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35">
                                            <p:txEl>
                                              <p:pRg st="0" end="0"/>
                                            </p:txEl>
                                          </p:spTgt>
                                        </p:tgtEl>
                                        <p:attrNameLst>
                                          <p:attrName>style.visibility</p:attrName>
                                        </p:attrNameLst>
                                      </p:cBhvr>
                                      <p:to>
                                        <p:strVal val="visible"/>
                                      </p:to>
                                    </p:set>
                                    <p:animEffect transition="in" filter="fade">
                                      <p:cBhvr>
                                        <p:cTn id="150" dur="500"/>
                                        <p:tgtEl>
                                          <p:spTgt spid="35">
                                            <p:txEl>
                                              <p:pRg st="0" end="0"/>
                                            </p:txEl>
                                          </p:spTgt>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fade">
                                      <p:cBhvr>
                                        <p:cTn id="155" dur="500"/>
                                        <p:tgtEl>
                                          <p:spTgt spid="36"/>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37">
                                            <p:txEl>
                                              <p:pRg st="0" end="0"/>
                                            </p:txEl>
                                          </p:spTgt>
                                        </p:tgtEl>
                                        <p:attrNameLst>
                                          <p:attrName>style.visibility</p:attrName>
                                        </p:attrNameLst>
                                      </p:cBhvr>
                                      <p:to>
                                        <p:strVal val="visible"/>
                                      </p:to>
                                    </p:set>
                                    <p:animEffect transition="in" filter="fade">
                                      <p:cBhvr>
                                        <p:cTn id="160" dur="500"/>
                                        <p:tgtEl>
                                          <p:spTgt spid="37">
                                            <p:txEl>
                                              <p:pRg st="0" end="0"/>
                                            </p:txEl>
                                          </p:spTgt>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38">
                                            <p:txEl>
                                              <p:pRg st="0" end="0"/>
                                            </p:txEl>
                                          </p:spTgt>
                                        </p:tgtEl>
                                        <p:attrNameLst>
                                          <p:attrName>style.visibility</p:attrName>
                                        </p:attrNameLst>
                                      </p:cBhvr>
                                      <p:to>
                                        <p:strVal val="visible"/>
                                      </p:to>
                                    </p:set>
                                    <p:animEffect transition="in" filter="fade">
                                      <p:cBhvr>
                                        <p:cTn id="165" dur="500"/>
                                        <p:tgtEl>
                                          <p:spTgt spid="38">
                                            <p:txEl>
                                              <p:pRg st="0" end="0"/>
                                            </p:txEl>
                                          </p:spTgt>
                                        </p:tgtEl>
                                      </p:cBhvr>
                                    </p:animEffect>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grpId="0" nodeType="clickEffect">
                                  <p:stCondLst>
                                    <p:cond delay="0"/>
                                  </p:stCondLst>
                                  <p:childTnLst>
                                    <p:set>
                                      <p:cBhvr>
                                        <p:cTn id="169" dur="1" fill="hold">
                                          <p:stCondLst>
                                            <p:cond delay="0"/>
                                          </p:stCondLst>
                                        </p:cTn>
                                        <p:tgtEl>
                                          <p:spTgt spid="39">
                                            <p:txEl>
                                              <p:pRg st="0" end="0"/>
                                            </p:txEl>
                                          </p:spTgt>
                                        </p:tgtEl>
                                        <p:attrNameLst>
                                          <p:attrName>style.visibility</p:attrName>
                                        </p:attrNameLst>
                                      </p:cBhvr>
                                      <p:to>
                                        <p:strVal val="visible"/>
                                      </p:to>
                                    </p:set>
                                    <p:animEffect transition="in" filter="fade">
                                      <p:cBhvr>
                                        <p:cTn id="170" dur="500"/>
                                        <p:tgtEl>
                                          <p:spTgt spid="39">
                                            <p:txEl>
                                              <p:pRg st="0" end="0"/>
                                            </p:txEl>
                                          </p:spTgt>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40">
                                            <p:txEl>
                                              <p:pRg st="0" end="0"/>
                                            </p:txEl>
                                          </p:spTgt>
                                        </p:tgtEl>
                                        <p:attrNameLst>
                                          <p:attrName>style.visibility</p:attrName>
                                        </p:attrNameLst>
                                      </p:cBhvr>
                                      <p:to>
                                        <p:strVal val="visible"/>
                                      </p:to>
                                    </p:set>
                                    <p:animEffect transition="in" filter="fade">
                                      <p:cBhvr>
                                        <p:cTn id="173" dur="500"/>
                                        <p:tgtEl>
                                          <p:spTgt spid="40">
                                            <p:txEl>
                                              <p:pRg st="0" end="0"/>
                                            </p:txEl>
                                          </p:spTgt>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41">
                                            <p:txEl>
                                              <p:pRg st="0" end="0"/>
                                            </p:txEl>
                                          </p:spTgt>
                                        </p:tgtEl>
                                        <p:attrNameLst>
                                          <p:attrName>style.visibility</p:attrName>
                                        </p:attrNameLst>
                                      </p:cBhvr>
                                      <p:to>
                                        <p:strVal val="visible"/>
                                      </p:to>
                                    </p:set>
                                    <p:animEffect transition="in" filter="fade">
                                      <p:cBhvr>
                                        <p:cTn id="176" dur="500"/>
                                        <p:tgtEl>
                                          <p:spTgt spid="41">
                                            <p:txEl>
                                              <p:pRg st="0" end="0"/>
                                            </p:txEl>
                                          </p:spTgt>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42">
                                            <p:txEl>
                                              <p:pRg st="0" end="0"/>
                                            </p:txEl>
                                          </p:spTgt>
                                        </p:tgtEl>
                                        <p:attrNameLst>
                                          <p:attrName>style.visibility</p:attrName>
                                        </p:attrNameLst>
                                      </p:cBhvr>
                                      <p:to>
                                        <p:strVal val="visible"/>
                                      </p:to>
                                    </p:set>
                                    <p:animEffect transition="in" filter="fade">
                                      <p:cBhvr>
                                        <p:cTn id="179" dur="500"/>
                                        <p:tgtEl>
                                          <p:spTgt spid="42">
                                            <p:txEl>
                                              <p:pRg st="0" end="0"/>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10" presetClass="entr" presetSubtype="0" fill="hold" grpId="0" nodeType="clickEffect">
                                  <p:stCondLst>
                                    <p:cond delay="0"/>
                                  </p:stCondLst>
                                  <p:childTnLst>
                                    <p:set>
                                      <p:cBhvr>
                                        <p:cTn id="183" dur="1" fill="hold">
                                          <p:stCondLst>
                                            <p:cond delay="0"/>
                                          </p:stCondLst>
                                        </p:cTn>
                                        <p:tgtEl>
                                          <p:spTgt spid="43">
                                            <p:txEl>
                                              <p:pRg st="0" end="0"/>
                                            </p:txEl>
                                          </p:spTgt>
                                        </p:tgtEl>
                                        <p:attrNameLst>
                                          <p:attrName>style.visibility</p:attrName>
                                        </p:attrNameLst>
                                      </p:cBhvr>
                                      <p:to>
                                        <p:strVal val="visible"/>
                                      </p:to>
                                    </p:set>
                                    <p:animEffect transition="in" filter="fade">
                                      <p:cBhvr>
                                        <p:cTn id="184" dur="500"/>
                                        <p:tgtEl>
                                          <p:spTgt spid="43">
                                            <p:txEl>
                                              <p:pRg st="0" end="0"/>
                                            </p:txEl>
                                          </p:spTgt>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ntr" presetSubtype="0" fill="hold" grpId="0" nodeType="clickEffect">
                                  <p:stCondLst>
                                    <p:cond delay="0"/>
                                  </p:stCondLst>
                                  <p:childTnLst>
                                    <p:set>
                                      <p:cBhvr>
                                        <p:cTn id="188" dur="1" fill="hold">
                                          <p:stCondLst>
                                            <p:cond delay="0"/>
                                          </p:stCondLst>
                                        </p:cTn>
                                        <p:tgtEl>
                                          <p:spTgt spid="44">
                                            <p:txEl>
                                              <p:pRg st="0" end="0"/>
                                            </p:txEl>
                                          </p:spTgt>
                                        </p:tgtEl>
                                        <p:attrNameLst>
                                          <p:attrName>style.visibility</p:attrName>
                                        </p:attrNameLst>
                                      </p:cBhvr>
                                      <p:to>
                                        <p:strVal val="visible"/>
                                      </p:to>
                                    </p:set>
                                    <p:animEffect transition="in" filter="fade">
                                      <p:cBhvr>
                                        <p:cTn id="189"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P spid="15" grpId="0"/>
      <p:bldP spid="16" grpId="0"/>
      <p:bldP spid="20" grpId="0"/>
      <p:bldP spid="21" grpId="0"/>
      <p:bldP spid="22" grpId="0"/>
      <p:bldP spid="23" grpId="0" build="p"/>
      <p:bldP spid="24" grpId="0" build="p"/>
      <p:bldP spid="25" grpId="0" build="p"/>
      <p:bldP spid="26" grpId="0" build="p"/>
      <p:bldP spid="27" grpId="0" build="p"/>
      <p:bldP spid="18" grpId="0" animBg="1"/>
      <p:bldP spid="28" grpId="0" build="p"/>
      <p:bldP spid="29" grpId="0" build="p"/>
      <p:bldP spid="30" grpId="0" animBg="1"/>
      <p:bldP spid="31" grpId="0" build="p"/>
      <p:bldP spid="32" grpId="0" build="p"/>
      <p:bldP spid="33" grpId="0" build="p"/>
      <p:bldP spid="34" grpId="0" animBg="1"/>
      <p:bldP spid="35" grpId="0" build="p"/>
      <p:bldP spid="36" grpId="0" animBg="1"/>
      <p:bldP spid="37" grpId="0" build="p"/>
      <p:bldP spid="38" grpId="0" build="p"/>
      <p:bldP spid="39" grpId="0" build="p"/>
      <p:bldP spid="40" grpId="0" build="p"/>
      <p:bldP spid="41" grpId="0" build="p"/>
      <p:bldP spid="42" grpId="0" build="p"/>
      <p:bldP spid="43" grpId="0" build="p"/>
      <p:bldP spid="4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We can make any integer using this system</a:t>
            </a:r>
          </a:p>
        </p:txBody>
      </p:sp>
      <p:sp>
        <p:nvSpPr>
          <p:cNvPr id="3" name="Content Placeholder 2"/>
          <p:cNvSpPr>
            <a:spLocks noGrp="1"/>
          </p:cNvSpPr>
          <p:nvPr>
            <p:ph idx="1"/>
          </p:nvPr>
        </p:nvSpPr>
        <p:spPr/>
        <p:txBody>
          <a:bodyPr/>
          <a:lstStyle/>
          <a:p>
            <a:r>
              <a:rPr lang="en-GB" dirty="0">
                <a:solidFill>
                  <a:schemeClr val="tx1"/>
                </a:solidFill>
              </a:rPr>
              <a:t>Have a go at converting these binary values to decimal:</a:t>
            </a:r>
          </a:p>
          <a:p>
            <a:endParaRPr lang="en-GB" dirty="0">
              <a:solidFill>
                <a:schemeClr val="tx1"/>
              </a:solidFill>
            </a:endParaRPr>
          </a:p>
          <a:p>
            <a:r>
              <a:rPr lang="en-GB" dirty="0">
                <a:solidFill>
                  <a:schemeClr val="tx1"/>
                </a:solidFill>
              </a:rPr>
              <a:t>A) 10010011</a:t>
            </a:r>
          </a:p>
          <a:p>
            <a:r>
              <a:rPr lang="en-GB" dirty="0">
                <a:solidFill>
                  <a:schemeClr val="tx1"/>
                </a:solidFill>
              </a:rPr>
              <a:t>B) 10101100</a:t>
            </a:r>
          </a:p>
          <a:p>
            <a:r>
              <a:rPr lang="en-GB" dirty="0">
                <a:solidFill>
                  <a:schemeClr val="tx1"/>
                </a:solidFill>
              </a:rPr>
              <a:t>C) 11011100</a:t>
            </a:r>
          </a:p>
          <a:p>
            <a:r>
              <a:rPr lang="en-GB" dirty="0">
                <a:solidFill>
                  <a:schemeClr val="tx1"/>
                </a:solidFill>
              </a:rPr>
              <a:t>D) 11011101</a:t>
            </a:r>
          </a:p>
          <a:p>
            <a:r>
              <a:rPr lang="en-GB" dirty="0">
                <a:solidFill>
                  <a:schemeClr val="tx1"/>
                </a:solidFill>
              </a:rPr>
              <a:t>E) 10010101 + 00101100</a:t>
            </a:r>
          </a:p>
        </p:txBody>
      </p:sp>
    </p:spTree>
    <p:extLst>
      <p:ext uri="{BB962C8B-B14F-4D97-AF65-F5344CB8AC3E}">
        <p14:creationId xmlns:p14="http://schemas.microsoft.com/office/powerpoint/2010/main" val="3108872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8577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25425"/>
            <a:ext cx="12192000" cy="1325563"/>
          </a:xfrm>
        </p:spPr>
        <p:txBody>
          <a:bodyPr/>
          <a:lstStyle/>
          <a:p>
            <a:r>
              <a:rPr lang="en-GB" dirty="0">
                <a:solidFill>
                  <a:schemeClr val="tx1"/>
                </a:solidFill>
              </a:rPr>
              <a:t>Can we convert a denary number to binary? </a:t>
            </a:r>
          </a:p>
        </p:txBody>
      </p:sp>
      <p:sp>
        <p:nvSpPr>
          <p:cNvPr id="3" name="Content Placeholder 2"/>
          <p:cNvSpPr>
            <a:spLocks noGrp="1"/>
          </p:cNvSpPr>
          <p:nvPr>
            <p:ph idx="1"/>
          </p:nvPr>
        </p:nvSpPr>
        <p:spPr>
          <a:xfrm>
            <a:off x="252275" y="1690688"/>
            <a:ext cx="8394576" cy="5167312"/>
          </a:xfrm>
        </p:spPr>
        <p:txBody>
          <a:bodyPr>
            <a:normAutofit fontScale="85000" lnSpcReduction="10000"/>
          </a:bodyPr>
          <a:lstStyle/>
          <a:p>
            <a:r>
              <a:rPr lang="en-GB" dirty="0">
                <a:solidFill>
                  <a:schemeClr val="tx1"/>
                </a:solidFill>
              </a:rPr>
              <a:t>Of course we can!</a:t>
            </a:r>
          </a:p>
          <a:p>
            <a:endParaRPr lang="en-GB" dirty="0">
              <a:solidFill>
                <a:schemeClr val="tx1"/>
              </a:solidFill>
            </a:endParaRPr>
          </a:p>
          <a:p>
            <a:r>
              <a:rPr lang="en-GB" dirty="0">
                <a:solidFill>
                  <a:schemeClr val="tx1"/>
                </a:solidFill>
              </a:rPr>
              <a:t>For example:</a:t>
            </a:r>
          </a:p>
          <a:p>
            <a:pPr marL="0" indent="0">
              <a:buNone/>
            </a:pPr>
            <a:r>
              <a:rPr lang="en-GB" dirty="0">
                <a:solidFill>
                  <a:schemeClr val="tx1"/>
                </a:solidFill>
              </a:rPr>
              <a:t>			</a:t>
            </a:r>
            <a:r>
              <a:rPr lang="en-GB" sz="4800" dirty="0">
                <a:solidFill>
                  <a:schemeClr val="tx1"/>
                </a:solidFill>
              </a:rPr>
              <a:t>56</a:t>
            </a:r>
          </a:p>
          <a:p>
            <a:r>
              <a:rPr lang="en-GB" dirty="0">
                <a:solidFill>
                  <a:schemeClr val="tx1"/>
                </a:solidFill>
              </a:rPr>
              <a:t>Let’s write our base 2 again</a:t>
            </a:r>
          </a:p>
          <a:p>
            <a:pPr marL="0" indent="0">
              <a:buNone/>
            </a:pPr>
            <a:r>
              <a:rPr lang="en-GB" dirty="0">
                <a:solidFill>
                  <a:schemeClr val="tx1"/>
                </a:solidFill>
              </a:rPr>
              <a:t>	2</a:t>
            </a:r>
            <a:r>
              <a:rPr lang="en-GB" baseline="30000" dirty="0">
                <a:solidFill>
                  <a:schemeClr val="tx1"/>
                </a:solidFill>
              </a:rPr>
              <a:t>6	</a:t>
            </a:r>
            <a:r>
              <a:rPr lang="en-GB" dirty="0">
                <a:solidFill>
                  <a:schemeClr val="tx1"/>
                </a:solidFill>
              </a:rPr>
              <a:t>2</a:t>
            </a:r>
            <a:r>
              <a:rPr lang="en-GB" baseline="30000" dirty="0">
                <a:solidFill>
                  <a:schemeClr val="tx1"/>
                </a:solidFill>
              </a:rPr>
              <a:t>5	</a:t>
            </a:r>
            <a:r>
              <a:rPr lang="en-GB" dirty="0">
                <a:solidFill>
                  <a:schemeClr val="tx1"/>
                </a:solidFill>
              </a:rPr>
              <a:t>2</a:t>
            </a:r>
            <a:r>
              <a:rPr lang="en-GB" baseline="30000" dirty="0">
                <a:solidFill>
                  <a:schemeClr val="tx1"/>
                </a:solidFill>
              </a:rPr>
              <a:t>4	</a:t>
            </a:r>
            <a:r>
              <a:rPr lang="en-GB" dirty="0">
                <a:solidFill>
                  <a:schemeClr val="tx1"/>
                </a:solidFill>
              </a:rPr>
              <a:t>2</a:t>
            </a:r>
            <a:r>
              <a:rPr lang="en-GB" baseline="30000" dirty="0">
                <a:solidFill>
                  <a:schemeClr val="tx1"/>
                </a:solidFill>
              </a:rPr>
              <a:t>3	</a:t>
            </a:r>
            <a:r>
              <a:rPr lang="en-GB" dirty="0">
                <a:solidFill>
                  <a:schemeClr val="tx1"/>
                </a:solidFill>
              </a:rPr>
              <a:t>2</a:t>
            </a:r>
            <a:r>
              <a:rPr lang="en-GB" baseline="30000" dirty="0">
                <a:solidFill>
                  <a:schemeClr val="tx1"/>
                </a:solidFill>
              </a:rPr>
              <a:t>2	</a:t>
            </a:r>
            <a:r>
              <a:rPr lang="en-GB" dirty="0">
                <a:solidFill>
                  <a:schemeClr val="tx1"/>
                </a:solidFill>
              </a:rPr>
              <a:t>2</a:t>
            </a:r>
            <a:r>
              <a:rPr lang="en-GB" baseline="30000" dirty="0">
                <a:solidFill>
                  <a:schemeClr val="tx1"/>
                </a:solidFill>
              </a:rPr>
              <a:t>1	</a:t>
            </a:r>
            <a:r>
              <a:rPr lang="en-GB" dirty="0">
                <a:solidFill>
                  <a:schemeClr val="tx1"/>
                </a:solidFill>
              </a:rPr>
              <a:t>2</a:t>
            </a:r>
            <a:r>
              <a:rPr lang="en-GB" baseline="30000" dirty="0">
                <a:solidFill>
                  <a:schemeClr val="tx1"/>
                </a:solidFill>
              </a:rPr>
              <a:t>0</a:t>
            </a:r>
          </a:p>
          <a:p>
            <a:pPr marL="0" indent="0">
              <a:buNone/>
            </a:pPr>
            <a:r>
              <a:rPr lang="en-GB" baseline="30000" dirty="0">
                <a:solidFill>
                  <a:schemeClr val="tx1"/>
                </a:solidFill>
              </a:rPr>
              <a:t>	64	32	16	8	4	2	1</a:t>
            </a:r>
            <a:endParaRPr lang="en-GB" dirty="0">
              <a:solidFill>
                <a:schemeClr val="tx1"/>
              </a:solidFill>
            </a:endParaRPr>
          </a:p>
          <a:p>
            <a:pPr marL="0" indent="0">
              <a:buNone/>
            </a:pPr>
            <a:endParaRPr lang="en-GB" sz="2000" dirty="0">
              <a:solidFill>
                <a:schemeClr val="tx1"/>
              </a:solidFill>
            </a:endParaRPr>
          </a:p>
          <a:p>
            <a:pPr marL="0" indent="0">
              <a:buNone/>
            </a:pPr>
            <a:endParaRPr lang="en-GB" sz="2000" dirty="0">
              <a:solidFill>
                <a:schemeClr val="tx1"/>
              </a:solidFill>
            </a:endParaRPr>
          </a:p>
          <a:p>
            <a:pPr marL="0" indent="0">
              <a:buNone/>
            </a:pPr>
            <a:endParaRPr lang="en-GB" sz="2000" dirty="0">
              <a:solidFill>
                <a:schemeClr val="tx1"/>
              </a:solidFill>
            </a:endParaRPr>
          </a:p>
          <a:p>
            <a:pPr marL="0" indent="0">
              <a:buNone/>
            </a:pPr>
            <a:r>
              <a:rPr lang="en-GB" sz="2000" dirty="0">
                <a:solidFill>
                  <a:schemeClr val="tx1"/>
                </a:solidFill>
              </a:rPr>
              <a:t>You need to see if we can take away the far left bit without going to below 0</a:t>
            </a:r>
          </a:p>
          <a:p>
            <a:pPr marL="0" indent="0">
              <a:buNone/>
            </a:pPr>
            <a:r>
              <a:rPr lang="en-GB" sz="2000" dirty="0">
                <a:solidFill>
                  <a:schemeClr val="tx1"/>
                </a:solidFill>
              </a:rPr>
              <a:t>	If so, take away this from your number and write ‘1’. If not, set to ‘0’</a:t>
            </a:r>
          </a:p>
          <a:p>
            <a:pPr marL="0" indent="0">
              <a:buNone/>
            </a:pPr>
            <a:r>
              <a:rPr lang="en-GB" sz="2000" dirty="0">
                <a:solidFill>
                  <a:schemeClr val="tx1"/>
                </a:solidFill>
              </a:rPr>
              <a:t>	Continue with this values and see if we can use the next base value.</a:t>
            </a:r>
          </a:p>
        </p:txBody>
      </p:sp>
      <p:sp>
        <p:nvSpPr>
          <p:cNvPr id="4" name="TextBox 3"/>
          <p:cNvSpPr txBox="1"/>
          <p:nvPr/>
        </p:nvSpPr>
        <p:spPr>
          <a:xfrm>
            <a:off x="8789773" y="1090463"/>
            <a:ext cx="3064476" cy="923330"/>
          </a:xfrm>
          <a:prstGeom prst="rect">
            <a:avLst/>
          </a:prstGeom>
          <a:noFill/>
        </p:spPr>
        <p:txBody>
          <a:bodyPr wrap="square" rtlCol="0">
            <a:spAutoFit/>
          </a:bodyPr>
          <a:lstStyle/>
          <a:p>
            <a:r>
              <a:rPr lang="en-GB" dirty="0"/>
              <a:t>So, </a:t>
            </a:r>
          </a:p>
          <a:p>
            <a:r>
              <a:rPr lang="en-GB" dirty="0"/>
              <a:t>64 cannot be taken away from 56</a:t>
            </a:r>
          </a:p>
        </p:txBody>
      </p:sp>
      <p:sp>
        <p:nvSpPr>
          <p:cNvPr id="5" name="TextBox 4"/>
          <p:cNvSpPr txBox="1"/>
          <p:nvPr/>
        </p:nvSpPr>
        <p:spPr>
          <a:xfrm>
            <a:off x="1243913" y="5288692"/>
            <a:ext cx="387179" cy="369332"/>
          </a:xfrm>
          <a:prstGeom prst="rect">
            <a:avLst/>
          </a:prstGeom>
          <a:noFill/>
        </p:spPr>
        <p:txBody>
          <a:bodyPr wrap="square" rtlCol="0">
            <a:spAutoFit/>
          </a:bodyPr>
          <a:lstStyle/>
          <a:p>
            <a:r>
              <a:rPr lang="en-GB" b="1" dirty="0">
                <a:solidFill>
                  <a:srgbClr val="FF0000"/>
                </a:solidFill>
              </a:rPr>
              <a:t>0</a:t>
            </a:r>
          </a:p>
        </p:txBody>
      </p:sp>
      <p:sp>
        <p:nvSpPr>
          <p:cNvPr id="6" name="TextBox 5"/>
          <p:cNvSpPr txBox="1"/>
          <p:nvPr/>
        </p:nvSpPr>
        <p:spPr>
          <a:xfrm>
            <a:off x="8789773" y="2239274"/>
            <a:ext cx="3064476" cy="369332"/>
          </a:xfrm>
          <a:prstGeom prst="rect">
            <a:avLst/>
          </a:prstGeom>
          <a:noFill/>
        </p:spPr>
        <p:txBody>
          <a:bodyPr wrap="square" rtlCol="0">
            <a:spAutoFit/>
          </a:bodyPr>
          <a:lstStyle/>
          <a:p>
            <a:r>
              <a:rPr lang="en-GB" dirty="0"/>
              <a:t>32 can be</a:t>
            </a:r>
          </a:p>
        </p:txBody>
      </p:sp>
      <p:sp>
        <p:nvSpPr>
          <p:cNvPr id="7" name="TextBox 6"/>
          <p:cNvSpPr txBox="1"/>
          <p:nvPr/>
        </p:nvSpPr>
        <p:spPr>
          <a:xfrm>
            <a:off x="2162432" y="5226908"/>
            <a:ext cx="387179" cy="369332"/>
          </a:xfrm>
          <a:prstGeom prst="rect">
            <a:avLst/>
          </a:prstGeom>
          <a:noFill/>
        </p:spPr>
        <p:txBody>
          <a:bodyPr wrap="square" rtlCol="0">
            <a:spAutoFit/>
          </a:bodyPr>
          <a:lstStyle/>
          <a:p>
            <a:r>
              <a:rPr lang="en-GB" b="1" dirty="0">
                <a:solidFill>
                  <a:srgbClr val="FF0000"/>
                </a:solidFill>
              </a:rPr>
              <a:t>1</a:t>
            </a:r>
          </a:p>
        </p:txBody>
      </p:sp>
      <p:sp>
        <p:nvSpPr>
          <p:cNvPr id="8" name="TextBox 7"/>
          <p:cNvSpPr txBox="1"/>
          <p:nvPr/>
        </p:nvSpPr>
        <p:spPr>
          <a:xfrm>
            <a:off x="8789773" y="2510983"/>
            <a:ext cx="3064476" cy="1477328"/>
          </a:xfrm>
          <a:prstGeom prst="rect">
            <a:avLst/>
          </a:prstGeom>
          <a:noFill/>
        </p:spPr>
        <p:txBody>
          <a:bodyPr wrap="square" rtlCol="0">
            <a:spAutoFit/>
          </a:bodyPr>
          <a:lstStyle/>
          <a:p>
            <a:r>
              <a:rPr lang="en-GB" dirty="0"/>
              <a:t>56 – 32 = </a:t>
            </a:r>
          </a:p>
          <a:p>
            <a:r>
              <a:rPr lang="en-GB" dirty="0"/>
              <a:t>24</a:t>
            </a:r>
          </a:p>
          <a:p>
            <a:r>
              <a:rPr lang="en-GB" dirty="0"/>
              <a:t>So we now need to see how we can make the 24 using the remaining place values</a:t>
            </a:r>
          </a:p>
        </p:txBody>
      </p:sp>
      <p:sp>
        <p:nvSpPr>
          <p:cNvPr id="9" name="TextBox 8"/>
          <p:cNvSpPr txBox="1"/>
          <p:nvPr/>
        </p:nvSpPr>
        <p:spPr>
          <a:xfrm>
            <a:off x="8789773" y="3988311"/>
            <a:ext cx="3064476" cy="369332"/>
          </a:xfrm>
          <a:prstGeom prst="rect">
            <a:avLst/>
          </a:prstGeom>
          <a:noFill/>
        </p:spPr>
        <p:txBody>
          <a:bodyPr wrap="square" rtlCol="0">
            <a:spAutoFit/>
          </a:bodyPr>
          <a:lstStyle/>
          <a:p>
            <a:r>
              <a:rPr lang="en-GB" dirty="0"/>
              <a:t>16 Can go into 24</a:t>
            </a:r>
          </a:p>
        </p:txBody>
      </p:sp>
      <p:sp>
        <p:nvSpPr>
          <p:cNvPr id="10" name="TextBox 9"/>
          <p:cNvSpPr txBox="1"/>
          <p:nvPr/>
        </p:nvSpPr>
        <p:spPr>
          <a:xfrm>
            <a:off x="3066656" y="5226908"/>
            <a:ext cx="387179" cy="369332"/>
          </a:xfrm>
          <a:prstGeom prst="rect">
            <a:avLst/>
          </a:prstGeom>
          <a:noFill/>
        </p:spPr>
        <p:txBody>
          <a:bodyPr wrap="square" rtlCol="0">
            <a:spAutoFit/>
          </a:bodyPr>
          <a:lstStyle/>
          <a:p>
            <a:r>
              <a:rPr lang="en-GB" b="1" dirty="0">
                <a:solidFill>
                  <a:srgbClr val="FF0000"/>
                </a:solidFill>
              </a:rPr>
              <a:t>1</a:t>
            </a:r>
          </a:p>
        </p:txBody>
      </p:sp>
      <p:sp>
        <p:nvSpPr>
          <p:cNvPr id="11" name="TextBox 10"/>
          <p:cNvSpPr txBox="1"/>
          <p:nvPr/>
        </p:nvSpPr>
        <p:spPr>
          <a:xfrm>
            <a:off x="8789773" y="4311684"/>
            <a:ext cx="3064476" cy="923330"/>
          </a:xfrm>
          <a:prstGeom prst="rect">
            <a:avLst/>
          </a:prstGeom>
          <a:noFill/>
        </p:spPr>
        <p:txBody>
          <a:bodyPr wrap="square" rtlCol="0">
            <a:spAutoFit/>
          </a:bodyPr>
          <a:lstStyle/>
          <a:p>
            <a:r>
              <a:rPr lang="en-GB" dirty="0"/>
              <a:t>24 – 16 = 8</a:t>
            </a:r>
          </a:p>
          <a:p>
            <a:r>
              <a:rPr lang="en-GB" dirty="0"/>
              <a:t>So now we need to create an 8 out of the remaining bits</a:t>
            </a:r>
          </a:p>
        </p:txBody>
      </p:sp>
      <p:sp>
        <p:nvSpPr>
          <p:cNvPr id="12" name="TextBox 11"/>
          <p:cNvSpPr txBox="1"/>
          <p:nvPr/>
        </p:nvSpPr>
        <p:spPr>
          <a:xfrm>
            <a:off x="3840420" y="5288692"/>
            <a:ext cx="387179" cy="369332"/>
          </a:xfrm>
          <a:prstGeom prst="rect">
            <a:avLst/>
          </a:prstGeom>
          <a:noFill/>
        </p:spPr>
        <p:txBody>
          <a:bodyPr wrap="square" rtlCol="0">
            <a:spAutoFit/>
          </a:bodyPr>
          <a:lstStyle/>
          <a:p>
            <a:r>
              <a:rPr lang="en-GB" b="1" dirty="0">
                <a:solidFill>
                  <a:srgbClr val="FF0000"/>
                </a:solidFill>
              </a:rPr>
              <a:t>1</a:t>
            </a:r>
          </a:p>
        </p:txBody>
      </p:sp>
      <p:sp>
        <p:nvSpPr>
          <p:cNvPr id="13" name="TextBox 12"/>
          <p:cNvSpPr txBox="1"/>
          <p:nvPr/>
        </p:nvSpPr>
        <p:spPr>
          <a:xfrm>
            <a:off x="8503507" y="5596240"/>
            <a:ext cx="3064476" cy="923330"/>
          </a:xfrm>
          <a:prstGeom prst="rect">
            <a:avLst/>
          </a:prstGeom>
          <a:noFill/>
        </p:spPr>
        <p:txBody>
          <a:bodyPr wrap="square" rtlCol="0">
            <a:spAutoFit/>
          </a:bodyPr>
          <a:lstStyle/>
          <a:p>
            <a:r>
              <a:rPr lang="en-GB" dirty="0"/>
              <a:t>So use an 8. As 8-8 = 0, we do not need any other binary values</a:t>
            </a:r>
          </a:p>
        </p:txBody>
      </p:sp>
      <p:sp>
        <p:nvSpPr>
          <p:cNvPr id="14" name="TextBox 13"/>
          <p:cNvSpPr txBox="1"/>
          <p:nvPr/>
        </p:nvSpPr>
        <p:spPr>
          <a:xfrm>
            <a:off x="4793021" y="5243194"/>
            <a:ext cx="387179" cy="369332"/>
          </a:xfrm>
          <a:prstGeom prst="rect">
            <a:avLst/>
          </a:prstGeom>
          <a:noFill/>
        </p:spPr>
        <p:txBody>
          <a:bodyPr wrap="square" rtlCol="0">
            <a:spAutoFit/>
          </a:bodyPr>
          <a:lstStyle/>
          <a:p>
            <a:r>
              <a:rPr lang="en-GB" b="1" dirty="0">
                <a:solidFill>
                  <a:srgbClr val="FF0000"/>
                </a:solidFill>
              </a:rPr>
              <a:t>0</a:t>
            </a:r>
          </a:p>
        </p:txBody>
      </p:sp>
      <p:sp>
        <p:nvSpPr>
          <p:cNvPr id="15" name="TextBox 14"/>
          <p:cNvSpPr txBox="1"/>
          <p:nvPr/>
        </p:nvSpPr>
        <p:spPr>
          <a:xfrm>
            <a:off x="5756457" y="5288692"/>
            <a:ext cx="387179" cy="369332"/>
          </a:xfrm>
          <a:prstGeom prst="rect">
            <a:avLst/>
          </a:prstGeom>
          <a:noFill/>
        </p:spPr>
        <p:txBody>
          <a:bodyPr wrap="square" rtlCol="0">
            <a:spAutoFit/>
          </a:bodyPr>
          <a:lstStyle/>
          <a:p>
            <a:r>
              <a:rPr lang="en-GB" b="1" dirty="0">
                <a:solidFill>
                  <a:srgbClr val="FF0000"/>
                </a:solidFill>
              </a:rPr>
              <a:t>0</a:t>
            </a:r>
          </a:p>
        </p:txBody>
      </p:sp>
      <p:sp>
        <p:nvSpPr>
          <p:cNvPr id="16" name="TextBox 15"/>
          <p:cNvSpPr txBox="1"/>
          <p:nvPr/>
        </p:nvSpPr>
        <p:spPr>
          <a:xfrm>
            <a:off x="6680764" y="5292905"/>
            <a:ext cx="387179" cy="369332"/>
          </a:xfrm>
          <a:prstGeom prst="rect">
            <a:avLst/>
          </a:prstGeom>
          <a:noFill/>
        </p:spPr>
        <p:txBody>
          <a:bodyPr wrap="square" rtlCol="0">
            <a:spAutoFit/>
          </a:bodyPr>
          <a:lstStyle/>
          <a:p>
            <a:r>
              <a:rPr lang="en-GB" b="1" dirty="0">
                <a:solidFill>
                  <a:srgbClr val="FF0000"/>
                </a:solidFill>
              </a:rPr>
              <a:t>0</a:t>
            </a:r>
          </a:p>
        </p:txBody>
      </p:sp>
    </p:spTree>
    <p:extLst>
      <p:ext uri="{BB962C8B-B14F-4D97-AF65-F5344CB8AC3E}">
        <p14:creationId xmlns:p14="http://schemas.microsoft.com/office/powerpoint/2010/main" val="121893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500"/>
                                        <p:tgtEl>
                                          <p:spTgt spid="3">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5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50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fade">
                                      <p:cBhvr>
                                        <p:cTn id="67" dur="500"/>
                                        <p:tgtEl>
                                          <p:spTgt spid="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5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500"/>
                                        <p:tgtEl>
                                          <p:spTgt spid="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5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fade">
                                      <p:cBhvr>
                                        <p:cTn id="87" dur="500"/>
                                        <p:tgtEl>
                                          <p:spTgt spid="1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fade">
                                      <p:cBhvr>
                                        <p:cTn id="92" dur="500"/>
                                        <p:tgtEl>
                                          <p:spTgt spid="12"/>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13"/>
                                        </p:tgtEl>
                                        <p:attrNameLst>
                                          <p:attrName>style.visibility</p:attrName>
                                        </p:attrNameLst>
                                      </p:cBhvr>
                                      <p:to>
                                        <p:strVal val="visible"/>
                                      </p:to>
                                    </p:set>
                                    <p:animEffect transition="in" filter="fade">
                                      <p:cBhvr>
                                        <p:cTn id="97" dur="500"/>
                                        <p:tgtEl>
                                          <p:spTgt spid="1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4"/>
                                        </p:tgtEl>
                                        <p:attrNameLst>
                                          <p:attrName>style.visibility</p:attrName>
                                        </p:attrNameLst>
                                      </p:cBhvr>
                                      <p:to>
                                        <p:strVal val="visible"/>
                                      </p:to>
                                    </p:set>
                                    <p:animEffect transition="in" filter="fade">
                                      <p:cBhvr>
                                        <p:cTn id="102" dur="500"/>
                                        <p:tgtEl>
                                          <p:spTgt spid="14"/>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15"/>
                                        </p:tgtEl>
                                        <p:attrNameLst>
                                          <p:attrName>style.visibility</p:attrName>
                                        </p:attrNameLst>
                                      </p:cBhvr>
                                      <p:to>
                                        <p:strVal val="visible"/>
                                      </p:to>
                                    </p:set>
                                    <p:animEffect transition="in" filter="fade">
                                      <p:cBhvr>
                                        <p:cTn id="107" dur="500"/>
                                        <p:tgtEl>
                                          <p:spTgt spid="1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16"/>
                                        </p:tgtEl>
                                        <p:attrNameLst>
                                          <p:attrName>style.visibility</p:attrName>
                                        </p:attrNameLst>
                                      </p:cBhvr>
                                      <p:to>
                                        <p:strVal val="visible"/>
                                      </p:to>
                                    </p:set>
                                    <p:animEffect transition="in" filter="fade">
                                      <p:cBhvr>
                                        <p:cTn id="1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96846" y="88265"/>
            <a:ext cx="5764457" cy="6720854"/>
          </a:xfrm>
          <a:prstGeom prst="rect">
            <a:avLst/>
          </a:prstGeom>
        </p:spPr>
      </p:pic>
    </p:spTree>
    <p:extLst>
      <p:ext uri="{BB962C8B-B14F-4D97-AF65-F5344CB8AC3E}">
        <p14:creationId xmlns:p14="http://schemas.microsoft.com/office/powerpoint/2010/main" val="9056326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Binary Coded Decimal</a:t>
            </a:r>
          </a:p>
        </p:txBody>
      </p:sp>
      <p:sp>
        <p:nvSpPr>
          <p:cNvPr id="3" name="Content Placeholder 2"/>
          <p:cNvSpPr>
            <a:spLocks noGrp="1"/>
          </p:cNvSpPr>
          <p:nvPr>
            <p:ph idx="1"/>
          </p:nvPr>
        </p:nvSpPr>
        <p:spPr>
          <a:xfrm>
            <a:off x="838200" y="1825625"/>
            <a:ext cx="10515600" cy="2631045"/>
          </a:xfrm>
        </p:spPr>
        <p:txBody>
          <a:bodyPr/>
          <a:lstStyle/>
          <a:p>
            <a:r>
              <a:rPr lang="en-GB" dirty="0">
                <a:solidFill>
                  <a:schemeClr val="tx1"/>
                </a:solidFill>
              </a:rPr>
              <a:t>In this form of binary representation, each decimal digit is represented by a group of four binary digits. </a:t>
            </a:r>
          </a:p>
          <a:p>
            <a:r>
              <a:rPr lang="en-GB" dirty="0">
                <a:solidFill>
                  <a:schemeClr val="tx1"/>
                </a:solidFill>
              </a:rPr>
              <a:t>For example, 147 =</a:t>
            </a:r>
          </a:p>
          <a:p>
            <a:endParaRPr lang="en-GB" dirty="0"/>
          </a:p>
          <a:p>
            <a:pPr marL="1371600" lvl="3" indent="0">
              <a:buNone/>
            </a:pPr>
            <a:r>
              <a:rPr lang="en-GB" sz="3600" dirty="0">
                <a:solidFill>
                  <a:schemeClr val="tx1"/>
                </a:solidFill>
              </a:rPr>
              <a:t>1		4		7</a:t>
            </a:r>
          </a:p>
        </p:txBody>
      </p:sp>
      <p:cxnSp>
        <p:nvCxnSpPr>
          <p:cNvPr id="5" name="Straight Arrow Connector 4"/>
          <p:cNvCxnSpPr/>
          <p:nvPr/>
        </p:nvCxnSpPr>
        <p:spPr>
          <a:xfrm flipH="1" flipV="1">
            <a:off x="2334827" y="4243527"/>
            <a:ext cx="17756" cy="61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006354" y="4953739"/>
            <a:ext cx="896644" cy="461665"/>
          </a:xfrm>
          <a:prstGeom prst="rect">
            <a:avLst/>
          </a:prstGeom>
          <a:noFill/>
          <a:ln>
            <a:noFill/>
          </a:ln>
        </p:spPr>
        <p:txBody>
          <a:bodyPr wrap="square" rtlCol="0">
            <a:spAutoFit/>
          </a:bodyPr>
          <a:lstStyle/>
          <a:p>
            <a:r>
              <a:rPr lang="en-GB" sz="2400" dirty="0"/>
              <a:t>0001</a:t>
            </a:r>
            <a:endParaRPr lang="en-GB" dirty="0"/>
          </a:p>
        </p:txBody>
      </p:sp>
      <p:cxnSp>
        <p:nvCxnSpPr>
          <p:cNvPr id="11" name="Straight Arrow Connector 10"/>
          <p:cNvCxnSpPr/>
          <p:nvPr/>
        </p:nvCxnSpPr>
        <p:spPr>
          <a:xfrm flipH="1" flipV="1">
            <a:off x="3849210" y="4285328"/>
            <a:ext cx="17756" cy="61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499282" y="4953739"/>
            <a:ext cx="896644" cy="461665"/>
          </a:xfrm>
          <a:prstGeom prst="rect">
            <a:avLst/>
          </a:prstGeom>
          <a:noFill/>
          <a:ln>
            <a:noFill/>
          </a:ln>
        </p:spPr>
        <p:txBody>
          <a:bodyPr wrap="square" rtlCol="0">
            <a:spAutoFit/>
          </a:bodyPr>
          <a:lstStyle/>
          <a:p>
            <a:r>
              <a:rPr lang="en-GB" sz="2400" dirty="0"/>
              <a:t>0100</a:t>
            </a:r>
            <a:endParaRPr lang="en-GB" dirty="0"/>
          </a:p>
        </p:txBody>
      </p:sp>
      <p:cxnSp>
        <p:nvCxnSpPr>
          <p:cNvPr id="13" name="Straight Arrow Connector 12"/>
          <p:cNvCxnSpPr/>
          <p:nvPr/>
        </p:nvCxnSpPr>
        <p:spPr>
          <a:xfrm flipH="1" flipV="1">
            <a:off x="5635101" y="4251197"/>
            <a:ext cx="17756" cy="612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338439" y="4953739"/>
            <a:ext cx="896644" cy="461665"/>
          </a:xfrm>
          <a:prstGeom prst="rect">
            <a:avLst/>
          </a:prstGeom>
          <a:noFill/>
          <a:ln>
            <a:noFill/>
          </a:ln>
        </p:spPr>
        <p:txBody>
          <a:bodyPr wrap="square" rtlCol="0">
            <a:spAutoFit/>
          </a:bodyPr>
          <a:lstStyle/>
          <a:p>
            <a:r>
              <a:rPr lang="en-GB" sz="2400" dirty="0"/>
              <a:t>0111</a:t>
            </a:r>
            <a:endParaRPr lang="en-GB" dirty="0"/>
          </a:p>
        </p:txBody>
      </p:sp>
      <p:sp>
        <p:nvSpPr>
          <p:cNvPr id="15" name="TextBox 14"/>
          <p:cNvSpPr txBox="1"/>
          <p:nvPr/>
        </p:nvSpPr>
        <p:spPr>
          <a:xfrm>
            <a:off x="4043777" y="5842986"/>
            <a:ext cx="7372905" cy="523220"/>
          </a:xfrm>
          <a:prstGeom prst="rect">
            <a:avLst/>
          </a:prstGeom>
          <a:noFill/>
          <a:ln>
            <a:noFill/>
          </a:ln>
        </p:spPr>
        <p:txBody>
          <a:bodyPr wrap="square" rtlCol="0">
            <a:spAutoFit/>
          </a:bodyPr>
          <a:lstStyle/>
          <a:p>
            <a:r>
              <a:rPr lang="en-GB" sz="2800" dirty="0"/>
              <a:t>So 147 = 000101000111 in BCD</a:t>
            </a:r>
          </a:p>
        </p:txBody>
      </p:sp>
    </p:spTree>
    <p:extLst>
      <p:ext uri="{BB962C8B-B14F-4D97-AF65-F5344CB8AC3E}">
        <p14:creationId xmlns:p14="http://schemas.microsoft.com/office/powerpoint/2010/main" val="88882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304018-A4E5-111B-6971-CD517AB8F9B9}"/>
              </a:ext>
            </a:extLst>
          </p:cNvPr>
          <p:cNvSpPr>
            <a:spLocks noGrp="1"/>
          </p:cNvSpPr>
          <p:nvPr>
            <p:ph type="title"/>
          </p:nvPr>
        </p:nvSpPr>
        <p:spPr>
          <a:xfrm>
            <a:off x="279400" y="174625"/>
            <a:ext cx="10515600" cy="1325563"/>
          </a:xfrm>
        </p:spPr>
        <p:txBody>
          <a:bodyPr/>
          <a:lstStyle/>
          <a:p>
            <a:r>
              <a:rPr lang="en-GB" dirty="0"/>
              <a:t>Character Sets</a:t>
            </a:r>
          </a:p>
        </p:txBody>
      </p:sp>
      <p:sp>
        <p:nvSpPr>
          <p:cNvPr id="3" name="Content Placeholder 2">
            <a:extLst>
              <a:ext uri="{FF2B5EF4-FFF2-40B4-BE49-F238E27FC236}">
                <a16:creationId xmlns:a16="http://schemas.microsoft.com/office/drawing/2014/main" xmlns="" id="{56FC0E9F-64DB-C997-05A5-5A346BC098CF}"/>
              </a:ext>
            </a:extLst>
          </p:cNvPr>
          <p:cNvSpPr>
            <a:spLocks noGrp="1"/>
          </p:cNvSpPr>
          <p:nvPr>
            <p:ph idx="1"/>
          </p:nvPr>
        </p:nvSpPr>
        <p:spPr>
          <a:xfrm>
            <a:off x="279399" y="1366887"/>
            <a:ext cx="6573888" cy="4810076"/>
          </a:xfrm>
        </p:spPr>
        <p:txBody>
          <a:bodyPr>
            <a:normAutofit/>
          </a:bodyPr>
          <a:lstStyle/>
          <a:p>
            <a:r>
              <a:rPr lang="en-GB" dirty="0">
                <a:solidFill>
                  <a:schemeClr val="tx1"/>
                </a:solidFill>
              </a:rPr>
              <a:t>By definition, a </a:t>
            </a:r>
            <a:r>
              <a:rPr lang="en-GB" b="1" dirty="0">
                <a:solidFill>
                  <a:srgbClr val="FFFF00"/>
                </a:solidFill>
              </a:rPr>
              <a:t>character set </a:t>
            </a:r>
            <a:r>
              <a:rPr lang="en-GB" dirty="0">
                <a:solidFill>
                  <a:schemeClr val="tx1"/>
                </a:solidFill>
              </a:rPr>
              <a:t>(such as Unicode and ASCII), are a list of characters recognised by the computer hardware/software, and is represented by a number.</a:t>
            </a:r>
          </a:p>
          <a:p>
            <a:endParaRPr lang="en-GB" dirty="0">
              <a:solidFill>
                <a:schemeClr val="tx1"/>
              </a:solidFill>
            </a:endParaRPr>
          </a:p>
          <a:p>
            <a:r>
              <a:rPr lang="en-GB" dirty="0">
                <a:solidFill>
                  <a:schemeClr val="tx1"/>
                </a:solidFill>
              </a:rPr>
              <a:t>The first 32 characters are non-printing characters used to control hardware devices or text formatting (such as carriage returns or line feeds).</a:t>
            </a:r>
          </a:p>
        </p:txBody>
      </p:sp>
      <p:pic>
        <p:nvPicPr>
          <p:cNvPr id="1026" name="Picture 2" descr="Reference ASCII Table - Character codes in decimal, hexadecimal, octal and  binary">
            <a:extLst>
              <a:ext uri="{FF2B5EF4-FFF2-40B4-BE49-F238E27FC236}">
                <a16:creationId xmlns:a16="http://schemas.microsoft.com/office/drawing/2014/main" xmlns="" id="{A9E93C77-BA31-A816-65F4-B706BDDFBF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1948" y="1131887"/>
            <a:ext cx="4890651" cy="3487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7885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4553421" y="937418"/>
            <a:ext cx="10515600" cy="1325563"/>
          </a:xfrm>
        </p:spPr>
        <p:txBody>
          <a:bodyPr>
            <a:normAutofit/>
          </a:bodyPr>
          <a:lstStyle/>
          <a:p>
            <a:r>
              <a:rPr lang="en-GB" sz="3200" dirty="0">
                <a:solidFill>
                  <a:schemeClr val="tx1"/>
                </a:solidFill>
              </a:rPr>
              <a:t>Representing Characters</a:t>
            </a:r>
          </a:p>
        </p:txBody>
      </p:sp>
      <p:sp>
        <p:nvSpPr>
          <p:cNvPr id="3" name="Content Placeholder 2"/>
          <p:cNvSpPr>
            <a:spLocks noGrp="1"/>
          </p:cNvSpPr>
          <p:nvPr>
            <p:ph idx="1"/>
          </p:nvPr>
        </p:nvSpPr>
        <p:spPr>
          <a:xfrm>
            <a:off x="544680" y="113190"/>
            <a:ext cx="11647320" cy="6631619"/>
          </a:xfrm>
        </p:spPr>
        <p:txBody>
          <a:bodyPr>
            <a:normAutofit fontScale="92500" lnSpcReduction="10000"/>
          </a:bodyPr>
          <a:lstStyle/>
          <a:p>
            <a:pPr lvl="1"/>
            <a:r>
              <a:rPr lang="en-GB" dirty="0">
                <a:solidFill>
                  <a:schemeClr val="tx1"/>
                </a:solidFill>
              </a:rPr>
              <a:t>ASCII Code</a:t>
            </a:r>
          </a:p>
          <a:p>
            <a:pPr lvl="2"/>
            <a:r>
              <a:rPr lang="en-GB" dirty="0">
                <a:solidFill>
                  <a:schemeClr val="tx1"/>
                </a:solidFill>
              </a:rPr>
              <a:t>The original ASCII code table used 7 bits to represent text. </a:t>
            </a:r>
          </a:p>
          <a:p>
            <a:pPr lvl="2"/>
            <a:r>
              <a:rPr lang="en-GB" dirty="0">
                <a:solidFill>
                  <a:schemeClr val="tx1"/>
                </a:solidFill>
              </a:rPr>
              <a:t>This was known as the </a:t>
            </a:r>
            <a:r>
              <a:rPr lang="en-GB" b="1" dirty="0">
                <a:solidFill>
                  <a:schemeClr val="tx1"/>
                </a:solidFill>
              </a:rPr>
              <a:t>7-bit ASCII table</a:t>
            </a:r>
            <a:endParaRPr lang="en-GB" dirty="0">
              <a:solidFill>
                <a:schemeClr val="tx1"/>
              </a:solidFill>
            </a:endParaRPr>
          </a:p>
          <a:p>
            <a:pPr lvl="2"/>
            <a:r>
              <a:rPr lang="en-GB" dirty="0">
                <a:solidFill>
                  <a:schemeClr val="tx1"/>
                </a:solidFill>
              </a:rPr>
              <a:t>There were 128 characters in the table (2⁷ = 128)</a:t>
            </a:r>
          </a:p>
          <a:p>
            <a:pPr lvl="2"/>
            <a:r>
              <a:rPr lang="en-GB" dirty="0">
                <a:solidFill>
                  <a:schemeClr val="tx1"/>
                </a:solidFill>
              </a:rPr>
              <a:t>Each character is represented by a number. This includes numbers, letters and symbols. (i.e. ‘A’ = 65)</a:t>
            </a:r>
          </a:p>
          <a:p>
            <a:pPr lvl="2"/>
            <a:r>
              <a:rPr lang="en-GB" b="1" dirty="0">
                <a:solidFill>
                  <a:schemeClr val="tx1"/>
                </a:solidFill>
              </a:rPr>
              <a:t>8-bit</a:t>
            </a:r>
            <a:r>
              <a:rPr lang="en-GB" dirty="0">
                <a:solidFill>
                  <a:schemeClr val="tx1"/>
                </a:solidFill>
              </a:rPr>
              <a:t> </a:t>
            </a:r>
            <a:r>
              <a:rPr lang="en-GB" b="1" dirty="0">
                <a:solidFill>
                  <a:schemeClr val="tx1"/>
                </a:solidFill>
              </a:rPr>
              <a:t>ASCII table</a:t>
            </a:r>
            <a:r>
              <a:rPr lang="en-GB" dirty="0">
                <a:solidFill>
                  <a:schemeClr val="tx1"/>
                </a:solidFill>
              </a:rPr>
              <a:t> makes use of an 8</a:t>
            </a:r>
            <a:r>
              <a:rPr lang="en-GB" baseline="30000" dirty="0">
                <a:solidFill>
                  <a:schemeClr val="tx1"/>
                </a:solidFill>
              </a:rPr>
              <a:t>th</a:t>
            </a:r>
            <a:r>
              <a:rPr lang="en-GB" dirty="0">
                <a:solidFill>
                  <a:schemeClr val="tx1"/>
                </a:solidFill>
              </a:rPr>
              <a:t> bit.</a:t>
            </a:r>
          </a:p>
          <a:p>
            <a:pPr lvl="3"/>
            <a:r>
              <a:rPr lang="en-GB" dirty="0">
                <a:solidFill>
                  <a:schemeClr val="tx1"/>
                </a:solidFill>
              </a:rPr>
              <a:t>Allows for regional characters and symbols, such as Microsoft Windows Latin-1 extended characters</a:t>
            </a:r>
          </a:p>
          <a:p>
            <a:pPr lvl="3"/>
            <a:r>
              <a:rPr lang="en-GB" dirty="0">
                <a:solidFill>
                  <a:schemeClr val="tx1"/>
                </a:solidFill>
              </a:rPr>
              <a:t>However, languages such as Japanese have 1000’s of characters and symbols, so limited to only some</a:t>
            </a:r>
          </a:p>
          <a:p>
            <a:pPr lvl="3"/>
            <a:r>
              <a:rPr lang="en-GB" dirty="0">
                <a:solidFill>
                  <a:schemeClr val="tx1"/>
                </a:solidFill>
              </a:rPr>
              <a:t>Some characters (#128-255) were used differently for different regions, so sometimes incompatibility between character sets.</a:t>
            </a:r>
          </a:p>
          <a:p>
            <a:pPr lvl="3"/>
            <a:r>
              <a:rPr lang="en-GB" dirty="0">
                <a:solidFill>
                  <a:schemeClr val="tx1"/>
                </a:solidFill>
              </a:rPr>
              <a:t>The 8</a:t>
            </a:r>
            <a:r>
              <a:rPr lang="en-GB" baseline="30000" dirty="0">
                <a:solidFill>
                  <a:schemeClr val="tx1"/>
                </a:solidFill>
              </a:rPr>
              <a:t>th</a:t>
            </a:r>
            <a:r>
              <a:rPr lang="en-GB" dirty="0">
                <a:solidFill>
                  <a:schemeClr val="tx1"/>
                </a:solidFill>
              </a:rPr>
              <a:t> bit can alternatively be used for error checking (in the form of a parity bit)</a:t>
            </a:r>
          </a:p>
          <a:p>
            <a:pPr lvl="1"/>
            <a:r>
              <a:rPr lang="en-GB" dirty="0">
                <a:solidFill>
                  <a:schemeClr val="tx1"/>
                </a:solidFill>
              </a:rPr>
              <a:t>UNICODE</a:t>
            </a:r>
          </a:p>
          <a:p>
            <a:pPr lvl="2"/>
            <a:r>
              <a:rPr lang="en-GB" dirty="0">
                <a:solidFill>
                  <a:schemeClr val="tx1"/>
                </a:solidFill>
              </a:rPr>
              <a:t>A character encoding standard was created to resolve these issues.</a:t>
            </a:r>
          </a:p>
          <a:p>
            <a:pPr lvl="2"/>
            <a:r>
              <a:rPr lang="en-GB" dirty="0">
                <a:solidFill>
                  <a:schemeClr val="tx1"/>
                </a:solidFill>
              </a:rPr>
              <a:t>Provides a unique number for every character regardless of language</a:t>
            </a:r>
          </a:p>
          <a:p>
            <a:pPr lvl="2"/>
            <a:r>
              <a:rPr lang="en-GB" dirty="0">
                <a:solidFill>
                  <a:schemeClr val="tx1"/>
                </a:solidFill>
              </a:rPr>
              <a:t>100,000+ characters, with ASCII being a subset of Unicode</a:t>
            </a:r>
          </a:p>
          <a:p>
            <a:pPr lvl="2"/>
            <a:r>
              <a:rPr lang="en-GB" dirty="0">
                <a:solidFill>
                  <a:schemeClr val="tx1"/>
                </a:solidFill>
              </a:rPr>
              <a:t>Characters are called ‘code points’</a:t>
            </a:r>
          </a:p>
          <a:p>
            <a:pPr lvl="2"/>
            <a:r>
              <a:rPr lang="en-GB" dirty="0">
                <a:solidFill>
                  <a:schemeClr val="tx1"/>
                </a:solidFill>
              </a:rPr>
              <a:t>UFT-32, UTF-8 and UTF-16 are 3 different encoding methods</a:t>
            </a:r>
          </a:p>
          <a:p>
            <a:pPr lvl="3"/>
            <a:r>
              <a:rPr lang="en-GB" dirty="0">
                <a:solidFill>
                  <a:schemeClr val="tx1"/>
                </a:solidFill>
              </a:rPr>
              <a:t>UTF-32 uses 32 bits regardless of character. Inefficient compared to standard ASCII</a:t>
            </a:r>
          </a:p>
          <a:p>
            <a:pPr lvl="3"/>
            <a:r>
              <a:rPr lang="en-GB" dirty="0">
                <a:solidFill>
                  <a:schemeClr val="tx1"/>
                </a:solidFill>
              </a:rPr>
              <a:t>UTF-8 may use 2 bytes to represent some characters</a:t>
            </a:r>
          </a:p>
          <a:p>
            <a:pPr lvl="3"/>
            <a:r>
              <a:rPr lang="en-GB" dirty="0">
                <a:solidFill>
                  <a:schemeClr val="tx1"/>
                </a:solidFill>
              </a:rPr>
              <a:t>UTF-16 is common, making use of variable length encodings uses min 2 bytes per character</a:t>
            </a:r>
          </a:p>
        </p:txBody>
      </p:sp>
    </p:spTree>
    <p:extLst>
      <p:ext uri="{BB962C8B-B14F-4D97-AF65-F5344CB8AC3E}">
        <p14:creationId xmlns:p14="http://schemas.microsoft.com/office/powerpoint/2010/main" val="267714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5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5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5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4553421" y="937418"/>
            <a:ext cx="10515600" cy="1325563"/>
          </a:xfrm>
        </p:spPr>
        <p:txBody>
          <a:bodyPr>
            <a:normAutofit/>
          </a:bodyPr>
          <a:lstStyle/>
          <a:p>
            <a:r>
              <a:rPr lang="en-GB" sz="3200" dirty="0">
                <a:solidFill>
                  <a:schemeClr val="tx1"/>
                </a:solidFill>
              </a:rPr>
              <a:t>Representing Characters</a:t>
            </a:r>
          </a:p>
        </p:txBody>
      </p:sp>
      <p:graphicFrame>
        <p:nvGraphicFramePr>
          <p:cNvPr id="4" name="Table 3">
            <a:extLst>
              <a:ext uri="{FF2B5EF4-FFF2-40B4-BE49-F238E27FC236}">
                <a16:creationId xmlns:a16="http://schemas.microsoft.com/office/drawing/2014/main" xmlns="" id="{1568113A-A5FE-6AAD-EFA0-195D40E22ABD}"/>
              </a:ext>
            </a:extLst>
          </p:cNvPr>
          <p:cNvGraphicFramePr>
            <a:graphicFrameLocks noGrp="1"/>
          </p:cNvGraphicFramePr>
          <p:nvPr/>
        </p:nvGraphicFramePr>
        <p:xfrm>
          <a:off x="1253765" y="719665"/>
          <a:ext cx="10821972" cy="6009404"/>
        </p:xfrm>
        <a:graphic>
          <a:graphicData uri="http://schemas.openxmlformats.org/drawingml/2006/table">
            <a:tbl>
              <a:tblPr firstRow="1" bandRow="1">
                <a:tableStyleId>{5C22544A-7EE6-4342-B048-85BDC9FD1C3A}</a:tableStyleId>
              </a:tblPr>
              <a:tblGrid>
                <a:gridCol w="2705493">
                  <a:extLst>
                    <a:ext uri="{9D8B030D-6E8A-4147-A177-3AD203B41FA5}">
                      <a16:colId xmlns:a16="http://schemas.microsoft.com/office/drawing/2014/main" xmlns="" val="1396129707"/>
                    </a:ext>
                  </a:extLst>
                </a:gridCol>
                <a:gridCol w="2705493">
                  <a:extLst>
                    <a:ext uri="{9D8B030D-6E8A-4147-A177-3AD203B41FA5}">
                      <a16:colId xmlns:a16="http://schemas.microsoft.com/office/drawing/2014/main" xmlns="" val="4059401763"/>
                    </a:ext>
                  </a:extLst>
                </a:gridCol>
                <a:gridCol w="2705493">
                  <a:extLst>
                    <a:ext uri="{9D8B030D-6E8A-4147-A177-3AD203B41FA5}">
                      <a16:colId xmlns:a16="http://schemas.microsoft.com/office/drawing/2014/main" xmlns="" val="3603169671"/>
                    </a:ext>
                  </a:extLst>
                </a:gridCol>
                <a:gridCol w="2705493">
                  <a:extLst>
                    <a:ext uri="{9D8B030D-6E8A-4147-A177-3AD203B41FA5}">
                      <a16:colId xmlns:a16="http://schemas.microsoft.com/office/drawing/2014/main" xmlns="" val="3817910911"/>
                    </a:ext>
                  </a:extLst>
                </a:gridCol>
              </a:tblGrid>
              <a:tr h="991727">
                <a:tc gridSpan="2">
                  <a:txBody>
                    <a:bodyPr/>
                    <a:lstStyle/>
                    <a:p>
                      <a:pPr algn="ctr"/>
                      <a:r>
                        <a:rPr lang="en-GB" dirty="0"/>
                        <a:t>ASCII</a:t>
                      </a:r>
                    </a:p>
                  </a:txBody>
                  <a:tcPr anchor="ctr">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hMerge="1">
                  <a:txBody>
                    <a:bodyPr/>
                    <a:lstStyle/>
                    <a:p>
                      <a:endParaRPr lang="en-GB" dirty="0"/>
                    </a:p>
                  </a:txBody>
                  <a:tcPr/>
                </a:tc>
                <a:tc gridSpan="2">
                  <a:txBody>
                    <a:bodyPr/>
                    <a:lstStyle/>
                    <a:p>
                      <a:pPr algn="ctr"/>
                      <a:r>
                        <a:rPr lang="en-GB" dirty="0"/>
                        <a:t>UNICODE</a:t>
                      </a:r>
                    </a:p>
                  </a:txBody>
                  <a:tcPr anchor="ctr">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hMerge="1">
                  <a:txBody>
                    <a:bodyPr/>
                    <a:lstStyle/>
                    <a:p>
                      <a:endParaRPr lang="en-GB" dirty="0"/>
                    </a:p>
                  </a:txBody>
                  <a:tcPr/>
                </a:tc>
                <a:extLst>
                  <a:ext uri="{0D108BD9-81ED-4DB2-BD59-A6C34878D82A}">
                    <a16:rowId xmlns:a16="http://schemas.microsoft.com/office/drawing/2014/main" xmlns="" val="141828397"/>
                  </a:ext>
                </a:extLst>
              </a:tr>
              <a:tr h="983436">
                <a:tc>
                  <a:txBody>
                    <a:bodyPr/>
                    <a:lstStyle/>
                    <a:p>
                      <a:pPr algn="ctr"/>
                      <a:r>
                        <a:rPr lang="en-GB" dirty="0"/>
                        <a:t>Pros</a:t>
                      </a:r>
                    </a:p>
                  </a:txBody>
                  <a:tcPr anchor="ctr">
                    <a:lnT w="57150" cap="flat" cmpd="sng" algn="ctr">
                      <a:solidFill>
                        <a:schemeClr val="tx1"/>
                      </a:solidFill>
                      <a:prstDash val="solid"/>
                      <a:round/>
                      <a:headEnd type="none" w="med" len="med"/>
                      <a:tailEnd type="none" w="med" len="med"/>
                    </a:lnT>
                    <a:solidFill>
                      <a:srgbClr val="00B050"/>
                    </a:solidFill>
                  </a:tcPr>
                </a:tc>
                <a:tc>
                  <a:txBody>
                    <a:bodyPr/>
                    <a:lstStyle/>
                    <a:p>
                      <a:pPr algn="ctr"/>
                      <a:r>
                        <a:rPr lang="en-GB" dirty="0"/>
                        <a:t>Cons</a:t>
                      </a:r>
                    </a:p>
                  </a:txBody>
                  <a:tcPr anchor="ctr">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rgbClr val="FF0000"/>
                    </a:solidFill>
                  </a:tcPr>
                </a:tc>
                <a:tc>
                  <a:txBody>
                    <a:bodyPr/>
                    <a:lstStyle/>
                    <a:p>
                      <a:pPr algn="ctr"/>
                      <a:r>
                        <a:rPr lang="en-GB" dirty="0"/>
                        <a:t>Pros</a:t>
                      </a:r>
                    </a:p>
                  </a:txBody>
                  <a:tcPr anchor="ctr">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rgbClr val="00B050"/>
                    </a:solidFill>
                  </a:tcPr>
                </a:tc>
                <a:tc>
                  <a:txBody>
                    <a:bodyPr/>
                    <a:lstStyle/>
                    <a:p>
                      <a:pPr algn="ctr"/>
                      <a:r>
                        <a:rPr lang="en-GB" dirty="0"/>
                        <a:t>Cons</a:t>
                      </a:r>
                    </a:p>
                  </a:txBody>
                  <a:tcPr anchor="ctr">
                    <a:lnT w="57150" cap="flat" cmpd="sng" algn="ctr">
                      <a:solidFill>
                        <a:schemeClr val="tx1"/>
                      </a:solidFill>
                      <a:prstDash val="solid"/>
                      <a:round/>
                      <a:headEnd type="none" w="med" len="med"/>
                      <a:tailEnd type="none" w="med" len="med"/>
                    </a:lnT>
                    <a:solidFill>
                      <a:srgbClr val="FF0000"/>
                    </a:solidFill>
                  </a:tcPr>
                </a:tc>
                <a:extLst>
                  <a:ext uri="{0D108BD9-81ED-4DB2-BD59-A6C34878D82A}">
                    <a16:rowId xmlns:a16="http://schemas.microsoft.com/office/drawing/2014/main" xmlns="" val="2388209934"/>
                  </a:ext>
                </a:extLst>
              </a:tr>
              <a:tr h="1956788">
                <a:tc>
                  <a:txBody>
                    <a:bodyPr/>
                    <a:lstStyle/>
                    <a:p>
                      <a:pPr algn="ctr"/>
                      <a:r>
                        <a:rPr lang="en-GB" dirty="0"/>
                        <a:t>Only uses 1 byte to represent English Characters, which is smaller than other character sets. </a:t>
                      </a:r>
                    </a:p>
                  </a:txBody>
                  <a:tcPr anchor="ctr">
                    <a:solidFill>
                      <a:srgbClr val="92D050"/>
                    </a:solidFill>
                  </a:tcPr>
                </a:tc>
                <a:tc>
                  <a:txBody>
                    <a:bodyPr/>
                    <a:lstStyle/>
                    <a:p>
                      <a:pPr algn="ctr"/>
                      <a:r>
                        <a:rPr lang="en-GB" dirty="0"/>
                        <a:t>Limited characters available means it cannot represent special symbols, and even with extended ASCII its character range is limited.</a:t>
                      </a:r>
                    </a:p>
                  </a:txBody>
                  <a:tcPr anchor="ctr">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pPr algn="ctr"/>
                      <a:r>
                        <a:rPr lang="en-GB" dirty="0"/>
                        <a:t>Can represent 65536 characters using 16 bit encoding. A lot more languages can be represented!</a:t>
                      </a:r>
                    </a:p>
                  </a:txBody>
                  <a:tcPr anchor="ctr">
                    <a:lnL w="57150" cap="flat" cmpd="sng" algn="ctr">
                      <a:solidFill>
                        <a:schemeClr val="tx1"/>
                      </a:solidFill>
                      <a:prstDash val="solid"/>
                      <a:round/>
                      <a:headEnd type="none" w="med" len="med"/>
                      <a:tailEnd type="none" w="med" len="med"/>
                    </a:lnL>
                    <a:solidFill>
                      <a:srgbClr val="92D050"/>
                    </a:solidFill>
                  </a:tcPr>
                </a:tc>
                <a:tc>
                  <a:txBody>
                    <a:bodyPr/>
                    <a:lstStyle/>
                    <a:p>
                      <a:pPr algn="ctr"/>
                      <a:r>
                        <a:rPr lang="en-GB" dirty="0"/>
                        <a:t>More bits are required to represent characters, so increases in file size.</a:t>
                      </a:r>
                    </a:p>
                  </a:txBody>
                  <a:tcPr anchor="ctr">
                    <a:solidFill>
                      <a:schemeClr val="accent2">
                        <a:lumMod val="60000"/>
                        <a:lumOff val="40000"/>
                      </a:schemeClr>
                    </a:solidFill>
                  </a:tcPr>
                </a:tc>
                <a:extLst>
                  <a:ext uri="{0D108BD9-81ED-4DB2-BD59-A6C34878D82A}">
                    <a16:rowId xmlns:a16="http://schemas.microsoft.com/office/drawing/2014/main" xmlns="" val="4266031589"/>
                  </a:ext>
                </a:extLst>
              </a:tr>
              <a:tr h="2022561">
                <a:tc>
                  <a:txBody>
                    <a:bodyPr/>
                    <a:lstStyle/>
                    <a:p>
                      <a:pPr algn="ctr"/>
                      <a:r>
                        <a:rPr lang="en-GB" dirty="0"/>
                        <a:t>The small character set means it is very efficient when downloading/transferring - so it’s faster to transfer.</a:t>
                      </a:r>
                    </a:p>
                  </a:txBody>
                  <a:tcPr anchor="ctr">
                    <a:solidFill>
                      <a:srgbClr val="92D050"/>
                    </a:solidFill>
                  </a:tcPr>
                </a:tc>
                <a:tc>
                  <a:txBody>
                    <a:bodyPr/>
                    <a:lstStyle/>
                    <a:p>
                      <a:pPr algn="ctr"/>
                      <a:r>
                        <a:rPr lang="en-GB" dirty="0"/>
                        <a:t>Not scalable for global communication and is unable to represent non-English characters.</a:t>
                      </a:r>
                    </a:p>
                  </a:txBody>
                  <a:tcPr anchor="ctr">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pPr algn="ctr"/>
                      <a:r>
                        <a:rPr lang="en-GB" dirty="0"/>
                        <a:t>Future-proofing is present, with ability to represent emojis and other symbols being created.</a:t>
                      </a:r>
                    </a:p>
                  </a:txBody>
                  <a:tcPr anchor="ctr">
                    <a:lnL w="57150" cap="flat" cmpd="sng" algn="ctr">
                      <a:solidFill>
                        <a:schemeClr val="tx1"/>
                      </a:solidFill>
                      <a:prstDash val="solid"/>
                      <a:round/>
                      <a:headEnd type="none" w="med" len="med"/>
                      <a:tailEnd type="none" w="med" len="med"/>
                    </a:lnL>
                    <a:solidFill>
                      <a:srgbClr val="92D050"/>
                    </a:solidFill>
                  </a:tcPr>
                </a:tc>
                <a:tc>
                  <a:txBody>
                    <a:bodyPr/>
                    <a:lstStyle/>
                    <a:p>
                      <a:pPr algn="ctr"/>
                      <a:r>
                        <a:rPr lang="en-GB" dirty="0"/>
                        <a:t>More bits also increase memory requirements, often slowing down processing. </a:t>
                      </a:r>
                    </a:p>
                  </a:txBody>
                  <a:tcPr anchor="ctr">
                    <a:solidFill>
                      <a:schemeClr val="accent2">
                        <a:lumMod val="60000"/>
                        <a:lumOff val="40000"/>
                      </a:schemeClr>
                    </a:solidFill>
                  </a:tcPr>
                </a:tc>
                <a:extLst>
                  <a:ext uri="{0D108BD9-81ED-4DB2-BD59-A6C34878D82A}">
                    <a16:rowId xmlns:a16="http://schemas.microsoft.com/office/drawing/2014/main" xmlns="" val="3022691210"/>
                  </a:ext>
                </a:extLst>
              </a:tr>
            </a:tbl>
          </a:graphicData>
        </a:graphic>
      </p:graphicFrame>
    </p:spTree>
    <p:extLst>
      <p:ext uri="{BB962C8B-B14F-4D97-AF65-F5344CB8AC3E}">
        <p14:creationId xmlns:p14="http://schemas.microsoft.com/office/powerpoint/2010/main" val="26649747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Hexadecimal Number System</a:t>
            </a:r>
          </a:p>
        </p:txBody>
      </p:sp>
      <p:sp>
        <p:nvSpPr>
          <p:cNvPr id="3" name="Content Placeholder 2"/>
          <p:cNvSpPr>
            <a:spLocks noGrp="1"/>
          </p:cNvSpPr>
          <p:nvPr>
            <p:ph idx="1"/>
          </p:nvPr>
        </p:nvSpPr>
        <p:spPr>
          <a:xfrm>
            <a:off x="838200" y="1825625"/>
            <a:ext cx="10515600" cy="2014855"/>
          </a:xfrm>
        </p:spPr>
        <p:txBody>
          <a:bodyPr/>
          <a:lstStyle/>
          <a:p>
            <a:r>
              <a:rPr lang="en-GB" dirty="0">
                <a:solidFill>
                  <a:schemeClr val="tx1"/>
                </a:solidFill>
              </a:rPr>
              <a:t>Also known as hex.</a:t>
            </a:r>
          </a:p>
          <a:p>
            <a:r>
              <a:rPr lang="en-GB" dirty="0">
                <a:solidFill>
                  <a:schemeClr val="tx1"/>
                </a:solidFill>
              </a:rPr>
              <a:t>Unlike denary (base 10) and binary (base 2), hex is base 16</a:t>
            </a:r>
          </a:p>
          <a:p>
            <a:r>
              <a:rPr lang="en-GB" dirty="0">
                <a:solidFill>
                  <a:schemeClr val="tx1"/>
                </a:solidFill>
              </a:rPr>
              <a:t>Uses digits 0-9, and also letters A-F to represent data – this gives 16 possibilities</a:t>
            </a:r>
          </a:p>
          <a:p>
            <a:endParaRPr lang="en-GB" dirty="0"/>
          </a:p>
        </p:txBody>
      </p:sp>
      <p:graphicFrame>
        <p:nvGraphicFramePr>
          <p:cNvPr id="4" name="Table 3"/>
          <p:cNvGraphicFramePr>
            <a:graphicFrameLocks noGrp="1"/>
          </p:cNvGraphicFramePr>
          <p:nvPr/>
        </p:nvGraphicFramePr>
        <p:xfrm>
          <a:off x="617728" y="3840480"/>
          <a:ext cx="11025640" cy="792480"/>
        </p:xfrm>
        <a:graphic>
          <a:graphicData uri="http://schemas.openxmlformats.org/drawingml/2006/table">
            <a:tbl>
              <a:tblPr firstRow="1" bandRow="1">
                <a:tableStyleId>{5C22544A-7EE6-4342-B048-85BDC9FD1C3A}</a:tableStyleId>
              </a:tblPr>
              <a:tblGrid>
                <a:gridCol w="2205128">
                  <a:extLst>
                    <a:ext uri="{9D8B030D-6E8A-4147-A177-3AD203B41FA5}">
                      <a16:colId xmlns:a16="http://schemas.microsoft.com/office/drawing/2014/main" xmlns="" val="20000"/>
                    </a:ext>
                  </a:extLst>
                </a:gridCol>
                <a:gridCol w="551282">
                  <a:extLst>
                    <a:ext uri="{9D8B030D-6E8A-4147-A177-3AD203B41FA5}">
                      <a16:colId xmlns:a16="http://schemas.microsoft.com/office/drawing/2014/main" xmlns="" val="20001"/>
                    </a:ext>
                  </a:extLst>
                </a:gridCol>
                <a:gridCol w="551282">
                  <a:extLst>
                    <a:ext uri="{9D8B030D-6E8A-4147-A177-3AD203B41FA5}">
                      <a16:colId xmlns:a16="http://schemas.microsoft.com/office/drawing/2014/main" xmlns="" val="20002"/>
                    </a:ext>
                  </a:extLst>
                </a:gridCol>
                <a:gridCol w="551282">
                  <a:extLst>
                    <a:ext uri="{9D8B030D-6E8A-4147-A177-3AD203B41FA5}">
                      <a16:colId xmlns:a16="http://schemas.microsoft.com/office/drawing/2014/main" xmlns="" val="20003"/>
                    </a:ext>
                  </a:extLst>
                </a:gridCol>
                <a:gridCol w="551282">
                  <a:extLst>
                    <a:ext uri="{9D8B030D-6E8A-4147-A177-3AD203B41FA5}">
                      <a16:colId xmlns:a16="http://schemas.microsoft.com/office/drawing/2014/main" xmlns="" val="20004"/>
                    </a:ext>
                  </a:extLst>
                </a:gridCol>
                <a:gridCol w="551282">
                  <a:extLst>
                    <a:ext uri="{9D8B030D-6E8A-4147-A177-3AD203B41FA5}">
                      <a16:colId xmlns:a16="http://schemas.microsoft.com/office/drawing/2014/main" xmlns="" val="20005"/>
                    </a:ext>
                  </a:extLst>
                </a:gridCol>
                <a:gridCol w="551282">
                  <a:extLst>
                    <a:ext uri="{9D8B030D-6E8A-4147-A177-3AD203B41FA5}">
                      <a16:colId xmlns:a16="http://schemas.microsoft.com/office/drawing/2014/main" xmlns="" val="20006"/>
                    </a:ext>
                  </a:extLst>
                </a:gridCol>
                <a:gridCol w="551282">
                  <a:extLst>
                    <a:ext uri="{9D8B030D-6E8A-4147-A177-3AD203B41FA5}">
                      <a16:colId xmlns:a16="http://schemas.microsoft.com/office/drawing/2014/main" xmlns="" val="20007"/>
                    </a:ext>
                  </a:extLst>
                </a:gridCol>
                <a:gridCol w="551282">
                  <a:extLst>
                    <a:ext uri="{9D8B030D-6E8A-4147-A177-3AD203B41FA5}">
                      <a16:colId xmlns:a16="http://schemas.microsoft.com/office/drawing/2014/main" xmlns="" val="20008"/>
                    </a:ext>
                  </a:extLst>
                </a:gridCol>
                <a:gridCol w="551282">
                  <a:extLst>
                    <a:ext uri="{9D8B030D-6E8A-4147-A177-3AD203B41FA5}">
                      <a16:colId xmlns:a16="http://schemas.microsoft.com/office/drawing/2014/main" xmlns="" val="20009"/>
                    </a:ext>
                  </a:extLst>
                </a:gridCol>
                <a:gridCol w="551282">
                  <a:extLst>
                    <a:ext uri="{9D8B030D-6E8A-4147-A177-3AD203B41FA5}">
                      <a16:colId xmlns:a16="http://schemas.microsoft.com/office/drawing/2014/main" xmlns="" val="20010"/>
                    </a:ext>
                  </a:extLst>
                </a:gridCol>
                <a:gridCol w="551282">
                  <a:extLst>
                    <a:ext uri="{9D8B030D-6E8A-4147-A177-3AD203B41FA5}">
                      <a16:colId xmlns:a16="http://schemas.microsoft.com/office/drawing/2014/main" xmlns="" val="20011"/>
                    </a:ext>
                  </a:extLst>
                </a:gridCol>
                <a:gridCol w="551282">
                  <a:extLst>
                    <a:ext uri="{9D8B030D-6E8A-4147-A177-3AD203B41FA5}">
                      <a16:colId xmlns:a16="http://schemas.microsoft.com/office/drawing/2014/main" xmlns="" val="20012"/>
                    </a:ext>
                  </a:extLst>
                </a:gridCol>
                <a:gridCol w="551282">
                  <a:extLst>
                    <a:ext uri="{9D8B030D-6E8A-4147-A177-3AD203B41FA5}">
                      <a16:colId xmlns:a16="http://schemas.microsoft.com/office/drawing/2014/main" xmlns="" val="20013"/>
                    </a:ext>
                  </a:extLst>
                </a:gridCol>
                <a:gridCol w="551282">
                  <a:extLst>
                    <a:ext uri="{9D8B030D-6E8A-4147-A177-3AD203B41FA5}">
                      <a16:colId xmlns:a16="http://schemas.microsoft.com/office/drawing/2014/main" xmlns="" val="20014"/>
                    </a:ext>
                  </a:extLst>
                </a:gridCol>
                <a:gridCol w="551282">
                  <a:extLst>
                    <a:ext uri="{9D8B030D-6E8A-4147-A177-3AD203B41FA5}">
                      <a16:colId xmlns:a16="http://schemas.microsoft.com/office/drawing/2014/main" xmlns="" val="20015"/>
                    </a:ext>
                  </a:extLst>
                </a:gridCol>
                <a:gridCol w="551282">
                  <a:extLst>
                    <a:ext uri="{9D8B030D-6E8A-4147-A177-3AD203B41FA5}">
                      <a16:colId xmlns:a16="http://schemas.microsoft.com/office/drawing/2014/main" xmlns="" val="20016"/>
                    </a:ext>
                  </a:extLst>
                </a:gridCol>
              </a:tblGrid>
              <a:tr h="396240">
                <a:tc>
                  <a:txBody>
                    <a:bodyPr/>
                    <a:lstStyle/>
                    <a:p>
                      <a:r>
                        <a:rPr lang="en-GB" dirty="0"/>
                        <a:t>HEXADECIMAL</a:t>
                      </a:r>
                    </a:p>
                  </a:txBody>
                  <a:tcPr/>
                </a:tc>
                <a:tc>
                  <a:txBody>
                    <a:bodyPr/>
                    <a:lstStyle/>
                    <a:p>
                      <a:r>
                        <a:rPr lang="en-GB" dirty="0"/>
                        <a:t>0</a:t>
                      </a:r>
                    </a:p>
                  </a:txBody>
                  <a:tcPr/>
                </a:tc>
                <a:tc>
                  <a:txBody>
                    <a:bodyPr/>
                    <a:lstStyle/>
                    <a:p>
                      <a:r>
                        <a:rPr lang="en-GB" dirty="0"/>
                        <a:t>1</a:t>
                      </a:r>
                    </a:p>
                  </a:txBody>
                  <a:tcPr/>
                </a:tc>
                <a:tc>
                  <a:txBody>
                    <a:bodyPr/>
                    <a:lstStyle/>
                    <a:p>
                      <a:r>
                        <a:rPr lang="en-GB" dirty="0"/>
                        <a:t>2</a:t>
                      </a:r>
                    </a:p>
                  </a:txBody>
                  <a:tcPr/>
                </a:tc>
                <a:tc>
                  <a:txBody>
                    <a:bodyPr/>
                    <a:lstStyle/>
                    <a:p>
                      <a:r>
                        <a:rPr lang="en-GB" dirty="0"/>
                        <a:t>3</a:t>
                      </a:r>
                    </a:p>
                  </a:txBody>
                  <a:tcPr/>
                </a:tc>
                <a:tc>
                  <a:txBody>
                    <a:bodyPr/>
                    <a:lstStyle/>
                    <a:p>
                      <a:r>
                        <a:rPr lang="en-GB" dirty="0"/>
                        <a:t>4</a:t>
                      </a:r>
                    </a:p>
                  </a:txBody>
                  <a:tcPr/>
                </a:tc>
                <a:tc>
                  <a:txBody>
                    <a:bodyPr/>
                    <a:lstStyle/>
                    <a:p>
                      <a:r>
                        <a:rPr lang="en-GB" dirty="0"/>
                        <a:t>5</a:t>
                      </a:r>
                    </a:p>
                  </a:txBody>
                  <a:tcPr/>
                </a:tc>
                <a:tc>
                  <a:txBody>
                    <a:bodyPr/>
                    <a:lstStyle/>
                    <a:p>
                      <a:r>
                        <a:rPr lang="en-GB" dirty="0"/>
                        <a:t>6</a:t>
                      </a:r>
                    </a:p>
                  </a:txBody>
                  <a:tcPr/>
                </a:tc>
                <a:tc>
                  <a:txBody>
                    <a:bodyPr/>
                    <a:lstStyle/>
                    <a:p>
                      <a:r>
                        <a:rPr lang="en-GB" dirty="0"/>
                        <a:t>7</a:t>
                      </a:r>
                    </a:p>
                  </a:txBody>
                  <a:tcPr/>
                </a:tc>
                <a:tc>
                  <a:txBody>
                    <a:bodyPr/>
                    <a:lstStyle/>
                    <a:p>
                      <a:r>
                        <a:rPr lang="en-GB" dirty="0"/>
                        <a:t>8</a:t>
                      </a:r>
                    </a:p>
                  </a:txBody>
                  <a:tcPr/>
                </a:tc>
                <a:tc>
                  <a:txBody>
                    <a:bodyPr/>
                    <a:lstStyle/>
                    <a:p>
                      <a:r>
                        <a:rPr lang="en-GB" dirty="0"/>
                        <a:t>9</a:t>
                      </a:r>
                    </a:p>
                  </a:txBody>
                  <a:tcPr/>
                </a:tc>
                <a:tc>
                  <a:txBody>
                    <a:bodyPr/>
                    <a:lstStyle/>
                    <a:p>
                      <a:r>
                        <a:rPr lang="en-GB" dirty="0"/>
                        <a:t>A</a:t>
                      </a:r>
                    </a:p>
                  </a:txBody>
                  <a:tcPr/>
                </a:tc>
                <a:tc>
                  <a:txBody>
                    <a:bodyPr/>
                    <a:lstStyle/>
                    <a:p>
                      <a:r>
                        <a:rPr lang="en-GB" dirty="0"/>
                        <a:t>B</a:t>
                      </a:r>
                    </a:p>
                  </a:txBody>
                  <a:tcPr/>
                </a:tc>
                <a:tc>
                  <a:txBody>
                    <a:bodyPr/>
                    <a:lstStyle/>
                    <a:p>
                      <a:r>
                        <a:rPr lang="en-GB" dirty="0"/>
                        <a:t>C</a:t>
                      </a:r>
                    </a:p>
                  </a:txBody>
                  <a:tcPr/>
                </a:tc>
                <a:tc>
                  <a:txBody>
                    <a:bodyPr/>
                    <a:lstStyle/>
                    <a:p>
                      <a:r>
                        <a:rPr lang="en-GB" dirty="0"/>
                        <a:t>D</a:t>
                      </a:r>
                    </a:p>
                  </a:txBody>
                  <a:tcPr/>
                </a:tc>
                <a:tc>
                  <a:txBody>
                    <a:bodyPr/>
                    <a:lstStyle/>
                    <a:p>
                      <a:r>
                        <a:rPr lang="en-GB" dirty="0"/>
                        <a:t>E</a:t>
                      </a:r>
                    </a:p>
                  </a:txBody>
                  <a:tcPr/>
                </a:tc>
                <a:tc>
                  <a:txBody>
                    <a:bodyPr/>
                    <a:lstStyle/>
                    <a:p>
                      <a:r>
                        <a:rPr lang="en-GB" dirty="0"/>
                        <a:t>F</a:t>
                      </a:r>
                    </a:p>
                  </a:txBody>
                  <a:tcPr/>
                </a:tc>
                <a:extLst>
                  <a:ext uri="{0D108BD9-81ED-4DB2-BD59-A6C34878D82A}">
                    <a16:rowId xmlns:a16="http://schemas.microsoft.com/office/drawing/2014/main" xmlns="" val="10000"/>
                  </a:ext>
                </a:extLst>
              </a:tr>
              <a:tr h="396240">
                <a:tc>
                  <a:txBody>
                    <a:bodyPr/>
                    <a:lstStyle/>
                    <a:p>
                      <a:r>
                        <a:rPr lang="en-GB" dirty="0"/>
                        <a:t>DECIMAL</a:t>
                      </a:r>
                    </a:p>
                  </a:txBody>
                  <a:tcPr/>
                </a:tc>
                <a:tc>
                  <a:txBody>
                    <a:bodyPr/>
                    <a:lstStyle/>
                    <a:p>
                      <a:r>
                        <a:rPr lang="en-GB" dirty="0"/>
                        <a:t>0</a:t>
                      </a:r>
                    </a:p>
                  </a:txBody>
                  <a:tcPr/>
                </a:tc>
                <a:tc>
                  <a:txBody>
                    <a:bodyPr/>
                    <a:lstStyle/>
                    <a:p>
                      <a:r>
                        <a:rPr lang="en-GB" dirty="0"/>
                        <a:t>1</a:t>
                      </a:r>
                    </a:p>
                  </a:txBody>
                  <a:tcPr/>
                </a:tc>
                <a:tc>
                  <a:txBody>
                    <a:bodyPr/>
                    <a:lstStyle/>
                    <a:p>
                      <a:r>
                        <a:rPr lang="en-GB" dirty="0"/>
                        <a:t>2</a:t>
                      </a:r>
                    </a:p>
                  </a:txBody>
                  <a:tcPr/>
                </a:tc>
                <a:tc>
                  <a:txBody>
                    <a:bodyPr/>
                    <a:lstStyle/>
                    <a:p>
                      <a:r>
                        <a:rPr lang="en-GB" dirty="0"/>
                        <a:t>3</a:t>
                      </a:r>
                    </a:p>
                  </a:txBody>
                  <a:tcPr/>
                </a:tc>
                <a:tc>
                  <a:txBody>
                    <a:bodyPr/>
                    <a:lstStyle/>
                    <a:p>
                      <a:r>
                        <a:rPr lang="en-GB" dirty="0"/>
                        <a:t>4</a:t>
                      </a:r>
                    </a:p>
                  </a:txBody>
                  <a:tcPr/>
                </a:tc>
                <a:tc>
                  <a:txBody>
                    <a:bodyPr/>
                    <a:lstStyle/>
                    <a:p>
                      <a:r>
                        <a:rPr lang="en-GB" dirty="0"/>
                        <a:t>5</a:t>
                      </a:r>
                    </a:p>
                  </a:txBody>
                  <a:tcPr/>
                </a:tc>
                <a:tc>
                  <a:txBody>
                    <a:bodyPr/>
                    <a:lstStyle/>
                    <a:p>
                      <a:r>
                        <a:rPr lang="en-GB" dirty="0"/>
                        <a:t>6</a:t>
                      </a:r>
                    </a:p>
                  </a:txBody>
                  <a:tcPr/>
                </a:tc>
                <a:tc>
                  <a:txBody>
                    <a:bodyPr/>
                    <a:lstStyle/>
                    <a:p>
                      <a:r>
                        <a:rPr lang="en-GB" dirty="0"/>
                        <a:t>7</a:t>
                      </a:r>
                    </a:p>
                  </a:txBody>
                  <a:tcPr/>
                </a:tc>
                <a:tc>
                  <a:txBody>
                    <a:bodyPr/>
                    <a:lstStyle/>
                    <a:p>
                      <a:r>
                        <a:rPr lang="en-GB" dirty="0"/>
                        <a:t>8</a:t>
                      </a:r>
                    </a:p>
                  </a:txBody>
                  <a:tcPr/>
                </a:tc>
                <a:tc>
                  <a:txBody>
                    <a:bodyPr/>
                    <a:lstStyle/>
                    <a:p>
                      <a:r>
                        <a:rPr lang="en-GB" dirty="0"/>
                        <a:t>9</a:t>
                      </a:r>
                    </a:p>
                  </a:txBody>
                  <a:tcPr/>
                </a:tc>
                <a:tc>
                  <a:txBody>
                    <a:bodyPr/>
                    <a:lstStyle/>
                    <a:p>
                      <a:r>
                        <a:rPr lang="en-GB" dirty="0"/>
                        <a:t>10</a:t>
                      </a:r>
                    </a:p>
                  </a:txBody>
                  <a:tcPr/>
                </a:tc>
                <a:tc>
                  <a:txBody>
                    <a:bodyPr/>
                    <a:lstStyle/>
                    <a:p>
                      <a:r>
                        <a:rPr lang="en-GB" dirty="0"/>
                        <a:t>11</a:t>
                      </a:r>
                    </a:p>
                  </a:txBody>
                  <a:tcPr/>
                </a:tc>
                <a:tc>
                  <a:txBody>
                    <a:bodyPr/>
                    <a:lstStyle/>
                    <a:p>
                      <a:r>
                        <a:rPr lang="en-GB" dirty="0"/>
                        <a:t>12</a:t>
                      </a:r>
                    </a:p>
                  </a:txBody>
                  <a:tcPr/>
                </a:tc>
                <a:tc>
                  <a:txBody>
                    <a:bodyPr/>
                    <a:lstStyle/>
                    <a:p>
                      <a:r>
                        <a:rPr lang="en-GB" dirty="0"/>
                        <a:t>13</a:t>
                      </a:r>
                    </a:p>
                  </a:txBody>
                  <a:tcPr/>
                </a:tc>
                <a:tc>
                  <a:txBody>
                    <a:bodyPr/>
                    <a:lstStyle/>
                    <a:p>
                      <a:r>
                        <a:rPr lang="en-GB" dirty="0"/>
                        <a:t>14</a:t>
                      </a:r>
                    </a:p>
                  </a:txBody>
                  <a:tcPr/>
                </a:tc>
                <a:tc>
                  <a:txBody>
                    <a:bodyPr/>
                    <a:lstStyle/>
                    <a:p>
                      <a:r>
                        <a:rPr lang="en-GB" dirty="0"/>
                        <a:t>15</a:t>
                      </a:r>
                    </a:p>
                  </a:txBody>
                  <a:tcPr/>
                </a:tc>
                <a:extLst>
                  <a:ext uri="{0D108BD9-81ED-4DB2-BD59-A6C34878D82A}">
                    <a16:rowId xmlns:a16="http://schemas.microsoft.com/office/drawing/2014/main" xmlns="" val="10001"/>
                  </a:ext>
                </a:extLst>
              </a:tr>
            </a:tbl>
          </a:graphicData>
        </a:graphic>
      </p:graphicFrame>
      <p:sp>
        <p:nvSpPr>
          <p:cNvPr id="5" name="Content Placeholder 2"/>
          <p:cNvSpPr txBox="1">
            <a:spLocks/>
          </p:cNvSpPr>
          <p:nvPr/>
        </p:nvSpPr>
        <p:spPr>
          <a:xfrm>
            <a:off x="838200" y="4754177"/>
            <a:ext cx="11230232" cy="201485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One Hex digit can be used to represent 4 bits</a:t>
            </a:r>
          </a:p>
          <a:p>
            <a:r>
              <a:rPr lang="en-GB" dirty="0"/>
              <a:t>Computers do not work in hexadecimal but is very useful when looking at memory addresses</a:t>
            </a:r>
          </a:p>
          <a:p>
            <a:pPr lvl="1"/>
            <a:r>
              <a:rPr lang="en-GB" dirty="0"/>
              <a:t>Can look at a 64bit memory address as 64-bit number or the 16-digit hex pattern</a:t>
            </a:r>
          </a:p>
        </p:txBody>
      </p:sp>
    </p:spTree>
    <p:extLst>
      <p:ext uri="{BB962C8B-B14F-4D97-AF65-F5344CB8AC3E}">
        <p14:creationId xmlns:p14="http://schemas.microsoft.com/office/powerpoint/2010/main" val="3303327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Converting a 16-bit Binary pattern to Hex</a:t>
            </a:r>
          </a:p>
        </p:txBody>
      </p:sp>
      <p:sp>
        <p:nvSpPr>
          <p:cNvPr id="3" name="Content Placeholder 2"/>
          <p:cNvSpPr>
            <a:spLocks noGrp="1"/>
          </p:cNvSpPr>
          <p:nvPr>
            <p:ph idx="1"/>
          </p:nvPr>
        </p:nvSpPr>
        <p:spPr>
          <a:xfrm>
            <a:off x="838200" y="1825625"/>
            <a:ext cx="10515600" cy="612775"/>
          </a:xfrm>
        </p:spPr>
        <p:txBody>
          <a:bodyPr/>
          <a:lstStyle/>
          <a:p>
            <a:r>
              <a:rPr lang="en-GB" dirty="0"/>
              <a:t>Place values are arranged similarly to denary and binary. </a:t>
            </a:r>
          </a:p>
        </p:txBody>
      </p:sp>
      <p:graphicFrame>
        <p:nvGraphicFramePr>
          <p:cNvPr id="4" name="Table 3"/>
          <p:cNvGraphicFramePr>
            <a:graphicFrameLocks noGrp="1"/>
          </p:cNvGraphicFramePr>
          <p:nvPr/>
        </p:nvGraphicFramePr>
        <p:xfrm>
          <a:off x="442097" y="2927405"/>
          <a:ext cx="2888736" cy="2062576"/>
        </p:xfrm>
        <a:graphic>
          <a:graphicData uri="http://schemas.openxmlformats.org/drawingml/2006/table">
            <a:tbl>
              <a:tblPr firstRow="1" bandRow="1">
                <a:tableStyleId>{5C22544A-7EE6-4342-B048-85BDC9FD1C3A}</a:tableStyleId>
              </a:tblPr>
              <a:tblGrid>
                <a:gridCol w="722184">
                  <a:extLst>
                    <a:ext uri="{9D8B030D-6E8A-4147-A177-3AD203B41FA5}">
                      <a16:colId xmlns:a16="http://schemas.microsoft.com/office/drawing/2014/main" xmlns="" val="20000"/>
                    </a:ext>
                  </a:extLst>
                </a:gridCol>
                <a:gridCol w="722184">
                  <a:extLst>
                    <a:ext uri="{9D8B030D-6E8A-4147-A177-3AD203B41FA5}">
                      <a16:colId xmlns:a16="http://schemas.microsoft.com/office/drawing/2014/main" xmlns="" val="20001"/>
                    </a:ext>
                  </a:extLst>
                </a:gridCol>
                <a:gridCol w="722184">
                  <a:extLst>
                    <a:ext uri="{9D8B030D-6E8A-4147-A177-3AD203B41FA5}">
                      <a16:colId xmlns:a16="http://schemas.microsoft.com/office/drawing/2014/main" xmlns="" val="20002"/>
                    </a:ext>
                  </a:extLst>
                </a:gridCol>
                <a:gridCol w="722184">
                  <a:extLst>
                    <a:ext uri="{9D8B030D-6E8A-4147-A177-3AD203B41FA5}">
                      <a16:colId xmlns:a16="http://schemas.microsoft.com/office/drawing/2014/main" xmlns="" val="20003"/>
                    </a:ext>
                  </a:extLst>
                </a:gridCol>
              </a:tblGrid>
              <a:tr h="680768">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Denary</a:t>
                      </a:r>
                    </a:p>
                  </a:txBody>
                  <a:tcPr anchor="ctr"/>
                </a:tc>
                <a:tc hMerge="1">
                  <a:txBody>
                    <a:bodyPr/>
                    <a:lstStyle/>
                    <a:p>
                      <a:pPr algn="ctr"/>
                      <a:endParaRPr lang="en-GB" sz="2400" dirty="0"/>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2400" dirty="0"/>
                    </a:p>
                  </a:txBody>
                  <a:tcPr anchor="ctr"/>
                </a:tc>
                <a:tc hMerge="1">
                  <a:txBody>
                    <a:bodyPr/>
                    <a:lstStyle/>
                    <a:p>
                      <a:pPr algn="ctr"/>
                      <a:endParaRPr lang="en-GB" sz="2400" dirty="0"/>
                    </a:p>
                  </a:txBody>
                  <a:tcPr anchor="ctr"/>
                </a:tc>
                <a:extLst>
                  <a:ext uri="{0D108BD9-81ED-4DB2-BD59-A6C34878D82A}">
                    <a16:rowId xmlns:a16="http://schemas.microsoft.com/office/drawing/2014/main" xmlns="" val="10000"/>
                  </a:ext>
                </a:extLst>
              </a:tr>
              <a:tr h="68076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10³</a:t>
                      </a:r>
                    </a:p>
                  </a:txBody>
                  <a:tcPr anchor="ctr"/>
                </a:tc>
                <a:tc>
                  <a:txBody>
                    <a:bodyPr/>
                    <a:lstStyle/>
                    <a:p>
                      <a:pPr algn="ctr"/>
                      <a:r>
                        <a:rPr lang="en-GB" sz="2400" dirty="0"/>
                        <a:t>10²</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10¹</a:t>
                      </a:r>
                    </a:p>
                  </a:txBody>
                  <a:tcPr anchor="ctr"/>
                </a:tc>
                <a:tc>
                  <a:txBody>
                    <a:bodyPr/>
                    <a:lstStyle/>
                    <a:p>
                      <a:pPr algn="ctr"/>
                      <a:r>
                        <a:rPr lang="en-GB" sz="2400" dirty="0"/>
                        <a:t>10⁰</a:t>
                      </a:r>
                    </a:p>
                  </a:txBody>
                  <a:tcPr anchor="ctr"/>
                </a:tc>
                <a:extLst>
                  <a:ext uri="{0D108BD9-81ED-4DB2-BD59-A6C34878D82A}">
                    <a16:rowId xmlns:a16="http://schemas.microsoft.com/office/drawing/2014/main" xmlns="" val="10001"/>
                  </a:ext>
                </a:extLst>
              </a:tr>
              <a:tr h="683814">
                <a:tc>
                  <a:txBody>
                    <a:bodyPr/>
                    <a:lstStyle/>
                    <a:p>
                      <a:pPr algn="ctr"/>
                      <a:r>
                        <a:rPr lang="en-GB" sz="2000" dirty="0"/>
                        <a:t>1000</a:t>
                      </a:r>
                    </a:p>
                  </a:txBody>
                  <a:tcPr anchor="ctr"/>
                </a:tc>
                <a:tc>
                  <a:txBody>
                    <a:bodyPr/>
                    <a:lstStyle/>
                    <a:p>
                      <a:pPr algn="ctr"/>
                      <a:r>
                        <a:rPr lang="en-GB" sz="2000" dirty="0"/>
                        <a:t>100</a:t>
                      </a:r>
                    </a:p>
                  </a:txBody>
                  <a:tcPr anchor="ctr"/>
                </a:tc>
                <a:tc>
                  <a:txBody>
                    <a:bodyPr/>
                    <a:lstStyle/>
                    <a:p>
                      <a:pPr algn="ctr"/>
                      <a:r>
                        <a:rPr lang="en-GB" sz="2000" dirty="0"/>
                        <a:t>10</a:t>
                      </a:r>
                    </a:p>
                  </a:txBody>
                  <a:tcPr anchor="ctr"/>
                </a:tc>
                <a:tc>
                  <a:txBody>
                    <a:bodyPr/>
                    <a:lstStyle/>
                    <a:p>
                      <a:pPr algn="ctr"/>
                      <a:r>
                        <a:rPr lang="en-GB" sz="2000" dirty="0"/>
                        <a:t>1</a:t>
                      </a:r>
                    </a:p>
                  </a:txBody>
                  <a:tcPr anchor="ctr"/>
                </a:tc>
                <a:extLst>
                  <a:ext uri="{0D108BD9-81ED-4DB2-BD59-A6C34878D82A}">
                    <a16:rowId xmlns:a16="http://schemas.microsoft.com/office/drawing/2014/main" xmlns="" val="10002"/>
                  </a:ext>
                </a:extLst>
              </a:tr>
            </a:tbl>
          </a:graphicData>
        </a:graphic>
      </p:graphicFrame>
      <p:graphicFrame>
        <p:nvGraphicFramePr>
          <p:cNvPr id="5" name="Table 4"/>
          <p:cNvGraphicFramePr>
            <a:graphicFrameLocks noGrp="1"/>
          </p:cNvGraphicFramePr>
          <p:nvPr/>
        </p:nvGraphicFramePr>
        <p:xfrm>
          <a:off x="4194432" y="2915048"/>
          <a:ext cx="2888736" cy="2045350"/>
        </p:xfrm>
        <a:graphic>
          <a:graphicData uri="http://schemas.openxmlformats.org/drawingml/2006/table">
            <a:tbl>
              <a:tblPr firstRow="1" bandRow="1">
                <a:tableStyleId>{5C22544A-7EE6-4342-B048-85BDC9FD1C3A}</a:tableStyleId>
              </a:tblPr>
              <a:tblGrid>
                <a:gridCol w="722184">
                  <a:extLst>
                    <a:ext uri="{9D8B030D-6E8A-4147-A177-3AD203B41FA5}">
                      <a16:colId xmlns:a16="http://schemas.microsoft.com/office/drawing/2014/main" xmlns="" val="20000"/>
                    </a:ext>
                  </a:extLst>
                </a:gridCol>
                <a:gridCol w="722184">
                  <a:extLst>
                    <a:ext uri="{9D8B030D-6E8A-4147-A177-3AD203B41FA5}">
                      <a16:colId xmlns:a16="http://schemas.microsoft.com/office/drawing/2014/main" xmlns="" val="20001"/>
                    </a:ext>
                  </a:extLst>
                </a:gridCol>
                <a:gridCol w="722184">
                  <a:extLst>
                    <a:ext uri="{9D8B030D-6E8A-4147-A177-3AD203B41FA5}">
                      <a16:colId xmlns:a16="http://schemas.microsoft.com/office/drawing/2014/main" xmlns="" val="20002"/>
                    </a:ext>
                  </a:extLst>
                </a:gridCol>
                <a:gridCol w="722184">
                  <a:extLst>
                    <a:ext uri="{9D8B030D-6E8A-4147-A177-3AD203B41FA5}">
                      <a16:colId xmlns:a16="http://schemas.microsoft.com/office/drawing/2014/main" xmlns="" val="20003"/>
                    </a:ext>
                  </a:extLst>
                </a:gridCol>
              </a:tblGrid>
              <a:tr h="680768">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Binary</a:t>
                      </a:r>
                    </a:p>
                  </a:txBody>
                  <a:tcPr anchor="ctr"/>
                </a:tc>
                <a:tc hMerge="1">
                  <a:txBody>
                    <a:bodyPr/>
                    <a:lstStyle/>
                    <a:p>
                      <a:pPr algn="ctr"/>
                      <a:endParaRPr lang="en-GB" sz="2400" dirty="0"/>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2400" dirty="0"/>
                    </a:p>
                  </a:txBody>
                  <a:tcPr anchor="ctr"/>
                </a:tc>
                <a:tc hMerge="1">
                  <a:txBody>
                    <a:bodyPr/>
                    <a:lstStyle/>
                    <a:p>
                      <a:pPr algn="ctr"/>
                      <a:endParaRPr lang="en-GB" sz="2400" dirty="0"/>
                    </a:p>
                  </a:txBody>
                  <a:tcPr anchor="ctr"/>
                </a:tc>
                <a:extLst>
                  <a:ext uri="{0D108BD9-81ED-4DB2-BD59-A6C34878D82A}">
                    <a16:rowId xmlns:a16="http://schemas.microsoft.com/office/drawing/2014/main" xmlns="" val="10000"/>
                  </a:ext>
                </a:extLst>
              </a:tr>
              <a:tr h="68076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2³</a:t>
                      </a:r>
                    </a:p>
                  </a:txBody>
                  <a:tcPr anchor="ctr"/>
                </a:tc>
                <a:tc>
                  <a:txBody>
                    <a:bodyPr/>
                    <a:lstStyle/>
                    <a:p>
                      <a:pPr algn="ctr"/>
                      <a:r>
                        <a:rPr lang="en-GB" sz="2400" dirty="0"/>
                        <a:t>2²</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2¹</a:t>
                      </a:r>
                    </a:p>
                  </a:txBody>
                  <a:tcPr anchor="ctr"/>
                </a:tc>
                <a:tc>
                  <a:txBody>
                    <a:bodyPr/>
                    <a:lstStyle/>
                    <a:p>
                      <a:pPr algn="ctr"/>
                      <a:r>
                        <a:rPr lang="en-GB" sz="2400" dirty="0"/>
                        <a:t>2⁰</a:t>
                      </a:r>
                    </a:p>
                  </a:txBody>
                  <a:tcPr anchor="ctr"/>
                </a:tc>
                <a:extLst>
                  <a:ext uri="{0D108BD9-81ED-4DB2-BD59-A6C34878D82A}">
                    <a16:rowId xmlns:a16="http://schemas.microsoft.com/office/drawing/2014/main" xmlns="" val="10001"/>
                  </a:ext>
                </a:extLst>
              </a:tr>
              <a:tr h="683814">
                <a:tc>
                  <a:txBody>
                    <a:bodyPr/>
                    <a:lstStyle/>
                    <a:p>
                      <a:pPr algn="ctr"/>
                      <a:r>
                        <a:rPr lang="en-GB" sz="2000" dirty="0"/>
                        <a:t>8</a:t>
                      </a:r>
                    </a:p>
                  </a:txBody>
                  <a:tcPr anchor="ctr"/>
                </a:tc>
                <a:tc>
                  <a:txBody>
                    <a:bodyPr/>
                    <a:lstStyle/>
                    <a:p>
                      <a:pPr algn="ctr"/>
                      <a:r>
                        <a:rPr lang="en-GB" sz="2000" dirty="0"/>
                        <a:t>4</a:t>
                      </a:r>
                    </a:p>
                  </a:txBody>
                  <a:tcPr anchor="ctr"/>
                </a:tc>
                <a:tc>
                  <a:txBody>
                    <a:bodyPr/>
                    <a:lstStyle/>
                    <a:p>
                      <a:pPr algn="ctr"/>
                      <a:r>
                        <a:rPr lang="en-GB" sz="2000" dirty="0"/>
                        <a:t>2</a:t>
                      </a:r>
                    </a:p>
                  </a:txBody>
                  <a:tcPr anchor="ctr"/>
                </a:tc>
                <a:tc>
                  <a:txBody>
                    <a:bodyPr/>
                    <a:lstStyle/>
                    <a:p>
                      <a:pPr algn="ctr"/>
                      <a:r>
                        <a:rPr lang="en-GB" sz="2000" dirty="0"/>
                        <a:t>1</a:t>
                      </a:r>
                    </a:p>
                  </a:txBody>
                  <a:tcPr anchor="ctr"/>
                </a:tc>
                <a:extLst>
                  <a:ext uri="{0D108BD9-81ED-4DB2-BD59-A6C34878D82A}">
                    <a16:rowId xmlns:a16="http://schemas.microsoft.com/office/drawing/2014/main" xmlns="" val="10002"/>
                  </a:ext>
                </a:extLst>
              </a:tr>
            </a:tbl>
          </a:graphicData>
        </a:graphic>
      </p:graphicFrame>
      <p:graphicFrame>
        <p:nvGraphicFramePr>
          <p:cNvPr id="6" name="Table 5"/>
          <p:cNvGraphicFramePr>
            <a:graphicFrameLocks noGrp="1"/>
          </p:cNvGraphicFramePr>
          <p:nvPr/>
        </p:nvGraphicFramePr>
        <p:xfrm>
          <a:off x="8115643" y="2915049"/>
          <a:ext cx="2888736" cy="2062576"/>
        </p:xfrm>
        <a:graphic>
          <a:graphicData uri="http://schemas.openxmlformats.org/drawingml/2006/table">
            <a:tbl>
              <a:tblPr firstRow="1" bandRow="1">
                <a:tableStyleId>{5C22544A-7EE6-4342-B048-85BDC9FD1C3A}</a:tableStyleId>
              </a:tblPr>
              <a:tblGrid>
                <a:gridCol w="722184">
                  <a:extLst>
                    <a:ext uri="{9D8B030D-6E8A-4147-A177-3AD203B41FA5}">
                      <a16:colId xmlns:a16="http://schemas.microsoft.com/office/drawing/2014/main" xmlns="" val="20000"/>
                    </a:ext>
                  </a:extLst>
                </a:gridCol>
                <a:gridCol w="722184">
                  <a:extLst>
                    <a:ext uri="{9D8B030D-6E8A-4147-A177-3AD203B41FA5}">
                      <a16:colId xmlns:a16="http://schemas.microsoft.com/office/drawing/2014/main" xmlns="" val="20001"/>
                    </a:ext>
                  </a:extLst>
                </a:gridCol>
                <a:gridCol w="722184">
                  <a:extLst>
                    <a:ext uri="{9D8B030D-6E8A-4147-A177-3AD203B41FA5}">
                      <a16:colId xmlns:a16="http://schemas.microsoft.com/office/drawing/2014/main" xmlns="" val="20002"/>
                    </a:ext>
                  </a:extLst>
                </a:gridCol>
                <a:gridCol w="722184">
                  <a:extLst>
                    <a:ext uri="{9D8B030D-6E8A-4147-A177-3AD203B41FA5}">
                      <a16:colId xmlns:a16="http://schemas.microsoft.com/office/drawing/2014/main" xmlns="" val="20003"/>
                    </a:ext>
                  </a:extLst>
                </a:gridCol>
              </a:tblGrid>
              <a:tr h="680768">
                <a:tc grid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Hexadecimal</a:t>
                      </a:r>
                    </a:p>
                  </a:txBody>
                  <a:tcPr anchor="ctr"/>
                </a:tc>
                <a:tc hMerge="1">
                  <a:txBody>
                    <a:bodyPr/>
                    <a:lstStyle/>
                    <a:p>
                      <a:pPr algn="ctr"/>
                      <a:endParaRPr lang="en-GB" sz="2400" dirty="0"/>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GB" sz="2400" dirty="0"/>
                    </a:p>
                  </a:txBody>
                  <a:tcPr anchor="ctr"/>
                </a:tc>
                <a:tc hMerge="1">
                  <a:txBody>
                    <a:bodyPr/>
                    <a:lstStyle/>
                    <a:p>
                      <a:pPr algn="ctr"/>
                      <a:endParaRPr lang="en-GB" sz="2400" dirty="0"/>
                    </a:p>
                  </a:txBody>
                  <a:tcPr anchor="ctr"/>
                </a:tc>
                <a:extLst>
                  <a:ext uri="{0D108BD9-81ED-4DB2-BD59-A6C34878D82A}">
                    <a16:rowId xmlns:a16="http://schemas.microsoft.com/office/drawing/2014/main" xmlns="" val="10000"/>
                  </a:ext>
                </a:extLst>
              </a:tr>
              <a:tr h="68076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16³</a:t>
                      </a:r>
                    </a:p>
                  </a:txBody>
                  <a:tcPr anchor="ctr"/>
                </a:tc>
                <a:tc>
                  <a:txBody>
                    <a:bodyPr/>
                    <a:lstStyle/>
                    <a:p>
                      <a:pPr algn="ctr"/>
                      <a:r>
                        <a:rPr lang="en-GB" sz="2400" dirty="0"/>
                        <a:t>16²</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a:t>16¹</a:t>
                      </a:r>
                    </a:p>
                  </a:txBody>
                  <a:tcPr anchor="ctr"/>
                </a:tc>
                <a:tc>
                  <a:txBody>
                    <a:bodyPr/>
                    <a:lstStyle/>
                    <a:p>
                      <a:pPr algn="ctr"/>
                      <a:r>
                        <a:rPr lang="en-GB" sz="2400" dirty="0"/>
                        <a:t>16⁰</a:t>
                      </a:r>
                    </a:p>
                  </a:txBody>
                  <a:tcPr anchor="ctr"/>
                </a:tc>
                <a:extLst>
                  <a:ext uri="{0D108BD9-81ED-4DB2-BD59-A6C34878D82A}">
                    <a16:rowId xmlns:a16="http://schemas.microsoft.com/office/drawing/2014/main" xmlns="" val="10001"/>
                  </a:ext>
                </a:extLst>
              </a:tr>
              <a:tr h="683814">
                <a:tc>
                  <a:txBody>
                    <a:bodyPr/>
                    <a:lstStyle/>
                    <a:p>
                      <a:pPr algn="ctr"/>
                      <a:r>
                        <a:rPr lang="en-GB" sz="2000" dirty="0"/>
                        <a:t>4096</a:t>
                      </a:r>
                    </a:p>
                  </a:txBody>
                  <a:tcPr anchor="ctr"/>
                </a:tc>
                <a:tc>
                  <a:txBody>
                    <a:bodyPr/>
                    <a:lstStyle/>
                    <a:p>
                      <a:pPr algn="ctr"/>
                      <a:r>
                        <a:rPr lang="en-GB" sz="2000" dirty="0"/>
                        <a:t>256</a:t>
                      </a:r>
                    </a:p>
                  </a:txBody>
                  <a:tcPr anchor="ctr"/>
                </a:tc>
                <a:tc>
                  <a:txBody>
                    <a:bodyPr/>
                    <a:lstStyle/>
                    <a:p>
                      <a:pPr algn="ctr"/>
                      <a:r>
                        <a:rPr lang="en-GB" sz="2000" dirty="0"/>
                        <a:t>16</a:t>
                      </a:r>
                    </a:p>
                  </a:txBody>
                  <a:tcPr anchor="ctr"/>
                </a:tc>
                <a:tc>
                  <a:txBody>
                    <a:bodyPr/>
                    <a:lstStyle/>
                    <a:p>
                      <a:pPr algn="ctr"/>
                      <a:r>
                        <a:rPr lang="en-GB" sz="2000" dirty="0"/>
                        <a:t>1</a:t>
                      </a:r>
                    </a:p>
                  </a:txBody>
                  <a:tcPr anchor="ctr"/>
                </a:tc>
                <a:extLst>
                  <a:ext uri="{0D108BD9-81ED-4DB2-BD59-A6C34878D82A}">
                    <a16:rowId xmlns:a16="http://schemas.microsoft.com/office/drawing/2014/main" xmlns="" val="10002"/>
                  </a:ext>
                </a:extLst>
              </a:tr>
            </a:tbl>
          </a:graphicData>
        </a:graphic>
      </p:graphicFrame>
      <p:sp>
        <p:nvSpPr>
          <p:cNvPr id="7" name="Content Placeholder 2"/>
          <p:cNvSpPr txBox="1">
            <a:spLocks/>
          </p:cNvSpPr>
          <p:nvPr/>
        </p:nvSpPr>
        <p:spPr>
          <a:xfrm>
            <a:off x="838200" y="5256685"/>
            <a:ext cx="10515600" cy="15148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We often use hex to represent colour codes on computers</a:t>
            </a:r>
          </a:p>
          <a:p>
            <a:pPr lvl="1"/>
            <a:r>
              <a:rPr lang="en-GB" dirty="0"/>
              <a:t> This is because we convert RGB(##,##,##) which uses two digits for each red green blue colour and store these as hex codes</a:t>
            </a:r>
          </a:p>
        </p:txBody>
      </p:sp>
    </p:spTree>
    <p:extLst>
      <p:ext uri="{BB962C8B-B14F-4D97-AF65-F5344CB8AC3E}">
        <p14:creationId xmlns:p14="http://schemas.microsoft.com/office/powerpoint/2010/main" val="33394471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Sign, magnitude and Complementation</a:t>
            </a:r>
          </a:p>
        </p:txBody>
      </p:sp>
      <p:sp>
        <p:nvSpPr>
          <p:cNvPr id="3" name="Content Placeholder 2"/>
          <p:cNvSpPr>
            <a:spLocks noGrp="1"/>
          </p:cNvSpPr>
          <p:nvPr>
            <p:ph idx="1"/>
          </p:nvPr>
        </p:nvSpPr>
        <p:spPr/>
        <p:txBody>
          <a:bodyPr/>
          <a:lstStyle/>
          <a:p>
            <a:r>
              <a:rPr lang="en-GB" dirty="0">
                <a:solidFill>
                  <a:schemeClr val="tx1"/>
                </a:solidFill>
              </a:rPr>
              <a:t>The maximum unit of data that a computer can process at one time is called </a:t>
            </a:r>
            <a:r>
              <a:rPr lang="en-GB" b="1" dirty="0">
                <a:solidFill>
                  <a:schemeClr val="tx1"/>
                </a:solidFill>
              </a:rPr>
              <a:t>a word</a:t>
            </a:r>
            <a:r>
              <a:rPr lang="en-GB" dirty="0">
                <a:solidFill>
                  <a:schemeClr val="tx1"/>
                </a:solidFill>
              </a:rPr>
              <a:t>.</a:t>
            </a:r>
          </a:p>
          <a:p>
            <a:r>
              <a:rPr lang="en-GB" dirty="0">
                <a:solidFill>
                  <a:schemeClr val="tx1"/>
                </a:solidFill>
              </a:rPr>
              <a:t>The size of the word is related to the computer’s architecture</a:t>
            </a:r>
          </a:p>
          <a:p>
            <a:pPr lvl="1"/>
            <a:r>
              <a:rPr lang="en-GB" dirty="0">
                <a:solidFill>
                  <a:schemeClr val="tx1"/>
                </a:solidFill>
              </a:rPr>
              <a:t>So a 16-bit processor can handle words of 16-bits at one time</a:t>
            </a:r>
          </a:p>
          <a:p>
            <a:r>
              <a:rPr lang="en-GB" dirty="0">
                <a:solidFill>
                  <a:schemeClr val="tx1"/>
                </a:solidFill>
              </a:rPr>
              <a:t>Positive and negative binary patterns can be represented in a variety of different ways</a:t>
            </a:r>
          </a:p>
          <a:p>
            <a:pPr lvl="1"/>
            <a:r>
              <a:rPr lang="en-GB" dirty="0">
                <a:solidFill>
                  <a:schemeClr val="tx1"/>
                </a:solidFill>
              </a:rPr>
              <a:t>We use the left-most bit to represent the sign of the pattern</a:t>
            </a:r>
          </a:p>
          <a:p>
            <a:pPr lvl="1"/>
            <a:r>
              <a:rPr lang="en-GB" dirty="0">
                <a:solidFill>
                  <a:schemeClr val="tx1"/>
                </a:solidFill>
              </a:rPr>
              <a:t>Usually 1 = negative and 0 = positive number</a:t>
            </a:r>
          </a:p>
          <a:p>
            <a:r>
              <a:rPr lang="en-GB" dirty="0">
                <a:solidFill>
                  <a:schemeClr val="tx1"/>
                </a:solidFill>
              </a:rPr>
              <a:t>Sign and magnitude is one way of doing this</a:t>
            </a:r>
          </a:p>
        </p:txBody>
      </p:sp>
    </p:spTree>
    <p:extLst>
      <p:ext uri="{BB962C8B-B14F-4D97-AF65-F5344CB8AC3E}">
        <p14:creationId xmlns:p14="http://schemas.microsoft.com/office/powerpoint/2010/main" val="6383937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Complementation</a:t>
            </a:r>
          </a:p>
        </p:txBody>
      </p:sp>
      <p:sp>
        <p:nvSpPr>
          <p:cNvPr id="3" name="Content Placeholder 2"/>
          <p:cNvSpPr>
            <a:spLocks noGrp="1"/>
          </p:cNvSpPr>
          <p:nvPr>
            <p:ph idx="1"/>
          </p:nvPr>
        </p:nvSpPr>
        <p:spPr>
          <a:xfrm>
            <a:off x="838200" y="1825625"/>
            <a:ext cx="10515600" cy="2301532"/>
          </a:xfrm>
        </p:spPr>
        <p:txBody>
          <a:bodyPr/>
          <a:lstStyle/>
          <a:p>
            <a:r>
              <a:rPr lang="en-GB" dirty="0">
                <a:solidFill>
                  <a:schemeClr val="tx1"/>
                </a:solidFill>
              </a:rPr>
              <a:t>In a binary pattern, the left most bit is reserved for the sign and the rest of the pattern is used to represent the size of the number (the magnitude)</a:t>
            </a:r>
          </a:p>
          <a:p>
            <a:endParaRPr lang="en-GB" dirty="0">
              <a:solidFill>
                <a:schemeClr val="tx1"/>
              </a:solidFill>
            </a:endParaRPr>
          </a:p>
          <a:p>
            <a:r>
              <a:rPr lang="en-GB" dirty="0">
                <a:solidFill>
                  <a:schemeClr val="tx1"/>
                </a:solidFill>
              </a:rPr>
              <a:t>Let’s represent the number -7 in Binary:</a:t>
            </a:r>
          </a:p>
        </p:txBody>
      </p:sp>
      <p:graphicFrame>
        <p:nvGraphicFramePr>
          <p:cNvPr id="4" name="Table 3"/>
          <p:cNvGraphicFramePr>
            <a:graphicFrameLocks noGrp="1"/>
          </p:cNvGraphicFramePr>
          <p:nvPr/>
        </p:nvGraphicFramePr>
        <p:xfrm>
          <a:off x="582137" y="4212507"/>
          <a:ext cx="10505992" cy="787860"/>
        </p:xfrm>
        <a:graphic>
          <a:graphicData uri="http://schemas.openxmlformats.org/drawingml/2006/table">
            <a:tbl>
              <a:tblPr firstRow="1" bandRow="1">
                <a:tableStyleId>{5C22544A-7EE6-4342-B048-85BDC9FD1C3A}</a:tableStyleId>
              </a:tblPr>
              <a:tblGrid>
                <a:gridCol w="6115226">
                  <a:extLst>
                    <a:ext uri="{9D8B030D-6E8A-4147-A177-3AD203B41FA5}">
                      <a16:colId xmlns:a16="http://schemas.microsoft.com/office/drawing/2014/main" xmlns="" val="20000"/>
                    </a:ext>
                  </a:extLst>
                </a:gridCol>
                <a:gridCol w="650789">
                  <a:extLst>
                    <a:ext uri="{9D8B030D-6E8A-4147-A177-3AD203B41FA5}">
                      <a16:colId xmlns:a16="http://schemas.microsoft.com/office/drawing/2014/main" xmlns="" val="20001"/>
                    </a:ext>
                  </a:extLst>
                </a:gridCol>
                <a:gridCol w="650789">
                  <a:extLst>
                    <a:ext uri="{9D8B030D-6E8A-4147-A177-3AD203B41FA5}">
                      <a16:colId xmlns:a16="http://schemas.microsoft.com/office/drawing/2014/main" xmlns="" val="20002"/>
                    </a:ext>
                  </a:extLst>
                </a:gridCol>
                <a:gridCol w="626076">
                  <a:extLst>
                    <a:ext uri="{9D8B030D-6E8A-4147-A177-3AD203B41FA5}">
                      <a16:colId xmlns:a16="http://schemas.microsoft.com/office/drawing/2014/main" xmlns="" val="20003"/>
                    </a:ext>
                  </a:extLst>
                </a:gridCol>
                <a:gridCol w="617838">
                  <a:extLst>
                    <a:ext uri="{9D8B030D-6E8A-4147-A177-3AD203B41FA5}">
                      <a16:colId xmlns:a16="http://schemas.microsoft.com/office/drawing/2014/main" xmlns="" val="20004"/>
                    </a:ext>
                  </a:extLst>
                </a:gridCol>
                <a:gridCol w="617837">
                  <a:extLst>
                    <a:ext uri="{9D8B030D-6E8A-4147-A177-3AD203B41FA5}">
                      <a16:colId xmlns:a16="http://schemas.microsoft.com/office/drawing/2014/main" xmlns="" val="20005"/>
                    </a:ext>
                  </a:extLst>
                </a:gridCol>
                <a:gridCol w="617838">
                  <a:extLst>
                    <a:ext uri="{9D8B030D-6E8A-4147-A177-3AD203B41FA5}">
                      <a16:colId xmlns:a16="http://schemas.microsoft.com/office/drawing/2014/main" xmlns="" val="20006"/>
                    </a:ext>
                  </a:extLst>
                </a:gridCol>
                <a:gridCol w="609599">
                  <a:extLst>
                    <a:ext uri="{9D8B030D-6E8A-4147-A177-3AD203B41FA5}">
                      <a16:colId xmlns:a16="http://schemas.microsoft.com/office/drawing/2014/main" xmlns="" val="20007"/>
                    </a:ext>
                  </a:extLst>
                </a:gridCol>
              </a:tblGrid>
              <a:tr h="393930">
                <a:tc>
                  <a:txBody>
                    <a:bodyPr/>
                    <a:lstStyle/>
                    <a:p>
                      <a:pPr algn="ctr"/>
                      <a:r>
                        <a:rPr lang="en-GB" dirty="0"/>
                        <a:t>Most significant bit (+/-)</a:t>
                      </a:r>
                    </a:p>
                  </a:txBody>
                  <a:tcPr/>
                </a:tc>
                <a:tc>
                  <a:txBody>
                    <a:bodyPr/>
                    <a:lstStyle/>
                    <a:p>
                      <a:pPr algn="ctr"/>
                      <a:r>
                        <a:rPr lang="en-GB" dirty="0"/>
                        <a:t>64</a:t>
                      </a:r>
                    </a:p>
                  </a:txBody>
                  <a:tcPr/>
                </a:tc>
                <a:tc>
                  <a:txBody>
                    <a:bodyPr/>
                    <a:lstStyle/>
                    <a:p>
                      <a:pPr algn="ctr"/>
                      <a:r>
                        <a:rPr lang="en-GB" dirty="0"/>
                        <a:t>32</a:t>
                      </a:r>
                    </a:p>
                  </a:txBody>
                  <a:tcPr/>
                </a:tc>
                <a:tc>
                  <a:txBody>
                    <a:bodyPr/>
                    <a:lstStyle/>
                    <a:p>
                      <a:pPr algn="ctr"/>
                      <a:r>
                        <a:rPr lang="en-GB" dirty="0"/>
                        <a:t>16</a:t>
                      </a:r>
                    </a:p>
                  </a:txBody>
                  <a:tcPr/>
                </a:tc>
                <a:tc>
                  <a:txBody>
                    <a:bodyPr/>
                    <a:lstStyle/>
                    <a:p>
                      <a:pPr algn="ctr"/>
                      <a:r>
                        <a:rPr lang="en-GB" dirty="0"/>
                        <a:t>8</a:t>
                      </a:r>
                    </a:p>
                  </a:txBody>
                  <a:tcPr/>
                </a:tc>
                <a:tc>
                  <a:txBody>
                    <a:bodyPr/>
                    <a:lstStyle/>
                    <a:p>
                      <a:pPr algn="ctr"/>
                      <a:r>
                        <a:rPr lang="en-GB" dirty="0"/>
                        <a:t>4</a:t>
                      </a:r>
                    </a:p>
                  </a:txBody>
                  <a:tcPr/>
                </a:tc>
                <a:tc>
                  <a:txBody>
                    <a:bodyPr/>
                    <a:lstStyle/>
                    <a:p>
                      <a:pPr algn="ctr"/>
                      <a:r>
                        <a:rPr lang="en-GB" dirty="0"/>
                        <a:t>2</a:t>
                      </a:r>
                    </a:p>
                  </a:txBody>
                  <a:tcPr/>
                </a:tc>
                <a:tc>
                  <a:txBody>
                    <a:bodyPr/>
                    <a:lstStyle/>
                    <a:p>
                      <a:pPr algn="ctr"/>
                      <a:r>
                        <a:rPr lang="en-GB" dirty="0"/>
                        <a:t>1</a:t>
                      </a:r>
                    </a:p>
                  </a:txBody>
                  <a:tcPr/>
                </a:tc>
                <a:extLst>
                  <a:ext uri="{0D108BD9-81ED-4DB2-BD59-A6C34878D82A}">
                    <a16:rowId xmlns:a16="http://schemas.microsoft.com/office/drawing/2014/main" xmlns="" val="10000"/>
                  </a:ext>
                </a:extLst>
              </a:tr>
              <a:tr h="393930">
                <a:tc>
                  <a:txBody>
                    <a:bodyPr/>
                    <a:lstStyle/>
                    <a:p>
                      <a:pPr algn="ctr"/>
                      <a:r>
                        <a:rPr lang="en-GB" dirty="0"/>
                        <a:t>1</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0</a:t>
                      </a:r>
                    </a:p>
                  </a:txBody>
                  <a:tcPr/>
                </a:tc>
                <a:tc>
                  <a:txBody>
                    <a:bodyPr/>
                    <a:lstStyle/>
                    <a:p>
                      <a:pPr algn="ctr"/>
                      <a:r>
                        <a:rPr lang="en-GB" dirty="0"/>
                        <a:t>1</a:t>
                      </a:r>
                    </a:p>
                  </a:txBody>
                  <a:tcPr/>
                </a:tc>
                <a:tc>
                  <a:txBody>
                    <a:bodyPr/>
                    <a:lstStyle/>
                    <a:p>
                      <a:pPr algn="ctr"/>
                      <a:r>
                        <a:rPr lang="en-GB" dirty="0"/>
                        <a:t>1</a:t>
                      </a:r>
                    </a:p>
                  </a:txBody>
                  <a:tcPr/>
                </a:tc>
                <a:tc>
                  <a:txBody>
                    <a:bodyPr/>
                    <a:lstStyle/>
                    <a:p>
                      <a:pPr algn="ctr"/>
                      <a:r>
                        <a:rPr lang="en-GB" dirty="0"/>
                        <a:t>1</a:t>
                      </a:r>
                    </a:p>
                  </a:txBody>
                  <a:tcPr/>
                </a:tc>
                <a:extLst>
                  <a:ext uri="{0D108BD9-81ED-4DB2-BD59-A6C34878D82A}">
                    <a16:rowId xmlns:a16="http://schemas.microsoft.com/office/drawing/2014/main" xmlns="" val="10001"/>
                  </a:ext>
                </a:extLst>
              </a:tr>
            </a:tbl>
          </a:graphicData>
        </a:graphic>
      </p:graphicFrame>
      <p:cxnSp>
        <p:nvCxnSpPr>
          <p:cNvPr id="6" name="Straight Arrow Connector 5"/>
          <p:cNvCxnSpPr/>
          <p:nvPr/>
        </p:nvCxnSpPr>
        <p:spPr>
          <a:xfrm flipH="1" flipV="1">
            <a:off x="3772930" y="5090984"/>
            <a:ext cx="510746" cy="700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904736" y="5857103"/>
            <a:ext cx="3863546" cy="369332"/>
          </a:xfrm>
          <a:prstGeom prst="rect">
            <a:avLst/>
          </a:prstGeom>
          <a:noFill/>
        </p:spPr>
        <p:txBody>
          <a:bodyPr wrap="square" rtlCol="0">
            <a:spAutoFit/>
          </a:bodyPr>
          <a:lstStyle/>
          <a:p>
            <a:r>
              <a:rPr lang="en-GB" dirty="0"/>
              <a:t>This 1 tells us it is a negative number</a:t>
            </a:r>
          </a:p>
        </p:txBody>
      </p:sp>
    </p:spTree>
    <p:extLst>
      <p:ext uri="{BB962C8B-B14F-4D97-AF65-F5344CB8AC3E}">
        <p14:creationId xmlns:p14="http://schemas.microsoft.com/office/powerpoint/2010/main" val="37390414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One’s Complement</a:t>
            </a:r>
          </a:p>
        </p:txBody>
      </p:sp>
      <p:sp>
        <p:nvSpPr>
          <p:cNvPr id="3" name="Content Placeholder 2"/>
          <p:cNvSpPr>
            <a:spLocks noGrp="1"/>
          </p:cNvSpPr>
          <p:nvPr>
            <p:ph idx="1"/>
          </p:nvPr>
        </p:nvSpPr>
        <p:spPr/>
        <p:txBody>
          <a:bodyPr/>
          <a:lstStyle/>
          <a:p>
            <a:r>
              <a:rPr lang="en-GB" dirty="0">
                <a:solidFill>
                  <a:schemeClr val="tx1"/>
                </a:solidFill>
              </a:rPr>
              <a:t>When using one’s complement, each bit is inverted, so a 1 bit changes to a 0 bit and each 0 bit changes to a 1 bit</a:t>
            </a:r>
          </a:p>
          <a:p>
            <a:r>
              <a:rPr lang="en-GB" dirty="0">
                <a:solidFill>
                  <a:schemeClr val="tx1"/>
                </a:solidFill>
              </a:rPr>
              <a:t>For example:</a:t>
            </a:r>
          </a:p>
          <a:p>
            <a:r>
              <a:rPr lang="en-GB" dirty="0">
                <a:solidFill>
                  <a:schemeClr val="tx1"/>
                </a:solidFill>
              </a:rPr>
              <a:t>+37 in binary is 00100101</a:t>
            </a:r>
          </a:p>
          <a:p>
            <a:r>
              <a:rPr lang="en-GB" dirty="0">
                <a:solidFill>
                  <a:schemeClr val="tx1"/>
                </a:solidFill>
              </a:rPr>
              <a:t>Using one’s complement: -37 is 11011010</a:t>
            </a:r>
          </a:p>
          <a:p>
            <a:r>
              <a:rPr lang="en-GB" dirty="0">
                <a:solidFill>
                  <a:schemeClr val="tx1"/>
                </a:solidFill>
              </a:rPr>
              <a:t>For one’s complement using 8 bits, it is possible to represent the denary numbers -127 to +127</a:t>
            </a:r>
          </a:p>
        </p:txBody>
      </p:sp>
    </p:spTree>
    <p:extLst>
      <p:ext uri="{BB962C8B-B14F-4D97-AF65-F5344CB8AC3E}">
        <p14:creationId xmlns:p14="http://schemas.microsoft.com/office/powerpoint/2010/main" val="3066795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Two’s Complement</a:t>
            </a:r>
          </a:p>
        </p:txBody>
      </p:sp>
      <p:sp>
        <p:nvSpPr>
          <p:cNvPr id="3" name="Content Placeholder 2"/>
          <p:cNvSpPr>
            <a:spLocks noGrp="1"/>
          </p:cNvSpPr>
          <p:nvPr>
            <p:ph idx="1"/>
          </p:nvPr>
        </p:nvSpPr>
        <p:spPr/>
        <p:txBody>
          <a:bodyPr/>
          <a:lstStyle/>
          <a:p>
            <a:r>
              <a:rPr lang="en-GB" dirty="0">
                <a:solidFill>
                  <a:schemeClr val="tx1"/>
                </a:solidFill>
              </a:rPr>
              <a:t>It is obtained by:</a:t>
            </a:r>
          </a:p>
          <a:p>
            <a:pPr lvl="1"/>
            <a:r>
              <a:rPr lang="en-GB" dirty="0">
                <a:solidFill>
                  <a:schemeClr val="tx1"/>
                </a:solidFill>
              </a:rPr>
              <a:t>First changing the bit pattern to one’s complement (inverting the bits)</a:t>
            </a:r>
          </a:p>
          <a:p>
            <a:pPr lvl="1"/>
            <a:r>
              <a:rPr lang="en-GB" dirty="0">
                <a:solidFill>
                  <a:schemeClr val="tx1"/>
                </a:solidFill>
              </a:rPr>
              <a:t>Then adding one to the resulting binary pattern</a:t>
            </a:r>
          </a:p>
          <a:p>
            <a:r>
              <a:rPr lang="en-GB" dirty="0">
                <a:solidFill>
                  <a:schemeClr val="tx1"/>
                </a:solidFill>
              </a:rPr>
              <a:t>So, The </a:t>
            </a:r>
            <a:r>
              <a:rPr lang="en-GB" b="1" dirty="0">
                <a:solidFill>
                  <a:schemeClr val="tx1"/>
                </a:solidFill>
              </a:rPr>
              <a:t>two’s complement</a:t>
            </a:r>
            <a:r>
              <a:rPr lang="en-GB" dirty="0">
                <a:solidFill>
                  <a:schemeClr val="tx1"/>
                </a:solidFill>
              </a:rPr>
              <a:t> of +37 is:</a:t>
            </a:r>
          </a:p>
          <a:p>
            <a:pPr lvl="1"/>
            <a:r>
              <a:rPr lang="en-GB" dirty="0">
                <a:solidFill>
                  <a:schemeClr val="tx1"/>
                </a:solidFill>
              </a:rPr>
              <a:t>11011010</a:t>
            </a:r>
          </a:p>
          <a:p>
            <a:pPr lvl="3"/>
            <a:r>
              <a:rPr lang="en-GB" dirty="0">
                <a:solidFill>
                  <a:schemeClr val="tx1"/>
                </a:solidFill>
              </a:rPr>
              <a:t>   1   +</a:t>
            </a:r>
          </a:p>
          <a:p>
            <a:pPr lvl="1"/>
            <a:r>
              <a:rPr lang="en-GB" dirty="0">
                <a:solidFill>
                  <a:schemeClr val="tx1"/>
                </a:solidFill>
              </a:rPr>
              <a:t>11011011  (= -37)</a:t>
            </a:r>
          </a:p>
          <a:p>
            <a:pPr lvl="1"/>
            <a:endParaRPr lang="en-GB" dirty="0">
              <a:solidFill>
                <a:schemeClr val="tx1"/>
              </a:solidFill>
            </a:endParaRPr>
          </a:p>
          <a:p>
            <a:r>
              <a:rPr lang="en-GB" dirty="0">
                <a:solidFill>
                  <a:schemeClr val="tx1"/>
                </a:solidFill>
              </a:rPr>
              <a:t>The left most bit tells us it is a negative number</a:t>
            </a:r>
          </a:p>
          <a:p>
            <a:r>
              <a:rPr lang="en-GB" dirty="0">
                <a:solidFill>
                  <a:schemeClr val="tx1"/>
                </a:solidFill>
              </a:rPr>
              <a:t>We can now represent denary numbers -128 to +127</a:t>
            </a:r>
          </a:p>
        </p:txBody>
      </p:sp>
    </p:spTree>
    <p:extLst>
      <p:ext uri="{BB962C8B-B14F-4D97-AF65-F5344CB8AC3E}">
        <p14:creationId xmlns:p14="http://schemas.microsoft.com/office/powerpoint/2010/main" val="8389201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528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53484E-E1B5-378C-1197-89CB83220E9A}"/>
              </a:ext>
            </a:extLst>
          </p:cNvPr>
          <p:cNvSpPr>
            <a:spLocks noGrp="1"/>
          </p:cNvSpPr>
          <p:nvPr>
            <p:ph type="title"/>
          </p:nvPr>
        </p:nvSpPr>
        <p:spPr/>
        <p:txBody>
          <a:bodyPr/>
          <a:lstStyle/>
          <a:p>
            <a:r>
              <a:rPr lang="en-GB" dirty="0">
                <a:solidFill>
                  <a:schemeClr val="tx1"/>
                </a:solidFill>
              </a:rPr>
              <a:t>Overflow</a:t>
            </a:r>
          </a:p>
        </p:txBody>
      </p:sp>
      <p:sp>
        <p:nvSpPr>
          <p:cNvPr id="3" name="Content Placeholder 2">
            <a:extLst>
              <a:ext uri="{FF2B5EF4-FFF2-40B4-BE49-F238E27FC236}">
                <a16:creationId xmlns:a16="http://schemas.microsoft.com/office/drawing/2014/main" xmlns="" id="{8FFB51F9-AC18-AFA4-4FED-FA341930EA72}"/>
              </a:ext>
            </a:extLst>
          </p:cNvPr>
          <p:cNvSpPr>
            <a:spLocks noGrp="1"/>
          </p:cNvSpPr>
          <p:nvPr>
            <p:ph idx="1"/>
          </p:nvPr>
        </p:nvSpPr>
        <p:spPr>
          <a:xfrm>
            <a:off x="838200" y="1825624"/>
            <a:ext cx="10515600" cy="4829699"/>
          </a:xfrm>
        </p:spPr>
        <p:txBody>
          <a:bodyPr>
            <a:normAutofit/>
          </a:bodyPr>
          <a:lstStyle/>
          <a:p>
            <a:r>
              <a:rPr lang="en-GB" dirty="0">
                <a:solidFill>
                  <a:schemeClr val="tx1"/>
                </a:solidFill>
              </a:rPr>
              <a:t>Overflow happens when computerised calculations produce an answer that is too big to be represented. Overflow usually happens during multiplication of binary. When overflow happens double length registers are used to hold the data. </a:t>
            </a:r>
          </a:p>
          <a:p>
            <a:r>
              <a:rPr lang="en-GB" dirty="0">
                <a:solidFill>
                  <a:schemeClr val="tx1"/>
                </a:solidFill>
              </a:rPr>
              <a:t>A CPU with a capacity of 8 bits can only hold 11111111 in binary, if another 1 was added an overflow message would appear. The error message demonstrates that the register has exceeded its maximum number. Modern computers can now have 64-bit CPU’s which means they can handle much larger numbers. </a:t>
            </a:r>
          </a:p>
        </p:txBody>
      </p:sp>
    </p:spTree>
    <p:extLst>
      <p:ext uri="{BB962C8B-B14F-4D97-AF65-F5344CB8AC3E}">
        <p14:creationId xmlns:p14="http://schemas.microsoft.com/office/powerpoint/2010/main" val="42664627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473BE2AF-2AB5-AEB3-5DB8-FA6A3C1ED236}"/>
              </a:ext>
            </a:extLst>
          </p:cNvPr>
          <p:cNvSpPr/>
          <p:nvPr/>
        </p:nvSpPr>
        <p:spPr>
          <a:xfrm>
            <a:off x="2733773" y="5156463"/>
            <a:ext cx="7228263" cy="114064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xmlns="" id="{D853484E-E1B5-378C-1197-89CB83220E9A}"/>
              </a:ext>
            </a:extLst>
          </p:cNvPr>
          <p:cNvSpPr>
            <a:spLocks noGrp="1"/>
          </p:cNvSpPr>
          <p:nvPr>
            <p:ph type="title"/>
          </p:nvPr>
        </p:nvSpPr>
        <p:spPr/>
        <p:txBody>
          <a:bodyPr/>
          <a:lstStyle/>
          <a:p>
            <a:r>
              <a:rPr lang="en-GB" dirty="0">
                <a:solidFill>
                  <a:schemeClr val="tx1"/>
                </a:solidFill>
              </a:rPr>
              <a:t>Overflow</a:t>
            </a:r>
          </a:p>
        </p:txBody>
      </p:sp>
      <p:sp>
        <p:nvSpPr>
          <p:cNvPr id="3" name="Content Placeholder 2">
            <a:extLst>
              <a:ext uri="{FF2B5EF4-FFF2-40B4-BE49-F238E27FC236}">
                <a16:creationId xmlns:a16="http://schemas.microsoft.com/office/drawing/2014/main" xmlns="" id="{8FFB51F9-AC18-AFA4-4FED-FA341930EA72}"/>
              </a:ext>
            </a:extLst>
          </p:cNvPr>
          <p:cNvSpPr>
            <a:spLocks noGrp="1"/>
          </p:cNvSpPr>
          <p:nvPr>
            <p:ph idx="1"/>
          </p:nvPr>
        </p:nvSpPr>
        <p:spPr>
          <a:xfrm>
            <a:off x="838200" y="1825625"/>
            <a:ext cx="10515600" cy="3330838"/>
          </a:xfrm>
        </p:spPr>
        <p:txBody>
          <a:bodyPr>
            <a:normAutofit lnSpcReduction="10000"/>
          </a:bodyPr>
          <a:lstStyle/>
          <a:p>
            <a:r>
              <a:rPr lang="en-GB" dirty="0">
                <a:solidFill>
                  <a:schemeClr val="tx1"/>
                </a:solidFill>
              </a:rPr>
              <a:t>An example of an 8 bit overflow: when adding (denary 255 + 1), We would expect this answer to give us 256. </a:t>
            </a:r>
          </a:p>
          <a:p>
            <a:r>
              <a:rPr lang="en-GB" dirty="0">
                <a:solidFill>
                  <a:schemeClr val="tx1"/>
                </a:solidFill>
              </a:rPr>
              <a:t>However an 8 bit overflow means that there is only room to store 8 bits and the 9th is therefore the overflow. </a:t>
            </a:r>
          </a:p>
          <a:p>
            <a:r>
              <a:rPr lang="en-GB" dirty="0">
                <a:solidFill>
                  <a:schemeClr val="tx1"/>
                </a:solidFill>
              </a:rPr>
              <a:t>In the example below the 1 to the LHS (left hand side) is the overflow so the computer would say the answer is 00000000 unless it is told that it needed more room – hence the overflow bit is considered.</a:t>
            </a:r>
          </a:p>
        </p:txBody>
      </p:sp>
      <p:graphicFrame>
        <p:nvGraphicFramePr>
          <p:cNvPr id="4" name="Table 3">
            <a:extLst>
              <a:ext uri="{FF2B5EF4-FFF2-40B4-BE49-F238E27FC236}">
                <a16:creationId xmlns:a16="http://schemas.microsoft.com/office/drawing/2014/main" xmlns="" id="{DB3F9961-D443-A0E7-E9D0-3C1B38E86CF5}"/>
              </a:ext>
            </a:extLst>
          </p:cNvPr>
          <p:cNvGraphicFramePr>
            <a:graphicFrameLocks noGrp="1"/>
          </p:cNvGraphicFramePr>
          <p:nvPr/>
        </p:nvGraphicFramePr>
        <p:xfrm>
          <a:off x="1834037" y="5156463"/>
          <a:ext cx="8127999" cy="111252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xmlns="" val="3852156423"/>
                    </a:ext>
                  </a:extLst>
                </a:gridCol>
                <a:gridCol w="903111">
                  <a:extLst>
                    <a:ext uri="{9D8B030D-6E8A-4147-A177-3AD203B41FA5}">
                      <a16:colId xmlns:a16="http://schemas.microsoft.com/office/drawing/2014/main" xmlns="" val="1443637982"/>
                    </a:ext>
                  </a:extLst>
                </a:gridCol>
                <a:gridCol w="903111">
                  <a:extLst>
                    <a:ext uri="{9D8B030D-6E8A-4147-A177-3AD203B41FA5}">
                      <a16:colId xmlns:a16="http://schemas.microsoft.com/office/drawing/2014/main" xmlns="" val="1712803367"/>
                    </a:ext>
                  </a:extLst>
                </a:gridCol>
                <a:gridCol w="903111">
                  <a:extLst>
                    <a:ext uri="{9D8B030D-6E8A-4147-A177-3AD203B41FA5}">
                      <a16:colId xmlns:a16="http://schemas.microsoft.com/office/drawing/2014/main" xmlns="" val="1848426819"/>
                    </a:ext>
                  </a:extLst>
                </a:gridCol>
                <a:gridCol w="903111">
                  <a:extLst>
                    <a:ext uri="{9D8B030D-6E8A-4147-A177-3AD203B41FA5}">
                      <a16:colId xmlns:a16="http://schemas.microsoft.com/office/drawing/2014/main" xmlns="" val="3330807720"/>
                    </a:ext>
                  </a:extLst>
                </a:gridCol>
                <a:gridCol w="903111">
                  <a:extLst>
                    <a:ext uri="{9D8B030D-6E8A-4147-A177-3AD203B41FA5}">
                      <a16:colId xmlns:a16="http://schemas.microsoft.com/office/drawing/2014/main" xmlns="" val="1116387806"/>
                    </a:ext>
                  </a:extLst>
                </a:gridCol>
                <a:gridCol w="903111">
                  <a:extLst>
                    <a:ext uri="{9D8B030D-6E8A-4147-A177-3AD203B41FA5}">
                      <a16:colId xmlns:a16="http://schemas.microsoft.com/office/drawing/2014/main" xmlns="" val="2134861136"/>
                    </a:ext>
                  </a:extLst>
                </a:gridCol>
                <a:gridCol w="903111">
                  <a:extLst>
                    <a:ext uri="{9D8B030D-6E8A-4147-A177-3AD203B41FA5}">
                      <a16:colId xmlns:a16="http://schemas.microsoft.com/office/drawing/2014/main" xmlns="" val="168282887"/>
                    </a:ext>
                  </a:extLst>
                </a:gridCol>
                <a:gridCol w="903111">
                  <a:extLst>
                    <a:ext uri="{9D8B030D-6E8A-4147-A177-3AD203B41FA5}">
                      <a16:colId xmlns:a16="http://schemas.microsoft.com/office/drawing/2014/main" xmlns="" val="864222541"/>
                    </a:ext>
                  </a:extLst>
                </a:gridCol>
              </a:tblGrid>
              <a:tr h="370840">
                <a:tc>
                  <a:txBody>
                    <a:bodyPr/>
                    <a:lstStyle/>
                    <a:p>
                      <a:endParaRPr lang="en-GB"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2439371418"/>
                  </a:ext>
                </a:extLst>
              </a:tr>
              <a:tr h="370840">
                <a:tc>
                  <a:txBody>
                    <a:bodyPr/>
                    <a:lstStyle/>
                    <a:p>
                      <a:r>
                        <a:rPr lang="en-GB" b="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b="0" dirty="0">
                          <a:solidFill>
                            <a:schemeClr val="tx1"/>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393162575"/>
                  </a:ext>
                </a:extLst>
              </a:tr>
              <a:tr h="370840">
                <a:tc>
                  <a:txBody>
                    <a:bodyPr/>
                    <a:lstStyle/>
                    <a:p>
                      <a:pPr algn="r"/>
                      <a:r>
                        <a:rPr lang="en-GB"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3638595581"/>
                  </a:ext>
                </a:extLst>
              </a:tr>
            </a:tbl>
          </a:graphicData>
        </a:graphic>
      </p:graphicFrame>
      <p:cxnSp>
        <p:nvCxnSpPr>
          <p:cNvPr id="7" name="Straight Arrow Connector 6">
            <a:extLst>
              <a:ext uri="{FF2B5EF4-FFF2-40B4-BE49-F238E27FC236}">
                <a16:creationId xmlns:a16="http://schemas.microsoft.com/office/drawing/2014/main" xmlns="" id="{E0F34B2D-FAF7-34C2-F56A-DB40F9BC05EF}"/>
              </a:ext>
            </a:extLst>
          </p:cNvPr>
          <p:cNvCxnSpPr/>
          <p:nvPr/>
        </p:nvCxnSpPr>
        <p:spPr>
          <a:xfrm flipV="1">
            <a:off x="1310326" y="6136849"/>
            <a:ext cx="919638" cy="160256"/>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xmlns="" id="{82E5F444-344D-671D-C000-AAB6B7FF444A}"/>
              </a:ext>
            </a:extLst>
          </p:cNvPr>
          <p:cNvSpPr txBox="1"/>
          <p:nvPr/>
        </p:nvSpPr>
        <p:spPr>
          <a:xfrm>
            <a:off x="758333" y="6261244"/>
            <a:ext cx="1357460" cy="369332"/>
          </a:xfrm>
          <a:prstGeom prst="rect">
            <a:avLst/>
          </a:prstGeom>
          <a:noFill/>
        </p:spPr>
        <p:txBody>
          <a:bodyPr wrap="square" rtlCol="0">
            <a:spAutoFit/>
          </a:bodyPr>
          <a:lstStyle/>
          <a:p>
            <a:r>
              <a:rPr lang="en-GB" dirty="0"/>
              <a:t>Overflow</a:t>
            </a:r>
          </a:p>
        </p:txBody>
      </p:sp>
    </p:spTree>
    <p:extLst>
      <p:ext uri="{BB962C8B-B14F-4D97-AF65-F5344CB8AC3E}">
        <p14:creationId xmlns:p14="http://schemas.microsoft.com/office/powerpoint/2010/main" val="28705996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Truth Tables</a:t>
            </a:r>
          </a:p>
        </p:txBody>
      </p:sp>
      <p:sp>
        <p:nvSpPr>
          <p:cNvPr id="3" name="Content Placeholder 2"/>
          <p:cNvSpPr>
            <a:spLocks noGrp="1"/>
          </p:cNvSpPr>
          <p:nvPr>
            <p:ph idx="1"/>
          </p:nvPr>
        </p:nvSpPr>
        <p:spPr/>
        <p:txBody>
          <a:bodyPr/>
          <a:lstStyle/>
          <a:p>
            <a:r>
              <a:rPr lang="en-GB" dirty="0">
                <a:solidFill>
                  <a:schemeClr val="tx1"/>
                </a:solidFill>
              </a:rPr>
              <a:t>Computers use logical operators as well as arithmetic calculations</a:t>
            </a:r>
          </a:p>
          <a:p>
            <a:r>
              <a:rPr lang="en-GB" dirty="0">
                <a:solidFill>
                  <a:schemeClr val="tx1"/>
                </a:solidFill>
              </a:rPr>
              <a:t>We can hence use AND, NOT, and OR to Boolean variables</a:t>
            </a:r>
          </a:p>
          <a:p>
            <a:r>
              <a:rPr lang="en-GB" dirty="0">
                <a:solidFill>
                  <a:schemeClr val="tx1"/>
                </a:solidFill>
              </a:rPr>
              <a:t>We know a Boolean variable can only use one of two values, 1 or 0</a:t>
            </a:r>
          </a:p>
          <a:p>
            <a:pPr lvl="1"/>
            <a:r>
              <a:rPr lang="en-GB" dirty="0">
                <a:solidFill>
                  <a:schemeClr val="tx1"/>
                </a:solidFill>
              </a:rPr>
              <a:t>These can also be:</a:t>
            </a:r>
          </a:p>
        </p:txBody>
      </p:sp>
      <p:graphicFrame>
        <p:nvGraphicFramePr>
          <p:cNvPr id="4" name="Table 3"/>
          <p:cNvGraphicFramePr>
            <a:graphicFrameLocks noGrp="1"/>
          </p:cNvGraphicFramePr>
          <p:nvPr/>
        </p:nvGraphicFramePr>
        <p:xfrm>
          <a:off x="1777167" y="4001292"/>
          <a:ext cx="8128000" cy="2519428"/>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xmlns="" val="3205793909"/>
                    </a:ext>
                  </a:extLst>
                </a:gridCol>
                <a:gridCol w="4064000">
                  <a:extLst>
                    <a:ext uri="{9D8B030D-6E8A-4147-A177-3AD203B41FA5}">
                      <a16:colId xmlns:a16="http://schemas.microsoft.com/office/drawing/2014/main" xmlns="" val="3522182211"/>
                    </a:ext>
                  </a:extLst>
                </a:gridCol>
              </a:tblGrid>
              <a:tr h="629857">
                <a:tc>
                  <a:txBody>
                    <a:bodyPr/>
                    <a:lstStyle/>
                    <a:p>
                      <a:pPr algn="ctr"/>
                      <a:r>
                        <a:rPr lang="en-GB" sz="2800" b="1" dirty="0"/>
                        <a:t>1</a:t>
                      </a:r>
                    </a:p>
                  </a:txBody>
                  <a:tcPr/>
                </a:tc>
                <a:tc>
                  <a:txBody>
                    <a:bodyPr/>
                    <a:lstStyle/>
                    <a:p>
                      <a:pPr algn="ctr"/>
                      <a:r>
                        <a:rPr lang="en-GB" sz="2800" b="1" dirty="0"/>
                        <a:t>0</a:t>
                      </a:r>
                    </a:p>
                  </a:txBody>
                  <a:tcPr/>
                </a:tc>
                <a:extLst>
                  <a:ext uri="{0D108BD9-81ED-4DB2-BD59-A6C34878D82A}">
                    <a16:rowId xmlns:a16="http://schemas.microsoft.com/office/drawing/2014/main" xmlns="" val="1390953392"/>
                  </a:ext>
                </a:extLst>
              </a:tr>
              <a:tr h="629857">
                <a:tc>
                  <a:txBody>
                    <a:bodyPr/>
                    <a:lstStyle/>
                    <a:p>
                      <a:pPr algn="ctr"/>
                      <a:r>
                        <a:rPr lang="en-GB" sz="2800" b="1" dirty="0"/>
                        <a:t>True</a:t>
                      </a:r>
                    </a:p>
                  </a:txBody>
                  <a:tcPr/>
                </a:tc>
                <a:tc>
                  <a:txBody>
                    <a:bodyPr/>
                    <a:lstStyle/>
                    <a:p>
                      <a:pPr algn="ctr"/>
                      <a:r>
                        <a:rPr lang="en-GB" sz="2800" b="1" dirty="0"/>
                        <a:t>False</a:t>
                      </a:r>
                    </a:p>
                  </a:txBody>
                  <a:tcPr/>
                </a:tc>
                <a:extLst>
                  <a:ext uri="{0D108BD9-81ED-4DB2-BD59-A6C34878D82A}">
                    <a16:rowId xmlns:a16="http://schemas.microsoft.com/office/drawing/2014/main" xmlns="" val="2178831744"/>
                  </a:ext>
                </a:extLst>
              </a:tr>
              <a:tr h="629857">
                <a:tc>
                  <a:txBody>
                    <a:bodyPr/>
                    <a:lstStyle/>
                    <a:p>
                      <a:pPr algn="ctr"/>
                      <a:r>
                        <a:rPr lang="en-GB" sz="2800" b="1" dirty="0"/>
                        <a:t>Yes</a:t>
                      </a:r>
                    </a:p>
                  </a:txBody>
                  <a:tcPr/>
                </a:tc>
                <a:tc>
                  <a:txBody>
                    <a:bodyPr/>
                    <a:lstStyle/>
                    <a:p>
                      <a:pPr algn="ctr"/>
                      <a:r>
                        <a:rPr lang="en-GB" sz="2800" b="1" dirty="0"/>
                        <a:t>No</a:t>
                      </a:r>
                    </a:p>
                  </a:txBody>
                  <a:tcPr/>
                </a:tc>
                <a:extLst>
                  <a:ext uri="{0D108BD9-81ED-4DB2-BD59-A6C34878D82A}">
                    <a16:rowId xmlns:a16="http://schemas.microsoft.com/office/drawing/2014/main" xmlns="" val="3235119062"/>
                  </a:ext>
                </a:extLst>
              </a:tr>
              <a:tr h="629857">
                <a:tc>
                  <a:txBody>
                    <a:bodyPr/>
                    <a:lstStyle/>
                    <a:p>
                      <a:pPr algn="ctr"/>
                      <a:r>
                        <a:rPr lang="en-GB" sz="2800" b="1" dirty="0"/>
                        <a:t>On</a:t>
                      </a:r>
                    </a:p>
                  </a:txBody>
                  <a:tcPr/>
                </a:tc>
                <a:tc>
                  <a:txBody>
                    <a:bodyPr/>
                    <a:lstStyle/>
                    <a:p>
                      <a:pPr algn="ctr"/>
                      <a:r>
                        <a:rPr lang="en-GB" sz="2800" b="1" dirty="0"/>
                        <a:t>Off</a:t>
                      </a:r>
                    </a:p>
                  </a:txBody>
                  <a:tcPr/>
                </a:tc>
                <a:extLst>
                  <a:ext uri="{0D108BD9-81ED-4DB2-BD59-A6C34878D82A}">
                    <a16:rowId xmlns:a16="http://schemas.microsoft.com/office/drawing/2014/main" xmlns="" val="2532194302"/>
                  </a:ext>
                </a:extLst>
              </a:tr>
            </a:tbl>
          </a:graphicData>
        </a:graphic>
      </p:graphicFrame>
    </p:spTree>
    <p:extLst>
      <p:ext uri="{BB962C8B-B14F-4D97-AF65-F5344CB8AC3E}">
        <p14:creationId xmlns:p14="http://schemas.microsoft.com/office/powerpoint/2010/main" val="140978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NOT Operator</a:t>
            </a:r>
          </a:p>
        </p:txBody>
      </p:sp>
      <p:sp>
        <p:nvSpPr>
          <p:cNvPr id="3" name="Content Placeholder 2"/>
          <p:cNvSpPr>
            <a:spLocks noGrp="1"/>
          </p:cNvSpPr>
          <p:nvPr>
            <p:ph idx="1"/>
          </p:nvPr>
        </p:nvSpPr>
        <p:spPr/>
        <p:txBody>
          <a:bodyPr/>
          <a:lstStyle/>
          <a:p>
            <a:r>
              <a:rPr lang="en-GB" dirty="0">
                <a:solidFill>
                  <a:schemeClr val="tx1"/>
                </a:solidFill>
              </a:rPr>
              <a:t>The NOT operator has only one input. </a:t>
            </a:r>
          </a:p>
        </p:txBody>
      </p:sp>
      <p:graphicFrame>
        <p:nvGraphicFramePr>
          <p:cNvPr id="4" name="Table 3"/>
          <p:cNvGraphicFramePr>
            <a:graphicFrameLocks noGrp="1"/>
          </p:cNvGraphicFramePr>
          <p:nvPr/>
        </p:nvGraphicFramePr>
        <p:xfrm>
          <a:off x="2032000" y="2854616"/>
          <a:ext cx="8128000" cy="229335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xmlns="" val="907503471"/>
                    </a:ext>
                  </a:extLst>
                </a:gridCol>
                <a:gridCol w="4064000">
                  <a:extLst>
                    <a:ext uri="{9D8B030D-6E8A-4147-A177-3AD203B41FA5}">
                      <a16:colId xmlns:a16="http://schemas.microsoft.com/office/drawing/2014/main" xmlns="" val="3846874924"/>
                    </a:ext>
                  </a:extLst>
                </a:gridCol>
              </a:tblGrid>
              <a:tr h="764452">
                <a:tc>
                  <a:txBody>
                    <a:bodyPr/>
                    <a:lstStyle/>
                    <a:p>
                      <a:pPr algn="ctr"/>
                      <a:r>
                        <a:rPr lang="en-GB" sz="3600" dirty="0"/>
                        <a:t>X</a:t>
                      </a:r>
                    </a:p>
                  </a:txBody>
                  <a:tcPr/>
                </a:tc>
                <a:tc>
                  <a:txBody>
                    <a:bodyPr/>
                    <a:lstStyle/>
                    <a:p>
                      <a:pPr algn="ctr"/>
                      <a:r>
                        <a:rPr lang="en-GB" sz="3600" dirty="0"/>
                        <a:t>NOT</a:t>
                      </a:r>
                      <a:r>
                        <a:rPr lang="en-GB" sz="3600" baseline="0" dirty="0"/>
                        <a:t> x</a:t>
                      </a:r>
                      <a:endParaRPr lang="en-GB" sz="3600" dirty="0"/>
                    </a:p>
                  </a:txBody>
                  <a:tcPr/>
                </a:tc>
                <a:extLst>
                  <a:ext uri="{0D108BD9-81ED-4DB2-BD59-A6C34878D82A}">
                    <a16:rowId xmlns:a16="http://schemas.microsoft.com/office/drawing/2014/main" xmlns="" val="212347307"/>
                  </a:ext>
                </a:extLst>
              </a:tr>
              <a:tr h="764452">
                <a:tc>
                  <a:txBody>
                    <a:bodyPr/>
                    <a:lstStyle/>
                    <a:p>
                      <a:pPr algn="ctr"/>
                      <a:r>
                        <a:rPr lang="en-GB" sz="3600" dirty="0"/>
                        <a:t>0</a:t>
                      </a:r>
                    </a:p>
                  </a:txBody>
                  <a:tcPr/>
                </a:tc>
                <a:tc>
                  <a:txBody>
                    <a:bodyPr/>
                    <a:lstStyle/>
                    <a:p>
                      <a:pPr algn="ctr"/>
                      <a:r>
                        <a:rPr lang="en-GB" sz="3600" dirty="0"/>
                        <a:t>1</a:t>
                      </a:r>
                    </a:p>
                  </a:txBody>
                  <a:tcPr/>
                </a:tc>
                <a:extLst>
                  <a:ext uri="{0D108BD9-81ED-4DB2-BD59-A6C34878D82A}">
                    <a16:rowId xmlns:a16="http://schemas.microsoft.com/office/drawing/2014/main" xmlns="" val="3399999459"/>
                  </a:ext>
                </a:extLst>
              </a:tr>
              <a:tr h="764452">
                <a:tc>
                  <a:txBody>
                    <a:bodyPr/>
                    <a:lstStyle/>
                    <a:p>
                      <a:pPr algn="ctr"/>
                      <a:r>
                        <a:rPr lang="en-GB" sz="3600" dirty="0"/>
                        <a:t>1</a:t>
                      </a:r>
                    </a:p>
                  </a:txBody>
                  <a:tcPr/>
                </a:tc>
                <a:tc>
                  <a:txBody>
                    <a:bodyPr/>
                    <a:lstStyle/>
                    <a:p>
                      <a:pPr algn="ctr"/>
                      <a:r>
                        <a:rPr lang="en-GB" sz="3600" dirty="0"/>
                        <a:t>0</a:t>
                      </a:r>
                    </a:p>
                  </a:txBody>
                  <a:tcPr/>
                </a:tc>
                <a:extLst>
                  <a:ext uri="{0D108BD9-81ED-4DB2-BD59-A6C34878D82A}">
                    <a16:rowId xmlns:a16="http://schemas.microsoft.com/office/drawing/2014/main" xmlns="" val="1272601082"/>
                  </a:ext>
                </a:extLst>
              </a:tr>
            </a:tbl>
          </a:graphicData>
        </a:graphic>
      </p:graphicFrame>
      <p:pic>
        <p:nvPicPr>
          <p:cNvPr id="6" name="Picture 5"/>
          <p:cNvPicPr>
            <a:picLocks noChangeAspect="1"/>
          </p:cNvPicPr>
          <p:nvPr/>
        </p:nvPicPr>
        <p:blipFill rotWithShape="1">
          <a:blip r:embed="rId2"/>
          <a:srcRect l="51726" t="55273" r="30155" b="921"/>
          <a:stretch/>
        </p:blipFill>
        <p:spPr>
          <a:xfrm>
            <a:off x="10963373" y="122548"/>
            <a:ext cx="1121790" cy="1272619"/>
          </a:xfrm>
          <a:prstGeom prst="rect">
            <a:avLst/>
          </a:prstGeom>
        </p:spPr>
      </p:pic>
    </p:spTree>
    <p:extLst>
      <p:ext uri="{BB962C8B-B14F-4D97-AF65-F5344CB8AC3E}">
        <p14:creationId xmlns:p14="http://schemas.microsoft.com/office/powerpoint/2010/main" val="232536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AND Operator</a:t>
            </a:r>
          </a:p>
        </p:txBody>
      </p:sp>
      <p:sp>
        <p:nvSpPr>
          <p:cNvPr id="3" name="Content Placeholder 2"/>
          <p:cNvSpPr>
            <a:spLocks noGrp="1"/>
          </p:cNvSpPr>
          <p:nvPr>
            <p:ph idx="1"/>
          </p:nvPr>
        </p:nvSpPr>
        <p:spPr>
          <a:xfrm>
            <a:off x="838200" y="1825624"/>
            <a:ext cx="3688830" cy="4768735"/>
          </a:xfrm>
        </p:spPr>
        <p:txBody>
          <a:bodyPr/>
          <a:lstStyle/>
          <a:p>
            <a:r>
              <a:rPr lang="en-GB" dirty="0">
                <a:solidFill>
                  <a:schemeClr val="tx1"/>
                </a:solidFill>
              </a:rPr>
              <a:t>The AND operator can have any number of inputs</a:t>
            </a:r>
          </a:p>
          <a:p>
            <a:r>
              <a:rPr lang="en-GB" dirty="0">
                <a:solidFill>
                  <a:schemeClr val="tx1"/>
                </a:solidFill>
              </a:rPr>
              <a:t>All inputs must be 1 for true to be obtained</a:t>
            </a:r>
          </a:p>
          <a:p>
            <a:r>
              <a:rPr lang="en-GB" dirty="0">
                <a:solidFill>
                  <a:schemeClr val="tx1"/>
                </a:solidFill>
              </a:rPr>
              <a:t>For example, if X AND Y are &gt; 0 THEN</a:t>
            </a:r>
          </a:p>
        </p:txBody>
      </p:sp>
      <p:graphicFrame>
        <p:nvGraphicFramePr>
          <p:cNvPr id="4" name="Table 3"/>
          <p:cNvGraphicFramePr>
            <a:graphicFrameLocks noGrp="1"/>
          </p:cNvGraphicFramePr>
          <p:nvPr/>
        </p:nvGraphicFramePr>
        <p:xfrm>
          <a:off x="5546361" y="1962631"/>
          <a:ext cx="6142635" cy="3822260"/>
        </p:xfrm>
        <a:graphic>
          <a:graphicData uri="http://schemas.openxmlformats.org/drawingml/2006/table">
            <a:tbl>
              <a:tblPr firstRow="1" bandRow="1">
                <a:tableStyleId>{5C22544A-7EE6-4342-B048-85BDC9FD1C3A}</a:tableStyleId>
              </a:tblPr>
              <a:tblGrid>
                <a:gridCol w="2047545">
                  <a:extLst>
                    <a:ext uri="{9D8B030D-6E8A-4147-A177-3AD203B41FA5}">
                      <a16:colId xmlns:a16="http://schemas.microsoft.com/office/drawing/2014/main" xmlns="" val="907503471"/>
                    </a:ext>
                  </a:extLst>
                </a:gridCol>
                <a:gridCol w="2047545">
                  <a:extLst>
                    <a:ext uri="{9D8B030D-6E8A-4147-A177-3AD203B41FA5}">
                      <a16:colId xmlns:a16="http://schemas.microsoft.com/office/drawing/2014/main" xmlns="" val="1500747511"/>
                    </a:ext>
                  </a:extLst>
                </a:gridCol>
                <a:gridCol w="2047545">
                  <a:extLst>
                    <a:ext uri="{9D8B030D-6E8A-4147-A177-3AD203B41FA5}">
                      <a16:colId xmlns:a16="http://schemas.microsoft.com/office/drawing/2014/main" xmlns="" val="3846874924"/>
                    </a:ext>
                  </a:extLst>
                </a:gridCol>
              </a:tblGrid>
              <a:tr h="764452">
                <a:tc>
                  <a:txBody>
                    <a:bodyPr/>
                    <a:lstStyle/>
                    <a:p>
                      <a:pPr algn="ctr"/>
                      <a:r>
                        <a:rPr lang="en-GB" sz="3600" dirty="0"/>
                        <a:t>x</a:t>
                      </a:r>
                    </a:p>
                  </a:txBody>
                  <a:tcPr/>
                </a:tc>
                <a:tc>
                  <a:txBody>
                    <a:bodyPr/>
                    <a:lstStyle/>
                    <a:p>
                      <a:pPr algn="ctr"/>
                      <a:r>
                        <a:rPr lang="en-GB" sz="3600" dirty="0"/>
                        <a:t>y</a:t>
                      </a:r>
                    </a:p>
                  </a:txBody>
                  <a:tcPr/>
                </a:tc>
                <a:tc>
                  <a:txBody>
                    <a:bodyPr/>
                    <a:lstStyle/>
                    <a:p>
                      <a:pPr algn="ctr"/>
                      <a:r>
                        <a:rPr lang="en-GB" sz="3600" dirty="0"/>
                        <a:t>x AND y</a:t>
                      </a:r>
                    </a:p>
                  </a:txBody>
                  <a:tcPr/>
                </a:tc>
                <a:extLst>
                  <a:ext uri="{0D108BD9-81ED-4DB2-BD59-A6C34878D82A}">
                    <a16:rowId xmlns:a16="http://schemas.microsoft.com/office/drawing/2014/main" xmlns="" val="212347307"/>
                  </a:ext>
                </a:extLst>
              </a:tr>
              <a:tr h="764452">
                <a:tc>
                  <a:txBody>
                    <a:bodyPr/>
                    <a:lstStyle/>
                    <a:p>
                      <a:pPr algn="ctr"/>
                      <a:r>
                        <a:rPr lang="en-GB" sz="3600" dirty="0"/>
                        <a:t>0</a:t>
                      </a:r>
                    </a:p>
                  </a:txBody>
                  <a:tcPr/>
                </a:tc>
                <a:tc>
                  <a:txBody>
                    <a:bodyPr/>
                    <a:lstStyle/>
                    <a:p>
                      <a:pPr algn="ctr"/>
                      <a:r>
                        <a:rPr lang="en-GB" sz="3600" dirty="0"/>
                        <a:t>0</a:t>
                      </a:r>
                    </a:p>
                  </a:txBody>
                  <a:tcPr/>
                </a:tc>
                <a:tc>
                  <a:txBody>
                    <a:bodyPr/>
                    <a:lstStyle/>
                    <a:p>
                      <a:pPr algn="ctr"/>
                      <a:r>
                        <a:rPr lang="en-GB" sz="3600" dirty="0"/>
                        <a:t>0</a:t>
                      </a:r>
                    </a:p>
                  </a:txBody>
                  <a:tcPr/>
                </a:tc>
                <a:extLst>
                  <a:ext uri="{0D108BD9-81ED-4DB2-BD59-A6C34878D82A}">
                    <a16:rowId xmlns:a16="http://schemas.microsoft.com/office/drawing/2014/main" xmlns="" val="3399999459"/>
                  </a:ext>
                </a:extLst>
              </a:tr>
              <a:tr h="764452">
                <a:tc>
                  <a:txBody>
                    <a:bodyPr/>
                    <a:lstStyle/>
                    <a:p>
                      <a:pPr algn="ctr"/>
                      <a:r>
                        <a:rPr lang="en-GB" sz="3600" dirty="0"/>
                        <a:t>1</a:t>
                      </a:r>
                    </a:p>
                  </a:txBody>
                  <a:tcPr/>
                </a:tc>
                <a:tc>
                  <a:txBody>
                    <a:bodyPr/>
                    <a:lstStyle/>
                    <a:p>
                      <a:pPr algn="ctr"/>
                      <a:r>
                        <a:rPr lang="en-GB" sz="3600" dirty="0"/>
                        <a:t>0</a:t>
                      </a:r>
                    </a:p>
                  </a:txBody>
                  <a:tcPr/>
                </a:tc>
                <a:tc>
                  <a:txBody>
                    <a:bodyPr/>
                    <a:lstStyle/>
                    <a:p>
                      <a:pPr algn="ctr"/>
                      <a:r>
                        <a:rPr lang="en-GB" sz="3600" dirty="0"/>
                        <a:t>0</a:t>
                      </a:r>
                    </a:p>
                  </a:txBody>
                  <a:tcPr/>
                </a:tc>
                <a:extLst>
                  <a:ext uri="{0D108BD9-81ED-4DB2-BD59-A6C34878D82A}">
                    <a16:rowId xmlns:a16="http://schemas.microsoft.com/office/drawing/2014/main" xmlns="" val="1272601082"/>
                  </a:ext>
                </a:extLst>
              </a:tr>
              <a:tr h="764452">
                <a:tc>
                  <a:txBody>
                    <a:bodyPr/>
                    <a:lstStyle/>
                    <a:p>
                      <a:pPr algn="ctr"/>
                      <a:r>
                        <a:rPr lang="en-GB" sz="3600" dirty="0"/>
                        <a:t>0</a:t>
                      </a:r>
                    </a:p>
                  </a:txBody>
                  <a:tcPr/>
                </a:tc>
                <a:tc>
                  <a:txBody>
                    <a:bodyPr/>
                    <a:lstStyle/>
                    <a:p>
                      <a:pPr algn="ctr"/>
                      <a:r>
                        <a:rPr lang="en-GB" sz="3600" dirty="0"/>
                        <a:t>1</a:t>
                      </a:r>
                    </a:p>
                  </a:txBody>
                  <a:tcPr/>
                </a:tc>
                <a:tc>
                  <a:txBody>
                    <a:bodyPr/>
                    <a:lstStyle/>
                    <a:p>
                      <a:pPr algn="ctr"/>
                      <a:r>
                        <a:rPr lang="en-GB" sz="3600" dirty="0"/>
                        <a:t>0</a:t>
                      </a:r>
                    </a:p>
                  </a:txBody>
                  <a:tcPr/>
                </a:tc>
                <a:extLst>
                  <a:ext uri="{0D108BD9-81ED-4DB2-BD59-A6C34878D82A}">
                    <a16:rowId xmlns:a16="http://schemas.microsoft.com/office/drawing/2014/main" xmlns="" val="1559111718"/>
                  </a:ext>
                </a:extLst>
              </a:tr>
              <a:tr h="764452">
                <a:tc>
                  <a:txBody>
                    <a:bodyPr/>
                    <a:lstStyle/>
                    <a:p>
                      <a:pPr algn="ctr"/>
                      <a:r>
                        <a:rPr lang="en-GB" sz="3600" dirty="0"/>
                        <a:t>1</a:t>
                      </a:r>
                    </a:p>
                  </a:txBody>
                  <a:tcPr/>
                </a:tc>
                <a:tc>
                  <a:txBody>
                    <a:bodyPr/>
                    <a:lstStyle/>
                    <a:p>
                      <a:pPr algn="ctr"/>
                      <a:r>
                        <a:rPr lang="en-GB" sz="3600" dirty="0"/>
                        <a:t>1</a:t>
                      </a:r>
                    </a:p>
                  </a:txBody>
                  <a:tcPr/>
                </a:tc>
                <a:tc>
                  <a:txBody>
                    <a:bodyPr/>
                    <a:lstStyle/>
                    <a:p>
                      <a:pPr algn="ctr"/>
                      <a:r>
                        <a:rPr lang="en-GB" sz="3600" dirty="0"/>
                        <a:t>1</a:t>
                      </a:r>
                    </a:p>
                  </a:txBody>
                  <a:tcPr/>
                </a:tc>
                <a:extLst>
                  <a:ext uri="{0D108BD9-81ED-4DB2-BD59-A6C34878D82A}">
                    <a16:rowId xmlns:a16="http://schemas.microsoft.com/office/drawing/2014/main" xmlns="" val="4099623140"/>
                  </a:ext>
                </a:extLst>
              </a:tr>
            </a:tbl>
          </a:graphicData>
        </a:graphic>
      </p:graphicFrame>
      <p:pic>
        <p:nvPicPr>
          <p:cNvPr id="5" name="Picture 4"/>
          <p:cNvPicPr>
            <a:picLocks noChangeAspect="1"/>
          </p:cNvPicPr>
          <p:nvPr/>
        </p:nvPicPr>
        <p:blipFill rotWithShape="1">
          <a:blip r:embed="rId2"/>
          <a:srcRect r="80554" b="51866"/>
          <a:stretch/>
        </p:blipFill>
        <p:spPr>
          <a:xfrm>
            <a:off x="10988020" y="93182"/>
            <a:ext cx="1203980" cy="1398358"/>
          </a:xfrm>
          <a:prstGeom prst="rect">
            <a:avLst/>
          </a:prstGeom>
        </p:spPr>
      </p:pic>
    </p:spTree>
    <p:extLst>
      <p:ext uri="{BB962C8B-B14F-4D97-AF65-F5344CB8AC3E}">
        <p14:creationId xmlns:p14="http://schemas.microsoft.com/office/powerpoint/2010/main" val="3437917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OR Operator</a:t>
            </a:r>
          </a:p>
        </p:txBody>
      </p:sp>
      <p:sp>
        <p:nvSpPr>
          <p:cNvPr id="3" name="Content Placeholder 2"/>
          <p:cNvSpPr>
            <a:spLocks noGrp="1"/>
          </p:cNvSpPr>
          <p:nvPr>
            <p:ph idx="1"/>
          </p:nvPr>
        </p:nvSpPr>
        <p:spPr>
          <a:xfrm>
            <a:off x="838200" y="1825624"/>
            <a:ext cx="4138534" cy="4605155"/>
          </a:xfrm>
        </p:spPr>
        <p:txBody>
          <a:bodyPr/>
          <a:lstStyle/>
          <a:p>
            <a:r>
              <a:rPr lang="en-GB" dirty="0">
                <a:solidFill>
                  <a:schemeClr val="tx1"/>
                </a:solidFill>
              </a:rPr>
              <a:t>Can have any number of inputs</a:t>
            </a:r>
          </a:p>
          <a:p>
            <a:r>
              <a:rPr lang="en-GB" dirty="0">
                <a:solidFill>
                  <a:schemeClr val="tx1"/>
                </a:solidFill>
              </a:rPr>
              <a:t>At least one must be true to be true.</a:t>
            </a:r>
          </a:p>
        </p:txBody>
      </p:sp>
      <p:graphicFrame>
        <p:nvGraphicFramePr>
          <p:cNvPr id="4" name="Table 3"/>
          <p:cNvGraphicFramePr>
            <a:graphicFrameLocks noGrp="1"/>
          </p:cNvGraphicFramePr>
          <p:nvPr/>
        </p:nvGraphicFramePr>
        <p:xfrm>
          <a:off x="5546361" y="1962631"/>
          <a:ext cx="6142635" cy="3822260"/>
        </p:xfrm>
        <a:graphic>
          <a:graphicData uri="http://schemas.openxmlformats.org/drawingml/2006/table">
            <a:tbl>
              <a:tblPr firstRow="1" bandRow="1">
                <a:tableStyleId>{5C22544A-7EE6-4342-B048-85BDC9FD1C3A}</a:tableStyleId>
              </a:tblPr>
              <a:tblGrid>
                <a:gridCol w="2047545">
                  <a:extLst>
                    <a:ext uri="{9D8B030D-6E8A-4147-A177-3AD203B41FA5}">
                      <a16:colId xmlns:a16="http://schemas.microsoft.com/office/drawing/2014/main" xmlns="" val="907503471"/>
                    </a:ext>
                  </a:extLst>
                </a:gridCol>
                <a:gridCol w="2047545">
                  <a:extLst>
                    <a:ext uri="{9D8B030D-6E8A-4147-A177-3AD203B41FA5}">
                      <a16:colId xmlns:a16="http://schemas.microsoft.com/office/drawing/2014/main" xmlns="" val="1500747511"/>
                    </a:ext>
                  </a:extLst>
                </a:gridCol>
                <a:gridCol w="2047545">
                  <a:extLst>
                    <a:ext uri="{9D8B030D-6E8A-4147-A177-3AD203B41FA5}">
                      <a16:colId xmlns:a16="http://schemas.microsoft.com/office/drawing/2014/main" xmlns="" val="3846874924"/>
                    </a:ext>
                  </a:extLst>
                </a:gridCol>
              </a:tblGrid>
              <a:tr h="764452">
                <a:tc>
                  <a:txBody>
                    <a:bodyPr/>
                    <a:lstStyle/>
                    <a:p>
                      <a:pPr algn="ctr"/>
                      <a:r>
                        <a:rPr lang="en-GB" sz="3600" dirty="0"/>
                        <a:t>x</a:t>
                      </a:r>
                    </a:p>
                  </a:txBody>
                  <a:tcPr/>
                </a:tc>
                <a:tc>
                  <a:txBody>
                    <a:bodyPr/>
                    <a:lstStyle/>
                    <a:p>
                      <a:pPr algn="ctr"/>
                      <a:r>
                        <a:rPr lang="en-GB" sz="3600" dirty="0"/>
                        <a:t>y</a:t>
                      </a:r>
                    </a:p>
                  </a:txBody>
                  <a:tcPr/>
                </a:tc>
                <a:tc>
                  <a:txBody>
                    <a:bodyPr/>
                    <a:lstStyle/>
                    <a:p>
                      <a:pPr algn="ctr"/>
                      <a:r>
                        <a:rPr lang="en-GB" sz="3600" dirty="0"/>
                        <a:t>x OR y</a:t>
                      </a:r>
                    </a:p>
                  </a:txBody>
                  <a:tcPr/>
                </a:tc>
                <a:extLst>
                  <a:ext uri="{0D108BD9-81ED-4DB2-BD59-A6C34878D82A}">
                    <a16:rowId xmlns:a16="http://schemas.microsoft.com/office/drawing/2014/main" xmlns="" val="212347307"/>
                  </a:ext>
                </a:extLst>
              </a:tr>
              <a:tr h="764452">
                <a:tc>
                  <a:txBody>
                    <a:bodyPr/>
                    <a:lstStyle/>
                    <a:p>
                      <a:pPr algn="ctr"/>
                      <a:r>
                        <a:rPr lang="en-GB" sz="3600" dirty="0"/>
                        <a:t>0</a:t>
                      </a:r>
                    </a:p>
                  </a:txBody>
                  <a:tcPr/>
                </a:tc>
                <a:tc>
                  <a:txBody>
                    <a:bodyPr/>
                    <a:lstStyle/>
                    <a:p>
                      <a:pPr algn="ctr"/>
                      <a:r>
                        <a:rPr lang="en-GB" sz="3600" dirty="0"/>
                        <a:t>0</a:t>
                      </a:r>
                    </a:p>
                  </a:txBody>
                  <a:tcPr/>
                </a:tc>
                <a:tc>
                  <a:txBody>
                    <a:bodyPr/>
                    <a:lstStyle/>
                    <a:p>
                      <a:pPr algn="ctr"/>
                      <a:r>
                        <a:rPr lang="en-GB" sz="3600" dirty="0"/>
                        <a:t>0</a:t>
                      </a:r>
                    </a:p>
                  </a:txBody>
                  <a:tcPr/>
                </a:tc>
                <a:extLst>
                  <a:ext uri="{0D108BD9-81ED-4DB2-BD59-A6C34878D82A}">
                    <a16:rowId xmlns:a16="http://schemas.microsoft.com/office/drawing/2014/main" xmlns="" val="3399999459"/>
                  </a:ext>
                </a:extLst>
              </a:tr>
              <a:tr h="764452">
                <a:tc>
                  <a:txBody>
                    <a:bodyPr/>
                    <a:lstStyle/>
                    <a:p>
                      <a:pPr algn="ctr"/>
                      <a:r>
                        <a:rPr lang="en-GB" sz="3600" dirty="0"/>
                        <a:t>1</a:t>
                      </a:r>
                    </a:p>
                  </a:txBody>
                  <a:tcPr/>
                </a:tc>
                <a:tc>
                  <a:txBody>
                    <a:bodyPr/>
                    <a:lstStyle/>
                    <a:p>
                      <a:pPr algn="ctr"/>
                      <a:r>
                        <a:rPr lang="en-GB" sz="3600" dirty="0"/>
                        <a:t>0</a:t>
                      </a:r>
                    </a:p>
                  </a:txBody>
                  <a:tcPr/>
                </a:tc>
                <a:tc>
                  <a:txBody>
                    <a:bodyPr/>
                    <a:lstStyle/>
                    <a:p>
                      <a:pPr algn="ctr"/>
                      <a:r>
                        <a:rPr lang="en-GB" sz="3600" dirty="0"/>
                        <a:t>1</a:t>
                      </a:r>
                    </a:p>
                  </a:txBody>
                  <a:tcPr/>
                </a:tc>
                <a:extLst>
                  <a:ext uri="{0D108BD9-81ED-4DB2-BD59-A6C34878D82A}">
                    <a16:rowId xmlns:a16="http://schemas.microsoft.com/office/drawing/2014/main" xmlns="" val="1272601082"/>
                  </a:ext>
                </a:extLst>
              </a:tr>
              <a:tr h="764452">
                <a:tc>
                  <a:txBody>
                    <a:bodyPr/>
                    <a:lstStyle/>
                    <a:p>
                      <a:pPr algn="ctr"/>
                      <a:r>
                        <a:rPr lang="en-GB" sz="3600" dirty="0"/>
                        <a:t>0</a:t>
                      </a:r>
                    </a:p>
                  </a:txBody>
                  <a:tcPr/>
                </a:tc>
                <a:tc>
                  <a:txBody>
                    <a:bodyPr/>
                    <a:lstStyle/>
                    <a:p>
                      <a:pPr algn="ctr"/>
                      <a:r>
                        <a:rPr lang="en-GB" sz="3600" dirty="0"/>
                        <a:t>1</a:t>
                      </a:r>
                    </a:p>
                  </a:txBody>
                  <a:tcPr/>
                </a:tc>
                <a:tc>
                  <a:txBody>
                    <a:bodyPr/>
                    <a:lstStyle/>
                    <a:p>
                      <a:pPr algn="ctr"/>
                      <a:r>
                        <a:rPr lang="en-GB" sz="3600" dirty="0"/>
                        <a:t>1</a:t>
                      </a:r>
                    </a:p>
                  </a:txBody>
                  <a:tcPr/>
                </a:tc>
                <a:extLst>
                  <a:ext uri="{0D108BD9-81ED-4DB2-BD59-A6C34878D82A}">
                    <a16:rowId xmlns:a16="http://schemas.microsoft.com/office/drawing/2014/main" xmlns="" val="1559111718"/>
                  </a:ext>
                </a:extLst>
              </a:tr>
              <a:tr h="764452">
                <a:tc>
                  <a:txBody>
                    <a:bodyPr/>
                    <a:lstStyle/>
                    <a:p>
                      <a:pPr algn="ctr"/>
                      <a:r>
                        <a:rPr lang="en-GB" sz="3600" dirty="0"/>
                        <a:t>1</a:t>
                      </a:r>
                    </a:p>
                  </a:txBody>
                  <a:tcPr/>
                </a:tc>
                <a:tc>
                  <a:txBody>
                    <a:bodyPr/>
                    <a:lstStyle/>
                    <a:p>
                      <a:pPr algn="ctr"/>
                      <a:r>
                        <a:rPr lang="en-GB" sz="3600" dirty="0"/>
                        <a:t>1</a:t>
                      </a:r>
                    </a:p>
                  </a:txBody>
                  <a:tcPr/>
                </a:tc>
                <a:tc>
                  <a:txBody>
                    <a:bodyPr/>
                    <a:lstStyle/>
                    <a:p>
                      <a:pPr algn="ctr"/>
                      <a:r>
                        <a:rPr lang="en-GB" sz="3600" dirty="0"/>
                        <a:t>1</a:t>
                      </a:r>
                    </a:p>
                  </a:txBody>
                  <a:tcPr/>
                </a:tc>
                <a:extLst>
                  <a:ext uri="{0D108BD9-81ED-4DB2-BD59-A6C34878D82A}">
                    <a16:rowId xmlns:a16="http://schemas.microsoft.com/office/drawing/2014/main" xmlns="" val="4099623140"/>
                  </a:ext>
                </a:extLst>
              </a:tr>
            </a:tbl>
          </a:graphicData>
        </a:graphic>
      </p:graphicFrame>
      <p:pic>
        <p:nvPicPr>
          <p:cNvPr id="5" name="Picture 4"/>
          <p:cNvPicPr>
            <a:picLocks noChangeAspect="1"/>
          </p:cNvPicPr>
          <p:nvPr/>
        </p:nvPicPr>
        <p:blipFill rotWithShape="1">
          <a:blip r:embed="rId2"/>
          <a:srcRect l="25842" t="1732" r="54365" b="54786"/>
          <a:stretch/>
        </p:blipFill>
        <p:spPr>
          <a:xfrm>
            <a:off x="10966515" y="93182"/>
            <a:ext cx="1225485" cy="1263192"/>
          </a:xfrm>
          <a:prstGeom prst="rect">
            <a:avLst/>
          </a:prstGeom>
        </p:spPr>
      </p:pic>
    </p:spTree>
    <p:extLst>
      <p:ext uri="{BB962C8B-B14F-4D97-AF65-F5344CB8AC3E}">
        <p14:creationId xmlns:p14="http://schemas.microsoft.com/office/powerpoint/2010/main" val="425545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XOR Operator</a:t>
            </a:r>
          </a:p>
        </p:txBody>
      </p:sp>
      <p:sp>
        <p:nvSpPr>
          <p:cNvPr id="3" name="Content Placeholder 2"/>
          <p:cNvSpPr>
            <a:spLocks noGrp="1"/>
          </p:cNvSpPr>
          <p:nvPr>
            <p:ph idx="1"/>
          </p:nvPr>
        </p:nvSpPr>
        <p:spPr>
          <a:xfrm>
            <a:off x="838200" y="1825624"/>
            <a:ext cx="4138534" cy="4605155"/>
          </a:xfrm>
        </p:spPr>
        <p:txBody>
          <a:bodyPr/>
          <a:lstStyle/>
          <a:p>
            <a:r>
              <a:rPr lang="en-GB" dirty="0">
                <a:solidFill>
                  <a:schemeClr val="tx1"/>
                </a:solidFill>
              </a:rPr>
              <a:t>Known as ‘exclusive or’</a:t>
            </a:r>
          </a:p>
          <a:p>
            <a:r>
              <a:rPr lang="en-GB" dirty="0">
                <a:solidFill>
                  <a:schemeClr val="tx1"/>
                </a:solidFill>
              </a:rPr>
              <a:t>Different from OR as if only </a:t>
            </a:r>
            <a:r>
              <a:rPr lang="en-GB" b="1" dirty="0">
                <a:solidFill>
                  <a:schemeClr val="tx1"/>
                </a:solidFill>
              </a:rPr>
              <a:t>one</a:t>
            </a:r>
            <a:r>
              <a:rPr lang="en-GB" dirty="0">
                <a:solidFill>
                  <a:schemeClr val="tx1"/>
                </a:solidFill>
              </a:rPr>
              <a:t> input is true will the result be true.</a:t>
            </a:r>
          </a:p>
          <a:p>
            <a:endParaRPr lang="en-GB" dirty="0">
              <a:solidFill>
                <a:schemeClr val="tx1"/>
              </a:solidFill>
            </a:endParaRPr>
          </a:p>
        </p:txBody>
      </p:sp>
      <p:graphicFrame>
        <p:nvGraphicFramePr>
          <p:cNvPr id="4" name="Table 3"/>
          <p:cNvGraphicFramePr>
            <a:graphicFrameLocks noGrp="1"/>
          </p:cNvGraphicFramePr>
          <p:nvPr/>
        </p:nvGraphicFramePr>
        <p:xfrm>
          <a:off x="5546361" y="1962631"/>
          <a:ext cx="6142635" cy="3822260"/>
        </p:xfrm>
        <a:graphic>
          <a:graphicData uri="http://schemas.openxmlformats.org/drawingml/2006/table">
            <a:tbl>
              <a:tblPr firstRow="1" bandRow="1">
                <a:tableStyleId>{5C22544A-7EE6-4342-B048-85BDC9FD1C3A}</a:tableStyleId>
              </a:tblPr>
              <a:tblGrid>
                <a:gridCol w="2047545">
                  <a:extLst>
                    <a:ext uri="{9D8B030D-6E8A-4147-A177-3AD203B41FA5}">
                      <a16:colId xmlns:a16="http://schemas.microsoft.com/office/drawing/2014/main" xmlns="" val="907503471"/>
                    </a:ext>
                  </a:extLst>
                </a:gridCol>
                <a:gridCol w="2047545">
                  <a:extLst>
                    <a:ext uri="{9D8B030D-6E8A-4147-A177-3AD203B41FA5}">
                      <a16:colId xmlns:a16="http://schemas.microsoft.com/office/drawing/2014/main" xmlns="" val="1500747511"/>
                    </a:ext>
                  </a:extLst>
                </a:gridCol>
                <a:gridCol w="2047545">
                  <a:extLst>
                    <a:ext uri="{9D8B030D-6E8A-4147-A177-3AD203B41FA5}">
                      <a16:colId xmlns:a16="http://schemas.microsoft.com/office/drawing/2014/main" xmlns="" val="3846874924"/>
                    </a:ext>
                  </a:extLst>
                </a:gridCol>
              </a:tblGrid>
              <a:tr h="764452">
                <a:tc>
                  <a:txBody>
                    <a:bodyPr/>
                    <a:lstStyle/>
                    <a:p>
                      <a:pPr algn="ctr"/>
                      <a:r>
                        <a:rPr lang="en-GB" sz="3600" dirty="0"/>
                        <a:t>x</a:t>
                      </a:r>
                    </a:p>
                  </a:txBody>
                  <a:tcPr/>
                </a:tc>
                <a:tc>
                  <a:txBody>
                    <a:bodyPr/>
                    <a:lstStyle/>
                    <a:p>
                      <a:pPr algn="ctr"/>
                      <a:r>
                        <a:rPr lang="en-GB" sz="3600" dirty="0"/>
                        <a:t>y</a:t>
                      </a:r>
                    </a:p>
                  </a:txBody>
                  <a:tcPr/>
                </a:tc>
                <a:tc>
                  <a:txBody>
                    <a:bodyPr/>
                    <a:lstStyle/>
                    <a:p>
                      <a:pPr algn="ctr"/>
                      <a:r>
                        <a:rPr lang="en-GB" sz="3600" dirty="0"/>
                        <a:t>x XOR y</a:t>
                      </a:r>
                    </a:p>
                  </a:txBody>
                  <a:tcPr/>
                </a:tc>
                <a:extLst>
                  <a:ext uri="{0D108BD9-81ED-4DB2-BD59-A6C34878D82A}">
                    <a16:rowId xmlns:a16="http://schemas.microsoft.com/office/drawing/2014/main" xmlns="" val="212347307"/>
                  </a:ext>
                </a:extLst>
              </a:tr>
              <a:tr h="764452">
                <a:tc>
                  <a:txBody>
                    <a:bodyPr/>
                    <a:lstStyle/>
                    <a:p>
                      <a:pPr algn="ctr"/>
                      <a:r>
                        <a:rPr lang="en-GB" sz="3600" dirty="0"/>
                        <a:t>0</a:t>
                      </a:r>
                    </a:p>
                  </a:txBody>
                  <a:tcPr/>
                </a:tc>
                <a:tc>
                  <a:txBody>
                    <a:bodyPr/>
                    <a:lstStyle/>
                    <a:p>
                      <a:pPr algn="ctr"/>
                      <a:r>
                        <a:rPr lang="en-GB" sz="3600" dirty="0"/>
                        <a:t>0</a:t>
                      </a:r>
                    </a:p>
                  </a:txBody>
                  <a:tcPr/>
                </a:tc>
                <a:tc>
                  <a:txBody>
                    <a:bodyPr/>
                    <a:lstStyle/>
                    <a:p>
                      <a:pPr algn="ctr"/>
                      <a:r>
                        <a:rPr lang="en-GB" sz="3600" dirty="0"/>
                        <a:t>0</a:t>
                      </a:r>
                    </a:p>
                  </a:txBody>
                  <a:tcPr/>
                </a:tc>
                <a:extLst>
                  <a:ext uri="{0D108BD9-81ED-4DB2-BD59-A6C34878D82A}">
                    <a16:rowId xmlns:a16="http://schemas.microsoft.com/office/drawing/2014/main" xmlns="" val="3399999459"/>
                  </a:ext>
                </a:extLst>
              </a:tr>
              <a:tr h="764452">
                <a:tc>
                  <a:txBody>
                    <a:bodyPr/>
                    <a:lstStyle/>
                    <a:p>
                      <a:pPr algn="ctr"/>
                      <a:r>
                        <a:rPr lang="en-GB" sz="3600" dirty="0"/>
                        <a:t>1</a:t>
                      </a:r>
                    </a:p>
                  </a:txBody>
                  <a:tcPr/>
                </a:tc>
                <a:tc>
                  <a:txBody>
                    <a:bodyPr/>
                    <a:lstStyle/>
                    <a:p>
                      <a:pPr algn="ctr"/>
                      <a:r>
                        <a:rPr lang="en-GB" sz="3600" dirty="0"/>
                        <a:t>0</a:t>
                      </a:r>
                    </a:p>
                  </a:txBody>
                  <a:tcPr/>
                </a:tc>
                <a:tc>
                  <a:txBody>
                    <a:bodyPr/>
                    <a:lstStyle/>
                    <a:p>
                      <a:pPr algn="ctr"/>
                      <a:r>
                        <a:rPr lang="en-GB" sz="3600" dirty="0"/>
                        <a:t>1</a:t>
                      </a:r>
                    </a:p>
                  </a:txBody>
                  <a:tcPr/>
                </a:tc>
                <a:extLst>
                  <a:ext uri="{0D108BD9-81ED-4DB2-BD59-A6C34878D82A}">
                    <a16:rowId xmlns:a16="http://schemas.microsoft.com/office/drawing/2014/main" xmlns="" val="1272601082"/>
                  </a:ext>
                </a:extLst>
              </a:tr>
              <a:tr h="764452">
                <a:tc>
                  <a:txBody>
                    <a:bodyPr/>
                    <a:lstStyle/>
                    <a:p>
                      <a:pPr algn="ctr"/>
                      <a:r>
                        <a:rPr lang="en-GB" sz="3600" dirty="0"/>
                        <a:t>0</a:t>
                      </a:r>
                    </a:p>
                  </a:txBody>
                  <a:tcPr/>
                </a:tc>
                <a:tc>
                  <a:txBody>
                    <a:bodyPr/>
                    <a:lstStyle/>
                    <a:p>
                      <a:pPr algn="ctr"/>
                      <a:r>
                        <a:rPr lang="en-GB" sz="3600" dirty="0"/>
                        <a:t>1</a:t>
                      </a:r>
                    </a:p>
                  </a:txBody>
                  <a:tcPr/>
                </a:tc>
                <a:tc>
                  <a:txBody>
                    <a:bodyPr/>
                    <a:lstStyle/>
                    <a:p>
                      <a:pPr algn="ctr"/>
                      <a:r>
                        <a:rPr lang="en-GB" sz="3600" dirty="0"/>
                        <a:t>1</a:t>
                      </a:r>
                    </a:p>
                  </a:txBody>
                  <a:tcPr/>
                </a:tc>
                <a:extLst>
                  <a:ext uri="{0D108BD9-81ED-4DB2-BD59-A6C34878D82A}">
                    <a16:rowId xmlns:a16="http://schemas.microsoft.com/office/drawing/2014/main" xmlns="" val="1559111718"/>
                  </a:ext>
                </a:extLst>
              </a:tr>
              <a:tr h="764452">
                <a:tc>
                  <a:txBody>
                    <a:bodyPr/>
                    <a:lstStyle/>
                    <a:p>
                      <a:pPr algn="ctr"/>
                      <a:r>
                        <a:rPr lang="en-GB" sz="3600" dirty="0"/>
                        <a:t>1</a:t>
                      </a:r>
                    </a:p>
                  </a:txBody>
                  <a:tcPr>
                    <a:solidFill>
                      <a:srgbClr val="D04338"/>
                    </a:solidFill>
                  </a:tcPr>
                </a:tc>
                <a:tc>
                  <a:txBody>
                    <a:bodyPr/>
                    <a:lstStyle/>
                    <a:p>
                      <a:pPr algn="ctr"/>
                      <a:r>
                        <a:rPr lang="en-GB" sz="3600" dirty="0"/>
                        <a:t>1</a:t>
                      </a:r>
                    </a:p>
                  </a:txBody>
                  <a:tcPr>
                    <a:solidFill>
                      <a:srgbClr val="D04338"/>
                    </a:solidFill>
                  </a:tcPr>
                </a:tc>
                <a:tc>
                  <a:txBody>
                    <a:bodyPr/>
                    <a:lstStyle/>
                    <a:p>
                      <a:pPr algn="ctr"/>
                      <a:r>
                        <a:rPr lang="en-GB" sz="3600" dirty="0"/>
                        <a:t>0</a:t>
                      </a:r>
                    </a:p>
                  </a:txBody>
                  <a:tcPr>
                    <a:solidFill>
                      <a:srgbClr val="D04338"/>
                    </a:solidFill>
                  </a:tcPr>
                </a:tc>
                <a:extLst>
                  <a:ext uri="{0D108BD9-81ED-4DB2-BD59-A6C34878D82A}">
                    <a16:rowId xmlns:a16="http://schemas.microsoft.com/office/drawing/2014/main" xmlns="" val="4099623140"/>
                  </a:ext>
                </a:extLst>
              </a:tr>
            </a:tbl>
          </a:graphicData>
        </a:graphic>
      </p:graphicFrame>
      <p:pic>
        <p:nvPicPr>
          <p:cNvPr id="5" name="Picture 4"/>
          <p:cNvPicPr>
            <a:picLocks noChangeAspect="1"/>
          </p:cNvPicPr>
          <p:nvPr/>
        </p:nvPicPr>
        <p:blipFill rotWithShape="1">
          <a:blip r:embed="rId2"/>
          <a:srcRect l="74717" b="55760"/>
          <a:stretch/>
        </p:blipFill>
        <p:spPr>
          <a:xfrm>
            <a:off x="10906326" y="0"/>
            <a:ext cx="1565340" cy="1285237"/>
          </a:xfrm>
          <a:prstGeom prst="rect">
            <a:avLst/>
          </a:prstGeom>
        </p:spPr>
      </p:pic>
    </p:spTree>
    <p:extLst>
      <p:ext uri="{BB962C8B-B14F-4D97-AF65-F5344CB8AC3E}">
        <p14:creationId xmlns:p14="http://schemas.microsoft.com/office/powerpoint/2010/main" val="166032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5670" y="365125"/>
            <a:ext cx="11764652" cy="1325563"/>
          </a:xfrm>
        </p:spPr>
        <p:txBody>
          <a:bodyPr/>
          <a:lstStyle/>
          <a:p>
            <a:pPr algn="ctr"/>
            <a:r>
              <a:rPr lang="en-GB" dirty="0"/>
              <a:t>There are a few notable others</a:t>
            </a:r>
          </a:p>
        </p:txBody>
      </p:sp>
      <p:pic>
        <p:nvPicPr>
          <p:cNvPr id="4" name="Content Placeholder 3"/>
          <p:cNvPicPr>
            <a:picLocks noGrp="1" noChangeAspect="1"/>
          </p:cNvPicPr>
          <p:nvPr>
            <p:ph idx="1"/>
          </p:nvPr>
        </p:nvPicPr>
        <p:blipFill>
          <a:blip r:embed="rId3"/>
          <a:stretch>
            <a:fillRect/>
          </a:stretch>
        </p:blipFill>
        <p:spPr>
          <a:xfrm>
            <a:off x="2843507" y="2275354"/>
            <a:ext cx="6548977" cy="3072981"/>
          </a:xfrm>
          <a:prstGeom prst="rect">
            <a:avLst/>
          </a:prstGeom>
        </p:spPr>
      </p:pic>
    </p:spTree>
    <p:extLst>
      <p:ext uri="{BB962C8B-B14F-4D97-AF65-F5344CB8AC3E}">
        <p14:creationId xmlns:p14="http://schemas.microsoft.com/office/powerpoint/2010/main" val="5273520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Using Data Types</a:t>
            </a:r>
          </a:p>
        </p:txBody>
      </p:sp>
      <p:sp>
        <p:nvSpPr>
          <p:cNvPr id="3" name="Content Placeholder 2"/>
          <p:cNvSpPr>
            <a:spLocks noGrp="1"/>
          </p:cNvSpPr>
          <p:nvPr>
            <p:ph idx="1"/>
          </p:nvPr>
        </p:nvSpPr>
        <p:spPr/>
        <p:txBody>
          <a:bodyPr>
            <a:normAutofit lnSpcReduction="10000"/>
          </a:bodyPr>
          <a:lstStyle/>
          <a:p>
            <a:r>
              <a:rPr lang="en-GB" dirty="0">
                <a:solidFill>
                  <a:schemeClr val="tx1"/>
                </a:solidFill>
              </a:rPr>
              <a:t>When writing programs, we need to use </a:t>
            </a:r>
            <a:r>
              <a:rPr lang="en-GB" b="1" dirty="0">
                <a:solidFill>
                  <a:schemeClr val="tx1"/>
                </a:solidFill>
              </a:rPr>
              <a:t>data types</a:t>
            </a:r>
            <a:r>
              <a:rPr lang="en-GB" dirty="0">
                <a:solidFill>
                  <a:schemeClr val="tx1"/>
                </a:solidFill>
              </a:rPr>
              <a:t> in order to successfully store and process data.</a:t>
            </a:r>
          </a:p>
          <a:p>
            <a:r>
              <a:rPr lang="en-GB" dirty="0">
                <a:solidFill>
                  <a:schemeClr val="tx1"/>
                </a:solidFill>
              </a:rPr>
              <a:t>Data used in a program can also be called variables</a:t>
            </a:r>
          </a:p>
          <a:p>
            <a:r>
              <a:rPr lang="en-GB" dirty="0">
                <a:solidFill>
                  <a:schemeClr val="tx1"/>
                </a:solidFill>
              </a:rPr>
              <a:t>These variables need to be given a name and a data type and this determines how the bits representing the data are stored in memory</a:t>
            </a:r>
          </a:p>
          <a:p>
            <a:r>
              <a:rPr lang="en-GB" dirty="0">
                <a:solidFill>
                  <a:schemeClr val="tx1"/>
                </a:solidFill>
              </a:rPr>
              <a:t>We use data types such as:</a:t>
            </a:r>
          </a:p>
          <a:p>
            <a:pPr lvl="1"/>
            <a:r>
              <a:rPr lang="en-GB" dirty="0">
                <a:solidFill>
                  <a:schemeClr val="tx1"/>
                </a:solidFill>
              </a:rPr>
              <a:t>Integers</a:t>
            </a:r>
          </a:p>
          <a:p>
            <a:pPr lvl="1"/>
            <a:r>
              <a:rPr lang="en-GB" dirty="0">
                <a:solidFill>
                  <a:schemeClr val="tx1"/>
                </a:solidFill>
              </a:rPr>
              <a:t>Strings</a:t>
            </a:r>
          </a:p>
          <a:p>
            <a:pPr lvl="1"/>
            <a:r>
              <a:rPr lang="en-GB" dirty="0">
                <a:solidFill>
                  <a:schemeClr val="tx1"/>
                </a:solidFill>
              </a:rPr>
              <a:t>Characters</a:t>
            </a:r>
          </a:p>
          <a:p>
            <a:pPr lvl="1"/>
            <a:r>
              <a:rPr lang="en-GB" dirty="0">
                <a:solidFill>
                  <a:schemeClr val="tx1"/>
                </a:solidFill>
              </a:rPr>
              <a:t>Date/Time values</a:t>
            </a:r>
          </a:p>
        </p:txBody>
      </p:sp>
    </p:spTree>
    <p:extLst>
      <p:ext uri="{BB962C8B-B14F-4D97-AF65-F5344CB8AC3E}">
        <p14:creationId xmlns:p14="http://schemas.microsoft.com/office/powerpoint/2010/main" val="57122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8" name="Picture 4" descr="Image result for data types c#"/>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025" t="28620" r="2965" b="5958"/>
          <a:stretch/>
        </p:blipFill>
        <p:spPr bwMode="auto">
          <a:xfrm>
            <a:off x="217554" y="449935"/>
            <a:ext cx="11756892" cy="6071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0246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1016</TotalTime>
  <Words>12845</Words>
  <Application>Microsoft Office PowerPoint</Application>
  <PresentationFormat>Widescreen</PresentationFormat>
  <Paragraphs>1986</Paragraphs>
  <Slides>172</Slides>
  <Notes>12</Notes>
  <HiddenSlides>0</HiddenSlides>
  <MMClips>5</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172</vt:i4>
      </vt:variant>
    </vt:vector>
  </HeadingPairs>
  <TitlesOfParts>
    <vt:vector size="194" baseType="lpstr">
      <vt:lpstr>Abadi</vt:lpstr>
      <vt:lpstr>Agency FB</vt:lpstr>
      <vt:lpstr>Aptos</vt:lpstr>
      <vt:lpstr>Arial</vt:lpstr>
      <vt:lpstr>Arial-BoldMT</vt:lpstr>
      <vt:lpstr>ArialMT</vt:lpstr>
      <vt:lpstr>Bell MT</vt:lpstr>
      <vt:lpstr>Calibri</vt:lpstr>
      <vt:lpstr>Calibri Light</vt:lpstr>
      <vt:lpstr>Century Gothic</vt:lpstr>
      <vt:lpstr>Comic Sans MS</vt:lpstr>
      <vt:lpstr>Cordia New</vt:lpstr>
      <vt:lpstr>Courier New</vt:lpstr>
      <vt:lpstr>Forte</vt:lpstr>
      <vt:lpstr>Ink Free</vt:lpstr>
      <vt:lpstr>LEMON MILK</vt:lpstr>
      <vt:lpstr>Symbol</vt:lpstr>
      <vt:lpstr>Times New Roman</vt:lpstr>
      <vt:lpstr>Wingdings</vt:lpstr>
      <vt:lpstr>Office Theme</vt:lpstr>
      <vt:lpstr>1_Office Theme</vt:lpstr>
      <vt:lpstr>2_Office Theme</vt:lpstr>
      <vt:lpstr>PROGRAMMING</vt:lpstr>
      <vt:lpstr>PowerPoint Presentation</vt:lpstr>
      <vt:lpstr>What is a Computer Program?</vt:lpstr>
      <vt:lpstr>Data</vt:lpstr>
      <vt:lpstr>Variables and Constants</vt:lpstr>
      <vt:lpstr>Why use constants?</vt:lpstr>
      <vt:lpstr>Why use variables?</vt:lpstr>
      <vt:lpstr>Data Types</vt:lpstr>
      <vt:lpstr>Variable Names</vt:lpstr>
      <vt:lpstr>camelCase</vt:lpstr>
      <vt:lpstr>Hello, World!</vt:lpstr>
      <vt:lpstr>Developing Programs</vt:lpstr>
      <vt:lpstr>Programming Paradigms</vt:lpstr>
      <vt:lpstr>Procedural Programming</vt:lpstr>
      <vt:lpstr>So, What is this program doing?</vt:lpstr>
      <vt:lpstr>User Defined Functions</vt:lpstr>
      <vt:lpstr>Object Oriented Programming </vt:lpstr>
      <vt:lpstr>Object Oriented Programming </vt:lpstr>
      <vt:lpstr>Features of OOP: Inheritance</vt:lpstr>
      <vt:lpstr>Encapsulation</vt:lpstr>
      <vt:lpstr>Benefits of OOP</vt:lpstr>
      <vt:lpstr>Example of OOP</vt:lpstr>
      <vt:lpstr>Example of OOP</vt:lpstr>
      <vt:lpstr>Example of OOP</vt:lpstr>
      <vt:lpstr>Software Development Environments</vt:lpstr>
      <vt:lpstr>Features of an IDE</vt:lpstr>
      <vt:lpstr>PowerPoint Presentation</vt:lpstr>
      <vt:lpstr>Compiling Code</vt:lpstr>
      <vt:lpstr>Unit 4 | Chapter 22 – Digital Data</vt:lpstr>
      <vt:lpstr>Learning Intentions</vt:lpstr>
      <vt:lpstr>Let’s start with a bunch of key terms.</vt:lpstr>
      <vt:lpstr>Converting Numbers into Binary Patterns</vt:lpstr>
      <vt:lpstr>So how does this help with binary?</vt:lpstr>
      <vt:lpstr>This still doesn’t answer the question of how we read a binary value?</vt:lpstr>
      <vt:lpstr>I can have 8</vt:lpstr>
      <vt:lpstr>So, let’s get back to our base 2 stuff:</vt:lpstr>
      <vt:lpstr>We can make any integer using this system</vt:lpstr>
      <vt:lpstr>PowerPoint Presentation</vt:lpstr>
      <vt:lpstr>Can we convert a denary number to binary? </vt:lpstr>
      <vt:lpstr>PowerPoint Presentation</vt:lpstr>
      <vt:lpstr>Binary Coded Decimal</vt:lpstr>
      <vt:lpstr>Character Sets</vt:lpstr>
      <vt:lpstr>Representing Characters</vt:lpstr>
      <vt:lpstr>Representing Characters</vt:lpstr>
      <vt:lpstr>Hexadecimal Number System</vt:lpstr>
      <vt:lpstr>Converting a 16-bit Binary pattern to Hex</vt:lpstr>
      <vt:lpstr>Sign, magnitude and Complementation</vt:lpstr>
      <vt:lpstr>Complementation</vt:lpstr>
      <vt:lpstr>One’s Complement</vt:lpstr>
      <vt:lpstr>Two’s Complement</vt:lpstr>
      <vt:lpstr>PowerPoint Presentation</vt:lpstr>
      <vt:lpstr>Overflow</vt:lpstr>
      <vt:lpstr>Overflow</vt:lpstr>
      <vt:lpstr>Truth Tables</vt:lpstr>
      <vt:lpstr>NOT Operator</vt:lpstr>
      <vt:lpstr>AND Operator</vt:lpstr>
      <vt:lpstr>OR Operator</vt:lpstr>
      <vt:lpstr>XOR Operator</vt:lpstr>
      <vt:lpstr>There are a few notable others</vt:lpstr>
      <vt:lpstr>Using Data Types</vt:lpstr>
      <vt:lpstr>PowerPoint Presentation</vt:lpstr>
      <vt:lpstr>Digital Design Principles</vt:lpstr>
      <vt:lpstr>PowerPoint Presentation</vt:lpstr>
      <vt:lpstr>The Underlying Concepts of Computational Thinking</vt:lpstr>
      <vt:lpstr>Algorithm Design: Flowcharts</vt:lpstr>
      <vt:lpstr>PowerPoint Presentation</vt:lpstr>
      <vt:lpstr>Quick Examples</vt:lpstr>
      <vt:lpstr>Activity: Create Your Own</vt:lpstr>
      <vt:lpstr>Algorithm Design: Pseudocode</vt:lpstr>
      <vt:lpstr>Quick Examples</vt:lpstr>
      <vt:lpstr>Best Practice for Writing Pseudocode</vt:lpstr>
      <vt:lpstr>Activity: Create Your Own</vt:lpstr>
      <vt:lpstr>Program Control Structures</vt:lpstr>
      <vt:lpstr>Program Control Structures</vt:lpstr>
      <vt:lpstr>Program Control Structures</vt:lpstr>
      <vt:lpstr>Unconditional loops</vt:lpstr>
      <vt:lpstr>Condition Controlled Loops</vt:lpstr>
      <vt:lpstr>PowerPoint Presentation</vt:lpstr>
      <vt:lpstr>Sorting Algorithms: Bubble sort</vt:lpstr>
      <vt:lpstr>Sorting Algorithms: insertion sort</vt:lpstr>
      <vt:lpstr>Bubble Sort Vs Insertion Sort</vt:lpstr>
      <vt:lpstr>Algorithms for Searching</vt:lpstr>
      <vt:lpstr>Searching Algorithms: Linear Search &amp;  Binary Search</vt:lpstr>
      <vt:lpstr>PowerPoint Presentation</vt:lpstr>
      <vt:lpstr>Designing Solutions: Models</vt:lpstr>
      <vt:lpstr>Identifying Data Requirements for a Solution</vt:lpstr>
      <vt:lpstr>Developing an Appropriate User Interface</vt:lpstr>
      <vt:lpstr>Using a Dry Run to Test a Solution</vt:lpstr>
      <vt:lpstr>Creating a Trace Table</vt:lpstr>
      <vt:lpstr>PowerPoint Presentation</vt:lpstr>
      <vt:lpstr>The Specification</vt:lpstr>
      <vt:lpstr>The Difference Between Variables &amp; Constants</vt:lpstr>
      <vt:lpstr>Fix the code</vt:lpstr>
      <vt:lpstr>Displaying Your Data</vt:lpstr>
      <vt:lpstr>Coding Challenge: Digital ID Card</vt:lpstr>
      <vt:lpstr>Activity: What’s wrong here then?</vt:lpstr>
      <vt:lpstr>PowerPoint Presentation</vt:lpstr>
      <vt:lpstr>Making Programs Interactive in C#</vt:lpstr>
      <vt:lpstr>Capturing Data with Console.ReadLine()</vt:lpstr>
      <vt:lpstr>Check Yourself (before you wreck yourself!)</vt:lpstr>
      <vt:lpstr>Making Choices: The IF Statement</vt:lpstr>
      <vt:lpstr>Code Structure: Input + Logic</vt:lpstr>
      <vt:lpstr>PowerPoint Presentation</vt:lpstr>
      <vt:lpstr>Operator Check</vt:lpstr>
      <vt:lpstr>The Power of Repetition</vt:lpstr>
      <vt:lpstr>The FOR Loop Structure</vt:lpstr>
      <vt:lpstr>Anatomy of a For Loop</vt:lpstr>
      <vt:lpstr>Check your Knowledge!</vt:lpstr>
      <vt:lpstr>Going around in circles? MORE LOOPS?</vt:lpstr>
      <vt:lpstr>Anatomy of a While Loop</vt:lpstr>
      <vt:lpstr>PowerPoint Presentation</vt:lpstr>
      <vt:lpstr>Choosing the Right Tool</vt:lpstr>
      <vt:lpstr>Task: Times Table Generator</vt:lpstr>
      <vt:lpstr>Explain it to a 10 Year Old</vt:lpstr>
      <vt:lpstr>Features of Programming Languages</vt:lpstr>
      <vt:lpstr>Arrays</vt:lpstr>
      <vt:lpstr>Declaring an Array</vt:lpstr>
      <vt:lpstr>Using Arrays</vt:lpstr>
      <vt:lpstr>Looping through Arrays</vt:lpstr>
      <vt:lpstr>Sorting: BUBBLE SORT</vt:lpstr>
      <vt:lpstr>Sorting: INSERTION SORT</vt:lpstr>
      <vt:lpstr>Simple Searching: Linear Search</vt:lpstr>
      <vt:lpstr>Simple Searching: Binary Search</vt:lpstr>
      <vt:lpstr>The Specification</vt:lpstr>
      <vt:lpstr>String Manipulation Functions</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Building Reusable Code</vt:lpstr>
      <vt:lpstr>User Defined Functions</vt:lpstr>
      <vt:lpstr>Basic File Handling</vt:lpstr>
      <vt:lpstr>Your PC hasn’t looked at Error Handling Yet, so this Lesson will Look to Teaching You How to Handle and Resolve Errors in Programming</vt:lpstr>
      <vt:lpstr>Learning Intentions</vt:lpstr>
      <vt:lpstr>PowerPoint Presentation</vt:lpstr>
      <vt:lpstr>What Does The Error Handling Topic Involve?</vt:lpstr>
      <vt:lpstr>Data Validation</vt:lpstr>
      <vt:lpstr>Why do we need validation?</vt:lpstr>
      <vt:lpstr>Data Validation Checks</vt:lpstr>
      <vt:lpstr>Write TRUE or FALSE beside each of the following statements about validation.</vt:lpstr>
      <vt:lpstr>Write TRUE or FALSE beside each of the following statements about validation.</vt:lpstr>
      <vt:lpstr>Detection And Correction Techniques</vt:lpstr>
      <vt:lpstr>PowerPoint Presentation</vt:lpstr>
      <vt:lpstr>Debugging</vt:lpstr>
      <vt:lpstr>Simple Error-trapping Techniques </vt:lpstr>
      <vt:lpstr>Exception Handling</vt:lpstr>
      <vt:lpstr>PowerPoint Presentation</vt:lpstr>
      <vt:lpstr>PowerPoint Presentation</vt:lpstr>
      <vt:lpstr>What You Need To Know</vt:lpstr>
      <vt:lpstr>PowerPoint Presentation</vt:lpstr>
      <vt:lpstr>White Box Testing</vt:lpstr>
      <vt:lpstr>White Box Testing</vt:lpstr>
      <vt:lpstr>Black Box Testing</vt:lpstr>
      <vt:lpstr>Black Box Testing</vt:lpstr>
      <vt:lpstr>Unit Testing</vt:lpstr>
      <vt:lpstr>Integration Testing</vt:lpstr>
      <vt:lpstr>System Testing</vt:lpstr>
      <vt:lpstr>Creating and Using a Test Plan</vt:lpstr>
      <vt:lpstr>Ingredients to a Test Plan</vt:lpstr>
      <vt:lpstr>The Types of Test Data To Use</vt:lpstr>
      <vt:lpstr>Evaluation Of Digitally Authored Systems</vt:lpstr>
      <vt:lpstr>What the Spec Says</vt:lpstr>
      <vt:lpstr>The Importance of Evaluating a System</vt:lpstr>
      <vt:lpstr>Functional and Non Functional Requirements</vt:lpstr>
      <vt:lpstr>Robustness</vt:lpstr>
      <vt:lpstr>An Evaluation Table</vt:lpstr>
      <vt:lpstr>Complete the paragraph below, about evaluation, using terms from the list provided. (Not all terms will be used.)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dc:title>
  <dc:creator>J Butler</dc:creator>
  <cp:lastModifiedBy>Microsoft account</cp:lastModifiedBy>
  <cp:revision>55</cp:revision>
  <dcterms:created xsi:type="dcterms:W3CDTF">2026-01-05T15:57:32Z</dcterms:created>
  <dcterms:modified xsi:type="dcterms:W3CDTF">2026-10-31T12:15:45Z</dcterms:modified>
</cp:coreProperties>
</file>