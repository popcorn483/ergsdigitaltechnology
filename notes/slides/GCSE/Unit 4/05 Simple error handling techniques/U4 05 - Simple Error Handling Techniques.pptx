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76"/>
  </p:notesMasterIdLst>
  <p:sldIdLst>
    <p:sldId id="457" r:id="rId140"/>
    <p:sldId id="454" r:id="rId141"/>
    <p:sldId id="455" r:id="rId142"/>
    <p:sldId id="458" r:id="rId143"/>
    <p:sldId id="258" r:id="rId144"/>
    <p:sldId id="265" r:id="rId145"/>
    <p:sldId id="459" r:id="rId146"/>
    <p:sldId id="267" r:id="rId147"/>
    <p:sldId id="268" r:id="rId148"/>
    <p:sldId id="460" r:id="rId149"/>
    <p:sldId id="266" r:id="rId150"/>
    <p:sldId id="461" r:id="rId151"/>
    <p:sldId id="462" r:id="rId152"/>
    <p:sldId id="263" r:id="rId153"/>
    <p:sldId id="264" r:id="rId1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DE"/>
    <a:srgbClr val="003140"/>
    <a:srgbClr val="FFFFFF"/>
    <a:srgbClr val="DE6BF9"/>
    <a:srgbClr val="EDB0FC"/>
    <a:srgbClr val="1C74A6"/>
    <a:srgbClr val="00B050"/>
    <a:srgbClr val="E0E0E0"/>
    <a:srgbClr val="00B653"/>
    <a:srgbClr val="07E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59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76" Type="http://schemas.openxmlformats.org/officeDocument/2006/relationships/notesMaster" Target="notesMasters/notesMaster1.xml"/><Relationship Id="rId177" Type="http://schemas.openxmlformats.org/officeDocument/2006/relationships/presProps" Target="presProps.xml"/><Relationship Id="rId178" Type="http://schemas.openxmlformats.org/officeDocument/2006/relationships/viewProps" Target="viewProps.xml"/><Relationship Id="rId179" Type="http://schemas.openxmlformats.org/officeDocument/2006/relationships/theme" Target="theme/theme1.xml"/><Relationship Id="rId18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09DC5-68F2-4230-868B-6FA81117FBD2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05367-3E37-47F2-9543-A194C2AE93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99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FALSE</a:t>
            </a:r>
          </a:p>
          <a:p>
            <a:r>
              <a:rPr lang="en-GB" dirty="0"/>
              <a:t>TRUE</a:t>
            </a:r>
          </a:p>
          <a:p>
            <a:r>
              <a:rPr lang="en-GB" dirty="0"/>
              <a:t>TRUE</a:t>
            </a:r>
          </a:p>
          <a:p>
            <a:r>
              <a:rPr lang="en-GB" dirty="0"/>
              <a:t>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953DE-40B4-406F-B615-B49249A3A2F2}" type="slidenum">
              <a:rPr lang="en-GB" smtClean="0"/>
              <a:t>144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15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20C320-AA30-6692-4DE0-4AEE915E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7ECCC80-61CB-976E-6912-3775EB3B4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AB2730A-3B8E-D9F8-AA39-B888F91E3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FALSE</a:t>
            </a:r>
          </a:p>
          <a:p>
            <a:r>
              <a:rPr lang="en-GB" dirty="0"/>
              <a:t>TRUE</a:t>
            </a:r>
          </a:p>
          <a:p>
            <a:r>
              <a:rPr lang="en-GB" dirty="0"/>
              <a:t>TRUE</a:t>
            </a:r>
          </a:p>
          <a:p>
            <a:r>
              <a:rPr lang="en-GB" dirty="0"/>
              <a:t>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5E70F9F-CCCA-BDAB-B371-1D5F91107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953DE-40B4-406F-B615-B49249A3A2F2}" type="slidenum">
              <a:rPr lang="en-GB" smtClean="0"/>
              <a:t>145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1389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63C437-BADB-26F1-1744-B58FF5287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CBFB801-A7E3-D5F2-41AF-20AE09E7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2AA20C0-F91E-718E-0FAA-2C1C8604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5EF3A6F-1787-E73E-F0CA-8B77F6566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4A7528-8DB0-F884-7366-D4348D2CC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12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191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630BFD-41C9-4443-37A0-7DA0E7E8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LEMON MILK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08EC02-734E-FDAE-7DF3-8DB3C6AA7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58D06E-8825-23B1-C07E-FF963A9AC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91823C9-1047-477F-F79E-CBC28BFE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9EB253-8011-048D-8449-60840055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17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529FD9-52B6-B3F1-3ACC-92EB9B754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9D83799-5349-F038-E14F-DB614AE9F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2A1649-151D-93EA-631F-B60996363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6C4EBE-9CE4-D786-4093-C4BB2FD7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731C0E-1C01-5CD7-8D36-2CAB20EA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6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7D0B23-99D8-5C9C-2DB4-375C26F1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A73CCA-A2D9-9C14-2365-AA1EE615E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A55BD96-FD5E-73F6-F796-4F1494B89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E5168EB-58D8-A759-0050-632F4F55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EF8AA03-4BAF-F0E0-E32D-60119D79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80E02D9-AF26-C903-50A9-55EC9735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57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7BB497-6D57-98B6-5EC8-FDE5CB6E0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FD1B0F7-B6C5-B1D4-D80E-9B9C972D7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8D0C5B9-F4F6-0165-1411-ADCFCB843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21935E2-B472-EA91-DB4E-C839D7805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B760D12-2E96-23CB-A91A-8971B42F9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ACE3A3C-35F0-AF39-42CD-735B60048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AFE4A0E-F73F-2032-32AC-526010C7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31E3EB0-9117-A459-5243-B3DC5605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63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E51F82-84B2-5D36-C364-390E8923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2D17616-652E-05AA-FE9A-067BD8CA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8750DCC-3A1E-8816-A369-7128F0B4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ADB4CC8-7E5E-0E1E-CFB2-324D93DD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220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B481DC6-E884-9B37-F7D3-8D1D2BA3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C177595-7DBE-CA37-A966-4329AD60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357C3EF-50D5-B3D7-5976-F3C99413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44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8163C3-090A-ED96-6BA2-12BC4401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67BE877-B5AD-73D5-AD39-54969DF41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DF72D7E-4E92-4511-E3CA-11933BE62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945A9D1-C06F-C729-CF79-95BAE94C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D04E4A-A893-479C-B352-D71BEB8B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EA53356-B1BC-934B-E7DC-9884409B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17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16F818-E602-7294-7934-E1A4F112C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74AACFF-11BF-EF5A-730B-C80F1E149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211D112-7B44-9FA8-E772-0B9B1C36B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559975E-D19D-D6D9-CB9D-D4D3F755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3D0A71-3B59-7F44-56F9-706ADF939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9D60747-C038-AAFF-A862-7D574E1E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958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8EB0AA-CC24-AF77-4BB4-53FB7D3E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5A0E8B6-4DFD-4D88-8F1D-40849C2C5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A9F494-B3DE-6065-F2BF-6F8ED78F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3C085F-8685-2373-EC66-78868E8A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EDB663-CDFD-1779-C76A-5B386BB5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75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EE53677-52B7-BFC6-E572-A036BEA9C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D729EDA-7926-9172-54DD-D0A3E3BB1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DAF23D-0B70-7617-B809-9045D499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9A83D4-743A-E1E6-0109-C9B1F12D0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ED7CA8C-5DC8-E3F6-69F3-D3DF791D3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968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5FC9BC-F7EB-4679-B546-E51CDD232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5842375-5315-4C45-AF9B-0AFFA874C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7235C8F-4E0E-4286-81DC-9D2934CD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65B17F6-EB77-4D18-ABF1-CA328B1D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3EBF0D-FE71-47F9-AA17-799D923C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202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EA7CC0-4E8D-49BB-BCEA-E0CD81FF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EC2238-C309-4CD6-9323-09399FB93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CC8AAC1-9A0B-4FF8-956F-71104D75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723DC7-A23C-4813-A731-5094F371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D32689-12A9-4737-A421-ECDD1EFC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171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02290A-5F3A-44C5-9884-1F6AE2A1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F1DEA4-386A-429E-BD37-5198B65EC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1F06AB-A623-4C1A-8BC4-1BB08A9B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72F7FE7-E3CA-4757-9230-6214C1A2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21482D-7CC6-4B0D-BDF6-B3393296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72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A3C2C9-F2C5-4A0E-8BC3-F6585AC5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13A83B-6149-449B-8CE9-1B6939724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2B727F1-78E5-412E-80D4-A77416759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CBA42B1-3B39-4377-8297-74AE3F3D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ED6D471-C1B0-4477-B277-57E83E61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C8BDC9-EABC-4145-821B-4B47D43B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036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029212-66E6-4851-9704-D1D0E013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8FBF198-7E05-45D2-9C13-5D9872865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E74D802-FCBE-448C-877C-CD24B8D89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CECCDE9-518A-445E-8F0C-E41DE2F43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6F49ED5-CDFC-4F48-BEBC-0C7E15B92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391BB69-7E14-4641-B195-CD6323A0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3BF9193-A1D4-4A3F-83AB-2FDB7A8A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021F8D8-E735-45F3-BA7F-1414D060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54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0A5104-FAA2-4170-8DC5-CFB596EE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158F3E3-39C2-43A6-AF89-6A707E9EE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66A3E8F-6D2B-4FDC-8ACF-6DB70723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523EEF6-CBD1-4990-A771-459D7D0C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453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31E45BA-EB29-4DE5-9CBF-B462C293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F172DBB-7912-4C35-A748-6D6771465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F8631C7-72D5-46AA-86D1-51198C4D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3414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708D40-C553-41FF-B9A1-3BFA2212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85827A-DCE8-4E98-B355-4B724B182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08DDB70-AE7E-4870-B4A8-95E93C4EC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F394F09-A5BE-4260-8E8E-A6746C82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7C977C-02CF-4A0A-8605-4B9B6E6F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279887B-2092-40E1-9799-B078E7AD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030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53F6C2-2A79-425F-B78B-87E3060E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8BD401A-AEF7-4778-BEEC-3903604690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76C66DF-B660-483E-BD6F-84C7873EB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899C61D-403E-483F-83C3-8BFE32B4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D7277D8-0608-4176-8C79-5A670155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5492866-2110-4E4B-9E03-868470DE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068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50BBE8-8A19-4CA3-B0D0-3D5AB372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7AF79E3-F4D3-4DBF-8A24-0B1330598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CB6C27-17B1-4FAF-8C3A-012979C9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589D89-8DB0-4C87-8159-392A5201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B50750-AAD6-4519-B3A2-D55A447F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121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1B17744-BE0E-4C2D-8E85-A98C36E1A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BC260B5-3633-4226-81DC-11D7CFA74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BF93D7-48DF-4F02-BA34-CA5CED79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5904DB-50B8-4D9A-AB54-A21CBA5B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9EE86D-7426-4CBD-BA36-150F0FD5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0556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0172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056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0373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5108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599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1986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5818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5600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1132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712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9473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F0FABDB-F7B5-76B6-20FE-C0AED463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0B11D2A-37FD-254F-F7BF-12ACEBDC1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C57448D-2A1A-EE33-37F7-8EE210FF1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48344B-9636-6D43-B7A1-AFC23066C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939D83-EBE7-5C4B-33F0-232FADF5B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41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LEMON MILK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7B86FEB-A93A-4930-B294-B95D0D60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412376B-86F3-4635-9383-75143BB0C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70128D-5950-47CB-BA99-F9601858C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BA322D-0C39-4F81-B6F5-292F37C22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0B5791-46F1-4425-BB08-95908C5D4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12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 userDrawn="1"/>
        </p:nvSpPr>
        <p:spPr>
          <a:xfrm flipH="1">
            <a:off x="0" y="0"/>
            <a:ext cx="12192000" cy="6858000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66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B0F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B0F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B0F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B0F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B0F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.jpe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gif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gif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microsoft.com/office/2007/relationships/hdphoto" Target="../media/hdphoto5.wdp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gif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gif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gif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gif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/Relationships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4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rror message HD wallpapers | Pxfuel">
            <a:extLst>
              <a:ext uri="{FF2B5EF4-FFF2-40B4-BE49-F238E27FC236}">
                <a16:creationId xmlns:a16="http://schemas.microsoft.com/office/drawing/2014/main" xmlns="" id="{343EF5B7-8973-9B6A-2B61-F6DC3B844F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10" t="32140" r="59180" b="48907"/>
          <a:stretch/>
        </p:blipFill>
        <p:spPr bwMode="auto">
          <a:xfrm>
            <a:off x="2741036" y="1862899"/>
            <a:ext cx="1573968" cy="129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6CA98C-3118-4EA2-6ED5-3D2696C82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2880" y="3503027"/>
            <a:ext cx="8564379" cy="682613"/>
          </a:xfrm>
          <a:solidFill>
            <a:srgbClr val="1C74A6"/>
          </a:solidFill>
        </p:spPr>
        <p:txBody>
          <a:bodyPr>
            <a:normAutofit fontScale="90000"/>
          </a:bodyPr>
          <a:lstStyle/>
          <a:p>
            <a:pPr algn="l"/>
            <a:r>
              <a:rPr lang="en-GB" sz="2400" dirty="0">
                <a:solidFill>
                  <a:schemeClr val="bg1"/>
                </a:solidFill>
              </a:rPr>
              <a:t>Your PC hasn’t looked at Error Handling Yet, so this Lesson will Look to Teaching You How to Handle and Resolve Errors in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BF4D7F1-F8FC-5ACD-BCBF-A1517BF6D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4113" y="4121190"/>
            <a:ext cx="8564380" cy="1655762"/>
          </a:xfrm>
          <a:solidFill>
            <a:srgbClr val="1C74A6"/>
          </a:solidFill>
        </p:spPr>
        <p:txBody>
          <a:bodyPr>
            <a:norm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You can search for this status code if you’d like: MRBU04C25</a:t>
            </a:r>
          </a:p>
        </p:txBody>
      </p:sp>
    </p:spTree>
    <p:extLst>
      <p:ext uri="{BB962C8B-B14F-4D97-AF65-F5344CB8AC3E}">
        <p14:creationId xmlns:p14="http://schemas.microsoft.com/office/powerpoint/2010/main" val="328956247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9DE7A5-6D16-519B-6575-19F3D1BB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Learning Intentions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7FAD7C-F167-D633-356C-D56B8E084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demonstrate understanding of and use the following: </a:t>
            </a:r>
          </a:p>
          <a:p>
            <a:r>
              <a:rPr lang="en-GB" dirty="0">
                <a:solidFill>
                  <a:schemeClr val="tx1"/>
                </a:solidFill>
              </a:rPr>
              <a:t>data validation, including presence, length, type and format checks; </a:t>
            </a:r>
          </a:p>
          <a:p>
            <a:r>
              <a:rPr lang="en-GB" dirty="0">
                <a:solidFill>
                  <a:schemeClr val="tx1"/>
                </a:solidFill>
              </a:rPr>
              <a:t>detection and correction techniques for syntax, execution and logic errors; </a:t>
            </a:r>
          </a:p>
          <a:p>
            <a:r>
              <a:rPr lang="en-GB" dirty="0">
                <a:solidFill>
                  <a:schemeClr val="tx1"/>
                </a:solidFill>
              </a:rPr>
              <a:t>simple error trapping techniques; </a:t>
            </a:r>
          </a:p>
        </p:txBody>
      </p:sp>
    </p:spTree>
    <p:extLst>
      <p:ext uri="{BB962C8B-B14F-4D97-AF65-F5344CB8AC3E}">
        <p14:creationId xmlns:p14="http://schemas.microsoft.com/office/powerpoint/2010/main" val="422964997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CCD83960-6DC2-A217-080F-122E02B30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8602" y="2488675"/>
            <a:ext cx="5261464" cy="368828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Checking or ensuring input data entered against a set of criteria, rules, or conditions to ensure that it is </a:t>
            </a:r>
            <a:r>
              <a:rPr lang="en-GB" dirty="0">
                <a:solidFill>
                  <a:srgbClr val="FFFF00"/>
                </a:solidFill>
              </a:rPr>
              <a:t>reasonable</a:t>
            </a:r>
            <a:r>
              <a:rPr lang="en-GB" dirty="0"/>
              <a:t>, </a:t>
            </a:r>
            <a:r>
              <a:rPr lang="en-GB" dirty="0">
                <a:solidFill>
                  <a:srgbClr val="FFFF00"/>
                </a:solidFill>
              </a:rPr>
              <a:t>sensible</a:t>
            </a:r>
            <a:r>
              <a:rPr lang="en-GB" dirty="0"/>
              <a:t>, </a:t>
            </a:r>
            <a:r>
              <a:rPr lang="en-GB" dirty="0">
                <a:solidFill>
                  <a:srgbClr val="FFFF00"/>
                </a:solidFill>
              </a:rPr>
              <a:t>acceptable</a:t>
            </a:r>
            <a:r>
              <a:rPr lang="en-GB" dirty="0"/>
              <a:t>, or </a:t>
            </a:r>
            <a:r>
              <a:rPr lang="en-GB" dirty="0">
                <a:solidFill>
                  <a:srgbClr val="FFFF00"/>
                </a:solidFill>
              </a:rPr>
              <a:t>lies within specific boundaries, </a:t>
            </a:r>
            <a:r>
              <a:rPr lang="en-GB" dirty="0"/>
              <a:t>usually completed at the input stage.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ACD732-65B6-2A25-427E-DF426D5E71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9883"/>
            <a:ext cx="5892803" cy="57381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ECAB8D4B-E408-D2B1-A602-A3751E103108}"/>
              </a:ext>
            </a:extLst>
          </p:cNvPr>
          <p:cNvSpPr txBox="1">
            <a:spLocks/>
          </p:cNvSpPr>
          <p:nvPr/>
        </p:nvSpPr>
        <p:spPr>
          <a:xfrm>
            <a:off x="685799" y="2105025"/>
            <a:ext cx="4660901" cy="2784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LEMON MILK" panose="00000500000000000000" pitchFamily="50" charset="0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/>
              <a:t>What is Data Validation?</a:t>
            </a:r>
          </a:p>
        </p:txBody>
      </p:sp>
      <p:pic>
        <p:nvPicPr>
          <p:cNvPr id="7" name="Graphic 4" descr="Storytelling with solid fill">
            <a:extLst>
              <a:ext uri="{FF2B5EF4-FFF2-40B4-BE49-F238E27FC236}">
                <a16:creationId xmlns:a16="http://schemas.microsoft.com/office/drawing/2014/main" xmlns="" id="{B5B19588-18A5-57D5-9182-F61CAF8A12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916451" y="2556146"/>
            <a:ext cx="638503" cy="63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6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57FFB1-88B9-6E14-3ABF-7A84E3A0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The Error Handling Topic Involve?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794C0C-316A-2D92-0D79-65EC142D6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65" y="2683239"/>
            <a:ext cx="11632366" cy="3493724"/>
          </a:xfrm>
        </p:spPr>
        <p:txBody>
          <a:bodyPr>
            <a:normAutofit/>
          </a:bodyPr>
          <a:lstStyle/>
          <a:p>
            <a:r>
              <a:rPr lang="en-GB" sz="3200" dirty="0"/>
              <a:t>demonstrate understanding of and use the following:</a:t>
            </a:r>
          </a:p>
          <a:p>
            <a:pPr lvl="1"/>
            <a:r>
              <a:rPr lang="en-GB" sz="2800" dirty="0"/>
              <a:t>data validation, including presence, length, type and format checks;</a:t>
            </a:r>
          </a:p>
          <a:p>
            <a:pPr lvl="1"/>
            <a:r>
              <a:rPr lang="en-GB" sz="2800" dirty="0"/>
              <a:t>detection and correction techniques for syntax, execution and logic errors;</a:t>
            </a:r>
          </a:p>
          <a:p>
            <a:pPr lvl="1"/>
            <a:r>
              <a:rPr lang="en-GB" sz="2800" dirty="0"/>
              <a:t>simple error trapping techniques;</a:t>
            </a:r>
          </a:p>
          <a:p>
            <a:endParaRPr lang="en-GB" sz="3200" dirty="0"/>
          </a:p>
        </p:txBody>
      </p:sp>
      <p:pic>
        <p:nvPicPr>
          <p:cNvPr id="5122" name="Picture 2" descr="Program Error Stickers - Find &amp; Share on GIPHY">
            <a:extLst>
              <a:ext uri="{FF2B5EF4-FFF2-40B4-BE49-F238E27FC236}">
                <a16:creationId xmlns:a16="http://schemas.microsoft.com/office/drawing/2014/main" xmlns="" id="{82558748-7966-AD12-6C02-A9D4FBA9C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607" y="4118712"/>
            <a:ext cx="2357937" cy="282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1368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Free Girl on Computer with Idea Animation by Holly Castellow | LottieFiles">
            <a:extLst>
              <a:ext uri="{FF2B5EF4-FFF2-40B4-BE49-F238E27FC236}">
                <a16:creationId xmlns:a16="http://schemas.microsoft.com/office/drawing/2014/main" xmlns="" id="{09503F54-F13D-74E0-8F2C-66B8B6883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527" y="841317"/>
            <a:ext cx="5417707" cy="541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542BE1-668B-F899-C165-9E00BE162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1262" y="57949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EDB0FC"/>
                </a:solidFill>
              </a:rPr>
              <a:t>Data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10C975-C6F2-5679-DD6A-B32ED7B25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600" y="344942"/>
            <a:ext cx="7863769" cy="5675370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DE6BF9"/>
                </a:solidFill>
              </a:rPr>
              <a:t>Data validation is </a:t>
            </a:r>
            <a:r>
              <a:rPr lang="en-GB" b="1" dirty="0">
                <a:solidFill>
                  <a:srgbClr val="DE6BF9"/>
                </a:solidFill>
              </a:rPr>
              <a:t>the automatic checking of data entered into a computer system</a:t>
            </a:r>
            <a:r>
              <a:rPr lang="en-GB" dirty="0">
                <a:solidFill>
                  <a:srgbClr val="DE6BF9"/>
                </a:solidFill>
              </a:rPr>
              <a:t>. </a:t>
            </a:r>
          </a:p>
          <a:p>
            <a:r>
              <a:rPr lang="en-GB" dirty="0">
                <a:solidFill>
                  <a:srgbClr val="DE6BF9"/>
                </a:solidFill>
              </a:rPr>
              <a:t>Validation involves using the properties of the data to identify any inputs that are obviously wrong. </a:t>
            </a:r>
          </a:p>
          <a:p>
            <a:pPr lvl="1"/>
            <a:r>
              <a:rPr lang="en-GB" dirty="0">
                <a:solidFill>
                  <a:srgbClr val="DE6BF9"/>
                </a:solidFill>
              </a:rPr>
              <a:t>Validation only proves that the data entered is a reasonable value for the computer to accept. It cannot prove that the data entered is the actual value the user intended.</a:t>
            </a:r>
          </a:p>
          <a:p>
            <a:pPr lvl="1"/>
            <a:endParaRPr lang="en-GB" dirty="0">
              <a:solidFill>
                <a:srgbClr val="DE6BF9"/>
              </a:solidFill>
            </a:endParaRPr>
          </a:p>
          <a:p>
            <a:pPr lvl="1"/>
            <a:endParaRPr lang="en-GB" dirty="0">
              <a:solidFill>
                <a:srgbClr val="DE6BF9"/>
              </a:solidFill>
            </a:endParaRPr>
          </a:p>
          <a:p>
            <a:r>
              <a:rPr lang="en-GB" dirty="0">
                <a:solidFill>
                  <a:srgbClr val="DE6BF9"/>
                </a:solidFill>
              </a:rPr>
              <a:t>In short, Data validation ensures data entered into a system is </a:t>
            </a:r>
            <a:r>
              <a:rPr lang="en-GB" b="1" dirty="0">
                <a:solidFill>
                  <a:srgbClr val="DE6BF9"/>
                </a:solidFill>
              </a:rPr>
              <a:t>sensible, reasonable and within acceptable limits/boundaries</a:t>
            </a:r>
            <a:r>
              <a:rPr lang="en-GB" dirty="0">
                <a:solidFill>
                  <a:srgbClr val="DE6BF9"/>
                </a:solidFill>
              </a:rPr>
              <a:t>. It </a:t>
            </a:r>
            <a:r>
              <a:rPr lang="en-GB" b="1" u="sng" dirty="0">
                <a:solidFill>
                  <a:srgbClr val="DE6BF9"/>
                </a:solidFill>
              </a:rPr>
              <a:t>does not</a:t>
            </a:r>
            <a:r>
              <a:rPr lang="en-GB" dirty="0">
                <a:solidFill>
                  <a:srgbClr val="DE6BF9"/>
                </a:solidFill>
              </a:rPr>
              <a:t> ensure data entered is correct.</a:t>
            </a:r>
          </a:p>
        </p:txBody>
      </p:sp>
    </p:spTree>
    <p:extLst>
      <p:ext uri="{BB962C8B-B14F-4D97-AF65-F5344CB8AC3E}">
        <p14:creationId xmlns:p14="http://schemas.microsoft.com/office/powerpoint/2010/main" val="126452338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E964E1-0594-A2AA-6332-DFD797C07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 we need validation?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49A0E3-2DAF-D21F-81ED-7AB0E4E7C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1825624"/>
            <a:ext cx="9429662" cy="48690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If a user enters the value -5 when asked to enter their age, then this is an obvious error (age can’t be negative), and an automated check should be able to spot it.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Similarly, 33 April 2017 is clearly incorrect if a date was expected - again an automated check should be able to spot this. We refer to these as </a:t>
            </a:r>
            <a:r>
              <a:rPr lang="en-GB" i="1" dirty="0"/>
              <a:t>invalid values </a:t>
            </a:r>
            <a:r>
              <a:rPr lang="en-GB" dirty="0"/>
              <a:t>and computer systems should have </a:t>
            </a:r>
            <a:r>
              <a:rPr lang="en-GB" i="1" dirty="0"/>
              <a:t>validation checks </a:t>
            </a:r>
            <a:r>
              <a:rPr lang="en-GB" dirty="0"/>
              <a:t>that prevent invalid values being entered.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Validation checking cannot of course catch all errors. For example, a user may mistakenly enter the value 21 as their age, when they are actually 22. Errors of this kind cannot generally be caught by validation checks.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2050" name="Picture 2" descr="Age Special Lineal color icon | Freepik">
            <a:extLst>
              <a:ext uri="{FF2B5EF4-FFF2-40B4-BE49-F238E27FC236}">
                <a16:creationId xmlns:a16="http://schemas.microsoft.com/office/drawing/2014/main" xmlns="" id="{3AFC259D-4A4E-82CC-55A9-A1BB07C35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514" y="1690688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ate-Of-Birth Icons - Free SVG &amp; PNG Date-Of-Birth Images - Noun Project">
            <a:extLst>
              <a:ext uri="{FF2B5EF4-FFF2-40B4-BE49-F238E27FC236}">
                <a16:creationId xmlns:a16="http://schemas.microsoft.com/office/drawing/2014/main" xmlns="" id="{DBCE7A91-B6CF-252D-101F-EC6A13098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504" y="3163734"/>
            <a:ext cx="1565581" cy="156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lzheimers Disease Glyph Icon Dementia Memory Loss Trouble With Thinking  Illness From Old Age Elderly Person Mental Disorder Silhouette Symbol  Negative Space Vector Isolated Illustration Stock Illustration - Download  Image Now - iStock">
            <a:extLst>
              <a:ext uri="{FF2B5EF4-FFF2-40B4-BE49-F238E27FC236}">
                <a16:creationId xmlns:a16="http://schemas.microsoft.com/office/drawing/2014/main" xmlns="" id="{D6628063-85E4-9B08-A9FA-526A99E83A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106" b="64904" l="26683" r="73077">
                        <a14:foregroundMark x1="40144" y1="41106" x2="40144" y2="41106"/>
                        <a14:foregroundMark x1="30769" y1="40385" x2="30769" y2="40385"/>
                        <a14:foregroundMark x1="43750" y1="35337" x2="43750" y2="35337"/>
                        <a14:foregroundMark x1="58413" y1="62260" x2="58413" y2="62260"/>
                        <a14:foregroundMark x1="50962" y1="63221" x2="50962" y2="63221"/>
                        <a14:foregroundMark x1="51923" y1="35817" x2="51923" y2="35817"/>
                        <a14:foregroundMark x1="47356" y1="38221" x2="47356" y2="38221"/>
                        <a14:foregroundMark x1="42308" y1="38221" x2="42308" y2="38221"/>
                        <a14:foregroundMark x1="37981" y1="36298" x2="37981" y2="36298"/>
                        <a14:foregroundMark x1="56250" y1="36779" x2="56250" y2="36779"/>
                        <a14:foregroundMark x1="61298" y1="34375" x2="61298" y2="34375"/>
                        <a14:foregroundMark x1="56490" y1="24760" x2="70913" y2="22115"/>
                        <a14:foregroundMark x1="66106" y1="18269" x2="56490" y2="17788"/>
                        <a14:foregroundMark x1="57452" y1="18990" x2="60096" y2="24279"/>
                        <a14:foregroundMark x1="59135" y1="28125" x2="63942" y2="28125"/>
                        <a14:foregroundMark x1="68510" y1="28125" x2="64663" y2="27644"/>
                        <a14:foregroundMark x1="64183" y1="16587" x2="60817" y2="16346"/>
                        <a14:foregroundMark x1="56971" y1="64904" x2="56971" y2="64904"/>
                        <a14:foregroundMark x1="51442" y1="64904" x2="51442" y2="649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464" t="12593" r="20719" b="32816"/>
          <a:stretch/>
        </p:blipFill>
        <p:spPr bwMode="auto">
          <a:xfrm>
            <a:off x="10080186" y="5167312"/>
            <a:ext cx="1403891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F4D8A14-640F-4398-70BF-E6C905CA8C31}"/>
              </a:ext>
            </a:extLst>
          </p:cNvPr>
          <p:cNvSpPr/>
          <p:nvPr/>
        </p:nvSpPr>
        <p:spPr>
          <a:xfrm>
            <a:off x="347553" y="1806311"/>
            <a:ext cx="117987" cy="10913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EC2EED5-B48C-65B4-AEA8-02809207C94E}"/>
              </a:ext>
            </a:extLst>
          </p:cNvPr>
          <p:cNvSpPr/>
          <p:nvPr/>
        </p:nvSpPr>
        <p:spPr>
          <a:xfrm>
            <a:off x="350362" y="3429000"/>
            <a:ext cx="117987" cy="122831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91E0C6D-1988-9A83-1E77-D4BE3ACD383B}"/>
              </a:ext>
            </a:extLst>
          </p:cNvPr>
          <p:cNvSpPr/>
          <p:nvPr/>
        </p:nvSpPr>
        <p:spPr>
          <a:xfrm>
            <a:off x="347554" y="5267734"/>
            <a:ext cx="117987" cy="122831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16293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GitHub - rudrabarad/Gifs: Collection of some Coding / Programming Gifs that  can be used in Special Repository :trollface:">
            <a:extLst>
              <a:ext uri="{FF2B5EF4-FFF2-40B4-BE49-F238E27FC236}">
                <a16:creationId xmlns:a16="http://schemas.microsoft.com/office/drawing/2014/main" xmlns="" id="{75B03E96-4A89-F146-7ABB-0C6694669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700" y="1825624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98BB7F-E9CF-79EE-01AD-36F6AC4BF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2" y="127000"/>
            <a:ext cx="7696200" cy="1325563"/>
          </a:xfrm>
        </p:spPr>
        <p:txBody>
          <a:bodyPr/>
          <a:lstStyle/>
          <a:p>
            <a:r>
              <a:rPr lang="en-GB" dirty="0">
                <a:solidFill>
                  <a:srgbClr val="003140"/>
                </a:solidFill>
              </a:rPr>
              <a:t>Data Validation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BE8629-9202-4033-C716-E7F76DA07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000"/>
            <a:ext cx="5969000" cy="63658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3140"/>
                </a:solidFill>
              </a:rPr>
              <a:t>Data validation can involve a number of checks:</a:t>
            </a:r>
          </a:p>
          <a:p>
            <a:endParaRPr lang="en-GB" dirty="0">
              <a:solidFill>
                <a:srgbClr val="003140"/>
              </a:solidFill>
            </a:endParaRPr>
          </a:p>
          <a:p>
            <a:pPr marL="355600" lvl="1"/>
            <a:r>
              <a:rPr lang="en-GB" b="1" dirty="0">
                <a:solidFill>
                  <a:srgbClr val="003140"/>
                </a:solidFill>
              </a:rPr>
              <a:t>Presence Check </a:t>
            </a:r>
            <a:r>
              <a:rPr lang="en-GB" dirty="0">
                <a:solidFill>
                  <a:srgbClr val="003140"/>
                </a:solidFill>
              </a:rPr>
              <a:t>– If a field is compulsory, a presence check should be used to ensure data is not left blank</a:t>
            </a:r>
          </a:p>
          <a:p>
            <a:pPr marL="355600" lvl="1"/>
            <a:endParaRPr lang="en-GB" dirty="0">
              <a:solidFill>
                <a:srgbClr val="003140"/>
              </a:solidFill>
            </a:endParaRPr>
          </a:p>
          <a:p>
            <a:pPr marL="355600" lvl="1"/>
            <a:r>
              <a:rPr lang="en-GB" b="1" dirty="0">
                <a:solidFill>
                  <a:srgbClr val="003140"/>
                </a:solidFill>
              </a:rPr>
              <a:t>Length Check </a:t>
            </a:r>
            <a:r>
              <a:rPr lang="en-GB" dirty="0">
                <a:solidFill>
                  <a:srgbClr val="003140"/>
                </a:solidFill>
              </a:rPr>
              <a:t>– Some text values should be entered with a certain number of characters</a:t>
            </a:r>
          </a:p>
          <a:p>
            <a:pPr marL="355600" lvl="1"/>
            <a:endParaRPr lang="en-GB" dirty="0">
              <a:solidFill>
                <a:srgbClr val="003140"/>
              </a:solidFill>
            </a:endParaRPr>
          </a:p>
          <a:p>
            <a:pPr marL="355600" lvl="1"/>
            <a:r>
              <a:rPr lang="en-GB" b="1" dirty="0">
                <a:solidFill>
                  <a:srgbClr val="003140"/>
                </a:solidFill>
              </a:rPr>
              <a:t>Type Check </a:t>
            </a:r>
            <a:r>
              <a:rPr lang="en-GB" dirty="0">
                <a:solidFill>
                  <a:srgbClr val="003140"/>
                </a:solidFill>
              </a:rPr>
              <a:t>– Data entered should be of a specific data type, such as int or string.</a:t>
            </a:r>
          </a:p>
          <a:p>
            <a:pPr marL="355600" lvl="1"/>
            <a:endParaRPr lang="en-GB" dirty="0">
              <a:solidFill>
                <a:srgbClr val="003140"/>
              </a:solidFill>
            </a:endParaRPr>
          </a:p>
          <a:p>
            <a:pPr marL="355600" lvl="1"/>
            <a:r>
              <a:rPr lang="en-GB" b="1" dirty="0">
                <a:solidFill>
                  <a:srgbClr val="003140"/>
                </a:solidFill>
              </a:rPr>
              <a:t>Format Check </a:t>
            </a:r>
            <a:r>
              <a:rPr lang="en-GB" dirty="0">
                <a:solidFill>
                  <a:srgbClr val="003140"/>
                </a:solidFill>
              </a:rPr>
              <a:t>– This check is used to ensure data entered is in a predefined pattern or format</a:t>
            </a:r>
          </a:p>
          <a:p>
            <a:pPr marL="355600" lvl="1"/>
            <a:endParaRPr lang="en-GB" dirty="0">
              <a:solidFill>
                <a:srgbClr val="003140"/>
              </a:solidFill>
            </a:endParaRPr>
          </a:p>
          <a:p>
            <a:pPr marL="355600" lvl="1"/>
            <a:r>
              <a:rPr lang="en-GB" b="1" dirty="0">
                <a:solidFill>
                  <a:srgbClr val="003140"/>
                </a:solidFill>
              </a:rPr>
              <a:t>Range Check</a:t>
            </a:r>
            <a:r>
              <a:rPr lang="en-GB" dirty="0">
                <a:solidFill>
                  <a:srgbClr val="003140"/>
                </a:solidFill>
              </a:rPr>
              <a:t> – This check is used to ensure data entered is within an upper and lower boundary or limit.</a:t>
            </a:r>
          </a:p>
        </p:txBody>
      </p:sp>
    </p:spTree>
    <p:extLst>
      <p:ext uri="{BB962C8B-B14F-4D97-AF65-F5344CB8AC3E}">
        <p14:creationId xmlns:p14="http://schemas.microsoft.com/office/powerpoint/2010/main" val="319785579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B7093A-52C5-EE5C-DFD0-93EF59DC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Write TRUE or FALSE beside each of the following statements about validation.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ADD0324B-A5F7-6E7B-C03F-87586BBE76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9900" y="1825625"/>
          <a:ext cx="108839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4700">
                  <a:extLst>
                    <a:ext uri="{9D8B030D-6E8A-4147-A177-3AD203B41FA5}">
                      <a16:colId xmlns:a16="http://schemas.microsoft.com/office/drawing/2014/main" xmlns="" val="3355349718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2179547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TRUE/FALSE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84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Validation will ensure that the program never crashes.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3320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Validation cannot tell if the data is correct.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21758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During validation, the data entered is checked to ensure it is sensible and reasonable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44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Validation is carried out when data is output.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701425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9CCF860-D5A0-BBAA-2E8B-87BEC90A1E66}"/>
              </a:ext>
            </a:extLst>
          </p:cNvPr>
          <p:cNvSpPr/>
          <p:nvPr/>
        </p:nvSpPr>
        <p:spPr>
          <a:xfrm>
            <a:off x="11150600" y="5778500"/>
            <a:ext cx="850900" cy="952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93406641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54AEDB-32B2-4F97-AE4E-06EF9D9E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952622-0F07-7721-5564-23E390206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Write TRUE or FALSE beside each of the following statements about validation.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9F1CFB3D-1DB8-7F74-6A90-1E3C578DE8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9900" y="1825625"/>
          <a:ext cx="108839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4700">
                  <a:extLst>
                    <a:ext uri="{9D8B030D-6E8A-4147-A177-3AD203B41FA5}">
                      <a16:colId xmlns:a16="http://schemas.microsoft.com/office/drawing/2014/main" xmlns="" val="3355349718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2179547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TRUE/FALSE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842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Validation will ensure that the program never crashes.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3320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Validation cannot tell if the data is correct.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21758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During validation, the data entered is checked to ensure it is sensible and reasonable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44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Validation is carried out when data is output.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701425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6BFD163-1B8A-B33B-947A-8C4A6C23310E}"/>
              </a:ext>
            </a:extLst>
          </p:cNvPr>
          <p:cNvSpPr/>
          <p:nvPr/>
        </p:nvSpPr>
        <p:spPr>
          <a:xfrm>
            <a:off x="11150600" y="5778500"/>
            <a:ext cx="850900" cy="952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[4]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D160C44-54EF-28F7-2C28-68E9947A6026}"/>
              </a:ext>
            </a:extLst>
          </p:cNvPr>
          <p:cNvSpPr txBox="1"/>
          <p:nvPr/>
        </p:nvSpPr>
        <p:spPr>
          <a:xfrm>
            <a:off x="9464701" y="2321496"/>
            <a:ext cx="121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  <a:latin typeface="LEMON MILK" panose="00000500000000000000" pitchFamily="50" charset="0"/>
              </a:rPr>
              <a:t>FALSE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9E919EC-4A55-E12B-6B0B-18DCC8038A94}"/>
              </a:ext>
            </a:extLst>
          </p:cNvPr>
          <p:cNvSpPr txBox="1"/>
          <p:nvPr/>
        </p:nvSpPr>
        <p:spPr>
          <a:xfrm>
            <a:off x="9464701" y="2815883"/>
            <a:ext cx="121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6"/>
                </a:solidFill>
                <a:latin typeface="LEMON MILK" panose="00000500000000000000" pitchFamily="50" charset="0"/>
              </a:rPr>
              <a:t>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A6798C9-F98A-031A-8B54-CC82967C3191}"/>
              </a:ext>
            </a:extLst>
          </p:cNvPr>
          <p:cNvSpPr txBox="1"/>
          <p:nvPr/>
        </p:nvSpPr>
        <p:spPr>
          <a:xfrm>
            <a:off x="9464702" y="3429000"/>
            <a:ext cx="121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6"/>
                </a:solidFill>
                <a:latin typeface="LEMON MILK" panose="00000500000000000000" pitchFamily="50" charset="0"/>
              </a:rPr>
              <a:t>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BFF6EB8-23E4-595F-22D6-B8F14A016F8B}"/>
              </a:ext>
            </a:extLst>
          </p:cNvPr>
          <p:cNvSpPr txBox="1"/>
          <p:nvPr/>
        </p:nvSpPr>
        <p:spPr>
          <a:xfrm>
            <a:off x="9464702" y="4108053"/>
            <a:ext cx="121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  <a:latin typeface="LEMON MILK" panose="00000500000000000000" pitchFamily="50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66680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823676-B75D-CC98-29EF-9C27F2A1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Detection And Correction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926775-262D-94F4-2EBE-9C97FBD79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10633"/>
            <a:ext cx="11992131" cy="4869567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There are three types of errors that can occur when programming:</a:t>
            </a:r>
          </a:p>
          <a:p>
            <a:endParaRPr lang="en-GB" dirty="0"/>
          </a:p>
          <a:p>
            <a:pPr lvl="1"/>
            <a:r>
              <a:rPr lang="en-GB" dirty="0"/>
              <a:t>Syntax Errors</a:t>
            </a:r>
          </a:p>
          <a:p>
            <a:pPr lvl="2"/>
            <a:r>
              <a:rPr lang="en-GB" dirty="0"/>
              <a:t>Will not compile</a:t>
            </a:r>
          </a:p>
          <a:p>
            <a:pPr lvl="2"/>
            <a:r>
              <a:rPr lang="en-GB" dirty="0"/>
              <a:t>Usually caused by error in the spelling or omission of a symbol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Execution Errors</a:t>
            </a:r>
          </a:p>
          <a:p>
            <a:pPr lvl="2"/>
            <a:r>
              <a:rPr lang="en-GB" dirty="0"/>
              <a:t>Also known as a run-time error</a:t>
            </a:r>
          </a:p>
          <a:p>
            <a:pPr lvl="2"/>
            <a:r>
              <a:rPr lang="en-GB" dirty="0"/>
              <a:t>Code will compile, but will crash sometime during its execution</a:t>
            </a:r>
          </a:p>
          <a:p>
            <a:pPr lvl="2"/>
            <a:r>
              <a:rPr lang="en-GB" dirty="0"/>
              <a:t>Usually trying to read or write to a file that doesn’t exist or use an array index that is outside of an array’s length or trying to divide by 0.</a:t>
            </a:r>
          </a:p>
          <a:p>
            <a:pPr lvl="2"/>
            <a:endParaRPr lang="en-GB" dirty="0"/>
          </a:p>
          <a:p>
            <a:pPr lvl="1"/>
            <a:r>
              <a:rPr lang="en-GB" dirty="0"/>
              <a:t>Logic Errors</a:t>
            </a:r>
          </a:p>
          <a:p>
            <a:pPr lvl="2"/>
            <a:r>
              <a:rPr lang="en-GB" dirty="0"/>
              <a:t>Occurs during execution</a:t>
            </a:r>
          </a:p>
          <a:p>
            <a:pPr lvl="2"/>
            <a:r>
              <a:rPr lang="en-GB" dirty="0"/>
              <a:t>Gives unexpected result or output but works and does not cause crashes.</a:t>
            </a:r>
          </a:p>
          <a:p>
            <a:pPr lvl="2"/>
            <a:r>
              <a:rPr lang="en-GB" dirty="0"/>
              <a:t>The output produced by the program does not match the expected output.</a:t>
            </a:r>
          </a:p>
          <a:p>
            <a:pPr lvl="2"/>
            <a:r>
              <a:rPr lang="en-GB" dirty="0"/>
              <a:t>Usually detected during testing. </a:t>
            </a:r>
          </a:p>
        </p:txBody>
      </p:sp>
      <p:pic>
        <p:nvPicPr>
          <p:cNvPr id="4100" name="Picture 4" descr="Coding Animation">
            <a:extLst>
              <a:ext uri="{FF2B5EF4-FFF2-40B4-BE49-F238E27FC236}">
                <a16:creationId xmlns:a16="http://schemas.microsoft.com/office/drawing/2014/main" xmlns="" id="{02E52449-EAD3-5A9F-F1E0-305BA2144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700" y="1162049"/>
            <a:ext cx="3597431" cy="359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32556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rogramming Stick Figure Going Crazy On Fire GIF | GIFDB.com">
            <a:extLst>
              <a:ext uri="{FF2B5EF4-FFF2-40B4-BE49-F238E27FC236}">
                <a16:creationId xmlns:a16="http://schemas.microsoft.com/office/drawing/2014/main" xmlns="" id="{0CD5D012-7574-52AE-4EA0-967DC7E3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81315"/>
            <a:ext cx="4063090" cy="327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7ADD3E9A-16BB-0CED-F9EB-95A1579EEEB2}"/>
              </a:ext>
            </a:extLst>
          </p:cNvPr>
          <p:cNvGrpSpPr/>
          <p:nvPr/>
        </p:nvGrpSpPr>
        <p:grpSpPr>
          <a:xfrm>
            <a:off x="342899" y="367392"/>
            <a:ext cx="3624944" cy="3282044"/>
            <a:chOff x="424542" y="1265464"/>
            <a:chExt cx="3624944" cy="328204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D7420BBD-FD8E-6FE3-A1A3-4389DAAA4862}"/>
                </a:ext>
              </a:extLst>
            </p:cNvPr>
            <p:cNvSpPr/>
            <p:nvPr/>
          </p:nvSpPr>
          <p:spPr>
            <a:xfrm>
              <a:off x="424543" y="1853294"/>
              <a:ext cx="3624943" cy="2694214"/>
            </a:xfrm>
            <a:prstGeom prst="rect">
              <a:avLst/>
            </a:prstGeom>
            <a:solidFill>
              <a:srgbClr val="00CC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Syntax errors occur either when the </a:t>
              </a:r>
              <a:r>
                <a:rPr lang="en-GB" b="1" dirty="0">
                  <a:solidFill>
                    <a:schemeClr val="tx1"/>
                  </a:solidFill>
                </a:rPr>
                <a:t>program statements cannot be understood because they do not follow the rules laid down by the programming language</a:t>
              </a:r>
              <a:r>
                <a:rPr lang="en-GB" dirty="0">
                  <a:solidFill>
                    <a:schemeClr val="tx1"/>
                  </a:solidFill>
                </a:rPr>
                <a:t>, statement syntax errors, or when program structures are incorrectly formed, program syntax errors or structure errors.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70E65EC2-D7D5-D256-A30D-CD739B6B856F}"/>
                </a:ext>
              </a:extLst>
            </p:cNvPr>
            <p:cNvSpPr/>
            <p:nvPr/>
          </p:nvSpPr>
          <p:spPr>
            <a:xfrm>
              <a:off x="424542" y="1265464"/>
              <a:ext cx="3624943" cy="587829"/>
            </a:xfrm>
            <a:prstGeom prst="rect">
              <a:avLst/>
            </a:prstGeom>
            <a:solidFill>
              <a:srgbClr val="3333FF">
                <a:alpha val="8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Syntax Errors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9F8A073D-6CCE-3D6D-7D99-B1E84B768B23}"/>
              </a:ext>
            </a:extLst>
          </p:cNvPr>
          <p:cNvGrpSpPr/>
          <p:nvPr/>
        </p:nvGrpSpPr>
        <p:grpSpPr>
          <a:xfrm>
            <a:off x="4063091" y="3429000"/>
            <a:ext cx="3624944" cy="3282044"/>
            <a:chOff x="424542" y="1265464"/>
            <a:chExt cx="3624944" cy="3282044"/>
          </a:xfrm>
          <a:solidFill>
            <a:srgbClr val="000000">
              <a:alpha val="9020"/>
            </a:srgb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F2A59985-110B-F363-88C3-A2FAA365A8A8}"/>
                </a:ext>
              </a:extLst>
            </p:cNvPr>
            <p:cNvSpPr/>
            <p:nvPr/>
          </p:nvSpPr>
          <p:spPr>
            <a:xfrm>
              <a:off x="424543" y="1853294"/>
              <a:ext cx="3624943" cy="2694214"/>
            </a:xfrm>
            <a:prstGeom prst="rect">
              <a:avLst/>
            </a:prstGeom>
            <a:solidFill>
              <a:srgbClr val="00CC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Execution errors or run-time errors are </a:t>
              </a:r>
              <a:r>
                <a:rPr lang="en-GB" b="1" dirty="0">
                  <a:solidFill>
                    <a:schemeClr val="tx1"/>
                  </a:solidFill>
                </a:rPr>
                <a:t>errors that are detected during program execution</a:t>
              </a:r>
              <a:r>
                <a:rPr lang="en-GB" dirty="0">
                  <a:solidFill>
                    <a:schemeClr val="tx1"/>
                  </a:solidFill>
                </a:rPr>
                <a:t>. These errors, such as overflow and division by zero, can occur if a mistake is made in the processing algorithm or because of external effects not catered for by the program, such as lack of memory or unusual data.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BE7EB979-2BFE-7AC8-595C-8C57C75080D5}"/>
                </a:ext>
              </a:extLst>
            </p:cNvPr>
            <p:cNvSpPr/>
            <p:nvPr/>
          </p:nvSpPr>
          <p:spPr>
            <a:xfrm>
              <a:off x="424542" y="1265464"/>
              <a:ext cx="3624943" cy="587829"/>
            </a:xfrm>
            <a:prstGeom prst="rect">
              <a:avLst/>
            </a:prstGeom>
            <a:solidFill>
              <a:srgbClr val="3333FF">
                <a:alpha val="8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Execution Errors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E93028D8-876F-4487-CB91-3DA18AE4415F}"/>
              </a:ext>
            </a:extLst>
          </p:cNvPr>
          <p:cNvGrpSpPr/>
          <p:nvPr/>
        </p:nvGrpSpPr>
        <p:grpSpPr>
          <a:xfrm>
            <a:off x="7783284" y="367392"/>
            <a:ext cx="3624944" cy="3282044"/>
            <a:chOff x="424542" y="1265464"/>
            <a:chExt cx="3624944" cy="328204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0255B834-E53E-E8C0-2321-B30C90E6045E}"/>
                </a:ext>
              </a:extLst>
            </p:cNvPr>
            <p:cNvSpPr/>
            <p:nvPr/>
          </p:nvSpPr>
          <p:spPr>
            <a:xfrm>
              <a:off x="424543" y="1853294"/>
              <a:ext cx="3624943" cy="2694214"/>
            </a:xfrm>
            <a:prstGeom prst="rect">
              <a:avLst/>
            </a:prstGeom>
            <a:solidFill>
              <a:srgbClr val="00CC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Logical errors are </a:t>
              </a:r>
              <a:r>
                <a:rPr lang="en-GB" b="1" dirty="0">
                  <a:solidFill>
                    <a:schemeClr val="tx1"/>
                  </a:solidFill>
                </a:rPr>
                <a:t>mistakes in the design of a program</a:t>
              </a:r>
              <a:r>
                <a:rPr lang="en-GB" dirty="0">
                  <a:solidFill>
                    <a:schemeClr val="tx1"/>
                  </a:solidFill>
                </a:rPr>
                <a:t>, such as the use of an inappropriate mathematical formula or control structure, recognised by incorrect results or unexpected displays.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54B1DF25-B118-0EBA-AD3D-F1E353440458}"/>
                </a:ext>
              </a:extLst>
            </p:cNvPr>
            <p:cNvSpPr/>
            <p:nvPr/>
          </p:nvSpPr>
          <p:spPr>
            <a:xfrm>
              <a:off x="424542" y="1265464"/>
              <a:ext cx="3624943" cy="587829"/>
            </a:xfrm>
            <a:prstGeom prst="rect">
              <a:avLst/>
            </a:prstGeom>
            <a:solidFill>
              <a:srgbClr val="3333FF">
                <a:alpha val="8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Logic Errors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43628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D23C37-4798-FBB6-BB5E-D3BF45DDC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7DD0C4-5F8B-4A8A-CA44-7F448B3AF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3335" cy="4351338"/>
          </a:xfrm>
        </p:spPr>
        <p:txBody>
          <a:bodyPr/>
          <a:lstStyle/>
          <a:p>
            <a:pPr lvl="0"/>
            <a:r>
              <a:rPr lang="en-GB" dirty="0"/>
              <a:t>Debugging is the process of detecting and correcting or removing errors from the code.</a:t>
            </a:r>
          </a:p>
          <a:p>
            <a:endParaRPr lang="en-GB" dirty="0"/>
          </a:p>
        </p:txBody>
      </p:sp>
      <p:pic>
        <p:nvPicPr>
          <p:cNvPr id="3074" name="Picture 2" descr="Debugging - Free security icons">
            <a:extLst>
              <a:ext uri="{FF2B5EF4-FFF2-40B4-BE49-F238E27FC236}">
                <a16:creationId xmlns:a16="http://schemas.microsoft.com/office/drawing/2014/main" xmlns="" id="{24F3977F-9884-710F-0D8E-8B8F8EE94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5125"/>
            <a:ext cx="6194323" cy="619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97436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Learn C#: Breakpoints Beginner and Advanced | Medium">
            <a:extLst>
              <a:ext uri="{FF2B5EF4-FFF2-40B4-BE49-F238E27FC236}">
                <a16:creationId xmlns:a16="http://schemas.microsoft.com/office/drawing/2014/main" xmlns="" id="{E79C4815-4696-10FB-D6B6-48799963C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97700" cy="6857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001982-A4BC-46F7-C1CF-244065A2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0" y="182562"/>
            <a:ext cx="6277656" cy="1325563"/>
          </a:xfrm>
        </p:spPr>
        <p:txBody>
          <a:bodyPr>
            <a:noAutofit/>
          </a:bodyPr>
          <a:lstStyle/>
          <a:p>
            <a:pPr algn="ctr"/>
            <a:r>
              <a:rPr lang="en-GB" sz="3600" b="1" u="sng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Simple Error-trapping Techniques</a:t>
            </a:r>
            <a:r>
              <a:rPr lang="en-GB" sz="3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3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sz="3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6F0390-32D1-7451-9170-FBEF4ABF6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550" y="1508125"/>
            <a:ext cx="4916262" cy="5167313"/>
          </a:xfrm>
        </p:spPr>
        <p:txBody>
          <a:bodyPr>
            <a:normAutofit fontScale="85000" lnSpcReduction="10000"/>
          </a:bodyPr>
          <a:lstStyle/>
          <a:p>
            <a:pPr marL="0" lvl="0" indent="0" algn="just">
              <a:lnSpc>
                <a:spcPct val="106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When errors occur in a program, the programmer must debug the code. This may mean going through each line of code and determining where the error has occurred, or creating a </a:t>
            </a:r>
            <a:r>
              <a:rPr lang="en-GB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trace table </a:t>
            </a:r>
            <a:r>
              <a:rPr lang="en-GB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see how the expected output varies from the actual output at each line.</a:t>
            </a:r>
          </a:p>
          <a:p>
            <a:pPr marL="0" lvl="0" indent="0" algn="just">
              <a:lnSpc>
                <a:spcPct val="106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GB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programmer can set </a:t>
            </a:r>
            <a:r>
              <a:rPr lang="en-GB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breakpoints </a:t>
            </a:r>
            <a:r>
              <a:rPr lang="en-GB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 the code. </a:t>
            </a:r>
          </a:p>
          <a:p>
            <a:pPr marL="800100" lvl="1" indent="-342900" algn="just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GB" sz="2000" dirty="0">
                <a:ea typeface="Calibri" panose="020F0502020204030204" pitchFamily="34" charset="0"/>
                <a:cs typeface="Times New Roman" panose="02020603050405020304" pitchFamily="18" charset="0"/>
              </a:rPr>
              <a:t>A debug facility identifies errors and allows the programmer to step through each line of the program code and to inspect the values of variables.</a:t>
            </a:r>
          </a:p>
          <a:p>
            <a:pPr marL="800100" lvl="1" indent="-342900" algn="just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GB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program execution will stop at these breakpoints and the programmer will be able to view and edit variable values.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7269475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09E933-9EC4-7F49-EFBD-F17D6F0A2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6991"/>
            <a:ext cx="10515600" cy="1325563"/>
          </a:xfrm>
        </p:spPr>
        <p:txBody>
          <a:bodyPr/>
          <a:lstStyle/>
          <a:p>
            <a:r>
              <a:rPr lang="en-GB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EBF814-218A-4AFF-3AE9-1461283D2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3126658"/>
            <a:ext cx="11769213" cy="3608439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It is the process where a program will attempt to deal with an error generated at run time so that the program does not crash.</a:t>
            </a:r>
          </a:p>
          <a:p>
            <a:pPr lvl="0"/>
            <a:r>
              <a:rPr lang="en-GB" dirty="0"/>
              <a:t>When the error occurs, an exception is raised that ‘calls’ code to handle the error.</a:t>
            </a:r>
          </a:p>
          <a:p>
            <a:pPr lvl="0"/>
            <a:r>
              <a:rPr lang="en-GB" dirty="0"/>
              <a:t>An unhandled exception will still cause the program to crash.</a:t>
            </a:r>
          </a:p>
          <a:p>
            <a:pPr lvl="0"/>
            <a:r>
              <a:rPr lang="en-GB" dirty="0"/>
              <a:t>Programmers can make use of in-built exception-handling features and write customised code to handle specific errors.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8BF5078-87CF-02E5-E984-2DF6B4975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6" t="31828" r="5054" b="29462"/>
          <a:stretch/>
        </p:blipFill>
        <p:spPr>
          <a:xfrm>
            <a:off x="5093110" y="792065"/>
            <a:ext cx="7098890" cy="233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0041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xmlns="" id="{52B52CA8-66ED-9244-2F29-35D231EA69AF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397328" y="478518"/>
            <a:ext cx="11555185" cy="6101896"/>
          </a:xfrm>
          <a:prstGeom prst="rect">
            <a:avLst/>
          </a:prstGeom>
          <a:solidFill>
            <a:srgbClr val="FFFFFF"/>
          </a:solidFill>
          <a:ln w="38100">
            <a:solidFill>
              <a:srgbClr val="00FFFF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49213" marR="120650" indent="-98425" algn="just">
              <a:lnSpc>
                <a:spcPct val="106000"/>
              </a:lnSpc>
              <a:spcAft>
                <a:spcPts val="800"/>
              </a:spcAft>
              <a:buNone/>
              <a:tabLst>
                <a:tab pos="228600" algn="l"/>
              </a:tabLst>
            </a:pPr>
            <a:r>
              <a:rPr lang="en-GB" sz="20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validation is necessary to ensure that data entered is complete, falls within a set of boundaries specified and is sensible.</a:t>
            </a:r>
            <a:endParaRPr lang="en-GB" sz="20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marR="120650" indent="-228600" algn="just">
              <a:lnSpc>
                <a:spcPct val="106000"/>
              </a:lnSpc>
              <a:spcAft>
                <a:spcPts val="800"/>
              </a:spcAft>
              <a:buNone/>
              <a:tabLst>
                <a:tab pos="228600" algn="l"/>
              </a:tabLst>
            </a:pPr>
            <a:r>
              <a:rPr lang="en-GB" sz="20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validation can be performed using presence, range, type, length and format checks.</a:t>
            </a:r>
            <a:endParaRPr lang="en-GB" sz="20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9213" marR="120650" indent="-98425" algn="just">
              <a:lnSpc>
                <a:spcPct val="106000"/>
              </a:lnSpc>
              <a:spcAft>
                <a:spcPts val="800"/>
              </a:spcAft>
              <a:buNone/>
              <a:tabLst>
                <a:tab pos="228600" algn="l"/>
              </a:tabLst>
            </a:pPr>
            <a:r>
              <a:rPr lang="en-GB" sz="20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Syntax errors occur when the program is being entered into the editor and are detected when the program is being compiled. A program with syntax errors will not compile.</a:t>
            </a:r>
            <a:endParaRPr lang="en-GB" sz="20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9213" marR="120650" indent="-98425" algn="just">
              <a:lnSpc>
                <a:spcPct val="106000"/>
              </a:lnSpc>
              <a:spcAft>
                <a:spcPts val="800"/>
              </a:spcAft>
              <a:buNone/>
              <a:tabLst>
                <a:tab pos="228600" algn="l"/>
              </a:tabLst>
            </a:pPr>
            <a:r>
              <a:rPr lang="en-GB" sz="20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Execution errors or run-time errors occur during program execution and will cause the program to crash. Division by zero will cause a run-time error.</a:t>
            </a:r>
            <a:endParaRPr lang="en-GB" sz="20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9213" marR="120650" indent="-98425" algn="just">
              <a:lnSpc>
                <a:spcPct val="106000"/>
              </a:lnSpc>
              <a:spcAft>
                <a:spcPts val="800"/>
              </a:spcAft>
              <a:buNone/>
              <a:tabLst>
                <a:tab pos="228600" algn="l"/>
              </a:tabLst>
            </a:pPr>
            <a:r>
              <a:rPr lang="en-GB" sz="20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errors arise in programs that compile and run without error. However, the actual output produced by the program does not match the expected output.</a:t>
            </a:r>
            <a:endParaRPr lang="en-GB" sz="20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120650" indent="0" algn="just">
              <a:lnSpc>
                <a:spcPct val="106000"/>
              </a:lnSpc>
              <a:spcAft>
                <a:spcPts val="800"/>
              </a:spcAft>
              <a:buNone/>
              <a:tabLst>
                <a:tab pos="228600" algn="l"/>
              </a:tabLst>
            </a:pPr>
            <a:r>
              <a:rPr lang="en-GB" sz="20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Debugging is the process of removing errors from the code. It may involve using the debug feature of the IDE, creating breakpoints and stepping through code line by line.</a:t>
            </a:r>
            <a:endParaRPr lang="en-GB" sz="20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321AC4B0-5107-6157-7FCB-980BF708B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2322" y="5246329"/>
            <a:ext cx="1409678" cy="1629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942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12845</Words>
  <Application>Microsoft Office PowerPoint</Application>
  <PresentationFormat>Widescreen</PresentationFormat>
  <Paragraphs>1986</Paragraphs>
  <Slides>172</Slides>
  <Notes>12</Notes>
  <HiddenSlides>0</HiddenSlides>
  <MMClips>5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172</vt:i4>
      </vt:variant>
    </vt:vector>
  </HeadingPairs>
  <TitlesOfParts>
    <vt:vector size="194" baseType="lpstr">
      <vt:lpstr>Abadi</vt:lpstr>
      <vt:lpstr>Agency FB</vt:lpstr>
      <vt:lpstr>Aptos</vt:lpstr>
      <vt:lpstr>Arial</vt:lpstr>
      <vt:lpstr>Arial-BoldMT</vt:lpstr>
      <vt:lpstr>ArialMT</vt:lpstr>
      <vt:lpstr>Bell MT</vt:lpstr>
      <vt:lpstr>Calibri</vt:lpstr>
      <vt:lpstr>Calibri Light</vt:lpstr>
      <vt:lpstr>Century Gothic</vt:lpstr>
      <vt:lpstr>Comic Sans MS</vt:lpstr>
      <vt:lpstr>Cordia New</vt:lpstr>
      <vt:lpstr>Courier New</vt:lpstr>
      <vt:lpstr>Forte</vt:lpstr>
      <vt:lpstr>Ink Free</vt:lpstr>
      <vt:lpstr>LEMON MILK</vt:lpstr>
      <vt:lpstr>Symbol</vt:lpstr>
      <vt:lpstr>Times New Roman</vt:lpstr>
      <vt:lpstr>Wingdings</vt:lpstr>
      <vt:lpstr>Office Theme</vt:lpstr>
      <vt:lpstr>1_Office Theme</vt:lpstr>
      <vt:lpstr>2_Office Theme</vt:lpstr>
      <vt:lpstr>PROGRAMMING</vt:lpstr>
      <vt:lpstr>PowerPoint Presentation</vt:lpstr>
      <vt:lpstr>What is a Computer Program?</vt:lpstr>
      <vt:lpstr>Data</vt:lpstr>
      <vt:lpstr>Variables and Constants</vt:lpstr>
      <vt:lpstr>Why use constants?</vt:lpstr>
      <vt:lpstr>Why use variables?</vt:lpstr>
      <vt:lpstr>Data Types</vt:lpstr>
      <vt:lpstr>Variable Names</vt:lpstr>
      <vt:lpstr>camelCase</vt:lpstr>
      <vt:lpstr>Hello, World!</vt:lpstr>
      <vt:lpstr>Developing Programs</vt:lpstr>
      <vt:lpstr>Programming Paradigms</vt:lpstr>
      <vt:lpstr>Procedural Programming</vt:lpstr>
      <vt:lpstr>So, What is this program doing?</vt:lpstr>
      <vt:lpstr>User Defined Functions</vt:lpstr>
      <vt:lpstr>Object Oriented Programming </vt:lpstr>
      <vt:lpstr>Object Oriented Programming </vt:lpstr>
      <vt:lpstr>Features of OOP: Inheritance</vt:lpstr>
      <vt:lpstr>Encapsulation</vt:lpstr>
      <vt:lpstr>Benefits of OOP</vt:lpstr>
      <vt:lpstr>Example of OOP</vt:lpstr>
      <vt:lpstr>Example of OOP</vt:lpstr>
      <vt:lpstr>Example of OOP</vt:lpstr>
      <vt:lpstr>Software Development Environments</vt:lpstr>
      <vt:lpstr>Features of an IDE</vt:lpstr>
      <vt:lpstr>PowerPoint Presentation</vt:lpstr>
      <vt:lpstr>Compiling Code</vt:lpstr>
      <vt:lpstr>Unit 4 | Chapter 22 – Digital Data</vt:lpstr>
      <vt:lpstr>Learning Intentions</vt:lpstr>
      <vt:lpstr>Let’s start with a bunch of key terms.</vt:lpstr>
      <vt:lpstr>Converting Numbers into Binary Patterns</vt:lpstr>
      <vt:lpstr>So how does this help with binary?</vt:lpstr>
      <vt:lpstr>This still doesn’t answer the question of how we read a binary value?</vt:lpstr>
      <vt:lpstr>I can have 8</vt:lpstr>
      <vt:lpstr>So, let’s get back to our base 2 stuff:</vt:lpstr>
      <vt:lpstr>We can make any integer using this system</vt:lpstr>
      <vt:lpstr>PowerPoint Presentation</vt:lpstr>
      <vt:lpstr>Can we convert a denary number to binary? </vt:lpstr>
      <vt:lpstr>PowerPoint Presentation</vt:lpstr>
      <vt:lpstr>Binary Coded Decimal</vt:lpstr>
      <vt:lpstr>Character Sets</vt:lpstr>
      <vt:lpstr>Representing Characters</vt:lpstr>
      <vt:lpstr>Representing Characters</vt:lpstr>
      <vt:lpstr>Hexadecimal Number System</vt:lpstr>
      <vt:lpstr>Converting a 16-bit Binary pattern to Hex</vt:lpstr>
      <vt:lpstr>Sign, magnitude and Complementation</vt:lpstr>
      <vt:lpstr>Complementation</vt:lpstr>
      <vt:lpstr>One’s Complement</vt:lpstr>
      <vt:lpstr>Two’s Complement</vt:lpstr>
      <vt:lpstr>PowerPoint Presentation</vt:lpstr>
      <vt:lpstr>Overflow</vt:lpstr>
      <vt:lpstr>Overflow</vt:lpstr>
      <vt:lpstr>Truth Tables</vt:lpstr>
      <vt:lpstr>NOT Operator</vt:lpstr>
      <vt:lpstr>AND Operator</vt:lpstr>
      <vt:lpstr>OR Operator</vt:lpstr>
      <vt:lpstr>XOR Operator</vt:lpstr>
      <vt:lpstr>There are a few notable others</vt:lpstr>
      <vt:lpstr>Using Data Types</vt:lpstr>
      <vt:lpstr>PowerPoint Presentation</vt:lpstr>
      <vt:lpstr>Digital Design Principles</vt:lpstr>
      <vt:lpstr>PowerPoint Presentation</vt:lpstr>
      <vt:lpstr>The Underlying Concepts of Computational Thinking</vt:lpstr>
      <vt:lpstr>Algorithm Design: Flowcharts</vt:lpstr>
      <vt:lpstr>PowerPoint Presentation</vt:lpstr>
      <vt:lpstr>Quick Examples</vt:lpstr>
      <vt:lpstr>Activity: Create Your Own</vt:lpstr>
      <vt:lpstr>Algorithm Design: Pseudocode</vt:lpstr>
      <vt:lpstr>Quick Examples</vt:lpstr>
      <vt:lpstr>Best Practice for Writing Pseudocode</vt:lpstr>
      <vt:lpstr>Activity: Create Your Own</vt:lpstr>
      <vt:lpstr>Program Control Structures</vt:lpstr>
      <vt:lpstr>Program Control Structures</vt:lpstr>
      <vt:lpstr>Program Control Structures</vt:lpstr>
      <vt:lpstr>Unconditional loops</vt:lpstr>
      <vt:lpstr>Condition Controlled Loops</vt:lpstr>
      <vt:lpstr>PowerPoint Presentation</vt:lpstr>
      <vt:lpstr>Sorting Algorithms: Bubble sort</vt:lpstr>
      <vt:lpstr>Sorting Algorithms: insertion sort</vt:lpstr>
      <vt:lpstr>Bubble Sort Vs Insertion Sort</vt:lpstr>
      <vt:lpstr>Algorithms for Searching</vt:lpstr>
      <vt:lpstr>Searching Algorithms: Linear Search &amp;  Binary Search</vt:lpstr>
      <vt:lpstr>PowerPoint Presentation</vt:lpstr>
      <vt:lpstr>Designing Solutions: Models</vt:lpstr>
      <vt:lpstr>Identifying Data Requirements for a Solution</vt:lpstr>
      <vt:lpstr>Developing an Appropriate User Interface</vt:lpstr>
      <vt:lpstr>Using a Dry Run to Test a Solution</vt:lpstr>
      <vt:lpstr>Creating a Trace Table</vt:lpstr>
      <vt:lpstr>PowerPoint Presentation</vt:lpstr>
      <vt:lpstr>The Specification</vt:lpstr>
      <vt:lpstr>The Difference Between Variables &amp; Constants</vt:lpstr>
      <vt:lpstr>Fix the code</vt:lpstr>
      <vt:lpstr>Displaying Your Data</vt:lpstr>
      <vt:lpstr>Coding Challenge: Digital ID Card</vt:lpstr>
      <vt:lpstr>Activity: What’s wrong here then?</vt:lpstr>
      <vt:lpstr>PowerPoint Presentation</vt:lpstr>
      <vt:lpstr>Making Programs Interactive in C#</vt:lpstr>
      <vt:lpstr>Capturing Data with Console.ReadLine()</vt:lpstr>
      <vt:lpstr>Check Yourself (before you wreck yourself!)</vt:lpstr>
      <vt:lpstr>Making Choices: The IF Statement</vt:lpstr>
      <vt:lpstr>Code Structure: Input + Logic</vt:lpstr>
      <vt:lpstr>PowerPoint Presentation</vt:lpstr>
      <vt:lpstr>Operator Check</vt:lpstr>
      <vt:lpstr>The Power of Repetition</vt:lpstr>
      <vt:lpstr>The FOR Loop Structure</vt:lpstr>
      <vt:lpstr>Anatomy of a For Loop</vt:lpstr>
      <vt:lpstr>Check your Knowledge!</vt:lpstr>
      <vt:lpstr>Going around in circles? MORE LOOPS?</vt:lpstr>
      <vt:lpstr>Anatomy of a While Loop</vt:lpstr>
      <vt:lpstr>PowerPoint Presentation</vt:lpstr>
      <vt:lpstr>Choosing the Right Tool</vt:lpstr>
      <vt:lpstr>Task: Times Table Generator</vt:lpstr>
      <vt:lpstr>Explain it to a 10 Year Old</vt:lpstr>
      <vt:lpstr>Features of Programming Languages</vt:lpstr>
      <vt:lpstr>Arrays</vt:lpstr>
      <vt:lpstr>Declaring an Array</vt:lpstr>
      <vt:lpstr>Using Arrays</vt:lpstr>
      <vt:lpstr>Looping through Arrays</vt:lpstr>
      <vt:lpstr>Sorting: BUBBLE SORT</vt:lpstr>
      <vt:lpstr>Sorting: INSERTION SORT</vt:lpstr>
      <vt:lpstr>Simple Searching: Linear Search</vt:lpstr>
      <vt:lpstr>Simple Searching: Binary Search</vt:lpstr>
      <vt:lpstr>The Specification</vt:lpstr>
      <vt:lpstr>String Manipulation Functions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Building Reusable Code</vt:lpstr>
      <vt:lpstr>User Defined Functions</vt:lpstr>
      <vt:lpstr>Basic File Handling</vt:lpstr>
      <vt:lpstr>Your PC hasn’t looked at Error Handling Yet, so this Lesson will Look to Teaching You How to Handle and Resolve Errors in Programming</vt:lpstr>
      <vt:lpstr>Learning Intentions</vt:lpstr>
      <vt:lpstr>PowerPoint Presentation</vt:lpstr>
      <vt:lpstr>What Does The Error Handling Topic Involve?</vt:lpstr>
      <vt:lpstr>Data Validation</vt:lpstr>
      <vt:lpstr>Why do we need validation?</vt:lpstr>
      <vt:lpstr>Data Validation Checks</vt:lpstr>
      <vt:lpstr>Write TRUE or FALSE beside each of the following statements about validation.</vt:lpstr>
      <vt:lpstr>Write TRUE or FALSE beside each of the following statements about validation.</vt:lpstr>
      <vt:lpstr>Detection And Correction Techniques</vt:lpstr>
      <vt:lpstr>PowerPoint Presentation</vt:lpstr>
      <vt:lpstr>Debugging</vt:lpstr>
      <vt:lpstr>Simple Error-trapping Techniques </vt:lpstr>
      <vt:lpstr>Exception Handling</vt:lpstr>
      <vt:lpstr>PowerPoint Presentation</vt:lpstr>
      <vt:lpstr>PowerPoint Presentation</vt:lpstr>
      <vt:lpstr>What You Need To Know</vt:lpstr>
      <vt:lpstr>PowerPoint Presentation</vt:lpstr>
      <vt:lpstr>White Box Testing</vt:lpstr>
      <vt:lpstr>White Box Testing</vt:lpstr>
      <vt:lpstr>Black Box Testing</vt:lpstr>
      <vt:lpstr>Black Box Testing</vt:lpstr>
      <vt:lpstr>Unit Testing</vt:lpstr>
      <vt:lpstr>Integration Testing</vt:lpstr>
      <vt:lpstr>System Testing</vt:lpstr>
      <vt:lpstr>Creating and Using a Test Plan</vt:lpstr>
      <vt:lpstr>Ingredients to a Test Plan</vt:lpstr>
      <vt:lpstr>The Types of Test Data To Use</vt:lpstr>
      <vt:lpstr>Evaluation Of Digitally Authored Systems</vt:lpstr>
      <vt:lpstr>What the Spec Says</vt:lpstr>
      <vt:lpstr>The Importance of Evaluating a System</vt:lpstr>
      <vt:lpstr>Functional and Non Functional Requirements</vt:lpstr>
      <vt:lpstr>Robustness</vt:lpstr>
      <vt:lpstr>An Evaluation Table</vt:lpstr>
      <vt:lpstr>Complete the paragraph below, about evaluation, using terms from the list provided. (Not all terms will be used.)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 Butler</dc:creator>
  <cp:lastModifiedBy>Microsoft account</cp:lastModifiedBy>
  <cp:revision>55</cp:revision>
  <dcterms:created xsi:type="dcterms:W3CDTF">2026-01-05T15:57:32Z</dcterms:created>
  <dcterms:modified xsi:type="dcterms:W3CDTF">2026-10-31T12:15:45Z</dcterms:modified>
</cp:coreProperties>
</file>