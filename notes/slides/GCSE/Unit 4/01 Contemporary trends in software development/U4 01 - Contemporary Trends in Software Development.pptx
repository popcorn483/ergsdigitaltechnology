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model3d1.glb" ContentType="model/gltf.binary"/>
  <Override PartName="/ppt/media/model3d2.glb" ContentType="model/gltf.binary"/>
  <Override PartName="/ppt/media/model3d3.glb" ContentType="model/gltf.binary"/>
  <Override PartName="/ppt/media/model3d4.glb" ContentType="model/gltf.binary"/>
  <Override PartName="/ppt/media/model3d5.glb" ContentType="model/gltf.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76"/>
  </p:notesMasterIdLst>
  <p:sldIdLst>
    <p:sldId id="256" r:id="rId4"/>
    <p:sldId id="257" r:id="rId5"/>
    <p:sldId id="301" r:id="rId6"/>
    <p:sldId id="259" r:id="rId7"/>
    <p:sldId id="260" r:id="rId8"/>
    <p:sldId id="261" r:id="rId9"/>
    <p:sldId id="262" r:id="rId10"/>
    <p:sldId id="283" r:id="rId11"/>
    <p:sldId id="284" r:id="rId12"/>
    <p:sldId id="285" r:id="rId13"/>
    <p:sldId id="286" r:id="rId14"/>
    <p:sldId id="287" r:id="rId15"/>
    <p:sldId id="288" r:id="rId16"/>
    <p:sldId id="290" r:id="rId17"/>
    <p:sldId id="291" r:id="rId18"/>
    <p:sldId id="292" r:id="rId19"/>
    <p:sldId id="293" r:id="rId20"/>
    <p:sldId id="303" r:id="rId21"/>
    <p:sldId id="294" r:id="rId22"/>
    <p:sldId id="295" r:id="rId23"/>
    <p:sldId id="296" r:id="rId24"/>
    <p:sldId id="298" r:id="rId25"/>
    <p:sldId id="299" r:id="rId26"/>
    <p:sldId id="300" r:id="rId27"/>
    <p:sldId id="297" r:id="rId28"/>
    <p:sldId id="302" r:id="rId29"/>
    <p:sldId id="304" r:id="rId30"/>
    <p:sldId id="30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DE"/>
    <a:srgbClr val="003140"/>
    <a:srgbClr val="FFFFFF"/>
    <a:srgbClr val="DE6BF9"/>
    <a:srgbClr val="EDB0FC"/>
    <a:srgbClr val="1C74A6"/>
    <a:srgbClr val="00B050"/>
    <a:srgbClr val="E0E0E0"/>
    <a:srgbClr val="00B653"/>
    <a:srgbClr val="07E0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7" autoAdjust="0"/>
    <p:restoredTop sz="94660"/>
  </p:normalViewPr>
  <p:slideViewPr>
    <p:cSldViewPr snapToGrid="0">
      <p:cViewPr varScale="1">
        <p:scale>
          <a:sx n="151" d="100"/>
          <a:sy n="151" d="100"/>
        </p:scale>
        <p:origin x="59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1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09DC5-68F2-4230-868B-6FA81117FBD2}" type="datetimeFigureOut">
              <a:rPr lang="en-GB" smtClean="0"/>
              <a:t>31/10/2026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05367-3E37-47F2-9543-A194C2AE934D}" type="slidenum">
              <a:rPr lang="en-GB" smtClean="0"/>
              <a:t>‹#›</a:t>
            </a:fld>
            <a:endParaRPr lang="en-GB"/>
          </a:p>
        </p:txBody>
      </p:sp>
    </p:spTree>
    <p:extLst>
      <p:ext uri="{BB962C8B-B14F-4D97-AF65-F5344CB8AC3E}">
        <p14:creationId xmlns:p14="http://schemas.microsoft.com/office/powerpoint/2010/main" val="396699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2A05367-3E37-47F2-9543-A194C2AE934D}" type="slidenum">
              <a:rPr lang="en-GB" smtClean="0"/>
              <a:t>24</a:t>
            </a:fld>
            <a:endParaRPr lang="en-GB"/>
          </a:p>
        </p:txBody>
      </p:sp>
    </p:spTree>
    <p:extLst>
      <p:ext uri="{BB962C8B-B14F-4D97-AF65-F5344CB8AC3E}">
        <p14:creationId xmlns:p14="http://schemas.microsoft.com/office/powerpoint/2010/main" val="3998019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63C437-BADB-26F1-1744-B58FF5287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4CBFB801-A7E3-D5F2-41AF-20AE09E78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2AA20C0-F91E-718E-0FAA-2C1C8604461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35EF3A6F-1787-E73E-F0CA-8B77F6566E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0D4A7528-8DB0-F884-7366-D4348D2CC2C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75912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30BFD-41C9-4443-37A0-7DA0E7E8E211}"/>
              </a:ext>
            </a:extLst>
          </p:cNvPr>
          <p:cNvSpPr>
            <a:spLocks noGrp="1"/>
          </p:cNvSpPr>
          <p:nvPr>
            <p:ph type="title"/>
          </p:nvPr>
        </p:nvSpPr>
        <p:spPr/>
        <p:txBody>
          <a:bodyPr/>
          <a:lstStyle>
            <a:lvl1pPr>
              <a:defRPr>
                <a:solidFill>
                  <a:schemeClr val="bg1"/>
                </a:solidFill>
                <a:latin typeface="LEMON MILK" panose="00000500000000000000" pitchFamily="50"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xmlns="" id="{6808EC02-734E-FDAE-7DF3-8DB3C6AA7C0A}"/>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EC58D06E-8825-23B1-C07E-FF963A9AC48D}"/>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191823C9-1047-477F-F79E-CBC28BFEDD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B9EB253-8011-048D-8449-60840055D35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65617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29FD9-52B6-B3F1-3ACC-92EB9B7544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9D83799-5349-F038-E14F-DB614AE9FB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12A1649-151D-93EA-631F-B6099636307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056C4EBE-9CE4-D786-4093-C4BB2FD7F5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F731C0E-1C01-5CD7-8D36-2CAB20EAFAF1}"/>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0696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D0B23-99D8-5C9C-2DB4-375C26F10F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30A73CCA-A2D9-9C14-2365-AA1EE615E1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7A55BD96-FD5E-73F6-F796-4F1494B897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5E5168EB-58D8-A759-0050-632F4F55C931}"/>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1EF8AA03-4BAF-F0E0-E32D-60119D79A0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280E02D9-AF26-C903-50A9-55EC9735636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92157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BB497-6D57-98B6-5EC8-FDE5CB6E02B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FD1B0F7-B6C5-B1D4-D80E-9B9C972D77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D0C5B9-F4F6-0165-1411-ADCFCB843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421935E2-B472-EA91-DB4E-C839D7805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B760D12-2E96-23CB-A91A-8971B42F9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CACE3A3C-35F0-AF39-42CD-735B600489D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8" name="Footer Placeholder 7">
            <a:extLst>
              <a:ext uri="{FF2B5EF4-FFF2-40B4-BE49-F238E27FC236}">
                <a16:creationId xmlns:a16="http://schemas.microsoft.com/office/drawing/2014/main" xmlns="" id="{DAFE4A0E-F73F-2032-32AC-526010C7310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731E3EB0-9117-A459-5243-B3DC56052A2E}"/>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75763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E51F82-84B2-5D36-C364-390E8923CF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A2D17616-652E-05AA-FE9A-067BD8CA531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4" name="Footer Placeholder 3">
            <a:extLst>
              <a:ext uri="{FF2B5EF4-FFF2-40B4-BE49-F238E27FC236}">
                <a16:creationId xmlns:a16="http://schemas.microsoft.com/office/drawing/2014/main" xmlns="" id="{78750DCC-3A1E-8816-A369-7128F0B40A3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7ADB4CC8-7E5E-0E1E-CFB2-324D93DDAC9C}"/>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420822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B481DC6-E884-9B37-F7D3-8D1D2BA38B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3" name="Footer Placeholder 2">
            <a:extLst>
              <a:ext uri="{FF2B5EF4-FFF2-40B4-BE49-F238E27FC236}">
                <a16:creationId xmlns:a16="http://schemas.microsoft.com/office/drawing/2014/main" xmlns="" id="{0C177595-7DBE-CA37-A966-4329AD60CF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2357C3EF-50D5-B3D7-5976-F3C994131A46}"/>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84044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8163C3-090A-ED96-6BA2-12BC4401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67BE877-B5AD-73D5-AD39-54969DF411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DDF72D7E-4E92-4511-E3CA-11933BE62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945A9D1-C06F-C729-CF79-95BAE94CD88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D04E4A-A893-479C-B352-D71BEB8B73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8EA53356-B1BC-934B-E7DC-9884409BFD6A}"/>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38417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6F818-E602-7294-7934-E1A4F112C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B74AACFF-11BF-EF5A-730B-C80F1E149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0211D112-7B44-9FA8-E772-0B9B1C36B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559975E-D19D-D6D9-CB9D-D4D3F75539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3D0A71-3B59-7F44-56F9-706ADF9398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C9D60747-C038-AAFF-A862-7D574E1E8824}"/>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21795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8EB0AA-CC24-AF77-4BB4-53FB7D3E752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95A0E8B6-4DFD-4D88-8F1D-40849C2C5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7A9F494-B3DE-6065-F2BF-6F8ED78FD09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613C085F-8685-2373-EC66-78868E8A06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EEDB663-CDFD-1779-C76A-5B386BB5D71B}"/>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93575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E53677-52B7-BFC6-E572-A036BEA9C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8D729EDA-7926-9172-54DD-D0A3E3BB1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6DAF23D-0B70-7617-B809-9045D499C02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C29A83D4-743A-E1E6-0109-C9B1F12D0D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ED7CA8C-5DC8-E3F6-69F3-D3DF791D3A5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073968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5FC9BC-F7EB-4679-B546-E51CDD2325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95842375-5315-4C45-AF9B-0AFFA874C3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7235C8F-4E0E-4286-81DC-9D2934CD4E1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D65B17F6-EB77-4D18-ABF1-CA328B1D4E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33EBF0D-FE71-47F9-AA17-799D923C9877}"/>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1219202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A7CC0-4E8D-49BB-BCEA-E0CD81FF9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6EC2238-C309-4CD6-9323-09399FB937C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CC8AAC1-9A0B-4FF8-956F-71104D753C8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CD723DC7-A23C-4813-A731-5094F3711C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44D32689-12A9-4737-A421-ECDD1EFC583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34171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2290A-5F3A-44C5-9884-1F6AE2A118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A9F1DEA4-386A-429E-BD37-5198B65EC2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1F1F06AB-A623-4C1A-8BC4-1BB08A9BDFD2}"/>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372F7FE7-E3CA-4757-9230-6214C1A2B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1621482D-7CC6-4B0D-BDF6-B33932964174}"/>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19972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A3C2C9-F2C5-4A0E-8BC3-F6585AC53E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0213A83B-6149-449B-8CE9-1B69397245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2B727F1-78E5-412E-80D4-A77416759A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1CBA42B1-3B39-4377-8297-74AE3F3D934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2ED6D471-C1B0-4477-B277-57E83E61CC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61C8BDC9-EABC-4145-821B-4B47D43B331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38303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029212-66E6-4851-9704-D1D0E013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8FBF198-7E05-45D2-9C13-5D9872865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6E74D802-FCBE-448C-877C-CD24B8D895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3CECCDE9-518A-445E-8F0C-E41DE2F4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E6F49ED5-CDFC-4F48-BEBC-0C7E15B92A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4391BB69-7E14-4641-B195-CD6323A00E70}"/>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8" name="Footer Placeholder 7">
            <a:extLst>
              <a:ext uri="{FF2B5EF4-FFF2-40B4-BE49-F238E27FC236}">
                <a16:creationId xmlns:a16="http://schemas.microsoft.com/office/drawing/2014/main" xmlns="" id="{23BF9193-A1D4-4A3F-83AB-2FDB7A8A681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F021F8D8-E735-45F3-BA7F-1414D06019E0}"/>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5154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A5104-FAA2-4170-8DC5-CFB596EE73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6158F3E3-39C2-43A6-AF89-6A707E9EEC27}"/>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4" name="Footer Placeholder 3">
            <a:extLst>
              <a:ext uri="{FF2B5EF4-FFF2-40B4-BE49-F238E27FC236}">
                <a16:creationId xmlns:a16="http://schemas.microsoft.com/office/drawing/2014/main" xmlns="" id="{F66A3E8F-6D2B-4FDC-8ACF-6DB7072335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3523EEF6-CBD1-4990-A771-459D7D0CE8E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721453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31E45BA-EB29-4DE5-9CBF-B462C2933E21}"/>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3" name="Footer Placeholder 2">
            <a:extLst>
              <a:ext uri="{FF2B5EF4-FFF2-40B4-BE49-F238E27FC236}">
                <a16:creationId xmlns:a16="http://schemas.microsoft.com/office/drawing/2014/main" xmlns="" id="{7F172DBB-7912-4C35-A748-6D67714657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CF8631C7-72D5-46AA-86D1-51198C4D0BF3}"/>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903341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08D40-C553-41FF-B9A1-3BFA221213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685827A-DCE8-4E98-B355-4B724B1823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508DDB70-AE7E-4870-B4A8-95E93C4EC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F394F09-A5BE-4260-8E8E-A6746C823E4B}"/>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D57C977C-02CF-4A0A-8605-4B9B6E6F29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D279887B-2092-40E1-9799-B078E7ADFCAE}"/>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4288030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3F6C2-2A79-425F-B78B-87E3060E6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A8BD401A-AEF7-4778-BEEC-3903604690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C76C66DF-B660-483E-BD6F-84C7873EB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F899C61D-403E-483F-83C3-8BFE32B4E5B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4D7277D8-0608-4176-8C79-5A670155E9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5492866-2110-4E4B-9E03-868470DE9AED}"/>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404068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0BBE8-8A19-4CA3-B0D0-3D5AB372C1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27AF79E3-F4D3-4DBF-8A24-0B13305987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1CB6C27-17B1-4FAF-8C3A-012979C9484C}"/>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2589D89-8DB0-4C87-8159-392A520158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CB50750-AAD6-4519-B3A2-D55A447F265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920121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1B17744-BE0E-4C2D-8E85-A98C36E1AA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ABC260B5-3633-4226-81DC-11D7CFA74B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ABBF93D7-48DF-4F02-BA34-CA5CED79E856}"/>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905904DB-50B8-4D9A-AB54-A21CBA5B64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639EE86D-7426-4CBD-BA36-150F0FD58079}"/>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860055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565017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904056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8390373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008510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EE93D6B-74CE-4FDD-8BD0-E21F83B4F91E}" type="datetimeFigureOut">
              <a:rPr lang="en-GB" smtClean="0"/>
              <a:t>31/10/2026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84759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EE93D6B-74CE-4FDD-8BD0-E21F83B4F91E}" type="datetimeFigureOut">
              <a:rPr lang="en-GB" smtClean="0"/>
              <a:t>31/10/2026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4531986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3D6B-74CE-4FDD-8BD0-E21F83B4F91E}" type="datetimeFigureOut">
              <a:rPr lang="en-GB" smtClean="0"/>
              <a:t>31/10/2026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4113581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9335600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9031132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6679712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2969473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F0FABDB-F7B5-76B6-20FE-C0AED463EB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xmlns="" id="{50B11D2A-37FD-254F-F7BF-12ACEBDC1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9C57448D-2A1A-EE33-37F7-8EE210FF1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DC48344B-9636-6D43-B7A1-AFC23066C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63939D83-EBE7-5C4B-33F0-232FADF5B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11636-159F-4811-B362-FA6899840FE0}" type="slidenum">
              <a:rPr lang="en-GB" smtClean="0"/>
              <a:t>‹#›</a:t>
            </a:fld>
            <a:endParaRPr lang="en-GB"/>
          </a:p>
        </p:txBody>
      </p:sp>
    </p:spTree>
    <p:extLst>
      <p:ext uri="{BB962C8B-B14F-4D97-AF65-F5344CB8AC3E}">
        <p14:creationId xmlns:p14="http://schemas.microsoft.com/office/powerpoint/2010/main" val="233741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7B86FEB-A93A-4930-B294-B95D0D6039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7412376B-86F3-4635-9383-75143BB0C2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370128D-5950-47CB-BA99-F9601858C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8BA322D-0C39-4F81-B6F5-292F37C22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060B5791-46F1-4425-BB08-95908C5D4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47FB2-A101-491A-ACE6-1492808EAC6D}" type="slidenum">
              <a:rPr lang="en-GB" smtClean="0"/>
              <a:t>‹#›</a:t>
            </a:fld>
            <a:endParaRPr lang="en-GB"/>
          </a:p>
        </p:txBody>
      </p:sp>
    </p:spTree>
    <p:extLst>
      <p:ext uri="{BB962C8B-B14F-4D97-AF65-F5344CB8AC3E}">
        <p14:creationId xmlns:p14="http://schemas.microsoft.com/office/powerpoint/2010/main" val="2291122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ight Triangle 6"/>
          <p:cNvSpPr/>
          <p:nvPr userDrawn="1"/>
        </p:nvSpPr>
        <p:spPr>
          <a:xfrm flipH="1">
            <a:off x="0" y="0"/>
            <a:ext cx="12192000" cy="68580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93D6B-74CE-4FDD-8BD0-E21F83B4F91E}" type="datetimeFigureOut">
              <a:rPr lang="en-GB" smtClean="0"/>
              <a:t>31/10/2026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25D40-B648-423D-A62F-831986932A01}" type="slidenum">
              <a:rPr lang="en-GB" smtClean="0"/>
              <a:t>‹#›</a:t>
            </a:fld>
            <a:endParaRPr lang="en-GB"/>
          </a:p>
        </p:txBody>
      </p:sp>
    </p:spTree>
    <p:extLst>
      <p:ext uri="{BB962C8B-B14F-4D97-AF65-F5344CB8AC3E}">
        <p14:creationId xmlns:p14="http://schemas.microsoft.com/office/powerpoint/2010/main" val="1909667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B0F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B0F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2.png"/><Relationship Id="rId4"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microsoft.com/office/2007/relationships/hdphoto" Target="../media/hdphoto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microsoft.com/office/2007/relationships/hdphoto" Target="../media/hdphoto2.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9.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5.png"/><Relationship Id="rId6" Type="http://schemas.openxmlformats.org/officeDocument/2006/relationships/image" Target="../media/image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2.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7.png"/><Relationship Id="rId4" Type="http://schemas.openxmlformats.org/officeDocument/2006/relationships/image" Target="../media/image26.png"/><Relationship Id="rId5" Type="http://schemas.microsoft.com/office/2007/relationships/hdphoto" Target="../media/hdphoto3.wdp"/><Relationship Id="rId6"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20939A-7ECC-C48C-1AA1-44E7F3B3A742}"/>
              </a:ext>
            </a:extLst>
          </p:cNvPr>
          <p:cNvSpPr>
            <a:spLocks noGrp="1"/>
          </p:cNvSpPr>
          <p:nvPr>
            <p:ph type="ctrTitle"/>
          </p:nvPr>
        </p:nvSpPr>
        <p:spPr>
          <a:xfrm>
            <a:off x="4216400" y="3205163"/>
            <a:ext cx="6400800" cy="2387600"/>
          </a:xfrm>
        </p:spPr>
        <p:txBody>
          <a:bodyPr>
            <a:normAutofit/>
          </a:bodyPr>
          <a:lstStyle/>
          <a:p>
            <a:r>
              <a:rPr lang="en-GB" sz="4400" dirty="0">
                <a:solidFill>
                  <a:schemeClr val="bg1"/>
                </a:solidFill>
                <a:latin typeface="LEMON MILK" panose="00000500000000000000" pitchFamily="50" charset="0"/>
              </a:rPr>
              <a:t>PROGRAMMING</a:t>
            </a:r>
            <a:endParaRPr lang="en-GB" sz="3200" dirty="0">
              <a:solidFill>
                <a:schemeClr val="bg1"/>
              </a:solidFill>
              <a:latin typeface="LEMON MILK" panose="00000500000000000000" pitchFamily="50" charset="0"/>
            </a:endParaRPr>
          </a:p>
        </p:txBody>
      </p:sp>
      <p:sp>
        <p:nvSpPr>
          <p:cNvPr id="3" name="Subtitle 2">
            <a:extLst>
              <a:ext uri="{FF2B5EF4-FFF2-40B4-BE49-F238E27FC236}">
                <a16:creationId xmlns:a16="http://schemas.microsoft.com/office/drawing/2014/main" xmlns="" id="{3EC1CBCC-6411-A657-886D-B770783C2302}"/>
              </a:ext>
            </a:extLst>
          </p:cNvPr>
          <p:cNvSpPr>
            <a:spLocks noGrp="1"/>
          </p:cNvSpPr>
          <p:nvPr>
            <p:ph type="subTitle" idx="1"/>
          </p:nvPr>
        </p:nvSpPr>
        <p:spPr>
          <a:xfrm>
            <a:off x="5156200" y="5668962"/>
            <a:ext cx="4546600" cy="858837"/>
          </a:xfrm>
          <a:ln>
            <a:solidFill>
              <a:schemeClr val="bg1">
                <a:lumMod val="75000"/>
              </a:schemeClr>
            </a:solidFill>
          </a:ln>
        </p:spPr>
        <p:txBody>
          <a:bodyPr anchor="ctr">
            <a:normAutofit/>
          </a:bodyPr>
          <a:lstStyle/>
          <a:p>
            <a:r>
              <a:rPr lang="en-GB" sz="2000" dirty="0">
                <a:solidFill>
                  <a:schemeClr val="bg1">
                    <a:lumMod val="75000"/>
                  </a:schemeClr>
                </a:solidFill>
                <a:latin typeface="LEMON MILK" panose="00000500000000000000" pitchFamily="50" charset="0"/>
              </a:rPr>
              <a:t>Unit 4 | Mr Butler</a:t>
            </a:r>
          </a:p>
          <a:p>
            <a:r>
              <a:rPr lang="en-GB" sz="2000" dirty="0">
                <a:solidFill>
                  <a:schemeClr val="bg1">
                    <a:lumMod val="75000"/>
                  </a:schemeClr>
                </a:solidFill>
                <a:latin typeface="LEMON MILK" panose="00000500000000000000" pitchFamily="50" charset="0"/>
              </a:rPr>
              <a:t>Digital Technology</a:t>
            </a:r>
          </a:p>
        </p:txBody>
      </p:sp>
      <p:pic>
        <p:nvPicPr>
          <p:cNvPr id="1030" name="Picture 6" descr="Programmer - Free vector clipart images on creazilla.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700" y="3089880"/>
            <a:ext cx="4076700" cy="38824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6907704" y="1453038"/>
            <a:ext cx="6858002" cy="3951924"/>
          </a:xfrm>
          <a:prstGeom prst="rect">
            <a:avLst/>
          </a:prstGeom>
        </p:spPr>
      </p:pic>
    </p:spTree>
    <p:extLst>
      <p:ext uri="{BB962C8B-B14F-4D97-AF65-F5344CB8AC3E}">
        <p14:creationId xmlns:p14="http://schemas.microsoft.com/office/powerpoint/2010/main" val="67408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7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5821" y="-215900"/>
            <a:ext cx="2983611" cy="7277100"/>
          </a:xfrm>
          <a:prstGeom prst="rect">
            <a:avLst/>
          </a:prstGeom>
        </p:spPr>
      </p:pic>
      <p:grpSp>
        <p:nvGrpSpPr>
          <p:cNvPr id="4" name="Group 3">
            <a:extLst>
              <a:ext uri="{FF2B5EF4-FFF2-40B4-BE49-F238E27FC236}">
                <a16:creationId xmlns:a16="http://schemas.microsoft.com/office/drawing/2014/main" xmlns="" id="{AECF688C-7BDC-88E1-E05D-9A42510BFAEC}"/>
              </a:ext>
            </a:extLst>
          </p:cNvPr>
          <p:cNvGrpSpPr/>
          <p:nvPr/>
        </p:nvGrpSpPr>
        <p:grpSpPr>
          <a:xfrm>
            <a:off x="341618" y="540775"/>
            <a:ext cx="11545581" cy="5928851"/>
            <a:chOff x="-85726" y="285751"/>
            <a:chExt cx="8422260" cy="4326216"/>
          </a:xfrm>
        </p:grpSpPr>
        <p:sp>
          <p:nvSpPr>
            <p:cNvPr id="5" name="Rectangle: Rounded Corners 4">
              <a:extLst>
                <a:ext uri="{FF2B5EF4-FFF2-40B4-BE49-F238E27FC236}">
                  <a16:creationId xmlns:a16="http://schemas.microsoft.com/office/drawing/2014/main" xmlns="" id="{89A82504-B8E0-42EC-4492-1DD275DE0DE8}"/>
                </a:ext>
              </a:extLst>
            </p:cNvPr>
            <p:cNvSpPr/>
            <p:nvPr/>
          </p:nvSpPr>
          <p:spPr>
            <a:xfrm>
              <a:off x="-85726" y="285751"/>
              <a:ext cx="8422260" cy="4326216"/>
            </a:xfrm>
            <a:prstGeom prst="roundRect">
              <a:avLst>
                <a:gd name="adj" fmla="val 6965"/>
              </a:avLst>
            </a:prstGeom>
            <a:solidFill>
              <a:srgbClr val="F9F6F9"/>
            </a:solidFill>
            <a:ln w="38100">
              <a:solidFill>
                <a:srgbClr val="171717"/>
              </a:solidFill>
            </a:ln>
            <a:effectLst>
              <a:innerShdw blurRad="114300" dist="25400" dir="2400000">
                <a:srgbClr val="A2A2A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lvl="0" indent="-342900">
                <a:lnSpc>
                  <a:spcPct val="107000"/>
                </a:lnSpc>
                <a:buFont typeface="Symbol" panose="05050102010706020507" pitchFamily="18" charset="2"/>
                <a:buChar char=""/>
              </a:pPr>
              <a:r>
                <a:rPr lang="en-GB" sz="3200" dirty="0">
                  <a:solidFill>
                    <a:srgbClr val="171717"/>
                  </a:solidFill>
                  <a:effectLst/>
                  <a:ea typeface="Calibri" panose="020F0502020204030204" pitchFamily="34" charset="0"/>
                  <a:cs typeface="Times New Roman" panose="02020603050405020304" pitchFamily="18" charset="0"/>
                </a:rPr>
                <a:t>describe the following programming paradigms:</a:t>
              </a:r>
            </a:p>
            <a:p>
              <a:pPr marL="742950" lvl="1" indent="-285750">
                <a:lnSpc>
                  <a:spcPct val="107000"/>
                </a:lnSpc>
                <a:buFont typeface="Courier New" panose="02070309020205020404" pitchFamily="49" charset="0"/>
                <a:buChar char="o"/>
              </a:pPr>
              <a:r>
                <a:rPr lang="en-GB" sz="3200" dirty="0">
                  <a:solidFill>
                    <a:srgbClr val="171717"/>
                  </a:solidFill>
                  <a:effectLst/>
                  <a:ea typeface="Calibri" panose="020F0502020204030204" pitchFamily="34" charset="0"/>
                  <a:cs typeface="Times New Roman" panose="02020603050405020304" pitchFamily="18" charset="0"/>
                </a:rPr>
                <a:t>procedural programming;</a:t>
              </a:r>
            </a:p>
            <a:p>
              <a:pPr marL="742950" lvl="1" indent="-285750">
                <a:lnSpc>
                  <a:spcPct val="107000"/>
                </a:lnSpc>
                <a:buFont typeface="Courier New" panose="02070309020205020404" pitchFamily="49" charset="0"/>
                <a:buChar char="o"/>
              </a:pPr>
              <a:r>
                <a:rPr lang="en-GB" sz="3200" dirty="0">
                  <a:solidFill>
                    <a:srgbClr val="171717"/>
                  </a:solidFill>
                  <a:effectLst/>
                  <a:ea typeface="Calibri" panose="020F0502020204030204" pitchFamily="34" charset="0"/>
                  <a:cs typeface="Times New Roman" panose="02020603050405020304" pitchFamily="18" charset="0"/>
                </a:rPr>
                <a:t>object-oriented programming;</a:t>
              </a:r>
            </a:p>
            <a:p>
              <a:pPr marL="342900" lvl="0" indent="-342900">
                <a:lnSpc>
                  <a:spcPct val="107000"/>
                </a:lnSpc>
                <a:buFont typeface="Symbol" panose="05050102010706020507" pitchFamily="18" charset="2"/>
                <a:buChar char=""/>
              </a:pPr>
              <a:r>
                <a:rPr lang="en-GB" sz="3200" dirty="0">
                  <a:solidFill>
                    <a:srgbClr val="171717"/>
                  </a:solidFill>
                  <a:effectLst/>
                  <a:ea typeface="Calibri" panose="020F0502020204030204" pitchFamily="34" charset="0"/>
                  <a:cs typeface="Times New Roman" panose="02020603050405020304" pitchFamily="18" charset="0"/>
                </a:rPr>
                <a:t>explain the significance of the following aspects of software development environments:</a:t>
              </a:r>
            </a:p>
            <a:p>
              <a:pPr marL="742950" lvl="1" indent="-285750">
                <a:lnSpc>
                  <a:spcPct val="107000"/>
                </a:lnSpc>
                <a:buFont typeface="Courier New" panose="02070309020205020404" pitchFamily="49" charset="0"/>
                <a:buChar char="o"/>
              </a:pPr>
              <a:r>
                <a:rPr lang="en-GB" sz="3200" dirty="0">
                  <a:solidFill>
                    <a:srgbClr val="171717"/>
                  </a:solidFill>
                  <a:effectLst/>
                  <a:ea typeface="Calibri" panose="020F0502020204030204" pitchFamily="34" charset="0"/>
                  <a:cs typeface="Times New Roman" panose="02020603050405020304" pitchFamily="18" charset="0"/>
                </a:rPr>
                <a:t>editing features;</a:t>
              </a:r>
            </a:p>
            <a:p>
              <a:pPr marL="742950" lvl="1" indent="-285750">
                <a:lnSpc>
                  <a:spcPct val="107000"/>
                </a:lnSpc>
                <a:spcAft>
                  <a:spcPts val="800"/>
                </a:spcAft>
                <a:buFont typeface="Courier New" panose="02070309020205020404" pitchFamily="49" charset="0"/>
                <a:buChar char="o"/>
              </a:pPr>
              <a:r>
                <a:rPr lang="en-GB" sz="3200" dirty="0">
                  <a:solidFill>
                    <a:srgbClr val="171717"/>
                  </a:solidFill>
                  <a:effectLst/>
                  <a:ea typeface="Calibri" panose="020F0502020204030204" pitchFamily="34" charset="0"/>
                  <a:cs typeface="Times New Roman" panose="02020603050405020304" pitchFamily="18" charset="0"/>
                </a:rPr>
                <a:t>high-level code translation and execution</a:t>
              </a:r>
            </a:p>
          </p:txBody>
        </p:sp>
        <p:pic>
          <p:nvPicPr>
            <p:cNvPr id="6" name="Picture 5" descr="Specification - Free business and finance icons">
              <a:extLst>
                <a:ext uri="{FF2B5EF4-FFF2-40B4-BE49-F238E27FC236}">
                  <a16:creationId xmlns:a16="http://schemas.microsoft.com/office/drawing/2014/main" xmlns="" id="{B60E02EB-B019-D575-8F1E-A169E92551F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25006" y="355959"/>
              <a:ext cx="752475" cy="752475"/>
            </a:xfrm>
            <a:prstGeom prst="rect">
              <a:avLst/>
            </a:prstGeom>
            <a:noFill/>
            <a:ln>
              <a:noFill/>
            </a:ln>
          </p:spPr>
        </p:pic>
      </p:grpSp>
    </p:spTree>
    <p:extLst>
      <p:ext uri="{BB962C8B-B14F-4D97-AF65-F5344CB8AC3E}">
        <p14:creationId xmlns:p14="http://schemas.microsoft.com/office/powerpoint/2010/main" val="2979402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0" y="365125"/>
            <a:ext cx="10680700" cy="1325563"/>
          </a:xfrm>
        </p:spPr>
        <p:txBody>
          <a:bodyPr/>
          <a:lstStyle/>
          <a:p>
            <a:r>
              <a:rPr lang="en-GB" dirty="0"/>
              <a:t>What is a Computer Program?</a:t>
            </a:r>
          </a:p>
        </p:txBody>
      </p:sp>
      <p:sp>
        <p:nvSpPr>
          <p:cNvPr id="3" name="Content Placeholder 2"/>
          <p:cNvSpPr>
            <a:spLocks noGrp="1"/>
          </p:cNvSpPr>
          <p:nvPr>
            <p:ph idx="1"/>
          </p:nvPr>
        </p:nvSpPr>
        <p:spPr>
          <a:xfrm>
            <a:off x="342900" y="1825625"/>
            <a:ext cx="11518900" cy="2339975"/>
          </a:xfrm>
        </p:spPr>
        <p:txBody>
          <a:bodyPr>
            <a:normAutofit fontScale="92500" lnSpcReduction="10000"/>
          </a:bodyPr>
          <a:lstStyle/>
          <a:p>
            <a:pPr marL="990600" indent="0">
              <a:buNone/>
            </a:pPr>
            <a:r>
              <a:rPr lang="en-GB" b="1" dirty="0"/>
              <a:t>A set of instructions that tells a computer what to do in order to solve a particular problem</a:t>
            </a:r>
            <a:r>
              <a:rPr lang="en-GB" dirty="0"/>
              <a:t>. </a:t>
            </a:r>
          </a:p>
          <a:p>
            <a:r>
              <a:rPr lang="en-GB" dirty="0"/>
              <a:t>There are a number of approaches to the programming process, and these are known as programming paradigms. They take input (data), and then process it to output information.</a:t>
            </a:r>
          </a:p>
          <a:p>
            <a:r>
              <a:rPr lang="en-GB" dirty="0"/>
              <a:t>Two of the most important paradigms are: </a:t>
            </a:r>
          </a:p>
        </p:txBody>
      </p:sp>
      <p:grpSp>
        <p:nvGrpSpPr>
          <p:cNvPr id="11" name="Group 10"/>
          <p:cNvGrpSpPr/>
          <p:nvPr/>
        </p:nvGrpSpPr>
        <p:grpSpPr>
          <a:xfrm>
            <a:off x="1549400" y="5156200"/>
            <a:ext cx="2197100" cy="1473200"/>
            <a:chOff x="1422400" y="4572000"/>
            <a:chExt cx="2197100" cy="1473200"/>
          </a:xfrm>
        </p:grpSpPr>
        <p:sp>
          <p:nvSpPr>
            <p:cNvPr id="4" name="Rounded Rectangle 3"/>
            <p:cNvSpPr/>
            <p:nvPr/>
          </p:nvSpPr>
          <p:spPr>
            <a:xfrm>
              <a:off x="1422400" y="4572000"/>
              <a:ext cx="21844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PROCESS 1</a:t>
              </a:r>
            </a:p>
          </p:txBody>
        </p:sp>
        <p:sp>
          <p:nvSpPr>
            <p:cNvPr id="5" name="Rounded Rectangle 4"/>
            <p:cNvSpPr/>
            <p:nvPr/>
          </p:nvSpPr>
          <p:spPr>
            <a:xfrm>
              <a:off x="1422400" y="5143500"/>
              <a:ext cx="21844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PROCESS 2</a:t>
              </a:r>
            </a:p>
          </p:txBody>
        </p:sp>
        <p:sp>
          <p:nvSpPr>
            <p:cNvPr id="6" name="Rounded Rectangle 5"/>
            <p:cNvSpPr/>
            <p:nvPr/>
          </p:nvSpPr>
          <p:spPr>
            <a:xfrm>
              <a:off x="1422400" y="5715000"/>
              <a:ext cx="21844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PROCESS 3</a:t>
              </a:r>
            </a:p>
          </p:txBody>
        </p:sp>
        <p:cxnSp>
          <p:nvCxnSpPr>
            <p:cNvPr id="8" name="Elbow Connector 7"/>
            <p:cNvCxnSpPr>
              <a:stCxn id="4" idx="1"/>
              <a:endCxn id="5" idx="1"/>
            </p:cNvCxnSpPr>
            <p:nvPr/>
          </p:nvCxnSpPr>
          <p:spPr>
            <a:xfrm rot="10800000" flipV="1">
              <a:off x="1422400" y="4737100"/>
              <a:ext cx="12700" cy="571500"/>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Elbow Connector 9"/>
            <p:cNvCxnSpPr>
              <a:stCxn id="5" idx="3"/>
              <a:endCxn id="6" idx="3"/>
            </p:cNvCxnSpPr>
            <p:nvPr/>
          </p:nvCxnSpPr>
          <p:spPr>
            <a:xfrm>
              <a:off x="3606800" y="5308600"/>
              <a:ext cx="12700" cy="571500"/>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8" name="Group 27"/>
          <p:cNvGrpSpPr/>
          <p:nvPr/>
        </p:nvGrpSpPr>
        <p:grpSpPr>
          <a:xfrm>
            <a:off x="8001001" y="5219700"/>
            <a:ext cx="2184400" cy="1257300"/>
            <a:chOff x="7137400" y="5003800"/>
            <a:chExt cx="2184400" cy="1257300"/>
          </a:xfrm>
        </p:grpSpPr>
        <p:sp>
          <p:nvSpPr>
            <p:cNvPr id="18" name="Rounded Rectangle 17"/>
            <p:cNvSpPr/>
            <p:nvPr/>
          </p:nvSpPr>
          <p:spPr>
            <a:xfrm>
              <a:off x="7137400" y="5003800"/>
              <a:ext cx="21844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Fruits</a:t>
              </a:r>
            </a:p>
          </p:txBody>
        </p:sp>
        <p:sp>
          <p:nvSpPr>
            <p:cNvPr id="19" name="Rounded Rectangle 18"/>
            <p:cNvSpPr/>
            <p:nvPr/>
          </p:nvSpPr>
          <p:spPr>
            <a:xfrm>
              <a:off x="7137400" y="5930900"/>
              <a:ext cx="3937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a:t>
              </a:r>
            </a:p>
          </p:txBody>
        </p:sp>
        <p:sp>
          <p:nvSpPr>
            <p:cNvPr id="20" name="Rounded Rectangle 19"/>
            <p:cNvSpPr/>
            <p:nvPr/>
          </p:nvSpPr>
          <p:spPr>
            <a:xfrm>
              <a:off x="8045450" y="5930900"/>
              <a:ext cx="3937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a:t>
              </a:r>
            </a:p>
          </p:txBody>
        </p:sp>
        <p:sp>
          <p:nvSpPr>
            <p:cNvPr id="21" name="Rounded Rectangle 20"/>
            <p:cNvSpPr/>
            <p:nvPr/>
          </p:nvSpPr>
          <p:spPr>
            <a:xfrm>
              <a:off x="8928100" y="5930900"/>
              <a:ext cx="393700" cy="3302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a:t>
              </a:r>
            </a:p>
          </p:txBody>
        </p:sp>
        <p:cxnSp>
          <p:nvCxnSpPr>
            <p:cNvPr id="23" name="Elbow Connector 22"/>
            <p:cNvCxnSpPr>
              <a:stCxn id="18" idx="2"/>
              <a:endCxn id="19" idx="0"/>
            </p:cNvCxnSpPr>
            <p:nvPr/>
          </p:nvCxnSpPr>
          <p:spPr>
            <a:xfrm rot="5400000">
              <a:off x="7483475" y="5184775"/>
              <a:ext cx="596900" cy="89535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Elbow Connector 24"/>
            <p:cNvCxnSpPr>
              <a:stCxn id="18" idx="2"/>
              <a:endCxn id="21" idx="0"/>
            </p:cNvCxnSpPr>
            <p:nvPr/>
          </p:nvCxnSpPr>
          <p:spPr>
            <a:xfrm rot="16200000" flipH="1">
              <a:off x="8378825" y="5184775"/>
              <a:ext cx="596900" cy="89535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Elbow Connector 26"/>
            <p:cNvCxnSpPr>
              <a:stCxn id="18" idx="2"/>
              <a:endCxn id="20" idx="0"/>
            </p:cNvCxnSpPr>
            <p:nvPr/>
          </p:nvCxnSpPr>
          <p:spPr>
            <a:xfrm rot="16200000" flipH="1">
              <a:off x="7937500" y="5626100"/>
              <a:ext cx="596900"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9" name="TextBox 28"/>
          <p:cNvSpPr txBox="1"/>
          <p:nvPr/>
        </p:nvSpPr>
        <p:spPr>
          <a:xfrm>
            <a:off x="1117600" y="4387562"/>
            <a:ext cx="3048000" cy="584775"/>
          </a:xfrm>
          <a:prstGeom prst="rect">
            <a:avLst/>
          </a:prstGeom>
          <a:noFill/>
        </p:spPr>
        <p:txBody>
          <a:bodyPr wrap="square" rtlCol="0">
            <a:spAutoFit/>
          </a:bodyPr>
          <a:lstStyle/>
          <a:p>
            <a:pPr algn="ctr"/>
            <a:r>
              <a:rPr lang="en-GB" sz="3200" dirty="0">
                <a:solidFill>
                  <a:srgbClr val="07E073"/>
                </a:solidFill>
                <a:latin typeface="LEMON MILK" panose="00000500000000000000" pitchFamily="50" charset="0"/>
              </a:rPr>
              <a:t>Procedural</a:t>
            </a:r>
            <a:endParaRPr lang="en-GB" dirty="0">
              <a:solidFill>
                <a:srgbClr val="07E073"/>
              </a:solidFill>
              <a:latin typeface="LEMON MILK" panose="00000500000000000000" pitchFamily="50" charset="0"/>
            </a:endParaRPr>
          </a:p>
        </p:txBody>
      </p:sp>
      <p:sp>
        <p:nvSpPr>
          <p:cNvPr id="30" name="TextBox 29"/>
          <p:cNvSpPr txBox="1"/>
          <p:nvPr/>
        </p:nvSpPr>
        <p:spPr>
          <a:xfrm>
            <a:off x="6946901" y="4428981"/>
            <a:ext cx="4292600" cy="584775"/>
          </a:xfrm>
          <a:prstGeom prst="rect">
            <a:avLst/>
          </a:prstGeom>
          <a:noFill/>
        </p:spPr>
        <p:txBody>
          <a:bodyPr wrap="square" rtlCol="0">
            <a:spAutoFit/>
          </a:bodyPr>
          <a:lstStyle/>
          <a:p>
            <a:pPr algn="ctr"/>
            <a:r>
              <a:rPr lang="en-GB" sz="3200" dirty="0">
                <a:solidFill>
                  <a:srgbClr val="07E073"/>
                </a:solidFill>
                <a:latin typeface="LEMON MILK" panose="00000500000000000000" pitchFamily="50" charset="0"/>
              </a:rPr>
              <a:t>Object Oriented</a:t>
            </a:r>
            <a:endParaRPr lang="en-GB" dirty="0">
              <a:solidFill>
                <a:srgbClr val="07E073"/>
              </a:solidFill>
              <a:latin typeface="LEMON MILK" panose="00000500000000000000" pitchFamily="50" charset="0"/>
            </a:endParaRPr>
          </a:p>
        </p:txBody>
      </p:sp>
      <p:cxnSp>
        <p:nvCxnSpPr>
          <p:cNvPr id="32" name="Straight Connector 31"/>
          <p:cNvCxnSpPr/>
          <p:nvPr/>
        </p:nvCxnSpPr>
        <p:spPr>
          <a:xfrm>
            <a:off x="6083300" y="4428981"/>
            <a:ext cx="0" cy="2073419"/>
          </a:xfrm>
          <a:prstGeom prst="line">
            <a:avLst/>
          </a:prstGeom>
        </p:spPr>
        <p:style>
          <a:lnRef idx="2">
            <a:schemeClr val="accent1"/>
          </a:lnRef>
          <a:fillRef idx="0">
            <a:schemeClr val="accent1"/>
          </a:fillRef>
          <a:effectRef idx="1">
            <a:schemeClr val="accent1"/>
          </a:effectRef>
          <a:fontRef idx="minor">
            <a:schemeClr val="tx1"/>
          </a:fontRef>
        </p:style>
      </p:cxnSp>
      <p:pic>
        <p:nvPicPr>
          <p:cNvPr id="33" name="Graphic 4" descr="Storytelling with solid fill">
            <a:extLst>
              <a:ext uri="{FF2B5EF4-FFF2-40B4-BE49-F238E27FC236}">
                <a16:creationId xmlns:a16="http://schemas.microsoft.com/office/drawing/2014/main" xmlns="" id="{BDA10C97-4E84-C100-1D5F-071D76539E2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00362" y="1816100"/>
            <a:ext cx="669638" cy="669638"/>
          </a:xfrm>
          <a:prstGeom prst="rect">
            <a:avLst/>
          </a:prstGeom>
        </p:spPr>
      </p:pic>
      <p:pic>
        <p:nvPicPr>
          <p:cNvPr id="34" name="Pictur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4900" y="-628534"/>
            <a:ext cx="2671042" cy="2136834"/>
          </a:xfrm>
          <a:prstGeom prst="rect">
            <a:avLst/>
          </a:prstGeom>
        </p:spPr>
      </p:pic>
      <p:pic>
        <p:nvPicPr>
          <p:cNvPr id="35" name="Picture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12401" y="5156200"/>
            <a:ext cx="2438405" cy="2438405"/>
          </a:xfrm>
          <a:prstGeom prst="rect">
            <a:avLst/>
          </a:prstGeom>
        </p:spPr>
      </p:pic>
    </p:spTree>
    <p:extLst>
      <p:ext uri="{BB962C8B-B14F-4D97-AF65-F5344CB8AC3E}">
        <p14:creationId xmlns:p14="http://schemas.microsoft.com/office/powerpoint/2010/main" val="364216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901D73-7672-F2A1-BCD6-693F861FD58C}"/>
              </a:ext>
            </a:extLst>
          </p:cNvPr>
          <p:cNvSpPr>
            <a:spLocks noGrp="1"/>
          </p:cNvSpPr>
          <p:nvPr>
            <p:ph type="title"/>
          </p:nvPr>
        </p:nvSpPr>
        <p:spPr/>
        <p:txBody>
          <a:bodyPr/>
          <a:lstStyle/>
          <a:p>
            <a:r>
              <a:rPr lang="en-GB" dirty="0">
                <a:solidFill>
                  <a:schemeClr val="bg1"/>
                </a:solidFill>
              </a:rPr>
              <a:t>Data</a:t>
            </a:r>
          </a:p>
        </p:txBody>
      </p:sp>
      <p:sp>
        <p:nvSpPr>
          <p:cNvPr id="3" name="Content Placeholder 2">
            <a:extLst>
              <a:ext uri="{FF2B5EF4-FFF2-40B4-BE49-F238E27FC236}">
                <a16:creationId xmlns:a16="http://schemas.microsoft.com/office/drawing/2014/main" xmlns="" id="{615F4177-CE88-23C0-B6B4-07D337D9C9DE}"/>
              </a:ext>
            </a:extLst>
          </p:cNvPr>
          <p:cNvSpPr>
            <a:spLocks noGrp="1"/>
          </p:cNvSpPr>
          <p:nvPr>
            <p:ph idx="1"/>
          </p:nvPr>
        </p:nvSpPr>
        <p:spPr/>
        <p:txBody>
          <a:bodyPr/>
          <a:lstStyle/>
          <a:p>
            <a:r>
              <a:rPr lang="en-GB" dirty="0">
                <a:solidFill>
                  <a:schemeClr val="bg1"/>
                </a:solidFill>
              </a:rPr>
              <a:t>All computer programs ‘deal with’ </a:t>
            </a:r>
            <a:r>
              <a:rPr lang="en-GB" b="1" dirty="0">
                <a:solidFill>
                  <a:schemeClr val="bg1"/>
                </a:solidFill>
              </a:rPr>
              <a:t>data</a:t>
            </a:r>
            <a:r>
              <a:rPr lang="en-GB" dirty="0">
                <a:solidFill>
                  <a:schemeClr val="bg1"/>
                </a:solidFill>
              </a:rPr>
              <a:t>. They may </a:t>
            </a:r>
            <a:r>
              <a:rPr lang="en-GB" b="1" dirty="0">
                <a:solidFill>
                  <a:schemeClr val="bg1"/>
                </a:solidFill>
              </a:rPr>
              <a:t>read</a:t>
            </a:r>
            <a:r>
              <a:rPr lang="en-GB" dirty="0">
                <a:solidFill>
                  <a:schemeClr val="bg1"/>
                </a:solidFill>
              </a:rPr>
              <a:t> </a:t>
            </a:r>
            <a:r>
              <a:rPr lang="en-GB" b="1" dirty="0">
                <a:solidFill>
                  <a:schemeClr val="bg1"/>
                </a:solidFill>
              </a:rPr>
              <a:t>data</a:t>
            </a:r>
            <a:r>
              <a:rPr lang="en-GB" dirty="0">
                <a:solidFill>
                  <a:schemeClr val="bg1"/>
                </a:solidFill>
              </a:rPr>
              <a:t>, </a:t>
            </a:r>
            <a:r>
              <a:rPr lang="en-GB" b="1" dirty="0">
                <a:solidFill>
                  <a:schemeClr val="bg1"/>
                </a:solidFill>
              </a:rPr>
              <a:t>process data, output data</a:t>
            </a:r>
            <a:r>
              <a:rPr lang="en-GB" dirty="0">
                <a:solidFill>
                  <a:schemeClr val="bg1"/>
                </a:solidFill>
              </a:rPr>
              <a:t>, etc. This may be simple data such as numbers or characters or more complex data such as student records.</a:t>
            </a:r>
          </a:p>
          <a:p>
            <a:endParaRPr lang="en-GB" dirty="0">
              <a:solidFill>
                <a:schemeClr val="bg1"/>
              </a:solidFill>
            </a:endParaRPr>
          </a:p>
          <a:p>
            <a:r>
              <a:rPr lang="en-GB" dirty="0">
                <a:solidFill>
                  <a:schemeClr val="bg1"/>
                </a:solidFill>
              </a:rPr>
              <a:t>This data needs to be stored somewhere ‘within the computer’ so that is can be accessed whenever necessary. </a:t>
            </a:r>
          </a:p>
          <a:p>
            <a:r>
              <a:rPr lang="en-GB" dirty="0">
                <a:solidFill>
                  <a:schemeClr val="bg1"/>
                </a:solidFill>
              </a:rPr>
              <a:t>To do this, programs make use of </a:t>
            </a:r>
            <a:r>
              <a:rPr lang="en-GB" b="1" dirty="0">
                <a:solidFill>
                  <a:schemeClr val="bg1"/>
                </a:solidFill>
              </a:rPr>
              <a:t>variables</a:t>
            </a:r>
            <a:r>
              <a:rPr lang="en-GB" dirty="0">
                <a:solidFill>
                  <a:schemeClr val="bg1"/>
                </a:solidFill>
              </a:rPr>
              <a:t> which are simply </a:t>
            </a:r>
            <a:r>
              <a:rPr lang="en-GB" b="1" dirty="0">
                <a:solidFill>
                  <a:schemeClr val="bg1"/>
                </a:solidFill>
              </a:rPr>
              <a:t>named locations </a:t>
            </a:r>
            <a:r>
              <a:rPr lang="en-GB" dirty="0">
                <a:solidFill>
                  <a:schemeClr val="bg1"/>
                </a:solidFill>
              </a:rPr>
              <a:t>or blocks within the </a:t>
            </a:r>
            <a:r>
              <a:rPr lang="en-GB" b="1" dirty="0">
                <a:solidFill>
                  <a:schemeClr val="bg1"/>
                </a:solidFill>
              </a:rPr>
              <a:t>computer’s memory</a:t>
            </a:r>
            <a:r>
              <a:rPr lang="en-GB" dirty="0">
                <a:solidFill>
                  <a:schemeClr val="bg1"/>
                </a:solidFill>
              </a:rPr>
              <a:t>.</a:t>
            </a:r>
          </a:p>
          <a:p>
            <a:endParaRPr lang="en-GB" dirty="0">
              <a:solidFill>
                <a:schemeClr val="bg1"/>
              </a:solidFill>
            </a:endParaRPr>
          </a:p>
        </p:txBody>
      </p:sp>
      <p:sp>
        <p:nvSpPr>
          <p:cNvPr id="4" name="Donut 3"/>
          <p:cNvSpPr/>
          <p:nvPr/>
        </p:nvSpPr>
        <p:spPr>
          <a:xfrm>
            <a:off x="10363200" y="6419851"/>
            <a:ext cx="812800" cy="812800"/>
          </a:xfrm>
          <a:prstGeom prst="donut">
            <a:avLst>
              <a:gd name="adj" fmla="val 2879"/>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Oval 5"/>
          <p:cNvSpPr/>
          <p:nvPr/>
        </p:nvSpPr>
        <p:spPr>
          <a:xfrm>
            <a:off x="10845800" y="-596900"/>
            <a:ext cx="1993900" cy="19939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17200" y="5391149"/>
            <a:ext cx="1841502" cy="1841502"/>
          </a:xfrm>
          <a:prstGeom prst="rect">
            <a:avLst/>
          </a:prstGeom>
        </p:spPr>
      </p:pic>
    </p:spTree>
    <p:extLst>
      <p:ext uri="{BB962C8B-B14F-4D97-AF65-F5344CB8AC3E}">
        <p14:creationId xmlns:p14="http://schemas.microsoft.com/office/powerpoint/2010/main" val="788831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5539AD-2995-4C62-8262-C67D417B0A73}"/>
              </a:ext>
            </a:extLst>
          </p:cNvPr>
          <p:cNvSpPr>
            <a:spLocks noGrp="1"/>
          </p:cNvSpPr>
          <p:nvPr>
            <p:ph type="title"/>
          </p:nvPr>
        </p:nvSpPr>
        <p:spPr/>
        <p:txBody>
          <a:bodyPr/>
          <a:lstStyle/>
          <a:p>
            <a:r>
              <a:rPr lang="en-GB" dirty="0"/>
              <a:t>Variables and Constants</a:t>
            </a:r>
          </a:p>
        </p:txBody>
      </p:sp>
      <p:sp>
        <p:nvSpPr>
          <p:cNvPr id="3" name="Content Placeholder 2">
            <a:extLst>
              <a:ext uri="{FF2B5EF4-FFF2-40B4-BE49-F238E27FC236}">
                <a16:creationId xmlns:a16="http://schemas.microsoft.com/office/drawing/2014/main" xmlns="" id="{A1D3A489-EFBC-FF2C-18F2-B4AB966FAC7A}"/>
              </a:ext>
            </a:extLst>
          </p:cNvPr>
          <p:cNvSpPr>
            <a:spLocks noGrp="1"/>
          </p:cNvSpPr>
          <p:nvPr>
            <p:ph idx="1"/>
          </p:nvPr>
        </p:nvSpPr>
        <p:spPr/>
        <p:txBody>
          <a:bodyPr>
            <a:normAutofit fontScale="92500"/>
          </a:bodyPr>
          <a:lstStyle/>
          <a:p>
            <a:r>
              <a:rPr lang="en-GB" dirty="0"/>
              <a:t>Understanding the difference between variables and constants is crucial for writing clear and maintainable code.</a:t>
            </a:r>
          </a:p>
          <a:p>
            <a:endParaRPr lang="en-GB" dirty="0"/>
          </a:p>
          <a:p>
            <a:pPr marL="266700" indent="0">
              <a:buNone/>
            </a:pPr>
            <a:r>
              <a:rPr lang="en-GB" dirty="0"/>
              <a:t>A </a:t>
            </a:r>
            <a:r>
              <a:rPr lang="en-GB" b="1" dirty="0">
                <a:solidFill>
                  <a:srgbClr val="07E073"/>
                </a:solidFill>
              </a:rPr>
              <a:t>variable</a:t>
            </a:r>
            <a:r>
              <a:rPr lang="en-GB" dirty="0">
                <a:solidFill>
                  <a:srgbClr val="07E073"/>
                </a:solidFill>
              </a:rPr>
              <a:t> </a:t>
            </a:r>
            <a:r>
              <a:rPr lang="en-GB" dirty="0"/>
              <a:t>is a named memory used to hold data being processed which can change during the programs’ execution. They are given a name and data type.</a:t>
            </a:r>
          </a:p>
          <a:p>
            <a:pPr marL="266700" indent="0">
              <a:buNone/>
            </a:pPr>
            <a:endParaRPr lang="en-GB" dirty="0"/>
          </a:p>
          <a:p>
            <a:pPr marL="266700" indent="0">
              <a:buNone/>
            </a:pPr>
            <a:r>
              <a:rPr lang="en-GB" dirty="0"/>
              <a:t>A </a:t>
            </a:r>
            <a:r>
              <a:rPr lang="en-GB" b="1" dirty="0">
                <a:solidFill>
                  <a:srgbClr val="07E073"/>
                </a:solidFill>
              </a:rPr>
              <a:t>constant</a:t>
            </a:r>
            <a:r>
              <a:rPr lang="en-GB" dirty="0">
                <a:solidFill>
                  <a:srgbClr val="07E073"/>
                </a:solidFill>
              </a:rPr>
              <a:t> </a:t>
            </a:r>
            <a:r>
              <a:rPr lang="en-GB" dirty="0"/>
              <a:t>is </a:t>
            </a:r>
            <a:r>
              <a:rPr lang="en-US" dirty="0"/>
              <a:t>a named location in memory used to hold data that cannot be changed while the program is running. It is a value that can be assigned but remains the same throughout the program.</a:t>
            </a:r>
            <a:endParaRPr lang="en-GB" dirty="0"/>
          </a:p>
        </p:txBody>
      </p:sp>
      <p:pic>
        <p:nvPicPr>
          <p:cNvPr id="5" name="Graphic 4" descr="Storytelling with solid fill">
            <a:extLst>
              <a:ext uri="{FF2B5EF4-FFF2-40B4-BE49-F238E27FC236}">
                <a16:creationId xmlns:a16="http://schemas.microsoft.com/office/drawing/2014/main" xmlns="" id="{BDA10C97-4E84-C100-1D5F-071D76539E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52400" y="3225019"/>
            <a:ext cx="914400" cy="914400"/>
          </a:xfrm>
          <a:prstGeom prst="rect">
            <a:avLst/>
          </a:prstGeom>
        </p:spPr>
      </p:pic>
      <p:pic>
        <p:nvPicPr>
          <p:cNvPr id="6" name="Graphic 5" descr="Storytelling with solid fill">
            <a:extLst>
              <a:ext uri="{FF2B5EF4-FFF2-40B4-BE49-F238E27FC236}">
                <a16:creationId xmlns:a16="http://schemas.microsoft.com/office/drawing/2014/main" xmlns="" id="{AB8D661A-05AD-5557-2F23-21ACF92984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52400" y="4881563"/>
            <a:ext cx="914400" cy="914400"/>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23789" y="-1392831"/>
            <a:ext cx="3515911" cy="3515911"/>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44198" y="2123080"/>
            <a:ext cx="1757956" cy="1757956"/>
          </a:xfrm>
          <a:prstGeom prst="rect">
            <a:avLst/>
          </a:prstGeom>
        </p:spPr>
      </p:pic>
      <p:sp>
        <p:nvSpPr>
          <p:cNvPr id="8" name="Oval 7"/>
          <p:cNvSpPr/>
          <p:nvPr/>
        </p:nvSpPr>
        <p:spPr>
          <a:xfrm>
            <a:off x="-228600" y="6090835"/>
            <a:ext cx="1295400" cy="1295400"/>
          </a:xfrm>
          <a:prstGeom prst="ellipse">
            <a:avLst/>
          </a:prstGeom>
          <a:no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n w="254000">
                <a:solidFill>
                  <a:schemeClr val="tx1"/>
                </a:solidFill>
              </a:ln>
            </a:endParaRPr>
          </a:p>
        </p:txBody>
      </p:sp>
    </p:spTree>
    <p:extLst>
      <p:ext uri="{BB962C8B-B14F-4D97-AF65-F5344CB8AC3E}">
        <p14:creationId xmlns:p14="http://schemas.microsoft.com/office/powerpoint/2010/main" val="269518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19883"/>
            <a:ext cx="5892803" cy="5738117"/>
          </a:xfrm>
          <a:prstGeom prst="rect">
            <a:avLst/>
          </a:prstGeom>
        </p:spPr>
      </p:pic>
      <p:sp>
        <p:nvSpPr>
          <p:cNvPr id="2" name="Title 1">
            <a:extLst>
              <a:ext uri="{FF2B5EF4-FFF2-40B4-BE49-F238E27FC236}">
                <a16:creationId xmlns:a16="http://schemas.microsoft.com/office/drawing/2014/main" xmlns="" id="{175752F7-3520-331D-BC2D-852797203E3B}"/>
              </a:ext>
            </a:extLst>
          </p:cNvPr>
          <p:cNvSpPr>
            <a:spLocks noGrp="1"/>
          </p:cNvSpPr>
          <p:nvPr>
            <p:ph type="title"/>
          </p:nvPr>
        </p:nvSpPr>
        <p:spPr>
          <a:xfrm>
            <a:off x="685799" y="2105025"/>
            <a:ext cx="4660901" cy="2784475"/>
          </a:xfrm>
        </p:spPr>
        <p:txBody>
          <a:bodyPr>
            <a:normAutofit/>
          </a:bodyPr>
          <a:lstStyle/>
          <a:p>
            <a:pPr algn="ctr"/>
            <a:r>
              <a:rPr lang="en-GB" sz="4000" dirty="0"/>
              <a:t>Why use constants?</a:t>
            </a:r>
          </a:p>
        </p:txBody>
      </p:sp>
      <p:sp>
        <p:nvSpPr>
          <p:cNvPr id="3" name="Content Placeholder 2">
            <a:extLst>
              <a:ext uri="{FF2B5EF4-FFF2-40B4-BE49-F238E27FC236}">
                <a16:creationId xmlns:a16="http://schemas.microsoft.com/office/drawing/2014/main" xmlns="" id="{D117705B-3F90-F26E-9483-33EF1A77FE5C}"/>
              </a:ext>
            </a:extLst>
          </p:cNvPr>
          <p:cNvSpPr>
            <a:spLocks noGrp="1"/>
          </p:cNvSpPr>
          <p:nvPr>
            <p:ph idx="1"/>
          </p:nvPr>
        </p:nvSpPr>
        <p:spPr>
          <a:xfrm>
            <a:off x="6197599" y="1690688"/>
            <a:ext cx="5816603" cy="4799012"/>
          </a:xfrm>
        </p:spPr>
        <p:txBody>
          <a:bodyPr/>
          <a:lstStyle/>
          <a:p>
            <a:r>
              <a:rPr lang="en-GB" dirty="0"/>
              <a:t>If the programmer needs to change a value in the program, the value of the constant only needs to be changed in a single place, making it much easier to reassign a value. </a:t>
            </a:r>
          </a:p>
          <a:p>
            <a:r>
              <a:rPr lang="en-GB" dirty="0"/>
              <a:t>This is because the change is reflected throughout the program.</a:t>
            </a:r>
          </a:p>
          <a:p>
            <a:endParaRPr lang="en-GB" dirty="0"/>
          </a:p>
        </p:txBody>
      </p:sp>
    </p:spTree>
    <p:extLst>
      <p:ext uri="{BB962C8B-B14F-4D97-AF65-F5344CB8AC3E}">
        <p14:creationId xmlns:p14="http://schemas.microsoft.com/office/powerpoint/2010/main" val="385031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DB2868-BB05-F358-C53D-E2F55787A8D0}"/>
              </a:ext>
            </a:extLst>
          </p:cNvPr>
          <p:cNvSpPr>
            <a:spLocks noGrp="1"/>
          </p:cNvSpPr>
          <p:nvPr>
            <p:ph type="title"/>
          </p:nvPr>
        </p:nvSpPr>
        <p:spPr>
          <a:xfrm>
            <a:off x="182879" y="172341"/>
            <a:ext cx="10515600" cy="1325563"/>
          </a:xfrm>
        </p:spPr>
        <p:txBody>
          <a:bodyPr/>
          <a:lstStyle/>
          <a:p>
            <a:r>
              <a:rPr lang="en-GB" dirty="0"/>
              <a:t>Why use variables?</a:t>
            </a:r>
          </a:p>
        </p:txBody>
      </p:sp>
      <p:sp>
        <p:nvSpPr>
          <p:cNvPr id="3" name="Content Placeholder 2">
            <a:extLst>
              <a:ext uri="{FF2B5EF4-FFF2-40B4-BE49-F238E27FC236}">
                <a16:creationId xmlns:a16="http://schemas.microsoft.com/office/drawing/2014/main" xmlns="" id="{921F54D8-5D15-6F55-B141-B35B87365B7C}"/>
              </a:ext>
            </a:extLst>
          </p:cNvPr>
          <p:cNvSpPr>
            <a:spLocks noGrp="1"/>
          </p:cNvSpPr>
          <p:nvPr>
            <p:ph idx="1"/>
          </p:nvPr>
        </p:nvSpPr>
        <p:spPr>
          <a:xfrm>
            <a:off x="182879" y="1322364"/>
            <a:ext cx="8547193" cy="5345722"/>
          </a:xfrm>
        </p:spPr>
        <p:txBody>
          <a:bodyPr>
            <a:normAutofit lnSpcReduction="10000"/>
          </a:bodyPr>
          <a:lstStyle/>
          <a:p>
            <a:r>
              <a:rPr lang="en-GB" dirty="0"/>
              <a:t>Variables are vital to programming useful applications, as a program’s whole purpose is to actually process data. This can’t be done without using variables in one way or another.</a:t>
            </a:r>
          </a:p>
          <a:p>
            <a:r>
              <a:rPr lang="en-GB" dirty="0"/>
              <a:t>Declaring variables is usually the first thing that happens in any program.</a:t>
            </a:r>
          </a:p>
          <a:p>
            <a:endParaRPr lang="en-GB" dirty="0"/>
          </a:p>
          <a:p>
            <a:r>
              <a:rPr lang="en-GB" dirty="0"/>
              <a:t>Variables need to be given a name</a:t>
            </a:r>
          </a:p>
          <a:p>
            <a:r>
              <a:rPr lang="en-GB" dirty="0"/>
              <a:t>Most programming languages also ask to know </a:t>
            </a:r>
            <a:r>
              <a:rPr lang="en-GB" b="1" dirty="0"/>
              <a:t>what type of data</a:t>
            </a:r>
            <a:r>
              <a:rPr lang="en-GB" dirty="0"/>
              <a:t> this needs to store</a:t>
            </a:r>
          </a:p>
          <a:p>
            <a:r>
              <a:rPr lang="en-GB" dirty="0"/>
              <a:t>The variable itself (the actual memory location doesn’t change), but the data that is held at that location can change when running the program</a:t>
            </a:r>
          </a:p>
        </p:txBody>
      </p:sp>
      <p:pic>
        <p:nvPicPr>
          <p:cNvPr id="4" name="3D Model 3" descr="Sand Tower Bucket 2">
            <a:extLst>
              <a:ext uri="{FF2B5EF4-FFF2-40B4-BE49-F238E27FC236}">
                <a16:creationId xmlns:a16="http://schemas.microsoft.com/office/drawing/2014/main" xmlns="" id="{4AC12BF5-E469-06F7-DC0C-AF88B2D0B7CB}"/>
              </a:ext>
            </a:extLst>
          </p:cNvPr>
          <p:cNvPicPr>
            <a:picLocks noGrp="1" noRot="1" noChangeAspect="1" noMove="1" noResize="1" noEditPoints="1" noAdjustHandles="1" noChangeArrowheads="1" noChangeShapeType="1" noCrop="1"/>
          </p:cNvPicPr>
          <p:nvPr/>
        </p:nvPicPr>
        <p:blipFill>
          <a:blip r:embed="rId4"/>
          <a:stretch>
            <a:fillRect/>
          </a:stretch>
        </p:blipFill>
        <p:spPr>
          <a:xfrm>
            <a:off x="8813998" y="3027926"/>
            <a:ext cx="3195123" cy="3379279"/>
          </a:xfrm>
          <a:prstGeom prst="rect">
            <a:avLst/>
          </a:prstGeom>
        </p:spPr>
      </p:pic>
      <p:sp>
        <p:nvSpPr>
          <p:cNvPr id="5" name="Rectangle 4">
            <a:extLst>
              <a:ext uri="{FF2B5EF4-FFF2-40B4-BE49-F238E27FC236}">
                <a16:creationId xmlns:a16="http://schemas.microsoft.com/office/drawing/2014/main" xmlns="" id="{9CCD3F14-FEB8-CB77-8019-B0BABCE57AD2}"/>
              </a:ext>
            </a:extLst>
          </p:cNvPr>
          <p:cNvSpPr/>
          <p:nvPr/>
        </p:nvSpPr>
        <p:spPr>
          <a:xfrm>
            <a:off x="9364399" y="3887573"/>
            <a:ext cx="2222695" cy="8299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effectLst>
                  <a:outerShdw blurRad="50800" dist="38100" dir="2700000" algn="tl" rotWithShape="0">
                    <a:prstClr val="black">
                      <a:alpha val="40000"/>
                    </a:prstClr>
                  </a:outerShdw>
                </a:effectLst>
                <a:latin typeface="LEMON MILK" panose="00000500000000000000" pitchFamily="50" charset="0"/>
              </a:rPr>
              <a:t>VARIABLE</a:t>
            </a:r>
          </a:p>
        </p:txBody>
      </p:sp>
      <p:pic>
        <p:nvPicPr>
          <p:cNvPr id="6" name="3D Model 5" descr="Water Planet">
            <a:extLst>
              <a:ext uri="{FF2B5EF4-FFF2-40B4-BE49-F238E27FC236}">
                <a16:creationId xmlns:a16="http://schemas.microsoft.com/office/drawing/2014/main" xmlns="" id="{CCD78D54-382E-958E-8A12-3C40BF1FF984}"/>
              </a:ext>
            </a:extLst>
          </p:cNvPr>
          <p:cNvPicPr>
            <a:picLocks noGrp="1" noRot="1" noChangeAspect="1" noMove="1" noResize="1" noEditPoints="1" noAdjustHandles="1" noChangeArrowheads="1" noChangeShapeType="1" noCrop="1"/>
          </p:cNvPicPr>
          <p:nvPr/>
        </p:nvPicPr>
        <p:blipFill>
          <a:blip r:embed="rId7"/>
          <a:stretch>
            <a:fillRect/>
          </a:stretch>
        </p:blipFill>
        <p:spPr>
          <a:xfrm>
            <a:off x="9554503" y="267285"/>
            <a:ext cx="1714118" cy="1714117"/>
          </a:xfrm>
          <a:prstGeom prst="rect">
            <a:avLst/>
          </a:prstGeom>
        </p:spPr>
      </p:pic>
      <p:sp>
        <p:nvSpPr>
          <p:cNvPr id="7" name="Rectangle 6">
            <a:extLst>
              <a:ext uri="{FF2B5EF4-FFF2-40B4-BE49-F238E27FC236}">
                <a16:creationId xmlns:a16="http://schemas.microsoft.com/office/drawing/2014/main" xmlns="" id="{EBE3991D-C1A7-DFD3-5B76-93295E0EE99C}"/>
              </a:ext>
            </a:extLst>
          </p:cNvPr>
          <p:cNvSpPr/>
          <p:nvPr/>
        </p:nvSpPr>
        <p:spPr>
          <a:xfrm>
            <a:off x="9300214" y="737284"/>
            <a:ext cx="2222695" cy="8299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effectLst>
                  <a:outerShdw blurRad="50800" dist="38100" dir="2700000" algn="tl" rotWithShape="0">
                    <a:prstClr val="black">
                      <a:alpha val="40000"/>
                    </a:prstClr>
                  </a:outerShdw>
                </a:effectLst>
                <a:latin typeface="LEMON MILK" panose="00000500000000000000" pitchFamily="50" charset="0"/>
              </a:rPr>
              <a:t>Data</a:t>
            </a:r>
          </a:p>
        </p:txBody>
      </p:sp>
      <p:pic>
        <p:nvPicPr>
          <p:cNvPr id="8" name="3D Model 7" descr="Arrow">
            <a:extLst>
              <a:ext uri="{FF2B5EF4-FFF2-40B4-BE49-F238E27FC236}">
                <a16:creationId xmlns:a16="http://schemas.microsoft.com/office/drawing/2014/main" xmlns="" id="{AF18D3A3-30F6-58C7-ACEC-8FFE9835CE2A}"/>
              </a:ext>
            </a:extLst>
          </p:cNvPr>
          <p:cNvPicPr>
            <a:picLocks noGrp="1" noRot="1" noChangeAspect="1" noMove="1" noResize="1" noEditPoints="1" noAdjustHandles="1" noChangeArrowheads="1" noChangeShapeType="1" noCrop="1"/>
          </p:cNvPicPr>
          <p:nvPr/>
        </p:nvPicPr>
        <p:blipFill>
          <a:blip r:embed="rId10"/>
          <a:stretch>
            <a:fillRect/>
          </a:stretch>
        </p:blipFill>
        <p:spPr>
          <a:xfrm rot="5400000">
            <a:off x="9547535" y="2145892"/>
            <a:ext cx="1498078" cy="1456006"/>
          </a:xfrm>
          <a:prstGeom prst="rect">
            <a:avLst/>
          </a:prstGeom>
        </p:spPr>
      </p:pic>
    </p:spTree>
    <p:extLst>
      <p:ext uri="{BB962C8B-B14F-4D97-AF65-F5344CB8AC3E}">
        <p14:creationId xmlns:p14="http://schemas.microsoft.com/office/powerpoint/2010/main" val="395975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mph" presetSubtype="32" fill="hold" nodeType="afterEffect">
                                  <p:stCondLst>
                                    <p:cond delay="0"/>
                                  </p:stCondLst>
                                  <p:childTnLst>
                                    <p:anim calcmode="lin" valueType="num">
                                      <p:cBhvr additive="sum">
                                        <p:cTn id="6" dur="2000" fill="hold"/>
                                        <p:tgtEl>
                                          <p:spTgt spid="8"/>
                                        </p:tgtEl>
                                        <p:attrNameLst>
                                          <p:attrName>3d.object.rotation.z</p:attrName>
                                        </p:attrNameLst>
                                      </p:cBhvr>
                                      <p:tavLst>
                                        <p:tav tm="0">
                                          <p:val>
                                            <p:fltVal val="0"/>
                                          </p:val>
                                        </p:tav>
                                        <p:tav tm="1120">
                                          <p:val>
                                            <p:fltVal val="0.0012"/>
                                          </p:val>
                                        </p:tav>
                                        <p:tav tm="2250">
                                          <p:val>
                                            <p:fltVal val="0.0098"/>
                                          </p:val>
                                        </p:tav>
                                        <p:tav tm="3370">
                                          <p:val>
                                            <p:fltVal val="0.033"/>
                                          </p:val>
                                        </p:tav>
                                        <p:tav tm="4490">
                                          <p:val>
                                            <p:fltVal val="0.0789"/>
                                          </p:val>
                                        </p:tav>
                                        <p:tav tm="5620">
                                          <p:val>
                                            <p:fltVal val="0.1548"/>
                                          </p:val>
                                        </p:tav>
                                        <p:tav tm="6740">
                                          <p:val>
                                            <p:fltVal val="0.267"/>
                                          </p:val>
                                        </p:tav>
                                        <p:tav tm="7870">
                                          <p:val>
                                            <p:fltVal val="0.4235"/>
                                          </p:val>
                                        </p:tav>
                                        <p:tav tm="8990">
                                          <p:val>
                                            <p:fltVal val="0.6337"/>
                                          </p:val>
                                        </p:tav>
                                        <p:tav tm="10110">
                                          <p:val>
                                            <p:fltVal val="0.9013"/>
                                          </p:val>
                                        </p:tav>
                                        <p:tav tm="11240">
                                          <p:val>
                                            <p:fltVal val="1.2353"/>
                                          </p:val>
                                        </p:tav>
                                        <p:tav tm="12360">
                                          <p:val>
                                            <p:fltVal val="1.647"/>
                                          </p:val>
                                        </p:tav>
                                        <p:tav tm="13480">
                                          <p:val>
                                            <p:fltVal val="2.0869"/>
                                          </p:val>
                                        </p:tav>
                                        <p:tav tm="14610">
                                          <p:val>
                                            <p:fltVal val="2.4538"/>
                                          </p:val>
                                        </p:tav>
                                        <p:tav tm="15730">
                                          <p:val>
                                            <p:fltVal val="2.7534"/>
                                          </p:val>
                                        </p:tav>
                                        <p:tav tm="16850">
                                          <p:val>
                                            <p:fltVal val="2.9876"/>
                                          </p:val>
                                        </p:tav>
                                        <p:tav tm="17980">
                                          <p:val>
                                            <p:fltVal val="3.1669"/>
                                          </p:val>
                                        </p:tav>
                                        <p:tav tm="19100">
                                          <p:val>
                                            <p:fltVal val="3.2996"/>
                                          </p:val>
                                        </p:tav>
                                        <p:tav tm="20220">
                                          <p:val>
                                            <p:fltVal val="3.3906"/>
                                          </p:val>
                                        </p:tav>
                                        <p:tav tm="21350">
                                          <p:val>
                                            <p:fltVal val="3.4488"/>
                                          </p:val>
                                        </p:tav>
                                        <p:tav tm="22470">
                                          <p:val>
                                            <p:fltVal val="3.4815"/>
                                          </p:val>
                                        </p:tav>
                                        <p:tav tm="23600">
                                          <p:val>
                                            <p:fltVal val="3.4961"/>
                                          </p:val>
                                        </p:tav>
                                        <p:tav tm="24720">
                                          <p:val>
                                            <p:fltVal val="3.4998"/>
                                          </p:val>
                                        </p:tav>
                                        <p:tav tm="25840">
                                          <p:val>
                                            <p:fltVal val="3.0301"/>
                                          </p:val>
                                        </p:tav>
                                        <p:tav tm="26970">
                                          <p:val>
                                            <p:fltVal val="0.9661"/>
                                          </p:val>
                                        </p:tav>
                                        <p:tav tm="28090">
                                          <p:val>
                                            <p:fltVal val="-2.1525"/>
                                          </p:val>
                                        </p:tav>
                                        <p:tav tm="29210">
                                          <p:val>
                                            <p:fltVal val="-6.1215"/>
                                          </p:val>
                                        </p:tav>
                                        <p:tav tm="30340">
                                          <p:val>
                                            <p:fltVal val="-10.8322"/>
                                          </p:val>
                                        </p:tav>
                                        <p:tav tm="31460">
                                          <p:val>
                                            <p:fltVal val="-16.2132"/>
                                          </p:val>
                                        </p:tav>
                                        <p:tav tm="32580">
                                          <p:val>
                                            <p:fltVal val="-22.2128"/>
                                          </p:val>
                                        </p:tav>
                                        <p:tav tm="33710">
                                          <p:val>
                                            <p:fltVal val="-28.7297"/>
                                          </p:val>
                                        </p:tav>
                                        <p:tav tm="34830">
                                          <p:val>
                                            <p:fltVal val="-35.8493"/>
                                          </p:val>
                                        </p:tav>
                                        <p:tav tm="35960">
                                          <p:val>
                                            <p:fltVal val="-43.4888"/>
                                          </p:val>
                                        </p:tav>
                                        <p:tav tm="37080">
                                          <p:val>
                                            <p:fltVal val="-51.6257"/>
                                          </p:val>
                                        </p:tav>
                                        <p:tav tm="38200">
                                          <p:val>
                                            <p:fltVal val="-60.2402"/>
                                          </p:val>
                                        </p:tav>
                                        <p:tav tm="39330">
                                          <p:val>
                                            <p:fltVal val="-69.3155"/>
                                          </p:val>
                                        </p:tav>
                                        <p:tav tm="40450">
                                          <p:val>
                                            <p:fltVal val="-78.8364"/>
                                          </p:val>
                                        </p:tav>
                                        <p:tav tm="41570">
                                          <p:val>
                                            <p:fltVal val="-88.6987"/>
                                          </p:val>
                                        </p:tav>
                                        <p:tav tm="42700">
                                          <p:val>
                                            <p:fltVal val="-99.0679"/>
                                          </p:val>
                                        </p:tav>
                                        <p:tav tm="43820">
                                          <p:val>
                                            <p:fltVal val="-109.8461"/>
                                          </p:val>
                                        </p:tav>
                                        <p:tav tm="44940">
                                          <p:val>
                                            <p:fltVal val="-121.0232"/>
                                          </p:val>
                                        </p:tav>
                                        <p:tav tm="46070">
                                          <p:val>
                                            <p:fltVal val="-132.5899"/>
                                          </p:val>
                                        </p:tav>
                                        <p:tav tm="47190">
                                          <p:val>
                                            <p:fltVal val="-144.5376"/>
                                          </p:val>
                                        </p:tav>
                                        <p:tav tm="48310">
                                          <p:val>
                                            <p:fltVal val="-156.85851"/>
                                          </p:val>
                                        </p:tav>
                                        <p:tav tm="49440">
                                          <p:val>
                                            <p:fltVal val="-169.43021"/>
                                          </p:val>
                                        </p:tav>
                                        <p:tav tm="50560">
                                          <p:val>
                                            <p:fltVal val="-182.34309"/>
                                          </p:val>
                                        </p:tav>
                                        <p:tav tm="51690">
                                          <p:val>
                                            <p:fltVal val="-195.1411"/>
                                          </p:val>
                                        </p:tav>
                                        <p:tav tm="52810">
                                          <p:val>
                                            <p:fltVal val="-207.6945"/>
                                          </p:val>
                                        </p:tav>
                                        <p:tav tm="53930">
                                          <p:val>
                                            <p:fltVal val="-219.77251"/>
                                          </p:val>
                                        </p:tav>
                                        <p:tav tm="55060">
                                          <p:val>
                                            <p:fltVal val="-231.4814"/>
                                          </p:val>
                                        </p:tav>
                                        <p:tav tm="56180">
                                          <p:val>
                                            <p:fltVal val="-242.91341"/>
                                          </p:val>
                                        </p:tav>
                                        <p:tav tm="57300">
                                          <p:val>
                                            <p:fltVal val="-253.8558"/>
                                          </p:val>
                                        </p:tav>
                                        <p:tav tm="58430">
                                          <p:val>
                                            <p:fltVal val="-264.40329"/>
                                          </p:val>
                                        </p:tav>
                                        <p:tav tm="59550">
                                          <p:val>
                                            <p:fltVal val="-274.63501"/>
                                          </p:val>
                                        </p:tav>
                                        <p:tav tm="60670">
                                          <p:val>
                                            <p:fltVal val="-284.35721"/>
                                          </p:val>
                                        </p:tav>
                                        <p:tav tm="61800">
                                          <p:val>
                                            <p:fltVal val="-293.6507"/>
                                          </p:val>
                                        </p:tav>
                                        <p:tav tm="62920">
                                          <p:val>
                                            <p:fltVal val="-302.57959"/>
                                          </p:val>
                                        </p:tav>
                                        <p:tav tm="64040">
                                          <p:val>
                                            <p:fltVal val="-310.96921"/>
                                          </p:val>
                                        </p:tav>
                                        <p:tav tm="65170">
                                          <p:val>
                                            <p:fltVal val="-318.88379"/>
                                          </p:val>
                                        </p:tav>
                                        <p:tav tm="66290">
                                          <p:val>
                                            <p:fltVal val="-326.36801"/>
                                          </p:val>
                                        </p:tav>
                                        <p:tav tm="67420">
                                          <p:val>
                                            <p:fltVal val="-333.26511"/>
                                          </p:val>
                                        </p:tav>
                                        <p:tav tm="68540">
                                          <p:val>
                                            <p:fltVal val="-339.6712"/>
                                          </p:val>
                                        </p:tav>
                                        <p:tav tm="69660">
                                          <p:val>
                                            <p:fltVal val="-345.43851"/>
                                          </p:val>
                                        </p:tav>
                                        <p:tav tm="70790">
                                          <p:val>
                                            <p:fltVal val="-350.58469"/>
                                          </p:val>
                                        </p:tav>
                                        <p:tav tm="71910">
                                          <p:val>
                                            <p:fltVal val="-355.09189"/>
                                          </p:val>
                                        </p:tav>
                                        <p:tav tm="73030">
                                          <p:val>
                                            <p:fltVal val="-358.80179"/>
                                          </p:val>
                                        </p:tav>
                                        <p:tav tm="74160">
                                          <p:val>
                                            <p:fltVal val="-361.63531"/>
                                          </p:val>
                                        </p:tav>
                                        <p:tav tm="75280">
                                          <p:val>
                                            <p:fltVal val="-363.345"/>
                                          </p:val>
                                        </p:tav>
                                        <p:tav tm="76400">
                                          <p:val>
                                            <p:fltVal val="-363.4978"/>
                                          </p:val>
                                        </p:tav>
                                        <p:tav tm="77530">
                                          <p:val>
                                            <p:fltVal val="-363.47061"/>
                                          </p:val>
                                        </p:tav>
                                        <p:tav tm="78650">
                                          <p:val>
                                            <p:fltVal val="-363.38339"/>
                                          </p:val>
                                        </p:tav>
                                        <p:tav tm="79780">
                                          <p:val>
                                            <p:fltVal val="-363.20349"/>
                                          </p:val>
                                        </p:tav>
                                        <p:tav tm="80900">
                                          <p:val>
                                            <p:fltVal val="-362.8963"/>
                                          </p:val>
                                        </p:tav>
                                        <p:tav tm="82020">
                                          <p:val>
                                            <p:fltVal val="-362.4227"/>
                                          </p:val>
                                        </p:tav>
                                        <p:tav tm="83150">
                                          <p:val>
                                            <p:fltVal val="-361.7569"/>
                                          </p:val>
                                        </p:tav>
                                        <p:tav tm="84270">
                                          <p:val>
                                            <p:fltVal val="-361.0874"/>
                                          </p:val>
                                        </p:tav>
                                        <p:tav tm="85390">
                                          <p:val>
                                            <p:fltVal val="-360.6105"/>
                                          </p:val>
                                        </p:tav>
                                        <p:tav tm="86520">
                                          <p:val>
                                            <p:fltVal val="-360.30069"/>
                                          </p:val>
                                        </p:tav>
                                        <p:tav tm="87640">
                                          <p:val>
                                            <p:fltVal val="-360.1188"/>
                                          </p:val>
                                        </p:tav>
                                        <p:tav tm="88760">
                                          <p:val>
                                            <p:fltVal val="-360.03021"/>
                                          </p:val>
                                        </p:tav>
                                        <p:tav tm="89890">
                                          <p:val>
                                            <p:fltVal val="-360.00229"/>
                                          </p:val>
                                        </p:tav>
                                        <p:tav tm="91010">
                                          <p:val>
                                            <p:fltVal val="-360"/>
                                          </p:val>
                                        </p:tav>
                                        <p:tav tm="92130">
                                          <p:val>
                                            <p:fltVal val="-360"/>
                                          </p:val>
                                        </p:tav>
                                        <p:tav tm="93260">
                                          <p:val>
                                            <p:fltVal val="-360"/>
                                          </p:val>
                                        </p:tav>
                                        <p:tav tm="94380">
                                          <p:val>
                                            <p:fltVal val="-360"/>
                                          </p:val>
                                        </p:tav>
                                        <p:tav tm="95510">
                                          <p:val>
                                            <p:fltVal val="-360"/>
                                          </p:val>
                                        </p:tav>
                                        <p:tav tm="96630">
                                          <p:val>
                                            <p:fltVal val="-360"/>
                                          </p:val>
                                        </p:tav>
                                        <p:tav tm="97750">
                                          <p:val>
                                            <p:fltVal val="-360"/>
                                          </p:val>
                                        </p:tav>
                                        <p:tav tm="98880">
                                          <p:val>
                                            <p:fltVal val="-360"/>
                                          </p:val>
                                        </p:tav>
                                        <p:tav tm="100000">
                                          <p:val>
                                            <p:fltVal val="-360"/>
                                          </p:val>
                                        </p:tav>
                                      </p:tavLst>
                                    </p:anim>
                                    <p:anim calcmode="lin" valueType="num">
                                      <p:cBhvr additive="sum">
                                        <p:cTn id="7" dur="2000" fill="hold"/>
                                        <p:tgtEl>
                                          <p:spTgt spid="8"/>
                                        </p:tgtEl>
                                        <p:attrNameLst>
                                          <p:attrName>3d.object.translation.y</p:attrName>
                                        </p:attrNameLst>
                                      </p:cBhvr>
                                      <p:tavLst>
                                        <p:tav tm="0">
                                          <p:val>
                                            <p:fltVal val="0"/>
                                          </p:val>
                                        </p:tav>
                                        <p:tav tm="1120">
                                          <p:val>
                                            <p:fltVal val="0"/>
                                          </p:val>
                                        </p:tav>
                                        <p:tav tm="2250">
                                          <p:val>
                                            <p:fltVal val="-10E-5"/>
                                          </p:val>
                                        </p:tav>
                                        <p:tav tm="3370">
                                          <p:val>
                                            <p:fltVal val="-0.0004"/>
                                          </p:val>
                                        </p:tav>
                                        <p:tav tm="4490">
                                          <p:val>
                                            <p:fltVal val="-0.0011"/>
                                          </p:val>
                                        </p:tav>
                                        <p:tav tm="5620">
                                          <p:val>
                                            <p:fltVal val="-0.0021"/>
                                          </p:val>
                                        </p:tav>
                                        <p:tav tm="6740">
                                          <p:val>
                                            <p:fltVal val="-0.0037"/>
                                          </p:val>
                                        </p:tav>
                                        <p:tav tm="7870">
                                          <p:val>
                                            <p:fltVal val="-0.0059"/>
                                          </p:val>
                                        </p:tav>
                                        <p:tav tm="8990">
                                          <p:val>
                                            <p:fltVal val="-0.0088"/>
                                          </p:val>
                                        </p:tav>
                                        <p:tav tm="10110">
                                          <p:val>
                                            <p:fltVal val="-0.0125"/>
                                          </p:val>
                                        </p:tav>
                                        <p:tav tm="11240">
                                          <p:val>
                                            <p:fltVal val="-0.0162"/>
                                          </p:val>
                                        </p:tav>
                                        <p:tav tm="12360">
                                          <p:val>
                                            <p:fltVal val="-0.0191"/>
                                          </p:val>
                                        </p:tav>
                                        <p:tav tm="13480">
                                          <p:val>
                                            <p:fltVal val="-0.0213"/>
                                          </p:val>
                                        </p:tav>
                                        <p:tav tm="14610">
                                          <p:val>
                                            <p:fltVal val="-0.0228"/>
                                          </p:val>
                                        </p:tav>
                                        <p:tav tm="15730">
                                          <p:val>
                                            <p:fltVal val="-0.0239"/>
                                          </p:val>
                                        </p:tav>
                                        <p:tav tm="16850">
                                          <p:val>
                                            <p:fltVal val="-0.0245"/>
                                          </p:val>
                                        </p:tav>
                                        <p:tav tm="17980">
                                          <p:val>
                                            <p:fltVal val="-0.0248"/>
                                          </p:val>
                                        </p:tav>
                                        <p:tav tm="19100">
                                          <p:val>
                                            <p:fltVal val="-0.0249"/>
                                          </p:val>
                                        </p:tav>
                                        <p:tav tm="20220">
                                          <p:val>
                                            <p:fltVal val="-0.0249"/>
                                          </p:val>
                                        </p:tav>
                                        <p:tav tm="21350">
                                          <p:val>
                                            <p:fltVal val="-0.0248"/>
                                          </p:val>
                                        </p:tav>
                                        <p:tav tm="22470">
                                          <p:val>
                                            <p:fltVal val="-0.0241"/>
                                          </p:val>
                                        </p:tav>
                                        <p:tav tm="23600">
                                          <p:val>
                                            <p:fltVal val="-0.022"/>
                                          </p:val>
                                        </p:tav>
                                        <p:tav tm="24720">
                                          <p:val>
                                            <p:fltVal val="-0.0179"/>
                                          </p:val>
                                        </p:tav>
                                        <p:tav tm="25840">
                                          <p:val>
                                            <p:fltVal val="-0.0113"/>
                                          </p:val>
                                        </p:tav>
                                        <p:tav tm="26970">
                                          <p:val>
                                            <p:fltVal val="-0.0013"/>
                                          </p:val>
                                        </p:tav>
                                        <p:tav tm="28090">
                                          <p:val>
                                            <p:fltVal val="0.0124"/>
                                          </p:val>
                                        </p:tav>
                                        <p:tav tm="29210">
                                          <p:val>
                                            <p:fltVal val="0.0309"/>
                                          </p:val>
                                        </p:tav>
                                        <p:tav tm="30340">
                                          <p:val>
                                            <p:fltVal val="0.0546"/>
                                          </p:val>
                                        </p:tav>
                                        <p:tav tm="31460">
                                          <p:val>
                                            <p:fltVal val="0.0842"/>
                                          </p:val>
                                        </p:tav>
                                        <p:tav tm="32580">
                                          <p:val>
                                            <p:fltVal val="0.1204"/>
                                          </p:val>
                                        </p:tav>
                                        <p:tav tm="33710">
                                          <p:val>
                                            <p:fltVal val="0.1634"/>
                                          </p:val>
                                        </p:tav>
                                        <p:tav tm="34830">
                                          <p:val>
                                            <p:fltVal val="0.2145"/>
                                          </p:val>
                                        </p:tav>
                                        <p:tav tm="35960">
                                          <p:val>
                                            <p:fltVal val="0.2711"/>
                                          </p:val>
                                        </p:tav>
                                        <p:tav tm="37080">
                                          <p:val>
                                            <p:fltVal val="0.3207"/>
                                          </p:val>
                                        </p:tav>
                                        <p:tav tm="38200">
                                          <p:val>
                                            <p:fltVal val="0.3625"/>
                                          </p:val>
                                        </p:tav>
                                        <p:tav tm="39330">
                                          <p:val>
                                            <p:fltVal val="0.3973"/>
                                          </p:val>
                                        </p:tav>
                                        <p:tav tm="40450">
                                          <p:val>
                                            <p:fltVal val="0.4256"/>
                                          </p:val>
                                        </p:tav>
                                        <p:tav tm="41570">
                                          <p:val>
                                            <p:fltVal val="0.448"/>
                                          </p:val>
                                        </p:tav>
                                        <p:tav tm="42700">
                                          <p:val>
                                            <p:fltVal val="0.4655"/>
                                          </p:val>
                                        </p:tav>
                                        <p:tav tm="43820">
                                          <p:val>
                                            <p:fltVal val="0.4786"/>
                                          </p:val>
                                        </p:tav>
                                        <p:tav tm="44940">
                                          <p:val>
                                            <p:fltVal val="0.4878"/>
                                          </p:val>
                                        </p:tav>
                                        <p:tav tm="46070">
                                          <p:val>
                                            <p:fltVal val="0.4939"/>
                                          </p:val>
                                        </p:tav>
                                        <p:tav tm="47190">
                                          <p:val>
                                            <p:fltVal val="0.4975"/>
                                          </p:val>
                                        </p:tav>
                                        <p:tav tm="48310">
                                          <p:val>
                                            <p:fltVal val="0.4993"/>
                                          </p:val>
                                        </p:tav>
                                        <p:tav tm="49440">
                                          <p:val>
                                            <p:fltVal val="0.4999"/>
                                          </p:val>
                                        </p:tav>
                                        <p:tav tm="50560">
                                          <p:val>
                                            <p:fltVal val="0.4999"/>
                                          </p:val>
                                        </p:tav>
                                        <p:tav tm="51690">
                                          <p:val>
                                            <p:fltVal val="0.4998"/>
                                          </p:val>
                                        </p:tav>
                                        <p:tav tm="52810">
                                          <p:val>
                                            <p:fltVal val="0.4988"/>
                                          </p:val>
                                        </p:tav>
                                        <p:tav tm="53930">
                                          <p:val>
                                            <p:fltVal val="0.4965"/>
                                          </p:val>
                                        </p:tav>
                                        <p:tav tm="55060">
                                          <p:val>
                                            <p:fltVal val="0.4921"/>
                                          </p:val>
                                        </p:tav>
                                        <p:tav tm="56180">
                                          <p:val>
                                            <p:fltVal val="0.485"/>
                                          </p:val>
                                        </p:tav>
                                        <p:tav tm="57300">
                                          <p:val>
                                            <p:fltVal val="0.4746"/>
                                          </p:val>
                                        </p:tav>
                                        <p:tav tm="58430">
                                          <p:val>
                                            <p:fltVal val="0.4603"/>
                                          </p:val>
                                        </p:tav>
                                        <p:tav tm="59550">
                                          <p:val>
                                            <p:fltVal val="0.4411"/>
                                          </p:val>
                                        </p:tav>
                                        <p:tav tm="60670">
                                          <p:val>
                                            <p:fltVal val="0.4169"/>
                                          </p:val>
                                        </p:tav>
                                        <p:tav tm="61800">
                                          <p:val>
                                            <p:fltVal val="0.3868"/>
                                          </p:val>
                                        </p:tav>
                                        <p:tav tm="62920">
                                          <p:val>
                                            <p:fltVal val="0.3499"/>
                                          </p:val>
                                        </p:tav>
                                        <p:tav tm="64040">
                                          <p:val>
                                            <p:fltVal val="0.306"/>
                                          </p:val>
                                        </p:tav>
                                        <p:tav tm="65170">
                                          <p:val>
                                            <p:fltVal val="0.2544"/>
                                          </p:val>
                                        </p:tav>
                                        <p:tav tm="66290">
                                          <p:val>
                                            <p:fltVal val="0.1981"/>
                                          </p:val>
                                        </p:tav>
                                        <p:tav tm="67420">
                                          <p:val>
                                            <p:fltVal val="0.1498"/>
                                          </p:val>
                                        </p:tav>
                                        <p:tav tm="68540">
                                          <p:val>
                                            <p:fltVal val="0.1087"/>
                                          </p:val>
                                        </p:tav>
                                        <p:tav tm="69660">
                                          <p:val>
                                            <p:fltVal val="0.0748"/>
                                          </p:val>
                                        </p:tav>
                                        <p:tav tm="70790">
                                          <p:val>
                                            <p:fltVal val="0.0473"/>
                                          </p:val>
                                        </p:tav>
                                        <p:tav tm="71910">
                                          <p:val>
                                            <p:fltVal val="0.0251"/>
                                          </p:val>
                                        </p:tav>
                                        <p:tav tm="73030">
                                          <p:val>
                                            <p:fltVal val="0.0082"/>
                                          </p:val>
                                        </p:tav>
                                        <p:tav tm="74160">
                                          <p:val>
                                            <p:fltVal val="-0.0044"/>
                                          </p:val>
                                        </p:tav>
                                        <p:tav tm="75280">
                                          <p:val>
                                            <p:fltVal val="-0.0134"/>
                                          </p:val>
                                        </p:tav>
                                        <p:tav tm="76400">
                                          <p:val>
                                            <p:fltVal val="-0.0192"/>
                                          </p:val>
                                        </p:tav>
                                        <p:tav tm="77530">
                                          <p:val>
                                            <p:fltVal val="-0.0227"/>
                                          </p:val>
                                        </p:tav>
                                        <p:tav tm="78650">
                                          <p:val>
                                            <p:fltVal val="-0.0244"/>
                                          </p:val>
                                        </p:tav>
                                        <p:tav tm="79780">
                                          <p:val>
                                            <p:fltVal val="-0.0249"/>
                                          </p:val>
                                        </p:tav>
                                        <p:tav tm="80900">
                                          <p:val>
                                            <p:fltVal val="-0.0249"/>
                                          </p:val>
                                        </p:tav>
                                        <p:tav tm="82020">
                                          <p:val>
                                            <p:fltVal val="-0.0244"/>
                                          </p:val>
                                        </p:tav>
                                        <p:tav tm="83150">
                                          <p:val>
                                            <p:fltVal val="-0.0219"/>
                                          </p:val>
                                        </p:tav>
                                        <p:tav tm="84270">
                                          <p:val>
                                            <p:fltVal val="-0.0156"/>
                                          </p:val>
                                        </p:tav>
                                        <p:tav tm="85390">
                                          <p:val>
                                            <p:fltVal val="-0.0039"/>
                                          </p:val>
                                        </p:tav>
                                        <p:tav tm="86520">
                                          <p:val>
                                            <p:fltVal val="0.0104"/>
                                          </p:val>
                                        </p:tav>
                                        <p:tav tm="87640">
                                          <p:val>
                                            <p:fltVal val="0.0192"/>
                                          </p:val>
                                        </p:tav>
                                        <p:tav tm="88760">
                                          <p:val>
                                            <p:fltVal val="0.0235"/>
                                          </p:val>
                                        </p:tav>
                                        <p:tav tm="89890">
                                          <p:val>
                                            <p:fltVal val="0.0248"/>
                                          </p:val>
                                        </p:tav>
                                        <p:tav tm="91010">
                                          <p:val>
                                            <p:fltVal val="0.0249"/>
                                          </p:val>
                                        </p:tav>
                                        <p:tav tm="92130">
                                          <p:val>
                                            <p:fltVal val="0.0247"/>
                                          </p:val>
                                        </p:tav>
                                        <p:tav tm="93260">
                                          <p:val>
                                            <p:fltVal val="0.0234"/>
                                          </p:val>
                                        </p:tav>
                                        <p:tav tm="94380">
                                          <p:val>
                                            <p:fltVal val="0.0202"/>
                                          </p:val>
                                        </p:tav>
                                        <p:tav tm="95510">
                                          <p:val>
                                            <p:fltVal val="0.0143"/>
                                          </p:val>
                                        </p:tav>
                                        <p:tav tm="96630">
                                          <p:val>
                                            <p:fltVal val="0.0071"/>
                                          </p:val>
                                        </p:tav>
                                        <p:tav tm="97750">
                                          <p:val>
                                            <p:fltVal val="0.0027"/>
                                          </p:val>
                                        </p:tav>
                                        <p:tav tm="98880">
                                          <p:val>
                                            <p:fltVal val="0.0007"/>
                                          </p:val>
                                        </p:tav>
                                        <p:tav tm="100000">
                                          <p:val>
                                            <p:fltVal val="0"/>
                                          </p:val>
                                        </p:tav>
                                      </p:tavLst>
                                    </p:anim>
                                    <p:anim calcmode="lin" valueType="num">
                                      <p:cBhvr additive="mult">
                                        <p:cTn id="8" dur="2000" fill="hold"/>
                                        <p:tgtEl>
                                          <p:spTgt spid="8"/>
                                        </p:tgtEl>
                                        <p:attrNameLst>
                                          <p:attrName>3d.object.scale.x</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9" dur="2000" fill="hold"/>
                                        <p:tgtEl>
                                          <p:spTgt spid="8"/>
                                        </p:tgtEl>
                                        <p:attrNameLst>
                                          <p:attrName>3d.object.scale.y</p:attrName>
                                        </p:attrNameLst>
                                      </p:cBhvr>
                                      <p:tavLst>
                                        <p:tav tm="0">
                                          <p:val>
                                            <p:fltVal val="1"/>
                                          </p:val>
                                        </p:tav>
                                        <p:tav tm="1120">
                                          <p:val>
                                            <p:fltVal val="0.9999"/>
                                          </p:val>
                                        </p:tav>
                                        <p:tav tm="2250">
                                          <p:val>
                                            <p:fltVal val="0.9994"/>
                                          </p:val>
                                        </p:tav>
                                        <p:tav tm="3370">
                                          <p:val>
                                            <p:fltVal val="0.9981"/>
                                          </p:val>
                                        </p:tav>
                                        <p:tav tm="4490">
                                          <p:val>
                                            <p:fltVal val="0.9955"/>
                                          </p:val>
                                        </p:tav>
                                        <p:tav tm="5620">
                                          <p:val>
                                            <p:fltVal val="0.9913"/>
                                          </p:val>
                                        </p:tav>
                                        <p:tav tm="6740">
                                          <p:val>
                                            <p:fltVal val="0.985"/>
                                          </p:val>
                                        </p:tav>
                                        <p:tav tm="7870">
                                          <p:val>
                                            <p:fltVal val="0.9763"/>
                                          </p:val>
                                        </p:tav>
                                        <p:tav tm="8990">
                                          <p:val>
                                            <p:fltVal val="0.9646"/>
                                          </p:val>
                                        </p:tav>
                                        <p:tav tm="10110">
                                          <p:val>
                                            <p:fltVal val="0.9497"/>
                                          </p:val>
                                        </p:tav>
                                        <p:tav tm="11240">
                                          <p:val>
                                            <p:fltVal val="0.9348"/>
                                          </p:val>
                                        </p:tav>
                                        <p:tav tm="12360">
                                          <p:val>
                                            <p:fltVal val="0.9232"/>
                                          </p:val>
                                        </p:tav>
                                        <p:tav tm="13480">
                                          <p:val>
                                            <p:fltVal val="0.9146"/>
                                          </p:val>
                                        </p:tav>
                                        <p:tav tm="14610">
                                          <p:val>
                                            <p:fltVal val="0.9084"/>
                                          </p:val>
                                        </p:tav>
                                        <p:tav tm="15730">
                                          <p:val>
                                            <p:fltVal val="0.9042"/>
                                          </p:val>
                                        </p:tav>
                                        <p:tav tm="16850">
                                          <p:val>
                                            <p:fltVal val="0.9017"/>
                                          </p:val>
                                        </p:tav>
                                        <p:tav tm="17980">
                                          <p:val>
                                            <p:fltVal val="0.9005"/>
                                          </p:val>
                                        </p:tav>
                                        <p:tav tm="19100">
                                          <p:val>
                                            <p:fltVal val="0.9"/>
                                          </p:val>
                                        </p:tav>
                                        <p:tav tm="20220">
                                          <p:val>
                                            <p:fltVal val="0.8999"/>
                                          </p:val>
                                        </p:tav>
                                        <p:tav tm="21350">
                                          <p:val>
                                            <p:fltVal val="0.9006"/>
                                          </p:val>
                                        </p:tav>
                                        <p:tav tm="22470">
                                          <p:val>
                                            <p:fltVal val="0.9046"/>
                                          </p:val>
                                        </p:tav>
                                        <p:tav tm="23600">
                                          <p:val>
                                            <p:fltVal val="0.9153"/>
                                          </p:val>
                                        </p:tav>
                                        <p:tav tm="24720">
                                          <p:val>
                                            <p:fltVal val="0.9362"/>
                                          </p:val>
                                        </p:tav>
                                        <p:tav tm="25840">
                                          <p:val>
                                            <p:fltVal val="0.9659"/>
                                          </p:val>
                                        </p:tav>
                                        <p:tav tm="26970">
                                          <p:val>
                                            <p:fltVal val="0.9858"/>
                                          </p:val>
                                        </p:tav>
                                        <p:tav tm="28090">
                                          <p:val>
                                            <p:fltVal val="0.9959"/>
                                          </p:val>
                                        </p:tav>
                                        <p:tav tm="29210">
                                          <p:val>
                                            <p:fltVal val="0.9995"/>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0.9998"/>
                                          </p:val>
                                        </p:tav>
                                        <p:tav tm="68540">
                                          <p:val>
                                            <p:fltVal val="0.9987"/>
                                          </p:val>
                                        </p:tav>
                                        <p:tav tm="69660">
                                          <p:val>
                                            <p:fltVal val="0.9955"/>
                                          </p:val>
                                        </p:tav>
                                        <p:tav tm="70790">
                                          <p:val>
                                            <p:fltVal val="0.9888"/>
                                          </p:val>
                                        </p:tav>
                                        <p:tav tm="71910">
                                          <p:val>
                                            <p:fltVal val="0.9775"/>
                                          </p:val>
                                        </p:tav>
                                        <p:tav tm="73030">
                                          <p:val>
                                            <p:fltVal val="0.9605"/>
                                          </p:val>
                                        </p:tav>
                                        <p:tav tm="74160">
                                          <p:val>
                                            <p:fltVal val="0.9385"/>
                                          </p:val>
                                        </p:tav>
                                        <p:tav tm="75280">
                                          <p:val>
                                            <p:fltVal val="0.9217"/>
                                          </p:val>
                                        </p:tav>
                                        <p:tav tm="76400">
                                          <p:val>
                                            <p:fltVal val="0.9107"/>
                                          </p:val>
                                        </p:tav>
                                        <p:tav tm="77530">
                                          <p:val>
                                            <p:fltVal val="0.9042"/>
                                          </p:val>
                                        </p:tav>
                                        <p:tav tm="78650">
                                          <p:val>
                                            <p:fltVal val="0.901"/>
                                          </p:val>
                                        </p:tav>
                                        <p:tav tm="79780">
                                          <p:val>
                                            <p:fltVal val="0.9"/>
                                          </p:val>
                                        </p:tav>
                                        <p:tav tm="80900">
                                          <p:val>
                                            <p:fltVal val="0.9"/>
                                          </p:val>
                                        </p:tav>
                                        <p:tav tm="82020">
                                          <p:val>
                                            <p:fltVal val="0.901"/>
                                          </p:val>
                                        </p:tav>
                                        <p:tav tm="83150">
                                          <p:val>
                                            <p:fltVal val="0.9061"/>
                                          </p:val>
                                        </p:tav>
                                        <p:tav tm="84270">
                                          <p:val>
                                            <p:fltVal val="0.9186"/>
                                          </p:val>
                                        </p:tav>
                                        <p:tav tm="85390">
                                          <p:val>
                                            <p:fltVal val="0.942"/>
                                          </p:val>
                                        </p:tav>
                                        <p:tav tm="86520">
                                          <p:val>
                                            <p:fltVal val="0.9709"/>
                                          </p:val>
                                        </p:tav>
                                        <p:tav tm="87640">
                                          <p:val>
                                            <p:fltVal val="0.9885"/>
                                          </p:val>
                                        </p:tav>
                                        <p:tav tm="88760">
                                          <p:val>
                                            <p:fltVal val="0.997"/>
                                          </p:val>
                                        </p:tav>
                                        <p:tav tm="89890">
                                          <p:val>
                                            <p:fltVal val="0.9997"/>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10" dur="2000" fill="hold"/>
                                        <p:tgtEl>
                                          <p:spTgt spid="8"/>
                                        </p:tgtEl>
                                        <p:attrNameLst>
                                          <p:attrName>3d.object.scale.z</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childTnLst>
                                </p:cTn>
                              </p:par>
                              <p:par>
                                <p:cTn id="11" presetID="37" presetClass="emph" presetSubtype="128" accel="10000" decel="10000" fill="hold" nodeType="withEffect">
                                  <p:stCondLst>
                                    <p:cond delay="0"/>
                                  </p:stCondLst>
                                  <p:childTnLst>
                                    <p:animRot by="21600000">
                                      <p:cBhvr>
                                        <p:cTn id="12" dur="20000" fill="hold"/>
                                        <p:tgtEl>
                                          <p:spTgt spid="6"/>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849B25-727D-64E0-0A90-2801535AF657}"/>
              </a:ext>
            </a:extLst>
          </p:cNvPr>
          <p:cNvSpPr>
            <a:spLocks noGrp="1"/>
          </p:cNvSpPr>
          <p:nvPr>
            <p:ph type="title"/>
          </p:nvPr>
        </p:nvSpPr>
        <p:spPr/>
        <p:txBody>
          <a:bodyPr/>
          <a:lstStyle/>
          <a:p>
            <a:r>
              <a:rPr lang="en-GB" dirty="0"/>
              <a:t>Data Types</a:t>
            </a:r>
          </a:p>
        </p:txBody>
      </p:sp>
      <p:sp>
        <p:nvSpPr>
          <p:cNvPr id="3" name="Content Placeholder 2">
            <a:extLst>
              <a:ext uri="{FF2B5EF4-FFF2-40B4-BE49-F238E27FC236}">
                <a16:creationId xmlns:a16="http://schemas.microsoft.com/office/drawing/2014/main" xmlns="" id="{D74A3066-5D28-6E2D-410E-6750E92FD4D9}"/>
              </a:ext>
            </a:extLst>
          </p:cNvPr>
          <p:cNvSpPr>
            <a:spLocks noGrp="1"/>
          </p:cNvSpPr>
          <p:nvPr>
            <p:ph idx="1"/>
          </p:nvPr>
        </p:nvSpPr>
        <p:spPr/>
        <p:txBody>
          <a:bodyPr/>
          <a:lstStyle/>
          <a:p>
            <a:r>
              <a:rPr lang="en-GB" dirty="0"/>
              <a:t>There are lots of data types available in programming – and we have already met many throughout this course.</a:t>
            </a:r>
          </a:p>
          <a:p>
            <a:r>
              <a:rPr lang="en-GB" dirty="0"/>
              <a:t>The most common data types are:</a:t>
            </a:r>
          </a:p>
          <a:p>
            <a:pPr lvl="1"/>
            <a:r>
              <a:rPr lang="en-GB" dirty="0"/>
              <a:t>String: Used to store a text value</a:t>
            </a:r>
          </a:p>
          <a:p>
            <a:pPr lvl="1"/>
            <a:r>
              <a:rPr lang="en-GB" dirty="0"/>
              <a:t>Char: Used to store a single character</a:t>
            </a:r>
          </a:p>
          <a:p>
            <a:pPr lvl="1"/>
            <a:r>
              <a:rPr lang="en-GB" dirty="0"/>
              <a:t>Int: Used to store a whole number</a:t>
            </a:r>
          </a:p>
          <a:p>
            <a:pPr lvl="1"/>
            <a:r>
              <a:rPr lang="en-GB" dirty="0"/>
              <a:t>Double: Used to store a number with a decimal point</a:t>
            </a:r>
          </a:p>
          <a:p>
            <a:pPr lvl="1"/>
            <a:r>
              <a:rPr lang="en-GB" dirty="0"/>
              <a:t>Bool: A yes or no/true or false value</a:t>
            </a:r>
          </a:p>
          <a:p>
            <a:pPr lvl="1"/>
            <a:r>
              <a:rPr lang="en-GB" dirty="0"/>
              <a:t>Date/Time: Used to store a date or time</a:t>
            </a:r>
          </a:p>
          <a:p>
            <a:endParaRPr lang="en-GB" dirty="0"/>
          </a:p>
        </p:txBody>
      </p:sp>
    </p:spTree>
    <p:extLst>
      <p:ext uri="{BB962C8B-B14F-4D97-AF65-F5344CB8AC3E}">
        <p14:creationId xmlns:p14="http://schemas.microsoft.com/office/powerpoint/2010/main" val="1869928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EAAFB8-015B-28C7-42CC-A676B5B28074}"/>
              </a:ext>
            </a:extLst>
          </p:cNvPr>
          <p:cNvSpPr>
            <a:spLocks noGrp="1"/>
          </p:cNvSpPr>
          <p:nvPr>
            <p:ph type="title"/>
          </p:nvPr>
        </p:nvSpPr>
        <p:spPr/>
        <p:txBody>
          <a:bodyPr/>
          <a:lstStyle/>
          <a:p>
            <a:r>
              <a:rPr lang="en-GB" dirty="0"/>
              <a:t>Variable Names</a:t>
            </a:r>
          </a:p>
        </p:txBody>
      </p:sp>
      <p:sp>
        <p:nvSpPr>
          <p:cNvPr id="3" name="Content Placeholder 2">
            <a:extLst>
              <a:ext uri="{FF2B5EF4-FFF2-40B4-BE49-F238E27FC236}">
                <a16:creationId xmlns:a16="http://schemas.microsoft.com/office/drawing/2014/main" xmlns="" id="{C3EAA570-FAAA-FD92-2960-20FE446751EA}"/>
              </a:ext>
            </a:extLst>
          </p:cNvPr>
          <p:cNvSpPr>
            <a:spLocks noGrp="1"/>
          </p:cNvSpPr>
          <p:nvPr>
            <p:ph idx="1"/>
          </p:nvPr>
        </p:nvSpPr>
        <p:spPr>
          <a:xfrm>
            <a:off x="239151" y="1690688"/>
            <a:ext cx="8803249" cy="4802187"/>
          </a:xfrm>
        </p:spPr>
        <p:txBody>
          <a:bodyPr>
            <a:normAutofit fontScale="92500" lnSpcReduction="20000"/>
          </a:bodyPr>
          <a:lstStyle/>
          <a:p>
            <a:r>
              <a:rPr lang="en-GB" dirty="0"/>
              <a:t>Computer programs require all variables and constants to be given a name in order to refer to them.</a:t>
            </a:r>
          </a:p>
          <a:p>
            <a:endParaRPr lang="en-GB" dirty="0"/>
          </a:p>
          <a:p>
            <a:r>
              <a:rPr lang="en-GB" dirty="0"/>
              <a:t>There are certain rules for variable names:</a:t>
            </a:r>
          </a:p>
          <a:p>
            <a:pPr lvl="1"/>
            <a:r>
              <a:rPr lang="en-GB" dirty="0"/>
              <a:t>No reserved words</a:t>
            </a:r>
          </a:p>
          <a:p>
            <a:pPr lvl="1"/>
            <a:r>
              <a:rPr lang="en-GB" dirty="0"/>
              <a:t>Cannot start with a digit (but digits can be used after the first character i.e. name1, n2ame, etc)</a:t>
            </a:r>
          </a:p>
          <a:p>
            <a:pPr lvl="1"/>
            <a:r>
              <a:rPr lang="en-GB" dirty="0"/>
              <a:t>Start with a letter, an underscore, or a dollar sign</a:t>
            </a:r>
          </a:p>
          <a:p>
            <a:pPr lvl="1"/>
            <a:r>
              <a:rPr lang="en-GB" dirty="0"/>
              <a:t>Should start with lower case.</a:t>
            </a:r>
          </a:p>
          <a:p>
            <a:endParaRPr lang="en-GB" dirty="0"/>
          </a:p>
          <a:p>
            <a:r>
              <a:rPr lang="en-GB" dirty="0"/>
              <a:t>Your variables should </a:t>
            </a:r>
            <a:r>
              <a:rPr lang="en-GB" u="sng" dirty="0"/>
              <a:t>always</a:t>
            </a:r>
            <a:r>
              <a:rPr lang="en-GB" dirty="0"/>
              <a:t> be meaningful. If each variable has a name that makes it clear what it’s being used for, it will make finding errors in your programs a lot easier.</a:t>
            </a:r>
          </a:p>
        </p:txBody>
      </p:sp>
      <p:pic>
        <p:nvPicPr>
          <p:cNvPr id="4" name="Picture 4" descr="Test Tubes Laboratory Clip Art, PNG, 5797x7000px, Test Tubes ...">
            <a:extLst>
              <a:ext uri="{FF2B5EF4-FFF2-40B4-BE49-F238E27FC236}">
                <a16:creationId xmlns:a16="http://schemas.microsoft.com/office/drawing/2014/main" xmlns="" id="{BEAD67FD-9B69-F5BB-EBC6-08D368C2B98D}"/>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99697" l="0" r="100000">
                        <a14:foregroundMark x1="48902" y1="3232" x2="51585" y2="83030"/>
                        <a14:foregroundMark x1="87195" y1="1818" x2="87683" y2="87273"/>
                        <a14:foregroundMark x1="39634" y1="2626" x2="59634" y2="1818"/>
                        <a14:foregroundMark x1="75732" y1="2424" x2="98171" y2="2020"/>
                        <a14:foregroundMark x1="78902" y1="62424" x2="92317" y2="63232"/>
                        <a14:foregroundMark x1="92561" y1="45859" x2="91585" y2="89091"/>
                        <a14:foregroundMark x1="42561" y1="23636" x2="55732" y2="26667"/>
                        <a14:foregroundMark x1="40122" y1="8283" x2="42317" y2="90505"/>
                        <a14:foregroundMark x1="48171" y1="94343" x2="57195" y2="92121"/>
                        <a14:foregroundMark x1="56707" y1="88687" x2="56707" y2="43636"/>
                        <a14:foregroundMark x1="45488" y1="42020" x2="46463" y2="93535"/>
                        <a14:foregroundMark x1="40122" y1="90101" x2="40122" y2="60000"/>
                        <a14:foregroundMark x1="58659" y1="43838" x2="58902" y2="90505"/>
                        <a14:foregroundMark x1="78902" y1="7879" x2="79634" y2="36970"/>
                        <a14:foregroundMark x1="96463" y1="7071" x2="95488" y2="90707"/>
                        <a14:foregroundMark x1="82317" y1="46667" x2="83049" y2="93535"/>
                        <a14:foregroundMark x1="75732" y1="69495" x2="76220" y2="33535"/>
                        <a14:foregroundMark x1="60610" y1="90303" x2="59634" y2="53333"/>
                        <a14:foregroundMark x1="39390" y1="59798" x2="39878" y2="31111"/>
                        <a14:foregroundMark x1="60854" y1="65455" x2="60366" y2="28081"/>
                        <a14:foregroundMark x1="96951" y1="90909" x2="97927" y2="33737"/>
                      </a14:backgroundRemoval>
                    </a14:imgEffect>
                  </a14:imgLayer>
                </a14:imgProps>
              </a:ext>
              <a:ext uri="{28A0092B-C50C-407E-A947-70E740481C1C}">
                <a14:useLocalDpi xmlns:a14="http://schemas.microsoft.com/office/drawing/2010/main" val="0"/>
              </a:ext>
            </a:extLst>
          </a:blip>
          <a:srcRect/>
          <a:stretch>
            <a:fillRect/>
          </a:stretch>
        </p:blipFill>
        <p:spPr bwMode="auto">
          <a:xfrm>
            <a:off x="9136008" y="2391861"/>
            <a:ext cx="2528550" cy="305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028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8D8126-6C54-F6D8-A004-2274D7BD27C4}"/>
              </a:ext>
            </a:extLst>
          </p:cNvPr>
          <p:cNvSpPr>
            <a:spLocks noGrp="1"/>
          </p:cNvSpPr>
          <p:nvPr>
            <p:ph type="title"/>
          </p:nvPr>
        </p:nvSpPr>
        <p:spPr/>
        <p:txBody>
          <a:bodyPr/>
          <a:lstStyle/>
          <a:p>
            <a:r>
              <a:rPr lang="en-GB" dirty="0"/>
              <a:t>camelCase</a:t>
            </a:r>
          </a:p>
        </p:txBody>
      </p:sp>
      <p:sp>
        <p:nvSpPr>
          <p:cNvPr id="3" name="Content Placeholder 2">
            <a:extLst>
              <a:ext uri="{FF2B5EF4-FFF2-40B4-BE49-F238E27FC236}">
                <a16:creationId xmlns:a16="http://schemas.microsoft.com/office/drawing/2014/main" xmlns="" id="{99C7135C-4310-86DA-D7B9-59E8B86ADA4B}"/>
              </a:ext>
            </a:extLst>
          </p:cNvPr>
          <p:cNvSpPr>
            <a:spLocks noGrp="1"/>
          </p:cNvSpPr>
          <p:nvPr>
            <p:ph idx="1"/>
          </p:nvPr>
        </p:nvSpPr>
        <p:spPr>
          <a:xfrm>
            <a:off x="-1" y="1420837"/>
            <a:ext cx="12027877" cy="4756126"/>
          </a:xfrm>
        </p:spPr>
        <p:txBody>
          <a:bodyPr/>
          <a:lstStyle/>
          <a:p>
            <a:r>
              <a:rPr lang="en-GB" dirty="0"/>
              <a:t>There are  a number of different naming conventions that are available in programming, and for some languages it is more common to see these than others. </a:t>
            </a:r>
          </a:p>
          <a:p>
            <a:r>
              <a:rPr lang="en-GB" dirty="0"/>
              <a:t>When we write variables, when we use compound words or phrases</a:t>
            </a:r>
          </a:p>
          <a:p>
            <a:r>
              <a:rPr lang="en-GB" dirty="0"/>
              <a:t>Each new variable starts with a lower-case letter, and then subsequent abbreviation/next word begins with a capital letter.</a:t>
            </a:r>
          </a:p>
          <a:p>
            <a:endParaRPr lang="en-GB" dirty="0"/>
          </a:p>
        </p:txBody>
      </p:sp>
      <p:pic>
        <p:nvPicPr>
          <p:cNvPr id="4" name="Picture 2" descr="Egypt Cracks Down on Camel Abuse - Sada El balad">
            <a:extLst>
              <a:ext uri="{FF2B5EF4-FFF2-40B4-BE49-F238E27FC236}">
                <a16:creationId xmlns:a16="http://schemas.microsoft.com/office/drawing/2014/main" xmlns="" id="{956B8E7B-F6E6-00A7-88EA-65FD9B9BD57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6404" b="81445" l="2846" r="97832">
                        <a14:foregroundMark x1="96883" y1="53366" x2="67005" y2="61412"/>
                        <a14:foregroundMark x1="67005" y1="61412" x2="11518" y2="57635"/>
                        <a14:foregroundMark x1="11518" y1="57635" x2="4201" y2="58128"/>
                        <a14:foregroundMark x1="2846" y1="62233" x2="18089" y2="65353"/>
                        <a14:foregroundMark x1="11518" y1="68144" x2="19715" y2="78489"/>
                        <a14:foregroundMark x1="19715" y1="78489" x2="20528" y2="81773"/>
                        <a14:foregroundMark x1="67344" y1="47291" x2="53591" y2="48604"/>
                        <a14:foregroundMark x1="78455" y1="15435" x2="83062" y2="22496"/>
                        <a14:foregroundMark x1="90108" y1="25287" x2="88550" y2="21346"/>
                        <a14:foregroundMark x1="89973" y1="32841" x2="88686" y2="31363"/>
                        <a14:foregroundMark x1="97832" y1="52874" x2="87331" y2="60263"/>
                        <a14:foregroundMark x1="78049" y1="61412" x2="97561" y2="61412"/>
                      </a14:backgroundRemoval>
                    </a14:imgEffect>
                  </a14:imgLayer>
                </a14:imgProps>
              </a:ext>
              <a:ext uri="{28A0092B-C50C-407E-A947-70E740481C1C}">
                <a14:useLocalDpi xmlns:a14="http://schemas.microsoft.com/office/drawing/2010/main" val="0"/>
              </a:ext>
            </a:extLst>
          </a:blip>
          <a:srcRect b="34515"/>
          <a:stretch/>
        </p:blipFill>
        <p:spPr bwMode="auto">
          <a:xfrm flipH="1">
            <a:off x="1" y="3549535"/>
            <a:ext cx="12191999" cy="3308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579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01F6F1-479A-23B7-95D1-FB18BE8633B9}"/>
              </a:ext>
            </a:extLst>
          </p:cNvPr>
          <p:cNvSpPr>
            <a:spLocks noGrp="1"/>
          </p:cNvSpPr>
          <p:nvPr>
            <p:ph type="title"/>
          </p:nvPr>
        </p:nvSpPr>
        <p:spPr/>
        <p:txBody>
          <a:bodyPr/>
          <a:lstStyle/>
          <a:p>
            <a:r>
              <a:rPr lang="en-GB" dirty="0"/>
              <a:t>Hello, World!</a:t>
            </a:r>
          </a:p>
        </p:txBody>
      </p:sp>
      <p:sp>
        <p:nvSpPr>
          <p:cNvPr id="3" name="Content Placeholder 2">
            <a:extLst>
              <a:ext uri="{FF2B5EF4-FFF2-40B4-BE49-F238E27FC236}">
                <a16:creationId xmlns:a16="http://schemas.microsoft.com/office/drawing/2014/main" xmlns="" id="{DB6F812A-223D-E15C-055E-39236857C9A6}"/>
              </a:ext>
            </a:extLst>
          </p:cNvPr>
          <p:cNvSpPr>
            <a:spLocks noGrp="1"/>
          </p:cNvSpPr>
          <p:nvPr>
            <p:ph idx="1"/>
          </p:nvPr>
        </p:nvSpPr>
        <p:spPr>
          <a:xfrm>
            <a:off x="239151" y="2532185"/>
            <a:ext cx="11802794" cy="3960690"/>
          </a:xfrm>
        </p:spPr>
        <p:txBody>
          <a:bodyPr>
            <a:normAutofit lnSpcReduction="10000"/>
          </a:bodyPr>
          <a:lstStyle/>
          <a:p>
            <a:r>
              <a:rPr lang="en-GB" dirty="0"/>
              <a:t>This is one of the easiest and most common ‘first programs’ you will see when learning any programming language.</a:t>
            </a:r>
          </a:p>
          <a:p>
            <a:endParaRPr lang="en-GB" dirty="0"/>
          </a:p>
          <a:p>
            <a:r>
              <a:rPr lang="en-GB" dirty="0"/>
              <a:t>From here, we can start adding more features, including adding user input. And then even adding storing this data into a text file.</a:t>
            </a:r>
          </a:p>
          <a:p>
            <a:endParaRPr lang="en-GB" dirty="0"/>
          </a:p>
          <a:p>
            <a:r>
              <a:rPr lang="en-GB" dirty="0"/>
              <a:t>This can then progress to </a:t>
            </a:r>
            <a:r>
              <a:rPr lang="en-GB" i="1" dirty="0"/>
              <a:t>decision making</a:t>
            </a:r>
            <a:r>
              <a:rPr lang="en-GB" dirty="0"/>
              <a:t> by using </a:t>
            </a:r>
            <a:r>
              <a:rPr lang="en-GB" b="1" dirty="0"/>
              <a:t>conditions</a:t>
            </a:r>
            <a:r>
              <a:rPr lang="en-GB" dirty="0"/>
              <a:t> – i.e. asking questions (if statements), or repeating tasks using </a:t>
            </a:r>
            <a:r>
              <a:rPr lang="en-GB" b="1" dirty="0"/>
              <a:t>repetition</a:t>
            </a:r>
            <a:r>
              <a:rPr lang="en-GB" dirty="0"/>
              <a:t> – i.e. loops</a:t>
            </a:r>
          </a:p>
          <a:p>
            <a:endParaRPr lang="en-GB" dirty="0"/>
          </a:p>
        </p:txBody>
      </p:sp>
    </p:spTree>
    <p:extLst>
      <p:ext uri="{BB962C8B-B14F-4D97-AF65-F5344CB8AC3E}">
        <p14:creationId xmlns:p14="http://schemas.microsoft.com/office/powerpoint/2010/main" val="386888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848680-D279-ECEE-0B33-8E745E792BC5}"/>
              </a:ext>
            </a:extLst>
          </p:cNvPr>
          <p:cNvSpPr>
            <a:spLocks noGrp="1"/>
          </p:cNvSpPr>
          <p:nvPr>
            <p:ph type="title"/>
          </p:nvPr>
        </p:nvSpPr>
        <p:spPr/>
        <p:txBody>
          <a:bodyPr/>
          <a:lstStyle/>
          <a:p>
            <a:r>
              <a:rPr lang="en-GB" dirty="0">
                <a:solidFill>
                  <a:schemeClr val="bg1">
                    <a:lumMod val="95000"/>
                  </a:schemeClr>
                </a:solidFill>
              </a:rPr>
              <a:t>Developing Programs</a:t>
            </a:r>
          </a:p>
        </p:txBody>
      </p:sp>
      <p:sp>
        <p:nvSpPr>
          <p:cNvPr id="3" name="Content Placeholder 2">
            <a:extLst>
              <a:ext uri="{FF2B5EF4-FFF2-40B4-BE49-F238E27FC236}">
                <a16:creationId xmlns:a16="http://schemas.microsoft.com/office/drawing/2014/main" xmlns="" id="{E60A27FC-5AAA-164D-B63B-351510EF80E4}"/>
              </a:ext>
            </a:extLst>
          </p:cNvPr>
          <p:cNvSpPr>
            <a:spLocks noGrp="1"/>
          </p:cNvSpPr>
          <p:nvPr>
            <p:ph idx="1"/>
          </p:nvPr>
        </p:nvSpPr>
        <p:spPr>
          <a:xfrm>
            <a:off x="309489" y="1825624"/>
            <a:ext cx="7033846" cy="4772123"/>
          </a:xfrm>
        </p:spPr>
        <p:txBody>
          <a:bodyPr>
            <a:normAutofit/>
          </a:bodyPr>
          <a:lstStyle/>
          <a:p>
            <a:r>
              <a:rPr lang="en-GB" sz="3200" dirty="0">
                <a:solidFill>
                  <a:schemeClr val="bg1">
                    <a:lumMod val="95000"/>
                  </a:schemeClr>
                </a:solidFill>
              </a:rPr>
              <a:t>It is important to know that when you have a BIG or COMPLEX problem, that programmers don’t magically come up with a solution. </a:t>
            </a:r>
          </a:p>
          <a:p>
            <a:endParaRPr lang="en-GB" sz="3200" dirty="0">
              <a:solidFill>
                <a:schemeClr val="bg1">
                  <a:lumMod val="95000"/>
                </a:schemeClr>
              </a:solidFill>
            </a:endParaRPr>
          </a:p>
          <a:p>
            <a:r>
              <a:rPr lang="en-GB" sz="3200" dirty="0">
                <a:solidFill>
                  <a:schemeClr val="bg1">
                    <a:lumMod val="95000"/>
                  </a:schemeClr>
                </a:solidFill>
              </a:rPr>
              <a:t>Programmers and Computer Scientists use different ways to design and implement their code in order to ‘solve’ the bigger problem.</a:t>
            </a:r>
          </a:p>
          <a:p>
            <a:endParaRPr lang="en-GB" sz="3200" dirty="0"/>
          </a:p>
          <a:p>
            <a:endParaRPr lang="en-GB" sz="3200" dirty="0"/>
          </a:p>
        </p:txBody>
      </p:sp>
      <p:pic>
        <p:nvPicPr>
          <p:cNvPr id="4" name="3D Model 3" descr="Void Storm Vortex Card">
            <a:extLst>
              <a:ext uri="{FF2B5EF4-FFF2-40B4-BE49-F238E27FC236}">
                <a16:creationId xmlns:a16="http://schemas.microsoft.com/office/drawing/2014/main" xmlns="" id="{4A0ACB0C-79C1-6EDA-86EC-1BE9DE76AA64}"/>
              </a:ext>
            </a:extLst>
          </p:cNvPr>
          <p:cNvPicPr>
            <a:picLocks noGrp="1" noRot="1" noChangeAspect="1" noMove="1" noResize="1" noEditPoints="1" noAdjustHandles="1" noChangeArrowheads="1" noChangeShapeType="1" noCrop="1"/>
          </p:cNvPicPr>
          <p:nvPr/>
        </p:nvPicPr>
        <p:blipFill>
          <a:blip r:embed="rId4"/>
          <a:stretch>
            <a:fillRect/>
          </a:stretch>
        </p:blipFill>
        <p:spPr>
          <a:xfrm>
            <a:off x="7256112" y="1231580"/>
            <a:ext cx="4626399" cy="4626399"/>
          </a:xfrm>
          <a:prstGeom prst="rect">
            <a:avLst/>
          </a:prstGeom>
        </p:spPr>
      </p:pic>
    </p:spTree>
    <p:extLst>
      <p:ext uri="{BB962C8B-B14F-4D97-AF65-F5344CB8AC3E}">
        <p14:creationId xmlns:p14="http://schemas.microsoft.com/office/powerpoint/2010/main" val="965818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74DD5C-69E4-35AD-F8FE-FC82995062F8}"/>
              </a:ext>
            </a:extLst>
          </p:cNvPr>
          <p:cNvSpPr>
            <a:spLocks noGrp="1"/>
          </p:cNvSpPr>
          <p:nvPr>
            <p:ph type="title"/>
          </p:nvPr>
        </p:nvSpPr>
        <p:spPr/>
        <p:txBody>
          <a:bodyPr/>
          <a:lstStyle/>
          <a:p>
            <a:r>
              <a:rPr lang="en-GB" dirty="0"/>
              <a:t>Programming Paradigms</a:t>
            </a:r>
          </a:p>
        </p:txBody>
      </p:sp>
      <p:sp>
        <p:nvSpPr>
          <p:cNvPr id="3" name="Content Placeholder 2">
            <a:extLst>
              <a:ext uri="{FF2B5EF4-FFF2-40B4-BE49-F238E27FC236}">
                <a16:creationId xmlns:a16="http://schemas.microsoft.com/office/drawing/2014/main" xmlns="" id="{9FF6F974-F4E8-94A7-7C15-E3DF7866A5F3}"/>
              </a:ext>
            </a:extLst>
          </p:cNvPr>
          <p:cNvSpPr>
            <a:spLocks noGrp="1"/>
          </p:cNvSpPr>
          <p:nvPr>
            <p:ph idx="1"/>
          </p:nvPr>
        </p:nvSpPr>
        <p:spPr>
          <a:xfrm>
            <a:off x="365759" y="1690688"/>
            <a:ext cx="11479237" cy="4802187"/>
          </a:xfrm>
        </p:spPr>
        <p:txBody>
          <a:bodyPr/>
          <a:lstStyle/>
          <a:p>
            <a:r>
              <a:rPr lang="en-GB" dirty="0"/>
              <a:t>A </a:t>
            </a:r>
            <a:r>
              <a:rPr lang="en-GB" b="1" dirty="0"/>
              <a:t>program</a:t>
            </a:r>
            <a:r>
              <a:rPr lang="en-GB" dirty="0"/>
              <a:t> in its simplest form is a set of instructions that tells a computer what to do in order to solve a particular problem</a:t>
            </a:r>
          </a:p>
          <a:p>
            <a:r>
              <a:rPr lang="en-GB" dirty="0"/>
              <a:t>There are a number of approaches to the programming process, and these are known as </a:t>
            </a:r>
            <a:r>
              <a:rPr lang="en-GB" b="1" dirty="0"/>
              <a:t>programming paradigms</a:t>
            </a:r>
            <a:r>
              <a:rPr lang="en-GB" dirty="0"/>
              <a:t>.</a:t>
            </a:r>
          </a:p>
          <a:p>
            <a:pPr lvl="1"/>
            <a:r>
              <a:rPr lang="en-GB" dirty="0"/>
              <a:t>Each adopts a different approach to programming/coding a solution</a:t>
            </a:r>
          </a:p>
          <a:p>
            <a:pPr lvl="1"/>
            <a:r>
              <a:rPr lang="en-GB" dirty="0"/>
              <a:t>Two of the most important paradigms are:</a:t>
            </a:r>
          </a:p>
          <a:p>
            <a:pPr lvl="2"/>
            <a:r>
              <a:rPr lang="en-GB" b="1" dirty="0"/>
              <a:t>Procedural paradigm</a:t>
            </a:r>
          </a:p>
          <a:p>
            <a:pPr lvl="2"/>
            <a:r>
              <a:rPr lang="en-GB" b="1" dirty="0"/>
              <a:t>Object Orientated paradigm</a:t>
            </a:r>
          </a:p>
          <a:p>
            <a:endParaRPr lang="en-GB" dirty="0"/>
          </a:p>
        </p:txBody>
      </p:sp>
    </p:spTree>
    <p:extLst>
      <p:ext uri="{BB962C8B-B14F-4D97-AF65-F5344CB8AC3E}">
        <p14:creationId xmlns:p14="http://schemas.microsoft.com/office/powerpoint/2010/main" val="2582511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7DE600-23F1-C5D2-C4A8-47E1FE8A9667}"/>
              </a:ext>
            </a:extLst>
          </p:cNvPr>
          <p:cNvSpPr>
            <a:spLocks noGrp="1"/>
          </p:cNvSpPr>
          <p:nvPr>
            <p:ph type="title"/>
          </p:nvPr>
        </p:nvSpPr>
        <p:spPr>
          <a:xfrm>
            <a:off x="0" y="6569"/>
            <a:ext cx="6729248" cy="793531"/>
          </a:xfrm>
        </p:spPr>
        <p:txBody>
          <a:bodyPr>
            <a:normAutofit/>
          </a:bodyPr>
          <a:lstStyle/>
          <a:p>
            <a:r>
              <a:rPr lang="en-GB" sz="3200" dirty="0"/>
              <a:t>Procedural Programming</a:t>
            </a:r>
          </a:p>
        </p:txBody>
      </p:sp>
      <p:sp>
        <p:nvSpPr>
          <p:cNvPr id="3" name="Content Placeholder 2">
            <a:extLst>
              <a:ext uri="{FF2B5EF4-FFF2-40B4-BE49-F238E27FC236}">
                <a16:creationId xmlns:a16="http://schemas.microsoft.com/office/drawing/2014/main" xmlns="" id="{417B28AE-CB79-F953-9E2D-0D3BA33FF314}"/>
              </a:ext>
            </a:extLst>
          </p:cNvPr>
          <p:cNvSpPr>
            <a:spLocks noGrp="1"/>
          </p:cNvSpPr>
          <p:nvPr>
            <p:ph idx="1"/>
          </p:nvPr>
        </p:nvSpPr>
        <p:spPr>
          <a:xfrm>
            <a:off x="187872" y="800100"/>
            <a:ext cx="6206360" cy="5613399"/>
          </a:xfrm>
        </p:spPr>
        <p:txBody>
          <a:bodyPr>
            <a:normAutofit fontScale="92500" lnSpcReduction="20000"/>
          </a:bodyPr>
          <a:lstStyle/>
          <a:p>
            <a:r>
              <a:rPr lang="en-GB" dirty="0"/>
              <a:t>Relies on implementing procedures (aka </a:t>
            </a:r>
            <a:r>
              <a:rPr lang="en-GB" b="1" dirty="0"/>
              <a:t>functions</a:t>
            </a:r>
            <a:r>
              <a:rPr lang="en-GB" dirty="0"/>
              <a:t> or sub-routines)</a:t>
            </a:r>
          </a:p>
          <a:p>
            <a:pPr marL="1079500" indent="0">
              <a:buNone/>
            </a:pPr>
            <a:r>
              <a:rPr lang="en-US" b="1" dirty="0">
                <a:solidFill>
                  <a:srgbClr val="07E073"/>
                </a:solidFill>
              </a:rPr>
              <a:t>Procedure</a:t>
            </a:r>
            <a:r>
              <a:rPr lang="en-US" dirty="0"/>
              <a:t>: A named subroutine or block of code written to perform a specific task, which can return a value and have parameters.</a:t>
            </a:r>
          </a:p>
          <a:p>
            <a:pPr marL="1079500" indent="0">
              <a:buNone/>
            </a:pPr>
            <a:endParaRPr lang="en-US" dirty="0"/>
          </a:p>
          <a:p>
            <a:r>
              <a:rPr lang="en-GB" b="1" dirty="0">
                <a:solidFill>
                  <a:srgbClr val="07E073"/>
                </a:solidFill>
              </a:rPr>
              <a:t>Top-down</a:t>
            </a:r>
            <a:r>
              <a:rPr lang="en-GB" dirty="0"/>
              <a:t> design involves breaking a complex problem down into smaller sub-problems</a:t>
            </a:r>
          </a:p>
          <a:p>
            <a:pPr lvl="1"/>
            <a:r>
              <a:rPr lang="en-GB" dirty="0"/>
              <a:t>Includes variables, data structures and programming structures</a:t>
            </a:r>
          </a:p>
          <a:p>
            <a:pPr lvl="1"/>
            <a:r>
              <a:rPr lang="en-GB" dirty="0"/>
              <a:t>Important to have functions in order of running.</a:t>
            </a:r>
          </a:p>
          <a:p>
            <a:pPr lvl="1"/>
            <a:r>
              <a:rPr lang="en-GB" dirty="0"/>
              <a:t>A program is made up of a number of functions/procedures which can be called repeatedly</a:t>
            </a:r>
          </a:p>
          <a:p>
            <a:endParaRPr lang="en-GB" dirty="0"/>
          </a:p>
        </p:txBody>
      </p:sp>
      <p:sp>
        <p:nvSpPr>
          <p:cNvPr id="4" name="Rectangle 3">
            <a:extLst>
              <a:ext uri="{FF2B5EF4-FFF2-40B4-BE49-F238E27FC236}">
                <a16:creationId xmlns:a16="http://schemas.microsoft.com/office/drawing/2014/main" xmlns="" id="{7FA4A08C-08E3-1640-9B53-0CECE049A627}"/>
              </a:ext>
            </a:extLst>
          </p:cNvPr>
          <p:cNvSpPr/>
          <p:nvPr/>
        </p:nvSpPr>
        <p:spPr>
          <a:xfrm>
            <a:off x="6531304" y="197069"/>
            <a:ext cx="5609896" cy="6495393"/>
          </a:xfrm>
          <a:custGeom>
            <a:avLst/>
            <a:gdLst>
              <a:gd name="connsiteX0" fmla="*/ 0 w 5609896"/>
              <a:gd name="connsiteY0" fmla="*/ 0 h 6495393"/>
              <a:gd name="connsiteX1" fmla="*/ 504891 w 5609896"/>
              <a:gd name="connsiteY1" fmla="*/ 0 h 6495393"/>
              <a:gd name="connsiteX2" fmla="*/ 953682 w 5609896"/>
              <a:gd name="connsiteY2" fmla="*/ 0 h 6495393"/>
              <a:gd name="connsiteX3" fmla="*/ 1570771 w 5609896"/>
              <a:gd name="connsiteY3" fmla="*/ 0 h 6495393"/>
              <a:gd name="connsiteX4" fmla="*/ 2187859 w 5609896"/>
              <a:gd name="connsiteY4" fmla="*/ 0 h 6495393"/>
              <a:gd name="connsiteX5" fmla="*/ 2580552 w 5609896"/>
              <a:gd name="connsiteY5" fmla="*/ 0 h 6495393"/>
              <a:gd name="connsiteX6" fmla="*/ 3197641 w 5609896"/>
              <a:gd name="connsiteY6" fmla="*/ 0 h 6495393"/>
              <a:gd name="connsiteX7" fmla="*/ 3590333 w 5609896"/>
              <a:gd name="connsiteY7" fmla="*/ 0 h 6495393"/>
              <a:gd name="connsiteX8" fmla="*/ 4039125 w 5609896"/>
              <a:gd name="connsiteY8" fmla="*/ 0 h 6495393"/>
              <a:gd name="connsiteX9" fmla="*/ 4656214 w 5609896"/>
              <a:gd name="connsiteY9" fmla="*/ 0 h 6495393"/>
              <a:gd name="connsiteX10" fmla="*/ 5048906 w 5609896"/>
              <a:gd name="connsiteY10" fmla="*/ 0 h 6495393"/>
              <a:gd name="connsiteX11" fmla="*/ 5609896 w 5609896"/>
              <a:gd name="connsiteY11" fmla="*/ 0 h 6495393"/>
              <a:gd name="connsiteX12" fmla="*/ 5609896 w 5609896"/>
              <a:gd name="connsiteY12" fmla="*/ 655444 h 6495393"/>
              <a:gd name="connsiteX13" fmla="*/ 5609896 w 5609896"/>
              <a:gd name="connsiteY13" fmla="*/ 1375842 h 6495393"/>
              <a:gd name="connsiteX14" fmla="*/ 5609896 w 5609896"/>
              <a:gd name="connsiteY14" fmla="*/ 2096240 h 6495393"/>
              <a:gd name="connsiteX15" fmla="*/ 5609896 w 5609896"/>
              <a:gd name="connsiteY15" fmla="*/ 2816639 h 6495393"/>
              <a:gd name="connsiteX16" fmla="*/ 5609896 w 5609896"/>
              <a:gd name="connsiteY16" fmla="*/ 3277221 h 6495393"/>
              <a:gd name="connsiteX17" fmla="*/ 5609896 w 5609896"/>
              <a:gd name="connsiteY17" fmla="*/ 3997619 h 6495393"/>
              <a:gd name="connsiteX18" fmla="*/ 5609896 w 5609896"/>
              <a:gd name="connsiteY18" fmla="*/ 4458202 h 6495393"/>
              <a:gd name="connsiteX19" fmla="*/ 5609896 w 5609896"/>
              <a:gd name="connsiteY19" fmla="*/ 4918784 h 6495393"/>
              <a:gd name="connsiteX20" fmla="*/ 5609896 w 5609896"/>
              <a:gd name="connsiteY20" fmla="*/ 5639182 h 6495393"/>
              <a:gd name="connsiteX21" fmla="*/ 5609896 w 5609896"/>
              <a:gd name="connsiteY21" fmla="*/ 6495393 h 6495393"/>
              <a:gd name="connsiteX22" fmla="*/ 5161104 w 5609896"/>
              <a:gd name="connsiteY22" fmla="*/ 6495393 h 6495393"/>
              <a:gd name="connsiteX23" fmla="*/ 4487917 w 5609896"/>
              <a:gd name="connsiteY23" fmla="*/ 6495393 h 6495393"/>
              <a:gd name="connsiteX24" fmla="*/ 3926927 w 5609896"/>
              <a:gd name="connsiteY24" fmla="*/ 6495393 h 6495393"/>
              <a:gd name="connsiteX25" fmla="*/ 3478136 w 5609896"/>
              <a:gd name="connsiteY25" fmla="*/ 6495393 h 6495393"/>
              <a:gd name="connsiteX26" fmla="*/ 2973245 w 5609896"/>
              <a:gd name="connsiteY26" fmla="*/ 6495393 h 6495393"/>
              <a:gd name="connsiteX27" fmla="*/ 2412255 w 5609896"/>
              <a:gd name="connsiteY27" fmla="*/ 6495393 h 6495393"/>
              <a:gd name="connsiteX28" fmla="*/ 2019563 w 5609896"/>
              <a:gd name="connsiteY28" fmla="*/ 6495393 h 6495393"/>
              <a:gd name="connsiteX29" fmla="*/ 1402474 w 5609896"/>
              <a:gd name="connsiteY29" fmla="*/ 6495393 h 6495393"/>
              <a:gd name="connsiteX30" fmla="*/ 785385 w 5609896"/>
              <a:gd name="connsiteY30" fmla="*/ 6495393 h 6495393"/>
              <a:gd name="connsiteX31" fmla="*/ 0 w 5609896"/>
              <a:gd name="connsiteY31" fmla="*/ 6495393 h 6495393"/>
              <a:gd name="connsiteX32" fmla="*/ 0 w 5609896"/>
              <a:gd name="connsiteY32" fmla="*/ 5839949 h 6495393"/>
              <a:gd name="connsiteX33" fmla="*/ 0 w 5609896"/>
              <a:gd name="connsiteY33" fmla="*/ 5119551 h 6495393"/>
              <a:gd name="connsiteX34" fmla="*/ 0 w 5609896"/>
              <a:gd name="connsiteY34" fmla="*/ 4723922 h 6495393"/>
              <a:gd name="connsiteX35" fmla="*/ 0 w 5609896"/>
              <a:gd name="connsiteY35" fmla="*/ 4133432 h 6495393"/>
              <a:gd name="connsiteX36" fmla="*/ 0 w 5609896"/>
              <a:gd name="connsiteY36" fmla="*/ 3607896 h 6495393"/>
              <a:gd name="connsiteX37" fmla="*/ 0 w 5609896"/>
              <a:gd name="connsiteY37" fmla="*/ 2952451 h 6495393"/>
              <a:gd name="connsiteX38" fmla="*/ 0 w 5609896"/>
              <a:gd name="connsiteY38" fmla="*/ 2297007 h 6495393"/>
              <a:gd name="connsiteX39" fmla="*/ 0 w 5609896"/>
              <a:gd name="connsiteY39" fmla="*/ 1641563 h 6495393"/>
              <a:gd name="connsiteX40" fmla="*/ 0 w 5609896"/>
              <a:gd name="connsiteY40" fmla="*/ 1245934 h 6495393"/>
              <a:gd name="connsiteX41" fmla="*/ 0 w 5609896"/>
              <a:gd name="connsiteY41" fmla="*/ 785352 h 6495393"/>
              <a:gd name="connsiteX42" fmla="*/ 0 w 5609896"/>
              <a:gd name="connsiteY42" fmla="*/ 0 h 649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609896" h="6495393" fill="none" extrusionOk="0">
                <a:moveTo>
                  <a:pt x="0" y="0"/>
                </a:moveTo>
                <a:cubicBezTo>
                  <a:pt x="177524" y="-9247"/>
                  <a:pt x="361477" y="15606"/>
                  <a:pt x="504891" y="0"/>
                </a:cubicBezTo>
                <a:cubicBezTo>
                  <a:pt x="648305" y="-15606"/>
                  <a:pt x="757431" y="19677"/>
                  <a:pt x="953682" y="0"/>
                </a:cubicBezTo>
                <a:cubicBezTo>
                  <a:pt x="1149933" y="-19677"/>
                  <a:pt x="1380467" y="54218"/>
                  <a:pt x="1570771" y="0"/>
                </a:cubicBezTo>
                <a:cubicBezTo>
                  <a:pt x="1761075" y="-54218"/>
                  <a:pt x="2001385" y="23174"/>
                  <a:pt x="2187859" y="0"/>
                </a:cubicBezTo>
                <a:cubicBezTo>
                  <a:pt x="2374333" y="-23174"/>
                  <a:pt x="2470702" y="20218"/>
                  <a:pt x="2580552" y="0"/>
                </a:cubicBezTo>
                <a:cubicBezTo>
                  <a:pt x="2690402" y="-20218"/>
                  <a:pt x="2980059" y="40735"/>
                  <a:pt x="3197641" y="0"/>
                </a:cubicBezTo>
                <a:cubicBezTo>
                  <a:pt x="3415223" y="-40735"/>
                  <a:pt x="3437973" y="31788"/>
                  <a:pt x="3590333" y="0"/>
                </a:cubicBezTo>
                <a:cubicBezTo>
                  <a:pt x="3742693" y="-31788"/>
                  <a:pt x="3826832" y="6099"/>
                  <a:pt x="4039125" y="0"/>
                </a:cubicBezTo>
                <a:cubicBezTo>
                  <a:pt x="4251418" y="-6099"/>
                  <a:pt x="4363374" y="6051"/>
                  <a:pt x="4656214" y="0"/>
                </a:cubicBezTo>
                <a:cubicBezTo>
                  <a:pt x="4949054" y="-6051"/>
                  <a:pt x="4941309" y="20790"/>
                  <a:pt x="5048906" y="0"/>
                </a:cubicBezTo>
                <a:cubicBezTo>
                  <a:pt x="5156503" y="-20790"/>
                  <a:pt x="5465078" y="51764"/>
                  <a:pt x="5609896" y="0"/>
                </a:cubicBezTo>
                <a:cubicBezTo>
                  <a:pt x="5643137" y="263334"/>
                  <a:pt x="5563971" y="456562"/>
                  <a:pt x="5609896" y="655444"/>
                </a:cubicBezTo>
                <a:cubicBezTo>
                  <a:pt x="5655821" y="854326"/>
                  <a:pt x="5574287" y="1219795"/>
                  <a:pt x="5609896" y="1375842"/>
                </a:cubicBezTo>
                <a:cubicBezTo>
                  <a:pt x="5645505" y="1531889"/>
                  <a:pt x="5544121" y="1805838"/>
                  <a:pt x="5609896" y="2096240"/>
                </a:cubicBezTo>
                <a:cubicBezTo>
                  <a:pt x="5675671" y="2386642"/>
                  <a:pt x="5608761" y="2488073"/>
                  <a:pt x="5609896" y="2816639"/>
                </a:cubicBezTo>
                <a:cubicBezTo>
                  <a:pt x="5611031" y="3145205"/>
                  <a:pt x="5579246" y="3069843"/>
                  <a:pt x="5609896" y="3277221"/>
                </a:cubicBezTo>
                <a:cubicBezTo>
                  <a:pt x="5640546" y="3484599"/>
                  <a:pt x="5552885" y="3710467"/>
                  <a:pt x="5609896" y="3997619"/>
                </a:cubicBezTo>
                <a:cubicBezTo>
                  <a:pt x="5666907" y="4284771"/>
                  <a:pt x="5561463" y="4246064"/>
                  <a:pt x="5609896" y="4458202"/>
                </a:cubicBezTo>
                <a:cubicBezTo>
                  <a:pt x="5658329" y="4670340"/>
                  <a:pt x="5557051" y="4786860"/>
                  <a:pt x="5609896" y="4918784"/>
                </a:cubicBezTo>
                <a:cubicBezTo>
                  <a:pt x="5662741" y="5050708"/>
                  <a:pt x="5561172" y="5432123"/>
                  <a:pt x="5609896" y="5639182"/>
                </a:cubicBezTo>
                <a:cubicBezTo>
                  <a:pt x="5658620" y="5846241"/>
                  <a:pt x="5559088" y="6301013"/>
                  <a:pt x="5609896" y="6495393"/>
                </a:cubicBezTo>
                <a:cubicBezTo>
                  <a:pt x="5468031" y="6543974"/>
                  <a:pt x="5275126" y="6472134"/>
                  <a:pt x="5161104" y="6495393"/>
                </a:cubicBezTo>
                <a:cubicBezTo>
                  <a:pt x="5047082" y="6518652"/>
                  <a:pt x="4775756" y="6472252"/>
                  <a:pt x="4487917" y="6495393"/>
                </a:cubicBezTo>
                <a:cubicBezTo>
                  <a:pt x="4200078" y="6518534"/>
                  <a:pt x="4158360" y="6485710"/>
                  <a:pt x="3926927" y="6495393"/>
                </a:cubicBezTo>
                <a:cubicBezTo>
                  <a:pt x="3695494" y="6505076"/>
                  <a:pt x="3618517" y="6467735"/>
                  <a:pt x="3478136" y="6495393"/>
                </a:cubicBezTo>
                <a:cubicBezTo>
                  <a:pt x="3337755" y="6523051"/>
                  <a:pt x="3119937" y="6486919"/>
                  <a:pt x="2973245" y="6495393"/>
                </a:cubicBezTo>
                <a:cubicBezTo>
                  <a:pt x="2826553" y="6503867"/>
                  <a:pt x="2611459" y="6435692"/>
                  <a:pt x="2412255" y="6495393"/>
                </a:cubicBezTo>
                <a:cubicBezTo>
                  <a:pt x="2213051" y="6555094"/>
                  <a:pt x="2146416" y="6459252"/>
                  <a:pt x="2019563" y="6495393"/>
                </a:cubicBezTo>
                <a:cubicBezTo>
                  <a:pt x="1892710" y="6531534"/>
                  <a:pt x="1582275" y="6450755"/>
                  <a:pt x="1402474" y="6495393"/>
                </a:cubicBezTo>
                <a:cubicBezTo>
                  <a:pt x="1222673" y="6540031"/>
                  <a:pt x="1072838" y="6494109"/>
                  <a:pt x="785385" y="6495393"/>
                </a:cubicBezTo>
                <a:cubicBezTo>
                  <a:pt x="497932" y="6496677"/>
                  <a:pt x="352662" y="6489509"/>
                  <a:pt x="0" y="6495393"/>
                </a:cubicBezTo>
                <a:cubicBezTo>
                  <a:pt x="-53246" y="6276662"/>
                  <a:pt x="11927" y="5975550"/>
                  <a:pt x="0" y="5839949"/>
                </a:cubicBezTo>
                <a:cubicBezTo>
                  <a:pt x="-11927" y="5704348"/>
                  <a:pt x="4614" y="5343035"/>
                  <a:pt x="0" y="5119551"/>
                </a:cubicBezTo>
                <a:cubicBezTo>
                  <a:pt x="-4614" y="4896067"/>
                  <a:pt x="41835" y="4815455"/>
                  <a:pt x="0" y="4723922"/>
                </a:cubicBezTo>
                <a:cubicBezTo>
                  <a:pt x="-41835" y="4632389"/>
                  <a:pt x="13550" y="4386900"/>
                  <a:pt x="0" y="4133432"/>
                </a:cubicBezTo>
                <a:cubicBezTo>
                  <a:pt x="-13550" y="3879964"/>
                  <a:pt x="2113" y="3717704"/>
                  <a:pt x="0" y="3607896"/>
                </a:cubicBezTo>
                <a:cubicBezTo>
                  <a:pt x="-2113" y="3498088"/>
                  <a:pt x="17480" y="3172774"/>
                  <a:pt x="0" y="2952451"/>
                </a:cubicBezTo>
                <a:cubicBezTo>
                  <a:pt x="-17480" y="2732128"/>
                  <a:pt x="53812" y="2528560"/>
                  <a:pt x="0" y="2297007"/>
                </a:cubicBezTo>
                <a:cubicBezTo>
                  <a:pt x="-53812" y="2065454"/>
                  <a:pt x="23685" y="1855398"/>
                  <a:pt x="0" y="1641563"/>
                </a:cubicBezTo>
                <a:cubicBezTo>
                  <a:pt x="-23685" y="1427728"/>
                  <a:pt x="1301" y="1396593"/>
                  <a:pt x="0" y="1245934"/>
                </a:cubicBezTo>
                <a:cubicBezTo>
                  <a:pt x="-1301" y="1095275"/>
                  <a:pt x="45553" y="1011713"/>
                  <a:pt x="0" y="785352"/>
                </a:cubicBezTo>
                <a:cubicBezTo>
                  <a:pt x="-45553" y="558991"/>
                  <a:pt x="55668" y="364570"/>
                  <a:pt x="0" y="0"/>
                </a:cubicBezTo>
                <a:close/>
              </a:path>
              <a:path w="5609896" h="6495393" stroke="0" extrusionOk="0">
                <a:moveTo>
                  <a:pt x="0" y="0"/>
                </a:moveTo>
                <a:cubicBezTo>
                  <a:pt x="232131" y="-16006"/>
                  <a:pt x="312696" y="49181"/>
                  <a:pt x="617089" y="0"/>
                </a:cubicBezTo>
                <a:cubicBezTo>
                  <a:pt x="921482" y="-49181"/>
                  <a:pt x="891867" y="43304"/>
                  <a:pt x="1009781" y="0"/>
                </a:cubicBezTo>
                <a:cubicBezTo>
                  <a:pt x="1127695" y="-43304"/>
                  <a:pt x="1324600" y="25664"/>
                  <a:pt x="1514672" y="0"/>
                </a:cubicBezTo>
                <a:cubicBezTo>
                  <a:pt x="1704744" y="-25664"/>
                  <a:pt x="2046184" y="74035"/>
                  <a:pt x="2187859" y="0"/>
                </a:cubicBezTo>
                <a:cubicBezTo>
                  <a:pt x="2329534" y="-74035"/>
                  <a:pt x="2669521" y="6701"/>
                  <a:pt x="2861047" y="0"/>
                </a:cubicBezTo>
                <a:cubicBezTo>
                  <a:pt x="3052573" y="-6701"/>
                  <a:pt x="3259551" y="66501"/>
                  <a:pt x="3422037" y="0"/>
                </a:cubicBezTo>
                <a:cubicBezTo>
                  <a:pt x="3584523" y="-66501"/>
                  <a:pt x="3828960" y="69714"/>
                  <a:pt x="4039125" y="0"/>
                </a:cubicBezTo>
                <a:cubicBezTo>
                  <a:pt x="4249290" y="-69714"/>
                  <a:pt x="4462939" y="68969"/>
                  <a:pt x="4656214" y="0"/>
                </a:cubicBezTo>
                <a:cubicBezTo>
                  <a:pt x="4849489" y="-68969"/>
                  <a:pt x="4903551" y="5576"/>
                  <a:pt x="5048906" y="0"/>
                </a:cubicBezTo>
                <a:cubicBezTo>
                  <a:pt x="5194261" y="-5576"/>
                  <a:pt x="5443421" y="43169"/>
                  <a:pt x="5609896" y="0"/>
                </a:cubicBezTo>
                <a:cubicBezTo>
                  <a:pt x="5652360" y="214229"/>
                  <a:pt x="5597541" y="289253"/>
                  <a:pt x="5609896" y="525536"/>
                </a:cubicBezTo>
                <a:cubicBezTo>
                  <a:pt x="5622251" y="761819"/>
                  <a:pt x="5593811" y="852175"/>
                  <a:pt x="5609896" y="1051073"/>
                </a:cubicBezTo>
                <a:cubicBezTo>
                  <a:pt x="5625981" y="1249971"/>
                  <a:pt x="5595026" y="1358841"/>
                  <a:pt x="5609896" y="1641563"/>
                </a:cubicBezTo>
                <a:cubicBezTo>
                  <a:pt x="5624766" y="1924285"/>
                  <a:pt x="5561478" y="1983601"/>
                  <a:pt x="5609896" y="2297007"/>
                </a:cubicBezTo>
                <a:cubicBezTo>
                  <a:pt x="5658314" y="2610413"/>
                  <a:pt x="5551521" y="2744325"/>
                  <a:pt x="5609896" y="3017405"/>
                </a:cubicBezTo>
                <a:cubicBezTo>
                  <a:pt x="5668271" y="3290485"/>
                  <a:pt x="5579379" y="3353565"/>
                  <a:pt x="5609896" y="3672849"/>
                </a:cubicBezTo>
                <a:cubicBezTo>
                  <a:pt x="5640413" y="3992133"/>
                  <a:pt x="5556061" y="4180299"/>
                  <a:pt x="5609896" y="4328294"/>
                </a:cubicBezTo>
                <a:cubicBezTo>
                  <a:pt x="5663731" y="4476289"/>
                  <a:pt x="5585885" y="4821057"/>
                  <a:pt x="5609896" y="4983738"/>
                </a:cubicBezTo>
                <a:cubicBezTo>
                  <a:pt x="5633907" y="5146419"/>
                  <a:pt x="5578848" y="5257072"/>
                  <a:pt x="5609896" y="5444320"/>
                </a:cubicBezTo>
                <a:cubicBezTo>
                  <a:pt x="5640944" y="5631568"/>
                  <a:pt x="5567984" y="5787120"/>
                  <a:pt x="5609896" y="5969857"/>
                </a:cubicBezTo>
                <a:cubicBezTo>
                  <a:pt x="5651808" y="6152594"/>
                  <a:pt x="5598610" y="6330147"/>
                  <a:pt x="5609896" y="6495393"/>
                </a:cubicBezTo>
                <a:cubicBezTo>
                  <a:pt x="5435354" y="6505792"/>
                  <a:pt x="5299545" y="6450344"/>
                  <a:pt x="5217203" y="6495393"/>
                </a:cubicBezTo>
                <a:cubicBezTo>
                  <a:pt x="5134861" y="6540442"/>
                  <a:pt x="4851889" y="6492330"/>
                  <a:pt x="4712313" y="6495393"/>
                </a:cubicBezTo>
                <a:cubicBezTo>
                  <a:pt x="4572737" y="6498456"/>
                  <a:pt x="4390508" y="6466800"/>
                  <a:pt x="4263521" y="6495393"/>
                </a:cubicBezTo>
                <a:cubicBezTo>
                  <a:pt x="4136534" y="6523986"/>
                  <a:pt x="3884890" y="6463746"/>
                  <a:pt x="3758630" y="6495393"/>
                </a:cubicBezTo>
                <a:cubicBezTo>
                  <a:pt x="3632370" y="6527040"/>
                  <a:pt x="3465389" y="6456668"/>
                  <a:pt x="3309839" y="6495393"/>
                </a:cubicBezTo>
                <a:cubicBezTo>
                  <a:pt x="3154289" y="6534118"/>
                  <a:pt x="2921142" y="6476711"/>
                  <a:pt x="2636651" y="6495393"/>
                </a:cubicBezTo>
                <a:cubicBezTo>
                  <a:pt x="2352160" y="6514075"/>
                  <a:pt x="2390191" y="6466249"/>
                  <a:pt x="2243958" y="6495393"/>
                </a:cubicBezTo>
                <a:cubicBezTo>
                  <a:pt x="2097725" y="6524537"/>
                  <a:pt x="2003918" y="6448514"/>
                  <a:pt x="1795167" y="6495393"/>
                </a:cubicBezTo>
                <a:cubicBezTo>
                  <a:pt x="1586416" y="6542272"/>
                  <a:pt x="1465421" y="6430823"/>
                  <a:pt x="1178078" y="6495393"/>
                </a:cubicBezTo>
                <a:cubicBezTo>
                  <a:pt x="890735" y="6559963"/>
                  <a:pt x="711692" y="6467017"/>
                  <a:pt x="560990" y="6495393"/>
                </a:cubicBezTo>
                <a:cubicBezTo>
                  <a:pt x="410288" y="6523769"/>
                  <a:pt x="240763" y="6435247"/>
                  <a:pt x="0" y="6495393"/>
                </a:cubicBezTo>
                <a:cubicBezTo>
                  <a:pt x="-38174" y="6287810"/>
                  <a:pt x="26493" y="6079847"/>
                  <a:pt x="0" y="5969857"/>
                </a:cubicBezTo>
                <a:cubicBezTo>
                  <a:pt x="-26493" y="5859867"/>
                  <a:pt x="14258" y="5602777"/>
                  <a:pt x="0" y="5509274"/>
                </a:cubicBezTo>
                <a:cubicBezTo>
                  <a:pt x="-14258" y="5415771"/>
                  <a:pt x="8236" y="5192342"/>
                  <a:pt x="0" y="4918784"/>
                </a:cubicBezTo>
                <a:cubicBezTo>
                  <a:pt x="-8236" y="4645226"/>
                  <a:pt x="47642" y="4575579"/>
                  <a:pt x="0" y="4328294"/>
                </a:cubicBezTo>
                <a:cubicBezTo>
                  <a:pt x="-47642" y="4081009"/>
                  <a:pt x="21839" y="3921484"/>
                  <a:pt x="0" y="3737803"/>
                </a:cubicBezTo>
                <a:cubicBezTo>
                  <a:pt x="-21839" y="3554122"/>
                  <a:pt x="69559" y="3316614"/>
                  <a:pt x="0" y="3147313"/>
                </a:cubicBezTo>
                <a:cubicBezTo>
                  <a:pt x="-69559" y="2978012"/>
                  <a:pt x="39666" y="2801003"/>
                  <a:pt x="0" y="2556823"/>
                </a:cubicBezTo>
                <a:cubicBezTo>
                  <a:pt x="-39666" y="2312643"/>
                  <a:pt x="5907" y="2215021"/>
                  <a:pt x="0" y="2031287"/>
                </a:cubicBezTo>
                <a:cubicBezTo>
                  <a:pt x="-5907" y="1847553"/>
                  <a:pt x="38292" y="1774424"/>
                  <a:pt x="0" y="1635658"/>
                </a:cubicBezTo>
                <a:cubicBezTo>
                  <a:pt x="-38292" y="1496892"/>
                  <a:pt x="37294" y="1219370"/>
                  <a:pt x="0" y="980214"/>
                </a:cubicBezTo>
                <a:cubicBezTo>
                  <a:pt x="-37294" y="741058"/>
                  <a:pt x="30473" y="391168"/>
                  <a:pt x="0" y="0"/>
                </a:cubicBezTo>
                <a:close/>
              </a:path>
            </a:pathLst>
          </a:custGeom>
          <a:solidFill>
            <a:schemeClr val="bg1">
              <a:lumMod val="95000"/>
            </a:schemeClr>
          </a:solidFill>
          <a:ln w="38100">
            <a:solidFill>
              <a:schemeClr val="tx1"/>
            </a:solidFill>
            <a:extLst>
              <a:ext uri="{C807C97D-BFC1-408E-A445-0C87EB9F89A2}">
                <ask:lineSketchStyleProps xmlns:ask="http://schemas.microsoft.com/office/drawing/2018/sketchyshapes" xmlns="" sd="2441614996">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In our example of the cup of tea, we could create an entire function called </a:t>
            </a:r>
            <a:r>
              <a:rPr lang="en-GB" dirty="0" err="1">
                <a:solidFill>
                  <a:schemeClr val="tx1"/>
                </a:solidFill>
              </a:rPr>
              <a:t>makeTea</a:t>
            </a:r>
            <a:r>
              <a:rPr lang="en-GB" dirty="0">
                <a:solidFill>
                  <a:schemeClr val="tx1"/>
                </a:solidFill>
              </a:rPr>
              <a:t>();</a:t>
            </a:r>
          </a:p>
          <a:p>
            <a:endParaRPr lang="en-GB" dirty="0">
              <a:solidFill>
                <a:schemeClr val="tx1"/>
              </a:solidFill>
            </a:endParaRPr>
          </a:p>
          <a:p>
            <a:r>
              <a:rPr lang="en-GB" dirty="0">
                <a:solidFill>
                  <a:schemeClr val="tx1"/>
                </a:solidFill>
              </a:rPr>
              <a:t>This process doesn’t change, but it can be called at any time in the program’s execution.</a:t>
            </a:r>
          </a:p>
          <a:p>
            <a:endParaRPr lang="en-GB" dirty="0">
              <a:solidFill>
                <a:schemeClr val="tx1"/>
              </a:solidFill>
            </a:endParaRPr>
          </a:p>
          <a:p>
            <a:r>
              <a:rPr lang="en-GB" dirty="0">
                <a:solidFill>
                  <a:schemeClr val="tx1"/>
                </a:solidFill>
              </a:rPr>
              <a:t>We could make a “get up” program, consisting of multiple procedures:</a:t>
            </a:r>
          </a:p>
          <a:p>
            <a:endParaRPr lang="en-GB" dirty="0">
              <a:solidFill>
                <a:schemeClr val="tx1"/>
              </a:solidFill>
            </a:endParaRPr>
          </a:p>
          <a:p>
            <a:r>
              <a:rPr lang="en-GB" dirty="0">
                <a:solidFill>
                  <a:schemeClr val="tx1"/>
                </a:solidFill>
              </a:rPr>
              <a:t>	</a:t>
            </a:r>
            <a:r>
              <a:rPr lang="en-GB" dirty="0">
                <a:solidFill>
                  <a:schemeClr val="tx1"/>
                </a:solidFill>
                <a:latin typeface="Bell MT" panose="02020503060305020303" pitchFamily="18" charset="0"/>
              </a:rPr>
              <a:t>wakeup();</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makeTea</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goToSchool</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a:t>
            </a:r>
            <a:r>
              <a:rPr lang="en-GB" dirty="0" err="1">
                <a:solidFill>
                  <a:schemeClr val="tx1"/>
                </a:solidFill>
                <a:latin typeface="Bell MT" panose="02020503060305020303" pitchFamily="18" charset="0"/>
              </a:rPr>
              <a:t>Mathematicss</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(“Digital Technology”);</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(“English”);</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goHome</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makeTea</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goToBed</a:t>
            </a:r>
            <a:r>
              <a:rPr lang="en-GB" dirty="0">
                <a:solidFill>
                  <a:schemeClr val="tx1"/>
                </a:solidFill>
                <a:latin typeface="Bell MT" panose="02020503060305020303" pitchFamily="18" charset="0"/>
              </a:rPr>
              <a:t>();</a:t>
            </a:r>
          </a:p>
          <a:p>
            <a:endParaRPr lang="en-GB" dirty="0">
              <a:solidFill>
                <a:schemeClr val="tx1"/>
              </a:solidFill>
            </a:endParaRPr>
          </a:p>
          <a:p>
            <a:endParaRPr lang="en-GB" dirty="0">
              <a:solidFill>
                <a:schemeClr val="tx1"/>
              </a:solidFill>
            </a:endParaRPr>
          </a:p>
          <a:p>
            <a:r>
              <a:rPr lang="en-GB" dirty="0">
                <a:solidFill>
                  <a:schemeClr val="tx1"/>
                </a:solidFill>
              </a:rPr>
              <a:t>This way, we don’t have to keep writing out the same functions over and over again. The “</a:t>
            </a:r>
            <a:r>
              <a:rPr lang="en-GB" dirty="0" err="1">
                <a:solidFill>
                  <a:schemeClr val="tx1"/>
                </a:solidFill>
              </a:rPr>
              <a:t>makeTea</a:t>
            </a:r>
            <a:r>
              <a:rPr lang="en-GB" dirty="0">
                <a:solidFill>
                  <a:schemeClr val="tx1"/>
                </a:solidFill>
              </a:rPr>
              <a:t>();” function only needs to be designed once.</a:t>
            </a:r>
          </a:p>
        </p:txBody>
      </p:sp>
      <p:pic>
        <p:nvPicPr>
          <p:cNvPr id="5"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2816" y="1549401"/>
            <a:ext cx="638503" cy="638503"/>
          </a:xfrm>
          <a:prstGeom prst="rect">
            <a:avLst/>
          </a:prstGeom>
        </p:spPr>
      </p:pic>
    </p:spTree>
    <p:extLst>
      <p:ext uri="{BB962C8B-B14F-4D97-AF65-F5344CB8AC3E}">
        <p14:creationId xmlns:p14="http://schemas.microsoft.com/office/powerpoint/2010/main" val="2312760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C3416B-EE85-3D65-0D69-1E1D26E1319F}"/>
              </a:ext>
            </a:extLst>
          </p:cNvPr>
          <p:cNvSpPr>
            <a:spLocks noGrp="1"/>
          </p:cNvSpPr>
          <p:nvPr>
            <p:ph type="title"/>
          </p:nvPr>
        </p:nvSpPr>
        <p:spPr>
          <a:xfrm>
            <a:off x="7621028" y="493481"/>
            <a:ext cx="4570972" cy="1721708"/>
          </a:xfrm>
          <a:noFill/>
        </p:spPr>
        <p:txBody>
          <a:bodyPr>
            <a:normAutofit fontScale="90000"/>
          </a:bodyPr>
          <a:lstStyle/>
          <a:p>
            <a:pPr algn="ctr"/>
            <a:r>
              <a:rPr lang="en-GB" sz="4000" dirty="0">
                <a:solidFill>
                  <a:srgbClr val="00FF00"/>
                </a:solidFill>
              </a:rPr>
              <a:t>So, What is this program doing?</a:t>
            </a:r>
            <a:endParaRPr lang="en-US" sz="4000" dirty="0">
              <a:solidFill>
                <a:srgbClr val="00FF00"/>
              </a:solidFill>
            </a:endParaRPr>
          </a:p>
        </p:txBody>
      </p:sp>
      <p:sp>
        <p:nvSpPr>
          <p:cNvPr id="5" name="Title 1">
            <a:extLst>
              <a:ext uri="{FF2B5EF4-FFF2-40B4-BE49-F238E27FC236}">
                <a16:creationId xmlns:a16="http://schemas.microsoft.com/office/drawing/2014/main" xmlns="" id="{394465B7-E022-8266-401E-80B9C1E085D1}"/>
              </a:ext>
            </a:extLst>
          </p:cNvPr>
          <p:cNvSpPr txBox="1">
            <a:spLocks/>
          </p:cNvSpPr>
          <p:nvPr/>
        </p:nvSpPr>
        <p:spPr>
          <a:xfrm>
            <a:off x="7621028" y="2601576"/>
            <a:ext cx="4418572" cy="17217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rgbClr val="FFFF00"/>
                </a:solidFill>
                <a:latin typeface="Century Gothic" panose="020B0502020202020204" pitchFamily="34" charset="0"/>
                <a:ea typeface="+mj-ea"/>
                <a:cs typeface="+mj-cs"/>
              </a:defRPr>
            </a:lvl1pPr>
          </a:lstStyle>
          <a:p>
            <a:r>
              <a:rPr lang="en-GB" sz="4000" dirty="0">
                <a:solidFill>
                  <a:srgbClr val="00FF00"/>
                </a:solidFill>
              </a:rPr>
              <a:t>How do you know?</a:t>
            </a:r>
            <a:endParaRPr lang="en-US" sz="4000" dirty="0">
              <a:solidFill>
                <a:srgbClr val="00FF00"/>
              </a:solidFill>
            </a:endParaRPr>
          </a:p>
        </p:txBody>
      </p:sp>
      <p:sp>
        <p:nvSpPr>
          <p:cNvPr id="6" name="Title 1">
            <a:extLst>
              <a:ext uri="{FF2B5EF4-FFF2-40B4-BE49-F238E27FC236}">
                <a16:creationId xmlns:a16="http://schemas.microsoft.com/office/drawing/2014/main" xmlns="" id="{0649064C-57AB-7290-910F-B68B34321DC6}"/>
              </a:ext>
            </a:extLst>
          </p:cNvPr>
          <p:cNvSpPr txBox="1">
            <a:spLocks/>
          </p:cNvSpPr>
          <p:nvPr/>
        </p:nvSpPr>
        <p:spPr>
          <a:xfrm>
            <a:off x="7621028" y="5096059"/>
            <a:ext cx="4418572" cy="17217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rgbClr val="FFFF00"/>
                </a:solidFill>
                <a:latin typeface="Century Gothic" panose="020B0502020202020204" pitchFamily="34" charset="0"/>
                <a:ea typeface="+mj-ea"/>
                <a:cs typeface="+mj-cs"/>
              </a:defRPr>
            </a:lvl1pPr>
          </a:lstStyle>
          <a:p>
            <a:r>
              <a:rPr lang="en-GB" sz="2800" dirty="0">
                <a:solidFill>
                  <a:srgbClr val="00FF00"/>
                </a:solidFill>
              </a:rPr>
              <a:t>This is an example of </a:t>
            </a:r>
            <a:r>
              <a:rPr lang="en-GB" sz="2800" b="1" dirty="0">
                <a:solidFill>
                  <a:srgbClr val="00FF00"/>
                </a:solidFill>
              </a:rPr>
              <a:t>procedural programming</a:t>
            </a:r>
            <a:endParaRPr lang="en-US" sz="2800" dirty="0">
              <a:solidFill>
                <a:srgbClr val="00FF00"/>
              </a:solidFill>
            </a:endParaRPr>
          </a:p>
        </p:txBody>
      </p:sp>
      <p:pic>
        <p:nvPicPr>
          <p:cNvPr id="7" name="Content Placeholder 3">
            <a:extLst>
              <a:ext uri="{FF2B5EF4-FFF2-40B4-BE49-F238E27FC236}">
                <a16:creationId xmlns:a16="http://schemas.microsoft.com/office/drawing/2014/main" xmlns="" id="{B4144A55-C67F-985C-9B4C-9AB0D7476DBE}"/>
              </a:ext>
            </a:extLst>
          </p:cNvPr>
          <p:cNvPicPr>
            <a:picLocks noGrp="1" noChangeAspect="1"/>
          </p:cNvPicPr>
          <p:nvPr>
            <p:ph idx="1"/>
          </p:nvPr>
        </p:nvPicPr>
        <p:blipFill rotWithShape="1">
          <a:blip r:embed="rId2"/>
          <a:srcRect l="14688" t="19762" r="63311" b="45231"/>
          <a:stretch/>
        </p:blipFill>
        <p:spPr>
          <a:xfrm>
            <a:off x="0" y="107093"/>
            <a:ext cx="7497699" cy="6710674"/>
          </a:xfrm>
          <a:prstGeom prst="rect">
            <a:avLst/>
          </a:prstGeom>
        </p:spPr>
      </p:pic>
    </p:spTree>
    <p:extLst>
      <p:ext uri="{BB962C8B-B14F-4D97-AF65-F5344CB8AC3E}">
        <p14:creationId xmlns:p14="http://schemas.microsoft.com/office/powerpoint/2010/main" val="106236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162315-1579-DA10-7E1A-3C528F0772F9}"/>
              </a:ext>
            </a:extLst>
          </p:cNvPr>
          <p:cNvSpPr>
            <a:spLocks noGrp="1"/>
          </p:cNvSpPr>
          <p:nvPr>
            <p:ph type="title"/>
          </p:nvPr>
        </p:nvSpPr>
        <p:spPr>
          <a:xfrm>
            <a:off x="107730" y="38152"/>
            <a:ext cx="5016063" cy="1325563"/>
          </a:xfrm>
        </p:spPr>
        <p:txBody>
          <a:bodyPr/>
          <a:lstStyle/>
          <a:p>
            <a:r>
              <a:rPr lang="en-GB" dirty="0">
                <a:solidFill>
                  <a:schemeClr val="bg1">
                    <a:lumMod val="95000"/>
                  </a:schemeClr>
                </a:solidFill>
              </a:rPr>
              <a:t>User Defined Functions</a:t>
            </a:r>
          </a:p>
        </p:txBody>
      </p:sp>
      <p:sp>
        <p:nvSpPr>
          <p:cNvPr id="3" name="Content Placeholder 2">
            <a:extLst>
              <a:ext uri="{FF2B5EF4-FFF2-40B4-BE49-F238E27FC236}">
                <a16:creationId xmlns:a16="http://schemas.microsoft.com/office/drawing/2014/main" xmlns="" id="{191250D9-849F-7BDA-0C52-85DAB1D8A905}"/>
              </a:ext>
            </a:extLst>
          </p:cNvPr>
          <p:cNvSpPr>
            <a:spLocks noGrp="1"/>
          </p:cNvSpPr>
          <p:nvPr>
            <p:ph idx="1"/>
          </p:nvPr>
        </p:nvSpPr>
        <p:spPr>
          <a:xfrm>
            <a:off x="299546" y="1568669"/>
            <a:ext cx="4233041" cy="5005551"/>
          </a:xfrm>
        </p:spPr>
        <p:txBody>
          <a:bodyPr>
            <a:normAutofit fontScale="92500" lnSpcReduction="20000"/>
          </a:bodyPr>
          <a:lstStyle/>
          <a:p>
            <a:pPr marL="361950" indent="0">
              <a:buNone/>
            </a:pPr>
            <a:r>
              <a:rPr lang="en-GB" sz="2400" dirty="0">
                <a:solidFill>
                  <a:schemeClr val="bg1">
                    <a:lumMod val="95000"/>
                  </a:schemeClr>
                </a:solidFill>
              </a:rPr>
              <a:t>User defined functions are procedures or sections of code written to perform a specific task. They can be given parameters as inputs. </a:t>
            </a:r>
          </a:p>
          <a:p>
            <a:pPr marL="361950" indent="0">
              <a:buNone/>
            </a:pPr>
            <a:r>
              <a:rPr lang="en-GB" sz="2400" dirty="0">
                <a:solidFill>
                  <a:schemeClr val="bg1">
                    <a:lumMod val="95000"/>
                  </a:schemeClr>
                </a:solidFill>
              </a:rPr>
              <a:t>These can return (output) a value back into the main thread of the program.</a:t>
            </a:r>
          </a:p>
          <a:p>
            <a:pPr>
              <a:buFont typeface="Calibri" panose="020F0502020204030204" pitchFamily="34" charset="0"/>
              <a:buChar char="+"/>
            </a:pPr>
            <a:endParaRPr lang="en-GB" dirty="0">
              <a:solidFill>
                <a:srgbClr val="00FF00"/>
              </a:solidFill>
            </a:endParaRPr>
          </a:p>
          <a:p>
            <a:pPr>
              <a:buFont typeface="Calibri" panose="020F0502020204030204" pitchFamily="34" charset="0"/>
              <a:buChar char="+"/>
            </a:pPr>
            <a:endParaRPr lang="en-GB" dirty="0">
              <a:solidFill>
                <a:srgbClr val="00FF00"/>
              </a:solidFill>
            </a:endParaRPr>
          </a:p>
          <a:p>
            <a:pPr>
              <a:buFont typeface="Calibri" panose="020F0502020204030204" pitchFamily="34" charset="0"/>
              <a:buChar char="+"/>
            </a:pPr>
            <a:r>
              <a:rPr lang="en-GB" sz="2400" dirty="0">
                <a:solidFill>
                  <a:srgbClr val="00FF00"/>
                </a:solidFill>
              </a:rPr>
              <a:t>helps code </a:t>
            </a:r>
            <a:r>
              <a:rPr lang="en-GB" sz="2400" u="sng" dirty="0">
                <a:solidFill>
                  <a:srgbClr val="00FF00"/>
                </a:solidFill>
              </a:rPr>
              <a:t>readability</a:t>
            </a:r>
            <a:r>
              <a:rPr lang="en-GB" sz="2400" dirty="0">
                <a:solidFill>
                  <a:srgbClr val="00FF00"/>
                </a:solidFill>
              </a:rPr>
              <a:t> </a:t>
            </a:r>
          </a:p>
          <a:p>
            <a:pPr>
              <a:buFont typeface="Calibri" panose="020F0502020204030204" pitchFamily="34" charset="0"/>
              <a:buChar char="+"/>
            </a:pPr>
            <a:r>
              <a:rPr lang="en-GB" sz="2400" dirty="0">
                <a:solidFill>
                  <a:srgbClr val="00FF00"/>
                </a:solidFill>
              </a:rPr>
              <a:t>creates </a:t>
            </a:r>
            <a:r>
              <a:rPr lang="en-GB" sz="2400" u="sng" dirty="0">
                <a:solidFill>
                  <a:srgbClr val="00FF00"/>
                </a:solidFill>
              </a:rPr>
              <a:t>re-useable code</a:t>
            </a:r>
            <a:r>
              <a:rPr lang="en-GB" sz="2400" dirty="0">
                <a:solidFill>
                  <a:srgbClr val="00FF00"/>
                </a:solidFill>
              </a:rPr>
              <a:t>, enhancing </a:t>
            </a:r>
            <a:r>
              <a:rPr lang="en-GB" sz="2400" u="sng" dirty="0">
                <a:solidFill>
                  <a:srgbClr val="00FF00"/>
                </a:solidFill>
              </a:rPr>
              <a:t>code efficiency </a:t>
            </a:r>
          </a:p>
          <a:p>
            <a:pPr>
              <a:buFont typeface="Calibri" panose="020F0502020204030204" pitchFamily="34" charset="0"/>
              <a:buChar char="+"/>
            </a:pPr>
            <a:r>
              <a:rPr lang="en-GB" sz="2400" dirty="0">
                <a:solidFill>
                  <a:srgbClr val="00FF00"/>
                </a:solidFill>
              </a:rPr>
              <a:t>can be </a:t>
            </a:r>
            <a:r>
              <a:rPr lang="en-GB" sz="2400" u="sng" dirty="0">
                <a:solidFill>
                  <a:srgbClr val="00FF00"/>
                </a:solidFill>
              </a:rPr>
              <a:t>designed and tested </a:t>
            </a:r>
            <a:r>
              <a:rPr lang="en-GB" sz="2400" dirty="0">
                <a:solidFill>
                  <a:srgbClr val="00FF00"/>
                </a:solidFill>
              </a:rPr>
              <a:t>individually, with </a:t>
            </a:r>
            <a:r>
              <a:rPr lang="en-GB" sz="2400" u="sng" dirty="0">
                <a:solidFill>
                  <a:srgbClr val="00FF00"/>
                </a:solidFill>
              </a:rPr>
              <a:t>errors</a:t>
            </a:r>
            <a:r>
              <a:rPr lang="en-GB" sz="2400" dirty="0">
                <a:solidFill>
                  <a:srgbClr val="00FF00"/>
                </a:solidFill>
              </a:rPr>
              <a:t> being </a:t>
            </a:r>
            <a:r>
              <a:rPr lang="en-GB" sz="2400" u="sng" dirty="0">
                <a:solidFill>
                  <a:srgbClr val="00FF00"/>
                </a:solidFill>
              </a:rPr>
              <a:t>easier to identify</a:t>
            </a:r>
            <a:r>
              <a:rPr lang="en-GB" sz="2400" dirty="0">
                <a:solidFill>
                  <a:srgbClr val="00FF00"/>
                </a:solidFill>
              </a:rPr>
              <a:t>.</a:t>
            </a:r>
          </a:p>
        </p:txBody>
      </p:sp>
      <p:sp>
        <p:nvSpPr>
          <p:cNvPr id="4" name="Rectangle 3">
            <a:extLst>
              <a:ext uri="{FF2B5EF4-FFF2-40B4-BE49-F238E27FC236}">
                <a16:creationId xmlns:a16="http://schemas.microsoft.com/office/drawing/2014/main" xmlns="" id="{31A853CD-5214-A802-0B39-976A880879DE}"/>
              </a:ext>
            </a:extLst>
          </p:cNvPr>
          <p:cNvSpPr/>
          <p:nvPr/>
        </p:nvSpPr>
        <p:spPr>
          <a:xfrm>
            <a:off x="4532587" y="85451"/>
            <a:ext cx="7567450" cy="6693724"/>
          </a:xfrm>
          <a:custGeom>
            <a:avLst/>
            <a:gdLst>
              <a:gd name="connsiteX0" fmla="*/ 0 w 7567450"/>
              <a:gd name="connsiteY0" fmla="*/ 0 h 6693724"/>
              <a:gd name="connsiteX1" fmla="*/ 430763 w 7567450"/>
              <a:gd name="connsiteY1" fmla="*/ 0 h 6693724"/>
              <a:gd name="connsiteX2" fmla="*/ 1088549 w 7567450"/>
              <a:gd name="connsiteY2" fmla="*/ 0 h 6693724"/>
              <a:gd name="connsiteX3" fmla="*/ 1746335 w 7567450"/>
              <a:gd name="connsiteY3" fmla="*/ 0 h 6693724"/>
              <a:gd name="connsiteX4" fmla="*/ 2479795 w 7567450"/>
              <a:gd name="connsiteY4" fmla="*/ 0 h 6693724"/>
              <a:gd name="connsiteX5" fmla="*/ 2910558 w 7567450"/>
              <a:gd name="connsiteY5" fmla="*/ 0 h 6693724"/>
              <a:gd name="connsiteX6" fmla="*/ 3644018 w 7567450"/>
              <a:gd name="connsiteY6" fmla="*/ 0 h 6693724"/>
              <a:gd name="connsiteX7" fmla="*/ 4226130 w 7567450"/>
              <a:gd name="connsiteY7" fmla="*/ 0 h 6693724"/>
              <a:gd name="connsiteX8" fmla="*/ 4656892 w 7567450"/>
              <a:gd name="connsiteY8" fmla="*/ 0 h 6693724"/>
              <a:gd name="connsiteX9" fmla="*/ 5087655 w 7567450"/>
              <a:gd name="connsiteY9" fmla="*/ 0 h 6693724"/>
              <a:gd name="connsiteX10" fmla="*/ 5669766 w 7567450"/>
              <a:gd name="connsiteY10" fmla="*/ 0 h 6693724"/>
              <a:gd name="connsiteX11" fmla="*/ 6403227 w 7567450"/>
              <a:gd name="connsiteY11" fmla="*/ 0 h 6693724"/>
              <a:gd name="connsiteX12" fmla="*/ 6985338 w 7567450"/>
              <a:gd name="connsiteY12" fmla="*/ 0 h 6693724"/>
              <a:gd name="connsiteX13" fmla="*/ 7567450 w 7567450"/>
              <a:gd name="connsiteY13" fmla="*/ 0 h 6693724"/>
              <a:gd name="connsiteX14" fmla="*/ 7567450 w 7567450"/>
              <a:gd name="connsiteY14" fmla="*/ 490873 h 6693724"/>
              <a:gd name="connsiteX15" fmla="*/ 7567450 w 7567450"/>
              <a:gd name="connsiteY15" fmla="*/ 981746 h 6693724"/>
              <a:gd name="connsiteX16" fmla="*/ 7567450 w 7567450"/>
              <a:gd name="connsiteY16" fmla="*/ 1472619 h 6693724"/>
              <a:gd name="connsiteX17" fmla="*/ 7567450 w 7567450"/>
              <a:gd name="connsiteY17" fmla="*/ 2164304 h 6693724"/>
              <a:gd name="connsiteX18" fmla="*/ 7567450 w 7567450"/>
              <a:gd name="connsiteY18" fmla="*/ 2722114 h 6693724"/>
              <a:gd name="connsiteX19" fmla="*/ 7567450 w 7567450"/>
              <a:gd name="connsiteY19" fmla="*/ 3413799 h 6693724"/>
              <a:gd name="connsiteX20" fmla="*/ 7567450 w 7567450"/>
              <a:gd name="connsiteY20" fmla="*/ 3971610 h 6693724"/>
              <a:gd name="connsiteX21" fmla="*/ 7567450 w 7567450"/>
              <a:gd name="connsiteY21" fmla="*/ 4462483 h 6693724"/>
              <a:gd name="connsiteX22" fmla="*/ 7567450 w 7567450"/>
              <a:gd name="connsiteY22" fmla="*/ 5087230 h 6693724"/>
              <a:gd name="connsiteX23" fmla="*/ 7567450 w 7567450"/>
              <a:gd name="connsiteY23" fmla="*/ 5711978 h 6693724"/>
              <a:gd name="connsiteX24" fmla="*/ 7567450 w 7567450"/>
              <a:gd name="connsiteY24" fmla="*/ 6693724 h 6693724"/>
              <a:gd name="connsiteX25" fmla="*/ 7212362 w 7567450"/>
              <a:gd name="connsiteY25" fmla="*/ 6693724 h 6693724"/>
              <a:gd name="connsiteX26" fmla="*/ 6630250 w 7567450"/>
              <a:gd name="connsiteY26" fmla="*/ 6693724 h 6693724"/>
              <a:gd name="connsiteX27" fmla="*/ 6048139 w 7567450"/>
              <a:gd name="connsiteY27" fmla="*/ 6693724 h 6693724"/>
              <a:gd name="connsiteX28" fmla="*/ 5617376 w 7567450"/>
              <a:gd name="connsiteY28" fmla="*/ 6693724 h 6693724"/>
              <a:gd name="connsiteX29" fmla="*/ 5262288 w 7567450"/>
              <a:gd name="connsiteY29" fmla="*/ 6693724 h 6693724"/>
              <a:gd name="connsiteX30" fmla="*/ 4528828 w 7567450"/>
              <a:gd name="connsiteY30" fmla="*/ 6693724 h 6693724"/>
              <a:gd name="connsiteX31" fmla="*/ 4022391 w 7567450"/>
              <a:gd name="connsiteY31" fmla="*/ 6693724 h 6693724"/>
              <a:gd name="connsiteX32" fmla="*/ 3440279 w 7567450"/>
              <a:gd name="connsiteY32" fmla="*/ 6693724 h 6693724"/>
              <a:gd name="connsiteX33" fmla="*/ 2858168 w 7567450"/>
              <a:gd name="connsiteY33" fmla="*/ 6693724 h 6693724"/>
              <a:gd name="connsiteX34" fmla="*/ 2200382 w 7567450"/>
              <a:gd name="connsiteY34" fmla="*/ 6693724 h 6693724"/>
              <a:gd name="connsiteX35" fmla="*/ 1618270 w 7567450"/>
              <a:gd name="connsiteY35" fmla="*/ 6693724 h 6693724"/>
              <a:gd name="connsiteX36" fmla="*/ 960484 w 7567450"/>
              <a:gd name="connsiteY36" fmla="*/ 6693724 h 6693724"/>
              <a:gd name="connsiteX37" fmla="*/ 0 w 7567450"/>
              <a:gd name="connsiteY37" fmla="*/ 6693724 h 6693724"/>
              <a:gd name="connsiteX38" fmla="*/ 0 w 7567450"/>
              <a:gd name="connsiteY38" fmla="*/ 6202851 h 6693724"/>
              <a:gd name="connsiteX39" fmla="*/ 0 w 7567450"/>
              <a:gd name="connsiteY39" fmla="*/ 5778915 h 6693724"/>
              <a:gd name="connsiteX40" fmla="*/ 0 w 7567450"/>
              <a:gd name="connsiteY40" fmla="*/ 5221105 h 6693724"/>
              <a:gd name="connsiteX41" fmla="*/ 0 w 7567450"/>
              <a:gd name="connsiteY41" fmla="*/ 4730232 h 6693724"/>
              <a:gd name="connsiteX42" fmla="*/ 0 w 7567450"/>
              <a:gd name="connsiteY42" fmla="*/ 4306296 h 6693724"/>
              <a:gd name="connsiteX43" fmla="*/ 0 w 7567450"/>
              <a:gd name="connsiteY43" fmla="*/ 3748485 h 6693724"/>
              <a:gd name="connsiteX44" fmla="*/ 0 w 7567450"/>
              <a:gd name="connsiteY44" fmla="*/ 3123738 h 6693724"/>
              <a:gd name="connsiteX45" fmla="*/ 0 w 7567450"/>
              <a:gd name="connsiteY45" fmla="*/ 2432053 h 6693724"/>
              <a:gd name="connsiteX46" fmla="*/ 0 w 7567450"/>
              <a:gd name="connsiteY46" fmla="*/ 1941180 h 6693724"/>
              <a:gd name="connsiteX47" fmla="*/ 0 w 7567450"/>
              <a:gd name="connsiteY47" fmla="*/ 1450307 h 6693724"/>
              <a:gd name="connsiteX48" fmla="*/ 0 w 7567450"/>
              <a:gd name="connsiteY48" fmla="*/ 1093308 h 6693724"/>
              <a:gd name="connsiteX49" fmla="*/ 0 w 7567450"/>
              <a:gd name="connsiteY49" fmla="*/ 669372 h 6693724"/>
              <a:gd name="connsiteX50" fmla="*/ 0 w 7567450"/>
              <a:gd name="connsiteY50" fmla="*/ 0 h 669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567450" h="6693724" fill="none" extrusionOk="0">
                <a:moveTo>
                  <a:pt x="0" y="0"/>
                </a:moveTo>
                <a:cubicBezTo>
                  <a:pt x="148371" y="-18762"/>
                  <a:pt x="304964" y="7889"/>
                  <a:pt x="430763" y="0"/>
                </a:cubicBezTo>
                <a:cubicBezTo>
                  <a:pt x="556562" y="-7889"/>
                  <a:pt x="762154" y="29358"/>
                  <a:pt x="1088549" y="0"/>
                </a:cubicBezTo>
                <a:cubicBezTo>
                  <a:pt x="1414944" y="-29358"/>
                  <a:pt x="1575609" y="49857"/>
                  <a:pt x="1746335" y="0"/>
                </a:cubicBezTo>
                <a:cubicBezTo>
                  <a:pt x="1917061" y="-49857"/>
                  <a:pt x="2273586" y="72666"/>
                  <a:pt x="2479795" y="0"/>
                </a:cubicBezTo>
                <a:cubicBezTo>
                  <a:pt x="2686004" y="-72666"/>
                  <a:pt x="2747263" y="14305"/>
                  <a:pt x="2910558" y="0"/>
                </a:cubicBezTo>
                <a:cubicBezTo>
                  <a:pt x="3073853" y="-14305"/>
                  <a:pt x="3438921" y="77707"/>
                  <a:pt x="3644018" y="0"/>
                </a:cubicBezTo>
                <a:cubicBezTo>
                  <a:pt x="3849115" y="-77707"/>
                  <a:pt x="4081767" y="42150"/>
                  <a:pt x="4226130" y="0"/>
                </a:cubicBezTo>
                <a:cubicBezTo>
                  <a:pt x="4370493" y="-42150"/>
                  <a:pt x="4447996" y="50498"/>
                  <a:pt x="4656892" y="0"/>
                </a:cubicBezTo>
                <a:cubicBezTo>
                  <a:pt x="4865788" y="-50498"/>
                  <a:pt x="4977500" y="40124"/>
                  <a:pt x="5087655" y="0"/>
                </a:cubicBezTo>
                <a:cubicBezTo>
                  <a:pt x="5197810" y="-40124"/>
                  <a:pt x="5468654" y="29340"/>
                  <a:pt x="5669766" y="0"/>
                </a:cubicBezTo>
                <a:cubicBezTo>
                  <a:pt x="5870878" y="-29340"/>
                  <a:pt x="6078108" y="71965"/>
                  <a:pt x="6403227" y="0"/>
                </a:cubicBezTo>
                <a:cubicBezTo>
                  <a:pt x="6728346" y="-71965"/>
                  <a:pt x="6701619" y="41875"/>
                  <a:pt x="6985338" y="0"/>
                </a:cubicBezTo>
                <a:cubicBezTo>
                  <a:pt x="7269057" y="-41875"/>
                  <a:pt x="7322895" y="15965"/>
                  <a:pt x="7567450" y="0"/>
                </a:cubicBezTo>
                <a:cubicBezTo>
                  <a:pt x="7612759" y="125002"/>
                  <a:pt x="7514277" y="385019"/>
                  <a:pt x="7567450" y="490873"/>
                </a:cubicBezTo>
                <a:cubicBezTo>
                  <a:pt x="7620623" y="596727"/>
                  <a:pt x="7565647" y="815639"/>
                  <a:pt x="7567450" y="981746"/>
                </a:cubicBezTo>
                <a:cubicBezTo>
                  <a:pt x="7569253" y="1147853"/>
                  <a:pt x="7555884" y="1331443"/>
                  <a:pt x="7567450" y="1472619"/>
                </a:cubicBezTo>
                <a:cubicBezTo>
                  <a:pt x="7579016" y="1613795"/>
                  <a:pt x="7549381" y="1992627"/>
                  <a:pt x="7567450" y="2164304"/>
                </a:cubicBezTo>
                <a:cubicBezTo>
                  <a:pt x="7585519" y="2335981"/>
                  <a:pt x="7562199" y="2530442"/>
                  <a:pt x="7567450" y="2722114"/>
                </a:cubicBezTo>
                <a:cubicBezTo>
                  <a:pt x="7572701" y="2913786"/>
                  <a:pt x="7498611" y="3214248"/>
                  <a:pt x="7567450" y="3413799"/>
                </a:cubicBezTo>
                <a:cubicBezTo>
                  <a:pt x="7636289" y="3613351"/>
                  <a:pt x="7534167" y="3840543"/>
                  <a:pt x="7567450" y="3971610"/>
                </a:cubicBezTo>
                <a:cubicBezTo>
                  <a:pt x="7600733" y="4102677"/>
                  <a:pt x="7517130" y="4315587"/>
                  <a:pt x="7567450" y="4462483"/>
                </a:cubicBezTo>
                <a:cubicBezTo>
                  <a:pt x="7617770" y="4609379"/>
                  <a:pt x="7535803" y="4785909"/>
                  <a:pt x="7567450" y="5087230"/>
                </a:cubicBezTo>
                <a:cubicBezTo>
                  <a:pt x="7599097" y="5388551"/>
                  <a:pt x="7531274" y="5560901"/>
                  <a:pt x="7567450" y="5711978"/>
                </a:cubicBezTo>
                <a:cubicBezTo>
                  <a:pt x="7603626" y="5863055"/>
                  <a:pt x="7558862" y="6491860"/>
                  <a:pt x="7567450" y="6693724"/>
                </a:cubicBezTo>
                <a:cubicBezTo>
                  <a:pt x="7477421" y="6714219"/>
                  <a:pt x="7307671" y="6654607"/>
                  <a:pt x="7212362" y="6693724"/>
                </a:cubicBezTo>
                <a:cubicBezTo>
                  <a:pt x="7117053" y="6732841"/>
                  <a:pt x="6895513" y="6659934"/>
                  <a:pt x="6630250" y="6693724"/>
                </a:cubicBezTo>
                <a:cubicBezTo>
                  <a:pt x="6364987" y="6727514"/>
                  <a:pt x="6266642" y="6663780"/>
                  <a:pt x="6048139" y="6693724"/>
                </a:cubicBezTo>
                <a:cubicBezTo>
                  <a:pt x="5829636" y="6723668"/>
                  <a:pt x="5723483" y="6660807"/>
                  <a:pt x="5617376" y="6693724"/>
                </a:cubicBezTo>
                <a:cubicBezTo>
                  <a:pt x="5511269" y="6726641"/>
                  <a:pt x="5348939" y="6692640"/>
                  <a:pt x="5262288" y="6693724"/>
                </a:cubicBezTo>
                <a:cubicBezTo>
                  <a:pt x="5175637" y="6694808"/>
                  <a:pt x="4774529" y="6644135"/>
                  <a:pt x="4528828" y="6693724"/>
                </a:cubicBezTo>
                <a:cubicBezTo>
                  <a:pt x="4283127" y="6743313"/>
                  <a:pt x="4171929" y="6655893"/>
                  <a:pt x="4022391" y="6693724"/>
                </a:cubicBezTo>
                <a:cubicBezTo>
                  <a:pt x="3872853" y="6731555"/>
                  <a:pt x="3583087" y="6631648"/>
                  <a:pt x="3440279" y="6693724"/>
                </a:cubicBezTo>
                <a:cubicBezTo>
                  <a:pt x="3297471" y="6755800"/>
                  <a:pt x="3000524" y="6659520"/>
                  <a:pt x="2858168" y="6693724"/>
                </a:cubicBezTo>
                <a:cubicBezTo>
                  <a:pt x="2715812" y="6727928"/>
                  <a:pt x="2429886" y="6645713"/>
                  <a:pt x="2200382" y="6693724"/>
                </a:cubicBezTo>
                <a:cubicBezTo>
                  <a:pt x="1970878" y="6741735"/>
                  <a:pt x="1868585" y="6690825"/>
                  <a:pt x="1618270" y="6693724"/>
                </a:cubicBezTo>
                <a:cubicBezTo>
                  <a:pt x="1367955" y="6696623"/>
                  <a:pt x="1118182" y="6690335"/>
                  <a:pt x="960484" y="6693724"/>
                </a:cubicBezTo>
                <a:cubicBezTo>
                  <a:pt x="802786" y="6697113"/>
                  <a:pt x="339161" y="6640193"/>
                  <a:pt x="0" y="6693724"/>
                </a:cubicBezTo>
                <a:cubicBezTo>
                  <a:pt x="-55565" y="6515012"/>
                  <a:pt x="3375" y="6426621"/>
                  <a:pt x="0" y="6202851"/>
                </a:cubicBezTo>
                <a:cubicBezTo>
                  <a:pt x="-3375" y="5979081"/>
                  <a:pt x="20733" y="5947731"/>
                  <a:pt x="0" y="5778915"/>
                </a:cubicBezTo>
                <a:cubicBezTo>
                  <a:pt x="-20733" y="5610099"/>
                  <a:pt x="52338" y="5425372"/>
                  <a:pt x="0" y="5221105"/>
                </a:cubicBezTo>
                <a:cubicBezTo>
                  <a:pt x="-52338" y="5016838"/>
                  <a:pt x="5104" y="4968920"/>
                  <a:pt x="0" y="4730232"/>
                </a:cubicBezTo>
                <a:cubicBezTo>
                  <a:pt x="-5104" y="4491544"/>
                  <a:pt x="21385" y="4454320"/>
                  <a:pt x="0" y="4306296"/>
                </a:cubicBezTo>
                <a:cubicBezTo>
                  <a:pt x="-21385" y="4158272"/>
                  <a:pt x="9265" y="4008779"/>
                  <a:pt x="0" y="3748485"/>
                </a:cubicBezTo>
                <a:cubicBezTo>
                  <a:pt x="-9265" y="3488191"/>
                  <a:pt x="9967" y="3425493"/>
                  <a:pt x="0" y="3123738"/>
                </a:cubicBezTo>
                <a:cubicBezTo>
                  <a:pt x="-9967" y="2821983"/>
                  <a:pt x="15692" y="2707786"/>
                  <a:pt x="0" y="2432053"/>
                </a:cubicBezTo>
                <a:cubicBezTo>
                  <a:pt x="-15692" y="2156321"/>
                  <a:pt x="28675" y="2158207"/>
                  <a:pt x="0" y="1941180"/>
                </a:cubicBezTo>
                <a:cubicBezTo>
                  <a:pt x="-28675" y="1724153"/>
                  <a:pt x="50728" y="1588787"/>
                  <a:pt x="0" y="1450307"/>
                </a:cubicBezTo>
                <a:cubicBezTo>
                  <a:pt x="-50728" y="1311827"/>
                  <a:pt x="42143" y="1253783"/>
                  <a:pt x="0" y="1093308"/>
                </a:cubicBezTo>
                <a:cubicBezTo>
                  <a:pt x="-42143" y="932833"/>
                  <a:pt x="27427" y="758954"/>
                  <a:pt x="0" y="669372"/>
                </a:cubicBezTo>
                <a:cubicBezTo>
                  <a:pt x="-27427" y="579790"/>
                  <a:pt x="13966" y="234135"/>
                  <a:pt x="0" y="0"/>
                </a:cubicBezTo>
                <a:close/>
              </a:path>
              <a:path w="7567450" h="6693724" stroke="0" extrusionOk="0">
                <a:moveTo>
                  <a:pt x="0" y="0"/>
                </a:moveTo>
                <a:cubicBezTo>
                  <a:pt x="251543" y="-70521"/>
                  <a:pt x="452467" y="34470"/>
                  <a:pt x="657786" y="0"/>
                </a:cubicBezTo>
                <a:cubicBezTo>
                  <a:pt x="863105" y="-34470"/>
                  <a:pt x="846840" y="2508"/>
                  <a:pt x="1012874" y="0"/>
                </a:cubicBezTo>
                <a:cubicBezTo>
                  <a:pt x="1178908" y="-2508"/>
                  <a:pt x="1395397" y="53765"/>
                  <a:pt x="1519311" y="0"/>
                </a:cubicBezTo>
                <a:cubicBezTo>
                  <a:pt x="1643225" y="-53765"/>
                  <a:pt x="1992049" y="20926"/>
                  <a:pt x="2252772" y="0"/>
                </a:cubicBezTo>
                <a:cubicBezTo>
                  <a:pt x="2513495" y="-20926"/>
                  <a:pt x="2787984" y="55315"/>
                  <a:pt x="2986232" y="0"/>
                </a:cubicBezTo>
                <a:cubicBezTo>
                  <a:pt x="3184480" y="-55315"/>
                  <a:pt x="3294508" y="38743"/>
                  <a:pt x="3568344" y="0"/>
                </a:cubicBezTo>
                <a:cubicBezTo>
                  <a:pt x="3842180" y="-38743"/>
                  <a:pt x="3940566" y="37456"/>
                  <a:pt x="4226130" y="0"/>
                </a:cubicBezTo>
                <a:cubicBezTo>
                  <a:pt x="4511694" y="-37456"/>
                  <a:pt x="4695565" y="34785"/>
                  <a:pt x="4883916" y="0"/>
                </a:cubicBezTo>
                <a:cubicBezTo>
                  <a:pt x="5072267" y="-34785"/>
                  <a:pt x="5061855" y="23136"/>
                  <a:pt x="5239004" y="0"/>
                </a:cubicBezTo>
                <a:cubicBezTo>
                  <a:pt x="5416153" y="-23136"/>
                  <a:pt x="5535204" y="51012"/>
                  <a:pt x="5669766" y="0"/>
                </a:cubicBezTo>
                <a:cubicBezTo>
                  <a:pt x="5804328" y="-51012"/>
                  <a:pt x="6027925" y="26917"/>
                  <a:pt x="6176203" y="0"/>
                </a:cubicBezTo>
                <a:cubicBezTo>
                  <a:pt x="6324481" y="-26917"/>
                  <a:pt x="6414618" y="39930"/>
                  <a:pt x="6606966" y="0"/>
                </a:cubicBezTo>
                <a:cubicBezTo>
                  <a:pt x="6799314" y="-39930"/>
                  <a:pt x="6828950" y="41168"/>
                  <a:pt x="6962054" y="0"/>
                </a:cubicBezTo>
                <a:cubicBezTo>
                  <a:pt x="7095158" y="-41168"/>
                  <a:pt x="7286654" y="36807"/>
                  <a:pt x="7567450" y="0"/>
                </a:cubicBezTo>
                <a:cubicBezTo>
                  <a:pt x="7579359" y="142244"/>
                  <a:pt x="7540406" y="311035"/>
                  <a:pt x="7567450" y="423936"/>
                </a:cubicBezTo>
                <a:cubicBezTo>
                  <a:pt x="7594494" y="536837"/>
                  <a:pt x="7509132" y="790678"/>
                  <a:pt x="7567450" y="1048683"/>
                </a:cubicBezTo>
                <a:cubicBezTo>
                  <a:pt x="7625768" y="1306688"/>
                  <a:pt x="7558302" y="1520039"/>
                  <a:pt x="7567450" y="1673431"/>
                </a:cubicBezTo>
                <a:cubicBezTo>
                  <a:pt x="7576598" y="1826823"/>
                  <a:pt x="7551469" y="2061170"/>
                  <a:pt x="7567450" y="2298179"/>
                </a:cubicBezTo>
                <a:cubicBezTo>
                  <a:pt x="7583431" y="2535188"/>
                  <a:pt x="7539590" y="2622970"/>
                  <a:pt x="7567450" y="2722114"/>
                </a:cubicBezTo>
                <a:cubicBezTo>
                  <a:pt x="7595310" y="2821259"/>
                  <a:pt x="7547082" y="3089163"/>
                  <a:pt x="7567450" y="3212988"/>
                </a:cubicBezTo>
                <a:cubicBezTo>
                  <a:pt x="7587818" y="3336813"/>
                  <a:pt x="7525176" y="3538371"/>
                  <a:pt x="7567450" y="3636923"/>
                </a:cubicBezTo>
                <a:cubicBezTo>
                  <a:pt x="7609724" y="3735476"/>
                  <a:pt x="7533120" y="3902305"/>
                  <a:pt x="7567450" y="3993922"/>
                </a:cubicBezTo>
                <a:cubicBezTo>
                  <a:pt x="7601780" y="4085539"/>
                  <a:pt x="7522102" y="4295193"/>
                  <a:pt x="7567450" y="4551732"/>
                </a:cubicBezTo>
                <a:cubicBezTo>
                  <a:pt x="7612798" y="4808271"/>
                  <a:pt x="7504908" y="4978619"/>
                  <a:pt x="7567450" y="5109543"/>
                </a:cubicBezTo>
                <a:cubicBezTo>
                  <a:pt x="7629992" y="5240467"/>
                  <a:pt x="7544909" y="5540315"/>
                  <a:pt x="7567450" y="5734290"/>
                </a:cubicBezTo>
                <a:cubicBezTo>
                  <a:pt x="7589991" y="5928265"/>
                  <a:pt x="7527177" y="5950189"/>
                  <a:pt x="7567450" y="6091289"/>
                </a:cubicBezTo>
                <a:cubicBezTo>
                  <a:pt x="7607723" y="6232389"/>
                  <a:pt x="7539148" y="6562302"/>
                  <a:pt x="7567450" y="6693724"/>
                </a:cubicBezTo>
                <a:cubicBezTo>
                  <a:pt x="7356202" y="6755621"/>
                  <a:pt x="7126826" y="6630544"/>
                  <a:pt x="6985338" y="6693724"/>
                </a:cubicBezTo>
                <a:cubicBezTo>
                  <a:pt x="6843850" y="6756904"/>
                  <a:pt x="6755045" y="6644796"/>
                  <a:pt x="6554576" y="6693724"/>
                </a:cubicBezTo>
                <a:cubicBezTo>
                  <a:pt x="6354107" y="6742652"/>
                  <a:pt x="6086789" y="6666370"/>
                  <a:pt x="5896790" y="6693724"/>
                </a:cubicBezTo>
                <a:cubicBezTo>
                  <a:pt x="5706791" y="6721078"/>
                  <a:pt x="5558933" y="6635362"/>
                  <a:pt x="5239004" y="6693724"/>
                </a:cubicBezTo>
                <a:cubicBezTo>
                  <a:pt x="4919075" y="6752086"/>
                  <a:pt x="4730278" y="6678819"/>
                  <a:pt x="4581218" y="6693724"/>
                </a:cubicBezTo>
                <a:cubicBezTo>
                  <a:pt x="4432158" y="6708629"/>
                  <a:pt x="4204778" y="6680203"/>
                  <a:pt x="4074781" y="6693724"/>
                </a:cubicBezTo>
                <a:cubicBezTo>
                  <a:pt x="3944784" y="6707245"/>
                  <a:pt x="3837220" y="6666223"/>
                  <a:pt x="3644018" y="6693724"/>
                </a:cubicBezTo>
                <a:cubicBezTo>
                  <a:pt x="3450816" y="6721225"/>
                  <a:pt x="3189019" y="6635026"/>
                  <a:pt x="2986232" y="6693724"/>
                </a:cubicBezTo>
                <a:cubicBezTo>
                  <a:pt x="2783445" y="6752422"/>
                  <a:pt x="2634867" y="6646680"/>
                  <a:pt x="2404121" y="6693724"/>
                </a:cubicBezTo>
                <a:cubicBezTo>
                  <a:pt x="2173375" y="6740768"/>
                  <a:pt x="2138159" y="6635497"/>
                  <a:pt x="1897684" y="6693724"/>
                </a:cubicBezTo>
                <a:cubicBezTo>
                  <a:pt x="1657209" y="6751951"/>
                  <a:pt x="1460265" y="6658326"/>
                  <a:pt x="1315572" y="6693724"/>
                </a:cubicBezTo>
                <a:cubicBezTo>
                  <a:pt x="1170879" y="6729122"/>
                  <a:pt x="1045885" y="6690060"/>
                  <a:pt x="960484" y="6693724"/>
                </a:cubicBezTo>
                <a:cubicBezTo>
                  <a:pt x="875083" y="6697388"/>
                  <a:pt x="691427" y="6685111"/>
                  <a:pt x="529721" y="6693724"/>
                </a:cubicBezTo>
                <a:cubicBezTo>
                  <a:pt x="368015" y="6702337"/>
                  <a:pt x="108058" y="6658740"/>
                  <a:pt x="0" y="6693724"/>
                </a:cubicBezTo>
                <a:cubicBezTo>
                  <a:pt x="-21895" y="6557316"/>
                  <a:pt x="28894" y="6449358"/>
                  <a:pt x="0" y="6269788"/>
                </a:cubicBezTo>
                <a:cubicBezTo>
                  <a:pt x="-28894" y="6090218"/>
                  <a:pt x="18666" y="5851360"/>
                  <a:pt x="0" y="5645041"/>
                </a:cubicBezTo>
                <a:cubicBezTo>
                  <a:pt x="-18666" y="5438722"/>
                  <a:pt x="51006" y="5395656"/>
                  <a:pt x="0" y="5154167"/>
                </a:cubicBezTo>
                <a:cubicBezTo>
                  <a:pt x="-51006" y="4912678"/>
                  <a:pt x="2681" y="4899907"/>
                  <a:pt x="0" y="4730232"/>
                </a:cubicBezTo>
                <a:cubicBezTo>
                  <a:pt x="-2681" y="4560558"/>
                  <a:pt x="71753" y="4252760"/>
                  <a:pt x="0" y="4038547"/>
                </a:cubicBezTo>
                <a:cubicBezTo>
                  <a:pt x="-71753" y="3824334"/>
                  <a:pt x="66462" y="3751248"/>
                  <a:pt x="0" y="3480736"/>
                </a:cubicBezTo>
                <a:cubicBezTo>
                  <a:pt x="-66462" y="3210224"/>
                  <a:pt x="53484" y="3155702"/>
                  <a:pt x="0" y="2989863"/>
                </a:cubicBezTo>
                <a:cubicBezTo>
                  <a:pt x="-53484" y="2824024"/>
                  <a:pt x="3673" y="2694905"/>
                  <a:pt x="0" y="2565928"/>
                </a:cubicBezTo>
                <a:cubicBezTo>
                  <a:pt x="-3673" y="2436951"/>
                  <a:pt x="72617" y="2136185"/>
                  <a:pt x="0" y="1874243"/>
                </a:cubicBezTo>
                <a:cubicBezTo>
                  <a:pt x="-72617" y="1612301"/>
                  <a:pt x="5264" y="1622430"/>
                  <a:pt x="0" y="1383370"/>
                </a:cubicBezTo>
                <a:cubicBezTo>
                  <a:pt x="-5264" y="1144310"/>
                  <a:pt x="41186" y="980073"/>
                  <a:pt x="0" y="758622"/>
                </a:cubicBezTo>
                <a:cubicBezTo>
                  <a:pt x="-41186" y="537171"/>
                  <a:pt x="51978" y="232218"/>
                  <a:pt x="0" y="0"/>
                </a:cubicBezTo>
                <a:close/>
              </a:path>
            </a:pathLst>
          </a:custGeom>
          <a:solidFill>
            <a:schemeClr val="bg1">
              <a:lumMod val="95000"/>
            </a:schemeClr>
          </a:solidFill>
          <a:ln w="38100">
            <a:solidFill>
              <a:srgbClr val="00B050"/>
            </a:solidFill>
            <a:extLst>
              <a:ext uri="{C807C97D-BFC1-408E-A445-0C87EB9F89A2}">
                <ask:lineSketchStyleProps xmlns:ask="http://schemas.microsoft.com/office/drawing/2018/sketchyshapes" xmlns="" sd="2441614996">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In our example of the “</a:t>
            </a:r>
            <a:r>
              <a:rPr lang="en-GB" dirty="0" err="1">
                <a:solidFill>
                  <a:schemeClr val="tx1"/>
                </a:solidFill>
              </a:rPr>
              <a:t>getUp</a:t>
            </a:r>
            <a:r>
              <a:rPr lang="en-GB" dirty="0">
                <a:solidFill>
                  <a:schemeClr val="tx1"/>
                </a:solidFill>
              </a:rPr>
              <a:t>” program, we had created a number of sub routines, or user defined functions. </a:t>
            </a:r>
          </a:p>
          <a:p>
            <a:endParaRPr lang="en-GB" dirty="0">
              <a:solidFill>
                <a:schemeClr val="tx1"/>
              </a:solidFill>
            </a:endParaRPr>
          </a:p>
          <a:p>
            <a:r>
              <a:rPr lang="en-GB" dirty="0">
                <a:solidFill>
                  <a:schemeClr val="tx1"/>
                </a:solidFill>
              </a:rPr>
              <a:t>For example, we had parameters for </a:t>
            </a:r>
            <a:r>
              <a:rPr lang="en-GB" dirty="0" err="1">
                <a:solidFill>
                  <a:schemeClr val="tx1"/>
                </a:solidFill>
              </a:rPr>
              <a:t>learnSubject</a:t>
            </a:r>
            <a:r>
              <a:rPr lang="en-GB" dirty="0">
                <a:solidFill>
                  <a:schemeClr val="tx1"/>
                </a:solidFill>
              </a:rPr>
              <a:t>(“mathematics”);</a:t>
            </a:r>
          </a:p>
          <a:p>
            <a:endParaRPr lang="en-GB" dirty="0">
              <a:solidFill>
                <a:schemeClr val="tx1"/>
              </a:solidFill>
            </a:endParaRPr>
          </a:p>
          <a:p>
            <a:r>
              <a:rPr lang="en-GB" dirty="0">
                <a:solidFill>
                  <a:schemeClr val="tx1"/>
                </a:solidFill>
              </a:rPr>
              <a:t>The “Mathematics” is being used as an input into this user defined function.</a:t>
            </a:r>
          </a:p>
          <a:p>
            <a:endParaRPr lang="en-GB" dirty="0">
              <a:solidFill>
                <a:schemeClr val="tx1"/>
              </a:solidFill>
            </a:endParaRPr>
          </a:p>
          <a:p>
            <a:r>
              <a:rPr lang="en-GB" dirty="0">
                <a:solidFill>
                  <a:schemeClr val="tx1"/>
                </a:solidFill>
              </a:rPr>
              <a:t>We don’t have an output to this yet, but we could have a variable such as “</a:t>
            </a:r>
            <a:r>
              <a:rPr lang="en-GB" dirty="0" err="1">
                <a:solidFill>
                  <a:schemeClr val="tx1"/>
                </a:solidFill>
              </a:rPr>
              <a:t>lastTopicLearnt</a:t>
            </a:r>
            <a:r>
              <a:rPr lang="en-GB" dirty="0">
                <a:solidFill>
                  <a:schemeClr val="tx1"/>
                </a:solidFill>
              </a:rPr>
              <a:t>” in the main thread of the program;</a:t>
            </a:r>
          </a:p>
          <a:p>
            <a:r>
              <a:rPr lang="en-GB" dirty="0">
                <a:solidFill>
                  <a:schemeClr val="tx1"/>
                </a:solidFill>
              </a:rPr>
              <a:t>	</a:t>
            </a:r>
          </a:p>
          <a:p>
            <a:r>
              <a:rPr lang="en-GB" dirty="0">
                <a:solidFill>
                  <a:schemeClr val="tx1"/>
                </a:solidFill>
                <a:latin typeface="Bell MT" panose="02020503060305020303" pitchFamily="18" charset="0"/>
              </a:rPr>
              <a:t>	string </a:t>
            </a:r>
            <a:r>
              <a:rPr lang="en-GB" dirty="0" err="1">
                <a:solidFill>
                  <a:schemeClr val="tx1"/>
                </a:solidFill>
                <a:latin typeface="Bell MT" panose="02020503060305020303" pitchFamily="18" charset="0"/>
              </a:rPr>
              <a:t>lastTopicLearnt</a:t>
            </a:r>
            <a:r>
              <a:rPr lang="en-GB" dirty="0">
                <a:solidFill>
                  <a:schemeClr val="tx1"/>
                </a:solidFill>
                <a:latin typeface="Bell MT" panose="02020503060305020303" pitchFamily="18" charset="0"/>
              </a:rPr>
              <a:t> = “”;</a:t>
            </a:r>
          </a:p>
          <a:p>
            <a:r>
              <a:rPr lang="en-GB" dirty="0">
                <a:solidFill>
                  <a:schemeClr val="tx1"/>
                </a:solidFill>
                <a:latin typeface="Bell MT" panose="02020503060305020303" pitchFamily="18" charset="0"/>
              </a:rPr>
              <a:t>	wakeup();</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makeTea</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goToSchool</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lastTopicLearnt</a:t>
            </a:r>
            <a:r>
              <a:rPr lang="en-GB" dirty="0">
                <a:solidFill>
                  <a:schemeClr val="tx1"/>
                </a:solidFill>
                <a:latin typeface="Bell MT" panose="02020503060305020303" pitchFamily="18" charset="0"/>
              </a:rPr>
              <a:t> =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a:t>
            </a:r>
            <a:r>
              <a:rPr lang="en-GB" dirty="0" err="1">
                <a:solidFill>
                  <a:schemeClr val="tx1"/>
                </a:solidFill>
                <a:latin typeface="Bell MT" panose="02020503060305020303" pitchFamily="18" charset="0"/>
              </a:rPr>
              <a:t>Mathematicss</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lastTopicLearnt</a:t>
            </a:r>
            <a:r>
              <a:rPr lang="en-GB" dirty="0">
                <a:solidFill>
                  <a:schemeClr val="tx1"/>
                </a:solidFill>
                <a:latin typeface="Bell MT" panose="02020503060305020303" pitchFamily="18" charset="0"/>
              </a:rPr>
              <a:t> =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(“Digital Technology”);</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lastTopicLearnt</a:t>
            </a:r>
            <a:r>
              <a:rPr lang="en-GB" dirty="0">
                <a:solidFill>
                  <a:schemeClr val="tx1"/>
                </a:solidFill>
                <a:latin typeface="Bell MT" panose="02020503060305020303" pitchFamily="18" charset="0"/>
              </a:rPr>
              <a:t> = </a:t>
            </a:r>
            <a:r>
              <a:rPr lang="en-GB" dirty="0" err="1">
                <a:solidFill>
                  <a:schemeClr val="tx1"/>
                </a:solidFill>
                <a:latin typeface="Bell MT" panose="02020503060305020303" pitchFamily="18" charset="0"/>
              </a:rPr>
              <a:t>learnSubjects</a:t>
            </a:r>
            <a:r>
              <a:rPr lang="en-GB" dirty="0">
                <a:solidFill>
                  <a:schemeClr val="tx1"/>
                </a:solidFill>
                <a:latin typeface="Bell MT" panose="02020503060305020303" pitchFamily="18" charset="0"/>
              </a:rPr>
              <a:t>(“English”);</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goHome</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makeTea</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a:t>
            </a:r>
            <a:r>
              <a:rPr lang="en-GB" dirty="0" err="1">
                <a:solidFill>
                  <a:schemeClr val="tx1"/>
                </a:solidFill>
                <a:latin typeface="Bell MT" panose="02020503060305020303" pitchFamily="18" charset="0"/>
              </a:rPr>
              <a:t>goToBed</a:t>
            </a:r>
            <a:r>
              <a:rPr lang="en-GB" dirty="0">
                <a:solidFill>
                  <a:schemeClr val="tx1"/>
                </a:solidFill>
                <a:latin typeface="Bell MT" panose="02020503060305020303" pitchFamily="18" charset="0"/>
              </a:rPr>
              <a:t>();</a:t>
            </a:r>
          </a:p>
          <a:p>
            <a:r>
              <a:rPr lang="en-GB" dirty="0">
                <a:solidFill>
                  <a:schemeClr val="tx1"/>
                </a:solidFill>
                <a:latin typeface="Bell MT" panose="02020503060305020303" pitchFamily="18" charset="0"/>
              </a:rPr>
              <a:t>	output </a:t>
            </a:r>
            <a:r>
              <a:rPr lang="en-GB" dirty="0" err="1">
                <a:solidFill>
                  <a:schemeClr val="tx1"/>
                </a:solidFill>
                <a:latin typeface="Bell MT" panose="02020503060305020303" pitchFamily="18" charset="0"/>
              </a:rPr>
              <a:t>lastTopicLearnt</a:t>
            </a:r>
            <a:r>
              <a:rPr lang="en-GB" dirty="0">
                <a:solidFill>
                  <a:schemeClr val="tx1"/>
                </a:solidFill>
                <a:latin typeface="Bell MT" panose="02020503060305020303" pitchFamily="18" charset="0"/>
              </a:rPr>
              <a:t>;</a:t>
            </a:r>
          </a:p>
          <a:p>
            <a:endParaRPr lang="en-GB" dirty="0">
              <a:solidFill>
                <a:schemeClr val="tx1"/>
              </a:solidFill>
            </a:endParaRPr>
          </a:p>
          <a:p>
            <a:r>
              <a:rPr lang="en-GB" dirty="0">
                <a:solidFill>
                  <a:schemeClr val="tx1"/>
                </a:solidFill>
              </a:rPr>
              <a:t>The main thread now will get access to something like “</a:t>
            </a:r>
            <a:r>
              <a:rPr lang="en-GB" dirty="0" err="1">
                <a:solidFill>
                  <a:schemeClr val="tx1"/>
                </a:solidFill>
              </a:rPr>
              <a:t>Similies</a:t>
            </a:r>
            <a:r>
              <a:rPr lang="en-GB" dirty="0">
                <a:solidFill>
                  <a:schemeClr val="tx1"/>
                </a:solidFill>
              </a:rPr>
              <a:t>” which came out of the user defined function</a:t>
            </a:r>
          </a:p>
        </p:txBody>
      </p:sp>
      <p:pic>
        <p:nvPicPr>
          <p:cNvPr id="5"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9416" y="1600201"/>
            <a:ext cx="638503" cy="638503"/>
          </a:xfrm>
          <a:prstGeom prst="rect">
            <a:avLst/>
          </a:prstGeom>
        </p:spPr>
      </p:pic>
    </p:spTree>
    <p:extLst>
      <p:ext uri="{BB962C8B-B14F-4D97-AF65-F5344CB8AC3E}">
        <p14:creationId xmlns:p14="http://schemas.microsoft.com/office/powerpoint/2010/main" val="1045074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F9D3B8-FCF9-3604-1605-B896C697884F}"/>
              </a:ext>
            </a:extLst>
          </p:cNvPr>
          <p:cNvSpPr>
            <a:spLocks noGrp="1"/>
          </p:cNvSpPr>
          <p:nvPr>
            <p:ph type="title"/>
          </p:nvPr>
        </p:nvSpPr>
        <p:spPr>
          <a:xfrm>
            <a:off x="-13828" y="-216059"/>
            <a:ext cx="10516728" cy="1320960"/>
          </a:xfrm>
        </p:spPr>
        <p:txBody>
          <a:bodyPr>
            <a:normAutofit/>
          </a:bodyPr>
          <a:lstStyle/>
          <a:p>
            <a:r>
              <a:rPr lang="en-GB" sz="4000" dirty="0"/>
              <a:t>Object Oriented Programming </a:t>
            </a:r>
          </a:p>
        </p:txBody>
      </p:sp>
      <p:sp>
        <p:nvSpPr>
          <p:cNvPr id="3" name="Content Placeholder 2">
            <a:extLst>
              <a:ext uri="{FF2B5EF4-FFF2-40B4-BE49-F238E27FC236}">
                <a16:creationId xmlns:a16="http://schemas.microsoft.com/office/drawing/2014/main" xmlns="" id="{4C8365EF-DECD-AABE-E19F-20CE03207DBE}"/>
              </a:ext>
            </a:extLst>
          </p:cNvPr>
          <p:cNvSpPr>
            <a:spLocks noGrp="1"/>
          </p:cNvSpPr>
          <p:nvPr>
            <p:ph idx="1"/>
          </p:nvPr>
        </p:nvSpPr>
        <p:spPr>
          <a:xfrm>
            <a:off x="71048" y="1104902"/>
            <a:ext cx="6257340" cy="5700124"/>
          </a:xfrm>
        </p:spPr>
        <p:txBody>
          <a:bodyPr>
            <a:normAutofit fontScale="92500"/>
          </a:bodyPr>
          <a:lstStyle/>
          <a:p>
            <a:r>
              <a:rPr lang="en-GB" dirty="0"/>
              <a:t>Uses the concept of </a:t>
            </a:r>
            <a:r>
              <a:rPr lang="en-GB" b="1" dirty="0"/>
              <a:t>objects</a:t>
            </a:r>
            <a:endParaRPr lang="en-GB" dirty="0"/>
          </a:p>
          <a:p>
            <a:pPr lvl="1"/>
            <a:r>
              <a:rPr lang="en-GB" dirty="0"/>
              <a:t>This object contains </a:t>
            </a:r>
            <a:r>
              <a:rPr lang="en-GB" b="1" dirty="0"/>
              <a:t>properties</a:t>
            </a:r>
            <a:r>
              <a:rPr lang="en-GB" dirty="0"/>
              <a:t> (data) being processed</a:t>
            </a:r>
          </a:p>
          <a:p>
            <a:pPr lvl="1"/>
            <a:r>
              <a:rPr lang="en-GB" dirty="0"/>
              <a:t>The tasks being performed on the properties are called </a:t>
            </a:r>
            <a:r>
              <a:rPr lang="en-GB" b="1" dirty="0"/>
              <a:t>methods</a:t>
            </a:r>
            <a:r>
              <a:rPr lang="en-GB" dirty="0"/>
              <a:t>.</a:t>
            </a:r>
          </a:p>
          <a:p>
            <a:pPr lvl="1"/>
            <a:endParaRPr lang="en-US" dirty="0"/>
          </a:p>
          <a:p>
            <a:pPr marL="723900" lvl="1" indent="0">
              <a:buNone/>
            </a:pPr>
            <a:r>
              <a:rPr lang="en-US" sz="2800" dirty="0"/>
              <a:t>An </a:t>
            </a:r>
            <a:r>
              <a:rPr lang="en-US" sz="2800" b="1" dirty="0"/>
              <a:t>object</a:t>
            </a:r>
            <a:r>
              <a:rPr lang="en-US" sz="2800" dirty="0"/>
              <a:t> is an instance of a class containing variables, functions, and data structures.</a:t>
            </a:r>
            <a:endParaRPr lang="en-GB" sz="2800" dirty="0"/>
          </a:p>
          <a:p>
            <a:pPr lvl="1"/>
            <a:endParaRPr lang="en-GB" dirty="0"/>
          </a:p>
          <a:p>
            <a:pPr marL="723900" indent="0">
              <a:buNone/>
            </a:pPr>
            <a:r>
              <a:rPr lang="en-GB" dirty="0"/>
              <a:t>A </a:t>
            </a:r>
            <a:r>
              <a:rPr lang="en-GB" b="1" dirty="0"/>
              <a:t>Class</a:t>
            </a:r>
            <a:r>
              <a:rPr lang="en-GB" dirty="0"/>
              <a:t> defines the properties and methods for a group of objects, (a bit like a template or blueprint), where each class can instantiate many individual objects.</a:t>
            </a:r>
          </a:p>
          <a:p>
            <a:endParaRPr lang="en-GB" dirty="0"/>
          </a:p>
        </p:txBody>
      </p:sp>
      <p:pic>
        <p:nvPicPr>
          <p:cNvPr id="4" name="3D Model 3" descr="Male Spiky Hair">
            <a:extLst>
              <a:ext uri="{FF2B5EF4-FFF2-40B4-BE49-F238E27FC236}">
                <a16:creationId xmlns:a16="http://schemas.microsoft.com/office/drawing/2014/main" xmlns="" id="{653A3643-48C5-3640-624B-4A3A6B4CF556}"/>
              </a:ext>
            </a:extLst>
          </p:cNvPr>
          <p:cNvPicPr>
            <a:picLocks noGrp="1" noRot="1" noChangeAspect="1" noMove="1" noResize="1" noEditPoints="1" noAdjustHandles="1" noChangeArrowheads="1" noChangeShapeType="1" noCrop="1"/>
          </p:cNvPicPr>
          <p:nvPr/>
        </p:nvPicPr>
        <p:blipFill>
          <a:blip r:embed="rId4"/>
          <a:stretch>
            <a:fillRect/>
          </a:stretch>
        </p:blipFill>
        <p:spPr>
          <a:xfrm>
            <a:off x="7979853" y="1360214"/>
            <a:ext cx="3386667" cy="3848486"/>
          </a:xfrm>
          <a:prstGeom prst="rect">
            <a:avLst/>
          </a:prstGeom>
        </p:spPr>
      </p:pic>
      <p:grpSp>
        <p:nvGrpSpPr>
          <p:cNvPr id="9" name="Group 8">
            <a:extLst>
              <a:ext uri="{FF2B5EF4-FFF2-40B4-BE49-F238E27FC236}">
                <a16:creationId xmlns:a16="http://schemas.microsoft.com/office/drawing/2014/main" xmlns="" id="{2EF94B62-9376-DA86-2673-C9DB78CF7BA4}"/>
              </a:ext>
            </a:extLst>
          </p:cNvPr>
          <p:cNvGrpSpPr/>
          <p:nvPr/>
        </p:nvGrpSpPr>
        <p:grpSpPr>
          <a:xfrm>
            <a:off x="8111359" y="2128345"/>
            <a:ext cx="1001110" cy="362607"/>
            <a:chOff x="8111359" y="2128345"/>
            <a:chExt cx="1001110" cy="362607"/>
          </a:xfrm>
        </p:grpSpPr>
        <p:cxnSp>
          <p:nvCxnSpPr>
            <p:cNvPr id="6" name="Straight Connector 5">
              <a:extLst>
                <a:ext uri="{FF2B5EF4-FFF2-40B4-BE49-F238E27FC236}">
                  <a16:creationId xmlns:a16="http://schemas.microsoft.com/office/drawing/2014/main" xmlns="" id="{4A3E88BB-C606-1456-9504-D851A786612A}"/>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C333EB99-3E20-7BF5-D569-72E331835F3E}"/>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xmlns="" id="{0FD49646-9B45-3CBF-761A-01C87795EEBE}"/>
              </a:ext>
            </a:extLst>
          </p:cNvPr>
          <p:cNvGrpSpPr/>
          <p:nvPr/>
        </p:nvGrpSpPr>
        <p:grpSpPr>
          <a:xfrm>
            <a:off x="8119242" y="4164411"/>
            <a:ext cx="1119351" cy="405276"/>
            <a:chOff x="8111359" y="1730952"/>
            <a:chExt cx="1119351" cy="405276"/>
          </a:xfrm>
        </p:grpSpPr>
        <p:cxnSp>
          <p:nvCxnSpPr>
            <p:cNvPr id="14" name="Straight Connector 13">
              <a:extLst>
                <a:ext uri="{FF2B5EF4-FFF2-40B4-BE49-F238E27FC236}">
                  <a16:creationId xmlns:a16="http://schemas.microsoft.com/office/drawing/2014/main" xmlns="" id="{55B01E37-3004-5377-58CC-E5F29BB11C94}"/>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C87BCAC7-C94A-F42D-1A58-77D053B2E83A}"/>
                </a:ext>
              </a:extLst>
            </p:cNvPr>
            <p:cNvCxnSpPr>
              <a:cxnSpLocks/>
            </p:cNvCxnSpPr>
            <p:nvPr/>
          </p:nvCxnSpPr>
          <p:spPr>
            <a:xfrm flipV="1">
              <a:off x="8663152" y="1730952"/>
              <a:ext cx="567558" cy="397393"/>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xmlns="" id="{019269C7-EDB3-B031-3518-50C5A89C1575}"/>
              </a:ext>
            </a:extLst>
          </p:cNvPr>
          <p:cNvGrpSpPr/>
          <p:nvPr/>
        </p:nvGrpSpPr>
        <p:grpSpPr>
          <a:xfrm flipH="1">
            <a:off x="10114131" y="2572408"/>
            <a:ext cx="951186" cy="362607"/>
            <a:chOff x="8111359" y="2128345"/>
            <a:chExt cx="1001110" cy="362607"/>
          </a:xfrm>
        </p:grpSpPr>
        <p:cxnSp>
          <p:nvCxnSpPr>
            <p:cNvPr id="18" name="Straight Connector 17">
              <a:extLst>
                <a:ext uri="{FF2B5EF4-FFF2-40B4-BE49-F238E27FC236}">
                  <a16:creationId xmlns:a16="http://schemas.microsoft.com/office/drawing/2014/main" xmlns="" id="{E19C138C-1861-A56D-3F78-C3E62E992AC6}"/>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3E328F5D-3885-5FFC-E307-C2C23D317B31}"/>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xmlns="" id="{F83E6627-595C-4D48-7257-11A5F3EA73FF}"/>
              </a:ext>
            </a:extLst>
          </p:cNvPr>
          <p:cNvGrpSpPr/>
          <p:nvPr/>
        </p:nvGrpSpPr>
        <p:grpSpPr>
          <a:xfrm flipV="1">
            <a:off x="10234449" y="3521607"/>
            <a:ext cx="1119351" cy="438259"/>
            <a:chOff x="8111359" y="1730952"/>
            <a:chExt cx="1119351" cy="405276"/>
          </a:xfrm>
        </p:grpSpPr>
        <p:cxnSp>
          <p:nvCxnSpPr>
            <p:cNvPr id="24" name="Straight Connector 23">
              <a:extLst>
                <a:ext uri="{FF2B5EF4-FFF2-40B4-BE49-F238E27FC236}">
                  <a16:creationId xmlns:a16="http://schemas.microsoft.com/office/drawing/2014/main" xmlns="" id="{CE806BCC-6CE8-29A3-DF7A-95A204A21778}"/>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89A18AD3-E72D-52B3-5E5B-24F82DEEA026}"/>
                </a:ext>
              </a:extLst>
            </p:cNvPr>
            <p:cNvCxnSpPr>
              <a:cxnSpLocks/>
            </p:cNvCxnSpPr>
            <p:nvPr/>
          </p:nvCxnSpPr>
          <p:spPr>
            <a:xfrm flipV="1">
              <a:off x="8663152" y="1730952"/>
              <a:ext cx="567558" cy="397393"/>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xmlns="" id="{CFB3A077-CB8E-56C7-7FDC-08EAEC7BB635}"/>
              </a:ext>
            </a:extLst>
          </p:cNvPr>
          <p:cNvSpPr txBox="1"/>
          <p:nvPr/>
        </p:nvSpPr>
        <p:spPr>
          <a:xfrm>
            <a:off x="6890845" y="1951562"/>
            <a:ext cx="1347952" cy="369332"/>
          </a:xfrm>
          <a:prstGeom prst="rect">
            <a:avLst/>
          </a:prstGeom>
          <a:noFill/>
        </p:spPr>
        <p:txBody>
          <a:bodyPr wrap="square" rtlCol="0">
            <a:spAutoFit/>
          </a:bodyPr>
          <a:lstStyle/>
          <a:p>
            <a:r>
              <a:rPr lang="en-GB" dirty="0" err="1">
                <a:solidFill>
                  <a:srgbClr val="07E073"/>
                </a:solidFill>
              </a:rPr>
              <a:t>pupilName</a:t>
            </a:r>
            <a:endParaRPr lang="en-GB" dirty="0">
              <a:solidFill>
                <a:srgbClr val="07E073"/>
              </a:solidFill>
            </a:endParaRPr>
          </a:p>
        </p:txBody>
      </p:sp>
      <p:sp>
        <p:nvSpPr>
          <p:cNvPr id="27" name="TextBox 26">
            <a:extLst>
              <a:ext uri="{FF2B5EF4-FFF2-40B4-BE49-F238E27FC236}">
                <a16:creationId xmlns:a16="http://schemas.microsoft.com/office/drawing/2014/main" xmlns="" id="{638C6A76-F81D-E735-E48E-B58742415FD2}"/>
              </a:ext>
            </a:extLst>
          </p:cNvPr>
          <p:cNvSpPr txBox="1"/>
          <p:nvPr/>
        </p:nvSpPr>
        <p:spPr>
          <a:xfrm>
            <a:off x="11070021" y="2371762"/>
            <a:ext cx="1347952" cy="369332"/>
          </a:xfrm>
          <a:prstGeom prst="rect">
            <a:avLst/>
          </a:prstGeom>
          <a:noFill/>
        </p:spPr>
        <p:txBody>
          <a:bodyPr wrap="square" rtlCol="0">
            <a:spAutoFit/>
          </a:bodyPr>
          <a:lstStyle/>
          <a:p>
            <a:r>
              <a:rPr lang="en-GB" dirty="0">
                <a:solidFill>
                  <a:srgbClr val="07E073"/>
                </a:solidFill>
              </a:rPr>
              <a:t>gender</a:t>
            </a:r>
          </a:p>
        </p:txBody>
      </p:sp>
      <p:sp>
        <p:nvSpPr>
          <p:cNvPr id="28" name="TextBox 27">
            <a:extLst>
              <a:ext uri="{FF2B5EF4-FFF2-40B4-BE49-F238E27FC236}">
                <a16:creationId xmlns:a16="http://schemas.microsoft.com/office/drawing/2014/main" xmlns="" id="{09297D92-92D3-9F35-0E6D-230006F01D37}"/>
              </a:ext>
            </a:extLst>
          </p:cNvPr>
          <p:cNvSpPr txBox="1"/>
          <p:nvPr/>
        </p:nvSpPr>
        <p:spPr>
          <a:xfrm>
            <a:off x="6333092" y="4352912"/>
            <a:ext cx="1913588" cy="369332"/>
          </a:xfrm>
          <a:prstGeom prst="rect">
            <a:avLst/>
          </a:prstGeom>
          <a:noFill/>
        </p:spPr>
        <p:txBody>
          <a:bodyPr wrap="square" rtlCol="0">
            <a:spAutoFit/>
          </a:bodyPr>
          <a:lstStyle/>
          <a:p>
            <a:r>
              <a:rPr lang="en-GB" dirty="0" err="1">
                <a:solidFill>
                  <a:srgbClr val="07E073"/>
                </a:solidFill>
              </a:rPr>
              <a:t>favouriteAnimal</a:t>
            </a:r>
            <a:endParaRPr lang="en-GB" dirty="0">
              <a:solidFill>
                <a:srgbClr val="07E073"/>
              </a:solidFill>
            </a:endParaRPr>
          </a:p>
        </p:txBody>
      </p:sp>
      <p:sp>
        <p:nvSpPr>
          <p:cNvPr id="29" name="TextBox 28">
            <a:extLst>
              <a:ext uri="{FF2B5EF4-FFF2-40B4-BE49-F238E27FC236}">
                <a16:creationId xmlns:a16="http://schemas.microsoft.com/office/drawing/2014/main" xmlns="" id="{6A642CE1-1B7B-17D1-F589-FE266FCB4631}"/>
              </a:ext>
            </a:extLst>
          </p:cNvPr>
          <p:cNvSpPr txBox="1"/>
          <p:nvPr/>
        </p:nvSpPr>
        <p:spPr>
          <a:xfrm>
            <a:off x="10337801" y="3968390"/>
            <a:ext cx="1854200" cy="369332"/>
          </a:xfrm>
          <a:prstGeom prst="rect">
            <a:avLst/>
          </a:prstGeom>
          <a:noFill/>
        </p:spPr>
        <p:txBody>
          <a:bodyPr wrap="square" rtlCol="0">
            <a:spAutoFit/>
          </a:bodyPr>
          <a:lstStyle/>
          <a:p>
            <a:r>
              <a:rPr lang="en-GB" dirty="0" err="1">
                <a:solidFill>
                  <a:srgbClr val="07E073"/>
                </a:solidFill>
              </a:rPr>
              <a:t>favouriteColour</a:t>
            </a:r>
            <a:endParaRPr lang="en-GB" dirty="0">
              <a:solidFill>
                <a:srgbClr val="07E073"/>
              </a:solidFill>
            </a:endParaRPr>
          </a:p>
        </p:txBody>
      </p:sp>
      <p:sp>
        <p:nvSpPr>
          <p:cNvPr id="30" name="TextBox 29">
            <a:extLst>
              <a:ext uri="{FF2B5EF4-FFF2-40B4-BE49-F238E27FC236}">
                <a16:creationId xmlns:a16="http://schemas.microsoft.com/office/drawing/2014/main" xmlns="" id="{615863EF-D3F8-668F-8B41-78DCE75FE641}"/>
              </a:ext>
            </a:extLst>
          </p:cNvPr>
          <p:cNvSpPr txBox="1"/>
          <p:nvPr/>
        </p:nvSpPr>
        <p:spPr>
          <a:xfrm>
            <a:off x="10772999" y="5002496"/>
            <a:ext cx="1347952" cy="369332"/>
          </a:xfrm>
          <a:prstGeom prst="rect">
            <a:avLst/>
          </a:prstGeom>
          <a:noFill/>
        </p:spPr>
        <p:txBody>
          <a:bodyPr wrap="square" rtlCol="0">
            <a:spAutoFit/>
          </a:bodyPr>
          <a:lstStyle/>
          <a:p>
            <a:r>
              <a:rPr lang="en-GB" dirty="0" err="1">
                <a:solidFill>
                  <a:srgbClr val="07E073"/>
                </a:solidFill>
              </a:rPr>
              <a:t>pupilAge</a:t>
            </a:r>
            <a:endParaRPr lang="en-GB" dirty="0">
              <a:solidFill>
                <a:srgbClr val="07E073"/>
              </a:solidFill>
            </a:endParaRPr>
          </a:p>
        </p:txBody>
      </p:sp>
      <p:grpSp>
        <p:nvGrpSpPr>
          <p:cNvPr id="31" name="Group 30">
            <a:extLst>
              <a:ext uri="{FF2B5EF4-FFF2-40B4-BE49-F238E27FC236}">
                <a16:creationId xmlns:a16="http://schemas.microsoft.com/office/drawing/2014/main" xmlns="" id="{BB4253BE-C6FD-D0F4-A8D3-9ADFF3862385}"/>
              </a:ext>
            </a:extLst>
          </p:cNvPr>
          <p:cNvGrpSpPr/>
          <p:nvPr/>
        </p:nvGrpSpPr>
        <p:grpSpPr>
          <a:xfrm>
            <a:off x="10092705" y="4697791"/>
            <a:ext cx="1001110" cy="362607"/>
            <a:chOff x="8111359" y="2128345"/>
            <a:chExt cx="1001110" cy="362607"/>
          </a:xfrm>
        </p:grpSpPr>
        <p:cxnSp>
          <p:nvCxnSpPr>
            <p:cNvPr id="32" name="Straight Connector 31">
              <a:extLst>
                <a:ext uri="{FF2B5EF4-FFF2-40B4-BE49-F238E27FC236}">
                  <a16:creationId xmlns:a16="http://schemas.microsoft.com/office/drawing/2014/main" xmlns="" id="{F4518D2B-FB9C-11AB-9D2F-FFE78D77E61E}"/>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CE888C41-04AC-91A6-683D-CC14429A457F}"/>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xmlns="" id="{6C231D05-B6C3-F41D-8AC5-9849E3AE7320}"/>
              </a:ext>
            </a:extLst>
          </p:cNvPr>
          <p:cNvSpPr txBox="1"/>
          <p:nvPr/>
        </p:nvSpPr>
        <p:spPr>
          <a:xfrm>
            <a:off x="8844600" y="643700"/>
            <a:ext cx="1657172" cy="830997"/>
          </a:xfrm>
          <a:prstGeom prst="rect">
            <a:avLst/>
          </a:prstGeom>
          <a:noFill/>
        </p:spPr>
        <p:txBody>
          <a:bodyPr wrap="square" rtlCol="0">
            <a:spAutoFit/>
          </a:bodyPr>
          <a:lstStyle/>
          <a:p>
            <a:pPr algn="ctr"/>
            <a:r>
              <a:rPr lang="en-GB" sz="2400" b="1" dirty="0">
                <a:solidFill>
                  <a:srgbClr val="07E073"/>
                </a:solidFill>
              </a:rPr>
              <a:t>PUPIL OBJECT</a:t>
            </a:r>
          </a:p>
        </p:txBody>
      </p:sp>
      <p:sp>
        <p:nvSpPr>
          <p:cNvPr id="38" name="Rectangle 37">
            <a:extLst>
              <a:ext uri="{FF2B5EF4-FFF2-40B4-BE49-F238E27FC236}">
                <a16:creationId xmlns:a16="http://schemas.microsoft.com/office/drawing/2014/main" xmlns="" id="{60C212DA-5D09-8248-4BA1-ED1C8FF90062}"/>
              </a:ext>
            </a:extLst>
          </p:cNvPr>
          <p:cNvSpPr/>
          <p:nvPr/>
        </p:nvSpPr>
        <p:spPr>
          <a:xfrm>
            <a:off x="6254033" y="5361052"/>
            <a:ext cx="5806589" cy="1426002"/>
          </a:xfrm>
          <a:custGeom>
            <a:avLst/>
            <a:gdLst>
              <a:gd name="connsiteX0" fmla="*/ 0 w 5806589"/>
              <a:gd name="connsiteY0" fmla="*/ 0 h 1426002"/>
              <a:gd name="connsiteX1" fmla="*/ 696791 w 5806589"/>
              <a:gd name="connsiteY1" fmla="*/ 0 h 1426002"/>
              <a:gd name="connsiteX2" fmla="*/ 1219384 w 5806589"/>
              <a:gd name="connsiteY2" fmla="*/ 0 h 1426002"/>
              <a:gd name="connsiteX3" fmla="*/ 1858108 w 5806589"/>
              <a:gd name="connsiteY3" fmla="*/ 0 h 1426002"/>
              <a:gd name="connsiteX4" fmla="*/ 2264570 w 5806589"/>
              <a:gd name="connsiteY4" fmla="*/ 0 h 1426002"/>
              <a:gd name="connsiteX5" fmla="*/ 2787163 w 5806589"/>
              <a:gd name="connsiteY5" fmla="*/ 0 h 1426002"/>
              <a:gd name="connsiteX6" fmla="*/ 3483953 w 5806589"/>
              <a:gd name="connsiteY6" fmla="*/ 0 h 1426002"/>
              <a:gd name="connsiteX7" fmla="*/ 3890415 w 5806589"/>
              <a:gd name="connsiteY7" fmla="*/ 0 h 1426002"/>
              <a:gd name="connsiteX8" fmla="*/ 4413008 w 5806589"/>
              <a:gd name="connsiteY8" fmla="*/ 0 h 1426002"/>
              <a:gd name="connsiteX9" fmla="*/ 4877535 w 5806589"/>
              <a:gd name="connsiteY9" fmla="*/ 0 h 1426002"/>
              <a:gd name="connsiteX10" fmla="*/ 5806589 w 5806589"/>
              <a:gd name="connsiteY10" fmla="*/ 0 h 1426002"/>
              <a:gd name="connsiteX11" fmla="*/ 5806589 w 5806589"/>
              <a:gd name="connsiteY11" fmla="*/ 446814 h 1426002"/>
              <a:gd name="connsiteX12" fmla="*/ 5806589 w 5806589"/>
              <a:gd name="connsiteY12" fmla="*/ 893628 h 1426002"/>
              <a:gd name="connsiteX13" fmla="*/ 5806589 w 5806589"/>
              <a:gd name="connsiteY13" fmla="*/ 1426002 h 1426002"/>
              <a:gd name="connsiteX14" fmla="*/ 5342062 w 5806589"/>
              <a:gd name="connsiteY14" fmla="*/ 1426002 h 1426002"/>
              <a:gd name="connsiteX15" fmla="*/ 4819469 w 5806589"/>
              <a:gd name="connsiteY15" fmla="*/ 1426002 h 1426002"/>
              <a:gd name="connsiteX16" fmla="*/ 4354942 w 5806589"/>
              <a:gd name="connsiteY16" fmla="*/ 1426002 h 1426002"/>
              <a:gd name="connsiteX17" fmla="*/ 3658151 w 5806589"/>
              <a:gd name="connsiteY17" fmla="*/ 1426002 h 1426002"/>
              <a:gd name="connsiteX18" fmla="*/ 3077492 w 5806589"/>
              <a:gd name="connsiteY18" fmla="*/ 1426002 h 1426002"/>
              <a:gd name="connsiteX19" fmla="*/ 2554899 w 5806589"/>
              <a:gd name="connsiteY19" fmla="*/ 1426002 h 1426002"/>
              <a:gd name="connsiteX20" fmla="*/ 2090372 w 5806589"/>
              <a:gd name="connsiteY20" fmla="*/ 1426002 h 1426002"/>
              <a:gd name="connsiteX21" fmla="*/ 1393581 w 5806589"/>
              <a:gd name="connsiteY21" fmla="*/ 1426002 h 1426002"/>
              <a:gd name="connsiteX22" fmla="*/ 870988 w 5806589"/>
              <a:gd name="connsiteY22" fmla="*/ 1426002 h 1426002"/>
              <a:gd name="connsiteX23" fmla="*/ 0 w 5806589"/>
              <a:gd name="connsiteY23" fmla="*/ 1426002 h 1426002"/>
              <a:gd name="connsiteX24" fmla="*/ 0 w 5806589"/>
              <a:gd name="connsiteY24" fmla="*/ 936408 h 1426002"/>
              <a:gd name="connsiteX25" fmla="*/ 0 w 5806589"/>
              <a:gd name="connsiteY25" fmla="*/ 432554 h 1426002"/>
              <a:gd name="connsiteX26" fmla="*/ 0 w 5806589"/>
              <a:gd name="connsiteY26" fmla="*/ 0 h 142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06589" h="1426002" fill="none" extrusionOk="0">
                <a:moveTo>
                  <a:pt x="0" y="0"/>
                </a:moveTo>
                <a:cubicBezTo>
                  <a:pt x="345359" y="-81021"/>
                  <a:pt x="486723" y="28442"/>
                  <a:pt x="696791" y="0"/>
                </a:cubicBezTo>
                <a:cubicBezTo>
                  <a:pt x="906859" y="-28442"/>
                  <a:pt x="1094731" y="9087"/>
                  <a:pt x="1219384" y="0"/>
                </a:cubicBezTo>
                <a:cubicBezTo>
                  <a:pt x="1344037" y="-9087"/>
                  <a:pt x="1710561" y="9276"/>
                  <a:pt x="1858108" y="0"/>
                </a:cubicBezTo>
                <a:cubicBezTo>
                  <a:pt x="2005655" y="-9276"/>
                  <a:pt x="2137606" y="41044"/>
                  <a:pt x="2264570" y="0"/>
                </a:cubicBezTo>
                <a:cubicBezTo>
                  <a:pt x="2391534" y="-41044"/>
                  <a:pt x="2597612" y="42409"/>
                  <a:pt x="2787163" y="0"/>
                </a:cubicBezTo>
                <a:cubicBezTo>
                  <a:pt x="2976714" y="-42409"/>
                  <a:pt x="3208371" y="60450"/>
                  <a:pt x="3483953" y="0"/>
                </a:cubicBezTo>
                <a:cubicBezTo>
                  <a:pt x="3759535" y="-60450"/>
                  <a:pt x="3775877" y="3289"/>
                  <a:pt x="3890415" y="0"/>
                </a:cubicBezTo>
                <a:cubicBezTo>
                  <a:pt x="4004953" y="-3289"/>
                  <a:pt x="4259378" y="28978"/>
                  <a:pt x="4413008" y="0"/>
                </a:cubicBezTo>
                <a:cubicBezTo>
                  <a:pt x="4566638" y="-28978"/>
                  <a:pt x="4754750" y="27455"/>
                  <a:pt x="4877535" y="0"/>
                </a:cubicBezTo>
                <a:cubicBezTo>
                  <a:pt x="5000320" y="-27455"/>
                  <a:pt x="5384991" y="1161"/>
                  <a:pt x="5806589" y="0"/>
                </a:cubicBezTo>
                <a:cubicBezTo>
                  <a:pt x="5817646" y="178220"/>
                  <a:pt x="5779820" y="354430"/>
                  <a:pt x="5806589" y="446814"/>
                </a:cubicBezTo>
                <a:cubicBezTo>
                  <a:pt x="5833358" y="539198"/>
                  <a:pt x="5797000" y="797559"/>
                  <a:pt x="5806589" y="893628"/>
                </a:cubicBezTo>
                <a:cubicBezTo>
                  <a:pt x="5816178" y="989697"/>
                  <a:pt x="5774357" y="1175834"/>
                  <a:pt x="5806589" y="1426002"/>
                </a:cubicBezTo>
                <a:cubicBezTo>
                  <a:pt x="5605245" y="1458766"/>
                  <a:pt x="5500071" y="1424402"/>
                  <a:pt x="5342062" y="1426002"/>
                </a:cubicBezTo>
                <a:cubicBezTo>
                  <a:pt x="5184053" y="1427602"/>
                  <a:pt x="5057049" y="1396122"/>
                  <a:pt x="4819469" y="1426002"/>
                </a:cubicBezTo>
                <a:cubicBezTo>
                  <a:pt x="4581889" y="1455882"/>
                  <a:pt x="4532776" y="1381878"/>
                  <a:pt x="4354942" y="1426002"/>
                </a:cubicBezTo>
                <a:cubicBezTo>
                  <a:pt x="4177108" y="1470126"/>
                  <a:pt x="3935661" y="1365047"/>
                  <a:pt x="3658151" y="1426002"/>
                </a:cubicBezTo>
                <a:cubicBezTo>
                  <a:pt x="3380641" y="1486957"/>
                  <a:pt x="3349449" y="1391824"/>
                  <a:pt x="3077492" y="1426002"/>
                </a:cubicBezTo>
                <a:cubicBezTo>
                  <a:pt x="2805535" y="1460180"/>
                  <a:pt x="2690203" y="1407845"/>
                  <a:pt x="2554899" y="1426002"/>
                </a:cubicBezTo>
                <a:cubicBezTo>
                  <a:pt x="2419595" y="1444159"/>
                  <a:pt x="2283690" y="1419544"/>
                  <a:pt x="2090372" y="1426002"/>
                </a:cubicBezTo>
                <a:cubicBezTo>
                  <a:pt x="1897054" y="1432460"/>
                  <a:pt x="1681758" y="1377262"/>
                  <a:pt x="1393581" y="1426002"/>
                </a:cubicBezTo>
                <a:cubicBezTo>
                  <a:pt x="1105404" y="1474742"/>
                  <a:pt x="1012835" y="1421405"/>
                  <a:pt x="870988" y="1426002"/>
                </a:cubicBezTo>
                <a:cubicBezTo>
                  <a:pt x="729141" y="1430599"/>
                  <a:pt x="240057" y="1416333"/>
                  <a:pt x="0" y="1426002"/>
                </a:cubicBezTo>
                <a:cubicBezTo>
                  <a:pt x="-11196" y="1214850"/>
                  <a:pt x="41676" y="1048714"/>
                  <a:pt x="0" y="936408"/>
                </a:cubicBezTo>
                <a:cubicBezTo>
                  <a:pt x="-41676" y="824102"/>
                  <a:pt x="37915" y="632117"/>
                  <a:pt x="0" y="432554"/>
                </a:cubicBezTo>
                <a:cubicBezTo>
                  <a:pt x="-37915" y="232991"/>
                  <a:pt x="47649" y="111706"/>
                  <a:pt x="0" y="0"/>
                </a:cubicBezTo>
                <a:close/>
              </a:path>
              <a:path w="5806589" h="1426002" stroke="0" extrusionOk="0">
                <a:moveTo>
                  <a:pt x="0" y="0"/>
                </a:moveTo>
                <a:cubicBezTo>
                  <a:pt x="156585" y="-23323"/>
                  <a:pt x="377848" y="7678"/>
                  <a:pt x="638725" y="0"/>
                </a:cubicBezTo>
                <a:cubicBezTo>
                  <a:pt x="899602" y="-7678"/>
                  <a:pt x="897448" y="28382"/>
                  <a:pt x="1045186" y="0"/>
                </a:cubicBezTo>
                <a:cubicBezTo>
                  <a:pt x="1192924" y="-28382"/>
                  <a:pt x="1426276" y="30028"/>
                  <a:pt x="1567779" y="0"/>
                </a:cubicBezTo>
                <a:cubicBezTo>
                  <a:pt x="1709282" y="-30028"/>
                  <a:pt x="2093187" y="22942"/>
                  <a:pt x="2264570" y="0"/>
                </a:cubicBezTo>
                <a:cubicBezTo>
                  <a:pt x="2435953" y="-22942"/>
                  <a:pt x="2699576" y="50145"/>
                  <a:pt x="2961360" y="0"/>
                </a:cubicBezTo>
                <a:cubicBezTo>
                  <a:pt x="3223144" y="-50145"/>
                  <a:pt x="3322425" y="41736"/>
                  <a:pt x="3542019" y="0"/>
                </a:cubicBezTo>
                <a:cubicBezTo>
                  <a:pt x="3761613" y="-41736"/>
                  <a:pt x="4041042" y="20129"/>
                  <a:pt x="4180744" y="0"/>
                </a:cubicBezTo>
                <a:cubicBezTo>
                  <a:pt x="4320446" y="-20129"/>
                  <a:pt x="4669743" y="57095"/>
                  <a:pt x="4819469" y="0"/>
                </a:cubicBezTo>
                <a:cubicBezTo>
                  <a:pt x="4969195" y="-57095"/>
                  <a:pt x="5070387" y="22467"/>
                  <a:pt x="5225930" y="0"/>
                </a:cubicBezTo>
                <a:cubicBezTo>
                  <a:pt x="5381473" y="-22467"/>
                  <a:pt x="5604744" y="3271"/>
                  <a:pt x="5806589" y="0"/>
                </a:cubicBezTo>
                <a:cubicBezTo>
                  <a:pt x="5847610" y="203463"/>
                  <a:pt x="5806335" y="289651"/>
                  <a:pt x="5806589" y="461074"/>
                </a:cubicBezTo>
                <a:cubicBezTo>
                  <a:pt x="5806843" y="632497"/>
                  <a:pt x="5768929" y="773648"/>
                  <a:pt x="5806589" y="922148"/>
                </a:cubicBezTo>
                <a:cubicBezTo>
                  <a:pt x="5844249" y="1070648"/>
                  <a:pt x="5789762" y="1286082"/>
                  <a:pt x="5806589" y="1426002"/>
                </a:cubicBezTo>
                <a:cubicBezTo>
                  <a:pt x="5587309" y="1468472"/>
                  <a:pt x="5472537" y="1365666"/>
                  <a:pt x="5167864" y="1426002"/>
                </a:cubicBezTo>
                <a:cubicBezTo>
                  <a:pt x="4863192" y="1486338"/>
                  <a:pt x="4811765" y="1403269"/>
                  <a:pt x="4703337" y="1426002"/>
                </a:cubicBezTo>
                <a:cubicBezTo>
                  <a:pt x="4594909" y="1448735"/>
                  <a:pt x="4430916" y="1420162"/>
                  <a:pt x="4238810" y="1426002"/>
                </a:cubicBezTo>
                <a:cubicBezTo>
                  <a:pt x="4046704" y="1431842"/>
                  <a:pt x="4025573" y="1394716"/>
                  <a:pt x="3832349" y="1426002"/>
                </a:cubicBezTo>
                <a:cubicBezTo>
                  <a:pt x="3639125" y="1457288"/>
                  <a:pt x="3534469" y="1374279"/>
                  <a:pt x="3367822" y="1426002"/>
                </a:cubicBezTo>
                <a:cubicBezTo>
                  <a:pt x="3201175" y="1477725"/>
                  <a:pt x="3012359" y="1409520"/>
                  <a:pt x="2787163" y="1426002"/>
                </a:cubicBezTo>
                <a:cubicBezTo>
                  <a:pt x="2561967" y="1442484"/>
                  <a:pt x="2517154" y="1388135"/>
                  <a:pt x="2264570" y="1426002"/>
                </a:cubicBezTo>
                <a:cubicBezTo>
                  <a:pt x="2011986" y="1463869"/>
                  <a:pt x="2012441" y="1420202"/>
                  <a:pt x="1800043" y="1426002"/>
                </a:cubicBezTo>
                <a:cubicBezTo>
                  <a:pt x="1587645" y="1431802"/>
                  <a:pt x="1383978" y="1370543"/>
                  <a:pt x="1277450" y="1426002"/>
                </a:cubicBezTo>
                <a:cubicBezTo>
                  <a:pt x="1170922" y="1481461"/>
                  <a:pt x="873345" y="1410323"/>
                  <a:pt x="754857" y="1426002"/>
                </a:cubicBezTo>
                <a:cubicBezTo>
                  <a:pt x="636369" y="1441681"/>
                  <a:pt x="153521" y="1357683"/>
                  <a:pt x="0" y="1426002"/>
                </a:cubicBezTo>
                <a:cubicBezTo>
                  <a:pt x="-5741" y="1215175"/>
                  <a:pt x="19920" y="1127596"/>
                  <a:pt x="0" y="964928"/>
                </a:cubicBezTo>
                <a:cubicBezTo>
                  <a:pt x="-19920" y="802260"/>
                  <a:pt x="27423" y="607635"/>
                  <a:pt x="0" y="475334"/>
                </a:cubicBezTo>
                <a:cubicBezTo>
                  <a:pt x="-27423" y="343033"/>
                  <a:pt x="56349" y="95489"/>
                  <a:pt x="0" y="0"/>
                </a:cubicBezTo>
                <a:close/>
              </a:path>
            </a:pathLst>
          </a:custGeom>
          <a:solidFill>
            <a:schemeClr val="bg1">
              <a:lumMod val="95000"/>
            </a:schemeClr>
          </a:solidFill>
          <a:ln w="38100">
            <a:solidFill>
              <a:schemeClr val="tx1"/>
            </a:solidFill>
            <a:extLst>
              <a:ext uri="{C807C97D-BFC1-408E-A445-0C87EB9F89A2}">
                <ask:lineSketchStyleProps xmlns:ask="http://schemas.microsoft.com/office/drawing/2018/sketchyshapes" xmlns="" sd="2441614996">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tabLst>
                <a:tab pos="6096000" algn="l"/>
              </a:tabLst>
            </a:pPr>
            <a:r>
              <a:rPr lang="en-GB" dirty="0">
                <a:solidFill>
                  <a:schemeClr val="tx1"/>
                </a:solidFill>
                <a:latin typeface="Bell MT" panose="02020503060305020303" pitchFamily="18" charset="0"/>
              </a:rPr>
              <a:t>Pupil </a:t>
            </a:r>
            <a:r>
              <a:rPr lang="en-GB" dirty="0" err="1">
                <a:solidFill>
                  <a:schemeClr val="tx1"/>
                </a:solidFill>
                <a:latin typeface="Bell MT" panose="02020503060305020303" pitchFamily="18" charset="0"/>
              </a:rPr>
              <a:t>firstPupil</a:t>
            </a:r>
            <a:r>
              <a:rPr lang="en-GB" dirty="0">
                <a:solidFill>
                  <a:schemeClr val="tx1"/>
                </a:solidFill>
                <a:latin typeface="Bell MT" panose="02020503060305020303" pitchFamily="18" charset="0"/>
              </a:rPr>
              <a:t> = new Pupil(“Alex”, M, “Blue”, “Dog”, 15);</a:t>
            </a:r>
          </a:p>
          <a:p>
            <a:pPr>
              <a:tabLst>
                <a:tab pos="6096000" algn="l"/>
              </a:tabLst>
            </a:pPr>
            <a:endParaRPr lang="en-GB" dirty="0">
              <a:solidFill>
                <a:schemeClr val="tx1"/>
              </a:solidFill>
            </a:endParaRPr>
          </a:p>
          <a:p>
            <a:pPr>
              <a:tabLst>
                <a:tab pos="6096000" algn="l"/>
              </a:tabLst>
            </a:pPr>
            <a:r>
              <a:rPr lang="en-GB" dirty="0">
                <a:solidFill>
                  <a:schemeClr val="tx1"/>
                </a:solidFill>
              </a:rPr>
              <a:t>We can now interact with the object with functions such as </a:t>
            </a:r>
            <a:r>
              <a:rPr lang="en-GB" dirty="0" err="1">
                <a:solidFill>
                  <a:schemeClr val="tx1"/>
                </a:solidFill>
              </a:rPr>
              <a:t>getPupilGender</a:t>
            </a:r>
            <a:r>
              <a:rPr lang="en-GB" dirty="0">
                <a:solidFill>
                  <a:schemeClr val="tx1"/>
                </a:solidFill>
              </a:rPr>
              <a:t>() and getting an output from the object of “Male”</a:t>
            </a:r>
          </a:p>
        </p:txBody>
      </p:sp>
      <p:pic>
        <p:nvPicPr>
          <p:cNvPr id="34"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6344" y="4889448"/>
            <a:ext cx="638503" cy="638503"/>
          </a:xfrm>
          <a:prstGeom prst="rect">
            <a:avLst/>
          </a:prstGeom>
        </p:spPr>
      </p:pic>
      <p:pic>
        <p:nvPicPr>
          <p:cNvPr id="35"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83639" y="3300864"/>
            <a:ext cx="638503" cy="638503"/>
          </a:xfrm>
          <a:prstGeom prst="rect">
            <a:avLst/>
          </a:prstGeom>
        </p:spPr>
      </p:pic>
      <p:cxnSp>
        <p:nvCxnSpPr>
          <p:cNvPr id="7" name="Straight Connector 6"/>
          <p:cNvCxnSpPr/>
          <p:nvPr/>
        </p:nvCxnSpPr>
        <p:spPr>
          <a:xfrm>
            <a:off x="203200" y="4569687"/>
            <a:ext cx="5808289" cy="0"/>
          </a:xfrm>
          <a:prstGeom prst="line">
            <a:avLst/>
          </a:prstGeom>
          <a:ln>
            <a:solidFill>
              <a:srgbClr val="00B65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03200" y="3045687"/>
            <a:ext cx="5808289" cy="0"/>
          </a:xfrm>
          <a:prstGeom prst="line">
            <a:avLst/>
          </a:prstGeom>
          <a:ln>
            <a:solidFill>
              <a:srgbClr val="00B65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444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F9D3B8-FCF9-3604-1605-B896C697884F}"/>
              </a:ext>
            </a:extLst>
          </p:cNvPr>
          <p:cNvSpPr>
            <a:spLocks noGrp="1"/>
          </p:cNvSpPr>
          <p:nvPr>
            <p:ph type="title"/>
          </p:nvPr>
        </p:nvSpPr>
        <p:spPr>
          <a:xfrm>
            <a:off x="-13828" y="-216059"/>
            <a:ext cx="10516728" cy="1320960"/>
          </a:xfrm>
        </p:spPr>
        <p:txBody>
          <a:bodyPr>
            <a:normAutofit/>
          </a:bodyPr>
          <a:lstStyle/>
          <a:p>
            <a:r>
              <a:rPr lang="en-GB" sz="4000" dirty="0"/>
              <a:t>Object Oriented Programming </a:t>
            </a:r>
          </a:p>
        </p:txBody>
      </p:sp>
      <p:sp>
        <p:nvSpPr>
          <p:cNvPr id="3" name="Content Placeholder 2">
            <a:extLst>
              <a:ext uri="{FF2B5EF4-FFF2-40B4-BE49-F238E27FC236}">
                <a16:creationId xmlns:a16="http://schemas.microsoft.com/office/drawing/2014/main" xmlns="" id="{4C8365EF-DECD-AABE-E19F-20CE03207DBE}"/>
              </a:ext>
            </a:extLst>
          </p:cNvPr>
          <p:cNvSpPr>
            <a:spLocks noGrp="1"/>
          </p:cNvSpPr>
          <p:nvPr>
            <p:ph idx="1"/>
          </p:nvPr>
        </p:nvSpPr>
        <p:spPr>
          <a:xfrm>
            <a:off x="71048" y="2136228"/>
            <a:ext cx="6257340" cy="4668798"/>
          </a:xfrm>
        </p:spPr>
        <p:txBody>
          <a:bodyPr>
            <a:normAutofit/>
          </a:bodyPr>
          <a:lstStyle/>
          <a:p>
            <a:r>
              <a:rPr lang="en-GB" dirty="0"/>
              <a:t>OOP also allows for relationships between two objects, known as </a:t>
            </a:r>
            <a:r>
              <a:rPr lang="en-GB" b="1" dirty="0"/>
              <a:t>inheritance.</a:t>
            </a:r>
            <a:endParaRPr lang="en-GB" dirty="0"/>
          </a:p>
          <a:p>
            <a:pPr lvl="1"/>
            <a:r>
              <a:rPr lang="en-GB" dirty="0"/>
              <a:t>One class can inherit properties and methods and then only the differences in the derived (child) class need to be programmed.</a:t>
            </a:r>
          </a:p>
          <a:p>
            <a:endParaRPr lang="en-GB" dirty="0"/>
          </a:p>
        </p:txBody>
      </p:sp>
      <p:pic>
        <p:nvPicPr>
          <p:cNvPr id="4" name="3D Model 3" descr="Male Spiky Hair">
            <a:extLst>
              <a:ext uri="{FF2B5EF4-FFF2-40B4-BE49-F238E27FC236}">
                <a16:creationId xmlns:a16="http://schemas.microsoft.com/office/drawing/2014/main" xmlns="" id="{653A3643-48C5-3640-624B-4A3A6B4CF556}"/>
              </a:ext>
            </a:extLst>
          </p:cNvPr>
          <p:cNvPicPr>
            <a:picLocks noGrp="1" noRot="1" noChangeAspect="1" noMove="1" noResize="1" noEditPoints="1" noAdjustHandles="1" noChangeArrowheads="1" noChangeShapeType="1" noCrop="1"/>
          </p:cNvPicPr>
          <p:nvPr/>
        </p:nvPicPr>
        <p:blipFill>
          <a:blip r:embed="rId4"/>
          <a:stretch>
            <a:fillRect/>
          </a:stretch>
        </p:blipFill>
        <p:spPr>
          <a:xfrm>
            <a:off x="7979853" y="1360214"/>
            <a:ext cx="3386667" cy="3848486"/>
          </a:xfrm>
          <a:prstGeom prst="rect">
            <a:avLst/>
          </a:prstGeom>
        </p:spPr>
      </p:pic>
      <p:grpSp>
        <p:nvGrpSpPr>
          <p:cNvPr id="9" name="Group 8">
            <a:extLst>
              <a:ext uri="{FF2B5EF4-FFF2-40B4-BE49-F238E27FC236}">
                <a16:creationId xmlns:a16="http://schemas.microsoft.com/office/drawing/2014/main" xmlns="" id="{2EF94B62-9376-DA86-2673-C9DB78CF7BA4}"/>
              </a:ext>
            </a:extLst>
          </p:cNvPr>
          <p:cNvGrpSpPr/>
          <p:nvPr/>
        </p:nvGrpSpPr>
        <p:grpSpPr>
          <a:xfrm>
            <a:off x="8111359" y="2128345"/>
            <a:ext cx="1001110" cy="362607"/>
            <a:chOff x="8111359" y="2128345"/>
            <a:chExt cx="1001110" cy="362607"/>
          </a:xfrm>
        </p:grpSpPr>
        <p:cxnSp>
          <p:nvCxnSpPr>
            <p:cNvPr id="6" name="Straight Connector 5">
              <a:extLst>
                <a:ext uri="{FF2B5EF4-FFF2-40B4-BE49-F238E27FC236}">
                  <a16:creationId xmlns:a16="http://schemas.microsoft.com/office/drawing/2014/main" xmlns="" id="{4A3E88BB-C606-1456-9504-D851A786612A}"/>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C333EB99-3E20-7BF5-D569-72E331835F3E}"/>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xmlns="" id="{0FD49646-9B45-3CBF-761A-01C87795EEBE}"/>
              </a:ext>
            </a:extLst>
          </p:cNvPr>
          <p:cNvGrpSpPr/>
          <p:nvPr/>
        </p:nvGrpSpPr>
        <p:grpSpPr>
          <a:xfrm>
            <a:off x="8119242" y="4164411"/>
            <a:ext cx="1119351" cy="405276"/>
            <a:chOff x="8111359" y="1730952"/>
            <a:chExt cx="1119351" cy="405276"/>
          </a:xfrm>
        </p:grpSpPr>
        <p:cxnSp>
          <p:nvCxnSpPr>
            <p:cNvPr id="14" name="Straight Connector 13">
              <a:extLst>
                <a:ext uri="{FF2B5EF4-FFF2-40B4-BE49-F238E27FC236}">
                  <a16:creationId xmlns:a16="http://schemas.microsoft.com/office/drawing/2014/main" xmlns="" id="{55B01E37-3004-5377-58CC-E5F29BB11C94}"/>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C87BCAC7-C94A-F42D-1A58-77D053B2E83A}"/>
                </a:ext>
              </a:extLst>
            </p:cNvPr>
            <p:cNvCxnSpPr>
              <a:cxnSpLocks/>
            </p:cNvCxnSpPr>
            <p:nvPr/>
          </p:nvCxnSpPr>
          <p:spPr>
            <a:xfrm flipV="1">
              <a:off x="8663152" y="1730952"/>
              <a:ext cx="567558" cy="397393"/>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xmlns="" id="{019269C7-EDB3-B031-3518-50C5A89C1575}"/>
              </a:ext>
            </a:extLst>
          </p:cNvPr>
          <p:cNvGrpSpPr/>
          <p:nvPr/>
        </p:nvGrpSpPr>
        <p:grpSpPr>
          <a:xfrm flipH="1">
            <a:off x="10114131" y="2572408"/>
            <a:ext cx="951186" cy="362607"/>
            <a:chOff x="8111359" y="2128345"/>
            <a:chExt cx="1001110" cy="362607"/>
          </a:xfrm>
        </p:grpSpPr>
        <p:cxnSp>
          <p:nvCxnSpPr>
            <p:cNvPr id="18" name="Straight Connector 17">
              <a:extLst>
                <a:ext uri="{FF2B5EF4-FFF2-40B4-BE49-F238E27FC236}">
                  <a16:creationId xmlns:a16="http://schemas.microsoft.com/office/drawing/2014/main" xmlns="" id="{E19C138C-1861-A56D-3F78-C3E62E992AC6}"/>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3E328F5D-3885-5FFC-E307-C2C23D317B31}"/>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xmlns="" id="{F83E6627-595C-4D48-7257-11A5F3EA73FF}"/>
              </a:ext>
            </a:extLst>
          </p:cNvPr>
          <p:cNvGrpSpPr/>
          <p:nvPr/>
        </p:nvGrpSpPr>
        <p:grpSpPr>
          <a:xfrm flipV="1">
            <a:off x="10234449" y="3521607"/>
            <a:ext cx="1119351" cy="438259"/>
            <a:chOff x="8111359" y="1730952"/>
            <a:chExt cx="1119351" cy="405276"/>
          </a:xfrm>
        </p:grpSpPr>
        <p:cxnSp>
          <p:nvCxnSpPr>
            <p:cNvPr id="24" name="Straight Connector 23">
              <a:extLst>
                <a:ext uri="{FF2B5EF4-FFF2-40B4-BE49-F238E27FC236}">
                  <a16:creationId xmlns:a16="http://schemas.microsoft.com/office/drawing/2014/main" xmlns="" id="{CE806BCC-6CE8-29A3-DF7A-95A204A21778}"/>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89A18AD3-E72D-52B3-5E5B-24F82DEEA026}"/>
                </a:ext>
              </a:extLst>
            </p:cNvPr>
            <p:cNvCxnSpPr>
              <a:cxnSpLocks/>
            </p:cNvCxnSpPr>
            <p:nvPr/>
          </p:nvCxnSpPr>
          <p:spPr>
            <a:xfrm flipV="1">
              <a:off x="8663152" y="1730952"/>
              <a:ext cx="567558" cy="397393"/>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xmlns="" id="{CFB3A077-CB8E-56C7-7FDC-08EAEC7BB635}"/>
              </a:ext>
            </a:extLst>
          </p:cNvPr>
          <p:cNvSpPr txBox="1"/>
          <p:nvPr/>
        </p:nvSpPr>
        <p:spPr>
          <a:xfrm>
            <a:off x="6890845" y="1951562"/>
            <a:ext cx="1347952" cy="369332"/>
          </a:xfrm>
          <a:prstGeom prst="rect">
            <a:avLst/>
          </a:prstGeom>
          <a:noFill/>
        </p:spPr>
        <p:txBody>
          <a:bodyPr wrap="square" rtlCol="0">
            <a:spAutoFit/>
          </a:bodyPr>
          <a:lstStyle/>
          <a:p>
            <a:r>
              <a:rPr lang="en-GB" dirty="0" err="1">
                <a:solidFill>
                  <a:srgbClr val="07E073"/>
                </a:solidFill>
              </a:rPr>
              <a:t>pupilName</a:t>
            </a:r>
            <a:endParaRPr lang="en-GB" dirty="0">
              <a:solidFill>
                <a:srgbClr val="07E073"/>
              </a:solidFill>
            </a:endParaRPr>
          </a:p>
        </p:txBody>
      </p:sp>
      <p:sp>
        <p:nvSpPr>
          <p:cNvPr id="27" name="TextBox 26">
            <a:extLst>
              <a:ext uri="{FF2B5EF4-FFF2-40B4-BE49-F238E27FC236}">
                <a16:creationId xmlns:a16="http://schemas.microsoft.com/office/drawing/2014/main" xmlns="" id="{638C6A76-F81D-E735-E48E-B58742415FD2}"/>
              </a:ext>
            </a:extLst>
          </p:cNvPr>
          <p:cNvSpPr txBox="1"/>
          <p:nvPr/>
        </p:nvSpPr>
        <p:spPr>
          <a:xfrm>
            <a:off x="11070021" y="2371762"/>
            <a:ext cx="1347952" cy="369332"/>
          </a:xfrm>
          <a:prstGeom prst="rect">
            <a:avLst/>
          </a:prstGeom>
          <a:noFill/>
        </p:spPr>
        <p:txBody>
          <a:bodyPr wrap="square" rtlCol="0">
            <a:spAutoFit/>
          </a:bodyPr>
          <a:lstStyle/>
          <a:p>
            <a:r>
              <a:rPr lang="en-GB" dirty="0">
                <a:solidFill>
                  <a:srgbClr val="07E073"/>
                </a:solidFill>
              </a:rPr>
              <a:t>gender</a:t>
            </a:r>
          </a:p>
        </p:txBody>
      </p:sp>
      <p:sp>
        <p:nvSpPr>
          <p:cNvPr id="28" name="TextBox 27">
            <a:extLst>
              <a:ext uri="{FF2B5EF4-FFF2-40B4-BE49-F238E27FC236}">
                <a16:creationId xmlns:a16="http://schemas.microsoft.com/office/drawing/2014/main" xmlns="" id="{09297D92-92D3-9F35-0E6D-230006F01D37}"/>
              </a:ext>
            </a:extLst>
          </p:cNvPr>
          <p:cNvSpPr txBox="1"/>
          <p:nvPr/>
        </p:nvSpPr>
        <p:spPr>
          <a:xfrm>
            <a:off x="6333092" y="4352912"/>
            <a:ext cx="1913588" cy="369332"/>
          </a:xfrm>
          <a:prstGeom prst="rect">
            <a:avLst/>
          </a:prstGeom>
          <a:noFill/>
        </p:spPr>
        <p:txBody>
          <a:bodyPr wrap="square" rtlCol="0">
            <a:spAutoFit/>
          </a:bodyPr>
          <a:lstStyle/>
          <a:p>
            <a:r>
              <a:rPr lang="en-GB" dirty="0" err="1">
                <a:solidFill>
                  <a:srgbClr val="07E073"/>
                </a:solidFill>
              </a:rPr>
              <a:t>favouriteAnimal</a:t>
            </a:r>
            <a:endParaRPr lang="en-GB" dirty="0">
              <a:solidFill>
                <a:srgbClr val="07E073"/>
              </a:solidFill>
            </a:endParaRPr>
          </a:p>
        </p:txBody>
      </p:sp>
      <p:sp>
        <p:nvSpPr>
          <p:cNvPr id="29" name="TextBox 28">
            <a:extLst>
              <a:ext uri="{FF2B5EF4-FFF2-40B4-BE49-F238E27FC236}">
                <a16:creationId xmlns:a16="http://schemas.microsoft.com/office/drawing/2014/main" xmlns="" id="{6A642CE1-1B7B-17D1-F589-FE266FCB4631}"/>
              </a:ext>
            </a:extLst>
          </p:cNvPr>
          <p:cNvSpPr txBox="1"/>
          <p:nvPr/>
        </p:nvSpPr>
        <p:spPr>
          <a:xfrm>
            <a:off x="10337801" y="3968390"/>
            <a:ext cx="1854200" cy="369332"/>
          </a:xfrm>
          <a:prstGeom prst="rect">
            <a:avLst/>
          </a:prstGeom>
          <a:noFill/>
        </p:spPr>
        <p:txBody>
          <a:bodyPr wrap="square" rtlCol="0">
            <a:spAutoFit/>
          </a:bodyPr>
          <a:lstStyle/>
          <a:p>
            <a:r>
              <a:rPr lang="en-GB" dirty="0" err="1">
                <a:solidFill>
                  <a:srgbClr val="07E073"/>
                </a:solidFill>
              </a:rPr>
              <a:t>favouriteColour</a:t>
            </a:r>
            <a:endParaRPr lang="en-GB" dirty="0">
              <a:solidFill>
                <a:srgbClr val="07E073"/>
              </a:solidFill>
            </a:endParaRPr>
          </a:p>
        </p:txBody>
      </p:sp>
      <p:sp>
        <p:nvSpPr>
          <p:cNvPr id="30" name="TextBox 29">
            <a:extLst>
              <a:ext uri="{FF2B5EF4-FFF2-40B4-BE49-F238E27FC236}">
                <a16:creationId xmlns:a16="http://schemas.microsoft.com/office/drawing/2014/main" xmlns="" id="{615863EF-D3F8-668F-8B41-78DCE75FE641}"/>
              </a:ext>
            </a:extLst>
          </p:cNvPr>
          <p:cNvSpPr txBox="1"/>
          <p:nvPr/>
        </p:nvSpPr>
        <p:spPr>
          <a:xfrm>
            <a:off x="10772999" y="5002496"/>
            <a:ext cx="1347952" cy="369332"/>
          </a:xfrm>
          <a:prstGeom prst="rect">
            <a:avLst/>
          </a:prstGeom>
          <a:noFill/>
        </p:spPr>
        <p:txBody>
          <a:bodyPr wrap="square" rtlCol="0">
            <a:spAutoFit/>
          </a:bodyPr>
          <a:lstStyle/>
          <a:p>
            <a:r>
              <a:rPr lang="en-GB" dirty="0" err="1">
                <a:solidFill>
                  <a:srgbClr val="07E073"/>
                </a:solidFill>
              </a:rPr>
              <a:t>pupilAge</a:t>
            </a:r>
            <a:endParaRPr lang="en-GB" dirty="0">
              <a:solidFill>
                <a:srgbClr val="07E073"/>
              </a:solidFill>
            </a:endParaRPr>
          </a:p>
        </p:txBody>
      </p:sp>
      <p:grpSp>
        <p:nvGrpSpPr>
          <p:cNvPr id="31" name="Group 30">
            <a:extLst>
              <a:ext uri="{FF2B5EF4-FFF2-40B4-BE49-F238E27FC236}">
                <a16:creationId xmlns:a16="http://schemas.microsoft.com/office/drawing/2014/main" xmlns="" id="{BB4253BE-C6FD-D0F4-A8D3-9ADFF3862385}"/>
              </a:ext>
            </a:extLst>
          </p:cNvPr>
          <p:cNvGrpSpPr/>
          <p:nvPr/>
        </p:nvGrpSpPr>
        <p:grpSpPr>
          <a:xfrm>
            <a:off x="10092705" y="4697791"/>
            <a:ext cx="1001110" cy="362607"/>
            <a:chOff x="8111359" y="2128345"/>
            <a:chExt cx="1001110" cy="362607"/>
          </a:xfrm>
        </p:grpSpPr>
        <p:cxnSp>
          <p:nvCxnSpPr>
            <p:cNvPr id="32" name="Straight Connector 31">
              <a:extLst>
                <a:ext uri="{FF2B5EF4-FFF2-40B4-BE49-F238E27FC236}">
                  <a16:creationId xmlns:a16="http://schemas.microsoft.com/office/drawing/2014/main" xmlns="" id="{F4518D2B-FB9C-11AB-9D2F-FFE78D77E61E}"/>
                </a:ext>
              </a:extLst>
            </p:cNvPr>
            <p:cNvCxnSpPr/>
            <p:nvPr/>
          </p:nvCxnSpPr>
          <p:spPr>
            <a:xfrm>
              <a:off x="8111359" y="2136228"/>
              <a:ext cx="56755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CE888C41-04AC-91A6-683D-CC14429A457F}"/>
                </a:ext>
              </a:extLst>
            </p:cNvPr>
            <p:cNvCxnSpPr/>
            <p:nvPr/>
          </p:nvCxnSpPr>
          <p:spPr>
            <a:xfrm>
              <a:off x="8663152" y="2128345"/>
              <a:ext cx="449317" cy="362607"/>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xmlns="" id="{6C231D05-B6C3-F41D-8AC5-9849E3AE7320}"/>
              </a:ext>
            </a:extLst>
          </p:cNvPr>
          <p:cNvSpPr txBox="1"/>
          <p:nvPr/>
        </p:nvSpPr>
        <p:spPr>
          <a:xfrm>
            <a:off x="8844600" y="643700"/>
            <a:ext cx="1657172" cy="830997"/>
          </a:xfrm>
          <a:prstGeom prst="rect">
            <a:avLst/>
          </a:prstGeom>
          <a:noFill/>
        </p:spPr>
        <p:txBody>
          <a:bodyPr wrap="square" rtlCol="0">
            <a:spAutoFit/>
          </a:bodyPr>
          <a:lstStyle/>
          <a:p>
            <a:pPr algn="ctr"/>
            <a:r>
              <a:rPr lang="en-GB" sz="2400" b="1" dirty="0">
                <a:solidFill>
                  <a:srgbClr val="07E073"/>
                </a:solidFill>
              </a:rPr>
              <a:t>PUPIL OBJECT</a:t>
            </a:r>
          </a:p>
        </p:txBody>
      </p:sp>
      <p:sp>
        <p:nvSpPr>
          <p:cNvPr id="38" name="Rectangle 37">
            <a:extLst>
              <a:ext uri="{FF2B5EF4-FFF2-40B4-BE49-F238E27FC236}">
                <a16:creationId xmlns:a16="http://schemas.microsoft.com/office/drawing/2014/main" xmlns="" id="{60C212DA-5D09-8248-4BA1-ED1C8FF90062}"/>
              </a:ext>
            </a:extLst>
          </p:cNvPr>
          <p:cNvSpPr/>
          <p:nvPr/>
        </p:nvSpPr>
        <p:spPr>
          <a:xfrm>
            <a:off x="6254033" y="5361052"/>
            <a:ext cx="5806589" cy="1426002"/>
          </a:xfrm>
          <a:custGeom>
            <a:avLst/>
            <a:gdLst>
              <a:gd name="connsiteX0" fmla="*/ 0 w 5806589"/>
              <a:gd name="connsiteY0" fmla="*/ 0 h 1426002"/>
              <a:gd name="connsiteX1" fmla="*/ 696791 w 5806589"/>
              <a:gd name="connsiteY1" fmla="*/ 0 h 1426002"/>
              <a:gd name="connsiteX2" fmla="*/ 1219384 w 5806589"/>
              <a:gd name="connsiteY2" fmla="*/ 0 h 1426002"/>
              <a:gd name="connsiteX3" fmla="*/ 1858108 w 5806589"/>
              <a:gd name="connsiteY3" fmla="*/ 0 h 1426002"/>
              <a:gd name="connsiteX4" fmla="*/ 2264570 w 5806589"/>
              <a:gd name="connsiteY4" fmla="*/ 0 h 1426002"/>
              <a:gd name="connsiteX5" fmla="*/ 2787163 w 5806589"/>
              <a:gd name="connsiteY5" fmla="*/ 0 h 1426002"/>
              <a:gd name="connsiteX6" fmla="*/ 3483953 w 5806589"/>
              <a:gd name="connsiteY6" fmla="*/ 0 h 1426002"/>
              <a:gd name="connsiteX7" fmla="*/ 3890415 w 5806589"/>
              <a:gd name="connsiteY7" fmla="*/ 0 h 1426002"/>
              <a:gd name="connsiteX8" fmla="*/ 4413008 w 5806589"/>
              <a:gd name="connsiteY8" fmla="*/ 0 h 1426002"/>
              <a:gd name="connsiteX9" fmla="*/ 4877535 w 5806589"/>
              <a:gd name="connsiteY9" fmla="*/ 0 h 1426002"/>
              <a:gd name="connsiteX10" fmla="*/ 5806589 w 5806589"/>
              <a:gd name="connsiteY10" fmla="*/ 0 h 1426002"/>
              <a:gd name="connsiteX11" fmla="*/ 5806589 w 5806589"/>
              <a:gd name="connsiteY11" fmla="*/ 446814 h 1426002"/>
              <a:gd name="connsiteX12" fmla="*/ 5806589 w 5806589"/>
              <a:gd name="connsiteY12" fmla="*/ 893628 h 1426002"/>
              <a:gd name="connsiteX13" fmla="*/ 5806589 w 5806589"/>
              <a:gd name="connsiteY13" fmla="*/ 1426002 h 1426002"/>
              <a:gd name="connsiteX14" fmla="*/ 5342062 w 5806589"/>
              <a:gd name="connsiteY14" fmla="*/ 1426002 h 1426002"/>
              <a:gd name="connsiteX15" fmla="*/ 4819469 w 5806589"/>
              <a:gd name="connsiteY15" fmla="*/ 1426002 h 1426002"/>
              <a:gd name="connsiteX16" fmla="*/ 4354942 w 5806589"/>
              <a:gd name="connsiteY16" fmla="*/ 1426002 h 1426002"/>
              <a:gd name="connsiteX17" fmla="*/ 3658151 w 5806589"/>
              <a:gd name="connsiteY17" fmla="*/ 1426002 h 1426002"/>
              <a:gd name="connsiteX18" fmla="*/ 3077492 w 5806589"/>
              <a:gd name="connsiteY18" fmla="*/ 1426002 h 1426002"/>
              <a:gd name="connsiteX19" fmla="*/ 2554899 w 5806589"/>
              <a:gd name="connsiteY19" fmla="*/ 1426002 h 1426002"/>
              <a:gd name="connsiteX20" fmla="*/ 2090372 w 5806589"/>
              <a:gd name="connsiteY20" fmla="*/ 1426002 h 1426002"/>
              <a:gd name="connsiteX21" fmla="*/ 1393581 w 5806589"/>
              <a:gd name="connsiteY21" fmla="*/ 1426002 h 1426002"/>
              <a:gd name="connsiteX22" fmla="*/ 870988 w 5806589"/>
              <a:gd name="connsiteY22" fmla="*/ 1426002 h 1426002"/>
              <a:gd name="connsiteX23" fmla="*/ 0 w 5806589"/>
              <a:gd name="connsiteY23" fmla="*/ 1426002 h 1426002"/>
              <a:gd name="connsiteX24" fmla="*/ 0 w 5806589"/>
              <a:gd name="connsiteY24" fmla="*/ 936408 h 1426002"/>
              <a:gd name="connsiteX25" fmla="*/ 0 w 5806589"/>
              <a:gd name="connsiteY25" fmla="*/ 432554 h 1426002"/>
              <a:gd name="connsiteX26" fmla="*/ 0 w 5806589"/>
              <a:gd name="connsiteY26" fmla="*/ 0 h 142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06589" h="1426002" fill="none" extrusionOk="0">
                <a:moveTo>
                  <a:pt x="0" y="0"/>
                </a:moveTo>
                <a:cubicBezTo>
                  <a:pt x="345359" y="-81021"/>
                  <a:pt x="486723" y="28442"/>
                  <a:pt x="696791" y="0"/>
                </a:cubicBezTo>
                <a:cubicBezTo>
                  <a:pt x="906859" y="-28442"/>
                  <a:pt x="1094731" y="9087"/>
                  <a:pt x="1219384" y="0"/>
                </a:cubicBezTo>
                <a:cubicBezTo>
                  <a:pt x="1344037" y="-9087"/>
                  <a:pt x="1710561" y="9276"/>
                  <a:pt x="1858108" y="0"/>
                </a:cubicBezTo>
                <a:cubicBezTo>
                  <a:pt x="2005655" y="-9276"/>
                  <a:pt x="2137606" y="41044"/>
                  <a:pt x="2264570" y="0"/>
                </a:cubicBezTo>
                <a:cubicBezTo>
                  <a:pt x="2391534" y="-41044"/>
                  <a:pt x="2597612" y="42409"/>
                  <a:pt x="2787163" y="0"/>
                </a:cubicBezTo>
                <a:cubicBezTo>
                  <a:pt x="2976714" y="-42409"/>
                  <a:pt x="3208371" y="60450"/>
                  <a:pt x="3483953" y="0"/>
                </a:cubicBezTo>
                <a:cubicBezTo>
                  <a:pt x="3759535" y="-60450"/>
                  <a:pt x="3775877" y="3289"/>
                  <a:pt x="3890415" y="0"/>
                </a:cubicBezTo>
                <a:cubicBezTo>
                  <a:pt x="4004953" y="-3289"/>
                  <a:pt x="4259378" y="28978"/>
                  <a:pt x="4413008" y="0"/>
                </a:cubicBezTo>
                <a:cubicBezTo>
                  <a:pt x="4566638" y="-28978"/>
                  <a:pt x="4754750" y="27455"/>
                  <a:pt x="4877535" y="0"/>
                </a:cubicBezTo>
                <a:cubicBezTo>
                  <a:pt x="5000320" y="-27455"/>
                  <a:pt x="5384991" y="1161"/>
                  <a:pt x="5806589" y="0"/>
                </a:cubicBezTo>
                <a:cubicBezTo>
                  <a:pt x="5817646" y="178220"/>
                  <a:pt x="5779820" y="354430"/>
                  <a:pt x="5806589" y="446814"/>
                </a:cubicBezTo>
                <a:cubicBezTo>
                  <a:pt x="5833358" y="539198"/>
                  <a:pt x="5797000" y="797559"/>
                  <a:pt x="5806589" y="893628"/>
                </a:cubicBezTo>
                <a:cubicBezTo>
                  <a:pt x="5816178" y="989697"/>
                  <a:pt x="5774357" y="1175834"/>
                  <a:pt x="5806589" y="1426002"/>
                </a:cubicBezTo>
                <a:cubicBezTo>
                  <a:pt x="5605245" y="1458766"/>
                  <a:pt x="5500071" y="1424402"/>
                  <a:pt x="5342062" y="1426002"/>
                </a:cubicBezTo>
                <a:cubicBezTo>
                  <a:pt x="5184053" y="1427602"/>
                  <a:pt x="5057049" y="1396122"/>
                  <a:pt x="4819469" y="1426002"/>
                </a:cubicBezTo>
                <a:cubicBezTo>
                  <a:pt x="4581889" y="1455882"/>
                  <a:pt x="4532776" y="1381878"/>
                  <a:pt x="4354942" y="1426002"/>
                </a:cubicBezTo>
                <a:cubicBezTo>
                  <a:pt x="4177108" y="1470126"/>
                  <a:pt x="3935661" y="1365047"/>
                  <a:pt x="3658151" y="1426002"/>
                </a:cubicBezTo>
                <a:cubicBezTo>
                  <a:pt x="3380641" y="1486957"/>
                  <a:pt x="3349449" y="1391824"/>
                  <a:pt x="3077492" y="1426002"/>
                </a:cubicBezTo>
                <a:cubicBezTo>
                  <a:pt x="2805535" y="1460180"/>
                  <a:pt x="2690203" y="1407845"/>
                  <a:pt x="2554899" y="1426002"/>
                </a:cubicBezTo>
                <a:cubicBezTo>
                  <a:pt x="2419595" y="1444159"/>
                  <a:pt x="2283690" y="1419544"/>
                  <a:pt x="2090372" y="1426002"/>
                </a:cubicBezTo>
                <a:cubicBezTo>
                  <a:pt x="1897054" y="1432460"/>
                  <a:pt x="1681758" y="1377262"/>
                  <a:pt x="1393581" y="1426002"/>
                </a:cubicBezTo>
                <a:cubicBezTo>
                  <a:pt x="1105404" y="1474742"/>
                  <a:pt x="1012835" y="1421405"/>
                  <a:pt x="870988" y="1426002"/>
                </a:cubicBezTo>
                <a:cubicBezTo>
                  <a:pt x="729141" y="1430599"/>
                  <a:pt x="240057" y="1416333"/>
                  <a:pt x="0" y="1426002"/>
                </a:cubicBezTo>
                <a:cubicBezTo>
                  <a:pt x="-11196" y="1214850"/>
                  <a:pt x="41676" y="1048714"/>
                  <a:pt x="0" y="936408"/>
                </a:cubicBezTo>
                <a:cubicBezTo>
                  <a:pt x="-41676" y="824102"/>
                  <a:pt x="37915" y="632117"/>
                  <a:pt x="0" y="432554"/>
                </a:cubicBezTo>
                <a:cubicBezTo>
                  <a:pt x="-37915" y="232991"/>
                  <a:pt x="47649" y="111706"/>
                  <a:pt x="0" y="0"/>
                </a:cubicBezTo>
                <a:close/>
              </a:path>
              <a:path w="5806589" h="1426002" stroke="0" extrusionOk="0">
                <a:moveTo>
                  <a:pt x="0" y="0"/>
                </a:moveTo>
                <a:cubicBezTo>
                  <a:pt x="156585" y="-23323"/>
                  <a:pt x="377848" y="7678"/>
                  <a:pt x="638725" y="0"/>
                </a:cubicBezTo>
                <a:cubicBezTo>
                  <a:pt x="899602" y="-7678"/>
                  <a:pt x="897448" y="28382"/>
                  <a:pt x="1045186" y="0"/>
                </a:cubicBezTo>
                <a:cubicBezTo>
                  <a:pt x="1192924" y="-28382"/>
                  <a:pt x="1426276" y="30028"/>
                  <a:pt x="1567779" y="0"/>
                </a:cubicBezTo>
                <a:cubicBezTo>
                  <a:pt x="1709282" y="-30028"/>
                  <a:pt x="2093187" y="22942"/>
                  <a:pt x="2264570" y="0"/>
                </a:cubicBezTo>
                <a:cubicBezTo>
                  <a:pt x="2435953" y="-22942"/>
                  <a:pt x="2699576" y="50145"/>
                  <a:pt x="2961360" y="0"/>
                </a:cubicBezTo>
                <a:cubicBezTo>
                  <a:pt x="3223144" y="-50145"/>
                  <a:pt x="3322425" y="41736"/>
                  <a:pt x="3542019" y="0"/>
                </a:cubicBezTo>
                <a:cubicBezTo>
                  <a:pt x="3761613" y="-41736"/>
                  <a:pt x="4041042" y="20129"/>
                  <a:pt x="4180744" y="0"/>
                </a:cubicBezTo>
                <a:cubicBezTo>
                  <a:pt x="4320446" y="-20129"/>
                  <a:pt x="4669743" y="57095"/>
                  <a:pt x="4819469" y="0"/>
                </a:cubicBezTo>
                <a:cubicBezTo>
                  <a:pt x="4969195" y="-57095"/>
                  <a:pt x="5070387" y="22467"/>
                  <a:pt x="5225930" y="0"/>
                </a:cubicBezTo>
                <a:cubicBezTo>
                  <a:pt x="5381473" y="-22467"/>
                  <a:pt x="5604744" y="3271"/>
                  <a:pt x="5806589" y="0"/>
                </a:cubicBezTo>
                <a:cubicBezTo>
                  <a:pt x="5847610" y="203463"/>
                  <a:pt x="5806335" y="289651"/>
                  <a:pt x="5806589" y="461074"/>
                </a:cubicBezTo>
                <a:cubicBezTo>
                  <a:pt x="5806843" y="632497"/>
                  <a:pt x="5768929" y="773648"/>
                  <a:pt x="5806589" y="922148"/>
                </a:cubicBezTo>
                <a:cubicBezTo>
                  <a:pt x="5844249" y="1070648"/>
                  <a:pt x="5789762" y="1286082"/>
                  <a:pt x="5806589" y="1426002"/>
                </a:cubicBezTo>
                <a:cubicBezTo>
                  <a:pt x="5587309" y="1468472"/>
                  <a:pt x="5472537" y="1365666"/>
                  <a:pt x="5167864" y="1426002"/>
                </a:cubicBezTo>
                <a:cubicBezTo>
                  <a:pt x="4863192" y="1486338"/>
                  <a:pt x="4811765" y="1403269"/>
                  <a:pt x="4703337" y="1426002"/>
                </a:cubicBezTo>
                <a:cubicBezTo>
                  <a:pt x="4594909" y="1448735"/>
                  <a:pt x="4430916" y="1420162"/>
                  <a:pt x="4238810" y="1426002"/>
                </a:cubicBezTo>
                <a:cubicBezTo>
                  <a:pt x="4046704" y="1431842"/>
                  <a:pt x="4025573" y="1394716"/>
                  <a:pt x="3832349" y="1426002"/>
                </a:cubicBezTo>
                <a:cubicBezTo>
                  <a:pt x="3639125" y="1457288"/>
                  <a:pt x="3534469" y="1374279"/>
                  <a:pt x="3367822" y="1426002"/>
                </a:cubicBezTo>
                <a:cubicBezTo>
                  <a:pt x="3201175" y="1477725"/>
                  <a:pt x="3012359" y="1409520"/>
                  <a:pt x="2787163" y="1426002"/>
                </a:cubicBezTo>
                <a:cubicBezTo>
                  <a:pt x="2561967" y="1442484"/>
                  <a:pt x="2517154" y="1388135"/>
                  <a:pt x="2264570" y="1426002"/>
                </a:cubicBezTo>
                <a:cubicBezTo>
                  <a:pt x="2011986" y="1463869"/>
                  <a:pt x="2012441" y="1420202"/>
                  <a:pt x="1800043" y="1426002"/>
                </a:cubicBezTo>
                <a:cubicBezTo>
                  <a:pt x="1587645" y="1431802"/>
                  <a:pt x="1383978" y="1370543"/>
                  <a:pt x="1277450" y="1426002"/>
                </a:cubicBezTo>
                <a:cubicBezTo>
                  <a:pt x="1170922" y="1481461"/>
                  <a:pt x="873345" y="1410323"/>
                  <a:pt x="754857" y="1426002"/>
                </a:cubicBezTo>
                <a:cubicBezTo>
                  <a:pt x="636369" y="1441681"/>
                  <a:pt x="153521" y="1357683"/>
                  <a:pt x="0" y="1426002"/>
                </a:cubicBezTo>
                <a:cubicBezTo>
                  <a:pt x="-5741" y="1215175"/>
                  <a:pt x="19920" y="1127596"/>
                  <a:pt x="0" y="964928"/>
                </a:cubicBezTo>
                <a:cubicBezTo>
                  <a:pt x="-19920" y="802260"/>
                  <a:pt x="27423" y="607635"/>
                  <a:pt x="0" y="475334"/>
                </a:cubicBezTo>
                <a:cubicBezTo>
                  <a:pt x="-27423" y="343033"/>
                  <a:pt x="56349" y="95489"/>
                  <a:pt x="0" y="0"/>
                </a:cubicBezTo>
                <a:close/>
              </a:path>
            </a:pathLst>
          </a:custGeom>
          <a:solidFill>
            <a:schemeClr val="bg1">
              <a:lumMod val="95000"/>
            </a:schemeClr>
          </a:solidFill>
          <a:ln w="38100">
            <a:solidFill>
              <a:schemeClr val="tx1"/>
            </a:solidFill>
            <a:extLst>
              <a:ext uri="{C807C97D-BFC1-408E-A445-0C87EB9F89A2}">
                <ask:lineSketchStyleProps xmlns:ask="http://schemas.microsoft.com/office/drawing/2018/sketchyshapes" xmlns="" sd="2441614996">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tabLst>
                <a:tab pos="6096000" algn="l"/>
              </a:tabLst>
            </a:pPr>
            <a:r>
              <a:rPr lang="en-GB" dirty="0">
                <a:solidFill>
                  <a:schemeClr val="tx1"/>
                </a:solidFill>
                <a:latin typeface="Bell MT" panose="02020503060305020303" pitchFamily="18" charset="0"/>
              </a:rPr>
              <a:t>Pupil </a:t>
            </a:r>
            <a:r>
              <a:rPr lang="en-GB" dirty="0" err="1">
                <a:solidFill>
                  <a:schemeClr val="tx1"/>
                </a:solidFill>
                <a:latin typeface="Bell MT" panose="02020503060305020303" pitchFamily="18" charset="0"/>
              </a:rPr>
              <a:t>firstPupil</a:t>
            </a:r>
            <a:r>
              <a:rPr lang="en-GB" dirty="0">
                <a:solidFill>
                  <a:schemeClr val="tx1"/>
                </a:solidFill>
                <a:latin typeface="Bell MT" panose="02020503060305020303" pitchFamily="18" charset="0"/>
              </a:rPr>
              <a:t> = new Pupil(“Alex”, M, “Blue”, “Dog”, 15);</a:t>
            </a:r>
          </a:p>
          <a:p>
            <a:pPr>
              <a:tabLst>
                <a:tab pos="6096000" algn="l"/>
              </a:tabLst>
            </a:pPr>
            <a:endParaRPr lang="en-GB" dirty="0">
              <a:solidFill>
                <a:schemeClr val="tx1"/>
              </a:solidFill>
            </a:endParaRPr>
          </a:p>
          <a:p>
            <a:pPr>
              <a:tabLst>
                <a:tab pos="6096000" algn="l"/>
              </a:tabLst>
            </a:pPr>
            <a:r>
              <a:rPr lang="en-GB" dirty="0">
                <a:solidFill>
                  <a:schemeClr val="tx1"/>
                </a:solidFill>
              </a:rPr>
              <a:t>We can now interact with the object with functions such as </a:t>
            </a:r>
            <a:r>
              <a:rPr lang="en-GB" dirty="0" err="1">
                <a:solidFill>
                  <a:schemeClr val="tx1"/>
                </a:solidFill>
              </a:rPr>
              <a:t>getPupilGender</a:t>
            </a:r>
            <a:r>
              <a:rPr lang="en-GB" dirty="0">
                <a:solidFill>
                  <a:schemeClr val="tx1"/>
                </a:solidFill>
              </a:rPr>
              <a:t>() and getting an output from the object of “Male”</a:t>
            </a:r>
          </a:p>
        </p:txBody>
      </p:sp>
    </p:spTree>
    <p:extLst>
      <p:ext uri="{BB962C8B-B14F-4D97-AF65-F5344CB8AC3E}">
        <p14:creationId xmlns:p14="http://schemas.microsoft.com/office/powerpoint/2010/main" val="202804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ADFEF0-C008-D9E9-75BB-44A6F26E270B}"/>
              </a:ext>
            </a:extLst>
          </p:cNvPr>
          <p:cNvSpPr>
            <a:spLocks noGrp="1"/>
          </p:cNvSpPr>
          <p:nvPr>
            <p:ph type="title"/>
          </p:nvPr>
        </p:nvSpPr>
        <p:spPr>
          <a:xfrm>
            <a:off x="191589" y="93937"/>
            <a:ext cx="10515600" cy="1325563"/>
          </a:xfrm>
        </p:spPr>
        <p:txBody>
          <a:bodyPr/>
          <a:lstStyle/>
          <a:p>
            <a:r>
              <a:rPr lang="en-GB" dirty="0"/>
              <a:t>Features of OOP: Inheritance</a:t>
            </a:r>
          </a:p>
        </p:txBody>
      </p:sp>
      <p:sp>
        <p:nvSpPr>
          <p:cNvPr id="4" name="Rectangle 3">
            <a:extLst>
              <a:ext uri="{FF2B5EF4-FFF2-40B4-BE49-F238E27FC236}">
                <a16:creationId xmlns:a16="http://schemas.microsoft.com/office/drawing/2014/main" xmlns="" id="{A64A5705-E73A-7C38-F402-B3C3C967E0F6}"/>
              </a:ext>
            </a:extLst>
          </p:cNvPr>
          <p:cNvSpPr/>
          <p:nvPr/>
        </p:nvSpPr>
        <p:spPr>
          <a:xfrm>
            <a:off x="191590" y="1412015"/>
            <a:ext cx="4214948" cy="496388"/>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Inheritance</a:t>
            </a:r>
          </a:p>
        </p:txBody>
      </p:sp>
      <p:sp>
        <p:nvSpPr>
          <p:cNvPr id="5" name="Rectangle 4">
            <a:extLst>
              <a:ext uri="{FF2B5EF4-FFF2-40B4-BE49-F238E27FC236}">
                <a16:creationId xmlns:a16="http://schemas.microsoft.com/office/drawing/2014/main" xmlns="" id="{2F010972-83BA-EABD-89F8-C3C65EADFC73}"/>
              </a:ext>
            </a:extLst>
          </p:cNvPr>
          <p:cNvSpPr/>
          <p:nvPr/>
        </p:nvSpPr>
        <p:spPr>
          <a:xfrm>
            <a:off x="191589" y="1908402"/>
            <a:ext cx="4214949" cy="2952205"/>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u="sng" dirty="0">
                <a:solidFill>
                  <a:schemeClr val="tx1"/>
                </a:solidFill>
                <a:latin typeface="LEMON MILK" panose="00000500000000000000" pitchFamily="50" charset="0"/>
              </a:rPr>
              <a:t>HUMAN</a:t>
            </a:r>
          </a:p>
          <a:p>
            <a:pPr algn="ctr"/>
            <a:r>
              <a:rPr lang="en-GB" dirty="0">
                <a:solidFill>
                  <a:schemeClr val="tx1"/>
                </a:solidFill>
              </a:rPr>
              <a:t>name:</a:t>
            </a:r>
          </a:p>
          <a:p>
            <a:pPr algn="ctr"/>
            <a:r>
              <a:rPr lang="en-GB" dirty="0">
                <a:solidFill>
                  <a:schemeClr val="tx1"/>
                </a:solidFill>
              </a:rPr>
              <a:t>age:</a:t>
            </a:r>
          </a:p>
          <a:p>
            <a:pPr algn="ctr"/>
            <a:endParaRPr lang="en-GB" dirty="0">
              <a:solidFill>
                <a:schemeClr val="tx1"/>
              </a:solidFill>
            </a:endParaRPr>
          </a:p>
          <a:p>
            <a:pPr algn="ctr"/>
            <a:endParaRPr lang="en-GB" dirty="0">
              <a:solidFill>
                <a:schemeClr val="tx1"/>
              </a:solidFill>
              <a:latin typeface="LEMON MILK" panose="00000500000000000000" pitchFamily="50" charset="0"/>
            </a:endParaRPr>
          </a:p>
          <a:p>
            <a:pPr algn="ctr"/>
            <a:endParaRPr lang="en-GB" dirty="0">
              <a:solidFill>
                <a:schemeClr val="tx1"/>
              </a:solidFill>
              <a:latin typeface="LEMON MILK" panose="00000500000000000000" pitchFamily="50" charset="0"/>
            </a:endParaRPr>
          </a:p>
          <a:p>
            <a:r>
              <a:rPr lang="en-GB" u="sng" dirty="0">
                <a:solidFill>
                  <a:schemeClr val="tx1"/>
                </a:solidFill>
                <a:latin typeface="LEMON MILK" panose="00000500000000000000" pitchFamily="50" charset="0"/>
              </a:rPr>
              <a:t>Employee</a:t>
            </a:r>
            <a:r>
              <a:rPr lang="en-GB" dirty="0">
                <a:solidFill>
                  <a:schemeClr val="tx1"/>
                </a:solidFill>
                <a:latin typeface="LEMON MILK" panose="00000500000000000000" pitchFamily="50" charset="0"/>
              </a:rPr>
              <a:t>		</a:t>
            </a:r>
            <a:r>
              <a:rPr lang="en-GB" u="sng" dirty="0">
                <a:solidFill>
                  <a:schemeClr val="tx1"/>
                </a:solidFill>
                <a:latin typeface="LEMON MILK" panose="00000500000000000000" pitchFamily="50" charset="0"/>
              </a:rPr>
              <a:t>Student</a:t>
            </a:r>
          </a:p>
          <a:p>
            <a:r>
              <a:rPr lang="en-GB" dirty="0">
                <a:solidFill>
                  <a:schemeClr val="tx1"/>
                </a:solidFill>
              </a:rPr>
              <a:t>salary:			course:</a:t>
            </a:r>
          </a:p>
          <a:p>
            <a:r>
              <a:rPr lang="en-GB" dirty="0">
                <a:solidFill>
                  <a:schemeClr val="tx1"/>
                </a:solidFill>
              </a:rPr>
              <a:t>position:</a:t>
            </a:r>
            <a:endParaRPr lang="en-GB" dirty="0">
              <a:solidFill>
                <a:schemeClr val="tx1"/>
              </a:solidFill>
              <a:latin typeface="LEMON MILK" panose="00000500000000000000" pitchFamily="50" charset="0"/>
            </a:endParaRPr>
          </a:p>
          <a:p>
            <a:endParaRPr lang="en-GB" dirty="0">
              <a:solidFill>
                <a:schemeClr val="tx1"/>
              </a:solidFill>
              <a:latin typeface="LEMON MILK" panose="00000500000000000000" pitchFamily="50" charset="0"/>
            </a:endParaRPr>
          </a:p>
        </p:txBody>
      </p:sp>
      <p:grpSp>
        <p:nvGrpSpPr>
          <p:cNvPr id="14" name="Group 13">
            <a:extLst>
              <a:ext uri="{FF2B5EF4-FFF2-40B4-BE49-F238E27FC236}">
                <a16:creationId xmlns:a16="http://schemas.microsoft.com/office/drawing/2014/main" xmlns="" id="{5F4C15FD-7B04-4216-9903-402C85AC80AF}"/>
              </a:ext>
            </a:extLst>
          </p:cNvPr>
          <p:cNvGrpSpPr/>
          <p:nvPr/>
        </p:nvGrpSpPr>
        <p:grpSpPr>
          <a:xfrm>
            <a:off x="896984" y="2979561"/>
            <a:ext cx="2751909" cy="561701"/>
            <a:chOff x="1053737" y="3405056"/>
            <a:chExt cx="2751909" cy="561701"/>
          </a:xfrm>
        </p:grpSpPr>
        <p:cxnSp>
          <p:nvCxnSpPr>
            <p:cNvPr id="7" name="Straight Connector 6">
              <a:extLst>
                <a:ext uri="{FF2B5EF4-FFF2-40B4-BE49-F238E27FC236}">
                  <a16:creationId xmlns:a16="http://schemas.microsoft.com/office/drawing/2014/main" xmlns="" id="{79D3F380-3DD7-6940-F0B1-A232BFD48DCE}"/>
                </a:ext>
              </a:extLst>
            </p:cNvPr>
            <p:cNvCxnSpPr/>
            <p:nvPr/>
          </p:nvCxnSpPr>
          <p:spPr>
            <a:xfrm>
              <a:off x="1053737" y="3577048"/>
              <a:ext cx="275190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626289E1-4925-0173-6BC9-5F5A28E2EF20}"/>
                </a:ext>
              </a:extLst>
            </p:cNvPr>
            <p:cNvCxnSpPr>
              <a:cxnSpLocks/>
            </p:cNvCxnSpPr>
            <p:nvPr/>
          </p:nvCxnSpPr>
          <p:spPr>
            <a:xfrm>
              <a:off x="1084216" y="3577048"/>
              <a:ext cx="0" cy="38970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AFCB1A52-31A9-EDA0-D70E-2D8EB3C1966C}"/>
                </a:ext>
              </a:extLst>
            </p:cNvPr>
            <p:cNvCxnSpPr>
              <a:cxnSpLocks/>
            </p:cNvCxnSpPr>
            <p:nvPr/>
          </p:nvCxnSpPr>
          <p:spPr>
            <a:xfrm>
              <a:off x="3779519" y="3577048"/>
              <a:ext cx="0" cy="38970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749F9F3D-A3A1-02C2-8F65-059CA51C2E71}"/>
                </a:ext>
              </a:extLst>
            </p:cNvPr>
            <p:cNvCxnSpPr>
              <a:cxnSpLocks/>
            </p:cNvCxnSpPr>
            <p:nvPr/>
          </p:nvCxnSpPr>
          <p:spPr>
            <a:xfrm>
              <a:off x="2442754" y="3405056"/>
              <a:ext cx="0" cy="1719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xmlns="" id="{96629FCE-46ED-BE79-AE89-1F7F364FDA7A}"/>
              </a:ext>
            </a:extLst>
          </p:cNvPr>
          <p:cNvSpPr txBox="1"/>
          <p:nvPr/>
        </p:nvSpPr>
        <p:spPr>
          <a:xfrm>
            <a:off x="191589" y="4860607"/>
            <a:ext cx="4214946" cy="2031325"/>
          </a:xfrm>
          <a:prstGeom prst="rect">
            <a:avLst/>
          </a:prstGeom>
          <a:noFill/>
        </p:spPr>
        <p:txBody>
          <a:bodyPr wrap="square" rtlCol="0">
            <a:spAutoFit/>
          </a:bodyPr>
          <a:lstStyle/>
          <a:p>
            <a:pPr algn="just"/>
            <a:r>
              <a:rPr lang="en-GB" dirty="0">
                <a:solidFill>
                  <a:schemeClr val="bg1"/>
                </a:solidFill>
              </a:rPr>
              <a:t>Inheritance is how the properties and methods from a class are copied to another class so that only the differences must be reprogrammed. </a:t>
            </a:r>
          </a:p>
          <a:p>
            <a:pPr algn="just"/>
            <a:endParaRPr lang="en-GB" dirty="0">
              <a:solidFill>
                <a:schemeClr val="bg1"/>
              </a:solidFill>
            </a:endParaRPr>
          </a:p>
          <a:p>
            <a:pPr algn="just"/>
            <a:r>
              <a:rPr lang="en-GB" dirty="0">
                <a:solidFill>
                  <a:schemeClr val="bg1"/>
                </a:solidFill>
              </a:rPr>
              <a:t>A </a:t>
            </a:r>
            <a:r>
              <a:rPr lang="en-GB" b="1" dirty="0">
                <a:solidFill>
                  <a:schemeClr val="bg1"/>
                </a:solidFill>
              </a:rPr>
              <a:t>derived class</a:t>
            </a:r>
            <a:r>
              <a:rPr lang="en-GB" dirty="0">
                <a:solidFill>
                  <a:schemeClr val="bg1"/>
                </a:solidFill>
              </a:rPr>
              <a:t> is a class resulting from the inheritance process. </a:t>
            </a:r>
          </a:p>
        </p:txBody>
      </p:sp>
      <p:cxnSp>
        <p:nvCxnSpPr>
          <p:cNvPr id="17" name="Straight Arrow Connector 16">
            <a:extLst>
              <a:ext uri="{FF2B5EF4-FFF2-40B4-BE49-F238E27FC236}">
                <a16:creationId xmlns:a16="http://schemas.microsoft.com/office/drawing/2014/main" xmlns="" id="{8E4905C1-61E6-DF47-9E24-460330707753}"/>
              </a:ext>
            </a:extLst>
          </p:cNvPr>
          <p:cNvCxnSpPr>
            <a:cxnSpLocks/>
          </p:cNvCxnSpPr>
          <p:nvPr/>
        </p:nvCxnSpPr>
        <p:spPr>
          <a:xfrm flipH="1">
            <a:off x="2812869" y="1908401"/>
            <a:ext cx="4188822" cy="4516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0529EB5F-157B-804C-B484-8BC0A586D403}"/>
              </a:ext>
            </a:extLst>
          </p:cNvPr>
          <p:cNvSpPr txBox="1"/>
          <p:nvPr/>
        </p:nvSpPr>
        <p:spPr>
          <a:xfrm>
            <a:off x="7123612" y="1569105"/>
            <a:ext cx="4676502" cy="646331"/>
          </a:xfrm>
          <a:prstGeom prst="rect">
            <a:avLst/>
          </a:prstGeom>
          <a:noFill/>
        </p:spPr>
        <p:txBody>
          <a:bodyPr wrap="square" rtlCol="0">
            <a:spAutoFit/>
          </a:bodyPr>
          <a:lstStyle/>
          <a:p>
            <a:r>
              <a:rPr lang="en-GB" dirty="0">
                <a:solidFill>
                  <a:schemeClr val="bg1"/>
                </a:solidFill>
              </a:rPr>
              <a:t>This is the ‘parent class’. All humans have a name and age attributes.</a:t>
            </a:r>
          </a:p>
        </p:txBody>
      </p:sp>
      <p:sp>
        <p:nvSpPr>
          <p:cNvPr id="21" name="TextBox 20">
            <a:extLst>
              <a:ext uri="{FF2B5EF4-FFF2-40B4-BE49-F238E27FC236}">
                <a16:creationId xmlns:a16="http://schemas.microsoft.com/office/drawing/2014/main" xmlns="" id="{B667D81C-5274-FBD5-4CA9-6692F62BF761}"/>
              </a:ext>
            </a:extLst>
          </p:cNvPr>
          <p:cNvSpPr txBox="1"/>
          <p:nvPr/>
        </p:nvSpPr>
        <p:spPr>
          <a:xfrm>
            <a:off x="6945086" y="2829282"/>
            <a:ext cx="4676502" cy="2308324"/>
          </a:xfrm>
          <a:prstGeom prst="rect">
            <a:avLst/>
          </a:prstGeom>
          <a:noFill/>
        </p:spPr>
        <p:txBody>
          <a:bodyPr wrap="square" rtlCol="0">
            <a:spAutoFit/>
          </a:bodyPr>
          <a:lstStyle/>
          <a:p>
            <a:r>
              <a:rPr lang="en-GB" dirty="0">
                <a:solidFill>
                  <a:schemeClr val="bg1"/>
                </a:solidFill>
              </a:rPr>
              <a:t>These are two derived classes. An employee will also have a salary and position in addition to the name and age attribute.</a:t>
            </a:r>
          </a:p>
          <a:p>
            <a:endParaRPr lang="en-GB" dirty="0">
              <a:solidFill>
                <a:schemeClr val="bg1"/>
              </a:solidFill>
            </a:endParaRPr>
          </a:p>
          <a:p>
            <a:endParaRPr lang="en-GB" dirty="0">
              <a:solidFill>
                <a:schemeClr val="bg1"/>
              </a:solidFill>
            </a:endParaRPr>
          </a:p>
          <a:p>
            <a:r>
              <a:rPr lang="en-GB" dirty="0">
                <a:solidFill>
                  <a:schemeClr val="bg1"/>
                </a:solidFill>
              </a:rPr>
              <a:t>A Student will also have a course in addition to the name and age attributes.</a:t>
            </a:r>
          </a:p>
        </p:txBody>
      </p:sp>
      <p:cxnSp>
        <p:nvCxnSpPr>
          <p:cNvPr id="22" name="Straight Arrow Connector 21">
            <a:extLst>
              <a:ext uri="{FF2B5EF4-FFF2-40B4-BE49-F238E27FC236}">
                <a16:creationId xmlns:a16="http://schemas.microsoft.com/office/drawing/2014/main" xmlns="" id="{A6209681-7696-C855-E56A-A5A8E9199FED}"/>
              </a:ext>
            </a:extLst>
          </p:cNvPr>
          <p:cNvCxnSpPr>
            <a:cxnSpLocks/>
          </p:cNvCxnSpPr>
          <p:nvPr/>
        </p:nvCxnSpPr>
        <p:spPr>
          <a:xfrm flipH="1">
            <a:off x="3979817" y="3065556"/>
            <a:ext cx="2965269" cy="9430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xmlns="" id="{58EA4FDA-B7CA-91A1-D7C8-EBC6065B8D39}"/>
              </a:ext>
            </a:extLst>
          </p:cNvPr>
          <p:cNvCxnSpPr>
            <a:cxnSpLocks/>
          </p:cNvCxnSpPr>
          <p:nvPr/>
        </p:nvCxnSpPr>
        <p:spPr>
          <a:xfrm flipH="1">
            <a:off x="1785257" y="3065557"/>
            <a:ext cx="5159829" cy="6303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546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DDEBDC-8349-37FC-07A8-80A7F4B56F4B}"/>
              </a:ext>
            </a:extLst>
          </p:cNvPr>
          <p:cNvSpPr>
            <a:spLocks noGrp="1"/>
          </p:cNvSpPr>
          <p:nvPr>
            <p:ph type="title"/>
          </p:nvPr>
        </p:nvSpPr>
        <p:spPr/>
        <p:txBody>
          <a:bodyPr/>
          <a:lstStyle/>
          <a:p>
            <a:r>
              <a:rPr lang="en-GB" dirty="0"/>
              <a:t>Encapsulation</a:t>
            </a:r>
          </a:p>
        </p:txBody>
      </p:sp>
      <p:grpSp>
        <p:nvGrpSpPr>
          <p:cNvPr id="4" name="Group 3">
            <a:extLst>
              <a:ext uri="{FF2B5EF4-FFF2-40B4-BE49-F238E27FC236}">
                <a16:creationId xmlns:a16="http://schemas.microsoft.com/office/drawing/2014/main" xmlns="" id="{6F2859A6-3D3C-D9B9-6D5A-53DA6ABBC66B}"/>
              </a:ext>
            </a:extLst>
          </p:cNvPr>
          <p:cNvGrpSpPr/>
          <p:nvPr/>
        </p:nvGrpSpPr>
        <p:grpSpPr>
          <a:xfrm>
            <a:off x="7490951" y="365125"/>
            <a:ext cx="5187541" cy="6259826"/>
            <a:chOff x="0" y="0"/>
            <a:chExt cx="2273300" cy="2743200"/>
          </a:xfrm>
        </p:grpSpPr>
        <p:pic>
          <p:nvPicPr>
            <p:cNvPr id="5" name="Picture 4" descr="Pill flat icon isolated on white background vector illustration | Premium  Vector">
              <a:extLst>
                <a:ext uri="{FF2B5EF4-FFF2-40B4-BE49-F238E27FC236}">
                  <a16:creationId xmlns:a16="http://schemas.microsoft.com/office/drawing/2014/main" xmlns="" id="{B7614BFD-C5A2-FFC2-CDFA-9A1F548E69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273300" cy="2743200"/>
            </a:xfrm>
            <a:prstGeom prst="rect">
              <a:avLst/>
            </a:prstGeom>
            <a:noFill/>
            <a:ln>
              <a:noFill/>
            </a:ln>
          </p:spPr>
        </p:pic>
        <p:grpSp>
          <p:nvGrpSpPr>
            <p:cNvPr id="6" name="Group 5">
              <a:extLst>
                <a:ext uri="{FF2B5EF4-FFF2-40B4-BE49-F238E27FC236}">
                  <a16:creationId xmlns:a16="http://schemas.microsoft.com/office/drawing/2014/main" xmlns="" id="{A93A4EE5-5F35-225C-B46A-F22009F10C35}"/>
                </a:ext>
              </a:extLst>
            </p:cNvPr>
            <p:cNvGrpSpPr/>
            <p:nvPr/>
          </p:nvGrpSpPr>
          <p:grpSpPr>
            <a:xfrm>
              <a:off x="527050" y="1466850"/>
              <a:ext cx="882650" cy="895350"/>
              <a:chOff x="0" y="0"/>
              <a:chExt cx="882650" cy="895350"/>
            </a:xfrm>
          </p:grpSpPr>
          <p:sp>
            <p:nvSpPr>
              <p:cNvPr id="7" name="Oval 6">
                <a:extLst>
                  <a:ext uri="{FF2B5EF4-FFF2-40B4-BE49-F238E27FC236}">
                    <a16:creationId xmlns:a16="http://schemas.microsoft.com/office/drawing/2014/main" xmlns="" id="{91C0213A-4E6C-6617-1A41-25BC57403F52}"/>
                  </a:ext>
                </a:extLst>
              </p:cNvPr>
              <p:cNvSpPr/>
              <p:nvPr/>
            </p:nvSpPr>
            <p:spPr>
              <a:xfrm>
                <a:off x="57150" y="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 name="Oval 7">
                <a:extLst>
                  <a:ext uri="{FF2B5EF4-FFF2-40B4-BE49-F238E27FC236}">
                    <a16:creationId xmlns:a16="http://schemas.microsoft.com/office/drawing/2014/main" xmlns="" id="{908A2740-D346-D365-7A95-295451C8784F}"/>
                  </a:ext>
                </a:extLst>
              </p:cNvPr>
              <p:cNvSpPr/>
              <p:nvPr/>
            </p:nvSpPr>
            <p:spPr>
              <a:xfrm>
                <a:off x="438150" y="25400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Oval 8">
                <a:extLst>
                  <a:ext uri="{FF2B5EF4-FFF2-40B4-BE49-F238E27FC236}">
                    <a16:creationId xmlns:a16="http://schemas.microsoft.com/office/drawing/2014/main" xmlns="" id="{B84E1E3D-2F69-B22B-9FF1-BFB4E710A308}"/>
                  </a:ext>
                </a:extLst>
              </p:cNvPr>
              <p:cNvSpPr/>
              <p:nvPr/>
            </p:nvSpPr>
            <p:spPr>
              <a:xfrm>
                <a:off x="165100" y="27305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 name="Oval 9">
                <a:extLst>
                  <a:ext uri="{FF2B5EF4-FFF2-40B4-BE49-F238E27FC236}">
                    <a16:creationId xmlns:a16="http://schemas.microsoft.com/office/drawing/2014/main" xmlns="" id="{AF1F5AEF-CC6F-6DD5-661D-6671550DC37D}"/>
                  </a:ext>
                </a:extLst>
              </p:cNvPr>
              <p:cNvSpPr/>
              <p:nvPr/>
            </p:nvSpPr>
            <p:spPr>
              <a:xfrm>
                <a:off x="412750" y="58420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Oval 10">
                <a:extLst>
                  <a:ext uri="{FF2B5EF4-FFF2-40B4-BE49-F238E27FC236}">
                    <a16:creationId xmlns:a16="http://schemas.microsoft.com/office/drawing/2014/main" xmlns="" id="{CC196B2D-398D-6430-6E61-70E63C79FAAC}"/>
                  </a:ext>
                </a:extLst>
              </p:cNvPr>
              <p:cNvSpPr/>
              <p:nvPr/>
            </p:nvSpPr>
            <p:spPr>
              <a:xfrm>
                <a:off x="171450" y="70485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2" name="Oval 11">
                <a:extLst>
                  <a:ext uri="{FF2B5EF4-FFF2-40B4-BE49-F238E27FC236}">
                    <a16:creationId xmlns:a16="http://schemas.microsoft.com/office/drawing/2014/main" xmlns="" id="{71A16444-1CBF-23FF-A775-BDA6D6E9A304}"/>
                  </a:ext>
                </a:extLst>
              </p:cNvPr>
              <p:cNvSpPr/>
              <p:nvPr/>
            </p:nvSpPr>
            <p:spPr>
              <a:xfrm>
                <a:off x="0" y="45720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 name="Oval 12">
                <a:extLst>
                  <a:ext uri="{FF2B5EF4-FFF2-40B4-BE49-F238E27FC236}">
                    <a16:creationId xmlns:a16="http://schemas.microsoft.com/office/drawing/2014/main" xmlns="" id="{D525D616-2419-F16C-21FA-1625D339BE97}"/>
                  </a:ext>
                </a:extLst>
              </p:cNvPr>
              <p:cNvSpPr/>
              <p:nvPr/>
            </p:nvSpPr>
            <p:spPr>
              <a:xfrm>
                <a:off x="692150" y="215900"/>
                <a:ext cx="190500" cy="190500"/>
              </a:xfrm>
              <a:prstGeom prst="ellipse">
                <a:avLst/>
              </a:prstGeom>
              <a:solidFill>
                <a:srgbClr val="4472C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cxnSp>
        <p:nvCxnSpPr>
          <p:cNvPr id="14" name="Straight Arrow Connector 13">
            <a:extLst>
              <a:ext uri="{FF2B5EF4-FFF2-40B4-BE49-F238E27FC236}">
                <a16:creationId xmlns:a16="http://schemas.microsoft.com/office/drawing/2014/main" xmlns="" id="{1D18B510-FF65-A926-B1F1-64B5836BEEF4}"/>
              </a:ext>
            </a:extLst>
          </p:cNvPr>
          <p:cNvCxnSpPr>
            <a:cxnSpLocks/>
          </p:cNvCxnSpPr>
          <p:nvPr/>
        </p:nvCxnSpPr>
        <p:spPr>
          <a:xfrm>
            <a:off x="8044543" y="2915374"/>
            <a:ext cx="1214229" cy="16573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A3CD224C-473A-C670-0FF1-FD1E3DAA3A27}"/>
              </a:ext>
            </a:extLst>
          </p:cNvPr>
          <p:cNvSpPr/>
          <p:nvPr/>
        </p:nvSpPr>
        <p:spPr>
          <a:xfrm>
            <a:off x="7036717" y="2541635"/>
            <a:ext cx="1787345" cy="352549"/>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Attributes</a:t>
            </a:r>
          </a:p>
        </p:txBody>
      </p:sp>
      <p:sp>
        <p:nvSpPr>
          <p:cNvPr id="18" name="Rectangle 17">
            <a:extLst>
              <a:ext uri="{FF2B5EF4-FFF2-40B4-BE49-F238E27FC236}">
                <a16:creationId xmlns:a16="http://schemas.microsoft.com/office/drawing/2014/main" xmlns="" id="{D77D85D4-044B-8031-6222-A2262BC4B432}"/>
              </a:ext>
            </a:extLst>
          </p:cNvPr>
          <p:cNvSpPr/>
          <p:nvPr/>
        </p:nvSpPr>
        <p:spPr>
          <a:xfrm>
            <a:off x="10284267" y="5254783"/>
            <a:ext cx="1787345" cy="1505362"/>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u="sng" dirty="0">
                <a:solidFill>
                  <a:schemeClr val="tx1"/>
                </a:solidFill>
                <a:latin typeface="LEMON MILK" panose="00000500000000000000" pitchFamily="50" charset="0"/>
              </a:rPr>
              <a:t>Methods</a:t>
            </a:r>
            <a:endParaRPr lang="en-GB" dirty="0">
              <a:solidFill>
                <a:schemeClr val="tx1"/>
              </a:solidFill>
              <a:latin typeface="LEMON MILK" panose="00000500000000000000" pitchFamily="50" charset="0"/>
            </a:endParaRPr>
          </a:p>
          <a:p>
            <a:pPr algn="ctr"/>
            <a:r>
              <a:rPr lang="en-GB" dirty="0">
                <a:solidFill>
                  <a:schemeClr val="tx1"/>
                </a:solidFill>
                <a:latin typeface="LEMON MILK" panose="00000500000000000000" pitchFamily="50" charset="0"/>
              </a:rPr>
              <a:t>Eat();</a:t>
            </a:r>
          </a:p>
          <a:p>
            <a:pPr algn="ctr"/>
            <a:r>
              <a:rPr lang="en-GB" dirty="0">
                <a:solidFill>
                  <a:schemeClr val="tx1"/>
                </a:solidFill>
                <a:latin typeface="LEMON MILK" panose="00000500000000000000" pitchFamily="50" charset="0"/>
              </a:rPr>
              <a:t>Throw();</a:t>
            </a:r>
          </a:p>
          <a:p>
            <a:pPr algn="ctr"/>
            <a:r>
              <a:rPr lang="en-GB" dirty="0">
                <a:solidFill>
                  <a:schemeClr val="tx1"/>
                </a:solidFill>
                <a:latin typeface="LEMON MILK" panose="00000500000000000000" pitchFamily="50" charset="0"/>
              </a:rPr>
              <a:t>Describe();</a:t>
            </a:r>
          </a:p>
        </p:txBody>
      </p:sp>
      <p:sp>
        <p:nvSpPr>
          <p:cNvPr id="3" name="Content Placeholder 2">
            <a:extLst>
              <a:ext uri="{FF2B5EF4-FFF2-40B4-BE49-F238E27FC236}">
                <a16:creationId xmlns:a16="http://schemas.microsoft.com/office/drawing/2014/main" xmlns="" id="{D2B25449-C8CF-8E9F-BB7D-539CCFD2767A}"/>
              </a:ext>
            </a:extLst>
          </p:cNvPr>
          <p:cNvSpPr>
            <a:spLocks noGrp="1"/>
          </p:cNvSpPr>
          <p:nvPr>
            <p:ph idx="1"/>
          </p:nvPr>
        </p:nvSpPr>
        <p:spPr>
          <a:xfrm>
            <a:off x="86841" y="2398068"/>
            <a:ext cx="7093214" cy="4351338"/>
          </a:xfrm>
        </p:spPr>
        <p:txBody>
          <a:bodyPr>
            <a:normAutofit fontScale="92500" lnSpcReduction="20000"/>
          </a:bodyPr>
          <a:lstStyle/>
          <a:p>
            <a:r>
              <a:rPr lang="en-GB" dirty="0"/>
              <a:t>Also known as information hiding</a:t>
            </a:r>
          </a:p>
          <a:p>
            <a:r>
              <a:rPr lang="en-GB" dirty="0"/>
              <a:t>Encapsulation is an object-oriented programming concept where data (properties) and the methods that operate on that data are kept together within an object.</a:t>
            </a:r>
          </a:p>
          <a:p>
            <a:r>
              <a:rPr lang="en-GB" dirty="0"/>
              <a:t>The data inside an object is hidden from direct access and can only be changed or accessed through the object’s methods. This helps to protect the data from accidental or unauthorised changes.</a:t>
            </a:r>
          </a:p>
          <a:p>
            <a:r>
              <a:rPr lang="en-GB" dirty="0"/>
              <a:t>Encapsulation improves program reliability and security, as each object controls how its own data is used. </a:t>
            </a:r>
          </a:p>
        </p:txBody>
      </p:sp>
    </p:spTree>
    <p:extLst>
      <p:ext uri="{BB962C8B-B14F-4D97-AF65-F5344CB8AC3E}">
        <p14:creationId xmlns:p14="http://schemas.microsoft.com/office/powerpoint/2010/main" val="3039218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1026" name="Picture 2" descr="Check input interaction UI by Antonio Di Nardo on Dribbble">
            <a:extLst>
              <a:ext uri="{FF2B5EF4-FFF2-40B4-BE49-F238E27FC236}">
                <a16:creationId xmlns:a16="http://schemas.microsoft.com/office/drawing/2014/main" xmlns="" id="{C67ED859-5BD6-C203-2790-8B545E4A18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683" y="521111"/>
            <a:ext cx="1273278" cy="9549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A3C487D0-F5DA-4F05-C8D6-B82C45466A14}"/>
              </a:ext>
            </a:extLst>
          </p:cNvPr>
          <p:cNvSpPr>
            <a:spLocks noGrp="1"/>
          </p:cNvSpPr>
          <p:nvPr>
            <p:ph type="title"/>
          </p:nvPr>
        </p:nvSpPr>
        <p:spPr>
          <a:xfrm>
            <a:off x="1378971" y="365125"/>
            <a:ext cx="3851787" cy="1325563"/>
          </a:xfrm>
        </p:spPr>
        <p:txBody>
          <a:bodyPr/>
          <a:lstStyle/>
          <a:p>
            <a:r>
              <a:rPr lang="en-GB" dirty="0">
                <a:solidFill>
                  <a:schemeClr val="tx1"/>
                </a:solidFill>
              </a:rPr>
              <a:t>Benefits of OOP</a:t>
            </a:r>
          </a:p>
        </p:txBody>
      </p:sp>
      <p:sp>
        <p:nvSpPr>
          <p:cNvPr id="3" name="Content Placeholder 2">
            <a:extLst>
              <a:ext uri="{FF2B5EF4-FFF2-40B4-BE49-F238E27FC236}">
                <a16:creationId xmlns:a16="http://schemas.microsoft.com/office/drawing/2014/main" xmlns="" id="{CCE01461-3F57-26F1-60BB-AAF1EA87066F}"/>
              </a:ext>
            </a:extLst>
          </p:cNvPr>
          <p:cNvSpPr>
            <a:spLocks noGrp="1"/>
          </p:cNvSpPr>
          <p:nvPr>
            <p:ph idx="1"/>
          </p:nvPr>
        </p:nvSpPr>
        <p:spPr>
          <a:xfrm>
            <a:off x="545683" y="1985551"/>
            <a:ext cx="11243545" cy="4351338"/>
          </a:xfrm>
        </p:spPr>
        <p:txBody>
          <a:bodyPr/>
          <a:lstStyle/>
          <a:p>
            <a:pPr>
              <a:buFont typeface="Wingdings" panose="05000000000000000000" pitchFamily="2" charset="2"/>
              <a:buChar char="ü"/>
            </a:pPr>
            <a:r>
              <a:rPr lang="en-GB" dirty="0">
                <a:solidFill>
                  <a:schemeClr val="tx1"/>
                </a:solidFill>
              </a:rPr>
              <a:t>Code for an object can be programmed and maintained independently (code </a:t>
            </a:r>
            <a:r>
              <a:rPr lang="en-GB" b="1" dirty="0">
                <a:solidFill>
                  <a:schemeClr val="tx1"/>
                </a:solidFill>
              </a:rPr>
              <a:t>maintainability</a:t>
            </a:r>
            <a:r>
              <a:rPr lang="en-GB" dirty="0">
                <a:solidFill>
                  <a:schemeClr val="tx1"/>
                </a:solidFill>
              </a:rPr>
              <a:t>)</a:t>
            </a:r>
          </a:p>
          <a:p>
            <a:pPr>
              <a:buFont typeface="Wingdings" panose="05000000000000000000" pitchFamily="2" charset="2"/>
              <a:buChar char="ü"/>
            </a:pPr>
            <a:endParaRPr lang="en-GB" dirty="0">
              <a:solidFill>
                <a:schemeClr val="tx1"/>
              </a:solidFill>
            </a:endParaRPr>
          </a:p>
          <a:p>
            <a:pPr>
              <a:buFont typeface="Wingdings" panose="05000000000000000000" pitchFamily="2" charset="2"/>
              <a:buChar char="ü"/>
            </a:pPr>
            <a:r>
              <a:rPr lang="en-GB" dirty="0">
                <a:solidFill>
                  <a:schemeClr val="tx1"/>
                </a:solidFill>
              </a:rPr>
              <a:t>Code for an object can be reused in different programs by different developers (code </a:t>
            </a:r>
            <a:r>
              <a:rPr lang="en-GB" b="1" dirty="0">
                <a:solidFill>
                  <a:schemeClr val="tx1"/>
                </a:solidFill>
              </a:rPr>
              <a:t>reusability</a:t>
            </a:r>
            <a:r>
              <a:rPr lang="en-GB" dirty="0">
                <a:solidFill>
                  <a:schemeClr val="tx1"/>
                </a:solidFill>
              </a:rPr>
              <a:t>)</a:t>
            </a:r>
          </a:p>
          <a:p>
            <a:pPr>
              <a:buFont typeface="Wingdings" panose="05000000000000000000" pitchFamily="2" charset="2"/>
              <a:buChar char="ü"/>
            </a:pPr>
            <a:endParaRPr lang="en-GB" dirty="0">
              <a:solidFill>
                <a:schemeClr val="tx1"/>
              </a:solidFill>
            </a:endParaRPr>
          </a:p>
          <a:p>
            <a:pPr>
              <a:buFont typeface="Wingdings" panose="05000000000000000000" pitchFamily="2" charset="2"/>
              <a:buChar char="ü"/>
            </a:pPr>
            <a:r>
              <a:rPr lang="en-GB" dirty="0">
                <a:solidFill>
                  <a:schemeClr val="tx1"/>
                </a:solidFill>
              </a:rPr>
              <a:t>Details of the objects’ implementation are hidden from the outside world, so direct access to the object’s data is reduced (code </a:t>
            </a:r>
            <a:r>
              <a:rPr lang="en-GB" b="1" dirty="0">
                <a:solidFill>
                  <a:schemeClr val="tx1"/>
                </a:solidFill>
              </a:rPr>
              <a:t>security </a:t>
            </a:r>
            <a:r>
              <a:rPr lang="en-GB" dirty="0">
                <a:solidFill>
                  <a:schemeClr val="tx1"/>
                </a:solidFill>
              </a:rPr>
              <a:t>and code </a:t>
            </a:r>
            <a:r>
              <a:rPr lang="en-GB" b="1" dirty="0">
                <a:solidFill>
                  <a:schemeClr val="tx1"/>
                </a:solidFill>
              </a:rPr>
              <a:t>efficiency</a:t>
            </a:r>
            <a:r>
              <a:rPr lang="en-GB" dirty="0">
                <a:solidFill>
                  <a:schemeClr val="tx1"/>
                </a:solidFill>
              </a:rPr>
              <a:t>)</a:t>
            </a:r>
          </a:p>
          <a:p>
            <a:endParaRPr lang="en-GB" dirty="0">
              <a:solidFill>
                <a:schemeClr val="tx1"/>
              </a:solidFill>
            </a:endParaRPr>
          </a:p>
        </p:txBody>
      </p:sp>
      <p:sp>
        <p:nvSpPr>
          <p:cNvPr id="4" name="Rectangle 3">
            <a:extLst>
              <a:ext uri="{FF2B5EF4-FFF2-40B4-BE49-F238E27FC236}">
                <a16:creationId xmlns:a16="http://schemas.microsoft.com/office/drawing/2014/main" xmlns="" id="{13A9DD49-07B4-02EE-20BC-BC3B8806642A}"/>
              </a:ext>
            </a:extLst>
          </p:cNvPr>
          <p:cNvSpPr/>
          <p:nvPr/>
        </p:nvSpPr>
        <p:spPr>
          <a:xfrm>
            <a:off x="130628" y="122464"/>
            <a:ext cx="11919857" cy="6613071"/>
          </a:xfrm>
          <a:prstGeom prst="rect">
            <a:avLst/>
          </a:prstGeom>
          <a:noFill/>
          <a:ln w="38100">
            <a:solidFill>
              <a:srgbClr val="07E0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12583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317E12-32E4-1F01-7A40-F4A29513132E}"/>
              </a:ext>
            </a:extLst>
          </p:cNvPr>
          <p:cNvSpPr>
            <a:spLocks noGrp="1"/>
          </p:cNvSpPr>
          <p:nvPr>
            <p:ph type="title"/>
          </p:nvPr>
        </p:nvSpPr>
        <p:spPr/>
        <p:txBody>
          <a:bodyPr/>
          <a:lstStyle/>
          <a:p>
            <a:r>
              <a:rPr lang="en-GB" dirty="0"/>
              <a:t>Example of OOP</a:t>
            </a:r>
          </a:p>
        </p:txBody>
      </p:sp>
      <p:sp>
        <p:nvSpPr>
          <p:cNvPr id="3" name="Content Placeholder 2">
            <a:extLst>
              <a:ext uri="{FF2B5EF4-FFF2-40B4-BE49-F238E27FC236}">
                <a16:creationId xmlns:a16="http://schemas.microsoft.com/office/drawing/2014/main" xmlns="" id="{6DFB51D2-ADFE-027B-46D2-E122A761AAA2}"/>
              </a:ext>
            </a:extLst>
          </p:cNvPr>
          <p:cNvSpPr>
            <a:spLocks noGrp="1"/>
          </p:cNvSpPr>
          <p:nvPr>
            <p:ph idx="1"/>
          </p:nvPr>
        </p:nvSpPr>
        <p:spPr>
          <a:xfrm>
            <a:off x="367394" y="1825625"/>
            <a:ext cx="6278336" cy="4351338"/>
          </a:xfrm>
        </p:spPr>
        <p:txBody>
          <a:bodyPr>
            <a:normAutofit fontScale="92500" lnSpcReduction="10000"/>
          </a:bodyPr>
          <a:lstStyle/>
          <a:p>
            <a:r>
              <a:rPr lang="en-GB" dirty="0"/>
              <a:t>Here we are going to make a house object.</a:t>
            </a:r>
          </a:p>
          <a:p>
            <a:endParaRPr lang="en-GB" dirty="0"/>
          </a:p>
          <a:p>
            <a:r>
              <a:rPr lang="en-GB" dirty="0"/>
              <a:t>It has 5 attributes in this example (material, postcode, </a:t>
            </a:r>
            <a:r>
              <a:rPr lang="en-GB" dirty="0" err="1"/>
              <a:t>houseNumber</a:t>
            </a:r>
            <a:r>
              <a:rPr lang="en-GB" dirty="0"/>
              <a:t>, </a:t>
            </a:r>
            <a:r>
              <a:rPr lang="en-GB" dirty="0" err="1"/>
              <a:t>typeOfHouse</a:t>
            </a:r>
            <a:r>
              <a:rPr lang="en-GB" dirty="0"/>
              <a:t>, </a:t>
            </a:r>
            <a:r>
              <a:rPr lang="en-GB" dirty="0" err="1"/>
              <a:t>hasGarden</a:t>
            </a:r>
            <a:r>
              <a:rPr lang="en-GB" dirty="0"/>
              <a:t>)</a:t>
            </a:r>
          </a:p>
          <a:p>
            <a:endParaRPr lang="en-GB" dirty="0"/>
          </a:p>
          <a:p>
            <a:r>
              <a:rPr lang="en-GB" dirty="0"/>
              <a:t>These attributes are private – this means you cannot access this information as you are external to the house.</a:t>
            </a:r>
          </a:p>
        </p:txBody>
      </p:sp>
      <p:pic>
        <p:nvPicPr>
          <p:cNvPr id="5" name="Picture 4">
            <a:extLst>
              <a:ext uri="{FF2B5EF4-FFF2-40B4-BE49-F238E27FC236}">
                <a16:creationId xmlns:a16="http://schemas.microsoft.com/office/drawing/2014/main" xmlns="" id="{45B22B36-0C2D-C10C-E55A-FCBDFB238551}"/>
              </a:ext>
            </a:extLst>
          </p:cNvPr>
          <p:cNvPicPr>
            <a:picLocks noChangeAspect="1"/>
          </p:cNvPicPr>
          <p:nvPr/>
        </p:nvPicPr>
        <p:blipFill>
          <a:blip r:embed="rId2"/>
          <a:stretch>
            <a:fillRect/>
          </a:stretch>
        </p:blipFill>
        <p:spPr>
          <a:xfrm>
            <a:off x="7303302" y="1438711"/>
            <a:ext cx="4753638" cy="2562583"/>
          </a:xfrm>
          <a:prstGeom prst="rect">
            <a:avLst/>
          </a:prstGeom>
        </p:spPr>
      </p:pic>
      <p:pic>
        <p:nvPicPr>
          <p:cNvPr id="8" name="Picture 4" descr="House Clipart Black And White, Transparent PNG Clipart Images Free Download  - ClipartMax">
            <a:extLst>
              <a:ext uri="{FF2B5EF4-FFF2-40B4-BE49-F238E27FC236}">
                <a16:creationId xmlns:a16="http://schemas.microsoft.com/office/drawing/2014/main" xmlns="" id="{10C5FC53-3F7E-03BD-57D7-8E779AA7A69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000" b="95000" l="7000" r="95000">
                        <a14:foregroundMark x1="51667" y1="86000" x2="51667" y2="86000"/>
                        <a14:foregroundMark x1="40333" y1="79000" x2="40333" y2="79000"/>
                        <a14:foregroundMark x1="21000" y1="31667" x2="21000" y2="31667"/>
                        <a14:foregroundMark x1="26000" y1="5333" x2="26000" y2="5333"/>
                        <a14:foregroundMark x1="76333" y1="95000" x2="76333" y2="95000"/>
                        <a14:foregroundMark x1="7000" y1="47333" x2="7000" y2="47333"/>
                        <a14:foregroundMark x1="95000" y1="47667" x2="95000" y2="47667"/>
                        <a14:foregroundMark x1="48333" y1="5333" x2="48333" y2="533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0501764" y="230188"/>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485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A2C62C-F3D5-8A08-9761-072F1728F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2586367-51BB-EB47-3CF7-F2715A48CD41}"/>
              </a:ext>
            </a:extLst>
          </p:cNvPr>
          <p:cNvSpPr>
            <a:spLocks noGrp="1"/>
          </p:cNvSpPr>
          <p:nvPr>
            <p:ph type="title"/>
          </p:nvPr>
        </p:nvSpPr>
        <p:spPr/>
        <p:txBody>
          <a:bodyPr/>
          <a:lstStyle/>
          <a:p>
            <a:r>
              <a:rPr lang="en-GB" dirty="0"/>
              <a:t>Example of OOP</a:t>
            </a:r>
          </a:p>
        </p:txBody>
      </p:sp>
      <p:sp>
        <p:nvSpPr>
          <p:cNvPr id="3" name="Content Placeholder 2">
            <a:extLst>
              <a:ext uri="{FF2B5EF4-FFF2-40B4-BE49-F238E27FC236}">
                <a16:creationId xmlns:a16="http://schemas.microsoft.com/office/drawing/2014/main" xmlns="" id="{42379883-7032-54E2-7B97-BE7A382B0620}"/>
              </a:ext>
            </a:extLst>
          </p:cNvPr>
          <p:cNvSpPr>
            <a:spLocks noGrp="1"/>
          </p:cNvSpPr>
          <p:nvPr>
            <p:ph idx="1"/>
          </p:nvPr>
        </p:nvSpPr>
        <p:spPr>
          <a:xfrm>
            <a:off x="367394" y="1825625"/>
            <a:ext cx="6278336" cy="4885418"/>
          </a:xfrm>
        </p:spPr>
        <p:txBody>
          <a:bodyPr>
            <a:normAutofit lnSpcReduction="10000"/>
          </a:bodyPr>
          <a:lstStyle/>
          <a:p>
            <a:r>
              <a:rPr lang="en-GB" dirty="0"/>
              <a:t>We can add a method which allows us to access the attribute</a:t>
            </a:r>
          </a:p>
          <a:p>
            <a:endParaRPr lang="en-GB" dirty="0"/>
          </a:p>
          <a:p>
            <a:r>
              <a:rPr lang="en-GB" dirty="0"/>
              <a:t>In this example, we are adding a way to assign the material of the house in the form of a method.</a:t>
            </a:r>
          </a:p>
          <a:p>
            <a:endParaRPr lang="en-GB" dirty="0"/>
          </a:p>
          <a:p>
            <a:r>
              <a:rPr lang="en-GB" dirty="0"/>
              <a:t>We can now use something like </a:t>
            </a:r>
          </a:p>
          <a:p>
            <a:pPr marL="0" indent="0">
              <a:buNone/>
            </a:pPr>
            <a:r>
              <a:rPr lang="en-GB" dirty="0"/>
              <a:t>		</a:t>
            </a:r>
            <a:r>
              <a:rPr lang="en-GB" dirty="0" err="1"/>
              <a:t>setMaterial</a:t>
            </a:r>
            <a:r>
              <a:rPr lang="en-GB" dirty="0"/>
              <a:t>(“straw”);</a:t>
            </a:r>
          </a:p>
          <a:p>
            <a:pPr marL="0" indent="0">
              <a:buNone/>
            </a:pPr>
            <a:r>
              <a:rPr lang="en-GB" dirty="0"/>
              <a:t>Which will set an object’s </a:t>
            </a:r>
            <a:r>
              <a:rPr lang="en-GB" b="1" dirty="0"/>
              <a:t>material</a:t>
            </a:r>
            <a:r>
              <a:rPr lang="en-GB" dirty="0"/>
              <a:t> property.</a:t>
            </a:r>
          </a:p>
        </p:txBody>
      </p:sp>
      <p:pic>
        <p:nvPicPr>
          <p:cNvPr id="5" name="Picture 4">
            <a:extLst>
              <a:ext uri="{FF2B5EF4-FFF2-40B4-BE49-F238E27FC236}">
                <a16:creationId xmlns:a16="http://schemas.microsoft.com/office/drawing/2014/main" xmlns="" id="{F33BFA84-EA43-CD7D-4FA1-525E1ADE51E4}"/>
              </a:ext>
            </a:extLst>
          </p:cNvPr>
          <p:cNvPicPr>
            <a:picLocks noChangeAspect="1"/>
          </p:cNvPicPr>
          <p:nvPr/>
        </p:nvPicPr>
        <p:blipFill>
          <a:blip r:embed="rId2"/>
          <a:stretch>
            <a:fillRect/>
          </a:stretch>
        </p:blipFill>
        <p:spPr>
          <a:xfrm>
            <a:off x="7324155" y="1473135"/>
            <a:ext cx="3927728" cy="2117353"/>
          </a:xfrm>
          <a:prstGeom prst="rect">
            <a:avLst/>
          </a:prstGeom>
        </p:spPr>
      </p:pic>
      <p:pic>
        <p:nvPicPr>
          <p:cNvPr id="10" name="Picture 9">
            <a:extLst>
              <a:ext uri="{FF2B5EF4-FFF2-40B4-BE49-F238E27FC236}">
                <a16:creationId xmlns:a16="http://schemas.microsoft.com/office/drawing/2014/main" xmlns="" id="{4A04AFA0-AF17-E25B-6282-975454A6BD0F}"/>
              </a:ext>
            </a:extLst>
          </p:cNvPr>
          <p:cNvPicPr>
            <a:picLocks noChangeAspect="1"/>
          </p:cNvPicPr>
          <p:nvPr/>
        </p:nvPicPr>
        <p:blipFill>
          <a:blip r:embed="rId3"/>
          <a:stretch>
            <a:fillRect/>
          </a:stretch>
        </p:blipFill>
        <p:spPr>
          <a:xfrm>
            <a:off x="7324155" y="1473135"/>
            <a:ext cx="4333023" cy="3873461"/>
          </a:xfrm>
          <a:prstGeom prst="rect">
            <a:avLst/>
          </a:prstGeom>
        </p:spPr>
      </p:pic>
      <p:cxnSp>
        <p:nvCxnSpPr>
          <p:cNvPr id="11" name="Straight Arrow Connector 10">
            <a:extLst>
              <a:ext uri="{FF2B5EF4-FFF2-40B4-BE49-F238E27FC236}">
                <a16:creationId xmlns:a16="http://schemas.microsoft.com/office/drawing/2014/main" xmlns="" id="{467ABE9E-2F3C-B65B-016D-07196BCCBA2C}"/>
              </a:ext>
            </a:extLst>
          </p:cNvPr>
          <p:cNvCxnSpPr>
            <a:cxnSpLocks/>
          </p:cNvCxnSpPr>
          <p:nvPr/>
        </p:nvCxnSpPr>
        <p:spPr>
          <a:xfrm flipH="1" flipV="1">
            <a:off x="11251883" y="4281673"/>
            <a:ext cx="227103" cy="11720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5261E6A0-34AE-4D4F-23CB-23222122636C}"/>
              </a:ext>
            </a:extLst>
          </p:cNvPr>
          <p:cNvCxnSpPr>
            <a:cxnSpLocks/>
          </p:cNvCxnSpPr>
          <p:nvPr/>
        </p:nvCxnSpPr>
        <p:spPr>
          <a:xfrm flipH="1" flipV="1">
            <a:off x="9601200" y="4743450"/>
            <a:ext cx="783771" cy="7102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xmlns="" id="{41E4AFEF-C95E-AAF5-1C18-E1186609B9CE}"/>
              </a:ext>
            </a:extLst>
          </p:cNvPr>
          <p:cNvSpPr/>
          <p:nvPr/>
        </p:nvSpPr>
        <p:spPr>
          <a:xfrm>
            <a:off x="10205485" y="5453743"/>
            <a:ext cx="1787345" cy="1000863"/>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Value we are setting it to</a:t>
            </a:r>
          </a:p>
        </p:txBody>
      </p:sp>
      <p:cxnSp>
        <p:nvCxnSpPr>
          <p:cNvPr id="17" name="Straight Arrow Connector 16">
            <a:extLst>
              <a:ext uri="{FF2B5EF4-FFF2-40B4-BE49-F238E27FC236}">
                <a16:creationId xmlns:a16="http://schemas.microsoft.com/office/drawing/2014/main" xmlns="" id="{53DC05E5-CE2F-3B62-BB4F-C0E02670A327}"/>
              </a:ext>
            </a:extLst>
          </p:cNvPr>
          <p:cNvCxnSpPr>
            <a:cxnSpLocks/>
          </p:cNvCxnSpPr>
          <p:nvPr/>
        </p:nvCxnSpPr>
        <p:spPr>
          <a:xfrm flipV="1">
            <a:off x="8270421" y="4766932"/>
            <a:ext cx="233827" cy="8582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xmlns="" id="{96974F7E-88FD-799F-F396-0FC152FD28F5}"/>
              </a:ext>
            </a:extLst>
          </p:cNvPr>
          <p:cNvSpPr/>
          <p:nvPr/>
        </p:nvSpPr>
        <p:spPr>
          <a:xfrm>
            <a:off x="7703321" y="5625193"/>
            <a:ext cx="1787345" cy="1000863"/>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Attribute we are assigning</a:t>
            </a:r>
          </a:p>
        </p:txBody>
      </p:sp>
      <p:cxnSp>
        <p:nvCxnSpPr>
          <p:cNvPr id="20" name="Straight Arrow Connector 19">
            <a:extLst>
              <a:ext uri="{FF2B5EF4-FFF2-40B4-BE49-F238E27FC236}">
                <a16:creationId xmlns:a16="http://schemas.microsoft.com/office/drawing/2014/main" xmlns="" id="{1690ED79-9884-2F78-6B9D-4498708DE81A}"/>
              </a:ext>
            </a:extLst>
          </p:cNvPr>
          <p:cNvCxnSpPr>
            <a:cxnSpLocks/>
          </p:cNvCxnSpPr>
          <p:nvPr/>
        </p:nvCxnSpPr>
        <p:spPr>
          <a:xfrm flipH="1">
            <a:off x="9797143" y="3659360"/>
            <a:ext cx="195942" cy="3084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552A4CC9-672A-D0AF-D844-35E50DCDB0CC}"/>
              </a:ext>
            </a:extLst>
          </p:cNvPr>
          <p:cNvSpPr/>
          <p:nvPr/>
        </p:nvSpPr>
        <p:spPr>
          <a:xfrm>
            <a:off x="9993085" y="3427387"/>
            <a:ext cx="2098222" cy="414962"/>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Method name</a:t>
            </a:r>
          </a:p>
        </p:txBody>
      </p:sp>
      <p:pic>
        <p:nvPicPr>
          <p:cNvPr id="26" name="Picture 4" descr="House Clipart Black And White, Transparent PNG Clipart Images Free Download  - ClipartMax">
            <a:extLst>
              <a:ext uri="{FF2B5EF4-FFF2-40B4-BE49-F238E27FC236}">
                <a16:creationId xmlns:a16="http://schemas.microsoft.com/office/drawing/2014/main" xmlns="" id="{8B5E592C-0C80-6C4F-EE0D-975295626E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5000" b="95000" l="7000" r="95000">
                        <a14:foregroundMark x1="51667" y1="86000" x2="51667" y2="86000"/>
                        <a14:foregroundMark x1="40333" y1="79000" x2="40333" y2="79000"/>
                        <a14:foregroundMark x1="21000" y1="31667" x2="21000" y2="31667"/>
                        <a14:foregroundMark x1="26000" y1="5333" x2="26000" y2="5333"/>
                        <a14:foregroundMark x1="76333" y1="95000" x2="76333" y2="95000"/>
                        <a14:foregroundMark x1="7000" y1="47333" x2="7000" y2="47333"/>
                        <a14:foregroundMark x1="95000" y1="47667" x2="95000" y2="47667"/>
                        <a14:foregroundMark x1="48333" y1="5333" x2="48333" y2="533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0501764" y="230188"/>
            <a:ext cx="1325563" cy="13255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Straw House Cliparts #2919252 | Clipart Library">
            <a:extLst>
              <a:ext uri="{FF2B5EF4-FFF2-40B4-BE49-F238E27FC236}">
                <a16:creationId xmlns:a16="http://schemas.microsoft.com/office/drawing/2014/main" xmlns="" id="{1893C918-797B-7767-12B1-3E208CD5E46D}"/>
              </a:ext>
            </a:extLst>
          </p:cNvPr>
          <p:cNvPicPr>
            <a:picLocks noChangeAspect="1" noChangeArrowheads="1"/>
          </p:cNvPicPr>
          <p:nvPr/>
        </p:nvPicPr>
        <p:blipFill rotWithShape="1">
          <a:blip r:embed="rId6">
            <a:biLevel thresh="25000"/>
            <a:extLst>
              <a:ext uri="{28A0092B-C50C-407E-A947-70E740481C1C}">
                <a14:useLocalDpi xmlns:a14="http://schemas.microsoft.com/office/drawing/2010/main" val="0"/>
              </a:ext>
            </a:extLst>
          </a:blip>
          <a:srcRect b="3112"/>
          <a:stretch/>
        </p:blipFill>
        <p:spPr bwMode="auto">
          <a:xfrm>
            <a:off x="10452779" y="-6429"/>
            <a:ext cx="1325563" cy="1632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43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96DB7E-D634-6831-D597-734EAE755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1FD4AF5-09F9-DAF0-B5AD-DCF702C73883}"/>
              </a:ext>
            </a:extLst>
          </p:cNvPr>
          <p:cNvSpPr>
            <a:spLocks noGrp="1"/>
          </p:cNvSpPr>
          <p:nvPr>
            <p:ph type="title"/>
          </p:nvPr>
        </p:nvSpPr>
        <p:spPr/>
        <p:txBody>
          <a:bodyPr/>
          <a:lstStyle/>
          <a:p>
            <a:r>
              <a:rPr lang="en-GB" dirty="0"/>
              <a:t>Example of OOP</a:t>
            </a:r>
          </a:p>
        </p:txBody>
      </p:sp>
      <p:sp>
        <p:nvSpPr>
          <p:cNvPr id="3" name="Content Placeholder 2">
            <a:extLst>
              <a:ext uri="{FF2B5EF4-FFF2-40B4-BE49-F238E27FC236}">
                <a16:creationId xmlns:a16="http://schemas.microsoft.com/office/drawing/2014/main" xmlns="" id="{DF22F916-654B-328E-6FE6-31A4A9DB97A7}"/>
              </a:ext>
            </a:extLst>
          </p:cNvPr>
          <p:cNvSpPr>
            <a:spLocks noGrp="1"/>
          </p:cNvSpPr>
          <p:nvPr>
            <p:ph idx="1"/>
          </p:nvPr>
        </p:nvSpPr>
        <p:spPr>
          <a:xfrm>
            <a:off x="367394" y="1825625"/>
            <a:ext cx="6278336" cy="4885418"/>
          </a:xfrm>
        </p:spPr>
        <p:txBody>
          <a:bodyPr>
            <a:normAutofit/>
          </a:bodyPr>
          <a:lstStyle/>
          <a:p>
            <a:r>
              <a:rPr lang="en-GB" dirty="0"/>
              <a:t>We may want to get a response from an object to find out what value is assigned as a certain attribute, for example its set </a:t>
            </a:r>
            <a:r>
              <a:rPr lang="en-GB" dirty="0" err="1"/>
              <a:t>houseNumber</a:t>
            </a:r>
            <a:r>
              <a:rPr lang="en-GB" dirty="0"/>
              <a:t>.</a:t>
            </a:r>
          </a:p>
          <a:p>
            <a:endParaRPr lang="en-GB" dirty="0"/>
          </a:p>
          <a:p>
            <a:r>
              <a:rPr lang="en-GB" dirty="0"/>
              <a:t>We can do this by creating a method called </a:t>
            </a:r>
          </a:p>
          <a:p>
            <a:pPr marL="0" indent="0">
              <a:buNone/>
            </a:pPr>
            <a:r>
              <a:rPr lang="en-GB" b="1" dirty="0"/>
              <a:t>	</a:t>
            </a:r>
            <a:r>
              <a:rPr lang="en-GB" b="1" dirty="0" err="1"/>
              <a:t>getHouseNumber</a:t>
            </a:r>
            <a:r>
              <a:rPr lang="en-GB" b="1" dirty="0"/>
              <a:t>();</a:t>
            </a:r>
            <a:endParaRPr lang="en-GB" dirty="0"/>
          </a:p>
          <a:p>
            <a:endParaRPr lang="en-GB" dirty="0"/>
          </a:p>
          <a:p>
            <a:pPr marL="0" indent="0">
              <a:buNone/>
            </a:pPr>
            <a:endParaRPr lang="en-GB" dirty="0"/>
          </a:p>
          <a:p>
            <a:endParaRPr lang="en-GB" dirty="0"/>
          </a:p>
        </p:txBody>
      </p:sp>
      <p:pic>
        <p:nvPicPr>
          <p:cNvPr id="10" name="Picture 9">
            <a:extLst>
              <a:ext uri="{FF2B5EF4-FFF2-40B4-BE49-F238E27FC236}">
                <a16:creationId xmlns:a16="http://schemas.microsoft.com/office/drawing/2014/main" xmlns="" id="{1A94A623-2FD8-3A9D-FE33-6D1B98C93352}"/>
              </a:ext>
            </a:extLst>
          </p:cNvPr>
          <p:cNvPicPr>
            <a:picLocks noChangeAspect="1"/>
          </p:cNvPicPr>
          <p:nvPr/>
        </p:nvPicPr>
        <p:blipFill>
          <a:blip r:embed="rId3"/>
          <a:stretch>
            <a:fillRect/>
          </a:stretch>
        </p:blipFill>
        <p:spPr>
          <a:xfrm>
            <a:off x="7363484" y="1626398"/>
            <a:ext cx="4333023" cy="3873461"/>
          </a:xfrm>
          <a:prstGeom prst="rect">
            <a:avLst/>
          </a:prstGeom>
        </p:spPr>
      </p:pic>
      <p:pic>
        <p:nvPicPr>
          <p:cNvPr id="6" name="Picture 5">
            <a:extLst>
              <a:ext uri="{FF2B5EF4-FFF2-40B4-BE49-F238E27FC236}">
                <a16:creationId xmlns:a16="http://schemas.microsoft.com/office/drawing/2014/main" xmlns="" id="{D63B6529-CFB4-FB12-A184-8772612FC09C}"/>
              </a:ext>
            </a:extLst>
          </p:cNvPr>
          <p:cNvPicPr>
            <a:picLocks noChangeAspect="1"/>
          </p:cNvPicPr>
          <p:nvPr/>
        </p:nvPicPr>
        <p:blipFill>
          <a:blip r:embed="rId4"/>
          <a:stretch>
            <a:fillRect/>
          </a:stretch>
        </p:blipFill>
        <p:spPr>
          <a:xfrm>
            <a:off x="7226465" y="1242630"/>
            <a:ext cx="4607060" cy="5528473"/>
          </a:xfrm>
          <a:prstGeom prst="rect">
            <a:avLst/>
          </a:prstGeom>
        </p:spPr>
      </p:pic>
      <p:pic>
        <p:nvPicPr>
          <p:cNvPr id="3074" name="Picture 2" descr="Straw House Cliparts #2919252 | Clipart Library">
            <a:extLst>
              <a:ext uri="{FF2B5EF4-FFF2-40B4-BE49-F238E27FC236}">
                <a16:creationId xmlns:a16="http://schemas.microsoft.com/office/drawing/2014/main" xmlns="" id="{2BA8CF4E-F9DE-9057-6EF6-E01902605377}"/>
              </a:ext>
            </a:extLst>
          </p:cNvPr>
          <p:cNvPicPr>
            <a:picLocks noChangeAspect="1" noChangeArrowheads="1"/>
          </p:cNvPicPr>
          <p:nvPr/>
        </p:nvPicPr>
        <p:blipFill rotWithShape="1">
          <a:blip r:embed="rId5">
            <a:biLevel thresh="25000"/>
            <a:extLst>
              <a:ext uri="{28A0092B-C50C-407E-A947-70E740481C1C}">
                <a14:useLocalDpi xmlns:a14="http://schemas.microsoft.com/office/drawing/2010/main" val="0"/>
              </a:ext>
            </a:extLst>
          </a:blip>
          <a:srcRect b="3112"/>
          <a:stretch/>
        </p:blipFill>
        <p:spPr bwMode="auto">
          <a:xfrm>
            <a:off x="10486753" y="86897"/>
            <a:ext cx="1325563" cy="1632827"/>
          </a:xfrm>
          <a:prstGeom prst="rect">
            <a:avLst/>
          </a:prstGeom>
          <a:noFill/>
          <a:extLst>
            <a:ext uri="{909E8E84-426E-40DD-AFC4-6F175D3DCCD1}">
              <a14:hiddenFill xmlns:a14="http://schemas.microsoft.com/office/drawing/2010/main">
                <a:solidFill>
                  <a:srgbClr val="FFFFFF"/>
                </a:solidFill>
              </a14:hiddenFill>
            </a:ext>
          </a:extLst>
        </p:spPr>
      </p:pic>
      <p:sp>
        <p:nvSpPr>
          <p:cNvPr id="7" name="Speech Bubble: Oval 6">
            <a:extLst>
              <a:ext uri="{FF2B5EF4-FFF2-40B4-BE49-F238E27FC236}">
                <a16:creationId xmlns:a16="http://schemas.microsoft.com/office/drawing/2014/main" xmlns="" id="{BFBAF2A5-4A5E-E525-EA4C-5A84644B75D1}"/>
              </a:ext>
            </a:extLst>
          </p:cNvPr>
          <p:cNvSpPr/>
          <p:nvPr/>
        </p:nvSpPr>
        <p:spPr>
          <a:xfrm>
            <a:off x="9274629" y="457200"/>
            <a:ext cx="1028700" cy="424543"/>
          </a:xfrm>
          <a:prstGeom prst="wedgeEllipseCallout">
            <a:avLst>
              <a:gd name="adj1" fmla="val 62370"/>
              <a:gd name="adj2" fmla="val 7180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67</a:t>
            </a:r>
          </a:p>
        </p:txBody>
      </p:sp>
      <p:cxnSp>
        <p:nvCxnSpPr>
          <p:cNvPr id="8" name="Straight Arrow Connector 7">
            <a:extLst>
              <a:ext uri="{FF2B5EF4-FFF2-40B4-BE49-F238E27FC236}">
                <a16:creationId xmlns:a16="http://schemas.microsoft.com/office/drawing/2014/main" xmlns="" id="{1EC83B0D-357C-FA01-A7BB-767067D998E6}"/>
              </a:ext>
            </a:extLst>
          </p:cNvPr>
          <p:cNvCxnSpPr>
            <a:cxnSpLocks/>
          </p:cNvCxnSpPr>
          <p:nvPr/>
        </p:nvCxnSpPr>
        <p:spPr>
          <a:xfrm flipH="1" flipV="1">
            <a:off x="9896048" y="6115050"/>
            <a:ext cx="407281" cy="2857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xmlns="" id="{F5419EEE-6994-4763-9F8E-997342247B97}"/>
              </a:ext>
            </a:extLst>
          </p:cNvPr>
          <p:cNvSpPr/>
          <p:nvPr/>
        </p:nvSpPr>
        <p:spPr>
          <a:xfrm>
            <a:off x="10303329" y="5710180"/>
            <a:ext cx="1787345" cy="1000863"/>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The output</a:t>
            </a:r>
          </a:p>
        </p:txBody>
      </p:sp>
      <p:cxnSp>
        <p:nvCxnSpPr>
          <p:cNvPr id="16" name="Straight Arrow Connector 15">
            <a:extLst>
              <a:ext uri="{FF2B5EF4-FFF2-40B4-BE49-F238E27FC236}">
                <a16:creationId xmlns:a16="http://schemas.microsoft.com/office/drawing/2014/main" xmlns="" id="{98EDFFF8-2CC9-EF8C-C456-D5E034308D20}"/>
              </a:ext>
            </a:extLst>
          </p:cNvPr>
          <p:cNvCxnSpPr>
            <a:cxnSpLocks/>
          </p:cNvCxnSpPr>
          <p:nvPr/>
        </p:nvCxnSpPr>
        <p:spPr>
          <a:xfrm>
            <a:off x="7464337" y="4988379"/>
            <a:ext cx="1034684" cy="3673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xmlns="" id="{E6514BBB-EDB2-FDC4-CE54-EB3E39482049}"/>
              </a:ext>
            </a:extLst>
          </p:cNvPr>
          <p:cNvSpPr/>
          <p:nvPr/>
        </p:nvSpPr>
        <p:spPr>
          <a:xfrm>
            <a:off x="5437415" y="4604156"/>
            <a:ext cx="2026922" cy="1256590"/>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The data type coming out of the method</a:t>
            </a:r>
          </a:p>
        </p:txBody>
      </p:sp>
      <p:cxnSp>
        <p:nvCxnSpPr>
          <p:cNvPr id="24" name="Straight Arrow Connector 23">
            <a:extLst>
              <a:ext uri="{FF2B5EF4-FFF2-40B4-BE49-F238E27FC236}">
                <a16:creationId xmlns:a16="http://schemas.microsoft.com/office/drawing/2014/main" xmlns="" id="{19FF5B1A-14E0-7339-09F4-BCAEE37C3A8A}"/>
              </a:ext>
            </a:extLst>
          </p:cNvPr>
          <p:cNvCxnSpPr>
            <a:cxnSpLocks/>
          </p:cNvCxnSpPr>
          <p:nvPr/>
        </p:nvCxnSpPr>
        <p:spPr>
          <a:xfrm flipH="1">
            <a:off x="10588472" y="5013998"/>
            <a:ext cx="195942" cy="3084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xmlns="" id="{79316A67-A956-7634-6F6A-256571929F6F}"/>
              </a:ext>
            </a:extLst>
          </p:cNvPr>
          <p:cNvSpPr/>
          <p:nvPr/>
        </p:nvSpPr>
        <p:spPr>
          <a:xfrm>
            <a:off x="10046179" y="4604156"/>
            <a:ext cx="1787345" cy="501952"/>
          </a:xfrm>
          <a:prstGeom prst="rect">
            <a:avLst/>
          </a:prstGeom>
          <a:solidFill>
            <a:schemeClr val="bg1"/>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No input</a:t>
            </a:r>
          </a:p>
        </p:txBody>
      </p:sp>
    </p:spTree>
    <p:extLst>
      <p:ext uri="{BB962C8B-B14F-4D97-AF65-F5344CB8AC3E}">
        <p14:creationId xmlns:p14="http://schemas.microsoft.com/office/powerpoint/2010/main" val="324848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F419DC-2CC7-66C7-E0A9-99EEA0186769}"/>
              </a:ext>
            </a:extLst>
          </p:cNvPr>
          <p:cNvSpPr>
            <a:spLocks noGrp="1"/>
          </p:cNvSpPr>
          <p:nvPr>
            <p:ph type="title"/>
          </p:nvPr>
        </p:nvSpPr>
        <p:spPr/>
        <p:txBody>
          <a:bodyPr/>
          <a:lstStyle/>
          <a:p>
            <a:r>
              <a:rPr lang="en-GB" dirty="0"/>
              <a:t>Software Development Environments</a:t>
            </a:r>
          </a:p>
        </p:txBody>
      </p:sp>
      <p:sp>
        <p:nvSpPr>
          <p:cNvPr id="3" name="Content Placeholder 2">
            <a:extLst>
              <a:ext uri="{FF2B5EF4-FFF2-40B4-BE49-F238E27FC236}">
                <a16:creationId xmlns:a16="http://schemas.microsoft.com/office/drawing/2014/main" xmlns="" id="{E8C32E26-A053-5A89-DEFA-AF462BC14876}"/>
              </a:ext>
            </a:extLst>
          </p:cNvPr>
          <p:cNvSpPr>
            <a:spLocks noGrp="1"/>
          </p:cNvSpPr>
          <p:nvPr>
            <p:ph idx="1"/>
          </p:nvPr>
        </p:nvSpPr>
        <p:spPr>
          <a:xfrm>
            <a:off x="406400" y="1690688"/>
            <a:ext cx="11379200" cy="3878263"/>
          </a:xfrm>
        </p:spPr>
        <p:txBody>
          <a:bodyPr>
            <a:normAutofit/>
          </a:bodyPr>
          <a:lstStyle/>
          <a:p>
            <a:r>
              <a:rPr lang="en-GB" dirty="0"/>
              <a:t>We can write very basic programs using text editors, such as notepad. </a:t>
            </a:r>
          </a:p>
          <a:p>
            <a:pPr lvl="1"/>
            <a:r>
              <a:rPr lang="en-GB" dirty="0"/>
              <a:t>This is not ideal and is very inefficient as you still need to translate the code we write into binary (machine code) which the computer can actually execute.</a:t>
            </a:r>
          </a:p>
          <a:p>
            <a:r>
              <a:rPr lang="en-GB" dirty="0"/>
              <a:t>Instead, we use an </a:t>
            </a:r>
            <a:r>
              <a:rPr lang="en-GB" b="1" dirty="0"/>
              <a:t>Integrated Development Environment</a:t>
            </a:r>
            <a:r>
              <a:rPr lang="en-GB" dirty="0"/>
              <a:t> which provides programmers with all of the facilities required to complete the development of an application – from design elements to testing.</a:t>
            </a:r>
          </a:p>
          <a:p>
            <a:r>
              <a:rPr lang="en-GB" dirty="0"/>
              <a:t>This means that a program can be developed within a single application.</a:t>
            </a:r>
          </a:p>
        </p:txBody>
      </p:sp>
      <p:sp>
        <p:nvSpPr>
          <p:cNvPr id="4" name="Rectangle 3"/>
          <p:cNvSpPr/>
          <p:nvPr/>
        </p:nvSpPr>
        <p:spPr>
          <a:xfrm>
            <a:off x="3746500" y="5873751"/>
            <a:ext cx="8356600" cy="707886"/>
          </a:xfrm>
          <a:prstGeom prst="rect">
            <a:avLst/>
          </a:prstGeom>
        </p:spPr>
        <p:txBody>
          <a:bodyPr wrap="square">
            <a:spAutoFit/>
          </a:bodyPr>
          <a:lstStyle/>
          <a:p>
            <a:r>
              <a:rPr lang="en-US" sz="2000" dirty="0">
                <a:solidFill>
                  <a:schemeClr val="bg1"/>
                </a:solidFill>
              </a:rPr>
              <a:t>Provides an integrated set of editing, compiling, and debugging tools for programmers, enabling applications to be built from coding to testing.</a:t>
            </a:r>
            <a:endParaRPr lang="en-GB" sz="2000" dirty="0">
              <a:solidFill>
                <a:schemeClr val="bg1"/>
              </a:solidFill>
            </a:endParaRPr>
          </a:p>
        </p:txBody>
      </p:sp>
      <p:pic>
        <p:nvPicPr>
          <p:cNvPr id="5"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107997" y="5908442"/>
            <a:ext cx="638503" cy="638503"/>
          </a:xfrm>
          <a:prstGeom prst="rect">
            <a:avLst/>
          </a:prstGeom>
        </p:spPr>
      </p:pic>
    </p:spTree>
    <p:extLst>
      <p:ext uri="{BB962C8B-B14F-4D97-AF65-F5344CB8AC3E}">
        <p14:creationId xmlns:p14="http://schemas.microsoft.com/office/powerpoint/2010/main" val="2155132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 of an IDE</a:t>
            </a:r>
          </a:p>
        </p:txBody>
      </p:sp>
      <p:sp>
        <p:nvSpPr>
          <p:cNvPr id="3" name="Content Placeholder 2"/>
          <p:cNvSpPr>
            <a:spLocks noGrp="1"/>
          </p:cNvSpPr>
          <p:nvPr>
            <p:ph idx="1"/>
          </p:nvPr>
        </p:nvSpPr>
        <p:spPr>
          <a:xfrm>
            <a:off x="254000" y="1825624"/>
            <a:ext cx="11099800" cy="4930775"/>
          </a:xfrm>
        </p:spPr>
        <p:txBody>
          <a:bodyPr>
            <a:normAutofit lnSpcReduction="10000"/>
          </a:bodyPr>
          <a:lstStyle/>
          <a:p>
            <a:pPr marL="0" indent="0">
              <a:buNone/>
            </a:pPr>
            <a:r>
              <a:rPr lang="en-GB" dirty="0">
                <a:solidFill>
                  <a:srgbClr val="07E073"/>
                </a:solidFill>
              </a:rPr>
              <a:t>Source Code Editor</a:t>
            </a:r>
          </a:p>
          <a:p>
            <a:pPr marL="0" indent="0">
              <a:buNone/>
            </a:pPr>
            <a:r>
              <a:rPr lang="en-GB" sz="1800" dirty="0"/>
              <a:t>The basic window where a programmer writes and edits their program’s source code.</a:t>
            </a:r>
          </a:p>
          <a:p>
            <a:pPr marL="0" indent="0">
              <a:buNone/>
            </a:pPr>
            <a:r>
              <a:rPr lang="en-GB" dirty="0">
                <a:solidFill>
                  <a:srgbClr val="07E073"/>
                </a:solidFill>
              </a:rPr>
              <a:t>Compiler</a:t>
            </a:r>
          </a:p>
          <a:p>
            <a:pPr marL="0" indent="0">
              <a:buNone/>
            </a:pPr>
            <a:r>
              <a:rPr lang="en-GB" sz="1800" dirty="0"/>
              <a:t>A specialized translation software that converts human-readable source code into machine code (binary format of 1s and 0s) so it can be understood and executed by the computer.</a:t>
            </a:r>
          </a:p>
          <a:p>
            <a:pPr marL="0" indent="0">
              <a:buNone/>
            </a:pPr>
            <a:r>
              <a:rPr lang="en-GB" dirty="0">
                <a:solidFill>
                  <a:srgbClr val="07E073"/>
                </a:solidFill>
              </a:rPr>
              <a:t>Debugger</a:t>
            </a:r>
          </a:p>
          <a:p>
            <a:pPr marL="0" indent="0">
              <a:buNone/>
            </a:pPr>
            <a:r>
              <a:rPr lang="en-GB" sz="1800" dirty="0"/>
              <a:t>An integrated facility used to identify, trace, and correct software errors (bugs).</a:t>
            </a:r>
          </a:p>
          <a:p>
            <a:pPr marL="0" indent="0">
              <a:buNone/>
            </a:pPr>
            <a:r>
              <a:rPr lang="en-GB" dirty="0">
                <a:solidFill>
                  <a:srgbClr val="07E073"/>
                </a:solidFill>
              </a:rPr>
              <a:t>Graphical User Interface builder (with toolbox)</a:t>
            </a:r>
          </a:p>
          <a:p>
            <a:pPr marL="0" indent="0">
              <a:buNone/>
            </a:pPr>
            <a:r>
              <a:rPr lang="en-GB" sz="1800" dirty="0"/>
              <a:t>A visual design tool used to build user-friendly forms and design the interactive portion of the application that the user operates.</a:t>
            </a:r>
          </a:p>
          <a:p>
            <a:pPr marL="0" indent="0">
              <a:buNone/>
            </a:pPr>
            <a:r>
              <a:rPr lang="en-GB" dirty="0">
                <a:solidFill>
                  <a:srgbClr val="07E073"/>
                </a:solidFill>
              </a:rPr>
              <a:t>Solution Explorer</a:t>
            </a:r>
          </a:p>
          <a:p>
            <a:pPr marL="0" indent="0">
              <a:buNone/>
            </a:pPr>
            <a:r>
              <a:rPr lang="en-GB" sz="1800" dirty="0"/>
              <a:t>An administrative component of the IDE used to manage and navigate the overall structure of the programming project</a:t>
            </a:r>
          </a:p>
        </p:txBody>
      </p:sp>
    </p:spTree>
    <p:extLst>
      <p:ext uri="{BB962C8B-B14F-4D97-AF65-F5344CB8AC3E}">
        <p14:creationId xmlns:p14="http://schemas.microsoft.com/office/powerpoint/2010/main" val="162963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3900" y="0"/>
            <a:ext cx="6388100" cy="6858000"/>
          </a:xfrm>
        </p:spPr>
        <p:txBody>
          <a:bodyPr anchor="ctr">
            <a:normAutofit/>
          </a:bodyPr>
          <a:lstStyle/>
          <a:p>
            <a:pPr marL="0" indent="0">
              <a:buNone/>
            </a:pPr>
            <a:r>
              <a:rPr lang="en-GB" sz="2400" dirty="0">
                <a:solidFill>
                  <a:srgbClr val="07E073"/>
                </a:solidFill>
              </a:rPr>
              <a:t>Clipboard</a:t>
            </a:r>
            <a:endParaRPr lang="en-GB" dirty="0">
              <a:solidFill>
                <a:srgbClr val="07E073"/>
              </a:solidFill>
            </a:endParaRPr>
          </a:p>
          <a:p>
            <a:pPr marL="0" indent="0">
              <a:buNone/>
            </a:pPr>
            <a:r>
              <a:rPr lang="en-GB" sz="1800" dirty="0"/>
              <a:t>Allows programmers to </a:t>
            </a:r>
            <a:r>
              <a:rPr lang="en-GB" sz="1800" b="1" dirty="0"/>
              <a:t>copy items and choose which one to paste</a:t>
            </a:r>
            <a:r>
              <a:rPr lang="en-GB" sz="1800" dirty="0"/>
              <a:t> into the current code file</a:t>
            </a:r>
          </a:p>
          <a:p>
            <a:pPr marL="0" indent="0">
              <a:buNone/>
            </a:pPr>
            <a:r>
              <a:rPr lang="en-GB" sz="2400" dirty="0">
                <a:solidFill>
                  <a:srgbClr val="07E073"/>
                </a:solidFill>
              </a:rPr>
              <a:t>Line Numbering</a:t>
            </a:r>
          </a:p>
          <a:p>
            <a:pPr marL="0" indent="0">
              <a:buNone/>
            </a:pPr>
            <a:r>
              <a:rPr lang="en-GB" sz="1800" dirty="0"/>
              <a:t>Displays numbers alongside code to help programmers </a:t>
            </a:r>
            <a:r>
              <a:rPr lang="en-GB" sz="1800" b="1" dirty="0"/>
              <a:t>distinguish between lines in lengthy coding sections</a:t>
            </a:r>
            <a:endParaRPr lang="en-GB" sz="1800" dirty="0"/>
          </a:p>
          <a:p>
            <a:pPr marL="0" indent="0">
              <a:buNone/>
            </a:pPr>
            <a:r>
              <a:rPr lang="en-GB" sz="2400" dirty="0">
                <a:solidFill>
                  <a:srgbClr val="07E073"/>
                </a:solidFill>
              </a:rPr>
              <a:t>Syntax Error Assistance</a:t>
            </a:r>
          </a:p>
          <a:p>
            <a:pPr marL="0" indent="0">
              <a:buNone/>
            </a:pPr>
            <a:r>
              <a:rPr lang="en-GB" sz="1800" dirty="0"/>
              <a:t>Places </a:t>
            </a:r>
            <a:r>
              <a:rPr lang="en-GB" sz="1800" b="1" dirty="0"/>
              <a:t>"wavy lines" beneath code that is incorrect or problematic</a:t>
            </a:r>
            <a:r>
              <a:rPr lang="en-GB" sz="1800" dirty="0"/>
              <a:t> as it is entered - using </a:t>
            </a:r>
            <a:r>
              <a:rPr lang="en-GB" sz="1800" b="1" dirty="0"/>
              <a:t>red for syntax errors</a:t>
            </a:r>
            <a:r>
              <a:rPr lang="en-GB" sz="1800" dirty="0"/>
              <a:t>, green for warnings, and blue for semantic errors</a:t>
            </a:r>
          </a:p>
          <a:p>
            <a:pPr marL="0" indent="0">
              <a:buNone/>
            </a:pPr>
            <a:r>
              <a:rPr lang="en-GB" sz="2400" dirty="0">
                <a:solidFill>
                  <a:srgbClr val="07E073"/>
                </a:solidFill>
              </a:rPr>
              <a:t>Code Outlining / Collapsible code sections</a:t>
            </a:r>
          </a:p>
          <a:p>
            <a:pPr marL="0" indent="0">
              <a:buNone/>
            </a:pPr>
            <a:r>
              <a:rPr lang="en-GB" sz="1900" dirty="0"/>
              <a:t>Allows programmers to </a:t>
            </a:r>
            <a:r>
              <a:rPr lang="en-GB" sz="1900" b="1" dirty="0"/>
              <a:t>collapse or expand selected regions of code</a:t>
            </a:r>
            <a:r>
              <a:rPr lang="en-GB" sz="1900" dirty="0"/>
              <a:t> under their first lines so that long programs can be viewed in small, logical sections</a:t>
            </a:r>
          </a:p>
          <a:p>
            <a:pPr marL="0" indent="0">
              <a:buNone/>
            </a:pPr>
            <a:r>
              <a:rPr lang="en-GB" sz="2400" dirty="0" err="1">
                <a:solidFill>
                  <a:srgbClr val="07E073"/>
                </a:solidFill>
              </a:rPr>
              <a:t>Intellisense</a:t>
            </a:r>
            <a:endParaRPr lang="en-GB" dirty="0">
              <a:solidFill>
                <a:srgbClr val="07E073"/>
              </a:solidFill>
            </a:endParaRPr>
          </a:p>
          <a:p>
            <a:pPr marL="0" indent="0">
              <a:buNone/>
            </a:pPr>
            <a:r>
              <a:rPr lang="en-GB" sz="1900" dirty="0"/>
              <a:t>Displays the </a:t>
            </a:r>
            <a:r>
              <a:rPr lang="en-GB" sz="1900" b="1" dirty="0"/>
              <a:t>complete syntax and arguments of a statement or function in a ToolTip</a:t>
            </a:r>
            <a:r>
              <a:rPr lang="en-GB" sz="1900" dirty="0"/>
              <a:t> as you type, and provides </a:t>
            </a:r>
            <a:r>
              <a:rPr lang="en-GB" sz="1900" b="1" dirty="0"/>
              <a:t>popup insertion lists</a:t>
            </a:r>
            <a:r>
              <a:rPr lang="en-GB" sz="1900" dirty="0"/>
              <a:t> of available functions, statements, constants, or values to complete a statement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19883"/>
            <a:ext cx="5892803" cy="5738117"/>
          </a:xfrm>
          <a:prstGeom prst="rect">
            <a:avLst/>
          </a:prstGeom>
        </p:spPr>
      </p:pic>
      <p:sp>
        <p:nvSpPr>
          <p:cNvPr id="5" name="Title 1">
            <a:extLst>
              <a:ext uri="{FF2B5EF4-FFF2-40B4-BE49-F238E27FC236}">
                <a16:creationId xmlns:a16="http://schemas.microsoft.com/office/drawing/2014/main" xmlns="" id="{175752F7-3520-331D-BC2D-852797203E3B}"/>
              </a:ext>
            </a:extLst>
          </p:cNvPr>
          <p:cNvSpPr txBox="1">
            <a:spLocks/>
          </p:cNvSpPr>
          <p:nvPr/>
        </p:nvSpPr>
        <p:spPr>
          <a:xfrm>
            <a:off x="685799" y="2105025"/>
            <a:ext cx="4660901" cy="27844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a:lstStyle>
          <a:p>
            <a:pPr algn="ctr"/>
            <a:r>
              <a:rPr lang="en-GB" sz="4000" dirty="0"/>
              <a:t>What Editing Features Exist in an IDE?</a:t>
            </a:r>
          </a:p>
        </p:txBody>
      </p:sp>
    </p:spTree>
    <p:extLst>
      <p:ext uri="{BB962C8B-B14F-4D97-AF65-F5344CB8AC3E}">
        <p14:creationId xmlns:p14="http://schemas.microsoft.com/office/powerpoint/2010/main" val="1406473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Compiling Code</a:t>
            </a:r>
          </a:p>
        </p:txBody>
      </p:sp>
      <p:sp>
        <p:nvSpPr>
          <p:cNvPr id="3" name="Content Placeholder 2"/>
          <p:cNvSpPr>
            <a:spLocks noGrp="1"/>
          </p:cNvSpPr>
          <p:nvPr>
            <p:ph idx="1"/>
          </p:nvPr>
        </p:nvSpPr>
        <p:spPr>
          <a:xfrm>
            <a:off x="558800" y="1690688"/>
            <a:ext cx="7734300" cy="4351338"/>
          </a:xfrm>
        </p:spPr>
        <p:txBody>
          <a:bodyPr/>
          <a:lstStyle/>
          <a:p>
            <a:r>
              <a:rPr lang="en-GB" dirty="0"/>
              <a:t>High-level source code is readable by humans, but it must be formally translated into machine code (binary format of 1s and 0s) before a computer hardware system can understand and execute it. </a:t>
            </a:r>
          </a:p>
          <a:p>
            <a:endParaRPr lang="en-GB" dirty="0"/>
          </a:p>
          <a:p>
            <a:r>
              <a:rPr lang="en-GB" dirty="0"/>
              <a:t>Translators typically perform this task using one of two approaches: compilers or interpreters</a:t>
            </a:r>
            <a:br>
              <a:rPr lang="en-GB" dirty="0"/>
            </a:br>
            <a:endParaRPr lang="en-GB" dirty="0"/>
          </a:p>
        </p:txBody>
      </p:sp>
      <p:sp>
        <p:nvSpPr>
          <p:cNvPr id="6" name="Rectangle 5"/>
          <p:cNvSpPr/>
          <p:nvPr/>
        </p:nvSpPr>
        <p:spPr>
          <a:xfrm>
            <a:off x="9169400" y="-50800"/>
            <a:ext cx="3060700" cy="6934200"/>
          </a:xfrm>
          <a:prstGeom prst="rect">
            <a:avLst/>
          </a:prstGeom>
          <a:noFill/>
          <a:ln>
            <a:solidFill>
              <a:srgbClr val="07E0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7E073"/>
              </a:solidFill>
            </a:endParaRPr>
          </a:p>
          <a:p>
            <a:pPr algn="ctr"/>
            <a:endParaRPr lang="en-GB" dirty="0">
              <a:solidFill>
                <a:srgbClr val="07E073"/>
              </a:solidFill>
            </a:endParaRPr>
          </a:p>
          <a:p>
            <a:pPr algn="ctr"/>
            <a:r>
              <a:rPr lang="en-GB" dirty="0">
                <a:solidFill>
                  <a:srgbClr val="07E073"/>
                </a:solidFill>
              </a:rPr>
              <a:t>Compiler</a:t>
            </a:r>
          </a:p>
          <a:p>
            <a:pPr algn="ctr"/>
            <a:r>
              <a:rPr lang="en-US" dirty="0"/>
              <a:t>Translates source code into binary format / machine code so that it can be understood and executed by a computer. It attempts to translate the entire code at once. If there are errors, the code will not compile/run.</a:t>
            </a:r>
          </a:p>
          <a:p>
            <a:pPr algn="ctr"/>
            <a:endParaRPr lang="en-US" dirty="0"/>
          </a:p>
          <a:p>
            <a:pPr algn="ctr"/>
            <a:r>
              <a:rPr lang="en-US" dirty="0">
                <a:solidFill>
                  <a:srgbClr val="07E073"/>
                </a:solidFill>
              </a:rPr>
              <a:t>Interpreter</a:t>
            </a:r>
          </a:p>
          <a:p>
            <a:pPr algn="ctr"/>
            <a:r>
              <a:rPr lang="en-GB" dirty="0"/>
              <a:t>Translates the source code line by line. The processor fully executes a translated line of code before moving on to translate the next line. This is good for unfinished products where you only want to run a section of code.</a:t>
            </a:r>
          </a:p>
        </p:txBody>
      </p:sp>
      <p:pic>
        <p:nvPicPr>
          <p:cNvPr id="8" name="Graphic 4" descr="Storytelling with solid fill">
            <a:extLst>
              <a:ext uri="{FF2B5EF4-FFF2-40B4-BE49-F238E27FC236}">
                <a16:creationId xmlns:a16="http://schemas.microsoft.com/office/drawing/2014/main" xmlns="" id="{E3886115-08D4-E835-8FAB-1CD771B441E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0380498" y="45873"/>
            <a:ext cx="638503" cy="638503"/>
          </a:xfrm>
          <a:prstGeom prst="rect">
            <a:avLst/>
          </a:prstGeom>
        </p:spPr>
      </p:pic>
    </p:spTree>
    <p:extLst>
      <p:ext uri="{BB962C8B-B14F-4D97-AF65-F5344CB8AC3E}">
        <p14:creationId xmlns:p14="http://schemas.microsoft.com/office/powerpoint/2010/main" val="2037076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1016</TotalTime>
  <Words>12845</Words>
  <Application>Microsoft Office PowerPoint</Application>
  <PresentationFormat>Widescreen</PresentationFormat>
  <Paragraphs>1986</Paragraphs>
  <Slides>172</Slides>
  <Notes>12</Notes>
  <HiddenSlides>0</HiddenSlides>
  <MMClips>5</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172</vt:i4>
      </vt:variant>
    </vt:vector>
  </HeadingPairs>
  <TitlesOfParts>
    <vt:vector size="194" baseType="lpstr">
      <vt:lpstr>Abadi</vt:lpstr>
      <vt:lpstr>Agency FB</vt:lpstr>
      <vt:lpstr>Aptos</vt:lpstr>
      <vt:lpstr>Arial</vt:lpstr>
      <vt:lpstr>Arial-BoldMT</vt:lpstr>
      <vt:lpstr>ArialMT</vt:lpstr>
      <vt:lpstr>Bell MT</vt:lpstr>
      <vt:lpstr>Calibri</vt:lpstr>
      <vt:lpstr>Calibri Light</vt:lpstr>
      <vt:lpstr>Century Gothic</vt:lpstr>
      <vt:lpstr>Comic Sans MS</vt:lpstr>
      <vt:lpstr>Cordia New</vt:lpstr>
      <vt:lpstr>Courier New</vt:lpstr>
      <vt:lpstr>Forte</vt:lpstr>
      <vt:lpstr>Ink Free</vt:lpstr>
      <vt:lpstr>LEMON MILK</vt:lpstr>
      <vt:lpstr>Symbol</vt:lpstr>
      <vt:lpstr>Times New Roman</vt:lpstr>
      <vt:lpstr>Wingdings</vt:lpstr>
      <vt:lpstr>Office Theme</vt:lpstr>
      <vt:lpstr>1_Office Theme</vt:lpstr>
      <vt:lpstr>2_Office Theme</vt:lpstr>
      <vt:lpstr>PROGRAMMING</vt:lpstr>
      <vt:lpstr>PowerPoint Presentation</vt:lpstr>
      <vt:lpstr>What is a Computer Program?</vt:lpstr>
      <vt:lpstr>Data</vt:lpstr>
      <vt:lpstr>Variables and Constants</vt:lpstr>
      <vt:lpstr>Why use constants?</vt:lpstr>
      <vt:lpstr>Why use variables?</vt:lpstr>
      <vt:lpstr>Data Types</vt:lpstr>
      <vt:lpstr>Variable Names</vt:lpstr>
      <vt:lpstr>camelCase</vt:lpstr>
      <vt:lpstr>Hello, World!</vt:lpstr>
      <vt:lpstr>Developing Programs</vt:lpstr>
      <vt:lpstr>Programming Paradigms</vt:lpstr>
      <vt:lpstr>Procedural Programming</vt:lpstr>
      <vt:lpstr>So, What is this program doing?</vt:lpstr>
      <vt:lpstr>User Defined Functions</vt:lpstr>
      <vt:lpstr>Object Oriented Programming </vt:lpstr>
      <vt:lpstr>Object Oriented Programming </vt:lpstr>
      <vt:lpstr>Features of OOP: Inheritance</vt:lpstr>
      <vt:lpstr>Encapsulation</vt:lpstr>
      <vt:lpstr>Benefits of OOP</vt:lpstr>
      <vt:lpstr>Example of OOP</vt:lpstr>
      <vt:lpstr>Example of OOP</vt:lpstr>
      <vt:lpstr>Example of OOP</vt:lpstr>
      <vt:lpstr>Software Development Environments</vt:lpstr>
      <vt:lpstr>Features of an IDE</vt:lpstr>
      <vt:lpstr>PowerPoint Presentation</vt:lpstr>
      <vt:lpstr>Compiling Code</vt:lpstr>
      <vt:lpstr>Unit 4 | Chapter 22 – Digital Data</vt:lpstr>
      <vt:lpstr>Learning Intentions</vt:lpstr>
      <vt:lpstr>Let’s start with a bunch of key terms.</vt:lpstr>
      <vt:lpstr>Converting Numbers into Binary Patterns</vt:lpstr>
      <vt:lpstr>So how does this help with binary?</vt:lpstr>
      <vt:lpstr>This still doesn’t answer the question of how we read a binary value?</vt:lpstr>
      <vt:lpstr>I can have 8</vt:lpstr>
      <vt:lpstr>So, let’s get back to our base 2 stuff:</vt:lpstr>
      <vt:lpstr>We can make any integer using this system</vt:lpstr>
      <vt:lpstr>PowerPoint Presentation</vt:lpstr>
      <vt:lpstr>Can we convert a denary number to binary? </vt:lpstr>
      <vt:lpstr>PowerPoint Presentation</vt:lpstr>
      <vt:lpstr>Binary Coded Decimal</vt:lpstr>
      <vt:lpstr>Character Sets</vt:lpstr>
      <vt:lpstr>Representing Characters</vt:lpstr>
      <vt:lpstr>Representing Characters</vt:lpstr>
      <vt:lpstr>Hexadecimal Number System</vt:lpstr>
      <vt:lpstr>Converting a 16-bit Binary pattern to Hex</vt:lpstr>
      <vt:lpstr>Sign, magnitude and Complementation</vt:lpstr>
      <vt:lpstr>Complementation</vt:lpstr>
      <vt:lpstr>One’s Complement</vt:lpstr>
      <vt:lpstr>Two’s Complement</vt:lpstr>
      <vt:lpstr>PowerPoint Presentation</vt:lpstr>
      <vt:lpstr>Overflow</vt:lpstr>
      <vt:lpstr>Overflow</vt:lpstr>
      <vt:lpstr>Truth Tables</vt:lpstr>
      <vt:lpstr>NOT Operator</vt:lpstr>
      <vt:lpstr>AND Operator</vt:lpstr>
      <vt:lpstr>OR Operator</vt:lpstr>
      <vt:lpstr>XOR Operator</vt:lpstr>
      <vt:lpstr>There are a few notable others</vt:lpstr>
      <vt:lpstr>Using Data Types</vt:lpstr>
      <vt:lpstr>PowerPoint Presentation</vt:lpstr>
      <vt:lpstr>Digital Design Principles</vt:lpstr>
      <vt:lpstr>PowerPoint Presentation</vt:lpstr>
      <vt:lpstr>The Underlying Concepts of Computational Thinking</vt:lpstr>
      <vt:lpstr>Algorithm Design: Flowcharts</vt:lpstr>
      <vt:lpstr>PowerPoint Presentation</vt:lpstr>
      <vt:lpstr>Quick Examples</vt:lpstr>
      <vt:lpstr>Activity: Create Your Own</vt:lpstr>
      <vt:lpstr>Algorithm Design: Pseudocode</vt:lpstr>
      <vt:lpstr>Quick Examples</vt:lpstr>
      <vt:lpstr>Best Practice for Writing Pseudocode</vt:lpstr>
      <vt:lpstr>Activity: Create Your Own</vt:lpstr>
      <vt:lpstr>Program Control Structures</vt:lpstr>
      <vt:lpstr>Program Control Structures</vt:lpstr>
      <vt:lpstr>Program Control Structures</vt:lpstr>
      <vt:lpstr>Unconditional loops</vt:lpstr>
      <vt:lpstr>Condition Controlled Loops</vt:lpstr>
      <vt:lpstr>PowerPoint Presentation</vt:lpstr>
      <vt:lpstr>Sorting Algorithms: Bubble sort</vt:lpstr>
      <vt:lpstr>Sorting Algorithms: insertion sort</vt:lpstr>
      <vt:lpstr>Bubble Sort Vs Insertion Sort</vt:lpstr>
      <vt:lpstr>Algorithms for Searching</vt:lpstr>
      <vt:lpstr>Searching Algorithms: Linear Search &amp;  Binary Search</vt:lpstr>
      <vt:lpstr>PowerPoint Presentation</vt:lpstr>
      <vt:lpstr>Designing Solutions: Models</vt:lpstr>
      <vt:lpstr>Identifying Data Requirements for a Solution</vt:lpstr>
      <vt:lpstr>Developing an Appropriate User Interface</vt:lpstr>
      <vt:lpstr>Using a Dry Run to Test a Solution</vt:lpstr>
      <vt:lpstr>Creating a Trace Table</vt:lpstr>
      <vt:lpstr>PowerPoint Presentation</vt:lpstr>
      <vt:lpstr>The Specification</vt:lpstr>
      <vt:lpstr>The Difference Between Variables &amp; Constants</vt:lpstr>
      <vt:lpstr>Fix the code</vt:lpstr>
      <vt:lpstr>Displaying Your Data</vt:lpstr>
      <vt:lpstr>Coding Challenge: Digital ID Card</vt:lpstr>
      <vt:lpstr>Activity: What’s wrong here then?</vt:lpstr>
      <vt:lpstr>PowerPoint Presentation</vt:lpstr>
      <vt:lpstr>Making Programs Interactive in C#</vt:lpstr>
      <vt:lpstr>Capturing Data with Console.ReadLine()</vt:lpstr>
      <vt:lpstr>Check Yourself (before you wreck yourself!)</vt:lpstr>
      <vt:lpstr>Making Choices: The IF Statement</vt:lpstr>
      <vt:lpstr>Code Structure: Input + Logic</vt:lpstr>
      <vt:lpstr>PowerPoint Presentation</vt:lpstr>
      <vt:lpstr>Operator Check</vt:lpstr>
      <vt:lpstr>The Power of Repetition</vt:lpstr>
      <vt:lpstr>The FOR Loop Structure</vt:lpstr>
      <vt:lpstr>Anatomy of a For Loop</vt:lpstr>
      <vt:lpstr>Check your Knowledge!</vt:lpstr>
      <vt:lpstr>Going around in circles? MORE LOOPS?</vt:lpstr>
      <vt:lpstr>Anatomy of a While Loop</vt:lpstr>
      <vt:lpstr>PowerPoint Presentation</vt:lpstr>
      <vt:lpstr>Choosing the Right Tool</vt:lpstr>
      <vt:lpstr>Task: Times Table Generator</vt:lpstr>
      <vt:lpstr>Explain it to a 10 Year Old</vt:lpstr>
      <vt:lpstr>Features of Programming Languages</vt:lpstr>
      <vt:lpstr>Arrays</vt:lpstr>
      <vt:lpstr>Declaring an Array</vt:lpstr>
      <vt:lpstr>Using Arrays</vt:lpstr>
      <vt:lpstr>Looping through Arrays</vt:lpstr>
      <vt:lpstr>Sorting: BUBBLE SORT</vt:lpstr>
      <vt:lpstr>Sorting: INSERTION SORT</vt:lpstr>
      <vt:lpstr>Simple Searching: Linear Search</vt:lpstr>
      <vt:lpstr>Simple Searching: Binary Search</vt:lpstr>
      <vt:lpstr>The Specification</vt:lpstr>
      <vt:lpstr>String Manipulation Functions</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Building Reusable Code</vt:lpstr>
      <vt:lpstr>User Defined Functions</vt:lpstr>
      <vt:lpstr>Basic File Handling</vt:lpstr>
      <vt:lpstr>Your PC hasn’t looked at Error Handling Yet, so this Lesson will Look to Teaching You How to Handle and Resolve Errors in Programming</vt:lpstr>
      <vt:lpstr>Learning Intentions</vt:lpstr>
      <vt:lpstr>PowerPoint Presentation</vt:lpstr>
      <vt:lpstr>What Does The Error Handling Topic Involve?</vt:lpstr>
      <vt:lpstr>Data Validation</vt:lpstr>
      <vt:lpstr>Why do we need validation?</vt:lpstr>
      <vt:lpstr>Data Validation Checks</vt:lpstr>
      <vt:lpstr>Write TRUE or FALSE beside each of the following statements about validation.</vt:lpstr>
      <vt:lpstr>Write TRUE or FALSE beside each of the following statements about validation.</vt:lpstr>
      <vt:lpstr>Detection And Correction Techniques</vt:lpstr>
      <vt:lpstr>PowerPoint Presentation</vt:lpstr>
      <vt:lpstr>Debugging</vt:lpstr>
      <vt:lpstr>Simple Error-trapping Techniques </vt:lpstr>
      <vt:lpstr>Exception Handling</vt:lpstr>
      <vt:lpstr>PowerPoint Presentation</vt:lpstr>
      <vt:lpstr>PowerPoint Presentation</vt:lpstr>
      <vt:lpstr>What You Need To Know</vt:lpstr>
      <vt:lpstr>PowerPoint Presentation</vt:lpstr>
      <vt:lpstr>White Box Testing</vt:lpstr>
      <vt:lpstr>White Box Testing</vt:lpstr>
      <vt:lpstr>Black Box Testing</vt:lpstr>
      <vt:lpstr>Black Box Testing</vt:lpstr>
      <vt:lpstr>Unit Testing</vt:lpstr>
      <vt:lpstr>Integration Testing</vt:lpstr>
      <vt:lpstr>System Testing</vt:lpstr>
      <vt:lpstr>Creating and Using a Test Plan</vt:lpstr>
      <vt:lpstr>Ingredients to a Test Plan</vt:lpstr>
      <vt:lpstr>The Types of Test Data To Use</vt:lpstr>
      <vt:lpstr>Evaluation Of Digitally Authored Systems</vt:lpstr>
      <vt:lpstr>What the Spec Says</vt:lpstr>
      <vt:lpstr>The Importance of Evaluating a System</vt:lpstr>
      <vt:lpstr>Functional and Non Functional Requirements</vt:lpstr>
      <vt:lpstr>Robustness</vt:lpstr>
      <vt:lpstr>An Evaluation Table</vt:lpstr>
      <vt:lpstr>Complete the paragraph below, about evaluation, using terms from the list provided. (Not all terms will be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dc:title>
  <dc:creator>J Butler</dc:creator>
  <cp:lastModifiedBy>Microsoft account</cp:lastModifiedBy>
  <cp:revision>55</cp:revision>
  <dcterms:created xsi:type="dcterms:W3CDTF">2026-01-05T15:57:32Z</dcterms:created>
  <dcterms:modified xsi:type="dcterms:W3CDTF">2026-10-31T12:15:45Z</dcterms:modified>
</cp:coreProperties>
</file>