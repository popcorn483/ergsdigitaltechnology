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6.svg" ContentType="image/svg+xml"/>
  <Override PartName="/ppt/notesMasters/notesMaster1.xml" ContentType="application/vnd.openxmlformats-officedocument.presentationml.notesMaster+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176"/>
  </p:notesMasterIdLst>
  <p:sldIdLst>
    <p:sldId id="402" r:id="rId93"/>
    <p:sldId id="403" r:id="rId94"/>
    <p:sldId id="404" r:id="rId95"/>
    <p:sldId id="405" r:id="rId96"/>
    <p:sldId id="406" r:id="rId97"/>
    <p:sldId id="407" r:id="rId98"/>
    <p:sldId id="409" r:id="rId99"/>
    <p:sldId id="410" r:id="rId100"/>
    <p:sldId id="411" r:id="rId101"/>
    <p:sldId id="412" r:id="rId102"/>
    <p:sldId id="413" r:id="rId103"/>
    <p:sldId id="414" r:id="rId104"/>
    <p:sldId id="415" r:id="rId105"/>
    <p:sldId id="416" r:id="rId106"/>
    <p:sldId id="417" r:id="rId107"/>
    <p:sldId id="420" r:id="rId108"/>
    <p:sldId id="421" r:id="rId109"/>
    <p:sldId id="422" r:id="rId110"/>
    <p:sldId id="423" r:id="rId111"/>
    <p:sldId id="424" r:id="rId112"/>
    <p:sldId id="425" r:id="rId113"/>
    <p:sldId id="426" r:id="rId114"/>
    <p:sldId id="427" r:id="rId115"/>
    <p:sldId id="428" r:id="rId116"/>
    <p:sldId id="430" r:id="rId117"/>
    <p:sldId id="408" r:id="rId118"/>
    <p:sldId id="431" r:id="rId119"/>
    <p:sldId id="432" r:id="rId120"/>
    <p:sldId id="433" r:id="rId121"/>
    <p:sldId id="434" r:id="rId122"/>
    <p:sldId id="436" r:id="rId123"/>
    <p:sldId id="437" r:id="rId124"/>
    <p:sldId id="438" r:id="rId125"/>
    <p:sldId id="439" r:id="rId126"/>
    <p:sldId id="440" r:id="rId127"/>
    <p:sldId id="441" r:id="rId128"/>
    <p:sldId id="442" r:id="rId129"/>
    <p:sldId id="443" r:id="rId130"/>
    <p:sldId id="444" r:id="rId131"/>
    <p:sldId id="445" r:id="rId132"/>
    <p:sldId id="446" r:id="rId133"/>
    <p:sldId id="447" r:id="rId134"/>
    <p:sldId id="448" r:id="rId135"/>
    <p:sldId id="449" r:id="rId136"/>
    <p:sldId id="450" r:id="rId137"/>
    <p:sldId id="452" r:id="rId138"/>
    <p:sldId id="451" r:id="rId1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EDEDE"/>
    <a:srgbClr val="003140"/>
    <a:srgbClr val="FFFFFF"/>
    <a:srgbClr val="DE6BF9"/>
    <a:srgbClr val="EDB0FC"/>
    <a:srgbClr val="1C74A6"/>
    <a:srgbClr val="00B050"/>
    <a:srgbClr val="E0E0E0"/>
    <a:srgbClr val="00B653"/>
    <a:srgbClr val="07E07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347" autoAdjust="0"/>
    <p:restoredTop sz="94660"/>
  </p:normalViewPr>
  <p:slideViewPr>
    <p:cSldViewPr snapToGrid="0">
      <p:cViewPr varScale="1">
        <p:scale>
          <a:sx n="151" d="100"/>
          <a:sy n="151" d="100"/>
        </p:scale>
        <p:origin x="594" y="1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1" Type="http://schemas.openxmlformats.org/officeDocument/2006/relationships/slide" Target="slides/slide128.xml"/><Relationship Id="rId132" Type="http://schemas.openxmlformats.org/officeDocument/2006/relationships/slide" Target="slides/slide129.xml"/><Relationship Id="rId133" Type="http://schemas.openxmlformats.org/officeDocument/2006/relationships/slide" Target="slides/slide130.xml"/><Relationship Id="rId134" Type="http://schemas.openxmlformats.org/officeDocument/2006/relationships/slide" Target="slides/slide131.xml"/><Relationship Id="rId135" Type="http://schemas.openxmlformats.org/officeDocument/2006/relationships/slide" Target="slides/slide132.xml"/><Relationship Id="rId136" Type="http://schemas.openxmlformats.org/officeDocument/2006/relationships/slide" Target="slides/slide133.xml"/><Relationship Id="rId137" Type="http://schemas.openxmlformats.org/officeDocument/2006/relationships/slide" Target="slides/slide134.xml"/><Relationship Id="rId138" Type="http://schemas.openxmlformats.org/officeDocument/2006/relationships/slide" Target="slides/slide135.xml"/><Relationship Id="rId139" Type="http://schemas.openxmlformats.org/officeDocument/2006/relationships/slide" Target="slides/slide136.xml"/><Relationship Id="rId176" Type="http://schemas.openxmlformats.org/officeDocument/2006/relationships/notesMaster" Target="notesMasters/notesMaster1.xml"/><Relationship Id="rId177" Type="http://schemas.openxmlformats.org/officeDocument/2006/relationships/presProps" Target="presProps.xml"/><Relationship Id="rId178" Type="http://schemas.openxmlformats.org/officeDocument/2006/relationships/viewProps" Target="viewProps.xml"/><Relationship Id="rId179" Type="http://schemas.openxmlformats.org/officeDocument/2006/relationships/theme" Target="theme/theme1.xml"/><Relationship Id="rId18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B09DC5-68F2-4230-868B-6FA81117FBD2}" type="datetimeFigureOut">
              <a:rPr lang="en-GB" smtClean="0"/>
              <a:t>31/10/2026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2A05367-3E37-47F2-9543-A194C2AE934D}" type="slidenum">
              <a:rPr lang="en-GB" smtClean="0"/>
              <a:t>‹#›</a:t>
            </a:fld>
            <a:endParaRPr lang="en-GB"/>
          </a:p>
        </p:txBody>
      </p:sp>
    </p:spTree>
    <p:extLst>
      <p:ext uri="{BB962C8B-B14F-4D97-AF65-F5344CB8AC3E}">
        <p14:creationId xmlns:p14="http://schemas.microsoft.com/office/powerpoint/2010/main" val="39669938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bubble sort uses a loop (inside j loop) to move through an array comparing adjacent data items as it moves along.</a:t>
            </a:r>
          </a:p>
          <a:p>
            <a:r>
              <a:rPr lang="en-GB" dirty="0"/>
              <a:t>If an array element [j] is greater than the element immediately to its right [j + 1], it swaps them.</a:t>
            </a:r>
          </a:p>
          <a:p>
            <a:r>
              <a:rPr lang="en-GB" dirty="0"/>
              <a:t>The first time around, this process will bubble the largest value to the end of the array.</a:t>
            </a:r>
          </a:p>
          <a:p>
            <a:r>
              <a:rPr lang="en-GB" dirty="0"/>
              <a:t>After N-1 passes, the data will be sorted.</a:t>
            </a:r>
          </a:p>
        </p:txBody>
      </p:sp>
      <p:sp>
        <p:nvSpPr>
          <p:cNvPr id="4" name="Slide Number Placeholder 3"/>
          <p:cNvSpPr>
            <a:spLocks noGrp="1"/>
          </p:cNvSpPr>
          <p:nvPr>
            <p:ph type="sldNum" sz="quarter" idx="5"/>
          </p:nvPr>
        </p:nvSpPr>
        <p:spPr/>
        <p:txBody>
          <a:bodyPr/>
          <a:lstStyle/>
          <a:p>
            <a:fld id="{92A05367-3E37-47F2-9543-A194C2AE934D}" type="slidenum">
              <a:rPr lang="en-GB" smtClean="0"/>
              <a:t>120</a:t>
            </a:fld>
            <a:endParaRPr lang="en-GB"/>
          </a:p>
        </p:txBody>
      </p:sp>
    </p:spTree>
    <p:extLst>
      <p:ext uri="{BB962C8B-B14F-4D97-AF65-F5344CB8AC3E}">
        <p14:creationId xmlns:p14="http://schemas.microsoft.com/office/powerpoint/2010/main" val="37746779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insertion sort uses 2 loops. The first loop goes from 0 to array’s length (number of items in the array)</a:t>
            </a:r>
          </a:p>
          <a:p>
            <a:r>
              <a:rPr lang="en-GB" dirty="0"/>
              <a:t>The second loop goes through from I to </a:t>
            </a:r>
            <a:r>
              <a:rPr lang="en-GB" dirty="0" err="1"/>
              <a:t>array.length</a:t>
            </a:r>
            <a:r>
              <a:rPr lang="en-GB" dirty="0"/>
              <a:t>, so from 0 to 10, 1 to 10, 2 to 10 and so on</a:t>
            </a:r>
          </a:p>
          <a:p>
            <a:endParaRPr lang="en-GB" dirty="0"/>
          </a:p>
          <a:p>
            <a:r>
              <a:rPr lang="en-GB" dirty="0"/>
              <a:t>This sort inserts each element of the array into its proper position, leaving larger stretches of the sub array sorted (the sorted sub list)</a:t>
            </a:r>
          </a:p>
          <a:p>
            <a:endParaRPr lang="en-GB" dirty="0"/>
          </a:p>
          <a:p>
            <a:r>
              <a:rPr lang="en-GB" dirty="0"/>
              <a:t>Then, the current element of the array is inserted into the proper position at the head of the array.</a:t>
            </a:r>
          </a:p>
        </p:txBody>
      </p:sp>
      <p:sp>
        <p:nvSpPr>
          <p:cNvPr id="4" name="Slide Number Placeholder 3"/>
          <p:cNvSpPr>
            <a:spLocks noGrp="1"/>
          </p:cNvSpPr>
          <p:nvPr>
            <p:ph type="sldNum" sz="quarter" idx="5"/>
          </p:nvPr>
        </p:nvSpPr>
        <p:spPr/>
        <p:txBody>
          <a:bodyPr/>
          <a:lstStyle/>
          <a:p>
            <a:fld id="{92A05367-3E37-47F2-9543-A194C2AE934D}" type="slidenum">
              <a:rPr lang="en-GB" smtClean="0"/>
              <a:t>121</a:t>
            </a:fld>
            <a:endParaRPr lang="en-GB"/>
          </a:p>
        </p:txBody>
      </p:sp>
    </p:spTree>
    <p:extLst>
      <p:ext uri="{BB962C8B-B14F-4D97-AF65-F5344CB8AC3E}">
        <p14:creationId xmlns:p14="http://schemas.microsoft.com/office/powerpoint/2010/main" val="793839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Subprogram = Generic term.</a:t>
            </a:r>
          </a:p>
          <a:p>
            <a:r>
              <a:rPr lang="en-GB" dirty="0"/>
              <a:t>Procedure = a series of instructions, but may not have a return value</a:t>
            </a:r>
          </a:p>
          <a:p>
            <a:r>
              <a:rPr lang="en-GB" dirty="0"/>
              <a:t>Function = a single task which may have parameters (inputs) and will have a return value (output)</a:t>
            </a:r>
          </a:p>
        </p:txBody>
      </p:sp>
      <p:sp>
        <p:nvSpPr>
          <p:cNvPr id="4" name="Slide Number Placeholder 3"/>
          <p:cNvSpPr>
            <a:spLocks noGrp="1"/>
          </p:cNvSpPr>
          <p:nvPr>
            <p:ph type="sldNum" sz="quarter" idx="5"/>
          </p:nvPr>
        </p:nvSpPr>
        <p:spPr/>
        <p:txBody>
          <a:bodyPr/>
          <a:lstStyle/>
          <a:p>
            <a:fld id="{92A05367-3E37-47F2-9543-A194C2AE934D}" type="slidenum">
              <a:rPr lang="en-GB" smtClean="0"/>
              <a:t>134</a:t>
            </a:fld>
            <a:endParaRPr lang="en-GB"/>
          </a:p>
        </p:txBody>
      </p:sp>
    </p:spTree>
    <p:extLst>
      <p:ext uri="{BB962C8B-B14F-4D97-AF65-F5344CB8AC3E}">
        <p14:creationId xmlns:p14="http://schemas.microsoft.com/office/powerpoint/2010/main" val="1804155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863C437-BADB-26F1-1744-B58FF528749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4CBFB801-A7E3-D5F2-41AF-20AE09E78C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22AA20C0-F91E-718E-0FAA-2C1C86044616}"/>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35EF3A6F-1787-E73E-F0CA-8B77F6566ED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0D4A7528-8DB0-F884-7366-D4348D2CC2C3}"/>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7591296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191B5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D630BFD-41C9-4443-37A0-7DA0E7E8E211}"/>
              </a:ext>
            </a:extLst>
          </p:cNvPr>
          <p:cNvSpPr>
            <a:spLocks noGrp="1"/>
          </p:cNvSpPr>
          <p:nvPr>
            <p:ph type="title"/>
          </p:nvPr>
        </p:nvSpPr>
        <p:spPr/>
        <p:txBody>
          <a:bodyPr/>
          <a:lstStyle>
            <a:lvl1pPr>
              <a:defRPr>
                <a:solidFill>
                  <a:schemeClr val="bg1"/>
                </a:solidFill>
                <a:latin typeface="LEMON MILK" panose="00000500000000000000" pitchFamily="50" charset="0"/>
              </a:defRPr>
            </a:lvl1pPr>
          </a:lstStyle>
          <a:p>
            <a:r>
              <a:rPr lang="en-US" dirty="0"/>
              <a:t>Click to edit Master title style</a:t>
            </a:r>
            <a:endParaRPr lang="en-GB" dirty="0"/>
          </a:p>
        </p:txBody>
      </p:sp>
      <p:sp>
        <p:nvSpPr>
          <p:cNvPr id="3" name="Content Placeholder 2">
            <a:extLst>
              <a:ext uri="{FF2B5EF4-FFF2-40B4-BE49-F238E27FC236}">
                <a16:creationId xmlns:a16="http://schemas.microsoft.com/office/drawing/2014/main" xmlns="" id="{6808EC02-734E-FDAE-7DF3-8DB3C6AA7C0A}"/>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xmlns="" id="{EC58D06E-8825-23B1-C07E-FF963A9AC48D}"/>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191823C9-1047-477F-F79E-CBC28BFEDD4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B9EB253-8011-048D-8449-60840055D350}"/>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65617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29FD9-52B6-B3F1-3ACC-92EB9B7544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E9D83799-5349-F038-E14F-DB614AE9FBB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B12A1649-151D-93EA-631F-B60996363076}"/>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056C4EBE-9CE4-D786-4093-C4BB2FD7F561}"/>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AF731C0E-1C01-5CD7-8D36-2CAB20EAFAF1}"/>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069653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7D0B23-99D8-5C9C-2DB4-375C26F10F67}"/>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30A73CCA-A2D9-9C14-2365-AA1EE615E1C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7A55BD96-FD5E-73F6-F796-4F1494B897B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5E5168EB-58D8-A759-0050-632F4F55C931}"/>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1EF8AA03-4BAF-F0E0-E32D-60119D79A09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280E02D9-AF26-C903-50A9-55EC97356360}"/>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9215767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B7BB497-6D57-98B6-5EC8-FDE5CB6E02BE}"/>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5FD1B0F7-B6C5-B1D4-D80E-9B9C972D77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28D0C5B9-F4F6-0165-1411-ADCFCB843EF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421935E2-B472-EA91-DB4E-C839D7805D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7B760D12-2E96-23CB-A91A-8971B42F95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CACE3A3C-35F0-AF39-42CD-735B600489D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8" name="Footer Placeholder 7">
            <a:extLst>
              <a:ext uri="{FF2B5EF4-FFF2-40B4-BE49-F238E27FC236}">
                <a16:creationId xmlns:a16="http://schemas.microsoft.com/office/drawing/2014/main" xmlns="" id="{DAFE4A0E-F73F-2032-32AC-526010C7310C}"/>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731E3EB0-9117-A459-5243-B3DC56052A2E}"/>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17576373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E51F82-84B2-5D36-C364-390E8923CF3D}"/>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A2D17616-652E-05AA-FE9A-067BD8CA531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4" name="Footer Placeholder 3">
            <a:extLst>
              <a:ext uri="{FF2B5EF4-FFF2-40B4-BE49-F238E27FC236}">
                <a16:creationId xmlns:a16="http://schemas.microsoft.com/office/drawing/2014/main" xmlns="" id="{78750DCC-3A1E-8816-A369-7128F0B40A3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7ADB4CC8-7E5E-0E1E-CFB2-324D93DDAC9C}"/>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42082204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6B481DC6-E884-9B37-F7D3-8D1D2BA38BE8}"/>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3" name="Footer Placeholder 2">
            <a:extLst>
              <a:ext uri="{FF2B5EF4-FFF2-40B4-BE49-F238E27FC236}">
                <a16:creationId xmlns:a16="http://schemas.microsoft.com/office/drawing/2014/main" xmlns="" id="{0C177595-7DBE-CA37-A966-4329AD60CFE2}"/>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2357C3EF-50D5-B3D7-5976-F3C994131A46}"/>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8404442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18163C3-090A-ED96-6BA2-12BC4401C0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167BE877-B5AD-73D5-AD39-54969DF411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DDF72D7E-4E92-4511-E3CA-11933BE62F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E945A9D1-C06F-C729-CF79-95BAE94CD883}"/>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95D04E4A-A893-479C-B352-D71BEB8B739F}"/>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8EA53356-B1BC-934B-E7DC-9884409BFD6A}"/>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23841726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B16F818-E602-7294-7934-E1A4F112C1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B74AACFF-11BF-EF5A-730B-C80F1E14963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0211D112-7B44-9FA8-E772-0B9B1C36BC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4559975E-D19D-D6D9-CB9D-D4D3F75539E8}"/>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6" name="Footer Placeholder 5">
            <a:extLst>
              <a:ext uri="{FF2B5EF4-FFF2-40B4-BE49-F238E27FC236}">
                <a16:creationId xmlns:a16="http://schemas.microsoft.com/office/drawing/2014/main" xmlns="" id="{953D0A71-3B59-7F44-56F9-706ADF93985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C9D60747-C038-AAFF-A862-7D574E1E8824}"/>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12179585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B8EB0AA-CC24-AF77-4BB4-53FB7D3E752A}"/>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95A0E8B6-4DFD-4D88-8F1D-40849C2C516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D7A9F494-B3DE-6065-F2BF-6F8ED78FD093}"/>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613C085F-8685-2373-EC66-78868E8A066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8EEDB663-CDFD-1779-C76A-5B386BB5D71B}"/>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9357536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AEE53677-52B7-BFC6-E572-A036BEA9CD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8D729EDA-7926-9172-54DD-D0A3E3BB19D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F6DAF23D-0B70-7617-B809-9045D499C027}"/>
              </a:ext>
            </a:extLst>
          </p:cNvPr>
          <p:cNvSpPr>
            <a:spLocks noGrp="1"/>
          </p:cNvSpPr>
          <p:nvPr>
            <p:ph type="dt" sz="half" idx="10"/>
          </p:nvPr>
        </p:nvSpPr>
        <p:spPr/>
        <p:txBody>
          <a:body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C29A83D4-743A-E1E6-0109-C9B1F12D0DA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DED7CA8C-5DC8-E3F6-69F3-D3DF791D3A53}"/>
              </a:ext>
            </a:extLst>
          </p:cNvPr>
          <p:cNvSpPr>
            <a:spLocks noGrp="1"/>
          </p:cNvSpPr>
          <p:nvPr>
            <p:ph type="sldNum" sz="quarter" idx="12"/>
          </p:nvPr>
        </p:nvSpPr>
        <p:spPr/>
        <p:txBody>
          <a:bodyPr/>
          <a:lstStyle/>
          <a:p>
            <a:fld id="{6E311636-159F-4811-B362-FA6899840FE0}" type="slidenum">
              <a:rPr lang="en-GB" smtClean="0"/>
              <a:t>‹#›</a:t>
            </a:fld>
            <a:endParaRPr lang="en-GB"/>
          </a:p>
        </p:txBody>
      </p:sp>
    </p:spTree>
    <p:extLst>
      <p:ext uri="{BB962C8B-B14F-4D97-AF65-F5344CB8AC3E}">
        <p14:creationId xmlns:p14="http://schemas.microsoft.com/office/powerpoint/2010/main" val="30739684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5FC9BC-F7EB-4679-B546-E51CDD23258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xmlns="" id="{95842375-5315-4C45-AF9B-0AFFA874C3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xmlns="" id="{27235C8F-4E0E-4286-81DC-9D2934CD4E14}"/>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D65B17F6-EB77-4D18-ABF1-CA328B1D4E9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A33EBF0D-FE71-47F9-AA17-799D923C9877}"/>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12192022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EEA7CC0-4E8D-49BB-BCEA-E0CD81FF96E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56EC2238-C309-4CD6-9323-09399FB937C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FCC8AAC1-9A0B-4FF8-956F-71104D753C85}"/>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CD723DC7-A23C-4813-A731-5094F3711CF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44D32689-12A9-4737-A421-ECDD1EFC583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2341715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02290A-5F3A-44C5-9884-1F6AE2A118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xmlns="" id="{A9F1DEA4-386A-429E-BD37-5198B65EC25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xmlns="" id="{1F1F06AB-A623-4C1A-8BC4-1BB08A9BDFD2}"/>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372F7FE7-E3CA-4757-9230-6214C1A2B8B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1621482D-7CC6-4B0D-BDF6-B33932964174}"/>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19972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6A3C2C9-F2C5-4A0E-8BC3-F6585AC53EA9}"/>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0213A83B-6149-449B-8CE9-1B69397245B8}"/>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xmlns="" id="{E2B727F1-78E5-412E-80D4-A77416759A87}"/>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xmlns="" id="{1CBA42B1-3B39-4377-8297-74AE3F3D9344}"/>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2ED6D471-C1B0-4477-B277-57E83E61CC50}"/>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61C8BDC9-EABC-4145-821B-4B47D43B331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3830363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029212-66E6-4851-9704-D1D0E013EC12}"/>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58FBF198-7E05-45D2-9C13-5D98728656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xmlns="" id="{6E74D802-FCBE-448C-877C-CD24B8D8958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xmlns="" id="{3CECCDE9-518A-445E-8F0C-E41DE2F4386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xmlns="" id="{E6F49ED5-CDFC-4F48-BEBC-0C7E15B92A00}"/>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xmlns="" id="{4391BB69-7E14-4641-B195-CD6323A00E70}"/>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8" name="Footer Placeholder 7">
            <a:extLst>
              <a:ext uri="{FF2B5EF4-FFF2-40B4-BE49-F238E27FC236}">
                <a16:creationId xmlns:a16="http://schemas.microsoft.com/office/drawing/2014/main" xmlns="" id="{23BF9193-A1D4-4A3F-83AB-2FDB7A8A681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xmlns="" id="{F021F8D8-E735-45F3-BA7F-1414D06019E0}"/>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2515431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0A5104-FAA2-4170-8DC5-CFB596EE7391}"/>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xmlns="" id="{6158F3E3-39C2-43A6-AF89-6A707E9EEC27}"/>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4" name="Footer Placeholder 3">
            <a:extLst>
              <a:ext uri="{FF2B5EF4-FFF2-40B4-BE49-F238E27FC236}">
                <a16:creationId xmlns:a16="http://schemas.microsoft.com/office/drawing/2014/main" xmlns="" id="{F66A3E8F-6D2B-4FDC-8ACF-6DB707233598}"/>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xmlns="" id="{3523EEF6-CBD1-4990-A771-459D7D0CE8E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72145393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431E45BA-EB29-4DE5-9CBF-B462C2933E21}"/>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3" name="Footer Placeholder 2">
            <a:extLst>
              <a:ext uri="{FF2B5EF4-FFF2-40B4-BE49-F238E27FC236}">
                <a16:creationId xmlns:a16="http://schemas.microsoft.com/office/drawing/2014/main" xmlns="" id="{7F172DBB-7912-4C35-A748-6D67714657D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xmlns="" id="{CF8631C7-72D5-46AA-86D1-51198C4D0BF3}"/>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9033414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7708D40-C553-41FF-B9A1-3BFA221213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xmlns="" id="{C685827A-DCE8-4E98-B355-4B724B18234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xmlns="" id="{508DDB70-AE7E-4870-B4A8-95E93C4ECC1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8F394F09-A5BE-4260-8E8E-A6746C823E4B}"/>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D57C977C-02CF-4A0A-8605-4B9B6E6F29C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D279887B-2092-40E1-9799-B078E7ADFCAE}"/>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428803016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53F6C2-2A79-425F-B78B-87E3060E65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xmlns="" id="{A8BD401A-AEF7-4778-BEEC-3903604690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xmlns="" id="{C76C66DF-B660-483E-BD6F-84C7873EB1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xmlns="" id="{F899C61D-403E-483F-83C3-8BFE32B4E5B5}"/>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6" name="Footer Placeholder 5">
            <a:extLst>
              <a:ext uri="{FF2B5EF4-FFF2-40B4-BE49-F238E27FC236}">
                <a16:creationId xmlns:a16="http://schemas.microsoft.com/office/drawing/2014/main" xmlns="" id="{4D7277D8-0608-4176-8C79-5A670155E9D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xmlns="" id="{15492866-2110-4E4B-9E03-868470DE9AED}"/>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24040688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B50BBE8-8A19-4CA3-B0D0-3D5AB372C1F7}"/>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27AF79E3-F4D3-4DBF-8A24-0B13305987C0}"/>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91CB6C27-17B1-4FAF-8C3A-012979C9484C}"/>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82589D89-8DB0-4C87-8159-392A52015816}"/>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3CB50750-AAD6-4519-B3A2-D55A447F265C}"/>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392012169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1B17744-BE0E-4C2D-8E85-A98C36E1AAB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xmlns="" id="{ABC260B5-3633-4226-81DC-11D7CFA74BC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ABBF93D7-48DF-4F02-BA34-CA5CED79E856}"/>
              </a:ext>
            </a:extLst>
          </p:cNvPr>
          <p:cNvSpPr>
            <a:spLocks noGrp="1"/>
          </p:cNvSpPr>
          <p:nvPr>
            <p:ph type="dt" sz="half" idx="10"/>
          </p:nvPr>
        </p:nvSpPr>
        <p:spPr/>
        <p:txBody>
          <a:body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905904DB-50B8-4D9A-AB54-A21CBA5B64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xmlns="" id="{639EE86D-7426-4CBD-BA36-150F0FD58079}"/>
              </a:ext>
            </a:extLst>
          </p:cNvPr>
          <p:cNvSpPr>
            <a:spLocks noGrp="1"/>
          </p:cNvSpPr>
          <p:nvPr>
            <p:ph type="sldNum" sz="quarter" idx="12"/>
          </p:nvPr>
        </p:nvSpPr>
        <p:spPr/>
        <p:txBody>
          <a:bodyPr/>
          <a:lstStyle/>
          <a:p>
            <a:fld id="{AA147FB2-A101-491A-ACE6-1492808EAC6D}" type="slidenum">
              <a:rPr lang="en-GB" smtClean="0"/>
              <a:t>‹#›</a:t>
            </a:fld>
            <a:endParaRPr lang="en-GB"/>
          </a:p>
        </p:txBody>
      </p:sp>
    </p:spTree>
    <p:extLst>
      <p:ext uri="{BB962C8B-B14F-4D97-AF65-F5344CB8AC3E}">
        <p14:creationId xmlns:p14="http://schemas.microsoft.com/office/powerpoint/2010/main" val="8600556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5650172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904056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8390373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00851085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EEE93D6B-74CE-4FDD-8BD0-E21F83B4F91E}" type="datetimeFigureOut">
              <a:rPr lang="en-GB" smtClean="0"/>
              <a:t>31/10/2026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38475998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EEE93D6B-74CE-4FDD-8BD0-E21F83B4F91E}" type="datetimeFigureOut">
              <a:rPr lang="en-GB" smtClean="0"/>
              <a:t>31/10/2026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4531986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E93D6B-74CE-4FDD-8BD0-E21F83B4F91E}" type="datetimeFigureOut">
              <a:rPr lang="en-GB" smtClean="0"/>
              <a:t>31/10/2026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411358189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193356003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EE93D6B-74CE-4FDD-8BD0-E21F83B4F91E}" type="datetimeFigureOut">
              <a:rPr lang="en-GB" smtClean="0"/>
              <a:t>31/10/2026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390311324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266797125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EEE93D6B-74CE-4FDD-8BD0-E21F83B4F91E}" type="datetimeFigureOut">
              <a:rPr lang="en-GB" smtClean="0"/>
              <a:t>31/10/2026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4C25D40-B648-423D-A62F-831986932A01}" type="slidenum">
              <a:rPr lang="en-GB" smtClean="0"/>
              <a:t>‹#›</a:t>
            </a:fld>
            <a:endParaRPr lang="en-GB"/>
          </a:p>
        </p:txBody>
      </p:sp>
    </p:spTree>
    <p:extLst>
      <p:ext uri="{BB962C8B-B14F-4D97-AF65-F5344CB8AC3E}">
        <p14:creationId xmlns:p14="http://schemas.microsoft.com/office/powerpoint/2010/main" val="22969473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91B54"/>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AF0FABDB-F7B5-76B6-20FE-C0AED463EBE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a:extLst>
              <a:ext uri="{FF2B5EF4-FFF2-40B4-BE49-F238E27FC236}">
                <a16:creationId xmlns:a16="http://schemas.microsoft.com/office/drawing/2014/main" xmlns="" id="{50B11D2A-37FD-254F-F7BF-12ACEBDC14F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a:extLst>
              <a:ext uri="{FF2B5EF4-FFF2-40B4-BE49-F238E27FC236}">
                <a16:creationId xmlns:a16="http://schemas.microsoft.com/office/drawing/2014/main" xmlns="" id="{9C57448D-2A1A-EE33-37F7-8EE210FF11C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3CA588B-1EB2-4626-8DAE-58E29C46CB1E}" type="datetimeFigureOut">
              <a:rPr lang="en-GB" smtClean="0"/>
              <a:t>31/10/2026</a:t>
            </a:fld>
            <a:endParaRPr lang="en-GB"/>
          </a:p>
        </p:txBody>
      </p:sp>
      <p:sp>
        <p:nvSpPr>
          <p:cNvPr id="5" name="Footer Placeholder 4">
            <a:extLst>
              <a:ext uri="{FF2B5EF4-FFF2-40B4-BE49-F238E27FC236}">
                <a16:creationId xmlns:a16="http://schemas.microsoft.com/office/drawing/2014/main" xmlns="" id="{DC48344B-9636-6D43-B7A1-AFC23066C0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xmlns="" id="{63939D83-EBE7-5C4B-33F0-232FADF5BD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E311636-159F-4811-B362-FA6899840FE0}" type="slidenum">
              <a:rPr lang="en-GB" smtClean="0"/>
              <a:t>‹#›</a:t>
            </a:fld>
            <a:endParaRPr lang="en-GB"/>
          </a:p>
        </p:txBody>
      </p:sp>
    </p:spTree>
    <p:extLst>
      <p:ext uri="{BB962C8B-B14F-4D97-AF65-F5344CB8AC3E}">
        <p14:creationId xmlns:p14="http://schemas.microsoft.com/office/powerpoint/2010/main" val="23374119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solidFill>
          <a:latin typeface="LEMON MILK" panose="00000500000000000000" pitchFamily="50"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F7B86FEB-A93A-4930-B294-B95D0D6039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xmlns="" id="{7412376B-86F3-4635-9383-75143BB0C22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xmlns="" id="{6370128D-5950-47CB-BA99-F9601858C4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0BDD50-FA08-4D10-AB54-82CC49CA31D3}" type="datetimeFigureOut">
              <a:rPr lang="en-GB" smtClean="0"/>
              <a:t>31/10/2026</a:t>
            </a:fld>
            <a:endParaRPr lang="en-GB"/>
          </a:p>
        </p:txBody>
      </p:sp>
      <p:sp>
        <p:nvSpPr>
          <p:cNvPr id="5" name="Footer Placeholder 4">
            <a:extLst>
              <a:ext uri="{FF2B5EF4-FFF2-40B4-BE49-F238E27FC236}">
                <a16:creationId xmlns:a16="http://schemas.microsoft.com/office/drawing/2014/main" xmlns="" id="{88BA322D-0C39-4F81-B6F5-292F37C22DA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xmlns="" id="{060B5791-46F1-4425-BB08-95908C5D449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147FB2-A101-491A-ACE6-1492808EAC6D}" type="slidenum">
              <a:rPr lang="en-GB" smtClean="0"/>
              <a:t>‹#›</a:t>
            </a:fld>
            <a:endParaRPr lang="en-GB"/>
          </a:p>
        </p:txBody>
      </p:sp>
    </p:spTree>
    <p:extLst>
      <p:ext uri="{BB962C8B-B14F-4D97-AF65-F5344CB8AC3E}">
        <p14:creationId xmlns:p14="http://schemas.microsoft.com/office/powerpoint/2010/main" val="2291122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tx1">
            <a:lumMod val="85000"/>
            <a:lumOff val="15000"/>
          </a:schemeClr>
        </a:solidFill>
        <a:effectLst/>
      </p:bgPr>
    </p:bg>
    <p:spTree>
      <p:nvGrpSpPr>
        <p:cNvPr id="1" name=""/>
        <p:cNvGrpSpPr/>
        <p:nvPr/>
      </p:nvGrpSpPr>
      <p:grpSpPr>
        <a:xfrm>
          <a:off x="0" y="0"/>
          <a:ext cx="0" cy="0"/>
          <a:chOff x="0" y="0"/>
          <a:chExt cx="0" cy="0"/>
        </a:xfrm>
      </p:grpSpPr>
      <p:sp>
        <p:nvSpPr>
          <p:cNvPr id="7" name="Right Triangle 6"/>
          <p:cNvSpPr/>
          <p:nvPr userDrawn="1"/>
        </p:nvSpPr>
        <p:spPr>
          <a:xfrm flipH="1">
            <a:off x="0" y="0"/>
            <a:ext cx="12192000" cy="6858000"/>
          </a:xfrm>
          <a:prstGeom prst="rtTriangl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EE93D6B-74CE-4FDD-8BD0-E21F83B4F91E}" type="datetimeFigureOut">
              <a:rPr lang="en-GB" smtClean="0"/>
              <a:t>31/10/2026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4C25D40-B648-423D-A62F-831986932A01}" type="slidenum">
              <a:rPr lang="en-GB" smtClean="0"/>
              <a:t>‹#›</a:t>
            </a:fld>
            <a:endParaRPr lang="en-GB"/>
          </a:p>
        </p:txBody>
      </p:sp>
    </p:spTree>
    <p:extLst>
      <p:ext uri="{BB962C8B-B14F-4D97-AF65-F5344CB8AC3E}">
        <p14:creationId xmlns:p14="http://schemas.microsoft.com/office/powerpoint/2010/main" val="19096670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10" presetClass="entr" presetSubtype="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fade">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fade">
                                      <p:cBhvr>
                                        <p:cTn id="17" dur="500"/>
                                        <p:tgtEl>
                                          <p:spTgt spid="3">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1" end="1"/>
                                            </p:txEl>
                                          </p:spTgt>
                                        </p:tgtEl>
                                        <p:attrNameLst>
                                          <p:attrName>style.visibility</p:attrName>
                                        </p:attrNameLst>
                                      </p:cBhvr>
                                      <p:to>
                                        <p:strVal val="visible"/>
                                      </p:to>
                                    </p:set>
                                    <p:animEffect transition="in" filter="fade">
                                      <p:cBhvr>
                                        <p:cTn id="22" dur="500"/>
                                        <p:tgtEl>
                                          <p:spTgt spid="3">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500"/>
                                        <p:tgtEl>
                                          <p:spTgt spid="3">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3" end="3"/>
                                            </p:txEl>
                                          </p:spTgt>
                                        </p:tgtEl>
                                        <p:attrNameLst>
                                          <p:attrName>style.visibility</p:attrName>
                                        </p:attrNameLst>
                                      </p:cBhvr>
                                      <p:to>
                                        <p:strVal val="visible"/>
                                      </p:to>
                                    </p:set>
                                    <p:animEffect transition="in" filter="fade">
                                      <p:cBhvr>
                                        <p:cTn id="32" dur="500"/>
                                        <p:tgtEl>
                                          <p:spTgt spid="3">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Effect transition="in" filter="fade">
                                      <p:cBhvr>
                                        <p:cTn id="3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2">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3">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4">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 lvl="5">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txStyles>
    <p:titleStyle>
      <a:lvl1pPr algn="l" defTabSz="914400" rtl="0" eaLnBrk="1" latinLnBrk="0" hangingPunct="1">
        <a:lnSpc>
          <a:spcPct val="90000"/>
        </a:lnSpc>
        <a:spcBef>
          <a:spcPct val="0"/>
        </a:spcBef>
        <a:buNone/>
        <a:defRPr sz="4400" kern="1200">
          <a:solidFill>
            <a:schemeClr val="accent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00B0F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00B0F0"/>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00B0F0"/>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00B0F0"/>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00B0F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6.gif"/></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7.png"/><Relationship Id="rId3" Type="http://schemas.openxmlformats.org/officeDocument/2006/relationships/image" Target="../media/image58.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9.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image" Target="../media/image62.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3.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4.png"/><Relationship Id="rId3" Type="http://schemas.openxmlformats.org/officeDocument/2006/relationships/image" Target="../media/image58.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5.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6.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7.jpeg"/><Relationship Id="rId3" Type="http://schemas.openxmlformats.org/officeDocument/2006/relationships/image" Target="../media/image68.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9.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0.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1.png"/><Relationship Id="rId3" Type="http://schemas.openxmlformats.org/officeDocument/2006/relationships/image" Target="../media/image72.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3.png"/><Relationship Id="rId3" Type="http://schemas.openxmlformats.org/officeDocument/2006/relationships/image" Target="../media/image74.png"/><Relationship Id="rId4" Type="http://schemas.openxmlformats.org/officeDocument/2006/relationships/image" Target="../media/image75.png"/><Relationship Id="rId5" Type="http://schemas.openxmlformats.org/officeDocument/2006/relationships/image" Target="../media/image76.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7.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8.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9.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0.png"/><Relationship Id="rId3" Type="http://schemas.openxmlformats.org/officeDocument/2006/relationships/image" Target="../media/image8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5.png"/><Relationship Id="rId3" Type="http://schemas.openxmlformats.org/officeDocument/2006/relationships/image" Target="../media/image6.sv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160F19"/>
        </a:solidFill>
        <a:effectLst/>
      </p:bgPr>
    </p:bg>
    <p:spTree>
      <p:nvGrpSpPr>
        <p:cNvPr id="1" name=""/>
        <p:cNvGrpSpPr/>
        <p:nvPr/>
      </p:nvGrpSpPr>
      <p:grpSpPr>
        <a:xfrm>
          <a:off x="0" y="0"/>
          <a:ext cx="0" cy="0"/>
          <a:chOff x="0" y="0"/>
          <a:chExt cx="0" cy="0"/>
        </a:xfrm>
      </p:grpSpPr>
      <p:sp>
        <p:nvSpPr>
          <p:cNvPr id="4" name="Rectangle 3"/>
          <p:cNvSpPr/>
          <p:nvPr/>
        </p:nvSpPr>
        <p:spPr>
          <a:xfrm rot="21101617">
            <a:off x="-1318582" y="6316663"/>
            <a:ext cx="7891655" cy="1126156"/>
          </a:xfrm>
          <a:prstGeom prst="rect">
            <a:avLst/>
          </a:prstGeom>
          <a:solidFill>
            <a:srgbClr val="2827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8993875" y="0"/>
            <a:ext cx="3198125" cy="3370997"/>
          </a:xfrm>
          <a:prstGeom prst="rect">
            <a:avLst/>
          </a:prstGeom>
          <a:gradFill>
            <a:gsLst>
              <a:gs pos="0">
                <a:srgbClr val="1E111A"/>
              </a:gs>
              <a:gs pos="100000">
                <a:srgbClr val="231622"/>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2" descr="Related image"/>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562706" y="3152632"/>
            <a:ext cx="6629294" cy="3705367"/>
          </a:xfrm>
          <a:prstGeom prst="rect">
            <a:avLst/>
          </a:prstGeom>
          <a:noFill/>
          <a:extLst>
            <a:ext uri="{909E8E84-426E-40DD-AFC4-6F175D3DCCD1}">
              <a14:hiddenFill xmlns:a14="http://schemas.microsoft.com/office/drawing/2010/main">
                <a:solidFill>
                  <a:srgbClr val="FFFFFF"/>
                </a:solidFill>
              </a14:hiddenFill>
            </a:ext>
          </a:extLst>
        </p:spPr>
      </p:pic>
      <p:sp>
        <p:nvSpPr>
          <p:cNvPr id="7" name="Title 1"/>
          <p:cNvSpPr txBox="1">
            <a:spLocks/>
          </p:cNvSpPr>
          <p:nvPr/>
        </p:nvSpPr>
        <p:spPr>
          <a:xfrm>
            <a:off x="-266647" y="0"/>
            <a:ext cx="9144000" cy="23876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LEMON MILK" panose="00000500000000000000" pitchFamily="50" charset="0"/>
                <a:ea typeface="+mj-ea"/>
                <a:cs typeface="+mj-cs"/>
              </a:defRPr>
            </a:lvl1pPr>
          </a:lstStyle>
          <a:p>
            <a:pPr algn="r"/>
            <a:r>
              <a:rPr lang="en-GB">
                <a:solidFill>
                  <a:srgbClr val="FFFF00"/>
                </a:solidFill>
              </a:rPr>
              <a:t>Programming Constructs</a:t>
            </a:r>
            <a:endParaRPr lang="en-GB" dirty="0">
              <a:solidFill>
                <a:srgbClr val="FFFF00"/>
              </a:solidFill>
            </a:endParaRPr>
          </a:p>
        </p:txBody>
      </p:sp>
      <p:sp>
        <p:nvSpPr>
          <p:cNvPr id="8" name="Subtitle 2"/>
          <p:cNvSpPr txBox="1">
            <a:spLocks/>
          </p:cNvSpPr>
          <p:nvPr/>
        </p:nvSpPr>
        <p:spPr>
          <a:xfrm>
            <a:off x="609377" y="2414303"/>
            <a:ext cx="8384498" cy="16557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GB" dirty="0">
                <a:solidFill>
                  <a:srgbClr val="FFFF00"/>
                </a:solidFill>
              </a:rPr>
              <a:t>Mr Butler | Chapter 24</a:t>
            </a:r>
          </a:p>
        </p:txBody>
      </p:sp>
    </p:spTree>
    <p:extLst>
      <p:ext uri="{BB962C8B-B14F-4D97-AF65-F5344CB8AC3E}">
        <p14:creationId xmlns:p14="http://schemas.microsoft.com/office/powerpoint/2010/main" val="97197726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GB" dirty="0">
                <a:solidFill>
                  <a:srgbClr val="160F19"/>
                </a:solidFill>
              </a:rPr>
              <a:t>The Specification</a:t>
            </a:r>
          </a:p>
        </p:txBody>
      </p:sp>
      <p:sp>
        <p:nvSpPr>
          <p:cNvPr id="6" name="Content Placeholder 5"/>
          <p:cNvSpPr>
            <a:spLocks noGrp="1"/>
          </p:cNvSpPr>
          <p:nvPr>
            <p:ph idx="1"/>
          </p:nvPr>
        </p:nvSpPr>
        <p:spPr>
          <a:xfrm>
            <a:off x="226243" y="1451728"/>
            <a:ext cx="11585543" cy="5406271"/>
          </a:xfrm>
        </p:spPr>
        <p:txBody>
          <a:bodyPr>
            <a:normAutofit fontScale="92500" lnSpcReduction="10000"/>
          </a:bodyPr>
          <a:lstStyle/>
          <a:p>
            <a:pPr lvl="0"/>
            <a:r>
              <a:rPr lang="en-GB" dirty="0">
                <a:solidFill>
                  <a:srgbClr val="160F19"/>
                </a:solidFill>
              </a:rPr>
              <a:t>demonstrate understanding of and use the functionality of the following constructs in a programming language:</a:t>
            </a:r>
          </a:p>
          <a:p>
            <a:pPr lvl="1"/>
            <a:r>
              <a:rPr lang="en-GB" dirty="0">
                <a:solidFill>
                  <a:srgbClr val="160F19"/>
                </a:solidFill>
              </a:rPr>
              <a:t>variables, constants, and Boolean and arithmetic operators;</a:t>
            </a:r>
          </a:p>
          <a:p>
            <a:pPr lvl="1"/>
            <a:r>
              <a:rPr lang="en-GB" dirty="0">
                <a:solidFill>
                  <a:srgbClr val="160F19"/>
                </a:solidFill>
              </a:rPr>
              <a:t>input, output and assignment statements;</a:t>
            </a:r>
          </a:p>
          <a:p>
            <a:pPr lvl="1"/>
            <a:endParaRPr lang="en-GB" dirty="0">
              <a:solidFill>
                <a:srgbClr val="160F19"/>
              </a:solidFill>
            </a:endParaRPr>
          </a:p>
          <a:p>
            <a:pPr lvl="1"/>
            <a:r>
              <a:rPr lang="en-GB" dirty="0">
                <a:solidFill>
                  <a:srgbClr val="160F19"/>
                </a:solidFill>
              </a:rPr>
              <a:t>one-dimensional array structures;</a:t>
            </a:r>
          </a:p>
          <a:p>
            <a:pPr lvl="1"/>
            <a:endParaRPr lang="en-GB" dirty="0">
              <a:solidFill>
                <a:srgbClr val="160F19"/>
              </a:solidFill>
            </a:endParaRPr>
          </a:p>
          <a:p>
            <a:pPr lvl="1"/>
            <a:r>
              <a:rPr lang="en-GB" dirty="0">
                <a:solidFill>
                  <a:srgbClr val="160F19"/>
                </a:solidFill>
              </a:rPr>
              <a:t>simple sorting techniques such as the bubble sort and the insertion sort;</a:t>
            </a:r>
          </a:p>
          <a:p>
            <a:pPr lvl="1"/>
            <a:r>
              <a:rPr lang="en-GB" dirty="0">
                <a:solidFill>
                  <a:srgbClr val="160F19"/>
                </a:solidFill>
              </a:rPr>
              <a:t>simple searching techniques such as linear and binary searching;</a:t>
            </a:r>
          </a:p>
          <a:p>
            <a:pPr lvl="1"/>
            <a:endParaRPr lang="en-GB" dirty="0">
              <a:solidFill>
                <a:srgbClr val="160F19"/>
              </a:solidFill>
            </a:endParaRPr>
          </a:p>
          <a:p>
            <a:pPr lvl="1"/>
            <a:r>
              <a:rPr lang="en-GB" dirty="0">
                <a:solidFill>
                  <a:srgbClr val="160F19"/>
                </a:solidFill>
              </a:rPr>
              <a:t>string manipulation functions, including splitting, concatenating, character searching and substring searching;</a:t>
            </a:r>
          </a:p>
          <a:p>
            <a:pPr lvl="1"/>
            <a:r>
              <a:rPr lang="en-GB" dirty="0">
                <a:solidFill>
                  <a:srgbClr val="160F19"/>
                </a:solidFill>
              </a:rPr>
              <a:t>controlling the flow of a program through sequence, selection and iteration;</a:t>
            </a:r>
          </a:p>
          <a:p>
            <a:pPr lvl="1"/>
            <a:r>
              <a:rPr lang="en-GB" dirty="0">
                <a:solidFill>
                  <a:srgbClr val="160F19"/>
                </a:solidFill>
              </a:rPr>
              <a:t>building reusable code that utilises user-defined functions or methods; and </a:t>
            </a:r>
          </a:p>
          <a:p>
            <a:pPr lvl="1"/>
            <a:r>
              <a:rPr lang="en-GB" dirty="0">
                <a:solidFill>
                  <a:srgbClr val="160F19"/>
                </a:solidFill>
              </a:rPr>
              <a:t>basic file handling.</a:t>
            </a:r>
          </a:p>
          <a:p>
            <a:endParaRPr lang="en-GB" dirty="0">
              <a:solidFill>
                <a:srgbClr val="160F19"/>
              </a:solidFill>
            </a:endParaRPr>
          </a:p>
        </p:txBody>
      </p:sp>
      <p:sp>
        <p:nvSpPr>
          <p:cNvPr id="7" name="Rectangle 6"/>
          <p:cNvSpPr/>
          <p:nvPr/>
        </p:nvSpPr>
        <p:spPr>
          <a:xfrm>
            <a:off x="688157" y="2149312"/>
            <a:ext cx="7937369" cy="76357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p:cNvSpPr/>
          <p:nvPr/>
        </p:nvSpPr>
        <p:spPr>
          <a:xfrm>
            <a:off x="688157" y="2989722"/>
            <a:ext cx="7937369" cy="62074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p:cNvSpPr/>
          <p:nvPr/>
        </p:nvSpPr>
        <p:spPr>
          <a:xfrm>
            <a:off x="688157" y="3696734"/>
            <a:ext cx="9294829" cy="81870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p:cNvSpPr/>
          <p:nvPr/>
        </p:nvSpPr>
        <p:spPr>
          <a:xfrm>
            <a:off x="688156" y="4601705"/>
            <a:ext cx="10755984" cy="18462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85551221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523" y="188537"/>
            <a:ext cx="11830639" cy="584461"/>
          </a:xfrm>
        </p:spPr>
        <p:txBody>
          <a:bodyPr>
            <a:normAutofit/>
          </a:bodyPr>
          <a:lstStyle/>
          <a:p>
            <a:r>
              <a:rPr lang="en-GB" sz="3200" dirty="0"/>
              <a:t>The Difference Between Variables &amp; Constants</a:t>
            </a:r>
          </a:p>
        </p:txBody>
      </p:sp>
      <p:sp>
        <p:nvSpPr>
          <p:cNvPr id="3" name="Content Placeholder 2"/>
          <p:cNvSpPr>
            <a:spLocks noGrp="1"/>
          </p:cNvSpPr>
          <p:nvPr>
            <p:ph idx="1"/>
          </p:nvPr>
        </p:nvSpPr>
        <p:spPr>
          <a:xfrm>
            <a:off x="348006" y="1523967"/>
            <a:ext cx="4082592" cy="2501278"/>
          </a:xfrm>
        </p:spPr>
        <p:txBody>
          <a:bodyPr>
            <a:normAutofit fontScale="92500" lnSpcReduction="20000"/>
          </a:bodyPr>
          <a:lstStyle/>
          <a:p>
            <a:pPr marL="0" indent="0">
              <a:buNone/>
            </a:pPr>
            <a:r>
              <a:rPr lang="en-GB" dirty="0">
                <a:solidFill>
                  <a:srgbClr val="07E073"/>
                </a:solidFill>
                <a:latin typeface="LEMON MILK" panose="00000500000000000000" pitchFamily="50" charset="0"/>
              </a:rPr>
              <a:t>Variables</a:t>
            </a:r>
          </a:p>
          <a:p>
            <a:pPr marL="0" indent="0">
              <a:buNone/>
            </a:pPr>
            <a:r>
              <a:rPr lang="en-GB" dirty="0"/>
              <a:t>A named location in computer memory which holds a value. It must be given a name and data type. The value held at this location can change during program execution.</a:t>
            </a:r>
          </a:p>
          <a:p>
            <a:endParaRPr lang="en-GB" dirty="0"/>
          </a:p>
        </p:txBody>
      </p:sp>
      <p:sp>
        <p:nvSpPr>
          <p:cNvPr id="4" name="Content Placeholder 2"/>
          <p:cNvSpPr txBox="1">
            <a:spLocks/>
          </p:cNvSpPr>
          <p:nvPr/>
        </p:nvSpPr>
        <p:spPr>
          <a:xfrm>
            <a:off x="348006" y="4278165"/>
            <a:ext cx="4082592" cy="2501278"/>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solidFill>
                  <a:srgbClr val="07E073"/>
                </a:solidFill>
                <a:latin typeface="LEMON MILK" panose="00000500000000000000" pitchFamily="50" charset="0"/>
              </a:rPr>
              <a:t>Constants</a:t>
            </a:r>
          </a:p>
          <a:p>
            <a:pPr marL="0" indent="0">
              <a:buNone/>
            </a:pPr>
            <a:r>
              <a:rPr lang="en-GB" dirty="0"/>
              <a:t>A named location in computer memory which holds a value. It must be given a name and data type. The value held does not change during program execution.</a:t>
            </a:r>
          </a:p>
          <a:p>
            <a:endParaRPr lang="en-GB" dirty="0"/>
          </a:p>
        </p:txBody>
      </p:sp>
      <p:sp>
        <p:nvSpPr>
          <p:cNvPr id="5" name="Rectangle 4"/>
          <p:cNvSpPr/>
          <p:nvPr/>
        </p:nvSpPr>
        <p:spPr>
          <a:xfrm>
            <a:off x="4722829" y="1244338"/>
            <a:ext cx="3075092" cy="1843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Both must be given a data type</a:t>
            </a:r>
          </a:p>
          <a:p>
            <a:pPr algn="ctr"/>
            <a:endParaRPr lang="en-GB" dirty="0">
              <a:latin typeface="LEMON MILK" panose="00000500000000000000" pitchFamily="50" charset="0"/>
            </a:endParaRPr>
          </a:p>
          <a:p>
            <a:r>
              <a:rPr lang="en-GB" dirty="0" err="1"/>
              <a:t>int</a:t>
            </a:r>
            <a:r>
              <a:rPr lang="en-GB" dirty="0"/>
              <a:t>		double</a:t>
            </a:r>
          </a:p>
          <a:p>
            <a:r>
              <a:rPr lang="en-GB" dirty="0"/>
              <a:t>string		char</a:t>
            </a:r>
          </a:p>
          <a:p>
            <a:r>
              <a:rPr lang="en-GB" dirty="0"/>
              <a:t>bool		</a:t>
            </a:r>
            <a:r>
              <a:rPr lang="en-GB" dirty="0" err="1"/>
              <a:t>datetime</a:t>
            </a:r>
            <a:endParaRPr lang="en-GB" dirty="0"/>
          </a:p>
        </p:txBody>
      </p:sp>
      <p:sp>
        <p:nvSpPr>
          <p:cNvPr id="6" name="Rectangle 5"/>
          <p:cNvSpPr/>
          <p:nvPr/>
        </p:nvSpPr>
        <p:spPr>
          <a:xfrm>
            <a:off x="8090152" y="1244338"/>
            <a:ext cx="3817473" cy="184375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LEMON MILK" panose="00000500000000000000" pitchFamily="50" charset="0"/>
              </a:rPr>
              <a:t>Both must be given a NAME</a:t>
            </a:r>
          </a:p>
          <a:p>
            <a:r>
              <a:rPr lang="en-GB" dirty="0"/>
              <a:t>We use </a:t>
            </a:r>
            <a:r>
              <a:rPr lang="en-GB" dirty="0" err="1"/>
              <a:t>camelCase</a:t>
            </a:r>
            <a:r>
              <a:rPr lang="en-GB" dirty="0"/>
              <a:t> when naming:</a:t>
            </a:r>
          </a:p>
          <a:p>
            <a:pPr marL="285750" indent="-285750">
              <a:buFont typeface="Arial" panose="020B0604020202020204" pitchFamily="34" charset="0"/>
              <a:buChar char="•"/>
            </a:pPr>
            <a:r>
              <a:rPr lang="en-GB" dirty="0"/>
              <a:t>Starts with a lower case letter</a:t>
            </a:r>
          </a:p>
          <a:p>
            <a:pPr marL="285750" indent="-285750">
              <a:buFont typeface="Arial" panose="020B0604020202020204" pitchFamily="34" charset="0"/>
              <a:buChar char="•"/>
            </a:pPr>
            <a:r>
              <a:rPr lang="en-GB" dirty="0"/>
              <a:t>No spaces, instead we capitalise each new word.</a:t>
            </a:r>
          </a:p>
          <a:p>
            <a:pPr marL="285750" indent="-285750">
              <a:buFont typeface="Arial" panose="020B0604020202020204" pitchFamily="34" charset="0"/>
              <a:buChar char="•"/>
            </a:pPr>
            <a:endParaRPr lang="en-GB" dirty="0"/>
          </a:p>
        </p:txBody>
      </p:sp>
      <p:pic>
        <p:nvPicPr>
          <p:cNvPr id="10" name="Picture 9"/>
          <p:cNvPicPr>
            <a:picLocks noChangeAspect="1"/>
          </p:cNvPicPr>
          <p:nvPr/>
        </p:nvPicPr>
        <p:blipFill>
          <a:blip r:embed="rId2"/>
          <a:stretch>
            <a:fillRect/>
          </a:stretch>
        </p:blipFill>
        <p:spPr>
          <a:xfrm>
            <a:off x="5526418" y="4551827"/>
            <a:ext cx="3219899" cy="523948"/>
          </a:xfrm>
          <a:prstGeom prst="rect">
            <a:avLst/>
          </a:prstGeom>
        </p:spPr>
      </p:pic>
      <p:sp>
        <p:nvSpPr>
          <p:cNvPr id="12" name="Content Placeholder 2"/>
          <p:cNvSpPr txBox="1">
            <a:spLocks/>
          </p:cNvSpPr>
          <p:nvPr/>
        </p:nvSpPr>
        <p:spPr>
          <a:xfrm>
            <a:off x="5338093" y="3501968"/>
            <a:ext cx="3408224" cy="1009015"/>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GB" sz="2000" dirty="0">
                <a:solidFill>
                  <a:srgbClr val="07E073"/>
                </a:solidFill>
              </a:rPr>
              <a:t>The Syntax</a:t>
            </a:r>
          </a:p>
          <a:p>
            <a:pPr marL="0" indent="0" algn="ctr">
              <a:buFont typeface="Arial" panose="020B0604020202020204" pitchFamily="34" charset="0"/>
              <a:buNone/>
            </a:pPr>
            <a:r>
              <a:rPr lang="en-GB" sz="2000" dirty="0">
                <a:solidFill>
                  <a:srgbClr val="07E073"/>
                </a:solidFill>
              </a:rPr>
              <a:t>To create a variable, follow this pattern:</a:t>
            </a:r>
          </a:p>
        </p:txBody>
      </p:sp>
      <p:grpSp>
        <p:nvGrpSpPr>
          <p:cNvPr id="13" name="Group 12"/>
          <p:cNvGrpSpPr/>
          <p:nvPr/>
        </p:nvGrpSpPr>
        <p:grpSpPr>
          <a:xfrm>
            <a:off x="5221669" y="4532855"/>
            <a:ext cx="1373850" cy="1417228"/>
            <a:chOff x="2134120" y="3366531"/>
            <a:chExt cx="2747702" cy="1417228"/>
          </a:xfrm>
        </p:grpSpPr>
        <p:sp>
          <p:nvSpPr>
            <p:cNvPr id="14" name="Rounded Rectangle 13"/>
            <p:cNvSpPr/>
            <p:nvPr/>
          </p:nvSpPr>
          <p:spPr>
            <a:xfrm>
              <a:off x="2785600" y="3366531"/>
              <a:ext cx="1445578" cy="523948"/>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5" name="Straight Connector 14"/>
            <p:cNvCxnSpPr>
              <a:stCxn id="14" idx="2"/>
            </p:cNvCxnSpPr>
            <p:nvPr/>
          </p:nvCxnSpPr>
          <p:spPr>
            <a:xfrm flipH="1">
              <a:off x="3507971" y="3890479"/>
              <a:ext cx="418" cy="44876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2134120" y="4414427"/>
              <a:ext cx="2747702" cy="369332"/>
            </a:xfrm>
            <a:prstGeom prst="rect">
              <a:avLst/>
            </a:prstGeom>
            <a:noFill/>
          </p:spPr>
          <p:txBody>
            <a:bodyPr wrap="square" rtlCol="0">
              <a:spAutoFit/>
            </a:bodyPr>
            <a:lstStyle/>
            <a:p>
              <a:pPr algn="ctr"/>
              <a:r>
                <a:rPr lang="en-GB" dirty="0">
                  <a:solidFill>
                    <a:srgbClr val="07E073"/>
                  </a:solidFill>
                </a:rPr>
                <a:t>data type</a:t>
              </a:r>
            </a:p>
          </p:txBody>
        </p:sp>
      </p:grpSp>
      <p:grpSp>
        <p:nvGrpSpPr>
          <p:cNvPr id="17" name="Group 16"/>
          <p:cNvGrpSpPr/>
          <p:nvPr/>
        </p:nvGrpSpPr>
        <p:grpSpPr>
          <a:xfrm>
            <a:off x="6290980" y="4532855"/>
            <a:ext cx="1216690" cy="1943607"/>
            <a:chOff x="2743618" y="2460444"/>
            <a:chExt cx="1528705" cy="1943607"/>
          </a:xfrm>
        </p:grpSpPr>
        <p:sp>
          <p:nvSpPr>
            <p:cNvPr id="18" name="Rounded Rectangle 17"/>
            <p:cNvSpPr/>
            <p:nvPr/>
          </p:nvSpPr>
          <p:spPr>
            <a:xfrm>
              <a:off x="2785600" y="2460444"/>
              <a:ext cx="1445578" cy="523948"/>
            </a:xfrm>
            <a:prstGeom prst="roundRect">
              <a:avLst/>
            </a:prstGeom>
            <a:no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9" name="Straight Connector 18"/>
            <p:cNvCxnSpPr>
              <a:stCxn id="18" idx="2"/>
            </p:cNvCxnSpPr>
            <p:nvPr/>
          </p:nvCxnSpPr>
          <p:spPr>
            <a:xfrm>
              <a:off x="3508389" y="2984392"/>
              <a:ext cx="1" cy="753450"/>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2743618" y="3757720"/>
              <a:ext cx="1528705" cy="646331"/>
            </a:xfrm>
            <a:prstGeom prst="rect">
              <a:avLst/>
            </a:prstGeom>
            <a:noFill/>
            <a:ln>
              <a:noFill/>
            </a:ln>
          </p:spPr>
          <p:txBody>
            <a:bodyPr wrap="square" rtlCol="0">
              <a:spAutoFit/>
            </a:bodyPr>
            <a:lstStyle/>
            <a:p>
              <a:pPr algn="ctr"/>
              <a:r>
                <a:rPr lang="en-GB" dirty="0">
                  <a:solidFill>
                    <a:srgbClr val="07E073"/>
                  </a:solidFill>
                </a:rPr>
                <a:t>variable name</a:t>
              </a:r>
            </a:p>
          </p:txBody>
        </p:sp>
      </p:grpSp>
      <p:grpSp>
        <p:nvGrpSpPr>
          <p:cNvPr id="21" name="Group 20"/>
          <p:cNvGrpSpPr/>
          <p:nvPr/>
        </p:nvGrpSpPr>
        <p:grpSpPr>
          <a:xfrm>
            <a:off x="7565076" y="4532855"/>
            <a:ext cx="1114688" cy="2281750"/>
            <a:chOff x="2267262" y="2460444"/>
            <a:chExt cx="2481418" cy="2281750"/>
          </a:xfrm>
        </p:grpSpPr>
        <p:sp>
          <p:nvSpPr>
            <p:cNvPr id="22" name="Rounded Rectangle 21"/>
            <p:cNvSpPr/>
            <p:nvPr/>
          </p:nvSpPr>
          <p:spPr>
            <a:xfrm>
              <a:off x="2785600" y="2460444"/>
              <a:ext cx="1445578" cy="523948"/>
            </a:xfrm>
            <a:prstGeom prst="roundRect">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3" name="Straight Connector 22"/>
            <p:cNvCxnSpPr>
              <a:stCxn id="22" idx="2"/>
            </p:cNvCxnSpPr>
            <p:nvPr/>
          </p:nvCxnSpPr>
          <p:spPr>
            <a:xfrm>
              <a:off x="3508390" y="2984392"/>
              <a:ext cx="0" cy="136068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2267262" y="4372862"/>
              <a:ext cx="2481418" cy="369332"/>
            </a:xfrm>
            <a:prstGeom prst="rect">
              <a:avLst/>
            </a:prstGeom>
            <a:noFill/>
            <a:ln>
              <a:noFill/>
            </a:ln>
          </p:spPr>
          <p:txBody>
            <a:bodyPr wrap="square" rtlCol="0">
              <a:spAutoFit/>
            </a:bodyPr>
            <a:lstStyle/>
            <a:p>
              <a:pPr algn="ctr"/>
              <a:r>
                <a:rPr lang="en-GB" dirty="0">
                  <a:solidFill>
                    <a:srgbClr val="07E073"/>
                  </a:solidFill>
                </a:rPr>
                <a:t>value</a:t>
              </a:r>
            </a:p>
          </p:txBody>
        </p:sp>
      </p:grpSp>
      <p:sp>
        <p:nvSpPr>
          <p:cNvPr id="25" name="Rounded Rectangle 24"/>
          <p:cNvSpPr/>
          <p:nvPr/>
        </p:nvSpPr>
        <p:spPr>
          <a:xfrm>
            <a:off x="8980649" y="5386238"/>
            <a:ext cx="3179273" cy="1393205"/>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1600" b="1" dirty="0">
                <a:solidFill>
                  <a:srgbClr val="FFFF00"/>
                </a:solidFill>
                <a:sym typeface="Wingdings" panose="05000000000000000000" pitchFamily="2" charset="2"/>
              </a:rPr>
              <a:t>🏴󠁢󠁳󠁢󠁰󠁿</a:t>
            </a:r>
            <a:r>
              <a:rPr lang="en-GB" sz="1600" dirty="0"/>
              <a:t> Remember</a:t>
            </a:r>
          </a:p>
          <a:p>
            <a:r>
              <a:rPr lang="en-GB" sz="1600" dirty="0"/>
              <a:t>Don’t forget the semicolon (;) at the end of the statement. It tells the computer the instruction is finished.</a:t>
            </a:r>
          </a:p>
        </p:txBody>
      </p:sp>
      <p:grpSp>
        <p:nvGrpSpPr>
          <p:cNvPr id="27" name="Group 26"/>
          <p:cNvGrpSpPr/>
          <p:nvPr/>
        </p:nvGrpSpPr>
        <p:grpSpPr>
          <a:xfrm>
            <a:off x="10016277" y="2445039"/>
            <a:ext cx="1151006" cy="1230781"/>
            <a:chOff x="9705582" y="1265142"/>
            <a:chExt cx="1151006" cy="1230781"/>
          </a:xfrm>
        </p:grpSpPr>
        <p:sp>
          <p:nvSpPr>
            <p:cNvPr id="28" name="TextBox 27"/>
            <p:cNvSpPr txBox="1"/>
            <p:nvPr/>
          </p:nvSpPr>
          <p:spPr>
            <a:xfrm rot="587541">
              <a:off x="9705582" y="1265142"/>
              <a:ext cx="1151006" cy="830997"/>
            </a:xfrm>
            <a:prstGeom prst="rect">
              <a:avLst/>
            </a:prstGeom>
            <a:noFill/>
          </p:spPr>
          <p:txBody>
            <a:bodyPr wrap="square" rtlCol="0">
              <a:spAutoFit/>
            </a:bodyPr>
            <a:lstStyle/>
            <a:p>
              <a:pPr algn="ctr"/>
              <a:r>
                <a:rPr lang="en-GB" sz="4800" dirty="0">
                  <a:effectLst>
                    <a:glow rad="101600">
                      <a:schemeClr val="bg1">
                        <a:alpha val="60000"/>
                      </a:schemeClr>
                    </a:glow>
                  </a:effectLst>
                  <a:latin typeface="LEMON MILK" panose="00000500000000000000" pitchFamily="50" charset="0"/>
                </a:rPr>
                <a:t>50</a:t>
              </a:r>
            </a:p>
          </p:txBody>
        </p:sp>
        <p:sp>
          <p:nvSpPr>
            <p:cNvPr id="29" name="Down Arrow 28"/>
            <p:cNvSpPr/>
            <p:nvPr/>
          </p:nvSpPr>
          <p:spPr>
            <a:xfrm>
              <a:off x="10125075" y="1975513"/>
              <a:ext cx="289862" cy="520410"/>
            </a:xfrm>
            <a:prstGeom prst="downArrow">
              <a:avLst/>
            </a:prstGeom>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GB"/>
            </a:p>
          </p:txBody>
        </p:sp>
      </p:grpSp>
      <p:grpSp>
        <p:nvGrpSpPr>
          <p:cNvPr id="7" name="Group 6"/>
          <p:cNvGrpSpPr/>
          <p:nvPr/>
        </p:nvGrpSpPr>
        <p:grpSpPr>
          <a:xfrm>
            <a:off x="9107502" y="3730204"/>
            <a:ext cx="3052420" cy="1767045"/>
            <a:chOff x="8796807" y="2550307"/>
            <a:chExt cx="3052420" cy="1767045"/>
          </a:xfrm>
        </p:grpSpPr>
        <p:pic>
          <p:nvPicPr>
            <p:cNvPr id="8" name="Picture 2" descr="Box Clip Art - Box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80648" y="2550307"/>
              <a:ext cx="2868579" cy="1767045"/>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8796807" y="3698298"/>
              <a:ext cx="2069862" cy="461665"/>
            </a:xfrm>
            <a:prstGeom prst="rect">
              <a:avLst/>
            </a:prstGeom>
            <a:noFill/>
          </p:spPr>
          <p:txBody>
            <a:bodyPr wrap="square" rtlCol="0">
              <a:spAutoFit/>
              <a:scene3d>
                <a:camera prst="isometricOffAxis2Left">
                  <a:rot lat="1080000" lon="600000" rev="0"/>
                </a:camera>
                <a:lightRig rig="threePt" dir="t"/>
              </a:scene3d>
            </a:bodyPr>
            <a:lstStyle/>
            <a:p>
              <a:pPr algn="ctr"/>
              <a:r>
                <a:rPr lang="en-GB" sz="2400" dirty="0">
                  <a:latin typeface="Agency FB" panose="020B0503020202020204" pitchFamily="34" charset="0"/>
                </a:rPr>
                <a:t>[int]</a:t>
              </a:r>
            </a:p>
          </p:txBody>
        </p:sp>
      </p:grpSp>
      <p:sp>
        <p:nvSpPr>
          <p:cNvPr id="26" name="TextBox 25"/>
          <p:cNvSpPr txBox="1"/>
          <p:nvPr/>
        </p:nvSpPr>
        <p:spPr>
          <a:xfrm>
            <a:off x="9166079" y="4459727"/>
            <a:ext cx="2069862" cy="461665"/>
          </a:xfrm>
          <a:prstGeom prst="rect">
            <a:avLst/>
          </a:prstGeom>
          <a:noFill/>
        </p:spPr>
        <p:txBody>
          <a:bodyPr wrap="square" rtlCol="0">
            <a:spAutoFit/>
            <a:scene3d>
              <a:camera prst="isometricOffAxis2Left">
                <a:rot lat="1080000" lon="600000" rev="0"/>
              </a:camera>
              <a:lightRig rig="threePt" dir="t"/>
            </a:scene3d>
          </a:bodyPr>
          <a:lstStyle/>
          <a:p>
            <a:pPr algn="ctr"/>
            <a:r>
              <a:rPr lang="en-GB" sz="2400" b="1" dirty="0"/>
              <a:t>score</a:t>
            </a:r>
          </a:p>
        </p:txBody>
      </p:sp>
    </p:spTree>
    <p:extLst>
      <p:ext uri="{BB962C8B-B14F-4D97-AF65-F5344CB8AC3E}">
        <p14:creationId xmlns:p14="http://schemas.microsoft.com/office/powerpoint/2010/main" val="3775383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childTnLst>
                          </p:cTn>
                        </p:par>
                        <p:par>
                          <p:cTn id="32" fill="hold">
                            <p:stCondLst>
                              <p:cond delay="500"/>
                            </p:stCondLst>
                            <p:childTnLst>
                              <p:par>
                                <p:cTn id="33" presetID="10" presetClass="entr" presetSubtype="0" fill="hold" nodeType="after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5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500"/>
                                        <p:tgtEl>
                                          <p:spTgt spid="13"/>
                                        </p:tgtEl>
                                      </p:cBhvr>
                                    </p:animEffect>
                                  </p:childTnLst>
                                </p:cTn>
                              </p:par>
                              <p:par>
                                <p:cTn id="41" presetID="10" presetClass="entr" presetSubtype="0" fill="hold" nodeType="with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500"/>
                                        <p:tgtEl>
                                          <p:spTgt spid="1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childTnLst>
                          </p:cTn>
                        </p:par>
                        <p:par>
                          <p:cTn id="57" fill="hold">
                            <p:stCondLst>
                              <p:cond delay="500"/>
                            </p:stCondLst>
                            <p:childTnLst>
                              <p:par>
                                <p:cTn id="58" presetID="10" presetClass="entr" presetSubtype="0" fill="hold" nodeType="after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childTnLst>
                          </p:cTn>
                        </p:par>
                        <p:par>
                          <p:cTn id="61" fill="hold">
                            <p:stCondLst>
                              <p:cond delay="1000"/>
                            </p:stCondLst>
                            <p:childTnLst>
                              <p:par>
                                <p:cTn id="62" presetID="42" presetClass="path" presetSubtype="0" accel="50000" decel="50000" fill="hold" nodeType="afterEffect">
                                  <p:stCondLst>
                                    <p:cond delay="0"/>
                                  </p:stCondLst>
                                  <p:childTnLst>
                                    <p:animMotion origin="layout" path="M 0 0 L 0 0.25 E" pathEditMode="relative" ptsTypes="">
                                      <p:cBhvr>
                                        <p:cTn id="63" dur="2000" fill="hold"/>
                                        <p:tgtEl>
                                          <p:spTgt spid="27"/>
                                        </p:tgtEl>
                                        <p:attrNameLst>
                                          <p:attrName>ppt_x</p:attrName>
                                          <p:attrName>ppt_y</p:attrName>
                                        </p:attrNameLst>
                                      </p:cBhvr>
                                    </p:animMotion>
                                  </p:childTnLst>
                                </p:cTn>
                              </p:par>
                              <p:par>
                                <p:cTn id="64" presetID="10" presetClass="exit" presetSubtype="0" fill="hold" nodeType="withEffect">
                                  <p:stCondLst>
                                    <p:cond delay="500"/>
                                  </p:stCondLst>
                                  <p:childTnLst>
                                    <p:animEffect transition="out" filter="fade">
                                      <p:cBhvr>
                                        <p:cTn id="65" dur="500"/>
                                        <p:tgtEl>
                                          <p:spTgt spid="27"/>
                                        </p:tgtEl>
                                      </p:cBhvr>
                                    </p:animEffect>
                                    <p:set>
                                      <p:cBhvr>
                                        <p:cTn id="66" dur="1" fill="hold">
                                          <p:stCondLst>
                                            <p:cond delay="499"/>
                                          </p:stCondLst>
                                        </p:cTn>
                                        <p:tgtEl>
                                          <p:spTgt spid="27"/>
                                        </p:tgtEl>
                                        <p:attrNameLst>
                                          <p:attrName>style.visibility</p:attrName>
                                        </p:attrNameLst>
                                      </p:cBhvr>
                                      <p:to>
                                        <p:strVal val="hidden"/>
                                      </p:to>
                                    </p:set>
                                  </p:childTnLst>
                                </p:cTn>
                              </p:par>
                            </p:childTnLst>
                          </p:cTn>
                        </p:par>
                        <p:par>
                          <p:cTn id="67" fill="hold">
                            <p:stCondLst>
                              <p:cond delay="3000"/>
                            </p:stCondLst>
                            <p:childTnLst>
                              <p:par>
                                <p:cTn id="68" presetID="10" presetClass="entr" presetSubtype="0" fill="hold" grpId="0" nodeType="after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5" grpId="0" animBg="1"/>
      <p:bldP spid="6" grpId="0" animBg="1"/>
      <p:bldP spid="12" grpId="0"/>
      <p:bldP spid="25" grpId="0" animBg="1"/>
      <p:bldP spid="26" grpId="0"/>
    </p:bldLst>
  </p:timing>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0" y="0"/>
            <a:ext cx="10515600" cy="1325563"/>
          </a:xfrm>
        </p:spPr>
        <p:txBody>
          <a:bodyPr/>
          <a:lstStyle/>
          <a:p>
            <a:r>
              <a:rPr lang="en-GB" dirty="0">
                <a:solidFill>
                  <a:schemeClr val="tx1"/>
                </a:solidFill>
              </a:rPr>
              <a:t>Fix the code</a:t>
            </a:r>
          </a:p>
        </p:txBody>
      </p:sp>
      <p:pic>
        <p:nvPicPr>
          <p:cNvPr id="5" name="Content Placeholder 5"/>
          <p:cNvPicPr>
            <a:picLocks noGrp="1" noChangeAspect="1"/>
          </p:cNvPicPr>
          <p:nvPr>
            <p:ph idx="1"/>
          </p:nvPr>
        </p:nvPicPr>
        <p:blipFill>
          <a:blip r:embed="rId2"/>
          <a:stretch>
            <a:fillRect/>
          </a:stretch>
        </p:blipFill>
        <p:spPr>
          <a:xfrm>
            <a:off x="2737668" y="2730469"/>
            <a:ext cx="6068272" cy="2724530"/>
          </a:xfrm>
          <a:prstGeom prst="rect">
            <a:avLst/>
          </a:prstGeom>
        </p:spPr>
      </p:pic>
      <p:sp>
        <p:nvSpPr>
          <p:cNvPr id="6" name="Content Placeholder 2"/>
          <p:cNvSpPr txBox="1">
            <a:spLocks/>
          </p:cNvSpPr>
          <p:nvPr/>
        </p:nvSpPr>
        <p:spPr>
          <a:xfrm>
            <a:off x="838200" y="1301923"/>
            <a:ext cx="10515600" cy="100901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Below is a screenshot of Tom, who is trying to declare three variables.</a:t>
            </a:r>
          </a:p>
          <a:p>
            <a:pPr marL="0" indent="0">
              <a:buFont typeface="Arial" panose="020B0604020202020204" pitchFamily="34" charset="0"/>
              <a:buNone/>
            </a:pPr>
            <a:r>
              <a:rPr lang="en-GB" dirty="0"/>
              <a:t>Correct the code by entering in a suitable data type for each variable</a:t>
            </a:r>
          </a:p>
        </p:txBody>
      </p:sp>
      <p:sp>
        <p:nvSpPr>
          <p:cNvPr id="7" name="Rounded Rectangle 6"/>
          <p:cNvSpPr/>
          <p:nvPr/>
        </p:nvSpPr>
        <p:spPr>
          <a:xfrm>
            <a:off x="8012082" y="5174703"/>
            <a:ext cx="3931920" cy="1393205"/>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Remember</a:t>
            </a:r>
          </a:p>
          <a:p>
            <a:r>
              <a:rPr lang="en-GB" dirty="0"/>
              <a:t>Declaring variables always start with stating the data type first! i.e.</a:t>
            </a:r>
          </a:p>
          <a:p>
            <a:pPr algn="ctr"/>
            <a:r>
              <a:rPr lang="en-GB" dirty="0">
                <a:solidFill>
                  <a:srgbClr val="FFFF00"/>
                </a:solidFill>
              </a:rPr>
              <a:t>int age = 41;</a:t>
            </a:r>
          </a:p>
        </p:txBody>
      </p:sp>
    </p:spTree>
    <p:extLst>
      <p:ext uri="{BB962C8B-B14F-4D97-AF65-F5344CB8AC3E}">
        <p14:creationId xmlns:p14="http://schemas.microsoft.com/office/powerpoint/2010/main" val="40654620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p:cNvSpPr>
            <a:spLocks noGrp="1"/>
          </p:cNvSpPr>
          <p:nvPr>
            <p:ph type="title"/>
          </p:nvPr>
        </p:nvSpPr>
        <p:spPr>
          <a:xfrm>
            <a:off x="838200" y="365125"/>
            <a:ext cx="10515600" cy="1325563"/>
          </a:xfrm>
        </p:spPr>
        <p:txBody>
          <a:bodyPr/>
          <a:lstStyle/>
          <a:p>
            <a:r>
              <a:rPr lang="en-GB" dirty="0">
                <a:solidFill>
                  <a:schemeClr val="tx1"/>
                </a:solidFill>
              </a:rPr>
              <a:t>Displaying Your Data</a:t>
            </a:r>
          </a:p>
        </p:txBody>
      </p:sp>
      <p:sp>
        <p:nvSpPr>
          <p:cNvPr id="5" name="Content Placeholder 2"/>
          <p:cNvSpPr>
            <a:spLocks noGrp="1"/>
          </p:cNvSpPr>
          <p:nvPr>
            <p:ph idx="1"/>
          </p:nvPr>
        </p:nvSpPr>
        <p:spPr>
          <a:xfrm>
            <a:off x="838200" y="1825625"/>
            <a:ext cx="10515600" cy="4351338"/>
          </a:xfrm>
        </p:spPr>
        <p:txBody>
          <a:bodyPr/>
          <a:lstStyle/>
          <a:p>
            <a:pPr marL="0" indent="0">
              <a:buNone/>
            </a:pPr>
            <a:r>
              <a:rPr lang="en-GB" dirty="0">
                <a:solidFill>
                  <a:schemeClr val="tx1"/>
                </a:solidFill>
              </a:rPr>
              <a:t>Console.WriteLine()</a:t>
            </a:r>
          </a:p>
          <a:p>
            <a:pPr marL="0" indent="0">
              <a:buNone/>
            </a:pPr>
            <a:r>
              <a:rPr lang="en-GB" dirty="0">
                <a:solidFill>
                  <a:schemeClr val="tx1"/>
                </a:solidFill>
              </a:rPr>
              <a:t>You can combine text and variables using the + symbol (this is called concatenation).</a:t>
            </a:r>
          </a:p>
          <a:p>
            <a:pPr marL="0" indent="0">
              <a:buNone/>
            </a:pPr>
            <a:r>
              <a:rPr lang="en-GB" dirty="0">
                <a:solidFill>
                  <a:schemeClr val="tx1"/>
                </a:solidFill>
              </a:rPr>
              <a:t>If the variable is declared as</a:t>
            </a:r>
          </a:p>
          <a:p>
            <a:pPr marL="0" indent="0">
              <a:buNone/>
            </a:pPr>
            <a:endParaRPr lang="en-GB" dirty="0">
              <a:solidFill>
                <a:schemeClr val="tx1"/>
              </a:solidFill>
            </a:endParaRPr>
          </a:p>
          <a:p>
            <a:pPr marL="0" indent="0">
              <a:buNone/>
            </a:pPr>
            <a:r>
              <a:rPr lang="en-GB" dirty="0">
                <a:solidFill>
                  <a:schemeClr val="tx1"/>
                </a:solidFill>
              </a:rPr>
              <a:t>Writing</a:t>
            </a:r>
          </a:p>
          <a:p>
            <a:pPr marL="0" indent="0">
              <a:buNone/>
            </a:pPr>
            <a:endParaRPr lang="en-GB" dirty="0">
              <a:solidFill>
                <a:schemeClr val="tx1"/>
              </a:solidFill>
            </a:endParaRPr>
          </a:p>
          <a:p>
            <a:pPr marL="0" indent="0">
              <a:buNone/>
            </a:pPr>
            <a:r>
              <a:rPr lang="en-GB" dirty="0">
                <a:solidFill>
                  <a:schemeClr val="tx1"/>
                </a:solidFill>
              </a:rPr>
              <a:t>Will output</a:t>
            </a:r>
          </a:p>
          <a:p>
            <a:pPr marL="0" indent="0">
              <a:buNone/>
            </a:pPr>
            <a:endParaRPr lang="en-GB" dirty="0">
              <a:solidFill>
                <a:schemeClr val="tx1"/>
              </a:solidFill>
            </a:endParaRPr>
          </a:p>
          <a:p>
            <a:pPr marL="0" indent="0">
              <a:buNone/>
            </a:pPr>
            <a:endParaRPr lang="en-GB" dirty="0">
              <a:solidFill>
                <a:schemeClr val="tx1"/>
              </a:solidFill>
            </a:endParaRPr>
          </a:p>
          <a:p>
            <a:pPr marL="0" indent="0">
              <a:buNone/>
            </a:pPr>
            <a:endParaRPr lang="en-GB" dirty="0">
              <a:solidFill>
                <a:schemeClr val="tx1"/>
              </a:solidFill>
            </a:endParaRPr>
          </a:p>
          <a:p>
            <a:pPr marL="0" indent="0">
              <a:buNone/>
            </a:pPr>
            <a:endParaRPr lang="en-GB" dirty="0">
              <a:solidFill>
                <a:schemeClr val="tx1"/>
              </a:solidFill>
            </a:endParaRPr>
          </a:p>
        </p:txBody>
      </p:sp>
      <p:pic>
        <p:nvPicPr>
          <p:cNvPr id="6" name="Picture 5"/>
          <p:cNvPicPr>
            <a:picLocks noChangeAspect="1"/>
          </p:cNvPicPr>
          <p:nvPr/>
        </p:nvPicPr>
        <p:blipFill>
          <a:blip r:embed="rId2"/>
          <a:stretch>
            <a:fillRect/>
          </a:stretch>
        </p:blipFill>
        <p:spPr>
          <a:xfrm>
            <a:off x="2576020" y="3778523"/>
            <a:ext cx="7059010" cy="638264"/>
          </a:xfrm>
          <a:prstGeom prst="rect">
            <a:avLst/>
          </a:prstGeom>
        </p:spPr>
      </p:pic>
      <p:pic>
        <p:nvPicPr>
          <p:cNvPr id="7" name="Picture 6"/>
          <p:cNvPicPr>
            <a:picLocks noChangeAspect="1"/>
          </p:cNvPicPr>
          <p:nvPr/>
        </p:nvPicPr>
        <p:blipFill>
          <a:blip r:embed="rId3"/>
          <a:stretch>
            <a:fillRect/>
          </a:stretch>
        </p:blipFill>
        <p:spPr>
          <a:xfrm>
            <a:off x="2028439" y="4720534"/>
            <a:ext cx="8002117" cy="562053"/>
          </a:xfrm>
          <a:prstGeom prst="rect">
            <a:avLst/>
          </a:prstGeom>
        </p:spPr>
      </p:pic>
      <p:pic>
        <p:nvPicPr>
          <p:cNvPr id="8" name="Picture 7"/>
          <p:cNvPicPr>
            <a:picLocks noChangeAspect="1"/>
          </p:cNvPicPr>
          <p:nvPr/>
        </p:nvPicPr>
        <p:blipFill>
          <a:blip r:embed="rId4"/>
          <a:stretch>
            <a:fillRect/>
          </a:stretch>
        </p:blipFill>
        <p:spPr>
          <a:xfrm>
            <a:off x="3185387" y="5850211"/>
            <a:ext cx="5157960" cy="659074"/>
          </a:xfrm>
          <a:prstGeom prst="rect">
            <a:avLst/>
          </a:prstGeom>
        </p:spPr>
      </p:pic>
    </p:spTree>
    <p:extLst>
      <p:ext uri="{BB962C8B-B14F-4D97-AF65-F5344CB8AC3E}">
        <p14:creationId xmlns:p14="http://schemas.microsoft.com/office/powerpoint/2010/main" val="498563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animEffect transition="in" filter="fade">
                                      <p:cBhvr>
                                        <p:cTn id="7" dur="500"/>
                                        <p:tgtEl>
                                          <p:spTgt spid="5">
                                            <p:txEl>
                                              <p:pRg st="2" end="2"/>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500"/>
                                        <p:tgtEl>
                                          <p:spTgt spid="6"/>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4" end="4"/>
                                            </p:txEl>
                                          </p:spTgt>
                                        </p:tgtEl>
                                        <p:attrNameLst>
                                          <p:attrName>style.visibility</p:attrName>
                                        </p:attrNameLst>
                                      </p:cBhvr>
                                      <p:to>
                                        <p:strVal val="visible"/>
                                      </p:to>
                                    </p:set>
                                    <p:animEffect transition="in" filter="fade">
                                      <p:cBhvr>
                                        <p:cTn id="16" dur="500"/>
                                        <p:tgtEl>
                                          <p:spTgt spid="5">
                                            <p:txEl>
                                              <p:pRg st="4" end="4"/>
                                            </p:txEl>
                                          </p:spTgt>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5">
                                            <p:txEl>
                                              <p:pRg st="6" end="6"/>
                                            </p:txEl>
                                          </p:spTgt>
                                        </p:tgtEl>
                                        <p:attrNameLst>
                                          <p:attrName>style.visibility</p:attrName>
                                        </p:attrNameLst>
                                      </p:cBhvr>
                                      <p:to>
                                        <p:strVal val="visible"/>
                                      </p:to>
                                    </p:set>
                                    <p:animEffect transition="in" filter="fade">
                                      <p:cBhvr>
                                        <p:cTn id="25" dur="500"/>
                                        <p:tgtEl>
                                          <p:spTgt spid="5">
                                            <p:txEl>
                                              <p:pRg st="6" end="6"/>
                                            </p:txEl>
                                          </p:spTgt>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p:nvPr>
        </p:nvSpPr>
        <p:spPr>
          <a:xfrm>
            <a:off x="165100" y="365125"/>
            <a:ext cx="11823700" cy="1325563"/>
          </a:xfrm>
        </p:spPr>
        <p:txBody>
          <a:bodyPr/>
          <a:lstStyle/>
          <a:p>
            <a:r>
              <a:rPr lang="en-GB" dirty="0">
                <a:solidFill>
                  <a:schemeClr val="tx1"/>
                </a:solidFill>
              </a:rPr>
              <a:t>Coding Challenge: Digital ID Card</a:t>
            </a:r>
          </a:p>
        </p:txBody>
      </p:sp>
      <p:sp>
        <p:nvSpPr>
          <p:cNvPr id="10" name="Content Placeholder 2"/>
          <p:cNvSpPr>
            <a:spLocks noGrp="1"/>
          </p:cNvSpPr>
          <p:nvPr>
            <p:ph idx="1"/>
          </p:nvPr>
        </p:nvSpPr>
        <p:spPr>
          <a:xfrm>
            <a:off x="838200" y="1825625"/>
            <a:ext cx="10515600" cy="4351338"/>
          </a:xfrm>
        </p:spPr>
        <p:txBody>
          <a:bodyPr/>
          <a:lstStyle/>
          <a:p>
            <a:pPr marL="0" indent="0">
              <a:buNone/>
            </a:pPr>
            <a:r>
              <a:rPr lang="en-GB" dirty="0">
                <a:solidFill>
                  <a:schemeClr val="tx1"/>
                </a:solidFill>
              </a:rPr>
              <a:t>The Task</a:t>
            </a:r>
          </a:p>
          <a:p>
            <a:pPr marL="0" indent="0">
              <a:buNone/>
            </a:pPr>
            <a:r>
              <a:rPr lang="en-GB" dirty="0">
                <a:solidFill>
                  <a:schemeClr val="tx1"/>
                </a:solidFill>
              </a:rPr>
              <a:t>Write a program storing profile information in variables, then print it.</a:t>
            </a:r>
          </a:p>
        </p:txBody>
      </p:sp>
      <p:sp>
        <p:nvSpPr>
          <p:cNvPr id="11" name="Rounded Rectangle 10"/>
          <p:cNvSpPr/>
          <p:nvPr/>
        </p:nvSpPr>
        <p:spPr>
          <a:xfrm>
            <a:off x="608272" y="4557069"/>
            <a:ext cx="4165023" cy="1750558"/>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Example</a:t>
            </a:r>
          </a:p>
          <a:p>
            <a:r>
              <a:rPr lang="en-GB" dirty="0"/>
              <a:t>Goal Output:</a:t>
            </a:r>
          </a:p>
          <a:p>
            <a:r>
              <a:rPr lang="en-GB" dirty="0">
                <a:solidFill>
                  <a:srgbClr val="FFFF00"/>
                </a:solidFill>
              </a:rPr>
              <a:t>	My Name is </a:t>
            </a:r>
            <a:r>
              <a:rPr lang="en-GB" dirty="0">
                <a:solidFill>
                  <a:srgbClr val="00B0F0"/>
                </a:solidFill>
              </a:rPr>
              <a:t>Alex</a:t>
            </a:r>
            <a:r>
              <a:rPr lang="en-GB" dirty="0">
                <a:solidFill>
                  <a:srgbClr val="FFFF00"/>
                </a:solidFill>
              </a:rPr>
              <a:t>.</a:t>
            </a:r>
          </a:p>
          <a:p>
            <a:r>
              <a:rPr lang="en-GB" dirty="0">
                <a:solidFill>
                  <a:srgbClr val="FFFF00"/>
                </a:solidFill>
              </a:rPr>
              <a:t>	I am </a:t>
            </a:r>
            <a:r>
              <a:rPr lang="en-GB" dirty="0">
                <a:solidFill>
                  <a:srgbClr val="00B0F0"/>
                </a:solidFill>
              </a:rPr>
              <a:t>15</a:t>
            </a:r>
            <a:r>
              <a:rPr lang="en-GB" dirty="0">
                <a:solidFill>
                  <a:srgbClr val="FFFF00"/>
                </a:solidFill>
              </a:rPr>
              <a:t> years old.</a:t>
            </a:r>
          </a:p>
          <a:p>
            <a:r>
              <a:rPr lang="en-GB" dirty="0">
                <a:solidFill>
                  <a:srgbClr val="FFFF00"/>
                </a:solidFill>
              </a:rPr>
              <a:t>	I am </a:t>
            </a:r>
            <a:r>
              <a:rPr lang="en-GB" dirty="0">
                <a:solidFill>
                  <a:srgbClr val="00B0F0"/>
                </a:solidFill>
              </a:rPr>
              <a:t>1.8</a:t>
            </a:r>
            <a:r>
              <a:rPr lang="en-GB" dirty="0">
                <a:solidFill>
                  <a:srgbClr val="FFFF00"/>
                </a:solidFill>
              </a:rPr>
              <a:t>m tall.</a:t>
            </a:r>
          </a:p>
          <a:p>
            <a:r>
              <a:rPr lang="en-GB" dirty="0">
                <a:solidFill>
                  <a:srgbClr val="FFFF00"/>
                </a:solidFill>
              </a:rPr>
              <a:t>	My Favourite sport is </a:t>
            </a:r>
            <a:r>
              <a:rPr lang="en-GB" dirty="0">
                <a:solidFill>
                  <a:srgbClr val="00B0F0"/>
                </a:solidFill>
              </a:rPr>
              <a:t>Rugby</a:t>
            </a:r>
            <a:r>
              <a:rPr lang="en-GB" dirty="0">
                <a:solidFill>
                  <a:srgbClr val="FFFF00"/>
                </a:solidFill>
              </a:rPr>
              <a:t>.</a:t>
            </a:r>
            <a:endParaRPr lang="en-GB" dirty="0">
              <a:solidFill>
                <a:srgbClr val="00B0F0"/>
              </a:solidFill>
            </a:endParaRPr>
          </a:p>
        </p:txBody>
      </p:sp>
      <p:sp>
        <p:nvSpPr>
          <p:cNvPr id="12" name="Rounded Rectangle 11"/>
          <p:cNvSpPr/>
          <p:nvPr/>
        </p:nvSpPr>
        <p:spPr>
          <a:xfrm>
            <a:off x="6568612" y="4829185"/>
            <a:ext cx="5180216" cy="1843857"/>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Extension</a:t>
            </a:r>
          </a:p>
          <a:p>
            <a:r>
              <a:rPr lang="en-GB" dirty="0"/>
              <a:t>Goal Output:</a:t>
            </a:r>
          </a:p>
          <a:p>
            <a:r>
              <a:rPr lang="en-GB" dirty="0">
                <a:solidFill>
                  <a:srgbClr val="FFFF00"/>
                </a:solidFill>
              </a:rPr>
              <a:t>	My Name is </a:t>
            </a:r>
            <a:r>
              <a:rPr lang="en-GB" dirty="0">
                <a:solidFill>
                  <a:srgbClr val="00B0F0"/>
                </a:solidFill>
              </a:rPr>
              <a:t>Alex</a:t>
            </a:r>
            <a:r>
              <a:rPr lang="en-GB" dirty="0">
                <a:solidFill>
                  <a:srgbClr val="FFFF00"/>
                </a:solidFill>
              </a:rPr>
              <a:t>.</a:t>
            </a:r>
          </a:p>
          <a:p>
            <a:r>
              <a:rPr lang="en-GB" dirty="0">
                <a:solidFill>
                  <a:srgbClr val="FFFF00"/>
                </a:solidFill>
              </a:rPr>
              <a:t>	I will be 25 years old in 10 years time.</a:t>
            </a:r>
          </a:p>
          <a:p>
            <a:r>
              <a:rPr lang="en-GB" dirty="0">
                <a:solidFill>
                  <a:srgbClr val="FFFF00"/>
                </a:solidFill>
              </a:rPr>
              <a:t>	I am </a:t>
            </a:r>
            <a:r>
              <a:rPr lang="en-GB" dirty="0">
                <a:solidFill>
                  <a:srgbClr val="00B0F0"/>
                </a:solidFill>
              </a:rPr>
              <a:t>1.8</a:t>
            </a:r>
            <a:r>
              <a:rPr lang="en-GB" dirty="0">
                <a:solidFill>
                  <a:srgbClr val="FFFF00"/>
                </a:solidFill>
              </a:rPr>
              <a:t>m tall.</a:t>
            </a:r>
          </a:p>
          <a:p>
            <a:r>
              <a:rPr lang="en-GB" dirty="0">
                <a:solidFill>
                  <a:srgbClr val="FFFF00"/>
                </a:solidFill>
              </a:rPr>
              <a:t>	My Favourite sport is </a:t>
            </a:r>
            <a:r>
              <a:rPr lang="en-GB" dirty="0">
                <a:solidFill>
                  <a:srgbClr val="00B0F0"/>
                </a:solidFill>
              </a:rPr>
              <a:t>Rugby</a:t>
            </a:r>
            <a:r>
              <a:rPr lang="en-GB" dirty="0">
                <a:solidFill>
                  <a:srgbClr val="FFFF00"/>
                </a:solidFill>
              </a:rPr>
              <a:t>.</a:t>
            </a:r>
            <a:endParaRPr lang="en-GB" dirty="0">
              <a:solidFill>
                <a:srgbClr val="00B0F0"/>
              </a:solidFill>
            </a:endParaRPr>
          </a:p>
        </p:txBody>
      </p:sp>
      <p:grpSp>
        <p:nvGrpSpPr>
          <p:cNvPr id="13" name="Group 12"/>
          <p:cNvGrpSpPr/>
          <p:nvPr/>
        </p:nvGrpSpPr>
        <p:grpSpPr>
          <a:xfrm>
            <a:off x="2400300" y="3404692"/>
            <a:ext cx="3616643" cy="2481758"/>
            <a:chOff x="2400300" y="3404692"/>
            <a:chExt cx="3616643" cy="2481758"/>
          </a:xfrm>
        </p:grpSpPr>
        <p:grpSp>
          <p:nvGrpSpPr>
            <p:cNvPr id="14" name="Group 13"/>
            <p:cNvGrpSpPr/>
            <p:nvPr/>
          </p:nvGrpSpPr>
          <p:grpSpPr>
            <a:xfrm>
              <a:off x="2400300" y="4001294"/>
              <a:ext cx="1695450" cy="1885156"/>
              <a:chOff x="2400300" y="4001294"/>
              <a:chExt cx="1695450" cy="1885156"/>
            </a:xfrm>
          </p:grpSpPr>
          <p:cxnSp>
            <p:nvCxnSpPr>
              <p:cNvPr id="16" name="Straight Arrow Connector 15"/>
              <p:cNvCxnSpPr/>
              <p:nvPr/>
            </p:nvCxnSpPr>
            <p:spPr>
              <a:xfrm flipH="1">
                <a:off x="3162300" y="4001294"/>
                <a:ext cx="904875" cy="1075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H="1">
                <a:off x="2400300" y="4001294"/>
                <a:ext cx="1695450" cy="14279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H="1">
                <a:off x="2466975" y="4001294"/>
                <a:ext cx="1600200" cy="17097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064318" y="4001294"/>
                <a:ext cx="0" cy="18851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grpSp>
        <p:sp>
          <p:nvSpPr>
            <p:cNvPr id="15" name="TextBox 14"/>
            <p:cNvSpPr txBox="1"/>
            <p:nvPr/>
          </p:nvSpPr>
          <p:spPr>
            <a:xfrm>
              <a:off x="4064318" y="3404692"/>
              <a:ext cx="1952625" cy="923330"/>
            </a:xfrm>
            <a:prstGeom prst="rect">
              <a:avLst/>
            </a:prstGeom>
            <a:noFill/>
          </p:spPr>
          <p:txBody>
            <a:bodyPr wrap="square" rtlCol="0">
              <a:spAutoFit/>
            </a:bodyPr>
            <a:lstStyle/>
            <a:p>
              <a:r>
                <a:rPr lang="en-GB" dirty="0"/>
                <a:t>These all need to be stored in variables</a:t>
              </a:r>
            </a:p>
          </p:txBody>
        </p:sp>
      </p:grpSp>
    </p:spTree>
    <p:extLst>
      <p:ext uri="{BB962C8B-B14F-4D97-AF65-F5344CB8AC3E}">
        <p14:creationId xmlns:p14="http://schemas.microsoft.com/office/powerpoint/2010/main" val="3175628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500"/>
                                        <p:tgtEl>
                                          <p:spTgt spid="13"/>
                                        </p:tgtEl>
                                      </p:cBhvr>
                                    </p:animEffect>
                                  </p:childTnLst>
                                </p:cTn>
                              </p:par>
                            </p:childTnLst>
                          </p:cTn>
                        </p:par>
                        <p:par>
                          <p:cTn id="12" fill="hold">
                            <p:stCondLst>
                              <p:cond delay="1000"/>
                            </p:stCondLst>
                            <p:childTnLst>
                              <p:par>
                                <p:cTn id="13" presetID="10" presetClass="entr" presetSubtype="0" fill="hold" grpId="0" nodeType="afterEffect">
                                  <p:stCondLst>
                                    <p:cond delay="500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3987297" cy="3084245"/>
          </a:xfrm>
        </p:spPr>
        <p:txBody>
          <a:bodyPr>
            <a:normAutofit/>
          </a:bodyPr>
          <a:lstStyle/>
          <a:p>
            <a:r>
              <a:rPr lang="en-GB" dirty="0"/>
              <a:t>Activity: What’s wrong here then?</a:t>
            </a:r>
          </a:p>
        </p:txBody>
      </p:sp>
      <p:pic>
        <p:nvPicPr>
          <p:cNvPr id="4" name="Content Placeholder 3"/>
          <p:cNvPicPr>
            <a:picLocks noGrp="1" noChangeAspect="1"/>
          </p:cNvPicPr>
          <p:nvPr>
            <p:ph idx="1"/>
          </p:nvPr>
        </p:nvPicPr>
        <p:blipFill rotWithShape="1">
          <a:blip r:embed="rId2"/>
          <a:stretch/>
        </p:blipFill>
        <p:spPr>
          <a:xfrm>
            <a:off x="6314813" y="427831"/>
            <a:ext cx="5220224" cy="6274556"/>
          </a:xfrm>
          <a:prstGeom prst="rect">
            <a:avLst/>
          </a:prstGeom>
        </p:spPr>
      </p:pic>
      <p:grpSp>
        <p:nvGrpSpPr>
          <p:cNvPr id="5" name="Group 4"/>
          <p:cNvGrpSpPr/>
          <p:nvPr/>
        </p:nvGrpSpPr>
        <p:grpSpPr>
          <a:xfrm>
            <a:off x="1057274" y="3449370"/>
            <a:ext cx="4867275" cy="3084245"/>
            <a:chOff x="8924924" y="-149140"/>
            <a:chExt cx="4867275" cy="3084245"/>
          </a:xfrm>
        </p:grpSpPr>
        <p:sp>
          <p:nvSpPr>
            <p:cNvPr id="6" name="Rounded Rectangle 5"/>
            <p:cNvSpPr/>
            <p:nvPr/>
          </p:nvSpPr>
          <p:spPr>
            <a:xfrm>
              <a:off x="8924924" y="427831"/>
              <a:ext cx="4867275" cy="2507274"/>
            </a:xfrm>
            <a:prstGeom prst="roundRect">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70C0"/>
                </a:solidFill>
              </a:endParaRPr>
            </a:p>
            <a:p>
              <a:pPr algn="ctr"/>
              <a:r>
                <a:rPr lang="en-GB" dirty="0">
                  <a:solidFill>
                    <a:srgbClr val="0070C0"/>
                  </a:solidFill>
                </a:rPr>
                <a:t>There are 5 errors in this code snippet. Copy out this snippet and highlight/circle the errors. </a:t>
              </a:r>
            </a:p>
            <a:p>
              <a:pPr algn="ctr"/>
              <a:endParaRPr lang="en-GB" dirty="0">
                <a:solidFill>
                  <a:srgbClr val="0070C0"/>
                </a:solidFill>
              </a:endParaRPr>
            </a:p>
            <a:p>
              <a:pPr algn="ctr"/>
              <a:r>
                <a:rPr lang="en-GB" dirty="0">
                  <a:solidFill>
                    <a:srgbClr val="0070C0"/>
                  </a:solidFill>
                </a:rPr>
                <a:t>Annotate how or what the correct solution should be!</a:t>
              </a:r>
            </a:p>
          </p:txBody>
        </p:sp>
        <p:sp>
          <p:nvSpPr>
            <p:cNvPr id="7" name="Rectangle 6"/>
            <p:cNvSpPr/>
            <p:nvPr/>
          </p:nvSpPr>
          <p:spPr>
            <a:xfrm>
              <a:off x="8924925" y="-149140"/>
              <a:ext cx="4867274" cy="9713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400" dirty="0">
                  <a:effectLst>
                    <a:glow rad="127000">
                      <a:schemeClr val="accent1"/>
                    </a:glow>
                    <a:outerShdw blurRad="50800" dist="38100" dir="2700000" algn="tl" rotWithShape="0">
                      <a:prstClr val="black">
                        <a:alpha val="40000"/>
                      </a:prstClr>
                    </a:outerShdw>
                  </a:effectLst>
                  <a:latin typeface="Forte" panose="03060902040502070203" pitchFamily="66" charset="0"/>
                </a:rPr>
                <a:t>TASK</a:t>
              </a:r>
            </a:p>
          </p:txBody>
        </p:sp>
      </p:grpSp>
    </p:spTree>
    <p:extLst>
      <p:ext uri="{BB962C8B-B14F-4D97-AF65-F5344CB8AC3E}">
        <p14:creationId xmlns:p14="http://schemas.microsoft.com/office/powerpoint/2010/main" val="1637483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a:stretch/>
        </p:blipFill>
        <p:spPr>
          <a:xfrm>
            <a:off x="6314813" y="427831"/>
            <a:ext cx="5220224" cy="6274556"/>
          </a:xfrm>
          <a:prstGeom prst="rect">
            <a:avLst/>
          </a:prstGeom>
        </p:spPr>
      </p:pic>
      <p:grpSp>
        <p:nvGrpSpPr>
          <p:cNvPr id="5" name="Group 4"/>
          <p:cNvGrpSpPr/>
          <p:nvPr/>
        </p:nvGrpSpPr>
        <p:grpSpPr>
          <a:xfrm>
            <a:off x="933449" y="-74345"/>
            <a:ext cx="3135635" cy="2998521"/>
            <a:chOff x="8924924" y="-149140"/>
            <a:chExt cx="3135635" cy="2998521"/>
          </a:xfrm>
        </p:grpSpPr>
        <p:sp>
          <p:nvSpPr>
            <p:cNvPr id="6" name="Rounded Rectangle 5"/>
            <p:cNvSpPr/>
            <p:nvPr/>
          </p:nvSpPr>
          <p:spPr>
            <a:xfrm>
              <a:off x="8924924" y="427831"/>
              <a:ext cx="3135635" cy="2421550"/>
            </a:xfrm>
            <a:prstGeom prst="roundRect">
              <a:avLst/>
            </a:prstGeom>
            <a:solidFill>
              <a:schemeClr val="bg1"/>
            </a:solidFill>
            <a:ln w="571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0070C0"/>
                </a:solidFill>
              </a:endParaRPr>
            </a:p>
            <a:p>
              <a:pPr algn="ctr"/>
              <a:r>
                <a:rPr lang="en-GB" dirty="0">
                  <a:solidFill>
                    <a:srgbClr val="0070C0"/>
                  </a:solidFill>
                </a:rPr>
                <a:t>There are 5 errors in this code snippet. Copy out this snippet and highlight/circle the errors. </a:t>
              </a:r>
            </a:p>
            <a:p>
              <a:pPr algn="ctr"/>
              <a:endParaRPr lang="en-GB" dirty="0">
                <a:solidFill>
                  <a:srgbClr val="0070C0"/>
                </a:solidFill>
              </a:endParaRPr>
            </a:p>
            <a:p>
              <a:pPr algn="ctr"/>
              <a:r>
                <a:rPr lang="en-GB" dirty="0">
                  <a:solidFill>
                    <a:srgbClr val="0070C0"/>
                  </a:solidFill>
                </a:rPr>
                <a:t>Annotate how or what the correct solution should be!</a:t>
              </a:r>
            </a:p>
          </p:txBody>
        </p:sp>
        <p:sp>
          <p:nvSpPr>
            <p:cNvPr id="7" name="Rectangle 6"/>
            <p:cNvSpPr/>
            <p:nvPr/>
          </p:nvSpPr>
          <p:spPr>
            <a:xfrm>
              <a:off x="8924925" y="-149140"/>
              <a:ext cx="3135634" cy="97137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5400" dirty="0">
                  <a:effectLst>
                    <a:glow rad="127000">
                      <a:schemeClr val="accent1"/>
                    </a:glow>
                    <a:outerShdw blurRad="50800" dist="38100" dir="2700000" algn="tl" rotWithShape="0">
                      <a:prstClr val="black">
                        <a:alpha val="40000"/>
                      </a:prstClr>
                    </a:outerShdw>
                  </a:effectLst>
                  <a:latin typeface="Forte" panose="03060902040502070203" pitchFamily="66" charset="0"/>
                </a:rPr>
                <a:t>Solutions</a:t>
              </a:r>
            </a:p>
          </p:txBody>
        </p:sp>
      </p:grpSp>
      <p:grpSp>
        <p:nvGrpSpPr>
          <p:cNvPr id="18" name="Group 17"/>
          <p:cNvGrpSpPr/>
          <p:nvPr/>
        </p:nvGrpSpPr>
        <p:grpSpPr>
          <a:xfrm>
            <a:off x="4171689" y="1533525"/>
            <a:ext cx="5477136" cy="1476375"/>
            <a:chOff x="4171689" y="1533525"/>
            <a:chExt cx="5477136" cy="1476375"/>
          </a:xfrm>
        </p:grpSpPr>
        <p:sp>
          <p:nvSpPr>
            <p:cNvPr id="3" name="Oval 2"/>
            <p:cNvSpPr/>
            <p:nvPr/>
          </p:nvSpPr>
          <p:spPr>
            <a:xfrm>
              <a:off x="9258300" y="2628900"/>
              <a:ext cx="390525" cy="3810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ounded Rectangle 11"/>
            <p:cNvSpPr/>
            <p:nvPr/>
          </p:nvSpPr>
          <p:spPr>
            <a:xfrm>
              <a:off x="4171689" y="1533525"/>
              <a:ext cx="2143124" cy="971550"/>
            </a:xfrm>
            <a:prstGeom prst="roundRect">
              <a:avLst>
                <a:gd name="adj" fmla="val 10785"/>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An integer (</a:t>
              </a:r>
              <a:r>
                <a:rPr lang="en-GB" dirty="0" err="1">
                  <a:solidFill>
                    <a:srgbClr val="FF0000"/>
                  </a:solidFill>
                </a:rPr>
                <a:t>int</a:t>
              </a:r>
              <a:r>
                <a:rPr lang="en-GB" dirty="0">
                  <a:solidFill>
                    <a:srgbClr val="FF0000"/>
                  </a:solidFill>
                </a:rPr>
                <a:t>) must be a whole number</a:t>
              </a:r>
            </a:p>
          </p:txBody>
        </p:sp>
      </p:grpSp>
      <p:grpSp>
        <p:nvGrpSpPr>
          <p:cNvPr id="19" name="Group 18"/>
          <p:cNvGrpSpPr/>
          <p:nvPr/>
        </p:nvGrpSpPr>
        <p:grpSpPr>
          <a:xfrm>
            <a:off x="4144199" y="2682875"/>
            <a:ext cx="3464928" cy="971550"/>
            <a:chOff x="4144199" y="2682875"/>
            <a:chExt cx="3464928" cy="971550"/>
          </a:xfrm>
        </p:grpSpPr>
        <p:sp>
          <p:nvSpPr>
            <p:cNvPr id="8" name="Oval 7"/>
            <p:cNvSpPr/>
            <p:nvPr/>
          </p:nvSpPr>
          <p:spPr>
            <a:xfrm>
              <a:off x="7218602" y="3184109"/>
              <a:ext cx="390525" cy="3810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Rounded Rectangle 12"/>
            <p:cNvSpPr/>
            <p:nvPr/>
          </p:nvSpPr>
          <p:spPr>
            <a:xfrm>
              <a:off x="4144199" y="2682875"/>
              <a:ext cx="2143124" cy="971550"/>
            </a:xfrm>
            <a:prstGeom prst="roundRect">
              <a:avLst>
                <a:gd name="adj" fmla="val 10785"/>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A variable must be declared with a specific type</a:t>
              </a:r>
            </a:p>
          </p:txBody>
        </p:sp>
      </p:grpSp>
      <p:grpSp>
        <p:nvGrpSpPr>
          <p:cNvPr id="20" name="Group 19"/>
          <p:cNvGrpSpPr/>
          <p:nvPr/>
        </p:nvGrpSpPr>
        <p:grpSpPr>
          <a:xfrm>
            <a:off x="9134475" y="3079334"/>
            <a:ext cx="3037258" cy="1046225"/>
            <a:chOff x="9134475" y="3079334"/>
            <a:chExt cx="3037258" cy="1046225"/>
          </a:xfrm>
        </p:grpSpPr>
        <p:sp>
          <p:nvSpPr>
            <p:cNvPr id="9" name="Oval 8"/>
            <p:cNvSpPr/>
            <p:nvPr/>
          </p:nvSpPr>
          <p:spPr>
            <a:xfrm>
              <a:off x="9134475" y="3744559"/>
              <a:ext cx="676275" cy="3810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Rounded Rectangle 13"/>
            <p:cNvSpPr/>
            <p:nvPr/>
          </p:nvSpPr>
          <p:spPr>
            <a:xfrm>
              <a:off x="10028609" y="3079334"/>
              <a:ext cx="2143124" cy="971550"/>
            </a:xfrm>
            <a:prstGeom prst="roundRect">
              <a:avLst>
                <a:gd name="adj" fmla="val 10785"/>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A double can only have 2 decimal places</a:t>
              </a:r>
            </a:p>
          </p:txBody>
        </p:sp>
      </p:grpSp>
      <p:grpSp>
        <p:nvGrpSpPr>
          <p:cNvPr id="21" name="Group 20"/>
          <p:cNvGrpSpPr/>
          <p:nvPr/>
        </p:nvGrpSpPr>
        <p:grpSpPr>
          <a:xfrm>
            <a:off x="4129912" y="4229100"/>
            <a:ext cx="4356863" cy="971550"/>
            <a:chOff x="4129912" y="4229100"/>
            <a:chExt cx="4356863" cy="971550"/>
          </a:xfrm>
        </p:grpSpPr>
        <p:sp>
          <p:nvSpPr>
            <p:cNvPr id="10" name="Oval 9"/>
            <p:cNvSpPr/>
            <p:nvPr/>
          </p:nvSpPr>
          <p:spPr>
            <a:xfrm>
              <a:off x="8096250" y="4333875"/>
              <a:ext cx="390525" cy="3810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ounded Rectangle 14"/>
            <p:cNvSpPr/>
            <p:nvPr/>
          </p:nvSpPr>
          <p:spPr>
            <a:xfrm>
              <a:off x="4129912" y="4229100"/>
              <a:ext cx="2143124" cy="971550"/>
            </a:xfrm>
            <a:prstGeom prst="roundRect">
              <a:avLst>
                <a:gd name="adj" fmla="val 10785"/>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A variable name cannot have a full stop/symbol</a:t>
              </a:r>
            </a:p>
          </p:txBody>
        </p:sp>
      </p:grpSp>
      <p:grpSp>
        <p:nvGrpSpPr>
          <p:cNvPr id="22" name="Group 21"/>
          <p:cNvGrpSpPr/>
          <p:nvPr/>
        </p:nvGrpSpPr>
        <p:grpSpPr>
          <a:xfrm>
            <a:off x="9391913" y="4898978"/>
            <a:ext cx="2143124" cy="1552532"/>
            <a:chOff x="9391913" y="4898978"/>
            <a:chExt cx="2143124" cy="1552532"/>
          </a:xfrm>
        </p:grpSpPr>
        <p:sp>
          <p:nvSpPr>
            <p:cNvPr id="11" name="Oval 10"/>
            <p:cNvSpPr/>
            <p:nvPr/>
          </p:nvSpPr>
          <p:spPr>
            <a:xfrm>
              <a:off x="10410825" y="4898978"/>
              <a:ext cx="390525" cy="381000"/>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Rounded Rectangle 16"/>
            <p:cNvSpPr/>
            <p:nvPr/>
          </p:nvSpPr>
          <p:spPr>
            <a:xfrm>
              <a:off x="9391913" y="5479960"/>
              <a:ext cx="2143124" cy="971550"/>
            </a:xfrm>
            <a:prstGeom prst="roundRect">
              <a:avLst>
                <a:gd name="adj" fmla="val 10785"/>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A statement must end with a semi colon (;)</a:t>
              </a:r>
            </a:p>
          </p:txBody>
        </p:sp>
      </p:grpSp>
      <p:sp>
        <p:nvSpPr>
          <p:cNvPr id="23" name="Rectangle 22"/>
          <p:cNvSpPr/>
          <p:nvPr/>
        </p:nvSpPr>
        <p:spPr>
          <a:xfrm>
            <a:off x="1171575" y="5895975"/>
            <a:ext cx="4943475" cy="806412"/>
          </a:xfrm>
          <a:prstGeom prst="rect">
            <a:avLst/>
          </a:prstGeom>
          <a:solidFill>
            <a:schemeClr val="bg1"/>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rPr>
              <a:t>Mark yourself out of 5!</a:t>
            </a:r>
          </a:p>
        </p:txBody>
      </p:sp>
    </p:spTree>
    <p:extLst>
      <p:ext uri="{BB962C8B-B14F-4D97-AF65-F5344CB8AC3E}">
        <p14:creationId xmlns:p14="http://schemas.microsoft.com/office/powerpoint/2010/main" val="3352123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fade">
                                      <p:cBhvr>
                                        <p:cTn id="17" dur="5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fade">
                                      <p:cBhvr>
                                        <p:cTn id="2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Making Programs Interactive in C#</a:t>
            </a:r>
          </a:p>
        </p:txBody>
      </p:sp>
      <p:sp>
        <p:nvSpPr>
          <p:cNvPr id="3" name="Content Placeholder 2"/>
          <p:cNvSpPr>
            <a:spLocks noGrp="1"/>
          </p:cNvSpPr>
          <p:nvPr>
            <p:ph idx="1"/>
          </p:nvPr>
        </p:nvSpPr>
        <p:spPr/>
        <p:txBody>
          <a:bodyPr/>
          <a:lstStyle/>
          <a:p>
            <a:pPr marL="0" indent="0">
              <a:buNone/>
            </a:pPr>
            <a:r>
              <a:rPr lang="en-GB" b="1" dirty="0"/>
              <a:t>Imagine a world where apps didn't listen to you.</a:t>
            </a:r>
            <a:endParaRPr lang="en-GB" dirty="0"/>
          </a:p>
          <a:p>
            <a:pPr marL="0" indent="0">
              <a:buNone/>
            </a:pPr>
            <a:r>
              <a:rPr lang="en-GB" dirty="0"/>
              <a:t>No search bars, no login screens, and no game controls. Boring, right? To make software useful, we need to gather data from the user and react to it.</a:t>
            </a:r>
          </a:p>
          <a:p>
            <a:endParaRPr lang="en-GB" dirty="0"/>
          </a:p>
        </p:txBody>
      </p:sp>
      <p:sp>
        <p:nvSpPr>
          <p:cNvPr id="4" name="Rounded Rectangle 3"/>
          <p:cNvSpPr/>
          <p:nvPr/>
        </p:nvSpPr>
        <p:spPr>
          <a:xfrm>
            <a:off x="7421880" y="3902856"/>
            <a:ext cx="3931920" cy="1393205"/>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Key Point</a:t>
            </a:r>
          </a:p>
          <a:p>
            <a:r>
              <a:rPr lang="en-GB" dirty="0"/>
              <a:t>Interactive programs follow a simple flow:</a:t>
            </a:r>
          </a:p>
          <a:p>
            <a:r>
              <a:rPr lang="en-GB" dirty="0">
                <a:solidFill>
                  <a:srgbClr val="FFFF00"/>
                </a:solidFill>
              </a:rPr>
              <a:t>Input </a:t>
            </a:r>
            <a:r>
              <a:rPr lang="en-GB" dirty="0">
                <a:solidFill>
                  <a:srgbClr val="FFFF00"/>
                </a:solidFill>
                <a:sym typeface="Wingdings" panose="05000000000000000000" pitchFamily="2" charset="2"/>
              </a:rPr>
              <a:t>👉</a:t>
            </a:r>
            <a:r>
              <a:rPr lang="en-GB" dirty="0">
                <a:solidFill>
                  <a:srgbClr val="FFFF00"/>
                </a:solidFill>
              </a:rPr>
              <a:t> Process </a:t>
            </a:r>
            <a:r>
              <a:rPr lang="en-GB" dirty="0">
                <a:solidFill>
                  <a:srgbClr val="FFFF00"/>
                </a:solidFill>
                <a:sym typeface="Wingdings" panose="05000000000000000000" pitchFamily="2" charset="2"/>
              </a:rPr>
              <a:t>👉</a:t>
            </a:r>
            <a:r>
              <a:rPr lang="en-GB" dirty="0">
                <a:solidFill>
                  <a:srgbClr val="FFFF00"/>
                </a:solidFill>
              </a:rPr>
              <a:t> Output</a:t>
            </a:r>
          </a:p>
        </p:txBody>
      </p:sp>
    </p:spTree>
    <p:extLst>
      <p:ext uri="{BB962C8B-B14F-4D97-AF65-F5344CB8AC3E}">
        <p14:creationId xmlns:p14="http://schemas.microsoft.com/office/powerpoint/2010/main" val="4039833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Capturing Data with </a:t>
            </a:r>
            <a:r>
              <a:rPr lang="en-GB" dirty="0" err="1"/>
              <a:t>Console.ReadLine</a:t>
            </a:r>
            <a:r>
              <a:rPr lang="en-GB" dirty="0"/>
              <a:t>()</a:t>
            </a:r>
          </a:p>
        </p:txBody>
      </p:sp>
      <p:sp>
        <p:nvSpPr>
          <p:cNvPr id="3" name="Content Placeholder 2"/>
          <p:cNvSpPr>
            <a:spLocks noGrp="1"/>
          </p:cNvSpPr>
          <p:nvPr>
            <p:ph idx="1"/>
          </p:nvPr>
        </p:nvSpPr>
        <p:spPr/>
        <p:txBody>
          <a:bodyPr/>
          <a:lstStyle/>
          <a:p>
            <a:r>
              <a:rPr lang="en-GB" dirty="0"/>
              <a:t>Use </a:t>
            </a:r>
            <a:r>
              <a:rPr lang="en-GB" b="1" dirty="0" err="1"/>
              <a:t>Conosle.ReadLine</a:t>
            </a:r>
            <a:r>
              <a:rPr lang="en-GB" b="1" dirty="0"/>
              <a:t>() </a:t>
            </a:r>
            <a:r>
              <a:rPr lang="en-GB" dirty="0"/>
              <a:t>to pause the program until the user types text and presses Enter.</a:t>
            </a:r>
          </a:p>
          <a:p>
            <a:endParaRPr lang="en-GB" dirty="0"/>
          </a:p>
          <a:p>
            <a:endParaRPr lang="en-GB" dirty="0"/>
          </a:p>
          <a:p>
            <a:endParaRPr lang="en-GB" dirty="0"/>
          </a:p>
          <a:p>
            <a:endParaRPr lang="en-GB" dirty="0"/>
          </a:p>
          <a:p>
            <a:endParaRPr lang="en-GB" dirty="0"/>
          </a:p>
        </p:txBody>
      </p:sp>
      <p:pic>
        <p:nvPicPr>
          <p:cNvPr id="4" name="Picture 3"/>
          <p:cNvPicPr>
            <a:picLocks noChangeAspect="1"/>
          </p:cNvPicPr>
          <p:nvPr/>
        </p:nvPicPr>
        <p:blipFill>
          <a:blip r:embed="rId2"/>
          <a:stretch>
            <a:fillRect/>
          </a:stretch>
        </p:blipFill>
        <p:spPr>
          <a:xfrm>
            <a:off x="3372956" y="3256614"/>
            <a:ext cx="5229955" cy="1009791"/>
          </a:xfrm>
          <a:prstGeom prst="rect">
            <a:avLst/>
          </a:prstGeom>
        </p:spPr>
      </p:pic>
      <p:grpSp>
        <p:nvGrpSpPr>
          <p:cNvPr id="5" name="Group 4"/>
          <p:cNvGrpSpPr/>
          <p:nvPr/>
        </p:nvGrpSpPr>
        <p:grpSpPr>
          <a:xfrm>
            <a:off x="2842954" y="3728257"/>
            <a:ext cx="2069862" cy="1971226"/>
            <a:chOff x="1839251" y="3366531"/>
            <a:chExt cx="3337441" cy="1971226"/>
          </a:xfrm>
        </p:grpSpPr>
        <p:sp>
          <p:nvSpPr>
            <p:cNvPr id="6" name="Rounded Rectangle 5"/>
            <p:cNvSpPr/>
            <p:nvPr/>
          </p:nvSpPr>
          <p:spPr>
            <a:xfrm>
              <a:off x="2785600" y="3366531"/>
              <a:ext cx="1445578" cy="523948"/>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p:cNvCxnSpPr>
              <a:stCxn id="6" idx="2"/>
            </p:cNvCxnSpPr>
            <p:nvPr/>
          </p:nvCxnSpPr>
          <p:spPr>
            <a:xfrm flipH="1">
              <a:off x="3507971" y="3890479"/>
              <a:ext cx="418" cy="44876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1839251" y="4414427"/>
              <a:ext cx="3337441" cy="923330"/>
            </a:xfrm>
            <a:prstGeom prst="rect">
              <a:avLst/>
            </a:prstGeom>
            <a:noFill/>
          </p:spPr>
          <p:txBody>
            <a:bodyPr wrap="square" rtlCol="0">
              <a:spAutoFit/>
            </a:bodyPr>
            <a:lstStyle/>
            <a:p>
              <a:pPr algn="ctr"/>
              <a:r>
                <a:rPr lang="en-GB" dirty="0">
                  <a:solidFill>
                    <a:srgbClr val="07E073"/>
                  </a:solidFill>
                </a:rPr>
                <a:t>The Program waits for user input</a:t>
              </a:r>
            </a:p>
          </p:txBody>
        </p:sp>
      </p:grpSp>
      <p:grpSp>
        <p:nvGrpSpPr>
          <p:cNvPr id="9" name="Group 8"/>
          <p:cNvGrpSpPr/>
          <p:nvPr/>
        </p:nvGrpSpPr>
        <p:grpSpPr>
          <a:xfrm>
            <a:off x="8966646" y="3382882"/>
            <a:ext cx="2993843" cy="1767045"/>
            <a:chOff x="8925658" y="4178951"/>
            <a:chExt cx="2993843" cy="1767045"/>
          </a:xfrm>
        </p:grpSpPr>
        <p:pic>
          <p:nvPicPr>
            <p:cNvPr id="2050" name="Picture 2" descr="Box Clip Art - Box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50922" y="4178951"/>
              <a:ext cx="2868579" cy="176704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8925658" y="4908474"/>
              <a:ext cx="2069862" cy="830997"/>
            </a:xfrm>
            <a:prstGeom prst="rect">
              <a:avLst/>
            </a:prstGeom>
            <a:noFill/>
          </p:spPr>
          <p:txBody>
            <a:bodyPr wrap="square" rtlCol="0">
              <a:spAutoFit/>
              <a:scene3d>
                <a:camera prst="isometricOffAxis2Left">
                  <a:rot lat="1080000" lon="600000" rev="0"/>
                </a:camera>
                <a:lightRig rig="threePt" dir="t"/>
              </a:scene3d>
            </a:bodyPr>
            <a:lstStyle/>
            <a:p>
              <a:pPr algn="ctr"/>
              <a:r>
                <a:rPr lang="en-GB" sz="2400" b="1" dirty="0"/>
                <a:t>name</a:t>
              </a:r>
            </a:p>
            <a:p>
              <a:pPr algn="ctr"/>
              <a:r>
                <a:rPr lang="en-GB" sz="2400" dirty="0">
                  <a:latin typeface="Agency FB" panose="020B0503020202020204" pitchFamily="34" charset="0"/>
                </a:rPr>
                <a:t>[string]</a:t>
              </a:r>
            </a:p>
          </p:txBody>
        </p:sp>
      </p:grpSp>
      <p:sp>
        <p:nvSpPr>
          <p:cNvPr id="12" name="Rounded Rectangle 11"/>
          <p:cNvSpPr/>
          <p:nvPr/>
        </p:nvSpPr>
        <p:spPr>
          <a:xfrm>
            <a:off x="6573981" y="5612436"/>
            <a:ext cx="5461462" cy="1129053"/>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Remember</a:t>
            </a:r>
          </a:p>
          <a:p>
            <a:r>
              <a:rPr lang="en-GB" dirty="0" err="1"/>
              <a:t>Console.ReadLine</a:t>
            </a:r>
            <a:r>
              <a:rPr lang="en-GB" dirty="0"/>
              <a:t>() always returns data as a ‘string’, even if the user types in a number</a:t>
            </a:r>
            <a:endParaRPr lang="en-GB" dirty="0">
              <a:solidFill>
                <a:srgbClr val="FFFF00"/>
              </a:solidFill>
            </a:endParaRPr>
          </a:p>
        </p:txBody>
      </p:sp>
    </p:spTree>
    <p:extLst>
      <p:ext uri="{BB962C8B-B14F-4D97-AF65-F5344CB8AC3E}">
        <p14:creationId xmlns:p14="http://schemas.microsoft.com/office/powerpoint/2010/main" val="3872114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Check Yourself (before you wreck yourself!)</a:t>
            </a:r>
          </a:p>
        </p:txBody>
      </p:sp>
      <p:sp>
        <p:nvSpPr>
          <p:cNvPr id="3" name="Content Placeholder 2"/>
          <p:cNvSpPr>
            <a:spLocks noGrp="1"/>
          </p:cNvSpPr>
          <p:nvPr>
            <p:ph idx="1"/>
          </p:nvPr>
        </p:nvSpPr>
        <p:spPr>
          <a:xfrm>
            <a:off x="224445" y="1784061"/>
            <a:ext cx="11787446" cy="3777153"/>
          </a:xfrm>
          <a:solidFill>
            <a:schemeClr val="accent1">
              <a:lumMod val="20000"/>
              <a:lumOff val="80000"/>
            </a:schemeClr>
          </a:solidFill>
          <a:ln w="28575">
            <a:solidFill>
              <a:schemeClr val="tx1"/>
            </a:solidFill>
            <a:prstDash val="lgDashDot"/>
          </a:ln>
        </p:spPr>
        <p:txBody>
          <a:bodyPr/>
          <a:lstStyle/>
          <a:p>
            <a:pPr marL="0" indent="0">
              <a:buNone/>
            </a:pPr>
            <a:r>
              <a:rPr lang="en-GB" dirty="0">
                <a:solidFill>
                  <a:schemeClr val="tx1"/>
                </a:solidFill>
              </a:rPr>
              <a:t>To store a person’s name, you first declare a ____________ variable, then use ________________ to capture their typing.</a:t>
            </a:r>
          </a:p>
          <a:p>
            <a:pPr marL="0" indent="0">
              <a:buNone/>
            </a:pPr>
            <a:endParaRPr lang="en-GB" dirty="0">
              <a:solidFill>
                <a:schemeClr val="tx1"/>
              </a:solidFill>
            </a:endParaRPr>
          </a:p>
          <a:p>
            <a:pPr marL="0" indent="0">
              <a:buNone/>
            </a:pPr>
            <a:r>
              <a:rPr lang="en-GB" dirty="0">
                <a:solidFill>
                  <a:schemeClr val="tx1"/>
                </a:solidFill>
              </a:rPr>
              <a:t>If you wanted to store their age, you would declare a variable called age with a data type of _________________.</a:t>
            </a:r>
          </a:p>
          <a:p>
            <a:pPr marL="0" indent="0">
              <a:buNone/>
            </a:pPr>
            <a:endParaRPr lang="en-GB" dirty="0">
              <a:solidFill>
                <a:schemeClr val="tx1"/>
              </a:solidFill>
            </a:endParaRPr>
          </a:p>
          <a:p>
            <a:pPr marL="0" indent="0">
              <a:buNone/>
            </a:pPr>
            <a:r>
              <a:rPr lang="en-GB" dirty="0">
                <a:solidFill>
                  <a:schemeClr val="tx1"/>
                </a:solidFill>
              </a:rPr>
              <a:t>To output the value stored within a variable, you would use the _________________ method.</a:t>
            </a:r>
          </a:p>
        </p:txBody>
      </p:sp>
      <p:sp>
        <p:nvSpPr>
          <p:cNvPr id="4" name="Rounded Rectangle 3"/>
          <p:cNvSpPr/>
          <p:nvPr/>
        </p:nvSpPr>
        <p:spPr>
          <a:xfrm>
            <a:off x="224445" y="5926974"/>
            <a:ext cx="11787446" cy="739832"/>
          </a:xfrm>
          <a:prstGeom prst="roundRect">
            <a:avLst/>
          </a:prstGeom>
          <a:solidFill>
            <a:schemeClr val="accent3">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Word Bank</a:t>
            </a:r>
          </a:p>
          <a:p>
            <a:pPr algn="ctr"/>
            <a:r>
              <a:rPr lang="en-GB" dirty="0">
                <a:solidFill>
                  <a:schemeClr val="tx1"/>
                </a:solidFill>
              </a:rPr>
              <a:t>String	Console.WriteLine()		 int	 </a:t>
            </a:r>
            <a:r>
              <a:rPr lang="en-GB" dirty="0" err="1">
                <a:solidFill>
                  <a:schemeClr val="tx1"/>
                </a:solidFill>
              </a:rPr>
              <a:t>Console.ReadLine</a:t>
            </a:r>
            <a:r>
              <a:rPr lang="en-GB" dirty="0">
                <a:solidFill>
                  <a:schemeClr val="tx1"/>
                </a:solidFill>
              </a:rPr>
              <a:t>()</a:t>
            </a:r>
          </a:p>
        </p:txBody>
      </p:sp>
      <p:sp>
        <p:nvSpPr>
          <p:cNvPr id="5" name="Rectangle 4"/>
          <p:cNvSpPr/>
          <p:nvPr/>
        </p:nvSpPr>
        <p:spPr>
          <a:xfrm>
            <a:off x="6708371" y="1883816"/>
            <a:ext cx="2161309" cy="352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string</a:t>
            </a:r>
          </a:p>
        </p:txBody>
      </p:sp>
      <p:sp>
        <p:nvSpPr>
          <p:cNvPr id="6" name="Rectangle 5"/>
          <p:cNvSpPr/>
          <p:nvPr/>
        </p:nvSpPr>
        <p:spPr>
          <a:xfrm>
            <a:off x="1704110" y="2208561"/>
            <a:ext cx="2842952" cy="352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err="1">
                <a:solidFill>
                  <a:srgbClr val="FF0000"/>
                </a:solidFill>
              </a:rPr>
              <a:t>Console.ReadLine</a:t>
            </a:r>
            <a:r>
              <a:rPr lang="en-GB" b="1" dirty="0">
                <a:solidFill>
                  <a:srgbClr val="FF0000"/>
                </a:solidFill>
              </a:rPr>
              <a:t>()</a:t>
            </a:r>
          </a:p>
        </p:txBody>
      </p:sp>
      <p:sp>
        <p:nvSpPr>
          <p:cNvPr id="7" name="Rectangle 6"/>
          <p:cNvSpPr/>
          <p:nvPr/>
        </p:nvSpPr>
        <p:spPr>
          <a:xfrm>
            <a:off x="2189017" y="3662739"/>
            <a:ext cx="2939936" cy="352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int</a:t>
            </a:r>
          </a:p>
        </p:txBody>
      </p:sp>
      <p:sp>
        <p:nvSpPr>
          <p:cNvPr id="8" name="Rectangle 7"/>
          <p:cNvSpPr/>
          <p:nvPr/>
        </p:nvSpPr>
        <p:spPr>
          <a:xfrm>
            <a:off x="332510" y="5056099"/>
            <a:ext cx="3025832" cy="3523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0000"/>
                </a:solidFill>
              </a:rPr>
              <a:t>Console.WriteLine()</a:t>
            </a:r>
          </a:p>
        </p:txBody>
      </p:sp>
    </p:spTree>
    <p:extLst>
      <p:ext uri="{BB962C8B-B14F-4D97-AF65-F5344CB8AC3E}">
        <p14:creationId xmlns:p14="http://schemas.microsoft.com/office/powerpoint/2010/main" val="4258945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8"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Making Choices: The IF Statement</a:t>
            </a:r>
          </a:p>
        </p:txBody>
      </p:sp>
      <p:sp>
        <p:nvSpPr>
          <p:cNvPr id="3" name="Content Placeholder 2"/>
          <p:cNvSpPr>
            <a:spLocks noGrp="1"/>
          </p:cNvSpPr>
          <p:nvPr>
            <p:ph idx="1"/>
          </p:nvPr>
        </p:nvSpPr>
        <p:spPr>
          <a:xfrm>
            <a:off x="264622" y="1842251"/>
            <a:ext cx="6884323" cy="2189422"/>
          </a:xfrm>
        </p:spPr>
        <p:txBody>
          <a:bodyPr/>
          <a:lstStyle/>
          <a:p>
            <a:pPr marL="0" indent="0">
              <a:buNone/>
            </a:pPr>
            <a:r>
              <a:rPr lang="en-GB" b="1" dirty="0"/>
              <a:t>Logic is about choices.</a:t>
            </a:r>
            <a:endParaRPr lang="en-GB" dirty="0"/>
          </a:p>
          <a:p>
            <a:pPr marL="0" indent="0">
              <a:buNone/>
            </a:pPr>
            <a:r>
              <a:rPr lang="en-GB" dirty="0"/>
              <a:t>An IF statement tells the computer to run a block of code </a:t>
            </a:r>
            <a:r>
              <a:rPr lang="en-GB" b="1" dirty="0"/>
              <a:t>only if</a:t>
            </a:r>
            <a:r>
              <a:rPr lang="en-GB" dirty="0"/>
              <a:t> a specific condition is true. If it isn't true, we can use to provide a backup plan.</a:t>
            </a:r>
          </a:p>
          <a:p>
            <a:endParaRPr lang="en-GB" dirty="0"/>
          </a:p>
        </p:txBody>
      </p:sp>
      <p:pic>
        <p:nvPicPr>
          <p:cNvPr id="4" name="Picture 3"/>
          <p:cNvPicPr>
            <a:picLocks noChangeAspect="1"/>
          </p:cNvPicPr>
          <p:nvPr/>
        </p:nvPicPr>
        <p:blipFill>
          <a:blip r:embed="rId2"/>
          <a:stretch>
            <a:fillRect/>
          </a:stretch>
        </p:blipFill>
        <p:spPr>
          <a:xfrm>
            <a:off x="7359489" y="1690688"/>
            <a:ext cx="4372585" cy="3400900"/>
          </a:xfrm>
          <a:prstGeom prst="rect">
            <a:avLst/>
          </a:prstGeom>
        </p:spPr>
      </p:pic>
      <p:sp>
        <p:nvSpPr>
          <p:cNvPr id="5" name="Rounded Rectangle 4"/>
          <p:cNvSpPr/>
          <p:nvPr/>
        </p:nvSpPr>
        <p:spPr>
          <a:xfrm>
            <a:off x="373224" y="4031673"/>
            <a:ext cx="6456784" cy="1059915"/>
          </a:xfrm>
          <a:prstGeom prst="roundRect">
            <a:avLst/>
          </a:prstGeom>
          <a:solidFill>
            <a:schemeClr val="tx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200" b="1" dirty="0">
                <a:solidFill>
                  <a:srgbClr val="FFFF00"/>
                </a:solidFill>
              </a:rPr>
              <a:t>==</a:t>
            </a:r>
          </a:p>
          <a:p>
            <a:r>
              <a:rPr lang="en-GB" dirty="0"/>
              <a:t>Checks if two values are equal</a:t>
            </a:r>
          </a:p>
        </p:txBody>
      </p:sp>
      <p:sp>
        <p:nvSpPr>
          <p:cNvPr id="6" name="Rounded Rectangle 5"/>
          <p:cNvSpPr/>
          <p:nvPr/>
        </p:nvSpPr>
        <p:spPr>
          <a:xfrm>
            <a:off x="373224" y="5303747"/>
            <a:ext cx="6456784" cy="1059915"/>
          </a:xfrm>
          <a:prstGeom prst="roundRect">
            <a:avLst/>
          </a:prstGeom>
          <a:solidFill>
            <a:schemeClr val="tx1"/>
          </a:solid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sz="3200" b="1" dirty="0">
                <a:solidFill>
                  <a:srgbClr val="FFFF00"/>
                </a:solidFill>
              </a:rPr>
              <a:t>&gt; </a:t>
            </a:r>
            <a:r>
              <a:rPr lang="en-GB" sz="3200" dirty="0">
                <a:solidFill>
                  <a:schemeClr val="bg1"/>
                </a:solidFill>
              </a:rPr>
              <a:t>and</a:t>
            </a:r>
            <a:r>
              <a:rPr lang="en-GB" sz="3200" b="1" dirty="0">
                <a:solidFill>
                  <a:srgbClr val="FFFF00"/>
                </a:solidFill>
              </a:rPr>
              <a:t> &lt;</a:t>
            </a:r>
          </a:p>
          <a:p>
            <a:r>
              <a:rPr lang="en-GB" dirty="0"/>
              <a:t>Checks if two values are greater or less than</a:t>
            </a:r>
          </a:p>
        </p:txBody>
      </p:sp>
    </p:spTree>
    <p:extLst>
      <p:ext uri="{BB962C8B-B14F-4D97-AF65-F5344CB8AC3E}">
        <p14:creationId xmlns:p14="http://schemas.microsoft.com/office/powerpoint/2010/main" val="286283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effectLst/>
              </a:rPr>
              <a:t>Code Structure: Input + Logic</a:t>
            </a:r>
            <a:endParaRPr lang="en-GB" dirty="0"/>
          </a:p>
        </p:txBody>
      </p:sp>
      <p:sp>
        <p:nvSpPr>
          <p:cNvPr id="3" name="Content Placeholder 2"/>
          <p:cNvSpPr>
            <a:spLocks noGrp="1"/>
          </p:cNvSpPr>
          <p:nvPr>
            <p:ph idx="1"/>
          </p:nvPr>
        </p:nvSpPr>
        <p:spPr>
          <a:xfrm>
            <a:off x="428677" y="1825625"/>
            <a:ext cx="10925123" cy="4351338"/>
          </a:xfrm>
        </p:spPr>
        <p:txBody>
          <a:bodyPr/>
          <a:lstStyle/>
          <a:p>
            <a:pPr marL="0" indent="0">
              <a:buNone/>
            </a:pPr>
            <a:r>
              <a:rPr lang="en-GB" dirty="0"/>
              <a:t>The Code Pattern</a:t>
            </a:r>
          </a:p>
          <a:p>
            <a:pPr marL="0" indent="0">
              <a:buNone/>
            </a:pPr>
            <a:r>
              <a:rPr lang="en-GB" dirty="0"/>
              <a:t> </a:t>
            </a:r>
          </a:p>
        </p:txBody>
      </p:sp>
      <p:pic>
        <p:nvPicPr>
          <p:cNvPr id="5" name="Picture 4"/>
          <p:cNvPicPr>
            <a:picLocks noChangeAspect="1"/>
          </p:cNvPicPr>
          <p:nvPr/>
        </p:nvPicPr>
        <p:blipFill>
          <a:blip r:embed="rId2"/>
          <a:stretch>
            <a:fillRect/>
          </a:stretch>
        </p:blipFill>
        <p:spPr>
          <a:xfrm>
            <a:off x="1693504" y="2806938"/>
            <a:ext cx="6295107" cy="2623608"/>
          </a:xfrm>
          <a:prstGeom prst="rect">
            <a:avLst/>
          </a:prstGeom>
        </p:spPr>
      </p:pic>
      <p:grpSp>
        <p:nvGrpSpPr>
          <p:cNvPr id="6" name="Group 5"/>
          <p:cNvGrpSpPr/>
          <p:nvPr/>
        </p:nvGrpSpPr>
        <p:grpSpPr>
          <a:xfrm>
            <a:off x="2212963" y="3443298"/>
            <a:ext cx="6195527" cy="800973"/>
            <a:chOff x="2323400" y="2975897"/>
            <a:chExt cx="4998908" cy="800973"/>
          </a:xfrm>
        </p:grpSpPr>
        <p:sp>
          <p:nvSpPr>
            <p:cNvPr id="7" name="Rounded Rectangle 6"/>
            <p:cNvSpPr/>
            <p:nvPr/>
          </p:nvSpPr>
          <p:spPr>
            <a:xfrm>
              <a:off x="2323400" y="3450299"/>
              <a:ext cx="1907779" cy="326571"/>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p:cNvCxnSpPr/>
            <p:nvPr/>
          </p:nvCxnSpPr>
          <p:spPr>
            <a:xfrm flipV="1">
              <a:off x="3979664" y="3151719"/>
              <a:ext cx="266419" cy="298580"/>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231178" y="2975897"/>
              <a:ext cx="3091130" cy="369332"/>
            </a:xfrm>
            <a:prstGeom prst="rect">
              <a:avLst/>
            </a:prstGeom>
            <a:noFill/>
          </p:spPr>
          <p:txBody>
            <a:bodyPr wrap="square" rtlCol="0">
              <a:spAutoFit/>
            </a:bodyPr>
            <a:lstStyle/>
            <a:p>
              <a:pPr algn="ctr"/>
              <a:r>
                <a:rPr lang="en-GB" dirty="0"/>
                <a:t>Within the brackets goes the condition</a:t>
              </a:r>
            </a:p>
          </p:txBody>
        </p:sp>
      </p:grpSp>
      <p:grpSp>
        <p:nvGrpSpPr>
          <p:cNvPr id="12" name="Group 11"/>
          <p:cNvGrpSpPr/>
          <p:nvPr/>
        </p:nvGrpSpPr>
        <p:grpSpPr>
          <a:xfrm>
            <a:off x="1679669" y="4295552"/>
            <a:ext cx="6245183" cy="1846776"/>
            <a:chOff x="2785600" y="3366531"/>
            <a:chExt cx="1445578" cy="853545"/>
          </a:xfrm>
        </p:grpSpPr>
        <p:sp>
          <p:nvSpPr>
            <p:cNvPr id="13" name="Rounded Rectangle 12"/>
            <p:cNvSpPr/>
            <p:nvPr/>
          </p:nvSpPr>
          <p:spPr>
            <a:xfrm>
              <a:off x="2785600" y="3366531"/>
              <a:ext cx="1445578" cy="523948"/>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4" name="Straight Connector 13"/>
            <p:cNvCxnSpPr>
              <a:stCxn id="13" idx="2"/>
            </p:cNvCxnSpPr>
            <p:nvPr/>
          </p:nvCxnSpPr>
          <p:spPr>
            <a:xfrm>
              <a:off x="3508389" y="3890479"/>
              <a:ext cx="0" cy="16246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2787089" y="4049378"/>
              <a:ext cx="1441855" cy="170698"/>
            </a:xfrm>
            <a:prstGeom prst="rect">
              <a:avLst/>
            </a:prstGeom>
            <a:noFill/>
          </p:spPr>
          <p:txBody>
            <a:bodyPr wrap="square" rtlCol="0">
              <a:spAutoFit/>
            </a:bodyPr>
            <a:lstStyle/>
            <a:p>
              <a:pPr algn="ctr"/>
              <a:r>
                <a:rPr lang="en-GB" dirty="0">
                  <a:solidFill>
                    <a:srgbClr val="07E073"/>
                  </a:solidFill>
                </a:rPr>
                <a:t>If the condition is true, then the code within the { and } runs.</a:t>
              </a:r>
            </a:p>
          </p:txBody>
        </p:sp>
      </p:grpSp>
      <p:sp>
        <p:nvSpPr>
          <p:cNvPr id="18" name="Rounded Rectangle 17"/>
          <p:cNvSpPr/>
          <p:nvPr/>
        </p:nvSpPr>
        <p:spPr>
          <a:xfrm>
            <a:off x="8260080" y="1624923"/>
            <a:ext cx="3931920" cy="1393205"/>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Watch Out!</a:t>
            </a:r>
          </a:p>
          <a:p>
            <a:r>
              <a:rPr lang="en-GB" dirty="0"/>
              <a:t>Unlike in Maths, C# uses double equals sign (==) to compare things. A single equals sign (=) is only for assigning values.</a:t>
            </a:r>
            <a:endParaRPr lang="en-GB" dirty="0">
              <a:solidFill>
                <a:srgbClr val="FFFF00"/>
              </a:solidFill>
            </a:endParaRPr>
          </a:p>
        </p:txBody>
      </p:sp>
    </p:spTree>
    <p:extLst>
      <p:ext uri="{BB962C8B-B14F-4D97-AF65-F5344CB8AC3E}">
        <p14:creationId xmlns:p14="http://schemas.microsoft.com/office/powerpoint/2010/main" val="1552847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Else: Over 8,588 Royalty-Free Licensable Stock Illustrations &amp; Drawings |  Shutterstock"/>
          <p:cNvPicPr>
            <a:picLocks noChangeAspect="1" noChangeArrowheads="1"/>
          </p:cNvPicPr>
          <p:nvPr/>
        </p:nvPicPr>
        <p:blipFill rotWithShape="1">
          <a:blip r:embed="rId2">
            <a:extLst>
              <a:ext uri="{28A0092B-C50C-407E-A947-70E740481C1C}">
                <a14:useLocalDpi xmlns:a14="http://schemas.microsoft.com/office/drawing/2010/main" val="0"/>
              </a:ext>
            </a:extLst>
          </a:blip>
          <a:srcRect t="14901" b="14901"/>
          <a:stretch/>
        </p:blipFill>
        <p:spPr bwMode="auto">
          <a:xfrm>
            <a:off x="0" y="0"/>
            <a:ext cx="3276600" cy="1872196"/>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p:cNvSpPr>
            <a:spLocks noGrp="1"/>
          </p:cNvSpPr>
          <p:nvPr>
            <p:ph idx="1"/>
          </p:nvPr>
        </p:nvSpPr>
        <p:spPr>
          <a:xfrm>
            <a:off x="590550" y="1690688"/>
            <a:ext cx="10515600" cy="4351338"/>
          </a:xfrm>
        </p:spPr>
        <p:txBody>
          <a:bodyPr/>
          <a:lstStyle/>
          <a:p>
            <a:r>
              <a:rPr lang="en-GB" dirty="0"/>
              <a:t>The IF statement can also have an optional attachment called the ELSE statement.</a:t>
            </a:r>
          </a:p>
          <a:p>
            <a:r>
              <a:rPr lang="en-GB" dirty="0"/>
              <a:t>It runs if the condition false</a:t>
            </a:r>
          </a:p>
          <a:p>
            <a:endParaRPr lang="en-GB" dirty="0"/>
          </a:p>
          <a:p>
            <a:endParaRPr lang="en-GB" dirty="0"/>
          </a:p>
        </p:txBody>
      </p:sp>
      <p:pic>
        <p:nvPicPr>
          <p:cNvPr id="4" name="Picture 3"/>
          <p:cNvPicPr>
            <a:picLocks noChangeAspect="1"/>
          </p:cNvPicPr>
          <p:nvPr/>
        </p:nvPicPr>
        <p:blipFill>
          <a:blip r:embed="rId3"/>
          <a:stretch>
            <a:fillRect/>
          </a:stretch>
        </p:blipFill>
        <p:spPr>
          <a:xfrm>
            <a:off x="2342579" y="3028416"/>
            <a:ext cx="8173591" cy="3829584"/>
          </a:xfrm>
          <a:prstGeom prst="rect">
            <a:avLst/>
          </a:prstGeom>
        </p:spPr>
      </p:pic>
    </p:spTree>
    <p:extLst>
      <p:ext uri="{BB962C8B-B14F-4D97-AF65-F5344CB8AC3E}">
        <p14:creationId xmlns:p14="http://schemas.microsoft.com/office/powerpoint/2010/main" val="13761730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Operator Check</a:t>
            </a:r>
          </a:p>
        </p:txBody>
      </p:sp>
      <p:sp>
        <p:nvSpPr>
          <p:cNvPr id="3" name="Content Placeholder 2"/>
          <p:cNvSpPr>
            <a:spLocks noGrp="1"/>
          </p:cNvSpPr>
          <p:nvPr>
            <p:ph idx="1"/>
          </p:nvPr>
        </p:nvSpPr>
        <p:spPr>
          <a:xfrm>
            <a:off x="266700" y="1825625"/>
            <a:ext cx="11658600" cy="584200"/>
          </a:xfrm>
          <a:solidFill>
            <a:schemeClr val="accent5">
              <a:lumMod val="20000"/>
              <a:lumOff val="80000"/>
            </a:schemeClr>
          </a:solidFill>
          <a:ln w="38100">
            <a:solidFill>
              <a:schemeClr val="tx1"/>
            </a:solidFill>
          </a:ln>
        </p:spPr>
        <p:txBody>
          <a:bodyPr anchor="ctr">
            <a:normAutofit fontScale="92500"/>
          </a:bodyPr>
          <a:lstStyle/>
          <a:p>
            <a:pPr marL="0" indent="0">
              <a:buNone/>
            </a:pPr>
            <a:r>
              <a:rPr lang="en-GB" dirty="0">
                <a:solidFill>
                  <a:schemeClr val="tx1"/>
                </a:solidFill>
              </a:rPr>
              <a:t>In C#, the code</a:t>
            </a:r>
            <a:r>
              <a:rPr lang="en-GB" dirty="0"/>
              <a:t>	</a:t>
            </a:r>
            <a:r>
              <a:rPr lang="en-GB" b="1" dirty="0">
                <a:solidFill>
                  <a:srgbClr val="0070C0"/>
                </a:solidFill>
              </a:rPr>
              <a:t>if(age = 18)</a:t>
            </a:r>
            <a:r>
              <a:rPr lang="en-GB" dirty="0"/>
              <a:t>	</a:t>
            </a:r>
            <a:r>
              <a:rPr lang="en-GB" dirty="0">
                <a:solidFill>
                  <a:schemeClr val="tx1"/>
                </a:solidFill>
              </a:rPr>
              <a:t>is the correct way to check if someone is 18</a:t>
            </a:r>
          </a:p>
        </p:txBody>
      </p:sp>
      <p:sp>
        <p:nvSpPr>
          <p:cNvPr id="4" name="Rectangle 3"/>
          <p:cNvSpPr/>
          <p:nvPr/>
        </p:nvSpPr>
        <p:spPr>
          <a:xfrm>
            <a:off x="2849776" y="2891908"/>
            <a:ext cx="1265024" cy="1569660"/>
          </a:xfrm>
          <a:prstGeom prst="rect">
            <a:avLst/>
          </a:prstGeom>
        </p:spPr>
        <p:txBody>
          <a:bodyPr wrap="square">
            <a:spAutoFit/>
          </a:bodyPr>
          <a:lstStyle/>
          <a:p>
            <a:r>
              <a:rPr lang="en-GB" sz="9600" dirty="0"/>
              <a:t>👍</a:t>
            </a:r>
          </a:p>
        </p:txBody>
      </p:sp>
      <p:sp>
        <p:nvSpPr>
          <p:cNvPr id="5" name="Rectangle 4"/>
          <p:cNvSpPr/>
          <p:nvPr/>
        </p:nvSpPr>
        <p:spPr>
          <a:xfrm>
            <a:off x="8279026" y="2891908"/>
            <a:ext cx="1415772" cy="1569660"/>
          </a:xfrm>
          <a:prstGeom prst="rect">
            <a:avLst/>
          </a:prstGeom>
        </p:spPr>
        <p:txBody>
          <a:bodyPr wrap="none">
            <a:spAutoFit/>
          </a:bodyPr>
          <a:lstStyle/>
          <a:p>
            <a:r>
              <a:rPr lang="en-GB" sz="9600" dirty="0"/>
              <a:t>👎</a:t>
            </a:r>
          </a:p>
        </p:txBody>
      </p:sp>
      <p:sp>
        <p:nvSpPr>
          <p:cNvPr id="6" name="TextBox 5"/>
          <p:cNvSpPr txBox="1"/>
          <p:nvPr/>
        </p:nvSpPr>
        <p:spPr>
          <a:xfrm>
            <a:off x="8263912" y="4383434"/>
            <a:ext cx="1445999" cy="523220"/>
          </a:xfrm>
          <a:prstGeom prst="rect">
            <a:avLst/>
          </a:prstGeom>
          <a:noFill/>
        </p:spPr>
        <p:txBody>
          <a:bodyPr wrap="square" rtlCol="0">
            <a:spAutoFit/>
          </a:bodyPr>
          <a:lstStyle/>
          <a:p>
            <a:pPr algn="ctr"/>
            <a:r>
              <a:rPr lang="en-GB" sz="2800" dirty="0">
                <a:solidFill>
                  <a:srgbClr val="0070C0"/>
                </a:solidFill>
                <a:latin typeface="Comic Sans MS" panose="030F0702030302020204" pitchFamily="66" charset="0"/>
              </a:rPr>
              <a:t>FALSE</a:t>
            </a:r>
          </a:p>
        </p:txBody>
      </p:sp>
      <p:sp>
        <p:nvSpPr>
          <p:cNvPr id="7" name="TextBox 6"/>
          <p:cNvSpPr txBox="1"/>
          <p:nvPr/>
        </p:nvSpPr>
        <p:spPr>
          <a:xfrm>
            <a:off x="2911688" y="4362450"/>
            <a:ext cx="1445999" cy="523220"/>
          </a:xfrm>
          <a:prstGeom prst="rect">
            <a:avLst/>
          </a:prstGeom>
          <a:noFill/>
        </p:spPr>
        <p:txBody>
          <a:bodyPr wrap="square" rtlCol="0">
            <a:spAutoFit/>
          </a:bodyPr>
          <a:lstStyle/>
          <a:p>
            <a:pPr algn="ctr"/>
            <a:r>
              <a:rPr lang="en-GB" sz="2800" dirty="0">
                <a:solidFill>
                  <a:srgbClr val="0070C0"/>
                </a:solidFill>
                <a:latin typeface="Comic Sans MS" panose="030F0702030302020204" pitchFamily="66" charset="0"/>
              </a:rPr>
              <a:t>TRUE</a:t>
            </a:r>
          </a:p>
        </p:txBody>
      </p:sp>
    </p:spTree>
    <p:extLst>
      <p:ext uri="{BB962C8B-B14F-4D97-AF65-F5344CB8AC3E}">
        <p14:creationId xmlns:p14="http://schemas.microsoft.com/office/powerpoint/2010/main" val="19491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bg1">
                    <a:lumMod val="95000"/>
                  </a:schemeClr>
                </a:solidFill>
              </a:rPr>
              <a:t>The Power of Repetition</a:t>
            </a:r>
          </a:p>
        </p:txBody>
      </p:sp>
      <p:sp>
        <p:nvSpPr>
          <p:cNvPr id="3" name="Content Placeholder 2"/>
          <p:cNvSpPr>
            <a:spLocks noGrp="1"/>
          </p:cNvSpPr>
          <p:nvPr>
            <p:ph idx="1"/>
          </p:nvPr>
        </p:nvSpPr>
        <p:spPr/>
        <p:txBody>
          <a:bodyPr/>
          <a:lstStyle/>
          <a:p>
            <a:pPr marL="0" indent="0">
              <a:buNone/>
            </a:pPr>
            <a:r>
              <a:rPr lang="en-GB" dirty="0">
                <a:solidFill>
                  <a:schemeClr val="bg1">
                    <a:lumMod val="95000"/>
                  </a:schemeClr>
                </a:solidFill>
              </a:rPr>
              <a:t>Why do we need loops?</a:t>
            </a:r>
          </a:p>
          <a:p>
            <a:pPr marL="0" indent="0">
              <a:buNone/>
            </a:pPr>
            <a:r>
              <a:rPr lang="en-GB" dirty="0">
                <a:solidFill>
                  <a:schemeClr val="bg1">
                    <a:lumMod val="95000"/>
                  </a:schemeClr>
                </a:solidFill>
              </a:rPr>
              <a:t>Imagine writing a program to print 'Hello World' 1,000 times. You could copy and paste 1,000 lines, but what if you needed to change the message later?</a:t>
            </a:r>
          </a:p>
          <a:p>
            <a:pPr marL="0" indent="0">
              <a:buNone/>
            </a:pPr>
            <a:r>
              <a:rPr lang="en-GB" b="1" dirty="0">
                <a:solidFill>
                  <a:schemeClr val="bg1">
                    <a:lumMod val="95000"/>
                  </a:schemeClr>
                </a:solidFill>
              </a:rPr>
              <a:t>Loops</a:t>
            </a:r>
            <a:r>
              <a:rPr lang="en-GB" dirty="0">
                <a:solidFill>
                  <a:schemeClr val="bg1">
                    <a:lumMod val="95000"/>
                  </a:schemeClr>
                </a:solidFill>
              </a:rPr>
              <a:t> allow us to write a block of code once and run it as many times as needed.</a:t>
            </a:r>
          </a:p>
          <a:p>
            <a:pPr marL="0" indent="0">
              <a:buNone/>
            </a:pPr>
            <a:endParaRPr lang="en-GB" dirty="0">
              <a:solidFill>
                <a:schemeClr val="bg1">
                  <a:lumMod val="95000"/>
                </a:schemeClr>
              </a:solidFill>
            </a:endParaRPr>
          </a:p>
        </p:txBody>
      </p:sp>
      <p:sp>
        <p:nvSpPr>
          <p:cNvPr id="4" name="Rounded Rectangle 3"/>
          <p:cNvSpPr/>
          <p:nvPr/>
        </p:nvSpPr>
        <p:spPr>
          <a:xfrm>
            <a:off x="7711612" y="4769804"/>
            <a:ext cx="3931920" cy="1657994"/>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Key Point</a:t>
            </a:r>
          </a:p>
          <a:p>
            <a:r>
              <a:rPr lang="en-GB" dirty="0"/>
              <a:t>Loops make code shorter, easier to read, and much more maintainable. This is the ‘DRY’ principle: </a:t>
            </a:r>
          </a:p>
          <a:p>
            <a:r>
              <a:rPr lang="en-GB" dirty="0">
                <a:solidFill>
                  <a:srgbClr val="FFFF00"/>
                </a:solidFill>
              </a:rPr>
              <a:t>Don’t Repeat Yourself</a:t>
            </a:r>
          </a:p>
        </p:txBody>
      </p:sp>
      <p:pic>
        <p:nvPicPr>
          <p:cNvPr id="14338" name="Picture 2" descr="Eat Sleep Code Repeat Wallpaper in 4K"/>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8356" b="34579"/>
          <a:stretch/>
        </p:blipFill>
        <p:spPr bwMode="auto">
          <a:xfrm>
            <a:off x="0" y="4925913"/>
            <a:ext cx="4847771" cy="1946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8681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FOR Loop Structure</a:t>
            </a:r>
          </a:p>
        </p:txBody>
      </p:sp>
      <p:sp>
        <p:nvSpPr>
          <p:cNvPr id="3" name="Content Placeholder 2"/>
          <p:cNvSpPr>
            <a:spLocks noGrp="1"/>
          </p:cNvSpPr>
          <p:nvPr>
            <p:ph idx="1"/>
          </p:nvPr>
        </p:nvSpPr>
        <p:spPr>
          <a:xfrm>
            <a:off x="276225" y="1571625"/>
            <a:ext cx="11780289" cy="4605338"/>
          </a:xfrm>
        </p:spPr>
        <p:txBody>
          <a:bodyPr/>
          <a:lstStyle/>
          <a:p>
            <a:pPr marL="0" indent="0">
              <a:buNone/>
            </a:pPr>
            <a:r>
              <a:rPr lang="en-GB" dirty="0"/>
              <a:t>A For loop is used when you know exactly how many times you want to repeat a task – this is called a </a:t>
            </a:r>
            <a:r>
              <a:rPr lang="en-GB" b="1" dirty="0"/>
              <a:t>count controlled loop</a:t>
            </a:r>
            <a:r>
              <a:rPr lang="en-GB" dirty="0"/>
              <a:t>. It uses a counter to keep track of the repetitions.</a:t>
            </a:r>
          </a:p>
        </p:txBody>
      </p:sp>
      <p:pic>
        <p:nvPicPr>
          <p:cNvPr id="4" name="Picture 3"/>
          <p:cNvPicPr>
            <a:picLocks noChangeAspect="1"/>
          </p:cNvPicPr>
          <p:nvPr/>
        </p:nvPicPr>
        <p:blipFill>
          <a:blip r:embed="rId2"/>
          <a:stretch>
            <a:fillRect/>
          </a:stretch>
        </p:blipFill>
        <p:spPr>
          <a:xfrm>
            <a:off x="1161381" y="2928485"/>
            <a:ext cx="9583487" cy="3248478"/>
          </a:xfrm>
          <a:prstGeom prst="rect">
            <a:avLst/>
          </a:prstGeom>
        </p:spPr>
      </p:pic>
      <p:grpSp>
        <p:nvGrpSpPr>
          <p:cNvPr id="5" name="Group 4"/>
          <p:cNvGrpSpPr/>
          <p:nvPr/>
        </p:nvGrpSpPr>
        <p:grpSpPr>
          <a:xfrm>
            <a:off x="7886700" y="5299788"/>
            <a:ext cx="4169814" cy="1591154"/>
            <a:chOff x="3957863" y="2031074"/>
            <a:chExt cx="3364446" cy="1591154"/>
          </a:xfrm>
        </p:grpSpPr>
        <p:sp>
          <p:nvSpPr>
            <p:cNvPr id="6" name="Rounded Rectangle 5"/>
            <p:cNvSpPr/>
            <p:nvPr/>
          </p:nvSpPr>
          <p:spPr>
            <a:xfrm>
              <a:off x="4741764" y="2031074"/>
              <a:ext cx="980367" cy="815262"/>
            </a:xfrm>
            <a:prstGeom prst="round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7" name="Straight Connector 6"/>
            <p:cNvCxnSpPr/>
            <p:nvPr/>
          </p:nvCxnSpPr>
          <p:spPr>
            <a:xfrm flipV="1">
              <a:off x="5231948" y="2850695"/>
              <a:ext cx="0" cy="250403"/>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957863" y="2975897"/>
              <a:ext cx="3364446" cy="646331"/>
            </a:xfrm>
            <a:prstGeom prst="rect">
              <a:avLst/>
            </a:prstGeom>
            <a:noFill/>
          </p:spPr>
          <p:txBody>
            <a:bodyPr wrap="square" rtlCol="0">
              <a:spAutoFit/>
            </a:bodyPr>
            <a:lstStyle/>
            <a:p>
              <a:pPr algn="ctr"/>
              <a:r>
                <a:rPr lang="en-GB" dirty="0"/>
                <a:t>This is a fancy looking piece of code. But all it does is increase (increment) i by 1.</a:t>
              </a:r>
            </a:p>
          </p:txBody>
        </p:sp>
      </p:grpSp>
    </p:spTree>
    <p:extLst>
      <p:ext uri="{BB962C8B-B14F-4D97-AF65-F5344CB8AC3E}">
        <p14:creationId xmlns:p14="http://schemas.microsoft.com/office/powerpoint/2010/main" val="2534900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2">
            <a:lumMod val="75000"/>
          </a:schemeClr>
        </a:solidFill>
        <a:effectLst/>
      </p:bgPr>
    </p:bg>
    <p:spTree>
      <p:nvGrpSpPr>
        <p:cNvPr id="1" name=""/>
        <p:cNvGrpSpPr/>
        <p:nvPr/>
      </p:nvGrpSpPr>
      <p:grpSpPr>
        <a:xfrm>
          <a:off x="0" y="0"/>
          <a:ext cx="0" cy="0"/>
          <a:chOff x="0" y="0"/>
          <a:chExt cx="0" cy="0"/>
        </a:xfrm>
      </p:grpSpPr>
      <p:sp>
        <p:nvSpPr>
          <p:cNvPr id="19" name="Rounded Rectangle 18"/>
          <p:cNvSpPr/>
          <p:nvPr/>
        </p:nvSpPr>
        <p:spPr>
          <a:xfrm>
            <a:off x="6259827" y="3933239"/>
            <a:ext cx="5793429" cy="2743785"/>
          </a:xfrm>
          <a:prstGeom prst="roundRect">
            <a:avLst>
              <a:gd name="adj" fmla="val 5234"/>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Example</a:t>
            </a:r>
          </a:p>
          <a:p>
            <a:r>
              <a:rPr lang="en-GB" dirty="0"/>
              <a:t>Printing 1 to 5:</a:t>
            </a:r>
          </a:p>
          <a:p>
            <a:endParaRPr lang="en-GB" dirty="0">
              <a:solidFill>
                <a:srgbClr val="FFFF00"/>
              </a:solidFill>
            </a:endParaRPr>
          </a:p>
          <a:p>
            <a:endParaRPr lang="en-GB" dirty="0">
              <a:solidFill>
                <a:srgbClr val="FFFF00"/>
              </a:solidFill>
            </a:endParaRPr>
          </a:p>
          <a:p>
            <a:endParaRPr lang="en-GB" dirty="0">
              <a:solidFill>
                <a:srgbClr val="FFFF00"/>
              </a:solidFill>
            </a:endParaRPr>
          </a:p>
          <a:p>
            <a:endParaRPr lang="en-GB" dirty="0">
              <a:solidFill>
                <a:srgbClr val="FFFF00"/>
              </a:solidFill>
            </a:endParaRPr>
          </a:p>
          <a:p>
            <a:endParaRPr lang="en-GB" dirty="0">
              <a:solidFill>
                <a:srgbClr val="FFFF00"/>
              </a:solidFill>
            </a:endParaRPr>
          </a:p>
          <a:p>
            <a:endParaRPr lang="en-GB" dirty="0">
              <a:solidFill>
                <a:srgbClr val="FFFF00"/>
              </a:solidFill>
            </a:endParaRPr>
          </a:p>
          <a:p>
            <a:endParaRPr lang="en-GB" dirty="0">
              <a:solidFill>
                <a:srgbClr val="FFFF00"/>
              </a:solidFill>
            </a:endParaRPr>
          </a:p>
        </p:txBody>
      </p:sp>
      <p:sp>
        <p:nvSpPr>
          <p:cNvPr id="2" name="Title 1"/>
          <p:cNvSpPr>
            <a:spLocks noGrp="1"/>
          </p:cNvSpPr>
          <p:nvPr>
            <p:ph type="title"/>
          </p:nvPr>
        </p:nvSpPr>
        <p:spPr>
          <a:xfrm>
            <a:off x="23991" y="52055"/>
            <a:ext cx="5558026" cy="2135152"/>
          </a:xfrm>
        </p:spPr>
        <p:txBody>
          <a:bodyPr/>
          <a:lstStyle/>
          <a:p>
            <a:r>
              <a:rPr lang="en-GB" dirty="0">
                <a:solidFill>
                  <a:schemeClr val="tx1"/>
                </a:solidFill>
              </a:rPr>
              <a:t>Anatomy of a For Loop</a:t>
            </a:r>
          </a:p>
        </p:txBody>
      </p:sp>
      <p:sp>
        <p:nvSpPr>
          <p:cNvPr id="3" name="Content Placeholder 2"/>
          <p:cNvSpPr>
            <a:spLocks noGrp="1"/>
          </p:cNvSpPr>
          <p:nvPr>
            <p:ph idx="1"/>
          </p:nvPr>
        </p:nvSpPr>
        <p:spPr>
          <a:xfrm>
            <a:off x="6004882" y="364108"/>
            <a:ext cx="6048375" cy="3232150"/>
          </a:xfrm>
          <a:solidFill>
            <a:schemeClr val="accent5">
              <a:lumMod val="20000"/>
              <a:lumOff val="80000"/>
            </a:schemeClr>
          </a:solidFill>
        </p:spPr>
        <p:txBody>
          <a:bodyPr/>
          <a:lstStyle/>
          <a:p>
            <a:pPr marL="0" indent="0">
              <a:buNone/>
            </a:pPr>
            <a:r>
              <a:rPr lang="en-GB" dirty="0">
                <a:solidFill>
                  <a:schemeClr val="tx1"/>
                </a:solidFill>
              </a:rPr>
              <a:t>In C#, the for loop has three parts:</a:t>
            </a:r>
          </a:p>
          <a:p>
            <a:pPr marL="514350" indent="-514350">
              <a:buFont typeface="+mj-lt"/>
              <a:buAutoNum type="arabicPeriod"/>
            </a:pPr>
            <a:r>
              <a:rPr lang="en-GB" b="1" dirty="0">
                <a:solidFill>
                  <a:schemeClr val="tx1"/>
                </a:solidFill>
              </a:rPr>
              <a:t>Initialiser</a:t>
            </a:r>
            <a:r>
              <a:rPr lang="en-GB" dirty="0">
                <a:solidFill>
                  <a:schemeClr val="tx1"/>
                </a:solidFill>
              </a:rPr>
              <a:t>: Where the counter starts (e.g., int i = 0).</a:t>
            </a:r>
          </a:p>
          <a:p>
            <a:pPr marL="514350" indent="-514350">
              <a:buFont typeface="+mj-lt"/>
              <a:buAutoNum type="arabicPeriod"/>
            </a:pPr>
            <a:r>
              <a:rPr lang="en-GB" b="1" dirty="0">
                <a:solidFill>
                  <a:schemeClr val="tx1"/>
                </a:solidFill>
              </a:rPr>
              <a:t>Condition</a:t>
            </a:r>
            <a:r>
              <a:rPr lang="en-GB" dirty="0">
                <a:solidFill>
                  <a:schemeClr val="tx1"/>
                </a:solidFill>
              </a:rPr>
              <a:t>: How long to keep going (e.g., i &lt; 10).</a:t>
            </a:r>
          </a:p>
          <a:p>
            <a:pPr marL="514350" indent="-514350">
              <a:buFont typeface="+mj-lt"/>
              <a:buAutoNum type="arabicPeriod"/>
            </a:pPr>
            <a:r>
              <a:rPr lang="en-GB" b="1" dirty="0">
                <a:solidFill>
                  <a:schemeClr val="tx1"/>
                </a:solidFill>
              </a:rPr>
              <a:t>Iterator</a:t>
            </a:r>
            <a:r>
              <a:rPr lang="en-GB" dirty="0">
                <a:solidFill>
                  <a:schemeClr val="tx1"/>
                </a:solidFill>
              </a:rPr>
              <a:t>: How to update the counter (e.g., i++).</a:t>
            </a:r>
          </a:p>
        </p:txBody>
      </p:sp>
      <p:pic>
        <p:nvPicPr>
          <p:cNvPr id="4" name="Picture 3"/>
          <p:cNvPicPr>
            <a:picLocks noChangeAspect="1"/>
          </p:cNvPicPr>
          <p:nvPr/>
        </p:nvPicPr>
        <p:blipFill>
          <a:blip r:embed="rId2"/>
          <a:stretch>
            <a:fillRect/>
          </a:stretch>
        </p:blipFill>
        <p:spPr>
          <a:xfrm>
            <a:off x="6886575" y="4686834"/>
            <a:ext cx="4871407" cy="1844687"/>
          </a:xfrm>
          <a:prstGeom prst="rect">
            <a:avLst/>
          </a:prstGeom>
        </p:spPr>
      </p:pic>
      <p:pic>
        <p:nvPicPr>
          <p:cNvPr id="5" name="Picture 4"/>
          <p:cNvPicPr>
            <a:picLocks noChangeAspect="1"/>
          </p:cNvPicPr>
          <p:nvPr/>
        </p:nvPicPr>
        <p:blipFill>
          <a:blip r:embed="rId3"/>
          <a:stretch>
            <a:fillRect/>
          </a:stretch>
        </p:blipFill>
        <p:spPr>
          <a:xfrm>
            <a:off x="323483" y="2635972"/>
            <a:ext cx="5258534" cy="514422"/>
          </a:xfrm>
          <a:prstGeom prst="rect">
            <a:avLst/>
          </a:prstGeom>
        </p:spPr>
      </p:pic>
      <p:grpSp>
        <p:nvGrpSpPr>
          <p:cNvPr id="6" name="Group 5"/>
          <p:cNvGrpSpPr/>
          <p:nvPr/>
        </p:nvGrpSpPr>
        <p:grpSpPr>
          <a:xfrm>
            <a:off x="1000124" y="2635972"/>
            <a:ext cx="2062288" cy="1971226"/>
            <a:chOff x="2660247" y="3366531"/>
            <a:chExt cx="1696284" cy="1971226"/>
          </a:xfrm>
        </p:grpSpPr>
        <p:sp>
          <p:nvSpPr>
            <p:cNvPr id="7" name="Rounded Rectangle 6"/>
            <p:cNvSpPr/>
            <p:nvPr/>
          </p:nvSpPr>
          <p:spPr>
            <a:xfrm>
              <a:off x="2785600" y="3366531"/>
              <a:ext cx="1445578" cy="523948"/>
            </a:xfrm>
            <a:prstGeom prst="roundRect">
              <a:avLst/>
            </a:prstGeom>
            <a:noFill/>
            <a:ln w="381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8" name="Straight Connector 7"/>
            <p:cNvCxnSpPr>
              <a:stCxn id="7" idx="2"/>
            </p:cNvCxnSpPr>
            <p:nvPr/>
          </p:nvCxnSpPr>
          <p:spPr>
            <a:xfrm flipH="1">
              <a:off x="3507971" y="3890479"/>
              <a:ext cx="418" cy="448765"/>
            </a:xfrm>
            <a:prstGeom prst="line">
              <a:avLst/>
            </a:prstGeom>
            <a:ln w="38100">
              <a:solidFill>
                <a:srgbClr val="0070C0"/>
              </a:solidFill>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2660247" y="4414427"/>
              <a:ext cx="1696284" cy="923330"/>
            </a:xfrm>
            <a:prstGeom prst="rect">
              <a:avLst/>
            </a:prstGeom>
            <a:noFill/>
          </p:spPr>
          <p:txBody>
            <a:bodyPr wrap="square" rtlCol="0">
              <a:spAutoFit/>
            </a:bodyPr>
            <a:lstStyle/>
            <a:p>
              <a:pPr algn="ctr"/>
              <a:r>
                <a:rPr lang="en-GB" b="1" dirty="0"/>
                <a:t>Initialiser</a:t>
              </a:r>
            </a:p>
            <a:p>
              <a:pPr algn="ctr"/>
              <a:r>
                <a:rPr lang="en-GB" dirty="0"/>
                <a:t>Where the counter starts</a:t>
              </a:r>
            </a:p>
          </p:txBody>
        </p:sp>
      </p:grpSp>
      <p:grpSp>
        <p:nvGrpSpPr>
          <p:cNvPr id="10" name="Group 9"/>
          <p:cNvGrpSpPr/>
          <p:nvPr/>
        </p:nvGrpSpPr>
        <p:grpSpPr>
          <a:xfrm>
            <a:off x="3160462" y="2636881"/>
            <a:ext cx="1333485" cy="2125356"/>
            <a:chOff x="2743618" y="2460444"/>
            <a:chExt cx="1528705" cy="2125356"/>
          </a:xfrm>
        </p:grpSpPr>
        <p:sp>
          <p:nvSpPr>
            <p:cNvPr id="11" name="Rounded Rectangle 10"/>
            <p:cNvSpPr/>
            <p:nvPr/>
          </p:nvSpPr>
          <p:spPr>
            <a:xfrm>
              <a:off x="2785600" y="2460444"/>
              <a:ext cx="1445578" cy="523948"/>
            </a:xfrm>
            <a:prstGeom prst="roundRect">
              <a:avLst/>
            </a:prstGeom>
            <a:noFill/>
            <a:ln w="381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2" name="Straight Connector 11"/>
            <p:cNvCxnSpPr>
              <a:stCxn id="11" idx="2"/>
            </p:cNvCxnSpPr>
            <p:nvPr/>
          </p:nvCxnSpPr>
          <p:spPr>
            <a:xfrm>
              <a:off x="3508390" y="2984392"/>
              <a:ext cx="0" cy="677746"/>
            </a:xfrm>
            <a:prstGeom prst="line">
              <a:avLst/>
            </a:prstGeom>
            <a:ln w="381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2743618" y="3662470"/>
              <a:ext cx="1528705" cy="923330"/>
            </a:xfrm>
            <a:prstGeom prst="rect">
              <a:avLst/>
            </a:prstGeom>
            <a:noFill/>
            <a:ln>
              <a:noFill/>
            </a:ln>
          </p:spPr>
          <p:txBody>
            <a:bodyPr wrap="square" rtlCol="0">
              <a:spAutoFit/>
            </a:bodyPr>
            <a:lstStyle/>
            <a:p>
              <a:pPr algn="ctr"/>
              <a:r>
                <a:rPr lang="en-GB" b="1" dirty="0"/>
                <a:t>Condition</a:t>
              </a:r>
            </a:p>
            <a:p>
              <a:pPr algn="ctr"/>
              <a:r>
                <a:rPr lang="en-GB" dirty="0"/>
                <a:t>How long to keep going</a:t>
              </a:r>
            </a:p>
          </p:txBody>
        </p:sp>
      </p:grpSp>
      <p:grpSp>
        <p:nvGrpSpPr>
          <p:cNvPr id="14" name="Group 13"/>
          <p:cNvGrpSpPr/>
          <p:nvPr/>
        </p:nvGrpSpPr>
        <p:grpSpPr>
          <a:xfrm>
            <a:off x="4238625" y="2635972"/>
            <a:ext cx="1696516" cy="2835748"/>
            <a:chOff x="1619655" y="2460444"/>
            <a:chExt cx="3776631" cy="2835748"/>
          </a:xfrm>
        </p:grpSpPr>
        <p:sp>
          <p:nvSpPr>
            <p:cNvPr id="15" name="Rounded Rectangle 14"/>
            <p:cNvSpPr/>
            <p:nvPr/>
          </p:nvSpPr>
          <p:spPr>
            <a:xfrm>
              <a:off x="2785600" y="2460444"/>
              <a:ext cx="1445578" cy="523948"/>
            </a:xfrm>
            <a:prstGeom prst="roundRect">
              <a:avLst/>
            </a:prstGeom>
            <a:noFill/>
            <a:ln w="381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6" name="Straight Connector 15"/>
            <p:cNvCxnSpPr>
              <a:stCxn id="15" idx="2"/>
            </p:cNvCxnSpPr>
            <p:nvPr/>
          </p:nvCxnSpPr>
          <p:spPr>
            <a:xfrm>
              <a:off x="3508390" y="2984392"/>
              <a:ext cx="0" cy="1360681"/>
            </a:xfrm>
            <a:prstGeom prst="line">
              <a:avLst/>
            </a:prstGeom>
            <a:ln w="381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619655" y="4372862"/>
              <a:ext cx="3776631" cy="923330"/>
            </a:xfrm>
            <a:prstGeom prst="rect">
              <a:avLst/>
            </a:prstGeom>
            <a:noFill/>
            <a:ln>
              <a:noFill/>
            </a:ln>
          </p:spPr>
          <p:txBody>
            <a:bodyPr wrap="square" rtlCol="0">
              <a:spAutoFit/>
            </a:bodyPr>
            <a:lstStyle/>
            <a:p>
              <a:pPr algn="ctr"/>
              <a:r>
                <a:rPr lang="en-GB" b="1" dirty="0"/>
                <a:t>Iterator</a:t>
              </a:r>
            </a:p>
            <a:p>
              <a:pPr algn="ctr"/>
              <a:r>
                <a:rPr lang="en-GB" dirty="0"/>
                <a:t>How to update the counter</a:t>
              </a:r>
            </a:p>
          </p:txBody>
        </p:sp>
      </p:grpSp>
    </p:spTree>
    <p:extLst>
      <p:ext uri="{BB962C8B-B14F-4D97-AF65-F5344CB8AC3E}">
        <p14:creationId xmlns:p14="http://schemas.microsoft.com/office/powerpoint/2010/main" val="2195205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GB" dirty="0"/>
              <a:t>Check your Knowledge!</a:t>
            </a:r>
          </a:p>
        </p:txBody>
      </p:sp>
      <p:sp>
        <p:nvSpPr>
          <p:cNvPr id="3" name="Content Placeholder 2"/>
          <p:cNvSpPr>
            <a:spLocks noGrp="1"/>
          </p:cNvSpPr>
          <p:nvPr>
            <p:ph idx="1"/>
          </p:nvPr>
        </p:nvSpPr>
        <p:spPr>
          <a:xfrm>
            <a:off x="247650" y="1325563"/>
            <a:ext cx="11772900" cy="4851400"/>
          </a:xfrm>
        </p:spPr>
        <p:txBody>
          <a:bodyPr/>
          <a:lstStyle/>
          <a:p>
            <a:r>
              <a:rPr lang="en-GB" dirty="0"/>
              <a:t>Which part of the for loop defines when the loop should stop running?</a:t>
            </a:r>
          </a:p>
          <a:p>
            <a:endParaRPr lang="en-GB" dirty="0"/>
          </a:p>
          <a:p>
            <a:endParaRPr lang="en-GB" dirty="0"/>
          </a:p>
          <a:p>
            <a:r>
              <a:rPr lang="en-GB" dirty="0"/>
              <a:t>Which part of the for loop defines the counter?</a:t>
            </a:r>
          </a:p>
          <a:p>
            <a:endParaRPr lang="en-GB" dirty="0"/>
          </a:p>
          <a:p>
            <a:endParaRPr lang="en-GB" dirty="0"/>
          </a:p>
          <a:p>
            <a:r>
              <a:rPr lang="en-GB" dirty="0"/>
              <a:t>Which part of the for loop increases the counter after each repetition?</a:t>
            </a:r>
          </a:p>
          <a:p>
            <a:endParaRPr lang="en-GB" dirty="0"/>
          </a:p>
        </p:txBody>
      </p:sp>
      <p:sp>
        <p:nvSpPr>
          <p:cNvPr id="4" name="Content Placeholder 2"/>
          <p:cNvSpPr txBox="1">
            <a:spLocks/>
          </p:cNvSpPr>
          <p:nvPr/>
        </p:nvSpPr>
        <p:spPr>
          <a:xfrm>
            <a:off x="652461" y="1816100"/>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Initialiser</a:t>
            </a:r>
          </a:p>
        </p:txBody>
      </p:sp>
      <p:sp>
        <p:nvSpPr>
          <p:cNvPr id="5" name="Content Placeholder 2"/>
          <p:cNvSpPr txBox="1">
            <a:spLocks/>
          </p:cNvSpPr>
          <p:nvPr/>
        </p:nvSpPr>
        <p:spPr>
          <a:xfrm>
            <a:off x="3505199" y="1816100"/>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Condition</a:t>
            </a:r>
          </a:p>
        </p:txBody>
      </p:sp>
      <p:sp>
        <p:nvSpPr>
          <p:cNvPr id="6" name="Content Placeholder 2"/>
          <p:cNvSpPr txBox="1">
            <a:spLocks/>
          </p:cNvSpPr>
          <p:nvPr/>
        </p:nvSpPr>
        <p:spPr>
          <a:xfrm>
            <a:off x="6357937" y="1816100"/>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Iterator</a:t>
            </a:r>
          </a:p>
        </p:txBody>
      </p:sp>
      <p:sp>
        <p:nvSpPr>
          <p:cNvPr id="7" name="Content Placeholder 2"/>
          <p:cNvSpPr txBox="1">
            <a:spLocks/>
          </p:cNvSpPr>
          <p:nvPr/>
        </p:nvSpPr>
        <p:spPr>
          <a:xfrm>
            <a:off x="9210675" y="1816100"/>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Curly Braces</a:t>
            </a:r>
          </a:p>
        </p:txBody>
      </p:sp>
      <p:sp>
        <p:nvSpPr>
          <p:cNvPr id="8" name="Content Placeholder 2"/>
          <p:cNvSpPr txBox="1">
            <a:spLocks/>
          </p:cNvSpPr>
          <p:nvPr/>
        </p:nvSpPr>
        <p:spPr>
          <a:xfrm>
            <a:off x="652461" y="3459163"/>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Initialiser</a:t>
            </a:r>
          </a:p>
        </p:txBody>
      </p:sp>
      <p:sp>
        <p:nvSpPr>
          <p:cNvPr id="9" name="Content Placeholder 2"/>
          <p:cNvSpPr txBox="1">
            <a:spLocks/>
          </p:cNvSpPr>
          <p:nvPr/>
        </p:nvSpPr>
        <p:spPr>
          <a:xfrm>
            <a:off x="3505199" y="3459163"/>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Condition</a:t>
            </a:r>
          </a:p>
        </p:txBody>
      </p:sp>
      <p:sp>
        <p:nvSpPr>
          <p:cNvPr id="10" name="Content Placeholder 2"/>
          <p:cNvSpPr txBox="1">
            <a:spLocks/>
          </p:cNvSpPr>
          <p:nvPr/>
        </p:nvSpPr>
        <p:spPr>
          <a:xfrm>
            <a:off x="6357937" y="3459163"/>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Iterator</a:t>
            </a:r>
          </a:p>
        </p:txBody>
      </p:sp>
      <p:sp>
        <p:nvSpPr>
          <p:cNvPr id="11" name="Content Placeholder 2"/>
          <p:cNvSpPr txBox="1">
            <a:spLocks/>
          </p:cNvSpPr>
          <p:nvPr/>
        </p:nvSpPr>
        <p:spPr>
          <a:xfrm>
            <a:off x="9210675" y="3459163"/>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Curly Braces</a:t>
            </a:r>
          </a:p>
        </p:txBody>
      </p:sp>
      <p:sp>
        <p:nvSpPr>
          <p:cNvPr id="12" name="Content Placeholder 2"/>
          <p:cNvSpPr txBox="1">
            <a:spLocks/>
          </p:cNvSpPr>
          <p:nvPr/>
        </p:nvSpPr>
        <p:spPr>
          <a:xfrm>
            <a:off x="652461" y="5053808"/>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Initialiser</a:t>
            </a:r>
          </a:p>
        </p:txBody>
      </p:sp>
      <p:sp>
        <p:nvSpPr>
          <p:cNvPr id="13" name="Content Placeholder 2"/>
          <p:cNvSpPr txBox="1">
            <a:spLocks/>
          </p:cNvSpPr>
          <p:nvPr/>
        </p:nvSpPr>
        <p:spPr>
          <a:xfrm>
            <a:off x="3505199" y="5053808"/>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Condition</a:t>
            </a:r>
          </a:p>
        </p:txBody>
      </p:sp>
      <p:sp>
        <p:nvSpPr>
          <p:cNvPr id="14" name="Content Placeholder 2"/>
          <p:cNvSpPr txBox="1">
            <a:spLocks/>
          </p:cNvSpPr>
          <p:nvPr/>
        </p:nvSpPr>
        <p:spPr>
          <a:xfrm>
            <a:off x="6357937" y="5053808"/>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Iterator</a:t>
            </a:r>
          </a:p>
        </p:txBody>
      </p:sp>
      <p:sp>
        <p:nvSpPr>
          <p:cNvPr id="15" name="Content Placeholder 2"/>
          <p:cNvSpPr txBox="1">
            <a:spLocks/>
          </p:cNvSpPr>
          <p:nvPr/>
        </p:nvSpPr>
        <p:spPr>
          <a:xfrm>
            <a:off x="9210675" y="5053808"/>
            <a:ext cx="2743199" cy="584200"/>
          </a:xfrm>
          <a:prstGeom prst="rect">
            <a:avLst/>
          </a:prstGeom>
          <a:solidFill>
            <a:schemeClr val="accent5">
              <a:lumMod val="20000"/>
              <a:lumOff val="80000"/>
            </a:schemeClr>
          </a:solidFill>
          <a:ln w="38100">
            <a:solidFill>
              <a:schemeClr val="tx1"/>
            </a:solidFill>
          </a:ln>
        </p:spPr>
        <p:txBody>
          <a:bodyPr vert="horz" lIns="91440" tIns="45720" rIns="91440" bIns="45720" rtlCol="0" anchor="ctr">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Curly Braces</a:t>
            </a:r>
          </a:p>
        </p:txBody>
      </p:sp>
    </p:spTree>
    <p:extLst>
      <p:ext uri="{BB962C8B-B14F-4D97-AF65-F5344CB8AC3E}">
        <p14:creationId xmlns:p14="http://schemas.microsoft.com/office/powerpoint/2010/main" val="14376054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fill="hold" nodeType="clickEffect">
                                  <p:stCondLst>
                                    <p:cond delay="0"/>
                                  </p:stCondLst>
                                  <p:childTnLst>
                                    <p:animClr clrSpc="rgb" dir="cw">
                                      <p:cBhvr>
                                        <p:cTn id="6" dur="2000" fill="hold"/>
                                        <p:tgtEl>
                                          <p:spTgt spid="5"/>
                                        </p:tgtEl>
                                        <p:attrNameLst>
                                          <p:attrName>fillcolor</p:attrName>
                                        </p:attrNameLst>
                                      </p:cBhvr>
                                      <p:to>
                                        <a:srgbClr val="00B050"/>
                                      </p:to>
                                    </p:animClr>
                                    <p:set>
                                      <p:cBhvr>
                                        <p:cTn id="7" dur="2000" fill="hold"/>
                                        <p:tgtEl>
                                          <p:spTgt spid="5"/>
                                        </p:tgtEl>
                                        <p:attrNameLst>
                                          <p:attrName>fill.type</p:attrName>
                                        </p:attrNameLst>
                                      </p:cBhvr>
                                      <p:to>
                                        <p:strVal val="solid"/>
                                      </p:to>
                                    </p:set>
                                    <p:set>
                                      <p:cBhvr>
                                        <p:cTn id="8" dur="2000" fill="hold"/>
                                        <p:tgtEl>
                                          <p:spTgt spid="5"/>
                                        </p:tgtEl>
                                        <p:attrNameLst>
                                          <p:attrName>fill.on</p:attrName>
                                        </p:attrNameLst>
                                      </p:cBhvr>
                                      <p:to>
                                        <p:strVal val="true"/>
                                      </p:to>
                                    </p:set>
                                  </p:childTnLst>
                                </p:cTn>
                              </p:par>
                            </p:childTnLst>
                          </p:cTn>
                        </p:par>
                      </p:childTnLst>
                    </p:cTn>
                  </p:par>
                  <p:par>
                    <p:cTn id="9" fill="hold">
                      <p:stCondLst>
                        <p:cond delay="indefinite"/>
                      </p:stCondLst>
                      <p:childTnLst>
                        <p:par>
                          <p:cTn id="10" fill="hold">
                            <p:stCondLst>
                              <p:cond delay="0"/>
                            </p:stCondLst>
                            <p:childTnLst>
                              <p:par>
                                <p:cTn id="11" presetID="1" presetClass="emph" presetSubtype="2" fill="hold" nodeType="clickEffect">
                                  <p:stCondLst>
                                    <p:cond delay="0"/>
                                  </p:stCondLst>
                                  <p:childTnLst>
                                    <p:animClr clrSpc="rgb" dir="cw">
                                      <p:cBhvr>
                                        <p:cTn id="12" dur="2000" fill="hold"/>
                                        <p:tgtEl>
                                          <p:spTgt spid="8"/>
                                        </p:tgtEl>
                                        <p:attrNameLst>
                                          <p:attrName>fillcolor</p:attrName>
                                        </p:attrNameLst>
                                      </p:cBhvr>
                                      <p:to>
                                        <a:srgbClr val="00B050"/>
                                      </p:to>
                                    </p:animClr>
                                    <p:set>
                                      <p:cBhvr>
                                        <p:cTn id="13" dur="2000" fill="hold"/>
                                        <p:tgtEl>
                                          <p:spTgt spid="8"/>
                                        </p:tgtEl>
                                        <p:attrNameLst>
                                          <p:attrName>fill.type</p:attrName>
                                        </p:attrNameLst>
                                      </p:cBhvr>
                                      <p:to>
                                        <p:strVal val="solid"/>
                                      </p:to>
                                    </p:set>
                                    <p:set>
                                      <p:cBhvr>
                                        <p:cTn id="14" dur="2000" fill="hold"/>
                                        <p:tgtEl>
                                          <p:spTgt spid="8"/>
                                        </p:tgtEl>
                                        <p:attrNameLst>
                                          <p:attrName>fill.on</p:attrName>
                                        </p:attrNameLst>
                                      </p:cBhvr>
                                      <p:to>
                                        <p:strVal val="true"/>
                                      </p:to>
                                    </p:set>
                                  </p:childTnLst>
                                </p:cTn>
                              </p:par>
                            </p:childTnLst>
                          </p:cTn>
                        </p:par>
                      </p:childTnLst>
                    </p:cTn>
                  </p:par>
                  <p:par>
                    <p:cTn id="15" fill="hold">
                      <p:stCondLst>
                        <p:cond delay="indefinite"/>
                      </p:stCondLst>
                      <p:childTnLst>
                        <p:par>
                          <p:cTn id="16" fill="hold">
                            <p:stCondLst>
                              <p:cond delay="0"/>
                            </p:stCondLst>
                            <p:childTnLst>
                              <p:par>
                                <p:cTn id="17" presetID="1" presetClass="emph" presetSubtype="2" fill="hold" nodeType="clickEffect">
                                  <p:stCondLst>
                                    <p:cond delay="0"/>
                                  </p:stCondLst>
                                  <p:childTnLst>
                                    <p:animClr clrSpc="rgb" dir="cw">
                                      <p:cBhvr>
                                        <p:cTn id="18" dur="2000" fill="hold"/>
                                        <p:tgtEl>
                                          <p:spTgt spid="14"/>
                                        </p:tgtEl>
                                        <p:attrNameLst>
                                          <p:attrName>fillcolor</p:attrName>
                                        </p:attrNameLst>
                                      </p:cBhvr>
                                      <p:to>
                                        <a:srgbClr val="00B050"/>
                                      </p:to>
                                    </p:animClr>
                                    <p:set>
                                      <p:cBhvr>
                                        <p:cTn id="19" dur="2000" fill="hold"/>
                                        <p:tgtEl>
                                          <p:spTgt spid="14"/>
                                        </p:tgtEl>
                                        <p:attrNameLst>
                                          <p:attrName>fill.type</p:attrName>
                                        </p:attrNameLst>
                                      </p:cBhvr>
                                      <p:to>
                                        <p:strVal val="solid"/>
                                      </p:to>
                                    </p:set>
                                    <p:set>
                                      <p:cBhvr>
                                        <p:cTn id="20" dur="2000" fill="hold"/>
                                        <p:tgtEl>
                                          <p:spTgt spid="14"/>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pic>
        <p:nvPicPr>
          <p:cNvPr id="2050" name="Picture 2" descr="Transparent Testing Icon Png - Stick Man Running Png, Png Download ,  Transparent Png Image - PNGitem"/>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604939" y="3900385"/>
            <a:ext cx="1493364" cy="1562823"/>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33350" y="88900"/>
            <a:ext cx="10515600" cy="1325563"/>
          </a:xfrm>
        </p:spPr>
        <p:txBody>
          <a:bodyPr/>
          <a:lstStyle/>
          <a:p>
            <a:r>
              <a:rPr lang="en-GB" dirty="0">
                <a:solidFill>
                  <a:schemeClr val="tx1"/>
                </a:solidFill>
              </a:rPr>
              <a:t>Going around in circles? MORE LOOPS?</a:t>
            </a:r>
          </a:p>
        </p:txBody>
      </p:sp>
      <p:sp>
        <p:nvSpPr>
          <p:cNvPr id="3" name="Content Placeholder 2"/>
          <p:cNvSpPr>
            <a:spLocks noGrp="1"/>
          </p:cNvSpPr>
          <p:nvPr>
            <p:ph idx="1"/>
          </p:nvPr>
        </p:nvSpPr>
        <p:spPr>
          <a:xfrm>
            <a:off x="771525" y="1311275"/>
            <a:ext cx="4743450" cy="4351338"/>
          </a:xfrm>
        </p:spPr>
        <p:txBody>
          <a:bodyPr/>
          <a:lstStyle/>
          <a:p>
            <a:pPr marL="0" indent="0">
              <a:buNone/>
            </a:pPr>
            <a:r>
              <a:rPr lang="en-GB" dirty="0">
                <a:solidFill>
                  <a:schemeClr val="tx1"/>
                </a:solidFill>
              </a:rPr>
              <a:t>The FOR Loop</a:t>
            </a:r>
          </a:p>
          <a:p>
            <a:pPr marL="0" indent="0">
              <a:buNone/>
            </a:pPr>
            <a:endParaRPr lang="en-GB" dirty="0">
              <a:solidFill>
                <a:schemeClr val="tx1"/>
              </a:solidFill>
            </a:endParaRPr>
          </a:p>
          <a:p>
            <a:pPr marL="0" indent="0">
              <a:buNone/>
            </a:pPr>
            <a:r>
              <a:rPr lang="en-GB" dirty="0">
                <a:solidFill>
                  <a:schemeClr val="tx1"/>
                </a:solidFill>
              </a:rPr>
              <a:t>This is best for definite iteration, where we know how many times we want to repeat.</a:t>
            </a:r>
          </a:p>
        </p:txBody>
      </p:sp>
      <p:sp>
        <p:nvSpPr>
          <p:cNvPr id="4" name="Content Placeholder 2"/>
          <p:cNvSpPr txBox="1">
            <a:spLocks/>
          </p:cNvSpPr>
          <p:nvPr/>
        </p:nvSpPr>
        <p:spPr>
          <a:xfrm>
            <a:off x="6357288" y="986457"/>
            <a:ext cx="5343525"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dirty="0"/>
              <a:t>The WHILE Loop</a:t>
            </a:r>
          </a:p>
          <a:p>
            <a:pPr marL="0" indent="0">
              <a:buFont typeface="Arial" panose="020B0604020202020204" pitchFamily="34" charset="0"/>
              <a:buNone/>
            </a:pPr>
            <a:r>
              <a:rPr lang="en-GB" dirty="0"/>
              <a:t>This is best for indefinite iteration, where we don’t know how many times it will run – like waiting for a user to enter the correct password</a:t>
            </a:r>
          </a:p>
        </p:txBody>
      </p:sp>
      <p:pic>
        <p:nvPicPr>
          <p:cNvPr id="5122" name="Picture 2" descr="Shape – Looping Adaptable Procedures – Scratch Schoo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2427" y="3900385"/>
            <a:ext cx="3038821" cy="214199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Scratch and Python Syntax"/>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8339" y="3577820"/>
            <a:ext cx="4756150" cy="2187242"/>
          </a:xfrm>
          <a:prstGeom prst="rect">
            <a:avLst/>
          </a:prstGeom>
          <a:noFill/>
          <a:extLst>
            <a:ext uri="{909E8E84-426E-40DD-AFC4-6F175D3DCCD1}">
              <a14:hiddenFill xmlns:a14="http://schemas.microsoft.com/office/drawing/2010/main">
                <a:solidFill>
                  <a:srgbClr val="FFFFFF"/>
                </a:solidFill>
              </a14:hiddenFill>
            </a:ext>
          </a:extLst>
        </p:spPr>
      </p:pic>
      <p:sp>
        <p:nvSpPr>
          <p:cNvPr id="7" name="Rounded Rectangle 6"/>
          <p:cNvSpPr/>
          <p:nvPr/>
        </p:nvSpPr>
        <p:spPr>
          <a:xfrm>
            <a:off x="8144828" y="5360020"/>
            <a:ext cx="3931920" cy="1393205"/>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Watch Out!</a:t>
            </a:r>
          </a:p>
          <a:p>
            <a:r>
              <a:rPr lang="en-GB" dirty="0"/>
              <a:t>Scratch doesn’t actually have an explicit “WHILE” loop, so this repeat until loop actually does the opposite – when the condition becomes </a:t>
            </a:r>
            <a:r>
              <a:rPr lang="en-GB" dirty="0">
                <a:solidFill>
                  <a:srgbClr val="FFFF00"/>
                </a:solidFill>
              </a:rPr>
              <a:t>true</a:t>
            </a:r>
            <a:r>
              <a:rPr lang="en-GB" dirty="0"/>
              <a:t>.</a:t>
            </a:r>
            <a:endParaRPr lang="en-GB" dirty="0">
              <a:solidFill>
                <a:srgbClr val="FFFF00"/>
              </a:solidFill>
            </a:endParaRPr>
          </a:p>
        </p:txBody>
      </p:sp>
      <p:pic>
        <p:nvPicPr>
          <p:cNvPr id="8" name="Picture 7" descr="Running track clipart. Free download transparent .PNG | Creazilla"/>
          <p:cNvPicPr/>
          <p:nvPr/>
        </p:nvPicPr>
        <p:blipFill>
          <a:blip r:embed="rId5" cstate="print">
            <a:extLst>
              <a:ext uri="{28A0092B-C50C-407E-A947-70E740481C1C}">
                <a14:useLocalDpi xmlns:a14="http://schemas.microsoft.com/office/drawing/2010/main" val="0"/>
              </a:ext>
            </a:extLst>
          </a:blip>
          <a:srcRect/>
          <a:stretch>
            <a:fillRect/>
          </a:stretch>
        </p:blipFill>
        <p:spPr bwMode="auto">
          <a:xfrm rot="5400000">
            <a:off x="3509449" y="4276109"/>
            <a:ext cx="1773702" cy="1204204"/>
          </a:xfrm>
          <a:prstGeom prst="rect">
            <a:avLst/>
          </a:prstGeom>
          <a:noFill/>
        </p:spPr>
      </p:pic>
    </p:spTree>
    <p:extLst>
      <p:ext uri="{BB962C8B-B14F-4D97-AF65-F5344CB8AC3E}">
        <p14:creationId xmlns:p14="http://schemas.microsoft.com/office/powerpoint/2010/main" val="2688156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Anatomy of a While Loop</a:t>
            </a:r>
          </a:p>
        </p:txBody>
      </p:sp>
      <p:sp>
        <p:nvSpPr>
          <p:cNvPr id="3" name="Content Placeholder 2"/>
          <p:cNvSpPr>
            <a:spLocks noGrp="1"/>
          </p:cNvSpPr>
          <p:nvPr>
            <p:ph idx="1"/>
          </p:nvPr>
        </p:nvSpPr>
        <p:spPr>
          <a:xfrm>
            <a:off x="504825" y="1939925"/>
            <a:ext cx="5495925" cy="4351338"/>
          </a:xfrm>
        </p:spPr>
        <p:txBody>
          <a:bodyPr/>
          <a:lstStyle/>
          <a:p>
            <a:pPr marL="0" indent="0">
              <a:buNone/>
            </a:pPr>
            <a:r>
              <a:rPr lang="en-GB" i="0" u="none" strike="noStrike" dirty="0">
                <a:effectLst/>
              </a:rPr>
              <a:t>The </a:t>
            </a:r>
            <a:r>
              <a:rPr lang="en-GB" b="1" i="0" u="none" strike="noStrike" dirty="0">
                <a:effectLst/>
              </a:rPr>
              <a:t>while loop</a:t>
            </a:r>
            <a:r>
              <a:rPr lang="en-GB" i="0" u="none" strike="noStrike" dirty="0">
                <a:effectLst/>
              </a:rPr>
              <a:t> checks a condition </a:t>
            </a:r>
            <a:r>
              <a:rPr lang="en-GB" i="1" u="none" strike="noStrike" dirty="0">
                <a:effectLst/>
              </a:rPr>
              <a:t>before</a:t>
            </a:r>
            <a:r>
              <a:rPr lang="en-GB" i="0" u="none" strike="noStrike" dirty="0">
                <a:effectLst/>
              </a:rPr>
              <a:t> executing the code block. If the condition is true, the code runs, then it checks again.</a:t>
            </a:r>
          </a:p>
          <a:p>
            <a:pPr marL="0" indent="0">
              <a:buNone/>
            </a:pPr>
            <a:r>
              <a:rPr lang="en-GB" b="1" dirty="0"/>
              <a:t>Logic Flow</a:t>
            </a:r>
            <a:endParaRPr lang="en-GB" dirty="0"/>
          </a:p>
          <a:p>
            <a:r>
              <a:rPr lang="en-GB" dirty="0"/>
              <a:t>Check Condition</a:t>
            </a:r>
          </a:p>
          <a:p>
            <a:r>
              <a:rPr lang="en-GB" dirty="0"/>
              <a:t>Run Code (if true)</a:t>
            </a:r>
          </a:p>
          <a:p>
            <a:r>
              <a:rPr lang="en-GB" dirty="0"/>
              <a:t>Repeat until false</a:t>
            </a:r>
          </a:p>
          <a:p>
            <a:endParaRPr lang="en-GB" dirty="0"/>
          </a:p>
        </p:txBody>
      </p:sp>
      <p:pic>
        <p:nvPicPr>
          <p:cNvPr id="4" name="Picture 3"/>
          <p:cNvPicPr>
            <a:picLocks noChangeAspect="1"/>
          </p:cNvPicPr>
          <p:nvPr/>
        </p:nvPicPr>
        <p:blipFill>
          <a:blip r:embed="rId2"/>
          <a:stretch>
            <a:fillRect/>
          </a:stretch>
        </p:blipFill>
        <p:spPr>
          <a:xfrm>
            <a:off x="6814844" y="1939925"/>
            <a:ext cx="4201111" cy="3962953"/>
          </a:xfrm>
          <a:prstGeom prst="rect">
            <a:avLst/>
          </a:prstGeom>
        </p:spPr>
      </p:pic>
    </p:spTree>
    <p:extLst>
      <p:ext uri="{BB962C8B-B14F-4D97-AF65-F5344CB8AC3E}">
        <p14:creationId xmlns:p14="http://schemas.microsoft.com/office/powerpoint/2010/main" val="2104228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GB" dirty="0">
                <a:solidFill>
                  <a:schemeClr val="tx1"/>
                </a:solidFill>
              </a:rPr>
              <a:t>The WHILE loop is fairly straightforward to write, as it looks a lot like the if statement we learnt previously. This time, however, </a:t>
            </a:r>
          </a:p>
        </p:txBody>
      </p:sp>
      <p:pic>
        <p:nvPicPr>
          <p:cNvPr id="4" name="Picture 3"/>
          <p:cNvPicPr>
            <a:picLocks noChangeAspect="1"/>
          </p:cNvPicPr>
          <p:nvPr/>
        </p:nvPicPr>
        <p:blipFill>
          <a:blip r:embed="rId2"/>
          <a:stretch>
            <a:fillRect/>
          </a:stretch>
        </p:blipFill>
        <p:spPr>
          <a:xfrm>
            <a:off x="2299541" y="3376394"/>
            <a:ext cx="7527365" cy="2205256"/>
          </a:xfrm>
          <a:prstGeom prst="rect">
            <a:avLst/>
          </a:prstGeom>
        </p:spPr>
      </p:pic>
      <p:sp>
        <p:nvSpPr>
          <p:cNvPr id="5" name="Rounded Rectangle 4"/>
          <p:cNvSpPr/>
          <p:nvPr/>
        </p:nvSpPr>
        <p:spPr>
          <a:xfrm>
            <a:off x="7093590" y="5052152"/>
            <a:ext cx="5023657" cy="1745777"/>
          </a:xfrm>
          <a:prstGeom prst="roundRect">
            <a:avLst>
              <a:gd name="adj" fmla="val 6623"/>
            </a:avLst>
          </a:prstGeom>
          <a:solidFill>
            <a:schemeClr val="tx1"/>
          </a:solidFill>
          <a:ln>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GB" b="1" dirty="0">
                <a:solidFill>
                  <a:srgbClr val="FFFF00"/>
                </a:solidFill>
                <a:sym typeface="Wingdings" panose="05000000000000000000" pitchFamily="2" charset="2"/>
              </a:rPr>
              <a:t>📖</a:t>
            </a:r>
            <a:r>
              <a:rPr lang="en-GB" dirty="0"/>
              <a:t> Key Point</a:t>
            </a:r>
          </a:p>
          <a:p>
            <a:r>
              <a:rPr lang="en-GB" dirty="0"/>
              <a:t>!= means not equals to (≠) in C#</a:t>
            </a:r>
          </a:p>
          <a:p>
            <a:r>
              <a:rPr lang="en-GB" dirty="0">
                <a:solidFill>
                  <a:schemeClr val="bg1"/>
                </a:solidFill>
              </a:rPr>
              <a:t>We don’t know how many times the user will enter in the password incorrectly, but this will repeat until the user enters in the correct password</a:t>
            </a:r>
          </a:p>
        </p:txBody>
      </p:sp>
    </p:spTree>
    <p:extLst>
      <p:ext uri="{BB962C8B-B14F-4D97-AF65-F5344CB8AC3E}">
        <p14:creationId xmlns:p14="http://schemas.microsoft.com/office/powerpoint/2010/main" val="2082133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Choosing the Right Tool</a:t>
            </a:r>
          </a:p>
        </p:txBody>
      </p:sp>
      <p:sp>
        <p:nvSpPr>
          <p:cNvPr id="3" name="Content Placeholder 2"/>
          <p:cNvSpPr>
            <a:spLocks noGrp="1"/>
          </p:cNvSpPr>
          <p:nvPr>
            <p:ph idx="1"/>
          </p:nvPr>
        </p:nvSpPr>
        <p:spPr>
          <a:xfrm>
            <a:off x="152400" y="1825626"/>
            <a:ext cx="11906250" cy="1422400"/>
          </a:xfrm>
        </p:spPr>
        <p:txBody>
          <a:bodyPr>
            <a:normAutofit fontScale="92500" lnSpcReduction="20000"/>
          </a:bodyPr>
          <a:lstStyle/>
          <a:p>
            <a:pPr marL="0" indent="0">
              <a:buNone/>
            </a:pPr>
            <a:r>
              <a:rPr lang="en-GB" i="0" u="none" strike="noStrike" dirty="0">
                <a:effectLst/>
              </a:rPr>
              <a:t>A key skill in programming is knowing </a:t>
            </a:r>
            <a:r>
              <a:rPr lang="en-GB" i="1" u="none" strike="noStrike" dirty="0">
                <a:effectLst/>
              </a:rPr>
              <a:t>when</a:t>
            </a:r>
            <a:r>
              <a:rPr lang="en-GB" i="0" u="none" strike="noStrike" dirty="0">
                <a:effectLst/>
              </a:rPr>
              <a:t> to use a </a:t>
            </a:r>
            <a:r>
              <a:rPr lang="en-GB" b="1" i="0" u="none" strike="noStrike" dirty="0">
                <a:effectLst/>
              </a:rPr>
              <a:t>For Loop</a:t>
            </a:r>
            <a:r>
              <a:rPr lang="en-GB" i="0" u="none" strike="noStrike" dirty="0">
                <a:effectLst/>
              </a:rPr>
              <a:t> (definite iteration) and when to use a </a:t>
            </a:r>
            <a:r>
              <a:rPr lang="en-GB" b="1" i="0" u="none" strike="noStrike" dirty="0">
                <a:effectLst/>
              </a:rPr>
              <a:t>While Loop</a:t>
            </a:r>
            <a:r>
              <a:rPr lang="en-GB" i="0" u="none" strike="noStrike" dirty="0">
                <a:effectLst/>
              </a:rPr>
              <a:t> (indefinite iteration).</a:t>
            </a:r>
            <a:endParaRPr lang="en-GB" dirty="0">
              <a:effectLst/>
            </a:endParaRPr>
          </a:p>
          <a:p>
            <a:pPr marL="0" indent="0">
              <a:buNone/>
            </a:pPr>
            <a:r>
              <a:rPr lang="en-GB" i="0" u="none" strike="noStrike" dirty="0">
                <a:effectLst/>
              </a:rPr>
              <a:t>Read the scenarios below. Decide which loop type is best and briefly explain why.</a:t>
            </a:r>
            <a:endParaRPr lang="en-GB" dirty="0">
              <a:effectLst/>
            </a:endParaRPr>
          </a:p>
        </p:txBody>
      </p:sp>
      <p:graphicFrame>
        <p:nvGraphicFramePr>
          <p:cNvPr id="4" name="Table 3"/>
          <p:cNvGraphicFramePr>
            <a:graphicFrameLocks noGrp="1"/>
          </p:cNvGraphicFramePr>
          <p:nvPr/>
        </p:nvGraphicFramePr>
        <p:xfrm>
          <a:off x="228600" y="3382962"/>
          <a:ext cx="11763374" cy="3313112"/>
        </p:xfrm>
        <a:graphic>
          <a:graphicData uri="http://schemas.openxmlformats.org/drawingml/2006/table">
            <a:tbl>
              <a:tblPr firstRow="1" bandRow="1">
                <a:tableStyleId>{5C22544A-7EE6-4342-B048-85BDC9FD1C3A}</a:tableStyleId>
              </a:tblPr>
              <a:tblGrid>
                <a:gridCol w="4469593">
                  <a:extLst>
                    <a:ext uri="{9D8B030D-6E8A-4147-A177-3AD203B41FA5}">
                      <a16:colId xmlns:a16="http://schemas.microsoft.com/office/drawing/2014/main" xmlns="" val="20000"/>
                    </a:ext>
                  </a:extLst>
                </a:gridCol>
                <a:gridCol w="7293781">
                  <a:extLst>
                    <a:ext uri="{9D8B030D-6E8A-4147-A177-3AD203B41FA5}">
                      <a16:colId xmlns:a16="http://schemas.microsoft.com/office/drawing/2014/main" xmlns="" val="20001"/>
                    </a:ext>
                  </a:extLst>
                </a:gridCol>
              </a:tblGrid>
              <a:tr h="828278">
                <a:tc>
                  <a:txBody>
                    <a:bodyPr/>
                    <a:lstStyle/>
                    <a:p>
                      <a:r>
                        <a:rPr lang="en-GB" dirty="0"/>
                        <a:t>Scenario</a:t>
                      </a:r>
                    </a:p>
                  </a:txBody>
                  <a:tcPr/>
                </a:tc>
                <a:tc>
                  <a:txBody>
                    <a:bodyPr/>
                    <a:lstStyle/>
                    <a:p>
                      <a:r>
                        <a:rPr lang="en-GB" dirty="0"/>
                        <a:t>Loop Type &amp; Reason</a:t>
                      </a:r>
                    </a:p>
                  </a:txBody>
                  <a:tcPr/>
                </a:tc>
                <a:extLst>
                  <a:ext uri="{0D108BD9-81ED-4DB2-BD59-A6C34878D82A}">
                    <a16:rowId xmlns:a16="http://schemas.microsoft.com/office/drawing/2014/main" xmlns="" val="10000"/>
                  </a:ext>
                </a:extLst>
              </a:tr>
              <a:tr h="828278">
                <a:tc>
                  <a:txBody>
                    <a:bodyPr/>
                    <a:lstStyle/>
                    <a:p>
                      <a:r>
                        <a:rPr lang="en-GB" dirty="0"/>
                        <a:t>Printing the 12 times table for a specific number.</a:t>
                      </a:r>
                    </a:p>
                  </a:txBody>
                  <a:tcPr/>
                </a:tc>
                <a:tc>
                  <a:txBody>
                    <a:bodyPr/>
                    <a:lstStyle/>
                    <a:p>
                      <a:endParaRPr lang="en-GB"/>
                    </a:p>
                  </a:txBody>
                  <a:tcPr/>
                </a:tc>
                <a:extLst>
                  <a:ext uri="{0D108BD9-81ED-4DB2-BD59-A6C34878D82A}">
                    <a16:rowId xmlns:a16="http://schemas.microsoft.com/office/drawing/2014/main" xmlns="" val="10001"/>
                  </a:ext>
                </a:extLst>
              </a:tr>
              <a:tr h="828278">
                <a:tc>
                  <a:txBody>
                    <a:bodyPr/>
                    <a:lstStyle/>
                    <a:p>
                      <a:r>
                        <a:rPr lang="en-GB" dirty="0"/>
                        <a:t>Waiting for a user to type in the correct password to log into</a:t>
                      </a:r>
                      <a:r>
                        <a:rPr lang="en-GB" baseline="0" dirty="0"/>
                        <a:t> a computer system.</a:t>
                      </a:r>
                      <a:endParaRPr lang="en-GB" dirty="0"/>
                    </a:p>
                  </a:txBody>
                  <a:tcPr/>
                </a:tc>
                <a:tc>
                  <a:txBody>
                    <a:bodyPr/>
                    <a:lstStyle/>
                    <a:p>
                      <a:endParaRPr lang="en-GB" dirty="0"/>
                    </a:p>
                  </a:txBody>
                  <a:tcPr/>
                </a:tc>
                <a:extLst>
                  <a:ext uri="{0D108BD9-81ED-4DB2-BD59-A6C34878D82A}">
                    <a16:rowId xmlns:a16="http://schemas.microsoft.com/office/drawing/2014/main" xmlns="" val="10002"/>
                  </a:ext>
                </a:extLst>
              </a:tr>
              <a:tr h="828278">
                <a:tc>
                  <a:txBody>
                    <a:bodyPr/>
                    <a:lstStyle/>
                    <a:p>
                      <a:r>
                        <a:rPr lang="en-GB" dirty="0"/>
                        <a:t>A game where a player keeps guessing a secret number until they get it right.</a:t>
                      </a:r>
                    </a:p>
                  </a:txBody>
                  <a:tcPr/>
                </a:tc>
                <a:tc>
                  <a:txBody>
                    <a:bodyPr/>
                    <a:lstStyle/>
                    <a:p>
                      <a:endParaRPr lang="en-GB" dirty="0"/>
                    </a:p>
                  </a:txBody>
                  <a:tcPr/>
                </a:tc>
                <a:extLst>
                  <a:ext uri="{0D108BD9-81ED-4DB2-BD59-A6C34878D82A}">
                    <a16:rowId xmlns:a16="http://schemas.microsoft.com/office/drawing/2014/main" xmlns="" val="10003"/>
                  </a:ext>
                </a:extLst>
              </a:tr>
            </a:tbl>
          </a:graphicData>
        </a:graphic>
      </p:graphicFrame>
      <p:sp>
        <p:nvSpPr>
          <p:cNvPr id="5" name="Rectangle 4"/>
          <p:cNvSpPr/>
          <p:nvPr/>
        </p:nvSpPr>
        <p:spPr>
          <a:xfrm>
            <a:off x="4743450" y="4238625"/>
            <a:ext cx="7096125" cy="790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effectLst/>
              </a:rPr>
              <a:t>For Loop (We know exactly how many times it needs to run - 12 times)</a:t>
            </a:r>
            <a:endParaRPr lang="en-GB" dirty="0">
              <a:solidFill>
                <a:srgbClr val="FF0000"/>
              </a:solidFill>
            </a:endParaRPr>
          </a:p>
        </p:txBody>
      </p:sp>
      <p:sp>
        <p:nvSpPr>
          <p:cNvPr id="6" name="Rectangle 5"/>
          <p:cNvSpPr/>
          <p:nvPr/>
        </p:nvSpPr>
        <p:spPr>
          <a:xfrm>
            <a:off x="4743449" y="5029200"/>
            <a:ext cx="7096125" cy="790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effectLst/>
              </a:rPr>
              <a:t>While Loop (We don't know how many attempts the user will take)</a:t>
            </a:r>
            <a:endParaRPr lang="en-GB" dirty="0">
              <a:solidFill>
                <a:srgbClr val="FF0000"/>
              </a:solidFill>
            </a:endParaRPr>
          </a:p>
        </p:txBody>
      </p:sp>
      <p:sp>
        <p:nvSpPr>
          <p:cNvPr id="7" name="Rectangle 6"/>
          <p:cNvSpPr/>
          <p:nvPr/>
        </p:nvSpPr>
        <p:spPr>
          <a:xfrm>
            <a:off x="4743449" y="5888036"/>
            <a:ext cx="7096125" cy="7905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rgbClr val="FF0000"/>
                </a:solidFill>
                <a:effectLst/>
              </a:rPr>
              <a:t>While Loop (We don't know how many guesses it will take before the condition becomes true)</a:t>
            </a:r>
            <a:endParaRPr lang="en-GB" dirty="0">
              <a:solidFill>
                <a:srgbClr val="FF0000"/>
              </a:solidFill>
            </a:endParaRPr>
          </a:p>
        </p:txBody>
      </p:sp>
    </p:spTree>
    <p:extLst>
      <p:ext uri="{BB962C8B-B14F-4D97-AF65-F5344CB8AC3E}">
        <p14:creationId xmlns:p14="http://schemas.microsoft.com/office/powerpoint/2010/main" val="27332168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solidFill>
                  <a:schemeClr val="tx1"/>
                </a:solidFill>
              </a:rPr>
              <a:t>Task: Times Table Generator</a:t>
            </a:r>
          </a:p>
        </p:txBody>
      </p:sp>
      <p:sp>
        <p:nvSpPr>
          <p:cNvPr id="3" name="Content Placeholder 2"/>
          <p:cNvSpPr>
            <a:spLocks noGrp="1"/>
          </p:cNvSpPr>
          <p:nvPr>
            <p:ph idx="1"/>
          </p:nvPr>
        </p:nvSpPr>
        <p:spPr>
          <a:xfrm>
            <a:off x="838199" y="1825625"/>
            <a:ext cx="7400925" cy="4351338"/>
          </a:xfrm>
        </p:spPr>
        <p:txBody>
          <a:bodyPr/>
          <a:lstStyle/>
          <a:p>
            <a:pPr marL="0" indent="0">
              <a:buNone/>
            </a:pPr>
            <a:r>
              <a:rPr lang="en-GB" dirty="0">
                <a:solidFill>
                  <a:schemeClr val="tx1"/>
                </a:solidFill>
              </a:rPr>
              <a:t>Write a C# program using a </a:t>
            </a:r>
            <a:r>
              <a:rPr lang="en-GB" b="1" dirty="0">
                <a:solidFill>
                  <a:schemeClr val="tx1"/>
                </a:solidFill>
              </a:rPr>
              <a:t>for loop</a:t>
            </a:r>
            <a:r>
              <a:rPr lang="en-GB" dirty="0">
                <a:solidFill>
                  <a:schemeClr val="tx1"/>
                </a:solidFill>
              </a:rPr>
              <a:t> that asks the user for a number and then prints the multiplication table for that number from 1 to 12.</a:t>
            </a:r>
          </a:p>
          <a:p>
            <a:pPr marL="0" indent="0">
              <a:buNone/>
            </a:pPr>
            <a:endParaRPr lang="en-GB" dirty="0">
              <a:solidFill>
                <a:schemeClr val="tx1"/>
              </a:solidFill>
            </a:endParaRPr>
          </a:p>
          <a:p>
            <a:pPr marL="0" indent="0">
              <a:buNone/>
            </a:pPr>
            <a:r>
              <a:rPr lang="en-GB" b="1" dirty="0">
                <a:solidFill>
                  <a:schemeClr val="tx1"/>
                </a:solidFill>
              </a:rPr>
              <a:t>Challenge</a:t>
            </a:r>
            <a:r>
              <a:rPr lang="en-GB" dirty="0">
                <a:solidFill>
                  <a:schemeClr val="tx1"/>
                </a:solidFill>
              </a:rPr>
              <a:t>: </a:t>
            </a:r>
          </a:p>
          <a:p>
            <a:pPr marL="0" indent="0">
              <a:buNone/>
            </a:pPr>
            <a:r>
              <a:rPr lang="en-GB" dirty="0">
                <a:solidFill>
                  <a:schemeClr val="tx1"/>
                </a:solidFill>
              </a:rPr>
              <a:t>Use a </a:t>
            </a:r>
            <a:r>
              <a:rPr lang="en-GB" b="1" dirty="0">
                <a:solidFill>
                  <a:schemeClr val="tx1"/>
                </a:solidFill>
              </a:rPr>
              <a:t>while loop</a:t>
            </a:r>
            <a:r>
              <a:rPr lang="en-GB" dirty="0">
                <a:solidFill>
                  <a:schemeClr val="tx1"/>
                </a:solidFill>
              </a:rPr>
              <a:t> to keep asking for a new number until the user types 'exit'.</a:t>
            </a:r>
          </a:p>
          <a:p>
            <a:endParaRPr lang="en-GB" dirty="0">
              <a:solidFill>
                <a:schemeClr val="tx1"/>
              </a:solidFill>
            </a:endParaRPr>
          </a:p>
        </p:txBody>
      </p:sp>
      <p:pic>
        <p:nvPicPr>
          <p:cNvPr id="13314" name="Picture 2" descr="Multiplication Charts (PDF): Free Printable Times Tables – Free Printables,  Lettering, SVG Files, Tools &amp; Apps"/>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4217" b="4751"/>
          <a:stretch/>
        </p:blipFill>
        <p:spPr bwMode="auto">
          <a:xfrm>
            <a:off x="8189476" y="1825625"/>
            <a:ext cx="4002524" cy="37639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8154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4325" y="365125"/>
            <a:ext cx="11039475" cy="1325563"/>
          </a:xfrm>
        </p:spPr>
        <p:txBody>
          <a:bodyPr/>
          <a:lstStyle/>
          <a:p>
            <a:r>
              <a:rPr lang="en-GB" dirty="0"/>
              <a:t>Explain it to a 10 Year Old</a:t>
            </a:r>
          </a:p>
        </p:txBody>
      </p:sp>
      <p:sp>
        <p:nvSpPr>
          <p:cNvPr id="3" name="Content Placeholder 2"/>
          <p:cNvSpPr>
            <a:spLocks noGrp="1"/>
          </p:cNvSpPr>
          <p:nvPr>
            <p:ph idx="1"/>
          </p:nvPr>
        </p:nvSpPr>
        <p:spPr>
          <a:xfrm>
            <a:off x="314325" y="1825625"/>
            <a:ext cx="11763375" cy="1917700"/>
          </a:xfrm>
        </p:spPr>
        <p:txBody>
          <a:bodyPr/>
          <a:lstStyle/>
          <a:p>
            <a:pPr marL="0" indent="0">
              <a:buNone/>
            </a:pPr>
            <a:r>
              <a:rPr lang="en-GB" i="0" u="none" strike="noStrike" dirty="0">
                <a:effectLst/>
              </a:rPr>
              <a:t>One of the biggest dangers of a While loop is creating an </a:t>
            </a:r>
            <a:r>
              <a:rPr lang="en-GB" b="1" i="0" u="none" strike="noStrike" dirty="0">
                <a:effectLst/>
              </a:rPr>
              <a:t>Infinite Loop</a:t>
            </a:r>
            <a:r>
              <a:rPr lang="en-GB" i="0" u="none" strike="noStrike" dirty="0">
                <a:effectLst/>
              </a:rPr>
              <a:t>.</a:t>
            </a:r>
            <a:endParaRPr lang="en-GB" dirty="0">
              <a:effectLst/>
            </a:endParaRPr>
          </a:p>
          <a:p>
            <a:pPr marL="0" indent="0">
              <a:buNone/>
            </a:pPr>
            <a:r>
              <a:rPr lang="en-GB" i="0" u="none" strike="noStrike" dirty="0">
                <a:effectLst/>
              </a:rPr>
              <a:t>Imagine you have to explain what an Infinite Loop is to a 10-year-old. How would you describe it? Mention what causes it and what happens to the computer program as a result.</a:t>
            </a:r>
            <a:endParaRPr lang="en-GB" dirty="0">
              <a:effectLst/>
            </a:endParaRPr>
          </a:p>
          <a:p>
            <a:endParaRPr lang="en-GB" dirty="0"/>
          </a:p>
        </p:txBody>
      </p:sp>
      <p:sp>
        <p:nvSpPr>
          <p:cNvPr id="4" name="Rectangle 3"/>
          <p:cNvSpPr/>
          <p:nvPr/>
        </p:nvSpPr>
        <p:spPr>
          <a:xfrm>
            <a:off x="314325" y="3743325"/>
            <a:ext cx="11620500" cy="2933700"/>
          </a:xfrm>
          <a:prstGeom prst="rect">
            <a:avLst/>
          </a:prstGeom>
          <a:noFill/>
          <a:ln w="381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400" dirty="0">
                <a:solidFill>
                  <a:srgbClr val="FF0000"/>
                </a:solidFill>
                <a:effectLst/>
              </a:rPr>
              <a:t>An infinite loop is like getting stuck on a roundabout and never being able to take the exit. </a:t>
            </a:r>
          </a:p>
          <a:p>
            <a:pPr algn="ctr"/>
            <a:endParaRPr lang="en-GB" sz="2400" dirty="0">
              <a:solidFill>
                <a:srgbClr val="FF0000"/>
              </a:solidFill>
              <a:effectLst/>
            </a:endParaRPr>
          </a:p>
          <a:p>
            <a:pPr algn="ctr"/>
            <a:r>
              <a:rPr lang="en-GB" sz="2400" dirty="0">
                <a:solidFill>
                  <a:srgbClr val="FF0000"/>
                </a:solidFill>
                <a:effectLst/>
              </a:rPr>
              <a:t>It happens when the condition to stop the loop never becomes false, so the computer keeps running the exact same code forever. </a:t>
            </a:r>
          </a:p>
          <a:p>
            <a:pPr algn="ctr"/>
            <a:endParaRPr lang="en-GB" sz="2400" dirty="0">
              <a:solidFill>
                <a:srgbClr val="FF0000"/>
              </a:solidFill>
              <a:effectLst/>
            </a:endParaRPr>
          </a:p>
          <a:p>
            <a:pPr algn="ctr"/>
            <a:r>
              <a:rPr lang="en-GB" sz="2400" dirty="0">
                <a:solidFill>
                  <a:srgbClr val="FF0000"/>
                </a:solidFill>
                <a:effectLst/>
              </a:rPr>
              <a:t>Eventually, it can cause the program to crash or freeze.</a:t>
            </a:r>
            <a:endParaRPr lang="en-GB" sz="2400" dirty="0">
              <a:solidFill>
                <a:srgbClr val="FF0000"/>
              </a:solidFill>
            </a:endParaRPr>
          </a:p>
        </p:txBody>
      </p:sp>
    </p:spTree>
    <p:extLst>
      <p:ext uri="{BB962C8B-B14F-4D97-AF65-F5344CB8AC3E}">
        <p14:creationId xmlns:p14="http://schemas.microsoft.com/office/powerpoint/2010/main" val="1450468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fade">
                                      <p:cBhvr>
                                        <p:cTn id="12" dur="500"/>
                                        <p:tgtEl>
                                          <p:spTgt spid="4">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animEffect transition="in" filter="fade">
                                      <p:cBhvr>
                                        <p:cTn id="17" dur="5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rot="16200000">
            <a:off x="-2766218" y="2766217"/>
            <a:ext cx="6858001" cy="1325563"/>
          </a:xfrm>
        </p:spPr>
        <p:txBody>
          <a:bodyPr>
            <a:noAutofit/>
          </a:bodyPr>
          <a:lstStyle/>
          <a:p>
            <a:r>
              <a:rPr lang="en-GB" sz="3200" dirty="0"/>
              <a:t>Features of Programming Languages</a:t>
            </a:r>
          </a:p>
        </p:txBody>
      </p:sp>
      <p:pic>
        <p:nvPicPr>
          <p:cNvPr id="5" name="Picture 4"/>
          <p:cNvPicPr>
            <a:picLocks noChangeAspect="1"/>
          </p:cNvPicPr>
          <p:nvPr/>
        </p:nvPicPr>
        <p:blipFill>
          <a:blip r:embed="rId2"/>
          <a:stretch>
            <a:fillRect/>
          </a:stretch>
        </p:blipFill>
        <p:spPr>
          <a:xfrm>
            <a:off x="3467100" y="-3"/>
            <a:ext cx="8544981" cy="4966268"/>
          </a:xfrm>
          <a:prstGeom prst="rect">
            <a:avLst/>
          </a:prstGeom>
        </p:spPr>
      </p:pic>
      <p:pic>
        <p:nvPicPr>
          <p:cNvPr id="7" name="Picture 6"/>
          <p:cNvPicPr>
            <a:picLocks noChangeAspect="1"/>
          </p:cNvPicPr>
          <p:nvPr/>
        </p:nvPicPr>
        <p:blipFill rotWithShape="1">
          <a:blip r:embed="rId3"/>
          <a:srcRect t="22654"/>
          <a:stretch/>
        </p:blipFill>
        <p:spPr>
          <a:xfrm>
            <a:off x="3467100" y="4369930"/>
            <a:ext cx="8544981" cy="2295598"/>
          </a:xfrm>
          <a:prstGeom prst="rect">
            <a:avLst/>
          </a:prstGeom>
        </p:spPr>
      </p:pic>
    </p:spTree>
    <p:extLst>
      <p:ext uri="{BB962C8B-B14F-4D97-AF65-F5344CB8AC3E}">
        <p14:creationId xmlns:p14="http://schemas.microsoft.com/office/powerpoint/2010/main" val="256647660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Arrays</a:t>
            </a:r>
          </a:p>
        </p:txBody>
      </p:sp>
      <p:sp>
        <p:nvSpPr>
          <p:cNvPr id="3" name="Content Placeholder 2"/>
          <p:cNvSpPr>
            <a:spLocks noGrp="1"/>
          </p:cNvSpPr>
          <p:nvPr>
            <p:ph idx="1"/>
          </p:nvPr>
        </p:nvSpPr>
        <p:spPr/>
        <p:txBody>
          <a:bodyPr>
            <a:normAutofit lnSpcReduction="10000"/>
          </a:bodyPr>
          <a:lstStyle/>
          <a:p>
            <a:r>
              <a:rPr lang="en-GB" dirty="0"/>
              <a:t>Arrays are a special data structure which holds a set of data items of the same data type.</a:t>
            </a:r>
          </a:p>
          <a:p>
            <a:r>
              <a:rPr lang="en-GB" dirty="0"/>
              <a:t>Unlike a single variable which only holds one value, an array is designed to hold multiple data items simultaneously.</a:t>
            </a:r>
          </a:p>
          <a:p>
            <a:r>
              <a:rPr lang="en-GB" dirty="0"/>
              <a:t>When we declare an array, the computer reserves a set amount of memory locations next to each other (contiguous). And because the data is stored together in memory, there is faster processing, updating and deleting of data within the array.</a:t>
            </a:r>
          </a:p>
          <a:p>
            <a:r>
              <a:rPr lang="en-GB" dirty="0"/>
              <a:t>Whilst the array is fixed in size when we first declare it, the values of each of the elements can be changed and updated during program execution.</a:t>
            </a:r>
          </a:p>
        </p:txBody>
      </p:sp>
    </p:spTree>
    <p:extLst>
      <p:ext uri="{BB962C8B-B14F-4D97-AF65-F5344CB8AC3E}">
        <p14:creationId xmlns:p14="http://schemas.microsoft.com/office/powerpoint/2010/main" val="2899177976"/>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Declaring an Array</a:t>
            </a:r>
          </a:p>
        </p:txBody>
      </p:sp>
      <p:sp>
        <p:nvSpPr>
          <p:cNvPr id="3" name="Content Placeholder 2"/>
          <p:cNvSpPr>
            <a:spLocks noGrp="1"/>
          </p:cNvSpPr>
          <p:nvPr>
            <p:ph idx="1"/>
          </p:nvPr>
        </p:nvSpPr>
        <p:spPr/>
        <p:txBody>
          <a:bodyPr/>
          <a:lstStyle/>
          <a:p>
            <a:r>
              <a:rPr lang="en-GB" dirty="0"/>
              <a:t>It is assigned a name, a size (number of data items to store) and data type by the programmer</a:t>
            </a:r>
          </a:p>
          <a:p>
            <a:r>
              <a:rPr lang="en-GB" dirty="0"/>
              <a:t>For example;</a:t>
            </a:r>
          </a:p>
          <a:p>
            <a:endParaRPr lang="en-GB" dirty="0"/>
          </a:p>
          <a:p>
            <a:pPr marL="0" indent="0">
              <a:buNone/>
            </a:pPr>
            <a:r>
              <a:rPr lang="en-GB" dirty="0"/>
              <a:t>	String[] records = New String[5]</a:t>
            </a:r>
          </a:p>
          <a:p>
            <a:endParaRPr lang="en-GB" dirty="0"/>
          </a:p>
        </p:txBody>
      </p:sp>
      <p:sp>
        <p:nvSpPr>
          <p:cNvPr id="4" name="TextBox 3"/>
          <p:cNvSpPr txBox="1"/>
          <p:nvPr/>
        </p:nvSpPr>
        <p:spPr>
          <a:xfrm>
            <a:off x="838200" y="4876245"/>
            <a:ext cx="2625436" cy="923330"/>
          </a:xfrm>
          <a:prstGeom prst="rect">
            <a:avLst/>
          </a:prstGeom>
          <a:noFill/>
        </p:spPr>
        <p:txBody>
          <a:bodyPr wrap="square" rtlCol="0">
            <a:spAutoFit/>
          </a:bodyPr>
          <a:lstStyle/>
          <a:p>
            <a:r>
              <a:rPr lang="en-GB" dirty="0">
                <a:solidFill>
                  <a:srgbClr val="07E073"/>
                </a:solidFill>
              </a:rPr>
              <a:t>This is an array which will contain string values</a:t>
            </a:r>
          </a:p>
        </p:txBody>
      </p:sp>
      <p:sp>
        <p:nvSpPr>
          <p:cNvPr id="5" name="TextBox 4"/>
          <p:cNvSpPr txBox="1"/>
          <p:nvPr/>
        </p:nvSpPr>
        <p:spPr>
          <a:xfrm>
            <a:off x="3719946" y="5199410"/>
            <a:ext cx="2625436" cy="646331"/>
          </a:xfrm>
          <a:prstGeom prst="rect">
            <a:avLst/>
          </a:prstGeom>
          <a:noFill/>
        </p:spPr>
        <p:txBody>
          <a:bodyPr wrap="square" rtlCol="0">
            <a:spAutoFit/>
          </a:bodyPr>
          <a:lstStyle/>
          <a:p>
            <a:r>
              <a:rPr lang="en-GB" dirty="0">
                <a:solidFill>
                  <a:srgbClr val="07E073"/>
                </a:solidFill>
              </a:rPr>
              <a:t>We have named it records</a:t>
            </a:r>
          </a:p>
        </p:txBody>
      </p:sp>
      <p:sp>
        <p:nvSpPr>
          <p:cNvPr id="6" name="TextBox 5"/>
          <p:cNvSpPr txBox="1"/>
          <p:nvPr/>
        </p:nvSpPr>
        <p:spPr>
          <a:xfrm>
            <a:off x="7779328" y="4571605"/>
            <a:ext cx="2625436" cy="646331"/>
          </a:xfrm>
          <a:prstGeom prst="rect">
            <a:avLst/>
          </a:prstGeom>
          <a:noFill/>
        </p:spPr>
        <p:txBody>
          <a:bodyPr wrap="square" rtlCol="0">
            <a:spAutoFit/>
          </a:bodyPr>
          <a:lstStyle/>
          <a:p>
            <a:r>
              <a:rPr lang="en-GB" dirty="0">
                <a:solidFill>
                  <a:srgbClr val="07E073"/>
                </a:solidFill>
              </a:rPr>
              <a:t>It will be able to hold 5 pieces of data/text</a:t>
            </a:r>
          </a:p>
        </p:txBody>
      </p:sp>
      <p:cxnSp>
        <p:nvCxnSpPr>
          <p:cNvPr id="7" name="Straight Arrow Connector 6"/>
          <p:cNvCxnSpPr/>
          <p:nvPr/>
        </p:nvCxnSpPr>
        <p:spPr>
          <a:xfrm flipV="1">
            <a:off x="2008909" y="4183519"/>
            <a:ext cx="270164" cy="692726"/>
          </a:xfrm>
          <a:prstGeom prst="straightConnector1">
            <a:avLst/>
          </a:prstGeom>
          <a:ln w="38100">
            <a:solidFill>
              <a:srgbClr val="07E073"/>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flipH="1" flipV="1">
            <a:off x="3719946" y="4183519"/>
            <a:ext cx="644236" cy="965144"/>
          </a:xfrm>
          <a:prstGeom prst="straightConnector1">
            <a:avLst/>
          </a:prstGeom>
          <a:ln w="38100">
            <a:solidFill>
              <a:srgbClr val="07E073"/>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6620256" y="4183519"/>
            <a:ext cx="968570" cy="623612"/>
          </a:xfrm>
          <a:prstGeom prst="straightConnector1">
            <a:avLst/>
          </a:prstGeom>
          <a:ln w="38100">
            <a:solidFill>
              <a:srgbClr val="07E07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9119242"/>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Using Arrays</a:t>
            </a:r>
          </a:p>
        </p:txBody>
      </p:sp>
      <p:sp>
        <p:nvSpPr>
          <p:cNvPr id="3" name="Content Placeholder 2"/>
          <p:cNvSpPr>
            <a:spLocks noGrp="1"/>
          </p:cNvSpPr>
          <p:nvPr>
            <p:ph idx="1"/>
          </p:nvPr>
        </p:nvSpPr>
        <p:spPr/>
        <p:txBody>
          <a:bodyPr/>
          <a:lstStyle/>
          <a:p>
            <a:r>
              <a:rPr lang="en-GB" dirty="0"/>
              <a:t>An individual data item can be accessed by referring to the array name and the index (position) of the element</a:t>
            </a:r>
          </a:p>
          <a:p>
            <a:r>
              <a:rPr lang="en-GB" dirty="0"/>
              <a:t>The trick is to remember that the first position is </a:t>
            </a:r>
            <a:r>
              <a:rPr lang="en-GB" b="1" dirty="0"/>
              <a:t>not</a:t>
            </a:r>
            <a:r>
              <a:rPr lang="en-GB" dirty="0"/>
              <a:t> 1 but in fact </a:t>
            </a:r>
            <a:r>
              <a:rPr lang="en-GB" b="1" u="sng" dirty="0"/>
              <a:t>index 0</a:t>
            </a:r>
            <a:endParaRPr lang="en-GB" dirty="0"/>
          </a:p>
          <a:p>
            <a:endParaRPr lang="en-GB" dirty="0"/>
          </a:p>
        </p:txBody>
      </p:sp>
      <p:graphicFrame>
        <p:nvGraphicFramePr>
          <p:cNvPr id="4" name="Table 3"/>
          <p:cNvGraphicFramePr>
            <a:graphicFrameLocks noGrp="1"/>
          </p:cNvGraphicFramePr>
          <p:nvPr>
            <p:extLst>
              <p:ext uri="{D42A27DB-BD31-4B8C-83A1-F6EECF244321}">
                <p14:modId xmlns:p14="http://schemas.microsoft.com/office/powerpoint/2010/main" val="580672797"/>
              </p:ext>
            </p:extLst>
          </p:nvPr>
        </p:nvGraphicFramePr>
        <p:xfrm>
          <a:off x="1131454" y="4045527"/>
          <a:ext cx="10222344" cy="2189019"/>
        </p:xfrm>
        <a:graphic>
          <a:graphicData uri="http://schemas.openxmlformats.org/drawingml/2006/table">
            <a:tbl>
              <a:tblPr firstRow="1" bandRow="1">
                <a:tableStyleId>{5C22544A-7EE6-4342-B048-85BDC9FD1C3A}</a:tableStyleId>
              </a:tblPr>
              <a:tblGrid>
                <a:gridCol w="1703724">
                  <a:extLst>
                    <a:ext uri="{9D8B030D-6E8A-4147-A177-3AD203B41FA5}">
                      <a16:colId xmlns:a16="http://schemas.microsoft.com/office/drawing/2014/main" xmlns="" val="3590891908"/>
                    </a:ext>
                  </a:extLst>
                </a:gridCol>
                <a:gridCol w="1703724">
                  <a:extLst>
                    <a:ext uri="{9D8B030D-6E8A-4147-A177-3AD203B41FA5}">
                      <a16:colId xmlns:a16="http://schemas.microsoft.com/office/drawing/2014/main" xmlns="" val="1363402667"/>
                    </a:ext>
                  </a:extLst>
                </a:gridCol>
                <a:gridCol w="1703724">
                  <a:extLst>
                    <a:ext uri="{9D8B030D-6E8A-4147-A177-3AD203B41FA5}">
                      <a16:colId xmlns:a16="http://schemas.microsoft.com/office/drawing/2014/main" xmlns="" val="2495639929"/>
                    </a:ext>
                  </a:extLst>
                </a:gridCol>
                <a:gridCol w="1703724">
                  <a:extLst>
                    <a:ext uri="{9D8B030D-6E8A-4147-A177-3AD203B41FA5}">
                      <a16:colId xmlns:a16="http://schemas.microsoft.com/office/drawing/2014/main" xmlns="" val="327033213"/>
                    </a:ext>
                  </a:extLst>
                </a:gridCol>
                <a:gridCol w="1703724">
                  <a:extLst>
                    <a:ext uri="{9D8B030D-6E8A-4147-A177-3AD203B41FA5}">
                      <a16:colId xmlns:a16="http://schemas.microsoft.com/office/drawing/2014/main" xmlns="" val="501623910"/>
                    </a:ext>
                  </a:extLst>
                </a:gridCol>
                <a:gridCol w="1703724">
                  <a:extLst>
                    <a:ext uri="{9D8B030D-6E8A-4147-A177-3AD203B41FA5}">
                      <a16:colId xmlns:a16="http://schemas.microsoft.com/office/drawing/2014/main" xmlns="" val="1504989788"/>
                    </a:ext>
                  </a:extLst>
                </a:gridCol>
              </a:tblGrid>
              <a:tr h="729673">
                <a:tc>
                  <a:txBody>
                    <a:bodyPr/>
                    <a:lstStyle/>
                    <a:p>
                      <a:pPr algn="ctr"/>
                      <a:r>
                        <a:rPr lang="en-GB" dirty="0"/>
                        <a:t>Element</a:t>
                      </a:r>
                    </a:p>
                  </a:txBody>
                  <a:tcPr anchor="ctr">
                    <a:solidFill>
                      <a:srgbClr val="0070C0"/>
                    </a:solidFill>
                  </a:tcPr>
                </a:tc>
                <a:tc>
                  <a:txBody>
                    <a:bodyPr/>
                    <a:lstStyle/>
                    <a:p>
                      <a:pPr algn="ctr"/>
                      <a:r>
                        <a:rPr lang="en-GB" dirty="0"/>
                        <a:t>records[0]</a:t>
                      </a:r>
                    </a:p>
                  </a:txBody>
                  <a:tcPr anchor="ctr">
                    <a:solidFill>
                      <a:srgbClr val="0070C0"/>
                    </a:solidFill>
                  </a:tcPr>
                </a:tc>
                <a:tc>
                  <a:txBody>
                    <a:bodyPr/>
                    <a:lstStyle/>
                    <a:p>
                      <a:pPr algn="ctr"/>
                      <a:r>
                        <a:rPr lang="en-GB" dirty="0"/>
                        <a:t>records[1]</a:t>
                      </a:r>
                    </a:p>
                  </a:txBody>
                  <a:tcPr anchor="ctr">
                    <a:solidFill>
                      <a:srgbClr val="0070C0"/>
                    </a:solidFill>
                  </a:tcPr>
                </a:tc>
                <a:tc>
                  <a:txBody>
                    <a:bodyPr/>
                    <a:lstStyle/>
                    <a:p>
                      <a:pPr algn="ctr"/>
                      <a:r>
                        <a:rPr lang="en-GB" dirty="0"/>
                        <a:t>records[2]</a:t>
                      </a:r>
                    </a:p>
                  </a:txBody>
                  <a:tcPr anchor="ctr">
                    <a:solidFill>
                      <a:srgbClr val="0070C0"/>
                    </a:solidFill>
                  </a:tcPr>
                </a:tc>
                <a:tc>
                  <a:txBody>
                    <a:bodyPr/>
                    <a:lstStyle/>
                    <a:p>
                      <a:pPr algn="ctr"/>
                      <a:r>
                        <a:rPr lang="en-GB" dirty="0"/>
                        <a:t>records[3]</a:t>
                      </a:r>
                    </a:p>
                  </a:txBody>
                  <a:tcPr anchor="ctr">
                    <a:solidFill>
                      <a:srgbClr val="0070C0"/>
                    </a:solidFill>
                  </a:tcPr>
                </a:tc>
                <a:tc>
                  <a:txBody>
                    <a:bodyPr/>
                    <a:lstStyle/>
                    <a:p>
                      <a:pPr algn="ctr"/>
                      <a:r>
                        <a:rPr lang="en-GB" dirty="0"/>
                        <a:t>records[4]</a:t>
                      </a:r>
                    </a:p>
                  </a:txBody>
                  <a:tcPr anchor="ctr">
                    <a:solidFill>
                      <a:srgbClr val="0070C0"/>
                    </a:solidFill>
                  </a:tcPr>
                </a:tc>
                <a:extLst>
                  <a:ext uri="{0D108BD9-81ED-4DB2-BD59-A6C34878D82A}">
                    <a16:rowId xmlns:a16="http://schemas.microsoft.com/office/drawing/2014/main" xmlns="" val="2236891742"/>
                  </a:ext>
                </a:extLst>
              </a:tr>
              <a:tr h="729673">
                <a:tc>
                  <a:txBody>
                    <a:bodyPr/>
                    <a:lstStyle/>
                    <a:p>
                      <a:pPr marL="0" algn="ctr" defTabSz="914400" rtl="0" eaLnBrk="1" latinLnBrk="0" hangingPunct="1"/>
                      <a:r>
                        <a:rPr lang="en-GB" sz="1800" b="1" kern="1200" dirty="0">
                          <a:solidFill>
                            <a:schemeClr val="lt1"/>
                          </a:solidFill>
                          <a:latin typeface="+mn-lt"/>
                          <a:ea typeface="+mn-ea"/>
                          <a:cs typeface="+mn-cs"/>
                        </a:rPr>
                        <a:t>Position in array / Index</a:t>
                      </a:r>
                    </a:p>
                  </a:txBody>
                  <a:tcPr anchor="ctr">
                    <a:solidFill>
                      <a:srgbClr val="0070C0"/>
                    </a:solidFill>
                  </a:tcPr>
                </a:tc>
                <a:tc>
                  <a:txBody>
                    <a:bodyPr/>
                    <a:lstStyle/>
                    <a:p>
                      <a:pPr algn="ctr"/>
                      <a:r>
                        <a:rPr lang="en-GB" dirty="0"/>
                        <a:t>0</a:t>
                      </a:r>
                    </a:p>
                  </a:txBody>
                  <a:tcPr anchor="ctr"/>
                </a:tc>
                <a:tc>
                  <a:txBody>
                    <a:bodyPr/>
                    <a:lstStyle/>
                    <a:p>
                      <a:pPr algn="ctr"/>
                      <a:r>
                        <a:rPr lang="en-GB" dirty="0"/>
                        <a:t>1</a:t>
                      </a:r>
                    </a:p>
                  </a:txBody>
                  <a:tcPr anchor="ctr"/>
                </a:tc>
                <a:tc>
                  <a:txBody>
                    <a:bodyPr/>
                    <a:lstStyle/>
                    <a:p>
                      <a:pPr algn="ctr"/>
                      <a:r>
                        <a:rPr lang="en-GB" dirty="0"/>
                        <a:t>2</a:t>
                      </a:r>
                    </a:p>
                  </a:txBody>
                  <a:tcPr anchor="ctr"/>
                </a:tc>
                <a:tc>
                  <a:txBody>
                    <a:bodyPr/>
                    <a:lstStyle/>
                    <a:p>
                      <a:pPr algn="ctr"/>
                      <a:r>
                        <a:rPr lang="en-GB" dirty="0"/>
                        <a:t>3</a:t>
                      </a:r>
                    </a:p>
                  </a:txBody>
                  <a:tcPr anchor="ctr"/>
                </a:tc>
                <a:tc>
                  <a:txBody>
                    <a:bodyPr/>
                    <a:lstStyle/>
                    <a:p>
                      <a:pPr algn="ctr"/>
                      <a:r>
                        <a:rPr lang="en-GB" dirty="0"/>
                        <a:t>4</a:t>
                      </a:r>
                    </a:p>
                  </a:txBody>
                  <a:tcPr anchor="ctr"/>
                </a:tc>
                <a:extLst>
                  <a:ext uri="{0D108BD9-81ED-4DB2-BD59-A6C34878D82A}">
                    <a16:rowId xmlns:a16="http://schemas.microsoft.com/office/drawing/2014/main" xmlns="" val="138565787"/>
                  </a:ext>
                </a:extLst>
              </a:tr>
              <a:tr h="729673">
                <a:tc>
                  <a:txBody>
                    <a:bodyPr/>
                    <a:lstStyle/>
                    <a:p>
                      <a:pPr marL="0" algn="ctr" defTabSz="914400" rtl="0" eaLnBrk="1" latinLnBrk="0" hangingPunct="1"/>
                      <a:r>
                        <a:rPr lang="en-GB" sz="1800" b="1" kern="1200" dirty="0">
                          <a:solidFill>
                            <a:schemeClr val="lt1"/>
                          </a:solidFill>
                          <a:latin typeface="+mn-lt"/>
                          <a:ea typeface="+mn-ea"/>
                          <a:cs typeface="+mn-cs"/>
                        </a:rPr>
                        <a:t>Value</a:t>
                      </a:r>
                    </a:p>
                  </a:txBody>
                  <a:tcPr anchor="ctr">
                    <a:solidFill>
                      <a:srgbClr val="0070C0"/>
                    </a:solidFill>
                  </a:tcPr>
                </a:tc>
                <a:tc>
                  <a:txBody>
                    <a:bodyPr/>
                    <a:lstStyle/>
                    <a:p>
                      <a:pPr algn="ctr"/>
                      <a:r>
                        <a:rPr lang="en-GB" dirty="0"/>
                        <a:t>Alex</a:t>
                      </a:r>
                    </a:p>
                  </a:txBody>
                  <a:tcPr anchor="ctr"/>
                </a:tc>
                <a:tc>
                  <a:txBody>
                    <a:bodyPr/>
                    <a:lstStyle/>
                    <a:p>
                      <a:pPr algn="ctr"/>
                      <a:r>
                        <a:rPr lang="en-GB" dirty="0"/>
                        <a:t>Peter</a:t>
                      </a:r>
                    </a:p>
                  </a:txBody>
                  <a:tcPr anchor="ctr"/>
                </a:tc>
                <a:tc>
                  <a:txBody>
                    <a:bodyPr/>
                    <a:lstStyle/>
                    <a:p>
                      <a:pPr algn="ctr"/>
                      <a:r>
                        <a:rPr lang="en-GB" dirty="0"/>
                        <a:t>Ross</a:t>
                      </a:r>
                    </a:p>
                  </a:txBody>
                  <a:tcPr anchor="ctr"/>
                </a:tc>
                <a:tc>
                  <a:txBody>
                    <a:bodyPr/>
                    <a:lstStyle/>
                    <a:p>
                      <a:pPr algn="ctr"/>
                      <a:r>
                        <a:rPr lang="en-GB" dirty="0"/>
                        <a:t>Hannah</a:t>
                      </a:r>
                    </a:p>
                  </a:txBody>
                  <a:tcPr anchor="ctr"/>
                </a:tc>
                <a:tc>
                  <a:txBody>
                    <a:bodyPr/>
                    <a:lstStyle/>
                    <a:p>
                      <a:pPr algn="ctr"/>
                      <a:r>
                        <a:rPr lang="en-GB" dirty="0"/>
                        <a:t>Jenny</a:t>
                      </a:r>
                    </a:p>
                  </a:txBody>
                  <a:tcPr anchor="ctr"/>
                </a:tc>
                <a:extLst>
                  <a:ext uri="{0D108BD9-81ED-4DB2-BD59-A6C34878D82A}">
                    <a16:rowId xmlns:a16="http://schemas.microsoft.com/office/drawing/2014/main" xmlns="" val="3799104991"/>
                  </a:ext>
                </a:extLst>
              </a:tr>
            </a:tbl>
          </a:graphicData>
        </a:graphic>
      </p:graphicFrame>
    </p:spTree>
    <p:extLst>
      <p:ext uri="{BB962C8B-B14F-4D97-AF65-F5344CB8AC3E}">
        <p14:creationId xmlns:p14="http://schemas.microsoft.com/office/powerpoint/2010/main" val="385513475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Looping through Arrays</a:t>
            </a:r>
          </a:p>
        </p:txBody>
      </p:sp>
      <p:sp>
        <p:nvSpPr>
          <p:cNvPr id="3" name="Content Placeholder 2"/>
          <p:cNvSpPr>
            <a:spLocks noGrp="1"/>
          </p:cNvSpPr>
          <p:nvPr>
            <p:ph idx="1"/>
          </p:nvPr>
        </p:nvSpPr>
        <p:spPr>
          <a:xfrm>
            <a:off x="838200" y="1825625"/>
            <a:ext cx="10515600" cy="5032375"/>
          </a:xfrm>
        </p:spPr>
        <p:txBody>
          <a:bodyPr>
            <a:normAutofit/>
          </a:bodyPr>
          <a:lstStyle/>
          <a:p>
            <a:pPr marL="0" indent="0">
              <a:buNone/>
            </a:pPr>
            <a:r>
              <a:rPr lang="en-GB" sz="2400" dirty="0"/>
              <a:t>The most common way of looping an array is using a FOR loop.</a:t>
            </a:r>
          </a:p>
          <a:p>
            <a:endParaRPr lang="en-GB" sz="2400" dirty="0"/>
          </a:p>
          <a:p>
            <a:pPr marL="0" indent="0">
              <a:buNone/>
            </a:pPr>
            <a:endParaRPr lang="en-GB" sz="2400" dirty="0"/>
          </a:p>
          <a:p>
            <a:pPr marL="0" indent="0">
              <a:buNone/>
            </a:pPr>
            <a:endParaRPr lang="en-GB" sz="2400" dirty="0"/>
          </a:p>
          <a:p>
            <a:pPr marL="0" indent="0">
              <a:buNone/>
            </a:pPr>
            <a:endParaRPr lang="en-GB" sz="2400" dirty="0"/>
          </a:p>
          <a:p>
            <a:pPr marL="0" indent="0">
              <a:buNone/>
            </a:pPr>
            <a:endParaRPr lang="en-GB" sz="2400" dirty="0"/>
          </a:p>
          <a:p>
            <a:pPr marL="0" indent="0">
              <a:buNone/>
            </a:pPr>
            <a:r>
              <a:rPr lang="en-GB" sz="2400" dirty="0">
                <a:latin typeface="Arial" panose="020B0604020202020204" pitchFamily="34" charset="0"/>
                <a:cs typeface="Arial" panose="020B0604020202020204" pitchFamily="34" charset="0"/>
              </a:rPr>
              <a:t>For(</a:t>
            </a:r>
            <a:r>
              <a:rPr lang="en-GB" sz="2400" dirty="0" err="1">
                <a:latin typeface="Arial" panose="020B0604020202020204" pitchFamily="34" charset="0"/>
                <a:cs typeface="Arial" panose="020B0604020202020204" pitchFamily="34" charset="0"/>
              </a:rPr>
              <a:t>int</a:t>
            </a:r>
            <a:r>
              <a:rPr lang="en-GB" sz="2400" dirty="0">
                <a:latin typeface="Arial" panose="020B0604020202020204" pitchFamily="34" charset="0"/>
                <a:cs typeface="Arial" panose="020B0604020202020204" pitchFamily="34" charset="0"/>
              </a:rPr>
              <a:t> i = 0; i &lt; </a:t>
            </a:r>
            <a:r>
              <a:rPr lang="en-GB" sz="2400" dirty="0" err="1">
                <a:latin typeface="Arial" panose="020B0604020202020204" pitchFamily="34" charset="0"/>
                <a:cs typeface="Arial" panose="020B0604020202020204" pitchFamily="34" charset="0"/>
              </a:rPr>
              <a:t>records.Length</a:t>
            </a:r>
            <a:r>
              <a:rPr lang="en-GB" sz="2400" dirty="0">
                <a:latin typeface="Arial" panose="020B0604020202020204" pitchFamily="34" charset="0"/>
                <a:cs typeface="Arial" panose="020B0604020202020204" pitchFamily="34" charset="0"/>
              </a:rPr>
              <a:t>; i++)</a:t>
            </a:r>
          </a:p>
          <a:p>
            <a:pPr marL="0" indent="0">
              <a:buNone/>
            </a:pPr>
            <a:r>
              <a:rPr lang="en-GB" sz="2400" dirty="0">
                <a:latin typeface="Arial" panose="020B0604020202020204" pitchFamily="34" charset="0"/>
                <a:cs typeface="Arial" panose="020B0604020202020204" pitchFamily="34" charset="0"/>
              </a:rPr>
              <a:t>{</a:t>
            </a:r>
          </a:p>
          <a:p>
            <a:pPr marL="0" indent="0">
              <a:buNone/>
            </a:pPr>
            <a:r>
              <a:rPr lang="en-GB" sz="2400" dirty="0">
                <a:latin typeface="Arial" panose="020B0604020202020204" pitchFamily="34" charset="0"/>
                <a:cs typeface="Arial" panose="020B0604020202020204" pitchFamily="34" charset="0"/>
              </a:rPr>
              <a:t>	Console.WriteLine(records[i]);</a:t>
            </a:r>
          </a:p>
          <a:p>
            <a:pPr marL="0" indent="0">
              <a:buNone/>
            </a:pPr>
            <a:r>
              <a:rPr lang="en-GB" sz="2400" dirty="0">
                <a:latin typeface="Arial" panose="020B0604020202020204" pitchFamily="34" charset="0"/>
                <a:cs typeface="Arial" panose="020B0604020202020204" pitchFamily="34" charset="0"/>
              </a:rPr>
              <a:t>}</a:t>
            </a:r>
          </a:p>
        </p:txBody>
      </p:sp>
      <p:sp>
        <p:nvSpPr>
          <p:cNvPr id="4" name="TextBox 3"/>
          <p:cNvSpPr txBox="1"/>
          <p:nvPr/>
        </p:nvSpPr>
        <p:spPr>
          <a:xfrm>
            <a:off x="261227" y="3212251"/>
            <a:ext cx="3281449" cy="923330"/>
          </a:xfrm>
          <a:prstGeom prst="rect">
            <a:avLst/>
          </a:prstGeom>
          <a:noFill/>
        </p:spPr>
        <p:txBody>
          <a:bodyPr wrap="square" rtlCol="0">
            <a:spAutoFit/>
          </a:bodyPr>
          <a:lstStyle/>
          <a:p>
            <a:r>
              <a:rPr lang="en-GB" dirty="0">
                <a:solidFill>
                  <a:srgbClr val="07E073"/>
                </a:solidFill>
              </a:rPr>
              <a:t>“i” is commonly used as the loop counter. In this case you can think of it as ‘index’</a:t>
            </a:r>
          </a:p>
        </p:txBody>
      </p:sp>
      <p:cxnSp>
        <p:nvCxnSpPr>
          <p:cNvPr id="5" name="Straight Arrow Connector 4"/>
          <p:cNvCxnSpPr/>
          <p:nvPr/>
        </p:nvCxnSpPr>
        <p:spPr>
          <a:xfrm>
            <a:off x="1734589" y="4135581"/>
            <a:ext cx="167363" cy="399843"/>
          </a:xfrm>
          <a:prstGeom prst="straightConnector1">
            <a:avLst/>
          </a:prstGeom>
          <a:ln w="38100">
            <a:solidFill>
              <a:srgbClr val="07E073"/>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3811696" y="2935252"/>
            <a:ext cx="3430352" cy="1200329"/>
          </a:xfrm>
          <a:prstGeom prst="rect">
            <a:avLst/>
          </a:prstGeom>
          <a:noFill/>
        </p:spPr>
        <p:txBody>
          <a:bodyPr wrap="square" rtlCol="0">
            <a:spAutoFit/>
          </a:bodyPr>
          <a:lstStyle/>
          <a:p>
            <a:r>
              <a:rPr lang="en-GB" dirty="0">
                <a:solidFill>
                  <a:srgbClr val="07E073"/>
                </a:solidFill>
              </a:rPr>
              <a:t>.Length is a special property which tells us the size of the array (the number of items it contains)</a:t>
            </a:r>
          </a:p>
        </p:txBody>
      </p:sp>
      <p:cxnSp>
        <p:nvCxnSpPr>
          <p:cNvPr id="8" name="Straight Arrow Connector 7"/>
          <p:cNvCxnSpPr/>
          <p:nvPr/>
        </p:nvCxnSpPr>
        <p:spPr>
          <a:xfrm flipH="1">
            <a:off x="4297680" y="4135581"/>
            <a:ext cx="45720" cy="399843"/>
          </a:xfrm>
          <a:prstGeom prst="straightConnector1">
            <a:avLst/>
          </a:prstGeom>
          <a:ln w="38100">
            <a:solidFill>
              <a:srgbClr val="07E073"/>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7550156" y="3342239"/>
            <a:ext cx="3962140" cy="1200329"/>
          </a:xfrm>
          <a:prstGeom prst="rect">
            <a:avLst/>
          </a:prstGeom>
          <a:noFill/>
        </p:spPr>
        <p:txBody>
          <a:bodyPr wrap="square" rtlCol="0">
            <a:spAutoFit/>
          </a:bodyPr>
          <a:lstStyle/>
          <a:p>
            <a:r>
              <a:rPr lang="en-GB" dirty="0">
                <a:solidFill>
                  <a:srgbClr val="07E073"/>
                </a:solidFill>
              </a:rPr>
              <a:t>i++ is another way of writing i=i+1;</a:t>
            </a:r>
          </a:p>
          <a:p>
            <a:r>
              <a:rPr lang="en-GB" dirty="0">
                <a:solidFill>
                  <a:srgbClr val="07E073"/>
                </a:solidFill>
              </a:rPr>
              <a:t>It is the </a:t>
            </a:r>
            <a:r>
              <a:rPr lang="en-GB" dirty="0" err="1">
                <a:solidFill>
                  <a:srgbClr val="07E073"/>
                </a:solidFill>
              </a:rPr>
              <a:t>incrementer</a:t>
            </a:r>
            <a:r>
              <a:rPr lang="en-GB" dirty="0">
                <a:solidFill>
                  <a:srgbClr val="07E073"/>
                </a:solidFill>
              </a:rPr>
              <a:t> for the loop.</a:t>
            </a:r>
          </a:p>
          <a:p>
            <a:r>
              <a:rPr lang="en-GB" dirty="0">
                <a:solidFill>
                  <a:srgbClr val="07E073"/>
                </a:solidFill>
              </a:rPr>
              <a:t>At the end of the loop, this runs and increases the value of “i” by 1. </a:t>
            </a:r>
          </a:p>
        </p:txBody>
      </p:sp>
      <p:cxnSp>
        <p:nvCxnSpPr>
          <p:cNvPr id="14" name="Straight Arrow Connector 13"/>
          <p:cNvCxnSpPr/>
          <p:nvPr/>
        </p:nvCxnSpPr>
        <p:spPr>
          <a:xfrm flipH="1">
            <a:off x="5463471" y="3803904"/>
            <a:ext cx="2047597" cy="841248"/>
          </a:xfrm>
          <a:prstGeom prst="straightConnector1">
            <a:avLst/>
          </a:prstGeom>
          <a:ln w="38100">
            <a:solidFill>
              <a:srgbClr val="07E073"/>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20"/>
          <p:cNvGrpSpPr/>
          <p:nvPr/>
        </p:nvGrpSpPr>
        <p:grpSpPr>
          <a:xfrm>
            <a:off x="2606040" y="4535424"/>
            <a:ext cx="4709160" cy="1463040"/>
            <a:chOff x="2606040" y="4535424"/>
            <a:chExt cx="4709160" cy="1463040"/>
          </a:xfrm>
        </p:grpSpPr>
        <p:sp>
          <p:nvSpPr>
            <p:cNvPr id="17" name="Rectangle 16"/>
            <p:cNvSpPr/>
            <p:nvPr/>
          </p:nvSpPr>
          <p:spPr>
            <a:xfrm>
              <a:off x="2606040" y="4535424"/>
              <a:ext cx="2615184" cy="457200"/>
            </a:xfrm>
            <a:prstGeom prst="rect">
              <a:avLst/>
            </a:prstGeom>
            <a:noFill/>
            <a:ln>
              <a:solidFill>
                <a:srgbClr val="07E07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8" name="Straight Arrow Connector 17"/>
            <p:cNvCxnSpPr/>
            <p:nvPr/>
          </p:nvCxnSpPr>
          <p:spPr>
            <a:xfrm flipH="1" flipV="1">
              <a:off x="5011242" y="5004233"/>
              <a:ext cx="2303958" cy="994231"/>
            </a:xfrm>
            <a:prstGeom prst="straightConnector1">
              <a:avLst/>
            </a:prstGeom>
            <a:ln w="38100">
              <a:solidFill>
                <a:srgbClr val="07E073"/>
              </a:solidFill>
              <a:tailEnd type="triangle"/>
            </a:ln>
          </p:spPr>
          <p:style>
            <a:lnRef idx="1">
              <a:schemeClr val="accent1"/>
            </a:lnRef>
            <a:fillRef idx="0">
              <a:schemeClr val="accent1"/>
            </a:fillRef>
            <a:effectRef idx="0">
              <a:schemeClr val="accent1"/>
            </a:effectRef>
            <a:fontRef idx="minor">
              <a:schemeClr val="tx1"/>
            </a:fontRef>
          </p:style>
        </p:cxnSp>
      </p:grpSp>
      <p:sp>
        <p:nvSpPr>
          <p:cNvPr id="20" name="TextBox 19"/>
          <p:cNvSpPr txBox="1"/>
          <p:nvPr/>
        </p:nvSpPr>
        <p:spPr>
          <a:xfrm>
            <a:off x="7353430" y="5700101"/>
            <a:ext cx="3962140" cy="923330"/>
          </a:xfrm>
          <a:prstGeom prst="rect">
            <a:avLst/>
          </a:prstGeom>
          <a:noFill/>
        </p:spPr>
        <p:txBody>
          <a:bodyPr wrap="square" rtlCol="0">
            <a:spAutoFit/>
          </a:bodyPr>
          <a:lstStyle/>
          <a:p>
            <a:r>
              <a:rPr lang="en-GB" dirty="0">
                <a:solidFill>
                  <a:srgbClr val="07E073"/>
                </a:solidFill>
              </a:rPr>
              <a:t>This is the condition which is checked at the start of the loop and then after each loop finishes.</a:t>
            </a:r>
          </a:p>
        </p:txBody>
      </p:sp>
      <p:sp>
        <p:nvSpPr>
          <p:cNvPr id="22" name="TextBox 21"/>
          <p:cNvSpPr txBox="1"/>
          <p:nvPr/>
        </p:nvSpPr>
        <p:spPr>
          <a:xfrm>
            <a:off x="2706085" y="6143289"/>
            <a:ext cx="3962140" cy="646331"/>
          </a:xfrm>
          <a:prstGeom prst="rect">
            <a:avLst/>
          </a:prstGeom>
          <a:noFill/>
        </p:spPr>
        <p:txBody>
          <a:bodyPr wrap="square" rtlCol="0">
            <a:spAutoFit/>
          </a:bodyPr>
          <a:lstStyle/>
          <a:p>
            <a:r>
              <a:rPr lang="en-GB" dirty="0">
                <a:solidFill>
                  <a:srgbClr val="07E073"/>
                </a:solidFill>
              </a:rPr>
              <a:t>This is a way we can reference the value stored at a specific index.</a:t>
            </a:r>
          </a:p>
        </p:txBody>
      </p:sp>
      <p:cxnSp>
        <p:nvCxnSpPr>
          <p:cNvPr id="23" name="Straight Arrow Connector 22"/>
          <p:cNvCxnSpPr/>
          <p:nvPr/>
        </p:nvCxnSpPr>
        <p:spPr>
          <a:xfrm flipV="1">
            <a:off x="5011242" y="5881449"/>
            <a:ext cx="1" cy="280317"/>
          </a:xfrm>
          <a:prstGeom prst="straightConnector1">
            <a:avLst/>
          </a:prstGeom>
          <a:ln w="38100">
            <a:solidFill>
              <a:srgbClr val="07E073"/>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5522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par>
                          <p:cTn id="17" fill="hold">
                            <p:stCondLst>
                              <p:cond delay="500"/>
                            </p:stCondLst>
                            <p:childTnLst>
                              <p:par>
                                <p:cTn id="18" presetID="10"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animEffect transition="in" filter="fade">
                                      <p:cBhvr>
                                        <p:cTn id="20" dur="5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childTnLst>
                          </p:cTn>
                        </p:par>
                        <p:par>
                          <p:cTn id="26" fill="hold">
                            <p:stCondLst>
                              <p:cond delay="500"/>
                            </p:stCondLst>
                            <p:childTnLst>
                              <p:par>
                                <p:cTn id="27" presetID="10" presetClass="entr" presetSubtype="0"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500"/>
                                        <p:tgtEl>
                                          <p:spTgt spid="20"/>
                                        </p:tgtEl>
                                      </p:cBhvr>
                                    </p:animEffect>
                                  </p:childTnLst>
                                </p:cTn>
                              </p:par>
                            </p:childTnLst>
                          </p:cTn>
                        </p:par>
                        <p:par>
                          <p:cTn id="35" fill="hold">
                            <p:stCondLst>
                              <p:cond delay="500"/>
                            </p:stCondLst>
                            <p:childTnLst>
                              <p:par>
                                <p:cTn id="36" presetID="10" presetClass="entr" presetSubtype="0" fill="hold" nodeType="afterEffect">
                                  <p:stCondLst>
                                    <p:cond delay="0"/>
                                  </p:stCondLst>
                                  <p:childTnLst>
                                    <p:set>
                                      <p:cBhvr>
                                        <p:cTn id="37" dur="1" fill="hold">
                                          <p:stCondLst>
                                            <p:cond delay="0"/>
                                          </p:stCondLst>
                                        </p:cTn>
                                        <p:tgtEl>
                                          <p:spTgt spid="21"/>
                                        </p:tgtEl>
                                        <p:attrNameLst>
                                          <p:attrName>style.visibility</p:attrName>
                                        </p:attrNameLst>
                                      </p:cBhvr>
                                      <p:to>
                                        <p:strVal val="visible"/>
                                      </p:to>
                                    </p:set>
                                    <p:animEffect transition="in" filter="fade">
                                      <p:cBhvr>
                                        <p:cTn id="38" dur="500"/>
                                        <p:tgtEl>
                                          <p:spTgt spid="21"/>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grpId="0"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childTnLst>
                          </p:cTn>
                        </p:par>
                        <p:par>
                          <p:cTn id="44" fill="hold">
                            <p:stCondLst>
                              <p:cond delay="500"/>
                            </p:stCondLst>
                            <p:childTnLst>
                              <p:par>
                                <p:cTn id="45" presetID="10" presetClass="entr" presetSubtype="0" fill="hold" nodeType="after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3" grpId="0"/>
      <p:bldP spid="20" grpId="0"/>
      <p:bldP spid="22" grpId="0"/>
    </p:bld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486C8C7-3138-D509-114F-6F28A4AD1F75}"/>
              </a:ext>
            </a:extLst>
          </p:cNvPr>
          <p:cNvSpPr>
            <a:spLocks noGrp="1"/>
          </p:cNvSpPr>
          <p:nvPr>
            <p:ph type="title"/>
          </p:nvPr>
        </p:nvSpPr>
        <p:spPr>
          <a:xfrm>
            <a:off x="372836" y="313872"/>
            <a:ext cx="10515600" cy="1325563"/>
          </a:xfrm>
        </p:spPr>
        <p:txBody>
          <a:bodyPr/>
          <a:lstStyle/>
          <a:p>
            <a:r>
              <a:rPr lang="en-GB" dirty="0"/>
              <a:t>Sorting: BUBBLE SORT</a:t>
            </a:r>
          </a:p>
        </p:txBody>
      </p:sp>
      <p:sp>
        <p:nvSpPr>
          <p:cNvPr id="3" name="Content Placeholder 2">
            <a:extLst>
              <a:ext uri="{FF2B5EF4-FFF2-40B4-BE49-F238E27FC236}">
                <a16:creationId xmlns:a16="http://schemas.microsoft.com/office/drawing/2014/main" xmlns="" id="{652B51D8-2575-37C6-471D-C3B39241C07A}"/>
              </a:ext>
            </a:extLst>
          </p:cNvPr>
          <p:cNvSpPr>
            <a:spLocks noGrp="1"/>
          </p:cNvSpPr>
          <p:nvPr>
            <p:ph idx="1"/>
          </p:nvPr>
        </p:nvSpPr>
        <p:spPr>
          <a:xfrm>
            <a:off x="527957" y="1690688"/>
            <a:ext cx="7783286" cy="4351338"/>
          </a:xfrm>
        </p:spPr>
        <p:txBody>
          <a:bodyPr>
            <a:normAutofit lnSpcReduction="10000"/>
          </a:bodyPr>
          <a:lstStyle/>
          <a:p>
            <a:pPr marL="0" indent="0">
              <a:buNone/>
            </a:pPr>
            <a:r>
              <a:rPr lang="en-GB" b="1" dirty="0"/>
              <a:t>FOR</a:t>
            </a:r>
            <a:r>
              <a:rPr lang="en-GB" dirty="0"/>
              <a:t> ( i = 0 TO </a:t>
            </a:r>
            <a:r>
              <a:rPr lang="en-GB" dirty="0" err="1"/>
              <a:t>myArray.Length</a:t>
            </a:r>
            <a:r>
              <a:rPr lang="en-GB" dirty="0"/>
              <a:t> )</a:t>
            </a:r>
          </a:p>
          <a:p>
            <a:pPr marL="0" indent="0">
              <a:buNone/>
            </a:pPr>
            <a:r>
              <a:rPr lang="en-GB" dirty="0"/>
              <a:t>	</a:t>
            </a:r>
            <a:r>
              <a:rPr lang="en-GB" b="1" dirty="0"/>
              <a:t>FOR</a:t>
            </a:r>
            <a:r>
              <a:rPr lang="en-GB" dirty="0"/>
              <a:t> ( j = 0 TO </a:t>
            </a:r>
            <a:r>
              <a:rPr lang="en-GB" dirty="0" err="1"/>
              <a:t>myArray.Length</a:t>
            </a:r>
            <a:r>
              <a:rPr lang="en-GB" dirty="0"/>
              <a:t> )</a:t>
            </a:r>
          </a:p>
          <a:p>
            <a:pPr marL="0" indent="0">
              <a:buNone/>
            </a:pPr>
            <a:r>
              <a:rPr lang="en-GB" dirty="0"/>
              <a:t>		</a:t>
            </a:r>
            <a:r>
              <a:rPr lang="en-GB" b="1" dirty="0"/>
              <a:t>IF</a:t>
            </a:r>
            <a:r>
              <a:rPr lang="en-GB" dirty="0"/>
              <a:t> ( </a:t>
            </a:r>
            <a:r>
              <a:rPr lang="en-GB" dirty="0" err="1"/>
              <a:t>myArray</a:t>
            </a:r>
            <a:r>
              <a:rPr lang="en-GB" dirty="0"/>
              <a:t>[j] &gt; </a:t>
            </a:r>
            <a:r>
              <a:rPr lang="en-GB" dirty="0" err="1"/>
              <a:t>myArray</a:t>
            </a:r>
            <a:r>
              <a:rPr lang="en-GB" dirty="0"/>
              <a:t>[j+1] )</a:t>
            </a:r>
          </a:p>
          <a:p>
            <a:pPr marL="0" indent="0">
              <a:buNone/>
            </a:pPr>
            <a:r>
              <a:rPr lang="en-GB" dirty="0"/>
              <a:t>			</a:t>
            </a:r>
            <a:r>
              <a:rPr lang="en-GB" dirty="0">
                <a:solidFill>
                  <a:srgbClr val="FFC000"/>
                </a:solidFill>
              </a:rPr>
              <a:t>temp = </a:t>
            </a:r>
            <a:r>
              <a:rPr lang="en-GB" dirty="0" err="1">
                <a:solidFill>
                  <a:srgbClr val="FFC000"/>
                </a:solidFill>
              </a:rPr>
              <a:t>myNumbers</a:t>
            </a:r>
            <a:r>
              <a:rPr lang="en-GB" dirty="0">
                <a:solidFill>
                  <a:srgbClr val="FFC000"/>
                </a:solidFill>
              </a:rPr>
              <a:t> [j]</a:t>
            </a:r>
          </a:p>
          <a:p>
            <a:pPr marL="0" indent="0">
              <a:buNone/>
            </a:pPr>
            <a:r>
              <a:rPr lang="en-GB" dirty="0">
                <a:solidFill>
                  <a:srgbClr val="FFC000"/>
                </a:solidFill>
              </a:rPr>
              <a:t>			</a:t>
            </a:r>
            <a:r>
              <a:rPr lang="en-GB" dirty="0" err="1">
                <a:solidFill>
                  <a:srgbClr val="FFC000"/>
                </a:solidFill>
              </a:rPr>
              <a:t>myArray</a:t>
            </a:r>
            <a:r>
              <a:rPr lang="en-GB" dirty="0">
                <a:solidFill>
                  <a:srgbClr val="FFC000"/>
                </a:solidFill>
              </a:rPr>
              <a:t>[j] = </a:t>
            </a:r>
            <a:r>
              <a:rPr lang="en-GB" dirty="0" err="1">
                <a:solidFill>
                  <a:srgbClr val="FFC000"/>
                </a:solidFill>
              </a:rPr>
              <a:t>myNumbers</a:t>
            </a:r>
            <a:r>
              <a:rPr lang="en-GB" dirty="0">
                <a:solidFill>
                  <a:srgbClr val="FFC000"/>
                </a:solidFill>
              </a:rPr>
              <a:t> [j+1]</a:t>
            </a:r>
          </a:p>
          <a:p>
            <a:pPr marL="0" indent="0">
              <a:buNone/>
            </a:pPr>
            <a:r>
              <a:rPr lang="en-GB" dirty="0"/>
              <a:t>			</a:t>
            </a:r>
            <a:r>
              <a:rPr lang="en-GB" dirty="0" err="1">
                <a:solidFill>
                  <a:srgbClr val="FFC000"/>
                </a:solidFill>
              </a:rPr>
              <a:t>myArray</a:t>
            </a:r>
            <a:r>
              <a:rPr lang="en-GB" dirty="0">
                <a:solidFill>
                  <a:srgbClr val="FFC000"/>
                </a:solidFill>
              </a:rPr>
              <a:t> [j+1] = temp</a:t>
            </a:r>
          </a:p>
          <a:p>
            <a:pPr marL="0" indent="0">
              <a:buNone/>
            </a:pPr>
            <a:r>
              <a:rPr lang="en-GB" dirty="0"/>
              <a:t>		END IF</a:t>
            </a:r>
          </a:p>
          <a:p>
            <a:pPr marL="0" indent="0">
              <a:buNone/>
            </a:pPr>
            <a:r>
              <a:rPr lang="en-GB" dirty="0"/>
              <a:t>	END FOR</a:t>
            </a:r>
          </a:p>
          <a:p>
            <a:pPr marL="0" indent="0">
              <a:buNone/>
            </a:pPr>
            <a:r>
              <a:rPr lang="en-GB" dirty="0"/>
              <a:t>END FOR</a:t>
            </a:r>
          </a:p>
        </p:txBody>
      </p:sp>
      <p:sp>
        <p:nvSpPr>
          <p:cNvPr id="4" name="TextBox 3">
            <a:extLst>
              <a:ext uri="{FF2B5EF4-FFF2-40B4-BE49-F238E27FC236}">
                <a16:creationId xmlns:a16="http://schemas.microsoft.com/office/drawing/2014/main" xmlns="" id="{8F99205E-F837-8E11-DE83-AF062C7F93E9}"/>
              </a:ext>
            </a:extLst>
          </p:cNvPr>
          <p:cNvSpPr txBox="1"/>
          <p:nvPr/>
        </p:nvSpPr>
        <p:spPr>
          <a:xfrm>
            <a:off x="8311243" y="3184549"/>
            <a:ext cx="2890157" cy="1200329"/>
          </a:xfrm>
          <a:prstGeom prst="rect">
            <a:avLst/>
          </a:prstGeom>
          <a:noFill/>
          <a:ln>
            <a:solidFill>
              <a:srgbClr val="FFC000"/>
            </a:solidFill>
          </a:ln>
        </p:spPr>
        <p:txBody>
          <a:bodyPr wrap="square" rtlCol="0">
            <a:spAutoFit/>
          </a:bodyPr>
          <a:lstStyle/>
          <a:p>
            <a:pPr algn="ctr"/>
            <a:r>
              <a:rPr lang="en-GB" sz="2400" dirty="0">
                <a:solidFill>
                  <a:srgbClr val="FFC000"/>
                </a:solidFill>
              </a:rPr>
              <a:t>This section simply swaps the numbers around</a:t>
            </a:r>
          </a:p>
        </p:txBody>
      </p:sp>
      <p:cxnSp>
        <p:nvCxnSpPr>
          <p:cNvPr id="6" name="Straight Connector 5">
            <a:extLst>
              <a:ext uri="{FF2B5EF4-FFF2-40B4-BE49-F238E27FC236}">
                <a16:creationId xmlns:a16="http://schemas.microsoft.com/office/drawing/2014/main" xmlns="" id="{8A96B906-62C0-CF83-4A33-27E79F6365BC}"/>
              </a:ext>
            </a:extLst>
          </p:cNvPr>
          <p:cNvCxnSpPr>
            <a:cxnSpLocks/>
          </p:cNvCxnSpPr>
          <p:nvPr/>
        </p:nvCxnSpPr>
        <p:spPr>
          <a:xfrm>
            <a:off x="3241221" y="3118757"/>
            <a:ext cx="0" cy="1266121"/>
          </a:xfrm>
          <a:prstGeom prst="line">
            <a:avLst/>
          </a:prstGeom>
          <a:ln>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xmlns="" id="{F62D0FC0-2675-BFCE-26F3-C6F698598531}"/>
              </a:ext>
            </a:extLst>
          </p:cNvPr>
          <p:cNvCxnSpPr>
            <a:cxnSpLocks/>
          </p:cNvCxnSpPr>
          <p:nvPr/>
        </p:nvCxnSpPr>
        <p:spPr>
          <a:xfrm>
            <a:off x="2258786" y="2686050"/>
            <a:ext cx="0" cy="2250621"/>
          </a:xfrm>
          <a:prstGeom prst="line">
            <a:avLst/>
          </a:prstGeom>
          <a:ln>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xmlns="" id="{96AA26E8-E397-255B-DB58-6765AF07BF1E}"/>
              </a:ext>
            </a:extLst>
          </p:cNvPr>
          <p:cNvCxnSpPr>
            <a:cxnSpLocks/>
          </p:cNvCxnSpPr>
          <p:nvPr/>
        </p:nvCxnSpPr>
        <p:spPr>
          <a:xfrm>
            <a:off x="1447800" y="2209800"/>
            <a:ext cx="0" cy="3088821"/>
          </a:xfrm>
          <a:prstGeom prst="line">
            <a:avLst/>
          </a:prstGeom>
          <a:ln>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xmlns="" id="{C5DFA0CD-89C3-5467-9E81-400C8F2BB79A}"/>
              </a:ext>
            </a:extLst>
          </p:cNvPr>
          <p:cNvCxnSpPr>
            <a:cxnSpLocks/>
          </p:cNvCxnSpPr>
          <p:nvPr/>
        </p:nvCxnSpPr>
        <p:spPr>
          <a:xfrm>
            <a:off x="527957" y="1758042"/>
            <a:ext cx="0" cy="4038601"/>
          </a:xfrm>
          <a:prstGeom prst="line">
            <a:avLst/>
          </a:prstGeom>
          <a:ln>
            <a:solidFill>
              <a:schemeClr val="bg2"/>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79551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3FDED60F-44B3-9B25-DC2C-A086259A0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9D31430C-31C5-9B23-D4F7-011354837CF2}"/>
              </a:ext>
            </a:extLst>
          </p:cNvPr>
          <p:cNvSpPr>
            <a:spLocks noGrp="1"/>
          </p:cNvSpPr>
          <p:nvPr>
            <p:ph type="title"/>
          </p:nvPr>
        </p:nvSpPr>
        <p:spPr>
          <a:xfrm>
            <a:off x="372836" y="313872"/>
            <a:ext cx="10515600" cy="1325563"/>
          </a:xfrm>
        </p:spPr>
        <p:txBody>
          <a:bodyPr/>
          <a:lstStyle/>
          <a:p>
            <a:r>
              <a:rPr lang="en-GB" dirty="0"/>
              <a:t>Sorting: INSERTION SORT</a:t>
            </a:r>
          </a:p>
        </p:txBody>
      </p:sp>
      <p:sp>
        <p:nvSpPr>
          <p:cNvPr id="3" name="Content Placeholder 2">
            <a:extLst>
              <a:ext uri="{FF2B5EF4-FFF2-40B4-BE49-F238E27FC236}">
                <a16:creationId xmlns:a16="http://schemas.microsoft.com/office/drawing/2014/main" xmlns="" id="{8502A62C-D780-180E-9F04-17A16460BF76}"/>
              </a:ext>
            </a:extLst>
          </p:cNvPr>
          <p:cNvSpPr>
            <a:spLocks noGrp="1"/>
          </p:cNvSpPr>
          <p:nvPr>
            <p:ph idx="1"/>
          </p:nvPr>
        </p:nvSpPr>
        <p:spPr>
          <a:xfrm>
            <a:off x="527956" y="1690687"/>
            <a:ext cx="9065080" cy="5069341"/>
          </a:xfrm>
        </p:spPr>
        <p:txBody>
          <a:bodyPr>
            <a:normAutofit fontScale="92500" lnSpcReduction="10000"/>
          </a:bodyPr>
          <a:lstStyle/>
          <a:p>
            <a:pPr marL="0" indent="0">
              <a:buNone/>
            </a:pPr>
            <a:r>
              <a:rPr lang="en-GB" dirty="0"/>
              <a:t>FOR ( i = 0 TO </a:t>
            </a:r>
            <a:r>
              <a:rPr lang="en-GB" dirty="0" err="1"/>
              <a:t>myArray.Length</a:t>
            </a:r>
            <a:r>
              <a:rPr lang="en-GB" dirty="0"/>
              <a:t> )</a:t>
            </a:r>
          </a:p>
          <a:p>
            <a:pPr marL="0" indent="0">
              <a:buNone/>
            </a:pPr>
            <a:r>
              <a:rPr lang="en-GB" dirty="0"/>
              <a:t>	</a:t>
            </a:r>
            <a:r>
              <a:rPr lang="en-GB" dirty="0" err="1"/>
              <a:t>positionOfMin</a:t>
            </a:r>
            <a:r>
              <a:rPr lang="en-GB" dirty="0"/>
              <a:t> = I</a:t>
            </a:r>
          </a:p>
          <a:p>
            <a:pPr marL="0" indent="0">
              <a:buNone/>
            </a:pPr>
            <a:r>
              <a:rPr lang="en-GB" dirty="0"/>
              <a:t>	FOR ( j = i TO </a:t>
            </a:r>
            <a:r>
              <a:rPr lang="en-GB" dirty="0" err="1"/>
              <a:t>myArray.Length</a:t>
            </a:r>
            <a:r>
              <a:rPr lang="en-GB" dirty="0"/>
              <a:t> )</a:t>
            </a:r>
          </a:p>
          <a:p>
            <a:pPr marL="0" indent="0">
              <a:buNone/>
            </a:pPr>
            <a:r>
              <a:rPr lang="en-GB" dirty="0"/>
              <a:t>		IF ( </a:t>
            </a:r>
            <a:r>
              <a:rPr lang="en-GB" dirty="0" err="1"/>
              <a:t>myArray</a:t>
            </a:r>
            <a:r>
              <a:rPr lang="en-GB" dirty="0"/>
              <a:t>[</a:t>
            </a:r>
            <a:r>
              <a:rPr lang="en-GB" dirty="0" err="1"/>
              <a:t>positionOfMin</a:t>
            </a:r>
            <a:r>
              <a:rPr lang="en-GB" dirty="0"/>
              <a:t>] &gt; </a:t>
            </a:r>
            <a:r>
              <a:rPr lang="en-GB" dirty="0" err="1"/>
              <a:t>myNumbers</a:t>
            </a:r>
            <a:r>
              <a:rPr lang="en-GB" dirty="0"/>
              <a:t>[j] )</a:t>
            </a:r>
          </a:p>
          <a:p>
            <a:pPr marL="0" indent="0">
              <a:buNone/>
            </a:pPr>
            <a:r>
              <a:rPr lang="en-GB" dirty="0"/>
              <a:t>			</a:t>
            </a:r>
            <a:r>
              <a:rPr lang="en-GB" dirty="0" err="1"/>
              <a:t>positionOfMin</a:t>
            </a:r>
            <a:r>
              <a:rPr lang="en-GB" dirty="0"/>
              <a:t> = j;</a:t>
            </a:r>
          </a:p>
          <a:p>
            <a:pPr marL="0" indent="0">
              <a:buNone/>
            </a:pPr>
            <a:r>
              <a:rPr lang="en-GB" dirty="0"/>
              <a:t>		END IF</a:t>
            </a:r>
          </a:p>
          <a:p>
            <a:pPr marL="0" indent="0">
              <a:buNone/>
            </a:pPr>
            <a:r>
              <a:rPr lang="en-GB" dirty="0"/>
              <a:t>	END FOR</a:t>
            </a:r>
          </a:p>
          <a:p>
            <a:pPr marL="0" indent="0">
              <a:buNone/>
            </a:pPr>
            <a:r>
              <a:rPr lang="en-GB" dirty="0"/>
              <a:t>	</a:t>
            </a:r>
            <a:r>
              <a:rPr lang="en-GB" dirty="0">
                <a:solidFill>
                  <a:srgbClr val="FFC000"/>
                </a:solidFill>
              </a:rPr>
              <a:t>temp = </a:t>
            </a:r>
            <a:r>
              <a:rPr lang="en-GB" dirty="0" err="1">
                <a:solidFill>
                  <a:srgbClr val="FFC000"/>
                </a:solidFill>
              </a:rPr>
              <a:t>myArray</a:t>
            </a:r>
            <a:r>
              <a:rPr lang="en-GB" dirty="0">
                <a:solidFill>
                  <a:srgbClr val="FFC000"/>
                </a:solidFill>
              </a:rPr>
              <a:t>[i]</a:t>
            </a:r>
          </a:p>
          <a:p>
            <a:pPr marL="0" indent="0">
              <a:buNone/>
            </a:pPr>
            <a:r>
              <a:rPr lang="en-GB" dirty="0">
                <a:solidFill>
                  <a:srgbClr val="FFC000"/>
                </a:solidFill>
              </a:rPr>
              <a:t>	</a:t>
            </a:r>
            <a:r>
              <a:rPr lang="en-GB" dirty="0" err="1">
                <a:solidFill>
                  <a:srgbClr val="FFC000"/>
                </a:solidFill>
              </a:rPr>
              <a:t>myArray</a:t>
            </a:r>
            <a:r>
              <a:rPr lang="en-GB" dirty="0">
                <a:solidFill>
                  <a:srgbClr val="FFC000"/>
                </a:solidFill>
              </a:rPr>
              <a:t>[i] = </a:t>
            </a:r>
            <a:r>
              <a:rPr lang="en-GB" dirty="0" err="1">
                <a:solidFill>
                  <a:srgbClr val="FFC000"/>
                </a:solidFill>
              </a:rPr>
              <a:t>myNumbers</a:t>
            </a:r>
            <a:r>
              <a:rPr lang="en-GB" dirty="0">
                <a:solidFill>
                  <a:srgbClr val="FFC000"/>
                </a:solidFill>
              </a:rPr>
              <a:t>[</a:t>
            </a:r>
            <a:r>
              <a:rPr lang="en-GB" dirty="0" err="1">
                <a:solidFill>
                  <a:srgbClr val="FFC000"/>
                </a:solidFill>
              </a:rPr>
              <a:t>positionOfMin</a:t>
            </a:r>
            <a:r>
              <a:rPr lang="en-GB" dirty="0">
                <a:solidFill>
                  <a:srgbClr val="FFC000"/>
                </a:solidFill>
              </a:rPr>
              <a:t>]</a:t>
            </a:r>
          </a:p>
          <a:p>
            <a:pPr marL="0" indent="0">
              <a:buNone/>
            </a:pPr>
            <a:r>
              <a:rPr lang="en-GB" dirty="0">
                <a:solidFill>
                  <a:srgbClr val="FFC000"/>
                </a:solidFill>
              </a:rPr>
              <a:t>	</a:t>
            </a:r>
            <a:r>
              <a:rPr lang="en-GB" dirty="0" err="1">
                <a:solidFill>
                  <a:srgbClr val="FFC000"/>
                </a:solidFill>
              </a:rPr>
              <a:t>myArray</a:t>
            </a:r>
            <a:r>
              <a:rPr lang="en-GB" dirty="0">
                <a:solidFill>
                  <a:srgbClr val="FFC000"/>
                </a:solidFill>
              </a:rPr>
              <a:t>[</a:t>
            </a:r>
            <a:r>
              <a:rPr lang="en-GB" dirty="0" err="1">
                <a:solidFill>
                  <a:srgbClr val="FFC000"/>
                </a:solidFill>
              </a:rPr>
              <a:t>positionOfMin</a:t>
            </a:r>
            <a:r>
              <a:rPr lang="en-GB" dirty="0">
                <a:solidFill>
                  <a:srgbClr val="FFC000"/>
                </a:solidFill>
              </a:rPr>
              <a:t>] = temp</a:t>
            </a:r>
          </a:p>
          <a:p>
            <a:pPr marL="0" indent="0">
              <a:buNone/>
            </a:pPr>
            <a:r>
              <a:rPr lang="en-GB" dirty="0"/>
              <a:t>END FOR</a:t>
            </a:r>
          </a:p>
        </p:txBody>
      </p:sp>
      <p:sp>
        <p:nvSpPr>
          <p:cNvPr id="4" name="TextBox 3">
            <a:extLst>
              <a:ext uri="{FF2B5EF4-FFF2-40B4-BE49-F238E27FC236}">
                <a16:creationId xmlns:a16="http://schemas.microsoft.com/office/drawing/2014/main" xmlns="" id="{FDD080EB-6CEF-4A8B-AB6B-6507DEC03068}"/>
              </a:ext>
            </a:extLst>
          </p:cNvPr>
          <p:cNvSpPr txBox="1"/>
          <p:nvPr/>
        </p:nvSpPr>
        <p:spPr>
          <a:xfrm>
            <a:off x="7881258" y="4865054"/>
            <a:ext cx="2890157" cy="1200329"/>
          </a:xfrm>
          <a:prstGeom prst="rect">
            <a:avLst/>
          </a:prstGeom>
          <a:noFill/>
          <a:ln>
            <a:solidFill>
              <a:srgbClr val="FFC000"/>
            </a:solidFill>
          </a:ln>
        </p:spPr>
        <p:txBody>
          <a:bodyPr wrap="square" rtlCol="0">
            <a:spAutoFit/>
          </a:bodyPr>
          <a:lstStyle/>
          <a:p>
            <a:pPr algn="ctr"/>
            <a:r>
              <a:rPr lang="en-GB" sz="2400" dirty="0">
                <a:solidFill>
                  <a:srgbClr val="FFC000"/>
                </a:solidFill>
              </a:rPr>
              <a:t>This section simply swaps the numbers around</a:t>
            </a:r>
          </a:p>
        </p:txBody>
      </p:sp>
      <p:cxnSp>
        <p:nvCxnSpPr>
          <p:cNvPr id="5" name="Straight Connector 4">
            <a:extLst>
              <a:ext uri="{FF2B5EF4-FFF2-40B4-BE49-F238E27FC236}">
                <a16:creationId xmlns:a16="http://schemas.microsoft.com/office/drawing/2014/main" xmlns="" id="{2A401B02-5675-EFA8-C70A-5492718410DF}"/>
              </a:ext>
            </a:extLst>
          </p:cNvPr>
          <p:cNvCxnSpPr>
            <a:cxnSpLocks/>
          </p:cNvCxnSpPr>
          <p:nvPr/>
        </p:nvCxnSpPr>
        <p:spPr>
          <a:xfrm>
            <a:off x="3241221" y="3494315"/>
            <a:ext cx="0" cy="408214"/>
          </a:xfrm>
          <a:prstGeom prst="line">
            <a:avLst/>
          </a:prstGeom>
          <a:ln>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xmlns="" id="{9D0AAEC4-6AFA-639E-884E-F8B6229ECB47}"/>
              </a:ext>
            </a:extLst>
          </p:cNvPr>
          <p:cNvCxnSpPr>
            <a:cxnSpLocks/>
          </p:cNvCxnSpPr>
          <p:nvPr/>
        </p:nvCxnSpPr>
        <p:spPr>
          <a:xfrm>
            <a:off x="2315935" y="3086101"/>
            <a:ext cx="0" cy="1102178"/>
          </a:xfrm>
          <a:prstGeom prst="line">
            <a:avLst/>
          </a:prstGeom>
          <a:ln>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xmlns="" id="{E4C65FC7-1414-CC81-C8CC-B67C3ED99D2F}"/>
              </a:ext>
            </a:extLst>
          </p:cNvPr>
          <p:cNvCxnSpPr>
            <a:cxnSpLocks/>
          </p:cNvCxnSpPr>
          <p:nvPr/>
        </p:nvCxnSpPr>
        <p:spPr>
          <a:xfrm>
            <a:off x="1458686" y="2294164"/>
            <a:ext cx="0" cy="3771219"/>
          </a:xfrm>
          <a:prstGeom prst="line">
            <a:avLst/>
          </a:prstGeom>
          <a:ln>
            <a:solidFill>
              <a:schemeClr val="bg2"/>
            </a:solidFill>
            <a:prstDash val="dash"/>
          </a:ln>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xmlns="" id="{5ABB1E6B-9B68-BC73-0BA2-7F726CFBB416}"/>
              </a:ext>
            </a:extLst>
          </p:cNvPr>
          <p:cNvCxnSpPr>
            <a:cxnSpLocks/>
          </p:cNvCxnSpPr>
          <p:nvPr/>
        </p:nvCxnSpPr>
        <p:spPr>
          <a:xfrm>
            <a:off x="527956" y="1715179"/>
            <a:ext cx="0" cy="4734606"/>
          </a:xfrm>
          <a:prstGeom prst="line">
            <a:avLst/>
          </a:prstGeom>
          <a:ln>
            <a:solidFill>
              <a:schemeClr val="bg2"/>
            </a:solidFill>
            <a:prstDash val="dash"/>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07855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fade">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5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fade">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FAC89AD-FA67-B1E2-BF31-A4D3104B3620}"/>
              </a:ext>
            </a:extLst>
          </p:cNvPr>
          <p:cNvSpPr>
            <a:spLocks noGrp="1"/>
          </p:cNvSpPr>
          <p:nvPr>
            <p:ph type="title"/>
          </p:nvPr>
        </p:nvSpPr>
        <p:spPr>
          <a:xfrm>
            <a:off x="253093" y="365125"/>
            <a:ext cx="11707586" cy="1325563"/>
          </a:xfrm>
        </p:spPr>
        <p:txBody>
          <a:bodyPr/>
          <a:lstStyle/>
          <a:p>
            <a:r>
              <a:rPr lang="en-GB" dirty="0"/>
              <a:t>Simple Searching: Linear Search</a:t>
            </a:r>
          </a:p>
        </p:txBody>
      </p:sp>
      <p:sp>
        <p:nvSpPr>
          <p:cNvPr id="3" name="Content Placeholder 2">
            <a:extLst>
              <a:ext uri="{FF2B5EF4-FFF2-40B4-BE49-F238E27FC236}">
                <a16:creationId xmlns:a16="http://schemas.microsoft.com/office/drawing/2014/main" xmlns="" id="{A670CC9F-25BB-4AEA-97BF-3DCEB8F5BE4B}"/>
              </a:ext>
            </a:extLst>
          </p:cNvPr>
          <p:cNvSpPr>
            <a:spLocks noGrp="1"/>
          </p:cNvSpPr>
          <p:nvPr>
            <p:ph idx="1"/>
          </p:nvPr>
        </p:nvSpPr>
        <p:spPr>
          <a:xfrm>
            <a:off x="395926" y="1825625"/>
            <a:ext cx="10957874" cy="4801418"/>
          </a:xfrm>
        </p:spPr>
        <p:txBody>
          <a:bodyPr>
            <a:normAutofit fontScale="77500" lnSpcReduction="20000"/>
          </a:bodyPr>
          <a:lstStyle/>
          <a:p>
            <a:pPr marL="0" indent="0">
              <a:buNone/>
            </a:pPr>
            <a:r>
              <a:rPr lang="en-GB" dirty="0"/>
              <a:t>SET i = 0</a:t>
            </a:r>
          </a:p>
          <a:p>
            <a:pPr marL="0" indent="0">
              <a:buNone/>
            </a:pPr>
            <a:r>
              <a:rPr lang="en-GB" dirty="0"/>
              <a:t>SET </a:t>
            </a:r>
            <a:r>
              <a:rPr lang="en-GB" dirty="0" err="1"/>
              <a:t>valueToFind</a:t>
            </a:r>
            <a:r>
              <a:rPr lang="en-GB" dirty="0"/>
              <a:t> = INPUT</a:t>
            </a:r>
          </a:p>
          <a:p>
            <a:pPr marL="0" indent="0">
              <a:buNone/>
            </a:pPr>
            <a:r>
              <a:rPr lang="en-GB" dirty="0"/>
              <a:t>SET found = False</a:t>
            </a:r>
          </a:p>
          <a:p>
            <a:pPr marL="0" indent="0">
              <a:buNone/>
            </a:pPr>
            <a:r>
              <a:rPr lang="en-GB" dirty="0"/>
              <a:t>WHILE ( i &lt; </a:t>
            </a:r>
            <a:r>
              <a:rPr lang="en-GB" dirty="0" err="1"/>
              <a:t>array.Length</a:t>
            </a:r>
            <a:r>
              <a:rPr lang="en-GB" dirty="0"/>
              <a:t> AND found==false )</a:t>
            </a:r>
          </a:p>
          <a:p>
            <a:pPr marL="0" indent="0">
              <a:buNone/>
            </a:pPr>
            <a:r>
              <a:rPr lang="en-GB" dirty="0"/>
              <a:t>	IF ( array[i] == </a:t>
            </a:r>
            <a:r>
              <a:rPr lang="en-GB" dirty="0" err="1"/>
              <a:t>valueToFind</a:t>
            </a:r>
            <a:r>
              <a:rPr lang="en-GB" dirty="0"/>
              <a:t> )</a:t>
            </a:r>
          </a:p>
          <a:p>
            <a:pPr marL="0" indent="0">
              <a:buNone/>
            </a:pPr>
            <a:r>
              <a:rPr lang="en-GB" dirty="0"/>
              <a:t>		found = true</a:t>
            </a:r>
          </a:p>
          <a:p>
            <a:pPr marL="0" indent="0">
              <a:buNone/>
            </a:pPr>
            <a:r>
              <a:rPr lang="en-GB" dirty="0"/>
              <a:t>		OUTPUT “Found at ” + array[i] </a:t>
            </a:r>
          </a:p>
          <a:p>
            <a:pPr marL="0" indent="0">
              <a:buNone/>
            </a:pPr>
            <a:r>
              <a:rPr lang="en-GB" dirty="0"/>
              <a:t>	END IF</a:t>
            </a:r>
          </a:p>
          <a:p>
            <a:pPr marL="0" indent="0">
              <a:buNone/>
            </a:pPr>
            <a:r>
              <a:rPr lang="en-GB" dirty="0"/>
              <a:t>	i = i + 1</a:t>
            </a:r>
          </a:p>
          <a:p>
            <a:pPr marL="0" indent="0">
              <a:buNone/>
            </a:pPr>
            <a:r>
              <a:rPr lang="en-GB" dirty="0"/>
              <a:t>END WHILE </a:t>
            </a:r>
          </a:p>
          <a:p>
            <a:pPr marL="0" indent="0">
              <a:buNone/>
            </a:pPr>
            <a:r>
              <a:rPr lang="en-GB" dirty="0"/>
              <a:t>IF ( found = FALSE )</a:t>
            </a:r>
          </a:p>
          <a:p>
            <a:pPr marL="0" indent="0">
              <a:buNone/>
            </a:pPr>
            <a:r>
              <a:rPr lang="en-GB" dirty="0"/>
              <a:t>	OUTPUT “Value not found”</a:t>
            </a:r>
          </a:p>
          <a:p>
            <a:pPr marL="0" indent="0">
              <a:buNone/>
            </a:pPr>
            <a:r>
              <a:rPr lang="en-GB" dirty="0"/>
              <a:t>END IF</a:t>
            </a:r>
          </a:p>
        </p:txBody>
      </p:sp>
    </p:spTree>
    <p:extLst>
      <p:ext uri="{BB962C8B-B14F-4D97-AF65-F5344CB8AC3E}">
        <p14:creationId xmlns:p14="http://schemas.microsoft.com/office/powerpoint/2010/main" val="1276735213"/>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1CA6FA5-AED3-99D0-64B2-5E8D0C269DD6}"/>
              </a:ext>
            </a:extLst>
          </p:cNvPr>
          <p:cNvSpPr>
            <a:spLocks noGrp="1"/>
          </p:cNvSpPr>
          <p:nvPr>
            <p:ph type="title"/>
          </p:nvPr>
        </p:nvSpPr>
        <p:spPr>
          <a:xfrm>
            <a:off x="5902036" y="365125"/>
            <a:ext cx="5835534" cy="1325563"/>
          </a:xfrm>
        </p:spPr>
        <p:txBody>
          <a:bodyPr>
            <a:normAutofit fontScale="90000"/>
          </a:bodyPr>
          <a:lstStyle/>
          <a:p>
            <a:r>
              <a:rPr lang="en-GB" dirty="0"/>
              <a:t>Simple Searching: Binary Search</a:t>
            </a:r>
          </a:p>
        </p:txBody>
      </p:sp>
      <p:sp>
        <p:nvSpPr>
          <p:cNvPr id="3" name="Content Placeholder 2">
            <a:extLst>
              <a:ext uri="{FF2B5EF4-FFF2-40B4-BE49-F238E27FC236}">
                <a16:creationId xmlns:a16="http://schemas.microsoft.com/office/drawing/2014/main" xmlns="" id="{FCB18E65-BE7E-502C-3D99-1148B6E5DB1B}"/>
              </a:ext>
            </a:extLst>
          </p:cNvPr>
          <p:cNvSpPr>
            <a:spLocks noGrp="1"/>
          </p:cNvSpPr>
          <p:nvPr>
            <p:ph idx="1"/>
          </p:nvPr>
        </p:nvSpPr>
        <p:spPr>
          <a:xfrm>
            <a:off x="249382" y="116378"/>
            <a:ext cx="11104418" cy="6741621"/>
          </a:xfrm>
        </p:spPr>
        <p:txBody>
          <a:bodyPr>
            <a:normAutofit fontScale="62500" lnSpcReduction="20000"/>
          </a:bodyPr>
          <a:lstStyle/>
          <a:p>
            <a:pPr marL="0" indent="0">
              <a:buNone/>
            </a:pPr>
            <a:r>
              <a:rPr lang="en-GB" dirty="0"/>
              <a:t>SET </a:t>
            </a:r>
            <a:r>
              <a:rPr lang="en-GB" dirty="0">
                <a:solidFill>
                  <a:srgbClr val="07E073"/>
                </a:solidFill>
              </a:rPr>
              <a:t>lo</a:t>
            </a:r>
            <a:r>
              <a:rPr lang="en-GB" dirty="0"/>
              <a:t> = 0</a:t>
            </a:r>
          </a:p>
          <a:p>
            <a:pPr marL="0" indent="0">
              <a:buNone/>
            </a:pPr>
            <a:r>
              <a:rPr lang="en-GB" dirty="0"/>
              <a:t>SET term = </a:t>
            </a:r>
            <a:r>
              <a:rPr lang="en-GB" dirty="0" err="1"/>
              <a:t>valueToFind</a:t>
            </a:r>
            <a:endParaRPr lang="en-GB" dirty="0"/>
          </a:p>
          <a:p>
            <a:pPr marL="0" indent="0">
              <a:buNone/>
            </a:pPr>
            <a:r>
              <a:rPr lang="en-GB" dirty="0"/>
              <a:t>SET</a:t>
            </a:r>
            <a:r>
              <a:rPr lang="en-GB" dirty="0">
                <a:solidFill>
                  <a:srgbClr val="92D050"/>
                </a:solidFill>
              </a:rPr>
              <a:t> </a:t>
            </a:r>
            <a:r>
              <a:rPr lang="en-GB" dirty="0">
                <a:solidFill>
                  <a:srgbClr val="07E073"/>
                </a:solidFill>
              </a:rPr>
              <a:t>hi</a:t>
            </a:r>
            <a:r>
              <a:rPr lang="en-GB" dirty="0">
                <a:solidFill>
                  <a:srgbClr val="92D050"/>
                </a:solidFill>
              </a:rPr>
              <a:t> </a:t>
            </a:r>
            <a:r>
              <a:rPr lang="en-GB" dirty="0"/>
              <a:t>= </a:t>
            </a:r>
            <a:r>
              <a:rPr lang="en-GB" dirty="0" err="1"/>
              <a:t>array.Length</a:t>
            </a:r>
            <a:r>
              <a:rPr lang="en-GB" dirty="0"/>
              <a:t> – 1</a:t>
            </a:r>
          </a:p>
          <a:p>
            <a:pPr marL="0" indent="0">
              <a:buNone/>
            </a:pPr>
            <a:r>
              <a:rPr lang="en-GB" dirty="0"/>
              <a:t>SET found = FALSE</a:t>
            </a:r>
          </a:p>
          <a:p>
            <a:pPr marL="0" indent="0">
              <a:buNone/>
            </a:pPr>
            <a:r>
              <a:rPr lang="en-GB" dirty="0">
                <a:solidFill>
                  <a:srgbClr val="FFC000"/>
                </a:solidFill>
              </a:rPr>
              <a:t>Do</a:t>
            </a:r>
          </a:p>
          <a:p>
            <a:pPr marL="0" indent="0">
              <a:buNone/>
            </a:pPr>
            <a:r>
              <a:rPr lang="en-GB" dirty="0">
                <a:solidFill>
                  <a:srgbClr val="FFC000"/>
                </a:solidFill>
              </a:rPr>
              <a:t>	SET mid = 0.5 * ( </a:t>
            </a:r>
            <a:r>
              <a:rPr lang="en-GB" dirty="0">
                <a:solidFill>
                  <a:srgbClr val="07E073"/>
                </a:solidFill>
              </a:rPr>
              <a:t>lo</a:t>
            </a:r>
            <a:r>
              <a:rPr lang="en-GB" dirty="0">
                <a:solidFill>
                  <a:srgbClr val="FFC000"/>
                </a:solidFill>
              </a:rPr>
              <a:t> + </a:t>
            </a:r>
            <a:r>
              <a:rPr lang="en-GB" dirty="0">
                <a:solidFill>
                  <a:srgbClr val="07E073"/>
                </a:solidFill>
              </a:rPr>
              <a:t>hi</a:t>
            </a:r>
            <a:r>
              <a:rPr lang="en-GB" dirty="0">
                <a:solidFill>
                  <a:srgbClr val="FFC000"/>
                </a:solidFill>
              </a:rPr>
              <a:t> )</a:t>
            </a:r>
          </a:p>
          <a:p>
            <a:pPr marL="0" indent="0">
              <a:buNone/>
            </a:pPr>
            <a:r>
              <a:rPr lang="en-GB" dirty="0">
                <a:solidFill>
                  <a:srgbClr val="FFC000"/>
                </a:solidFill>
              </a:rPr>
              <a:t>	ROUND to nearest whole number</a:t>
            </a:r>
          </a:p>
          <a:p>
            <a:pPr marL="0" indent="0">
              <a:buNone/>
            </a:pPr>
            <a:r>
              <a:rPr lang="en-GB" dirty="0">
                <a:solidFill>
                  <a:srgbClr val="FFC000"/>
                </a:solidFill>
              </a:rPr>
              <a:t>	if(array[mid] = term)</a:t>
            </a:r>
          </a:p>
          <a:p>
            <a:pPr marL="0" indent="0">
              <a:buNone/>
            </a:pPr>
            <a:r>
              <a:rPr lang="en-GB" dirty="0">
                <a:solidFill>
                  <a:srgbClr val="FFC000"/>
                </a:solidFill>
              </a:rPr>
              <a:t>		SET found =TRUE</a:t>
            </a:r>
          </a:p>
          <a:p>
            <a:pPr marL="0" indent="0">
              <a:buNone/>
            </a:pPr>
            <a:r>
              <a:rPr lang="en-GB" dirty="0">
                <a:solidFill>
                  <a:srgbClr val="FFC000"/>
                </a:solidFill>
              </a:rPr>
              <a:t>	END IF</a:t>
            </a:r>
          </a:p>
          <a:p>
            <a:pPr marL="0" indent="0">
              <a:buNone/>
            </a:pPr>
            <a:r>
              <a:rPr lang="en-GB" dirty="0">
                <a:solidFill>
                  <a:srgbClr val="FFC000"/>
                </a:solidFill>
              </a:rPr>
              <a:t>	IF array[mid] &lt; term</a:t>
            </a:r>
          </a:p>
          <a:p>
            <a:pPr marL="0" indent="0">
              <a:buNone/>
            </a:pPr>
            <a:r>
              <a:rPr lang="en-GB" dirty="0">
                <a:solidFill>
                  <a:srgbClr val="FFC000"/>
                </a:solidFill>
              </a:rPr>
              <a:t>		SET </a:t>
            </a:r>
            <a:r>
              <a:rPr lang="en-GB" dirty="0">
                <a:solidFill>
                  <a:srgbClr val="07E073"/>
                </a:solidFill>
              </a:rPr>
              <a:t>lo</a:t>
            </a:r>
            <a:r>
              <a:rPr lang="en-GB" dirty="0">
                <a:solidFill>
                  <a:srgbClr val="FFC000"/>
                </a:solidFill>
              </a:rPr>
              <a:t> = mid + 1</a:t>
            </a:r>
          </a:p>
          <a:p>
            <a:pPr marL="0" indent="0">
              <a:buNone/>
            </a:pPr>
            <a:r>
              <a:rPr lang="en-GB" dirty="0">
                <a:solidFill>
                  <a:srgbClr val="FFC000"/>
                </a:solidFill>
              </a:rPr>
              <a:t>	END IF</a:t>
            </a:r>
          </a:p>
          <a:p>
            <a:pPr marL="0" indent="0">
              <a:buNone/>
            </a:pPr>
            <a:r>
              <a:rPr lang="en-GB" dirty="0">
                <a:solidFill>
                  <a:srgbClr val="FFC000"/>
                </a:solidFill>
              </a:rPr>
              <a:t>	IF array[mid] &gt; term</a:t>
            </a:r>
          </a:p>
          <a:p>
            <a:pPr marL="0" indent="0">
              <a:buNone/>
            </a:pPr>
            <a:r>
              <a:rPr lang="en-GB" dirty="0">
                <a:solidFill>
                  <a:srgbClr val="FFC000"/>
                </a:solidFill>
              </a:rPr>
              <a:t>		SET </a:t>
            </a:r>
            <a:r>
              <a:rPr lang="en-GB" dirty="0">
                <a:solidFill>
                  <a:srgbClr val="07E073"/>
                </a:solidFill>
              </a:rPr>
              <a:t>hi</a:t>
            </a:r>
            <a:r>
              <a:rPr lang="en-GB" dirty="0">
                <a:solidFill>
                  <a:srgbClr val="FFC000"/>
                </a:solidFill>
              </a:rPr>
              <a:t> = mid – 1</a:t>
            </a:r>
          </a:p>
          <a:p>
            <a:pPr marL="0" indent="0">
              <a:buNone/>
            </a:pPr>
            <a:r>
              <a:rPr lang="en-GB" dirty="0">
                <a:solidFill>
                  <a:srgbClr val="FFC000"/>
                </a:solidFill>
              </a:rPr>
              <a:t>WHILE (found = TRUE OR</a:t>
            </a:r>
            <a:r>
              <a:rPr lang="en-GB" dirty="0">
                <a:solidFill>
                  <a:srgbClr val="07E073"/>
                </a:solidFill>
              </a:rPr>
              <a:t> hi </a:t>
            </a:r>
            <a:r>
              <a:rPr lang="en-GB" dirty="0">
                <a:solidFill>
                  <a:srgbClr val="FFC000"/>
                </a:solidFill>
              </a:rPr>
              <a:t>&gt; </a:t>
            </a:r>
            <a:r>
              <a:rPr lang="en-GB" dirty="0">
                <a:solidFill>
                  <a:srgbClr val="07E073"/>
                </a:solidFill>
              </a:rPr>
              <a:t>lo</a:t>
            </a:r>
            <a:r>
              <a:rPr lang="en-GB" dirty="0">
                <a:solidFill>
                  <a:srgbClr val="FFC000"/>
                </a:solidFill>
              </a:rPr>
              <a:t>)</a:t>
            </a:r>
          </a:p>
          <a:p>
            <a:pPr marL="0" indent="0">
              <a:buNone/>
            </a:pPr>
            <a:r>
              <a:rPr lang="en-GB" dirty="0"/>
              <a:t>IF found = TRUE</a:t>
            </a:r>
          </a:p>
          <a:p>
            <a:pPr marL="0" indent="0">
              <a:buNone/>
            </a:pPr>
            <a:r>
              <a:rPr lang="en-GB" dirty="0"/>
              <a:t>	RETURN mid</a:t>
            </a:r>
          </a:p>
          <a:p>
            <a:pPr marL="0" indent="0">
              <a:buNone/>
            </a:pPr>
            <a:r>
              <a:rPr lang="en-GB" dirty="0"/>
              <a:t>ELSE</a:t>
            </a:r>
          </a:p>
          <a:p>
            <a:pPr marL="0" indent="0">
              <a:buNone/>
            </a:pPr>
            <a:r>
              <a:rPr lang="en-GB" dirty="0"/>
              <a:t>	RETURN -1</a:t>
            </a:r>
          </a:p>
          <a:p>
            <a:pPr marL="0" indent="0">
              <a:buNone/>
            </a:pPr>
            <a:r>
              <a:rPr lang="en-GB" dirty="0"/>
              <a:t>END IF</a:t>
            </a:r>
          </a:p>
        </p:txBody>
      </p:sp>
      <p:sp>
        <p:nvSpPr>
          <p:cNvPr id="4" name="TextBox 3">
            <a:extLst>
              <a:ext uri="{FF2B5EF4-FFF2-40B4-BE49-F238E27FC236}">
                <a16:creationId xmlns:a16="http://schemas.microsoft.com/office/drawing/2014/main" xmlns="" id="{D7016539-AE06-F0B9-DEE0-E751AE0B870D}"/>
              </a:ext>
            </a:extLst>
          </p:cNvPr>
          <p:cNvSpPr txBox="1"/>
          <p:nvPr/>
        </p:nvSpPr>
        <p:spPr>
          <a:xfrm>
            <a:off x="4748125" y="2150685"/>
            <a:ext cx="6558049" cy="1200329"/>
          </a:xfrm>
          <a:prstGeom prst="rect">
            <a:avLst/>
          </a:prstGeom>
          <a:noFill/>
          <a:ln>
            <a:solidFill>
              <a:srgbClr val="FFC000"/>
            </a:solidFill>
          </a:ln>
        </p:spPr>
        <p:txBody>
          <a:bodyPr wrap="square" rtlCol="0">
            <a:spAutoFit/>
          </a:bodyPr>
          <a:lstStyle/>
          <a:p>
            <a:pPr algn="ctr"/>
            <a:r>
              <a:rPr lang="en-GB" sz="2400" dirty="0">
                <a:solidFill>
                  <a:srgbClr val="FFC000"/>
                </a:solidFill>
              </a:rPr>
              <a:t>This uses a do while loop. In principle, this goes through the loop once and then checks the condition at the end to see if it needs to repeat.</a:t>
            </a:r>
          </a:p>
        </p:txBody>
      </p:sp>
      <p:sp>
        <p:nvSpPr>
          <p:cNvPr id="5" name="TextBox 4">
            <a:extLst>
              <a:ext uri="{FF2B5EF4-FFF2-40B4-BE49-F238E27FC236}">
                <a16:creationId xmlns:a16="http://schemas.microsoft.com/office/drawing/2014/main" xmlns="" id="{F5C4CDC0-980C-E2FE-6F43-108C770F77DB}"/>
              </a:ext>
            </a:extLst>
          </p:cNvPr>
          <p:cNvSpPr txBox="1"/>
          <p:nvPr/>
        </p:nvSpPr>
        <p:spPr>
          <a:xfrm>
            <a:off x="4748125" y="3581012"/>
            <a:ext cx="6605675" cy="3046988"/>
          </a:xfrm>
          <a:prstGeom prst="rect">
            <a:avLst/>
          </a:prstGeom>
          <a:noFill/>
          <a:ln>
            <a:solidFill>
              <a:srgbClr val="07E073"/>
            </a:solidFill>
          </a:ln>
        </p:spPr>
        <p:txBody>
          <a:bodyPr wrap="square" rtlCol="0">
            <a:spAutoFit/>
          </a:bodyPr>
          <a:lstStyle/>
          <a:p>
            <a:pPr algn="ctr"/>
            <a:r>
              <a:rPr lang="en-GB" sz="2400" dirty="0">
                <a:solidFill>
                  <a:srgbClr val="07E073"/>
                </a:solidFill>
              </a:rPr>
              <a:t>The variables hi and lo are used to store the upper and lower bounds of the array.</a:t>
            </a:r>
          </a:p>
          <a:p>
            <a:pPr algn="ctr"/>
            <a:endParaRPr lang="en-GB" sz="2400" dirty="0">
              <a:solidFill>
                <a:srgbClr val="07E073"/>
              </a:solidFill>
            </a:endParaRPr>
          </a:p>
          <a:p>
            <a:pPr algn="ctr"/>
            <a:r>
              <a:rPr lang="en-GB" sz="2400" dirty="0">
                <a:solidFill>
                  <a:srgbClr val="07E073"/>
                </a:solidFill>
              </a:rPr>
              <a:t>The variable mid is the index to the middle item in the array.</a:t>
            </a:r>
          </a:p>
          <a:p>
            <a:pPr algn="ctr"/>
            <a:endParaRPr lang="en-GB" sz="2400" dirty="0">
              <a:solidFill>
                <a:srgbClr val="07E073"/>
              </a:solidFill>
            </a:endParaRPr>
          </a:p>
          <a:p>
            <a:pPr algn="ctr"/>
            <a:r>
              <a:rPr lang="en-GB" sz="2400" dirty="0">
                <a:solidFill>
                  <a:srgbClr val="07E073"/>
                </a:solidFill>
              </a:rPr>
              <a:t>The variable found is a flag to indicate whether the search item has been found or not.</a:t>
            </a:r>
          </a:p>
        </p:txBody>
      </p:sp>
    </p:spTree>
    <p:extLst>
      <p:ext uri="{BB962C8B-B14F-4D97-AF65-F5344CB8AC3E}">
        <p14:creationId xmlns:p14="http://schemas.microsoft.com/office/powerpoint/2010/main" val="3096377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tx2">
            <a:lumMod val="10000"/>
            <a:lumOff val="90000"/>
          </a:schemeClr>
        </a:solidFill>
        <a:effectLst/>
      </p:bgPr>
    </p:bg>
    <p:spTree>
      <p:nvGrpSpPr>
        <p:cNvPr id="1" name="">
          <a:extLst>
            <a:ext uri="{FF2B5EF4-FFF2-40B4-BE49-F238E27FC236}">
              <a16:creationId xmlns:a16="http://schemas.microsoft.com/office/drawing/2014/main" xmlns="" id="{96C637F9-F372-D1DE-53E0-C44BC7E68111}"/>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xmlns="" id="{0BC85827-4AE7-96F4-CABC-45558BF52688}"/>
              </a:ext>
            </a:extLst>
          </p:cNvPr>
          <p:cNvSpPr>
            <a:spLocks noGrp="1"/>
          </p:cNvSpPr>
          <p:nvPr>
            <p:ph type="title"/>
          </p:nvPr>
        </p:nvSpPr>
        <p:spPr/>
        <p:txBody>
          <a:bodyPr/>
          <a:lstStyle/>
          <a:p>
            <a:r>
              <a:rPr lang="en-GB" dirty="0">
                <a:solidFill>
                  <a:srgbClr val="160F19"/>
                </a:solidFill>
              </a:rPr>
              <a:t>The Specification</a:t>
            </a:r>
          </a:p>
        </p:txBody>
      </p:sp>
      <p:sp>
        <p:nvSpPr>
          <p:cNvPr id="6" name="Content Placeholder 5">
            <a:extLst>
              <a:ext uri="{FF2B5EF4-FFF2-40B4-BE49-F238E27FC236}">
                <a16:creationId xmlns:a16="http://schemas.microsoft.com/office/drawing/2014/main" xmlns="" id="{26398A85-19C6-B942-18E1-D448B3AC4DAA}"/>
              </a:ext>
            </a:extLst>
          </p:cNvPr>
          <p:cNvSpPr>
            <a:spLocks noGrp="1"/>
          </p:cNvSpPr>
          <p:nvPr>
            <p:ph idx="1"/>
          </p:nvPr>
        </p:nvSpPr>
        <p:spPr>
          <a:xfrm>
            <a:off x="226243" y="1451728"/>
            <a:ext cx="11585543" cy="5406271"/>
          </a:xfrm>
        </p:spPr>
        <p:txBody>
          <a:bodyPr>
            <a:normAutofit fontScale="92500" lnSpcReduction="10000"/>
          </a:bodyPr>
          <a:lstStyle/>
          <a:p>
            <a:pPr lvl="0"/>
            <a:r>
              <a:rPr lang="en-GB" dirty="0">
                <a:solidFill>
                  <a:srgbClr val="160F19"/>
                </a:solidFill>
              </a:rPr>
              <a:t>demonstrate understanding of and use the functionality of the following constructs in a programming language:</a:t>
            </a:r>
          </a:p>
          <a:p>
            <a:pPr lvl="1"/>
            <a:r>
              <a:rPr lang="en-GB" dirty="0">
                <a:solidFill>
                  <a:schemeClr val="accent6">
                    <a:lumMod val="50000"/>
                  </a:schemeClr>
                </a:solidFill>
              </a:rPr>
              <a:t>variables, constants, and Boolean and arithmetic operators;</a:t>
            </a:r>
          </a:p>
          <a:p>
            <a:pPr lvl="1"/>
            <a:r>
              <a:rPr lang="en-GB" dirty="0">
                <a:solidFill>
                  <a:schemeClr val="accent6">
                    <a:lumMod val="50000"/>
                  </a:schemeClr>
                </a:solidFill>
              </a:rPr>
              <a:t>input, output and assignment statements;</a:t>
            </a:r>
          </a:p>
          <a:p>
            <a:pPr lvl="1"/>
            <a:endParaRPr lang="en-GB" dirty="0">
              <a:solidFill>
                <a:schemeClr val="accent6">
                  <a:lumMod val="50000"/>
                </a:schemeClr>
              </a:solidFill>
            </a:endParaRPr>
          </a:p>
          <a:p>
            <a:pPr lvl="1"/>
            <a:r>
              <a:rPr lang="en-GB" dirty="0">
                <a:solidFill>
                  <a:schemeClr val="accent6">
                    <a:lumMod val="50000"/>
                  </a:schemeClr>
                </a:solidFill>
              </a:rPr>
              <a:t>one-dimensional array structures;</a:t>
            </a:r>
          </a:p>
          <a:p>
            <a:pPr lvl="1"/>
            <a:endParaRPr lang="en-GB" dirty="0">
              <a:solidFill>
                <a:srgbClr val="160F19"/>
              </a:solidFill>
            </a:endParaRPr>
          </a:p>
          <a:p>
            <a:pPr lvl="1"/>
            <a:r>
              <a:rPr lang="en-GB" dirty="0">
                <a:solidFill>
                  <a:schemeClr val="accent6">
                    <a:lumMod val="50000"/>
                  </a:schemeClr>
                </a:solidFill>
              </a:rPr>
              <a:t>simple sorting techniques such as the bubble sort and the insertion sort;</a:t>
            </a:r>
          </a:p>
          <a:p>
            <a:pPr lvl="1"/>
            <a:r>
              <a:rPr lang="en-GB" dirty="0">
                <a:solidFill>
                  <a:schemeClr val="accent6">
                    <a:lumMod val="50000"/>
                  </a:schemeClr>
                </a:solidFill>
              </a:rPr>
              <a:t>simple searching techniques such as linear and binary searching;</a:t>
            </a:r>
          </a:p>
          <a:p>
            <a:pPr lvl="1"/>
            <a:endParaRPr lang="en-GB" dirty="0">
              <a:solidFill>
                <a:srgbClr val="160F19"/>
              </a:solidFill>
            </a:endParaRPr>
          </a:p>
          <a:p>
            <a:pPr lvl="1"/>
            <a:r>
              <a:rPr lang="en-GB" dirty="0">
                <a:solidFill>
                  <a:srgbClr val="160F19"/>
                </a:solidFill>
              </a:rPr>
              <a:t>string manipulation functions, including splitting, concatenating, character searching and substring searching;</a:t>
            </a:r>
          </a:p>
          <a:p>
            <a:pPr lvl="1"/>
            <a:r>
              <a:rPr lang="en-GB" dirty="0">
                <a:solidFill>
                  <a:srgbClr val="160F19"/>
                </a:solidFill>
              </a:rPr>
              <a:t>controlling the flow of a program through sequence, selection and iteration;</a:t>
            </a:r>
          </a:p>
          <a:p>
            <a:pPr lvl="1"/>
            <a:r>
              <a:rPr lang="en-GB" dirty="0">
                <a:solidFill>
                  <a:srgbClr val="160F19"/>
                </a:solidFill>
              </a:rPr>
              <a:t>building reusable code that utilises user-defined functions or methods; and </a:t>
            </a:r>
          </a:p>
          <a:p>
            <a:pPr lvl="1"/>
            <a:r>
              <a:rPr lang="en-GB" dirty="0">
                <a:solidFill>
                  <a:srgbClr val="160F19"/>
                </a:solidFill>
              </a:rPr>
              <a:t>basic file handling.</a:t>
            </a:r>
          </a:p>
          <a:p>
            <a:endParaRPr lang="en-GB" dirty="0">
              <a:solidFill>
                <a:srgbClr val="160F19"/>
              </a:solidFill>
            </a:endParaRPr>
          </a:p>
        </p:txBody>
      </p:sp>
      <p:sp>
        <p:nvSpPr>
          <p:cNvPr id="7" name="Rectangle 6">
            <a:extLst>
              <a:ext uri="{FF2B5EF4-FFF2-40B4-BE49-F238E27FC236}">
                <a16:creationId xmlns:a16="http://schemas.microsoft.com/office/drawing/2014/main" xmlns="" id="{40A5EE46-983D-8684-C044-C33B38B3407A}"/>
              </a:ext>
            </a:extLst>
          </p:cNvPr>
          <p:cNvSpPr/>
          <p:nvPr/>
        </p:nvSpPr>
        <p:spPr>
          <a:xfrm>
            <a:off x="688157" y="2149312"/>
            <a:ext cx="7937369" cy="763571"/>
          </a:xfrm>
          <a:prstGeom prst="rect">
            <a:avLst/>
          </a:prstGeom>
          <a:solidFill>
            <a:srgbClr val="E0E0E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Rectangle 7">
            <a:extLst>
              <a:ext uri="{FF2B5EF4-FFF2-40B4-BE49-F238E27FC236}">
                <a16:creationId xmlns:a16="http://schemas.microsoft.com/office/drawing/2014/main" xmlns="" id="{7E3BBEA0-0B8A-95DF-AB14-131CBCF39A12}"/>
              </a:ext>
            </a:extLst>
          </p:cNvPr>
          <p:cNvSpPr/>
          <p:nvPr/>
        </p:nvSpPr>
        <p:spPr>
          <a:xfrm>
            <a:off x="688157" y="2989722"/>
            <a:ext cx="7937369" cy="620746"/>
          </a:xfrm>
          <a:prstGeom prst="rect">
            <a:avLst/>
          </a:prstGeom>
          <a:solidFill>
            <a:srgbClr val="E0E0E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Rectangle 8">
            <a:extLst>
              <a:ext uri="{FF2B5EF4-FFF2-40B4-BE49-F238E27FC236}">
                <a16:creationId xmlns:a16="http://schemas.microsoft.com/office/drawing/2014/main" xmlns="" id="{D925E163-DDB0-68E9-8F1C-8F01798C6075}"/>
              </a:ext>
            </a:extLst>
          </p:cNvPr>
          <p:cNvSpPr/>
          <p:nvPr/>
        </p:nvSpPr>
        <p:spPr>
          <a:xfrm>
            <a:off x="688157" y="3696734"/>
            <a:ext cx="9294829" cy="818705"/>
          </a:xfrm>
          <a:prstGeom prst="rect">
            <a:avLst/>
          </a:prstGeom>
          <a:solidFill>
            <a:srgbClr val="E0E0E0">
              <a:alpha val="30196"/>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ectangle 9">
            <a:extLst>
              <a:ext uri="{FF2B5EF4-FFF2-40B4-BE49-F238E27FC236}">
                <a16:creationId xmlns:a16="http://schemas.microsoft.com/office/drawing/2014/main" xmlns="" id="{3C7794B4-302D-627E-6602-52154655018A}"/>
              </a:ext>
            </a:extLst>
          </p:cNvPr>
          <p:cNvSpPr/>
          <p:nvPr/>
        </p:nvSpPr>
        <p:spPr>
          <a:xfrm>
            <a:off x="688156" y="4601705"/>
            <a:ext cx="11123630" cy="184622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0109794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5424F07-D51E-33EE-8526-F10706C9A0E1}"/>
              </a:ext>
            </a:extLst>
          </p:cNvPr>
          <p:cNvSpPr>
            <a:spLocks noGrp="1"/>
          </p:cNvSpPr>
          <p:nvPr>
            <p:ph type="title"/>
          </p:nvPr>
        </p:nvSpPr>
        <p:spPr/>
        <p:txBody>
          <a:bodyPr/>
          <a:lstStyle/>
          <a:p>
            <a:r>
              <a:rPr lang="en-GB" dirty="0"/>
              <a:t>String Manipulation Functions</a:t>
            </a:r>
          </a:p>
        </p:txBody>
      </p:sp>
      <p:sp>
        <p:nvSpPr>
          <p:cNvPr id="3" name="Content Placeholder 2">
            <a:extLst>
              <a:ext uri="{FF2B5EF4-FFF2-40B4-BE49-F238E27FC236}">
                <a16:creationId xmlns:a16="http://schemas.microsoft.com/office/drawing/2014/main" xmlns="" id="{8306899A-970C-AC73-0C8B-FCACFF9094EE}"/>
              </a:ext>
            </a:extLst>
          </p:cNvPr>
          <p:cNvSpPr>
            <a:spLocks noGrp="1"/>
          </p:cNvSpPr>
          <p:nvPr>
            <p:ph idx="1"/>
          </p:nvPr>
        </p:nvSpPr>
        <p:spPr/>
        <p:txBody>
          <a:bodyPr/>
          <a:lstStyle/>
          <a:p>
            <a:r>
              <a:rPr lang="en-GB" dirty="0"/>
              <a:t> Data containing text, letters, or a mixture of letters and numbers are known as strings.</a:t>
            </a:r>
          </a:p>
          <a:p>
            <a:r>
              <a:rPr lang="en-GB" dirty="0"/>
              <a:t>Strings can be processed and manipulated using string functions.</a:t>
            </a:r>
          </a:p>
          <a:p>
            <a:r>
              <a:rPr lang="en-GB" dirty="0"/>
              <a:t>String data is </a:t>
            </a:r>
            <a:r>
              <a:rPr lang="en-GB" b="1" dirty="0">
                <a:solidFill>
                  <a:srgbClr val="FFFF00"/>
                </a:solidFill>
              </a:rPr>
              <a:t>immutable</a:t>
            </a:r>
            <a:r>
              <a:rPr lang="en-GB" dirty="0"/>
              <a:t>. </a:t>
            </a:r>
            <a:r>
              <a:rPr lang="en-GB" dirty="0">
                <a:solidFill>
                  <a:srgbClr val="FFFF00"/>
                </a:solidFill>
              </a:rPr>
              <a:t>This means a string cannot be changed once it is created – instead, a new string must be created to reflect a change.</a:t>
            </a:r>
          </a:p>
          <a:p>
            <a:endParaRPr lang="en-GB" dirty="0">
              <a:solidFill>
                <a:srgbClr val="FFFF00"/>
              </a:solidFill>
            </a:endParaRPr>
          </a:p>
          <a:p>
            <a:r>
              <a:rPr lang="en-GB" dirty="0"/>
              <a:t>Think of a string as an array of characters</a:t>
            </a:r>
          </a:p>
        </p:txBody>
      </p:sp>
    </p:spTree>
    <p:extLst>
      <p:ext uri="{BB962C8B-B14F-4D97-AF65-F5344CB8AC3E}">
        <p14:creationId xmlns:p14="http://schemas.microsoft.com/office/powerpoint/2010/main" val="410790665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869529-002D-F7F2-5102-5974CDFF7CCF}"/>
              </a:ext>
            </a:extLst>
          </p:cNvPr>
          <p:cNvSpPr>
            <a:spLocks noGrp="1"/>
          </p:cNvSpPr>
          <p:nvPr>
            <p:ph type="title"/>
          </p:nvPr>
        </p:nvSpPr>
        <p:spPr>
          <a:xfrm>
            <a:off x="0" y="546975"/>
            <a:ext cx="12192000" cy="1325563"/>
          </a:xfrm>
        </p:spPr>
        <p:txBody>
          <a:bodyPr/>
          <a:lstStyle/>
          <a:p>
            <a:pPr algn="ctr"/>
            <a:r>
              <a:rPr lang="en-GB" dirty="0">
                <a:latin typeface="Courier New" panose="02070309020205020404" pitchFamily="49" charset="0"/>
                <a:cs typeface="Courier New" panose="02070309020205020404" pitchFamily="49" charset="0"/>
              </a:rPr>
              <a:t>string </a:t>
            </a:r>
            <a:r>
              <a:rPr lang="en-GB" dirty="0" err="1">
                <a:latin typeface="Courier New" panose="02070309020205020404" pitchFamily="49" charset="0"/>
                <a:cs typeface="Courier New" panose="02070309020205020404" pitchFamily="49" charset="0"/>
              </a:rPr>
              <a:t>myText</a:t>
            </a:r>
            <a:r>
              <a:rPr lang="en-GB" dirty="0">
                <a:latin typeface="Courier New" panose="02070309020205020404" pitchFamily="49" charset="0"/>
                <a:cs typeface="Courier New" panose="02070309020205020404" pitchFamily="49" charset="0"/>
              </a:rPr>
              <a:t> = “WELL DONE”;</a:t>
            </a:r>
          </a:p>
        </p:txBody>
      </p:sp>
      <p:graphicFrame>
        <p:nvGraphicFramePr>
          <p:cNvPr id="4" name="Content Placeholder 3">
            <a:extLst>
              <a:ext uri="{FF2B5EF4-FFF2-40B4-BE49-F238E27FC236}">
                <a16:creationId xmlns:a16="http://schemas.microsoft.com/office/drawing/2014/main" xmlns="" id="{9148780F-3831-567C-C958-BFC959778345}"/>
              </a:ext>
            </a:extLst>
          </p:cNvPr>
          <p:cNvGraphicFramePr>
            <a:graphicFrameLocks noGrp="1"/>
          </p:cNvGraphicFramePr>
          <p:nvPr>
            <p:ph idx="1"/>
            <p:extLst>
              <p:ext uri="{D42A27DB-BD31-4B8C-83A1-F6EECF244321}">
                <p14:modId xmlns:p14="http://schemas.microsoft.com/office/powerpoint/2010/main" val="966568266"/>
              </p:ext>
            </p:extLst>
          </p:nvPr>
        </p:nvGraphicFramePr>
        <p:xfrm>
          <a:off x="89807" y="1825624"/>
          <a:ext cx="11952512" cy="2066630"/>
        </p:xfrm>
        <a:graphic>
          <a:graphicData uri="http://schemas.openxmlformats.org/drawingml/2006/table">
            <a:tbl>
              <a:tblPr firstRow="1" bandRow="1">
                <a:tableStyleId>{5C22544A-7EE6-4342-B048-85BDC9FD1C3A}</a:tableStyleId>
              </a:tblPr>
              <a:tblGrid>
                <a:gridCol w="1231623">
                  <a:extLst>
                    <a:ext uri="{9D8B030D-6E8A-4147-A177-3AD203B41FA5}">
                      <a16:colId xmlns:a16="http://schemas.microsoft.com/office/drawing/2014/main" xmlns="" val="1484317391"/>
                    </a:ext>
                  </a:extLst>
                </a:gridCol>
                <a:gridCol w="1165495">
                  <a:extLst>
                    <a:ext uri="{9D8B030D-6E8A-4147-A177-3AD203B41FA5}">
                      <a16:colId xmlns:a16="http://schemas.microsoft.com/office/drawing/2014/main" xmlns="" val="1482227438"/>
                    </a:ext>
                  </a:extLst>
                </a:gridCol>
                <a:gridCol w="1188637">
                  <a:extLst>
                    <a:ext uri="{9D8B030D-6E8A-4147-A177-3AD203B41FA5}">
                      <a16:colId xmlns:a16="http://schemas.microsoft.com/office/drawing/2014/main" xmlns="" val="2296682672"/>
                    </a:ext>
                  </a:extLst>
                </a:gridCol>
                <a:gridCol w="1195251">
                  <a:extLst>
                    <a:ext uri="{9D8B030D-6E8A-4147-A177-3AD203B41FA5}">
                      <a16:colId xmlns:a16="http://schemas.microsoft.com/office/drawing/2014/main" xmlns="" val="4108359403"/>
                    </a:ext>
                  </a:extLst>
                </a:gridCol>
                <a:gridCol w="1195251">
                  <a:extLst>
                    <a:ext uri="{9D8B030D-6E8A-4147-A177-3AD203B41FA5}">
                      <a16:colId xmlns:a16="http://schemas.microsoft.com/office/drawing/2014/main" xmlns="" val="1681304674"/>
                    </a:ext>
                  </a:extLst>
                </a:gridCol>
                <a:gridCol w="1195251">
                  <a:extLst>
                    <a:ext uri="{9D8B030D-6E8A-4147-A177-3AD203B41FA5}">
                      <a16:colId xmlns:a16="http://schemas.microsoft.com/office/drawing/2014/main" xmlns="" val="725121365"/>
                    </a:ext>
                  </a:extLst>
                </a:gridCol>
                <a:gridCol w="1195251">
                  <a:extLst>
                    <a:ext uri="{9D8B030D-6E8A-4147-A177-3AD203B41FA5}">
                      <a16:colId xmlns:a16="http://schemas.microsoft.com/office/drawing/2014/main" xmlns="" val="1172047020"/>
                    </a:ext>
                  </a:extLst>
                </a:gridCol>
                <a:gridCol w="1195251">
                  <a:extLst>
                    <a:ext uri="{9D8B030D-6E8A-4147-A177-3AD203B41FA5}">
                      <a16:colId xmlns:a16="http://schemas.microsoft.com/office/drawing/2014/main" xmlns="" val="1310131758"/>
                    </a:ext>
                  </a:extLst>
                </a:gridCol>
                <a:gridCol w="1195251">
                  <a:extLst>
                    <a:ext uri="{9D8B030D-6E8A-4147-A177-3AD203B41FA5}">
                      <a16:colId xmlns:a16="http://schemas.microsoft.com/office/drawing/2014/main" xmlns="" val="1824232441"/>
                    </a:ext>
                  </a:extLst>
                </a:gridCol>
                <a:gridCol w="1195251">
                  <a:extLst>
                    <a:ext uri="{9D8B030D-6E8A-4147-A177-3AD203B41FA5}">
                      <a16:colId xmlns:a16="http://schemas.microsoft.com/office/drawing/2014/main" xmlns="" val="1287771228"/>
                    </a:ext>
                  </a:extLst>
                </a:gridCol>
              </a:tblGrid>
              <a:tr h="1101678">
                <a:tc>
                  <a:txBody>
                    <a:bodyPr/>
                    <a:lstStyle/>
                    <a:p>
                      <a:pPr algn="ctr"/>
                      <a:r>
                        <a:rPr lang="en-GB" sz="1800" dirty="0">
                          <a:solidFill>
                            <a:schemeClr val="tx1"/>
                          </a:solidFill>
                          <a:latin typeface="Abadi" panose="020B0604020104020204" pitchFamily="34" charset="0"/>
                        </a:rPr>
                        <a:t>Position/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840522877"/>
                  </a:ext>
                </a:extLst>
              </a:tr>
              <a:tr h="446792">
                <a:tc>
                  <a:txBody>
                    <a:bodyPr/>
                    <a:lstStyle/>
                    <a:p>
                      <a:endParaRPr lang="en-GB" sz="1800" dirty="0">
                        <a:solidFill>
                          <a:schemeClr val="tx1"/>
                        </a:solidFill>
                        <a:latin typeface="Abadi" panose="020B06040201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a:t>myText</a:t>
                      </a:r>
                      <a:r>
                        <a:rPr lang="en-GB" sz="18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60772364"/>
                  </a:ext>
                </a:extLst>
              </a:tr>
              <a:tr h="446792">
                <a:tc>
                  <a:txBody>
                    <a:bodyPr/>
                    <a:lstStyle/>
                    <a:p>
                      <a:pPr algn="ctr"/>
                      <a:r>
                        <a:rPr lang="en-GB" sz="1800" b="1" dirty="0">
                          <a:solidFill>
                            <a:schemeClr val="tx1"/>
                          </a:solidFill>
                          <a:latin typeface="Abadi" panose="020B0604020104020204" pitchFamily="34"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2800" b="1"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968980326"/>
                  </a:ext>
                </a:extLst>
              </a:tr>
            </a:tbl>
          </a:graphicData>
        </a:graphic>
      </p:graphicFrame>
      <p:sp>
        <p:nvSpPr>
          <p:cNvPr id="5" name="Content Placeholder 2">
            <a:extLst>
              <a:ext uri="{FF2B5EF4-FFF2-40B4-BE49-F238E27FC236}">
                <a16:creationId xmlns:a16="http://schemas.microsoft.com/office/drawing/2014/main" xmlns="" id="{2012AA8A-6192-86F3-038D-1B70D6429985}"/>
              </a:ext>
            </a:extLst>
          </p:cNvPr>
          <p:cNvSpPr txBox="1">
            <a:spLocks/>
          </p:cNvSpPr>
          <p:nvPr/>
        </p:nvSpPr>
        <p:spPr>
          <a:xfrm>
            <a:off x="725864" y="5189977"/>
            <a:ext cx="12192000" cy="5521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There are many string handling functions available.</a:t>
            </a:r>
          </a:p>
        </p:txBody>
      </p:sp>
    </p:spTree>
    <p:extLst>
      <p:ext uri="{BB962C8B-B14F-4D97-AF65-F5344CB8AC3E}">
        <p14:creationId xmlns:p14="http://schemas.microsoft.com/office/powerpoint/2010/main" val="387244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050ABFC-DD7A-CC8D-E22D-9A999B2EF4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67C73C4-8C76-BC00-5BE9-01311C57D1FB}"/>
              </a:ext>
            </a:extLst>
          </p:cNvPr>
          <p:cNvSpPr>
            <a:spLocks noGrp="1"/>
          </p:cNvSpPr>
          <p:nvPr>
            <p:ph type="title"/>
          </p:nvPr>
        </p:nvSpPr>
        <p:spPr>
          <a:xfrm>
            <a:off x="0" y="546975"/>
            <a:ext cx="12192000" cy="1325563"/>
          </a:xfrm>
        </p:spPr>
        <p:txBody>
          <a:bodyPr/>
          <a:lstStyle/>
          <a:p>
            <a:pPr algn="ctr"/>
            <a:r>
              <a:rPr lang="en-GB" dirty="0">
                <a:latin typeface="Courier New" panose="02070309020205020404" pitchFamily="49" charset="0"/>
                <a:cs typeface="Courier New" panose="02070309020205020404" pitchFamily="49" charset="0"/>
              </a:rPr>
              <a:t>string </a:t>
            </a:r>
            <a:r>
              <a:rPr lang="en-GB" dirty="0" err="1">
                <a:latin typeface="Courier New" panose="02070309020205020404" pitchFamily="49" charset="0"/>
                <a:cs typeface="Courier New" panose="02070309020205020404" pitchFamily="49" charset="0"/>
              </a:rPr>
              <a:t>myText</a:t>
            </a:r>
            <a:r>
              <a:rPr lang="en-GB" dirty="0">
                <a:latin typeface="Courier New" panose="02070309020205020404" pitchFamily="49" charset="0"/>
                <a:cs typeface="Courier New" panose="02070309020205020404" pitchFamily="49" charset="0"/>
              </a:rPr>
              <a:t> = “WELL DONE”;</a:t>
            </a:r>
          </a:p>
        </p:txBody>
      </p:sp>
      <p:graphicFrame>
        <p:nvGraphicFramePr>
          <p:cNvPr id="4" name="Content Placeholder 3">
            <a:extLst>
              <a:ext uri="{FF2B5EF4-FFF2-40B4-BE49-F238E27FC236}">
                <a16:creationId xmlns:a16="http://schemas.microsoft.com/office/drawing/2014/main" xmlns="" id="{8DF62C15-6A18-EEFC-CF29-F72971589AE1}"/>
              </a:ext>
            </a:extLst>
          </p:cNvPr>
          <p:cNvGraphicFramePr>
            <a:graphicFrameLocks noGrp="1"/>
          </p:cNvGraphicFramePr>
          <p:nvPr>
            <p:ph idx="1"/>
          </p:nvPr>
        </p:nvGraphicFramePr>
        <p:xfrm>
          <a:off x="89807" y="1825624"/>
          <a:ext cx="11952512" cy="2066630"/>
        </p:xfrm>
        <a:graphic>
          <a:graphicData uri="http://schemas.openxmlformats.org/drawingml/2006/table">
            <a:tbl>
              <a:tblPr firstRow="1" bandRow="1">
                <a:tableStyleId>{5C22544A-7EE6-4342-B048-85BDC9FD1C3A}</a:tableStyleId>
              </a:tblPr>
              <a:tblGrid>
                <a:gridCol w="1231623">
                  <a:extLst>
                    <a:ext uri="{9D8B030D-6E8A-4147-A177-3AD203B41FA5}">
                      <a16:colId xmlns:a16="http://schemas.microsoft.com/office/drawing/2014/main" xmlns="" val="1484317391"/>
                    </a:ext>
                  </a:extLst>
                </a:gridCol>
                <a:gridCol w="1165495">
                  <a:extLst>
                    <a:ext uri="{9D8B030D-6E8A-4147-A177-3AD203B41FA5}">
                      <a16:colId xmlns:a16="http://schemas.microsoft.com/office/drawing/2014/main" xmlns="" val="1482227438"/>
                    </a:ext>
                  </a:extLst>
                </a:gridCol>
                <a:gridCol w="1188637">
                  <a:extLst>
                    <a:ext uri="{9D8B030D-6E8A-4147-A177-3AD203B41FA5}">
                      <a16:colId xmlns:a16="http://schemas.microsoft.com/office/drawing/2014/main" xmlns="" val="2296682672"/>
                    </a:ext>
                  </a:extLst>
                </a:gridCol>
                <a:gridCol w="1195251">
                  <a:extLst>
                    <a:ext uri="{9D8B030D-6E8A-4147-A177-3AD203B41FA5}">
                      <a16:colId xmlns:a16="http://schemas.microsoft.com/office/drawing/2014/main" xmlns="" val="4108359403"/>
                    </a:ext>
                  </a:extLst>
                </a:gridCol>
                <a:gridCol w="1195251">
                  <a:extLst>
                    <a:ext uri="{9D8B030D-6E8A-4147-A177-3AD203B41FA5}">
                      <a16:colId xmlns:a16="http://schemas.microsoft.com/office/drawing/2014/main" xmlns="" val="1681304674"/>
                    </a:ext>
                  </a:extLst>
                </a:gridCol>
                <a:gridCol w="1195251">
                  <a:extLst>
                    <a:ext uri="{9D8B030D-6E8A-4147-A177-3AD203B41FA5}">
                      <a16:colId xmlns:a16="http://schemas.microsoft.com/office/drawing/2014/main" xmlns="" val="725121365"/>
                    </a:ext>
                  </a:extLst>
                </a:gridCol>
                <a:gridCol w="1195251">
                  <a:extLst>
                    <a:ext uri="{9D8B030D-6E8A-4147-A177-3AD203B41FA5}">
                      <a16:colId xmlns:a16="http://schemas.microsoft.com/office/drawing/2014/main" xmlns="" val="1172047020"/>
                    </a:ext>
                  </a:extLst>
                </a:gridCol>
                <a:gridCol w="1195251">
                  <a:extLst>
                    <a:ext uri="{9D8B030D-6E8A-4147-A177-3AD203B41FA5}">
                      <a16:colId xmlns:a16="http://schemas.microsoft.com/office/drawing/2014/main" xmlns="" val="1310131758"/>
                    </a:ext>
                  </a:extLst>
                </a:gridCol>
                <a:gridCol w="1195251">
                  <a:extLst>
                    <a:ext uri="{9D8B030D-6E8A-4147-A177-3AD203B41FA5}">
                      <a16:colId xmlns:a16="http://schemas.microsoft.com/office/drawing/2014/main" xmlns="" val="1824232441"/>
                    </a:ext>
                  </a:extLst>
                </a:gridCol>
                <a:gridCol w="1195251">
                  <a:extLst>
                    <a:ext uri="{9D8B030D-6E8A-4147-A177-3AD203B41FA5}">
                      <a16:colId xmlns:a16="http://schemas.microsoft.com/office/drawing/2014/main" xmlns="" val="1287771228"/>
                    </a:ext>
                  </a:extLst>
                </a:gridCol>
              </a:tblGrid>
              <a:tr h="1101678">
                <a:tc>
                  <a:txBody>
                    <a:bodyPr/>
                    <a:lstStyle/>
                    <a:p>
                      <a:pPr algn="ctr"/>
                      <a:r>
                        <a:rPr lang="en-GB" sz="1800" dirty="0">
                          <a:solidFill>
                            <a:schemeClr val="tx1"/>
                          </a:solidFill>
                          <a:latin typeface="Abadi" panose="020B0604020104020204" pitchFamily="34" charset="0"/>
                        </a:rPr>
                        <a:t>Position/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840522877"/>
                  </a:ext>
                </a:extLst>
              </a:tr>
              <a:tr h="446792">
                <a:tc>
                  <a:txBody>
                    <a:bodyPr/>
                    <a:lstStyle/>
                    <a:p>
                      <a:endParaRPr lang="en-GB" sz="1800" dirty="0">
                        <a:solidFill>
                          <a:schemeClr val="tx1"/>
                        </a:solidFill>
                        <a:latin typeface="Abadi" panose="020B06040201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a:t>myText</a:t>
                      </a:r>
                      <a:r>
                        <a:rPr lang="en-GB" sz="18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60772364"/>
                  </a:ext>
                </a:extLst>
              </a:tr>
              <a:tr h="446792">
                <a:tc>
                  <a:txBody>
                    <a:bodyPr/>
                    <a:lstStyle/>
                    <a:p>
                      <a:pPr algn="ctr"/>
                      <a:r>
                        <a:rPr lang="en-GB" sz="1800" b="1" dirty="0">
                          <a:solidFill>
                            <a:schemeClr val="tx1"/>
                          </a:solidFill>
                          <a:latin typeface="Abadi" panose="020B0604020104020204" pitchFamily="34"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2800" b="1"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968980326"/>
                  </a:ext>
                </a:extLst>
              </a:tr>
            </a:tbl>
          </a:graphicData>
        </a:graphic>
      </p:graphicFrame>
      <p:sp>
        <p:nvSpPr>
          <p:cNvPr id="5" name="Content Placeholder 2">
            <a:extLst>
              <a:ext uri="{FF2B5EF4-FFF2-40B4-BE49-F238E27FC236}">
                <a16:creationId xmlns:a16="http://schemas.microsoft.com/office/drawing/2014/main" xmlns="" id="{8560EED4-F18E-3D99-8556-056A43CAD072}"/>
              </a:ext>
            </a:extLst>
          </p:cNvPr>
          <p:cNvSpPr txBox="1">
            <a:spLocks/>
          </p:cNvSpPr>
          <p:nvPr/>
        </p:nvSpPr>
        <p:spPr>
          <a:xfrm>
            <a:off x="0" y="41728"/>
            <a:ext cx="12192000" cy="5521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There are many string handling functions available.</a:t>
            </a:r>
          </a:p>
        </p:txBody>
      </p:sp>
      <p:sp>
        <p:nvSpPr>
          <p:cNvPr id="3" name="Rectangle 2">
            <a:extLst>
              <a:ext uri="{FF2B5EF4-FFF2-40B4-BE49-F238E27FC236}">
                <a16:creationId xmlns:a16="http://schemas.microsoft.com/office/drawing/2014/main" xmlns="" id="{DFDB2148-49E3-55BC-6725-0AE9FE830167}"/>
              </a:ext>
            </a:extLst>
          </p:cNvPr>
          <p:cNvSpPr/>
          <p:nvPr/>
        </p:nvSpPr>
        <p:spPr>
          <a:xfrm>
            <a:off x="0" y="4656842"/>
            <a:ext cx="12192000" cy="220115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solidFill>
                <a:latin typeface="LEMON MILK" panose="00000500000000000000" pitchFamily="50" charset="0"/>
              </a:rPr>
              <a:t>Splitting a String</a:t>
            </a:r>
          </a:p>
          <a:p>
            <a:pPr algn="ctr"/>
            <a:r>
              <a:rPr lang="en-GB" dirty="0">
                <a:solidFill>
                  <a:schemeClr val="tx1"/>
                </a:solidFill>
              </a:rPr>
              <a:t>Split the string on a particular character, for example on a hyphen (-) or space ( ).</a:t>
            </a:r>
          </a:p>
          <a:p>
            <a:pPr algn="ctr"/>
            <a:endParaRPr lang="en-GB" sz="1100" dirty="0">
              <a:solidFill>
                <a:schemeClr val="tx1"/>
              </a:solidFill>
            </a:endParaRPr>
          </a:p>
          <a:p>
            <a:pPr algn="ctr"/>
            <a:r>
              <a:rPr lang="en-GB" sz="2400" dirty="0" err="1">
                <a:solidFill>
                  <a:schemeClr val="tx1"/>
                </a:solidFill>
                <a:latin typeface="Courier New" panose="02070309020205020404" pitchFamily="49" charset="0"/>
                <a:cs typeface="Courier New" panose="02070309020205020404" pitchFamily="49" charset="0"/>
              </a:rPr>
              <a:t>myText.Split</a:t>
            </a:r>
            <a:r>
              <a:rPr lang="en-GB" sz="2400" dirty="0">
                <a:solidFill>
                  <a:schemeClr val="tx1"/>
                </a:solidFill>
                <a:latin typeface="Courier New" panose="02070309020205020404" pitchFamily="49" charset="0"/>
                <a:cs typeface="Courier New" panose="02070309020205020404" pitchFamily="49" charset="0"/>
              </a:rPr>
              <a:t>(‘ ’);</a:t>
            </a:r>
          </a:p>
          <a:p>
            <a:pPr algn="ctr"/>
            <a:endParaRPr lang="en-GB" sz="1100" dirty="0">
              <a:solidFill>
                <a:schemeClr val="tx1"/>
              </a:solidFill>
              <a:cs typeface="Courier New" panose="02070309020205020404" pitchFamily="49" charset="0"/>
            </a:endParaRPr>
          </a:p>
          <a:p>
            <a:pPr algn="ctr"/>
            <a:r>
              <a:rPr lang="en-GB" dirty="0">
                <a:solidFill>
                  <a:schemeClr val="tx1"/>
                </a:solidFill>
              </a:rPr>
              <a:t>Creates an array containing</a:t>
            </a:r>
          </a:p>
          <a:p>
            <a:pPr algn="ctr"/>
            <a:endParaRPr lang="en-GB" sz="1000" dirty="0">
              <a:solidFill>
                <a:schemeClr val="tx1"/>
              </a:solidFill>
            </a:endParaRPr>
          </a:p>
          <a:p>
            <a:pPr algn="ctr"/>
            <a:r>
              <a:rPr lang="en-GB" sz="2400" dirty="0">
                <a:solidFill>
                  <a:schemeClr val="tx1"/>
                </a:solidFill>
                <a:latin typeface="Courier New" panose="02070309020205020404" pitchFamily="49" charset="0"/>
                <a:cs typeface="Courier New" panose="02070309020205020404" pitchFamily="49" charset="0"/>
              </a:rPr>
              <a:t>[“WELL”, “DONE”]</a:t>
            </a:r>
          </a:p>
          <a:p>
            <a:pPr algn="ctr"/>
            <a:endParaRPr lang="en-GB" sz="1000" dirty="0">
              <a:solidFill>
                <a:schemeClr val="tx1"/>
              </a:solidFill>
              <a:cs typeface="Courier New" panose="02070309020205020404" pitchFamily="49" charset="0"/>
            </a:endParaRPr>
          </a:p>
          <a:p>
            <a:pPr algn="ctr"/>
            <a:endParaRPr lang="en-GB" dirty="0">
              <a:solidFill>
                <a:schemeClr val="tx1"/>
              </a:solidFill>
            </a:endParaRPr>
          </a:p>
          <a:p>
            <a:pPr algn="ctr"/>
            <a:endParaRPr lang="en-GB" dirty="0">
              <a:solidFill>
                <a:schemeClr val="tx1"/>
              </a:solidFill>
            </a:endParaRPr>
          </a:p>
        </p:txBody>
      </p:sp>
    </p:spTree>
    <p:extLst>
      <p:ext uri="{BB962C8B-B14F-4D97-AF65-F5344CB8AC3E}">
        <p14:creationId xmlns:p14="http://schemas.microsoft.com/office/powerpoint/2010/main" val="3716316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F4DE8FB-E272-8DAD-A167-9AB4F97EC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50145FA5-330F-4E72-2E14-B4B17FF48E4E}"/>
              </a:ext>
            </a:extLst>
          </p:cNvPr>
          <p:cNvSpPr>
            <a:spLocks noGrp="1"/>
          </p:cNvSpPr>
          <p:nvPr>
            <p:ph type="title"/>
          </p:nvPr>
        </p:nvSpPr>
        <p:spPr>
          <a:xfrm>
            <a:off x="0" y="546975"/>
            <a:ext cx="12192000" cy="1325563"/>
          </a:xfrm>
        </p:spPr>
        <p:txBody>
          <a:bodyPr/>
          <a:lstStyle/>
          <a:p>
            <a:pPr algn="ctr"/>
            <a:r>
              <a:rPr lang="en-GB" dirty="0">
                <a:latin typeface="Courier New" panose="02070309020205020404" pitchFamily="49" charset="0"/>
                <a:cs typeface="Courier New" panose="02070309020205020404" pitchFamily="49" charset="0"/>
              </a:rPr>
              <a:t>string </a:t>
            </a:r>
            <a:r>
              <a:rPr lang="en-GB" dirty="0" err="1">
                <a:latin typeface="Courier New" panose="02070309020205020404" pitchFamily="49" charset="0"/>
                <a:cs typeface="Courier New" panose="02070309020205020404" pitchFamily="49" charset="0"/>
              </a:rPr>
              <a:t>myText</a:t>
            </a:r>
            <a:r>
              <a:rPr lang="en-GB" dirty="0">
                <a:latin typeface="Courier New" panose="02070309020205020404" pitchFamily="49" charset="0"/>
                <a:cs typeface="Courier New" panose="02070309020205020404" pitchFamily="49" charset="0"/>
              </a:rPr>
              <a:t> = “WELL DONE”;</a:t>
            </a:r>
          </a:p>
        </p:txBody>
      </p:sp>
      <p:graphicFrame>
        <p:nvGraphicFramePr>
          <p:cNvPr id="4" name="Content Placeholder 3">
            <a:extLst>
              <a:ext uri="{FF2B5EF4-FFF2-40B4-BE49-F238E27FC236}">
                <a16:creationId xmlns:a16="http://schemas.microsoft.com/office/drawing/2014/main" xmlns="" id="{8C72C280-E48B-A00B-6A7C-18882345F949}"/>
              </a:ext>
            </a:extLst>
          </p:cNvPr>
          <p:cNvGraphicFramePr>
            <a:graphicFrameLocks noGrp="1"/>
          </p:cNvGraphicFramePr>
          <p:nvPr>
            <p:ph idx="1"/>
          </p:nvPr>
        </p:nvGraphicFramePr>
        <p:xfrm>
          <a:off x="89807" y="1825624"/>
          <a:ext cx="11952512" cy="2066630"/>
        </p:xfrm>
        <a:graphic>
          <a:graphicData uri="http://schemas.openxmlformats.org/drawingml/2006/table">
            <a:tbl>
              <a:tblPr firstRow="1" bandRow="1">
                <a:tableStyleId>{5C22544A-7EE6-4342-B048-85BDC9FD1C3A}</a:tableStyleId>
              </a:tblPr>
              <a:tblGrid>
                <a:gridCol w="1231623">
                  <a:extLst>
                    <a:ext uri="{9D8B030D-6E8A-4147-A177-3AD203B41FA5}">
                      <a16:colId xmlns:a16="http://schemas.microsoft.com/office/drawing/2014/main" xmlns="" val="1484317391"/>
                    </a:ext>
                  </a:extLst>
                </a:gridCol>
                <a:gridCol w="1165495">
                  <a:extLst>
                    <a:ext uri="{9D8B030D-6E8A-4147-A177-3AD203B41FA5}">
                      <a16:colId xmlns:a16="http://schemas.microsoft.com/office/drawing/2014/main" xmlns="" val="1482227438"/>
                    </a:ext>
                  </a:extLst>
                </a:gridCol>
                <a:gridCol w="1188637">
                  <a:extLst>
                    <a:ext uri="{9D8B030D-6E8A-4147-A177-3AD203B41FA5}">
                      <a16:colId xmlns:a16="http://schemas.microsoft.com/office/drawing/2014/main" xmlns="" val="2296682672"/>
                    </a:ext>
                  </a:extLst>
                </a:gridCol>
                <a:gridCol w="1195251">
                  <a:extLst>
                    <a:ext uri="{9D8B030D-6E8A-4147-A177-3AD203B41FA5}">
                      <a16:colId xmlns:a16="http://schemas.microsoft.com/office/drawing/2014/main" xmlns="" val="4108359403"/>
                    </a:ext>
                  </a:extLst>
                </a:gridCol>
                <a:gridCol w="1195251">
                  <a:extLst>
                    <a:ext uri="{9D8B030D-6E8A-4147-A177-3AD203B41FA5}">
                      <a16:colId xmlns:a16="http://schemas.microsoft.com/office/drawing/2014/main" xmlns="" val="1681304674"/>
                    </a:ext>
                  </a:extLst>
                </a:gridCol>
                <a:gridCol w="1195251">
                  <a:extLst>
                    <a:ext uri="{9D8B030D-6E8A-4147-A177-3AD203B41FA5}">
                      <a16:colId xmlns:a16="http://schemas.microsoft.com/office/drawing/2014/main" xmlns="" val="725121365"/>
                    </a:ext>
                  </a:extLst>
                </a:gridCol>
                <a:gridCol w="1195251">
                  <a:extLst>
                    <a:ext uri="{9D8B030D-6E8A-4147-A177-3AD203B41FA5}">
                      <a16:colId xmlns:a16="http://schemas.microsoft.com/office/drawing/2014/main" xmlns="" val="1172047020"/>
                    </a:ext>
                  </a:extLst>
                </a:gridCol>
                <a:gridCol w="1195251">
                  <a:extLst>
                    <a:ext uri="{9D8B030D-6E8A-4147-A177-3AD203B41FA5}">
                      <a16:colId xmlns:a16="http://schemas.microsoft.com/office/drawing/2014/main" xmlns="" val="1310131758"/>
                    </a:ext>
                  </a:extLst>
                </a:gridCol>
                <a:gridCol w="1195251">
                  <a:extLst>
                    <a:ext uri="{9D8B030D-6E8A-4147-A177-3AD203B41FA5}">
                      <a16:colId xmlns:a16="http://schemas.microsoft.com/office/drawing/2014/main" xmlns="" val="1824232441"/>
                    </a:ext>
                  </a:extLst>
                </a:gridCol>
                <a:gridCol w="1195251">
                  <a:extLst>
                    <a:ext uri="{9D8B030D-6E8A-4147-A177-3AD203B41FA5}">
                      <a16:colId xmlns:a16="http://schemas.microsoft.com/office/drawing/2014/main" xmlns="" val="1287771228"/>
                    </a:ext>
                  </a:extLst>
                </a:gridCol>
              </a:tblGrid>
              <a:tr h="1101678">
                <a:tc>
                  <a:txBody>
                    <a:bodyPr/>
                    <a:lstStyle/>
                    <a:p>
                      <a:pPr algn="ctr"/>
                      <a:r>
                        <a:rPr lang="en-GB" sz="1800" dirty="0">
                          <a:solidFill>
                            <a:schemeClr val="tx1"/>
                          </a:solidFill>
                          <a:latin typeface="Abadi" panose="020B0604020104020204" pitchFamily="34" charset="0"/>
                        </a:rPr>
                        <a:t>Position/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840522877"/>
                  </a:ext>
                </a:extLst>
              </a:tr>
              <a:tr h="446792">
                <a:tc>
                  <a:txBody>
                    <a:bodyPr/>
                    <a:lstStyle/>
                    <a:p>
                      <a:endParaRPr lang="en-GB" sz="1800" dirty="0">
                        <a:solidFill>
                          <a:schemeClr val="tx1"/>
                        </a:solidFill>
                        <a:latin typeface="Abadi" panose="020B06040201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a:t>myText</a:t>
                      </a:r>
                      <a:r>
                        <a:rPr lang="en-GB" sz="18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60772364"/>
                  </a:ext>
                </a:extLst>
              </a:tr>
              <a:tr h="446792">
                <a:tc>
                  <a:txBody>
                    <a:bodyPr/>
                    <a:lstStyle/>
                    <a:p>
                      <a:pPr algn="ctr"/>
                      <a:r>
                        <a:rPr lang="en-GB" sz="1800" b="1" dirty="0">
                          <a:solidFill>
                            <a:schemeClr val="tx1"/>
                          </a:solidFill>
                          <a:latin typeface="Abadi" panose="020B0604020104020204" pitchFamily="34"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2800" b="1"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968980326"/>
                  </a:ext>
                </a:extLst>
              </a:tr>
            </a:tbl>
          </a:graphicData>
        </a:graphic>
      </p:graphicFrame>
      <p:sp>
        <p:nvSpPr>
          <p:cNvPr id="5" name="Content Placeholder 2">
            <a:extLst>
              <a:ext uri="{FF2B5EF4-FFF2-40B4-BE49-F238E27FC236}">
                <a16:creationId xmlns:a16="http://schemas.microsoft.com/office/drawing/2014/main" xmlns="" id="{BD651C24-577B-867A-E904-F60BDF152FFC}"/>
              </a:ext>
            </a:extLst>
          </p:cNvPr>
          <p:cNvSpPr txBox="1">
            <a:spLocks/>
          </p:cNvSpPr>
          <p:nvPr/>
        </p:nvSpPr>
        <p:spPr>
          <a:xfrm>
            <a:off x="0" y="41728"/>
            <a:ext cx="12192000" cy="5521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There are many string handling functions available.</a:t>
            </a:r>
          </a:p>
        </p:txBody>
      </p:sp>
      <p:sp>
        <p:nvSpPr>
          <p:cNvPr id="3" name="Rectangle 2">
            <a:extLst>
              <a:ext uri="{FF2B5EF4-FFF2-40B4-BE49-F238E27FC236}">
                <a16:creationId xmlns:a16="http://schemas.microsoft.com/office/drawing/2014/main" xmlns="" id="{7A13BBDC-DB3B-F68D-2B8B-4DE77B2C877D}"/>
              </a:ext>
            </a:extLst>
          </p:cNvPr>
          <p:cNvSpPr/>
          <p:nvPr/>
        </p:nvSpPr>
        <p:spPr>
          <a:xfrm>
            <a:off x="0" y="4656842"/>
            <a:ext cx="12192000" cy="220115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solidFill>
                <a:latin typeface="LEMON MILK" panose="00000500000000000000" pitchFamily="50" charset="0"/>
              </a:rPr>
              <a:t>concatenating a String</a:t>
            </a:r>
          </a:p>
          <a:p>
            <a:pPr algn="ctr"/>
            <a:r>
              <a:rPr lang="en-GB" dirty="0">
                <a:solidFill>
                  <a:schemeClr val="tx1"/>
                </a:solidFill>
              </a:rPr>
              <a:t>Appending strings together using the relevant function or symbol</a:t>
            </a:r>
          </a:p>
          <a:p>
            <a:pPr algn="ctr"/>
            <a:endParaRPr lang="en-GB" sz="1100" dirty="0">
              <a:solidFill>
                <a:schemeClr val="tx1"/>
              </a:solidFill>
            </a:endParaRPr>
          </a:p>
          <a:p>
            <a:pPr algn="ctr"/>
            <a:r>
              <a:rPr lang="en-GB" sz="2400" dirty="0">
                <a:solidFill>
                  <a:schemeClr val="tx1"/>
                </a:solidFill>
                <a:latin typeface="Courier New" panose="02070309020205020404" pitchFamily="49" charset="0"/>
                <a:cs typeface="Courier New" panose="02070309020205020404" pitchFamily="49" charset="0"/>
              </a:rPr>
              <a:t>String </a:t>
            </a:r>
            <a:r>
              <a:rPr lang="en-GB" sz="2400" dirty="0" err="1">
                <a:solidFill>
                  <a:schemeClr val="tx1"/>
                </a:solidFill>
                <a:latin typeface="Courier New" panose="02070309020205020404" pitchFamily="49" charset="0"/>
                <a:cs typeface="Courier New" panose="02070309020205020404" pitchFamily="49" charset="0"/>
              </a:rPr>
              <a:t>myOtherText</a:t>
            </a:r>
            <a:r>
              <a:rPr lang="en-GB" sz="2400" dirty="0">
                <a:solidFill>
                  <a:schemeClr val="tx1"/>
                </a:solidFill>
                <a:latin typeface="Courier New" panose="02070309020205020404" pitchFamily="49" charset="0"/>
                <a:cs typeface="Courier New" panose="02070309020205020404" pitchFamily="49" charset="0"/>
              </a:rPr>
              <a:t> = </a:t>
            </a:r>
            <a:r>
              <a:rPr lang="en-GB" sz="2400" dirty="0" err="1">
                <a:solidFill>
                  <a:schemeClr val="tx1"/>
                </a:solidFill>
                <a:latin typeface="Courier New" panose="02070309020205020404" pitchFamily="49" charset="0"/>
                <a:cs typeface="Courier New" panose="02070309020205020404" pitchFamily="49" charset="0"/>
              </a:rPr>
              <a:t>myText</a:t>
            </a:r>
            <a:r>
              <a:rPr lang="en-GB" sz="2400" dirty="0">
                <a:solidFill>
                  <a:schemeClr val="tx1"/>
                </a:solidFill>
                <a:latin typeface="Courier New" panose="02070309020205020404" pitchFamily="49" charset="0"/>
                <a:cs typeface="Courier New" panose="02070309020205020404" pitchFamily="49" charset="0"/>
              </a:rPr>
              <a:t> + “Alex”;</a:t>
            </a:r>
          </a:p>
          <a:p>
            <a:pPr algn="ctr"/>
            <a:endParaRPr lang="en-GB" sz="1100" dirty="0">
              <a:solidFill>
                <a:schemeClr val="tx1"/>
              </a:solidFill>
              <a:cs typeface="Courier New" panose="02070309020205020404" pitchFamily="49" charset="0"/>
            </a:endParaRPr>
          </a:p>
          <a:p>
            <a:pPr algn="ctr"/>
            <a:r>
              <a:rPr lang="en-GB" dirty="0">
                <a:solidFill>
                  <a:schemeClr val="tx1"/>
                </a:solidFill>
              </a:rPr>
              <a:t>Creates a string containing</a:t>
            </a:r>
          </a:p>
          <a:p>
            <a:pPr algn="ctr"/>
            <a:endParaRPr lang="en-GB" sz="1000" dirty="0">
              <a:solidFill>
                <a:schemeClr val="tx1"/>
              </a:solidFill>
            </a:endParaRPr>
          </a:p>
          <a:p>
            <a:pPr algn="ctr"/>
            <a:r>
              <a:rPr lang="en-GB" sz="2400" dirty="0">
                <a:solidFill>
                  <a:schemeClr val="tx1"/>
                </a:solidFill>
                <a:latin typeface="Courier New" panose="02070309020205020404" pitchFamily="49" charset="0"/>
                <a:cs typeface="Courier New" panose="02070309020205020404" pitchFamily="49" charset="0"/>
              </a:rPr>
              <a:t>“WELL DONE Alex”</a:t>
            </a:r>
          </a:p>
          <a:p>
            <a:pPr algn="ctr"/>
            <a:endParaRPr lang="en-GB" sz="1000" dirty="0">
              <a:solidFill>
                <a:schemeClr val="tx1"/>
              </a:solidFill>
              <a:cs typeface="Courier New" panose="02070309020205020404" pitchFamily="49" charset="0"/>
            </a:endParaRPr>
          </a:p>
          <a:p>
            <a:pPr algn="ctr"/>
            <a:endParaRPr lang="en-GB" dirty="0">
              <a:solidFill>
                <a:schemeClr val="tx1"/>
              </a:solidFill>
            </a:endParaRPr>
          </a:p>
          <a:p>
            <a:pPr algn="ctr"/>
            <a:endParaRPr lang="en-GB" dirty="0">
              <a:solidFill>
                <a:schemeClr val="tx1"/>
              </a:solidFill>
            </a:endParaRPr>
          </a:p>
        </p:txBody>
      </p:sp>
    </p:spTree>
    <p:extLst>
      <p:ext uri="{BB962C8B-B14F-4D97-AF65-F5344CB8AC3E}">
        <p14:creationId xmlns:p14="http://schemas.microsoft.com/office/powerpoint/2010/main" val="298130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2DB40F2C-7B5F-EBC5-C765-6DF258502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2ADA695E-A006-C94B-E733-05A2525EC745}"/>
              </a:ext>
            </a:extLst>
          </p:cNvPr>
          <p:cNvSpPr>
            <a:spLocks noGrp="1"/>
          </p:cNvSpPr>
          <p:nvPr>
            <p:ph type="title"/>
          </p:nvPr>
        </p:nvSpPr>
        <p:spPr>
          <a:xfrm>
            <a:off x="0" y="546975"/>
            <a:ext cx="12192000" cy="1325563"/>
          </a:xfrm>
        </p:spPr>
        <p:txBody>
          <a:bodyPr/>
          <a:lstStyle/>
          <a:p>
            <a:pPr algn="ctr"/>
            <a:r>
              <a:rPr lang="en-GB" dirty="0">
                <a:latin typeface="Courier New" panose="02070309020205020404" pitchFamily="49" charset="0"/>
                <a:cs typeface="Courier New" panose="02070309020205020404" pitchFamily="49" charset="0"/>
              </a:rPr>
              <a:t>string </a:t>
            </a:r>
            <a:r>
              <a:rPr lang="en-GB" dirty="0" err="1">
                <a:latin typeface="Courier New" panose="02070309020205020404" pitchFamily="49" charset="0"/>
                <a:cs typeface="Courier New" panose="02070309020205020404" pitchFamily="49" charset="0"/>
              </a:rPr>
              <a:t>myText</a:t>
            </a:r>
            <a:r>
              <a:rPr lang="en-GB" dirty="0">
                <a:latin typeface="Courier New" panose="02070309020205020404" pitchFamily="49" charset="0"/>
                <a:cs typeface="Courier New" panose="02070309020205020404" pitchFamily="49" charset="0"/>
              </a:rPr>
              <a:t> = “WELL DONE”;</a:t>
            </a:r>
          </a:p>
        </p:txBody>
      </p:sp>
      <p:graphicFrame>
        <p:nvGraphicFramePr>
          <p:cNvPr id="4" name="Content Placeholder 3">
            <a:extLst>
              <a:ext uri="{FF2B5EF4-FFF2-40B4-BE49-F238E27FC236}">
                <a16:creationId xmlns:a16="http://schemas.microsoft.com/office/drawing/2014/main" xmlns="" id="{CB4ACE84-AB53-A66E-6D3D-92D36004A900}"/>
              </a:ext>
            </a:extLst>
          </p:cNvPr>
          <p:cNvGraphicFramePr>
            <a:graphicFrameLocks noGrp="1"/>
          </p:cNvGraphicFramePr>
          <p:nvPr>
            <p:ph idx="1"/>
          </p:nvPr>
        </p:nvGraphicFramePr>
        <p:xfrm>
          <a:off x="89807" y="1825624"/>
          <a:ext cx="11952512" cy="2066630"/>
        </p:xfrm>
        <a:graphic>
          <a:graphicData uri="http://schemas.openxmlformats.org/drawingml/2006/table">
            <a:tbl>
              <a:tblPr firstRow="1" bandRow="1">
                <a:tableStyleId>{5C22544A-7EE6-4342-B048-85BDC9FD1C3A}</a:tableStyleId>
              </a:tblPr>
              <a:tblGrid>
                <a:gridCol w="1231623">
                  <a:extLst>
                    <a:ext uri="{9D8B030D-6E8A-4147-A177-3AD203B41FA5}">
                      <a16:colId xmlns:a16="http://schemas.microsoft.com/office/drawing/2014/main" xmlns="" val="1484317391"/>
                    </a:ext>
                  </a:extLst>
                </a:gridCol>
                <a:gridCol w="1165495">
                  <a:extLst>
                    <a:ext uri="{9D8B030D-6E8A-4147-A177-3AD203B41FA5}">
                      <a16:colId xmlns:a16="http://schemas.microsoft.com/office/drawing/2014/main" xmlns="" val="1482227438"/>
                    </a:ext>
                  </a:extLst>
                </a:gridCol>
                <a:gridCol w="1188637">
                  <a:extLst>
                    <a:ext uri="{9D8B030D-6E8A-4147-A177-3AD203B41FA5}">
                      <a16:colId xmlns:a16="http://schemas.microsoft.com/office/drawing/2014/main" xmlns="" val="2296682672"/>
                    </a:ext>
                  </a:extLst>
                </a:gridCol>
                <a:gridCol w="1195251">
                  <a:extLst>
                    <a:ext uri="{9D8B030D-6E8A-4147-A177-3AD203B41FA5}">
                      <a16:colId xmlns:a16="http://schemas.microsoft.com/office/drawing/2014/main" xmlns="" val="4108359403"/>
                    </a:ext>
                  </a:extLst>
                </a:gridCol>
                <a:gridCol w="1195251">
                  <a:extLst>
                    <a:ext uri="{9D8B030D-6E8A-4147-A177-3AD203B41FA5}">
                      <a16:colId xmlns:a16="http://schemas.microsoft.com/office/drawing/2014/main" xmlns="" val="1681304674"/>
                    </a:ext>
                  </a:extLst>
                </a:gridCol>
                <a:gridCol w="1195251">
                  <a:extLst>
                    <a:ext uri="{9D8B030D-6E8A-4147-A177-3AD203B41FA5}">
                      <a16:colId xmlns:a16="http://schemas.microsoft.com/office/drawing/2014/main" xmlns="" val="725121365"/>
                    </a:ext>
                  </a:extLst>
                </a:gridCol>
                <a:gridCol w="1195251">
                  <a:extLst>
                    <a:ext uri="{9D8B030D-6E8A-4147-A177-3AD203B41FA5}">
                      <a16:colId xmlns:a16="http://schemas.microsoft.com/office/drawing/2014/main" xmlns="" val="1172047020"/>
                    </a:ext>
                  </a:extLst>
                </a:gridCol>
                <a:gridCol w="1195251">
                  <a:extLst>
                    <a:ext uri="{9D8B030D-6E8A-4147-A177-3AD203B41FA5}">
                      <a16:colId xmlns:a16="http://schemas.microsoft.com/office/drawing/2014/main" xmlns="" val="1310131758"/>
                    </a:ext>
                  </a:extLst>
                </a:gridCol>
                <a:gridCol w="1195251">
                  <a:extLst>
                    <a:ext uri="{9D8B030D-6E8A-4147-A177-3AD203B41FA5}">
                      <a16:colId xmlns:a16="http://schemas.microsoft.com/office/drawing/2014/main" xmlns="" val="1824232441"/>
                    </a:ext>
                  </a:extLst>
                </a:gridCol>
                <a:gridCol w="1195251">
                  <a:extLst>
                    <a:ext uri="{9D8B030D-6E8A-4147-A177-3AD203B41FA5}">
                      <a16:colId xmlns:a16="http://schemas.microsoft.com/office/drawing/2014/main" xmlns="" val="1287771228"/>
                    </a:ext>
                  </a:extLst>
                </a:gridCol>
              </a:tblGrid>
              <a:tr h="1101678">
                <a:tc>
                  <a:txBody>
                    <a:bodyPr/>
                    <a:lstStyle/>
                    <a:p>
                      <a:pPr algn="ctr"/>
                      <a:r>
                        <a:rPr lang="en-GB" sz="1800" dirty="0">
                          <a:solidFill>
                            <a:schemeClr val="tx1"/>
                          </a:solidFill>
                          <a:latin typeface="Abadi" panose="020B0604020104020204" pitchFamily="34" charset="0"/>
                        </a:rPr>
                        <a:t>Position/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840522877"/>
                  </a:ext>
                </a:extLst>
              </a:tr>
              <a:tr h="446792">
                <a:tc>
                  <a:txBody>
                    <a:bodyPr/>
                    <a:lstStyle/>
                    <a:p>
                      <a:endParaRPr lang="en-GB" sz="1800" dirty="0">
                        <a:solidFill>
                          <a:schemeClr val="tx1"/>
                        </a:solidFill>
                        <a:latin typeface="Abadi" panose="020B06040201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a:t>myText</a:t>
                      </a:r>
                      <a:r>
                        <a:rPr lang="en-GB" sz="18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60772364"/>
                  </a:ext>
                </a:extLst>
              </a:tr>
              <a:tr h="446792">
                <a:tc>
                  <a:txBody>
                    <a:bodyPr/>
                    <a:lstStyle/>
                    <a:p>
                      <a:pPr algn="ctr"/>
                      <a:r>
                        <a:rPr lang="en-GB" sz="1800" b="1" dirty="0">
                          <a:solidFill>
                            <a:schemeClr val="tx1"/>
                          </a:solidFill>
                          <a:latin typeface="Abadi" panose="020B0604020104020204" pitchFamily="34"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2800" b="1"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968980326"/>
                  </a:ext>
                </a:extLst>
              </a:tr>
            </a:tbl>
          </a:graphicData>
        </a:graphic>
      </p:graphicFrame>
      <p:sp>
        <p:nvSpPr>
          <p:cNvPr id="5" name="Content Placeholder 2">
            <a:extLst>
              <a:ext uri="{FF2B5EF4-FFF2-40B4-BE49-F238E27FC236}">
                <a16:creationId xmlns:a16="http://schemas.microsoft.com/office/drawing/2014/main" xmlns="" id="{EACFA73C-0AB3-CE30-CEBA-24A4D2E9E1CF}"/>
              </a:ext>
            </a:extLst>
          </p:cNvPr>
          <p:cNvSpPr txBox="1">
            <a:spLocks/>
          </p:cNvSpPr>
          <p:nvPr/>
        </p:nvSpPr>
        <p:spPr>
          <a:xfrm>
            <a:off x="0" y="41728"/>
            <a:ext cx="12192000" cy="5521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There are many string handling functions available.</a:t>
            </a:r>
          </a:p>
        </p:txBody>
      </p:sp>
      <p:sp>
        <p:nvSpPr>
          <p:cNvPr id="3" name="Rectangle 2">
            <a:extLst>
              <a:ext uri="{FF2B5EF4-FFF2-40B4-BE49-F238E27FC236}">
                <a16:creationId xmlns:a16="http://schemas.microsoft.com/office/drawing/2014/main" xmlns="" id="{2D96A29F-3471-66AA-788C-87A409398004}"/>
              </a:ext>
            </a:extLst>
          </p:cNvPr>
          <p:cNvSpPr/>
          <p:nvPr/>
        </p:nvSpPr>
        <p:spPr>
          <a:xfrm>
            <a:off x="0" y="4656842"/>
            <a:ext cx="12192000" cy="220115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solidFill>
                <a:latin typeface="LEMON MILK" panose="00000500000000000000" pitchFamily="50" charset="0"/>
              </a:rPr>
              <a:t>Character searching</a:t>
            </a:r>
          </a:p>
          <a:p>
            <a:pPr algn="ctr"/>
            <a:r>
              <a:rPr lang="en-GB" dirty="0">
                <a:solidFill>
                  <a:schemeClr val="tx1"/>
                </a:solidFill>
              </a:rPr>
              <a:t>Finds the index of the first occurrence of a value or search term</a:t>
            </a:r>
          </a:p>
          <a:p>
            <a:pPr algn="ctr"/>
            <a:endParaRPr lang="en-GB" sz="1100" dirty="0">
              <a:solidFill>
                <a:schemeClr val="tx1"/>
              </a:solidFill>
            </a:endParaRPr>
          </a:p>
          <a:p>
            <a:pPr algn="ctr"/>
            <a:r>
              <a:rPr lang="en-GB" sz="2400" dirty="0" err="1">
                <a:solidFill>
                  <a:schemeClr val="tx1"/>
                </a:solidFill>
                <a:latin typeface="Courier New" panose="02070309020205020404" pitchFamily="49" charset="0"/>
                <a:cs typeface="Courier New" panose="02070309020205020404" pitchFamily="49" charset="0"/>
              </a:rPr>
              <a:t>myText.IndexOf</a:t>
            </a:r>
            <a:r>
              <a:rPr lang="en-GB" sz="2400" dirty="0">
                <a:solidFill>
                  <a:schemeClr val="tx1"/>
                </a:solidFill>
                <a:latin typeface="Courier New" panose="02070309020205020404" pitchFamily="49" charset="0"/>
                <a:cs typeface="Courier New" panose="02070309020205020404" pitchFamily="49" charset="0"/>
              </a:rPr>
              <a:t>(‘D’)</a:t>
            </a:r>
          </a:p>
          <a:p>
            <a:pPr algn="ctr"/>
            <a:endParaRPr lang="en-GB" sz="1100" dirty="0">
              <a:solidFill>
                <a:schemeClr val="tx1"/>
              </a:solidFill>
              <a:cs typeface="Courier New" panose="02070309020205020404" pitchFamily="49" charset="0"/>
            </a:endParaRPr>
          </a:p>
          <a:p>
            <a:pPr algn="ctr"/>
            <a:r>
              <a:rPr lang="en-GB" dirty="0">
                <a:solidFill>
                  <a:schemeClr val="tx1"/>
                </a:solidFill>
              </a:rPr>
              <a:t>Returns the number of the index. Here that is</a:t>
            </a:r>
          </a:p>
          <a:p>
            <a:pPr algn="ctr"/>
            <a:endParaRPr lang="en-GB" sz="1000" dirty="0">
              <a:solidFill>
                <a:schemeClr val="tx1"/>
              </a:solidFill>
            </a:endParaRPr>
          </a:p>
          <a:p>
            <a:pPr algn="ctr"/>
            <a:r>
              <a:rPr lang="en-GB" sz="2400" dirty="0">
                <a:solidFill>
                  <a:schemeClr val="tx1"/>
                </a:solidFill>
                <a:latin typeface="Courier New" panose="02070309020205020404" pitchFamily="49" charset="0"/>
                <a:cs typeface="Courier New" panose="02070309020205020404" pitchFamily="49" charset="0"/>
              </a:rPr>
              <a:t>5</a:t>
            </a:r>
          </a:p>
          <a:p>
            <a:pPr algn="ctr"/>
            <a:endParaRPr lang="en-GB" sz="1000" dirty="0">
              <a:solidFill>
                <a:schemeClr val="tx1"/>
              </a:solidFill>
              <a:cs typeface="Courier New" panose="02070309020205020404" pitchFamily="49" charset="0"/>
            </a:endParaRPr>
          </a:p>
          <a:p>
            <a:pPr algn="ctr"/>
            <a:endParaRPr lang="en-GB" dirty="0">
              <a:solidFill>
                <a:schemeClr val="tx1"/>
              </a:solidFill>
            </a:endParaRPr>
          </a:p>
          <a:p>
            <a:pPr algn="ctr"/>
            <a:endParaRPr lang="en-GB" dirty="0">
              <a:solidFill>
                <a:schemeClr val="tx1"/>
              </a:solidFill>
            </a:endParaRPr>
          </a:p>
        </p:txBody>
      </p:sp>
    </p:spTree>
    <p:extLst>
      <p:ext uri="{BB962C8B-B14F-4D97-AF65-F5344CB8AC3E}">
        <p14:creationId xmlns:p14="http://schemas.microsoft.com/office/powerpoint/2010/main" val="1289336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AB9CD95B-A3E1-218F-2AE9-D1E7C33475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DB1474BE-1C86-BB3A-B71B-A530804DEF96}"/>
              </a:ext>
            </a:extLst>
          </p:cNvPr>
          <p:cNvSpPr>
            <a:spLocks noGrp="1"/>
          </p:cNvSpPr>
          <p:nvPr>
            <p:ph type="title"/>
          </p:nvPr>
        </p:nvSpPr>
        <p:spPr>
          <a:xfrm>
            <a:off x="0" y="546975"/>
            <a:ext cx="12192000" cy="1325563"/>
          </a:xfrm>
        </p:spPr>
        <p:txBody>
          <a:bodyPr/>
          <a:lstStyle/>
          <a:p>
            <a:pPr algn="ctr"/>
            <a:r>
              <a:rPr lang="en-GB" dirty="0">
                <a:latin typeface="Courier New" panose="02070309020205020404" pitchFamily="49" charset="0"/>
                <a:cs typeface="Courier New" panose="02070309020205020404" pitchFamily="49" charset="0"/>
              </a:rPr>
              <a:t>string </a:t>
            </a:r>
            <a:r>
              <a:rPr lang="en-GB" dirty="0" err="1">
                <a:latin typeface="Courier New" panose="02070309020205020404" pitchFamily="49" charset="0"/>
                <a:cs typeface="Courier New" panose="02070309020205020404" pitchFamily="49" charset="0"/>
              </a:rPr>
              <a:t>myText</a:t>
            </a:r>
            <a:r>
              <a:rPr lang="en-GB" dirty="0">
                <a:latin typeface="Courier New" panose="02070309020205020404" pitchFamily="49" charset="0"/>
                <a:cs typeface="Courier New" panose="02070309020205020404" pitchFamily="49" charset="0"/>
              </a:rPr>
              <a:t> = “WELL DONE”;</a:t>
            </a:r>
          </a:p>
        </p:txBody>
      </p:sp>
      <p:graphicFrame>
        <p:nvGraphicFramePr>
          <p:cNvPr id="4" name="Content Placeholder 3">
            <a:extLst>
              <a:ext uri="{FF2B5EF4-FFF2-40B4-BE49-F238E27FC236}">
                <a16:creationId xmlns:a16="http://schemas.microsoft.com/office/drawing/2014/main" xmlns="" id="{2F95FFA8-3737-6505-EF02-EDF87456B883}"/>
              </a:ext>
            </a:extLst>
          </p:cNvPr>
          <p:cNvGraphicFramePr>
            <a:graphicFrameLocks noGrp="1"/>
          </p:cNvGraphicFramePr>
          <p:nvPr>
            <p:ph idx="1"/>
          </p:nvPr>
        </p:nvGraphicFramePr>
        <p:xfrm>
          <a:off x="89807" y="1825624"/>
          <a:ext cx="11952512" cy="2066630"/>
        </p:xfrm>
        <a:graphic>
          <a:graphicData uri="http://schemas.openxmlformats.org/drawingml/2006/table">
            <a:tbl>
              <a:tblPr firstRow="1" bandRow="1">
                <a:tableStyleId>{5C22544A-7EE6-4342-B048-85BDC9FD1C3A}</a:tableStyleId>
              </a:tblPr>
              <a:tblGrid>
                <a:gridCol w="1231623">
                  <a:extLst>
                    <a:ext uri="{9D8B030D-6E8A-4147-A177-3AD203B41FA5}">
                      <a16:colId xmlns:a16="http://schemas.microsoft.com/office/drawing/2014/main" xmlns="" val="1484317391"/>
                    </a:ext>
                  </a:extLst>
                </a:gridCol>
                <a:gridCol w="1165495">
                  <a:extLst>
                    <a:ext uri="{9D8B030D-6E8A-4147-A177-3AD203B41FA5}">
                      <a16:colId xmlns:a16="http://schemas.microsoft.com/office/drawing/2014/main" xmlns="" val="1482227438"/>
                    </a:ext>
                  </a:extLst>
                </a:gridCol>
                <a:gridCol w="1188637">
                  <a:extLst>
                    <a:ext uri="{9D8B030D-6E8A-4147-A177-3AD203B41FA5}">
                      <a16:colId xmlns:a16="http://schemas.microsoft.com/office/drawing/2014/main" xmlns="" val="2296682672"/>
                    </a:ext>
                  </a:extLst>
                </a:gridCol>
                <a:gridCol w="1195251">
                  <a:extLst>
                    <a:ext uri="{9D8B030D-6E8A-4147-A177-3AD203B41FA5}">
                      <a16:colId xmlns:a16="http://schemas.microsoft.com/office/drawing/2014/main" xmlns="" val="4108359403"/>
                    </a:ext>
                  </a:extLst>
                </a:gridCol>
                <a:gridCol w="1195251">
                  <a:extLst>
                    <a:ext uri="{9D8B030D-6E8A-4147-A177-3AD203B41FA5}">
                      <a16:colId xmlns:a16="http://schemas.microsoft.com/office/drawing/2014/main" xmlns="" val="1681304674"/>
                    </a:ext>
                  </a:extLst>
                </a:gridCol>
                <a:gridCol w="1195251">
                  <a:extLst>
                    <a:ext uri="{9D8B030D-6E8A-4147-A177-3AD203B41FA5}">
                      <a16:colId xmlns:a16="http://schemas.microsoft.com/office/drawing/2014/main" xmlns="" val="725121365"/>
                    </a:ext>
                  </a:extLst>
                </a:gridCol>
                <a:gridCol w="1195251">
                  <a:extLst>
                    <a:ext uri="{9D8B030D-6E8A-4147-A177-3AD203B41FA5}">
                      <a16:colId xmlns:a16="http://schemas.microsoft.com/office/drawing/2014/main" xmlns="" val="1172047020"/>
                    </a:ext>
                  </a:extLst>
                </a:gridCol>
                <a:gridCol w="1195251">
                  <a:extLst>
                    <a:ext uri="{9D8B030D-6E8A-4147-A177-3AD203B41FA5}">
                      <a16:colId xmlns:a16="http://schemas.microsoft.com/office/drawing/2014/main" xmlns="" val="1310131758"/>
                    </a:ext>
                  </a:extLst>
                </a:gridCol>
                <a:gridCol w="1195251">
                  <a:extLst>
                    <a:ext uri="{9D8B030D-6E8A-4147-A177-3AD203B41FA5}">
                      <a16:colId xmlns:a16="http://schemas.microsoft.com/office/drawing/2014/main" xmlns="" val="1824232441"/>
                    </a:ext>
                  </a:extLst>
                </a:gridCol>
                <a:gridCol w="1195251">
                  <a:extLst>
                    <a:ext uri="{9D8B030D-6E8A-4147-A177-3AD203B41FA5}">
                      <a16:colId xmlns:a16="http://schemas.microsoft.com/office/drawing/2014/main" xmlns="" val="1287771228"/>
                    </a:ext>
                  </a:extLst>
                </a:gridCol>
              </a:tblGrid>
              <a:tr h="1101678">
                <a:tc>
                  <a:txBody>
                    <a:bodyPr/>
                    <a:lstStyle/>
                    <a:p>
                      <a:pPr algn="ctr"/>
                      <a:r>
                        <a:rPr lang="en-GB" sz="1800" dirty="0">
                          <a:solidFill>
                            <a:schemeClr val="tx1"/>
                          </a:solidFill>
                          <a:latin typeface="Abadi" panose="020B0604020104020204" pitchFamily="34" charset="0"/>
                        </a:rPr>
                        <a:t>Position/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840522877"/>
                  </a:ext>
                </a:extLst>
              </a:tr>
              <a:tr h="446792">
                <a:tc>
                  <a:txBody>
                    <a:bodyPr/>
                    <a:lstStyle/>
                    <a:p>
                      <a:endParaRPr lang="en-GB" sz="1800" dirty="0">
                        <a:solidFill>
                          <a:schemeClr val="tx1"/>
                        </a:solidFill>
                        <a:latin typeface="Abadi" panose="020B06040201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a:t>myText</a:t>
                      </a:r>
                      <a:r>
                        <a:rPr lang="en-GB" sz="18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60772364"/>
                  </a:ext>
                </a:extLst>
              </a:tr>
              <a:tr h="446792">
                <a:tc>
                  <a:txBody>
                    <a:bodyPr/>
                    <a:lstStyle/>
                    <a:p>
                      <a:pPr algn="ctr"/>
                      <a:r>
                        <a:rPr lang="en-GB" sz="1800" b="1" dirty="0">
                          <a:solidFill>
                            <a:schemeClr val="tx1"/>
                          </a:solidFill>
                          <a:latin typeface="Abadi" panose="020B0604020104020204" pitchFamily="34"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2800" b="1"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968980326"/>
                  </a:ext>
                </a:extLst>
              </a:tr>
            </a:tbl>
          </a:graphicData>
        </a:graphic>
      </p:graphicFrame>
      <p:sp>
        <p:nvSpPr>
          <p:cNvPr id="5" name="Content Placeholder 2">
            <a:extLst>
              <a:ext uri="{FF2B5EF4-FFF2-40B4-BE49-F238E27FC236}">
                <a16:creationId xmlns:a16="http://schemas.microsoft.com/office/drawing/2014/main" xmlns="" id="{1520E47C-BE06-825F-865D-873106B3B77B}"/>
              </a:ext>
            </a:extLst>
          </p:cNvPr>
          <p:cNvSpPr txBox="1">
            <a:spLocks/>
          </p:cNvSpPr>
          <p:nvPr/>
        </p:nvSpPr>
        <p:spPr>
          <a:xfrm>
            <a:off x="0" y="41728"/>
            <a:ext cx="12192000" cy="5521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There are many string handling functions available.</a:t>
            </a:r>
          </a:p>
        </p:txBody>
      </p:sp>
      <p:sp>
        <p:nvSpPr>
          <p:cNvPr id="3" name="Rectangle 2">
            <a:extLst>
              <a:ext uri="{FF2B5EF4-FFF2-40B4-BE49-F238E27FC236}">
                <a16:creationId xmlns:a16="http://schemas.microsoft.com/office/drawing/2014/main" xmlns="" id="{4B1811B5-435F-5C0A-820B-154EDE716701}"/>
              </a:ext>
            </a:extLst>
          </p:cNvPr>
          <p:cNvSpPr/>
          <p:nvPr/>
        </p:nvSpPr>
        <p:spPr>
          <a:xfrm>
            <a:off x="0" y="4656842"/>
            <a:ext cx="12192000" cy="220115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solidFill>
                <a:latin typeface="LEMON MILK" panose="00000500000000000000" pitchFamily="50" charset="0"/>
              </a:rPr>
              <a:t>Substring searching</a:t>
            </a:r>
          </a:p>
          <a:p>
            <a:pPr algn="ctr"/>
            <a:r>
              <a:rPr lang="en-GB" dirty="0">
                <a:solidFill>
                  <a:schemeClr val="tx1"/>
                </a:solidFill>
              </a:rPr>
              <a:t>Gets a section or part of a string</a:t>
            </a:r>
          </a:p>
          <a:p>
            <a:pPr algn="ctr"/>
            <a:endParaRPr lang="en-GB" sz="1100" dirty="0">
              <a:solidFill>
                <a:schemeClr val="tx1"/>
              </a:solidFill>
            </a:endParaRPr>
          </a:p>
          <a:p>
            <a:pPr algn="ctr"/>
            <a:r>
              <a:rPr lang="en-GB" sz="2400" dirty="0" err="1">
                <a:solidFill>
                  <a:schemeClr val="tx1"/>
                </a:solidFill>
                <a:latin typeface="Courier New" panose="02070309020205020404" pitchFamily="49" charset="0"/>
                <a:cs typeface="Courier New" panose="02070309020205020404" pitchFamily="49" charset="0"/>
              </a:rPr>
              <a:t>myText.Substring</a:t>
            </a:r>
            <a:r>
              <a:rPr lang="en-GB" sz="2400" dirty="0">
                <a:solidFill>
                  <a:schemeClr val="tx1"/>
                </a:solidFill>
                <a:latin typeface="Courier New" panose="02070309020205020404" pitchFamily="49" charset="0"/>
                <a:cs typeface="Courier New" panose="02070309020205020404" pitchFamily="49" charset="0"/>
              </a:rPr>
              <a:t>(5,4);</a:t>
            </a:r>
          </a:p>
          <a:p>
            <a:pPr algn="ctr"/>
            <a:endParaRPr lang="en-GB" sz="1100" dirty="0">
              <a:solidFill>
                <a:schemeClr val="tx1"/>
              </a:solidFill>
              <a:cs typeface="Courier New" panose="02070309020205020404" pitchFamily="49" charset="0"/>
            </a:endParaRPr>
          </a:p>
          <a:p>
            <a:pPr algn="ctr"/>
            <a:r>
              <a:rPr lang="en-GB" dirty="0">
                <a:solidFill>
                  <a:schemeClr val="tx1"/>
                </a:solidFill>
              </a:rPr>
              <a:t>Returns part of the string starting at position 5 and is 4 characters. This is</a:t>
            </a:r>
          </a:p>
          <a:p>
            <a:pPr algn="ctr"/>
            <a:endParaRPr lang="en-GB" sz="1000" dirty="0">
              <a:solidFill>
                <a:schemeClr val="tx1"/>
              </a:solidFill>
            </a:endParaRPr>
          </a:p>
          <a:p>
            <a:pPr algn="ctr"/>
            <a:r>
              <a:rPr lang="en-GB" sz="2400" dirty="0">
                <a:solidFill>
                  <a:schemeClr val="tx1"/>
                </a:solidFill>
                <a:latin typeface="Courier New" panose="02070309020205020404" pitchFamily="49" charset="0"/>
                <a:cs typeface="Courier New" panose="02070309020205020404" pitchFamily="49" charset="0"/>
              </a:rPr>
              <a:t>“DONE”</a:t>
            </a:r>
          </a:p>
          <a:p>
            <a:pPr algn="ctr"/>
            <a:endParaRPr lang="en-GB" sz="1000" dirty="0">
              <a:solidFill>
                <a:schemeClr val="tx1"/>
              </a:solidFill>
              <a:cs typeface="Courier New" panose="02070309020205020404" pitchFamily="49" charset="0"/>
            </a:endParaRPr>
          </a:p>
          <a:p>
            <a:pPr algn="ctr"/>
            <a:endParaRPr lang="en-GB" dirty="0">
              <a:solidFill>
                <a:schemeClr val="tx1"/>
              </a:solidFill>
            </a:endParaRPr>
          </a:p>
          <a:p>
            <a:pPr algn="ctr"/>
            <a:endParaRPr lang="en-GB" dirty="0">
              <a:solidFill>
                <a:schemeClr val="tx1"/>
              </a:solidFill>
            </a:endParaRPr>
          </a:p>
        </p:txBody>
      </p:sp>
    </p:spTree>
    <p:extLst>
      <p:ext uri="{BB962C8B-B14F-4D97-AF65-F5344CB8AC3E}">
        <p14:creationId xmlns:p14="http://schemas.microsoft.com/office/powerpoint/2010/main" val="564874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DC51FE0B-0C00-8D29-5A5A-B8424000CC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AF573EA9-3902-F235-53FB-2F8B696D6ADF}"/>
              </a:ext>
            </a:extLst>
          </p:cNvPr>
          <p:cNvSpPr>
            <a:spLocks noGrp="1"/>
          </p:cNvSpPr>
          <p:nvPr>
            <p:ph type="title"/>
          </p:nvPr>
        </p:nvSpPr>
        <p:spPr>
          <a:xfrm>
            <a:off x="0" y="546975"/>
            <a:ext cx="12192000" cy="1325563"/>
          </a:xfrm>
        </p:spPr>
        <p:txBody>
          <a:bodyPr/>
          <a:lstStyle/>
          <a:p>
            <a:pPr algn="ctr"/>
            <a:r>
              <a:rPr lang="en-GB" dirty="0">
                <a:latin typeface="Courier New" panose="02070309020205020404" pitchFamily="49" charset="0"/>
                <a:cs typeface="Courier New" panose="02070309020205020404" pitchFamily="49" charset="0"/>
              </a:rPr>
              <a:t>string </a:t>
            </a:r>
            <a:r>
              <a:rPr lang="en-GB" dirty="0" err="1">
                <a:latin typeface="Courier New" panose="02070309020205020404" pitchFamily="49" charset="0"/>
                <a:cs typeface="Courier New" panose="02070309020205020404" pitchFamily="49" charset="0"/>
              </a:rPr>
              <a:t>myText</a:t>
            </a:r>
            <a:r>
              <a:rPr lang="en-GB" dirty="0">
                <a:latin typeface="Courier New" panose="02070309020205020404" pitchFamily="49" charset="0"/>
                <a:cs typeface="Courier New" panose="02070309020205020404" pitchFamily="49" charset="0"/>
              </a:rPr>
              <a:t> = “WELL DONE”;</a:t>
            </a:r>
          </a:p>
        </p:txBody>
      </p:sp>
      <p:graphicFrame>
        <p:nvGraphicFramePr>
          <p:cNvPr id="4" name="Content Placeholder 3">
            <a:extLst>
              <a:ext uri="{FF2B5EF4-FFF2-40B4-BE49-F238E27FC236}">
                <a16:creationId xmlns:a16="http://schemas.microsoft.com/office/drawing/2014/main" xmlns="" id="{1577C8D4-8CB5-1600-0920-AA9C26964C87}"/>
              </a:ext>
            </a:extLst>
          </p:cNvPr>
          <p:cNvGraphicFramePr>
            <a:graphicFrameLocks noGrp="1"/>
          </p:cNvGraphicFramePr>
          <p:nvPr>
            <p:ph idx="1"/>
          </p:nvPr>
        </p:nvGraphicFramePr>
        <p:xfrm>
          <a:off x="89807" y="1825624"/>
          <a:ext cx="11952512" cy="2066630"/>
        </p:xfrm>
        <a:graphic>
          <a:graphicData uri="http://schemas.openxmlformats.org/drawingml/2006/table">
            <a:tbl>
              <a:tblPr firstRow="1" bandRow="1">
                <a:tableStyleId>{5C22544A-7EE6-4342-B048-85BDC9FD1C3A}</a:tableStyleId>
              </a:tblPr>
              <a:tblGrid>
                <a:gridCol w="1231623">
                  <a:extLst>
                    <a:ext uri="{9D8B030D-6E8A-4147-A177-3AD203B41FA5}">
                      <a16:colId xmlns:a16="http://schemas.microsoft.com/office/drawing/2014/main" xmlns="" val="1484317391"/>
                    </a:ext>
                  </a:extLst>
                </a:gridCol>
                <a:gridCol w="1165495">
                  <a:extLst>
                    <a:ext uri="{9D8B030D-6E8A-4147-A177-3AD203B41FA5}">
                      <a16:colId xmlns:a16="http://schemas.microsoft.com/office/drawing/2014/main" xmlns="" val="1482227438"/>
                    </a:ext>
                  </a:extLst>
                </a:gridCol>
                <a:gridCol w="1188637">
                  <a:extLst>
                    <a:ext uri="{9D8B030D-6E8A-4147-A177-3AD203B41FA5}">
                      <a16:colId xmlns:a16="http://schemas.microsoft.com/office/drawing/2014/main" xmlns="" val="2296682672"/>
                    </a:ext>
                  </a:extLst>
                </a:gridCol>
                <a:gridCol w="1195251">
                  <a:extLst>
                    <a:ext uri="{9D8B030D-6E8A-4147-A177-3AD203B41FA5}">
                      <a16:colId xmlns:a16="http://schemas.microsoft.com/office/drawing/2014/main" xmlns="" val="4108359403"/>
                    </a:ext>
                  </a:extLst>
                </a:gridCol>
                <a:gridCol w="1195251">
                  <a:extLst>
                    <a:ext uri="{9D8B030D-6E8A-4147-A177-3AD203B41FA5}">
                      <a16:colId xmlns:a16="http://schemas.microsoft.com/office/drawing/2014/main" xmlns="" val="1681304674"/>
                    </a:ext>
                  </a:extLst>
                </a:gridCol>
                <a:gridCol w="1195251">
                  <a:extLst>
                    <a:ext uri="{9D8B030D-6E8A-4147-A177-3AD203B41FA5}">
                      <a16:colId xmlns:a16="http://schemas.microsoft.com/office/drawing/2014/main" xmlns="" val="725121365"/>
                    </a:ext>
                  </a:extLst>
                </a:gridCol>
                <a:gridCol w="1195251">
                  <a:extLst>
                    <a:ext uri="{9D8B030D-6E8A-4147-A177-3AD203B41FA5}">
                      <a16:colId xmlns:a16="http://schemas.microsoft.com/office/drawing/2014/main" xmlns="" val="1172047020"/>
                    </a:ext>
                  </a:extLst>
                </a:gridCol>
                <a:gridCol w="1195251">
                  <a:extLst>
                    <a:ext uri="{9D8B030D-6E8A-4147-A177-3AD203B41FA5}">
                      <a16:colId xmlns:a16="http://schemas.microsoft.com/office/drawing/2014/main" xmlns="" val="1310131758"/>
                    </a:ext>
                  </a:extLst>
                </a:gridCol>
                <a:gridCol w="1195251">
                  <a:extLst>
                    <a:ext uri="{9D8B030D-6E8A-4147-A177-3AD203B41FA5}">
                      <a16:colId xmlns:a16="http://schemas.microsoft.com/office/drawing/2014/main" xmlns="" val="1824232441"/>
                    </a:ext>
                  </a:extLst>
                </a:gridCol>
                <a:gridCol w="1195251">
                  <a:extLst>
                    <a:ext uri="{9D8B030D-6E8A-4147-A177-3AD203B41FA5}">
                      <a16:colId xmlns:a16="http://schemas.microsoft.com/office/drawing/2014/main" xmlns="" val="1287771228"/>
                    </a:ext>
                  </a:extLst>
                </a:gridCol>
              </a:tblGrid>
              <a:tr h="1101678">
                <a:tc>
                  <a:txBody>
                    <a:bodyPr/>
                    <a:lstStyle/>
                    <a:p>
                      <a:pPr algn="ctr"/>
                      <a:r>
                        <a:rPr lang="en-GB" sz="1800" dirty="0">
                          <a:solidFill>
                            <a:schemeClr val="tx1"/>
                          </a:solidFill>
                          <a:latin typeface="Abadi" panose="020B0604020104020204" pitchFamily="34" charset="0"/>
                        </a:rPr>
                        <a:t>Position/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840522877"/>
                  </a:ext>
                </a:extLst>
              </a:tr>
              <a:tr h="446792">
                <a:tc>
                  <a:txBody>
                    <a:bodyPr/>
                    <a:lstStyle/>
                    <a:p>
                      <a:endParaRPr lang="en-GB" sz="1800" dirty="0">
                        <a:solidFill>
                          <a:schemeClr val="tx1"/>
                        </a:solidFill>
                        <a:latin typeface="Abadi" panose="020B06040201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a:t>myText</a:t>
                      </a:r>
                      <a:r>
                        <a:rPr lang="en-GB" sz="18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60772364"/>
                  </a:ext>
                </a:extLst>
              </a:tr>
              <a:tr h="446792">
                <a:tc>
                  <a:txBody>
                    <a:bodyPr/>
                    <a:lstStyle/>
                    <a:p>
                      <a:pPr algn="ctr"/>
                      <a:r>
                        <a:rPr lang="en-GB" sz="1800" b="1" dirty="0">
                          <a:solidFill>
                            <a:schemeClr val="tx1"/>
                          </a:solidFill>
                          <a:latin typeface="Abadi" panose="020B0604020104020204" pitchFamily="34"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2800" b="1"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968980326"/>
                  </a:ext>
                </a:extLst>
              </a:tr>
            </a:tbl>
          </a:graphicData>
        </a:graphic>
      </p:graphicFrame>
      <p:sp>
        <p:nvSpPr>
          <p:cNvPr id="5" name="Content Placeholder 2">
            <a:extLst>
              <a:ext uri="{FF2B5EF4-FFF2-40B4-BE49-F238E27FC236}">
                <a16:creationId xmlns:a16="http://schemas.microsoft.com/office/drawing/2014/main" xmlns="" id="{16F63700-1AB2-FFEA-A13C-97752AFFEEA8}"/>
              </a:ext>
            </a:extLst>
          </p:cNvPr>
          <p:cNvSpPr txBox="1">
            <a:spLocks/>
          </p:cNvSpPr>
          <p:nvPr/>
        </p:nvSpPr>
        <p:spPr>
          <a:xfrm>
            <a:off x="0" y="41728"/>
            <a:ext cx="12192000" cy="5521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There are many string handling functions available.</a:t>
            </a:r>
          </a:p>
        </p:txBody>
      </p:sp>
      <p:sp>
        <p:nvSpPr>
          <p:cNvPr id="3" name="Rectangle 2">
            <a:extLst>
              <a:ext uri="{FF2B5EF4-FFF2-40B4-BE49-F238E27FC236}">
                <a16:creationId xmlns:a16="http://schemas.microsoft.com/office/drawing/2014/main" xmlns="" id="{409D3E83-DC74-F736-F9E8-08592A56480F}"/>
              </a:ext>
            </a:extLst>
          </p:cNvPr>
          <p:cNvSpPr/>
          <p:nvPr/>
        </p:nvSpPr>
        <p:spPr>
          <a:xfrm>
            <a:off x="0" y="4656842"/>
            <a:ext cx="12192000" cy="220115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solidFill>
                <a:latin typeface="LEMON MILK" panose="00000500000000000000" pitchFamily="50" charset="0"/>
              </a:rPr>
              <a:t>Lowercase</a:t>
            </a:r>
          </a:p>
          <a:p>
            <a:pPr algn="ctr"/>
            <a:r>
              <a:rPr lang="en-GB" dirty="0">
                <a:solidFill>
                  <a:schemeClr val="tx1"/>
                </a:solidFill>
              </a:rPr>
              <a:t>Change all the characters in a string to lower case</a:t>
            </a:r>
          </a:p>
          <a:p>
            <a:pPr algn="ctr"/>
            <a:endParaRPr lang="en-GB" sz="1100" dirty="0">
              <a:solidFill>
                <a:schemeClr val="tx1"/>
              </a:solidFill>
            </a:endParaRPr>
          </a:p>
          <a:p>
            <a:pPr algn="ctr"/>
            <a:r>
              <a:rPr lang="en-GB" sz="2400" dirty="0" err="1">
                <a:solidFill>
                  <a:schemeClr val="tx1"/>
                </a:solidFill>
                <a:latin typeface="Courier New" panose="02070309020205020404" pitchFamily="49" charset="0"/>
                <a:cs typeface="Courier New" panose="02070309020205020404" pitchFamily="49" charset="0"/>
              </a:rPr>
              <a:t>myText.ToLower</a:t>
            </a:r>
            <a:r>
              <a:rPr lang="en-GB" sz="2400" dirty="0">
                <a:solidFill>
                  <a:schemeClr val="tx1"/>
                </a:solidFill>
                <a:latin typeface="Courier New" panose="02070309020205020404" pitchFamily="49" charset="0"/>
                <a:cs typeface="Courier New" panose="02070309020205020404" pitchFamily="49" charset="0"/>
              </a:rPr>
              <a:t>();</a:t>
            </a:r>
          </a:p>
          <a:p>
            <a:pPr algn="ctr"/>
            <a:endParaRPr lang="en-GB" sz="1100" dirty="0">
              <a:solidFill>
                <a:schemeClr val="tx1"/>
              </a:solidFill>
              <a:cs typeface="Courier New" panose="02070309020205020404" pitchFamily="49" charset="0"/>
            </a:endParaRPr>
          </a:p>
          <a:p>
            <a:pPr algn="ctr"/>
            <a:r>
              <a:rPr lang="en-GB" dirty="0">
                <a:solidFill>
                  <a:schemeClr val="tx1"/>
                </a:solidFill>
              </a:rPr>
              <a:t>Takes all the capital letters and converts them to lower case. The rest of the string remains unchanged</a:t>
            </a:r>
          </a:p>
          <a:p>
            <a:pPr algn="ctr"/>
            <a:endParaRPr lang="en-GB" sz="1000" dirty="0">
              <a:solidFill>
                <a:schemeClr val="tx1"/>
              </a:solidFill>
            </a:endParaRPr>
          </a:p>
          <a:p>
            <a:pPr algn="ctr"/>
            <a:r>
              <a:rPr lang="en-GB" sz="2400" dirty="0">
                <a:solidFill>
                  <a:schemeClr val="tx1"/>
                </a:solidFill>
                <a:latin typeface="Courier New" panose="02070309020205020404" pitchFamily="49" charset="0"/>
                <a:cs typeface="Courier New" panose="02070309020205020404" pitchFamily="49" charset="0"/>
              </a:rPr>
              <a:t>“well done”</a:t>
            </a:r>
          </a:p>
          <a:p>
            <a:pPr algn="ctr"/>
            <a:endParaRPr lang="en-GB" sz="1000" dirty="0">
              <a:solidFill>
                <a:schemeClr val="tx1"/>
              </a:solidFill>
              <a:cs typeface="Courier New" panose="02070309020205020404" pitchFamily="49" charset="0"/>
            </a:endParaRPr>
          </a:p>
          <a:p>
            <a:pPr algn="ctr"/>
            <a:endParaRPr lang="en-GB" dirty="0">
              <a:solidFill>
                <a:schemeClr val="tx1"/>
              </a:solidFill>
            </a:endParaRPr>
          </a:p>
          <a:p>
            <a:pPr algn="ctr"/>
            <a:endParaRPr lang="en-GB" dirty="0">
              <a:solidFill>
                <a:schemeClr val="tx1"/>
              </a:solidFill>
            </a:endParaRPr>
          </a:p>
        </p:txBody>
      </p:sp>
    </p:spTree>
    <p:extLst>
      <p:ext uri="{BB962C8B-B14F-4D97-AF65-F5344CB8AC3E}">
        <p14:creationId xmlns:p14="http://schemas.microsoft.com/office/powerpoint/2010/main" val="5778810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629995EF-118F-C3F0-D48D-332172BB6D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6FEF73FB-7666-B1DA-2B05-00A2C64F9490}"/>
              </a:ext>
            </a:extLst>
          </p:cNvPr>
          <p:cNvSpPr>
            <a:spLocks noGrp="1"/>
          </p:cNvSpPr>
          <p:nvPr>
            <p:ph type="title"/>
          </p:nvPr>
        </p:nvSpPr>
        <p:spPr>
          <a:xfrm>
            <a:off x="0" y="546975"/>
            <a:ext cx="12192000" cy="1325563"/>
          </a:xfrm>
        </p:spPr>
        <p:txBody>
          <a:bodyPr/>
          <a:lstStyle/>
          <a:p>
            <a:pPr algn="ctr"/>
            <a:r>
              <a:rPr lang="en-GB" dirty="0">
                <a:latin typeface="Courier New" panose="02070309020205020404" pitchFamily="49" charset="0"/>
                <a:cs typeface="Courier New" panose="02070309020205020404" pitchFamily="49" charset="0"/>
              </a:rPr>
              <a:t>string </a:t>
            </a:r>
            <a:r>
              <a:rPr lang="en-GB" dirty="0" err="1">
                <a:latin typeface="Courier New" panose="02070309020205020404" pitchFamily="49" charset="0"/>
                <a:cs typeface="Courier New" panose="02070309020205020404" pitchFamily="49" charset="0"/>
              </a:rPr>
              <a:t>myText</a:t>
            </a:r>
            <a:r>
              <a:rPr lang="en-GB" dirty="0">
                <a:latin typeface="Courier New" panose="02070309020205020404" pitchFamily="49" charset="0"/>
                <a:cs typeface="Courier New" panose="02070309020205020404" pitchFamily="49" charset="0"/>
              </a:rPr>
              <a:t> = “WELL DONE”;</a:t>
            </a:r>
          </a:p>
        </p:txBody>
      </p:sp>
      <p:graphicFrame>
        <p:nvGraphicFramePr>
          <p:cNvPr id="4" name="Content Placeholder 3">
            <a:extLst>
              <a:ext uri="{FF2B5EF4-FFF2-40B4-BE49-F238E27FC236}">
                <a16:creationId xmlns:a16="http://schemas.microsoft.com/office/drawing/2014/main" xmlns="" id="{6EE609E4-CBDC-41CF-EF7F-F12E76A7D4B0}"/>
              </a:ext>
            </a:extLst>
          </p:cNvPr>
          <p:cNvGraphicFramePr>
            <a:graphicFrameLocks noGrp="1"/>
          </p:cNvGraphicFramePr>
          <p:nvPr>
            <p:ph idx="1"/>
          </p:nvPr>
        </p:nvGraphicFramePr>
        <p:xfrm>
          <a:off x="89807" y="1825624"/>
          <a:ext cx="11952512" cy="2066630"/>
        </p:xfrm>
        <a:graphic>
          <a:graphicData uri="http://schemas.openxmlformats.org/drawingml/2006/table">
            <a:tbl>
              <a:tblPr firstRow="1" bandRow="1">
                <a:tableStyleId>{5C22544A-7EE6-4342-B048-85BDC9FD1C3A}</a:tableStyleId>
              </a:tblPr>
              <a:tblGrid>
                <a:gridCol w="1231623">
                  <a:extLst>
                    <a:ext uri="{9D8B030D-6E8A-4147-A177-3AD203B41FA5}">
                      <a16:colId xmlns:a16="http://schemas.microsoft.com/office/drawing/2014/main" xmlns="" val="1484317391"/>
                    </a:ext>
                  </a:extLst>
                </a:gridCol>
                <a:gridCol w="1165495">
                  <a:extLst>
                    <a:ext uri="{9D8B030D-6E8A-4147-A177-3AD203B41FA5}">
                      <a16:colId xmlns:a16="http://schemas.microsoft.com/office/drawing/2014/main" xmlns="" val="1482227438"/>
                    </a:ext>
                  </a:extLst>
                </a:gridCol>
                <a:gridCol w="1188637">
                  <a:extLst>
                    <a:ext uri="{9D8B030D-6E8A-4147-A177-3AD203B41FA5}">
                      <a16:colId xmlns:a16="http://schemas.microsoft.com/office/drawing/2014/main" xmlns="" val="2296682672"/>
                    </a:ext>
                  </a:extLst>
                </a:gridCol>
                <a:gridCol w="1195251">
                  <a:extLst>
                    <a:ext uri="{9D8B030D-6E8A-4147-A177-3AD203B41FA5}">
                      <a16:colId xmlns:a16="http://schemas.microsoft.com/office/drawing/2014/main" xmlns="" val="4108359403"/>
                    </a:ext>
                  </a:extLst>
                </a:gridCol>
                <a:gridCol w="1195251">
                  <a:extLst>
                    <a:ext uri="{9D8B030D-6E8A-4147-A177-3AD203B41FA5}">
                      <a16:colId xmlns:a16="http://schemas.microsoft.com/office/drawing/2014/main" xmlns="" val="1681304674"/>
                    </a:ext>
                  </a:extLst>
                </a:gridCol>
                <a:gridCol w="1195251">
                  <a:extLst>
                    <a:ext uri="{9D8B030D-6E8A-4147-A177-3AD203B41FA5}">
                      <a16:colId xmlns:a16="http://schemas.microsoft.com/office/drawing/2014/main" xmlns="" val="725121365"/>
                    </a:ext>
                  </a:extLst>
                </a:gridCol>
                <a:gridCol w="1195251">
                  <a:extLst>
                    <a:ext uri="{9D8B030D-6E8A-4147-A177-3AD203B41FA5}">
                      <a16:colId xmlns:a16="http://schemas.microsoft.com/office/drawing/2014/main" xmlns="" val="1172047020"/>
                    </a:ext>
                  </a:extLst>
                </a:gridCol>
                <a:gridCol w="1195251">
                  <a:extLst>
                    <a:ext uri="{9D8B030D-6E8A-4147-A177-3AD203B41FA5}">
                      <a16:colId xmlns:a16="http://schemas.microsoft.com/office/drawing/2014/main" xmlns="" val="1310131758"/>
                    </a:ext>
                  </a:extLst>
                </a:gridCol>
                <a:gridCol w="1195251">
                  <a:extLst>
                    <a:ext uri="{9D8B030D-6E8A-4147-A177-3AD203B41FA5}">
                      <a16:colId xmlns:a16="http://schemas.microsoft.com/office/drawing/2014/main" xmlns="" val="1824232441"/>
                    </a:ext>
                  </a:extLst>
                </a:gridCol>
                <a:gridCol w="1195251">
                  <a:extLst>
                    <a:ext uri="{9D8B030D-6E8A-4147-A177-3AD203B41FA5}">
                      <a16:colId xmlns:a16="http://schemas.microsoft.com/office/drawing/2014/main" xmlns="" val="1287771228"/>
                    </a:ext>
                  </a:extLst>
                </a:gridCol>
              </a:tblGrid>
              <a:tr h="1101678">
                <a:tc>
                  <a:txBody>
                    <a:bodyPr/>
                    <a:lstStyle/>
                    <a:p>
                      <a:pPr algn="ctr"/>
                      <a:r>
                        <a:rPr lang="en-GB" sz="1800" dirty="0">
                          <a:solidFill>
                            <a:schemeClr val="tx1"/>
                          </a:solidFill>
                          <a:latin typeface="Abadi" panose="020B0604020104020204" pitchFamily="34" charset="0"/>
                        </a:rPr>
                        <a:t>Position/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840522877"/>
                  </a:ext>
                </a:extLst>
              </a:tr>
              <a:tr h="446792">
                <a:tc>
                  <a:txBody>
                    <a:bodyPr/>
                    <a:lstStyle/>
                    <a:p>
                      <a:endParaRPr lang="en-GB" sz="1800" dirty="0">
                        <a:solidFill>
                          <a:schemeClr val="tx1"/>
                        </a:solidFill>
                        <a:latin typeface="Abadi" panose="020B06040201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a:t>myText</a:t>
                      </a:r>
                      <a:r>
                        <a:rPr lang="en-GB" sz="18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60772364"/>
                  </a:ext>
                </a:extLst>
              </a:tr>
              <a:tr h="446792">
                <a:tc>
                  <a:txBody>
                    <a:bodyPr/>
                    <a:lstStyle/>
                    <a:p>
                      <a:pPr algn="ctr"/>
                      <a:r>
                        <a:rPr lang="en-GB" sz="1800" b="1" dirty="0">
                          <a:solidFill>
                            <a:schemeClr val="tx1"/>
                          </a:solidFill>
                          <a:latin typeface="Abadi" panose="020B0604020104020204" pitchFamily="34"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2800" b="1"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968980326"/>
                  </a:ext>
                </a:extLst>
              </a:tr>
            </a:tbl>
          </a:graphicData>
        </a:graphic>
      </p:graphicFrame>
      <p:sp>
        <p:nvSpPr>
          <p:cNvPr id="5" name="Content Placeholder 2">
            <a:extLst>
              <a:ext uri="{FF2B5EF4-FFF2-40B4-BE49-F238E27FC236}">
                <a16:creationId xmlns:a16="http://schemas.microsoft.com/office/drawing/2014/main" xmlns="" id="{0A6D52C5-B3AB-B183-E81C-4EED1BAEF77D}"/>
              </a:ext>
            </a:extLst>
          </p:cNvPr>
          <p:cNvSpPr txBox="1">
            <a:spLocks/>
          </p:cNvSpPr>
          <p:nvPr/>
        </p:nvSpPr>
        <p:spPr>
          <a:xfrm>
            <a:off x="0" y="41728"/>
            <a:ext cx="12192000" cy="5521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There are many string handling functions available.</a:t>
            </a:r>
          </a:p>
        </p:txBody>
      </p:sp>
      <p:sp>
        <p:nvSpPr>
          <p:cNvPr id="3" name="Rectangle 2">
            <a:extLst>
              <a:ext uri="{FF2B5EF4-FFF2-40B4-BE49-F238E27FC236}">
                <a16:creationId xmlns:a16="http://schemas.microsoft.com/office/drawing/2014/main" xmlns="" id="{5055D5D2-4F2C-6BAC-1524-A5ABE8FDBDBE}"/>
              </a:ext>
            </a:extLst>
          </p:cNvPr>
          <p:cNvSpPr/>
          <p:nvPr/>
        </p:nvSpPr>
        <p:spPr>
          <a:xfrm>
            <a:off x="0" y="4656842"/>
            <a:ext cx="12192000" cy="220115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solidFill>
                <a:latin typeface="LEMON MILK" panose="00000500000000000000" pitchFamily="50" charset="0"/>
              </a:rPr>
              <a:t>Uppercase</a:t>
            </a:r>
          </a:p>
          <a:p>
            <a:pPr algn="ctr"/>
            <a:r>
              <a:rPr lang="en-GB" dirty="0">
                <a:solidFill>
                  <a:schemeClr val="tx1"/>
                </a:solidFill>
              </a:rPr>
              <a:t>Change all the characters in a string to Upper case</a:t>
            </a:r>
          </a:p>
          <a:p>
            <a:pPr algn="ctr"/>
            <a:endParaRPr lang="en-GB" sz="1100" dirty="0">
              <a:solidFill>
                <a:schemeClr val="tx1"/>
              </a:solidFill>
            </a:endParaRPr>
          </a:p>
          <a:p>
            <a:pPr algn="ctr"/>
            <a:r>
              <a:rPr lang="en-GB" sz="2400" dirty="0" err="1">
                <a:solidFill>
                  <a:schemeClr val="tx1"/>
                </a:solidFill>
                <a:latin typeface="Courier New" panose="02070309020205020404" pitchFamily="49" charset="0"/>
                <a:cs typeface="Courier New" panose="02070309020205020404" pitchFamily="49" charset="0"/>
              </a:rPr>
              <a:t>myText.ToUpper</a:t>
            </a:r>
            <a:r>
              <a:rPr lang="en-GB" sz="2400" dirty="0">
                <a:solidFill>
                  <a:schemeClr val="tx1"/>
                </a:solidFill>
                <a:latin typeface="Courier New" panose="02070309020205020404" pitchFamily="49" charset="0"/>
                <a:cs typeface="Courier New" panose="02070309020205020404" pitchFamily="49" charset="0"/>
              </a:rPr>
              <a:t>();</a:t>
            </a:r>
          </a:p>
          <a:p>
            <a:pPr algn="ctr"/>
            <a:endParaRPr lang="en-GB" sz="1100" dirty="0">
              <a:solidFill>
                <a:schemeClr val="tx1"/>
              </a:solidFill>
              <a:cs typeface="Courier New" panose="02070309020205020404" pitchFamily="49" charset="0"/>
            </a:endParaRPr>
          </a:p>
          <a:p>
            <a:pPr algn="ctr"/>
            <a:r>
              <a:rPr lang="en-GB" dirty="0">
                <a:solidFill>
                  <a:schemeClr val="tx1"/>
                </a:solidFill>
              </a:rPr>
              <a:t>Takes all the capital letters and converts them to Upper case. The rest of the string remains unchanged</a:t>
            </a:r>
          </a:p>
          <a:p>
            <a:pPr algn="ctr"/>
            <a:endParaRPr lang="en-GB" sz="1000" dirty="0">
              <a:solidFill>
                <a:schemeClr val="tx1"/>
              </a:solidFill>
            </a:endParaRPr>
          </a:p>
          <a:p>
            <a:pPr algn="ctr"/>
            <a:r>
              <a:rPr lang="en-GB" sz="2400" dirty="0">
                <a:solidFill>
                  <a:schemeClr val="tx1"/>
                </a:solidFill>
                <a:latin typeface="Courier New" panose="02070309020205020404" pitchFamily="49" charset="0"/>
                <a:cs typeface="Courier New" panose="02070309020205020404" pitchFamily="49" charset="0"/>
              </a:rPr>
              <a:t>“WELL DONE”</a:t>
            </a:r>
          </a:p>
          <a:p>
            <a:pPr algn="ctr"/>
            <a:endParaRPr lang="en-GB" sz="1000" dirty="0">
              <a:solidFill>
                <a:schemeClr val="tx1"/>
              </a:solidFill>
              <a:cs typeface="Courier New" panose="02070309020205020404" pitchFamily="49" charset="0"/>
            </a:endParaRPr>
          </a:p>
          <a:p>
            <a:pPr algn="ctr"/>
            <a:endParaRPr lang="en-GB" dirty="0">
              <a:solidFill>
                <a:schemeClr val="tx1"/>
              </a:solidFill>
            </a:endParaRPr>
          </a:p>
          <a:p>
            <a:pPr algn="ctr"/>
            <a:endParaRPr lang="en-GB" dirty="0">
              <a:solidFill>
                <a:schemeClr val="tx1"/>
              </a:solidFill>
            </a:endParaRPr>
          </a:p>
        </p:txBody>
      </p:sp>
    </p:spTree>
    <p:extLst>
      <p:ext uri="{BB962C8B-B14F-4D97-AF65-F5344CB8AC3E}">
        <p14:creationId xmlns:p14="http://schemas.microsoft.com/office/powerpoint/2010/main" val="2819229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81AE2DF8-D378-E153-DF4D-9BFDC32502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xmlns="" id="{B8535818-5B05-162D-2730-B99863DF13AE}"/>
              </a:ext>
            </a:extLst>
          </p:cNvPr>
          <p:cNvSpPr>
            <a:spLocks noGrp="1"/>
          </p:cNvSpPr>
          <p:nvPr>
            <p:ph type="title"/>
          </p:nvPr>
        </p:nvSpPr>
        <p:spPr>
          <a:xfrm>
            <a:off x="0" y="546975"/>
            <a:ext cx="12192000" cy="1325563"/>
          </a:xfrm>
        </p:spPr>
        <p:txBody>
          <a:bodyPr/>
          <a:lstStyle/>
          <a:p>
            <a:pPr algn="ctr"/>
            <a:r>
              <a:rPr lang="en-GB" dirty="0">
                <a:latin typeface="Courier New" panose="02070309020205020404" pitchFamily="49" charset="0"/>
                <a:cs typeface="Courier New" panose="02070309020205020404" pitchFamily="49" charset="0"/>
              </a:rPr>
              <a:t>string </a:t>
            </a:r>
            <a:r>
              <a:rPr lang="en-GB" dirty="0" err="1">
                <a:latin typeface="Courier New" panose="02070309020205020404" pitchFamily="49" charset="0"/>
                <a:cs typeface="Courier New" panose="02070309020205020404" pitchFamily="49" charset="0"/>
              </a:rPr>
              <a:t>myText</a:t>
            </a:r>
            <a:r>
              <a:rPr lang="en-GB" dirty="0">
                <a:latin typeface="Courier New" panose="02070309020205020404" pitchFamily="49" charset="0"/>
                <a:cs typeface="Courier New" panose="02070309020205020404" pitchFamily="49" charset="0"/>
              </a:rPr>
              <a:t> = “WELL DONE”;</a:t>
            </a:r>
          </a:p>
        </p:txBody>
      </p:sp>
      <p:graphicFrame>
        <p:nvGraphicFramePr>
          <p:cNvPr id="4" name="Content Placeholder 3">
            <a:extLst>
              <a:ext uri="{FF2B5EF4-FFF2-40B4-BE49-F238E27FC236}">
                <a16:creationId xmlns:a16="http://schemas.microsoft.com/office/drawing/2014/main" xmlns="" id="{76DFFDBB-0935-F038-F651-E453F2661750}"/>
              </a:ext>
            </a:extLst>
          </p:cNvPr>
          <p:cNvGraphicFramePr>
            <a:graphicFrameLocks noGrp="1"/>
          </p:cNvGraphicFramePr>
          <p:nvPr>
            <p:ph idx="1"/>
          </p:nvPr>
        </p:nvGraphicFramePr>
        <p:xfrm>
          <a:off x="89807" y="1825624"/>
          <a:ext cx="11952512" cy="2066630"/>
        </p:xfrm>
        <a:graphic>
          <a:graphicData uri="http://schemas.openxmlformats.org/drawingml/2006/table">
            <a:tbl>
              <a:tblPr firstRow="1" bandRow="1">
                <a:tableStyleId>{5C22544A-7EE6-4342-B048-85BDC9FD1C3A}</a:tableStyleId>
              </a:tblPr>
              <a:tblGrid>
                <a:gridCol w="1231623">
                  <a:extLst>
                    <a:ext uri="{9D8B030D-6E8A-4147-A177-3AD203B41FA5}">
                      <a16:colId xmlns:a16="http://schemas.microsoft.com/office/drawing/2014/main" xmlns="" val="1484317391"/>
                    </a:ext>
                  </a:extLst>
                </a:gridCol>
                <a:gridCol w="1165495">
                  <a:extLst>
                    <a:ext uri="{9D8B030D-6E8A-4147-A177-3AD203B41FA5}">
                      <a16:colId xmlns:a16="http://schemas.microsoft.com/office/drawing/2014/main" xmlns="" val="1482227438"/>
                    </a:ext>
                  </a:extLst>
                </a:gridCol>
                <a:gridCol w="1188637">
                  <a:extLst>
                    <a:ext uri="{9D8B030D-6E8A-4147-A177-3AD203B41FA5}">
                      <a16:colId xmlns:a16="http://schemas.microsoft.com/office/drawing/2014/main" xmlns="" val="2296682672"/>
                    </a:ext>
                  </a:extLst>
                </a:gridCol>
                <a:gridCol w="1195251">
                  <a:extLst>
                    <a:ext uri="{9D8B030D-6E8A-4147-A177-3AD203B41FA5}">
                      <a16:colId xmlns:a16="http://schemas.microsoft.com/office/drawing/2014/main" xmlns="" val="4108359403"/>
                    </a:ext>
                  </a:extLst>
                </a:gridCol>
                <a:gridCol w="1195251">
                  <a:extLst>
                    <a:ext uri="{9D8B030D-6E8A-4147-A177-3AD203B41FA5}">
                      <a16:colId xmlns:a16="http://schemas.microsoft.com/office/drawing/2014/main" xmlns="" val="1681304674"/>
                    </a:ext>
                  </a:extLst>
                </a:gridCol>
                <a:gridCol w="1195251">
                  <a:extLst>
                    <a:ext uri="{9D8B030D-6E8A-4147-A177-3AD203B41FA5}">
                      <a16:colId xmlns:a16="http://schemas.microsoft.com/office/drawing/2014/main" xmlns="" val="725121365"/>
                    </a:ext>
                  </a:extLst>
                </a:gridCol>
                <a:gridCol w="1195251">
                  <a:extLst>
                    <a:ext uri="{9D8B030D-6E8A-4147-A177-3AD203B41FA5}">
                      <a16:colId xmlns:a16="http://schemas.microsoft.com/office/drawing/2014/main" xmlns="" val="1172047020"/>
                    </a:ext>
                  </a:extLst>
                </a:gridCol>
                <a:gridCol w="1195251">
                  <a:extLst>
                    <a:ext uri="{9D8B030D-6E8A-4147-A177-3AD203B41FA5}">
                      <a16:colId xmlns:a16="http://schemas.microsoft.com/office/drawing/2014/main" xmlns="" val="1310131758"/>
                    </a:ext>
                  </a:extLst>
                </a:gridCol>
                <a:gridCol w="1195251">
                  <a:extLst>
                    <a:ext uri="{9D8B030D-6E8A-4147-A177-3AD203B41FA5}">
                      <a16:colId xmlns:a16="http://schemas.microsoft.com/office/drawing/2014/main" xmlns="" val="1824232441"/>
                    </a:ext>
                  </a:extLst>
                </a:gridCol>
                <a:gridCol w="1195251">
                  <a:extLst>
                    <a:ext uri="{9D8B030D-6E8A-4147-A177-3AD203B41FA5}">
                      <a16:colId xmlns:a16="http://schemas.microsoft.com/office/drawing/2014/main" xmlns="" val="1287771228"/>
                    </a:ext>
                  </a:extLst>
                </a:gridCol>
              </a:tblGrid>
              <a:tr h="1101678">
                <a:tc>
                  <a:txBody>
                    <a:bodyPr/>
                    <a:lstStyle/>
                    <a:p>
                      <a:pPr algn="ctr"/>
                      <a:r>
                        <a:rPr lang="en-GB" sz="1800" dirty="0">
                          <a:solidFill>
                            <a:schemeClr val="tx1"/>
                          </a:solidFill>
                          <a:latin typeface="Abadi" panose="020B0604020104020204" pitchFamily="34" charset="0"/>
                        </a:rPr>
                        <a:t>Position/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3</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dirty="0">
                          <a:solidFill>
                            <a:schemeClr val="tx1"/>
                          </a:solidFill>
                        </a:rPr>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xmlns="" val="1840522877"/>
                  </a:ext>
                </a:extLst>
              </a:tr>
              <a:tr h="446792">
                <a:tc>
                  <a:txBody>
                    <a:bodyPr/>
                    <a:lstStyle/>
                    <a:p>
                      <a:endParaRPr lang="en-GB" sz="1800" dirty="0">
                        <a:solidFill>
                          <a:schemeClr val="tx1"/>
                        </a:solidFill>
                        <a:latin typeface="Abadi" panose="020B0604020104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1800" dirty="0" err="1"/>
                        <a:t>myText</a:t>
                      </a:r>
                      <a:r>
                        <a:rPr lang="en-GB" sz="18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err="1"/>
                        <a:t>myText</a:t>
                      </a:r>
                      <a:r>
                        <a:rPr lang="en-GB" sz="18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760772364"/>
                  </a:ext>
                </a:extLst>
              </a:tr>
              <a:tr h="446792">
                <a:tc>
                  <a:txBody>
                    <a:bodyPr/>
                    <a:lstStyle/>
                    <a:p>
                      <a:pPr algn="ctr"/>
                      <a:r>
                        <a:rPr lang="en-GB" sz="1800" b="1" dirty="0">
                          <a:solidFill>
                            <a:schemeClr val="tx1"/>
                          </a:solidFill>
                          <a:latin typeface="Abadi" panose="020B0604020104020204" pitchFamily="34" charset="0"/>
                        </a:rPr>
                        <a:t>Value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lumMod val="90000"/>
                      </a:schemeClr>
                    </a:solidFill>
                  </a:tcPr>
                </a:tc>
                <a:tc>
                  <a:txBody>
                    <a:bodyPr/>
                    <a:lstStyle/>
                    <a:p>
                      <a:pPr algn="ctr"/>
                      <a:r>
                        <a:rPr lang="en-GB" sz="2800" b="1" dirty="0"/>
                        <a:t>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endParaRPr lang="en-GB" sz="28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GB" sz="2800" b="1" dirty="0"/>
                        <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968980326"/>
                  </a:ext>
                </a:extLst>
              </a:tr>
            </a:tbl>
          </a:graphicData>
        </a:graphic>
      </p:graphicFrame>
      <p:sp>
        <p:nvSpPr>
          <p:cNvPr id="5" name="Content Placeholder 2">
            <a:extLst>
              <a:ext uri="{FF2B5EF4-FFF2-40B4-BE49-F238E27FC236}">
                <a16:creationId xmlns:a16="http://schemas.microsoft.com/office/drawing/2014/main" xmlns="" id="{A60C81FC-A4FD-C515-2188-39983D5A3A9E}"/>
              </a:ext>
            </a:extLst>
          </p:cNvPr>
          <p:cNvSpPr txBox="1">
            <a:spLocks/>
          </p:cNvSpPr>
          <p:nvPr/>
        </p:nvSpPr>
        <p:spPr>
          <a:xfrm>
            <a:off x="0" y="41728"/>
            <a:ext cx="12192000" cy="5521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dirty="0"/>
              <a:t>There are many string handling functions available.</a:t>
            </a:r>
          </a:p>
        </p:txBody>
      </p:sp>
      <p:sp>
        <p:nvSpPr>
          <p:cNvPr id="3" name="Rectangle 2">
            <a:extLst>
              <a:ext uri="{FF2B5EF4-FFF2-40B4-BE49-F238E27FC236}">
                <a16:creationId xmlns:a16="http://schemas.microsoft.com/office/drawing/2014/main" xmlns="" id="{65B7DA55-B1DF-509D-3641-303C12771ECF}"/>
              </a:ext>
            </a:extLst>
          </p:cNvPr>
          <p:cNvSpPr/>
          <p:nvPr/>
        </p:nvSpPr>
        <p:spPr>
          <a:xfrm>
            <a:off x="0" y="4656842"/>
            <a:ext cx="12192000" cy="220115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r>
              <a:rPr lang="en-GB" b="1" u="sng" dirty="0">
                <a:solidFill>
                  <a:schemeClr val="tx1"/>
                </a:solidFill>
                <a:latin typeface="LEMON MILK" panose="00000500000000000000" pitchFamily="50" charset="0"/>
              </a:rPr>
              <a:t>Length</a:t>
            </a:r>
          </a:p>
          <a:p>
            <a:pPr algn="ctr"/>
            <a:r>
              <a:rPr lang="en-GB" dirty="0">
                <a:solidFill>
                  <a:schemeClr val="tx1"/>
                </a:solidFill>
              </a:rPr>
              <a:t>Finds out how many characters or how long the string is</a:t>
            </a:r>
          </a:p>
          <a:p>
            <a:pPr algn="ctr"/>
            <a:endParaRPr lang="en-GB" sz="1100" dirty="0">
              <a:solidFill>
                <a:schemeClr val="tx1"/>
              </a:solidFill>
            </a:endParaRPr>
          </a:p>
          <a:p>
            <a:pPr algn="ctr"/>
            <a:r>
              <a:rPr lang="en-GB" sz="2400" dirty="0" err="1">
                <a:solidFill>
                  <a:schemeClr val="tx1"/>
                </a:solidFill>
                <a:latin typeface="Courier New" panose="02070309020205020404" pitchFamily="49" charset="0"/>
                <a:cs typeface="Courier New" panose="02070309020205020404" pitchFamily="49" charset="0"/>
              </a:rPr>
              <a:t>myText.Length</a:t>
            </a:r>
            <a:r>
              <a:rPr lang="en-GB" sz="2400" dirty="0">
                <a:solidFill>
                  <a:schemeClr val="tx1"/>
                </a:solidFill>
                <a:latin typeface="Courier New" panose="02070309020205020404" pitchFamily="49" charset="0"/>
                <a:cs typeface="Courier New" panose="02070309020205020404" pitchFamily="49" charset="0"/>
              </a:rPr>
              <a:t>();</a:t>
            </a:r>
          </a:p>
          <a:p>
            <a:pPr algn="ctr"/>
            <a:endParaRPr lang="en-GB" sz="1100" dirty="0">
              <a:solidFill>
                <a:schemeClr val="tx1"/>
              </a:solidFill>
              <a:cs typeface="Courier New" panose="02070309020205020404" pitchFamily="49" charset="0"/>
            </a:endParaRPr>
          </a:p>
          <a:p>
            <a:pPr algn="ctr"/>
            <a:r>
              <a:rPr lang="en-GB" dirty="0">
                <a:solidFill>
                  <a:schemeClr val="tx1"/>
                </a:solidFill>
              </a:rPr>
              <a:t>Counts the number of characters and returns an integer value</a:t>
            </a:r>
          </a:p>
          <a:p>
            <a:pPr algn="ctr"/>
            <a:endParaRPr lang="en-GB" sz="1000" dirty="0">
              <a:solidFill>
                <a:schemeClr val="tx1"/>
              </a:solidFill>
            </a:endParaRPr>
          </a:p>
          <a:p>
            <a:pPr algn="ctr"/>
            <a:r>
              <a:rPr lang="en-GB" sz="2400" dirty="0">
                <a:solidFill>
                  <a:schemeClr val="tx1"/>
                </a:solidFill>
                <a:latin typeface="Courier New" panose="02070309020205020404" pitchFamily="49" charset="0"/>
                <a:cs typeface="Courier New" panose="02070309020205020404" pitchFamily="49" charset="0"/>
              </a:rPr>
              <a:t>9</a:t>
            </a:r>
          </a:p>
          <a:p>
            <a:pPr algn="ctr"/>
            <a:endParaRPr lang="en-GB" sz="1000" dirty="0">
              <a:solidFill>
                <a:schemeClr val="tx1"/>
              </a:solidFill>
              <a:cs typeface="Courier New" panose="02070309020205020404" pitchFamily="49" charset="0"/>
            </a:endParaRPr>
          </a:p>
          <a:p>
            <a:pPr algn="ctr"/>
            <a:endParaRPr lang="en-GB" dirty="0">
              <a:solidFill>
                <a:schemeClr val="tx1"/>
              </a:solidFill>
            </a:endParaRPr>
          </a:p>
          <a:p>
            <a:pPr algn="ctr"/>
            <a:endParaRPr lang="en-GB" dirty="0">
              <a:solidFill>
                <a:schemeClr val="tx1"/>
              </a:solidFill>
            </a:endParaRPr>
          </a:p>
        </p:txBody>
      </p:sp>
    </p:spTree>
    <p:extLst>
      <p:ext uri="{BB962C8B-B14F-4D97-AF65-F5344CB8AC3E}">
        <p14:creationId xmlns:p14="http://schemas.microsoft.com/office/powerpoint/2010/main" val="14111962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DCED744-D401-6F5A-3C44-0174C80B1CB1}"/>
              </a:ext>
            </a:extLst>
          </p:cNvPr>
          <p:cNvSpPr>
            <a:spLocks noGrp="1"/>
          </p:cNvSpPr>
          <p:nvPr>
            <p:ph type="title"/>
          </p:nvPr>
        </p:nvSpPr>
        <p:spPr/>
        <p:txBody>
          <a:bodyPr/>
          <a:lstStyle/>
          <a:p>
            <a:r>
              <a:rPr lang="en-GB" dirty="0"/>
              <a:t>Building Reusable Code</a:t>
            </a:r>
          </a:p>
        </p:txBody>
      </p:sp>
      <p:sp>
        <p:nvSpPr>
          <p:cNvPr id="3" name="Content Placeholder 2">
            <a:extLst>
              <a:ext uri="{FF2B5EF4-FFF2-40B4-BE49-F238E27FC236}">
                <a16:creationId xmlns:a16="http://schemas.microsoft.com/office/drawing/2014/main" xmlns="" id="{2027186B-9BA2-52ED-7C62-BF2D1D122FF0}"/>
              </a:ext>
            </a:extLst>
          </p:cNvPr>
          <p:cNvSpPr>
            <a:spLocks noGrp="1"/>
          </p:cNvSpPr>
          <p:nvPr>
            <p:ph idx="1"/>
          </p:nvPr>
        </p:nvSpPr>
        <p:spPr>
          <a:xfrm>
            <a:off x="106838" y="1382565"/>
            <a:ext cx="11978324" cy="2727521"/>
          </a:xfrm>
        </p:spPr>
        <p:txBody>
          <a:bodyPr/>
          <a:lstStyle/>
          <a:p>
            <a:r>
              <a:rPr lang="en-GB" dirty="0"/>
              <a:t>If a section of code is to be used in more than one place, a function can be written.</a:t>
            </a:r>
          </a:p>
          <a:p>
            <a:r>
              <a:rPr lang="en-GB" dirty="0"/>
              <a:t>Functions are </a:t>
            </a:r>
            <a:r>
              <a:rPr lang="en-GB" dirty="0">
                <a:solidFill>
                  <a:srgbClr val="FFFF00"/>
                </a:solidFill>
              </a:rPr>
              <a:t>blocks of code that can be reused within the program and are written to perform a particular task. They are “Called” when required within the program</a:t>
            </a:r>
            <a:r>
              <a:rPr lang="en-GB" dirty="0"/>
              <a:t>.</a:t>
            </a:r>
          </a:p>
          <a:p>
            <a:r>
              <a:rPr lang="en-GB" dirty="0"/>
              <a:t>These functions are often called </a:t>
            </a:r>
            <a:r>
              <a:rPr lang="en-GB" b="1" dirty="0"/>
              <a:t>User Defined Functions</a:t>
            </a:r>
            <a:r>
              <a:rPr lang="en-GB" dirty="0"/>
              <a:t>. </a:t>
            </a:r>
          </a:p>
        </p:txBody>
      </p:sp>
      <p:sp>
        <p:nvSpPr>
          <p:cNvPr id="4" name="TextBox 3">
            <a:extLst>
              <a:ext uri="{FF2B5EF4-FFF2-40B4-BE49-F238E27FC236}">
                <a16:creationId xmlns:a16="http://schemas.microsoft.com/office/drawing/2014/main" xmlns="" id="{DEDD520B-F103-C3D1-44EF-175C762647A9}"/>
              </a:ext>
            </a:extLst>
          </p:cNvPr>
          <p:cNvSpPr txBox="1"/>
          <p:nvPr/>
        </p:nvSpPr>
        <p:spPr>
          <a:xfrm>
            <a:off x="9379669" y="373162"/>
            <a:ext cx="2705493" cy="923330"/>
          </a:xfrm>
          <a:prstGeom prst="rect">
            <a:avLst/>
          </a:prstGeom>
          <a:noFill/>
        </p:spPr>
        <p:txBody>
          <a:bodyPr wrap="square" rtlCol="0">
            <a:spAutoFit/>
          </a:bodyPr>
          <a:lstStyle/>
          <a:p>
            <a:r>
              <a:rPr lang="en-GB" dirty="0">
                <a:solidFill>
                  <a:schemeClr val="bg1">
                    <a:lumMod val="85000"/>
                  </a:schemeClr>
                </a:solidFill>
              </a:rPr>
              <a:t>building reusable code that utilises user-defined functions or methods</a:t>
            </a:r>
          </a:p>
        </p:txBody>
      </p:sp>
      <p:sp>
        <p:nvSpPr>
          <p:cNvPr id="5" name="Rectangle 4">
            <a:extLst>
              <a:ext uri="{FF2B5EF4-FFF2-40B4-BE49-F238E27FC236}">
                <a16:creationId xmlns:a16="http://schemas.microsoft.com/office/drawing/2014/main" xmlns="" id="{264BB5A6-82D1-12E6-924E-4F87F5E57E06}"/>
              </a:ext>
            </a:extLst>
          </p:cNvPr>
          <p:cNvSpPr/>
          <p:nvPr/>
        </p:nvSpPr>
        <p:spPr>
          <a:xfrm>
            <a:off x="43990" y="4110086"/>
            <a:ext cx="4015819" cy="2510491"/>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00"/>
                </a:solidFill>
                <a:latin typeface="LEMON MILK" panose="00000500000000000000" pitchFamily="50" charset="0"/>
              </a:rPr>
              <a:t>SUBPROGRAM</a:t>
            </a:r>
          </a:p>
          <a:p>
            <a:pPr algn="ctr"/>
            <a:r>
              <a:rPr lang="en-GB" dirty="0"/>
              <a:t>A set of program instructions performing a specific task but is not a complete program. It must be incorporated into a program to be used.</a:t>
            </a:r>
          </a:p>
        </p:txBody>
      </p:sp>
      <p:sp>
        <p:nvSpPr>
          <p:cNvPr id="6" name="Rectangle 5">
            <a:extLst>
              <a:ext uri="{FF2B5EF4-FFF2-40B4-BE49-F238E27FC236}">
                <a16:creationId xmlns:a16="http://schemas.microsoft.com/office/drawing/2014/main" xmlns="" id="{3555D134-76AB-68F0-424E-6C9FFCC3DC70}"/>
              </a:ext>
            </a:extLst>
          </p:cNvPr>
          <p:cNvSpPr/>
          <p:nvPr/>
        </p:nvSpPr>
        <p:spPr>
          <a:xfrm>
            <a:off x="4088090" y="4110086"/>
            <a:ext cx="4015819" cy="2507530"/>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00"/>
                </a:solidFill>
                <a:latin typeface="LEMON MILK" panose="00000500000000000000" pitchFamily="50" charset="0"/>
              </a:rPr>
              <a:t>Procedure</a:t>
            </a:r>
          </a:p>
          <a:p>
            <a:pPr algn="ctr"/>
            <a:r>
              <a:rPr lang="en-GB" dirty="0"/>
              <a:t>A named block or section of code. The procedure is defined and given a name. It’s written to perform a specific task and may have parameters. This identifier can be used subsequently just like any other program instruction.</a:t>
            </a:r>
          </a:p>
        </p:txBody>
      </p:sp>
      <p:sp>
        <p:nvSpPr>
          <p:cNvPr id="7" name="Rectangle 6">
            <a:extLst>
              <a:ext uri="{FF2B5EF4-FFF2-40B4-BE49-F238E27FC236}">
                <a16:creationId xmlns:a16="http://schemas.microsoft.com/office/drawing/2014/main" xmlns="" id="{D1F69AED-BB6E-30EF-9E6C-5EA6EA1651C0}"/>
              </a:ext>
            </a:extLst>
          </p:cNvPr>
          <p:cNvSpPr/>
          <p:nvPr/>
        </p:nvSpPr>
        <p:spPr>
          <a:xfrm>
            <a:off x="8132190" y="4110086"/>
            <a:ext cx="4015819" cy="2507530"/>
          </a:xfrm>
          <a:prstGeom prst="rect">
            <a:avLst/>
          </a:prstGeom>
          <a:solidFill>
            <a:schemeClr val="bg2">
              <a:lumMod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rgbClr val="FFFF00"/>
                </a:solidFill>
                <a:latin typeface="LEMON MILK" panose="00000500000000000000" pitchFamily="50" charset="0"/>
              </a:rPr>
              <a:t>Function</a:t>
            </a:r>
          </a:p>
          <a:p>
            <a:pPr algn="ctr"/>
            <a:r>
              <a:rPr lang="en-GB" dirty="0"/>
              <a:t>Similar to a procedure but returns</a:t>
            </a:r>
          </a:p>
          <a:p>
            <a:pPr algn="ctr"/>
            <a:r>
              <a:rPr lang="en-GB" dirty="0"/>
              <a:t>a single value. The name of the function is usually used as a variable having that value. Every time the name is used in the program, the function will be executed, and the result will</a:t>
            </a:r>
          </a:p>
          <a:p>
            <a:pPr algn="ctr"/>
            <a:r>
              <a:rPr lang="en-GB" dirty="0"/>
              <a:t>appear like any other variable.</a:t>
            </a:r>
          </a:p>
        </p:txBody>
      </p:sp>
    </p:spTree>
    <p:extLst>
      <p:ext uri="{BB962C8B-B14F-4D97-AF65-F5344CB8AC3E}">
        <p14:creationId xmlns:p14="http://schemas.microsoft.com/office/powerpoint/2010/main" val="181664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fade">
                                      <p:cBhvr>
                                        <p:cTn id="22" dur="1000"/>
                                        <p:tgtEl>
                                          <p:spTgt spid="5"/>
                                        </p:tgtEl>
                                      </p:cBhvr>
                                    </p:animEffect>
                                    <p:anim calcmode="lin" valueType="num">
                                      <p:cBhvr>
                                        <p:cTn id="23" dur="1000" fill="hold"/>
                                        <p:tgtEl>
                                          <p:spTgt spid="5"/>
                                        </p:tgtEl>
                                        <p:attrNameLst>
                                          <p:attrName>ppt_x</p:attrName>
                                        </p:attrNameLst>
                                      </p:cBhvr>
                                      <p:tavLst>
                                        <p:tav tm="0">
                                          <p:val>
                                            <p:strVal val="#ppt_x"/>
                                          </p:val>
                                        </p:tav>
                                        <p:tav tm="100000">
                                          <p:val>
                                            <p:strVal val="#ppt_x"/>
                                          </p:val>
                                        </p:tav>
                                      </p:tavLst>
                                    </p:anim>
                                    <p:anim calcmode="lin" valueType="num">
                                      <p:cBhvr>
                                        <p:cTn id="24"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1000"/>
                                        <p:tgtEl>
                                          <p:spTgt spid="6"/>
                                        </p:tgtEl>
                                      </p:cBhvr>
                                    </p:animEffect>
                                    <p:anim calcmode="lin" valueType="num">
                                      <p:cBhvr>
                                        <p:cTn id="30" dur="1000" fill="hold"/>
                                        <p:tgtEl>
                                          <p:spTgt spid="6"/>
                                        </p:tgtEl>
                                        <p:attrNameLst>
                                          <p:attrName>ppt_x</p:attrName>
                                        </p:attrNameLst>
                                      </p:cBhvr>
                                      <p:tavLst>
                                        <p:tav tm="0">
                                          <p:val>
                                            <p:strVal val="#ppt_x"/>
                                          </p:val>
                                        </p:tav>
                                        <p:tav tm="100000">
                                          <p:val>
                                            <p:strVal val="#ppt_x"/>
                                          </p:val>
                                        </p:tav>
                                      </p:tavLst>
                                    </p:anim>
                                    <p:anim calcmode="lin" valueType="num">
                                      <p:cBhvr>
                                        <p:cTn id="3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P spid="6" grpId="0" animBg="1"/>
      <p:bldP spid="7" grpId="0" animBg="1"/>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098C1B-61C3-3C9A-6A3B-39EBCBC6254F}"/>
              </a:ext>
            </a:extLst>
          </p:cNvPr>
          <p:cNvSpPr>
            <a:spLocks noGrp="1"/>
          </p:cNvSpPr>
          <p:nvPr>
            <p:ph type="title"/>
          </p:nvPr>
        </p:nvSpPr>
        <p:spPr/>
        <p:txBody>
          <a:bodyPr/>
          <a:lstStyle/>
          <a:p>
            <a:r>
              <a:rPr lang="en-GB" dirty="0"/>
              <a:t>User Defined Functions</a:t>
            </a:r>
          </a:p>
        </p:txBody>
      </p:sp>
      <p:sp>
        <p:nvSpPr>
          <p:cNvPr id="3" name="Content Placeholder 2">
            <a:extLst>
              <a:ext uri="{FF2B5EF4-FFF2-40B4-BE49-F238E27FC236}">
                <a16:creationId xmlns:a16="http://schemas.microsoft.com/office/drawing/2014/main" xmlns="" id="{3F6081E3-131F-9030-3640-7CE8077250B4}"/>
              </a:ext>
            </a:extLst>
          </p:cNvPr>
          <p:cNvSpPr>
            <a:spLocks noGrp="1"/>
          </p:cNvSpPr>
          <p:nvPr>
            <p:ph idx="1"/>
          </p:nvPr>
        </p:nvSpPr>
        <p:spPr>
          <a:xfrm>
            <a:off x="1066800" y="1825625"/>
            <a:ext cx="10287000" cy="4351338"/>
          </a:xfrm>
        </p:spPr>
        <p:txBody>
          <a:bodyPr>
            <a:normAutofit lnSpcReduction="10000"/>
          </a:bodyPr>
          <a:lstStyle/>
          <a:p>
            <a:pPr marL="0" indent="0">
              <a:buNone/>
            </a:pPr>
            <a:r>
              <a:rPr lang="en-GB" dirty="0"/>
              <a:t>A </a:t>
            </a:r>
            <a:r>
              <a:rPr lang="en-GB" dirty="0">
                <a:solidFill>
                  <a:srgbClr val="00B050"/>
                </a:solidFill>
              </a:rPr>
              <a:t>named</a:t>
            </a:r>
            <a:r>
              <a:rPr lang="en-GB" dirty="0"/>
              <a:t> </a:t>
            </a:r>
            <a:r>
              <a:rPr lang="en-GB" dirty="0">
                <a:solidFill>
                  <a:srgbClr val="00B050"/>
                </a:solidFill>
              </a:rPr>
              <a:t>module</a:t>
            </a:r>
            <a:r>
              <a:rPr lang="en-GB" dirty="0"/>
              <a:t> or section of </a:t>
            </a:r>
            <a:r>
              <a:rPr lang="en-GB" dirty="0">
                <a:solidFill>
                  <a:srgbClr val="00B050"/>
                </a:solidFill>
              </a:rPr>
              <a:t>code written by the user</a:t>
            </a:r>
            <a:r>
              <a:rPr lang="en-GB" dirty="0"/>
              <a:t>. It may have parameters and will </a:t>
            </a:r>
            <a:r>
              <a:rPr lang="en-GB" dirty="0">
                <a:solidFill>
                  <a:srgbClr val="00B050"/>
                </a:solidFill>
              </a:rPr>
              <a:t>return a value</a:t>
            </a:r>
            <a:r>
              <a:rPr lang="en-GB" dirty="0"/>
              <a:t>.</a:t>
            </a:r>
          </a:p>
          <a:p>
            <a:endParaRPr lang="en-GB" dirty="0"/>
          </a:p>
          <a:p>
            <a:pPr>
              <a:buFont typeface="Wingdings" panose="05000000000000000000" pitchFamily="2" charset="2"/>
              <a:buChar char="ü"/>
            </a:pPr>
            <a:r>
              <a:rPr lang="en-GB" dirty="0"/>
              <a:t>Code can be reused, improving software efficiency as this </a:t>
            </a:r>
            <a:r>
              <a:rPr lang="en-GB"/>
              <a:t>improves maintenance.</a:t>
            </a:r>
            <a:endParaRPr lang="en-GB" dirty="0"/>
          </a:p>
          <a:p>
            <a:pPr>
              <a:buFont typeface="Wingdings" panose="05000000000000000000" pitchFamily="2" charset="2"/>
              <a:buChar char="ü"/>
            </a:pPr>
            <a:r>
              <a:rPr lang="en-GB" dirty="0"/>
              <a:t>Shortens development time, developing code readability as code is only entered once.</a:t>
            </a:r>
          </a:p>
          <a:p>
            <a:pPr>
              <a:buFont typeface="Wingdings" panose="05000000000000000000" pitchFamily="2" charset="2"/>
              <a:buChar char="ü"/>
            </a:pPr>
            <a:r>
              <a:rPr lang="en-GB" dirty="0"/>
              <a:t>Code can be tested and debugged in sections</a:t>
            </a:r>
          </a:p>
          <a:p>
            <a:pPr>
              <a:buFont typeface="Wingdings" panose="05000000000000000000" pitchFamily="2" charset="2"/>
              <a:buChar char="ü"/>
            </a:pPr>
            <a:r>
              <a:rPr lang="en-GB" dirty="0"/>
              <a:t>Errors can be identified quickly/easily, making for a more robust software.</a:t>
            </a:r>
          </a:p>
        </p:txBody>
      </p:sp>
      <p:pic>
        <p:nvPicPr>
          <p:cNvPr id="4" name="Graphic 3" descr="Storytelling with solid fill">
            <a:extLst>
              <a:ext uri="{FF2B5EF4-FFF2-40B4-BE49-F238E27FC236}">
                <a16:creationId xmlns:a16="http://schemas.microsoft.com/office/drawing/2014/main" xmlns="" id="{0AD1DA9D-6A88-FACE-88C4-5368E55AA3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xmlns="" r:embed="rId3"/>
              </a:ext>
            </a:extLst>
          </a:blip>
          <a:stretch>
            <a:fillRect/>
          </a:stretch>
        </p:blipFill>
        <p:spPr>
          <a:xfrm>
            <a:off x="152400" y="1825625"/>
            <a:ext cx="914400" cy="914400"/>
          </a:xfrm>
          <a:prstGeom prst="rect">
            <a:avLst/>
          </a:prstGeom>
        </p:spPr>
      </p:pic>
    </p:spTree>
    <p:extLst>
      <p:ext uri="{BB962C8B-B14F-4D97-AF65-F5344CB8AC3E}">
        <p14:creationId xmlns:p14="http://schemas.microsoft.com/office/powerpoint/2010/main" val="357394562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A06FFF4-167B-6BE5-DAEC-2BD492248A20}"/>
              </a:ext>
            </a:extLst>
          </p:cNvPr>
          <p:cNvSpPr>
            <a:spLocks noGrp="1"/>
          </p:cNvSpPr>
          <p:nvPr>
            <p:ph type="title"/>
          </p:nvPr>
        </p:nvSpPr>
        <p:spPr/>
        <p:txBody>
          <a:bodyPr/>
          <a:lstStyle/>
          <a:p>
            <a:r>
              <a:rPr lang="en-GB" dirty="0"/>
              <a:t>Basic File Handling</a:t>
            </a:r>
          </a:p>
        </p:txBody>
      </p:sp>
      <p:sp>
        <p:nvSpPr>
          <p:cNvPr id="3" name="Content Placeholder 2">
            <a:extLst>
              <a:ext uri="{FF2B5EF4-FFF2-40B4-BE49-F238E27FC236}">
                <a16:creationId xmlns:a16="http://schemas.microsoft.com/office/drawing/2014/main" xmlns="" id="{A26F35AC-A520-971D-4C71-051364CDD1F4}"/>
              </a:ext>
            </a:extLst>
          </p:cNvPr>
          <p:cNvSpPr>
            <a:spLocks noGrp="1"/>
          </p:cNvSpPr>
          <p:nvPr>
            <p:ph idx="1"/>
          </p:nvPr>
        </p:nvSpPr>
        <p:spPr>
          <a:xfrm>
            <a:off x="838200" y="1825625"/>
            <a:ext cx="10515600" cy="1926243"/>
          </a:xfrm>
        </p:spPr>
        <p:txBody>
          <a:bodyPr/>
          <a:lstStyle/>
          <a:p>
            <a:r>
              <a:rPr lang="en-GB" dirty="0"/>
              <a:t>Files provide a means of permanently storing data.</a:t>
            </a:r>
          </a:p>
          <a:p>
            <a:r>
              <a:rPr lang="en-GB" dirty="0"/>
              <a:t>Files allow data to be stored permanently after the program closes.</a:t>
            </a:r>
          </a:p>
          <a:p>
            <a:r>
              <a:rPr lang="en-GB" dirty="0"/>
              <a:t>In C# we have the ability to:</a:t>
            </a:r>
          </a:p>
        </p:txBody>
      </p:sp>
      <p:grpSp>
        <p:nvGrpSpPr>
          <p:cNvPr id="17" name="Group 16">
            <a:extLst>
              <a:ext uri="{FF2B5EF4-FFF2-40B4-BE49-F238E27FC236}">
                <a16:creationId xmlns:a16="http://schemas.microsoft.com/office/drawing/2014/main" xmlns="" id="{723A82B8-F284-0B5E-B99E-7D8A1106EFEA}"/>
              </a:ext>
            </a:extLst>
          </p:cNvPr>
          <p:cNvGrpSpPr/>
          <p:nvPr/>
        </p:nvGrpSpPr>
        <p:grpSpPr>
          <a:xfrm>
            <a:off x="160255" y="3817856"/>
            <a:ext cx="5571241" cy="1244338"/>
            <a:chOff x="395925" y="3949831"/>
            <a:chExt cx="5571241" cy="1244338"/>
          </a:xfrm>
        </p:grpSpPr>
        <p:sp>
          <p:nvSpPr>
            <p:cNvPr id="16" name="Rectangle 15">
              <a:extLst>
                <a:ext uri="{FF2B5EF4-FFF2-40B4-BE49-F238E27FC236}">
                  <a16:creationId xmlns:a16="http://schemas.microsoft.com/office/drawing/2014/main" xmlns="" id="{A18BC12B-71FF-A0CB-4B13-0C44EF158269}"/>
                </a:ext>
              </a:extLst>
            </p:cNvPr>
            <p:cNvSpPr/>
            <p:nvPr/>
          </p:nvSpPr>
          <p:spPr>
            <a:xfrm>
              <a:off x="678730" y="3949831"/>
              <a:ext cx="433633" cy="1244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6" name="Group 5">
              <a:extLst>
                <a:ext uri="{FF2B5EF4-FFF2-40B4-BE49-F238E27FC236}">
                  <a16:creationId xmlns:a16="http://schemas.microsoft.com/office/drawing/2014/main" xmlns="" id="{20C5457F-DF76-D70C-D5FB-C122F28253DA}"/>
                </a:ext>
              </a:extLst>
            </p:cNvPr>
            <p:cNvGrpSpPr/>
            <p:nvPr/>
          </p:nvGrpSpPr>
          <p:grpSpPr>
            <a:xfrm>
              <a:off x="395925" y="3949831"/>
              <a:ext cx="5571241" cy="1244338"/>
              <a:chOff x="395926" y="3949831"/>
              <a:chExt cx="4440024" cy="886120"/>
            </a:xfrm>
          </p:grpSpPr>
          <p:sp>
            <p:nvSpPr>
              <p:cNvPr id="5" name="Arrow: Pentagon 4">
                <a:extLst>
                  <a:ext uri="{FF2B5EF4-FFF2-40B4-BE49-F238E27FC236}">
                    <a16:creationId xmlns:a16="http://schemas.microsoft.com/office/drawing/2014/main" xmlns="" id="{CDEC8BC6-8AB5-51DD-46DA-CA95D5642553}"/>
                  </a:ext>
                </a:extLst>
              </p:cNvPr>
              <p:cNvSpPr/>
              <p:nvPr/>
            </p:nvSpPr>
            <p:spPr>
              <a:xfrm>
                <a:off x="869228" y="3949831"/>
                <a:ext cx="3966722" cy="886120"/>
              </a:xfrm>
              <a:prstGeom prst="homePlat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File.ReadAllText</a:t>
                </a:r>
                <a:r>
                  <a:rPr lang="en-GB" b="1" dirty="0">
                    <a:solidFill>
                      <a:schemeClr val="tx1"/>
                    </a:solidFill>
                  </a:rPr>
                  <a:t>()</a:t>
                </a:r>
              </a:p>
              <a:p>
                <a:pPr algn="ctr"/>
                <a:r>
                  <a:rPr lang="en-GB" dirty="0">
                    <a:solidFill>
                      <a:schemeClr val="tx1"/>
                    </a:solidFill>
                  </a:rPr>
                  <a:t>Reads an entire file into a single string variable. It opens, reads, and automatically closes the file.</a:t>
                </a:r>
              </a:p>
            </p:txBody>
          </p:sp>
          <p:sp>
            <p:nvSpPr>
              <p:cNvPr id="4" name="Arrow: Pentagon 3">
                <a:extLst>
                  <a:ext uri="{FF2B5EF4-FFF2-40B4-BE49-F238E27FC236}">
                    <a16:creationId xmlns:a16="http://schemas.microsoft.com/office/drawing/2014/main" xmlns="" id="{17742C27-F67C-3826-D8A5-F3A39F105AFB}"/>
                  </a:ext>
                </a:extLst>
              </p:cNvPr>
              <p:cNvSpPr/>
              <p:nvPr/>
            </p:nvSpPr>
            <p:spPr>
              <a:xfrm>
                <a:off x="395926" y="3949831"/>
                <a:ext cx="612742" cy="886120"/>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18" name="Group 17">
            <a:extLst>
              <a:ext uri="{FF2B5EF4-FFF2-40B4-BE49-F238E27FC236}">
                <a16:creationId xmlns:a16="http://schemas.microsoft.com/office/drawing/2014/main" xmlns="" id="{37D39D6F-0DEB-05FA-1EFB-86581491CC7E}"/>
              </a:ext>
            </a:extLst>
          </p:cNvPr>
          <p:cNvGrpSpPr/>
          <p:nvPr/>
        </p:nvGrpSpPr>
        <p:grpSpPr>
          <a:xfrm>
            <a:off x="160255" y="5248537"/>
            <a:ext cx="5571241" cy="1244338"/>
            <a:chOff x="395925" y="3949831"/>
            <a:chExt cx="5571241" cy="1244338"/>
          </a:xfrm>
        </p:grpSpPr>
        <p:sp>
          <p:nvSpPr>
            <p:cNvPr id="19" name="Rectangle 18">
              <a:extLst>
                <a:ext uri="{FF2B5EF4-FFF2-40B4-BE49-F238E27FC236}">
                  <a16:creationId xmlns:a16="http://schemas.microsoft.com/office/drawing/2014/main" xmlns="" id="{92EDB044-0140-5BE9-AD81-617E5FC34BD1}"/>
                </a:ext>
              </a:extLst>
            </p:cNvPr>
            <p:cNvSpPr/>
            <p:nvPr/>
          </p:nvSpPr>
          <p:spPr>
            <a:xfrm>
              <a:off x="678730" y="3949831"/>
              <a:ext cx="433633" cy="1244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0" name="Group 19">
              <a:extLst>
                <a:ext uri="{FF2B5EF4-FFF2-40B4-BE49-F238E27FC236}">
                  <a16:creationId xmlns:a16="http://schemas.microsoft.com/office/drawing/2014/main" xmlns="" id="{96ECD8BA-66A6-A14A-16CB-7DA8D170F142}"/>
                </a:ext>
              </a:extLst>
            </p:cNvPr>
            <p:cNvGrpSpPr/>
            <p:nvPr/>
          </p:nvGrpSpPr>
          <p:grpSpPr>
            <a:xfrm>
              <a:off x="395925" y="3949831"/>
              <a:ext cx="5571241" cy="1244338"/>
              <a:chOff x="395926" y="3949831"/>
              <a:chExt cx="4440024" cy="886120"/>
            </a:xfrm>
          </p:grpSpPr>
          <p:sp>
            <p:nvSpPr>
              <p:cNvPr id="21" name="Arrow: Pentagon 20">
                <a:extLst>
                  <a:ext uri="{FF2B5EF4-FFF2-40B4-BE49-F238E27FC236}">
                    <a16:creationId xmlns:a16="http://schemas.microsoft.com/office/drawing/2014/main" xmlns="" id="{49930F52-C0DB-B38D-BBED-13D6D0B2C95A}"/>
                  </a:ext>
                </a:extLst>
              </p:cNvPr>
              <p:cNvSpPr/>
              <p:nvPr/>
            </p:nvSpPr>
            <p:spPr>
              <a:xfrm>
                <a:off x="869228" y="3949831"/>
                <a:ext cx="3966722" cy="886120"/>
              </a:xfrm>
              <a:prstGeom prst="homePlat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File.WriteAllText</a:t>
                </a:r>
                <a:r>
                  <a:rPr lang="en-GB" b="1" dirty="0">
                    <a:solidFill>
                      <a:schemeClr val="tx1"/>
                    </a:solidFill>
                  </a:rPr>
                  <a:t>()</a:t>
                </a:r>
              </a:p>
              <a:p>
                <a:pPr algn="ctr"/>
                <a:r>
                  <a:rPr lang="en-GB" dirty="0">
                    <a:solidFill>
                      <a:schemeClr val="tx1"/>
                    </a:solidFill>
                  </a:rPr>
                  <a:t>Creates a new file and writes text to it. If the target file already exists, it completely overwrites its contents before closing.</a:t>
                </a:r>
              </a:p>
            </p:txBody>
          </p:sp>
          <p:sp>
            <p:nvSpPr>
              <p:cNvPr id="22" name="Arrow: Pentagon 21">
                <a:extLst>
                  <a:ext uri="{FF2B5EF4-FFF2-40B4-BE49-F238E27FC236}">
                    <a16:creationId xmlns:a16="http://schemas.microsoft.com/office/drawing/2014/main" xmlns="" id="{4AFB4A99-0C1C-F766-DEEB-488D2BC8A8D3}"/>
                  </a:ext>
                </a:extLst>
              </p:cNvPr>
              <p:cNvSpPr/>
              <p:nvPr/>
            </p:nvSpPr>
            <p:spPr>
              <a:xfrm>
                <a:off x="395926" y="3949831"/>
                <a:ext cx="612742" cy="886120"/>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3" name="Group 22">
            <a:extLst>
              <a:ext uri="{FF2B5EF4-FFF2-40B4-BE49-F238E27FC236}">
                <a16:creationId xmlns:a16="http://schemas.microsoft.com/office/drawing/2014/main" xmlns="" id="{52AF1C32-6803-995B-BFC5-05075BA45841}"/>
              </a:ext>
            </a:extLst>
          </p:cNvPr>
          <p:cNvGrpSpPr/>
          <p:nvPr/>
        </p:nvGrpSpPr>
        <p:grpSpPr>
          <a:xfrm>
            <a:off x="6096000" y="3817856"/>
            <a:ext cx="5571241" cy="1244338"/>
            <a:chOff x="395925" y="3949831"/>
            <a:chExt cx="5571241" cy="1244338"/>
          </a:xfrm>
        </p:grpSpPr>
        <p:sp>
          <p:nvSpPr>
            <p:cNvPr id="24" name="Rectangle 23">
              <a:extLst>
                <a:ext uri="{FF2B5EF4-FFF2-40B4-BE49-F238E27FC236}">
                  <a16:creationId xmlns:a16="http://schemas.microsoft.com/office/drawing/2014/main" xmlns="" id="{A67FA4B6-991B-E030-AE26-C96429EEFF99}"/>
                </a:ext>
              </a:extLst>
            </p:cNvPr>
            <p:cNvSpPr/>
            <p:nvPr/>
          </p:nvSpPr>
          <p:spPr>
            <a:xfrm>
              <a:off x="678730" y="3949831"/>
              <a:ext cx="433633" cy="1244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25" name="Group 24">
              <a:extLst>
                <a:ext uri="{FF2B5EF4-FFF2-40B4-BE49-F238E27FC236}">
                  <a16:creationId xmlns:a16="http://schemas.microsoft.com/office/drawing/2014/main" xmlns="" id="{E22846F3-4346-B20C-C3BB-DCC45B3EC70C}"/>
                </a:ext>
              </a:extLst>
            </p:cNvPr>
            <p:cNvGrpSpPr/>
            <p:nvPr/>
          </p:nvGrpSpPr>
          <p:grpSpPr>
            <a:xfrm>
              <a:off x="395925" y="3949831"/>
              <a:ext cx="5571241" cy="1244338"/>
              <a:chOff x="395926" y="3949831"/>
              <a:chExt cx="4440024" cy="886120"/>
            </a:xfrm>
          </p:grpSpPr>
          <p:sp>
            <p:nvSpPr>
              <p:cNvPr id="26" name="Arrow: Pentagon 25">
                <a:extLst>
                  <a:ext uri="{FF2B5EF4-FFF2-40B4-BE49-F238E27FC236}">
                    <a16:creationId xmlns:a16="http://schemas.microsoft.com/office/drawing/2014/main" xmlns="" id="{A169B918-498E-E386-9991-F15DDFCA297E}"/>
                  </a:ext>
                </a:extLst>
              </p:cNvPr>
              <p:cNvSpPr/>
              <p:nvPr/>
            </p:nvSpPr>
            <p:spPr>
              <a:xfrm>
                <a:off x="869228" y="3949831"/>
                <a:ext cx="3966722" cy="886120"/>
              </a:xfrm>
              <a:prstGeom prst="homePlat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File.AppendAllText</a:t>
                </a:r>
                <a:r>
                  <a:rPr lang="en-GB" b="1" dirty="0">
                    <a:solidFill>
                      <a:schemeClr val="tx1"/>
                    </a:solidFill>
                  </a:rPr>
                  <a:t>()</a:t>
                </a:r>
              </a:p>
              <a:p>
                <a:pPr algn="ctr"/>
                <a:r>
                  <a:rPr lang="en-GB" dirty="0">
                    <a:solidFill>
                      <a:schemeClr val="tx1"/>
                    </a:solidFill>
                  </a:rPr>
                  <a:t>Appends text to the end of a file. If the file does not exist, it creates a new one first.</a:t>
                </a:r>
              </a:p>
            </p:txBody>
          </p:sp>
          <p:sp>
            <p:nvSpPr>
              <p:cNvPr id="27" name="Arrow: Pentagon 26">
                <a:extLst>
                  <a:ext uri="{FF2B5EF4-FFF2-40B4-BE49-F238E27FC236}">
                    <a16:creationId xmlns:a16="http://schemas.microsoft.com/office/drawing/2014/main" xmlns="" id="{3B3EBF90-5B98-BD17-E78C-C1766D6B3261}"/>
                  </a:ext>
                </a:extLst>
              </p:cNvPr>
              <p:cNvSpPr/>
              <p:nvPr/>
            </p:nvSpPr>
            <p:spPr>
              <a:xfrm>
                <a:off x="395926" y="3949831"/>
                <a:ext cx="612742" cy="886120"/>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grpSp>
        <p:nvGrpSpPr>
          <p:cNvPr id="28" name="Group 27">
            <a:extLst>
              <a:ext uri="{FF2B5EF4-FFF2-40B4-BE49-F238E27FC236}">
                <a16:creationId xmlns:a16="http://schemas.microsoft.com/office/drawing/2014/main" xmlns="" id="{5BBF4139-B73A-9EEC-1D43-2A69E77C902E}"/>
              </a:ext>
            </a:extLst>
          </p:cNvPr>
          <p:cNvGrpSpPr/>
          <p:nvPr/>
        </p:nvGrpSpPr>
        <p:grpSpPr>
          <a:xfrm>
            <a:off x="6096000" y="5256867"/>
            <a:ext cx="5571241" cy="1244338"/>
            <a:chOff x="395925" y="3949831"/>
            <a:chExt cx="5571241" cy="1244338"/>
          </a:xfrm>
        </p:grpSpPr>
        <p:sp>
          <p:nvSpPr>
            <p:cNvPr id="29" name="Rectangle 28">
              <a:extLst>
                <a:ext uri="{FF2B5EF4-FFF2-40B4-BE49-F238E27FC236}">
                  <a16:creationId xmlns:a16="http://schemas.microsoft.com/office/drawing/2014/main" xmlns="" id="{E852F319-8B3E-3FF6-2356-CCC20CA593BD}"/>
                </a:ext>
              </a:extLst>
            </p:cNvPr>
            <p:cNvSpPr/>
            <p:nvPr/>
          </p:nvSpPr>
          <p:spPr>
            <a:xfrm>
              <a:off x="678730" y="3949831"/>
              <a:ext cx="433633" cy="12443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30" name="Group 29">
              <a:extLst>
                <a:ext uri="{FF2B5EF4-FFF2-40B4-BE49-F238E27FC236}">
                  <a16:creationId xmlns:a16="http://schemas.microsoft.com/office/drawing/2014/main" xmlns="" id="{205880F3-F027-53B1-6865-A9247DC3E545}"/>
                </a:ext>
              </a:extLst>
            </p:cNvPr>
            <p:cNvGrpSpPr/>
            <p:nvPr/>
          </p:nvGrpSpPr>
          <p:grpSpPr>
            <a:xfrm>
              <a:off x="395925" y="3949831"/>
              <a:ext cx="5571241" cy="1244338"/>
              <a:chOff x="395926" y="3949831"/>
              <a:chExt cx="4440024" cy="886120"/>
            </a:xfrm>
          </p:grpSpPr>
          <p:sp>
            <p:nvSpPr>
              <p:cNvPr id="31" name="Arrow: Pentagon 30">
                <a:extLst>
                  <a:ext uri="{FF2B5EF4-FFF2-40B4-BE49-F238E27FC236}">
                    <a16:creationId xmlns:a16="http://schemas.microsoft.com/office/drawing/2014/main" xmlns="" id="{09CD6C24-D3B7-FB55-7BB7-6521042626B5}"/>
                  </a:ext>
                </a:extLst>
              </p:cNvPr>
              <p:cNvSpPr/>
              <p:nvPr/>
            </p:nvSpPr>
            <p:spPr>
              <a:xfrm>
                <a:off x="869228" y="3949831"/>
                <a:ext cx="3966722" cy="886120"/>
              </a:xfrm>
              <a:prstGeom prst="homePlat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err="1">
                    <a:solidFill>
                      <a:schemeClr val="tx1"/>
                    </a:solidFill>
                  </a:rPr>
                  <a:t>File.Delete</a:t>
                </a:r>
                <a:r>
                  <a:rPr lang="en-GB" b="1" dirty="0">
                    <a:solidFill>
                      <a:schemeClr val="tx1"/>
                    </a:solidFill>
                  </a:rPr>
                  <a:t>()</a:t>
                </a:r>
              </a:p>
              <a:p>
                <a:pPr algn="ctr"/>
                <a:r>
                  <a:rPr lang="en-GB" dirty="0">
                    <a:solidFill>
                      <a:schemeClr val="tx1"/>
                    </a:solidFill>
                  </a:rPr>
                  <a:t>Permanently removes the target file. If the specified file does not exist, it executes without throwing an exception.</a:t>
                </a:r>
              </a:p>
            </p:txBody>
          </p:sp>
          <p:sp>
            <p:nvSpPr>
              <p:cNvPr id="32" name="Arrow: Pentagon 31">
                <a:extLst>
                  <a:ext uri="{FF2B5EF4-FFF2-40B4-BE49-F238E27FC236}">
                    <a16:creationId xmlns:a16="http://schemas.microsoft.com/office/drawing/2014/main" xmlns="" id="{C258628F-879C-2C48-D002-C5D527D5FFA9}"/>
                  </a:ext>
                </a:extLst>
              </p:cNvPr>
              <p:cNvSpPr/>
              <p:nvPr/>
            </p:nvSpPr>
            <p:spPr>
              <a:xfrm>
                <a:off x="395926" y="3949831"/>
                <a:ext cx="612742" cy="886120"/>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grpSp>
    </p:spTree>
    <p:extLst>
      <p:ext uri="{BB962C8B-B14F-4D97-AF65-F5344CB8AC3E}">
        <p14:creationId xmlns:p14="http://schemas.microsoft.com/office/powerpoint/2010/main" val="18908508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1016</TotalTime>
  <Words>12845</Words>
  <Application>Microsoft Office PowerPoint</Application>
  <PresentationFormat>Widescreen</PresentationFormat>
  <Paragraphs>1986</Paragraphs>
  <Slides>172</Slides>
  <Notes>12</Notes>
  <HiddenSlides>0</HiddenSlides>
  <MMClips>5</MMClips>
  <ScaleCrop>false</ScaleCrop>
  <HeadingPairs>
    <vt:vector size="6" baseType="variant">
      <vt:variant>
        <vt:lpstr>Fonts Used</vt:lpstr>
      </vt:variant>
      <vt:variant>
        <vt:i4>19</vt:i4>
      </vt:variant>
      <vt:variant>
        <vt:lpstr>Theme</vt:lpstr>
      </vt:variant>
      <vt:variant>
        <vt:i4>3</vt:i4>
      </vt:variant>
      <vt:variant>
        <vt:lpstr>Slide Titles</vt:lpstr>
      </vt:variant>
      <vt:variant>
        <vt:i4>172</vt:i4>
      </vt:variant>
    </vt:vector>
  </HeadingPairs>
  <TitlesOfParts>
    <vt:vector size="194" baseType="lpstr">
      <vt:lpstr>Abadi</vt:lpstr>
      <vt:lpstr>Agency FB</vt:lpstr>
      <vt:lpstr>Aptos</vt:lpstr>
      <vt:lpstr>Arial</vt:lpstr>
      <vt:lpstr>Arial-BoldMT</vt:lpstr>
      <vt:lpstr>ArialMT</vt:lpstr>
      <vt:lpstr>Bell MT</vt:lpstr>
      <vt:lpstr>Calibri</vt:lpstr>
      <vt:lpstr>Calibri Light</vt:lpstr>
      <vt:lpstr>Century Gothic</vt:lpstr>
      <vt:lpstr>Comic Sans MS</vt:lpstr>
      <vt:lpstr>Cordia New</vt:lpstr>
      <vt:lpstr>Courier New</vt:lpstr>
      <vt:lpstr>Forte</vt:lpstr>
      <vt:lpstr>Ink Free</vt:lpstr>
      <vt:lpstr>LEMON MILK</vt:lpstr>
      <vt:lpstr>Symbol</vt:lpstr>
      <vt:lpstr>Times New Roman</vt:lpstr>
      <vt:lpstr>Wingdings</vt:lpstr>
      <vt:lpstr>Office Theme</vt:lpstr>
      <vt:lpstr>1_Office Theme</vt:lpstr>
      <vt:lpstr>2_Office Theme</vt:lpstr>
      <vt:lpstr>PROGRAMMING</vt:lpstr>
      <vt:lpstr>PowerPoint Presentation</vt:lpstr>
      <vt:lpstr>What is a Computer Program?</vt:lpstr>
      <vt:lpstr>Data</vt:lpstr>
      <vt:lpstr>Variables and Constants</vt:lpstr>
      <vt:lpstr>Why use constants?</vt:lpstr>
      <vt:lpstr>Why use variables?</vt:lpstr>
      <vt:lpstr>Data Types</vt:lpstr>
      <vt:lpstr>Variable Names</vt:lpstr>
      <vt:lpstr>camelCase</vt:lpstr>
      <vt:lpstr>Hello, World!</vt:lpstr>
      <vt:lpstr>Developing Programs</vt:lpstr>
      <vt:lpstr>Programming Paradigms</vt:lpstr>
      <vt:lpstr>Procedural Programming</vt:lpstr>
      <vt:lpstr>So, What is this program doing?</vt:lpstr>
      <vt:lpstr>User Defined Functions</vt:lpstr>
      <vt:lpstr>Object Oriented Programming </vt:lpstr>
      <vt:lpstr>Object Oriented Programming </vt:lpstr>
      <vt:lpstr>Features of OOP: Inheritance</vt:lpstr>
      <vt:lpstr>Encapsulation</vt:lpstr>
      <vt:lpstr>Benefits of OOP</vt:lpstr>
      <vt:lpstr>Example of OOP</vt:lpstr>
      <vt:lpstr>Example of OOP</vt:lpstr>
      <vt:lpstr>Example of OOP</vt:lpstr>
      <vt:lpstr>Software Development Environments</vt:lpstr>
      <vt:lpstr>Features of an IDE</vt:lpstr>
      <vt:lpstr>PowerPoint Presentation</vt:lpstr>
      <vt:lpstr>Compiling Code</vt:lpstr>
      <vt:lpstr>Unit 4 | Chapter 22 – Digital Data</vt:lpstr>
      <vt:lpstr>Learning Intentions</vt:lpstr>
      <vt:lpstr>Let’s start with a bunch of key terms.</vt:lpstr>
      <vt:lpstr>Converting Numbers into Binary Patterns</vt:lpstr>
      <vt:lpstr>So how does this help with binary?</vt:lpstr>
      <vt:lpstr>This still doesn’t answer the question of how we read a binary value?</vt:lpstr>
      <vt:lpstr>I can have 8</vt:lpstr>
      <vt:lpstr>So, let’s get back to our base 2 stuff:</vt:lpstr>
      <vt:lpstr>We can make any integer using this system</vt:lpstr>
      <vt:lpstr>PowerPoint Presentation</vt:lpstr>
      <vt:lpstr>Can we convert a denary number to binary? </vt:lpstr>
      <vt:lpstr>PowerPoint Presentation</vt:lpstr>
      <vt:lpstr>Binary Coded Decimal</vt:lpstr>
      <vt:lpstr>Character Sets</vt:lpstr>
      <vt:lpstr>Representing Characters</vt:lpstr>
      <vt:lpstr>Representing Characters</vt:lpstr>
      <vt:lpstr>Hexadecimal Number System</vt:lpstr>
      <vt:lpstr>Converting a 16-bit Binary pattern to Hex</vt:lpstr>
      <vt:lpstr>Sign, magnitude and Complementation</vt:lpstr>
      <vt:lpstr>Complementation</vt:lpstr>
      <vt:lpstr>One’s Complement</vt:lpstr>
      <vt:lpstr>Two’s Complement</vt:lpstr>
      <vt:lpstr>PowerPoint Presentation</vt:lpstr>
      <vt:lpstr>Overflow</vt:lpstr>
      <vt:lpstr>Overflow</vt:lpstr>
      <vt:lpstr>Truth Tables</vt:lpstr>
      <vt:lpstr>NOT Operator</vt:lpstr>
      <vt:lpstr>AND Operator</vt:lpstr>
      <vt:lpstr>OR Operator</vt:lpstr>
      <vt:lpstr>XOR Operator</vt:lpstr>
      <vt:lpstr>There are a few notable others</vt:lpstr>
      <vt:lpstr>Using Data Types</vt:lpstr>
      <vt:lpstr>PowerPoint Presentation</vt:lpstr>
      <vt:lpstr>Digital Design Principles</vt:lpstr>
      <vt:lpstr>PowerPoint Presentation</vt:lpstr>
      <vt:lpstr>The Underlying Concepts of Computational Thinking</vt:lpstr>
      <vt:lpstr>Algorithm Design: Flowcharts</vt:lpstr>
      <vt:lpstr>PowerPoint Presentation</vt:lpstr>
      <vt:lpstr>Quick Examples</vt:lpstr>
      <vt:lpstr>Activity: Create Your Own</vt:lpstr>
      <vt:lpstr>Algorithm Design: Pseudocode</vt:lpstr>
      <vt:lpstr>Quick Examples</vt:lpstr>
      <vt:lpstr>Best Practice for Writing Pseudocode</vt:lpstr>
      <vt:lpstr>Activity: Create Your Own</vt:lpstr>
      <vt:lpstr>Program Control Structures</vt:lpstr>
      <vt:lpstr>Program Control Structures</vt:lpstr>
      <vt:lpstr>Program Control Structures</vt:lpstr>
      <vt:lpstr>Unconditional loops</vt:lpstr>
      <vt:lpstr>Condition Controlled Loops</vt:lpstr>
      <vt:lpstr>PowerPoint Presentation</vt:lpstr>
      <vt:lpstr>Sorting Algorithms: Bubble sort</vt:lpstr>
      <vt:lpstr>Sorting Algorithms: insertion sort</vt:lpstr>
      <vt:lpstr>Bubble Sort Vs Insertion Sort</vt:lpstr>
      <vt:lpstr>Algorithms for Searching</vt:lpstr>
      <vt:lpstr>Searching Algorithms: Linear Search &amp;  Binary Search</vt:lpstr>
      <vt:lpstr>PowerPoint Presentation</vt:lpstr>
      <vt:lpstr>Designing Solutions: Models</vt:lpstr>
      <vt:lpstr>Identifying Data Requirements for a Solution</vt:lpstr>
      <vt:lpstr>Developing an Appropriate User Interface</vt:lpstr>
      <vt:lpstr>Using a Dry Run to Test a Solution</vt:lpstr>
      <vt:lpstr>Creating a Trace Table</vt:lpstr>
      <vt:lpstr>PowerPoint Presentation</vt:lpstr>
      <vt:lpstr>The Specification</vt:lpstr>
      <vt:lpstr>The Difference Between Variables &amp; Constants</vt:lpstr>
      <vt:lpstr>Fix the code</vt:lpstr>
      <vt:lpstr>Displaying Your Data</vt:lpstr>
      <vt:lpstr>Coding Challenge: Digital ID Card</vt:lpstr>
      <vt:lpstr>Activity: What’s wrong here then?</vt:lpstr>
      <vt:lpstr>PowerPoint Presentation</vt:lpstr>
      <vt:lpstr>Making Programs Interactive in C#</vt:lpstr>
      <vt:lpstr>Capturing Data with Console.ReadLine()</vt:lpstr>
      <vt:lpstr>Check Yourself (before you wreck yourself!)</vt:lpstr>
      <vt:lpstr>Making Choices: The IF Statement</vt:lpstr>
      <vt:lpstr>Code Structure: Input + Logic</vt:lpstr>
      <vt:lpstr>PowerPoint Presentation</vt:lpstr>
      <vt:lpstr>Operator Check</vt:lpstr>
      <vt:lpstr>The Power of Repetition</vt:lpstr>
      <vt:lpstr>The FOR Loop Structure</vt:lpstr>
      <vt:lpstr>Anatomy of a For Loop</vt:lpstr>
      <vt:lpstr>Check your Knowledge!</vt:lpstr>
      <vt:lpstr>Going around in circles? MORE LOOPS?</vt:lpstr>
      <vt:lpstr>Anatomy of a While Loop</vt:lpstr>
      <vt:lpstr>PowerPoint Presentation</vt:lpstr>
      <vt:lpstr>Choosing the Right Tool</vt:lpstr>
      <vt:lpstr>Task: Times Table Generator</vt:lpstr>
      <vt:lpstr>Explain it to a 10 Year Old</vt:lpstr>
      <vt:lpstr>Features of Programming Languages</vt:lpstr>
      <vt:lpstr>Arrays</vt:lpstr>
      <vt:lpstr>Declaring an Array</vt:lpstr>
      <vt:lpstr>Using Arrays</vt:lpstr>
      <vt:lpstr>Looping through Arrays</vt:lpstr>
      <vt:lpstr>Sorting: BUBBLE SORT</vt:lpstr>
      <vt:lpstr>Sorting: INSERTION SORT</vt:lpstr>
      <vt:lpstr>Simple Searching: Linear Search</vt:lpstr>
      <vt:lpstr>Simple Searching: Binary Search</vt:lpstr>
      <vt:lpstr>The Specification</vt:lpstr>
      <vt:lpstr>String Manipulation Functions</vt:lpstr>
      <vt:lpstr>string myText = “WELL DONE”;</vt:lpstr>
      <vt:lpstr>string myText = “WELL DONE”;</vt:lpstr>
      <vt:lpstr>string myText = “WELL DONE”;</vt:lpstr>
      <vt:lpstr>string myText = “WELL DONE”;</vt:lpstr>
      <vt:lpstr>string myText = “WELL DONE”;</vt:lpstr>
      <vt:lpstr>string myText = “WELL DONE”;</vt:lpstr>
      <vt:lpstr>string myText = “WELL DONE”;</vt:lpstr>
      <vt:lpstr>string myText = “WELL DONE”;</vt:lpstr>
      <vt:lpstr>Building Reusable Code</vt:lpstr>
      <vt:lpstr>User Defined Functions</vt:lpstr>
      <vt:lpstr>Basic File Handling</vt:lpstr>
      <vt:lpstr>Your PC hasn’t looked at Error Handling Yet, so this Lesson will Look to Teaching You How to Handle and Resolve Errors in Programming</vt:lpstr>
      <vt:lpstr>Learning Intentions</vt:lpstr>
      <vt:lpstr>PowerPoint Presentation</vt:lpstr>
      <vt:lpstr>What Does The Error Handling Topic Involve?</vt:lpstr>
      <vt:lpstr>Data Validation</vt:lpstr>
      <vt:lpstr>Why do we need validation?</vt:lpstr>
      <vt:lpstr>Data Validation Checks</vt:lpstr>
      <vt:lpstr>Write TRUE or FALSE beside each of the following statements about validation.</vt:lpstr>
      <vt:lpstr>Write TRUE or FALSE beside each of the following statements about validation.</vt:lpstr>
      <vt:lpstr>Detection And Correction Techniques</vt:lpstr>
      <vt:lpstr>PowerPoint Presentation</vt:lpstr>
      <vt:lpstr>Debugging</vt:lpstr>
      <vt:lpstr>Simple Error-trapping Techniques </vt:lpstr>
      <vt:lpstr>Exception Handling</vt:lpstr>
      <vt:lpstr>PowerPoint Presentation</vt:lpstr>
      <vt:lpstr>PowerPoint Presentation</vt:lpstr>
      <vt:lpstr>What You Need To Know</vt:lpstr>
      <vt:lpstr>PowerPoint Presentation</vt:lpstr>
      <vt:lpstr>White Box Testing</vt:lpstr>
      <vt:lpstr>White Box Testing</vt:lpstr>
      <vt:lpstr>Black Box Testing</vt:lpstr>
      <vt:lpstr>Black Box Testing</vt:lpstr>
      <vt:lpstr>Unit Testing</vt:lpstr>
      <vt:lpstr>Integration Testing</vt:lpstr>
      <vt:lpstr>System Testing</vt:lpstr>
      <vt:lpstr>Creating and Using a Test Plan</vt:lpstr>
      <vt:lpstr>Ingredients to a Test Plan</vt:lpstr>
      <vt:lpstr>The Types of Test Data To Use</vt:lpstr>
      <vt:lpstr>Evaluation Of Digitally Authored Systems</vt:lpstr>
      <vt:lpstr>What the Spec Says</vt:lpstr>
      <vt:lpstr>The Importance of Evaluating a System</vt:lpstr>
      <vt:lpstr>Functional and Non Functional Requirements</vt:lpstr>
      <vt:lpstr>Robustness</vt:lpstr>
      <vt:lpstr>An Evaluation Table</vt:lpstr>
      <vt:lpstr>Complete the paragraph below, about evaluation, using terms from the list provided. (Not all terms will be used.)</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PROGRAMMING</dc:title>
  <dc:creator>J Butler</dc:creator>
  <cp:lastModifiedBy>Microsoft account</cp:lastModifiedBy>
  <cp:revision>55</cp:revision>
  <dcterms:created xsi:type="dcterms:W3CDTF">2026-01-05T15:57:32Z</dcterms:created>
  <dcterms:modified xsi:type="dcterms:W3CDTF">2026-10-31T12:15:45Z</dcterms:modified>
</cp:coreProperties>
</file>