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76"/>
  </p:notesMasterIdLst>
  <p:sldIdLst>
    <p:sldId id="347" r:id="rId65"/>
    <p:sldId id="373" r:id="rId66"/>
    <p:sldId id="371" r:id="rId67"/>
    <p:sldId id="372" r:id="rId68"/>
    <p:sldId id="374" r:id="rId69"/>
    <p:sldId id="375" r:id="rId70"/>
    <p:sldId id="376" r:id="rId71"/>
    <p:sldId id="377" r:id="rId72"/>
    <p:sldId id="378" r:id="rId73"/>
    <p:sldId id="380" r:id="rId74"/>
    <p:sldId id="379" r:id="rId75"/>
    <p:sldId id="381" r:id="rId76"/>
    <p:sldId id="382" r:id="rId77"/>
    <p:sldId id="383" r:id="rId78"/>
    <p:sldId id="390" r:id="rId79"/>
    <p:sldId id="391" r:id="rId80"/>
    <p:sldId id="392" r:id="rId81"/>
    <p:sldId id="384" r:id="rId82"/>
    <p:sldId id="385" r:id="rId83"/>
    <p:sldId id="386" r:id="rId84"/>
    <p:sldId id="387" r:id="rId85"/>
    <p:sldId id="388" r:id="rId86"/>
    <p:sldId id="389" r:id="rId87"/>
    <p:sldId id="397" r:id="rId88"/>
    <p:sldId id="398" r:id="rId89"/>
    <p:sldId id="399" r:id="rId90"/>
    <p:sldId id="400" r:id="rId91"/>
    <p:sldId id="401"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EDE"/>
    <a:srgbClr val="003140"/>
    <a:srgbClr val="FFFFFF"/>
    <a:srgbClr val="DE6BF9"/>
    <a:srgbClr val="EDB0FC"/>
    <a:srgbClr val="1C74A6"/>
    <a:srgbClr val="00B050"/>
    <a:srgbClr val="E0E0E0"/>
    <a:srgbClr val="00B653"/>
    <a:srgbClr val="07E0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7" autoAdjust="0"/>
    <p:restoredTop sz="94660"/>
  </p:normalViewPr>
  <p:slideViewPr>
    <p:cSldViewPr snapToGrid="0">
      <p:cViewPr varScale="1">
        <p:scale>
          <a:sx n="151" d="100"/>
          <a:sy n="151" d="100"/>
        </p:scale>
        <p:origin x="59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176" Type="http://schemas.openxmlformats.org/officeDocument/2006/relationships/notesMaster" Target="notesMasters/notesMaster1.xml"/><Relationship Id="rId177" Type="http://schemas.openxmlformats.org/officeDocument/2006/relationships/presProps" Target="presProps.xml"/><Relationship Id="rId178" Type="http://schemas.openxmlformats.org/officeDocument/2006/relationships/viewProps" Target="viewProps.xml"/><Relationship Id="rId179" Type="http://schemas.openxmlformats.org/officeDocument/2006/relationships/theme" Target="theme/theme1.xml"/><Relationship Id="rId1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09DC5-68F2-4230-868B-6FA81117FBD2}" type="datetimeFigureOut">
              <a:rPr lang="en-GB" smtClean="0"/>
              <a:t>31/10/2026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05367-3E37-47F2-9543-A194C2AE934D}" type="slidenum">
              <a:rPr lang="en-GB" smtClean="0"/>
              <a:t>‹#›</a:t>
            </a:fld>
            <a:endParaRPr lang="en-GB"/>
          </a:p>
        </p:txBody>
      </p:sp>
    </p:spTree>
    <p:extLst>
      <p:ext uri="{BB962C8B-B14F-4D97-AF65-F5344CB8AC3E}">
        <p14:creationId xmlns:p14="http://schemas.microsoft.com/office/powerpoint/2010/main" val="3966993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aren’t perfect, but give you the idea.</a:t>
            </a:r>
          </a:p>
        </p:txBody>
      </p:sp>
      <p:sp>
        <p:nvSpPr>
          <p:cNvPr id="4" name="Slide Number Placeholder 3"/>
          <p:cNvSpPr>
            <a:spLocks noGrp="1"/>
          </p:cNvSpPr>
          <p:nvPr>
            <p:ph type="sldNum" sz="quarter" idx="10"/>
          </p:nvPr>
        </p:nvSpPr>
        <p:spPr/>
        <p:txBody>
          <a:bodyPr/>
          <a:lstStyle/>
          <a:p>
            <a:fld id="{92A05367-3E37-47F2-9543-A194C2AE934D}" type="slidenum">
              <a:rPr lang="en-GB" smtClean="0"/>
              <a:t>70</a:t>
            </a:fld>
            <a:endParaRPr lang="en-GB"/>
          </a:p>
        </p:txBody>
      </p:sp>
    </p:spTree>
    <p:extLst>
      <p:ext uri="{BB962C8B-B14F-4D97-AF65-F5344CB8AC3E}">
        <p14:creationId xmlns:p14="http://schemas.microsoft.com/office/powerpoint/2010/main" val="3074860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We’ll look</a:t>
            </a:r>
            <a:r>
              <a:rPr lang="en-GB" baseline="0" dirty="0"/>
              <a:t> at this more shortly.</a:t>
            </a:r>
            <a:endParaRPr lang="en-GB" dirty="0"/>
          </a:p>
        </p:txBody>
      </p:sp>
      <p:sp>
        <p:nvSpPr>
          <p:cNvPr id="4" name="Slide Number Placeholder 3"/>
          <p:cNvSpPr>
            <a:spLocks noGrp="1"/>
          </p:cNvSpPr>
          <p:nvPr>
            <p:ph type="sldNum" sz="quarter" idx="10"/>
          </p:nvPr>
        </p:nvSpPr>
        <p:spPr/>
        <p:txBody>
          <a:bodyPr/>
          <a:lstStyle/>
          <a:p>
            <a:fld id="{92A05367-3E37-47F2-9543-A194C2AE934D}" type="slidenum">
              <a:rPr lang="en-GB" smtClean="0"/>
              <a:t>71</a:t>
            </a:fld>
            <a:endParaRPr lang="en-GB"/>
          </a:p>
        </p:txBody>
      </p:sp>
    </p:spTree>
    <p:extLst>
      <p:ext uri="{BB962C8B-B14F-4D97-AF65-F5344CB8AC3E}">
        <p14:creationId xmlns:p14="http://schemas.microsoft.com/office/powerpoint/2010/main" val="580449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63C437-BADB-26F1-1744-B58FF5287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4CBFB801-A7E3-D5F2-41AF-20AE09E78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2AA20C0-F91E-718E-0FAA-2C1C8604461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35EF3A6F-1787-E73E-F0CA-8B77F6566E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0D4A7528-8DB0-F884-7366-D4348D2CC2C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75912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91B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30BFD-41C9-4443-37A0-7DA0E7E8E211}"/>
              </a:ext>
            </a:extLst>
          </p:cNvPr>
          <p:cNvSpPr>
            <a:spLocks noGrp="1"/>
          </p:cNvSpPr>
          <p:nvPr>
            <p:ph type="title"/>
          </p:nvPr>
        </p:nvSpPr>
        <p:spPr/>
        <p:txBody>
          <a:bodyPr/>
          <a:lstStyle>
            <a:lvl1pPr>
              <a:defRPr>
                <a:solidFill>
                  <a:schemeClr val="bg1"/>
                </a:solidFill>
                <a:latin typeface="LEMON MILK" panose="00000500000000000000" pitchFamily="50"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xmlns="" id="{6808EC02-734E-FDAE-7DF3-8DB3C6AA7C0A}"/>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EC58D06E-8825-23B1-C07E-FF963A9AC48D}"/>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191823C9-1047-477F-F79E-CBC28BFEDD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B9EB253-8011-048D-8449-60840055D35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65617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29FD9-52B6-B3F1-3ACC-92EB9B7544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E9D83799-5349-F038-E14F-DB614AE9FB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12A1649-151D-93EA-631F-B6099636307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056C4EBE-9CE4-D786-4093-C4BB2FD7F5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F731C0E-1C01-5CD7-8D36-2CAB20EAFAF1}"/>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06965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D0B23-99D8-5C9C-2DB4-375C26F10F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30A73CCA-A2D9-9C14-2365-AA1EE615E1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7A55BD96-FD5E-73F6-F796-4F1494B897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5E5168EB-58D8-A759-0050-632F4F55C931}"/>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1EF8AA03-4BAF-F0E0-E32D-60119D79A0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280E02D9-AF26-C903-50A9-55EC9735636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921576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7BB497-6D57-98B6-5EC8-FDE5CB6E02B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FD1B0F7-B6C5-B1D4-D80E-9B9C972D77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8D0C5B9-F4F6-0165-1411-ADCFCB843E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421935E2-B472-EA91-DB4E-C839D7805D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B760D12-2E96-23CB-A91A-8971B42F9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CACE3A3C-35F0-AF39-42CD-735B600489D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8" name="Footer Placeholder 7">
            <a:extLst>
              <a:ext uri="{FF2B5EF4-FFF2-40B4-BE49-F238E27FC236}">
                <a16:creationId xmlns:a16="http://schemas.microsoft.com/office/drawing/2014/main" xmlns="" id="{DAFE4A0E-F73F-2032-32AC-526010C7310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731E3EB0-9117-A459-5243-B3DC56052A2E}"/>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75763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E51F82-84B2-5D36-C364-390E8923CF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A2D17616-652E-05AA-FE9A-067BD8CA531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4" name="Footer Placeholder 3">
            <a:extLst>
              <a:ext uri="{FF2B5EF4-FFF2-40B4-BE49-F238E27FC236}">
                <a16:creationId xmlns:a16="http://schemas.microsoft.com/office/drawing/2014/main" xmlns="" id="{78750DCC-3A1E-8816-A369-7128F0B40A3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7ADB4CC8-7E5E-0E1E-CFB2-324D93DDAC9C}"/>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420822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B481DC6-E884-9B37-F7D3-8D1D2BA38B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3" name="Footer Placeholder 2">
            <a:extLst>
              <a:ext uri="{FF2B5EF4-FFF2-40B4-BE49-F238E27FC236}">
                <a16:creationId xmlns:a16="http://schemas.microsoft.com/office/drawing/2014/main" xmlns="" id="{0C177595-7DBE-CA37-A966-4329AD60CF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2357C3EF-50D5-B3D7-5976-F3C994131A46}"/>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84044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8163C3-090A-ED96-6BA2-12BC4401C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67BE877-B5AD-73D5-AD39-54969DF411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DDF72D7E-4E92-4511-E3CA-11933BE62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945A9D1-C06F-C729-CF79-95BAE94CD88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D04E4A-A893-479C-B352-D71BEB8B73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8EA53356-B1BC-934B-E7DC-9884409BFD6A}"/>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384172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6F818-E602-7294-7934-E1A4F112C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B74AACFF-11BF-EF5A-730B-C80F1E149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0211D112-7B44-9FA8-E772-0B9B1C36B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559975E-D19D-D6D9-CB9D-D4D3F75539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3D0A71-3B59-7F44-56F9-706ADF9398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C9D60747-C038-AAFF-A862-7D574E1E8824}"/>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21795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8EB0AA-CC24-AF77-4BB4-53FB7D3E752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95A0E8B6-4DFD-4D88-8F1D-40849C2C5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D7A9F494-B3DE-6065-F2BF-6F8ED78FD09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613C085F-8685-2373-EC66-78868E8A06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EEDB663-CDFD-1779-C76A-5B386BB5D71B}"/>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935753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EE53677-52B7-BFC6-E572-A036BEA9C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8D729EDA-7926-9172-54DD-D0A3E3BB19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6DAF23D-0B70-7617-B809-9045D499C02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C29A83D4-743A-E1E6-0109-C9B1F12D0D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ED7CA8C-5DC8-E3F6-69F3-D3DF791D3A5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073968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5FC9BC-F7EB-4679-B546-E51CDD2325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95842375-5315-4C45-AF9B-0AFFA874C3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7235C8F-4E0E-4286-81DC-9D2934CD4E1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D65B17F6-EB77-4D18-ABF1-CA328B1D4E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33EBF0D-FE71-47F9-AA17-799D923C9877}"/>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1219202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A7CC0-4E8D-49BB-BCEA-E0CD81FF96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56EC2238-C309-4CD6-9323-09399FB937C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CC8AAC1-9A0B-4FF8-956F-71104D753C8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CD723DC7-A23C-4813-A731-5094F3711C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44D32689-12A9-4737-A421-ECDD1EFC583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34171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02290A-5F3A-44C5-9884-1F6AE2A118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A9F1DEA4-386A-429E-BD37-5198B65EC2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1F1F06AB-A623-4C1A-8BC4-1BB08A9BDFD2}"/>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372F7FE7-E3CA-4757-9230-6214C1A2B8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1621482D-7CC6-4B0D-BDF6-B33932964174}"/>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19972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A3C2C9-F2C5-4A0E-8BC3-F6585AC53E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0213A83B-6149-449B-8CE9-1B69397245B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E2B727F1-78E5-412E-80D4-A77416759A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1CBA42B1-3B39-4377-8297-74AE3F3D934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2ED6D471-C1B0-4477-B277-57E83E61CC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61C8BDC9-EABC-4145-821B-4B47D43B331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38303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029212-66E6-4851-9704-D1D0E013EC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8FBF198-7E05-45D2-9C13-5D9872865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6E74D802-FCBE-448C-877C-CD24B8D895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3CECCDE9-518A-445E-8F0C-E41DE2F43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E6F49ED5-CDFC-4F48-BEBC-0C7E15B92A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4391BB69-7E14-4641-B195-CD6323A00E70}"/>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8" name="Footer Placeholder 7">
            <a:extLst>
              <a:ext uri="{FF2B5EF4-FFF2-40B4-BE49-F238E27FC236}">
                <a16:creationId xmlns:a16="http://schemas.microsoft.com/office/drawing/2014/main" xmlns="" id="{23BF9193-A1D4-4A3F-83AB-2FDB7A8A681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F021F8D8-E735-45F3-BA7F-1414D06019E0}"/>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5154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A5104-FAA2-4170-8DC5-CFB596EE739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6158F3E3-39C2-43A6-AF89-6A707E9EEC27}"/>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4" name="Footer Placeholder 3">
            <a:extLst>
              <a:ext uri="{FF2B5EF4-FFF2-40B4-BE49-F238E27FC236}">
                <a16:creationId xmlns:a16="http://schemas.microsoft.com/office/drawing/2014/main" xmlns="" id="{F66A3E8F-6D2B-4FDC-8ACF-6DB7072335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3523EEF6-CBD1-4990-A771-459D7D0CE8E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7214539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31E45BA-EB29-4DE5-9CBF-B462C2933E21}"/>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3" name="Footer Placeholder 2">
            <a:extLst>
              <a:ext uri="{FF2B5EF4-FFF2-40B4-BE49-F238E27FC236}">
                <a16:creationId xmlns:a16="http://schemas.microsoft.com/office/drawing/2014/main" xmlns="" id="{7F172DBB-7912-4C35-A748-6D67714657D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CF8631C7-72D5-46AA-86D1-51198C4D0BF3}"/>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9033414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08D40-C553-41FF-B9A1-3BFA221213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C685827A-DCE8-4E98-B355-4B724B1823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508DDB70-AE7E-4870-B4A8-95E93C4EC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F394F09-A5BE-4260-8E8E-A6746C823E4B}"/>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D57C977C-02CF-4A0A-8605-4B9B6E6F29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D279887B-2092-40E1-9799-B078E7ADFCAE}"/>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4288030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53F6C2-2A79-425F-B78B-87E3060E6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A8BD401A-AEF7-4778-BEEC-3903604690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C76C66DF-B660-483E-BD6F-84C7873EB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F899C61D-403E-483F-83C3-8BFE32B4E5B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4D7277D8-0608-4176-8C79-5A670155E9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15492866-2110-4E4B-9E03-868470DE9AED}"/>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404068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0BBE8-8A19-4CA3-B0D0-3D5AB372C1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27AF79E3-F4D3-4DBF-8A24-0B13305987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1CB6C27-17B1-4FAF-8C3A-012979C9484C}"/>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2589D89-8DB0-4C87-8159-392A520158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3CB50750-AAD6-4519-B3A2-D55A447F265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920121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1B17744-BE0E-4C2D-8E85-A98C36E1AA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ABC260B5-3633-4226-81DC-11D7CFA74B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ABBF93D7-48DF-4F02-BA34-CA5CED79E856}"/>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905904DB-50B8-4D9A-AB54-A21CBA5B64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639EE86D-7426-4CBD-BA36-150F0FD58079}"/>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8600556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565017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904056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8390373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008510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EE93D6B-74CE-4FDD-8BD0-E21F83B4F91E}" type="datetimeFigureOut">
              <a:rPr lang="en-GB" smtClean="0"/>
              <a:t>31/10/2026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84759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EE93D6B-74CE-4FDD-8BD0-E21F83B4F91E}" type="datetimeFigureOut">
              <a:rPr lang="en-GB" smtClean="0"/>
              <a:t>31/10/2026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4531986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93D6B-74CE-4FDD-8BD0-E21F83B4F91E}" type="datetimeFigureOut">
              <a:rPr lang="en-GB" smtClean="0"/>
              <a:t>31/10/2026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4113581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9335600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9031132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6679712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2969473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91B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F0FABDB-F7B5-76B6-20FE-C0AED463EB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xmlns="" id="{50B11D2A-37FD-254F-F7BF-12ACEBDC1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9C57448D-2A1A-EE33-37F7-8EE210FF1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DC48344B-9636-6D43-B7A1-AFC23066C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xmlns="" id="{63939D83-EBE7-5C4B-33F0-232FADF5BD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11636-159F-4811-B362-FA6899840FE0}" type="slidenum">
              <a:rPr lang="en-GB" smtClean="0"/>
              <a:t>‹#›</a:t>
            </a:fld>
            <a:endParaRPr lang="en-GB"/>
          </a:p>
        </p:txBody>
      </p:sp>
    </p:spTree>
    <p:extLst>
      <p:ext uri="{BB962C8B-B14F-4D97-AF65-F5344CB8AC3E}">
        <p14:creationId xmlns:p14="http://schemas.microsoft.com/office/powerpoint/2010/main" val="2337411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7B86FEB-A93A-4930-B294-B95D0D6039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7412376B-86F3-4635-9383-75143BB0C2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370128D-5950-47CB-BA99-F9601858C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8BA322D-0C39-4F81-B6F5-292F37C22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xmlns="" id="{060B5791-46F1-4425-BB08-95908C5D44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47FB2-A101-491A-ACE6-1492808EAC6D}" type="slidenum">
              <a:rPr lang="en-GB" smtClean="0"/>
              <a:t>‹#›</a:t>
            </a:fld>
            <a:endParaRPr lang="en-GB"/>
          </a:p>
        </p:txBody>
      </p:sp>
    </p:spTree>
    <p:extLst>
      <p:ext uri="{BB962C8B-B14F-4D97-AF65-F5344CB8AC3E}">
        <p14:creationId xmlns:p14="http://schemas.microsoft.com/office/powerpoint/2010/main" val="2291122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ight Triangle 6"/>
          <p:cNvSpPr/>
          <p:nvPr userDrawn="1"/>
        </p:nvSpPr>
        <p:spPr>
          <a:xfrm flipH="1">
            <a:off x="0" y="0"/>
            <a:ext cx="12192000" cy="6858000"/>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E93D6B-74CE-4FDD-8BD0-E21F83B4F91E}" type="datetimeFigureOut">
              <a:rPr lang="en-GB" smtClean="0"/>
              <a:t>31/10/2026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25D40-B648-423D-A62F-831986932A01}" type="slidenum">
              <a:rPr lang="en-GB" smtClean="0"/>
              <a:t>‹#›</a:t>
            </a:fld>
            <a:endParaRPr lang="en-GB"/>
          </a:p>
        </p:txBody>
      </p:sp>
    </p:spTree>
    <p:extLst>
      <p:ext uri="{BB962C8B-B14F-4D97-AF65-F5344CB8AC3E}">
        <p14:creationId xmlns:p14="http://schemas.microsoft.com/office/powerpoint/2010/main" val="19096670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B0F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B0F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6.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4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4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4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5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microsoft.com/office/2007/relationships/hdphoto" Target="../media/hdphoto4.wdp"/></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gif"/></Relationships>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C7D2D8"/>
        </a:solidFill>
        <a:effectLst/>
      </p:bgPr>
    </p:bg>
    <p:spTree>
      <p:nvGrpSpPr>
        <p:cNvPr id="1" name=""/>
        <p:cNvGrpSpPr/>
        <p:nvPr/>
      </p:nvGrpSpPr>
      <p:grpSpPr>
        <a:xfrm>
          <a:off x="0" y="0"/>
          <a:ext cx="0" cy="0"/>
          <a:chOff x="0" y="0"/>
          <a:chExt cx="0" cy="0"/>
        </a:xfrm>
      </p:grpSpPr>
      <p:pic>
        <p:nvPicPr>
          <p:cNvPr id="1026" name="Picture 2" descr="Image result for programming design wallpap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2648932" y="22225"/>
            <a:ext cx="9847868" cy="1589759"/>
          </a:xfrm>
        </p:spPr>
        <p:txBody>
          <a:bodyPr>
            <a:normAutofit fontScale="90000"/>
          </a:bodyPr>
          <a:lstStyle/>
          <a:p>
            <a:r>
              <a:rPr lang="en-GB" b="1" dirty="0">
                <a:solidFill>
                  <a:srgbClr val="AB016C"/>
                </a:solidFill>
              </a:rPr>
              <a:t>Digital Design Principles</a:t>
            </a:r>
          </a:p>
        </p:txBody>
      </p:sp>
      <p:sp>
        <p:nvSpPr>
          <p:cNvPr id="3" name="Subtitle 2"/>
          <p:cNvSpPr>
            <a:spLocks noGrp="1"/>
          </p:cNvSpPr>
          <p:nvPr>
            <p:ph type="subTitle" idx="1"/>
          </p:nvPr>
        </p:nvSpPr>
        <p:spPr>
          <a:xfrm>
            <a:off x="1371404" y="5676393"/>
            <a:ext cx="9144000" cy="1655762"/>
          </a:xfrm>
        </p:spPr>
        <p:txBody>
          <a:bodyPr/>
          <a:lstStyle/>
          <a:p>
            <a:r>
              <a:rPr lang="en-GB" b="1" dirty="0">
                <a:solidFill>
                  <a:srgbClr val="AB016C"/>
                </a:solidFill>
              </a:rPr>
              <a:t>Unit 4 | Chapter 23 | Mr Butler</a:t>
            </a:r>
          </a:p>
        </p:txBody>
      </p:sp>
    </p:spTree>
    <p:extLst>
      <p:ext uri="{BB962C8B-B14F-4D97-AF65-F5344CB8AC3E}">
        <p14:creationId xmlns:p14="http://schemas.microsoft.com/office/powerpoint/2010/main" val="630820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8602" y="2488675"/>
            <a:ext cx="5261464" cy="3688287"/>
          </a:xfrm>
        </p:spPr>
        <p:txBody>
          <a:bodyPr/>
          <a:lstStyle/>
          <a:p>
            <a:pPr marL="0" indent="0">
              <a:buNone/>
            </a:pPr>
            <a:r>
              <a:rPr lang="en-GB" dirty="0"/>
              <a:t>An approach to problem solving that people use to define a problem and create a solution which can be carried out by a computer or individual.</a:t>
            </a:r>
          </a:p>
          <a:p>
            <a:endParaRPr lang="en-GB"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19883"/>
            <a:ext cx="5892803" cy="5738117"/>
          </a:xfrm>
          <a:prstGeom prst="rect">
            <a:avLst/>
          </a:prstGeom>
        </p:spPr>
      </p:pic>
      <p:sp>
        <p:nvSpPr>
          <p:cNvPr id="5" name="Title 1">
            <a:extLst>
              <a:ext uri="{FF2B5EF4-FFF2-40B4-BE49-F238E27FC236}">
                <a16:creationId xmlns:a16="http://schemas.microsoft.com/office/drawing/2014/main" xmlns="" id="{175752F7-3520-331D-BC2D-852797203E3B}"/>
              </a:ext>
            </a:extLst>
          </p:cNvPr>
          <p:cNvSpPr txBox="1">
            <a:spLocks/>
          </p:cNvSpPr>
          <p:nvPr/>
        </p:nvSpPr>
        <p:spPr>
          <a:xfrm>
            <a:off x="685799" y="2105025"/>
            <a:ext cx="4660901" cy="27844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a:lstStyle>
          <a:p>
            <a:pPr algn="ctr"/>
            <a:r>
              <a:rPr lang="en-GB" sz="3200" dirty="0"/>
              <a:t>What is computational thinking?</a:t>
            </a:r>
          </a:p>
        </p:txBody>
      </p:sp>
      <p:pic>
        <p:nvPicPr>
          <p:cNvPr id="6"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916451" y="2556146"/>
            <a:ext cx="638503" cy="638503"/>
          </a:xfrm>
          <a:prstGeom prst="rect">
            <a:avLst/>
          </a:prstGeom>
        </p:spPr>
      </p:pic>
    </p:spTree>
    <p:extLst>
      <p:ext uri="{BB962C8B-B14F-4D97-AF65-F5344CB8AC3E}">
        <p14:creationId xmlns:p14="http://schemas.microsoft.com/office/powerpoint/2010/main" val="267798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Underlying Concepts of Computational Thinking</a:t>
            </a:r>
          </a:p>
        </p:txBody>
      </p:sp>
      <p:sp>
        <p:nvSpPr>
          <p:cNvPr id="3" name="Content Placeholder 2"/>
          <p:cNvSpPr>
            <a:spLocks noGrp="1"/>
          </p:cNvSpPr>
          <p:nvPr>
            <p:ph idx="1"/>
          </p:nvPr>
        </p:nvSpPr>
        <p:spPr>
          <a:xfrm>
            <a:off x="838200" y="1825625"/>
            <a:ext cx="5204381" cy="2077072"/>
          </a:xfrm>
          <a:ln w="38100">
            <a:solidFill>
              <a:schemeClr val="tx1"/>
            </a:solidFill>
          </a:ln>
        </p:spPr>
        <p:txBody>
          <a:bodyPr/>
          <a:lstStyle/>
          <a:p>
            <a:pPr marL="0" indent="0">
              <a:buNone/>
            </a:pPr>
            <a:r>
              <a:rPr lang="en-GB" dirty="0">
                <a:solidFill>
                  <a:srgbClr val="07E073"/>
                </a:solidFill>
              </a:rPr>
              <a:t>ABSTRACTION</a:t>
            </a:r>
          </a:p>
          <a:p>
            <a:pPr marL="0" indent="0">
              <a:buNone/>
            </a:pPr>
            <a:r>
              <a:rPr lang="en-US" sz="2000" dirty="0"/>
              <a:t>Removing specific details from a problem which are not required to solve it. It involves filtering out characteristics that are not required and focusing on general characteristics to create a model.</a:t>
            </a:r>
            <a:endParaRPr lang="en-GB" sz="2000" dirty="0"/>
          </a:p>
        </p:txBody>
      </p:sp>
      <p:sp>
        <p:nvSpPr>
          <p:cNvPr id="4" name="Content Placeholder 2"/>
          <p:cNvSpPr txBox="1">
            <a:spLocks/>
          </p:cNvSpPr>
          <p:nvPr/>
        </p:nvSpPr>
        <p:spPr>
          <a:xfrm>
            <a:off x="838199" y="4108483"/>
            <a:ext cx="5204381" cy="2077072"/>
          </a:xfrm>
          <a:prstGeom prst="rect">
            <a:avLst/>
          </a:prstGeom>
          <a:ln w="3810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07E073"/>
                </a:solidFill>
              </a:rPr>
              <a:t>DECOMPOSITION</a:t>
            </a:r>
          </a:p>
          <a:p>
            <a:pPr marL="0" indent="0">
              <a:buNone/>
            </a:pPr>
            <a:r>
              <a:rPr lang="en-US" sz="2000" dirty="0"/>
              <a:t>Breaking a large, complex problem down into smaller, more manageable problems called sub-problems.</a:t>
            </a:r>
            <a:endParaRPr lang="en-GB" sz="2000" dirty="0"/>
          </a:p>
        </p:txBody>
      </p:sp>
      <p:sp>
        <p:nvSpPr>
          <p:cNvPr id="5" name="Content Placeholder 2"/>
          <p:cNvSpPr txBox="1">
            <a:spLocks/>
          </p:cNvSpPr>
          <p:nvPr/>
        </p:nvSpPr>
        <p:spPr>
          <a:xfrm>
            <a:off x="6288462" y="1825625"/>
            <a:ext cx="5204381" cy="2077072"/>
          </a:xfrm>
          <a:prstGeom prst="rect">
            <a:avLst/>
          </a:prstGeom>
          <a:ln w="3810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07E073"/>
                </a:solidFill>
              </a:rPr>
              <a:t>PATTERN RECOGNITION</a:t>
            </a:r>
          </a:p>
          <a:p>
            <a:pPr marL="0" indent="0">
              <a:buNone/>
            </a:pPr>
            <a:r>
              <a:rPr lang="en-US" sz="2000" dirty="0"/>
              <a:t>Observing key characteristics, patterns, and trends in the data being considered.</a:t>
            </a:r>
            <a:endParaRPr lang="en-GB" sz="2000" dirty="0"/>
          </a:p>
        </p:txBody>
      </p:sp>
      <p:sp>
        <p:nvSpPr>
          <p:cNvPr id="6" name="Content Placeholder 2"/>
          <p:cNvSpPr txBox="1">
            <a:spLocks/>
          </p:cNvSpPr>
          <p:nvPr/>
        </p:nvSpPr>
        <p:spPr>
          <a:xfrm>
            <a:off x="6288462" y="4108483"/>
            <a:ext cx="5204381" cy="2077072"/>
          </a:xfrm>
          <a:prstGeom prst="rect">
            <a:avLst/>
          </a:prstGeom>
          <a:ln w="38100">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07E073"/>
                </a:solidFill>
              </a:rPr>
              <a:t>ALGORITHM DESIGN</a:t>
            </a:r>
          </a:p>
          <a:p>
            <a:pPr marL="0" indent="0">
              <a:buNone/>
            </a:pPr>
            <a:r>
              <a:rPr lang="en-US" sz="2000" dirty="0"/>
              <a:t>The process of creating a step-by-step set of instructions which specifies how the problem is going to be solved. </a:t>
            </a:r>
          </a:p>
          <a:p>
            <a:pPr marL="0" indent="0">
              <a:buNone/>
            </a:pPr>
            <a:r>
              <a:rPr lang="en-US" sz="2000" dirty="0"/>
              <a:t>Usually completed in pseudo-code or flowcharts.</a:t>
            </a:r>
            <a:endParaRPr lang="en-GB" sz="2000" dirty="0"/>
          </a:p>
        </p:txBody>
      </p:sp>
    </p:spTree>
    <p:extLst>
      <p:ext uri="{BB962C8B-B14F-4D97-AF65-F5344CB8AC3E}">
        <p14:creationId xmlns:p14="http://schemas.microsoft.com/office/powerpoint/2010/main" val="6937228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 Design: Flowcharts</a:t>
            </a:r>
          </a:p>
        </p:txBody>
      </p:sp>
      <p:sp>
        <p:nvSpPr>
          <p:cNvPr id="3" name="Content Placeholder 2"/>
          <p:cNvSpPr>
            <a:spLocks noGrp="1"/>
          </p:cNvSpPr>
          <p:nvPr>
            <p:ph idx="1"/>
          </p:nvPr>
        </p:nvSpPr>
        <p:spPr/>
        <p:txBody>
          <a:bodyPr/>
          <a:lstStyle/>
          <a:p>
            <a:r>
              <a:rPr lang="en-GB" dirty="0"/>
              <a:t>A flow diagram or </a:t>
            </a:r>
            <a:r>
              <a:rPr lang="en-GB" b="1" dirty="0"/>
              <a:t>flowchart</a:t>
            </a:r>
            <a:r>
              <a:rPr lang="en-GB" dirty="0"/>
              <a:t> is a graphical representation of the solution to a problem</a:t>
            </a:r>
          </a:p>
          <a:p>
            <a:pPr lvl="1"/>
            <a:r>
              <a:rPr lang="en-GB" dirty="0"/>
              <a:t>Uses special symbols to represent different operations</a:t>
            </a:r>
          </a:p>
          <a:p>
            <a:pPr lvl="1"/>
            <a:r>
              <a:rPr lang="en-GB" dirty="0"/>
              <a:t>Flow lines represent the sequence of operations and arrows show the direction of flow</a:t>
            </a:r>
          </a:p>
          <a:p>
            <a:endParaRPr lang="en-GB" dirty="0"/>
          </a:p>
        </p:txBody>
      </p:sp>
    </p:spTree>
    <p:extLst>
      <p:ext uri="{BB962C8B-B14F-4D97-AF65-F5344CB8AC3E}">
        <p14:creationId xmlns:p14="http://schemas.microsoft.com/office/powerpoint/2010/main" val="3478153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94761" y="242576"/>
            <a:ext cx="10515600" cy="1325563"/>
          </a:xfrm>
        </p:spPr>
        <p:txBody>
          <a:bodyPr/>
          <a:lstStyle/>
          <a:p>
            <a:endParaRPr lang="en-GB"/>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3976217681"/>
              </p:ext>
            </p:extLst>
          </p:nvPr>
        </p:nvGraphicFramePr>
        <p:xfrm>
          <a:off x="211835" y="93108"/>
          <a:ext cx="11740551" cy="6687630"/>
        </p:xfrm>
        <a:graphic>
          <a:graphicData uri="http://schemas.openxmlformats.org/drawingml/2006/table">
            <a:tbl>
              <a:tblPr firstRow="1" bandRow="1">
                <a:tableStyleId>{5C22544A-7EE6-4342-B048-85BDC9FD1C3A}</a:tableStyleId>
              </a:tblPr>
              <a:tblGrid>
                <a:gridCol w="3913517">
                  <a:extLst>
                    <a:ext uri="{9D8B030D-6E8A-4147-A177-3AD203B41FA5}">
                      <a16:colId xmlns:a16="http://schemas.microsoft.com/office/drawing/2014/main" xmlns="" val="20000"/>
                    </a:ext>
                  </a:extLst>
                </a:gridCol>
                <a:gridCol w="3913517">
                  <a:extLst>
                    <a:ext uri="{9D8B030D-6E8A-4147-A177-3AD203B41FA5}">
                      <a16:colId xmlns:a16="http://schemas.microsoft.com/office/drawing/2014/main" xmlns="" val="20001"/>
                    </a:ext>
                  </a:extLst>
                </a:gridCol>
                <a:gridCol w="3913517">
                  <a:extLst>
                    <a:ext uri="{9D8B030D-6E8A-4147-A177-3AD203B41FA5}">
                      <a16:colId xmlns:a16="http://schemas.microsoft.com/office/drawing/2014/main" xmlns="" val="20002"/>
                    </a:ext>
                  </a:extLst>
                </a:gridCol>
              </a:tblGrid>
              <a:tr h="809805">
                <a:tc>
                  <a:txBody>
                    <a:bodyPr/>
                    <a:lstStyle/>
                    <a:p>
                      <a:r>
                        <a:rPr lang="en-GB" dirty="0"/>
                        <a:t>Graphic</a:t>
                      </a:r>
                    </a:p>
                  </a:txBody>
                  <a:tcPr/>
                </a:tc>
                <a:tc>
                  <a:txBody>
                    <a:bodyPr/>
                    <a:lstStyle/>
                    <a:p>
                      <a:r>
                        <a:rPr lang="en-GB" dirty="0"/>
                        <a:t>Symbol</a:t>
                      </a:r>
                    </a:p>
                  </a:txBody>
                  <a:tcPr/>
                </a:tc>
                <a:tc>
                  <a:txBody>
                    <a:bodyPr/>
                    <a:lstStyle/>
                    <a:p>
                      <a:r>
                        <a:rPr lang="en-GB" dirty="0"/>
                        <a:t>Purpose</a:t>
                      </a:r>
                    </a:p>
                  </a:txBody>
                  <a:tcPr/>
                </a:tc>
                <a:extLst>
                  <a:ext uri="{0D108BD9-81ED-4DB2-BD59-A6C34878D82A}">
                    <a16:rowId xmlns:a16="http://schemas.microsoft.com/office/drawing/2014/main" xmlns="" val="10000"/>
                  </a:ext>
                </a:extLst>
              </a:tr>
              <a:tr h="809805">
                <a:tc>
                  <a:txBody>
                    <a:bodyPr/>
                    <a:lstStyle/>
                    <a:p>
                      <a:endParaRPr lang="en-GB" dirty="0"/>
                    </a:p>
                  </a:txBody>
                  <a:tcPr/>
                </a:tc>
                <a:tc>
                  <a:txBody>
                    <a:bodyPr/>
                    <a:lstStyle/>
                    <a:p>
                      <a:r>
                        <a:rPr lang="en-GB" dirty="0"/>
                        <a:t>Flow line</a:t>
                      </a:r>
                    </a:p>
                  </a:txBody>
                  <a:tcPr/>
                </a:tc>
                <a:tc>
                  <a:txBody>
                    <a:bodyPr/>
                    <a:lstStyle/>
                    <a:p>
                      <a:r>
                        <a:rPr lang="en-GB" dirty="0"/>
                        <a:t>Indicates the flow of logic and connects the different symbols together</a:t>
                      </a:r>
                    </a:p>
                  </a:txBody>
                  <a:tcPr/>
                </a:tc>
                <a:extLst>
                  <a:ext uri="{0D108BD9-81ED-4DB2-BD59-A6C34878D82A}">
                    <a16:rowId xmlns:a16="http://schemas.microsoft.com/office/drawing/2014/main" xmlns="" val="10001"/>
                  </a:ext>
                </a:extLst>
              </a:tr>
              <a:tr h="809805">
                <a:tc>
                  <a:txBody>
                    <a:bodyPr/>
                    <a:lstStyle/>
                    <a:p>
                      <a:endParaRPr lang="en-GB"/>
                    </a:p>
                  </a:txBody>
                  <a:tcPr/>
                </a:tc>
                <a:tc>
                  <a:txBody>
                    <a:bodyPr/>
                    <a:lstStyle/>
                    <a:p>
                      <a:r>
                        <a:rPr lang="en-GB" dirty="0"/>
                        <a:t>Terminal (stop/start)</a:t>
                      </a:r>
                    </a:p>
                  </a:txBody>
                  <a:tcPr/>
                </a:tc>
                <a:tc>
                  <a:txBody>
                    <a:bodyPr/>
                    <a:lstStyle/>
                    <a:p>
                      <a:r>
                        <a:rPr lang="en-GB" dirty="0"/>
                        <a:t>Represents the start and end of the flowchart</a:t>
                      </a:r>
                    </a:p>
                  </a:txBody>
                  <a:tcPr/>
                </a:tc>
                <a:extLst>
                  <a:ext uri="{0D108BD9-81ED-4DB2-BD59-A6C34878D82A}">
                    <a16:rowId xmlns:a16="http://schemas.microsoft.com/office/drawing/2014/main" xmlns="" val="10002"/>
                  </a:ext>
                </a:extLst>
              </a:tr>
              <a:tr h="809805">
                <a:tc>
                  <a:txBody>
                    <a:bodyPr/>
                    <a:lstStyle/>
                    <a:p>
                      <a:endParaRPr lang="en-GB"/>
                    </a:p>
                  </a:txBody>
                  <a:tcPr/>
                </a:tc>
                <a:tc>
                  <a:txBody>
                    <a:bodyPr/>
                    <a:lstStyle/>
                    <a:p>
                      <a:r>
                        <a:rPr lang="en-GB" dirty="0"/>
                        <a:t>Input/output</a:t>
                      </a:r>
                    </a:p>
                  </a:txBody>
                  <a:tcPr/>
                </a:tc>
                <a:tc>
                  <a:txBody>
                    <a:bodyPr/>
                    <a:lstStyle/>
                    <a:p>
                      <a:r>
                        <a:rPr lang="en-GB" dirty="0"/>
                        <a:t>Indicates the input/output of data</a:t>
                      </a:r>
                    </a:p>
                  </a:txBody>
                  <a:tcPr/>
                </a:tc>
                <a:extLst>
                  <a:ext uri="{0D108BD9-81ED-4DB2-BD59-A6C34878D82A}">
                    <a16:rowId xmlns:a16="http://schemas.microsoft.com/office/drawing/2014/main" xmlns="" val="10003"/>
                  </a:ext>
                </a:extLst>
              </a:tr>
              <a:tr h="809805">
                <a:tc>
                  <a:txBody>
                    <a:bodyPr/>
                    <a:lstStyle/>
                    <a:p>
                      <a:endParaRPr lang="en-GB"/>
                    </a:p>
                  </a:txBody>
                  <a:tcPr/>
                </a:tc>
                <a:tc>
                  <a:txBody>
                    <a:bodyPr/>
                    <a:lstStyle/>
                    <a:p>
                      <a:r>
                        <a:rPr lang="en-GB" dirty="0"/>
                        <a:t>Process</a:t>
                      </a:r>
                    </a:p>
                  </a:txBody>
                  <a:tcPr/>
                </a:tc>
                <a:tc>
                  <a:txBody>
                    <a:bodyPr/>
                    <a:lstStyle/>
                    <a:p>
                      <a:r>
                        <a:rPr lang="en-GB" dirty="0"/>
                        <a:t>Indicates that an operator is to be done. There is usually text in the rectangle</a:t>
                      </a:r>
                    </a:p>
                  </a:txBody>
                  <a:tcPr/>
                </a:tc>
                <a:extLst>
                  <a:ext uri="{0D108BD9-81ED-4DB2-BD59-A6C34878D82A}">
                    <a16:rowId xmlns:a16="http://schemas.microsoft.com/office/drawing/2014/main" xmlns="" val="10004"/>
                  </a:ext>
                </a:extLst>
              </a:tr>
              <a:tr h="809805">
                <a:tc>
                  <a:txBody>
                    <a:bodyPr/>
                    <a:lstStyle/>
                    <a:p>
                      <a:endParaRPr lang="en-GB"/>
                    </a:p>
                  </a:txBody>
                  <a:tcPr/>
                </a:tc>
                <a:tc>
                  <a:txBody>
                    <a:bodyPr/>
                    <a:lstStyle/>
                    <a:p>
                      <a:r>
                        <a:rPr lang="en-GB" dirty="0"/>
                        <a:t>Decision</a:t>
                      </a:r>
                    </a:p>
                  </a:txBody>
                  <a:tcPr/>
                </a:tc>
                <a:tc>
                  <a:txBody>
                    <a:bodyPr/>
                    <a:lstStyle/>
                    <a:p>
                      <a:r>
                        <a:rPr lang="en-GB" dirty="0"/>
                        <a:t>Asks a question. Can impact pathways via different</a:t>
                      </a:r>
                      <a:r>
                        <a:rPr lang="en-GB" baseline="0" dirty="0"/>
                        <a:t> responces</a:t>
                      </a:r>
                      <a:endParaRPr lang="en-GB" dirty="0"/>
                    </a:p>
                  </a:txBody>
                  <a:tcPr/>
                </a:tc>
                <a:extLst>
                  <a:ext uri="{0D108BD9-81ED-4DB2-BD59-A6C34878D82A}">
                    <a16:rowId xmlns:a16="http://schemas.microsoft.com/office/drawing/2014/main" xmlns="" val="10005"/>
                  </a:ext>
                </a:extLst>
              </a:tr>
              <a:tr h="809805">
                <a:tc>
                  <a:txBody>
                    <a:bodyPr/>
                    <a:lstStyle/>
                    <a:p>
                      <a:endParaRPr lang="en-GB"/>
                    </a:p>
                  </a:txBody>
                  <a:tcPr/>
                </a:tc>
                <a:tc>
                  <a:txBody>
                    <a:bodyPr/>
                    <a:lstStyle/>
                    <a:p>
                      <a:r>
                        <a:rPr lang="en-GB" dirty="0"/>
                        <a:t>Sub-routine symbol</a:t>
                      </a:r>
                    </a:p>
                  </a:txBody>
                  <a:tcPr/>
                </a:tc>
                <a:tc>
                  <a:txBody>
                    <a:bodyPr/>
                    <a:lstStyle/>
                    <a:p>
                      <a:r>
                        <a:rPr lang="en-GB" dirty="0"/>
                        <a:t>Represents a call to a sub-routine</a:t>
                      </a:r>
                    </a:p>
                  </a:txBody>
                  <a:tcPr/>
                </a:tc>
                <a:extLst>
                  <a:ext uri="{0D108BD9-81ED-4DB2-BD59-A6C34878D82A}">
                    <a16:rowId xmlns:a16="http://schemas.microsoft.com/office/drawing/2014/main" xmlns="" val="10006"/>
                  </a:ext>
                </a:extLst>
              </a:tr>
              <a:tr h="809805">
                <a:tc>
                  <a:txBody>
                    <a:bodyPr/>
                    <a:lstStyle/>
                    <a:p>
                      <a:endParaRPr lang="en-GB"/>
                    </a:p>
                  </a:txBody>
                  <a:tcPr/>
                </a:tc>
                <a:tc>
                  <a:txBody>
                    <a:bodyPr/>
                    <a:lstStyle/>
                    <a:p>
                      <a:r>
                        <a:rPr lang="en-GB" dirty="0"/>
                        <a:t>Document/report</a:t>
                      </a:r>
                    </a:p>
                  </a:txBody>
                  <a:tcPr/>
                </a:tc>
                <a:tc>
                  <a:txBody>
                    <a:bodyPr/>
                    <a:lstStyle/>
                    <a:p>
                      <a:r>
                        <a:rPr lang="en-GB" dirty="0"/>
                        <a:t>Indicates that a report/document</a:t>
                      </a:r>
                      <a:r>
                        <a:rPr lang="en-GB" baseline="0" dirty="0"/>
                        <a:t> is produced</a:t>
                      </a:r>
                      <a:endParaRPr lang="en-GB" dirty="0"/>
                    </a:p>
                  </a:txBody>
                  <a:tcPr/>
                </a:tc>
                <a:extLst>
                  <a:ext uri="{0D108BD9-81ED-4DB2-BD59-A6C34878D82A}">
                    <a16:rowId xmlns:a16="http://schemas.microsoft.com/office/drawing/2014/main" xmlns="" val="10007"/>
                  </a:ext>
                </a:extLst>
              </a:tr>
            </a:tbl>
          </a:graphicData>
        </a:graphic>
      </p:graphicFrame>
      <p:cxnSp>
        <p:nvCxnSpPr>
          <p:cNvPr id="6" name="Straight Arrow Connector 5"/>
          <p:cNvCxnSpPr/>
          <p:nvPr/>
        </p:nvCxnSpPr>
        <p:spPr>
          <a:xfrm>
            <a:off x="591399" y="1335315"/>
            <a:ext cx="28467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608652" y="1861527"/>
            <a:ext cx="2829464" cy="4658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lowchart: Data 7"/>
          <p:cNvSpPr/>
          <p:nvPr/>
        </p:nvSpPr>
        <p:spPr>
          <a:xfrm>
            <a:off x="712170" y="2750047"/>
            <a:ext cx="2596550" cy="40544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712170" y="3578183"/>
            <a:ext cx="2648310" cy="414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Decision 9"/>
          <p:cNvSpPr/>
          <p:nvPr/>
        </p:nvSpPr>
        <p:spPr>
          <a:xfrm>
            <a:off x="894761" y="4380440"/>
            <a:ext cx="2344947" cy="46582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Predefined Process 10"/>
          <p:cNvSpPr/>
          <p:nvPr/>
        </p:nvSpPr>
        <p:spPr>
          <a:xfrm>
            <a:off x="1108984" y="5156817"/>
            <a:ext cx="2070339" cy="508959"/>
          </a:xfrm>
          <a:prstGeom prst="flowChartPredefined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Document 11"/>
          <p:cNvSpPr/>
          <p:nvPr/>
        </p:nvSpPr>
        <p:spPr>
          <a:xfrm>
            <a:off x="1272885" y="5898689"/>
            <a:ext cx="1906438" cy="543464"/>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669126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Image result for flowchart example gcs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34175" y="636657"/>
            <a:ext cx="5248275" cy="574443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rot="16200000">
            <a:off x="3765152" y="3049190"/>
            <a:ext cx="3937795" cy="1325563"/>
          </a:xfrm>
        </p:spPr>
        <p:txBody>
          <a:bodyPr/>
          <a:lstStyle/>
          <a:p>
            <a:r>
              <a:rPr lang="en-GB" dirty="0"/>
              <a:t>Quick Examples</a:t>
            </a:r>
          </a:p>
        </p:txBody>
      </p:sp>
      <p:pic>
        <p:nvPicPr>
          <p:cNvPr id="6" name="Picture 4" descr="Image result for flowchart example gc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365125"/>
            <a:ext cx="4492625" cy="6287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0436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Create Your Own</a:t>
            </a:r>
          </a:p>
        </p:txBody>
      </p:sp>
      <p:sp>
        <p:nvSpPr>
          <p:cNvPr id="3" name="Content Placeholder 2"/>
          <p:cNvSpPr>
            <a:spLocks noGrp="1"/>
          </p:cNvSpPr>
          <p:nvPr>
            <p:ph idx="1"/>
          </p:nvPr>
        </p:nvSpPr>
        <p:spPr>
          <a:xfrm>
            <a:off x="838200" y="1825625"/>
            <a:ext cx="4836736" cy="4351338"/>
          </a:xfrm>
        </p:spPr>
        <p:txBody>
          <a:bodyPr/>
          <a:lstStyle/>
          <a:p>
            <a:r>
              <a:rPr lang="en-GB" dirty="0"/>
              <a:t>Create a Flowchart for the following scenario:</a:t>
            </a:r>
          </a:p>
          <a:p>
            <a:pPr lvl="1"/>
            <a:r>
              <a:rPr lang="en-GB" dirty="0"/>
              <a:t>A user needs to enter a username and password</a:t>
            </a:r>
          </a:p>
          <a:p>
            <a:pPr lvl="1"/>
            <a:r>
              <a:rPr lang="en-GB" dirty="0"/>
              <a:t>If these match what is on file, the user should successfully login</a:t>
            </a:r>
          </a:p>
          <a:p>
            <a:pPr lvl="1"/>
            <a:r>
              <a:rPr lang="en-GB" dirty="0"/>
              <a:t>If the authentication fails, an error message should appear.</a:t>
            </a:r>
          </a:p>
        </p:txBody>
      </p:sp>
      <p:pic>
        <p:nvPicPr>
          <p:cNvPr id="4" name="Picture 2" descr="Image result for login screen"/>
          <p:cNvPicPr>
            <a:picLocks noChangeAspect="1" noChangeArrowheads="1"/>
          </p:cNvPicPr>
          <p:nvPr/>
        </p:nvPicPr>
        <p:blipFill rotWithShape="1">
          <a:blip r:embed="rId2">
            <a:extLst>
              <a:ext uri="{28A0092B-C50C-407E-A947-70E740481C1C}">
                <a14:useLocalDpi xmlns:a14="http://schemas.microsoft.com/office/drawing/2010/main" val="0"/>
              </a:ext>
            </a:extLst>
          </a:blip>
          <a:srcRect l="17110" t="15535" r="16488" b="13663"/>
          <a:stretch/>
        </p:blipFill>
        <p:spPr bwMode="auto">
          <a:xfrm>
            <a:off x="5972174" y="2581274"/>
            <a:ext cx="5791201"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1418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 Design: Pseudocode</a:t>
            </a:r>
          </a:p>
        </p:txBody>
      </p:sp>
      <p:sp>
        <p:nvSpPr>
          <p:cNvPr id="3" name="Content Placeholder 2"/>
          <p:cNvSpPr>
            <a:spLocks noGrp="1"/>
          </p:cNvSpPr>
          <p:nvPr>
            <p:ph idx="1"/>
          </p:nvPr>
        </p:nvSpPr>
        <p:spPr>
          <a:xfrm>
            <a:off x="263952" y="1825625"/>
            <a:ext cx="6004874" cy="4351338"/>
          </a:xfrm>
        </p:spPr>
        <p:txBody>
          <a:bodyPr>
            <a:normAutofit fontScale="85000" lnSpcReduction="20000"/>
          </a:bodyPr>
          <a:lstStyle/>
          <a:p>
            <a:r>
              <a:rPr lang="en-GB" dirty="0"/>
              <a:t>Pseudo-code is a way of describing a solution to a problem</a:t>
            </a:r>
          </a:p>
          <a:p>
            <a:pPr lvl="1"/>
            <a:r>
              <a:rPr lang="en-GB" dirty="0"/>
              <a:t>A program can be written directly using pseudo-code</a:t>
            </a:r>
          </a:p>
          <a:p>
            <a:pPr lvl="1"/>
            <a:r>
              <a:rPr lang="en-GB" dirty="0"/>
              <a:t>It uses keywords and control structures in a similar way to C#</a:t>
            </a:r>
          </a:p>
          <a:p>
            <a:r>
              <a:rPr lang="en-GB" dirty="0"/>
              <a:t>Closer to code, or ‘half code, half English’ </a:t>
            </a:r>
          </a:p>
          <a:p>
            <a:endParaRPr lang="en-GB" dirty="0"/>
          </a:p>
          <a:p>
            <a:pPr marL="715963" indent="0">
              <a:buNone/>
            </a:pPr>
            <a:r>
              <a:rPr lang="en-GB" dirty="0"/>
              <a:t>English like instructions which represent a solution to the problem, showing a solution step by step by representing the flow/logic of the solution. It is used to design a program.</a:t>
            </a:r>
          </a:p>
          <a:p>
            <a:endParaRPr lang="en-GB" dirty="0"/>
          </a:p>
        </p:txBody>
      </p:sp>
      <p:pic>
        <p:nvPicPr>
          <p:cNvPr id="4"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263952" y="4479213"/>
            <a:ext cx="638503" cy="638503"/>
          </a:xfrm>
          <a:prstGeom prst="rect">
            <a:avLst/>
          </a:prstGeom>
        </p:spPr>
      </p:pic>
      <p:pic>
        <p:nvPicPr>
          <p:cNvPr id="7" name="Picture 6"/>
          <p:cNvPicPr>
            <a:picLocks noChangeAspect="1"/>
          </p:cNvPicPr>
          <p:nvPr/>
        </p:nvPicPr>
        <p:blipFill rotWithShape="1">
          <a:blip r:embed="rId4"/>
          <a:srcRect r="8643"/>
          <a:stretch/>
        </p:blipFill>
        <p:spPr>
          <a:xfrm>
            <a:off x="6576767" y="2127882"/>
            <a:ext cx="5404701" cy="3746823"/>
          </a:xfrm>
          <a:prstGeom prst="rect">
            <a:avLst/>
          </a:prstGeom>
        </p:spPr>
      </p:pic>
    </p:spTree>
    <p:extLst>
      <p:ext uri="{BB962C8B-B14F-4D97-AF65-F5344CB8AC3E}">
        <p14:creationId xmlns:p14="http://schemas.microsoft.com/office/powerpoint/2010/main" val="2984889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rot="16200000">
            <a:off x="3765152" y="3049190"/>
            <a:ext cx="3937795" cy="1325563"/>
          </a:xfrm>
        </p:spPr>
        <p:txBody>
          <a:bodyPr/>
          <a:lstStyle/>
          <a:p>
            <a:r>
              <a:rPr lang="en-GB" dirty="0"/>
              <a:t>Quick Examples</a:t>
            </a:r>
          </a:p>
        </p:txBody>
      </p:sp>
      <p:pic>
        <p:nvPicPr>
          <p:cNvPr id="7" name="Picture 2" descr="Image result for pseudocode example gcs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068925" y="1044412"/>
            <a:ext cx="4810383" cy="511896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r="7373"/>
          <a:stretch/>
        </p:blipFill>
        <p:spPr bwMode="auto">
          <a:xfrm>
            <a:off x="104749" y="241763"/>
            <a:ext cx="4966519" cy="3002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9211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48" y="365125"/>
            <a:ext cx="11953188" cy="1325563"/>
          </a:xfrm>
        </p:spPr>
        <p:txBody>
          <a:bodyPr>
            <a:normAutofit/>
          </a:bodyPr>
          <a:lstStyle/>
          <a:p>
            <a:r>
              <a:rPr lang="en-GB" sz="4000" dirty="0"/>
              <a:t>Best Practice for Writing Pseudocode</a:t>
            </a:r>
          </a:p>
        </p:txBody>
      </p:sp>
      <p:sp>
        <p:nvSpPr>
          <p:cNvPr id="3" name="Content Placeholder 2"/>
          <p:cNvSpPr>
            <a:spLocks noGrp="1"/>
          </p:cNvSpPr>
          <p:nvPr>
            <p:ph idx="1"/>
          </p:nvPr>
        </p:nvSpPr>
        <p:spPr>
          <a:xfrm>
            <a:off x="253738" y="1571101"/>
            <a:ext cx="11303524" cy="5150209"/>
          </a:xfrm>
        </p:spPr>
        <p:txBody>
          <a:bodyPr>
            <a:normAutofit fontScale="92500" lnSpcReduction="20000"/>
          </a:bodyPr>
          <a:lstStyle/>
          <a:p>
            <a:pPr marL="514350" indent="-514350">
              <a:buAutoNum type="arabicPeriod"/>
            </a:pPr>
            <a:r>
              <a:rPr lang="en-GB" dirty="0"/>
              <a:t>Keep it </a:t>
            </a:r>
            <a:r>
              <a:rPr lang="en-GB" dirty="0">
                <a:solidFill>
                  <a:srgbClr val="07E073"/>
                </a:solidFill>
              </a:rPr>
              <a:t>Language independent </a:t>
            </a:r>
            <a:r>
              <a:rPr lang="en-GB" dirty="0"/>
              <a:t>(half code, half English)</a:t>
            </a:r>
          </a:p>
          <a:p>
            <a:pPr lvl="2"/>
            <a:r>
              <a:rPr lang="en-GB" dirty="0"/>
              <a:t>Write your instructions using plain English to start with (ensuring it’s logical), then make it more “code-like”</a:t>
            </a:r>
          </a:p>
          <a:p>
            <a:pPr lvl="2"/>
            <a:r>
              <a:rPr lang="en-GB" dirty="0"/>
              <a:t>Try to start your instructions with verbs such as </a:t>
            </a:r>
            <a:r>
              <a:rPr lang="en-GB" b="1" dirty="0">
                <a:solidFill>
                  <a:srgbClr val="07E073"/>
                </a:solidFill>
              </a:rPr>
              <a:t>INPUT</a:t>
            </a:r>
            <a:r>
              <a:rPr lang="en-GB" b="1" dirty="0"/>
              <a:t>, </a:t>
            </a:r>
            <a:r>
              <a:rPr lang="en-GB" b="1" dirty="0">
                <a:solidFill>
                  <a:srgbClr val="07E073"/>
                </a:solidFill>
              </a:rPr>
              <a:t>PRINT</a:t>
            </a:r>
            <a:r>
              <a:rPr lang="en-GB" b="1" dirty="0"/>
              <a:t>, </a:t>
            </a:r>
            <a:r>
              <a:rPr lang="en-GB" b="1" dirty="0">
                <a:solidFill>
                  <a:srgbClr val="07E073"/>
                </a:solidFill>
              </a:rPr>
              <a:t>SET</a:t>
            </a:r>
            <a:r>
              <a:rPr lang="en-GB" b="1" dirty="0"/>
              <a:t> </a:t>
            </a:r>
            <a:r>
              <a:rPr lang="en-GB" dirty="0"/>
              <a:t>to get a user input, output something to the user, or assign a variable.</a:t>
            </a:r>
          </a:p>
          <a:p>
            <a:pPr lvl="2"/>
            <a:endParaRPr lang="en-GB" dirty="0"/>
          </a:p>
          <a:p>
            <a:pPr marL="514350" indent="-514350">
              <a:buFont typeface="+mj-lt"/>
              <a:buAutoNum type="arabicPeriod"/>
            </a:pPr>
            <a:r>
              <a:rPr lang="en-GB" dirty="0"/>
              <a:t>Use capitalised Control Structures (Selection and Iteration)</a:t>
            </a:r>
          </a:p>
          <a:p>
            <a:pPr lvl="2"/>
            <a:r>
              <a:rPr lang="en-GB" dirty="0"/>
              <a:t>Use </a:t>
            </a:r>
            <a:r>
              <a:rPr lang="en-GB" b="1" dirty="0">
                <a:solidFill>
                  <a:srgbClr val="07E073"/>
                </a:solidFill>
              </a:rPr>
              <a:t>IF</a:t>
            </a:r>
            <a:r>
              <a:rPr lang="en-GB" b="1" dirty="0"/>
              <a:t>… </a:t>
            </a:r>
            <a:r>
              <a:rPr lang="en-GB" b="1" dirty="0">
                <a:solidFill>
                  <a:srgbClr val="07E073"/>
                </a:solidFill>
              </a:rPr>
              <a:t>ELSE</a:t>
            </a:r>
            <a:r>
              <a:rPr lang="en-GB" b="1" dirty="0"/>
              <a:t> … </a:t>
            </a:r>
            <a:r>
              <a:rPr lang="en-GB" b="1" dirty="0">
                <a:solidFill>
                  <a:srgbClr val="07E073"/>
                </a:solidFill>
              </a:rPr>
              <a:t>END IF</a:t>
            </a:r>
            <a:r>
              <a:rPr lang="en-GB" dirty="0">
                <a:solidFill>
                  <a:srgbClr val="07E073"/>
                </a:solidFill>
              </a:rPr>
              <a:t> </a:t>
            </a:r>
            <a:r>
              <a:rPr lang="en-GB" dirty="0"/>
              <a:t>in alignment </a:t>
            </a:r>
          </a:p>
          <a:p>
            <a:pPr lvl="2"/>
            <a:r>
              <a:rPr lang="en-GB" dirty="0"/>
              <a:t>For iteration, use </a:t>
            </a:r>
          </a:p>
          <a:p>
            <a:pPr lvl="3"/>
            <a:r>
              <a:rPr lang="en-GB" b="1" dirty="0">
                <a:solidFill>
                  <a:srgbClr val="07E073"/>
                </a:solidFill>
              </a:rPr>
              <a:t>FOR</a:t>
            </a:r>
            <a:r>
              <a:rPr lang="en-GB" b="1" dirty="0"/>
              <a:t> …. </a:t>
            </a:r>
            <a:r>
              <a:rPr lang="en-GB" b="1" dirty="0">
                <a:solidFill>
                  <a:srgbClr val="07E073"/>
                </a:solidFill>
              </a:rPr>
              <a:t>END FOR</a:t>
            </a:r>
            <a:r>
              <a:rPr lang="en-GB" dirty="0">
                <a:solidFill>
                  <a:srgbClr val="07E073"/>
                </a:solidFill>
              </a:rPr>
              <a:t> </a:t>
            </a:r>
          </a:p>
          <a:p>
            <a:pPr lvl="3"/>
            <a:r>
              <a:rPr lang="en-GB" b="1" dirty="0">
                <a:solidFill>
                  <a:srgbClr val="07E073"/>
                </a:solidFill>
              </a:rPr>
              <a:t>WHILE</a:t>
            </a:r>
            <a:r>
              <a:rPr lang="en-GB" b="1" dirty="0"/>
              <a:t> … </a:t>
            </a:r>
            <a:r>
              <a:rPr lang="en-GB" b="1" dirty="0">
                <a:solidFill>
                  <a:srgbClr val="07E073"/>
                </a:solidFill>
              </a:rPr>
              <a:t>END WHILE</a:t>
            </a:r>
          </a:p>
          <a:p>
            <a:pPr lvl="3"/>
            <a:r>
              <a:rPr lang="en-GB" b="1" dirty="0">
                <a:solidFill>
                  <a:srgbClr val="07E073"/>
                </a:solidFill>
              </a:rPr>
              <a:t>DO</a:t>
            </a:r>
            <a:r>
              <a:rPr lang="en-GB" b="1" dirty="0"/>
              <a:t> … </a:t>
            </a:r>
            <a:r>
              <a:rPr lang="en-GB" b="1" dirty="0">
                <a:solidFill>
                  <a:srgbClr val="07E073"/>
                </a:solidFill>
              </a:rPr>
              <a:t>WHILE</a:t>
            </a:r>
          </a:p>
          <a:p>
            <a:pPr lvl="3"/>
            <a:r>
              <a:rPr lang="en-GB" dirty="0"/>
              <a:t>When you need to loop a piece of code.</a:t>
            </a:r>
          </a:p>
          <a:p>
            <a:pPr marL="514350" indent="-514350">
              <a:buFont typeface="+mj-lt"/>
              <a:buAutoNum type="arabicPeriod"/>
            </a:pPr>
            <a:r>
              <a:rPr lang="en-GB" dirty="0">
                <a:solidFill>
                  <a:srgbClr val="07E073"/>
                </a:solidFill>
              </a:rPr>
              <a:t>Use indentation</a:t>
            </a:r>
          </a:p>
          <a:p>
            <a:pPr lvl="2"/>
            <a:r>
              <a:rPr lang="en-GB" dirty="0"/>
              <a:t>If a line of code is within a loop, keep it indented. If not, keep it in line with the previous line of code!</a:t>
            </a:r>
          </a:p>
          <a:p>
            <a:pPr lvl="2"/>
            <a:r>
              <a:rPr lang="en-GB" dirty="0"/>
              <a:t>When ending a loop such as adding an “END IF” or “END WHILE”, it should be in line with the loop declaration</a:t>
            </a:r>
          </a:p>
          <a:p>
            <a:pPr lvl="2"/>
            <a:endParaRPr lang="en-GB" dirty="0"/>
          </a:p>
        </p:txBody>
      </p:sp>
    </p:spTree>
    <p:extLst>
      <p:ext uri="{BB962C8B-B14F-4D97-AF65-F5344CB8AC3E}">
        <p14:creationId xmlns:p14="http://schemas.microsoft.com/office/powerpoint/2010/main" val="291762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par>
                          <p:cTn id="29" fill="hold">
                            <p:stCondLst>
                              <p:cond delay="1500"/>
                            </p:stCondLst>
                            <p:childTnLst>
                              <p:par>
                                <p:cTn id="30" presetID="10" presetClass="entr" presetSubtype="0" fill="hold" nodeType="after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par>
                          <p:cTn id="37" fill="hold">
                            <p:stCondLst>
                              <p:cond delay="2500"/>
                            </p:stCondLst>
                            <p:childTnLst>
                              <p:par>
                                <p:cTn id="38" presetID="10" presetClass="entr" presetSubtype="0" fill="hold" nodeType="after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par>
                          <p:cTn id="41" fill="hold">
                            <p:stCondLst>
                              <p:cond delay="3000"/>
                            </p:stCondLst>
                            <p:childTnLst>
                              <p:par>
                                <p:cTn id="42" presetID="10" presetClass="entr" presetSubtype="0" fill="hold" nodeType="after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Effect transition="in" filter="fade">
                                      <p:cBhvr>
                                        <p:cTn id="49" dur="500"/>
                                        <p:tgtEl>
                                          <p:spTgt spid="3">
                                            <p:txEl>
                                              <p:pRg st="11" end="11"/>
                                            </p:txEl>
                                          </p:spTgt>
                                        </p:tgtEl>
                                      </p:cBhvr>
                                    </p:animEffect>
                                  </p:childTnLst>
                                </p:cTn>
                              </p:par>
                            </p:childTnLst>
                          </p:cTn>
                        </p:par>
                        <p:par>
                          <p:cTn id="50" fill="hold">
                            <p:stCondLst>
                              <p:cond delay="500"/>
                            </p:stCondLst>
                            <p:childTnLst>
                              <p:par>
                                <p:cTn id="51" presetID="10" presetClass="entr" presetSubtype="0" fill="hold" nodeType="after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Effect transition="in" filter="fade">
                                      <p:cBhvr>
                                        <p:cTn id="53" dur="500"/>
                                        <p:tgtEl>
                                          <p:spTgt spid="3">
                                            <p:txEl>
                                              <p:pRg st="12" end="12"/>
                                            </p:txEl>
                                          </p:spTgt>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Create Your Own</a:t>
            </a:r>
          </a:p>
        </p:txBody>
      </p:sp>
      <p:sp>
        <p:nvSpPr>
          <p:cNvPr id="3" name="Content Placeholder 2"/>
          <p:cNvSpPr>
            <a:spLocks noGrp="1"/>
          </p:cNvSpPr>
          <p:nvPr>
            <p:ph idx="1"/>
          </p:nvPr>
        </p:nvSpPr>
        <p:spPr>
          <a:xfrm>
            <a:off x="216815" y="1564848"/>
            <a:ext cx="7230359" cy="5373279"/>
          </a:xfrm>
        </p:spPr>
        <p:txBody>
          <a:bodyPr>
            <a:noAutofit/>
          </a:bodyPr>
          <a:lstStyle/>
          <a:p>
            <a:pPr marL="0" indent="0">
              <a:buNone/>
            </a:pPr>
            <a:r>
              <a:rPr lang="en-GB" sz="2000" dirty="0"/>
              <a:t>Create a section of pseudocode for the following scenario:</a:t>
            </a:r>
          </a:p>
          <a:p>
            <a:pPr marL="0" indent="0">
              <a:buNone/>
            </a:pPr>
            <a:r>
              <a:rPr lang="en-GB" sz="2000" dirty="0"/>
              <a:t>A register screen for a new staff member. They need to enter their name, username, password and password confirmation.</a:t>
            </a:r>
          </a:p>
          <a:p>
            <a:pPr marL="0" indent="0">
              <a:buNone/>
            </a:pPr>
            <a:endParaRPr lang="en-GB" sz="2000" dirty="0"/>
          </a:p>
          <a:p>
            <a:pPr>
              <a:buFontTx/>
              <a:buChar char="-"/>
            </a:pPr>
            <a:r>
              <a:rPr lang="en-GB" sz="2000" dirty="0"/>
              <a:t>The name should be </a:t>
            </a:r>
            <a:r>
              <a:rPr lang="en-GB" sz="2000" dirty="0">
                <a:solidFill>
                  <a:srgbClr val="07E073"/>
                </a:solidFill>
              </a:rPr>
              <a:t>at least 3 characters </a:t>
            </a:r>
            <a:r>
              <a:rPr lang="en-GB" sz="2000" dirty="0"/>
              <a:t>long</a:t>
            </a:r>
          </a:p>
          <a:p>
            <a:pPr>
              <a:buFontTx/>
              <a:buChar char="-"/>
            </a:pPr>
            <a:r>
              <a:rPr lang="en-GB" sz="2000" dirty="0"/>
              <a:t>Their username should be </a:t>
            </a:r>
            <a:r>
              <a:rPr lang="en-GB" sz="2000" dirty="0">
                <a:solidFill>
                  <a:srgbClr val="07E073"/>
                </a:solidFill>
              </a:rPr>
              <a:t>unique</a:t>
            </a:r>
            <a:r>
              <a:rPr lang="en-GB" sz="2000" dirty="0"/>
              <a:t> (not in a stored </a:t>
            </a:r>
            <a:r>
              <a:rPr lang="en-GB" sz="2000" dirty="0" err="1"/>
              <a:t>listOfUsernames</a:t>
            </a:r>
            <a:r>
              <a:rPr lang="en-GB" sz="2000" dirty="0"/>
              <a:t>) </a:t>
            </a:r>
            <a:r>
              <a:rPr lang="en-GB" sz="2000" dirty="0">
                <a:solidFill>
                  <a:srgbClr val="07E073"/>
                </a:solidFill>
              </a:rPr>
              <a:t>and over 5 characters</a:t>
            </a:r>
          </a:p>
          <a:p>
            <a:pPr>
              <a:buFontTx/>
              <a:buChar char="-"/>
            </a:pPr>
            <a:r>
              <a:rPr lang="en-GB" sz="2000" dirty="0"/>
              <a:t>The password should be at </a:t>
            </a:r>
            <a:r>
              <a:rPr lang="en-GB" sz="2000" dirty="0">
                <a:solidFill>
                  <a:srgbClr val="07E073"/>
                </a:solidFill>
              </a:rPr>
              <a:t>least 8 characters</a:t>
            </a:r>
          </a:p>
          <a:p>
            <a:pPr>
              <a:buFontTx/>
              <a:buChar char="-"/>
            </a:pPr>
            <a:r>
              <a:rPr lang="en-GB" sz="2000" dirty="0"/>
              <a:t>The password and password confirmation should be the same.</a:t>
            </a:r>
          </a:p>
          <a:p>
            <a:pPr>
              <a:buFontTx/>
              <a:buChar char="-"/>
            </a:pPr>
            <a:endParaRPr lang="en-GB" sz="2000" dirty="0"/>
          </a:p>
          <a:p>
            <a:pPr marL="0" indent="0">
              <a:buNone/>
            </a:pPr>
            <a:r>
              <a:rPr lang="en-GB" sz="2000" dirty="0"/>
              <a:t>If any of these events fail, </a:t>
            </a:r>
            <a:r>
              <a:rPr lang="en-GB" sz="2000" dirty="0">
                <a:solidFill>
                  <a:srgbClr val="07E073"/>
                </a:solidFill>
              </a:rPr>
              <a:t>an error message should be displayed</a:t>
            </a:r>
            <a:r>
              <a:rPr lang="en-GB" sz="2000" dirty="0"/>
              <a:t>. If there are no errors, the user should be added to the system using a </a:t>
            </a:r>
            <a:r>
              <a:rPr lang="en-GB" sz="2000" dirty="0" err="1"/>
              <a:t>saveUser</a:t>
            </a:r>
            <a:r>
              <a:rPr lang="en-GB" sz="2000" dirty="0"/>
              <a:t>() method.</a:t>
            </a:r>
          </a:p>
        </p:txBody>
      </p:sp>
      <p:pic>
        <p:nvPicPr>
          <p:cNvPr id="5" name="Picture 4"/>
          <p:cNvPicPr>
            <a:picLocks noChangeAspect="1"/>
          </p:cNvPicPr>
          <p:nvPr/>
        </p:nvPicPr>
        <p:blipFill>
          <a:blip r:embed="rId2"/>
          <a:stretch>
            <a:fillRect/>
          </a:stretch>
        </p:blipFill>
        <p:spPr>
          <a:xfrm>
            <a:off x="7799337" y="1690688"/>
            <a:ext cx="4175847" cy="4188676"/>
          </a:xfrm>
          <a:prstGeom prst="rect">
            <a:avLst/>
          </a:prstGeom>
        </p:spPr>
      </p:pic>
    </p:spTree>
    <p:extLst>
      <p:ext uri="{BB962C8B-B14F-4D97-AF65-F5344CB8AC3E}">
        <p14:creationId xmlns:p14="http://schemas.microsoft.com/office/powerpoint/2010/main" val="21155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Program Control Structures</a:t>
            </a:r>
          </a:p>
        </p:txBody>
      </p:sp>
      <p:sp>
        <p:nvSpPr>
          <p:cNvPr id="3" name="Content Placeholder 2"/>
          <p:cNvSpPr>
            <a:spLocks noGrp="1"/>
          </p:cNvSpPr>
          <p:nvPr>
            <p:ph idx="1"/>
          </p:nvPr>
        </p:nvSpPr>
        <p:spPr/>
        <p:txBody>
          <a:bodyPr/>
          <a:lstStyle/>
          <a:p>
            <a:r>
              <a:rPr lang="en-GB" b="1" dirty="0"/>
              <a:t>Executing all lines of code in a program</a:t>
            </a:r>
            <a:r>
              <a:rPr lang="en-GB" dirty="0"/>
              <a:t> in a sequential, step-by-step manner</a:t>
            </a:r>
          </a:p>
          <a:p>
            <a:endParaRPr lang="en-GB" dirty="0"/>
          </a:p>
          <a:p>
            <a:r>
              <a:rPr lang="en-GB" dirty="0"/>
              <a:t>This is the default order in which instructions are carried out by the computer, where simple programs run from beginning to end, one statement after another (e.g., Step 1, then Step 2, then Step 3)</a:t>
            </a:r>
          </a:p>
          <a:p>
            <a:endParaRPr lang="en-GB" dirty="0"/>
          </a:p>
        </p:txBody>
      </p:sp>
      <p:sp>
        <p:nvSpPr>
          <p:cNvPr id="4" name="TextBox 3"/>
          <p:cNvSpPr txBox="1"/>
          <p:nvPr/>
        </p:nvSpPr>
        <p:spPr>
          <a:xfrm>
            <a:off x="7946796" y="1173381"/>
            <a:ext cx="2960017" cy="584775"/>
          </a:xfrm>
          <a:prstGeom prst="rect">
            <a:avLst/>
          </a:prstGeom>
          <a:noFill/>
        </p:spPr>
        <p:txBody>
          <a:bodyPr wrap="square" rtlCol="0">
            <a:spAutoFit/>
          </a:bodyPr>
          <a:lstStyle/>
          <a:p>
            <a:pPr algn="r"/>
            <a:r>
              <a:rPr lang="en-GB" sz="3200" dirty="0">
                <a:solidFill>
                  <a:srgbClr val="07E073"/>
                </a:solidFill>
                <a:latin typeface="LEMON MILK" panose="00000500000000000000" pitchFamily="50" charset="0"/>
              </a:rPr>
              <a:t>SEQUENCE</a:t>
            </a:r>
          </a:p>
        </p:txBody>
      </p:sp>
    </p:spTree>
    <p:extLst>
      <p:ext uri="{BB962C8B-B14F-4D97-AF65-F5344CB8AC3E}">
        <p14:creationId xmlns:p14="http://schemas.microsoft.com/office/powerpoint/2010/main" val="36008552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Program Control Structures</a:t>
            </a:r>
          </a:p>
        </p:txBody>
      </p:sp>
      <p:sp>
        <p:nvSpPr>
          <p:cNvPr id="3" name="Content Placeholder 2"/>
          <p:cNvSpPr>
            <a:spLocks noGrp="1"/>
          </p:cNvSpPr>
          <p:nvPr>
            <p:ph idx="1"/>
          </p:nvPr>
        </p:nvSpPr>
        <p:spPr/>
        <p:txBody>
          <a:bodyPr/>
          <a:lstStyle/>
          <a:p>
            <a:r>
              <a:rPr lang="en-GB" b="1" dirty="0"/>
              <a:t>Executing lines of code based on the outcome of an IF-Statement</a:t>
            </a:r>
          </a:p>
          <a:p>
            <a:endParaRPr lang="en-GB" b="1" dirty="0"/>
          </a:p>
          <a:p>
            <a:r>
              <a:rPr lang="en-GB" dirty="0"/>
              <a:t>Selection is the ability to specify different execution paths in an algorithm so that certain steps are only carried out if specified conditions are met.</a:t>
            </a:r>
          </a:p>
          <a:p>
            <a:r>
              <a:rPr lang="en-GB" dirty="0"/>
              <a:t>The sequence of instructions is dynamically changed based on the value of variables within the program, which is achieved using IF and ELSE statements combined with Boolean operators</a:t>
            </a:r>
          </a:p>
        </p:txBody>
      </p:sp>
      <p:sp>
        <p:nvSpPr>
          <p:cNvPr id="4" name="TextBox 3"/>
          <p:cNvSpPr txBox="1"/>
          <p:nvPr/>
        </p:nvSpPr>
        <p:spPr>
          <a:xfrm>
            <a:off x="7946796" y="1173381"/>
            <a:ext cx="2960017" cy="584775"/>
          </a:xfrm>
          <a:prstGeom prst="rect">
            <a:avLst/>
          </a:prstGeom>
          <a:noFill/>
        </p:spPr>
        <p:txBody>
          <a:bodyPr wrap="square" rtlCol="0">
            <a:spAutoFit/>
          </a:bodyPr>
          <a:lstStyle/>
          <a:p>
            <a:pPr algn="r"/>
            <a:r>
              <a:rPr lang="en-GB" sz="3200" dirty="0">
                <a:solidFill>
                  <a:srgbClr val="07E073"/>
                </a:solidFill>
                <a:latin typeface="LEMON MILK" panose="00000500000000000000" pitchFamily="50" charset="0"/>
              </a:rPr>
              <a:t>Selection</a:t>
            </a:r>
          </a:p>
        </p:txBody>
      </p:sp>
    </p:spTree>
    <p:extLst>
      <p:ext uri="{BB962C8B-B14F-4D97-AF65-F5344CB8AC3E}">
        <p14:creationId xmlns:p14="http://schemas.microsoft.com/office/powerpoint/2010/main" val="24613529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Program Control Structures</a:t>
            </a:r>
          </a:p>
        </p:txBody>
      </p:sp>
      <p:sp>
        <p:nvSpPr>
          <p:cNvPr id="3" name="Content Placeholder 2"/>
          <p:cNvSpPr>
            <a:spLocks noGrp="1"/>
          </p:cNvSpPr>
          <p:nvPr>
            <p:ph idx="1"/>
          </p:nvPr>
        </p:nvSpPr>
        <p:spPr/>
        <p:txBody>
          <a:bodyPr>
            <a:normAutofit fontScale="92500" lnSpcReduction="20000"/>
          </a:bodyPr>
          <a:lstStyle/>
          <a:p>
            <a:r>
              <a:rPr lang="en-GB" b="1" dirty="0"/>
              <a:t>Executing lines of code repeatedly in the form of loops.</a:t>
            </a:r>
          </a:p>
          <a:p>
            <a:endParaRPr lang="en-GB" b="1" dirty="0"/>
          </a:p>
          <a:p>
            <a:r>
              <a:rPr lang="en-GB" dirty="0"/>
              <a:t>Iteration (commonly known as looping) is used when a section of code needs to be carried out more than once. It allows steps to be repeated either a given number of times, or until a specific condition has been met. </a:t>
            </a:r>
          </a:p>
          <a:p>
            <a:endParaRPr lang="en-GB" dirty="0"/>
          </a:p>
          <a:p>
            <a:r>
              <a:rPr lang="en-GB" dirty="0"/>
              <a:t>Programming languages divide loops into two distinct types:</a:t>
            </a:r>
          </a:p>
          <a:p>
            <a:pPr lvl="1"/>
            <a:r>
              <a:rPr lang="en-GB" dirty="0">
                <a:solidFill>
                  <a:srgbClr val="07E073"/>
                </a:solidFill>
              </a:rPr>
              <a:t>Unconditional loops</a:t>
            </a:r>
            <a:r>
              <a:rPr lang="en-GB" dirty="0"/>
              <a:t>: These repeat code a pre-determined, known number of times (such as a standard FOR loop).</a:t>
            </a:r>
          </a:p>
          <a:p>
            <a:pPr lvl="1"/>
            <a:r>
              <a:rPr lang="en-GB" dirty="0">
                <a:solidFill>
                  <a:srgbClr val="07E073"/>
                </a:solidFill>
              </a:rPr>
              <a:t>Conditional loops</a:t>
            </a:r>
            <a:r>
              <a:rPr lang="en-GB" dirty="0"/>
              <a:t>: These repeat code for an unknown number of times, continuing until a particular condition evaluates to true or false (such as a standard WHILE loop).</a:t>
            </a:r>
          </a:p>
        </p:txBody>
      </p:sp>
      <p:sp>
        <p:nvSpPr>
          <p:cNvPr id="4" name="TextBox 3"/>
          <p:cNvSpPr txBox="1"/>
          <p:nvPr/>
        </p:nvSpPr>
        <p:spPr>
          <a:xfrm>
            <a:off x="7946796" y="1173381"/>
            <a:ext cx="2960017" cy="584775"/>
          </a:xfrm>
          <a:prstGeom prst="rect">
            <a:avLst/>
          </a:prstGeom>
          <a:noFill/>
        </p:spPr>
        <p:txBody>
          <a:bodyPr wrap="square" rtlCol="0">
            <a:spAutoFit/>
          </a:bodyPr>
          <a:lstStyle/>
          <a:p>
            <a:pPr algn="r"/>
            <a:r>
              <a:rPr lang="en-GB" sz="3200" dirty="0">
                <a:solidFill>
                  <a:srgbClr val="07E073"/>
                </a:solidFill>
                <a:latin typeface="LEMON MILK" panose="00000500000000000000" pitchFamily="50" charset="0"/>
              </a:rPr>
              <a:t>Iteration</a:t>
            </a:r>
          </a:p>
        </p:txBody>
      </p:sp>
    </p:spTree>
    <p:extLst>
      <p:ext uri="{BB962C8B-B14F-4D97-AF65-F5344CB8AC3E}">
        <p14:creationId xmlns:p14="http://schemas.microsoft.com/office/powerpoint/2010/main" val="28714297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Unconditional loops</a:t>
            </a:r>
          </a:p>
        </p:txBody>
      </p:sp>
      <p:sp>
        <p:nvSpPr>
          <p:cNvPr id="3" name="Content Placeholder 2"/>
          <p:cNvSpPr>
            <a:spLocks noGrp="1"/>
          </p:cNvSpPr>
          <p:nvPr>
            <p:ph idx="1"/>
          </p:nvPr>
        </p:nvSpPr>
        <p:spPr>
          <a:xfrm>
            <a:off x="173620" y="1918223"/>
            <a:ext cx="6817489" cy="4351338"/>
          </a:xfrm>
        </p:spPr>
        <p:txBody>
          <a:bodyPr/>
          <a:lstStyle/>
          <a:p>
            <a:pPr marL="457200" lvl="1" indent="0">
              <a:buNone/>
            </a:pPr>
            <a:r>
              <a:rPr lang="en-GB" dirty="0">
                <a:solidFill>
                  <a:schemeClr val="tx1"/>
                </a:solidFill>
              </a:rPr>
              <a:t>Unconditional loops will repeat a </a:t>
            </a:r>
          </a:p>
          <a:p>
            <a:pPr marL="457200" lvl="1" indent="0">
              <a:buNone/>
            </a:pPr>
            <a:r>
              <a:rPr lang="en-GB" dirty="0">
                <a:solidFill>
                  <a:schemeClr val="tx1"/>
                </a:solidFill>
              </a:rPr>
              <a:t>known number of times.</a:t>
            </a:r>
          </a:p>
          <a:p>
            <a:pPr marL="457200" lvl="1" indent="0">
              <a:buNone/>
            </a:pPr>
            <a:endParaRPr lang="en-GB" sz="3200" b="1" dirty="0">
              <a:solidFill>
                <a:schemeClr val="tx1"/>
              </a:solidFill>
              <a:latin typeface="Cordia New" panose="020B0304020202020204" pitchFamily="34" charset="-34"/>
              <a:cs typeface="Cordia New" panose="020B0304020202020204" pitchFamily="34" charset="-34"/>
            </a:endParaRPr>
          </a:p>
          <a:p>
            <a:pPr marL="457200" lvl="1" indent="0">
              <a:buNone/>
            </a:pPr>
            <a:r>
              <a:rPr lang="en-GB" b="1" dirty="0">
                <a:solidFill>
                  <a:schemeClr val="tx1"/>
                </a:solidFill>
                <a:latin typeface="Cordia New" panose="020B0304020202020204" pitchFamily="34" charset="-34"/>
                <a:cs typeface="Cordia New" panose="020B0304020202020204" pitchFamily="34" charset="-34"/>
              </a:rPr>
              <a:t>for(</a:t>
            </a:r>
            <a:r>
              <a:rPr lang="en-GB" b="1" dirty="0" err="1">
                <a:solidFill>
                  <a:schemeClr val="tx1"/>
                </a:solidFill>
                <a:latin typeface="Cordia New" panose="020B0304020202020204" pitchFamily="34" charset="-34"/>
                <a:cs typeface="Cordia New" panose="020B0304020202020204" pitchFamily="34" charset="-34"/>
              </a:rPr>
              <a:t>int</a:t>
            </a:r>
            <a:r>
              <a:rPr lang="en-GB" b="1" dirty="0">
                <a:solidFill>
                  <a:schemeClr val="tx1"/>
                </a:solidFill>
                <a:latin typeface="Cordia New" panose="020B0304020202020204" pitchFamily="34" charset="-34"/>
                <a:cs typeface="Cordia New" panose="020B0304020202020204" pitchFamily="34" charset="-34"/>
              </a:rPr>
              <a:t> i = 0; i &lt; 52;i++)</a:t>
            </a:r>
          </a:p>
          <a:p>
            <a:pPr marL="457200" lvl="1" indent="0">
              <a:buNone/>
            </a:pPr>
            <a:r>
              <a:rPr lang="en-GB" b="1" dirty="0">
                <a:solidFill>
                  <a:schemeClr val="tx1"/>
                </a:solidFill>
                <a:latin typeface="Cordia New" panose="020B0304020202020204" pitchFamily="34" charset="-34"/>
                <a:cs typeface="Cordia New" panose="020B0304020202020204" pitchFamily="34" charset="-34"/>
              </a:rPr>
              <a:t>{</a:t>
            </a:r>
          </a:p>
          <a:p>
            <a:pPr marL="457200" lvl="1" indent="0">
              <a:buNone/>
            </a:pPr>
            <a:r>
              <a:rPr lang="en-GB" b="1" dirty="0">
                <a:solidFill>
                  <a:schemeClr val="tx1"/>
                </a:solidFill>
                <a:latin typeface="Cordia New" panose="020B0304020202020204" pitchFamily="34" charset="-34"/>
                <a:cs typeface="Cordia New" panose="020B0304020202020204" pitchFamily="34" charset="-34"/>
              </a:rPr>
              <a:t>	</a:t>
            </a:r>
            <a:r>
              <a:rPr lang="en-GB" b="1" dirty="0" err="1">
                <a:solidFill>
                  <a:schemeClr val="tx1"/>
                </a:solidFill>
                <a:latin typeface="Cordia New" panose="020B0304020202020204" pitchFamily="34" charset="-34"/>
                <a:cs typeface="Cordia New" panose="020B0304020202020204" pitchFamily="34" charset="-34"/>
              </a:rPr>
              <a:t>MessageBox.Show</a:t>
            </a:r>
            <a:r>
              <a:rPr lang="en-GB" b="1" dirty="0">
                <a:solidFill>
                  <a:schemeClr val="tx1"/>
                </a:solidFill>
                <a:latin typeface="Cordia New" panose="020B0304020202020204" pitchFamily="34" charset="-34"/>
                <a:cs typeface="Cordia New" panose="020B0304020202020204" pitchFamily="34" charset="-34"/>
              </a:rPr>
              <a:t>(“Go for another lap!”);</a:t>
            </a:r>
          </a:p>
          <a:p>
            <a:pPr marL="457200" lvl="1" indent="0">
              <a:buNone/>
            </a:pPr>
            <a:r>
              <a:rPr lang="en-GB" b="1" dirty="0">
                <a:solidFill>
                  <a:schemeClr val="tx1"/>
                </a:solidFill>
                <a:latin typeface="Cordia New" panose="020B0304020202020204" pitchFamily="34" charset="-34"/>
                <a:cs typeface="Cordia New" panose="020B0304020202020204" pitchFamily="34" charset="-34"/>
              </a:rPr>
              <a:t>}</a:t>
            </a:r>
          </a:p>
          <a:p>
            <a:endParaRPr lang="en-GB" dirty="0">
              <a:solidFill>
                <a:schemeClr val="tx1"/>
              </a:solidFill>
            </a:endParaRPr>
          </a:p>
        </p:txBody>
      </p:sp>
      <p:pic>
        <p:nvPicPr>
          <p:cNvPr id="4" name="Picture 4" descr="Image result for race track clipart">
            <a:extLst>
              <a:ext uri="{FF2B5EF4-FFF2-40B4-BE49-F238E27FC236}">
                <a16:creationId xmlns:a16="http://schemas.microsoft.com/office/drawing/2014/main" xmlns="" id="{016A2D6D-4A77-4AC1-B9D3-031E384DBD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27" t="9043" r="6318" b="6840"/>
          <a:stretch/>
        </p:blipFill>
        <p:spPr bwMode="auto">
          <a:xfrm>
            <a:off x="7503634" y="1735805"/>
            <a:ext cx="4409086" cy="29780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503635" y="4764505"/>
            <a:ext cx="4030640" cy="369332"/>
          </a:xfrm>
          <a:prstGeom prst="rect">
            <a:avLst/>
          </a:prstGeom>
          <a:noFill/>
        </p:spPr>
        <p:txBody>
          <a:bodyPr wrap="square" rtlCol="0">
            <a:spAutoFit/>
          </a:bodyPr>
          <a:lstStyle/>
          <a:p>
            <a:r>
              <a:rPr lang="en-GB" b="1" dirty="0"/>
              <a:t>Number of Laps to Complete: 52</a:t>
            </a:r>
          </a:p>
        </p:txBody>
      </p:sp>
    </p:spTree>
    <p:extLst>
      <p:ext uri="{BB962C8B-B14F-4D97-AF65-F5344CB8AC3E}">
        <p14:creationId xmlns:p14="http://schemas.microsoft.com/office/powerpoint/2010/main" val="28011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Condition Controlled Loops</a:t>
            </a:r>
          </a:p>
        </p:txBody>
      </p:sp>
      <p:sp>
        <p:nvSpPr>
          <p:cNvPr id="3" name="Content Placeholder 2"/>
          <p:cNvSpPr>
            <a:spLocks noGrp="1"/>
          </p:cNvSpPr>
          <p:nvPr>
            <p:ph idx="1"/>
          </p:nvPr>
        </p:nvSpPr>
        <p:spPr>
          <a:xfrm>
            <a:off x="155293" y="2114992"/>
            <a:ext cx="7426125" cy="4351338"/>
          </a:xfrm>
        </p:spPr>
        <p:txBody>
          <a:bodyPr/>
          <a:lstStyle/>
          <a:p>
            <a:pPr lvl="1"/>
            <a:r>
              <a:rPr lang="en-GB" sz="2000" dirty="0">
                <a:solidFill>
                  <a:schemeClr val="tx1"/>
                </a:solidFill>
              </a:rPr>
              <a:t>This is when the loops will run for an unknown number of times</a:t>
            </a:r>
          </a:p>
          <a:p>
            <a:pPr lvl="1"/>
            <a:r>
              <a:rPr lang="en-GB" sz="2000" dirty="0">
                <a:solidFill>
                  <a:schemeClr val="tx1"/>
                </a:solidFill>
              </a:rPr>
              <a:t>Will repeat until a particular condition is true of false</a:t>
            </a:r>
          </a:p>
          <a:p>
            <a:pPr lvl="1"/>
            <a:endParaRPr lang="en-GB" sz="2000" dirty="0">
              <a:solidFill>
                <a:schemeClr val="tx1"/>
              </a:solidFill>
            </a:endParaRPr>
          </a:p>
          <a:p>
            <a:pPr marL="457200" lvl="1" indent="0">
              <a:buNone/>
            </a:pPr>
            <a:r>
              <a:rPr lang="en-GB" b="1" dirty="0">
                <a:solidFill>
                  <a:schemeClr val="tx1"/>
                </a:solidFill>
                <a:latin typeface="Cordia New" panose="020B0304020202020204" pitchFamily="34" charset="-34"/>
                <a:cs typeface="Cordia New" panose="020B0304020202020204" pitchFamily="34" charset="-34"/>
              </a:rPr>
              <a:t>while(</a:t>
            </a:r>
            <a:r>
              <a:rPr lang="en-GB" b="1" dirty="0" err="1">
                <a:solidFill>
                  <a:schemeClr val="tx1"/>
                </a:solidFill>
                <a:latin typeface="Cordia New" panose="020B0304020202020204" pitchFamily="34" charset="-34"/>
                <a:cs typeface="Cordia New" panose="020B0304020202020204" pitchFamily="34" charset="-34"/>
              </a:rPr>
              <a:t>stillHaveFuel</a:t>
            </a:r>
            <a:r>
              <a:rPr lang="en-GB" b="1" dirty="0">
                <a:solidFill>
                  <a:schemeClr val="tx1"/>
                </a:solidFill>
                <a:latin typeface="Cordia New" panose="020B0304020202020204" pitchFamily="34" charset="-34"/>
                <a:cs typeface="Cordia New" panose="020B0304020202020204" pitchFamily="34" charset="-34"/>
              </a:rPr>
              <a:t> = True)</a:t>
            </a:r>
          </a:p>
          <a:p>
            <a:pPr marL="457200" lvl="1" indent="0">
              <a:buNone/>
            </a:pPr>
            <a:r>
              <a:rPr lang="en-GB" b="1" dirty="0">
                <a:solidFill>
                  <a:schemeClr val="tx1"/>
                </a:solidFill>
                <a:latin typeface="Cordia New" panose="020B0304020202020204" pitchFamily="34" charset="-34"/>
                <a:cs typeface="Cordia New" panose="020B0304020202020204" pitchFamily="34" charset="-34"/>
              </a:rPr>
              <a:t>{</a:t>
            </a:r>
          </a:p>
          <a:p>
            <a:pPr marL="457200" lvl="1" indent="0">
              <a:buNone/>
            </a:pPr>
            <a:r>
              <a:rPr lang="en-GB" b="1" dirty="0">
                <a:solidFill>
                  <a:schemeClr val="tx1"/>
                </a:solidFill>
                <a:latin typeface="Cordia New" panose="020B0304020202020204" pitchFamily="34" charset="-34"/>
                <a:cs typeface="Cordia New" panose="020B0304020202020204" pitchFamily="34" charset="-34"/>
              </a:rPr>
              <a:t>	</a:t>
            </a:r>
            <a:r>
              <a:rPr lang="en-GB" b="1" dirty="0" err="1">
                <a:solidFill>
                  <a:schemeClr val="tx1"/>
                </a:solidFill>
                <a:latin typeface="Cordia New" panose="020B0304020202020204" pitchFamily="34" charset="-34"/>
                <a:cs typeface="Cordia New" panose="020B0304020202020204" pitchFamily="34" charset="-34"/>
              </a:rPr>
              <a:t>MessageBox.Show</a:t>
            </a:r>
            <a:r>
              <a:rPr lang="en-GB" b="1" dirty="0">
                <a:solidFill>
                  <a:schemeClr val="tx1"/>
                </a:solidFill>
                <a:latin typeface="Cordia New" panose="020B0304020202020204" pitchFamily="34" charset="-34"/>
                <a:cs typeface="Cordia New" panose="020B0304020202020204" pitchFamily="34" charset="-34"/>
              </a:rPr>
              <a:t>(Do you still have fuel?”);</a:t>
            </a:r>
          </a:p>
          <a:p>
            <a:pPr marL="457200" lvl="1" indent="0">
              <a:buNone/>
            </a:pPr>
            <a:r>
              <a:rPr lang="en-GB" b="1" dirty="0">
                <a:solidFill>
                  <a:schemeClr val="tx1"/>
                </a:solidFill>
                <a:latin typeface="Cordia New" panose="020B0304020202020204" pitchFamily="34" charset="-34"/>
                <a:cs typeface="Cordia New" panose="020B0304020202020204" pitchFamily="34" charset="-34"/>
              </a:rPr>
              <a:t>	</a:t>
            </a:r>
            <a:r>
              <a:rPr lang="en-GB" b="1" dirty="0" err="1">
                <a:solidFill>
                  <a:schemeClr val="tx1"/>
                </a:solidFill>
                <a:latin typeface="Cordia New" panose="020B0304020202020204" pitchFamily="34" charset="-34"/>
                <a:cs typeface="Cordia New" panose="020B0304020202020204" pitchFamily="34" charset="-34"/>
              </a:rPr>
              <a:t>stillHaveFuel</a:t>
            </a:r>
            <a:r>
              <a:rPr lang="en-GB" b="1" dirty="0">
                <a:solidFill>
                  <a:schemeClr val="tx1"/>
                </a:solidFill>
                <a:latin typeface="Cordia New" panose="020B0304020202020204" pitchFamily="34" charset="-34"/>
                <a:cs typeface="Cordia New" panose="020B0304020202020204" pitchFamily="34" charset="-34"/>
              </a:rPr>
              <a:t> = </a:t>
            </a:r>
            <a:r>
              <a:rPr lang="en-GB" b="1" dirty="0" err="1">
                <a:solidFill>
                  <a:schemeClr val="tx1"/>
                </a:solidFill>
                <a:latin typeface="Cordia New" panose="020B0304020202020204" pitchFamily="34" charset="-34"/>
                <a:cs typeface="Cordia New" panose="020B0304020202020204" pitchFamily="34" charset="-34"/>
              </a:rPr>
              <a:t>Input.Text</a:t>
            </a:r>
            <a:r>
              <a:rPr lang="en-GB" b="1" dirty="0">
                <a:solidFill>
                  <a:schemeClr val="tx1"/>
                </a:solidFill>
                <a:latin typeface="Cordia New" panose="020B0304020202020204" pitchFamily="34" charset="-34"/>
                <a:cs typeface="Cordia New" panose="020B0304020202020204" pitchFamily="34" charset="-34"/>
              </a:rPr>
              <a:t>;</a:t>
            </a:r>
          </a:p>
          <a:p>
            <a:pPr marL="457200" lvl="1" indent="0">
              <a:buNone/>
            </a:pPr>
            <a:r>
              <a:rPr lang="en-GB" b="1" dirty="0">
                <a:solidFill>
                  <a:schemeClr val="tx1"/>
                </a:solidFill>
                <a:latin typeface="Cordia New" panose="020B0304020202020204" pitchFamily="34" charset="-34"/>
                <a:cs typeface="Cordia New" panose="020B0304020202020204" pitchFamily="34" charset="-34"/>
              </a:rPr>
              <a:t>}</a:t>
            </a:r>
          </a:p>
          <a:p>
            <a:endParaRPr lang="en-GB" dirty="0">
              <a:solidFill>
                <a:schemeClr val="tx1"/>
              </a:solidFill>
            </a:endParaRPr>
          </a:p>
        </p:txBody>
      </p:sp>
      <p:pic>
        <p:nvPicPr>
          <p:cNvPr id="4" name="Picture 4" descr="Image result for race track clipart">
            <a:extLst>
              <a:ext uri="{FF2B5EF4-FFF2-40B4-BE49-F238E27FC236}">
                <a16:creationId xmlns:a16="http://schemas.microsoft.com/office/drawing/2014/main" xmlns="" id="{016A2D6D-4A77-4AC1-B9D3-031E384DBD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27" t="9043" r="6318" b="6840"/>
          <a:stretch/>
        </p:blipFill>
        <p:spPr bwMode="auto">
          <a:xfrm>
            <a:off x="7581418" y="2114992"/>
            <a:ext cx="4409086" cy="297806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xmlns="" id="{A142D787-4442-42ED-A73B-C94CFA8BE979}"/>
              </a:ext>
            </a:extLst>
          </p:cNvPr>
          <p:cNvGrpSpPr/>
          <p:nvPr/>
        </p:nvGrpSpPr>
        <p:grpSpPr>
          <a:xfrm>
            <a:off x="7986542" y="5093059"/>
            <a:ext cx="4003962" cy="612107"/>
            <a:chOff x="6464594" y="5933553"/>
            <a:chExt cx="5371109" cy="839124"/>
          </a:xfrm>
        </p:grpSpPr>
        <p:pic>
          <p:nvPicPr>
            <p:cNvPr id="6" name="Picture 4" descr="Image result for race track clipart">
              <a:extLst>
                <a:ext uri="{FF2B5EF4-FFF2-40B4-BE49-F238E27FC236}">
                  <a16:creationId xmlns:a16="http://schemas.microsoft.com/office/drawing/2014/main" xmlns="" id="{CF1F448F-E4AA-4D8B-B35C-D683BDE598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473" t="9043" r="6318" b="78824"/>
            <a:stretch/>
          </p:blipFill>
          <p:spPr bwMode="auto">
            <a:xfrm>
              <a:off x="6464594" y="5965453"/>
              <a:ext cx="2684014" cy="8072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result for race track clipart">
              <a:extLst>
                <a:ext uri="{FF2B5EF4-FFF2-40B4-BE49-F238E27FC236}">
                  <a16:creationId xmlns:a16="http://schemas.microsoft.com/office/drawing/2014/main" xmlns="" id="{6B00AC0D-05E2-4D94-B201-C8201D4F17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473" t="9043" r="6318" b="78824"/>
            <a:stretch/>
          </p:blipFill>
          <p:spPr bwMode="auto">
            <a:xfrm>
              <a:off x="11717083" y="5933553"/>
              <a:ext cx="118620" cy="83643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mage result for race track clipart">
              <a:extLst>
                <a:ext uri="{FF2B5EF4-FFF2-40B4-BE49-F238E27FC236}">
                  <a16:creationId xmlns:a16="http://schemas.microsoft.com/office/drawing/2014/main" xmlns="" id="{8D230E8E-3EED-47CC-BE89-0CF0389901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27" t="47815" r="81589" b="6840"/>
            <a:stretch/>
          </p:blipFill>
          <p:spPr bwMode="auto">
            <a:xfrm rot="16200000">
              <a:off x="10015948" y="5068849"/>
              <a:ext cx="825796" cy="257647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5253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 presetClass="entr" presetSubtype="0" fill="hold" nodeType="withEffect">
                                  <p:stCondLst>
                                    <p:cond delay="50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10394" y="167357"/>
            <a:ext cx="11571211" cy="6523285"/>
          </a:xfrm>
          <a:prstGeom prst="rect">
            <a:avLst/>
          </a:prstGeom>
        </p:spPr>
      </p:pic>
    </p:spTree>
    <p:extLst>
      <p:ext uri="{BB962C8B-B14F-4D97-AF65-F5344CB8AC3E}">
        <p14:creationId xmlns:p14="http://schemas.microsoft.com/office/powerpoint/2010/main" val="22654961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5" y="109945"/>
            <a:ext cx="5250730" cy="6583085"/>
          </a:xfrm>
        </p:spPr>
        <p:txBody>
          <a:bodyPr/>
          <a:lstStyle/>
          <a:p>
            <a:r>
              <a:rPr lang="en-GB" dirty="0"/>
              <a:t>Sorting Algorithms: </a:t>
            </a:r>
            <a:r>
              <a:rPr lang="en-GB" dirty="0">
                <a:solidFill>
                  <a:srgbClr val="07E073"/>
                </a:solidFill>
              </a:rPr>
              <a:t>Bubble sort</a:t>
            </a:r>
          </a:p>
        </p:txBody>
      </p:sp>
    </p:spTree>
    <p:extLst>
      <p:ext uri="{BB962C8B-B14F-4D97-AF65-F5344CB8AC3E}">
        <p14:creationId xmlns:p14="http://schemas.microsoft.com/office/powerpoint/2010/main" val="14773975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5" y="109945"/>
            <a:ext cx="5250730" cy="6583085"/>
          </a:xfrm>
        </p:spPr>
        <p:txBody>
          <a:bodyPr/>
          <a:lstStyle/>
          <a:p>
            <a:r>
              <a:rPr lang="en-GB" dirty="0"/>
              <a:t>Sorting Algorithms: </a:t>
            </a:r>
            <a:r>
              <a:rPr lang="en-GB" dirty="0">
                <a:solidFill>
                  <a:srgbClr val="07E073"/>
                </a:solidFill>
              </a:rPr>
              <a:t>insertion sort</a:t>
            </a:r>
          </a:p>
        </p:txBody>
      </p:sp>
    </p:spTree>
    <p:extLst>
      <p:ext uri="{BB962C8B-B14F-4D97-AF65-F5344CB8AC3E}">
        <p14:creationId xmlns:p14="http://schemas.microsoft.com/office/powerpoint/2010/main" val="8218433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Bubble Sort Vs Insertion Sort</a:t>
            </a:r>
          </a:p>
        </p:txBody>
      </p:sp>
      <p:pic>
        <p:nvPicPr>
          <p:cNvPr id="4" name="Content Placeholder 3"/>
          <p:cNvPicPr>
            <a:picLocks noGrp="1" noChangeAspect="1"/>
          </p:cNvPicPr>
          <p:nvPr>
            <p:ph idx="1"/>
          </p:nvPr>
        </p:nvPicPr>
        <p:blipFill>
          <a:blip r:embed="rId2"/>
          <a:stretch>
            <a:fillRect/>
          </a:stretch>
        </p:blipFill>
        <p:spPr>
          <a:xfrm>
            <a:off x="762786" y="1949662"/>
            <a:ext cx="10515600" cy="1840831"/>
          </a:xfrm>
          <a:prstGeom prst="rect">
            <a:avLst/>
          </a:prstGeom>
        </p:spPr>
      </p:pic>
      <p:sp>
        <p:nvSpPr>
          <p:cNvPr id="5" name="TextBox 4"/>
          <p:cNvSpPr txBox="1"/>
          <p:nvPr/>
        </p:nvSpPr>
        <p:spPr>
          <a:xfrm>
            <a:off x="838200" y="3864801"/>
            <a:ext cx="4057650" cy="369332"/>
          </a:xfrm>
          <a:prstGeom prst="rect">
            <a:avLst/>
          </a:prstGeom>
          <a:noFill/>
        </p:spPr>
        <p:txBody>
          <a:bodyPr wrap="square" rtlCol="0">
            <a:spAutoFit/>
          </a:bodyPr>
          <a:lstStyle/>
          <a:p>
            <a:r>
              <a:rPr lang="en-GB" dirty="0"/>
              <a:t>N = Number of data items</a:t>
            </a:r>
          </a:p>
        </p:txBody>
      </p:sp>
      <p:grpSp>
        <p:nvGrpSpPr>
          <p:cNvPr id="12" name="Group 11"/>
          <p:cNvGrpSpPr/>
          <p:nvPr/>
        </p:nvGrpSpPr>
        <p:grpSpPr>
          <a:xfrm>
            <a:off x="4490978" y="4049467"/>
            <a:ext cx="3528350" cy="2783428"/>
            <a:chOff x="4490978" y="4049467"/>
            <a:chExt cx="3528350" cy="2783428"/>
          </a:xfrm>
        </p:grpSpPr>
        <p:cxnSp>
          <p:nvCxnSpPr>
            <p:cNvPr id="7" name="Straight Connector 6"/>
            <p:cNvCxnSpPr/>
            <p:nvPr/>
          </p:nvCxnSpPr>
          <p:spPr>
            <a:xfrm>
              <a:off x="5207177" y="4049467"/>
              <a:ext cx="0" cy="2460396"/>
            </a:xfrm>
            <a:prstGeom prst="line">
              <a:avLst/>
            </a:prstGeom>
            <a:ln>
              <a:head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5197750" y="6509863"/>
              <a:ext cx="2724346" cy="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90978" y="4145233"/>
              <a:ext cx="799369" cy="369332"/>
            </a:xfrm>
            <a:prstGeom prst="rect">
              <a:avLst/>
            </a:prstGeom>
            <a:noFill/>
          </p:spPr>
          <p:txBody>
            <a:bodyPr wrap="square" rtlCol="0">
              <a:spAutoFit/>
            </a:bodyPr>
            <a:lstStyle/>
            <a:p>
              <a:pPr algn="ctr"/>
              <a:r>
                <a:rPr lang="en-GB" dirty="0"/>
                <a:t>Time</a:t>
              </a:r>
            </a:p>
          </p:txBody>
        </p:sp>
        <p:sp>
          <p:nvSpPr>
            <p:cNvPr id="11" name="TextBox 10"/>
            <p:cNvSpPr txBox="1"/>
            <p:nvPr/>
          </p:nvSpPr>
          <p:spPr>
            <a:xfrm>
              <a:off x="5505692" y="6463563"/>
              <a:ext cx="2513636" cy="369332"/>
            </a:xfrm>
            <a:prstGeom prst="rect">
              <a:avLst/>
            </a:prstGeom>
            <a:noFill/>
          </p:spPr>
          <p:txBody>
            <a:bodyPr wrap="square" rtlCol="0">
              <a:spAutoFit/>
            </a:bodyPr>
            <a:lstStyle/>
            <a:p>
              <a:pPr algn="ctr"/>
              <a:r>
                <a:rPr lang="en-GB" dirty="0"/>
                <a:t>Number of data items</a:t>
              </a:r>
            </a:p>
          </p:txBody>
        </p:sp>
      </p:grpSp>
      <p:pic>
        <p:nvPicPr>
          <p:cNvPr id="14" name="Picture 13"/>
          <p:cNvPicPr>
            <a:picLocks noChangeAspect="1"/>
          </p:cNvPicPr>
          <p:nvPr/>
        </p:nvPicPr>
        <p:blipFill>
          <a:blip r:embed="rId3"/>
          <a:stretch>
            <a:fillRect/>
          </a:stretch>
        </p:blipFill>
        <p:spPr>
          <a:xfrm>
            <a:off x="5220900" y="4176589"/>
            <a:ext cx="2325794" cy="2321699"/>
          </a:xfrm>
          <a:prstGeom prst="rect">
            <a:avLst/>
          </a:prstGeom>
        </p:spPr>
      </p:pic>
      <p:pic>
        <p:nvPicPr>
          <p:cNvPr id="15" name="Picture 14"/>
          <p:cNvPicPr>
            <a:picLocks noChangeAspect="1"/>
          </p:cNvPicPr>
          <p:nvPr/>
        </p:nvPicPr>
        <p:blipFill>
          <a:blip r:embed="rId4"/>
          <a:stretch>
            <a:fillRect/>
          </a:stretch>
        </p:blipFill>
        <p:spPr>
          <a:xfrm>
            <a:off x="7764684" y="4593084"/>
            <a:ext cx="923797" cy="1488708"/>
          </a:xfrm>
          <a:prstGeom prst="rect">
            <a:avLst/>
          </a:prstGeom>
        </p:spPr>
      </p:pic>
    </p:spTree>
    <p:extLst>
      <p:ext uri="{BB962C8B-B14F-4D97-AF65-F5344CB8AC3E}">
        <p14:creationId xmlns:p14="http://schemas.microsoft.com/office/powerpoint/2010/main" val="37947837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Algorithms for Searching</a:t>
            </a:r>
          </a:p>
        </p:txBody>
      </p:sp>
      <p:sp>
        <p:nvSpPr>
          <p:cNvPr id="3" name="Content Placeholder 2"/>
          <p:cNvSpPr>
            <a:spLocks noGrp="1"/>
          </p:cNvSpPr>
          <p:nvPr>
            <p:ph idx="1"/>
          </p:nvPr>
        </p:nvSpPr>
        <p:spPr/>
        <p:txBody>
          <a:bodyPr/>
          <a:lstStyle/>
          <a:p>
            <a:r>
              <a:rPr lang="en-GB" dirty="0"/>
              <a:t>Used to locate and return data given certain criteria</a:t>
            </a:r>
          </a:p>
          <a:p>
            <a:r>
              <a:rPr lang="en-GB" dirty="0"/>
              <a:t>Each algorithm has benefits and limitations</a:t>
            </a:r>
          </a:p>
          <a:p>
            <a:r>
              <a:rPr lang="en-GB" dirty="0"/>
              <a:t>Sorting data in advance of searching can make a search more efficient</a:t>
            </a:r>
          </a:p>
          <a:p>
            <a:r>
              <a:rPr lang="en-GB" dirty="0"/>
              <a:t>Work with data structures such as arrays</a:t>
            </a:r>
          </a:p>
          <a:p>
            <a:endParaRPr lang="en-GB" dirty="0"/>
          </a:p>
        </p:txBody>
      </p:sp>
    </p:spTree>
    <p:extLst>
      <p:ext uri="{BB962C8B-B14F-4D97-AF65-F5344CB8AC3E}">
        <p14:creationId xmlns:p14="http://schemas.microsoft.com/office/powerpoint/2010/main" val="5330961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5" y="109945"/>
            <a:ext cx="5250730" cy="6583085"/>
          </a:xfrm>
        </p:spPr>
        <p:txBody>
          <a:bodyPr/>
          <a:lstStyle/>
          <a:p>
            <a:r>
              <a:rPr lang="en-GB" dirty="0"/>
              <a:t>Searching Algorithms: </a:t>
            </a:r>
            <a:r>
              <a:rPr lang="en-GB" dirty="0">
                <a:solidFill>
                  <a:srgbClr val="07E073"/>
                </a:solidFill>
              </a:rPr>
              <a:t>Linear Search </a:t>
            </a:r>
            <a:r>
              <a:rPr lang="en-GB" dirty="0"/>
              <a:t>&amp;</a:t>
            </a:r>
            <a:r>
              <a:rPr lang="en-GB" dirty="0">
                <a:solidFill>
                  <a:srgbClr val="07E073"/>
                </a:solidFill>
              </a:rPr>
              <a:t> </a:t>
            </a:r>
            <a:br>
              <a:rPr lang="en-GB" dirty="0">
                <a:solidFill>
                  <a:srgbClr val="07E073"/>
                </a:solidFill>
              </a:rPr>
            </a:br>
            <a:r>
              <a:rPr lang="en-GB" dirty="0">
                <a:solidFill>
                  <a:srgbClr val="07E073"/>
                </a:solidFill>
              </a:rPr>
              <a:t>Binary Search</a:t>
            </a:r>
          </a:p>
        </p:txBody>
      </p:sp>
    </p:spTree>
    <p:extLst>
      <p:ext uri="{BB962C8B-B14F-4D97-AF65-F5344CB8AC3E}">
        <p14:creationId xmlns:p14="http://schemas.microsoft.com/office/powerpoint/2010/main" val="33527313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5280" y="722688"/>
            <a:ext cx="5238509" cy="4351338"/>
          </a:xfrm>
        </p:spPr>
        <p:txBody>
          <a:bodyPr>
            <a:normAutofit/>
          </a:bodyPr>
          <a:lstStyle/>
          <a:p>
            <a:pPr marL="0" indent="0" algn="ctr">
              <a:buNone/>
            </a:pPr>
            <a:r>
              <a:rPr lang="en-GB" dirty="0">
                <a:solidFill>
                  <a:srgbClr val="07E073"/>
                </a:solidFill>
                <a:latin typeface="LEMON MILK" panose="00000500000000000000" pitchFamily="50" charset="0"/>
              </a:rPr>
              <a:t>Linear Search</a:t>
            </a:r>
          </a:p>
          <a:p>
            <a:r>
              <a:rPr lang="en-GB" sz="2200" dirty="0"/>
              <a:t>Simple search technique</a:t>
            </a:r>
          </a:p>
          <a:p>
            <a:r>
              <a:rPr lang="en-GB" sz="2200" dirty="0"/>
              <a:t>Every data item is examined in order to see if it matches the target value being searched for</a:t>
            </a:r>
          </a:p>
          <a:p>
            <a:r>
              <a:rPr lang="en-GB" sz="2200" dirty="0"/>
              <a:t>In a </a:t>
            </a:r>
            <a:r>
              <a:rPr lang="en-GB" sz="2200" b="1" dirty="0"/>
              <a:t>linear search</a:t>
            </a:r>
            <a:r>
              <a:rPr lang="en-GB" sz="2200" dirty="0"/>
              <a:t>, the average number of attempts required to find a target value is half the number of data items</a:t>
            </a:r>
          </a:p>
          <a:p>
            <a:endParaRPr lang="en-GB" dirty="0"/>
          </a:p>
        </p:txBody>
      </p:sp>
      <p:sp>
        <p:nvSpPr>
          <p:cNvPr id="4" name="Content Placeholder 2"/>
          <p:cNvSpPr txBox="1">
            <a:spLocks/>
          </p:cNvSpPr>
          <p:nvPr/>
        </p:nvSpPr>
        <p:spPr>
          <a:xfrm>
            <a:off x="6345830" y="815286"/>
            <a:ext cx="5238509" cy="485296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3300" dirty="0">
                <a:solidFill>
                  <a:srgbClr val="07E073"/>
                </a:solidFill>
                <a:latin typeface="LEMON MILK" panose="00000500000000000000" pitchFamily="50" charset="0"/>
              </a:rPr>
              <a:t>Binary Search</a:t>
            </a:r>
          </a:p>
          <a:p>
            <a:r>
              <a:rPr lang="en-GB" dirty="0"/>
              <a:t>Much more efficient than linear search</a:t>
            </a:r>
          </a:p>
          <a:p>
            <a:r>
              <a:rPr lang="en-GB" dirty="0"/>
              <a:t>Only works on data that is sorted</a:t>
            </a:r>
          </a:p>
          <a:p>
            <a:r>
              <a:rPr lang="en-GB" dirty="0"/>
              <a:t>Starts by looking at the middle of the list and compares this to target value.</a:t>
            </a:r>
          </a:p>
          <a:p>
            <a:pPr lvl="1"/>
            <a:r>
              <a:rPr lang="en-GB" dirty="0"/>
              <a:t>The search determines if the target value is below or above the middle location</a:t>
            </a:r>
          </a:p>
          <a:p>
            <a:pPr lvl="1"/>
            <a:r>
              <a:rPr lang="en-GB" dirty="0"/>
              <a:t>The process is repeated and the number of items being searched through the ‘search space’ is decreased until eventually there is only one item to be searched through</a:t>
            </a:r>
          </a:p>
          <a:p>
            <a:r>
              <a:rPr lang="en-GB" dirty="0"/>
              <a:t>Number of data items to search through is log</a:t>
            </a:r>
            <a:r>
              <a:rPr lang="en-GB" baseline="-25000" dirty="0"/>
              <a:t>2</a:t>
            </a:r>
            <a:r>
              <a:rPr lang="en-GB" dirty="0"/>
              <a:t>N</a:t>
            </a:r>
          </a:p>
        </p:txBody>
      </p:sp>
    </p:spTree>
    <p:extLst>
      <p:ext uri="{BB962C8B-B14F-4D97-AF65-F5344CB8AC3E}">
        <p14:creationId xmlns:p14="http://schemas.microsoft.com/office/powerpoint/2010/main" val="26579807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Designing Solutions: Models</a:t>
            </a:r>
          </a:p>
        </p:txBody>
      </p:sp>
      <p:sp>
        <p:nvSpPr>
          <p:cNvPr id="3" name="Content Placeholder 2"/>
          <p:cNvSpPr>
            <a:spLocks noGrp="1"/>
          </p:cNvSpPr>
          <p:nvPr>
            <p:ph idx="1"/>
          </p:nvPr>
        </p:nvSpPr>
        <p:spPr>
          <a:xfrm>
            <a:off x="838200" y="1825625"/>
            <a:ext cx="5786718" cy="4351338"/>
          </a:xfrm>
        </p:spPr>
        <p:txBody>
          <a:bodyPr>
            <a:normAutofit fontScale="92500" lnSpcReduction="10000"/>
          </a:bodyPr>
          <a:lstStyle/>
          <a:p>
            <a:r>
              <a:rPr lang="en-GB" dirty="0"/>
              <a:t>Several models for designing solutions</a:t>
            </a:r>
          </a:p>
          <a:p>
            <a:r>
              <a:rPr lang="en-GB" b="1" dirty="0">
                <a:solidFill>
                  <a:srgbClr val="07E073"/>
                </a:solidFill>
              </a:rPr>
              <a:t>Traditional development</a:t>
            </a:r>
            <a:r>
              <a:rPr lang="en-GB" dirty="0">
                <a:solidFill>
                  <a:srgbClr val="07E073"/>
                </a:solidFill>
              </a:rPr>
              <a:t> </a:t>
            </a:r>
            <a:r>
              <a:rPr lang="en-GB" dirty="0"/>
              <a:t>involves following a development life cycle from beginning to end</a:t>
            </a:r>
          </a:p>
          <a:p>
            <a:pPr lvl="1"/>
            <a:r>
              <a:rPr lang="en-GB" dirty="0"/>
              <a:t>User is not involved after the analysis stage</a:t>
            </a:r>
          </a:p>
          <a:p>
            <a:r>
              <a:rPr lang="en-GB" b="1" dirty="0">
                <a:solidFill>
                  <a:srgbClr val="07E073"/>
                </a:solidFill>
              </a:rPr>
              <a:t>Agile</a:t>
            </a:r>
            <a:r>
              <a:rPr lang="en-GB" dirty="0">
                <a:solidFill>
                  <a:srgbClr val="07E073"/>
                </a:solidFill>
              </a:rPr>
              <a:t> </a:t>
            </a:r>
            <a:r>
              <a:rPr lang="en-GB" dirty="0"/>
              <a:t>development methods allow user to be closely involved with development</a:t>
            </a:r>
          </a:p>
          <a:p>
            <a:pPr lvl="1"/>
            <a:r>
              <a:rPr lang="en-GB" dirty="0"/>
              <a:t>User can review each section and give feedback to developer who can make the necessary changes</a:t>
            </a:r>
          </a:p>
          <a:p>
            <a:endParaRPr lang="en-GB" b="1" dirty="0"/>
          </a:p>
        </p:txBody>
      </p:sp>
      <p:pic>
        <p:nvPicPr>
          <p:cNvPr id="1026" name="Picture 2" descr="Image result for development life cycle"/>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99522" l="0" r="100000">
                        <a14:foregroundMark x1="32057" y1="86124" x2="32057" y2="86124"/>
                        <a14:foregroundMark x1="34450" y1="80064" x2="22648" y2="80542"/>
                        <a14:foregroundMark x1="17544" y1="53110" x2="13716" y2="40032"/>
                        <a14:foregroundMark x1="30144" y1="24721" x2="37799" y2="10048"/>
                        <a14:foregroundMark x1="69059" y1="10845" x2="76715" y2="26635"/>
                        <a14:foregroundMark x1="66986" y1="75917" x2="57576" y2="90112"/>
                        <a14:foregroundMark x1="31419" y1="75120" x2="20096" y2="75598"/>
                        <a14:foregroundMark x1="85486" y1="78788" x2="48963" y2="85167"/>
                        <a14:foregroundMark x1="83254" y1="33493" x2="57735" y2="5901"/>
                        <a14:foregroundMark x1="20255" y1="31100" x2="7815" y2="63955"/>
                        <a14:foregroundMark x1="17384" y1="64912" x2="41786" y2="94577"/>
                      </a14:backgroundRemoval>
                    </a14:imgEffect>
                  </a14:imgLayer>
                </a14:imgProps>
              </a:ext>
              <a:ext uri="{28A0092B-C50C-407E-A947-70E740481C1C}">
                <a14:useLocalDpi xmlns:a14="http://schemas.microsoft.com/office/drawing/2010/main" val="0"/>
              </a:ext>
            </a:extLst>
          </a:blip>
          <a:srcRect/>
          <a:stretch>
            <a:fillRect/>
          </a:stretch>
        </p:blipFill>
        <p:spPr bwMode="auto">
          <a:xfrm>
            <a:off x="6849036" y="1497386"/>
            <a:ext cx="4679576" cy="4679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5499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t>Identifying Data Requirements for a Solution</a:t>
            </a:r>
          </a:p>
        </p:txBody>
      </p:sp>
      <p:sp>
        <p:nvSpPr>
          <p:cNvPr id="3" name="Content Placeholder 2"/>
          <p:cNvSpPr>
            <a:spLocks noGrp="1"/>
          </p:cNvSpPr>
          <p:nvPr>
            <p:ph idx="1"/>
          </p:nvPr>
        </p:nvSpPr>
        <p:spPr>
          <a:xfrm>
            <a:off x="185194" y="1325563"/>
            <a:ext cx="11736729" cy="4351338"/>
          </a:xfrm>
        </p:spPr>
        <p:txBody>
          <a:bodyPr/>
          <a:lstStyle/>
          <a:p>
            <a:r>
              <a:rPr lang="en-GB" dirty="0"/>
              <a:t>Data Requirements:</a:t>
            </a:r>
          </a:p>
          <a:p>
            <a:pPr lvl="1"/>
            <a:r>
              <a:rPr lang="en-GB" b="1" dirty="0"/>
              <a:t>The data that a program or system will use including data input, information output and any values to be stored temporarily during processing</a:t>
            </a:r>
            <a:endParaRPr lang="en-GB" dirty="0"/>
          </a:p>
          <a:p>
            <a:r>
              <a:rPr lang="en-GB" dirty="0"/>
              <a:t>It is important to plan the data requirements for the solution in advance</a:t>
            </a:r>
          </a:p>
          <a:p>
            <a:r>
              <a:rPr lang="en-GB" dirty="0"/>
              <a:t>The test plan will be used to check that the program works as expected</a:t>
            </a:r>
          </a:p>
          <a:p>
            <a:pPr lvl="1"/>
            <a:r>
              <a:rPr lang="en-GB" dirty="0"/>
              <a:t>Identifies errors in logic of the design</a:t>
            </a:r>
          </a:p>
          <a:p>
            <a:pPr lvl="1"/>
            <a:r>
              <a:rPr lang="en-GB" dirty="0"/>
              <a:t>Can be corrected and design improved as a result</a:t>
            </a:r>
          </a:p>
        </p:txBody>
      </p:sp>
      <p:graphicFrame>
        <p:nvGraphicFramePr>
          <p:cNvPr id="4" name="Table 3"/>
          <p:cNvGraphicFramePr>
            <a:graphicFrameLocks noGrp="1"/>
          </p:cNvGraphicFramePr>
          <p:nvPr>
            <p:extLst>
              <p:ext uri="{D42A27DB-BD31-4B8C-83A1-F6EECF244321}">
                <p14:modId xmlns:p14="http://schemas.microsoft.com/office/powerpoint/2010/main" val="1575926297"/>
              </p:ext>
            </p:extLst>
          </p:nvPr>
        </p:nvGraphicFramePr>
        <p:xfrm>
          <a:off x="5603223" y="4932680"/>
          <a:ext cx="6503894" cy="1925320"/>
        </p:xfrm>
        <a:graphic>
          <a:graphicData uri="http://schemas.openxmlformats.org/drawingml/2006/table">
            <a:tbl>
              <a:tblPr firstRow="1" bandRow="1">
                <a:tableStyleId>{5C22544A-7EE6-4342-B048-85BDC9FD1C3A}</a:tableStyleId>
              </a:tblPr>
              <a:tblGrid>
                <a:gridCol w="416859">
                  <a:extLst>
                    <a:ext uri="{9D8B030D-6E8A-4147-A177-3AD203B41FA5}">
                      <a16:colId xmlns:a16="http://schemas.microsoft.com/office/drawing/2014/main" xmlns="" val="20000"/>
                    </a:ext>
                  </a:extLst>
                </a:gridCol>
                <a:gridCol w="1228165">
                  <a:extLst>
                    <a:ext uri="{9D8B030D-6E8A-4147-A177-3AD203B41FA5}">
                      <a16:colId xmlns:a16="http://schemas.microsoft.com/office/drawing/2014/main" xmlns="" val="20001"/>
                    </a:ext>
                  </a:extLst>
                </a:gridCol>
                <a:gridCol w="1219200">
                  <a:extLst>
                    <a:ext uri="{9D8B030D-6E8A-4147-A177-3AD203B41FA5}">
                      <a16:colId xmlns:a16="http://schemas.microsoft.com/office/drawing/2014/main" xmlns="" val="20002"/>
                    </a:ext>
                  </a:extLst>
                </a:gridCol>
                <a:gridCol w="1488141">
                  <a:extLst>
                    <a:ext uri="{9D8B030D-6E8A-4147-A177-3AD203B41FA5}">
                      <a16:colId xmlns:a16="http://schemas.microsoft.com/office/drawing/2014/main" xmlns="" val="20003"/>
                    </a:ext>
                  </a:extLst>
                </a:gridCol>
                <a:gridCol w="2151529">
                  <a:extLst>
                    <a:ext uri="{9D8B030D-6E8A-4147-A177-3AD203B41FA5}">
                      <a16:colId xmlns:a16="http://schemas.microsoft.com/office/drawing/2014/main" xmlns="" val="20004"/>
                    </a:ext>
                  </a:extLst>
                </a:gridCol>
              </a:tblGrid>
              <a:tr h="370840">
                <a:tc>
                  <a:txBody>
                    <a:bodyPr/>
                    <a:lstStyle/>
                    <a:p>
                      <a:endParaRPr lang="en-GB" dirty="0"/>
                    </a:p>
                  </a:txBody>
                  <a:tcPr/>
                </a:tc>
                <a:tc>
                  <a:txBody>
                    <a:bodyPr/>
                    <a:lstStyle/>
                    <a:p>
                      <a:r>
                        <a:rPr lang="en-GB" dirty="0"/>
                        <a:t>Data Item</a:t>
                      </a:r>
                    </a:p>
                  </a:txBody>
                  <a:tcPr/>
                </a:tc>
                <a:tc>
                  <a:txBody>
                    <a:bodyPr/>
                    <a:lstStyle/>
                    <a:p>
                      <a:r>
                        <a:rPr lang="en-GB" dirty="0"/>
                        <a:t>Data Type</a:t>
                      </a:r>
                    </a:p>
                  </a:txBody>
                  <a:tcPr/>
                </a:tc>
                <a:tc>
                  <a:txBody>
                    <a:bodyPr/>
                    <a:lstStyle/>
                    <a:p>
                      <a:r>
                        <a:rPr lang="en-GB" dirty="0"/>
                        <a:t>Sample Valid Data</a:t>
                      </a:r>
                    </a:p>
                  </a:txBody>
                  <a:tcPr/>
                </a:tc>
                <a:tc>
                  <a:txBody>
                    <a:bodyPr/>
                    <a:lstStyle/>
                    <a:p>
                      <a:r>
                        <a:rPr lang="en-GB" dirty="0"/>
                        <a:t>Function of Data Item</a:t>
                      </a:r>
                    </a:p>
                  </a:txBody>
                  <a:tcPr/>
                </a:tc>
                <a:extLst>
                  <a:ext uri="{0D108BD9-81ED-4DB2-BD59-A6C34878D82A}">
                    <a16:rowId xmlns:a16="http://schemas.microsoft.com/office/drawing/2014/main" xmlns="" val="10000"/>
                  </a:ext>
                </a:extLst>
              </a:tr>
              <a:tr h="370840">
                <a:tc>
                  <a:txBody>
                    <a:bodyPr/>
                    <a:lstStyle/>
                    <a:p>
                      <a:r>
                        <a:rPr lang="en-GB" dirty="0"/>
                        <a:t>1</a:t>
                      </a:r>
                    </a:p>
                  </a:txBody>
                  <a:tcPr/>
                </a:tc>
                <a:tc>
                  <a:txBody>
                    <a:bodyPr/>
                    <a:lstStyle/>
                    <a:p>
                      <a:r>
                        <a:rPr lang="en-GB" dirty="0"/>
                        <a:t>Name</a:t>
                      </a:r>
                    </a:p>
                  </a:txBody>
                  <a:tcPr/>
                </a:tc>
                <a:tc>
                  <a:txBody>
                    <a:bodyPr/>
                    <a:lstStyle/>
                    <a:p>
                      <a:r>
                        <a:rPr lang="en-GB" dirty="0"/>
                        <a:t>String</a:t>
                      </a:r>
                    </a:p>
                  </a:txBody>
                  <a:tcPr/>
                </a:tc>
                <a:tc>
                  <a:txBody>
                    <a:bodyPr/>
                    <a:lstStyle/>
                    <a:p>
                      <a:r>
                        <a:rPr lang="en-GB" dirty="0"/>
                        <a:t>Mr Butler</a:t>
                      </a:r>
                    </a:p>
                  </a:txBody>
                  <a:tcPr/>
                </a:tc>
                <a:tc>
                  <a:txBody>
                    <a:bodyPr/>
                    <a:lstStyle/>
                    <a:p>
                      <a:r>
                        <a:rPr lang="en-GB" dirty="0"/>
                        <a:t>Stores the username for use in the login</a:t>
                      </a:r>
                    </a:p>
                  </a:txBody>
                  <a:tcPr/>
                </a:tc>
                <a:extLst>
                  <a:ext uri="{0D108BD9-81ED-4DB2-BD59-A6C34878D82A}">
                    <a16:rowId xmlns:a16="http://schemas.microsoft.com/office/drawing/2014/main" xmlns="" val="10001"/>
                  </a:ext>
                </a:extLst>
              </a:tr>
              <a:tr h="370840">
                <a:tc>
                  <a:txBody>
                    <a:bodyPr/>
                    <a:lstStyle/>
                    <a:p>
                      <a:r>
                        <a:rPr lang="en-GB" dirty="0"/>
                        <a:t>2</a:t>
                      </a:r>
                    </a:p>
                  </a:txBody>
                  <a:tcPr/>
                </a:tc>
                <a:tc>
                  <a:txBody>
                    <a:bodyPr/>
                    <a:lstStyle/>
                    <a:p>
                      <a:r>
                        <a:rPr lang="en-GB" dirty="0"/>
                        <a:t>…</a:t>
                      </a:r>
                    </a:p>
                  </a:txBody>
                  <a:tcPr/>
                </a:tc>
                <a:tc>
                  <a:txBody>
                    <a:bodyPr/>
                    <a:lstStyle/>
                    <a:p>
                      <a:r>
                        <a:rPr lang="en-GB" dirty="0"/>
                        <a:t>…</a:t>
                      </a:r>
                    </a:p>
                  </a:txBody>
                  <a:tcPr/>
                </a:tc>
                <a:tc>
                  <a:txBody>
                    <a:bodyPr/>
                    <a:lstStyle/>
                    <a:p>
                      <a:r>
                        <a:rPr lang="en-GB" dirty="0"/>
                        <a:t>…</a:t>
                      </a:r>
                    </a:p>
                  </a:txBody>
                  <a:tcPr/>
                </a:tc>
                <a:tc>
                  <a:txBody>
                    <a:bodyPr/>
                    <a:lstStyle/>
                    <a:p>
                      <a:r>
                        <a:rPr lang="en-GB" dirty="0"/>
                        <a:t>…</a:t>
                      </a:r>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1857270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Developing an Appropriate User Interface</a:t>
            </a:r>
          </a:p>
        </p:txBody>
      </p:sp>
      <p:sp>
        <p:nvSpPr>
          <p:cNvPr id="3" name="Content Placeholder 2"/>
          <p:cNvSpPr>
            <a:spLocks noGrp="1"/>
          </p:cNvSpPr>
          <p:nvPr>
            <p:ph idx="1"/>
          </p:nvPr>
        </p:nvSpPr>
        <p:spPr>
          <a:xfrm>
            <a:off x="838200" y="1825624"/>
            <a:ext cx="10515600" cy="5032375"/>
          </a:xfrm>
        </p:spPr>
        <p:txBody>
          <a:bodyPr/>
          <a:lstStyle/>
          <a:p>
            <a:r>
              <a:rPr lang="en-GB" dirty="0"/>
              <a:t>The part of the system the user will interact with and use to operate different functions</a:t>
            </a:r>
          </a:p>
          <a:p>
            <a:r>
              <a:rPr lang="en-GB" dirty="0"/>
              <a:t>Very important to be </a:t>
            </a:r>
            <a:r>
              <a:rPr lang="en-GB" b="1" dirty="0"/>
              <a:t>user friendly</a:t>
            </a:r>
            <a:r>
              <a:rPr lang="en-GB" dirty="0"/>
              <a:t>. This can be achieved by:</a:t>
            </a:r>
          </a:p>
          <a:p>
            <a:pPr lvl="1"/>
            <a:r>
              <a:rPr lang="en-GB" dirty="0"/>
              <a:t>Presenting information clearly and concisely</a:t>
            </a:r>
          </a:p>
          <a:p>
            <a:pPr lvl="1"/>
            <a:r>
              <a:rPr lang="en-GB" dirty="0"/>
              <a:t>Using </a:t>
            </a:r>
            <a:r>
              <a:rPr lang="en-GB" b="1" dirty="0"/>
              <a:t>colours, icons and messages </a:t>
            </a:r>
            <a:r>
              <a:rPr lang="en-GB" dirty="0"/>
              <a:t>in a consistent manner</a:t>
            </a:r>
          </a:p>
          <a:p>
            <a:pPr lvl="1"/>
            <a:r>
              <a:rPr lang="en-GB" dirty="0"/>
              <a:t>Placing </a:t>
            </a:r>
            <a:r>
              <a:rPr lang="en-GB" b="1" dirty="0"/>
              <a:t>menus, messages, buttons </a:t>
            </a:r>
            <a:r>
              <a:rPr lang="en-GB" dirty="0"/>
              <a:t>in the same place throughout</a:t>
            </a:r>
          </a:p>
          <a:p>
            <a:pPr lvl="1"/>
            <a:r>
              <a:rPr lang="en-GB" b="1" dirty="0"/>
              <a:t>Efficient system </a:t>
            </a:r>
            <a:r>
              <a:rPr lang="en-GB" dirty="0"/>
              <a:t>which is responsive and does not have lengthy loading times</a:t>
            </a:r>
          </a:p>
          <a:p>
            <a:pPr lvl="1"/>
            <a:r>
              <a:rPr lang="en-GB" dirty="0"/>
              <a:t>Supports users if they make a mistake </a:t>
            </a:r>
            <a:r>
              <a:rPr lang="en-GB" b="1" dirty="0"/>
              <a:t>(error messages/feedback)</a:t>
            </a:r>
          </a:p>
          <a:p>
            <a:pPr lvl="1"/>
            <a:r>
              <a:rPr lang="en-GB" dirty="0"/>
              <a:t>Interface focuses on user experience, which has a </a:t>
            </a:r>
            <a:r>
              <a:rPr lang="en-GB" b="1" dirty="0"/>
              <a:t>visual appeal </a:t>
            </a:r>
            <a:r>
              <a:rPr lang="en-GB" dirty="0"/>
              <a:t>that is </a:t>
            </a:r>
            <a:r>
              <a:rPr lang="en-GB" b="1" dirty="0"/>
              <a:t>attractive</a:t>
            </a:r>
            <a:r>
              <a:rPr lang="en-GB" dirty="0"/>
              <a:t> </a:t>
            </a:r>
            <a:r>
              <a:rPr lang="en-GB" b="1" dirty="0"/>
              <a:t>to the user</a:t>
            </a:r>
          </a:p>
          <a:p>
            <a:r>
              <a:rPr lang="en-GB" b="1" dirty="0"/>
              <a:t>GUI = </a:t>
            </a:r>
            <a:r>
              <a:rPr lang="en-GB" b="1" dirty="0">
                <a:solidFill>
                  <a:srgbClr val="07E073"/>
                </a:solidFill>
              </a:rPr>
              <a:t>Graphical User Interface</a:t>
            </a:r>
          </a:p>
        </p:txBody>
      </p:sp>
    </p:spTree>
    <p:extLst>
      <p:ext uri="{BB962C8B-B14F-4D97-AF65-F5344CB8AC3E}">
        <p14:creationId xmlns:p14="http://schemas.microsoft.com/office/powerpoint/2010/main" val="40577148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a Dry Run to Test a Solution</a:t>
            </a:r>
          </a:p>
        </p:txBody>
      </p:sp>
      <p:sp>
        <p:nvSpPr>
          <p:cNvPr id="3" name="Content Placeholder 2"/>
          <p:cNvSpPr>
            <a:spLocks noGrp="1"/>
          </p:cNvSpPr>
          <p:nvPr>
            <p:ph idx="1"/>
          </p:nvPr>
        </p:nvSpPr>
        <p:spPr>
          <a:xfrm>
            <a:off x="152400" y="1834769"/>
            <a:ext cx="7382256" cy="4351338"/>
          </a:xfrm>
        </p:spPr>
        <p:txBody>
          <a:bodyPr>
            <a:normAutofit fontScale="85000" lnSpcReduction="20000"/>
          </a:bodyPr>
          <a:lstStyle/>
          <a:p>
            <a:r>
              <a:rPr lang="en-GB" dirty="0"/>
              <a:t>This is a </a:t>
            </a:r>
            <a:r>
              <a:rPr lang="en-GB" dirty="0">
                <a:solidFill>
                  <a:srgbClr val="07E073"/>
                </a:solidFill>
              </a:rPr>
              <a:t>paper based exercise which allows the programmer to work through a solution using test data, presenting this in a tabular format.</a:t>
            </a:r>
          </a:p>
          <a:p>
            <a:r>
              <a:rPr lang="en-GB" dirty="0"/>
              <a:t>Can make use of a dry run at design or coding stages</a:t>
            </a:r>
          </a:p>
          <a:p>
            <a:r>
              <a:rPr lang="en-GB" dirty="0"/>
              <a:t>Involves creating a trace table with a list of variables and checking the value of the variables after each line of code has been executed</a:t>
            </a:r>
          </a:p>
          <a:p>
            <a:r>
              <a:rPr lang="en-GB" dirty="0">
                <a:solidFill>
                  <a:srgbClr val="07E073"/>
                </a:solidFill>
              </a:rPr>
              <a:t>Identifies errors in logic </a:t>
            </a:r>
            <a:r>
              <a:rPr lang="en-GB" dirty="0"/>
              <a:t>of the design and any omissions and incorrect results, mainly used in </a:t>
            </a:r>
            <a:r>
              <a:rPr lang="en-GB" dirty="0" err="1">
                <a:solidFill>
                  <a:srgbClr val="07E073"/>
                </a:solidFill>
              </a:rPr>
              <a:t>whitebox</a:t>
            </a:r>
            <a:r>
              <a:rPr lang="en-GB" dirty="0">
                <a:solidFill>
                  <a:srgbClr val="07E073"/>
                </a:solidFill>
              </a:rPr>
              <a:t> testing</a:t>
            </a:r>
            <a:r>
              <a:rPr lang="en-GB" dirty="0"/>
              <a:t>.</a:t>
            </a:r>
          </a:p>
          <a:p>
            <a:endParaRPr lang="en-GB" dirty="0"/>
          </a:p>
          <a:p>
            <a:r>
              <a:rPr lang="en-GB" dirty="0"/>
              <a:t>The IDE provides debugging facilities whilst the program is running</a:t>
            </a:r>
          </a:p>
        </p:txBody>
      </p:sp>
      <p:cxnSp>
        <p:nvCxnSpPr>
          <p:cNvPr id="5" name="Straight Connector 4"/>
          <p:cNvCxnSpPr/>
          <p:nvPr/>
        </p:nvCxnSpPr>
        <p:spPr>
          <a:xfrm>
            <a:off x="7799832" y="1783080"/>
            <a:ext cx="0" cy="4379976"/>
          </a:xfrm>
          <a:prstGeom prst="line">
            <a:avLst/>
          </a:prstGeom>
          <a:ln>
            <a:solidFill>
              <a:srgbClr val="07E073"/>
            </a:solidFill>
          </a:ln>
        </p:spPr>
        <p:style>
          <a:lnRef idx="2">
            <a:schemeClr val="accent1"/>
          </a:lnRef>
          <a:fillRef idx="0">
            <a:schemeClr val="accent1"/>
          </a:fillRef>
          <a:effectRef idx="1">
            <a:schemeClr val="accent1"/>
          </a:effectRef>
          <a:fontRef idx="minor">
            <a:schemeClr val="tx1"/>
          </a:fontRef>
        </p:style>
      </p:cxnSp>
      <p:sp>
        <p:nvSpPr>
          <p:cNvPr id="6" name="Content Placeholder 2"/>
          <p:cNvSpPr txBox="1">
            <a:spLocks/>
          </p:cNvSpPr>
          <p:nvPr/>
        </p:nvSpPr>
        <p:spPr>
          <a:xfrm>
            <a:off x="7982712" y="1834769"/>
            <a:ext cx="4041648"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latin typeface="LEMON MILK" panose="00000500000000000000" pitchFamily="50" charset="0"/>
              </a:rPr>
              <a:t>How Dry Runs Work</a:t>
            </a:r>
          </a:p>
          <a:p>
            <a:endParaRPr lang="en-GB" dirty="0"/>
          </a:p>
          <a:p>
            <a:r>
              <a:rPr lang="en-GB" dirty="0"/>
              <a:t>The programmer creates a trace table</a:t>
            </a:r>
          </a:p>
          <a:p>
            <a:r>
              <a:rPr lang="en-GB" dirty="0"/>
              <a:t>Each line of code is written on a separate row</a:t>
            </a:r>
          </a:p>
          <a:p>
            <a:r>
              <a:rPr lang="en-GB" dirty="0"/>
              <a:t>The variables are written in columns</a:t>
            </a:r>
          </a:p>
          <a:p>
            <a:r>
              <a:rPr lang="en-GB" dirty="0"/>
              <a:t>The programmer then traces through each line of code, writing the value of the variables after each line. </a:t>
            </a:r>
          </a:p>
          <a:p>
            <a:r>
              <a:rPr lang="en-GB" dirty="0"/>
              <a:t>These values are entered into the table.</a:t>
            </a:r>
          </a:p>
        </p:txBody>
      </p:sp>
    </p:spTree>
    <p:extLst>
      <p:ext uri="{BB962C8B-B14F-4D97-AF65-F5344CB8AC3E}">
        <p14:creationId xmlns:p14="http://schemas.microsoft.com/office/powerpoint/2010/main" val="2564736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Trace Table</a:t>
            </a:r>
          </a:p>
        </p:txBody>
      </p:sp>
      <p:sp>
        <p:nvSpPr>
          <p:cNvPr id="3" name="Content Placeholder 2"/>
          <p:cNvSpPr>
            <a:spLocks noGrp="1"/>
          </p:cNvSpPr>
          <p:nvPr>
            <p:ph idx="1"/>
          </p:nvPr>
        </p:nvSpPr>
        <p:spPr>
          <a:xfrm>
            <a:off x="0" y="2094566"/>
            <a:ext cx="5374341" cy="4763434"/>
          </a:xfrm>
        </p:spPr>
        <p:txBody>
          <a:bodyPr/>
          <a:lstStyle/>
          <a:p>
            <a:r>
              <a:rPr lang="en-GB" dirty="0"/>
              <a:t>To create a trace table:</a:t>
            </a:r>
          </a:p>
          <a:p>
            <a:pPr lvl="1"/>
            <a:r>
              <a:rPr lang="en-GB" dirty="0"/>
              <a:t>Number each line of code/pseudo code</a:t>
            </a:r>
          </a:p>
          <a:p>
            <a:pPr lvl="1"/>
            <a:r>
              <a:rPr lang="en-GB" dirty="0"/>
              <a:t>Create a table structure</a:t>
            </a:r>
          </a:p>
          <a:p>
            <a:pPr lvl="1"/>
            <a:r>
              <a:rPr lang="en-GB" dirty="0"/>
              <a:t>Create a column for each variable in the section of code</a:t>
            </a:r>
          </a:p>
          <a:p>
            <a:pPr lvl="1"/>
            <a:r>
              <a:rPr lang="en-GB" dirty="0"/>
              <a:t>Add an output column to show any output generated from the code</a:t>
            </a:r>
          </a:p>
        </p:txBody>
      </p:sp>
      <p:pic>
        <p:nvPicPr>
          <p:cNvPr id="2050" name="Picture 2" descr="Image result for trace table exampl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589676" y="1817593"/>
            <a:ext cx="6458702" cy="4260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806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1016</TotalTime>
  <Words>12845</Words>
  <Application>Microsoft Office PowerPoint</Application>
  <PresentationFormat>Widescreen</PresentationFormat>
  <Paragraphs>1986</Paragraphs>
  <Slides>172</Slides>
  <Notes>12</Notes>
  <HiddenSlides>0</HiddenSlides>
  <MMClips>5</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172</vt:i4>
      </vt:variant>
    </vt:vector>
  </HeadingPairs>
  <TitlesOfParts>
    <vt:vector size="194" baseType="lpstr">
      <vt:lpstr>Abadi</vt:lpstr>
      <vt:lpstr>Agency FB</vt:lpstr>
      <vt:lpstr>Aptos</vt:lpstr>
      <vt:lpstr>Arial</vt:lpstr>
      <vt:lpstr>Arial-BoldMT</vt:lpstr>
      <vt:lpstr>ArialMT</vt:lpstr>
      <vt:lpstr>Bell MT</vt:lpstr>
      <vt:lpstr>Calibri</vt:lpstr>
      <vt:lpstr>Calibri Light</vt:lpstr>
      <vt:lpstr>Century Gothic</vt:lpstr>
      <vt:lpstr>Comic Sans MS</vt:lpstr>
      <vt:lpstr>Cordia New</vt:lpstr>
      <vt:lpstr>Courier New</vt:lpstr>
      <vt:lpstr>Forte</vt:lpstr>
      <vt:lpstr>Ink Free</vt:lpstr>
      <vt:lpstr>LEMON MILK</vt:lpstr>
      <vt:lpstr>Symbol</vt:lpstr>
      <vt:lpstr>Times New Roman</vt:lpstr>
      <vt:lpstr>Wingdings</vt:lpstr>
      <vt:lpstr>Office Theme</vt:lpstr>
      <vt:lpstr>1_Office Theme</vt:lpstr>
      <vt:lpstr>2_Office Theme</vt:lpstr>
      <vt:lpstr>PROGRAMMING</vt:lpstr>
      <vt:lpstr>PowerPoint Presentation</vt:lpstr>
      <vt:lpstr>What is a Computer Program?</vt:lpstr>
      <vt:lpstr>Data</vt:lpstr>
      <vt:lpstr>Variables and Constants</vt:lpstr>
      <vt:lpstr>Why use constants?</vt:lpstr>
      <vt:lpstr>Why use variables?</vt:lpstr>
      <vt:lpstr>Data Types</vt:lpstr>
      <vt:lpstr>Variable Names</vt:lpstr>
      <vt:lpstr>camelCase</vt:lpstr>
      <vt:lpstr>Hello, World!</vt:lpstr>
      <vt:lpstr>Developing Programs</vt:lpstr>
      <vt:lpstr>Programming Paradigms</vt:lpstr>
      <vt:lpstr>Procedural Programming</vt:lpstr>
      <vt:lpstr>So, What is this program doing?</vt:lpstr>
      <vt:lpstr>User Defined Functions</vt:lpstr>
      <vt:lpstr>Object Oriented Programming </vt:lpstr>
      <vt:lpstr>Object Oriented Programming </vt:lpstr>
      <vt:lpstr>Features of OOP: Inheritance</vt:lpstr>
      <vt:lpstr>Encapsulation</vt:lpstr>
      <vt:lpstr>Benefits of OOP</vt:lpstr>
      <vt:lpstr>Example of OOP</vt:lpstr>
      <vt:lpstr>Example of OOP</vt:lpstr>
      <vt:lpstr>Example of OOP</vt:lpstr>
      <vt:lpstr>Software Development Environments</vt:lpstr>
      <vt:lpstr>Features of an IDE</vt:lpstr>
      <vt:lpstr>PowerPoint Presentation</vt:lpstr>
      <vt:lpstr>Compiling Code</vt:lpstr>
      <vt:lpstr>Unit 4 | Chapter 22 – Digital Data</vt:lpstr>
      <vt:lpstr>Learning Intentions</vt:lpstr>
      <vt:lpstr>Let’s start with a bunch of key terms.</vt:lpstr>
      <vt:lpstr>Converting Numbers into Binary Patterns</vt:lpstr>
      <vt:lpstr>So how does this help with binary?</vt:lpstr>
      <vt:lpstr>This still doesn’t answer the question of how we read a binary value?</vt:lpstr>
      <vt:lpstr>I can have 8</vt:lpstr>
      <vt:lpstr>So, let’s get back to our base 2 stuff:</vt:lpstr>
      <vt:lpstr>We can make any integer using this system</vt:lpstr>
      <vt:lpstr>PowerPoint Presentation</vt:lpstr>
      <vt:lpstr>Can we convert a denary number to binary? </vt:lpstr>
      <vt:lpstr>PowerPoint Presentation</vt:lpstr>
      <vt:lpstr>Binary Coded Decimal</vt:lpstr>
      <vt:lpstr>Character Sets</vt:lpstr>
      <vt:lpstr>Representing Characters</vt:lpstr>
      <vt:lpstr>Representing Characters</vt:lpstr>
      <vt:lpstr>Hexadecimal Number System</vt:lpstr>
      <vt:lpstr>Converting a 16-bit Binary pattern to Hex</vt:lpstr>
      <vt:lpstr>Sign, magnitude and Complementation</vt:lpstr>
      <vt:lpstr>Complementation</vt:lpstr>
      <vt:lpstr>One’s Complement</vt:lpstr>
      <vt:lpstr>Two’s Complement</vt:lpstr>
      <vt:lpstr>PowerPoint Presentation</vt:lpstr>
      <vt:lpstr>Overflow</vt:lpstr>
      <vt:lpstr>Overflow</vt:lpstr>
      <vt:lpstr>Truth Tables</vt:lpstr>
      <vt:lpstr>NOT Operator</vt:lpstr>
      <vt:lpstr>AND Operator</vt:lpstr>
      <vt:lpstr>OR Operator</vt:lpstr>
      <vt:lpstr>XOR Operator</vt:lpstr>
      <vt:lpstr>There are a few notable others</vt:lpstr>
      <vt:lpstr>Using Data Types</vt:lpstr>
      <vt:lpstr>PowerPoint Presentation</vt:lpstr>
      <vt:lpstr>Digital Design Principles</vt:lpstr>
      <vt:lpstr>PowerPoint Presentation</vt:lpstr>
      <vt:lpstr>The Underlying Concepts of Computational Thinking</vt:lpstr>
      <vt:lpstr>Algorithm Design: Flowcharts</vt:lpstr>
      <vt:lpstr>PowerPoint Presentation</vt:lpstr>
      <vt:lpstr>Quick Examples</vt:lpstr>
      <vt:lpstr>Activity: Create Your Own</vt:lpstr>
      <vt:lpstr>Algorithm Design: Pseudocode</vt:lpstr>
      <vt:lpstr>Quick Examples</vt:lpstr>
      <vt:lpstr>Best Practice for Writing Pseudocode</vt:lpstr>
      <vt:lpstr>Activity: Create Your Own</vt:lpstr>
      <vt:lpstr>Program Control Structures</vt:lpstr>
      <vt:lpstr>Program Control Structures</vt:lpstr>
      <vt:lpstr>Program Control Structures</vt:lpstr>
      <vt:lpstr>Unconditional loops</vt:lpstr>
      <vt:lpstr>Condition Controlled Loops</vt:lpstr>
      <vt:lpstr>PowerPoint Presentation</vt:lpstr>
      <vt:lpstr>Sorting Algorithms: Bubble sort</vt:lpstr>
      <vt:lpstr>Sorting Algorithms: insertion sort</vt:lpstr>
      <vt:lpstr>Bubble Sort Vs Insertion Sort</vt:lpstr>
      <vt:lpstr>Algorithms for Searching</vt:lpstr>
      <vt:lpstr>Searching Algorithms: Linear Search &amp;  Binary Search</vt:lpstr>
      <vt:lpstr>PowerPoint Presentation</vt:lpstr>
      <vt:lpstr>Designing Solutions: Models</vt:lpstr>
      <vt:lpstr>Identifying Data Requirements for a Solution</vt:lpstr>
      <vt:lpstr>Developing an Appropriate User Interface</vt:lpstr>
      <vt:lpstr>Using a Dry Run to Test a Solution</vt:lpstr>
      <vt:lpstr>Creating a Trace Table</vt:lpstr>
      <vt:lpstr>PowerPoint Presentation</vt:lpstr>
      <vt:lpstr>The Specification</vt:lpstr>
      <vt:lpstr>The Difference Between Variables &amp; Constants</vt:lpstr>
      <vt:lpstr>Fix the code</vt:lpstr>
      <vt:lpstr>Displaying Your Data</vt:lpstr>
      <vt:lpstr>Coding Challenge: Digital ID Card</vt:lpstr>
      <vt:lpstr>Activity: What’s wrong here then?</vt:lpstr>
      <vt:lpstr>PowerPoint Presentation</vt:lpstr>
      <vt:lpstr>Making Programs Interactive in C#</vt:lpstr>
      <vt:lpstr>Capturing Data with Console.ReadLine()</vt:lpstr>
      <vt:lpstr>Check Yourself (before you wreck yourself!)</vt:lpstr>
      <vt:lpstr>Making Choices: The IF Statement</vt:lpstr>
      <vt:lpstr>Code Structure: Input + Logic</vt:lpstr>
      <vt:lpstr>PowerPoint Presentation</vt:lpstr>
      <vt:lpstr>Operator Check</vt:lpstr>
      <vt:lpstr>The Power of Repetition</vt:lpstr>
      <vt:lpstr>The FOR Loop Structure</vt:lpstr>
      <vt:lpstr>Anatomy of a For Loop</vt:lpstr>
      <vt:lpstr>Check your Knowledge!</vt:lpstr>
      <vt:lpstr>Going around in circles? MORE LOOPS?</vt:lpstr>
      <vt:lpstr>Anatomy of a While Loop</vt:lpstr>
      <vt:lpstr>PowerPoint Presentation</vt:lpstr>
      <vt:lpstr>Choosing the Right Tool</vt:lpstr>
      <vt:lpstr>Task: Times Table Generator</vt:lpstr>
      <vt:lpstr>Explain it to a 10 Year Old</vt:lpstr>
      <vt:lpstr>Features of Programming Languages</vt:lpstr>
      <vt:lpstr>Arrays</vt:lpstr>
      <vt:lpstr>Declaring an Array</vt:lpstr>
      <vt:lpstr>Using Arrays</vt:lpstr>
      <vt:lpstr>Looping through Arrays</vt:lpstr>
      <vt:lpstr>Sorting: BUBBLE SORT</vt:lpstr>
      <vt:lpstr>Sorting: INSERTION SORT</vt:lpstr>
      <vt:lpstr>Simple Searching: Linear Search</vt:lpstr>
      <vt:lpstr>Simple Searching: Binary Search</vt:lpstr>
      <vt:lpstr>The Specification</vt:lpstr>
      <vt:lpstr>String Manipulation Functions</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Building Reusable Code</vt:lpstr>
      <vt:lpstr>User Defined Functions</vt:lpstr>
      <vt:lpstr>Basic File Handling</vt:lpstr>
      <vt:lpstr>Your PC hasn’t looked at Error Handling Yet, so this Lesson will Look to Teaching You How to Handle and Resolve Errors in Programming</vt:lpstr>
      <vt:lpstr>Learning Intentions</vt:lpstr>
      <vt:lpstr>PowerPoint Presentation</vt:lpstr>
      <vt:lpstr>What Does The Error Handling Topic Involve?</vt:lpstr>
      <vt:lpstr>Data Validation</vt:lpstr>
      <vt:lpstr>Why do we need validation?</vt:lpstr>
      <vt:lpstr>Data Validation Checks</vt:lpstr>
      <vt:lpstr>Write TRUE or FALSE beside each of the following statements about validation.</vt:lpstr>
      <vt:lpstr>Write TRUE or FALSE beside each of the following statements about validation.</vt:lpstr>
      <vt:lpstr>Detection And Correction Techniques</vt:lpstr>
      <vt:lpstr>PowerPoint Presentation</vt:lpstr>
      <vt:lpstr>Debugging</vt:lpstr>
      <vt:lpstr>Simple Error-trapping Techniques </vt:lpstr>
      <vt:lpstr>Exception Handling</vt:lpstr>
      <vt:lpstr>PowerPoint Presentation</vt:lpstr>
      <vt:lpstr>PowerPoint Presentation</vt:lpstr>
      <vt:lpstr>What You Need To Know</vt:lpstr>
      <vt:lpstr>PowerPoint Presentation</vt:lpstr>
      <vt:lpstr>White Box Testing</vt:lpstr>
      <vt:lpstr>White Box Testing</vt:lpstr>
      <vt:lpstr>Black Box Testing</vt:lpstr>
      <vt:lpstr>Black Box Testing</vt:lpstr>
      <vt:lpstr>Unit Testing</vt:lpstr>
      <vt:lpstr>Integration Testing</vt:lpstr>
      <vt:lpstr>System Testing</vt:lpstr>
      <vt:lpstr>Creating and Using a Test Plan</vt:lpstr>
      <vt:lpstr>Ingredients to a Test Plan</vt:lpstr>
      <vt:lpstr>The Types of Test Data To Use</vt:lpstr>
      <vt:lpstr>Evaluation Of Digitally Authored Systems</vt:lpstr>
      <vt:lpstr>What the Spec Says</vt:lpstr>
      <vt:lpstr>The Importance of Evaluating a System</vt:lpstr>
      <vt:lpstr>Functional and Non Functional Requirements</vt:lpstr>
      <vt:lpstr>Robustness</vt:lpstr>
      <vt:lpstr>An Evaluation Table</vt:lpstr>
      <vt:lpstr>Complete the paragraph below, about evaluation, using terms from the list provided. (Not all terms will be used.)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dc:title>
  <dc:creator>J Butler</dc:creator>
  <cp:lastModifiedBy>Microsoft account</cp:lastModifiedBy>
  <cp:revision>55</cp:revision>
  <dcterms:created xsi:type="dcterms:W3CDTF">2026-01-05T15:57:32Z</dcterms:created>
  <dcterms:modified xsi:type="dcterms:W3CDTF">2026-10-31T12:15:45Z</dcterms:modified>
</cp:coreProperties>
</file>